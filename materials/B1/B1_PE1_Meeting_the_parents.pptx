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PRACTICAL ENGLISH 1 (60 min) · video lesson · SB pp.14–15. PLANNING CARD — Class: B1 teens / young adults and adults. Last lessons: File 1 (food and cooking, family, future forms, personality). Lesson type: functional language + video (listening) lesson, with speaking. MAIN AIM: by the end, students can react to good, bad, surprising and interesting news with the right phrase AND interested intonation (How fantastic! What a pity. You're kidding…). Secondary aims: watch for gist, then detail; Social English phrases (I mean…, Not really, things like that, Go ahead); role-play meeting a partner's parents. Anticipated problems: ✗ What fantastic! / ✗ How a pity! (How + adjective, What a + noun) · ✗ What a terrible news! (news is uncountable) · Never mind used for really bad news · flat Italian-style intonation sounds bored → exaggerate the 'music' · American words in the video (mom, apartment, cookie). Recycling: unit 1 food and family in the warmer. Exit: 3·2·1. VIDEO: the six Episode 1 clips are in /home/claude/lls-course/b1/video/ (EF4e_Int_PE_Ep1_…mp4) and were embedded in the old PE1 deck; this deck can't embed video yet, so play them from the video files / Online Practice, or use audio 1.26–1.31. Timing: 61 min including a 4-minute TPRS class story ('Gino meets the parents') after the intonation slide. Timings are a guide: if you don't finish, note the slide you reached and start from there next lesson. If short of time, cut 'Social English in Italian' to 1 min and 'Have you heard my news?' to 3 min. OPENING (2 min): show the photo. Ask the THINK question: take 3–4 ideas (flowers, chocolates, cannoli, a bottle of wine…). Ask: 'What can go wrong?' (you're late, you forget the present…). Read the 'Today you're going to…' list together. Jenny and Rob are fictional characters from the English File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last lesson (2 min)
REVISION (2 min) before the warmer game. Read the examples with the class; elicit the opposite of reliable (unreliable) and one more personality adjective. Quick check on family words: 'Your dad's wife – but not your mum?' (stepmother). The warmer recycles the whole of File 1 (food, family, personality), so these are the words students need. Then play 'Who or what is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Warmer · File 1 · food and family (3 min)
RETRIEVAL WARMER (4 min) – different format from last lesson's 'Spot the mistake' (now: riddles). Two teams. Read each clue aloud; the first team to call out the word gets 1 point, +1 if a student can spell it on the board. Click once per clue to show the answer. Answers: 1 brother-in-law · 2 lamb (silent b) · 3 stepmother · 4 raw · 5 an only child · 6 aubergine · 7 great-grandmother · 8 reliable (opposite: unreliable). Link to today: 'Today's video is about family AND food: a dinner with a girlfriend's parents!' ICQ: 'Do you write or shout the word?' (shout – first team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Video · Episode 1 · Introduction (3 min)
VIDEO 1 · GIST (3 min). WHERE IS THE VIDEO: EF4e_Int_PE_Ep1_Introduction.mp4 (2'41") in lls-course/b1/video/ (or Online Practice; audio version 1.26). 1a: students look at the photos and describe Jenny and Rob (age, job, where they are). Play the video ONCE for gist. Pairs compare, then click once per question. Answers (video script 1.26): Jenny is from New York (American) · Rob is British, from London · they work for a magazine, New York 24seven (Rob is a writer) · this evening Jenny's taking Rob to meet her parents for the very first time. ICQ: 'Do you need every word?' (no – just the 4 answers). Extra (TG): Who is Don Taylor? (the new boss).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Video · detail · gap fill (3 min)
VIDEO 1 · DETAIL (3 min). The text from SB 1b is on the slide. Pairs read and guess the missing words (1 min) – they already know a lot from the first viewing. Play the Introduction again (EF4e_Int_PE_Ep1_Introduction.mp4 / audio 1.26). Click once per gap: the answer appears highlighted IN the text. Answers (TG): 1 magazine · 2 British · 3 months · 4 London · 5 New York · 6 permanent · 7 find · 8 family. Point out the British and American English box: apartment (US) = flat (UK). ICQ: 'Guess first or watch first?' (guess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Video · Scene 1 · gist (3 min)
VIDEO 2 · GIST (3 min). WHERE IS THE VIDEO: EF4e_Int_PE_Ep1_Reacting_to_what_people_say.mp4 (2'14"), audio version 1.27. Before watching, ask about the photos: Where are Jenny and Rob? (in a car / at the door) How does Jenny look? (not very happy) What's on Rob's desk? (chocolates!). Play ONCE. Click once per question. Answers (TG): Rob left the chocolates on his desk at work · Jenny's got a promotion – she's now a manager (Managing Editor) · Harry and Sally. British and American English box: mom (US) = mum (UK).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Video · Scene 1 · detail (3 min)
VIDEO 2 · DETAIL (3 min). Pairs read 1–6 and guess T / F from memory first. Play Scene 1 again (EF4e_Int_PE_Ep1_Reacting_to_what_people_say.mp4 / 1.27). Pairs must CORRECT the false sentences before you click. Click once per sentence. Answers (TG): 1 T · 2 F (Rob's desk is always a complete mess) · 3 F (Rob is meeting Jenny's parents for the first time) · 4 T · 5 F (Managing Editor) · 6 F (she's a manager, but not Rob's manager). ICQ: 'For F, is it enough to say F?' (no – correct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Function · reacting to what people say (3 min)
ELICIT FIRST (3 min). 0 is the example (done in the book). Pairs try to remember the missing words from the scene (1 min). Play the 'listen and check' clip: EF4e_Int_PE_Ep1_Reacting_to_what_people_say_listen_and_check.mp4 (1'07") / audio 1.28. Click once per line. Answers (TG / script): 1 believe · You're · 2 pity, Never · 3 Really · 4 How, news · 5 great. Context for each: 1 the chocolates (bad news) · 2 Sally hears about the chocolates · 3 Jenny has 'some good news' · 4 the promotion · 5 'Let's go and have dinner'. Next slide: sort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Function · the reactions chart (3 min)
GUIDED DISCOVERY (3 min). Pairs decide: when do you say each phrase – when you hear something surprising, interesting, good news or bad news? Click once per phrase. Answers (SB chart): something surprising – You're kidding. I don't believe it. · something interesting – Really? · good news – How fantastic! That's great news! What a great idea! · bad news – Oh no! What a pity. Never mind. CCQs: 'Your friend has lost his pen. What a pity or How awful?' (What a pity – small problem) · 'Your friend has a new job. Oh no?' (no! – How fantastic!). TG note: What a pity and Never mind are only for SMALL bad news – not for serious news (✗ My grandmother died. – Never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Function · in Italian (2 min)
CONSOLIDATION for slower students (2 min). The class says the Italian for each phrase, then click once per word to show its Italian. 'Don't worry about it' is from the video (Harry, about the chocolates). Spend 20 seconds on the warning. Quick check: 'Your friend says: I've lost my umbrella.' → What a pity. Never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Function · How + adjective, What + noun (2 min)
RULE (2 min). Before each click, elicit: 'fantastic – How or What?' (How: it's an adjective) · 'a pity – How or What?' (What: it's a noun). Click once per column (examples, then the Italian), then the warning. The book's examples: How interesting! How awful! How amazing! What a pity! What a good idea! What terrible news! ('What a mess!' recycles Rob's desk; 'What lovely people!' shows the plural.) CCQ: 'Why no a in What terrible news?' (news is uncountable – una notizia = a piece of news). Italian speakers say 'Che…!' for both, so they mix them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Pronunciation · sounding interested (2 min)
PRONUNCIATION (2 min) – one feature: interested intonation on the main stressed syllable. HEAR: play EF4e_Int_PE_Ep1_Reacting_to_what_people_say_listen_and_repeat.mp4 (1'37") / audio 1.29; click 1 = the big syllable (the voice jumps up and down there), click 2 = the full phrase. DISCRIMINATE: say 'How fantastic!' twice – once flat and bored, once with big up-and-down music: 'Which one is interested?' REPEAT: pause after each phrase, chorally then individually – exaggerate! (the clip has all 9 chart phrases; pause on each). PRODUCE: 2e – pairs read the conversations from slide 7 with the right music, swapping roles (1 min). Italian speakers often sound flat or bored in English – make it fun: the 'bored face' version first, then the real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Speaking · class story (TPRS) (4 min)
TPRS CLASS STORY (4 min) – after the reactions chart, the How / What rule and the intonation practice, and before the game 'React!': students hear (and the class SAYS, with big interested music) the reactions for good, bad, surprising and interesting news many times before they have to choose them under pressure. Same situation as the video (meeting a partner's parents), but a new, local story. Click once per line. For each line: 1) say it, 2) ask the questions round the class (yes/no → either/or → who/what), 3) let the CLASS change details: 'Does Gino bring cannoli? No? What does he bring?' – accept their idea and use it in later lines. Make the class say the parents' reactions in chorus with exaggerated intonation. Students answer with one word or a short phrase – that's fine. Finish: 'What happens next?' – one or two ideas, then play 'React!'. Watch for ✗ What fantastic! · ✗ How a pity!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Function game (3 min)
GAME 2 (3 min). Two teams. Read the news with feeling. Teams have 5 seconds to react with a phrase from the chart AND ask a follow-up question. Click to show a model answer – accept any appropriate reaction (e.g. for 1: That's great news! / Really? How fantastic!). 1 point for the right reaction, +1 for interested intonation (the class votes: thumbs up / down). No phrase twice in a row! ICQ: 'Is Oh no! OK for the concert tickets?' (no – it's good news).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Speaking · telling news and reacting (4 min)
FREER PRACTICE (4 min). The book's 2f is the Communication activity 'How awful! How fantastic!' (A p.106, B p.111) – ⚠ those pages are not in our files: if you have the book, use them; otherwise use this slide. The five types of news appear ONE PER CLICK (show all 5, then go). A tells B one piece of news of each type (true or invented); B must react with a DIFFERENT phrase each time and ask a follow-up question. Then swap. At the end B guesses which news was invented. Monitor for intonation and How / What. Feedback: 2–3 students tell the class some news; the class reacts. Note errors for delayed correction (end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Video · Scene 2 · gist (2 min)
VIDEO 3 · GIST (2 min). WHERE IS THE VIDEO: EF4e_Int_PE_Ep1_Harry_finds_out_more_about_Rob.mp4 (1'49"), audio version 1.30. Ask about the photos: 'What do you think Harry thinks of Rob? Is he friendly?' Prediction: 'Will the evening end well or badly?' Play ONCE. Click to check. Answer (TG): the evening ends well. They talk about Jenny (Harvard), Rob's career and Harry's photos of jazz musicians.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Video · Scene 2 · detail (3 min)
VIDEO 3 · DETAIL (3 min). Pairs read questions 1–6 first; elicit 'impressed' (colpito, impressionato). Play Scene 2 again, pausing if necessary. Click once per question. Answers (TG): 1 Harvard · 2 No, he isn't, because he thinks creative people, like writers, sometimes don't earn enough to pay the bills · 3 He likes taking photographs · 4 Jenny · 5 famous jazz musicians · 6 that Rob knows about Wynton Marsalis (Harry's idol), has interviewed him and spent the day with him. American English: cookie (US) = biscuit (UK). Follow-up: 'At the start, what does Harry think of Rob? And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Social English · phrases (3 min)
ELICIT FIRST (3 min). 3c: pairs try to remember the missing words (extra challenge from the TG). 3d: play EF4e_Int_PE_Ep1_Social_English_phrases.mp4 (1'32") / audio 1.31 to check. Click once per phrase. Answers (TG / script): 1 see · 2 really · 3 things · 4 mean · 5 because · 6 incredible · 7 guy · 8 ahead. Play again: watch and repeat. Context: 8 = Sally offers Rob a cookie, Harry says 'Go ahead, 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Social English · in Italian (2 min)
CONSOLIDATION for slower students (2 min). Class says the Italian, then click once per word to show its Italian (meaning, not word for word). Point out: you know…, I mean… and things like that give you time to think (book 'Can you…?'). Quick check: 'Can I borrow your pen?' → Go ahead! · 'Did you like the film?' → Not really.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Social English game (3 min)
GAME 3 (3 min). The conversations are SB 3e A–G, shortened to fit the slide (read the full book versions aloud if you prefer). Two teams. Read each conversation aloud with a gap ('beep'). The first team to say the right Social English phrase wins a point. Click once per conversation. Answers (TG): A 8 Go ahead · B 5 That's because · C 2 Not really · D 3 things like that · E 1 How do you see · F 6 How incredible · G 4 I mean, 7 guy. Then pairs practise A–G quickly, swapping roles (book 3e). ICQ: 'One word or a phrase?' (a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Speaking · role play (5 min)
ROLE PLAY · PRODUCTION (5 min). Groups of 3: the son / daughter, the partner and the parent (groups of 4: two parents). The 5 steps appear ONE PER CLICK – read each with a strong group as a model, then show all 5 and let groups act out the whole scene (3 min). Everyone must use at least 2 reactions and 1 Social English phrase. Keep it fun and fictional – students invent their characters (nobody talks about their real family). Fast finishers: swap roles. Feedback: one group performs for the class; the class votes 'Did the parent like the partner?'. Then 1 minute of delayed error correction: write 4–5 errors from slides 14 and 20 on the board (e.g. ✗ What fantastic! ✗ How a pity!); students correct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Review · what did you do today? (1 min)
TODAY YOU… (1 min). Read each line (one per click: the tick appears). Students show thumbs up / middle / down: can they do it now? Note any thumbs down for the next lesson's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Exit · what can you remember? (2 min)
RETRIEVAL EXIT (2 min). Books closed. Pairs: 3 reactions (one for good, one for bad, one for surprising news), 2 Social English phrases, then 1 piece of news to tell – the partner reacts. A few pairs share. CAN YOU…? (SB): react to good, bad, surprising and interesting news · introduce yourself and other people · use phrases which give you time to think (you know, I mean). Homework: Workbook Practical English 1 (1a, 1b, 2, 3) + Can you remember? 1 + the PE1 homework sheet in the app (easier version available). Students can watch the episode again on Online Practice. ⚠ 'Next lesson' assumes you go straight to 2A (Revise and Check 1&amp;2 comes after 2B) – change it if your plan is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Extra game · chain story (5 min)
EXTRA GAME (5 min, if there's time). Chain story round the class. Click once per line to show a model of how the chain works, then the class continues: each student reacts to the previous sentence with a DIFFERENT phrase from today, then adds the next part with Fortunately / Unfortunately. Repeat a reaction = you're out (or your team loses a point). Teach first: fortunately = per fortuna, unfortunately = purtroppo.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audio" Target="../media/media-4-5.mp3"/><Relationship Id="rId6" Type="http://schemas.microsoft.com/office/2007/relationships/media" Target="../media/media-4-5.mp3"/><Relationship Id="rId7" Type="http://schemas.openxmlformats.org/officeDocument/2006/relationships/image" Target="../media/image-4-7.png"/><Relationship Id="rId8" Type="http://schemas.openxmlformats.org/officeDocument/2006/relationships/audio" Target="../media/media-4-8.mp3"/><Relationship Id="rId9" Type="http://schemas.microsoft.com/office/2007/relationships/media" Target="../media/media-4-8.mp3"/><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audio" Target="../media/media-5-5.mp3"/><Relationship Id="rId6" Type="http://schemas.microsoft.com/office/2007/relationships/media" Target="../media/media-5-5.mp3"/><Relationship Id="rId7" Type="http://schemas.openxmlformats.org/officeDocument/2006/relationships/image" Target="../media/image-5-7.png"/><Relationship Id="rId8" Type="http://schemas.openxmlformats.org/officeDocument/2006/relationships/audio" Target="../media/media-5-8.mp3"/><Relationship Id="rId9" Type="http://schemas.microsoft.com/office/2007/relationships/media" Target="../media/media-5-8.mp3"/><Relationship Id="rId10" Type="http://schemas.openxmlformats.org/officeDocument/2006/relationships/image" Target="../media/image-5-10.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audio" Target="../media/media-6-5.mp3"/><Relationship Id="rId6" Type="http://schemas.microsoft.com/office/2007/relationships/media" Target="../media/media-6-5.mp3"/><Relationship Id="rId7" Type="http://schemas.openxmlformats.org/officeDocument/2006/relationships/image" Target="../media/image-6-7.png"/><Relationship Id="rId8" Type="http://schemas.openxmlformats.org/officeDocument/2006/relationships/audio" Target="../media/media-6-8.mp3"/><Relationship Id="rId9" Type="http://schemas.microsoft.com/office/2007/relationships/media" Target="../media/media-6-8.mp3"/><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audio" Target="../media/media-7-5.mp3"/><Relationship Id="rId6" Type="http://schemas.microsoft.com/office/2007/relationships/media" Target="../media/media-7-5.mp3"/><Relationship Id="rId7" Type="http://schemas.openxmlformats.org/officeDocument/2006/relationships/image" Target="../media/image-7-7.png"/><Relationship Id="rId8" Type="http://schemas.openxmlformats.org/officeDocument/2006/relationships/audio" Target="../media/media-7-8.mp3"/><Relationship Id="rId9" Type="http://schemas.microsoft.com/office/2007/relationships/media" Target="../media/media-7-8.mp3"/><Relationship Id="rId10" Type="http://schemas.openxmlformats.org/officeDocument/2006/relationships/image" Target="../media/image-7-10.png"/><Relationship Id="rId11" Type="http://schemas.openxmlformats.org/officeDocument/2006/relationships/slideLayout" Target="../slideLayouts/slideLayout1.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audio" Target="../media/media-8-5.mp3"/><Relationship Id="rId6" Type="http://schemas.microsoft.com/office/2007/relationships/media" Target="../media/media-8-5.mp3"/><Relationship Id="rId7" Type="http://schemas.openxmlformats.org/officeDocument/2006/relationships/image" Target="../media/image-8-7.png"/><Relationship Id="rId8" Type="http://schemas.openxmlformats.org/officeDocument/2006/relationships/audio" Target="../media/media-8-8.mp3"/><Relationship Id="rId9" Type="http://schemas.microsoft.com/office/2007/relationships/media" Target="../media/media-8-8.mp3"/><Relationship Id="rId10" Type="http://schemas.openxmlformats.org/officeDocument/2006/relationships/image" Target="../media/image-8-10.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audio" Target="../media/media-12-5.mp3"/><Relationship Id="rId6" Type="http://schemas.microsoft.com/office/2007/relationships/media" Target="../media/media-12-5.mp3"/><Relationship Id="rId7" Type="http://schemas.openxmlformats.org/officeDocument/2006/relationships/image" Target="../media/image-12-7.png"/><Relationship Id="rId8" Type="http://schemas.openxmlformats.org/officeDocument/2006/relationships/audio" Target="../media/media-12-8.mp3"/><Relationship Id="rId9" Type="http://schemas.microsoft.com/office/2007/relationships/media" Target="../media/media-12-8.mp3"/><Relationship Id="rId10" Type="http://schemas.openxmlformats.org/officeDocument/2006/relationships/image" Target="../media/image-12-10.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audio" Target="../media/media-16-5.mp3"/><Relationship Id="rId6" Type="http://schemas.microsoft.com/office/2007/relationships/media" Target="../media/media-16-5.mp3"/><Relationship Id="rId7" Type="http://schemas.openxmlformats.org/officeDocument/2006/relationships/image" Target="../media/image-16-7.png"/><Relationship Id="rId8" Type="http://schemas.openxmlformats.org/officeDocument/2006/relationships/audio" Target="../media/media-16-8.mp3"/><Relationship Id="rId9" Type="http://schemas.microsoft.com/office/2007/relationships/media" Target="../media/media-16-8.mp3"/><Relationship Id="rId10" Type="http://schemas.openxmlformats.org/officeDocument/2006/relationships/image" Target="../media/image-16-10.png"/><Relationship Id="rId11" Type="http://schemas.openxmlformats.org/officeDocument/2006/relationships/slideLayout" Target="../slideLayouts/slideLayout1.xml"/><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audio" Target="../media/media-17-5.mp3"/><Relationship Id="rId6" Type="http://schemas.microsoft.com/office/2007/relationships/media" Target="../media/media-17-5.mp3"/><Relationship Id="rId7" Type="http://schemas.openxmlformats.org/officeDocument/2006/relationships/image" Target="../media/image-17-7.png"/><Relationship Id="rId8" Type="http://schemas.openxmlformats.org/officeDocument/2006/relationships/audio" Target="../media/media-17-8.mp3"/><Relationship Id="rId9" Type="http://schemas.microsoft.com/office/2007/relationships/media" Target="../media/media-17-8.mp3"/><Relationship Id="rId10" Type="http://schemas.openxmlformats.org/officeDocument/2006/relationships/image" Target="../media/image-17-10.png"/><Relationship Id="rId11" Type="http://schemas.openxmlformats.org/officeDocument/2006/relationships/slideLayout" Target="../slideLayouts/slideLayout1.xml"/><Relationship Id="rId1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B1 · SB pp.14–15</a:t>
            </a:r>
            <a:endParaRPr lang="en-US" sz="1000" dirty="0"/>
          </a:p>
        </p:txBody>
      </p:sp>
      <p:sp>
        <p:nvSpPr>
          <p:cNvPr id="4" name="bd_2"/>
          <p:cNvSpPr/>
          <p:nvPr/>
        </p:nvSpPr>
        <p:spPr>
          <a:xfrm>
            <a:off x="365760" y="640080"/>
            <a:ext cx="1051560" cy="105156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000" dirty="0">
                <a:solidFill>
                  <a:srgbClr val="FFFFFF"/>
                </a:solidFill>
                <a:latin typeface="Arial Rounded MT Bold" pitchFamily="34" charset="0"/>
                <a:ea typeface="Arial Rounded MT Bold" pitchFamily="34" charset="-122"/>
                <a:cs typeface="Arial Rounded MT Bold" pitchFamily="34" charset="-120"/>
              </a:rPr>
              <a:t>PE1</a:t>
            </a:r>
            <a:endParaRPr lang="en-US" sz="20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1900" dirty="0">
                <a:solidFill>
                  <a:srgbClr val="1B2559"/>
                </a:solidFill>
                <a:latin typeface="Arial Rounded MT Bold" pitchFamily="34" charset="0"/>
                <a:ea typeface="Arial Rounded MT Bold" pitchFamily="34" charset="-122"/>
                <a:cs typeface="Arial Rounded MT Bold" pitchFamily="34" charset="-120"/>
              </a:rPr>
              <a:t>Meeting the parents</a:t>
            </a:r>
            <a:endParaRPr lang="en-US" sz="19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200" i="1" dirty="0">
                <a:solidFill>
                  <a:srgbClr val="1B2559"/>
                </a:solidFill>
                <a:latin typeface="Segoe UI Semibold" pitchFamily="34" charset="0"/>
                <a:ea typeface="Segoe UI Semibold" pitchFamily="34" charset="-122"/>
                <a:cs typeface="Segoe UI Semibold" pitchFamily="34" charset="-120"/>
              </a:rPr>
              <a:t>Reacting to news · Social English</a:t>
            </a:r>
            <a:endParaRPr lang="en-US" sz="1200" dirty="0"/>
          </a:p>
        </p:txBody>
      </p:sp>
      <p:sp>
        <p:nvSpPr>
          <p:cNvPr id="9" name="cd_7"/>
          <p:cNvSpPr/>
          <p:nvPr/>
        </p:nvSpPr>
        <p:spPr>
          <a:xfrm>
            <a:off x="365760" y="2148840"/>
            <a:ext cx="4206240" cy="1691640"/>
          </a:xfrm>
          <a:prstGeom prst="roundRect">
            <a:avLst>
              <a:gd name="adj" fmla="val 7568"/>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24328"/>
            <a:ext cx="3547872" cy="1143000"/>
          </a:xfrm>
          <a:prstGeom prst="rect">
            <a:avLst/>
          </a:prstGeom>
          <a:noFill/>
          <a:ln/>
        </p:spPr>
        <p:txBody>
          <a:bodyPr wrap="square" lIns="0" tIns="0" rIns="0" bIns="0" rtlCol="0" anchor="t">
            <a:normAutofit/>
          </a:bodyPr>
          <a:lstStyle/>
          <a:p>
            <a:pPr indent="0" marL="0">
              <a:spcAft>
                <a:spcPts val="200"/>
              </a:spcAft>
              <a:buNone/>
            </a:pPr>
            <a:r>
              <a:rPr lang="en-US" sz="800" dirty="0">
                <a:solidFill>
                  <a:srgbClr val="1B2559"/>
                </a:solidFill>
                <a:latin typeface="Segoe UI" pitchFamily="34" charset="0"/>
                <a:ea typeface="Segoe UI" pitchFamily="34" charset="-122"/>
                <a:cs typeface="Segoe UI" pitchFamily="34" charset="-120"/>
              </a:rPr>
              <a:t>🎬  watch Jenny and Rob meet her parents</a:t>
            </a:r>
            <a:endParaRPr lang="en-US" sz="800" dirty="0"/>
          </a:p>
          <a:p>
            <a:pPr indent="0" marL="0">
              <a:spcBef>
                <a:spcPts val="500"/>
              </a:spcBef>
              <a:spcAft>
                <a:spcPts val="200"/>
              </a:spcAft>
              <a:buNone/>
            </a:pPr>
            <a:r>
              <a:rPr lang="en-US" sz="800" dirty="0">
                <a:solidFill>
                  <a:srgbClr val="1B2559"/>
                </a:solidFill>
                <a:latin typeface="Segoe UI" pitchFamily="34" charset="0"/>
                <a:ea typeface="Segoe UI" pitchFamily="34" charset="-122"/>
                <a:cs typeface="Segoe UI" pitchFamily="34" charset="-120"/>
              </a:rPr>
              <a:t>😮  react to good, bad and surprising news</a:t>
            </a:r>
            <a:endParaRPr lang="en-US" sz="800" dirty="0"/>
          </a:p>
          <a:p>
            <a:pPr indent="0" marL="0">
              <a:spcBef>
                <a:spcPts val="500"/>
              </a:spcBef>
              <a:spcAft>
                <a:spcPts val="200"/>
              </a:spcAft>
              <a:buNone/>
            </a:pPr>
            <a:r>
              <a:rPr lang="en-US" sz="800" dirty="0">
                <a:solidFill>
                  <a:srgbClr val="1B2559"/>
                </a:solidFill>
                <a:latin typeface="Segoe UI" pitchFamily="34" charset="0"/>
                <a:ea typeface="Segoe UI" pitchFamily="34" charset="-122"/>
                <a:cs typeface="Segoe UI" pitchFamily="34" charset="-120"/>
              </a:rPr>
              <a:t>🔊  sound interested: copy the music!</a:t>
            </a:r>
            <a:endParaRPr lang="en-US" sz="800" dirty="0"/>
          </a:p>
          <a:p>
            <a:pPr indent="0" marL="0">
              <a:spcBef>
                <a:spcPts val="500"/>
              </a:spcBef>
              <a:spcAft>
                <a:spcPts val="200"/>
              </a:spcAft>
              <a:buNone/>
            </a:pPr>
            <a:r>
              <a:rPr lang="en-US" sz="800" dirty="0">
                <a:solidFill>
                  <a:srgbClr val="1B2559"/>
                </a:solidFill>
                <a:latin typeface="Segoe UI" pitchFamily="34" charset="0"/>
                <a:ea typeface="Segoe UI" pitchFamily="34" charset="-122"/>
                <a:cs typeface="Segoe UI" pitchFamily="34" charset="-120"/>
              </a:rPr>
              <a:t>💬  use Social English: I mean…, Not really…</a:t>
            </a:r>
            <a:endParaRPr lang="en-US" sz="800" dirty="0"/>
          </a:p>
          <a:p>
            <a:pPr indent="0" marL="0">
              <a:spcBef>
                <a:spcPts val="500"/>
              </a:spcBef>
              <a:spcAft>
                <a:spcPts val="200"/>
              </a:spcAft>
              <a:buNone/>
            </a:pPr>
            <a:r>
              <a:rPr lang="en-US" sz="800" dirty="0">
                <a:solidFill>
                  <a:srgbClr val="1B2559"/>
                </a:solidFill>
                <a:latin typeface="Segoe UI" pitchFamily="34" charset="0"/>
                <a:ea typeface="Segoe UI" pitchFamily="34" charset="-122"/>
                <a:cs typeface="Segoe UI" pitchFamily="34" charset="-120"/>
              </a:rPr>
              <a:t>📖  listen to a class story and answer questions</a:t>
            </a:r>
            <a:endParaRPr lang="en-US" sz="800" dirty="0"/>
          </a:p>
          <a:p>
            <a:pPr indent="0" marL="0">
              <a:spcBef>
                <a:spcPts val="500"/>
              </a:spcBef>
              <a:spcAft>
                <a:spcPts val="200"/>
              </a:spcAft>
              <a:buNone/>
            </a:pPr>
            <a:r>
              <a:rPr lang="en-US" sz="800" dirty="0">
                <a:solidFill>
                  <a:srgbClr val="1B2559"/>
                </a:solidFill>
                <a:latin typeface="Segoe UI" pitchFamily="34" charset="0"/>
                <a:ea typeface="Segoe UI" pitchFamily="34" charset="-122"/>
                <a:cs typeface="Segoe UI" pitchFamily="34" charset="-120"/>
              </a:rPr>
              <a:t>🎭  role-play meeting the parents</a:t>
            </a:r>
            <a:endParaRPr lang="en-US" sz="800" dirty="0"/>
          </a:p>
        </p:txBody>
      </p:sp>
      <p:sp>
        <p:nvSpPr>
          <p:cNvPr id="13" name="R1_ex11"/>
          <p:cNvSpPr/>
          <p:nvPr/>
        </p:nvSpPr>
        <p:spPr>
          <a:xfrm>
            <a:off x="365760" y="3950208"/>
            <a:ext cx="4206240" cy="603504"/>
          </a:xfrm>
          <a:prstGeom prst="roundRect">
            <a:avLst>
              <a:gd name="adj" fmla="val 18182"/>
            </a:avLst>
          </a:prstGeom>
          <a:solidFill>
            <a:srgbClr val="FFF6CC"/>
          </a:solidFill>
          <a:ln w="19050">
            <a:solidFill>
              <a:srgbClr val="FFE07A"/>
            </a:solidFill>
          </a:ln>
        </p:spPr>
        <p:txBody>
          <a:bodyPr wrap="square" lIns="152400" tIns="25400" rIns="152400" bIns="25400" rtlCol="0" anchor="ctr">
            <a:normAutofit/>
          </a:bodyPr>
          <a:lstStyle/>
          <a:p>
            <a:pPr indent="0" marL="0">
              <a:buNone/>
            </a:pPr>
            <a:r>
              <a:rPr lang="en-US" sz="10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300" i="1" dirty="0">
                <a:solidFill>
                  <a:srgbClr val="1B2559"/>
                </a:solidFill>
                <a:latin typeface="Segoe UI Semibold" pitchFamily="34" charset="0"/>
                <a:ea typeface="Segoe UI Semibold" pitchFamily="34" charset="-122"/>
                <a:cs typeface="Segoe UI Semibold" pitchFamily="34" charset="-120"/>
              </a:rPr>
              <a:t>I'd take some flowers or a box of cannoli.</a:t>
            </a:r>
            <a:endParaRPr lang="en-US" sz="1000" dirty="0"/>
          </a:p>
        </p:txBody>
      </p:sp>
      <p:sp>
        <p:nvSpPr>
          <p:cNvPr id="14" name="pf_12"/>
          <p:cNvSpPr/>
          <p:nvPr/>
        </p:nvSpPr>
        <p:spPr>
          <a:xfrm rot="90000">
            <a:off x="4846320" y="777240"/>
            <a:ext cx="3977640" cy="3200400"/>
          </a:xfrm>
          <a:prstGeom prst="roundRect">
            <a:avLst>
              <a:gd name="adj" fmla="val 485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15" name="phx_13"/>
          <p:cNvSpPr/>
          <p:nvPr/>
        </p:nvSpPr>
        <p:spPr>
          <a:xfrm>
            <a:off x="4892040" y="822960"/>
            <a:ext cx="3886200" cy="310896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pe1-cover.jpg</a:t>
            </a:r>
            <a:endParaRPr lang="en-US" sz="900" dirty="0"/>
          </a:p>
        </p:txBody>
      </p:sp>
      <p:sp>
        <p:nvSpPr>
          <p:cNvPr id="16" name="bb_14"/>
          <p:cNvSpPr/>
          <p:nvPr/>
        </p:nvSpPr>
        <p:spPr>
          <a:xfrm>
            <a:off x="5120640" y="3611880"/>
            <a:ext cx="3566160" cy="822960"/>
          </a:xfrm>
          <a:prstGeom prst="wedgeRoundRectCallout">
            <a:avLst/>
          </a:prstGeom>
          <a:solidFill>
            <a:srgbClr val="FFFFFF"/>
          </a:solidFill>
          <a:ln w="25400">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First visit to your partner's parents. What do you take?</a:t>
            </a:r>
            <a:endParaRPr lang="en-US" sz="16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4"/>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9"/>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Remember last lesson?</a:t>
            </a:r>
            <a:endParaRPr lang="en-US" sz="24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21"/>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What did we learn? Read the examples.</a:t>
            </a:r>
            <a:endParaRPr lang="en-US" sz="1250" dirty="0"/>
          </a:p>
        </p:txBody>
      </p:sp>
      <p:sp>
        <p:nvSpPr>
          <p:cNvPr id="8" name="insIT_2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Cosa abbiamo imparato? Leggi gli esempi.</a:t>
            </a:r>
            <a:endParaRPr lang="en-US" sz="950" dirty="0"/>
          </a:p>
        </p:txBody>
      </p:sp>
      <p:sp>
        <p:nvSpPr>
          <p:cNvPr id="9" name="cmd_23"/>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meta_24"/>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1" name="tag_25"/>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2" name="logo_2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PE1 · Revision · last lesson</a:t>
            </a:r>
            <a:endParaRPr lang="en-US" sz="800" dirty="0"/>
          </a:p>
        </p:txBody>
      </p:sp>
      <p:sp>
        <p:nvSpPr>
          <p:cNvPr id="14" name="pf_28"/>
          <p:cNvSpPr/>
          <p:nvPr/>
        </p:nvSpPr>
        <p:spPr>
          <a:xfrm rot="-120000">
            <a:off x="365760" y="1371600"/>
            <a:ext cx="2651760" cy="1828800"/>
          </a:xfrm>
          <a:prstGeom prst="roundRect">
            <a:avLst>
              <a:gd name="adj" fmla="val 85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29" descr="/home/claude/lls-course/v2/cache/1b2_bossy_jpg_616x418_31.png">    </p:cNvPr>
          <p:cNvPicPr>
            <a:picLocks noChangeAspect="1"/>
          </p:cNvPicPr>
          <p:nvPr/>
        </p:nvPicPr>
        <p:blipFill>
          <a:blip r:embed="rId5"/>
          <a:stretch>
            <a:fillRect/>
          </a:stretch>
        </p:blipFill>
        <p:spPr>
          <a:xfrm rot="-120000">
            <a:off x="411480" y="1417320"/>
            <a:ext cx="2560320" cy="1737360"/>
          </a:xfrm>
          <a:prstGeom prst="rect">
            <a:avLst/>
          </a:prstGeom>
        </p:spPr>
      </p:pic>
      <p:sp>
        <p:nvSpPr>
          <p:cNvPr id="16" name="cd_30"/>
          <p:cNvSpPr/>
          <p:nvPr/>
        </p:nvSpPr>
        <p:spPr>
          <a:xfrm>
            <a:off x="320040" y="3383280"/>
            <a:ext cx="2743200" cy="1325880"/>
          </a:xfrm>
          <a:prstGeom prst="roundRect">
            <a:avLst>
              <a:gd name="adj" fmla="val 9655"/>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7" name="ii_31"/>
          <p:cNvSpPr/>
          <p:nvPr/>
        </p:nvSpPr>
        <p:spPr>
          <a:xfrm>
            <a:off x="411480" y="34564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32"/>
          <p:cNvSpPr/>
          <p:nvPr/>
        </p:nvSpPr>
        <p:spPr>
          <a:xfrm>
            <a:off x="886968" y="347472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Last lesson…</a:t>
            </a:r>
            <a:endParaRPr lang="en-US" sz="1300" dirty="0"/>
          </a:p>
        </p:txBody>
      </p:sp>
      <p:sp>
        <p:nvSpPr>
          <p:cNvPr id="19" name="il_33"/>
          <p:cNvSpPr/>
          <p:nvPr/>
        </p:nvSpPr>
        <p:spPr>
          <a:xfrm>
            <a:off x="886968" y="3858768"/>
            <a:ext cx="208483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1B: personality and birth order</a:t>
            </a:r>
            <a:endParaRPr lang="en-US" sz="1100" dirty="0"/>
          </a:p>
          <a:p>
            <a:pPr marL="152400" indent="-152400">
              <a:spcBef>
                <a:spcPts val="500"/>
              </a:spcBef>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 File 1: food and family words</a:t>
            </a:r>
            <a:endParaRPr lang="en-US" sz="1100" dirty="0"/>
          </a:p>
        </p:txBody>
      </p:sp>
      <p:sp>
        <p:nvSpPr>
          <p:cNvPr id="20" name="cd_34"/>
          <p:cNvSpPr/>
          <p:nvPr/>
        </p:nvSpPr>
        <p:spPr>
          <a:xfrm>
            <a:off x="3246120" y="1417320"/>
            <a:ext cx="2788920" cy="2331720"/>
          </a:xfrm>
          <a:prstGeom prst="roundRect">
            <a:avLst>
              <a:gd name="adj" fmla="val 5490"/>
            </a:avLst>
          </a:prstGeom>
          <a:solidFill>
            <a:srgbClr val="FFFFFF"/>
          </a:solidFill>
          <a:ln w="25400">
            <a:solidFill>
              <a:srgbClr val="F7A6C4"/>
            </a:solidFill>
            <a:prstDash val="solid"/>
          </a:ln>
          <a:effectLst>
            <a:outerShdw sx="100000" sy="100000" kx="0" ky="0" algn="bl" rotWithShape="0" blurRad="88900" dist="31750" dir="5400000">
              <a:srgbClr val="1B2559">
                <a:alpha val="12000"/>
              </a:srgbClr>
            </a:outerShdw>
          </a:effectLst>
        </p:spPr>
      </p:sp>
      <p:sp>
        <p:nvSpPr>
          <p:cNvPr id="21" name="rh_35"/>
          <p:cNvSpPr/>
          <p:nvPr/>
        </p:nvSpPr>
        <p:spPr>
          <a:xfrm>
            <a:off x="3355848" y="1508760"/>
            <a:ext cx="2569464" cy="347472"/>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Personality + opposites</a:t>
            </a:r>
            <a:endParaRPr lang="en-US" sz="1200" dirty="0"/>
          </a:p>
        </p:txBody>
      </p:sp>
      <p:sp>
        <p:nvSpPr>
          <p:cNvPr id="22" name="rl_36"/>
          <p:cNvSpPr/>
          <p:nvPr/>
        </p:nvSpPr>
        <p:spPr>
          <a:xfrm>
            <a:off x="338328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She's reliable – she never forgets.</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He's stubborn. He never changes his mind.</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My little brother is so bossy!</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opposites: un- · dis- · im- · in-</a:t>
            </a:r>
            <a:endParaRPr lang="en-US" sz="1150" dirty="0"/>
          </a:p>
        </p:txBody>
      </p:sp>
      <p:sp>
        <p:nvSpPr>
          <p:cNvPr id="23" name="cd_37"/>
          <p:cNvSpPr/>
          <p:nvPr/>
        </p:nvSpPr>
        <p:spPr>
          <a:xfrm>
            <a:off x="6126480" y="1417320"/>
            <a:ext cx="2788920" cy="2331720"/>
          </a:xfrm>
          <a:prstGeom prst="roundRect">
            <a:avLst>
              <a:gd name="adj" fmla="val 5490"/>
            </a:avLst>
          </a:prstGeom>
          <a:solidFill>
            <a:srgbClr val="FFFFFF"/>
          </a:solidFill>
          <a:ln w="25400">
            <a:solidFill>
              <a:srgbClr val="A9D3F5"/>
            </a:solidFill>
            <a:prstDash val="solid"/>
          </a:ln>
          <a:effectLst>
            <a:outerShdw sx="100000" sy="100000" kx="0" ky="0" algn="bl" rotWithShape="0" blurRad="88900" dist="31750" dir="5400000">
              <a:srgbClr val="1B2559">
                <a:alpha val="12000"/>
              </a:srgbClr>
            </a:outerShdw>
          </a:effectLst>
        </p:spPr>
      </p:sp>
      <p:sp>
        <p:nvSpPr>
          <p:cNvPr id="24" name="rh_38"/>
          <p:cNvSpPr/>
          <p:nvPr/>
        </p:nvSpPr>
        <p:spPr>
          <a:xfrm>
            <a:off x="6236208" y="1508760"/>
            <a:ext cx="2569464" cy="347472"/>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File 1: family + food</a:t>
            </a:r>
            <a:endParaRPr lang="en-US" sz="1200" dirty="0"/>
          </a:p>
        </p:txBody>
      </p:sp>
      <p:sp>
        <p:nvSpPr>
          <p:cNvPr id="25" name="rl_39"/>
          <p:cNvSpPr/>
          <p:nvPr/>
        </p:nvSpPr>
        <p:spPr>
          <a:xfrm>
            <a:off x="626364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My sister's husband = my brother-in-law.</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An only child has no brothers or sisters.</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Lamb is meat. Sushi fish is raw.</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step- · half- · -in-law · great-</a:t>
            </a:r>
            <a:endParaRPr lang="en-US" sz="1150" dirty="0"/>
          </a:p>
        </p:txBody>
      </p:sp>
      <p:sp>
        <p:nvSpPr>
          <p:cNvPr id="26" name="kw_40"/>
          <p:cNvSpPr/>
          <p:nvPr/>
        </p:nvSpPr>
        <p:spPr>
          <a:xfrm>
            <a:off x="3246120" y="3867912"/>
            <a:ext cx="2743200" cy="274320"/>
          </a:xfrm>
          <a:prstGeom prst="rect">
            <a:avLst/>
          </a:prstGeom>
          <a:noFill/>
          <a:ln/>
        </p:spPr>
        <p:txBody>
          <a:bodyPr wrap="square" lIns="0" tIns="0" rIns="0" bIns="0" rtlCol="0" anchor="ct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 KEY WORDS</a:t>
            </a:r>
            <a:endParaRPr lang="en-US" sz="1100" dirty="0"/>
          </a:p>
        </p:txBody>
      </p:sp>
      <p:sp>
        <p:nvSpPr>
          <p:cNvPr id="27" name="w_41"/>
          <p:cNvSpPr/>
          <p:nvPr/>
        </p:nvSpPr>
        <p:spPr>
          <a:xfrm>
            <a:off x="3246120" y="4178808"/>
            <a:ext cx="941832"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reliable</a:t>
            </a:r>
            <a:endParaRPr lang="en-US" sz="1050" dirty="0"/>
          </a:p>
        </p:txBody>
      </p:sp>
      <p:sp>
        <p:nvSpPr>
          <p:cNvPr id="28" name="w_42"/>
          <p:cNvSpPr/>
          <p:nvPr/>
        </p:nvSpPr>
        <p:spPr>
          <a:xfrm>
            <a:off x="4261104" y="4178808"/>
            <a:ext cx="941832"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stubborn</a:t>
            </a:r>
            <a:endParaRPr lang="en-US" sz="1050" dirty="0"/>
          </a:p>
        </p:txBody>
      </p:sp>
      <p:sp>
        <p:nvSpPr>
          <p:cNvPr id="29" name="w_43"/>
          <p:cNvSpPr/>
          <p:nvPr/>
        </p:nvSpPr>
        <p:spPr>
          <a:xfrm>
            <a:off x="5276088" y="4178808"/>
            <a:ext cx="708660"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bossy</a:t>
            </a:r>
            <a:endParaRPr lang="en-US" sz="1050" dirty="0"/>
          </a:p>
        </p:txBody>
      </p:sp>
      <p:sp>
        <p:nvSpPr>
          <p:cNvPr id="30" name="w_44"/>
          <p:cNvSpPr/>
          <p:nvPr/>
        </p:nvSpPr>
        <p:spPr>
          <a:xfrm>
            <a:off x="6057900" y="4178808"/>
            <a:ext cx="1097280" cy="310896"/>
          </a:xfrm>
          <a:prstGeom prst="roundRect">
            <a:avLst>
              <a:gd name="adj" fmla="val 50000"/>
            </a:avLst>
          </a:prstGeom>
          <a:solidFill>
            <a:srgbClr val="FFF6CC"/>
          </a:solidFill>
          <a:ln>
            <a:solidFill>
              <a:srgbClr val="FFE07A"/>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only child</a:t>
            </a:r>
            <a:endParaRPr lang="en-US" sz="1050" dirty="0"/>
          </a:p>
        </p:txBody>
      </p:sp>
      <p:sp>
        <p:nvSpPr>
          <p:cNvPr id="31" name="w_45"/>
          <p:cNvSpPr/>
          <p:nvPr/>
        </p:nvSpPr>
        <p:spPr>
          <a:xfrm>
            <a:off x="7228332" y="4178808"/>
            <a:ext cx="1408176"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brother-in-law</a:t>
            </a:r>
            <a:endParaRPr lang="en-US" sz="1050" dirty="0"/>
          </a:p>
        </p:txBody>
      </p:sp>
      <p:sp>
        <p:nvSpPr>
          <p:cNvPr id="32" name="w_46"/>
          <p:cNvSpPr/>
          <p:nvPr/>
        </p:nvSpPr>
        <p:spPr>
          <a:xfrm>
            <a:off x="3246120" y="4544568"/>
            <a:ext cx="1097280"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stepmother</a:t>
            </a:r>
            <a:endParaRPr lang="en-US" sz="1050" dirty="0"/>
          </a:p>
        </p:txBody>
      </p:sp>
      <p:sp>
        <p:nvSpPr>
          <p:cNvPr id="33" name="w_47"/>
          <p:cNvSpPr/>
          <p:nvPr/>
        </p:nvSpPr>
        <p:spPr>
          <a:xfrm>
            <a:off x="4416552" y="4544568"/>
            <a:ext cx="1019556"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aubergine</a:t>
            </a:r>
            <a:endParaRPr lang="en-US" sz="1050" dirty="0"/>
          </a:p>
        </p:txBody>
      </p:sp>
      <p:sp>
        <p:nvSpPr>
          <p:cNvPr id="34" name="w_48"/>
          <p:cNvSpPr/>
          <p:nvPr/>
        </p:nvSpPr>
        <p:spPr>
          <a:xfrm>
            <a:off x="5509260" y="4544568"/>
            <a:ext cx="630936" cy="310896"/>
          </a:xfrm>
          <a:prstGeom prst="roundRect">
            <a:avLst>
              <a:gd name="adj" fmla="val 50000"/>
            </a:avLst>
          </a:prstGeom>
          <a:solidFill>
            <a:srgbClr val="FFF6CC"/>
          </a:solidFill>
          <a:ln>
            <a:solidFill>
              <a:srgbClr val="FFE07A"/>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lamb</a:t>
            </a:r>
            <a:endParaRPr lang="en-US" sz="1050" dirty="0"/>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9"/>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50"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51"/>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Who or what is it?</a:t>
            </a:r>
            <a:endParaRPr lang="en-US" sz="2500" dirty="0"/>
          </a:p>
        </p:txBody>
      </p:sp>
      <p:pic>
        <p:nvPicPr>
          <p:cNvPr id="6" name="brP_52" descr="/home/claude/lls-course/v2/assets/brush-pink.png">    </p:cNvPr>
          <p:cNvPicPr>
            <a:picLocks noChangeAspect="1"/>
          </p:cNvPicPr>
          <p:nvPr/>
        </p:nvPicPr>
        <p:blipFill>
          <a:blip r:embed="rId3"/>
          <a:stretch>
            <a:fillRect/>
          </a:stretch>
        </p:blipFill>
        <p:spPr>
          <a:xfrm>
            <a:off x="1207008" y="731520"/>
            <a:ext cx="3163824" cy="402336"/>
          </a:xfrm>
          <a:prstGeom prst="rect">
            <a:avLst/>
          </a:prstGeom>
        </p:spPr>
      </p:pic>
      <p:sp>
        <p:nvSpPr>
          <p:cNvPr id="7" name="ins_53"/>
          <p:cNvSpPr/>
          <p:nvPr/>
        </p:nvSpPr>
        <p:spPr>
          <a:xfrm>
            <a:off x="1353312" y="731520"/>
            <a:ext cx="290779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clue. Say the word!</a:t>
            </a:r>
            <a:endParaRPr lang="en-US" sz="1250" dirty="0"/>
          </a:p>
        </p:txBody>
      </p:sp>
      <p:sp>
        <p:nvSpPr>
          <p:cNvPr id="8" name="insIT_5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Leggi l'indizio. Di' la parola!</a:t>
            </a:r>
            <a:endParaRPr lang="en-US" sz="950" dirty="0"/>
          </a:p>
        </p:txBody>
      </p:sp>
      <p:sp>
        <p:nvSpPr>
          <p:cNvPr id="9" name="cmd_55"/>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56"/>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teams</a:t>
            </a:r>
            <a:endParaRPr lang="en-US" sz="950" dirty="0"/>
          </a:p>
        </p:txBody>
      </p:sp>
      <p:sp>
        <p:nvSpPr>
          <p:cNvPr id="11" name="tag_57"/>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2" name="logo_5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PE1 · Warmer · File 1 · food and family   ·   📖 Recycles File 1: 1A food and cooking · 1B family · 1B personality</a:t>
            </a:r>
            <a:endParaRPr lang="en-US" sz="800" dirty="0"/>
          </a:p>
        </p:txBody>
      </p:sp>
      <p:sp>
        <p:nvSpPr>
          <p:cNvPr id="14" name="cd_60"/>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61"/>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62"/>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63"/>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1000" dirty="0">
                <a:solidFill>
                  <a:srgbClr val="1B2559"/>
                </a:solidFill>
                <a:latin typeface="Segoe UI" pitchFamily="34" charset="0"/>
                <a:ea typeface="Segoe UI" pitchFamily="34" charset="-122"/>
                <a:cs typeface="Segoe UI" pitchFamily="34" charset="-120"/>
              </a:rPr>
              <a:t>Read the clue.</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Leggi l'indizio.</a:t>
            </a:r>
            <a:endParaRPr lang="en-US" sz="1000" dirty="0"/>
          </a:p>
          <a:p>
            <a:pPr marL="190500" indent="-190500">
              <a:spcBef>
                <a:spcPts val="500"/>
              </a:spcBef>
              <a:spcAft>
                <a:spcPts val="200"/>
              </a:spcAft>
              <a:buSzPct val="100000"/>
              <a:buChar char="2"/>
            </a:pPr>
            <a:r>
              <a:rPr lang="en-US" sz="1000" dirty="0">
                <a:solidFill>
                  <a:srgbClr val="1B2559"/>
                </a:solidFill>
                <a:latin typeface="Segoe UI" pitchFamily="34" charset="0"/>
                <a:ea typeface="Segoe UI" pitchFamily="34" charset="-122"/>
                <a:cs typeface="Segoe UI" pitchFamily="34" charset="-120"/>
              </a:rPr>
              <a:t>Teams: say the word – 10 seconds!</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Squadre: dite la parola – 10 secondi!</a:t>
            </a:r>
            <a:endParaRPr lang="en-US" sz="1000" dirty="0"/>
          </a:p>
          <a:p>
            <a:pPr marL="190500" indent="-190500">
              <a:spcBef>
                <a:spcPts val="500"/>
              </a:spcBef>
              <a:spcAft>
                <a:spcPts val="200"/>
              </a:spcAft>
              <a:buSzPct val="100000"/>
              <a:buChar char="3"/>
            </a:pPr>
            <a:r>
              <a:rPr lang="en-US" sz="1000" dirty="0">
                <a:solidFill>
                  <a:srgbClr val="1B2559"/>
                </a:solidFill>
                <a:latin typeface="Segoe UI" pitchFamily="34" charset="0"/>
                <a:ea typeface="Segoe UI" pitchFamily="34" charset="-122"/>
                <a:cs typeface="Segoe UI" pitchFamily="34" charset="-120"/>
              </a:rPr>
              <a:t>Right word = 1 point. Spelling = +1.</a:t>
            </a:r>
            <a:endParaRPr lang="en-US" sz="1000" dirty="0"/>
          </a:p>
          <a:p>
            <a:pPr marL="190500" indent="-190500">
              <a:spcAft>
                <a:spcPts val="200"/>
              </a:spcAft>
              <a:buSzPct val="100000"/>
              <a:buChar char="​"/>
            </a:pPr>
            <a:r>
              <a:rPr lang="en-US" sz="900" i="1" dirty="0">
                <a:solidFill>
                  <a:srgbClr val="5B6785"/>
                </a:solidFill>
                <a:latin typeface="Segoe UI" pitchFamily="34" charset="0"/>
                <a:ea typeface="Segoe UI" pitchFamily="34" charset="-122"/>
                <a:cs typeface="Segoe UI" pitchFamily="34" charset="-120"/>
              </a:rPr>
              <a:t>Parola giusta = 1 punto. Spelling = +1.</a:t>
            </a:r>
            <a:endParaRPr lang="en-US" sz="1000" dirty="0"/>
          </a:p>
        </p:txBody>
      </p:sp>
      <p:sp>
        <p:nvSpPr>
          <p:cNvPr id="18" name="pf_64"/>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65" descr="/home/claude/lls-course/v2/cache/spare_1a1_supper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0" name="bd_66"/>
          <p:cNvSpPr/>
          <p:nvPr/>
        </p:nvSpPr>
        <p:spPr>
          <a:xfrm>
            <a:off x="3246120" y="1423607"/>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67"/>
          <p:cNvSpPr/>
          <p:nvPr/>
        </p:nvSpPr>
        <p:spPr>
          <a:xfrm>
            <a:off x="3657600" y="1417320"/>
            <a:ext cx="2514600" cy="341757"/>
          </a:xfrm>
          <a:prstGeom prst="roundRect">
            <a:avLst>
              <a:gd name="adj" fmla="val 2675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Your sister's husband</a:t>
            </a:r>
            <a:endParaRPr lang="en-US" sz="1100" dirty="0"/>
          </a:p>
        </p:txBody>
      </p:sp>
      <p:sp>
        <p:nvSpPr>
          <p:cNvPr id="22" name="R1_chip68"/>
          <p:cNvSpPr/>
          <p:nvPr/>
        </p:nvSpPr>
        <p:spPr>
          <a:xfrm>
            <a:off x="6263640" y="1417320"/>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brother-in-law</a:t>
            </a:r>
            <a:endParaRPr lang="en-US" sz="1100" dirty="0"/>
          </a:p>
        </p:txBody>
      </p:sp>
      <p:sp>
        <p:nvSpPr>
          <p:cNvPr id="23" name="bd_69"/>
          <p:cNvSpPr/>
          <p:nvPr/>
        </p:nvSpPr>
        <p:spPr>
          <a:xfrm>
            <a:off x="3246120" y="1829372"/>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70"/>
          <p:cNvSpPr/>
          <p:nvPr/>
        </p:nvSpPr>
        <p:spPr>
          <a:xfrm>
            <a:off x="3657600" y="1823085"/>
            <a:ext cx="2514600" cy="341757"/>
          </a:xfrm>
          <a:prstGeom prst="roundRect">
            <a:avLst>
              <a:gd name="adj" fmla="val 2675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Meat from a young sheep (silent letter!)</a:t>
            </a:r>
            <a:endParaRPr lang="en-US" sz="950" dirty="0"/>
          </a:p>
        </p:txBody>
      </p:sp>
      <p:sp>
        <p:nvSpPr>
          <p:cNvPr id="25" name="R2_chip71"/>
          <p:cNvSpPr/>
          <p:nvPr/>
        </p:nvSpPr>
        <p:spPr>
          <a:xfrm>
            <a:off x="6263640" y="1823085"/>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lamb</a:t>
            </a:r>
            <a:endParaRPr lang="en-US" sz="1100" dirty="0"/>
          </a:p>
        </p:txBody>
      </p:sp>
      <p:sp>
        <p:nvSpPr>
          <p:cNvPr id="26" name="bd_72"/>
          <p:cNvSpPr/>
          <p:nvPr/>
        </p:nvSpPr>
        <p:spPr>
          <a:xfrm>
            <a:off x="3246120" y="2235137"/>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73"/>
          <p:cNvSpPr/>
          <p:nvPr/>
        </p:nvSpPr>
        <p:spPr>
          <a:xfrm>
            <a:off x="3657600" y="2228850"/>
            <a:ext cx="2514600" cy="341757"/>
          </a:xfrm>
          <a:prstGeom prst="roundRect">
            <a:avLst>
              <a:gd name="adj" fmla="val 2675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Your dad's wife – but not your mum</a:t>
            </a:r>
            <a:endParaRPr lang="en-US" sz="950" dirty="0"/>
          </a:p>
        </p:txBody>
      </p:sp>
      <p:sp>
        <p:nvSpPr>
          <p:cNvPr id="28" name="R3_chip74"/>
          <p:cNvSpPr/>
          <p:nvPr/>
        </p:nvSpPr>
        <p:spPr>
          <a:xfrm>
            <a:off x="6263640" y="2228850"/>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stepmother</a:t>
            </a:r>
            <a:endParaRPr lang="en-US" sz="1100" dirty="0"/>
          </a:p>
        </p:txBody>
      </p:sp>
      <p:sp>
        <p:nvSpPr>
          <p:cNvPr id="29" name="bd_75"/>
          <p:cNvSpPr/>
          <p:nvPr/>
        </p:nvSpPr>
        <p:spPr>
          <a:xfrm>
            <a:off x="3246120" y="2640901"/>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76"/>
          <p:cNvSpPr/>
          <p:nvPr/>
        </p:nvSpPr>
        <p:spPr>
          <a:xfrm>
            <a:off x="3657600" y="2634615"/>
            <a:ext cx="2514600" cy="341757"/>
          </a:xfrm>
          <a:prstGeom prst="roundRect">
            <a:avLst>
              <a:gd name="adj" fmla="val 2675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Not cooked – like the fish in sushi</a:t>
            </a:r>
            <a:endParaRPr lang="en-US" sz="1000" dirty="0"/>
          </a:p>
        </p:txBody>
      </p:sp>
      <p:sp>
        <p:nvSpPr>
          <p:cNvPr id="31" name="R4_chip77"/>
          <p:cNvSpPr/>
          <p:nvPr/>
        </p:nvSpPr>
        <p:spPr>
          <a:xfrm>
            <a:off x="6263640" y="2634615"/>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raw</a:t>
            </a:r>
            <a:endParaRPr lang="en-US" sz="1100" dirty="0"/>
          </a:p>
        </p:txBody>
      </p:sp>
      <p:sp>
        <p:nvSpPr>
          <p:cNvPr id="32" name="bd_78"/>
          <p:cNvSpPr/>
          <p:nvPr/>
        </p:nvSpPr>
        <p:spPr>
          <a:xfrm>
            <a:off x="3246120" y="3046667"/>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79"/>
          <p:cNvSpPr/>
          <p:nvPr/>
        </p:nvSpPr>
        <p:spPr>
          <a:xfrm>
            <a:off x="3657600" y="3040380"/>
            <a:ext cx="2514600" cy="341757"/>
          </a:xfrm>
          <a:prstGeom prst="roundRect">
            <a:avLst>
              <a:gd name="adj" fmla="val 2675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A child with no brothers or sisters</a:t>
            </a:r>
            <a:endParaRPr lang="en-US" sz="1000" dirty="0"/>
          </a:p>
        </p:txBody>
      </p:sp>
      <p:sp>
        <p:nvSpPr>
          <p:cNvPr id="34" name="R5_chip80"/>
          <p:cNvSpPr/>
          <p:nvPr/>
        </p:nvSpPr>
        <p:spPr>
          <a:xfrm>
            <a:off x="6263640" y="3040380"/>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an only child</a:t>
            </a:r>
            <a:endParaRPr lang="en-US" sz="1100" dirty="0"/>
          </a:p>
        </p:txBody>
      </p:sp>
      <p:sp>
        <p:nvSpPr>
          <p:cNvPr id="35" name="bd_81"/>
          <p:cNvSpPr/>
          <p:nvPr/>
        </p:nvSpPr>
        <p:spPr>
          <a:xfrm>
            <a:off x="3246120" y="3452432"/>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6" name="gq_82"/>
          <p:cNvSpPr/>
          <p:nvPr/>
        </p:nvSpPr>
        <p:spPr>
          <a:xfrm>
            <a:off x="3657600" y="3446145"/>
            <a:ext cx="2514600" cy="341757"/>
          </a:xfrm>
          <a:prstGeom prst="roundRect">
            <a:avLst>
              <a:gd name="adj" fmla="val 2675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Purple – the star of caponata!</a:t>
            </a:r>
            <a:endParaRPr lang="en-US" sz="1100" dirty="0"/>
          </a:p>
        </p:txBody>
      </p:sp>
      <p:sp>
        <p:nvSpPr>
          <p:cNvPr id="37" name="R6_chip83"/>
          <p:cNvSpPr/>
          <p:nvPr/>
        </p:nvSpPr>
        <p:spPr>
          <a:xfrm>
            <a:off x="6263640" y="3446145"/>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aubergine</a:t>
            </a:r>
            <a:endParaRPr lang="en-US" sz="1100" dirty="0"/>
          </a:p>
        </p:txBody>
      </p:sp>
      <p:sp>
        <p:nvSpPr>
          <p:cNvPr id="38" name="bd_84"/>
          <p:cNvSpPr/>
          <p:nvPr/>
        </p:nvSpPr>
        <p:spPr>
          <a:xfrm>
            <a:off x="3246120" y="3858196"/>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7</a:t>
            </a:r>
            <a:endParaRPr lang="en-US" sz="1100" dirty="0"/>
          </a:p>
        </p:txBody>
      </p:sp>
      <p:sp>
        <p:nvSpPr>
          <p:cNvPr id="39" name="gq_85"/>
          <p:cNvSpPr/>
          <p:nvPr/>
        </p:nvSpPr>
        <p:spPr>
          <a:xfrm>
            <a:off x="3657600" y="3851910"/>
            <a:ext cx="2514600" cy="341757"/>
          </a:xfrm>
          <a:prstGeom prst="roundRect">
            <a:avLst>
              <a:gd name="adj" fmla="val 2675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Your grandmother's mother</a:t>
            </a:r>
            <a:endParaRPr lang="en-US" sz="1100" dirty="0"/>
          </a:p>
        </p:txBody>
      </p:sp>
      <p:sp>
        <p:nvSpPr>
          <p:cNvPr id="40" name="R7_chip86"/>
          <p:cNvSpPr/>
          <p:nvPr/>
        </p:nvSpPr>
        <p:spPr>
          <a:xfrm>
            <a:off x="6263640" y="3851910"/>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great-grandmother</a:t>
            </a:r>
            <a:endParaRPr lang="en-US" sz="1100" dirty="0"/>
          </a:p>
        </p:txBody>
      </p:sp>
      <p:sp>
        <p:nvSpPr>
          <p:cNvPr id="41" name="bd_87"/>
          <p:cNvSpPr/>
          <p:nvPr/>
        </p:nvSpPr>
        <p:spPr>
          <a:xfrm>
            <a:off x="3246120" y="4263962"/>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8</a:t>
            </a:r>
            <a:endParaRPr lang="en-US" sz="1100" dirty="0"/>
          </a:p>
        </p:txBody>
      </p:sp>
      <p:sp>
        <p:nvSpPr>
          <p:cNvPr id="42" name="gq_88"/>
          <p:cNvSpPr/>
          <p:nvPr/>
        </p:nvSpPr>
        <p:spPr>
          <a:xfrm>
            <a:off x="3657600" y="4257675"/>
            <a:ext cx="2514600" cy="341757"/>
          </a:xfrm>
          <a:prstGeom prst="roundRect">
            <a:avLst>
              <a:gd name="adj" fmla="val 2675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Always does what they promise</a:t>
            </a:r>
            <a:endParaRPr lang="en-US" sz="1050" dirty="0"/>
          </a:p>
        </p:txBody>
      </p:sp>
      <p:sp>
        <p:nvSpPr>
          <p:cNvPr id="43" name="R8_chip89"/>
          <p:cNvSpPr/>
          <p:nvPr/>
        </p:nvSpPr>
        <p:spPr>
          <a:xfrm>
            <a:off x="6263640" y="4257675"/>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reliable</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4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90"/>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91"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92"/>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Meet Jenny and Rob</a:t>
            </a:r>
            <a:endParaRPr lang="en-US" sz="2400" dirty="0"/>
          </a:p>
        </p:txBody>
      </p:sp>
      <p:pic>
        <p:nvPicPr>
          <p:cNvPr id="6" name="brP_93" descr="/home/claude/lls-course/v2/assets/brush-pink.png">    </p:cNvPr>
          <p:cNvPicPr>
            <a:picLocks noChangeAspect="1"/>
          </p:cNvPicPr>
          <p:nvPr/>
        </p:nvPicPr>
        <p:blipFill>
          <a:blip r:embed="rId3"/>
          <a:stretch>
            <a:fillRect/>
          </a:stretch>
        </p:blipFill>
        <p:spPr>
          <a:xfrm>
            <a:off x="1207008" y="731520"/>
            <a:ext cx="3250692" cy="402336"/>
          </a:xfrm>
          <a:prstGeom prst="rect">
            <a:avLst/>
          </a:prstGeom>
        </p:spPr>
      </p:pic>
      <p:sp>
        <p:nvSpPr>
          <p:cNvPr id="7" name="ins_94"/>
          <p:cNvSpPr/>
          <p:nvPr/>
        </p:nvSpPr>
        <p:spPr>
          <a:xfrm>
            <a:off x="1353312" y="731520"/>
            <a:ext cx="299466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Watch. Who are Jenny and Rob?</a:t>
            </a:r>
            <a:endParaRPr lang="en-US" sz="1250" dirty="0"/>
          </a:p>
        </p:txBody>
      </p:sp>
      <p:sp>
        <p:nvSpPr>
          <p:cNvPr id="8" name="insIT_9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Guarda. Chi sono Jenny e Rob?</a:t>
            </a:r>
            <a:endParaRPr lang="en-US" sz="950" dirty="0"/>
          </a:p>
        </p:txBody>
      </p:sp>
      <p:sp>
        <p:nvSpPr>
          <p:cNvPr id="9" name="cmd_96"/>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meta_97"/>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98"/>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gist</a:t>
            </a:r>
            <a:endParaRPr lang="en-US" sz="850" dirty="0"/>
          </a:p>
        </p:txBody>
      </p:sp>
      <p:pic>
        <p:nvPicPr>
          <p:cNvPr id="12" name="logo_9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0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PE1 · Video · Episode 1 · Introduction   ·   📖 SB p.14 · 1a, 1b · video Episode 1 Introduction / audio 1.26</a:t>
            </a:r>
            <a:endParaRPr lang="en-US" sz="800" dirty="0"/>
          </a:p>
        </p:txBody>
      </p:sp>
      <p:sp>
        <p:nvSpPr>
          <p:cNvPr id="14" name="ap_101"/>
          <p:cNvSpPr/>
          <p:nvPr/>
        </p:nvSpPr>
        <p:spPr>
          <a:xfrm>
            <a:off x="365760" y="1417320"/>
            <a:ext cx="26517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1.26  ·  🎬 video: Introduction</a:t>
            </a:r>
            <a:endParaRPr lang="en-US" sz="1100" dirty="0"/>
          </a:p>
        </p:txBody>
      </p:sp>
      <p:sp>
        <p:nvSpPr>
          <p:cNvPr id="15" name="ah_102"/>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6"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7"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8" name="ah2_103"/>
          <p:cNvSpPr/>
          <p:nvPr/>
        </p:nvSpPr>
        <p:spPr>
          <a:xfrm>
            <a:off x="3090672" y="1417320"/>
            <a:ext cx="1737360" cy="402336"/>
          </a:xfrm>
          <a:prstGeom prst="rect">
            <a:avLst/>
          </a:prstGeom>
          <a:noFill/>
          <a:ln/>
        </p:spPr>
        <p:txBody>
          <a:bodyPr wrap="square" lIns="0" tIns="0" rIns="0" bIns="0" rtlCol="0" anchor="ctr"/>
          <a:lstStyle/>
          <a:p>
            <a:pPr indent="0" marL="0">
              <a:buNone/>
            </a:pPr>
            <a:r>
              <a:rPr lang="en-US" sz="900" i="1" dirty="0">
                <a:solidFill>
                  <a:srgbClr val="5B6785"/>
                </a:solidFill>
                <a:latin typeface="Segoe UI" pitchFamily="34" charset="0"/>
                <a:ea typeface="Segoe UI" pitchFamily="34" charset="-122"/>
                <a:cs typeface="Segoe UI" pitchFamily="34" charset="-120"/>
              </a:rPr>
              <a:t>↘ speaker bottom right</a:t>
            </a:r>
            <a:endParaRPr lang="en-US" sz="900" dirty="0"/>
          </a:p>
        </p:txBody>
      </p:sp>
      <p:sp>
        <p:nvSpPr>
          <p:cNvPr id="19" name="pf_104"/>
          <p:cNvSpPr/>
          <p:nvPr/>
        </p:nvSpPr>
        <p:spPr>
          <a:xfrm rot="-90000">
            <a:off x="41148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0" name="phx_105"/>
          <p:cNvSpPr/>
          <p:nvPr/>
        </p:nvSpPr>
        <p:spPr>
          <a:xfrm>
            <a:off x="457200" y="2103120"/>
            <a:ext cx="1691640" cy="12344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pe1-office.jpg</a:t>
            </a:r>
            <a:endParaRPr lang="en-US" sz="900" dirty="0"/>
          </a:p>
        </p:txBody>
      </p:sp>
      <p:sp>
        <p:nvSpPr>
          <p:cNvPr id="21" name="bd_106"/>
          <p:cNvSpPr/>
          <p:nvPr/>
        </p:nvSpPr>
        <p:spPr>
          <a:xfrm>
            <a:off x="310896" y="1956816"/>
            <a:ext cx="420624" cy="42062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A</a:t>
            </a:r>
            <a:endParaRPr lang="en-US" sz="1400" dirty="0"/>
          </a:p>
        </p:txBody>
      </p:sp>
      <p:sp>
        <p:nvSpPr>
          <p:cNvPr id="22" name="pf_107"/>
          <p:cNvSpPr/>
          <p:nvPr/>
        </p:nvSpPr>
        <p:spPr>
          <a:xfrm rot="90000">
            <a:off x="228600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3" name="phx_108"/>
          <p:cNvSpPr/>
          <p:nvPr/>
        </p:nvSpPr>
        <p:spPr>
          <a:xfrm>
            <a:off x="2331720" y="2103120"/>
            <a:ext cx="1691640" cy="12344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pe1-cover.jpg</a:t>
            </a:r>
            <a:endParaRPr lang="en-US" sz="900" dirty="0"/>
          </a:p>
        </p:txBody>
      </p:sp>
      <p:sp>
        <p:nvSpPr>
          <p:cNvPr id="24" name="bd_109"/>
          <p:cNvSpPr/>
          <p:nvPr/>
        </p:nvSpPr>
        <p:spPr>
          <a:xfrm>
            <a:off x="2185416" y="1956816"/>
            <a:ext cx="420624" cy="42062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B</a:t>
            </a:r>
            <a:endParaRPr lang="en-US" sz="1400" dirty="0"/>
          </a:p>
        </p:txBody>
      </p:sp>
      <p:sp>
        <p:nvSpPr>
          <p:cNvPr id="25" name="cd_110"/>
          <p:cNvSpPr/>
          <p:nvPr/>
        </p:nvSpPr>
        <p:spPr>
          <a:xfrm>
            <a:off x="365760" y="3611880"/>
            <a:ext cx="5440680" cy="1097280"/>
          </a:xfrm>
          <a:prstGeom prst="roundRect">
            <a:avLst>
              <a:gd name="adj" fmla="val 11667"/>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26" name="ii_111"/>
          <p:cNvSpPr/>
          <p:nvPr/>
        </p:nvSpPr>
        <p:spPr>
          <a:xfrm>
            <a:off x="457200" y="36850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7" name="ih_112"/>
          <p:cNvSpPr/>
          <p:nvPr/>
        </p:nvSpPr>
        <p:spPr>
          <a:xfrm>
            <a:off x="932688" y="3703320"/>
            <a:ext cx="48006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While you listen</a:t>
            </a:r>
            <a:endParaRPr lang="en-US" sz="1300" dirty="0"/>
          </a:p>
        </p:txBody>
      </p:sp>
      <p:sp>
        <p:nvSpPr>
          <p:cNvPr id="28" name="il_113"/>
          <p:cNvSpPr/>
          <p:nvPr/>
        </p:nvSpPr>
        <p:spPr>
          <a:xfrm>
            <a:off x="932688" y="4087368"/>
            <a:ext cx="47823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700" dirty="0">
                <a:solidFill>
                  <a:srgbClr val="1B2559"/>
                </a:solidFill>
                <a:latin typeface="Segoe UI" pitchFamily="34" charset="0"/>
                <a:ea typeface="Segoe UI" pitchFamily="34" charset="-122"/>
                <a:cs typeface="Segoe UI" pitchFamily="34" charset="-120"/>
              </a:rPr>
              <a:t>Look at photos A and B. Describe Jenny and Rob.</a:t>
            </a:r>
            <a:endParaRPr lang="en-US" sz="700" dirty="0"/>
          </a:p>
          <a:p>
            <a:pPr marL="152400" indent="-152400">
              <a:spcAft>
                <a:spcPts val="200"/>
              </a:spcAft>
              <a:buSzPct val="100000"/>
              <a:buChar char="​"/>
            </a:pPr>
            <a:r>
              <a:rPr lang="en-US" sz="700" i="1" dirty="0">
                <a:solidFill>
                  <a:srgbClr val="5B6785"/>
                </a:solidFill>
                <a:latin typeface="Segoe UI" pitchFamily="34" charset="0"/>
                <a:ea typeface="Segoe UI" pitchFamily="34" charset="-122"/>
                <a:cs typeface="Segoe UI" pitchFamily="34" charset="-120"/>
              </a:rPr>
              <a:t>Guarda le foto A e B. Descrivi Jenny e Rob.</a:t>
            </a:r>
            <a:endParaRPr lang="en-US" sz="700" dirty="0"/>
          </a:p>
          <a:p>
            <a:pPr marL="152400" indent="-152400">
              <a:spcBef>
                <a:spcPts val="500"/>
              </a:spcBef>
              <a:spcAft>
                <a:spcPts val="200"/>
              </a:spcAft>
              <a:buSzPct val="100000"/>
              <a:buChar char="•"/>
            </a:pPr>
            <a:r>
              <a:rPr lang="en-US" sz="700" dirty="0">
                <a:solidFill>
                  <a:srgbClr val="1B2559"/>
                </a:solidFill>
                <a:latin typeface="Segoe UI" pitchFamily="34" charset="0"/>
                <a:ea typeface="Segoe UI" pitchFamily="34" charset="-122"/>
                <a:cs typeface="Segoe UI" pitchFamily="34" charset="-120"/>
              </a:rPr>
              <a:t>Watch once. Answer the 4 questions.</a:t>
            </a:r>
            <a:endParaRPr lang="en-US" sz="700" dirty="0"/>
          </a:p>
          <a:p>
            <a:pPr marL="152400" indent="-152400">
              <a:spcAft>
                <a:spcPts val="200"/>
              </a:spcAft>
              <a:buSzPct val="100000"/>
              <a:buChar char="​"/>
            </a:pPr>
            <a:r>
              <a:rPr lang="en-US" sz="700" i="1" dirty="0">
                <a:solidFill>
                  <a:srgbClr val="5B6785"/>
                </a:solidFill>
                <a:latin typeface="Segoe UI" pitchFamily="34" charset="0"/>
                <a:ea typeface="Segoe UI" pitchFamily="34" charset="-122"/>
                <a:cs typeface="Segoe UI" pitchFamily="34" charset="-120"/>
              </a:rPr>
              <a:t>Guarda una volta. Rispondi alle 4 domande.</a:t>
            </a:r>
            <a:endParaRPr lang="en-US" sz="700" dirty="0"/>
          </a:p>
        </p:txBody>
      </p:sp>
      <p:sp>
        <p:nvSpPr>
          <p:cNvPr id="29" name="lq_114"/>
          <p:cNvSpPr/>
          <p:nvPr/>
        </p:nvSpPr>
        <p:spPr>
          <a:xfrm>
            <a:off x="6035040" y="2103120"/>
            <a:ext cx="1234440" cy="566928"/>
          </a:xfrm>
          <a:prstGeom prst="roundRect">
            <a:avLst>
              <a:gd name="adj" fmla="val 16129"/>
            </a:avLst>
          </a:prstGeom>
          <a:solidFill>
            <a:srgbClr val="FFFFFF"/>
          </a:solidFill>
          <a:ln w="19050">
            <a:solidFill>
              <a:srgbClr val="F7A6C4"/>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Jenny: from?</a:t>
            </a:r>
            <a:endParaRPr lang="en-US" sz="1100" dirty="0"/>
          </a:p>
        </p:txBody>
      </p:sp>
      <p:sp>
        <p:nvSpPr>
          <p:cNvPr id="30" name="R1_chip115"/>
          <p:cNvSpPr/>
          <p:nvPr/>
        </p:nvSpPr>
        <p:spPr>
          <a:xfrm>
            <a:off x="7315200" y="2103120"/>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New York – American</a:t>
            </a:r>
            <a:endParaRPr lang="en-US" sz="1050" dirty="0"/>
          </a:p>
        </p:txBody>
      </p:sp>
      <p:sp>
        <p:nvSpPr>
          <p:cNvPr id="31" name="lq_116"/>
          <p:cNvSpPr/>
          <p:nvPr/>
        </p:nvSpPr>
        <p:spPr>
          <a:xfrm>
            <a:off x="6035040" y="2761488"/>
            <a:ext cx="1234440" cy="566928"/>
          </a:xfrm>
          <a:prstGeom prst="roundRect">
            <a:avLst>
              <a:gd name="adj" fmla="val 16129"/>
            </a:avLst>
          </a:prstGeom>
          <a:solidFill>
            <a:srgbClr val="FFFFFF"/>
          </a:solidFill>
          <a:ln w="19050">
            <a:solidFill>
              <a:srgbClr val="A9D3F5"/>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Rob: from?</a:t>
            </a:r>
            <a:endParaRPr lang="en-US" sz="1100" dirty="0"/>
          </a:p>
        </p:txBody>
      </p:sp>
      <p:sp>
        <p:nvSpPr>
          <p:cNvPr id="32" name="R2_chip117"/>
          <p:cNvSpPr/>
          <p:nvPr/>
        </p:nvSpPr>
        <p:spPr>
          <a:xfrm>
            <a:off x="7315200" y="2761488"/>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the UK – British</a:t>
            </a:r>
            <a:endParaRPr lang="en-US" sz="1050" dirty="0"/>
          </a:p>
        </p:txBody>
      </p:sp>
      <p:sp>
        <p:nvSpPr>
          <p:cNvPr id="33" name="lq_118"/>
          <p:cNvSpPr/>
          <p:nvPr/>
        </p:nvSpPr>
        <p:spPr>
          <a:xfrm>
            <a:off x="6035040" y="3419856"/>
            <a:ext cx="1234440" cy="566928"/>
          </a:xfrm>
          <a:prstGeom prst="roundRect">
            <a:avLst>
              <a:gd name="adj" fmla="val 16129"/>
            </a:avLst>
          </a:prstGeom>
          <a:solidFill>
            <a:srgbClr val="FFFFFF"/>
          </a:solidFill>
          <a:ln w="19050">
            <a:solidFill>
              <a:srgbClr val="A8E5BE"/>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Their job?</a:t>
            </a:r>
            <a:endParaRPr lang="en-US" sz="1100" dirty="0"/>
          </a:p>
        </p:txBody>
      </p:sp>
      <p:sp>
        <p:nvSpPr>
          <p:cNvPr id="34" name="R3_chip119"/>
          <p:cNvSpPr/>
          <p:nvPr/>
        </p:nvSpPr>
        <p:spPr>
          <a:xfrm>
            <a:off x="7315200" y="3419856"/>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a magazine: New York 24seven</a:t>
            </a:r>
            <a:endParaRPr lang="en-US" sz="1050" dirty="0"/>
          </a:p>
        </p:txBody>
      </p:sp>
      <p:sp>
        <p:nvSpPr>
          <p:cNvPr id="35" name="lq_120"/>
          <p:cNvSpPr/>
          <p:nvPr/>
        </p:nvSpPr>
        <p:spPr>
          <a:xfrm>
            <a:off x="6035040" y="4078224"/>
            <a:ext cx="1234440" cy="566928"/>
          </a:xfrm>
          <a:prstGeom prst="roundRect">
            <a:avLst>
              <a:gd name="adj" fmla="val 16129"/>
            </a:avLst>
          </a:prstGeom>
          <a:solidFill>
            <a:srgbClr val="FFFFFF"/>
          </a:solidFill>
          <a:ln w="19050">
            <a:solidFill>
              <a:srgbClr val="FFE07A"/>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B: this evening?</a:t>
            </a:r>
            <a:endParaRPr lang="en-US" sz="1100" dirty="0"/>
          </a:p>
        </p:txBody>
      </p:sp>
      <p:sp>
        <p:nvSpPr>
          <p:cNvPr id="36" name="R4_chip121"/>
          <p:cNvSpPr/>
          <p:nvPr/>
        </p:nvSpPr>
        <p:spPr>
          <a:xfrm>
            <a:off x="7315200" y="4078224"/>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Rob meets Jenny's parents</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4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4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4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16"/>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6"/>
                                        </p:tgtEl>
                                      </p:cBhvr>
                                    </p:cmd>
                                  </p:childTnLst>
                                </p:cTn>
                              </p:par>
                            </p:childTnLst>
                          </p:cTn>
                        </p:par>
                      </p:childTnLst>
                    </p:cTn>
                  </p:par>
                </p:childTnLst>
              </p:cTn>
              <p:nextCondLst>
                <p:cond evt="onClick" delay="0">
                  <p:tgtEl>
                    <p:spTgt spid="16"/>
                  </p:tgtEl>
                </p:cond>
              </p:nextCondLst>
            </p:seq>
            <p:seq concurrent="1" nextAc="seek">
              <p:cTn id="28" restart="whenNotActive" fill="hold" evtFilter="cancelBubble" nodeType="interactiveSeq">
                <p:stCondLst>
                  <p:cond evt="onClick" delay="0">
                    <p:tgtEl>
                      <p:spTgt spid="17"/>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7"/>
                                        </p:tgtEl>
                                      </p:cBhvr>
                                    </p:cmd>
                                  </p:childTnLst>
                                </p:cTn>
                              </p:par>
                            </p:childTnLst>
                          </p:cTn>
                        </p:par>
                      </p:childTnLst>
                    </p:cTn>
                  </p:par>
                </p:childTnLst>
              </p:cTn>
              <p:nextCondLst>
                <p:cond evt="onClick" delay="0">
                  <p:tgtEl>
                    <p:spTgt spid="17"/>
                  </p:tgtEl>
                </p:cond>
              </p:nextCondLst>
            </p:seq>
            <p:audio>
              <p:cMediaNode vol="80000">
                <p:cTn id="33" fill="hold" display="0">
                  <p:stCondLst>
                    <p:cond delay="indefinite"/>
                  </p:stCondLst>
                  <p:endCondLst>
                    <p:cond evt="onStopAudio" delay="0">
                      <p:tgtEl>
                        <p:sldTgt/>
                      </p:tgtEl>
                    </p:cond>
                  </p:endCondLst>
                </p:cTn>
                <p:tgtEl>
                  <p:spTgt spid="16"/>
                </p:tgtEl>
              </p:cMediaNode>
            </p:audio>
            <p:audio>
              <p:cMediaNode vol="80000">
                <p:cTn id="34" fill="hold" display="0">
                  <p:stCondLst>
                    <p:cond delay="indefinite"/>
                  </p:stCondLst>
                  <p:endCondLst>
                    <p:cond evt="onStopAudio" delay="0">
                      <p:tgtEl>
                        <p:sldTgt/>
                      </p:tgtEl>
                    </p:cond>
                  </p:endCondLst>
                </p:cTn>
                <p:tgtEl>
                  <p:spTgt spid="17"/>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22"/>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123"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24"/>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Jenny and Rob's story</a:t>
            </a:r>
            <a:endParaRPr lang="en-US" sz="2500" dirty="0"/>
          </a:p>
        </p:txBody>
      </p:sp>
      <p:pic>
        <p:nvPicPr>
          <p:cNvPr id="6" name="brP_125" descr="/home/claude/lls-course/v2/assets/brush-pink.png">    </p:cNvPr>
          <p:cNvPicPr>
            <a:picLocks noChangeAspect="1"/>
          </p:cNvPicPr>
          <p:nvPr/>
        </p:nvPicPr>
        <p:blipFill>
          <a:blip r:embed="rId3"/>
          <a:stretch>
            <a:fillRect/>
          </a:stretch>
        </p:blipFill>
        <p:spPr>
          <a:xfrm>
            <a:off x="1207008" y="731520"/>
            <a:ext cx="3685032" cy="402336"/>
          </a:xfrm>
          <a:prstGeom prst="rect">
            <a:avLst/>
          </a:prstGeom>
        </p:spPr>
      </p:pic>
      <p:sp>
        <p:nvSpPr>
          <p:cNvPr id="7" name="ins_126"/>
          <p:cNvSpPr/>
          <p:nvPr/>
        </p:nvSpPr>
        <p:spPr>
          <a:xfrm>
            <a:off x="1353312" y="731520"/>
            <a:ext cx="342900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the words. Then watch again.</a:t>
            </a:r>
            <a:endParaRPr lang="en-US" sz="1250" dirty="0"/>
          </a:p>
        </p:txBody>
      </p:sp>
      <p:sp>
        <p:nvSpPr>
          <p:cNvPr id="8" name="insIT_127"/>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Indovina le parole. Poi riguarda.</a:t>
            </a:r>
            <a:endParaRPr lang="en-US" sz="950" dirty="0"/>
          </a:p>
        </p:txBody>
      </p:sp>
      <p:sp>
        <p:nvSpPr>
          <p:cNvPr id="9" name="cmd_128"/>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cmd_129"/>
          <p:cNvSpPr/>
          <p:nvPr/>
        </p:nvSpPr>
        <p:spPr>
          <a:xfrm>
            <a:off x="6510528" y="566928"/>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1" name="meta_130"/>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131"/>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3" name="logo_13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13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PE1 · Video · detail · gap fill   ·   📖 SB p.14 · 1b · video Introduction / audio 1.26</a:t>
            </a:r>
            <a:endParaRPr lang="en-US" sz="800" dirty="0"/>
          </a:p>
        </p:txBody>
      </p:sp>
      <p:sp>
        <p:nvSpPr>
          <p:cNvPr id="15" name="cd_134"/>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6" name="sh_135"/>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Jenny and Rob</a:t>
            </a:r>
            <a:endParaRPr lang="en-US" sz="1700" dirty="0"/>
          </a:p>
        </p:txBody>
      </p:sp>
      <p:sp>
        <p:nvSpPr>
          <p:cNvPr id="17" name="ln_136"/>
          <p:cNvSpPr/>
          <p:nvPr/>
        </p:nvSpPr>
        <p:spPr>
          <a:xfrm>
            <a:off x="548640" y="1920240"/>
            <a:ext cx="5349240" cy="348615"/>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Georgia" pitchFamily="34" charset="0"/>
                <a:ea typeface="Georgia" pitchFamily="34" charset="-122"/>
                <a:cs typeface="Georgia" pitchFamily="34" charset="-120"/>
              </a:rPr>
              <a:t>Jenny Zielinski and Rob Walker work for a </a:t>
            </a:r>
            <a:pPr indent="0" marL="0">
              <a:buNone/>
            </a:pPr>
            <a:r>
              <a:rPr lang="en-US" sz="1100" b="1" dirty="0">
                <a:solidFill>
                  <a:srgbClr val="2EB872"/>
                </a:solidFill>
                <a:latin typeface="Georgia" pitchFamily="34" charset="0"/>
                <a:ea typeface="Georgia" pitchFamily="34" charset="-122"/>
                <a:cs typeface="Georgia" pitchFamily="34" charset="-120"/>
              </a:rPr>
              <a:t> (1) ________ </a:t>
            </a:r>
            <a:pPr indent="0" marL="0">
              <a:buNone/>
            </a:pPr>
            <a:r>
              <a:rPr lang="en-US" sz="1100" dirty="0">
                <a:solidFill>
                  <a:srgbClr val="1B2559"/>
                </a:solidFill>
                <a:latin typeface="Georgia" pitchFamily="34" charset="0"/>
                <a:ea typeface="Georgia" pitchFamily="34" charset="-122"/>
                <a:cs typeface="Georgia" pitchFamily="34" charset="-120"/>
              </a:rPr>
              <a:t> called New York 24seven.</a:t>
            </a:r>
            <a:endParaRPr lang="en-US" sz="1100" dirty="0"/>
          </a:p>
        </p:txBody>
      </p:sp>
      <p:sp>
        <p:nvSpPr>
          <p:cNvPr id="18" name="R1_lnA137"/>
          <p:cNvSpPr/>
          <p:nvPr/>
        </p:nvSpPr>
        <p:spPr>
          <a:xfrm>
            <a:off x="548640" y="1920240"/>
            <a:ext cx="5349240" cy="348615"/>
          </a:xfrm>
          <a:prstGeom prst="rect">
            <a:avLst/>
          </a:prstGeom>
          <a:solidFill>
            <a:srgbClr val="FFFFFF"/>
          </a:solidFill>
          <a:ln/>
        </p:spPr>
        <p:txBody>
          <a:bodyPr wrap="square" lIns="0" tIns="0" rIns="0" bIns="0" rtlCol="0" anchor="ctr">
            <a:normAutofit/>
          </a:bodyPr>
          <a:lstStyle/>
          <a:p>
            <a:pPr indent="0" marL="0">
              <a:buNone/>
            </a:pPr>
            <a:r>
              <a:rPr lang="en-US" sz="1100" dirty="0">
                <a:solidFill>
                  <a:srgbClr val="1B2559"/>
                </a:solidFill>
                <a:latin typeface="Georgia" pitchFamily="34" charset="0"/>
                <a:ea typeface="Georgia" pitchFamily="34" charset="-122"/>
                <a:cs typeface="Georgia" pitchFamily="34" charset="-120"/>
              </a:rPr>
              <a:t>Jenny Zielinski and Rob Walker work for a </a:t>
            </a:r>
            <a:pPr indent="0" marL="0">
              <a:buNone/>
            </a:pPr>
            <a:r>
              <a:rPr lang="en-US" sz="1100" b="1" dirty="0">
                <a:solidFill>
                  <a:srgbClr val="1B2559"/>
                </a:solidFill>
                <a:highlight>
                  <a:srgbClr val="FFE066"/>
                </a:highlight>
                <a:latin typeface="Georgia" pitchFamily="34" charset="0"/>
                <a:ea typeface="Georgia" pitchFamily="34" charset="-122"/>
                <a:cs typeface="Georgia" pitchFamily="34" charset="-120"/>
              </a:rPr>
              <a:t>magazine</a:t>
            </a:r>
            <a:pPr indent="0" marL="0">
              <a:buNone/>
            </a:pPr>
            <a:r>
              <a:rPr lang="en-US" sz="1100" dirty="0">
                <a:solidFill>
                  <a:srgbClr val="1B2559"/>
                </a:solidFill>
                <a:latin typeface="Georgia" pitchFamily="34" charset="0"/>
                <a:ea typeface="Georgia" pitchFamily="34" charset="-122"/>
                <a:cs typeface="Georgia" pitchFamily="34" charset="-120"/>
              </a:rPr>
              <a:t> called New York 24seven.</a:t>
            </a:r>
            <a:endParaRPr lang="en-US" sz="1100" dirty="0"/>
          </a:p>
        </p:txBody>
      </p:sp>
      <p:sp>
        <p:nvSpPr>
          <p:cNvPr id="19" name="ln_138"/>
          <p:cNvSpPr/>
          <p:nvPr/>
        </p:nvSpPr>
        <p:spPr>
          <a:xfrm>
            <a:off x="548640" y="2268855"/>
            <a:ext cx="5349240" cy="348615"/>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She's American and he's </a:t>
            </a:r>
            <a:pPr indent="0" marL="0">
              <a:buNone/>
            </a:pPr>
            <a:r>
              <a:rPr lang="en-US" sz="1150" b="1" dirty="0">
                <a:solidFill>
                  <a:srgbClr val="2EB872"/>
                </a:solidFill>
                <a:latin typeface="Georgia" pitchFamily="34" charset="0"/>
                <a:ea typeface="Georgia" pitchFamily="34" charset="-122"/>
                <a:cs typeface="Georgia" pitchFamily="34" charset="-120"/>
              </a:rPr>
              <a:t> (2) ________ </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20" name="R2_lnA139"/>
          <p:cNvSpPr/>
          <p:nvPr/>
        </p:nvSpPr>
        <p:spPr>
          <a:xfrm>
            <a:off x="548640" y="2268855"/>
            <a:ext cx="5349240" cy="348615"/>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She's American and he's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British</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21" name="ln_140"/>
          <p:cNvSpPr/>
          <p:nvPr/>
        </p:nvSpPr>
        <p:spPr>
          <a:xfrm>
            <a:off x="548640" y="2617470"/>
            <a:ext cx="5349240" cy="348615"/>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Rob came to New York a few </a:t>
            </a:r>
            <a:pPr indent="0" marL="0">
              <a:buNone/>
            </a:pPr>
            <a:r>
              <a:rPr lang="en-US" sz="1150" b="1" dirty="0">
                <a:solidFill>
                  <a:srgbClr val="2EB872"/>
                </a:solidFill>
                <a:latin typeface="Georgia" pitchFamily="34" charset="0"/>
                <a:ea typeface="Georgia" pitchFamily="34" charset="-122"/>
                <a:cs typeface="Georgia" pitchFamily="34" charset="-120"/>
              </a:rPr>
              <a:t> (3) ________ </a:t>
            </a:r>
            <a:pPr indent="0" marL="0">
              <a:buNone/>
            </a:pPr>
            <a:r>
              <a:rPr lang="en-US" sz="1150" dirty="0">
                <a:solidFill>
                  <a:srgbClr val="1B2559"/>
                </a:solidFill>
                <a:latin typeface="Georgia" pitchFamily="34" charset="0"/>
                <a:ea typeface="Georgia" pitchFamily="34" charset="-122"/>
                <a:cs typeface="Georgia" pitchFamily="34" charset="-120"/>
              </a:rPr>
              <a:t> ago.</a:t>
            </a:r>
            <a:endParaRPr lang="en-US" sz="1150" dirty="0"/>
          </a:p>
        </p:txBody>
      </p:sp>
      <p:sp>
        <p:nvSpPr>
          <p:cNvPr id="22" name="R3_lnA141"/>
          <p:cNvSpPr/>
          <p:nvPr/>
        </p:nvSpPr>
        <p:spPr>
          <a:xfrm>
            <a:off x="548640" y="2617470"/>
            <a:ext cx="5349240" cy="348615"/>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Rob came to New York a few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months</a:t>
            </a:r>
            <a:pPr indent="0" marL="0">
              <a:buNone/>
            </a:pPr>
            <a:r>
              <a:rPr lang="en-US" sz="1150" dirty="0">
                <a:solidFill>
                  <a:srgbClr val="1B2559"/>
                </a:solidFill>
                <a:latin typeface="Georgia" pitchFamily="34" charset="0"/>
                <a:ea typeface="Georgia" pitchFamily="34" charset="-122"/>
                <a:cs typeface="Georgia" pitchFamily="34" charset="-120"/>
              </a:rPr>
              <a:t> ago.</a:t>
            </a:r>
            <a:endParaRPr lang="en-US" sz="1150" dirty="0"/>
          </a:p>
        </p:txBody>
      </p:sp>
      <p:sp>
        <p:nvSpPr>
          <p:cNvPr id="23" name="ln_142"/>
          <p:cNvSpPr/>
          <p:nvPr/>
        </p:nvSpPr>
        <p:spPr>
          <a:xfrm>
            <a:off x="548640" y="2966085"/>
            <a:ext cx="5349240" cy="348615"/>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He had met Jenny when she went to </a:t>
            </a:r>
            <a:pPr indent="0" marL="0">
              <a:buNone/>
            </a:pPr>
            <a:r>
              <a:rPr lang="en-US" sz="1150" b="1" dirty="0">
                <a:solidFill>
                  <a:srgbClr val="2EB872"/>
                </a:solidFill>
                <a:latin typeface="Georgia" pitchFamily="34" charset="0"/>
                <a:ea typeface="Georgia" pitchFamily="34" charset="-122"/>
                <a:cs typeface="Georgia" pitchFamily="34" charset="-120"/>
              </a:rPr>
              <a:t> (4) ________ </a:t>
            </a:r>
            <a:pPr indent="0" marL="0">
              <a:buNone/>
            </a:pPr>
            <a:r>
              <a:rPr lang="en-US" sz="1150" dirty="0">
                <a:solidFill>
                  <a:srgbClr val="1B2559"/>
                </a:solidFill>
                <a:latin typeface="Georgia" pitchFamily="34" charset="0"/>
                <a:ea typeface="Georgia" pitchFamily="34" charset="-122"/>
                <a:cs typeface="Georgia" pitchFamily="34" charset="-120"/>
              </a:rPr>
              <a:t> on a work trip.</a:t>
            </a:r>
            <a:endParaRPr lang="en-US" sz="1150" dirty="0"/>
          </a:p>
        </p:txBody>
      </p:sp>
      <p:sp>
        <p:nvSpPr>
          <p:cNvPr id="24" name="R4_lnA143"/>
          <p:cNvSpPr/>
          <p:nvPr/>
        </p:nvSpPr>
        <p:spPr>
          <a:xfrm>
            <a:off x="548640" y="2966085"/>
            <a:ext cx="5349240" cy="348615"/>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He had met Jenny when she went to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London</a:t>
            </a:r>
            <a:pPr indent="0" marL="0">
              <a:buNone/>
            </a:pPr>
            <a:r>
              <a:rPr lang="en-US" sz="1150" dirty="0">
                <a:solidFill>
                  <a:srgbClr val="1B2559"/>
                </a:solidFill>
                <a:latin typeface="Georgia" pitchFamily="34" charset="0"/>
                <a:ea typeface="Georgia" pitchFamily="34" charset="-122"/>
                <a:cs typeface="Georgia" pitchFamily="34" charset="-120"/>
              </a:rPr>
              <a:t> on a work trip.</a:t>
            </a:r>
            <a:endParaRPr lang="en-US" sz="1150" dirty="0"/>
          </a:p>
        </p:txBody>
      </p:sp>
      <p:sp>
        <p:nvSpPr>
          <p:cNvPr id="25" name="ln_144"/>
          <p:cNvSpPr/>
          <p:nvPr/>
        </p:nvSpPr>
        <p:spPr>
          <a:xfrm>
            <a:off x="548640" y="3314700"/>
            <a:ext cx="5349240" cy="348615"/>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They got on very well and he was offered a job for a month in </a:t>
            </a:r>
            <a:pPr indent="0" marL="0">
              <a:buNone/>
            </a:pPr>
            <a:r>
              <a:rPr lang="en-US" sz="1150" b="1" dirty="0">
                <a:solidFill>
                  <a:srgbClr val="2EB872"/>
                </a:solidFill>
                <a:latin typeface="Georgia" pitchFamily="34" charset="0"/>
                <a:ea typeface="Georgia" pitchFamily="34" charset="-122"/>
                <a:cs typeface="Georgia" pitchFamily="34" charset="-120"/>
              </a:rPr>
              <a:t> (5) ________ </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26" name="R5_lnA145"/>
          <p:cNvSpPr/>
          <p:nvPr/>
        </p:nvSpPr>
        <p:spPr>
          <a:xfrm>
            <a:off x="548640" y="3314700"/>
            <a:ext cx="5349240" cy="348615"/>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They got on very well and he was offered a job for a month in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New York</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27" name="ln_146"/>
          <p:cNvSpPr/>
          <p:nvPr/>
        </p:nvSpPr>
        <p:spPr>
          <a:xfrm>
            <a:off x="548640" y="3663315"/>
            <a:ext cx="5349240" cy="348615"/>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Later, he was offered a </a:t>
            </a:r>
            <a:pPr indent="0" marL="0">
              <a:buNone/>
            </a:pPr>
            <a:r>
              <a:rPr lang="en-US" sz="1150" b="1" dirty="0">
                <a:solidFill>
                  <a:srgbClr val="2EB872"/>
                </a:solidFill>
                <a:latin typeface="Georgia" pitchFamily="34" charset="0"/>
                <a:ea typeface="Georgia" pitchFamily="34" charset="-122"/>
                <a:cs typeface="Georgia" pitchFamily="34" charset="-120"/>
              </a:rPr>
              <a:t> (6) ________ </a:t>
            </a:r>
            <a:pPr indent="0" marL="0">
              <a:buNone/>
            </a:pPr>
            <a:r>
              <a:rPr lang="en-US" sz="1150" dirty="0">
                <a:solidFill>
                  <a:srgbClr val="1B2559"/>
                </a:solidFill>
                <a:latin typeface="Georgia" pitchFamily="34" charset="0"/>
                <a:ea typeface="Georgia" pitchFamily="34" charset="-122"/>
                <a:cs typeface="Georgia" pitchFamily="34" charset="-120"/>
              </a:rPr>
              <a:t> job.</a:t>
            </a:r>
            <a:endParaRPr lang="en-US" sz="1150" dirty="0"/>
          </a:p>
        </p:txBody>
      </p:sp>
      <p:sp>
        <p:nvSpPr>
          <p:cNvPr id="28" name="R6_lnA147"/>
          <p:cNvSpPr/>
          <p:nvPr/>
        </p:nvSpPr>
        <p:spPr>
          <a:xfrm>
            <a:off x="548640" y="3663315"/>
            <a:ext cx="5349240" cy="348615"/>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Later, he was offered a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permanent</a:t>
            </a:r>
            <a:pPr indent="0" marL="0">
              <a:buNone/>
            </a:pPr>
            <a:r>
              <a:rPr lang="en-US" sz="1150" dirty="0">
                <a:solidFill>
                  <a:srgbClr val="1B2559"/>
                </a:solidFill>
                <a:latin typeface="Georgia" pitchFamily="34" charset="0"/>
                <a:ea typeface="Georgia" pitchFamily="34" charset="-122"/>
                <a:cs typeface="Georgia" pitchFamily="34" charset="-120"/>
              </a:rPr>
              <a:t> job.</a:t>
            </a:r>
            <a:endParaRPr lang="en-US" sz="1150" dirty="0"/>
          </a:p>
        </p:txBody>
      </p:sp>
      <p:sp>
        <p:nvSpPr>
          <p:cNvPr id="29" name="ln_148"/>
          <p:cNvSpPr/>
          <p:nvPr/>
        </p:nvSpPr>
        <p:spPr>
          <a:xfrm>
            <a:off x="548640" y="4011930"/>
            <a:ext cx="5349240" cy="348615"/>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Jenny helped Rob </a:t>
            </a:r>
            <a:pPr indent="0" marL="0">
              <a:buNone/>
            </a:pPr>
            <a:r>
              <a:rPr lang="en-US" sz="1150" b="1" dirty="0">
                <a:solidFill>
                  <a:srgbClr val="2EB872"/>
                </a:solidFill>
                <a:latin typeface="Georgia" pitchFamily="34" charset="0"/>
                <a:ea typeface="Georgia" pitchFamily="34" charset="-122"/>
                <a:cs typeface="Georgia" pitchFamily="34" charset="-120"/>
              </a:rPr>
              <a:t> (7) ________ </a:t>
            </a:r>
            <a:pPr indent="0" marL="0">
              <a:buNone/>
            </a:pPr>
            <a:r>
              <a:rPr lang="en-US" sz="1150" dirty="0">
                <a:solidFill>
                  <a:srgbClr val="1B2559"/>
                </a:solidFill>
                <a:latin typeface="Georgia" pitchFamily="34" charset="0"/>
                <a:ea typeface="Georgia" pitchFamily="34" charset="-122"/>
                <a:cs typeface="Georgia" pitchFamily="34" charset="-120"/>
              </a:rPr>
              <a:t> an apartment.</a:t>
            </a:r>
            <a:endParaRPr lang="en-US" sz="1150" dirty="0"/>
          </a:p>
        </p:txBody>
      </p:sp>
      <p:sp>
        <p:nvSpPr>
          <p:cNvPr id="30" name="R7_lnA149"/>
          <p:cNvSpPr/>
          <p:nvPr/>
        </p:nvSpPr>
        <p:spPr>
          <a:xfrm>
            <a:off x="548640" y="4011930"/>
            <a:ext cx="5349240" cy="348615"/>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Jenny helped Rob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find</a:t>
            </a:r>
            <a:pPr indent="0" marL="0">
              <a:buNone/>
            </a:pPr>
            <a:r>
              <a:rPr lang="en-US" sz="1150" dirty="0">
                <a:solidFill>
                  <a:srgbClr val="1B2559"/>
                </a:solidFill>
                <a:latin typeface="Georgia" pitchFamily="34" charset="0"/>
                <a:ea typeface="Georgia" pitchFamily="34" charset="-122"/>
                <a:cs typeface="Georgia" pitchFamily="34" charset="-120"/>
              </a:rPr>
              <a:t> an apartment.</a:t>
            </a:r>
            <a:endParaRPr lang="en-US" sz="1150" dirty="0"/>
          </a:p>
        </p:txBody>
      </p:sp>
      <p:sp>
        <p:nvSpPr>
          <p:cNvPr id="31" name="ln_150"/>
          <p:cNvSpPr/>
          <p:nvPr/>
        </p:nvSpPr>
        <p:spPr>
          <a:xfrm>
            <a:off x="548640" y="4360545"/>
            <a:ext cx="5349240" cy="348615"/>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Georgia" pitchFamily="34" charset="0"/>
                <a:ea typeface="Georgia" pitchFamily="34" charset="-122"/>
                <a:cs typeface="Georgia" pitchFamily="34" charset="-120"/>
              </a:rPr>
              <a:t>They're enjoying life in the USA, although Rob misses his friends and </a:t>
            </a:r>
            <a:pPr indent="0" marL="0">
              <a:buNone/>
            </a:pPr>
            <a:r>
              <a:rPr lang="en-US" sz="1100" b="1" dirty="0">
                <a:solidFill>
                  <a:srgbClr val="2EB872"/>
                </a:solidFill>
                <a:latin typeface="Georgia" pitchFamily="34" charset="0"/>
                <a:ea typeface="Georgia" pitchFamily="34" charset="-122"/>
                <a:cs typeface="Georgia" pitchFamily="34" charset="-120"/>
              </a:rPr>
              <a:t> (8) ________ </a:t>
            </a:r>
            <a:pPr indent="0" marL="0">
              <a:buNone/>
            </a:pPr>
            <a:r>
              <a:rPr lang="en-US" sz="1100" dirty="0">
                <a:solidFill>
                  <a:srgbClr val="1B2559"/>
                </a:solidFill>
                <a:latin typeface="Georgia" pitchFamily="34" charset="0"/>
                <a:ea typeface="Georgia" pitchFamily="34" charset="-122"/>
                <a:cs typeface="Georgia" pitchFamily="34" charset="-120"/>
              </a:rPr>
              <a:t>.</a:t>
            </a:r>
            <a:endParaRPr lang="en-US" sz="1100" dirty="0"/>
          </a:p>
        </p:txBody>
      </p:sp>
      <p:sp>
        <p:nvSpPr>
          <p:cNvPr id="32" name="R8_lnA151"/>
          <p:cNvSpPr/>
          <p:nvPr/>
        </p:nvSpPr>
        <p:spPr>
          <a:xfrm>
            <a:off x="548640" y="4360545"/>
            <a:ext cx="5349240" cy="348615"/>
          </a:xfrm>
          <a:prstGeom prst="rect">
            <a:avLst/>
          </a:prstGeom>
          <a:solidFill>
            <a:srgbClr val="FFFFFF"/>
          </a:solidFill>
          <a:ln/>
        </p:spPr>
        <p:txBody>
          <a:bodyPr wrap="square" lIns="0" tIns="0" rIns="0" bIns="0" rtlCol="0" anchor="ctr">
            <a:normAutofit/>
          </a:bodyPr>
          <a:lstStyle/>
          <a:p>
            <a:pPr indent="0" marL="0">
              <a:buNone/>
            </a:pPr>
            <a:r>
              <a:rPr lang="en-US" sz="1150" dirty="0">
                <a:solidFill>
                  <a:srgbClr val="1B2559"/>
                </a:solidFill>
                <a:latin typeface="Georgia" pitchFamily="34" charset="0"/>
                <a:ea typeface="Georgia" pitchFamily="34" charset="-122"/>
                <a:cs typeface="Georgia" pitchFamily="34" charset="-120"/>
              </a:rPr>
              <a:t>They're enjoying life in the USA, although Rob misses his friends and </a:t>
            </a:r>
            <a:pPr indent="0" marL="0">
              <a:buNone/>
            </a:pPr>
            <a:r>
              <a:rPr lang="en-US" sz="1150" b="1" dirty="0">
                <a:solidFill>
                  <a:srgbClr val="1B2559"/>
                </a:solidFill>
                <a:highlight>
                  <a:srgbClr val="FFE066"/>
                </a:highlight>
                <a:latin typeface="Georgia" pitchFamily="34" charset="0"/>
                <a:ea typeface="Georgia" pitchFamily="34" charset="-122"/>
                <a:cs typeface="Georgia" pitchFamily="34" charset="-120"/>
              </a:rPr>
              <a:t>family</a:t>
            </a:r>
            <a:pPr indent="0" marL="0">
              <a:buNone/>
            </a:pPr>
            <a:r>
              <a:rPr lang="en-US" sz="1150" dirty="0">
                <a:solidFill>
                  <a:srgbClr val="1B2559"/>
                </a:solidFill>
                <a:latin typeface="Georgia" pitchFamily="34" charset="0"/>
                <a:ea typeface="Georgia" pitchFamily="34" charset="-122"/>
                <a:cs typeface="Georgia" pitchFamily="34" charset="-120"/>
              </a:rPr>
              <a:t>.</a:t>
            </a:r>
            <a:endParaRPr lang="en-US" sz="1150" dirty="0"/>
          </a:p>
        </p:txBody>
      </p:sp>
      <p:sp>
        <p:nvSpPr>
          <p:cNvPr id="33" name="ap_152"/>
          <p:cNvSpPr/>
          <p:nvPr/>
        </p:nvSpPr>
        <p:spPr>
          <a:xfrm>
            <a:off x="6263640" y="1417320"/>
            <a:ext cx="201168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1.26</a:t>
            </a:r>
            <a:endParaRPr lang="en-US" sz="1100" dirty="0"/>
          </a:p>
        </p:txBody>
      </p:sp>
      <p:sp>
        <p:nvSpPr>
          <p:cNvPr id="34" name="ah_153"/>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35"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36"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37" name="pf_154"/>
          <p:cNvSpPr/>
          <p:nvPr/>
        </p:nvSpPr>
        <p:spPr>
          <a:xfrm rot="120000">
            <a:off x="6309360" y="1965960"/>
            <a:ext cx="2560320" cy="1508760"/>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38" name="phx_155"/>
          <p:cNvSpPr/>
          <p:nvPr/>
        </p:nvSpPr>
        <p:spPr>
          <a:xfrm>
            <a:off x="6355080" y="2011680"/>
            <a:ext cx="2468880" cy="141732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pe1-office.jpg</a:t>
            </a:r>
            <a:endParaRPr lang="en-US" sz="900" dirty="0"/>
          </a:p>
        </p:txBody>
      </p:sp>
      <p:sp>
        <p:nvSpPr>
          <p:cNvPr id="39" name="cd_156"/>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40" name="ii_157"/>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41" name="ih_158"/>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42" name="il_159"/>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apartment = American English</a:t>
            </a:r>
            <a:endParaRPr lang="en-US" sz="1000" dirty="0"/>
          </a:p>
          <a:p>
            <a:pPr marL="152400" indent="-152400">
              <a:spcBef>
                <a:spcPts val="500"/>
              </a:spcBef>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flat = British English</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4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3" restart="whenNotActive" fill="hold" evtFilter="cancelBubble" nodeType="interactiveSeq">
                <p:stCondLst>
                  <p:cond evt="onClick" delay="0">
                    <p:tgtEl>
                      <p:spTgt spid="35"/>
                    </p:tgtEl>
                  </p:cond>
                </p:stCondLst>
                <p:endSync evt="end" delay="0">
                  <p:rtn val="all"/>
                </p:endSync>
                <p:childTnLst>
                  <p:par>
                    <p:cTn id="44" fill="hold">
                      <p:stCondLst>
                        <p:cond delay="0"/>
                      </p:stCondLst>
                      <p:childTnLst>
                        <p:par>
                          <p:cTn id="45" fill="hold">
                            <p:stCondLst>
                              <p:cond delay="0"/>
                            </p:stCondLst>
                            <p:childTnLst>
                              <p:par>
                                <p:cTn id="46" presetID="2" presetClass="mediacall" presetSubtype="0" fill="hold" nodeType="clickEffect">
                                  <p:stCondLst>
                                    <p:cond delay="0"/>
                                  </p:stCondLst>
                                  <p:childTnLst>
                                    <p:cmd type="call" cmd="togglePause">
                                      <p:cBhvr>
                                        <p:cTn id="47" dur="1" fill="hold"/>
                                        <p:tgtEl>
                                          <p:spTgt spid="35"/>
                                        </p:tgtEl>
                                      </p:cBhvr>
                                    </p:cmd>
                                  </p:childTnLst>
                                </p:cTn>
                              </p:par>
                            </p:childTnLst>
                          </p:cTn>
                        </p:par>
                      </p:childTnLst>
                    </p:cTn>
                  </p:par>
                </p:childTnLst>
              </p:cTn>
              <p:nextCondLst>
                <p:cond evt="onClick" delay="0">
                  <p:tgtEl>
                    <p:spTgt spid="35"/>
                  </p:tgtEl>
                </p:cond>
              </p:nextCondLst>
            </p:seq>
            <p:seq concurrent="1" nextAc="seek">
              <p:cTn id="48" restart="whenNotActive" fill="hold" evtFilter="cancelBubble" nodeType="interactiveSeq">
                <p:stCondLst>
                  <p:cond evt="onClick" delay="0">
                    <p:tgtEl>
                      <p:spTgt spid="36"/>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36"/>
                                        </p:tgtEl>
                                      </p:cBhvr>
                                    </p:cmd>
                                  </p:childTnLst>
                                </p:cTn>
                              </p:par>
                            </p:childTnLst>
                          </p:cTn>
                        </p:par>
                      </p:childTnLst>
                    </p:cTn>
                  </p:par>
                </p:childTnLst>
              </p:cTn>
              <p:nextCondLst>
                <p:cond evt="onClick" delay="0">
                  <p:tgtEl>
                    <p:spTgt spid="36"/>
                  </p:tgtEl>
                </p:cond>
              </p:nextCondLst>
            </p:seq>
            <p:audio>
              <p:cMediaNode vol="80000">
                <p:cTn id="53" fill="hold" display="0">
                  <p:stCondLst>
                    <p:cond delay="indefinite"/>
                  </p:stCondLst>
                  <p:endCondLst>
                    <p:cond evt="onStopAudio" delay="0">
                      <p:tgtEl>
                        <p:sldTgt/>
                      </p:tgtEl>
                    </p:cond>
                  </p:endCondLst>
                </p:cTn>
                <p:tgtEl>
                  <p:spTgt spid="35"/>
                </p:tgtEl>
              </p:cMediaNode>
            </p:audio>
            <p:audio>
              <p:cMediaNode vol="80000">
                <p:cTn id="54" fill="hold" display="0">
                  <p:stCondLst>
                    <p:cond delay="indefinite"/>
                  </p:stCondLst>
                  <p:endCondLst>
                    <p:cond evt="onStopAudio" delay="0">
                      <p:tgtEl>
                        <p:sldTgt/>
                      </p:tgtEl>
                    </p:cond>
                  </p:endCondLst>
                </p:cTn>
                <p:tgtEl>
                  <p:spTgt spid="36"/>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60"/>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61"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162"/>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Sorry we're late!</a:t>
            </a:r>
            <a:endParaRPr lang="en-US" sz="2500" dirty="0"/>
          </a:p>
        </p:txBody>
      </p:sp>
      <p:pic>
        <p:nvPicPr>
          <p:cNvPr id="6" name="brP_163"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164"/>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Watch. What's the bad and good news?</a:t>
            </a:r>
            <a:endParaRPr lang="en-US" sz="1250" dirty="0"/>
          </a:p>
        </p:txBody>
      </p:sp>
      <p:sp>
        <p:nvSpPr>
          <p:cNvPr id="8" name="insIT_16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Guarda. Qual è la notizia brutta e quella bella?</a:t>
            </a:r>
            <a:endParaRPr lang="en-US" sz="950" dirty="0"/>
          </a:p>
        </p:txBody>
      </p:sp>
      <p:sp>
        <p:nvSpPr>
          <p:cNvPr id="9" name="cmd_166"/>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meta_167"/>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alone</a:t>
            </a:r>
            <a:endParaRPr lang="en-US" sz="950" dirty="0"/>
          </a:p>
        </p:txBody>
      </p:sp>
      <p:sp>
        <p:nvSpPr>
          <p:cNvPr id="11" name="tag_168"/>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gist</a:t>
            </a:r>
            <a:endParaRPr lang="en-US" sz="850" dirty="0"/>
          </a:p>
        </p:txBody>
      </p:sp>
      <p:pic>
        <p:nvPicPr>
          <p:cNvPr id="12" name="logo_16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7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PE1 · Video · Scene 1 · gist   ·   📖 SB p.14 · 2a · video Scene 1 / audio 1.27</a:t>
            </a:r>
            <a:endParaRPr lang="en-US" sz="800" dirty="0"/>
          </a:p>
        </p:txBody>
      </p:sp>
      <p:sp>
        <p:nvSpPr>
          <p:cNvPr id="14" name="ap_171"/>
          <p:cNvSpPr/>
          <p:nvPr/>
        </p:nvSpPr>
        <p:spPr>
          <a:xfrm>
            <a:off x="365760" y="1417320"/>
            <a:ext cx="26517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1.27  ·  🎬 video: Scene 1 · once</a:t>
            </a:r>
            <a:endParaRPr lang="en-US" sz="1100" dirty="0"/>
          </a:p>
        </p:txBody>
      </p:sp>
      <p:sp>
        <p:nvSpPr>
          <p:cNvPr id="15" name="ah_172"/>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6"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7"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8" name="ah2_173"/>
          <p:cNvSpPr/>
          <p:nvPr/>
        </p:nvSpPr>
        <p:spPr>
          <a:xfrm>
            <a:off x="3090672" y="1417320"/>
            <a:ext cx="1737360" cy="402336"/>
          </a:xfrm>
          <a:prstGeom prst="rect">
            <a:avLst/>
          </a:prstGeom>
          <a:noFill/>
          <a:ln/>
        </p:spPr>
        <p:txBody>
          <a:bodyPr wrap="square" lIns="0" tIns="0" rIns="0" bIns="0" rtlCol="0" anchor="ctr"/>
          <a:lstStyle/>
          <a:p>
            <a:pPr indent="0" marL="0">
              <a:buNone/>
            </a:pPr>
            <a:r>
              <a:rPr lang="en-US" sz="900" i="1" dirty="0">
                <a:solidFill>
                  <a:srgbClr val="5B6785"/>
                </a:solidFill>
                <a:latin typeface="Segoe UI" pitchFamily="34" charset="0"/>
                <a:ea typeface="Segoe UI" pitchFamily="34" charset="-122"/>
                <a:cs typeface="Segoe UI" pitchFamily="34" charset="-120"/>
              </a:rPr>
              <a:t>↘ speaker bottom right</a:t>
            </a:r>
            <a:endParaRPr lang="en-US" sz="900" dirty="0"/>
          </a:p>
        </p:txBody>
      </p:sp>
      <p:sp>
        <p:nvSpPr>
          <p:cNvPr id="19" name="pf_174"/>
          <p:cNvSpPr/>
          <p:nvPr/>
        </p:nvSpPr>
        <p:spPr>
          <a:xfrm rot="-90000">
            <a:off x="41148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0" name="phx_175"/>
          <p:cNvSpPr/>
          <p:nvPr/>
        </p:nvSpPr>
        <p:spPr>
          <a:xfrm>
            <a:off x="457200" y="2103120"/>
            <a:ext cx="1691640" cy="12344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pe1-messy-desk.jpg</a:t>
            </a:r>
            <a:endParaRPr lang="en-US" sz="900" dirty="0"/>
          </a:p>
        </p:txBody>
      </p:sp>
      <p:sp>
        <p:nvSpPr>
          <p:cNvPr id="21" name="bd_176"/>
          <p:cNvSpPr/>
          <p:nvPr/>
        </p:nvSpPr>
        <p:spPr>
          <a:xfrm>
            <a:off x="310896" y="1956816"/>
            <a:ext cx="420624" cy="42062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A</a:t>
            </a:r>
            <a:endParaRPr lang="en-US" sz="1400" dirty="0"/>
          </a:p>
        </p:txBody>
      </p:sp>
      <p:sp>
        <p:nvSpPr>
          <p:cNvPr id="22" name="pf_177"/>
          <p:cNvSpPr/>
          <p:nvPr/>
        </p:nvSpPr>
        <p:spPr>
          <a:xfrm rot="90000">
            <a:off x="228600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3" name="phx_178"/>
          <p:cNvSpPr/>
          <p:nvPr/>
        </p:nvSpPr>
        <p:spPr>
          <a:xfrm>
            <a:off x="2331720" y="2103120"/>
            <a:ext cx="1691640" cy="12344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pe1-cover.jpg</a:t>
            </a:r>
            <a:endParaRPr lang="en-US" sz="900" dirty="0"/>
          </a:p>
        </p:txBody>
      </p:sp>
      <p:sp>
        <p:nvSpPr>
          <p:cNvPr id="24" name="bd_179"/>
          <p:cNvSpPr/>
          <p:nvPr/>
        </p:nvSpPr>
        <p:spPr>
          <a:xfrm>
            <a:off x="2185416" y="1956816"/>
            <a:ext cx="420624" cy="42062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B</a:t>
            </a:r>
            <a:endParaRPr lang="en-US" sz="1400" dirty="0"/>
          </a:p>
        </p:txBody>
      </p:sp>
      <p:sp>
        <p:nvSpPr>
          <p:cNvPr id="25" name="cd_180"/>
          <p:cNvSpPr/>
          <p:nvPr/>
        </p:nvSpPr>
        <p:spPr>
          <a:xfrm>
            <a:off x="365760" y="3611880"/>
            <a:ext cx="5440680" cy="1097280"/>
          </a:xfrm>
          <a:prstGeom prst="roundRect">
            <a:avLst>
              <a:gd name="adj" fmla="val 11667"/>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26" name="ii_181"/>
          <p:cNvSpPr/>
          <p:nvPr/>
        </p:nvSpPr>
        <p:spPr>
          <a:xfrm>
            <a:off x="457200" y="36850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7" name="ih_182"/>
          <p:cNvSpPr/>
          <p:nvPr/>
        </p:nvSpPr>
        <p:spPr>
          <a:xfrm>
            <a:off x="932688" y="3703320"/>
            <a:ext cx="48006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While you listen</a:t>
            </a:r>
            <a:endParaRPr lang="en-US" sz="1300" dirty="0"/>
          </a:p>
        </p:txBody>
      </p:sp>
      <p:sp>
        <p:nvSpPr>
          <p:cNvPr id="28" name="il_183"/>
          <p:cNvSpPr/>
          <p:nvPr/>
        </p:nvSpPr>
        <p:spPr>
          <a:xfrm>
            <a:off x="932688" y="4087368"/>
            <a:ext cx="47823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700" dirty="0">
                <a:solidFill>
                  <a:srgbClr val="1B2559"/>
                </a:solidFill>
                <a:latin typeface="Segoe UI" pitchFamily="34" charset="0"/>
                <a:ea typeface="Segoe UI" pitchFamily="34" charset="-122"/>
                <a:cs typeface="Segoe UI" pitchFamily="34" charset="-120"/>
              </a:rPr>
              <a:t>Look at A and B. What's the problem?</a:t>
            </a:r>
            <a:endParaRPr lang="en-US" sz="700" dirty="0"/>
          </a:p>
          <a:p>
            <a:pPr marL="152400" indent="-152400">
              <a:spcAft>
                <a:spcPts val="200"/>
              </a:spcAft>
              <a:buSzPct val="100000"/>
              <a:buChar char="​"/>
            </a:pPr>
            <a:r>
              <a:rPr lang="en-US" sz="700" i="1" dirty="0">
                <a:solidFill>
                  <a:srgbClr val="5B6785"/>
                </a:solidFill>
                <a:latin typeface="Segoe UI" pitchFamily="34" charset="0"/>
                <a:ea typeface="Segoe UI" pitchFamily="34" charset="-122"/>
                <a:cs typeface="Segoe UI" pitchFamily="34" charset="-120"/>
              </a:rPr>
              <a:t>Guarda A e B. Qual è il problema?</a:t>
            </a:r>
            <a:endParaRPr lang="en-US" sz="700" dirty="0"/>
          </a:p>
          <a:p>
            <a:pPr marL="152400" indent="-152400">
              <a:spcBef>
                <a:spcPts val="500"/>
              </a:spcBef>
              <a:spcAft>
                <a:spcPts val="200"/>
              </a:spcAft>
              <a:buSzPct val="100000"/>
              <a:buChar char="•"/>
            </a:pPr>
            <a:r>
              <a:rPr lang="en-US" sz="700" dirty="0">
                <a:solidFill>
                  <a:srgbClr val="1B2559"/>
                </a:solidFill>
                <a:latin typeface="Segoe UI" pitchFamily="34" charset="0"/>
                <a:ea typeface="Segoe UI" pitchFamily="34" charset="-122"/>
                <a:cs typeface="Segoe UI" pitchFamily="34" charset="-120"/>
              </a:rPr>
              <a:t>Watch once. Answer the 3 questions.</a:t>
            </a:r>
            <a:endParaRPr lang="en-US" sz="700" dirty="0"/>
          </a:p>
          <a:p>
            <a:pPr marL="152400" indent="-152400">
              <a:spcAft>
                <a:spcPts val="200"/>
              </a:spcAft>
              <a:buSzPct val="100000"/>
              <a:buChar char="​"/>
            </a:pPr>
            <a:r>
              <a:rPr lang="en-US" sz="700" i="1" dirty="0">
                <a:solidFill>
                  <a:srgbClr val="5B6785"/>
                </a:solidFill>
                <a:latin typeface="Segoe UI" pitchFamily="34" charset="0"/>
                <a:ea typeface="Segoe UI" pitchFamily="34" charset="-122"/>
                <a:cs typeface="Segoe UI" pitchFamily="34" charset="-120"/>
              </a:rPr>
              <a:t>Guarda una volta. Rispondi alle 3 domande.</a:t>
            </a:r>
            <a:endParaRPr lang="en-US" sz="700" dirty="0"/>
          </a:p>
        </p:txBody>
      </p:sp>
      <p:sp>
        <p:nvSpPr>
          <p:cNvPr id="29" name="lq_184"/>
          <p:cNvSpPr/>
          <p:nvPr/>
        </p:nvSpPr>
        <p:spPr>
          <a:xfrm>
            <a:off x="6035040" y="2103120"/>
            <a:ext cx="1234440" cy="566928"/>
          </a:xfrm>
          <a:prstGeom prst="roundRect">
            <a:avLst>
              <a:gd name="adj" fmla="val 16129"/>
            </a:avLst>
          </a:prstGeom>
          <a:solidFill>
            <a:srgbClr val="FFFFFF"/>
          </a:solidFill>
          <a:ln w="19050">
            <a:solidFill>
              <a:srgbClr val="F7A6C4"/>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Rob's BAD news?</a:t>
            </a:r>
            <a:endParaRPr lang="en-US" sz="1100" dirty="0"/>
          </a:p>
        </p:txBody>
      </p:sp>
      <p:sp>
        <p:nvSpPr>
          <p:cNvPr id="30" name="R1_chip185"/>
          <p:cNvSpPr/>
          <p:nvPr/>
        </p:nvSpPr>
        <p:spPr>
          <a:xfrm>
            <a:off x="7315200" y="2103120"/>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He left the chocolates at work.</a:t>
            </a:r>
            <a:endParaRPr lang="en-US" sz="1050" dirty="0"/>
          </a:p>
        </p:txBody>
      </p:sp>
      <p:sp>
        <p:nvSpPr>
          <p:cNvPr id="31" name="lq_186"/>
          <p:cNvSpPr/>
          <p:nvPr/>
        </p:nvSpPr>
        <p:spPr>
          <a:xfrm>
            <a:off x="6035040" y="2761488"/>
            <a:ext cx="1234440" cy="566928"/>
          </a:xfrm>
          <a:prstGeom prst="roundRect">
            <a:avLst>
              <a:gd name="adj" fmla="val 16129"/>
            </a:avLst>
          </a:prstGeom>
          <a:solidFill>
            <a:srgbClr val="FFFFFF"/>
          </a:solidFill>
          <a:ln w="19050">
            <a:solidFill>
              <a:srgbClr val="A9D3F5"/>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Jenny's GOOD news?</a:t>
            </a:r>
            <a:endParaRPr lang="en-US" sz="1100" dirty="0"/>
          </a:p>
        </p:txBody>
      </p:sp>
      <p:sp>
        <p:nvSpPr>
          <p:cNvPr id="32" name="R2_chip187"/>
          <p:cNvSpPr/>
          <p:nvPr/>
        </p:nvSpPr>
        <p:spPr>
          <a:xfrm>
            <a:off x="7315200" y="2761488"/>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She's got a promotion!</a:t>
            </a:r>
            <a:endParaRPr lang="en-US" sz="1050" dirty="0"/>
          </a:p>
        </p:txBody>
      </p:sp>
      <p:sp>
        <p:nvSpPr>
          <p:cNvPr id="33" name="lq_188"/>
          <p:cNvSpPr/>
          <p:nvPr/>
        </p:nvSpPr>
        <p:spPr>
          <a:xfrm>
            <a:off x="6035040" y="3419856"/>
            <a:ext cx="1234440" cy="566928"/>
          </a:xfrm>
          <a:prstGeom prst="roundRect">
            <a:avLst>
              <a:gd name="adj" fmla="val 16129"/>
            </a:avLst>
          </a:prstGeom>
          <a:solidFill>
            <a:srgbClr val="FFFFFF"/>
          </a:solidFill>
          <a:ln w="19050">
            <a:solidFill>
              <a:srgbClr val="A8E5BE"/>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Her parents' names?</a:t>
            </a:r>
            <a:endParaRPr lang="en-US" sz="1100" dirty="0"/>
          </a:p>
        </p:txBody>
      </p:sp>
      <p:sp>
        <p:nvSpPr>
          <p:cNvPr id="34" name="R3_chip189"/>
          <p:cNvSpPr/>
          <p:nvPr/>
        </p:nvSpPr>
        <p:spPr>
          <a:xfrm>
            <a:off x="7315200" y="3419856"/>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Harry and Sally</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4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4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8" restart="whenNotActive" fill="hold" evtFilter="cancelBubble" nodeType="interactiveSeq">
                <p:stCondLst>
                  <p:cond evt="onClick" delay="0">
                    <p:tgtEl>
                      <p:spTgt spid="16"/>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16"/>
                                        </p:tgtEl>
                                      </p:cBhvr>
                                    </p:cmd>
                                  </p:childTnLst>
                                </p:cTn>
                              </p:par>
                            </p:childTnLst>
                          </p:cTn>
                        </p:par>
                      </p:childTnLst>
                    </p:cTn>
                  </p:par>
                </p:childTnLst>
              </p:cTn>
              <p:nextCondLst>
                <p:cond evt="onClick" delay="0">
                  <p:tgtEl>
                    <p:spTgt spid="16"/>
                  </p:tgtEl>
                </p:cond>
              </p:nextCondLst>
            </p:seq>
            <p:seq concurrent="1" nextAc="seek">
              <p:cTn id="23" restart="whenNotActive" fill="hold" evtFilter="cancelBubble" nodeType="interactiveSeq">
                <p:stCondLst>
                  <p:cond evt="onClick" delay="0">
                    <p:tgtEl>
                      <p:spTgt spid="17"/>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7"/>
                                        </p:tgtEl>
                                      </p:cBhvr>
                                    </p:cmd>
                                  </p:childTnLst>
                                </p:cTn>
                              </p:par>
                            </p:childTnLst>
                          </p:cTn>
                        </p:par>
                      </p:childTnLst>
                    </p:cTn>
                  </p:par>
                </p:childTnLst>
              </p:cTn>
              <p:nextCondLst>
                <p:cond evt="onClick" delay="0">
                  <p:tgtEl>
                    <p:spTgt spid="17"/>
                  </p:tgtEl>
                </p:cond>
              </p:nextCondLst>
            </p:seq>
            <p:audio>
              <p:cMediaNode vol="80000">
                <p:cTn id="28" fill="hold" display="0">
                  <p:stCondLst>
                    <p:cond delay="indefinite"/>
                  </p:stCondLst>
                  <p:endCondLst>
                    <p:cond evt="onStopAudio" delay="0">
                      <p:tgtEl>
                        <p:sldTgt/>
                      </p:tgtEl>
                    </p:cond>
                  </p:endCondLst>
                </p:cTn>
                <p:tgtEl>
                  <p:spTgt spid="16"/>
                </p:tgtEl>
              </p:cMediaNode>
            </p:audio>
            <p:audio>
              <p:cMediaNode vol="80000">
                <p:cTn id="29" fill="hold" display="0">
                  <p:stCondLst>
                    <p:cond delay="indefinite"/>
                  </p:stCondLst>
                  <p:endCondLst>
                    <p:cond evt="onStopAudio" delay="0">
                      <p:tgtEl>
                        <p:sldTgt/>
                      </p:tgtEl>
                    </p:cond>
                  </p:endCondLst>
                </p:cTn>
                <p:tgtEl>
                  <p:spTgt spid="17"/>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90"/>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191"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192"/>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True or false?</a:t>
            </a:r>
            <a:endParaRPr lang="en-US" sz="2500" dirty="0"/>
          </a:p>
        </p:txBody>
      </p:sp>
      <p:pic>
        <p:nvPicPr>
          <p:cNvPr id="6" name="brP_193" descr="/home/claude/lls-course/v2/assets/brush-pink.png">    </p:cNvPr>
          <p:cNvPicPr>
            <a:picLocks noChangeAspect="1"/>
          </p:cNvPicPr>
          <p:nvPr/>
        </p:nvPicPr>
        <p:blipFill>
          <a:blip r:embed="rId3"/>
          <a:stretch>
            <a:fillRect/>
          </a:stretch>
        </p:blipFill>
        <p:spPr>
          <a:xfrm>
            <a:off x="1207008" y="731520"/>
            <a:ext cx="4032504" cy="402336"/>
          </a:xfrm>
          <a:prstGeom prst="rect">
            <a:avLst/>
          </a:prstGeom>
        </p:spPr>
      </p:pic>
      <p:sp>
        <p:nvSpPr>
          <p:cNvPr id="7" name="ins_194"/>
          <p:cNvSpPr/>
          <p:nvPr/>
        </p:nvSpPr>
        <p:spPr>
          <a:xfrm>
            <a:off x="1353312" y="731520"/>
            <a:ext cx="377647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True or false? Correct the false ones.</a:t>
            </a:r>
            <a:endParaRPr lang="en-US" sz="1250" dirty="0"/>
          </a:p>
        </p:txBody>
      </p:sp>
      <p:sp>
        <p:nvSpPr>
          <p:cNvPr id="8" name="insIT_19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Vero o falso? Correggi quelle false.</a:t>
            </a:r>
            <a:endParaRPr lang="en-US" sz="950" dirty="0"/>
          </a:p>
        </p:txBody>
      </p:sp>
      <p:sp>
        <p:nvSpPr>
          <p:cNvPr id="9" name="cmd_196"/>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197"/>
          <p:cNvSpPr/>
          <p:nvPr/>
        </p:nvSpPr>
        <p:spPr>
          <a:xfrm>
            <a:off x="6510528" y="566928"/>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1" name="meta_198"/>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199"/>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detail</a:t>
            </a:r>
            <a:endParaRPr lang="en-US" sz="850" dirty="0"/>
          </a:p>
        </p:txBody>
      </p:sp>
      <p:pic>
        <p:nvPicPr>
          <p:cNvPr id="13" name="logo_20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20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PE1 · Video · Scene 1 · detail   ·   📖 SB p.14 · 2b · video Scene 1 / audio 1.27</a:t>
            </a:r>
            <a:endParaRPr lang="en-US" sz="800" dirty="0"/>
          </a:p>
        </p:txBody>
      </p:sp>
      <p:sp>
        <p:nvSpPr>
          <p:cNvPr id="15" name="ap_202"/>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1.27  ·  🎬 watch Scene 1 again</a:t>
            </a:r>
            <a:endParaRPr lang="en-US" sz="1100" dirty="0"/>
          </a:p>
        </p:txBody>
      </p:sp>
      <p:sp>
        <p:nvSpPr>
          <p:cNvPr id="16" name="ah_203"/>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9" name="pf_204"/>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0" name="phx_205"/>
          <p:cNvSpPr/>
          <p:nvPr/>
        </p:nvSpPr>
        <p:spPr>
          <a:xfrm>
            <a:off x="457200" y="2103120"/>
            <a:ext cx="2606040" cy="16916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pe1-messy-desk.jpg</a:t>
            </a:r>
            <a:endParaRPr lang="en-US" sz="900" dirty="0"/>
          </a:p>
        </p:txBody>
      </p:sp>
      <p:sp>
        <p:nvSpPr>
          <p:cNvPr id="21" name="cd_206"/>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2" name="ii_207"/>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ih_208"/>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4" name="il_209"/>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5" name="gq_210"/>
          <p:cNvSpPr/>
          <p:nvPr/>
        </p:nvSpPr>
        <p:spPr>
          <a:xfrm>
            <a:off x="3383280" y="1417320"/>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Rob left the chocolates at the office.</a:t>
            </a:r>
            <a:endParaRPr lang="en-US" sz="1200" dirty="0"/>
          </a:p>
        </p:txBody>
      </p:sp>
      <p:sp>
        <p:nvSpPr>
          <p:cNvPr id="26" name="R1_chip211"/>
          <p:cNvSpPr/>
          <p:nvPr/>
        </p:nvSpPr>
        <p:spPr>
          <a:xfrm>
            <a:off x="6812280" y="141732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a:t>
            </a:r>
            <a:endParaRPr lang="en-US" sz="1200" dirty="0"/>
          </a:p>
        </p:txBody>
      </p:sp>
      <p:sp>
        <p:nvSpPr>
          <p:cNvPr id="27" name="gq_212"/>
          <p:cNvSpPr/>
          <p:nvPr/>
        </p:nvSpPr>
        <p:spPr>
          <a:xfrm>
            <a:off x="3383280" y="1938528"/>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Rob's desk is usually very tidy.</a:t>
            </a:r>
            <a:endParaRPr lang="en-US" sz="1200" dirty="0"/>
          </a:p>
        </p:txBody>
      </p:sp>
      <p:sp>
        <p:nvSpPr>
          <p:cNvPr id="28" name="R2_chip213"/>
          <p:cNvSpPr/>
          <p:nvPr/>
        </p:nvSpPr>
        <p:spPr>
          <a:xfrm>
            <a:off x="6812280" y="1938528"/>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F – it's a complete mess</a:t>
            </a:r>
            <a:endParaRPr lang="en-US" sz="1200" dirty="0"/>
          </a:p>
        </p:txBody>
      </p:sp>
      <p:sp>
        <p:nvSpPr>
          <p:cNvPr id="29" name="gq_214"/>
          <p:cNvSpPr/>
          <p:nvPr/>
        </p:nvSpPr>
        <p:spPr>
          <a:xfrm>
            <a:off x="3383280" y="2459736"/>
            <a:ext cx="333756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  It's the 2nd time Rob has met her parents.</a:t>
            </a:r>
            <a:endParaRPr lang="en-US" sz="1200" dirty="0"/>
          </a:p>
        </p:txBody>
      </p:sp>
      <p:sp>
        <p:nvSpPr>
          <p:cNvPr id="30" name="R3_chip215"/>
          <p:cNvSpPr/>
          <p:nvPr/>
        </p:nvSpPr>
        <p:spPr>
          <a:xfrm>
            <a:off x="6812280" y="2459736"/>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F – the first time</a:t>
            </a:r>
            <a:endParaRPr lang="en-US" sz="1200" dirty="0"/>
          </a:p>
        </p:txBody>
      </p:sp>
      <p:sp>
        <p:nvSpPr>
          <p:cNvPr id="31" name="gq_216"/>
          <p:cNvSpPr/>
          <p:nvPr/>
        </p:nvSpPr>
        <p:spPr>
          <a:xfrm>
            <a:off x="3383280" y="2980944"/>
            <a:ext cx="333756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  Sally has prepared a big dinner.</a:t>
            </a:r>
            <a:endParaRPr lang="en-US" sz="1200" dirty="0"/>
          </a:p>
        </p:txBody>
      </p:sp>
      <p:sp>
        <p:nvSpPr>
          <p:cNvPr id="32" name="R4_chip217"/>
          <p:cNvSpPr/>
          <p:nvPr/>
        </p:nvSpPr>
        <p:spPr>
          <a:xfrm>
            <a:off x="6812280" y="2980944"/>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 – way too much food!</a:t>
            </a:r>
            <a:endParaRPr lang="en-US" sz="1200" dirty="0"/>
          </a:p>
        </p:txBody>
      </p:sp>
      <p:sp>
        <p:nvSpPr>
          <p:cNvPr id="33" name="gq_218"/>
          <p:cNvSpPr/>
          <p:nvPr/>
        </p:nvSpPr>
        <p:spPr>
          <a:xfrm>
            <a:off x="3383280" y="3502152"/>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5  Jenny's new job: Managing Director.</a:t>
            </a:r>
            <a:endParaRPr lang="en-US" sz="1200" dirty="0"/>
          </a:p>
        </p:txBody>
      </p:sp>
      <p:sp>
        <p:nvSpPr>
          <p:cNvPr id="34" name="R5_chip219"/>
          <p:cNvSpPr/>
          <p:nvPr/>
        </p:nvSpPr>
        <p:spPr>
          <a:xfrm>
            <a:off x="6812280" y="3502152"/>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F – Managing Editor</a:t>
            </a:r>
            <a:endParaRPr lang="en-US" sz="1200" dirty="0"/>
          </a:p>
        </p:txBody>
      </p:sp>
      <p:sp>
        <p:nvSpPr>
          <p:cNvPr id="35" name="gq_220"/>
          <p:cNvSpPr/>
          <p:nvPr/>
        </p:nvSpPr>
        <p:spPr>
          <a:xfrm>
            <a:off x="3383280" y="4023360"/>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6  Jenny is going to be Rob's manager.</a:t>
            </a:r>
            <a:endParaRPr lang="en-US" sz="1200" dirty="0"/>
          </a:p>
        </p:txBody>
      </p:sp>
      <p:sp>
        <p:nvSpPr>
          <p:cNvPr id="36" name="R6_chip221"/>
          <p:cNvSpPr/>
          <p:nvPr/>
        </p:nvSpPr>
        <p:spPr>
          <a:xfrm>
            <a:off x="6812280" y="402336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F – not Rob's manager</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17"/>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7"/>
                                        </p:tgtEl>
                                      </p:cBhvr>
                                    </p:cmd>
                                  </p:childTnLst>
                                </p:cTn>
                              </p:par>
                            </p:childTnLst>
                          </p:cTn>
                        </p:par>
                      </p:childTnLst>
                    </p:cTn>
                  </p:par>
                </p:childTnLst>
              </p:cTn>
              <p:nextCondLst>
                <p:cond evt="onClick" delay="0">
                  <p:tgtEl>
                    <p:spTgt spid="17"/>
                  </p:tgtEl>
                </p:cond>
              </p:nextCondLst>
            </p:seq>
            <p:seq concurrent="1" nextAc="seek">
              <p:cTn id="38" restart="whenNotActive" fill="hold" evtFilter="cancelBubble" nodeType="interactiveSeq">
                <p:stCondLst>
                  <p:cond evt="onClick" delay="0">
                    <p:tgtEl>
                      <p:spTgt spid="18"/>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8"/>
                                        </p:tgtEl>
                                      </p:cBhvr>
                                    </p:cmd>
                                  </p:childTnLst>
                                </p:cTn>
                              </p:par>
                            </p:childTnLst>
                          </p:cTn>
                        </p:par>
                      </p:childTnLst>
                    </p:cTn>
                  </p:par>
                </p:childTnLst>
              </p:cTn>
              <p:nextCondLst>
                <p:cond evt="onClick" delay="0">
                  <p:tgtEl>
                    <p:spTgt spid="18"/>
                  </p:tgtEl>
                </p:cond>
              </p:nextCondLst>
            </p:seq>
            <p:audio>
              <p:cMediaNode vol="80000">
                <p:cTn id="43" fill="hold" display="0">
                  <p:stCondLst>
                    <p:cond delay="indefinite"/>
                  </p:stCondLst>
                  <p:endCondLst>
                    <p:cond evt="onStopAudio" delay="0">
                      <p:tgtEl>
                        <p:sldTgt/>
                      </p:tgtEl>
                    </p:cond>
                  </p:endCondLst>
                </p:cTn>
                <p:tgtEl>
                  <p:spTgt spid="17"/>
                </p:tgtEl>
              </p:cMediaNode>
            </p:audio>
            <p:audio>
              <p:cMediaNode vol="80000">
                <p:cTn id="44" fill="hold" display="0">
                  <p:stCondLst>
                    <p:cond delay="indefinite"/>
                  </p:stCondLst>
                  <p:endCondLst>
                    <p:cond evt="onStopAudio" delay="0">
                      <p:tgtEl>
                        <p:sldTgt/>
                      </p:tgtEl>
                    </p:cond>
                  </p:endCondLst>
                </p:cTn>
                <p:tgtEl>
                  <p:spTgt spid="18"/>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22"/>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223"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224"/>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Complete the reactions</a:t>
            </a:r>
            <a:endParaRPr lang="en-US" sz="2500" dirty="0"/>
          </a:p>
        </p:txBody>
      </p:sp>
      <p:pic>
        <p:nvPicPr>
          <p:cNvPr id="6" name="brP_225"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226"/>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Remember the words? Then listen.</a:t>
            </a:r>
            <a:endParaRPr lang="en-US" sz="1250" dirty="0"/>
          </a:p>
        </p:txBody>
      </p:sp>
      <p:sp>
        <p:nvSpPr>
          <p:cNvPr id="8" name="insIT_227"/>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Ricordi le parole? Poi ascolta.</a:t>
            </a:r>
            <a:endParaRPr lang="en-US" sz="950" dirty="0"/>
          </a:p>
        </p:txBody>
      </p:sp>
      <p:sp>
        <p:nvSpPr>
          <p:cNvPr id="9" name="cmd_228"/>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229"/>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1" name="meta_230"/>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pic>
        <p:nvPicPr>
          <p:cNvPr id="12" name="logo_23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3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PE1 · Function · reacting to what people say   ·   📖 SB p.14 · 2c · video listen and check / audio 1.28</a:t>
            </a:r>
            <a:endParaRPr lang="en-US" sz="800" dirty="0"/>
          </a:p>
        </p:txBody>
      </p:sp>
      <p:sp>
        <p:nvSpPr>
          <p:cNvPr id="14" name="ap_233"/>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1.28  ·  listen and check</a:t>
            </a:r>
            <a:endParaRPr lang="en-US" sz="1100" dirty="0"/>
          </a:p>
        </p:txBody>
      </p:sp>
      <p:sp>
        <p:nvSpPr>
          <p:cNvPr id="15" name="ah_234"/>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6"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7"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8" name="pf_235"/>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19" name="phx_236"/>
          <p:cNvSpPr/>
          <p:nvPr/>
        </p:nvSpPr>
        <p:spPr>
          <a:xfrm>
            <a:off x="457200" y="2103120"/>
            <a:ext cx="2606040" cy="16916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pe1-cover.jpg</a:t>
            </a:r>
            <a:endParaRPr lang="en-US" sz="900" dirty="0"/>
          </a:p>
        </p:txBody>
      </p:sp>
      <p:sp>
        <p:nvSpPr>
          <p:cNvPr id="20" name="cd_237"/>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1" name="ii_238"/>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2" name="ih_239"/>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3" name="il_240"/>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4" name="gq_241"/>
          <p:cNvSpPr/>
          <p:nvPr/>
        </p:nvSpPr>
        <p:spPr>
          <a:xfrm>
            <a:off x="3383280" y="1417320"/>
            <a:ext cx="3337560" cy="406255"/>
          </a:xfrm>
          <a:prstGeom prst="roundRect">
            <a:avLst>
              <a:gd name="adj" fmla="val 22508"/>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0  Rob: OK. Oh ___!</a:t>
            </a:r>
            <a:endParaRPr lang="en-US" sz="1200" dirty="0"/>
          </a:p>
        </p:txBody>
      </p:sp>
      <p:sp>
        <p:nvSpPr>
          <p:cNvPr id="25" name="R1_chip242"/>
          <p:cNvSpPr/>
          <p:nvPr/>
        </p:nvSpPr>
        <p:spPr>
          <a:xfrm>
            <a:off x="6812280" y="1417320"/>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no (example)</a:t>
            </a:r>
            <a:endParaRPr lang="en-US" sz="1200" dirty="0"/>
          </a:p>
        </p:txBody>
      </p:sp>
      <p:sp>
        <p:nvSpPr>
          <p:cNvPr id="26" name="gq_243"/>
          <p:cNvSpPr/>
          <p:nvPr/>
        </p:nvSpPr>
        <p:spPr>
          <a:xfrm>
            <a:off x="3383280" y="1887583"/>
            <a:ext cx="3337560" cy="406255"/>
          </a:xfrm>
          <a:prstGeom prst="roundRect">
            <a:avLst>
              <a:gd name="adj" fmla="val 22508"/>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Jenny: I don't ___ it.</a:t>
            </a:r>
            <a:endParaRPr lang="en-US" sz="1200" dirty="0"/>
          </a:p>
        </p:txBody>
      </p:sp>
      <p:sp>
        <p:nvSpPr>
          <p:cNvPr id="27" name="R2_chip244"/>
          <p:cNvSpPr/>
          <p:nvPr/>
        </p:nvSpPr>
        <p:spPr>
          <a:xfrm>
            <a:off x="6812280" y="1887583"/>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believe</a:t>
            </a:r>
            <a:endParaRPr lang="en-US" sz="1200" dirty="0"/>
          </a:p>
        </p:txBody>
      </p:sp>
      <p:sp>
        <p:nvSpPr>
          <p:cNvPr id="28" name="gq_245"/>
          <p:cNvSpPr/>
          <p:nvPr/>
        </p:nvSpPr>
        <p:spPr>
          <a:xfrm>
            <a:off x="3383280" y="2357846"/>
            <a:ext cx="3337560" cy="406255"/>
          </a:xfrm>
          <a:prstGeom prst="roundRect">
            <a:avLst>
              <a:gd name="adj" fmla="val 22508"/>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Jenny: ___ kidding.</a:t>
            </a:r>
            <a:endParaRPr lang="en-US" sz="1200" dirty="0"/>
          </a:p>
        </p:txBody>
      </p:sp>
      <p:sp>
        <p:nvSpPr>
          <p:cNvPr id="29" name="R3_chip246"/>
          <p:cNvSpPr/>
          <p:nvPr/>
        </p:nvSpPr>
        <p:spPr>
          <a:xfrm>
            <a:off x="6812280" y="2357846"/>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You're</a:t>
            </a:r>
            <a:endParaRPr lang="en-US" sz="1200" dirty="0"/>
          </a:p>
        </p:txBody>
      </p:sp>
      <p:sp>
        <p:nvSpPr>
          <p:cNvPr id="30" name="gq_247"/>
          <p:cNvSpPr/>
          <p:nvPr/>
        </p:nvSpPr>
        <p:spPr>
          <a:xfrm>
            <a:off x="3383280" y="2828109"/>
            <a:ext cx="3337560" cy="406255"/>
          </a:xfrm>
          <a:prstGeom prst="roundRect">
            <a:avLst>
              <a:gd name="adj" fmla="val 22508"/>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Sally: What a ___. ___ mind.</a:t>
            </a:r>
            <a:endParaRPr lang="en-US" sz="1200" dirty="0"/>
          </a:p>
        </p:txBody>
      </p:sp>
      <p:sp>
        <p:nvSpPr>
          <p:cNvPr id="31" name="R4_chip248"/>
          <p:cNvSpPr/>
          <p:nvPr/>
        </p:nvSpPr>
        <p:spPr>
          <a:xfrm>
            <a:off x="6812280" y="2828109"/>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pity · Never</a:t>
            </a:r>
            <a:endParaRPr lang="en-US" sz="1200" dirty="0"/>
          </a:p>
        </p:txBody>
      </p:sp>
      <p:sp>
        <p:nvSpPr>
          <p:cNvPr id="32" name="gq_249"/>
          <p:cNvSpPr/>
          <p:nvPr/>
        </p:nvSpPr>
        <p:spPr>
          <a:xfrm>
            <a:off x="3383280" y="3298371"/>
            <a:ext cx="3337560" cy="406255"/>
          </a:xfrm>
          <a:prstGeom prst="roundRect">
            <a:avLst>
              <a:gd name="adj" fmla="val 22508"/>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  Sally: ___? What's that?</a:t>
            </a:r>
            <a:endParaRPr lang="en-US" sz="1200" dirty="0"/>
          </a:p>
        </p:txBody>
      </p:sp>
      <p:sp>
        <p:nvSpPr>
          <p:cNvPr id="33" name="R5_chip250"/>
          <p:cNvSpPr/>
          <p:nvPr/>
        </p:nvSpPr>
        <p:spPr>
          <a:xfrm>
            <a:off x="6812280" y="3298371"/>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Really</a:t>
            </a:r>
            <a:endParaRPr lang="en-US" sz="1200" dirty="0"/>
          </a:p>
        </p:txBody>
      </p:sp>
      <p:sp>
        <p:nvSpPr>
          <p:cNvPr id="34" name="gq_251"/>
          <p:cNvSpPr/>
          <p:nvPr/>
        </p:nvSpPr>
        <p:spPr>
          <a:xfrm>
            <a:off x="3383280" y="3768634"/>
            <a:ext cx="3337560" cy="406255"/>
          </a:xfrm>
          <a:prstGeom prst="roundRect">
            <a:avLst>
              <a:gd name="adj" fmla="val 22508"/>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  ___ fantastic! · That's great ___!</a:t>
            </a:r>
            <a:endParaRPr lang="en-US" sz="1200" dirty="0"/>
          </a:p>
        </p:txBody>
      </p:sp>
      <p:sp>
        <p:nvSpPr>
          <p:cNvPr id="35" name="R6_chip252"/>
          <p:cNvSpPr/>
          <p:nvPr/>
        </p:nvSpPr>
        <p:spPr>
          <a:xfrm>
            <a:off x="6812280" y="3768634"/>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How · news</a:t>
            </a:r>
            <a:endParaRPr lang="en-US" sz="1200" dirty="0"/>
          </a:p>
        </p:txBody>
      </p:sp>
      <p:sp>
        <p:nvSpPr>
          <p:cNvPr id="36" name="gq_253"/>
          <p:cNvSpPr/>
          <p:nvPr/>
        </p:nvSpPr>
        <p:spPr>
          <a:xfrm>
            <a:off x="3383280" y="4238897"/>
            <a:ext cx="3337560" cy="406255"/>
          </a:xfrm>
          <a:prstGeom prst="roundRect">
            <a:avLst>
              <a:gd name="adj" fmla="val 22508"/>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5  Jenny: What a ___ idea!</a:t>
            </a:r>
            <a:endParaRPr lang="en-US" sz="1200" dirty="0"/>
          </a:p>
        </p:txBody>
      </p:sp>
      <p:sp>
        <p:nvSpPr>
          <p:cNvPr id="37" name="R7_chip254"/>
          <p:cNvSpPr/>
          <p:nvPr/>
        </p:nvSpPr>
        <p:spPr>
          <a:xfrm>
            <a:off x="6812280" y="4238897"/>
            <a:ext cx="2057400" cy="406255"/>
          </a:xfrm>
          <a:prstGeom prst="roundRect">
            <a:avLst>
              <a:gd name="adj" fmla="val 22508"/>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great</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4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8" restart="whenNotActive" fill="hold" evtFilter="cancelBubble" nodeType="interactiveSeq">
                <p:stCondLst>
                  <p:cond evt="onClick" delay="0">
                    <p:tgtEl>
                      <p:spTgt spid="16"/>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6"/>
                                        </p:tgtEl>
                                      </p:cBhvr>
                                    </p:cmd>
                                  </p:childTnLst>
                                </p:cTn>
                              </p:par>
                            </p:childTnLst>
                          </p:cTn>
                        </p:par>
                      </p:childTnLst>
                    </p:cTn>
                  </p:par>
                </p:childTnLst>
              </p:cTn>
              <p:nextCondLst>
                <p:cond evt="onClick" delay="0">
                  <p:tgtEl>
                    <p:spTgt spid="16"/>
                  </p:tgtEl>
                </p:cond>
              </p:nextCondLst>
            </p:seq>
            <p:seq concurrent="1" nextAc="seek">
              <p:cTn id="43" restart="whenNotActive" fill="hold" evtFilter="cancelBubble" nodeType="interactiveSeq">
                <p:stCondLst>
                  <p:cond evt="onClick" delay="0">
                    <p:tgtEl>
                      <p:spTgt spid="17"/>
                    </p:tgtEl>
                  </p:cond>
                </p:stCondLst>
                <p:endSync evt="end" delay="0">
                  <p:rtn val="all"/>
                </p:endSync>
                <p:childTnLst>
                  <p:par>
                    <p:cTn id="44" fill="hold">
                      <p:stCondLst>
                        <p:cond delay="0"/>
                      </p:stCondLst>
                      <p:childTnLst>
                        <p:par>
                          <p:cTn id="45" fill="hold">
                            <p:stCondLst>
                              <p:cond delay="0"/>
                            </p:stCondLst>
                            <p:childTnLst>
                              <p:par>
                                <p:cTn id="46" presetID="2" presetClass="mediacall" presetSubtype="0" fill="hold" nodeType="clickEffect">
                                  <p:stCondLst>
                                    <p:cond delay="0"/>
                                  </p:stCondLst>
                                  <p:childTnLst>
                                    <p:cmd type="call" cmd="togglePause">
                                      <p:cBhvr>
                                        <p:cTn id="47" dur="1" fill="hold"/>
                                        <p:tgtEl>
                                          <p:spTgt spid="17"/>
                                        </p:tgtEl>
                                      </p:cBhvr>
                                    </p:cmd>
                                  </p:childTnLst>
                                </p:cTn>
                              </p:par>
                            </p:childTnLst>
                          </p:cTn>
                        </p:par>
                      </p:childTnLst>
                    </p:cTn>
                  </p:par>
                </p:childTnLst>
              </p:cTn>
              <p:nextCondLst>
                <p:cond evt="onClick" delay="0">
                  <p:tgtEl>
                    <p:spTgt spid="17"/>
                  </p:tgtEl>
                </p:cond>
              </p:nextCondLst>
            </p:seq>
            <p:audio>
              <p:cMediaNode vol="80000">
                <p:cTn id="48" fill="hold" display="0">
                  <p:stCondLst>
                    <p:cond delay="indefinite"/>
                  </p:stCondLst>
                  <p:endCondLst>
                    <p:cond evt="onStopAudio" delay="0">
                      <p:tgtEl>
                        <p:sldTgt/>
                      </p:tgtEl>
                    </p:cond>
                  </p:endCondLst>
                </p:cTn>
                <p:tgtEl>
                  <p:spTgt spid="16"/>
                </p:tgtEl>
              </p:cMediaNode>
            </p:audio>
            <p:audio>
              <p:cMediaNode vol="80000">
                <p:cTn id="49" fill="hold" display="0">
                  <p:stCondLst>
                    <p:cond delay="indefinite"/>
                  </p:stCondLst>
                  <p:endCondLst>
                    <p:cond evt="onStopAudio" delay="0">
                      <p:tgtEl>
                        <p:sldTgt/>
                      </p:tgtEl>
                    </p:cond>
                  </p:endCondLst>
                </p:cTn>
                <p:tgtEl>
                  <p:spTgt spid="17"/>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55"/>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56"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257"/>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250" dirty="0">
                <a:solidFill>
                  <a:srgbClr val="1B2559"/>
                </a:solidFill>
                <a:latin typeface="Arial Rounded MT Bold" pitchFamily="34" charset="0"/>
                <a:ea typeface="Arial Rounded MT Bold" pitchFamily="34" charset="-122"/>
                <a:cs typeface="Arial Rounded MT Bold" pitchFamily="34" charset="-120"/>
              </a:rPr>
              <a:t>Good news or bad news?</a:t>
            </a:r>
            <a:endParaRPr lang="en-US" sz="2250" dirty="0"/>
          </a:p>
        </p:txBody>
      </p:sp>
      <p:pic>
        <p:nvPicPr>
          <p:cNvPr id="6" name="brP_258"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259"/>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Surprising, good or bad news? Match.</a:t>
            </a:r>
            <a:endParaRPr lang="en-US" sz="1250" dirty="0"/>
          </a:p>
        </p:txBody>
      </p:sp>
      <p:sp>
        <p:nvSpPr>
          <p:cNvPr id="8" name="insIT_260"/>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Sorprendente, bella o brutta notizia? Abbina.</a:t>
            </a:r>
            <a:endParaRPr lang="en-US" sz="950" dirty="0"/>
          </a:p>
        </p:txBody>
      </p:sp>
      <p:sp>
        <p:nvSpPr>
          <p:cNvPr id="9" name="cmd_261"/>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MATCH</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ABBINA</a:t>
            </a:r>
            <a:endParaRPr lang="en-US" sz="1100" dirty="0"/>
          </a:p>
        </p:txBody>
      </p:sp>
      <p:sp>
        <p:nvSpPr>
          <p:cNvPr id="10" name="meta_262"/>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pic>
        <p:nvPicPr>
          <p:cNvPr id="11" name="logo_26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26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PE1 · Function · the reactions chart   ·   📖 SB p.15 · 2d · chart 'Reacting to what people say'</a:t>
            </a:r>
            <a:endParaRPr lang="en-US" sz="800" dirty="0"/>
          </a:p>
        </p:txBody>
      </p:sp>
      <p:sp>
        <p:nvSpPr>
          <p:cNvPr id="13" name="cd_265"/>
          <p:cNvSpPr/>
          <p:nvPr/>
        </p:nvSpPr>
        <p:spPr>
          <a:xfrm>
            <a:off x="320040" y="1417320"/>
            <a:ext cx="2697480" cy="1911096"/>
          </a:xfrm>
          <a:prstGeom prst="roundRect">
            <a:avLst>
              <a:gd name="adj" fmla="val 6699"/>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4" name="ii_266"/>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5" name="ih_267"/>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The colours</a:t>
            </a:r>
            <a:endParaRPr lang="en-US" sz="1300" dirty="0"/>
          </a:p>
        </p:txBody>
      </p:sp>
      <p:sp>
        <p:nvSpPr>
          <p:cNvPr id="16" name="il_268"/>
          <p:cNvSpPr/>
          <p:nvPr/>
        </p:nvSpPr>
        <p:spPr>
          <a:xfrm>
            <a:off x="886968" y="1892808"/>
            <a:ext cx="2039112" cy="1362456"/>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17" name="lg_269"/>
          <p:cNvSpPr/>
          <p:nvPr/>
        </p:nvSpPr>
        <p:spPr>
          <a:xfrm>
            <a:off x="457200" y="1984248"/>
            <a:ext cx="1188720" cy="310896"/>
          </a:xfrm>
          <a:prstGeom prst="roundRect">
            <a:avLst>
              <a:gd name="adj" fmla="val 50000"/>
            </a:avLst>
          </a:prstGeom>
          <a:solidFill>
            <a:srgbClr val="F7A6C4"/>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surprising</a:t>
            </a:r>
            <a:endParaRPr lang="en-US" sz="1050" dirty="0"/>
          </a:p>
        </p:txBody>
      </p:sp>
      <p:sp>
        <p:nvSpPr>
          <p:cNvPr id="18" name="lg_270"/>
          <p:cNvSpPr/>
          <p:nvPr/>
        </p:nvSpPr>
        <p:spPr>
          <a:xfrm>
            <a:off x="1719072" y="1984248"/>
            <a:ext cx="1188720" cy="310896"/>
          </a:xfrm>
          <a:prstGeom prst="roundRect">
            <a:avLst>
              <a:gd name="adj" fmla="val 50000"/>
            </a:avLst>
          </a:prstGeom>
          <a:solidFill>
            <a:srgbClr val="8FC9F2"/>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interesting</a:t>
            </a:r>
            <a:endParaRPr lang="en-US" sz="1050" dirty="0"/>
          </a:p>
        </p:txBody>
      </p:sp>
      <p:sp>
        <p:nvSpPr>
          <p:cNvPr id="19" name="lg_271"/>
          <p:cNvSpPr/>
          <p:nvPr/>
        </p:nvSpPr>
        <p:spPr>
          <a:xfrm>
            <a:off x="457200" y="2368296"/>
            <a:ext cx="1188720" cy="310896"/>
          </a:xfrm>
          <a:prstGeom prst="roundRect">
            <a:avLst>
              <a:gd name="adj" fmla="val 50000"/>
            </a:avLst>
          </a:prstGeom>
          <a:solidFill>
            <a:srgbClr val="8FD9A8"/>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good news</a:t>
            </a:r>
            <a:endParaRPr lang="en-US" sz="1050" dirty="0"/>
          </a:p>
        </p:txBody>
      </p:sp>
      <p:sp>
        <p:nvSpPr>
          <p:cNvPr id="20" name="lg_272"/>
          <p:cNvSpPr/>
          <p:nvPr/>
        </p:nvSpPr>
        <p:spPr>
          <a:xfrm>
            <a:off x="1719072" y="2368296"/>
            <a:ext cx="1188720" cy="310896"/>
          </a:xfrm>
          <a:prstGeom prst="roundRect">
            <a:avLst>
              <a:gd name="adj" fmla="val 50000"/>
            </a:avLst>
          </a:prstGeom>
          <a:solidFill>
            <a:srgbClr val="FFD966"/>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bad news</a:t>
            </a:r>
            <a:endParaRPr lang="en-US" sz="1050" dirty="0"/>
          </a:p>
        </p:txBody>
      </p:sp>
      <p:sp>
        <p:nvSpPr>
          <p:cNvPr id="21" name="sq_273"/>
          <p:cNvSpPr/>
          <p:nvPr/>
        </p:nvSpPr>
        <p:spPr>
          <a:xfrm>
            <a:off x="3246120" y="1417320"/>
            <a:ext cx="3840480" cy="301752"/>
          </a:xfrm>
          <a:prstGeom prst="roundRect">
            <a:avLst>
              <a:gd name="adj" fmla="val 30303"/>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You're kidding.</a:t>
            </a:r>
            <a:endParaRPr lang="en-US" sz="1200" dirty="0"/>
          </a:p>
        </p:txBody>
      </p:sp>
      <p:sp>
        <p:nvSpPr>
          <p:cNvPr id="22" name="R1_tag274"/>
          <p:cNvSpPr/>
          <p:nvPr/>
        </p:nvSpPr>
        <p:spPr>
          <a:xfrm>
            <a:off x="7178040" y="1417320"/>
            <a:ext cx="1691640" cy="301752"/>
          </a:xfrm>
          <a:prstGeom prst="roundRect">
            <a:avLst>
              <a:gd name="adj" fmla="val 75758"/>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surprising</a:t>
            </a:r>
            <a:endParaRPr lang="en-US" sz="1150" dirty="0"/>
          </a:p>
        </p:txBody>
      </p:sp>
      <p:sp>
        <p:nvSpPr>
          <p:cNvPr id="23" name="sq_275"/>
          <p:cNvSpPr/>
          <p:nvPr/>
        </p:nvSpPr>
        <p:spPr>
          <a:xfrm>
            <a:off x="3246120" y="1783080"/>
            <a:ext cx="3840480" cy="301752"/>
          </a:xfrm>
          <a:prstGeom prst="roundRect">
            <a:avLst>
              <a:gd name="adj" fmla="val 30303"/>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I don't believe it.</a:t>
            </a:r>
            <a:endParaRPr lang="en-US" sz="1200" dirty="0"/>
          </a:p>
        </p:txBody>
      </p:sp>
      <p:sp>
        <p:nvSpPr>
          <p:cNvPr id="24" name="R2_tag276"/>
          <p:cNvSpPr/>
          <p:nvPr/>
        </p:nvSpPr>
        <p:spPr>
          <a:xfrm>
            <a:off x="7178040" y="1783080"/>
            <a:ext cx="1691640" cy="301752"/>
          </a:xfrm>
          <a:prstGeom prst="roundRect">
            <a:avLst>
              <a:gd name="adj" fmla="val 75758"/>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surprising</a:t>
            </a:r>
            <a:endParaRPr lang="en-US" sz="1150" dirty="0"/>
          </a:p>
        </p:txBody>
      </p:sp>
      <p:sp>
        <p:nvSpPr>
          <p:cNvPr id="25" name="sq_277"/>
          <p:cNvSpPr/>
          <p:nvPr/>
        </p:nvSpPr>
        <p:spPr>
          <a:xfrm>
            <a:off x="3246120" y="2148840"/>
            <a:ext cx="3840480" cy="301752"/>
          </a:xfrm>
          <a:prstGeom prst="roundRect">
            <a:avLst>
              <a:gd name="adj" fmla="val 30303"/>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Really?</a:t>
            </a:r>
            <a:endParaRPr lang="en-US" sz="1200" dirty="0"/>
          </a:p>
        </p:txBody>
      </p:sp>
      <p:sp>
        <p:nvSpPr>
          <p:cNvPr id="26" name="R3_tag278"/>
          <p:cNvSpPr/>
          <p:nvPr/>
        </p:nvSpPr>
        <p:spPr>
          <a:xfrm>
            <a:off x="7178040" y="2148840"/>
            <a:ext cx="1691640" cy="301752"/>
          </a:xfrm>
          <a:prstGeom prst="roundRect">
            <a:avLst>
              <a:gd name="adj" fmla="val 75758"/>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interesting</a:t>
            </a:r>
            <a:endParaRPr lang="en-US" sz="1150" dirty="0"/>
          </a:p>
        </p:txBody>
      </p:sp>
      <p:sp>
        <p:nvSpPr>
          <p:cNvPr id="27" name="sq_279"/>
          <p:cNvSpPr/>
          <p:nvPr/>
        </p:nvSpPr>
        <p:spPr>
          <a:xfrm>
            <a:off x="3246120" y="2514600"/>
            <a:ext cx="3840480" cy="301752"/>
          </a:xfrm>
          <a:prstGeom prst="roundRect">
            <a:avLst>
              <a:gd name="adj" fmla="val 30303"/>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How fantastic!</a:t>
            </a:r>
            <a:endParaRPr lang="en-US" sz="1200" dirty="0"/>
          </a:p>
        </p:txBody>
      </p:sp>
      <p:sp>
        <p:nvSpPr>
          <p:cNvPr id="28" name="R4_tag280"/>
          <p:cNvSpPr/>
          <p:nvPr/>
        </p:nvSpPr>
        <p:spPr>
          <a:xfrm>
            <a:off x="7178040" y="2514600"/>
            <a:ext cx="1691640" cy="301752"/>
          </a:xfrm>
          <a:prstGeom prst="roundRect">
            <a:avLst>
              <a:gd name="adj" fmla="val 75758"/>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good news</a:t>
            </a:r>
            <a:endParaRPr lang="en-US" sz="1150" dirty="0"/>
          </a:p>
        </p:txBody>
      </p:sp>
      <p:sp>
        <p:nvSpPr>
          <p:cNvPr id="29" name="sq_281"/>
          <p:cNvSpPr/>
          <p:nvPr/>
        </p:nvSpPr>
        <p:spPr>
          <a:xfrm>
            <a:off x="3246120" y="2880360"/>
            <a:ext cx="3840480" cy="301752"/>
          </a:xfrm>
          <a:prstGeom prst="roundRect">
            <a:avLst>
              <a:gd name="adj" fmla="val 30303"/>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That's great news!</a:t>
            </a:r>
            <a:endParaRPr lang="en-US" sz="1200" dirty="0"/>
          </a:p>
        </p:txBody>
      </p:sp>
      <p:sp>
        <p:nvSpPr>
          <p:cNvPr id="30" name="R5_tag282"/>
          <p:cNvSpPr/>
          <p:nvPr/>
        </p:nvSpPr>
        <p:spPr>
          <a:xfrm>
            <a:off x="7178040" y="2880360"/>
            <a:ext cx="1691640" cy="301752"/>
          </a:xfrm>
          <a:prstGeom prst="roundRect">
            <a:avLst>
              <a:gd name="adj" fmla="val 75758"/>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good news</a:t>
            </a:r>
            <a:endParaRPr lang="en-US" sz="1150" dirty="0"/>
          </a:p>
        </p:txBody>
      </p:sp>
      <p:sp>
        <p:nvSpPr>
          <p:cNvPr id="31" name="sq_283"/>
          <p:cNvSpPr/>
          <p:nvPr/>
        </p:nvSpPr>
        <p:spPr>
          <a:xfrm>
            <a:off x="3246120" y="3246120"/>
            <a:ext cx="3840480" cy="301752"/>
          </a:xfrm>
          <a:prstGeom prst="roundRect">
            <a:avLst>
              <a:gd name="adj" fmla="val 30303"/>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What a great idea!</a:t>
            </a:r>
            <a:endParaRPr lang="en-US" sz="1200" dirty="0"/>
          </a:p>
        </p:txBody>
      </p:sp>
      <p:sp>
        <p:nvSpPr>
          <p:cNvPr id="32" name="R6_tag284"/>
          <p:cNvSpPr/>
          <p:nvPr/>
        </p:nvSpPr>
        <p:spPr>
          <a:xfrm>
            <a:off x="7178040" y="3246120"/>
            <a:ext cx="1691640" cy="301752"/>
          </a:xfrm>
          <a:prstGeom prst="roundRect">
            <a:avLst>
              <a:gd name="adj" fmla="val 75758"/>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good news</a:t>
            </a:r>
            <a:endParaRPr lang="en-US" sz="1150" dirty="0"/>
          </a:p>
        </p:txBody>
      </p:sp>
      <p:sp>
        <p:nvSpPr>
          <p:cNvPr id="33" name="sq_285"/>
          <p:cNvSpPr/>
          <p:nvPr/>
        </p:nvSpPr>
        <p:spPr>
          <a:xfrm>
            <a:off x="3246120" y="3611880"/>
            <a:ext cx="3840480" cy="301752"/>
          </a:xfrm>
          <a:prstGeom prst="roundRect">
            <a:avLst>
              <a:gd name="adj" fmla="val 30303"/>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Oh no!</a:t>
            </a:r>
            <a:endParaRPr lang="en-US" sz="1200" dirty="0"/>
          </a:p>
        </p:txBody>
      </p:sp>
      <p:sp>
        <p:nvSpPr>
          <p:cNvPr id="34" name="R7_tag286"/>
          <p:cNvSpPr/>
          <p:nvPr/>
        </p:nvSpPr>
        <p:spPr>
          <a:xfrm>
            <a:off x="7178040" y="3611880"/>
            <a:ext cx="1691640" cy="301752"/>
          </a:xfrm>
          <a:prstGeom prst="roundRect">
            <a:avLst>
              <a:gd name="adj" fmla="val 75758"/>
            </a:avLst>
          </a:prstGeom>
          <a:solidFill>
            <a:srgbClr val="FFD966"/>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bad news</a:t>
            </a:r>
            <a:endParaRPr lang="en-US" sz="1150" dirty="0"/>
          </a:p>
        </p:txBody>
      </p:sp>
      <p:sp>
        <p:nvSpPr>
          <p:cNvPr id="35" name="sq_287"/>
          <p:cNvSpPr/>
          <p:nvPr/>
        </p:nvSpPr>
        <p:spPr>
          <a:xfrm>
            <a:off x="3246120" y="3977640"/>
            <a:ext cx="3840480" cy="301752"/>
          </a:xfrm>
          <a:prstGeom prst="roundRect">
            <a:avLst>
              <a:gd name="adj" fmla="val 30303"/>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What a pity.</a:t>
            </a:r>
            <a:endParaRPr lang="en-US" sz="1200" dirty="0"/>
          </a:p>
        </p:txBody>
      </p:sp>
      <p:sp>
        <p:nvSpPr>
          <p:cNvPr id="36" name="R8_tag288"/>
          <p:cNvSpPr/>
          <p:nvPr/>
        </p:nvSpPr>
        <p:spPr>
          <a:xfrm>
            <a:off x="7178040" y="3977640"/>
            <a:ext cx="1691640" cy="301752"/>
          </a:xfrm>
          <a:prstGeom prst="roundRect">
            <a:avLst>
              <a:gd name="adj" fmla="val 75758"/>
            </a:avLst>
          </a:prstGeom>
          <a:solidFill>
            <a:srgbClr val="FFD966"/>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bad news</a:t>
            </a:r>
            <a:endParaRPr lang="en-US" sz="1150" dirty="0"/>
          </a:p>
        </p:txBody>
      </p:sp>
      <p:sp>
        <p:nvSpPr>
          <p:cNvPr id="37" name="sq_289"/>
          <p:cNvSpPr/>
          <p:nvPr/>
        </p:nvSpPr>
        <p:spPr>
          <a:xfrm>
            <a:off x="3246120" y="4343400"/>
            <a:ext cx="3840480" cy="301752"/>
          </a:xfrm>
          <a:prstGeom prst="roundRect">
            <a:avLst>
              <a:gd name="adj" fmla="val 30303"/>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Never mind.</a:t>
            </a:r>
            <a:endParaRPr lang="en-US" sz="1200" dirty="0"/>
          </a:p>
        </p:txBody>
      </p:sp>
      <p:sp>
        <p:nvSpPr>
          <p:cNvPr id="38" name="R9_tag290"/>
          <p:cNvSpPr/>
          <p:nvPr/>
        </p:nvSpPr>
        <p:spPr>
          <a:xfrm>
            <a:off x="7178040" y="4343400"/>
            <a:ext cx="1691640" cy="301752"/>
          </a:xfrm>
          <a:prstGeom prst="roundRect">
            <a:avLst>
              <a:gd name="adj" fmla="val 75758"/>
            </a:avLst>
          </a:prstGeom>
          <a:solidFill>
            <a:srgbClr val="FFD966"/>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bad news</a:t>
            </a:r>
            <a:endParaRPr lang="en-US" sz="1150" dirty="0"/>
          </a:p>
        </p:txBody>
      </p:sp>
      <p:sp>
        <p:nvSpPr>
          <p:cNvPr id="39" name="pf_291"/>
          <p:cNvSpPr/>
          <p:nvPr/>
        </p:nvSpPr>
        <p:spPr>
          <a:xfrm rot="-120000">
            <a:off x="411480" y="3703320"/>
            <a:ext cx="2514600" cy="1051560"/>
          </a:xfrm>
          <a:prstGeom prst="roundRect">
            <a:avLst>
              <a:gd name="adj" fmla="val 1478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40" name="phx_292"/>
          <p:cNvSpPr/>
          <p:nvPr/>
        </p:nvSpPr>
        <p:spPr>
          <a:xfrm>
            <a:off x="457200" y="3749040"/>
            <a:ext cx="2423160" cy="96012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pe1-reactions.jpg</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4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4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4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400"/>
                                        <p:tgtEl>
                                          <p:spTgt spid="3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fade">
                                      <p:cBhvr>
                                        <p:cTn id="42" dur="400"/>
                                        <p:tgtEl>
                                          <p:spTgt spid="3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fade">
                                      <p:cBhvr>
                                        <p:cTn id="47"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93"/>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294" descr="/home/claude/lls-course/v2/assets/brush-yellow.png">    </p:cNvPr>
          <p:cNvPicPr>
            <a:picLocks noChangeAspect="1"/>
          </p:cNvPicPr>
          <p:nvPr/>
        </p:nvPicPr>
        <p:blipFill>
          <a:blip r:embed="rId2"/>
          <a:stretch>
            <a:fillRect/>
          </a:stretch>
        </p:blipFill>
        <p:spPr>
          <a:xfrm>
            <a:off x="1097280" y="146304"/>
            <a:ext cx="3877056" cy="621792"/>
          </a:xfrm>
          <a:prstGeom prst="rect">
            <a:avLst/>
          </a:prstGeom>
        </p:spPr>
      </p:pic>
      <p:sp>
        <p:nvSpPr>
          <p:cNvPr id="5" name="title_295"/>
          <p:cNvSpPr/>
          <p:nvPr/>
        </p:nvSpPr>
        <p:spPr>
          <a:xfrm>
            <a:off x="1261872" y="164592"/>
            <a:ext cx="360273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Reactions in Italian</a:t>
            </a:r>
            <a:endParaRPr lang="en-US" sz="2500" dirty="0"/>
          </a:p>
        </p:txBody>
      </p:sp>
      <p:pic>
        <p:nvPicPr>
          <p:cNvPr id="6" name="brP_296"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297"/>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it in Italian. Then click!</a:t>
            </a:r>
            <a:endParaRPr lang="en-US" sz="1250" dirty="0"/>
          </a:p>
        </p:txBody>
      </p:sp>
      <p:sp>
        <p:nvSpPr>
          <p:cNvPr id="8" name="insIT_298"/>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Dillo in italiano. Poi clicca!</a:t>
            </a:r>
            <a:endParaRPr lang="en-US" sz="950" dirty="0"/>
          </a:p>
        </p:txBody>
      </p:sp>
      <p:sp>
        <p:nvSpPr>
          <p:cNvPr id="9" name="cmd_299"/>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0" name="meta_300"/>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pic>
        <p:nvPicPr>
          <p:cNvPr id="11" name="logo_30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30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PE1 · Function · in Italian</a:t>
            </a:r>
            <a:endParaRPr lang="en-US" sz="800" dirty="0"/>
          </a:p>
        </p:txBody>
      </p:sp>
      <p:sp>
        <p:nvSpPr>
          <p:cNvPr id="13" name="cd_303"/>
          <p:cNvSpPr/>
          <p:nvPr/>
        </p:nvSpPr>
        <p:spPr>
          <a:xfrm>
            <a:off x="320040" y="141732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14" name="e_304"/>
          <p:cNvSpPr/>
          <p:nvPr/>
        </p:nvSpPr>
        <p:spPr>
          <a:xfrm>
            <a:off x="393192" y="152704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5" name="en_305"/>
          <p:cNvSpPr/>
          <p:nvPr/>
        </p:nvSpPr>
        <p:spPr>
          <a:xfrm>
            <a:off x="978408"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You're kidding!</a:t>
            </a:r>
            <a:endParaRPr lang="en-US" sz="1200" dirty="0"/>
          </a:p>
        </p:txBody>
      </p:sp>
      <p:sp>
        <p:nvSpPr>
          <p:cNvPr id="16" name="R1_it306"/>
          <p:cNvSpPr/>
          <p:nvPr/>
        </p:nvSpPr>
        <p:spPr>
          <a:xfrm>
            <a:off x="978408"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Stai scherzando!</a:t>
            </a:r>
            <a:endParaRPr lang="en-US" sz="1000" dirty="0"/>
          </a:p>
        </p:txBody>
      </p:sp>
      <p:sp>
        <p:nvSpPr>
          <p:cNvPr id="17" name="cd_307"/>
          <p:cNvSpPr/>
          <p:nvPr/>
        </p:nvSpPr>
        <p:spPr>
          <a:xfrm>
            <a:off x="2487168" y="141732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8" name="e_308"/>
          <p:cNvSpPr/>
          <p:nvPr/>
        </p:nvSpPr>
        <p:spPr>
          <a:xfrm>
            <a:off x="2560320" y="152704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9" name="en_309"/>
          <p:cNvSpPr/>
          <p:nvPr/>
        </p:nvSpPr>
        <p:spPr>
          <a:xfrm>
            <a:off x="3145536"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I don't believe it!</a:t>
            </a:r>
            <a:endParaRPr lang="en-US" sz="1200" dirty="0"/>
          </a:p>
        </p:txBody>
      </p:sp>
      <p:sp>
        <p:nvSpPr>
          <p:cNvPr id="20" name="R2_it310"/>
          <p:cNvSpPr/>
          <p:nvPr/>
        </p:nvSpPr>
        <p:spPr>
          <a:xfrm>
            <a:off x="3145536" y="1801368"/>
            <a:ext cx="1362456" cy="292608"/>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Non ci posso credere!</a:t>
            </a:r>
            <a:endParaRPr lang="en-US" sz="900" dirty="0"/>
          </a:p>
        </p:txBody>
      </p:sp>
      <p:sp>
        <p:nvSpPr>
          <p:cNvPr id="21" name="cd_311"/>
          <p:cNvSpPr/>
          <p:nvPr/>
        </p:nvSpPr>
        <p:spPr>
          <a:xfrm>
            <a:off x="4654296" y="141732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22" name="e_312"/>
          <p:cNvSpPr/>
          <p:nvPr/>
        </p:nvSpPr>
        <p:spPr>
          <a:xfrm>
            <a:off x="4727448" y="152704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en_313"/>
          <p:cNvSpPr/>
          <p:nvPr/>
        </p:nvSpPr>
        <p:spPr>
          <a:xfrm>
            <a:off x="5312664"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Really?</a:t>
            </a:r>
            <a:endParaRPr lang="en-US" sz="1200" dirty="0"/>
          </a:p>
        </p:txBody>
      </p:sp>
      <p:sp>
        <p:nvSpPr>
          <p:cNvPr id="24" name="R3_it314"/>
          <p:cNvSpPr/>
          <p:nvPr/>
        </p:nvSpPr>
        <p:spPr>
          <a:xfrm>
            <a:off x="5312664"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Davvero?</a:t>
            </a:r>
            <a:endParaRPr lang="en-US" sz="1000" dirty="0"/>
          </a:p>
        </p:txBody>
      </p:sp>
      <p:sp>
        <p:nvSpPr>
          <p:cNvPr id="25" name="cd_315"/>
          <p:cNvSpPr/>
          <p:nvPr/>
        </p:nvSpPr>
        <p:spPr>
          <a:xfrm>
            <a:off x="6821424" y="141732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6" name="e_316"/>
          <p:cNvSpPr/>
          <p:nvPr/>
        </p:nvSpPr>
        <p:spPr>
          <a:xfrm>
            <a:off x="6894576" y="152704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7" name="en_317"/>
          <p:cNvSpPr/>
          <p:nvPr/>
        </p:nvSpPr>
        <p:spPr>
          <a:xfrm>
            <a:off x="7479792"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How fantastic!</a:t>
            </a:r>
            <a:endParaRPr lang="en-US" sz="1200" dirty="0"/>
          </a:p>
        </p:txBody>
      </p:sp>
      <p:sp>
        <p:nvSpPr>
          <p:cNvPr id="28" name="R4_it318"/>
          <p:cNvSpPr/>
          <p:nvPr/>
        </p:nvSpPr>
        <p:spPr>
          <a:xfrm>
            <a:off x="7479792" y="1801368"/>
            <a:ext cx="1362456" cy="292608"/>
          </a:xfrm>
          <a:prstGeom prst="rect">
            <a:avLst/>
          </a:prstGeom>
          <a:noFill/>
          <a:ln/>
        </p:spPr>
        <p:txBody>
          <a:bodyPr wrap="square" lIns="0" tIns="0" rIns="0" bIns="0" rtlCol="0" anchor="ctr">
            <a:normAutofit/>
          </a:bodyPr>
          <a:lstStyle/>
          <a:p>
            <a:pPr indent="0" marL="0">
              <a:buNone/>
            </a:pPr>
            <a:r>
              <a:rPr lang="en-US" sz="850" i="1" dirty="0">
                <a:solidFill>
                  <a:srgbClr val="2EB872"/>
                </a:solidFill>
                <a:latin typeface="Segoe UI Semibold" pitchFamily="34" charset="0"/>
                <a:ea typeface="Segoe UI Semibold" pitchFamily="34" charset="-122"/>
                <a:cs typeface="Segoe UI Semibold" pitchFamily="34" charset="-120"/>
              </a:rPr>
              <a:t>Fantastico! / Che bello!</a:t>
            </a:r>
            <a:endParaRPr lang="en-US" sz="850" dirty="0"/>
          </a:p>
        </p:txBody>
      </p:sp>
      <p:sp>
        <p:nvSpPr>
          <p:cNvPr id="29" name="cd_319"/>
          <p:cNvSpPr/>
          <p:nvPr/>
        </p:nvSpPr>
        <p:spPr>
          <a:xfrm>
            <a:off x="320040" y="224028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30" name="e_320"/>
          <p:cNvSpPr/>
          <p:nvPr/>
        </p:nvSpPr>
        <p:spPr>
          <a:xfrm>
            <a:off x="393192" y="235000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1" name="en_321"/>
          <p:cNvSpPr/>
          <p:nvPr/>
        </p:nvSpPr>
        <p:spPr>
          <a:xfrm>
            <a:off x="978408" y="2295144"/>
            <a:ext cx="1362456" cy="329184"/>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That's great news!</a:t>
            </a:r>
            <a:endParaRPr lang="en-US" sz="1100" dirty="0"/>
          </a:p>
        </p:txBody>
      </p:sp>
      <p:sp>
        <p:nvSpPr>
          <p:cNvPr id="32" name="R5_it322"/>
          <p:cNvSpPr/>
          <p:nvPr/>
        </p:nvSpPr>
        <p:spPr>
          <a:xfrm>
            <a:off x="978408"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Che bella notizia!</a:t>
            </a:r>
            <a:endParaRPr lang="en-US" sz="1000" dirty="0"/>
          </a:p>
        </p:txBody>
      </p:sp>
      <p:sp>
        <p:nvSpPr>
          <p:cNvPr id="33" name="cd_323"/>
          <p:cNvSpPr/>
          <p:nvPr/>
        </p:nvSpPr>
        <p:spPr>
          <a:xfrm>
            <a:off x="2487168" y="224028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34" name="e_324"/>
          <p:cNvSpPr/>
          <p:nvPr/>
        </p:nvSpPr>
        <p:spPr>
          <a:xfrm>
            <a:off x="2560320" y="235000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5" name="en_325"/>
          <p:cNvSpPr/>
          <p:nvPr/>
        </p:nvSpPr>
        <p:spPr>
          <a:xfrm>
            <a:off x="3145536" y="2295144"/>
            <a:ext cx="1362456" cy="329184"/>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What a great idea!</a:t>
            </a:r>
            <a:endParaRPr lang="en-US" sz="1150" dirty="0"/>
          </a:p>
        </p:txBody>
      </p:sp>
      <p:sp>
        <p:nvSpPr>
          <p:cNvPr id="36" name="R6_it326"/>
          <p:cNvSpPr/>
          <p:nvPr/>
        </p:nvSpPr>
        <p:spPr>
          <a:xfrm>
            <a:off x="3145536"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Che bella idea!</a:t>
            </a:r>
            <a:endParaRPr lang="en-US" sz="1000" dirty="0"/>
          </a:p>
        </p:txBody>
      </p:sp>
      <p:sp>
        <p:nvSpPr>
          <p:cNvPr id="37" name="cd_327"/>
          <p:cNvSpPr/>
          <p:nvPr/>
        </p:nvSpPr>
        <p:spPr>
          <a:xfrm>
            <a:off x="4654296" y="224028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38" name="e_328"/>
          <p:cNvSpPr/>
          <p:nvPr/>
        </p:nvSpPr>
        <p:spPr>
          <a:xfrm>
            <a:off x="4727448" y="235000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9" name="en_329"/>
          <p:cNvSpPr/>
          <p:nvPr/>
        </p:nvSpPr>
        <p:spPr>
          <a:xfrm>
            <a:off x="5312664"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Oh no!</a:t>
            </a:r>
            <a:endParaRPr lang="en-US" sz="1200" dirty="0"/>
          </a:p>
        </p:txBody>
      </p:sp>
      <p:sp>
        <p:nvSpPr>
          <p:cNvPr id="40" name="R7_it330"/>
          <p:cNvSpPr/>
          <p:nvPr/>
        </p:nvSpPr>
        <p:spPr>
          <a:xfrm>
            <a:off x="5312664"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Oh no!</a:t>
            </a:r>
            <a:endParaRPr lang="en-US" sz="1000" dirty="0"/>
          </a:p>
        </p:txBody>
      </p:sp>
      <p:sp>
        <p:nvSpPr>
          <p:cNvPr id="41" name="cd_331"/>
          <p:cNvSpPr/>
          <p:nvPr/>
        </p:nvSpPr>
        <p:spPr>
          <a:xfrm>
            <a:off x="6821424" y="224028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42" name="e_332"/>
          <p:cNvSpPr/>
          <p:nvPr/>
        </p:nvSpPr>
        <p:spPr>
          <a:xfrm>
            <a:off x="6894576" y="235000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3" name="en_333"/>
          <p:cNvSpPr/>
          <p:nvPr/>
        </p:nvSpPr>
        <p:spPr>
          <a:xfrm>
            <a:off x="7479792"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What a pity.</a:t>
            </a:r>
            <a:endParaRPr lang="en-US" sz="1200" dirty="0"/>
          </a:p>
        </p:txBody>
      </p:sp>
      <p:sp>
        <p:nvSpPr>
          <p:cNvPr id="44" name="R8_it334"/>
          <p:cNvSpPr/>
          <p:nvPr/>
        </p:nvSpPr>
        <p:spPr>
          <a:xfrm>
            <a:off x="7479792"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Che peccato.</a:t>
            </a:r>
            <a:endParaRPr lang="en-US" sz="1000" dirty="0"/>
          </a:p>
        </p:txBody>
      </p:sp>
      <p:sp>
        <p:nvSpPr>
          <p:cNvPr id="45" name="cd_335"/>
          <p:cNvSpPr/>
          <p:nvPr/>
        </p:nvSpPr>
        <p:spPr>
          <a:xfrm>
            <a:off x="320040" y="306324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46" name="e_336"/>
          <p:cNvSpPr/>
          <p:nvPr/>
        </p:nvSpPr>
        <p:spPr>
          <a:xfrm>
            <a:off x="393192" y="317296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7" name="en_337"/>
          <p:cNvSpPr/>
          <p:nvPr/>
        </p:nvSpPr>
        <p:spPr>
          <a:xfrm>
            <a:off x="978408"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Never mind.</a:t>
            </a:r>
            <a:endParaRPr lang="en-US" sz="1200" dirty="0"/>
          </a:p>
        </p:txBody>
      </p:sp>
      <p:sp>
        <p:nvSpPr>
          <p:cNvPr id="48" name="R9_it338"/>
          <p:cNvSpPr/>
          <p:nvPr/>
        </p:nvSpPr>
        <p:spPr>
          <a:xfrm>
            <a:off x="978408" y="344728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Non importa. / Pazienza.</a:t>
            </a:r>
            <a:endParaRPr lang="en-US" sz="800" dirty="0"/>
          </a:p>
        </p:txBody>
      </p:sp>
      <p:sp>
        <p:nvSpPr>
          <p:cNvPr id="49" name="cd_339"/>
          <p:cNvSpPr/>
          <p:nvPr/>
        </p:nvSpPr>
        <p:spPr>
          <a:xfrm>
            <a:off x="2487168" y="306324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50" name="e_340"/>
          <p:cNvSpPr/>
          <p:nvPr/>
        </p:nvSpPr>
        <p:spPr>
          <a:xfrm>
            <a:off x="2560320" y="317296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1" name="en_341"/>
          <p:cNvSpPr/>
          <p:nvPr/>
        </p:nvSpPr>
        <p:spPr>
          <a:xfrm>
            <a:off x="3145536" y="3118104"/>
            <a:ext cx="1362456" cy="329184"/>
          </a:xfrm>
          <a:prstGeom prst="rect">
            <a:avLst/>
          </a:prstGeom>
          <a:noFill/>
          <a:ln/>
        </p:spPr>
        <p:txBody>
          <a:bodyPr wrap="square" lIns="0" tIns="0" rIns="0" bIns="0" rtlCol="0" anchor="ctr">
            <a:normAutofit/>
          </a:bodyPr>
          <a:lstStyle/>
          <a:p>
            <a:pPr indent="0" marL="0">
              <a:buNone/>
            </a:pPr>
            <a:r>
              <a:rPr lang="en-US" sz="1000" dirty="0">
                <a:solidFill>
                  <a:srgbClr val="1B2559"/>
                </a:solidFill>
                <a:latin typeface="Arial Rounded MT Bold" pitchFamily="34" charset="0"/>
                <a:ea typeface="Arial Rounded MT Bold" pitchFamily="34" charset="-122"/>
                <a:cs typeface="Arial Rounded MT Bold" pitchFamily="34" charset="-120"/>
              </a:rPr>
              <a:t>Don't worry about it.</a:t>
            </a:r>
            <a:endParaRPr lang="en-US" sz="1000" dirty="0"/>
          </a:p>
        </p:txBody>
      </p:sp>
      <p:sp>
        <p:nvSpPr>
          <p:cNvPr id="52" name="R10_it342"/>
          <p:cNvSpPr/>
          <p:nvPr/>
        </p:nvSpPr>
        <p:spPr>
          <a:xfrm>
            <a:off x="3145536"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Non preoccuparti.</a:t>
            </a:r>
            <a:endParaRPr lang="en-US" sz="1000" dirty="0"/>
          </a:p>
        </p:txBody>
      </p:sp>
      <p:sp>
        <p:nvSpPr>
          <p:cNvPr id="53" name="cd_343"/>
          <p:cNvSpPr/>
          <p:nvPr/>
        </p:nvSpPr>
        <p:spPr>
          <a:xfrm>
            <a:off x="4654296" y="306324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54" name="e_344"/>
          <p:cNvSpPr/>
          <p:nvPr/>
        </p:nvSpPr>
        <p:spPr>
          <a:xfrm>
            <a:off x="4727448" y="317296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5" name="en_345"/>
          <p:cNvSpPr/>
          <p:nvPr/>
        </p:nvSpPr>
        <p:spPr>
          <a:xfrm>
            <a:off x="5312664"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How awful!</a:t>
            </a:r>
            <a:endParaRPr lang="en-US" sz="1200" dirty="0"/>
          </a:p>
        </p:txBody>
      </p:sp>
      <p:sp>
        <p:nvSpPr>
          <p:cNvPr id="56" name="R11_it346"/>
          <p:cNvSpPr/>
          <p:nvPr/>
        </p:nvSpPr>
        <p:spPr>
          <a:xfrm>
            <a:off x="5312664" y="3447288"/>
            <a:ext cx="1362456" cy="292608"/>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Che brutto! / Terribile!</a:t>
            </a:r>
            <a:endParaRPr lang="en-US" sz="900" dirty="0"/>
          </a:p>
        </p:txBody>
      </p:sp>
      <p:sp>
        <p:nvSpPr>
          <p:cNvPr id="57" name="cd_347"/>
          <p:cNvSpPr/>
          <p:nvPr/>
        </p:nvSpPr>
        <p:spPr>
          <a:xfrm>
            <a:off x="6821424" y="306324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58" name="e_348"/>
          <p:cNvSpPr/>
          <p:nvPr/>
        </p:nvSpPr>
        <p:spPr>
          <a:xfrm>
            <a:off x="6894576" y="317296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9" name="en_349"/>
          <p:cNvSpPr/>
          <p:nvPr/>
        </p:nvSpPr>
        <p:spPr>
          <a:xfrm>
            <a:off x="7479792"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How interesting!</a:t>
            </a:r>
            <a:endParaRPr lang="en-US" sz="1200" dirty="0"/>
          </a:p>
        </p:txBody>
      </p:sp>
      <p:sp>
        <p:nvSpPr>
          <p:cNvPr id="60" name="R12_it350"/>
          <p:cNvSpPr/>
          <p:nvPr/>
        </p:nvSpPr>
        <p:spPr>
          <a:xfrm>
            <a:off x="7479792"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Che interessante!</a:t>
            </a:r>
            <a:endParaRPr lang="en-US" sz="1000" dirty="0"/>
          </a:p>
        </p:txBody>
      </p:sp>
      <p:sp>
        <p:nvSpPr>
          <p:cNvPr id="61" name="R13_wc351"/>
          <p:cNvSpPr/>
          <p:nvPr/>
        </p:nvSpPr>
        <p:spPr>
          <a:xfrm>
            <a:off x="320040" y="3931920"/>
            <a:ext cx="8549640" cy="457200"/>
          </a:xfrm>
          <a:prstGeom prst="roundRect">
            <a:avLst>
              <a:gd name="adj" fmla="val 28000"/>
            </a:avLst>
          </a:prstGeom>
          <a:solidFill>
            <a:srgbClr val="FFE3EE"/>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62" name="R13_w352"/>
          <p:cNvSpPr/>
          <p:nvPr/>
        </p:nvSpPr>
        <p:spPr>
          <a:xfrm>
            <a:off x="457200" y="3931920"/>
            <a:ext cx="8321040" cy="45720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Watch out!  Never mind / What a pity = SMALL problems only (a lost pen, a late bus) – NOT for really bad news!</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4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4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fade">
                                      <p:cBhvr>
                                        <p:cTn id="42" dur="400"/>
                                        <p:tgtEl>
                                          <p:spTgt spid="4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fade">
                                      <p:cBhvr>
                                        <p:cTn id="47" dur="400"/>
                                        <p:tgtEl>
                                          <p:spTgt spid="4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2"/>
                                        </p:tgtEl>
                                        <p:attrNameLst>
                                          <p:attrName>style.visibility</p:attrName>
                                        </p:attrNameLst>
                                      </p:cBhvr>
                                      <p:to>
                                        <p:strVal val="visible"/>
                                      </p:to>
                                    </p:set>
                                    <p:animEffect transition="in" filter="fade">
                                      <p:cBhvr>
                                        <p:cTn id="52" dur="400"/>
                                        <p:tgtEl>
                                          <p:spTgt spid="5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6"/>
                                        </p:tgtEl>
                                        <p:attrNameLst>
                                          <p:attrName>style.visibility</p:attrName>
                                        </p:attrNameLst>
                                      </p:cBhvr>
                                      <p:to>
                                        <p:strVal val="visible"/>
                                      </p:to>
                                    </p:set>
                                    <p:animEffect transition="in" filter="fade">
                                      <p:cBhvr>
                                        <p:cTn id="57" dur="400"/>
                                        <p:tgtEl>
                                          <p:spTgt spid="5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0"/>
                                        </p:tgtEl>
                                        <p:attrNameLst>
                                          <p:attrName>style.visibility</p:attrName>
                                        </p:attrNameLst>
                                      </p:cBhvr>
                                      <p:to>
                                        <p:strVal val="visible"/>
                                      </p:to>
                                    </p:set>
                                    <p:animEffect transition="in" filter="fade">
                                      <p:cBhvr>
                                        <p:cTn id="62" dur="400"/>
                                        <p:tgtEl>
                                          <p:spTgt spid="60"/>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1"/>
                                        </p:tgtEl>
                                        <p:attrNameLst>
                                          <p:attrName>style.visibility</p:attrName>
                                        </p:attrNameLst>
                                      </p:cBhvr>
                                      <p:to>
                                        <p:strVal val="visible"/>
                                      </p:to>
                                    </p:set>
                                    <p:animEffect transition="in" filter="fade">
                                      <p:cBhvr>
                                        <p:cTn id="67" dur="400"/>
                                        <p:tgtEl>
                                          <p:spTgt spid="61"/>
                                        </p:tgtEl>
                                      </p:cBhvr>
                                    </p:animEffect>
                                  </p:childTnLst>
                                </p:cTn>
                              </p:par>
                              <p:par>
                                <p:cTn id="68" presetID="10" presetClass="entr" presetSubtype="0" fill="hold" nodeType="withEffect">
                                  <p:stCondLst>
                                    <p:cond delay="0"/>
                                  </p:stCondLst>
                                  <p:childTnLst>
                                    <p:set>
                                      <p:cBhvr>
                                        <p:cTn id="69" dur="1" fill="hold">
                                          <p:stCondLst>
                                            <p:cond delay="0"/>
                                          </p:stCondLst>
                                        </p:cTn>
                                        <p:tgtEl>
                                          <p:spTgt spid="62"/>
                                        </p:tgtEl>
                                        <p:attrNameLst>
                                          <p:attrName>style.visibility</p:attrName>
                                        </p:attrNameLst>
                                      </p:cBhvr>
                                      <p:to>
                                        <p:strVal val="visible"/>
                                      </p:to>
                                    </p:set>
                                    <p:animEffect transition="in" filter="fade">
                                      <p:cBhvr>
                                        <p:cTn id="70" dur="4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53"/>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354"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355"/>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250" dirty="0">
                <a:solidFill>
                  <a:srgbClr val="1B2559"/>
                </a:solidFill>
                <a:latin typeface="Arial Rounded MT Bold" pitchFamily="34" charset="0"/>
                <a:ea typeface="Arial Rounded MT Bold" pitchFamily="34" charset="-122"/>
                <a:cs typeface="Arial Rounded MT Bold" pitchFamily="34" charset="-120"/>
              </a:rPr>
              <a:t>How…! or What…!</a:t>
            </a:r>
            <a:endParaRPr lang="en-US" sz="2250" dirty="0"/>
          </a:p>
        </p:txBody>
      </p:sp>
      <p:pic>
        <p:nvPicPr>
          <p:cNvPr id="6" name="brP_356" descr="/home/claude/lls-course/v2/assets/brush-pink.png">    </p:cNvPr>
          <p:cNvPicPr>
            <a:picLocks noChangeAspect="1"/>
          </p:cNvPicPr>
          <p:nvPr/>
        </p:nvPicPr>
        <p:blipFill>
          <a:blip r:embed="rId3"/>
          <a:stretch>
            <a:fillRect/>
          </a:stretch>
        </p:blipFill>
        <p:spPr>
          <a:xfrm>
            <a:off x="1207008" y="731520"/>
            <a:ext cx="3685032" cy="402336"/>
          </a:xfrm>
          <a:prstGeom prst="rect">
            <a:avLst/>
          </a:prstGeom>
        </p:spPr>
      </p:pic>
      <p:sp>
        <p:nvSpPr>
          <p:cNvPr id="7" name="ins_357"/>
          <p:cNvSpPr/>
          <p:nvPr/>
        </p:nvSpPr>
        <p:spPr>
          <a:xfrm>
            <a:off x="1353312" y="731520"/>
            <a:ext cx="342900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How or What? Look at the examples.</a:t>
            </a:r>
            <a:endParaRPr lang="en-US" sz="1250" dirty="0"/>
          </a:p>
        </p:txBody>
      </p:sp>
      <p:sp>
        <p:nvSpPr>
          <p:cNvPr id="8" name="insIT_358"/>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How o What? Guarda gli esempi.</a:t>
            </a:r>
            <a:endParaRPr lang="en-US" sz="950" dirty="0"/>
          </a:p>
        </p:txBody>
      </p:sp>
      <p:sp>
        <p:nvSpPr>
          <p:cNvPr id="9" name="cmd_359"/>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LOOK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GUARDA</a:t>
            </a:r>
            <a:endParaRPr lang="en-US" sz="1100" dirty="0"/>
          </a:p>
        </p:txBody>
      </p:sp>
      <p:sp>
        <p:nvSpPr>
          <p:cNvPr id="10" name="meta_360"/>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pic>
        <p:nvPicPr>
          <p:cNvPr id="11" name="logo_36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36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PE1 · Function · How + adjective, What + noun   ·   📖 SB p.15 · box 'How + adjective, What + noun'</a:t>
            </a:r>
            <a:endParaRPr lang="en-US" sz="800" dirty="0"/>
          </a:p>
        </p:txBody>
      </p:sp>
      <p:sp>
        <p:nvSpPr>
          <p:cNvPr id="13" name="cd_363"/>
          <p:cNvSpPr/>
          <p:nvPr/>
        </p:nvSpPr>
        <p:spPr>
          <a:xfrm>
            <a:off x="320040" y="1417320"/>
            <a:ext cx="2758440" cy="3017520"/>
          </a:xfrm>
          <a:prstGeom prst="roundRect">
            <a:avLst>
              <a:gd name="adj" fmla="val 4641"/>
            </a:avLst>
          </a:prstGeom>
          <a:solidFill>
            <a:srgbClr val="FFFFFF"/>
          </a:solidFill>
          <a:ln w="25400">
            <a:solidFill>
              <a:srgbClr val="F7A6C4"/>
            </a:solidFill>
            <a:prstDash val="solid"/>
          </a:ln>
          <a:effectLst>
            <a:outerShdw sx="100000" sy="100000" kx="0" ky="0" algn="bl" rotWithShape="0" blurRad="88900" dist="31750" dir="5400000">
              <a:srgbClr val="1B2559">
                <a:alpha val="12000"/>
              </a:srgbClr>
            </a:outerShdw>
          </a:effectLst>
        </p:spPr>
      </p:sp>
      <p:sp>
        <p:nvSpPr>
          <p:cNvPr id="14" name="rh_364"/>
          <p:cNvSpPr/>
          <p:nvPr/>
        </p:nvSpPr>
        <p:spPr>
          <a:xfrm>
            <a:off x="429768" y="1508760"/>
            <a:ext cx="2538984" cy="365760"/>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How + adjective</a:t>
            </a:r>
            <a:endParaRPr lang="en-US" sz="1250" dirty="0"/>
          </a:p>
        </p:txBody>
      </p:sp>
      <p:sp>
        <p:nvSpPr>
          <p:cNvPr id="15" name="pf_365"/>
          <p:cNvSpPr/>
          <p:nvPr/>
        </p:nvSpPr>
        <p:spPr>
          <a:xfrm>
            <a:off x="429768" y="1938528"/>
            <a:ext cx="25389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6" name="ph_366" descr="/home/claude/lls-course/v2/cache/spare_work_success_jpg_589x209_31.png">    </p:cNvPr>
          <p:cNvPicPr>
            <a:picLocks noChangeAspect="1"/>
          </p:cNvPicPr>
          <p:nvPr/>
        </p:nvPicPr>
        <p:blipFill>
          <a:blip r:embed="rId5"/>
          <a:stretch>
            <a:fillRect/>
          </a:stretch>
        </p:blipFill>
        <p:spPr>
          <a:xfrm>
            <a:off x="475488" y="1984248"/>
            <a:ext cx="2447544" cy="868680"/>
          </a:xfrm>
          <a:prstGeom prst="rect">
            <a:avLst/>
          </a:prstGeom>
        </p:spPr>
      </p:pic>
      <p:sp>
        <p:nvSpPr>
          <p:cNvPr id="17" name="ru_367"/>
          <p:cNvSpPr/>
          <p:nvPr/>
        </p:nvSpPr>
        <p:spPr>
          <a:xfrm>
            <a:off x="411480" y="2926080"/>
            <a:ext cx="2575560" cy="384048"/>
          </a:xfrm>
          <a:prstGeom prst="rect">
            <a:avLst/>
          </a:prstGeom>
          <a:noFill/>
          <a:ln/>
        </p:spPr>
        <p:txBody>
          <a:bodyPr wrap="square" lIns="0" tIns="0" rIns="0" bIns="0" rtlCol="0" anchor="ctr">
            <a:normAutofit/>
          </a:bodyPr>
          <a:lstStyle/>
          <a:p>
            <a:pPr algn="ctr" indent="0" marL="0">
              <a:buNone/>
            </a:pPr>
            <a:r>
              <a:rPr lang="en-US" sz="1050" dirty="0">
                <a:solidFill>
                  <a:srgbClr val="E8508F"/>
                </a:solidFill>
                <a:latin typeface="Arial Rounded MT Bold" pitchFamily="34" charset="0"/>
                <a:ea typeface="Arial Rounded MT Bold" pitchFamily="34" charset="-122"/>
                <a:cs typeface="Arial Rounded MT Bold" pitchFamily="34" charset="-120"/>
              </a:rPr>
              <a:t>adjective only – no noun</a:t>
            </a:r>
            <a:endParaRPr lang="en-US" sz="1050" dirty="0"/>
          </a:p>
        </p:txBody>
      </p:sp>
      <p:sp>
        <p:nvSpPr>
          <p:cNvPr id="18" name="R1_rx368"/>
          <p:cNvSpPr/>
          <p:nvPr/>
        </p:nvSpPr>
        <p:spPr>
          <a:xfrm>
            <a:off x="411480" y="3319272"/>
            <a:ext cx="25755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How fantastic!</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How interesting!</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How awful!</a:t>
            </a:r>
            <a:endParaRPr lang="en-US" sz="1050" dirty="0"/>
          </a:p>
        </p:txBody>
      </p:sp>
      <p:sp>
        <p:nvSpPr>
          <p:cNvPr id="19" name="R1_ri369"/>
          <p:cNvSpPr/>
          <p:nvPr/>
        </p:nvSpPr>
        <p:spPr>
          <a:xfrm>
            <a:off x="411480" y="4087368"/>
            <a:ext cx="25755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pitchFamily="34" charset="0"/>
                <a:ea typeface="Segoe UI" pitchFamily="34" charset="-122"/>
                <a:cs typeface="Segoe UI" pitchFamily="34" charset="-120"/>
              </a:rPr>
              <a:t>Che bello! · Che interessante!</a:t>
            </a:r>
            <a:endParaRPr lang="en-US" sz="900" dirty="0"/>
          </a:p>
        </p:txBody>
      </p:sp>
      <p:sp>
        <p:nvSpPr>
          <p:cNvPr id="20" name="cd_370"/>
          <p:cNvSpPr/>
          <p:nvPr/>
        </p:nvSpPr>
        <p:spPr>
          <a:xfrm>
            <a:off x="3215640" y="1417320"/>
            <a:ext cx="2758440" cy="3017520"/>
          </a:xfrm>
          <a:prstGeom prst="roundRect">
            <a:avLst>
              <a:gd name="adj" fmla="val 4641"/>
            </a:avLst>
          </a:prstGeom>
          <a:solidFill>
            <a:srgbClr val="FFFFFF"/>
          </a:solidFill>
          <a:ln w="25400">
            <a:solidFill>
              <a:srgbClr val="A9D3F5"/>
            </a:solidFill>
            <a:prstDash val="solid"/>
          </a:ln>
          <a:effectLst>
            <a:outerShdw sx="100000" sy="100000" kx="0" ky="0" algn="bl" rotWithShape="0" blurRad="88900" dist="31750" dir="5400000">
              <a:srgbClr val="1B2559">
                <a:alpha val="12000"/>
              </a:srgbClr>
            </a:outerShdw>
          </a:effectLst>
        </p:spPr>
      </p:sp>
      <p:sp>
        <p:nvSpPr>
          <p:cNvPr id="21" name="rh_371"/>
          <p:cNvSpPr/>
          <p:nvPr/>
        </p:nvSpPr>
        <p:spPr>
          <a:xfrm>
            <a:off x="3325368" y="1508760"/>
            <a:ext cx="2538984" cy="365760"/>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What a + noun</a:t>
            </a:r>
            <a:endParaRPr lang="en-US" sz="1250" dirty="0"/>
          </a:p>
        </p:txBody>
      </p:sp>
      <p:sp>
        <p:nvSpPr>
          <p:cNvPr id="22" name="pf_372"/>
          <p:cNvSpPr/>
          <p:nvPr/>
        </p:nvSpPr>
        <p:spPr>
          <a:xfrm>
            <a:off x="3325368" y="1938528"/>
            <a:ext cx="25389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3" name="phx_373"/>
          <p:cNvSpPr/>
          <p:nvPr/>
        </p:nvSpPr>
        <p:spPr>
          <a:xfrm>
            <a:off x="3371088" y="1984248"/>
            <a:ext cx="2447544" cy="86868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pe1-messy-desk.jpg</a:t>
            </a:r>
            <a:endParaRPr lang="en-US" sz="900" dirty="0"/>
          </a:p>
        </p:txBody>
      </p:sp>
      <p:sp>
        <p:nvSpPr>
          <p:cNvPr id="24" name="ru_374"/>
          <p:cNvSpPr/>
          <p:nvPr/>
        </p:nvSpPr>
        <p:spPr>
          <a:xfrm>
            <a:off x="3307080" y="2926080"/>
            <a:ext cx="2575560" cy="384048"/>
          </a:xfrm>
          <a:prstGeom prst="rect">
            <a:avLst/>
          </a:prstGeom>
          <a:noFill/>
          <a:ln/>
        </p:spPr>
        <p:txBody>
          <a:bodyPr wrap="square" lIns="0" tIns="0" rIns="0" bIns="0" rtlCol="0" anchor="ctr">
            <a:normAutofit/>
          </a:bodyPr>
          <a:lstStyle/>
          <a:p>
            <a:pPr algn="ctr" indent="0" marL="0">
              <a:buNone/>
            </a:pPr>
            <a:r>
              <a:rPr lang="en-US" sz="1050" dirty="0">
                <a:solidFill>
                  <a:srgbClr val="2F8DE4"/>
                </a:solidFill>
                <a:latin typeface="Arial Rounded MT Bold" pitchFamily="34" charset="0"/>
                <a:ea typeface="Arial Rounded MT Bold" pitchFamily="34" charset="-122"/>
                <a:cs typeface="Arial Rounded MT Bold" pitchFamily="34" charset="-120"/>
              </a:rPr>
              <a:t>a / an + (adjective) + noun</a:t>
            </a:r>
            <a:endParaRPr lang="en-US" sz="1050" dirty="0"/>
          </a:p>
        </p:txBody>
      </p:sp>
      <p:sp>
        <p:nvSpPr>
          <p:cNvPr id="25" name="R2_rx375"/>
          <p:cNvSpPr/>
          <p:nvPr/>
        </p:nvSpPr>
        <p:spPr>
          <a:xfrm>
            <a:off x="3307080" y="3319272"/>
            <a:ext cx="25755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What a pity!</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What a great idea!</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What a mess!</a:t>
            </a:r>
            <a:endParaRPr lang="en-US" sz="1050" dirty="0"/>
          </a:p>
        </p:txBody>
      </p:sp>
      <p:sp>
        <p:nvSpPr>
          <p:cNvPr id="26" name="R2_ri376"/>
          <p:cNvSpPr/>
          <p:nvPr/>
        </p:nvSpPr>
        <p:spPr>
          <a:xfrm>
            <a:off x="3307080" y="4087368"/>
            <a:ext cx="25755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pitchFamily="34" charset="0"/>
                <a:ea typeface="Segoe UI" pitchFamily="34" charset="-122"/>
                <a:cs typeface="Segoe UI" pitchFamily="34" charset="-120"/>
              </a:rPr>
              <a:t>Che peccato! · Che disastro!</a:t>
            </a:r>
            <a:endParaRPr lang="en-US" sz="900" dirty="0"/>
          </a:p>
        </p:txBody>
      </p:sp>
      <p:sp>
        <p:nvSpPr>
          <p:cNvPr id="27" name="cd_377"/>
          <p:cNvSpPr/>
          <p:nvPr/>
        </p:nvSpPr>
        <p:spPr>
          <a:xfrm>
            <a:off x="6111240" y="1417320"/>
            <a:ext cx="2758440" cy="3017520"/>
          </a:xfrm>
          <a:prstGeom prst="roundRect">
            <a:avLst>
              <a:gd name="adj" fmla="val 4641"/>
            </a:avLst>
          </a:prstGeom>
          <a:solidFill>
            <a:srgbClr val="FFFFFF"/>
          </a:solidFill>
          <a:ln w="25400">
            <a:solidFill>
              <a:srgbClr val="A8E5BE"/>
            </a:solidFill>
            <a:prstDash val="solid"/>
          </a:ln>
          <a:effectLst>
            <a:outerShdw sx="100000" sy="100000" kx="0" ky="0" algn="bl" rotWithShape="0" blurRad="88900" dist="31750" dir="5400000">
              <a:srgbClr val="1B2559">
                <a:alpha val="12000"/>
              </a:srgbClr>
            </a:outerShdw>
          </a:effectLst>
        </p:spPr>
      </p:sp>
      <p:sp>
        <p:nvSpPr>
          <p:cNvPr id="28" name="rh_378"/>
          <p:cNvSpPr/>
          <p:nvPr/>
        </p:nvSpPr>
        <p:spPr>
          <a:xfrm>
            <a:off x="6220968" y="1508760"/>
            <a:ext cx="2538984" cy="365760"/>
          </a:xfrm>
          <a:prstGeom prst="roundRect">
            <a:avLst>
              <a:gd name="adj" fmla="val 50000"/>
            </a:avLst>
          </a:prstGeom>
          <a:solidFill>
            <a:srgbClr val="2EB872"/>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What + noun (no a)</a:t>
            </a:r>
            <a:endParaRPr lang="en-US" sz="1250" dirty="0"/>
          </a:p>
        </p:txBody>
      </p:sp>
      <p:sp>
        <p:nvSpPr>
          <p:cNvPr id="29" name="pf_379"/>
          <p:cNvSpPr/>
          <p:nvPr/>
        </p:nvSpPr>
        <p:spPr>
          <a:xfrm>
            <a:off x="6220968" y="1938528"/>
            <a:ext cx="25389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0" name="ph_380" descr="/home/claude/lls-course/v2/cache/spare_life_celebrations_jpg_589x209_31.png">    </p:cNvPr>
          <p:cNvPicPr>
            <a:picLocks noChangeAspect="1"/>
          </p:cNvPicPr>
          <p:nvPr/>
        </p:nvPicPr>
        <p:blipFill>
          <a:blip r:embed="rId6"/>
          <a:stretch>
            <a:fillRect/>
          </a:stretch>
        </p:blipFill>
        <p:spPr>
          <a:xfrm>
            <a:off x="6266688" y="1984248"/>
            <a:ext cx="2447544" cy="868680"/>
          </a:xfrm>
          <a:prstGeom prst="rect">
            <a:avLst/>
          </a:prstGeom>
        </p:spPr>
      </p:pic>
      <p:sp>
        <p:nvSpPr>
          <p:cNvPr id="31" name="ru_381"/>
          <p:cNvSpPr/>
          <p:nvPr/>
        </p:nvSpPr>
        <p:spPr>
          <a:xfrm>
            <a:off x="6202680" y="2926080"/>
            <a:ext cx="2575560" cy="384048"/>
          </a:xfrm>
          <a:prstGeom prst="rect">
            <a:avLst/>
          </a:prstGeom>
          <a:noFill/>
          <a:ln/>
        </p:spPr>
        <p:txBody>
          <a:bodyPr wrap="square" lIns="0" tIns="0" rIns="0" bIns="0" rtlCol="0" anchor="ctr">
            <a:normAutofit/>
          </a:bodyPr>
          <a:lstStyle/>
          <a:p>
            <a:pPr algn="ctr" indent="0" marL="0">
              <a:buNone/>
            </a:pPr>
            <a:r>
              <a:rPr lang="en-US" sz="1050" dirty="0">
                <a:solidFill>
                  <a:srgbClr val="2EB872"/>
                </a:solidFill>
                <a:latin typeface="Arial Rounded MT Bold" pitchFamily="34" charset="0"/>
                <a:ea typeface="Arial Rounded MT Bold" pitchFamily="34" charset="-122"/>
                <a:cs typeface="Arial Rounded MT Bold" pitchFamily="34" charset="-120"/>
              </a:rPr>
              <a:t>news, plurals – no a!</a:t>
            </a:r>
            <a:endParaRPr lang="en-US" sz="1050" dirty="0"/>
          </a:p>
        </p:txBody>
      </p:sp>
      <p:sp>
        <p:nvSpPr>
          <p:cNvPr id="32" name="R3_rx382"/>
          <p:cNvSpPr/>
          <p:nvPr/>
        </p:nvSpPr>
        <p:spPr>
          <a:xfrm>
            <a:off x="6202680" y="3319272"/>
            <a:ext cx="25755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What terrible news!</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What great news!</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What lovely people!</a:t>
            </a:r>
            <a:endParaRPr lang="en-US" sz="1050" dirty="0"/>
          </a:p>
        </p:txBody>
      </p:sp>
      <p:sp>
        <p:nvSpPr>
          <p:cNvPr id="33" name="R3_ri383"/>
          <p:cNvSpPr/>
          <p:nvPr/>
        </p:nvSpPr>
        <p:spPr>
          <a:xfrm>
            <a:off x="6202680" y="4087368"/>
            <a:ext cx="25755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pitchFamily="34" charset="0"/>
                <a:ea typeface="Segoe UI" pitchFamily="34" charset="-122"/>
                <a:cs typeface="Segoe UI" pitchFamily="34" charset="-120"/>
              </a:rPr>
              <a:t>news = notizie: no 'a'!</a:t>
            </a:r>
            <a:endParaRPr lang="en-US" sz="900" dirty="0"/>
          </a:p>
        </p:txBody>
      </p:sp>
      <p:sp>
        <p:nvSpPr>
          <p:cNvPr id="34" name="R4_wc384"/>
          <p:cNvSpPr/>
          <p:nvPr/>
        </p:nvSpPr>
        <p:spPr>
          <a:xfrm>
            <a:off x="320040" y="4544568"/>
            <a:ext cx="8549640" cy="329184"/>
          </a:xfrm>
          <a:prstGeom prst="roundRect">
            <a:avLst>
              <a:gd name="adj" fmla="val 38889"/>
            </a:avLst>
          </a:prstGeom>
          <a:solidFill>
            <a:srgbClr val="FFE3EE"/>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35" name="R4_w385"/>
          <p:cNvSpPr/>
          <p:nvPr/>
        </p:nvSpPr>
        <p:spPr>
          <a:xfrm>
            <a:off x="457200" y="4544568"/>
            <a:ext cx="8321040" cy="329184"/>
          </a:xfrm>
          <a:prstGeom prst="rect">
            <a:avLst/>
          </a:prstGeom>
          <a:noFill/>
          <a:ln/>
        </p:spPr>
        <p:txBody>
          <a:bodyPr wrap="square" lIns="0" tIns="0" rIns="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 ✗ What fantastic! → ✓ How fantastic!    ✗ How a pity! → ✓ What a pity!    ✗ What a terrible news! → ✓ What terrible news!</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400"/>
                                        <p:tgtEl>
                                          <p:spTgt spid="25"/>
                                        </p:tgtEl>
                                      </p:cBhvr>
                                    </p:animEffect>
                                  </p:childTnLst>
                                </p:cTn>
                              </p:par>
                              <p:par>
                                <p:cTn id="16" presetID="10" presetClass="entr" presetSubtype="0" fill="hold"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400"/>
                                        <p:tgtEl>
                                          <p:spTgt spid="2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400"/>
                                        <p:tgtEl>
                                          <p:spTgt spid="32"/>
                                        </p:tgtEl>
                                      </p:cBhvr>
                                    </p:animEffect>
                                  </p:childTnLst>
                                </p:cTn>
                              </p:par>
                              <p:par>
                                <p:cTn id="24" presetID="10" presetClass="entr" presetSubtype="0" fill="hold"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400"/>
                                        <p:tgtEl>
                                          <p:spTgt spid="3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fade">
                                      <p:cBhvr>
                                        <p:cTn id="31" dur="400"/>
                                        <p:tgtEl>
                                          <p:spTgt spid="34"/>
                                        </p:tgtEl>
                                      </p:cBhvr>
                                    </p:animEffect>
                                  </p:childTnLst>
                                </p:cTn>
                              </p:par>
                              <p:par>
                                <p:cTn id="32" presetID="10" presetClass="entr" presetSubtype="0" fill="hold" nodeType="with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fade">
                                      <p:cBhvr>
                                        <p:cTn id="3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86"/>
          <p:cNvSpPr/>
          <p:nvPr/>
        </p:nvSpPr>
        <p:spPr>
          <a:xfrm>
            <a:off x="201168" y="164592"/>
            <a:ext cx="841248" cy="841248"/>
          </a:xfrm>
          <a:prstGeom prst="ellipse">
            <a:avLst/>
          </a:prstGeom>
          <a:solidFill>
            <a:srgbClr val="7B5CD6"/>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387"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388"/>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Copy the music!</a:t>
            </a:r>
            <a:endParaRPr lang="en-US" sz="2500" dirty="0"/>
          </a:p>
        </p:txBody>
      </p:sp>
      <p:pic>
        <p:nvPicPr>
          <p:cNvPr id="6" name="brP_389"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390"/>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Copy the music – up and down!</a:t>
            </a:r>
            <a:endParaRPr lang="en-US" sz="1250" dirty="0"/>
          </a:p>
        </p:txBody>
      </p:sp>
      <p:sp>
        <p:nvSpPr>
          <p:cNvPr id="8" name="insIT_391"/>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Ascolta. Copia la musica: su e giù!</a:t>
            </a:r>
            <a:endParaRPr lang="en-US" sz="950" dirty="0"/>
          </a:p>
        </p:txBody>
      </p:sp>
      <p:sp>
        <p:nvSpPr>
          <p:cNvPr id="9" name="cmd_392"/>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393"/>
          <p:cNvSpPr/>
          <p:nvPr/>
        </p:nvSpPr>
        <p:spPr>
          <a:xfrm>
            <a:off x="6510528" y="566928"/>
            <a:ext cx="1901952" cy="329184"/>
          </a:xfrm>
          <a:prstGeom prst="roundRect">
            <a:avLst>
              <a:gd name="adj" fmla="val 50000"/>
            </a:avLst>
          </a:prstGeom>
          <a:solidFill>
            <a:srgbClr val="FFFFFF"/>
          </a:solidFill>
          <a:ln w="25400">
            <a:solidFill>
              <a:srgbClr val="CDBFF3"/>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7B5CD6"/>
                </a:solidFill>
                <a:latin typeface="Arial Rounded MT Bold" pitchFamily="34" charset="0"/>
                <a:ea typeface="Arial Rounded MT Bold" pitchFamily="34" charset="-122"/>
                <a:cs typeface="Arial Rounded MT Bold" pitchFamily="34" charset="-120"/>
              </a:rPr>
              <a:t>SAY IT</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PRONUNCIA</a:t>
            </a:r>
            <a:endParaRPr lang="en-US" sz="1100" dirty="0"/>
          </a:p>
        </p:txBody>
      </p:sp>
      <p:sp>
        <p:nvSpPr>
          <p:cNvPr id="11" name="meta_394"/>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2" name="tag_395"/>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Pronunciation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Drilling</a:t>
            </a:r>
            <a:endParaRPr lang="en-US" sz="850" dirty="0"/>
          </a:p>
        </p:txBody>
      </p:sp>
      <p:pic>
        <p:nvPicPr>
          <p:cNvPr id="13" name="logo_39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39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PE1 · Pronunciation · sounding interested   ·   📖 SB p.15 · 2d, 2e · video listen and repeat / audio 1.29</a:t>
            </a:r>
            <a:endParaRPr lang="en-US" sz="800" dirty="0"/>
          </a:p>
        </p:txBody>
      </p:sp>
      <p:sp>
        <p:nvSpPr>
          <p:cNvPr id="15" name="ap_398"/>
          <p:cNvSpPr/>
          <p:nvPr/>
        </p:nvSpPr>
        <p:spPr>
          <a:xfrm>
            <a:off x="365760" y="1417320"/>
            <a:ext cx="233172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1.29  ·  pause after each phrase</a:t>
            </a:r>
            <a:endParaRPr lang="en-US" sz="1100" dirty="0"/>
          </a:p>
        </p:txBody>
      </p:sp>
      <p:sp>
        <p:nvSpPr>
          <p:cNvPr id="16" name="ah_399"/>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9" name="cd_400"/>
          <p:cNvSpPr/>
          <p:nvPr/>
        </p:nvSpPr>
        <p:spPr>
          <a:xfrm>
            <a:off x="320040" y="2011680"/>
            <a:ext cx="2743200" cy="1463040"/>
          </a:xfrm>
          <a:prstGeom prst="roundRect">
            <a:avLst>
              <a:gd name="adj" fmla="val 8750"/>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20" name="ii_401"/>
          <p:cNvSpPr/>
          <p:nvPr/>
        </p:nvSpPr>
        <p:spPr>
          <a:xfrm>
            <a:off x="411480" y="20848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402"/>
          <p:cNvSpPr/>
          <p:nvPr/>
        </p:nvSpPr>
        <p:spPr>
          <a:xfrm>
            <a:off x="886968" y="2103120"/>
            <a:ext cx="2103120" cy="365760"/>
          </a:xfrm>
          <a:prstGeom prst="rect">
            <a:avLst/>
          </a:prstGeom>
          <a:noFill/>
          <a:ln/>
        </p:spPr>
        <p:txBody>
          <a:bodyPr wrap="square" lIns="0" tIns="0" rIns="0" bIns="0" rtlCol="0" anchor="ctr"/>
          <a:lstStyle/>
          <a:p>
            <a:pP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Big words = STRESSED</a:t>
            </a:r>
            <a:endParaRPr lang="en-US" sz="1250" dirty="0"/>
          </a:p>
        </p:txBody>
      </p:sp>
      <p:sp>
        <p:nvSpPr>
          <p:cNvPr id="22" name="il_403"/>
          <p:cNvSpPr/>
          <p:nvPr/>
        </p:nvSpPr>
        <p:spPr>
          <a:xfrm>
            <a:off x="886968" y="2487168"/>
            <a:ext cx="2084832" cy="91440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nouns, verbs, adjectives are strong</a:t>
            </a:r>
            <a:endParaRPr lang="en-US" sz="1050" dirty="0"/>
          </a:p>
          <a:p>
            <a:pPr marL="152400" indent="-152400">
              <a:spcBef>
                <a:spcPts val="500"/>
              </a:spcBef>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to, a, the, of are weak and fast</a:t>
            </a:r>
            <a:endParaRPr lang="en-US" sz="1050" dirty="0"/>
          </a:p>
        </p:txBody>
      </p:sp>
      <p:sp>
        <p:nvSpPr>
          <p:cNvPr id="23" name="pf_404"/>
          <p:cNvSpPr/>
          <p:nvPr/>
        </p:nvSpPr>
        <p:spPr>
          <a:xfrm rot="-120000">
            <a:off x="777240" y="3611880"/>
            <a:ext cx="182880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4" name="phx_405"/>
          <p:cNvSpPr/>
          <p:nvPr/>
        </p:nvSpPr>
        <p:spPr>
          <a:xfrm>
            <a:off x="822960" y="3657600"/>
            <a:ext cx="1737360" cy="105156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pe1-reactions.jpg</a:t>
            </a:r>
            <a:endParaRPr lang="en-US" sz="900" dirty="0"/>
          </a:p>
        </p:txBody>
      </p:sp>
      <p:sp>
        <p:nvSpPr>
          <p:cNvPr id="25" name="bd_406"/>
          <p:cNvSpPr/>
          <p:nvPr/>
        </p:nvSpPr>
        <p:spPr>
          <a:xfrm>
            <a:off x="3291840" y="1444752"/>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6" name="R1_sw407"/>
          <p:cNvSpPr/>
          <p:nvPr/>
        </p:nvSpPr>
        <p:spPr>
          <a:xfrm>
            <a:off x="3749040" y="141732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KIDding</a:t>
            </a:r>
            <a:endParaRPr lang="en-US" sz="1150" dirty="0"/>
          </a:p>
        </p:txBody>
      </p:sp>
      <p:sp>
        <p:nvSpPr>
          <p:cNvPr id="27" name="R2_sf408"/>
          <p:cNvSpPr/>
          <p:nvPr/>
        </p:nvSpPr>
        <p:spPr>
          <a:xfrm>
            <a:off x="3749040" y="1810512"/>
            <a:ext cx="5120640" cy="274320"/>
          </a:xfrm>
          <a:prstGeom prst="rect">
            <a:avLst/>
          </a:prstGeom>
          <a:noFill/>
          <a:ln/>
        </p:spPr>
        <p:txBody>
          <a:bodyPr wrap="square" lIns="0" tIns="0" rIns="0" bIns="0" rtlCol="0" anchor="ctr"/>
          <a:lstStyle/>
          <a:p>
            <a:pPr indent="0" marL="0">
              <a:buNone/>
            </a:pPr>
            <a:r>
              <a:rPr lang="en-US" sz="1100" i="1" dirty="0">
                <a:solidFill>
                  <a:srgbClr val="7B5CD6"/>
                </a:solidFill>
                <a:latin typeface="Segoe UI Semibold" pitchFamily="34" charset="0"/>
                <a:ea typeface="Segoe UI Semibold" pitchFamily="34" charset="-122"/>
                <a:cs typeface="Segoe UI Semibold" pitchFamily="34" charset="-120"/>
              </a:rPr>
              <a:t>You're kidding.</a:t>
            </a:r>
            <a:endParaRPr lang="en-US" sz="1100" dirty="0"/>
          </a:p>
        </p:txBody>
      </p:sp>
      <p:sp>
        <p:nvSpPr>
          <p:cNvPr id="28" name="bd_409"/>
          <p:cNvSpPr/>
          <p:nvPr/>
        </p:nvSpPr>
        <p:spPr>
          <a:xfrm>
            <a:off x="3291840" y="211226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9" name="R3_sw410"/>
          <p:cNvSpPr/>
          <p:nvPr/>
        </p:nvSpPr>
        <p:spPr>
          <a:xfrm>
            <a:off x="3749040" y="2084832"/>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beLIEVE</a:t>
            </a:r>
            <a:endParaRPr lang="en-US" sz="1150" dirty="0"/>
          </a:p>
        </p:txBody>
      </p:sp>
      <p:sp>
        <p:nvSpPr>
          <p:cNvPr id="30" name="R4_sf411"/>
          <p:cNvSpPr/>
          <p:nvPr/>
        </p:nvSpPr>
        <p:spPr>
          <a:xfrm>
            <a:off x="3749040" y="2478024"/>
            <a:ext cx="5120640" cy="274320"/>
          </a:xfrm>
          <a:prstGeom prst="rect">
            <a:avLst/>
          </a:prstGeom>
          <a:noFill/>
          <a:ln/>
        </p:spPr>
        <p:txBody>
          <a:bodyPr wrap="square" lIns="0" tIns="0" rIns="0" bIns="0" rtlCol="0" anchor="ctr"/>
          <a:lstStyle/>
          <a:p>
            <a:pPr indent="0" marL="0">
              <a:buNone/>
            </a:pPr>
            <a:r>
              <a:rPr lang="en-US" sz="1100" i="1" dirty="0">
                <a:solidFill>
                  <a:srgbClr val="7B5CD6"/>
                </a:solidFill>
                <a:latin typeface="Segoe UI Semibold" pitchFamily="34" charset="0"/>
                <a:ea typeface="Segoe UI Semibold" pitchFamily="34" charset="-122"/>
                <a:cs typeface="Segoe UI Semibold" pitchFamily="34" charset="-120"/>
              </a:rPr>
              <a:t>I don't believe it.</a:t>
            </a:r>
            <a:endParaRPr lang="en-US" sz="1100" dirty="0"/>
          </a:p>
        </p:txBody>
      </p:sp>
      <p:sp>
        <p:nvSpPr>
          <p:cNvPr id="31" name="bd_412"/>
          <p:cNvSpPr/>
          <p:nvPr/>
        </p:nvSpPr>
        <p:spPr>
          <a:xfrm>
            <a:off x="3291840" y="2779776"/>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32" name="R5_sw413"/>
          <p:cNvSpPr/>
          <p:nvPr/>
        </p:nvSpPr>
        <p:spPr>
          <a:xfrm>
            <a:off x="3749040" y="2752344"/>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REAlly</a:t>
            </a:r>
            <a:endParaRPr lang="en-US" sz="1150" dirty="0"/>
          </a:p>
        </p:txBody>
      </p:sp>
      <p:sp>
        <p:nvSpPr>
          <p:cNvPr id="33" name="R6_sf414"/>
          <p:cNvSpPr/>
          <p:nvPr/>
        </p:nvSpPr>
        <p:spPr>
          <a:xfrm>
            <a:off x="3749040" y="3145536"/>
            <a:ext cx="5120640" cy="274320"/>
          </a:xfrm>
          <a:prstGeom prst="rect">
            <a:avLst/>
          </a:prstGeom>
          <a:noFill/>
          <a:ln/>
        </p:spPr>
        <p:txBody>
          <a:bodyPr wrap="square" lIns="0" tIns="0" rIns="0" bIns="0" rtlCol="0" anchor="ctr"/>
          <a:lstStyle/>
          <a:p>
            <a:pPr indent="0" marL="0">
              <a:buNone/>
            </a:pPr>
            <a:r>
              <a:rPr lang="en-US" sz="1100" i="1" dirty="0">
                <a:solidFill>
                  <a:srgbClr val="7B5CD6"/>
                </a:solidFill>
                <a:latin typeface="Segoe UI Semibold" pitchFamily="34" charset="0"/>
                <a:ea typeface="Segoe UI Semibold" pitchFamily="34" charset="-122"/>
                <a:cs typeface="Segoe UI Semibold" pitchFamily="34" charset="-120"/>
              </a:rPr>
              <a:t>Really? ↗</a:t>
            </a:r>
            <a:endParaRPr lang="en-US" sz="1100" dirty="0"/>
          </a:p>
        </p:txBody>
      </p:sp>
      <p:sp>
        <p:nvSpPr>
          <p:cNvPr id="34" name="bd_415"/>
          <p:cNvSpPr/>
          <p:nvPr/>
        </p:nvSpPr>
        <p:spPr>
          <a:xfrm>
            <a:off x="3291840" y="344728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5" name="R7_sw416"/>
          <p:cNvSpPr/>
          <p:nvPr/>
        </p:nvSpPr>
        <p:spPr>
          <a:xfrm>
            <a:off x="3749040" y="3419856"/>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fanTAStic</a:t>
            </a:r>
            <a:endParaRPr lang="en-US" sz="1150" dirty="0"/>
          </a:p>
        </p:txBody>
      </p:sp>
      <p:sp>
        <p:nvSpPr>
          <p:cNvPr id="36" name="R8_sf417"/>
          <p:cNvSpPr/>
          <p:nvPr/>
        </p:nvSpPr>
        <p:spPr>
          <a:xfrm>
            <a:off x="3749040" y="3813048"/>
            <a:ext cx="5120640" cy="274320"/>
          </a:xfrm>
          <a:prstGeom prst="rect">
            <a:avLst/>
          </a:prstGeom>
          <a:noFill/>
          <a:ln/>
        </p:spPr>
        <p:txBody>
          <a:bodyPr wrap="square" lIns="0" tIns="0" rIns="0" bIns="0" rtlCol="0" anchor="ctr"/>
          <a:lstStyle/>
          <a:p>
            <a:pPr indent="0" marL="0">
              <a:buNone/>
            </a:pPr>
            <a:r>
              <a:rPr lang="en-US" sz="1100" i="1" dirty="0">
                <a:solidFill>
                  <a:srgbClr val="7B5CD6"/>
                </a:solidFill>
                <a:latin typeface="Segoe UI Semibold" pitchFamily="34" charset="0"/>
                <a:ea typeface="Segoe UI Semibold" pitchFamily="34" charset="-122"/>
                <a:cs typeface="Segoe UI Semibold" pitchFamily="34" charset="-120"/>
              </a:rPr>
              <a:t>How fantastic!</a:t>
            </a:r>
            <a:endParaRPr lang="en-US" sz="1100" dirty="0"/>
          </a:p>
        </p:txBody>
      </p:sp>
      <p:sp>
        <p:nvSpPr>
          <p:cNvPr id="37" name="bd_418"/>
          <p:cNvSpPr/>
          <p:nvPr/>
        </p:nvSpPr>
        <p:spPr>
          <a:xfrm>
            <a:off x="3291840" y="4114800"/>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8" name="R9_sw419"/>
          <p:cNvSpPr/>
          <p:nvPr/>
        </p:nvSpPr>
        <p:spPr>
          <a:xfrm>
            <a:off x="3749040" y="4087368"/>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PIty</a:t>
            </a:r>
            <a:endParaRPr lang="en-US" sz="1150" dirty="0"/>
          </a:p>
        </p:txBody>
      </p:sp>
      <p:sp>
        <p:nvSpPr>
          <p:cNvPr id="39" name="R9_sw420"/>
          <p:cNvSpPr/>
          <p:nvPr/>
        </p:nvSpPr>
        <p:spPr>
          <a:xfrm>
            <a:off x="4773168" y="4087368"/>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NEver</a:t>
            </a:r>
            <a:endParaRPr lang="en-US" sz="1150" dirty="0"/>
          </a:p>
        </p:txBody>
      </p:sp>
      <p:sp>
        <p:nvSpPr>
          <p:cNvPr id="40" name="R9_sw421"/>
          <p:cNvSpPr/>
          <p:nvPr/>
        </p:nvSpPr>
        <p:spPr>
          <a:xfrm>
            <a:off x="5797296" y="4087368"/>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MIND</a:t>
            </a:r>
            <a:endParaRPr lang="en-US" sz="1150" dirty="0"/>
          </a:p>
        </p:txBody>
      </p:sp>
      <p:sp>
        <p:nvSpPr>
          <p:cNvPr id="41" name="R10_sf422"/>
          <p:cNvSpPr/>
          <p:nvPr/>
        </p:nvSpPr>
        <p:spPr>
          <a:xfrm>
            <a:off x="3749040" y="4480560"/>
            <a:ext cx="5120640" cy="274320"/>
          </a:xfrm>
          <a:prstGeom prst="rect">
            <a:avLst/>
          </a:prstGeom>
          <a:noFill/>
          <a:ln/>
        </p:spPr>
        <p:txBody>
          <a:bodyPr wrap="square" lIns="0" tIns="0" rIns="0" bIns="0" rtlCol="0" anchor="ctr"/>
          <a:lstStyle/>
          <a:p>
            <a:pPr indent="0" marL="0">
              <a:buNone/>
            </a:pPr>
            <a:r>
              <a:rPr lang="en-US" sz="1100" i="1" dirty="0">
                <a:solidFill>
                  <a:srgbClr val="7B5CD6"/>
                </a:solidFill>
                <a:latin typeface="Segoe UI Semibold" pitchFamily="34" charset="0"/>
                <a:ea typeface="Segoe UI Semibold" pitchFamily="34" charset="-122"/>
                <a:cs typeface="Segoe UI Semibold" pitchFamily="34" charset="-120"/>
              </a:rPr>
              <a:t>What a pity. Never mind.</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4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40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400"/>
                                        <p:tgtEl>
                                          <p:spTgt spid="3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fade">
                                      <p:cBhvr>
                                        <p:cTn id="42" dur="400"/>
                                        <p:tgtEl>
                                          <p:spTgt spid="3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fade">
                                      <p:cBhvr>
                                        <p:cTn id="47" dur="400"/>
                                        <p:tgtEl>
                                          <p:spTgt spid="38"/>
                                        </p:tgtEl>
                                      </p:cBhvr>
                                    </p:animEffect>
                                  </p:childTnLst>
                                </p:cTn>
                              </p:par>
                              <p:par>
                                <p:cTn id="48" presetID="10" presetClass="entr" presetSubtype="0" fill="hold" nodeType="withEffect">
                                  <p:stCondLst>
                                    <p:cond delay="0"/>
                                  </p:stCondLst>
                                  <p:childTnLst>
                                    <p:set>
                                      <p:cBhvr>
                                        <p:cTn id="49" dur="1" fill="hold">
                                          <p:stCondLst>
                                            <p:cond delay="0"/>
                                          </p:stCondLst>
                                        </p:cTn>
                                        <p:tgtEl>
                                          <p:spTgt spid="39"/>
                                        </p:tgtEl>
                                        <p:attrNameLst>
                                          <p:attrName>style.visibility</p:attrName>
                                        </p:attrNameLst>
                                      </p:cBhvr>
                                      <p:to>
                                        <p:strVal val="visible"/>
                                      </p:to>
                                    </p:set>
                                    <p:animEffect transition="in" filter="fade">
                                      <p:cBhvr>
                                        <p:cTn id="50" dur="400"/>
                                        <p:tgtEl>
                                          <p:spTgt spid="39"/>
                                        </p:tgtEl>
                                      </p:cBhvr>
                                    </p:animEffect>
                                  </p:childTnLst>
                                </p:cTn>
                              </p:par>
                              <p:par>
                                <p:cTn id="51" presetID="10" presetClass="entr" presetSubtype="0" fill="hold" nodeType="with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fade">
                                      <p:cBhvr>
                                        <p:cTn id="53" dur="400"/>
                                        <p:tgtEl>
                                          <p:spTgt spid="4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41"/>
                                        </p:tgtEl>
                                        <p:attrNameLst>
                                          <p:attrName>style.visibility</p:attrName>
                                        </p:attrNameLst>
                                      </p:cBhvr>
                                      <p:to>
                                        <p:strVal val="visible"/>
                                      </p:to>
                                    </p:set>
                                    <p:animEffect transition="in" filter="fade">
                                      <p:cBhvr>
                                        <p:cTn id="58"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59" restart="whenNotActive" fill="hold" evtFilter="cancelBubble" nodeType="interactiveSeq">
                <p:stCondLst>
                  <p:cond evt="onClick" delay="0">
                    <p:tgtEl>
                      <p:spTgt spid="17"/>
                    </p:tgtEl>
                  </p:cond>
                </p:stCondLst>
                <p:endSync evt="end" delay="0">
                  <p:rtn val="all"/>
                </p:endSync>
                <p:childTnLst>
                  <p:par>
                    <p:cTn id="60" fill="hold">
                      <p:stCondLst>
                        <p:cond delay="0"/>
                      </p:stCondLst>
                      <p:childTnLst>
                        <p:par>
                          <p:cTn id="61" fill="hold">
                            <p:stCondLst>
                              <p:cond delay="0"/>
                            </p:stCondLst>
                            <p:childTnLst>
                              <p:par>
                                <p:cTn id="62" presetID="2" presetClass="mediacall" presetSubtype="0" fill="hold" nodeType="clickEffect">
                                  <p:stCondLst>
                                    <p:cond delay="0"/>
                                  </p:stCondLst>
                                  <p:childTnLst>
                                    <p:cmd type="call" cmd="togglePause">
                                      <p:cBhvr>
                                        <p:cTn id="63" dur="1" fill="hold"/>
                                        <p:tgtEl>
                                          <p:spTgt spid="17"/>
                                        </p:tgtEl>
                                      </p:cBhvr>
                                    </p:cmd>
                                  </p:childTnLst>
                                </p:cTn>
                              </p:par>
                            </p:childTnLst>
                          </p:cTn>
                        </p:par>
                      </p:childTnLst>
                    </p:cTn>
                  </p:par>
                </p:childTnLst>
              </p:cTn>
              <p:nextCondLst>
                <p:cond evt="onClick" delay="0">
                  <p:tgtEl>
                    <p:spTgt spid="17"/>
                  </p:tgtEl>
                </p:cond>
              </p:nextCondLst>
            </p:seq>
            <p:seq concurrent="1" nextAc="seek">
              <p:cTn id="64" restart="whenNotActive" fill="hold" evtFilter="cancelBubble" nodeType="interactiveSeq">
                <p:stCondLst>
                  <p:cond evt="onClick" delay="0">
                    <p:tgtEl>
                      <p:spTgt spid="18"/>
                    </p:tgtEl>
                  </p:cond>
                </p:stCondLst>
                <p:endSync evt="end" delay="0">
                  <p:rtn val="all"/>
                </p:endSync>
                <p:childTnLst>
                  <p:par>
                    <p:cTn id="65" fill="hold">
                      <p:stCondLst>
                        <p:cond delay="0"/>
                      </p:stCondLst>
                      <p:childTnLst>
                        <p:par>
                          <p:cTn id="66" fill="hold">
                            <p:stCondLst>
                              <p:cond delay="0"/>
                            </p:stCondLst>
                            <p:childTnLst>
                              <p:par>
                                <p:cTn id="67" presetID="2" presetClass="mediacall" presetSubtype="0" fill="hold" nodeType="clickEffect">
                                  <p:stCondLst>
                                    <p:cond delay="0"/>
                                  </p:stCondLst>
                                  <p:childTnLst>
                                    <p:cmd type="call" cmd="togglePause">
                                      <p:cBhvr>
                                        <p:cTn id="68" dur="1" fill="hold"/>
                                        <p:tgtEl>
                                          <p:spTgt spid="18"/>
                                        </p:tgtEl>
                                      </p:cBhvr>
                                    </p:cmd>
                                  </p:childTnLst>
                                </p:cTn>
                              </p:par>
                            </p:childTnLst>
                          </p:cTn>
                        </p:par>
                      </p:childTnLst>
                    </p:cTn>
                  </p:par>
                </p:childTnLst>
              </p:cTn>
              <p:nextCondLst>
                <p:cond evt="onClick" delay="0">
                  <p:tgtEl>
                    <p:spTgt spid="18"/>
                  </p:tgtEl>
                </p:cond>
              </p:nextCondLst>
            </p:seq>
            <p:audio>
              <p:cMediaNode vol="80000">
                <p:cTn id="69" fill="hold" display="0">
                  <p:stCondLst>
                    <p:cond delay="indefinite"/>
                  </p:stCondLst>
                  <p:endCondLst>
                    <p:cond evt="onStopAudio" delay="0">
                      <p:tgtEl>
                        <p:sldTgt/>
                      </p:tgtEl>
                    </p:cond>
                  </p:endCondLst>
                </p:cTn>
                <p:tgtEl>
                  <p:spTgt spid="17"/>
                </p:tgtEl>
              </p:cMediaNode>
            </p:audio>
            <p:audio>
              <p:cMediaNode vol="80000">
                <p:cTn id="70" fill="hold" display="0">
                  <p:stCondLst>
                    <p:cond delay="indefinite"/>
                  </p:stCondLst>
                  <p:endCondLst>
                    <p:cond evt="onStopAudio" delay="0">
                      <p:tgtEl>
                        <p:sldTgt/>
                      </p:tgtEl>
                    </p:cond>
                  </p:endCondLst>
                </p:cTn>
                <p:tgtEl>
                  <p:spTgt spid="18"/>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23"/>
          <p:cNvSpPr/>
          <p:nvPr/>
        </p:nvSpPr>
        <p:spPr>
          <a:xfrm>
            <a:off x="201168" y="164592"/>
            <a:ext cx="841248" cy="841248"/>
          </a:xfrm>
          <a:prstGeom prst="ellipse">
            <a:avLst/>
          </a:prstGeom>
          <a:solidFill>
            <a:srgbClr val="7B5CD6"/>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424"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425"/>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Gino meets the parents</a:t>
            </a:r>
            <a:endParaRPr lang="en-US" sz="2500" dirty="0"/>
          </a:p>
        </p:txBody>
      </p:sp>
      <p:pic>
        <p:nvPicPr>
          <p:cNvPr id="6" name="brP_426" descr="/home/claude/lls-course/v2/assets/brush-pink.png">    </p:cNvPr>
          <p:cNvPicPr>
            <a:picLocks noChangeAspect="1"/>
          </p:cNvPicPr>
          <p:nvPr/>
        </p:nvPicPr>
        <p:blipFill>
          <a:blip r:embed="rId3"/>
          <a:stretch>
            <a:fillRect/>
          </a:stretch>
        </p:blipFill>
        <p:spPr>
          <a:xfrm>
            <a:off x="1207008" y="731520"/>
            <a:ext cx="4379976" cy="402336"/>
          </a:xfrm>
          <a:prstGeom prst="rect">
            <a:avLst/>
          </a:prstGeom>
        </p:spPr>
      </p:pic>
      <p:sp>
        <p:nvSpPr>
          <p:cNvPr id="7" name="ins_427"/>
          <p:cNvSpPr/>
          <p:nvPr/>
        </p:nvSpPr>
        <p:spPr>
          <a:xfrm>
            <a:off x="1353312" y="731520"/>
            <a:ext cx="412394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to the story. Answer the questions!</a:t>
            </a:r>
            <a:endParaRPr lang="en-US" sz="1250" dirty="0"/>
          </a:p>
        </p:txBody>
      </p:sp>
      <p:sp>
        <p:nvSpPr>
          <p:cNvPr id="8" name="insIT_428"/>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Ascolta la storia. Rispondi alle domande!</a:t>
            </a:r>
            <a:endParaRPr lang="en-US" sz="950" dirty="0"/>
          </a:p>
        </p:txBody>
      </p:sp>
      <p:sp>
        <p:nvSpPr>
          <p:cNvPr id="9" name="cmd_429"/>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430"/>
          <p:cNvSpPr/>
          <p:nvPr/>
        </p:nvSpPr>
        <p:spPr>
          <a:xfrm>
            <a:off x="6510528" y="566928"/>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1" name="meta_431"/>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whole class</a:t>
            </a:r>
            <a:endParaRPr lang="en-US" sz="950" dirty="0"/>
          </a:p>
        </p:txBody>
      </p:sp>
      <p:sp>
        <p:nvSpPr>
          <p:cNvPr id="12" name="tag_432"/>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story</a:t>
            </a:r>
            <a:endParaRPr lang="en-US" sz="850" dirty="0"/>
          </a:p>
        </p:txBody>
      </p:sp>
      <p:pic>
        <p:nvPicPr>
          <p:cNvPr id="13" name="logo_43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43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PE1 · Speaking · class story (TPRS)</a:t>
            </a:r>
            <a:endParaRPr lang="en-US" sz="800" dirty="0"/>
          </a:p>
        </p:txBody>
      </p:sp>
      <p:sp>
        <p:nvSpPr>
          <p:cNvPr id="15" name="cd_435"/>
          <p:cNvSpPr/>
          <p:nvPr/>
        </p:nvSpPr>
        <p:spPr>
          <a:xfrm>
            <a:off x="320040" y="1417320"/>
            <a:ext cx="2697480" cy="2852928"/>
          </a:xfrm>
          <a:prstGeom prst="roundRect">
            <a:avLst>
              <a:gd name="adj" fmla="val 4746"/>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436"/>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437"/>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Story phrases</a:t>
            </a:r>
            <a:endParaRPr lang="en-US" sz="1300" dirty="0"/>
          </a:p>
        </p:txBody>
      </p:sp>
      <p:sp>
        <p:nvSpPr>
          <p:cNvPr id="18" name="il_438"/>
          <p:cNvSpPr/>
          <p:nvPr/>
        </p:nvSpPr>
        <p:spPr>
          <a:xfrm>
            <a:off x="886968" y="1892808"/>
            <a:ext cx="2039112" cy="230428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How fantastic!</a:t>
            </a:r>
            <a:endParaRPr lang="en-US" sz="1000" dirty="0"/>
          </a:p>
          <a:p>
            <a:pPr marL="152400" indent="-152400">
              <a:spcAft>
                <a:spcPts val="200"/>
              </a:spcAft>
              <a:buSzPct val="100000"/>
              <a:buChar char="​"/>
            </a:pPr>
            <a:r>
              <a:rPr lang="en-US" sz="850" i="1" dirty="0">
                <a:solidFill>
                  <a:srgbClr val="5B6785"/>
                </a:solidFill>
                <a:latin typeface="Segoe UI" pitchFamily="34" charset="0"/>
                <a:ea typeface="Segoe UI" pitchFamily="34" charset="-122"/>
                <a:cs typeface="Segoe UI" pitchFamily="34" charset="-120"/>
              </a:rPr>
              <a:t>Fantastico! / Che bello!</a:t>
            </a:r>
            <a:endParaRPr lang="en-US" sz="1000" dirty="0"/>
          </a:p>
          <a:p>
            <a:pPr marL="152400" indent="-152400">
              <a:spcBef>
                <a:spcPts val="500"/>
              </a:spcBef>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What a pity. Never mind.</a:t>
            </a:r>
            <a:endParaRPr lang="en-US" sz="1000" dirty="0"/>
          </a:p>
          <a:p>
            <a:pPr marL="152400" indent="-152400">
              <a:spcAft>
                <a:spcPts val="200"/>
              </a:spcAft>
              <a:buSzPct val="100000"/>
              <a:buChar char="​"/>
            </a:pPr>
            <a:r>
              <a:rPr lang="en-US" sz="850" i="1" dirty="0">
                <a:solidFill>
                  <a:srgbClr val="5B6785"/>
                </a:solidFill>
                <a:latin typeface="Segoe UI" pitchFamily="34" charset="0"/>
                <a:ea typeface="Segoe UI" pitchFamily="34" charset="-122"/>
                <a:cs typeface="Segoe UI" pitchFamily="34" charset="-120"/>
              </a:rPr>
              <a:t>Che peccato. Pazienza.</a:t>
            </a:r>
            <a:endParaRPr lang="en-US" sz="1000" dirty="0"/>
          </a:p>
          <a:p>
            <a:pPr marL="152400" indent="-152400">
              <a:spcBef>
                <a:spcPts val="500"/>
              </a:spcBef>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Really? How interesting!</a:t>
            </a:r>
            <a:endParaRPr lang="en-US" sz="1000" dirty="0"/>
          </a:p>
          <a:p>
            <a:pPr marL="152400" indent="-152400">
              <a:spcAft>
                <a:spcPts val="200"/>
              </a:spcAft>
              <a:buSzPct val="100000"/>
              <a:buChar char="​"/>
            </a:pPr>
            <a:r>
              <a:rPr lang="en-US" sz="850" i="1" dirty="0">
                <a:solidFill>
                  <a:srgbClr val="5B6785"/>
                </a:solidFill>
                <a:latin typeface="Segoe UI" pitchFamily="34" charset="0"/>
                <a:ea typeface="Segoe UI" pitchFamily="34" charset="-122"/>
                <a:cs typeface="Segoe UI" pitchFamily="34" charset="-120"/>
              </a:rPr>
              <a:t>Davvero? Che interessante!</a:t>
            </a:r>
            <a:endParaRPr lang="en-US" sz="1000" dirty="0"/>
          </a:p>
          <a:p>
            <a:pPr marL="152400" indent="-152400">
              <a:spcBef>
                <a:spcPts val="500"/>
              </a:spcBef>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You're kidding!</a:t>
            </a:r>
            <a:endParaRPr lang="en-US" sz="1000" dirty="0"/>
          </a:p>
          <a:p>
            <a:pPr marL="152400" indent="-152400">
              <a:spcAft>
                <a:spcPts val="200"/>
              </a:spcAft>
              <a:buSzPct val="100000"/>
              <a:buChar char="​"/>
            </a:pPr>
            <a:r>
              <a:rPr lang="en-US" sz="850" i="1" dirty="0">
                <a:solidFill>
                  <a:srgbClr val="5B6785"/>
                </a:solidFill>
                <a:latin typeface="Segoe UI" pitchFamily="34" charset="0"/>
                <a:ea typeface="Segoe UI" pitchFamily="34" charset="-122"/>
                <a:cs typeface="Segoe UI" pitchFamily="34" charset="-120"/>
              </a:rPr>
              <a:t>Stai scherzando!</a:t>
            </a:r>
            <a:endParaRPr lang="en-US" sz="1000" dirty="0"/>
          </a:p>
          <a:p>
            <a:pPr marL="152400" indent="-152400">
              <a:spcBef>
                <a:spcPts val="500"/>
              </a:spcBef>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Oh no!</a:t>
            </a:r>
            <a:endParaRPr lang="en-US" sz="1000" dirty="0"/>
          </a:p>
          <a:p>
            <a:pPr marL="152400" indent="-152400">
              <a:spcAft>
                <a:spcPts val="200"/>
              </a:spcAft>
              <a:buSzPct val="100000"/>
              <a:buChar char="​"/>
            </a:pPr>
            <a:r>
              <a:rPr lang="en-US" sz="850" i="1" dirty="0">
                <a:solidFill>
                  <a:srgbClr val="5B6785"/>
                </a:solidFill>
                <a:latin typeface="Segoe UI" pitchFamily="34" charset="0"/>
                <a:ea typeface="Segoe UI" pitchFamily="34" charset="-122"/>
                <a:cs typeface="Segoe UI" pitchFamily="34" charset="-120"/>
              </a:rPr>
              <a:t>Oh no!</a:t>
            </a:r>
            <a:endParaRPr lang="en-US" sz="1000" dirty="0"/>
          </a:p>
          <a:p>
            <a:pPr marL="152400" indent="-152400">
              <a:spcBef>
                <a:spcPts val="500"/>
              </a:spcBef>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What a great idea!</a:t>
            </a:r>
            <a:endParaRPr lang="en-US" sz="1000" dirty="0"/>
          </a:p>
          <a:p>
            <a:pPr marL="152400" indent="-152400">
              <a:spcAft>
                <a:spcPts val="200"/>
              </a:spcAft>
              <a:buSzPct val="100000"/>
              <a:buChar char="​"/>
            </a:pPr>
            <a:r>
              <a:rPr lang="en-US" sz="850" i="1" dirty="0">
                <a:solidFill>
                  <a:srgbClr val="5B6785"/>
                </a:solidFill>
                <a:latin typeface="Segoe UI" pitchFamily="34" charset="0"/>
                <a:ea typeface="Segoe UI" pitchFamily="34" charset="-122"/>
                <a:cs typeface="Segoe UI" pitchFamily="34" charset="-120"/>
              </a:rPr>
              <a:t>Che bella idea!</a:t>
            </a:r>
            <a:endParaRPr lang="en-US" sz="1000" dirty="0"/>
          </a:p>
        </p:txBody>
      </p:sp>
      <p:sp>
        <p:nvSpPr>
          <p:cNvPr id="19" name="R1_sb439"/>
          <p:cNvSpPr/>
          <p:nvPr/>
        </p:nvSpPr>
        <p:spPr>
          <a:xfrm>
            <a:off x="3200400" y="1453896"/>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0" name="R1_sl440"/>
          <p:cNvSpPr/>
          <p:nvPr/>
        </p:nvSpPr>
        <p:spPr>
          <a:xfrm>
            <a:off x="3584448" y="1417320"/>
            <a:ext cx="5303520" cy="499872"/>
          </a:xfrm>
          <a:prstGeom prst="roundRect">
            <a:avLst>
              <a:gd name="adj" fmla="val 21951"/>
            </a:avLst>
          </a:prstGeom>
          <a:solidFill>
            <a:srgbClr val="FFFFFF"/>
          </a:solidFill>
          <a:ln w="19050">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Gino meets his girlfriend's parents. He brings cannoli. Her mum says, '</a:t>
            </a:r>
            <a:pPr indent="0" marL="0">
              <a:buNone/>
            </a:pPr>
            <a:r>
              <a:rPr lang="en-US" sz="950" b="1" dirty="0">
                <a:solidFill>
                  <a:srgbClr val="7B5CD6"/>
                </a:solidFill>
                <a:highlight>
                  <a:srgbClr val="FFF1A8"/>
                </a:highlight>
                <a:latin typeface="Segoe UI Semibold" pitchFamily="34" charset="0"/>
                <a:ea typeface="Segoe UI Semibold" pitchFamily="34" charset="-122"/>
                <a:cs typeface="Segoe UI Semibold" pitchFamily="34" charset="-120"/>
              </a:rPr>
              <a:t>How fantastic!</a:t>
            </a:r>
            <a:pPr indent="0" marL="0">
              <a:buNone/>
            </a:pPr>
            <a:r>
              <a:rPr lang="en-US" sz="950" dirty="0">
                <a:solidFill>
                  <a:srgbClr val="1B2559"/>
                </a:solidFill>
                <a:latin typeface="Segoe UI Semibold" pitchFamily="34" charset="0"/>
                <a:ea typeface="Segoe UI Semibold" pitchFamily="34" charset="-122"/>
                <a:cs typeface="Segoe UI Semibold" pitchFamily="34" charset="-120"/>
              </a:rPr>
              <a:t>'</a:t>
            </a:r>
            <a:endParaRPr lang="en-US" sz="950" dirty="0"/>
          </a:p>
          <a:p>
            <a:pPr indent="0" marL="0">
              <a:buNone/>
            </a:pPr>
            <a:r>
              <a:rPr lang="en-US" sz="700" i="1" dirty="0">
                <a:solidFill>
                  <a:srgbClr val="5B6785"/>
                </a:solidFill>
                <a:latin typeface="Segoe UI" pitchFamily="34" charset="0"/>
                <a:ea typeface="Segoe UI" pitchFamily="34" charset="-122"/>
                <a:cs typeface="Segoe UI" pitchFamily="34" charset="-120"/>
              </a:rPr>
              <a:t>❓ Does Gino bring cannoli or flowers? · What does Mum say?</a:t>
            </a:r>
            <a:endParaRPr lang="en-US" sz="950" dirty="0"/>
          </a:p>
        </p:txBody>
      </p:sp>
      <p:sp>
        <p:nvSpPr>
          <p:cNvPr id="21" name="R2_sb441"/>
          <p:cNvSpPr/>
          <p:nvPr/>
        </p:nvSpPr>
        <p:spPr>
          <a:xfrm>
            <a:off x="3200400" y="2017776"/>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2" name="R2_sl442"/>
          <p:cNvSpPr/>
          <p:nvPr/>
        </p:nvSpPr>
        <p:spPr>
          <a:xfrm>
            <a:off x="3584448" y="1981200"/>
            <a:ext cx="5303520" cy="499872"/>
          </a:xfrm>
          <a:prstGeom prst="roundRect">
            <a:avLst>
              <a:gd name="adj" fmla="val 21951"/>
            </a:avLst>
          </a:prstGeom>
          <a:solidFill>
            <a:srgbClr val="FFFFFF"/>
          </a:solidFill>
          <a:ln w="19050">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Oh no! Gino sits on the cannoli. Mum says, '</a:t>
            </a:r>
            <a:pPr indent="0" marL="0">
              <a:buNone/>
            </a:pPr>
            <a:r>
              <a:rPr lang="en-US" sz="1050" b="1" dirty="0">
                <a:solidFill>
                  <a:srgbClr val="7B5CD6"/>
                </a:solidFill>
                <a:highlight>
                  <a:srgbClr val="FFF1A8"/>
                </a:highlight>
                <a:latin typeface="Segoe UI Semibold" pitchFamily="34" charset="0"/>
                <a:ea typeface="Segoe UI Semibold" pitchFamily="34" charset="-122"/>
                <a:cs typeface="Segoe UI Semibold" pitchFamily="34" charset="-120"/>
              </a:rPr>
              <a:t>What a pity. Never mind.</a:t>
            </a:r>
            <a:pPr indent="0" marL="0">
              <a:buNone/>
            </a:pPr>
            <a:r>
              <a:rPr lang="en-US" sz="1050" dirty="0">
                <a:solidFill>
                  <a:srgbClr val="1B2559"/>
                </a:solidFill>
                <a:latin typeface="Segoe UI Semibold" pitchFamily="34" charset="0"/>
                <a:ea typeface="Segoe UI Semibold" pitchFamily="34" charset="-122"/>
                <a:cs typeface="Segoe UI Semibold" pitchFamily="34" charset="-120"/>
              </a:rPr>
              <a:t>'</a:t>
            </a:r>
            <a:endParaRPr lang="en-US" sz="1050" dirty="0"/>
          </a:p>
          <a:p>
            <a:pPr indent="0" marL="0">
              <a:buNone/>
            </a:pPr>
            <a:r>
              <a:rPr lang="en-US" sz="750" i="1" dirty="0">
                <a:solidFill>
                  <a:srgbClr val="5B6785"/>
                </a:solidFill>
                <a:latin typeface="Segoe UI" pitchFamily="34" charset="0"/>
                <a:ea typeface="Segoe UI" pitchFamily="34" charset="-122"/>
                <a:cs typeface="Segoe UI" pitchFamily="34" charset="-120"/>
              </a:rPr>
              <a:t>❓ Where does Gino sit? · Good or bad news? · What does Mum say?</a:t>
            </a:r>
            <a:endParaRPr lang="en-US" sz="1050" dirty="0"/>
          </a:p>
        </p:txBody>
      </p:sp>
      <p:sp>
        <p:nvSpPr>
          <p:cNvPr id="23" name="R3_sb443"/>
          <p:cNvSpPr/>
          <p:nvPr/>
        </p:nvSpPr>
        <p:spPr>
          <a:xfrm>
            <a:off x="3200400" y="2581656"/>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4" name="R3_sl444"/>
          <p:cNvSpPr/>
          <p:nvPr/>
        </p:nvSpPr>
        <p:spPr>
          <a:xfrm>
            <a:off x="3584448" y="2545080"/>
            <a:ext cx="5303520" cy="499872"/>
          </a:xfrm>
          <a:prstGeom prst="roundRect">
            <a:avLst>
              <a:gd name="adj" fmla="val 21951"/>
            </a:avLst>
          </a:prstGeom>
          <a:solidFill>
            <a:srgbClr val="FFFFFF"/>
          </a:solidFill>
          <a:ln w="19050">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Gino says, 'I've got some news. I'm a chef!' Dad says, '</a:t>
            </a:r>
            <a:pPr indent="0" marL="0">
              <a:buNone/>
            </a:pPr>
            <a:r>
              <a:rPr lang="en-US" sz="950" b="1" dirty="0">
                <a:solidFill>
                  <a:srgbClr val="7B5CD6"/>
                </a:solidFill>
                <a:highlight>
                  <a:srgbClr val="FFF1A8"/>
                </a:highlight>
                <a:latin typeface="Segoe UI Semibold" pitchFamily="34" charset="0"/>
                <a:ea typeface="Segoe UI Semibold" pitchFamily="34" charset="-122"/>
                <a:cs typeface="Segoe UI Semibold" pitchFamily="34" charset="-120"/>
              </a:rPr>
              <a:t>Really? How interesting!</a:t>
            </a:r>
            <a:pPr indent="0" marL="0">
              <a:buNone/>
            </a:pPr>
            <a:r>
              <a:rPr lang="en-US" sz="950" dirty="0">
                <a:solidFill>
                  <a:srgbClr val="1B2559"/>
                </a:solidFill>
                <a:latin typeface="Segoe UI Semibold" pitchFamily="34" charset="0"/>
                <a:ea typeface="Segoe UI Semibold" pitchFamily="34" charset="-122"/>
                <a:cs typeface="Segoe UI Semibold" pitchFamily="34" charset="-120"/>
              </a:rPr>
              <a:t>'</a:t>
            </a:r>
            <a:endParaRPr lang="en-US" sz="950" dirty="0"/>
          </a:p>
          <a:p>
            <a:pPr indent="0" marL="0">
              <a:buNone/>
            </a:pPr>
            <a:r>
              <a:rPr lang="en-US" sz="700" i="1" dirty="0">
                <a:solidFill>
                  <a:srgbClr val="5B6785"/>
                </a:solidFill>
                <a:latin typeface="Segoe UI" pitchFamily="34" charset="0"/>
                <a:ea typeface="Segoe UI" pitchFamily="34" charset="-122"/>
                <a:cs typeface="Segoe UI" pitchFamily="34" charset="-120"/>
              </a:rPr>
              <a:t>❓ Is Gino a chef or a teacher? · What does Dad say?</a:t>
            </a:r>
            <a:endParaRPr lang="en-US" sz="950" dirty="0"/>
          </a:p>
        </p:txBody>
      </p:sp>
      <p:sp>
        <p:nvSpPr>
          <p:cNvPr id="25" name="R4_sb445"/>
          <p:cNvSpPr/>
          <p:nvPr/>
        </p:nvSpPr>
        <p:spPr>
          <a:xfrm>
            <a:off x="3200400" y="3145536"/>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6" name="R4_sl446"/>
          <p:cNvSpPr/>
          <p:nvPr/>
        </p:nvSpPr>
        <p:spPr>
          <a:xfrm>
            <a:off x="3584448" y="3108960"/>
            <a:ext cx="5303520" cy="499872"/>
          </a:xfrm>
          <a:prstGeom prst="roundRect">
            <a:avLst>
              <a:gd name="adj" fmla="val 21951"/>
            </a:avLst>
          </a:prstGeom>
          <a:solidFill>
            <a:srgbClr val="FFFFFF"/>
          </a:solidFill>
          <a:ln w="19050">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'I can make fifty arancine in ten minutes!' Dad says, '</a:t>
            </a:r>
            <a:pPr indent="0" marL="0">
              <a:buNone/>
            </a:pPr>
            <a:r>
              <a:rPr lang="en-US" sz="1050" b="1" dirty="0">
                <a:solidFill>
                  <a:srgbClr val="7B5CD6"/>
                </a:solidFill>
                <a:highlight>
                  <a:srgbClr val="FFF1A8"/>
                </a:highlight>
                <a:latin typeface="Segoe UI Semibold" pitchFamily="34" charset="0"/>
                <a:ea typeface="Segoe UI Semibold" pitchFamily="34" charset="-122"/>
                <a:cs typeface="Segoe UI Semibold" pitchFamily="34" charset="-120"/>
              </a:rPr>
              <a:t>You're kidding!</a:t>
            </a:r>
            <a:pPr indent="0" marL="0">
              <a:buNone/>
            </a:pPr>
            <a:r>
              <a:rPr lang="en-US" sz="1050" dirty="0">
                <a:solidFill>
                  <a:srgbClr val="1B2559"/>
                </a:solidFill>
                <a:latin typeface="Segoe UI Semibold" pitchFamily="34" charset="0"/>
                <a:ea typeface="Segoe UI Semibold" pitchFamily="34" charset="-122"/>
                <a:cs typeface="Segoe UI Semibold" pitchFamily="34" charset="-120"/>
              </a:rPr>
              <a:t>'</a:t>
            </a:r>
            <a:endParaRPr lang="en-US" sz="1050" dirty="0"/>
          </a:p>
          <a:p>
            <a:pPr indent="0" marL="0">
              <a:buNone/>
            </a:pPr>
            <a:r>
              <a:rPr lang="en-US" sz="750" i="1" dirty="0">
                <a:solidFill>
                  <a:srgbClr val="5B6785"/>
                </a:solidFill>
                <a:latin typeface="Segoe UI" pitchFamily="34" charset="0"/>
                <a:ea typeface="Segoe UI" pitchFamily="34" charset="-122"/>
                <a:cs typeface="Segoe UI" pitchFamily="34" charset="-120"/>
              </a:rPr>
              <a:t>❓ How many arancine? · Does Dad believe him?</a:t>
            </a:r>
            <a:endParaRPr lang="en-US" sz="1050" dirty="0"/>
          </a:p>
        </p:txBody>
      </p:sp>
      <p:sp>
        <p:nvSpPr>
          <p:cNvPr id="27" name="R5_sb447"/>
          <p:cNvSpPr/>
          <p:nvPr/>
        </p:nvSpPr>
        <p:spPr>
          <a:xfrm>
            <a:off x="3200400" y="3709416"/>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8" name="R5_sl448"/>
          <p:cNvSpPr/>
          <p:nvPr/>
        </p:nvSpPr>
        <p:spPr>
          <a:xfrm>
            <a:off x="3584448" y="3672840"/>
            <a:ext cx="5303520" cy="499872"/>
          </a:xfrm>
          <a:prstGeom prst="roundRect">
            <a:avLst>
              <a:gd name="adj" fmla="val 21951"/>
            </a:avLst>
          </a:prstGeom>
          <a:solidFill>
            <a:srgbClr val="FFFFFF"/>
          </a:solidFill>
          <a:ln w="19050">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Gino cooks the arancine. They're black! Everybody says, '</a:t>
            </a:r>
            <a:pPr indent="0" marL="0">
              <a:buNone/>
            </a:pPr>
            <a:r>
              <a:rPr lang="en-US" sz="1100" b="1" dirty="0">
                <a:solidFill>
                  <a:srgbClr val="7B5CD6"/>
                </a:solidFill>
                <a:highlight>
                  <a:srgbClr val="FFF1A8"/>
                </a:highlight>
                <a:latin typeface="Segoe UI Semibold" pitchFamily="34" charset="0"/>
                <a:ea typeface="Segoe UI Semibold" pitchFamily="34" charset="-122"/>
                <a:cs typeface="Segoe UI Semibold" pitchFamily="34" charset="-120"/>
              </a:rPr>
              <a:t>Oh no!</a:t>
            </a:r>
            <a:pPr indent="0" marL="0">
              <a:buNone/>
            </a:pPr>
            <a:r>
              <a:rPr lang="en-US" sz="1100" dirty="0">
                <a:solidFill>
                  <a:srgbClr val="1B2559"/>
                </a:solidFill>
                <a:latin typeface="Segoe UI Semibold" pitchFamily="34" charset="0"/>
                <a:ea typeface="Segoe UI Semibold" pitchFamily="34" charset="-122"/>
                <a:cs typeface="Segoe UI Semibold" pitchFamily="34" charset="-120"/>
              </a:rPr>
              <a:t>'</a:t>
            </a:r>
            <a:endParaRPr lang="en-US" sz="1100" dirty="0"/>
          </a:p>
          <a:p>
            <a:pPr indent="0" marL="0">
              <a:buNone/>
            </a:pPr>
            <a:r>
              <a:rPr lang="en-US" sz="800" i="1" dirty="0">
                <a:solidFill>
                  <a:srgbClr val="5B6785"/>
                </a:solidFill>
                <a:latin typeface="Segoe UI" pitchFamily="34" charset="0"/>
                <a:ea typeface="Segoe UI" pitchFamily="34" charset="-122"/>
                <a:cs typeface="Segoe UI" pitchFamily="34" charset="-120"/>
              </a:rPr>
              <a:t>❓ Are the arancine golden or black? · What does everybody say?</a:t>
            </a:r>
            <a:endParaRPr lang="en-US" sz="1100" dirty="0"/>
          </a:p>
        </p:txBody>
      </p:sp>
      <p:sp>
        <p:nvSpPr>
          <p:cNvPr id="29" name="R6_sb449"/>
          <p:cNvSpPr/>
          <p:nvPr/>
        </p:nvSpPr>
        <p:spPr>
          <a:xfrm>
            <a:off x="3200400" y="4273296"/>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0" name="R6_sl450"/>
          <p:cNvSpPr/>
          <p:nvPr/>
        </p:nvSpPr>
        <p:spPr>
          <a:xfrm>
            <a:off x="3584448" y="4236720"/>
            <a:ext cx="5303520" cy="499872"/>
          </a:xfrm>
          <a:prstGeom prst="roundRect">
            <a:avLst>
              <a:gd name="adj" fmla="val 21951"/>
            </a:avLst>
          </a:prstGeom>
          <a:solidFill>
            <a:srgbClr val="FFFFFF"/>
          </a:solidFill>
          <a:ln w="19050">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Dad says, 'Let's order a pizza!' Mum says, '</a:t>
            </a:r>
            <a:pPr indent="0" marL="0">
              <a:buNone/>
            </a:pPr>
            <a:r>
              <a:rPr lang="en-US" sz="1200" b="1" dirty="0">
                <a:solidFill>
                  <a:srgbClr val="7B5CD6"/>
                </a:solidFill>
                <a:highlight>
                  <a:srgbClr val="FFF1A8"/>
                </a:highlight>
                <a:latin typeface="Segoe UI Semibold" pitchFamily="34" charset="0"/>
                <a:ea typeface="Segoe UI Semibold" pitchFamily="34" charset="-122"/>
                <a:cs typeface="Segoe UI Semibold" pitchFamily="34" charset="-120"/>
              </a:rPr>
              <a:t>What a great idea!</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a:t>
            </a:r>
            <a:endParaRPr lang="en-US" sz="1200" dirty="0"/>
          </a:p>
          <a:p>
            <a:pPr indent="0" marL="0">
              <a:buNone/>
            </a:pPr>
            <a:r>
              <a:rPr lang="en-US" sz="850" i="1" dirty="0">
                <a:solidFill>
                  <a:srgbClr val="5B6785"/>
                </a:solidFill>
                <a:latin typeface="Segoe UI" pitchFamily="34" charset="0"/>
                <a:ea typeface="Segoe UI" pitchFamily="34" charset="-122"/>
                <a:cs typeface="Segoe UI" pitchFamily="34" charset="-120"/>
              </a:rPr>
              <a:t>❓ What does Dad want? · And you – what do you take when you meet new people?</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par>
                                <p:cTn id="32" presetID="10" presetClass="entr" presetSubtype="0" fill="hold"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400"/>
                                        <p:tgtEl>
                                          <p:spTgt spid="2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400"/>
                                        <p:tgtEl>
                                          <p:spTgt spid="27"/>
                                        </p:tgtEl>
                                      </p:cBhvr>
                                    </p:animEffect>
                                  </p:childTnLst>
                                </p:cTn>
                              </p:par>
                              <p:par>
                                <p:cTn id="40" presetID="10" presetClass="entr" presetSubtype="0" fill="hold"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4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400"/>
                                        <p:tgtEl>
                                          <p:spTgt spid="29"/>
                                        </p:tgtEl>
                                      </p:cBhvr>
                                    </p:animEffect>
                                  </p:childTnLst>
                                </p:cTn>
                              </p:par>
                              <p:par>
                                <p:cTn id="48" presetID="10" presetClass="entr" presetSubtype="0" fill="hold"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51"/>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452" descr="/home/claude/lls-course/v2/assets/brush-yellow.png">    </p:cNvPr>
          <p:cNvPicPr>
            <a:picLocks noChangeAspect="1"/>
          </p:cNvPicPr>
          <p:nvPr/>
        </p:nvPicPr>
        <p:blipFill>
          <a:blip r:embed="rId2"/>
          <a:stretch>
            <a:fillRect/>
          </a:stretch>
        </p:blipFill>
        <p:spPr>
          <a:xfrm>
            <a:off x="1097280" y="146304"/>
            <a:ext cx="1675181" cy="621792"/>
          </a:xfrm>
          <a:prstGeom prst="rect">
            <a:avLst/>
          </a:prstGeom>
        </p:spPr>
      </p:pic>
      <p:sp>
        <p:nvSpPr>
          <p:cNvPr id="5" name="title_453"/>
          <p:cNvSpPr/>
          <p:nvPr/>
        </p:nvSpPr>
        <p:spPr>
          <a:xfrm>
            <a:off x="1261872" y="164592"/>
            <a:ext cx="140086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React!</a:t>
            </a:r>
            <a:endParaRPr lang="en-US" sz="2500" dirty="0"/>
          </a:p>
        </p:txBody>
      </p:sp>
      <p:pic>
        <p:nvPicPr>
          <p:cNvPr id="6" name="brP_454" descr="/home/claude/lls-course/v2/assets/brush-pink.png">    </p:cNvPr>
          <p:cNvPicPr>
            <a:picLocks noChangeAspect="1"/>
          </p:cNvPicPr>
          <p:nvPr/>
        </p:nvPicPr>
        <p:blipFill>
          <a:blip r:embed="rId3"/>
          <a:stretch>
            <a:fillRect/>
          </a:stretch>
        </p:blipFill>
        <p:spPr>
          <a:xfrm>
            <a:off x="1207008" y="731520"/>
            <a:ext cx="3685032" cy="402336"/>
          </a:xfrm>
          <a:prstGeom prst="rect">
            <a:avLst/>
          </a:prstGeom>
        </p:spPr>
      </p:pic>
      <p:sp>
        <p:nvSpPr>
          <p:cNvPr id="7" name="ins_455"/>
          <p:cNvSpPr/>
          <p:nvPr/>
        </p:nvSpPr>
        <p:spPr>
          <a:xfrm>
            <a:off x="1353312" y="731520"/>
            <a:ext cx="342900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news. React in 5 seconds!</a:t>
            </a:r>
            <a:endParaRPr lang="en-US" sz="1250" dirty="0"/>
          </a:p>
        </p:txBody>
      </p:sp>
      <p:sp>
        <p:nvSpPr>
          <p:cNvPr id="8" name="insIT_456"/>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Leggi la notizia. Reagisci in 5 secondi!</a:t>
            </a:r>
            <a:endParaRPr lang="en-US" sz="950" dirty="0"/>
          </a:p>
        </p:txBody>
      </p:sp>
      <p:sp>
        <p:nvSpPr>
          <p:cNvPr id="9" name="cmd_457"/>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458"/>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teams</a:t>
            </a:r>
            <a:endParaRPr lang="en-US" sz="950" dirty="0"/>
          </a:p>
        </p:txBody>
      </p:sp>
      <p:sp>
        <p:nvSpPr>
          <p:cNvPr id="11" name="tag_459"/>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2" name="logo_46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6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PE1 · Function game</a:t>
            </a:r>
            <a:endParaRPr lang="en-US" sz="800" dirty="0"/>
          </a:p>
        </p:txBody>
      </p:sp>
      <p:sp>
        <p:nvSpPr>
          <p:cNvPr id="14" name="cd_462"/>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463"/>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464"/>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465"/>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900" dirty="0">
                <a:solidFill>
                  <a:srgbClr val="1B2559"/>
                </a:solidFill>
                <a:latin typeface="Segoe UI" pitchFamily="34" charset="0"/>
                <a:ea typeface="Segoe UI" pitchFamily="34" charset="-122"/>
                <a:cs typeface="Segoe UI" pitchFamily="34" charset="-120"/>
              </a:rPr>
              <a:t>Read the news.</a:t>
            </a:r>
            <a:endParaRPr lang="en-US" sz="900" dirty="0"/>
          </a:p>
          <a:p>
            <a:pPr marL="190500" indent="-190500">
              <a:spcAft>
                <a:spcPts val="200"/>
              </a:spcAft>
              <a:buSzPct val="100000"/>
              <a:buChar char="​"/>
            </a:pPr>
            <a:r>
              <a:rPr lang="en-US" sz="800" i="1" dirty="0">
                <a:solidFill>
                  <a:srgbClr val="5B6785"/>
                </a:solidFill>
                <a:latin typeface="Segoe UI" pitchFamily="34" charset="0"/>
                <a:ea typeface="Segoe UI" pitchFamily="34" charset="-122"/>
                <a:cs typeface="Segoe UI" pitchFamily="34" charset="-120"/>
              </a:rPr>
              <a:t>Leggi la notizia.</a:t>
            </a:r>
            <a:endParaRPr lang="en-US" sz="900" dirty="0"/>
          </a:p>
          <a:p>
            <a:pPr marL="190500" indent="-190500">
              <a:spcBef>
                <a:spcPts val="500"/>
              </a:spcBef>
              <a:spcAft>
                <a:spcPts val="200"/>
              </a:spcAft>
              <a:buSzPct val="100000"/>
              <a:buChar char="2"/>
            </a:pPr>
            <a:r>
              <a:rPr lang="en-US" sz="900" dirty="0">
                <a:solidFill>
                  <a:srgbClr val="1B2559"/>
                </a:solidFill>
                <a:latin typeface="Segoe UI" pitchFamily="34" charset="0"/>
                <a:ea typeface="Segoe UI" pitchFamily="34" charset="-122"/>
                <a:cs typeface="Segoe UI" pitchFamily="34" charset="-120"/>
              </a:rPr>
              <a:t>Teams: react + ask a question – 5 seconds!</a:t>
            </a:r>
            <a:endParaRPr lang="en-US" sz="900" dirty="0"/>
          </a:p>
          <a:p>
            <a:pPr marL="190500" indent="-190500">
              <a:spcAft>
                <a:spcPts val="200"/>
              </a:spcAft>
              <a:buSzPct val="100000"/>
              <a:buChar char="​"/>
            </a:pPr>
            <a:r>
              <a:rPr lang="en-US" sz="800" i="1" dirty="0">
                <a:solidFill>
                  <a:srgbClr val="5B6785"/>
                </a:solidFill>
                <a:latin typeface="Segoe UI" pitchFamily="34" charset="0"/>
                <a:ea typeface="Segoe UI" pitchFamily="34" charset="-122"/>
                <a:cs typeface="Segoe UI" pitchFamily="34" charset="-120"/>
              </a:rPr>
              <a:t>Squadre: reagite + fate una domanda – 5 secondi!</a:t>
            </a:r>
            <a:endParaRPr lang="en-US" sz="900" dirty="0"/>
          </a:p>
          <a:p>
            <a:pPr marL="190500" indent="-190500">
              <a:spcBef>
                <a:spcPts val="500"/>
              </a:spcBef>
              <a:spcAft>
                <a:spcPts val="200"/>
              </a:spcAft>
              <a:buSzPct val="100000"/>
              <a:buChar char="3"/>
            </a:pPr>
            <a:r>
              <a:rPr lang="en-US" sz="900" dirty="0">
                <a:solidFill>
                  <a:srgbClr val="1B2559"/>
                </a:solidFill>
                <a:latin typeface="Segoe UI" pitchFamily="34" charset="0"/>
                <a:ea typeface="Segoe UI" pitchFamily="34" charset="-122"/>
                <a:cs typeface="Segoe UI" pitchFamily="34" charset="-120"/>
              </a:rPr>
              <a:t>Right reaction + right music = 2 points.</a:t>
            </a:r>
            <a:endParaRPr lang="en-US" sz="900" dirty="0"/>
          </a:p>
          <a:p>
            <a:pPr marL="190500" indent="-190500">
              <a:spcAft>
                <a:spcPts val="200"/>
              </a:spcAft>
              <a:buSzPct val="100000"/>
              <a:buChar char="​"/>
            </a:pPr>
            <a:r>
              <a:rPr lang="en-US" sz="800" i="1" dirty="0">
                <a:solidFill>
                  <a:srgbClr val="5B6785"/>
                </a:solidFill>
                <a:latin typeface="Segoe UI" pitchFamily="34" charset="0"/>
                <a:ea typeface="Segoe UI" pitchFamily="34" charset="-122"/>
                <a:cs typeface="Segoe UI" pitchFamily="34" charset="-120"/>
              </a:rPr>
              <a:t>Reazione giusta + intonazione = 2 punti.</a:t>
            </a:r>
            <a:endParaRPr lang="en-US" sz="900" dirty="0"/>
          </a:p>
        </p:txBody>
      </p:sp>
      <p:sp>
        <p:nvSpPr>
          <p:cNvPr id="18" name="pf_466"/>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467" descr="/home/claude/lls-course/v2/cache/spare_life_celebrations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0" name="bd_468"/>
          <p:cNvSpPr/>
          <p:nvPr/>
        </p:nvSpPr>
        <p:spPr>
          <a:xfrm>
            <a:off x="3246120" y="149123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469"/>
          <p:cNvSpPr/>
          <p:nvPr/>
        </p:nvSpPr>
        <p:spPr>
          <a:xfrm>
            <a:off x="3657600" y="141732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"I've got tickets for the concert in Palermo!"</a:t>
            </a:r>
            <a:endParaRPr lang="en-US" sz="1100" dirty="0"/>
          </a:p>
        </p:txBody>
      </p:sp>
      <p:sp>
        <p:nvSpPr>
          <p:cNvPr id="22" name="R1_chip470"/>
          <p:cNvSpPr/>
          <p:nvPr/>
        </p:nvSpPr>
        <p:spPr>
          <a:xfrm>
            <a:off x="6263640" y="14173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How fantastic! Who are you going with?</a:t>
            </a:r>
            <a:endParaRPr lang="en-US" sz="1100" dirty="0"/>
          </a:p>
        </p:txBody>
      </p:sp>
      <p:sp>
        <p:nvSpPr>
          <p:cNvPr id="23" name="bd_471"/>
          <p:cNvSpPr/>
          <p:nvPr/>
        </p:nvSpPr>
        <p:spPr>
          <a:xfrm>
            <a:off x="3246120" y="203225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472"/>
          <p:cNvSpPr/>
          <p:nvPr/>
        </p:nvSpPr>
        <p:spPr>
          <a:xfrm>
            <a:off x="3657600" y="195834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 missed the last bus home."</a:t>
            </a:r>
            <a:endParaRPr lang="en-US" sz="1100" dirty="0"/>
          </a:p>
        </p:txBody>
      </p:sp>
      <p:sp>
        <p:nvSpPr>
          <p:cNvPr id="25" name="R2_chip473"/>
          <p:cNvSpPr/>
          <p:nvPr/>
        </p:nvSpPr>
        <p:spPr>
          <a:xfrm>
            <a:off x="6263640" y="195834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Oh no! What a pity. How did you get home?</a:t>
            </a:r>
            <a:endParaRPr lang="en-US" sz="1100" dirty="0"/>
          </a:p>
        </p:txBody>
      </p:sp>
      <p:sp>
        <p:nvSpPr>
          <p:cNvPr id="26" name="bd_474"/>
          <p:cNvSpPr/>
          <p:nvPr/>
        </p:nvSpPr>
        <p:spPr>
          <a:xfrm>
            <a:off x="3246120" y="257327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475"/>
          <p:cNvSpPr/>
          <p:nvPr/>
        </p:nvSpPr>
        <p:spPr>
          <a:xfrm>
            <a:off x="3657600" y="2499360"/>
            <a:ext cx="2514600" cy="477012"/>
          </a:xfrm>
          <a:prstGeom prst="roundRect">
            <a:avLst>
              <a:gd name="adj" fmla="val 19169"/>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"My nonna has started using TikTok!"</a:t>
            </a:r>
            <a:endParaRPr lang="en-US" sz="1100" dirty="0"/>
          </a:p>
        </p:txBody>
      </p:sp>
      <p:sp>
        <p:nvSpPr>
          <p:cNvPr id="28" name="R3_chip476"/>
          <p:cNvSpPr/>
          <p:nvPr/>
        </p:nvSpPr>
        <p:spPr>
          <a:xfrm>
            <a:off x="6263640" y="249936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Really? You're kidding! What does she post?</a:t>
            </a:r>
            <a:endParaRPr lang="en-US" sz="1100" dirty="0"/>
          </a:p>
        </p:txBody>
      </p:sp>
      <p:sp>
        <p:nvSpPr>
          <p:cNvPr id="29" name="bd_477"/>
          <p:cNvSpPr/>
          <p:nvPr/>
        </p:nvSpPr>
        <p:spPr>
          <a:xfrm>
            <a:off x="3246120" y="311429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478"/>
          <p:cNvSpPr/>
          <p:nvPr/>
        </p:nvSpPr>
        <p:spPr>
          <a:xfrm>
            <a:off x="3657600" y="3040380"/>
            <a:ext cx="2514600" cy="477012"/>
          </a:xfrm>
          <a:prstGeom prst="roundRect">
            <a:avLst>
              <a:gd name="adj" fmla="val 19169"/>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"Shall we have arancine for lunch?"</a:t>
            </a:r>
            <a:endParaRPr lang="en-US" sz="1100" dirty="0"/>
          </a:p>
        </p:txBody>
      </p:sp>
      <p:sp>
        <p:nvSpPr>
          <p:cNvPr id="31" name="R4_chip479"/>
          <p:cNvSpPr/>
          <p:nvPr/>
        </p:nvSpPr>
        <p:spPr>
          <a:xfrm>
            <a:off x="6263640" y="304038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What a great idea!</a:t>
            </a:r>
            <a:endParaRPr lang="en-US" sz="1100" dirty="0"/>
          </a:p>
        </p:txBody>
      </p:sp>
      <p:sp>
        <p:nvSpPr>
          <p:cNvPr id="32" name="bd_480"/>
          <p:cNvSpPr/>
          <p:nvPr/>
        </p:nvSpPr>
        <p:spPr>
          <a:xfrm>
            <a:off x="3246120" y="365531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481"/>
          <p:cNvSpPr/>
          <p:nvPr/>
        </p:nvSpPr>
        <p:spPr>
          <a:xfrm>
            <a:off x="3657600" y="358140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"Sorry, I forgot my homework!"</a:t>
            </a:r>
            <a:endParaRPr lang="en-US" sz="1100" dirty="0"/>
          </a:p>
        </p:txBody>
      </p:sp>
      <p:sp>
        <p:nvSpPr>
          <p:cNvPr id="34" name="R5_chip482"/>
          <p:cNvSpPr/>
          <p:nvPr/>
        </p:nvSpPr>
        <p:spPr>
          <a:xfrm>
            <a:off x="6263640" y="358140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Never mind. Bring it next time.</a:t>
            </a:r>
            <a:endParaRPr lang="en-US" sz="1100" dirty="0"/>
          </a:p>
        </p:txBody>
      </p:sp>
      <p:sp>
        <p:nvSpPr>
          <p:cNvPr id="35" name="bd_483"/>
          <p:cNvSpPr/>
          <p:nvPr/>
        </p:nvSpPr>
        <p:spPr>
          <a:xfrm>
            <a:off x="3246120" y="419633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6" name="gq_484"/>
          <p:cNvSpPr/>
          <p:nvPr/>
        </p:nvSpPr>
        <p:spPr>
          <a:xfrm>
            <a:off x="3657600" y="412242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"My cousin's getting married – in Australia!"</a:t>
            </a:r>
            <a:endParaRPr lang="en-US" sz="1100" dirty="0"/>
          </a:p>
        </p:txBody>
      </p:sp>
      <p:sp>
        <p:nvSpPr>
          <p:cNvPr id="37" name="R6_chip485"/>
          <p:cNvSpPr/>
          <p:nvPr/>
        </p:nvSpPr>
        <p:spPr>
          <a:xfrm>
            <a:off x="6263640" y="41224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That's great news! How did they meet?</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86"/>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487"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488"/>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250" dirty="0">
                <a:solidFill>
                  <a:srgbClr val="1B2559"/>
                </a:solidFill>
                <a:latin typeface="Arial Rounded MT Bold" pitchFamily="34" charset="0"/>
                <a:ea typeface="Arial Rounded MT Bold" pitchFamily="34" charset="-122"/>
                <a:cs typeface="Arial Rounded MT Bold" pitchFamily="34" charset="-120"/>
              </a:rPr>
              <a:t>Have you heard my news?</a:t>
            </a:r>
            <a:endParaRPr lang="en-US" sz="2250" dirty="0"/>
          </a:p>
        </p:txBody>
      </p:sp>
      <p:pic>
        <p:nvPicPr>
          <p:cNvPr id="6" name="brP_489"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490"/>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Tell your news. Your partner reacts!</a:t>
            </a:r>
            <a:endParaRPr lang="en-US" sz="1250" dirty="0"/>
          </a:p>
        </p:txBody>
      </p:sp>
      <p:sp>
        <p:nvSpPr>
          <p:cNvPr id="8" name="insIT_491"/>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Racconta la notizia. Il compagno reagisce!</a:t>
            </a:r>
            <a:endParaRPr lang="en-US" sz="950" dirty="0"/>
          </a:p>
        </p:txBody>
      </p:sp>
      <p:sp>
        <p:nvSpPr>
          <p:cNvPr id="9" name="cmd_492"/>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493"/>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sp>
        <p:nvSpPr>
          <p:cNvPr id="11" name="tag_494"/>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49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9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PE1 · Speaking · telling news and reacting   ·   📖 SB p.15 · 2f · Communication How awful! How fantastic! (A p.106, B p.111)</a:t>
            </a:r>
            <a:endParaRPr lang="en-US" sz="800" dirty="0"/>
          </a:p>
        </p:txBody>
      </p:sp>
      <p:sp>
        <p:nvSpPr>
          <p:cNvPr id="14" name="pf_497"/>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15" name="phx_498"/>
          <p:cNvSpPr/>
          <p:nvPr/>
        </p:nvSpPr>
        <p:spPr>
          <a:xfrm>
            <a:off x="365760" y="1417320"/>
            <a:ext cx="2697480" cy="178308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pe1-reactions.jpg</a:t>
            </a:r>
            <a:endParaRPr lang="en-US" sz="900" dirty="0"/>
          </a:p>
        </p:txBody>
      </p:sp>
      <p:sp>
        <p:nvSpPr>
          <p:cNvPr id="16" name="cd_499"/>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500"/>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501"/>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502"/>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Really? When / Where / Who…?</a:t>
            </a:r>
            <a:endParaRPr lang="en-US" sz="1050" dirty="0"/>
          </a:p>
          <a:p>
            <a:pPr marL="152400" indent="-152400">
              <a:spcBef>
                <a:spcPts val="500"/>
              </a:spcBef>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How did it happen?</a:t>
            </a:r>
            <a:endParaRPr lang="en-US" sz="1050" dirty="0"/>
          </a:p>
          <a:p>
            <a:pPr marL="152400" indent="-152400">
              <a:spcBef>
                <a:spcPts val="500"/>
              </a:spcBef>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Tell me more!</a:t>
            </a:r>
            <a:endParaRPr lang="en-US" sz="1050" dirty="0"/>
          </a:p>
        </p:txBody>
      </p:sp>
      <p:sp>
        <p:nvSpPr>
          <p:cNvPr id="20" name="R1_qb503"/>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504"/>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Some GOOD news</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I've passed my driving test! – How fantastic! When?</a:t>
            </a:r>
            <a:endParaRPr lang="en-US" sz="1250" dirty="0"/>
          </a:p>
        </p:txBody>
      </p:sp>
      <p:sp>
        <p:nvSpPr>
          <p:cNvPr id="22" name="R2_qb505"/>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506"/>
          <p:cNvSpPr/>
          <p:nvPr/>
        </p:nvSpPr>
        <p:spPr>
          <a:xfrm>
            <a:off x="3675888" y="2020824"/>
            <a:ext cx="51937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Some small BAD news</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I've lost my house keys. – Oh no! What a pity. Where?</a:t>
            </a:r>
            <a:endParaRPr lang="en-US" sz="1250" dirty="0"/>
          </a:p>
        </p:txBody>
      </p:sp>
      <p:sp>
        <p:nvSpPr>
          <p:cNvPr id="24" name="R3_qb507"/>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508"/>
          <p:cNvSpPr/>
          <p:nvPr/>
        </p:nvSpPr>
        <p:spPr>
          <a:xfrm>
            <a:off x="3675888" y="2624328"/>
            <a:ext cx="51937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Some SURPRISING news</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My little brother speaks Chinese! – You're kidding! Really?</a:t>
            </a:r>
            <a:endParaRPr lang="en-US" sz="1250" dirty="0"/>
          </a:p>
        </p:txBody>
      </p:sp>
      <p:sp>
        <p:nvSpPr>
          <p:cNvPr id="26" name="R4_qb509"/>
          <p:cNvSpPr/>
          <p:nvPr/>
        </p:nvSpPr>
        <p:spPr>
          <a:xfrm>
            <a:off x="3273552" y="326440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R4_sq510"/>
          <p:cNvSpPr/>
          <p:nvPr/>
        </p:nvSpPr>
        <p:spPr>
          <a:xfrm>
            <a:off x="3675888" y="3227832"/>
            <a:ext cx="5193792" cy="530352"/>
          </a:xfrm>
          <a:prstGeom prst="roundRect">
            <a:avLst>
              <a:gd name="adj" fmla="val 20690"/>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Some INTERESTING news</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I'm learning to make cannoli. – Really? How interesting!</a:t>
            </a:r>
            <a:endParaRPr lang="en-US" sz="1250" dirty="0"/>
          </a:p>
        </p:txBody>
      </p:sp>
      <p:sp>
        <p:nvSpPr>
          <p:cNvPr id="28" name="R5_qb511"/>
          <p:cNvSpPr/>
          <p:nvPr/>
        </p:nvSpPr>
        <p:spPr>
          <a:xfrm>
            <a:off x="3273552" y="3867912"/>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29" name="R5_sq512"/>
          <p:cNvSpPr/>
          <p:nvPr/>
        </p:nvSpPr>
        <p:spPr>
          <a:xfrm>
            <a:off x="3675888" y="3831336"/>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A SUGGESTION</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Shall we eat out on Friday? – What a great idea! Where?</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400"/>
                                        <p:tgtEl>
                                          <p:spTgt spid="28"/>
                                        </p:tgtEl>
                                      </p:cBhvr>
                                    </p:animEffect>
                                  </p:childTnLst>
                                </p:cTn>
                              </p:par>
                              <p:par>
                                <p:cTn id="40" presetID="10" presetClass="entr" presetSubtype="0" fill="hold"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13"/>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514" descr="/home/claude/lls-course/v2/assets/brush-yellow.png">    </p:cNvPr>
          <p:cNvPicPr>
            <a:picLocks noChangeAspect="1"/>
          </p:cNvPicPr>
          <p:nvPr/>
        </p:nvPicPr>
        <p:blipFill>
          <a:blip r:embed="rId2"/>
          <a:stretch>
            <a:fillRect/>
          </a:stretch>
        </p:blipFill>
        <p:spPr>
          <a:xfrm>
            <a:off x="1097280" y="146304"/>
            <a:ext cx="2618842" cy="621792"/>
          </a:xfrm>
          <a:prstGeom prst="rect">
            <a:avLst/>
          </a:prstGeom>
        </p:spPr>
      </p:pic>
      <p:sp>
        <p:nvSpPr>
          <p:cNvPr id="5" name="title_515"/>
          <p:cNvSpPr/>
          <p:nvPr/>
        </p:nvSpPr>
        <p:spPr>
          <a:xfrm>
            <a:off x="1261872" y="164592"/>
            <a:ext cx="234452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After dinner</a:t>
            </a:r>
            <a:endParaRPr lang="en-US" sz="2500" dirty="0"/>
          </a:p>
        </p:txBody>
      </p:sp>
      <p:pic>
        <p:nvPicPr>
          <p:cNvPr id="6" name="brP_516" descr="/home/claude/lls-course/v2/assets/brush-pink.png">    </p:cNvPr>
          <p:cNvPicPr>
            <a:picLocks noChangeAspect="1"/>
          </p:cNvPicPr>
          <p:nvPr/>
        </p:nvPicPr>
        <p:blipFill>
          <a:blip r:embed="rId3"/>
          <a:stretch>
            <a:fillRect/>
          </a:stretch>
        </p:blipFill>
        <p:spPr>
          <a:xfrm>
            <a:off x="1207008" y="731520"/>
            <a:ext cx="3598164" cy="402336"/>
          </a:xfrm>
          <a:prstGeom prst="rect">
            <a:avLst/>
          </a:prstGeom>
        </p:spPr>
      </p:pic>
      <p:sp>
        <p:nvSpPr>
          <p:cNvPr id="7" name="ins_517"/>
          <p:cNvSpPr/>
          <p:nvPr/>
        </p:nvSpPr>
        <p:spPr>
          <a:xfrm>
            <a:off x="1353312" y="731520"/>
            <a:ext cx="334213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Watch. Does the evening end well?</a:t>
            </a:r>
            <a:endParaRPr lang="en-US" sz="1250" dirty="0"/>
          </a:p>
        </p:txBody>
      </p:sp>
      <p:sp>
        <p:nvSpPr>
          <p:cNvPr id="8" name="insIT_518"/>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Guarda. La serata finisce bene?</a:t>
            </a:r>
            <a:endParaRPr lang="en-US" sz="950" dirty="0"/>
          </a:p>
        </p:txBody>
      </p:sp>
      <p:sp>
        <p:nvSpPr>
          <p:cNvPr id="9" name="cmd_519"/>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meta_520"/>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alone</a:t>
            </a:r>
            <a:endParaRPr lang="en-US" sz="950" dirty="0"/>
          </a:p>
        </p:txBody>
      </p:sp>
      <p:sp>
        <p:nvSpPr>
          <p:cNvPr id="11" name="tag_521"/>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gist</a:t>
            </a:r>
            <a:endParaRPr lang="en-US" sz="850" dirty="0"/>
          </a:p>
        </p:txBody>
      </p:sp>
      <p:pic>
        <p:nvPicPr>
          <p:cNvPr id="12" name="logo_52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2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PE1 · Video · Scene 2 · gist   ·   📖 SB p.15 · 3a · video Scene 2 / audio 1.30</a:t>
            </a:r>
            <a:endParaRPr lang="en-US" sz="800" dirty="0"/>
          </a:p>
        </p:txBody>
      </p:sp>
      <p:sp>
        <p:nvSpPr>
          <p:cNvPr id="14" name="ap_524"/>
          <p:cNvSpPr/>
          <p:nvPr/>
        </p:nvSpPr>
        <p:spPr>
          <a:xfrm>
            <a:off x="365760" y="1417320"/>
            <a:ext cx="26517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1.30  ·  🎬 video: Scene 2 · once</a:t>
            </a:r>
            <a:endParaRPr lang="en-US" sz="1100" dirty="0"/>
          </a:p>
        </p:txBody>
      </p:sp>
      <p:sp>
        <p:nvSpPr>
          <p:cNvPr id="15" name="ah_525"/>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6"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7"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8" name="ah2_526"/>
          <p:cNvSpPr/>
          <p:nvPr/>
        </p:nvSpPr>
        <p:spPr>
          <a:xfrm>
            <a:off x="3090672" y="1417320"/>
            <a:ext cx="1737360" cy="402336"/>
          </a:xfrm>
          <a:prstGeom prst="rect">
            <a:avLst/>
          </a:prstGeom>
          <a:noFill/>
          <a:ln/>
        </p:spPr>
        <p:txBody>
          <a:bodyPr wrap="square" lIns="0" tIns="0" rIns="0" bIns="0" rtlCol="0" anchor="ctr"/>
          <a:lstStyle/>
          <a:p>
            <a:pPr indent="0" marL="0">
              <a:buNone/>
            </a:pPr>
            <a:r>
              <a:rPr lang="en-US" sz="900" i="1" dirty="0">
                <a:solidFill>
                  <a:srgbClr val="5B6785"/>
                </a:solidFill>
                <a:latin typeface="Segoe UI" pitchFamily="34" charset="0"/>
                <a:ea typeface="Segoe UI" pitchFamily="34" charset="-122"/>
                <a:cs typeface="Segoe UI" pitchFamily="34" charset="-120"/>
              </a:rPr>
              <a:t>↘ speaker bottom right</a:t>
            </a:r>
            <a:endParaRPr lang="en-US" sz="900" dirty="0"/>
          </a:p>
        </p:txBody>
      </p:sp>
      <p:sp>
        <p:nvSpPr>
          <p:cNvPr id="19" name="pf_527"/>
          <p:cNvSpPr/>
          <p:nvPr/>
        </p:nvSpPr>
        <p:spPr>
          <a:xfrm rot="-90000">
            <a:off x="41148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0" name="phx_528"/>
          <p:cNvSpPr/>
          <p:nvPr/>
        </p:nvSpPr>
        <p:spPr>
          <a:xfrm>
            <a:off x="457200" y="2103120"/>
            <a:ext cx="1691640" cy="12344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pe1-dinner.jpg</a:t>
            </a:r>
            <a:endParaRPr lang="en-US" sz="900" dirty="0"/>
          </a:p>
        </p:txBody>
      </p:sp>
      <p:sp>
        <p:nvSpPr>
          <p:cNvPr id="21" name="bd_529"/>
          <p:cNvSpPr/>
          <p:nvPr/>
        </p:nvSpPr>
        <p:spPr>
          <a:xfrm>
            <a:off x="310896" y="1956816"/>
            <a:ext cx="420624" cy="42062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A</a:t>
            </a:r>
            <a:endParaRPr lang="en-US" sz="1400" dirty="0"/>
          </a:p>
        </p:txBody>
      </p:sp>
      <p:sp>
        <p:nvSpPr>
          <p:cNvPr id="22" name="pf_530"/>
          <p:cNvSpPr/>
          <p:nvPr/>
        </p:nvSpPr>
        <p:spPr>
          <a:xfrm rot="90000">
            <a:off x="228600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3" name="phx_531"/>
          <p:cNvSpPr/>
          <p:nvPr/>
        </p:nvSpPr>
        <p:spPr>
          <a:xfrm>
            <a:off x="2331720" y="2103120"/>
            <a:ext cx="1691640" cy="12344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pe1-graduation.jpg</a:t>
            </a:r>
            <a:endParaRPr lang="en-US" sz="900" dirty="0"/>
          </a:p>
        </p:txBody>
      </p:sp>
      <p:sp>
        <p:nvSpPr>
          <p:cNvPr id="24" name="bd_532"/>
          <p:cNvSpPr/>
          <p:nvPr/>
        </p:nvSpPr>
        <p:spPr>
          <a:xfrm>
            <a:off x="2185416" y="1956816"/>
            <a:ext cx="420624" cy="42062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B</a:t>
            </a:r>
            <a:endParaRPr lang="en-US" sz="1400" dirty="0"/>
          </a:p>
        </p:txBody>
      </p:sp>
      <p:sp>
        <p:nvSpPr>
          <p:cNvPr id="25" name="cd_533"/>
          <p:cNvSpPr/>
          <p:nvPr/>
        </p:nvSpPr>
        <p:spPr>
          <a:xfrm>
            <a:off x="365760" y="3611880"/>
            <a:ext cx="5440680" cy="1097280"/>
          </a:xfrm>
          <a:prstGeom prst="roundRect">
            <a:avLst>
              <a:gd name="adj" fmla="val 11667"/>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26" name="ii_534"/>
          <p:cNvSpPr/>
          <p:nvPr/>
        </p:nvSpPr>
        <p:spPr>
          <a:xfrm>
            <a:off x="457200" y="36850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7" name="ih_535"/>
          <p:cNvSpPr/>
          <p:nvPr/>
        </p:nvSpPr>
        <p:spPr>
          <a:xfrm>
            <a:off x="932688" y="3703320"/>
            <a:ext cx="48006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While you listen</a:t>
            </a:r>
            <a:endParaRPr lang="en-US" sz="1300" dirty="0"/>
          </a:p>
        </p:txBody>
      </p:sp>
      <p:sp>
        <p:nvSpPr>
          <p:cNvPr id="28" name="il_536"/>
          <p:cNvSpPr/>
          <p:nvPr/>
        </p:nvSpPr>
        <p:spPr>
          <a:xfrm>
            <a:off x="932688" y="4087368"/>
            <a:ext cx="47823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700" dirty="0">
                <a:solidFill>
                  <a:srgbClr val="1B2559"/>
                </a:solidFill>
                <a:latin typeface="Segoe UI" pitchFamily="34" charset="0"/>
                <a:ea typeface="Segoe UI" pitchFamily="34" charset="-122"/>
                <a:cs typeface="Segoe UI" pitchFamily="34" charset="-120"/>
              </a:rPr>
              <a:t>Look at A and B. What are they talking about?</a:t>
            </a:r>
            <a:endParaRPr lang="en-US" sz="700" dirty="0"/>
          </a:p>
          <a:p>
            <a:pPr marL="152400" indent="-152400">
              <a:spcAft>
                <a:spcPts val="200"/>
              </a:spcAft>
              <a:buSzPct val="100000"/>
              <a:buChar char="​"/>
            </a:pPr>
            <a:r>
              <a:rPr lang="en-US" sz="700" i="1" dirty="0">
                <a:solidFill>
                  <a:srgbClr val="5B6785"/>
                </a:solidFill>
                <a:latin typeface="Segoe UI" pitchFamily="34" charset="0"/>
                <a:ea typeface="Segoe UI" pitchFamily="34" charset="-122"/>
                <a:cs typeface="Segoe UI" pitchFamily="34" charset="-120"/>
              </a:rPr>
              <a:t>Guarda A e B. Di cosa parlano?</a:t>
            </a:r>
            <a:endParaRPr lang="en-US" sz="700" dirty="0"/>
          </a:p>
          <a:p>
            <a:pPr marL="152400" indent="-152400">
              <a:spcBef>
                <a:spcPts val="500"/>
              </a:spcBef>
              <a:spcAft>
                <a:spcPts val="200"/>
              </a:spcAft>
              <a:buSzPct val="100000"/>
              <a:buChar char="•"/>
            </a:pPr>
            <a:r>
              <a:rPr lang="en-US" sz="700" dirty="0">
                <a:solidFill>
                  <a:srgbClr val="1B2559"/>
                </a:solidFill>
                <a:latin typeface="Segoe UI" pitchFamily="34" charset="0"/>
                <a:ea typeface="Segoe UI" pitchFamily="34" charset="-122"/>
                <a:cs typeface="Segoe UI" pitchFamily="34" charset="-120"/>
              </a:rPr>
              <a:t>Watch once. Well or badly?</a:t>
            </a:r>
            <a:endParaRPr lang="en-US" sz="700" dirty="0"/>
          </a:p>
          <a:p>
            <a:pPr marL="152400" indent="-152400">
              <a:spcAft>
                <a:spcPts val="200"/>
              </a:spcAft>
              <a:buSzPct val="100000"/>
              <a:buChar char="​"/>
            </a:pPr>
            <a:r>
              <a:rPr lang="en-US" sz="700" i="1" dirty="0">
                <a:solidFill>
                  <a:srgbClr val="5B6785"/>
                </a:solidFill>
                <a:latin typeface="Segoe UI" pitchFamily="34" charset="0"/>
                <a:ea typeface="Segoe UI" pitchFamily="34" charset="-122"/>
                <a:cs typeface="Segoe UI" pitchFamily="34" charset="-120"/>
              </a:rPr>
              <a:t>Guarda una volta. Bene o male?</a:t>
            </a:r>
            <a:endParaRPr lang="en-US" sz="700" dirty="0"/>
          </a:p>
        </p:txBody>
      </p:sp>
      <p:sp>
        <p:nvSpPr>
          <p:cNvPr id="29" name="lq_537"/>
          <p:cNvSpPr/>
          <p:nvPr/>
        </p:nvSpPr>
        <p:spPr>
          <a:xfrm>
            <a:off x="6035040" y="2103120"/>
            <a:ext cx="1234440" cy="566928"/>
          </a:xfrm>
          <a:prstGeom prst="roundRect">
            <a:avLst>
              <a:gd name="adj" fmla="val 16129"/>
            </a:avLst>
          </a:prstGeom>
          <a:solidFill>
            <a:srgbClr val="FFFFFF"/>
          </a:solidFill>
          <a:ln w="19050">
            <a:solidFill>
              <a:srgbClr val="F7A6C4"/>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The evening ends…</a:t>
            </a:r>
            <a:endParaRPr lang="en-US" sz="1100" dirty="0"/>
          </a:p>
        </p:txBody>
      </p:sp>
      <p:sp>
        <p:nvSpPr>
          <p:cNvPr id="30" name="R1_chip538"/>
          <p:cNvSpPr/>
          <p:nvPr/>
        </p:nvSpPr>
        <p:spPr>
          <a:xfrm>
            <a:off x="7315200" y="2103120"/>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well! 😊</a:t>
            </a:r>
            <a:endParaRPr lang="en-US" sz="1050" dirty="0"/>
          </a:p>
        </p:txBody>
      </p:sp>
      <p:sp>
        <p:nvSpPr>
          <p:cNvPr id="31" name="lq_539"/>
          <p:cNvSpPr/>
          <p:nvPr/>
        </p:nvSpPr>
        <p:spPr>
          <a:xfrm>
            <a:off x="6035040" y="2761488"/>
            <a:ext cx="1234440" cy="566928"/>
          </a:xfrm>
          <a:prstGeom prst="roundRect">
            <a:avLst>
              <a:gd name="adj" fmla="val 16129"/>
            </a:avLst>
          </a:prstGeom>
          <a:solidFill>
            <a:srgbClr val="FFFFFF"/>
          </a:solidFill>
          <a:ln w="19050">
            <a:solidFill>
              <a:srgbClr val="A9D3F5"/>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Who's Harry?</a:t>
            </a:r>
            <a:endParaRPr lang="en-US" sz="1100" dirty="0"/>
          </a:p>
        </p:txBody>
      </p:sp>
      <p:sp>
        <p:nvSpPr>
          <p:cNvPr id="32" name="R2_chip540"/>
          <p:cNvSpPr/>
          <p:nvPr/>
        </p:nvSpPr>
        <p:spPr>
          <a:xfrm>
            <a:off x="7315200" y="2761488"/>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Jenny's dad</a:t>
            </a:r>
            <a:endParaRPr lang="en-US" sz="1050" dirty="0"/>
          </a:p>
        </p:txBody>
      </p:sp>
      <p:sp>
        <p:nvSpPr>
          <p:cNvPr id="33" name="lq_541"/>
          <p:cNvSpPr/>
          <p:nvPr/>
        </p:nvSpPr>
        <p:spPr>
          <a:xfrm>
            <a:off x="6035040" y="3419856"/>
            <a:ext cx="1234440" cy="566928"/>
          </a:xfrm>
          <a:prstGeom prst="roundRect">
            <a:avLst>
              <a:gd name="adj" fmla="val 16129"/>
            </a:avLst>
          </a:prstGeom>
          <a:solidFill>
            <a:srgbClr val="FFFFFF"/>
          </a:solidFill>
          <a:ln w="19050">
            <a:solidFill>
              <a:srgbClr val="A8E5BE"/>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Photo B: who?</a:t>
            </a:r>
            <a:endParaRPr lang="en-US" sz="1100" dirty="0"/>
          </a:p>
        </p:txBody>
      </p:sp>
      <p:sp>
        <p:nvSpPr>
          <p:cNvPr id="34" name="R3_chip542"/>
          <p:cNvSpPr/>
          <p:nvPr/>
        </p:nvSpPr>
        <p:spPr>
          <a:xfrm>
            <a:off x="7315200" y="3419856"/>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Jenny – at Harvard</a:t>
            </a:r>
            <a:endParaRPr lang="en-US" sz="1050" dirty="0"/>
          </a:p>
        </p:txBody>
      </p:sp>
      <p:sp>
        <p:nvSpPr>
          <p:cNvPr id="35" name="lq_543"/>
          <p:cNvSpPr/>
          <p:nvPr/>
        </p:nvSpPr>
        <p:spPr>
          <a:xfrm>
            <a:off x="6035040" y="4078224"/>
            <a:ext cx="1234440" cy="566928"/>
          </a:xfrm>
          <a:prstGeom prst="roundRect">
            <a:avLst>
              <a:gd name="adj" fmla="val 16129"/>
            </a:avLst>
          </a:prstGeom>
          <a:solidFill>
            <a:srgbClr val="FFFFFF"/>
          </a:solidFill>
          <a:ln w="19050">
            <a:solidFill>
              <a:srgbClr val="FFE07A"/>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They talk about…</a:t>
            </a:r>
            <a:endParaRPr lang="en-US" sz="1100" dirty="0"/>
          </a:p>
        </p:txBody>
      </p:sp>
      <p:sp>
        <p:nvSpPr>
          <p:cNvPr id="36" name="R4_chip544"/>
          <p:cNvSpPr/>
          <p:nvPr/>
        </p:nvSpPr>
        <p:spPr>
          <a:xfrm>
            <a:off x="7315200" y="4078224"/>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Jenny, Rob's job, Harry's photos</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4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4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4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16"/>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6"/>
                                        </p:tgtEl>
                                      </p:cBhvr>
                                    </p:cmd>
                                  </p:childTnLst>
                                </p:cTn>
                              </p:par>
                            </p:childTnLst>
                          </p:cTn>
                        </p:par>
                      </p:childTnLst>
                    </p:cTn>
                  </p:par>
                </p:childTnLst>
              </p:cTn>
              <p:nextCondLst>
                <p:cond evt="onClick" delay="0">
                  <p:tgtEl>
                    <p:spTgt spid="16"/>
                  </p:tgtEl>
                </p:cond>
              </p:nextCondLst>
            </p:seq>
            <p:seq concurrent="1" nextAc="seek">
              <p:cTn id="28" restart="whenNotActive" fill="hold" evtFilter="cancelBubble" nodeType="interactiveSeq">
                <p:stCondLst>
                  <p:cond evt="onClick" delay="0">
                    <p:tgtEl>
                      <p:spTgt spid="17"/>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7"/>
                                        </p:tgtEl>
                                      </p:cBhvr>
                                    </p:cmd>
                                  </p:childTnLst>
                                </p:cTn>
                              </p:par>
                            </p:childTnLst>
                          </p:cTn>
                        </p:par>
                      </p:childTnLst>
                    </p:cTn>
                  </p:par>
                </p:childTnLst>
              </p:cTn>
              <p:nextCondLst>
                <p:cond evt="onClick" delay="0">
                  <p:tgtEl>
                    <p:spTgt spid="17"/>
                  </p:tgtEl>
                </p:cond>
              </p:nextCondLst>
            </p:seq>
            <p:audio>
              <p:cMediaNode vol="80000">
                <p:cTn id="33" fill="hold" display="0">
                  <p:stCondLst>
                    <p:cond delay="indefinite"/>
                  </p:stCondLst>
                  <p:endCondLst>
                    <p:cond evt="onStopAudio" delay="0">
                      <p:tgtEl>
                        <p:sldTgt/>
                      </p:tgtEl>
                    </p:cond>
                  </p:endCondLst>
                </p:cTn>
                <p:tgtEl>
                  <p:spTgt spid="16"/>
                </p:tgtEl>
              </p:cMediaNode>
            </p:audio>
            <p:audio>
              <p:cMediaNode vol="80000">
                <p:cTn id="34" fill="hold" display="0">
                  <p:stCondLst>
                    <p:cond delay="indefinite"/>
                  </p:stCondLst>
                  <p:endCondLst>
                    <p:cond evt="onStopAudio" delay="0">
                      <p:tgtEl>
                        <p:sldTgt/>
                      </p:tgtEl>
                    </p:cond>
                  </p:endCondLst>
                </p:cTn>
                <p:tgtEl>
                  <p:spTgt spid="17"/>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45"/>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17</a:t>
            </a:r>
            <a:endParaRPr lang="en-US" sz="2200" dirty="0"/>
          </a:p>
        </p:txBody>
      </p:sp>
      <p:pic>
        <p:nvPicPr>
          <p:cNvPr id="4" name="brY_546" descr="/home/claude/lls-course/v2/assets/brush-yellow.png">    </p:cNvPr>
          <p:cNvPicPr>
            <a:picLocks noChangeAspect="1"/>
          </p:cNvPicPr>
          <p:nvPr/>
        </p:nvPicPr>
        <p:blipFill>
          <a:blip r:embed="rId2"/>
          <a:stretch>
            <a:fillRect/>
          </a:stretch>
        </p:blipFill>
        <p:spPr>
          <a:xfrm>
            <a:off x="1097280" y="146304"/>
            <a:ext cx="3877056" cy="621792"/>
          </a:xfrm>
          <a:prstGeom prst="rect">
            <a:avLst/>
          </a:prstGeom>
        </p:spPr>
      </p:pic>
      <p:sp>
        <p:nvSpPr>
          <p:cNvPr id="5" name="title_547"/>
          <p:cNvSpPr/>
          <p:nvPr/>
        </p:nvSpPr>
        <p:spPr>
          <a:xfrm>
            <a:off x="1261872" y="164592"/>
            <a:ext cx="360273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Harry finds out more</a:t>
            </a:r>
            <a:endParaRPr lang="en-US" sz="2500" dirty="0"/>
          </a:p>
        </p:txBody>
      </p:sp>
      <p:pic>
        <p:nvPicPr>
          <p:cNvPr id="6" name="brP_548" descr="/home/claude/lls-course/v2/assets/brush-pink.png">    </p:cNvPr>
          <p:cNvPicPr>
            <a:picLocks noChangeAspect="1"/>
          </p:cNvPicPr>
          <p:nvPr/>
        </p:nvPicPr>
        <p:blipFill>
          <a:blip r:embed="rId3"/>
          <a:stretch>
            <a:fillRect/>
          </a:stretch>
        </p:blipFill>
        <p:spPr>
          <a:xfrm>
            <a:off x="1207008" y="731520"/>
            <a:ext cx="3250692" cy="402336"/>
          </a:xfrm>
          <a:prstGeom prst="rect">
            <a:avLst/>
          </a:prstGeom>
        </p:spPr>
      </p:pic>
      <p:sp>
        <p:nvSpPr>
          <p:cNvPr id="7" name="ins_549"/>
          <p:cNvSpPr/>
          <p:nvPr/>
        </p:nvSpPr>
        <p:spPr>
          <a:xfrm>
            <a:off x="1353312" y="731520"/>
            <a:ext cx="299466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Answer 1–6. Then watch again.</a:t>
            </a:r>
            <a:endParaRPr lang="en-US" sz="1250" dirty="0"/>
          </a:p>
        </p:txBody>
      </p:sp>
      <p:sp>
        <p:nvSpPr>
          <p:cNvPr id="8" name="insIT_550"/>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Rispondi 1–6. Poi riguarda.</a:t>
            </a:r>
            <a:endParaRPr lang="en-US" sz="950" dirty="0"/>
          </a:p>
        </p:txBody>
      </p:sp>
      <p:sp>
        <p:nvSpPr>
          <p:cNvPr id="9" name="cmd_551"/>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552"/>
          <p:cNvSpPr/>
          <p:nvPr/>
        </p:nvSpPr>
        <p:spPr>
          <a:xfrm>
            <a:off x="6510528" y="566928"/>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1" name="meta_553"/>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554"/>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detail</a:t>
            </a:r>
            <a:endParaRPr lang="en-US" sz="850" dirty="0"/>
          </a:p>
        </p:txBody>
      </p:sp>
      <p:pic>
        <p:nvPicPr>
          <p:cNvPr id="13" name="logo_55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55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PE1 · Video · Scene 2 · detail   ·   📖 SB p.15 · 3b · video Scene 2 / audio 1.30</a:t>
            </a:r>
            <a:endParaRPr lang="en-US" sz="800" dirty="0"/>
          </a:p>
        </p:txBody>
      </p:sp>
      <p:sp>
        <p:nvSpPr>
          <p:cNvPr id="15" name="ap_557"/>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1.30  ·  🎬 watch Scene 2 again</a:t>
            </a:r>
            <a:endParaRPr lang="en-US" sz="1100" dirty="0"/>
          </a:p>
        </p:txBody>
      </p:sp>
      <p:sp>
        <p:nvSpPr>
          <p:cNvPr id="16" name="ah_558"/>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9" name="pf_559"/>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0" name="phx_560"/>
          <p:cNvSpPr/>
          <p:nvPr/>
        </p:nvSpPr>
        <p:spPr>
          <a:xfrm>
            <a:off x="457200" y="2103120"/>
            <a:ext cx="2606040" cy="16916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pe1-dinner.jpg</a:t>
            </a:r>
            <a:endParaRPr lang="en-US" sz="900" dirty="0"/>
          </a:p>
        </p:txBody>
      </p:sp>
      <p:sp>
        <p:nvSpPr>
          <p:cNvPr id="21" name="cd_561"/>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2" name="ii_562"/>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ih_563"/>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4" name="il_564"/>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5" name="gq_565"/>
          <p:cNvSpPr/>
          <p:nvPr/>
        </p:nvSpPr>
        <p:spPr>
          <a:xfrm>
            <a:off x="3383280" y="1417320"/>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What university did Jenny go to?</a:t>
            </a:r>
            <a:endParaRPr lang="en-US" sz="1200" dirty="0"/>
          </a:p>
        </p:txBody>
      </p:sp>
      <p:sp>
        <p:nvSpPr>
          <p:cNvPr id="26" name="R1_chip566"/>
          <p:cNvSpPr/>
          <p:nvPr/>
        </p:nvSpPr>
        <p:spPr>
          <a:xfrm>
            <a:off x="6812280" y="141732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Harvard</a:t>
            </a:r>
            <a:endParaRPr lang="en-US" sz="1200" dirty="0"/>
          </a:p>
        </p:txBody>
      </p:sp>
      <p:sp>
        <p:nvSpPr>
          <p:cNvPr id="27" name="gq_567"/>
          <p:cNvSpPr/>
          <p:nvPr/>
        </p:nvSpPr>
        <p:spPr>
          <a:xfrm>
            <a:off x="3383280" y="1938528"/>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Is Harry impressed by Rob's job? Why?</a:t>
            </a:r>
            <a:endParaRPr lang="en-US" sz="1200" dirty="0"/>
          </a:p>
        </p:txBody>
      </p:sp>
      <p:sp>
        <p:nvSpPr>
          <p:cNvPr id="28" name="R2_chip568"/>
          <p:cNvSpPr/>
          <p:nvPr/>
        </p:nvSpPr>
        <p:spPr>
          <a:xfrm>
            <a:off x="6812280" y="1938528"/>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No – writing doesn't always pay the bills</a:t>
            </a:r>
            <a:endParaRPr lang="en-US" sz="1200" dirty="0"/>
          </a:p>
        </p:txBody>
      </p:sp>
      <p:sp>
        <p:nvSpPr>
          <p:cNvPr id="29" name="gq_569"/>
          <p:cNvSpPr/>
          <p:nvPr/>
        </p:nvSpPr>
        <p:spPr>
          <a:xfrm>
            <a:off x="3383280" y="2459736"/>
            <a:ext cx="333756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  What does Harry like doing?</a:t>
            </a:r>
            <a:endParaRPr lang="en-US" sz="1200" dirty="0"/>
          </a:p>
        </p:txBody>
      </p:sp>
      <p:sp>
        <p:nvSpPr>
          <p:cNvPr id="30" name="R3_chip570"/>
          <p:cNvSpPr/>
          <p:nvPr/>
        </p:nvSpPr>
        <p:spPr>
          <a:xfrm>
            <a:off x="6812280" y="2459736"/>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taking photographs</a:t>
            </a:r>
            <a:endParaRPr lang="en-US" sz="1200" dirty="0"/>
          </a:p>
        </p:txBody>
      </p:sp>
      <p:sp>
        <p:nvSpPr>
          <p:cNvPr id="31" name="gq_571"/>
          <p:cNvSpPr/>
          <p:nvPr/>
        </p:nvSpPr>
        <p:spPr>
          <a:xfrm>
            <a:off x="3383280" y="2980944"/>
            <a:ext cx="333756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  Who are most of the photos of?</a:t>
            </a:r>
            <a:endParaRPr lang="en-US" sz="1200" dirty="0"/>
          </a:p>
        </p:txBody>
      </p:sp>
      <p:sp>
        <p:nvSpPr>
          <p:cNvPr id="32" name="R4_chip572"/>
          <p:cNvSpPr/>
          <p:nvPr/>
        </p:nvSpPr>
        <p:spPr>
          <a:xfrm>
            <a:off x="6812280" y="2980944"/>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Jenny</a:t>
            </a:r>
            <a:endParaRPr lang="en-US" sz="1200" dirty="0"/>
          </a:p>
        </p:txBody>
      </p:sp>
      <p:sp>
        <p:nvSpPr>
          <p:cNvPr id="33" name="gq_573"/>
          <p:cNvSpPr/>
          <p:nvPr/>
        </p:nvSpPr>
        <p:spPr>
          <a:xfrm>
            <a:off x="3383280" y="3502152"/>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5  Miles Davis, Coltrane, Marsalis: who?</a:t>
            </a:r>
            <a:endParaRPr lang="en-US" sz="1200" dirty="0"/>
          </a:p>
        </p:txBody>
      </p:sp>
      <p:sp>
        <p:nvSpPr>
          <p:cNvPr id="34" name="R5_chip574"/>
          <p:cNvSpPr/>
          <p:nvPr/>
        </p:nvSpPr>
        <p:spPr>
          <a:xfrm>
            <a:off x="6812280" y="3502152"/>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famous jazz musicians</a:t>
            </a:r>
            <a:endParaRPr lang="en-US" sz="1200" dirty="0"/>
          </a:p>
        </p:txBody>
      </p:sp>
      <p:sp>
        <p:nvSpPr>
          <p:cNvPr id="35" name="gq_575"/>
          <p:cNvSpPr/>
          <p:nvPr/>
        </p:nvSpPr>
        <p:spPr>
          <a:xfrm>
            <a:off x="3383280" y="4023360"/>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6  What surprises Harry about Rob?</a:t>
            </a:r>
            <a:endParaRPr lang="en-US" sz="1200" dirty="0"/>
          </a:p>
        </p:txBody>
      </p:sp>
      <p:sp>
        <p:nvSpPr>
          <p:cNvPr id="36" name="R6_chip576"/>
          <p:cNvSpPr/>
          <p:nvPr/>
        </p:nvSpPr>
        <p:spPr>
          <a:xfrm>
            <a:off x="6812280" y="402336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He's interviewed Marsalis!</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17"/>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7"/>
                                        </p:tgtEl>
                                      </p:cBhvr>
                                    </p:cmd>
                                  </p:childTnLst>
                                </p:cTn>
                              </p:par>
                            </p:childTnLst>
                          </p:cTn>
                        </p:par>
                      </p:childTnLst>
                    </p:cTn>
                  </p:par>
                </p:childTnLst>
              </p:cTn>
              <p:nextCondLst>
                <p:cond evt="onClick" delay="0">
                  <p:tgtEl>
                    <p:spTgt spid="17"/>
                  </p:tgtEl>
                </p:cond>
              </p:nextCondLst>
            </p:seq>
            <p:seq concurrent="1" nextAc="seek">
              <p:cTn id="38" restart="whenNotActive" fill="hold" evtFilter="cancelBubble" nodeType="interactiveSeq">
                <p:stCondLst>
                  <p:cond evt="onClick" delay="0">
                    <p:tgtEl>
                      <p:spTgt spid="18"/>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8"/>
                                        </p:tgtEl>
                                      </p:cBhvr>
                                    </p:cmd>
                                  </p:childTnLst>
                                </p:cTn>
                              </p:par>
                            </p:childTnLst>
                          </p:cTn>
                        </p:par>
                      </p:childTnLst>
                    </p:cTn>
                  </p:par>
                </p:childTnLst>
              </p:cTn>
              <p:nextCondLst>
                <p:cond evt="onClick" delay="0">
                  <p:tgtEl>
                    <p:spTgt spid="18"/>
                  </p:tgtEl>
                </p:cond>
              </p:nextCondLst>
            </p:seq>
            <p:audio>
              <p:cMediaNode vol="80000">
                <p:cTn id="43" fill="hold" display="0">
                  <p:stCondLst>
                    <p:cond delay="indefinite"/>
                  </p:stCondLst>
                  <p:endCondLst>
                    <p:cond evt="onStopAudio" delay="0">
                      <p:tgtEl>
                        <p:sldTgt/>
                      </p:tgtEl>
                    </p:cond>
                  </p:endCondLst>
                </p:cTn>
                <p:tgtEl>
                  <p:spTgt spid="17"/>
                </p:tgtEl>
              </p:cMediaNode>
            </p:audio>
            <p:audio>
              <p:cMediaNode vol="80000">
                <p:cTn id="44" fill="hold" display="0">
                  <p:stCondLst>
                    <p:cond delay="indefinite"/>
                  </p:stCondLst>
                  <p:endCondLst>
                    <p:cond evt="onStopAudio" delay="0">
                      <p:tgtEl>
                        <p:sldTgt/>
                      </p:tgtEl>
                    </p:cond>
                  </p:endCondLst>
                </p:cTn>
                <p:tgtEl>
                  <p:spTgt spid="18"/>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7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18</a:t>
            </a:r>
            <a:endParaRPr lang="en-US" sz="2200" dirty="0"/>
          </a:p>
        </p:txBody>
      </p:sp>
      <p:pic>
        <p:nvPicPr>
          <p:cNvPr id="4" name="brY_578"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579"/>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Social English</a:t>
            </a:r>
            <a:endParaRPr lang="en-US" sz="2500" dirty="0"/>
          </a:p>
        </p:txBody>
      </p:sp>
      <p:pic>
        <p:nvPicPr>
          <p:cNvPr id="6" name="brP_580"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581"/>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Remember the missing words? Listen.</a:t>
            </a:r>
            <a:endParaRPr lang="en-US" sz="1250" dirty="0"/>
          </a:p>
        </p:txBody>
      </p:sp>
      <p:sp>
        <p:nvSpPr>
          <p:cNvPr id="8" name="insIT_58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Ricordi le parole mancanti? Ascolta.</a:t>
            </a:r>
            <a:endParaRPr lang="en-US" sz="950" dirty="0"/>
          </a:p>
        </p:txBody>
      </p:sp>
      <p:sp>
        <p:nvSpPr>
          <p:cNvPr id="9" name="cmd_583"/>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584"/>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1" name="meta_585"/>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pic>
        <p:nvPicPr>
          <p:cNvPr id="12" name="logo_58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8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PE1 · Social English · phrases   ·   📖 SB p.15 · 3c, 3d · video Social English / audio 1.31</a:t>
            </a:r>
            <a:endParaRPr lang="en-US" sz="800" dirty="0"/>
          </a:p>
        </p:txBody>
      </p:sp>
      <p:sp>
        <p:nvSpPr>
          <p:cNvPr id="14" name="ap_588"/>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1.31  ·  🎬 Social English clip</a:t>
            </a:r>
            <a:endParaRPr lang="en-US" sz="1100" dirty="0"/>
          </a:p>
        </p:txBody>
      </p:sp>
      <p:sp>
        <p:nvSpPr>
          <p:cNvPr id="15" name="aw_589"/>
          <p:cNvSpPr/>
          <p:nvPr/>
        </p:nvSpPr>
        <p:spPr>
          <a:xfrm>
            <a:off x="365760" y="1837944"/>
            <a:ext cx="2194560" cy="219456"/>
          </a:xfrm>
          <a:prstGeom prst="rect">
            <a:avLst/>
          </a:prstGeom>
          <a:noFill/>
          <a:ln/>
        </p:spPr>
        <p:txBody>
          <a:bodyPr wrap="square" lIns="0" tIns="0" rIns="0" bIns="0" rtlCol="0" anchor="ctr"/>
          <a:lstStyle/>
          <a:p>
            <a:pPr indent="0" marL="0">
              <a:buNone/>
            </a:pPr>
            <a:r>
              <a:rPr lang="en-US" sz="900" dirty="0">
                <a:solidFill>
                  <a:srgbClr val="C2410C"/>
                </a:solidFill>
                <a:latin typeface="Segoe UI Semibold" pitchFamily="34" charset="0"/>
                <a:ea typeface="Segoe UI Semibold" pitchFamily="34" charset="-122"/>
                <a:cs typeface="Segoe UI Semibold" pitchFamily="34" charset="-120"/>
              </a:rPr>
              <a:t>⚠ Play it from the book audio</a:t>
            </a:r>
            <a:endParaRPr lang="en-US" sz="900" dirty="0"/>
          </a:p>
        </p:txBody>
      </p:sp>
      <p:sp>
        <p:nvSpPr>
          <p:cNvPr id="16" name="pf_590"/>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17" name="phx_591"/>
          <p:cNvSpPr/>
          <p:nvPr/>
        </p:nvSpPr>
        <p:spPr>
          <a:xfrm>
            <a:off x="457200" y="2103120"/>
            <a:ext cx="2606040" cy="16916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pe1-photography.jpg</a:t>
            </a:r>
            <a:endParaRPr lang="en-US" sz="900" dirty="0"/>
          </a:p>
        </p:txBody>
      </p:sp>
      <p:sp>
        <p:nvSpPr>
          <p:cNvPr id="18" name="cd_592"/>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9" name="ii_593"/>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0" name="ih_594"/>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1" name="il_595"/>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2" name="gq_596"/>
          <p:cNvSpPr/>
          <p:nvPr/>
        </p:nvSpPr>
        <p:spPr>
          <a:xfrm>
            <a:off x="3383280" y="1417320"/>
            <a:ext cx="3337560" cy="347472"/>
          </a:xfrm>
          <a:prstGeom prst="roundRect">
            <a:avLst>
              <a:gd name="adj" fmla="val 2631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Harry: How do you ___ your career?</a:t>
            </a:r>
            <a:endParaRPr lang="en-US" sz="1200" dirty="0"/>
          </a:p>
        </p:txBody>
      </p:sp>
      <p:sp>
        <p:nvSpPr>
          <p:cNvPr id="23" name="R1_chip597"/>
          <p:cNvSpPr/>
          <p:nvPr/>
        </p:nvSpPr>
        <p:spPr>
          <a:xfrm>
            <a:off x="6812280" y="141732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see</a:t>
            </a:r>
            <a:endParaRPr lang="en-US" sz="1200" dirty="0"/>
          </a:p>
        </p:txBody>
      </p:sp>
      <p:sp>
        <p:nvSpPr>
          <p:cNvPr id="24" name="gq_598"/>
          <p:cNvSpPr/>
          <p:nvPr/>
        </p:nvSpPr>
        <p:spPr>
          <a:xfrm>
            <a:off x="3383280" y="1828800"/>
            <a:ext cx="3337560" cy="347472"/>
          </a:xfrm>
          <a:prstGeom prst="roundRect">
            <a:avLst>
              <a:gd name="adj" fmla="val 2631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Rob: Not ___. I'm more of a writer.</a:t>
            </a:r>
            <a:endParaRPr lang="en-US" sz="1200" dirty="0"/>
          </a:p>
        </p:txBody>
      </p:sp>
      <p:sp>
        <p:nvSpPr>
          <p:cNvPr id="25" name="R2_chip599"/>
          <p:cNvSpPr/>
          <p:nvPr/>
        </p:nvSpPr>
        <p:spPr>
          <a:xfrm>
            <a:off x="6812280" y="182880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really</a:t>
            </a:r>
            <a:endParaRPr lang="en-US" sz="1200" dirty="0"/>
          </a:p>
        </p:txBody>
      </p:sp>
      <p:sp>
        <p:nvSpPr>
          <p:cNvPr id="26" name="gq_600"/>
          <p:cNvSpPr/>
          <p:nvPr/>
        </p:nvSpPr>
        <p:spPr>
          <a:xfrm>
            <a:off x="3383280" y="2240280"/>
            <a:ext cx="3337560" cy="347472"/>
          </a:xfrm>
          <a:prstGeom prst="roundRect">
            <a:avLst>
              <a:gd name="adj" fmla="val 2631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3  Rob: …interviews, reviews, ___ like that.</a:t>
            </a:r>
            <a:endParaRPr lang="en-US" sz="1050" dirty="0"/>
          </a:p>
        </p:txBody>
      </p:sp>
      <p:sp>
        <p:nvSpPr>
          <p:cNvPr id="27" name="R3_chip601"/>
          <p:cNvSpPr/>
          <p:nvPr/>
        </p:nvSpPr>
        <p:spPr>
          <a:xfrm>
            <a:off x="6812280" y="224028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things</a:t>
            </a:r>
            <a:endParaRPr lang="en-US" sz="1200" dirty="0"/>
          </a:p>
        </p:txBody>
      </p:sp>
      <p:sp>
        <p:nvSpPr>
          <p:cNvPr id="28" name="gq_602"/>
          <p:cNvSpPr/>
          <p:nvPr/>
        </p:nvSpPr>
        <p:spPr>
          <a:xfrm>
            <a:off x="3383280" y="2651760"/>
            <a:ext cx="3337560" cy="347472"/>
          </a:xfrm>
          <a:prstGeom prst="roundRect">
            <a:avLst>
              <a:gd name="adj" fmla="val 2631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  Rob: I ___, I like photography.</a:t>
            </a:r>
            <a:endParaRPr lang="en-US" sz="1200" dirty="0"/>
          </a:p>
        </p:txBody>
      </p:sp>
      <p:sp>
        <p:nvSpPr>
          <p:cNvPr id="29" name="R4_chip603"/>
          <p:cNvSpPr/>
          <p:nvPr/>
        </p:nvSpPr>
        <p:spPr>
          <a:xfrm>
            <a:off x="6812280" y="265176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mean</a:t>
            </a:r>
            <a:endParaRPr lang="en-US" sz="1200" dirty="0"/>
          </a:p>
        </p:txBody>
      </p:sp>
      <p:sp>
        <p:nvSpPr>
          <p:cNvPr id="30" name="gq_604"/>
          <p:cNvSpPr/>
          <p:nvPr/>
        </p:nvSpPr>
        <p:spPr>
          <a:xfrm>
            <a:off x="3383280" y="3063240"/>
            <a:ext cx="3337560" cy="347472"/>
          </a:xfrm>
          <a:prstGeom prst="roundRect">
            <a:avLst>
              <a:gd name="adj" fmla="val 2631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5  That's ___ most of them are of Jenny.</a:t>
            </a:r>
            <a:endParaRPr lang="en-US" sz="1150" dirty="0"/>
          </a:p>
        </p:txBody>
      </p:sp>
      <p:sp>
        <p:nvSpPr>
          <p:cNvPr id="31" name="R5_chip605"/>
          <p:cNvSpPr/>
          <p:nvPr/>
        </p:nvSpPr>
        <p:spPr>
          <a:xfrm>
            <a:off x="6812280" y="306324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because</a:t>
            </a:r>
            <a:endParaRPr lang="en-US" sz="1200" dirty="0"/>
          </a:p>
        </p:txBody>
      </p:sp>
      <p:sp>
        <p:nvSpPr>
          <p:cNvPr id="32" name="gq_606"/>
          <p:cNvSpPr/>
          <p:nvPr/>
        </p:nvSpPr>
        <p:spPr>
          <a:xfrm>
            <a:off x="3383280" y="3474720"/>
            <a:ext cx="3337560" cy="347472"/>
          </a:xfrm>
          <a:prstGeom prst="roundRect">
            <a:avLst>
              <a:gd name="adj" fmla="val 2631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6  Harry: How ___!</a:t>
            </a:r>
            <a:endParaRPr lang="en-US" sz="1200" dirty="0"/>
          </a:p>
        </p:txBody>
      </p:sp>
      <p:sp>
        <p:nvSpPr>
          <p:cNvPr id="33" name="R6_chip607"/>
          <p:cNvSpPr/>
          <p:nvPr/>
        </p:nvSpPr>
        <p:spPr>
          <a:xfrm>
            <a:off x="6812280" y="347472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incredible</a:t>
            </a:r>
            <a:endParaRPr lang="en-US" sz="1200" dirty="0"/>
          </a:p>
        </p:txBody>
      </p:sp>
      <p:sp>
        <p:nvSpPr>
          <p:cNvPr id="34" name="gq_608"/>
          <p:cNvSpPr/>
          <p:nvPr/>
        </p:nvSpPr>
        <p:spPr>
          <a:xfrm>
            <a:off x="3383280" y="3886200"/>
            <a:ext cx="3337560" cy="347472"/>
          </a:xfrm>
          <a:prstGeom prst="roundRect">
            <a:avLst>
              <a:gd name="adj" fmla="val 2631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7  Rob: Well, he's a really nice ___.</a:t>
            </a:r>
            <a:endParaRPr lang="en-US" sz="1200" dirty="0"/>
          </a:p>
        </p:txBody>
      </p:sp>
      <p:sp>
        <p:nvSpPr>
          <p:cNvPr id="35" name="R7_chip609"/>
          <p:cNvSpPr/>
          <p:nvPr/>
        </p:nvSpPr>
        <p:spPr>
          <a:xfrm>
            <a:off x="6812280" y="388620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guy</a:t>
            </a:r>
            <a:endParaRPr lang="en-US" sz="1200" dirty="0"/>
          </a:p>
        </p:txBody>
      </p:sp>
      <p:sp>
        <p:nvSpPr>
          <p:cNvPr id="36" name="gq_610"/>
          <p:cNvSpPr/>
          <p:nvPr/>
        </p:nvSpPr>
        <p:spPr>
          <a:xfrm>
            <a:off x="3383280" y="4297680"/>
            <a:ext cx="3337560" cy="347472"/>
          </a:xfrm>
          <a:prstGeom prst="roundRect">
            <a:avLst>
              <a:gd name="adj" fmla="val 2631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8  Harry: Go ___, son!</a:t>
            </a:r>
            <a:endParaRPr lang="en-US" sz="1200" dirty="0"/>
          </a:p>
        </p:txBody>
      </p:sp>
      <p:sp>
        <p:nvSpPr>
          <p:cNvPr id="37" name="R8_chip611"/>
          <p:cNvSpPr/>
          <p:nvPr/>
        </p:nvSpPr>
        <p:spPr>
          <a:xfrm>
            <a:off x="6812280" y="429768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ahead</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40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400"/>
                                        <p:tgtEl>
                                          <p:spTgt spid="3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fade">
                                      <p:cBhvr>
                                        <p:cTn id="4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12"/>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19</a:t>
            </a:r>
            <a:endParaRPr lang="en-US" sz="2200" dirty="0"/>
          </a:p>
        </p:txBody>
      </p:sp>
      <p:pic>
        <p:nvPicPr>
          <p:cNvPr id="4" name="brY_613" descr="/home/claude/lls-course/v2/assets/brush-yellow.png">    </p:cNvPr>
          <p:cNvPicPr>
            <a:picLocks noChangeAspect="1"/>
          </p:cNvPicPr>
          <p:nvPr/>
        </p:nvPicPr>
        <p:blipFill>
          <a:blip r:embed="rId2"/>
          <a:stretch>
            <a:fillRect/>
          </a:stretch>
        </p:blipFill>
        <p:spPr>
          <a:xfrm>
            <a:off x="1097280" y="146304"/>
            <a:ext cx="4663440" cy="621792"/>
          </a:xfrm>
          <a:prstGeom prst="rect">
            <a:avLst/>
          </a:prstGeom>
        </p:spPr>
      </p:pic>
      <p:sp>
        <p:nvSpPr>
          <p:cNvPr id="5" name="title_614"/>
          <p:cNvSpPr/>
          <p:nvPr/>
        </p:nvSpPr>
        <p:spPr>
          <a:xfrm>
            <a:off x="1261872" y="164592"/>
            <a:ext cx="438912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Social English in Italian</a:t>
            </a:r>
            <a:endParaRPr lang="en-US" sz="2500" dirty="0"/>
          </a:p>
        </p:txBody>
      </p:sp>
      <p:pic>
        <p:nvPicPr>
          <p:cNvPr id="6" name="brP_615"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616"/>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it in Italian. Then click!</a:t>
            </a:r>
            <a:endParaRPr lang="en-US" sz="1250" dirty="0"/>
          </a:p>
        </p:txBody>
      </p:sp>
      <p:sp>
        <p:nvSpPr>
          <p:cNvPr id="8" name="insIT_617"/>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Dillo in italiano. Poi clicca!</a:t>
            </a:r>
            <a:endParaRPr lang="en-US" sz="950" dirty="0"/>
          </a:p>
        </p:txBody>
      </p:sp>
      <p:sp>
        <p:nvSpPr>
          <p:cNvPr id="9" name="cmd_618"/>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0" name="meta_619"/>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pic>
        <p:nvPicPr>
          <p:cNvPr id="11" name="logo_62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62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PE1 · Social English · in Italian</a:t>
            </a:r>
            <a:endParaRPr lang="en-US" sz="800" dirty="0"/>
          </a:p>
        </p:txBody>
      </p:sp>
      <p:sp>
        <p:nvSpPr>
          <p:cNvPr id="13" name="cd_622"/>
          <p:cNvSpPr/>
          <p:nvPr/>
        </p:nvSpPr>
        <p:spPr>
          <a:xfrm>
            <a:off x="320040" y="141732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14" name="e_623"/>
          <p:cNvSpPr/>
          <p:nvPr/>
        </p:nvSpPr>
        <p:spPr>
          <a:xfrm>
            <a:off x="393192" y="152704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5" name="en_624"/>
          <p:cNvSpPr/>
          <p:nvPr/>
        </p:nvSpPr>
        <p:spPr>
          <a:xfrm>
            <a:off x="978408" y="1472184"/>
            <a:ext cx="1362456" cy="329184"/>
          </a:xfrm>
          <a:prstGeom prst="rect">
            <a:avLst/>
          </a:prstGeom>
          <a:noFill/>
          <a:ln/>
        </p:spPr>
        <p:txBody>
          <a:bodyPr wrap="square" lIns="0" tIns="0" rIns="0" bIns="0" rtlCol="0" anchor="ctr">
            <a:normAutofit/>
          </a:bodyPr>
          <a:lstStyle/>
          <a:p>
            <a:pP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How do you see…?</a:t>
            </a:r>
            <a:endParaRPr lang="en-US" sz="1050" dirty="0"/>
          </a:p>
        </p:txBody>
      </p:sp>
      <p:sp>
        <p:nvSpPr>
          <p:cNvPr id="16" name="R1_it625"/>
          <p:cNvSpPr/>
          <p:nvPr/>
        </p:nvSpPr>
        <p:spPr>
          <a:xfrm>
            <a:off x="978408" y="180136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Come vedi…? (il futuro)</a:t>
            </a:r>
            <a:endParaRPr lang="en-US" sz="800" dirty="0"/>
          </a:p>
        </p:txBody>
      </p:sp>
      <p:sp>
        <p:nvSpPr>
          <p:cNvPr id="17" name="cd_626"/>
          <p:cNvSpPr/>
          <p:nvPr/>
        </p:nvSpPr>
        <p:spPr>
          <a:xfrm>
            <a:off x="2487168" y="141732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8" name="e_627"/>
          <p:cNvSpPr/>
          <p:nvPr/>
        </p:nvSpPr>
        <p:spPr>
          <a:xfrm>
            <a:off x="2560320" y="152704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9" name="en_628"/>
          <p:cNvSpPr/>
          <p:nvPr/>
        </p:nvSpPr>
        <p:spPr>
          <a:xfrm>
            <a:off x="3145536"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Not really.</a:t>
            </a:r>
            <a:endParaRPr lang="en-US" sz="1200" dirty="0"/>
          </a:p>
        </p:txBody>
      </p:sp>
      <p:sp>
        <p:nvSpPr>
          <p:cNvPr id="20" name="R2_it629"/>
          <p:cNvSpPr/>
          <p:nvPr/>
        </p:nvSpPr>
        <p:spPr>
          <a:xfrm>
            <a:off x="3145536" y="180136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Non proprio. / Non tanto.</a:t>
            </a:r>
            <a:endParaRPr lang="en-US" sz="800" dirty="0"/>
          </a:p>
        </p:txBody>
      </p:sp>
      <p:sp>
        <p:nvSpPr>
          <p:cNvPr id="21" name="cd_630"/>
          <p:cNvSpPr/>
          <p:nvPr/>
        </p:nvSpPr>
        <p:spPr>
          <a:xfrm>
            <a:off x="4654296" y="141732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22" name="e_631"/>
          <p:cNvSpPr/>
          <p:nvPr/>
        </p:nvSpPr>
        <p:spPr>
          <a:xfrm>
            <a:off x="4727448" y="152704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en_632"/>
          <p:cNvSpPr/>
          <p:nvPr/>
        </p:nvSpPr>
        <p:spPr>
          <a:xfrm>
            <a:off x="5312664"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…things like that</a:t>
            </a:r>
            <a:endParaRPr lang="en-US" sz="1200" dirty="0"/>
          </a:p>
        </p:txBody>
      </p:sp>
      <p:sp>
        <p:nvSpPr>
          <p:cNvPr id="24" name="R3_it633"/>
          <p:cNvSpPr/>
          <p:nvPr/>
        </p:nvSpPr>
        <p:spPr>
          <a:xfrm>
            <a:off x="5312664"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…cose del genere</a:t>
            </a:r>
            <a:endParaRPr lang="en-US" sz="1000" dirty="0"/>
          </a:p>
        </p:txBody>
      </p:sp>
      <p:sp>
        <p:nvSpPr>
          <p:cNvPr id="25" name="cd_634"/>
          <p:cNvSpPr/>
          <p:nvPr/>
        </p:nvSpPr>
        <p:spPr>
          <a:xfrm>
            <a:off x="6821424" y="141732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6" name="e_635"/>
          <p:cNvSpPr/>
          <p:nvPr/>
        </p:nvSpPr>
        <p:spPr>
          <a:xfrm>
            <a:off x="6894576" y="152704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7" name="en_636"/>
          <p:cNvSpPr/>
          <p:nvPr/>
        </p:nvSpPr>
        <p:spPr>
          <a:xfrm>
            <a:off x="7479792"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I mean…</a:t>
            </a:r>
            <a:endParaRPr lang="en-US" sz="1200" dirty="0"/>
          </a:p>
        </p:txBody>
      </p:sp>
      <p:sp>
        <p:nvSpPr>
          <p:cNvPr id="28" name="R4_it637"/>
          <p:cNvSpPr/>
          <p:nvPr/>
        </p:nvSpPr>
        <p:spPr>
          <a:xfrm>
            <a:off x="7479792" y="1801368"/>
            <a:ext cx="1362456" cy="292608"/>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Cioè… / Voglio dire…</a:t>
            </a:r>
            <a:endParaRPr lang="en-US" sz="900" dirty="0"/>
          </a:p>
        </p:txBody>
      </p:sp>
      <p:sp>
        <p:nvSpPr>
          <p:cNvPr id="29" name="cd_638"/>
          <p:cNvSpPr/>
          <p:nvPr/>
        </p:nvSpPr>
        <p:spPr>
          <a:xfrm>
            <a:off x="320040" y="224028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30" name="e_639"/>
          <p:cNvSpPr/>
          <p:nvPr/>
        </p:nvSpPr>
        <p:spPr>
          <a:xfrm>
            <a:off x="393192" y="235000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1" name="en_640"/>
          <p:cNvSpPr/>
          <p:nvPr/>
        </p:nvSpPr>
        <p:spPr>
          <a:xfrm>
            <a:off x="978408"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That's because…</a:t>
            </a:r>
            <a:endParaRPr lang="en-US" sz="1200" dirty="0"/>
          </a:p>
        </p:txBody>
      </p:sp>
      <p:sp>
        <p:nvSpPr>
          <p:cNvPr id="32" name="R5_it641"/>
          <p:cNvSpPr/>
          <p:nvPr/>
        </p:nvSpPr>
        <p:spPr>
          <a:xfrm>
            <a:off x="978408"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È perché…</a:t>
            </a:r>
            <a:endParaRPr lang="en-US" sz="1000" dirty="0"/>
          </a:p>
        </p:txBody>
      </p:sp>
      <p:sp>
        <p:nvSpPr>
          <p:cNvPr id="33" name="cd_642"/>
          <p:cNvSpPr/>
          <p:nvPr/>
        </p:nvSpPr>
        <p:spPr>
          <a:xfrm>
            <a:off x="2487168" y="224028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34" name="e_643"/>
          <p:cNvSpPr/>
          <p:nvPr/>
        </p:nvSpPr>
        <p:spPr>
          <a:xfrm>
            <a:off x="2560320" y="235000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5" name="en_644"/>
          <p:cNvSpPr/>
          <p:nvPr/>
        </p:nvSpPr>
        <p:spPr>
          <a:xfrm>
            <a:off x="3145536"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How incredible!</a:t>
            </a:r>
            <a:endParaRPr lang="en-US" sz="1200" dirty="0"/>
          </a:p>
        </p:txBody>
      </p:sp>
      <p:sp>
        <p:nvSpPr>
          <p:cNvPr id="36" name="R6_it645"/>
          <p:cNvSpPr/>
          <p:nvPr/>
        </p:nvSpPr>
        <p:spPr>
          <a:xfrm>
            <a:off x="3145536"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Incredibile!</a:t>
            </a:r>
            <a:endParaRPr lang="en-US" sz="1000" dirty="0"/>
          </a:p>
        </p:txBody>
      </p:sp>
      <p:sp>
        <p:nvSpPr>
          <p:cNvPr id="37" name="cd_646"/>
          <p:cNvSpPr/>
          <p:nvPr/>
        </p:nvSpPr>
        <p:spPr>
          <a:xfrm>
            <a:off x="4654296" y="224028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38" name="e_647"/>
          <p:cNvSpPr/>
          <p:nvPr/>
        </p:nvSpPr>
        <p:spPr>
          <a:xfrm>
            <a:off x="4727448" y="235000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9" name="en_648"/>
          <p:cNvSpPr/>
          <p:nvPr/>
        </p:nvSpPr>
        <p:spPr>
          <a:xfrm>
            <a:off x="5312664"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a really nice guy</a:t>
            </a:r>
            <a:endParaRPr lang="en-US" sz="1200" dirty="0"/>
          </a:p>
        </p:txBody>
      </p:sp>
      <p:sp>
        <p:nvSpPr>
          <p:cNvPr id="40" name="R7_it649"/>
          <p:cNvSpPr/>
          <p:nvPr/>
        </p:nvSpPr>
        <p:spPr>
          <a:xfrm>
            <a:off x="5312664" y="262432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un tipo molto simpatico</a:t>
            </a:r>
            <a:endParaRPr lang="en-US" sz="800" dirty="0"/>
          </a:p>
        </p:txBody>
      </p:sp>
      <p:sp>
        <p:nvSpPr>
          <p:cNvPr id="41" name="cd_650"/>
          <p:cNvSpPr/>
          <p:nvPr/>
        </p:nvSpPr>
        <p:spPr>
          <a:xfrm>
            <a:off x="6821424" y="224028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42" name="e_651"/>
          <p:cNvSpPr/>
          <p:nvPr/>
        </p:nvSpPr>
        <p:spPr>
          <a:xfrm>
            <a:off x="6894576" y="235000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3" name="en_652"/>
          <p:cNvSpPr/>
          <p:nvPr/>
        </p:nvSpPr>
        <p:spPr>
          <a:xfrm>
            <a:off x="7479792"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Go ahead!</a:t>
            </a:r>
            <a:endParaRPr lang="en-US" sz="1200" dirty="0"/>
          </a:p>
        </p:txBody>
      </p:sp>
      <p:sp>
        <p:nvSpPr>
          <p:cNvPr id="44" name="R8_it653"/>
          <p:cNvSpPr/>
          <p:nvPr/>
        </p:nvSpPr>
        <p:spPr>
          <a:xfrm>
            <a:off x="7479792" y="262432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Prego! / Fai pure! / Serviti!</a:t>
            </a:r>
            <a:endParaRPr lang="en-US" sz="800" dirty="0"/>
          </a:p>
        </p:txBody>
      </p:sp>
      <p:sp>
        <p:nvSpPr>
          <p:cNvPr id="45" name="cd_654"/>
          <p:cNvSpPr/>
          <p:nvPr/>
        </p:nvSpPr>
        <p:spPr>
          <a:xfrm>
            <a:off x="320040" y="306324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46" name="e_655"/>
          <p:cNvSpPr/>
          <p:nvPr/>
        </p:nvSpPr>
        <p:spPr>
          <a:xfrm>
            <a:off x="393192" y="317296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7" name="en_656"/>
          <p:cNvSpPr/>
          <p:nvPr/>
        </p:nvSpPr>
        <p:spPr>
          <a:xfrm>
            <a:off x="978408" y="3118104"/>
            <a:ext cx="1362456" cy="329184"/>
          </a:xfrm>
          <a:prstGeom prst="rect">
            <a:avLst/>
          </a:prstGeom>
          <a:noFill/>
          <a:ln/>
        </p:spPr>
        <p:txBody>
          <a:bodyPr wrap="square" lIns="0" tIns="0" rIns="0" bIns="0" rtlCol="0" anchor="ctr">
            <a:normAutofit/>
          </a:bodyPr>
          <a:lstStyle/>
          <a:p>
            <a:pPr indent="0" marL="0">
              <a:buNone/>
            </a:pPr>
            <a:r>
              <a:rPr lang="en-US" sz="1000" dirty="0">
                <a:solidFill>
                  <a:srgbClr val="1B2559"/>
                </a:solidFill>
                <a:latin typeface="Arial Rounded MT Bold" pitchFamily="34" charset="0"/>
                <a:ea typeface="Arial Rounded MT Bold" pitchFamily="34" charset="-122"/>
                <a:cs typeface="Arial Rounded MT Bold" pitchFamily="34" charset="-120"/>
              </a:rPr>
              <a:t>It's so nice to meet you at last!</a:t>
            </a:r>
            <a:endParaRPr lang="en-US" sz="1000" dirty="0"/>
          </a:p>
        </p:txBody>
      </p:sp>
      <p:sp>
        <p:nvSpPr>
          <p:cNvPr id="48" name="R9_it657"/>
          <p:cNvSpPr/>
          <p:nvPr/>
        </p:nvSpPr>
        <p:spPr>
          <a:xfrm>
            <a:off x="978408" y="344728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Che piacere conoscerti finalmente!</a:t>
            </a:r>
            <a:endParaRPr lang="en-US" sz="800" dirty="0"/>
          </a:p>
        </p:txBody>
      </p:sp>
      <p:sp>
        <p:nvSpPr>
          <p:cNvPr id="49" name="cd_658"/>
          <p:cNvSpPr/>
          <p:nvPr/>
        </p:nvSpPr>
        <p:spPr>
          <a:xfrm>
            <a:off x="2487168" y="306324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50" name="e_659"/>
          <p:cNvSpPr/>
          <p:nvPr/>
        </p:nvSpPr>
        <p:spPr>
          <a:xfrm>
            <a:off x="2560320" y="317296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1" name="en_660"/>
          <p:cNvSpPr/>
          <p:nvPr/>
        </p:nvSpPr>
        <p:spPr>
          <a:xfrm>
            <a:off x="3145536"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Sorry we're late!</a:t>
            </a:r>
            <a:endParaRPr lang="en-US" sz="1200" dirty="0"/>
          </a:p>
        </p:txBody>
      </p:sp>
      <p:sp>
        <p:nvSpPr>
          <p:cNvPr id="52" name="R10_it661"/>
          <p:cNvSpPr/>
          <p:nvPr/>
        </p:nvSpPr>
        <p:spPr>
          <a:xfrm>
            <a:off x="3145536"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Scusate il ritardo!</a:t>
            </a:r>
            <a:endParaRPr lang="en-US" sz="1000" dirty="0"/>
          </a:p>
        </p:txBody>
      </p:sp>
      <p:sp>
        <p:nvSpPr>
          <p:cNvPr id="53" name="cd_662"/>
          <p:cNvSpPr/>
          <p:nvPr/>
        </p:nvSpPr>
        <p:spPr>
          <a:xfrm>
            <a:off x="4654296" y="306324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54" name="e_663"/>
          <p:cNvSpPr/>
          <p:nvPr/>
        </p:nvSpPr>
        <p:spPr>
          <a:xfrm>
            <a:off x="4727448" y="317296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5" name="en_664"/>
          <p:cNvSpPr/>
          <p:nvPr/>
        </p:nvSpPr>
        <p:spPr>
          <a:xfrm>
            <a:off x="5312664" y="3118104"/>
            <a:ext cx="1362456" cy="329184"/>
          </a:xfrm>
          <a:prstGeom prst="rect">
            <a:avLst/>
          </a:prstGeom>
          <a:noFill/>
          <a:ln/>
        </p:spPr>
        <p:txBody>
          <a:bodyPr wrap="square" lIns="0" tIns="0" rIns="0" bIns="0" rtlCol="0" anchor="ctr">
            <a:normAutofit/>
          </a:bodyPr>
          <a:lstStyle/>
          <a:p>
            <a:pPr indent="0" marL="0">
              <a:buNone/>
            </a:pPr>
            <a:r>
              <a:rPr lang="en-US" sz="1000" dirty="0">
                <a:solidFill>
                  <a:srgbClr val="1B2559"/>
                </a:solidFill>
                <a:latin typeface="Arial Rounded MT Bold" pitchFamily="34" charset="0"/>
                <a:ea typeface="Arial Rounded MT Bold" pitchFamily="34" charset="-122"/>
                <a:cs typeface="Arial Rounded MT Bold" pitchFamily="34" charset="-120"/>
              </a:rPr>
              <a:t>cookie (US) = biscuit (UK)</a:t>
            </a:r>
            <a:endParaRPr lang="en-US" sz="1000" dirty="0"/>
          </a:p>
        </p:txBody>
      </p:sp>
      <p:sp>
        <p:nvSpPr>
          <p:cNvPr id="56" name="R11_it665"/>
          <p:cNvSpPr/>
          <p:nvPr/>
        </p:nvSpPr>
        <p:spPr>
          <a:xfrm>
            <a:off x="5312664"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biscotto</a:t>
            </a:r>
            <a:endParaRPr lang="en-US" sz="1000" dirty="0"/>
          </a:p>
        </p:txBody>
      </p:sp>
      <p:sp>
        <p:nvSpPr>
          <p:cNvPr id="57" name="cd_666"/>
          <p:cNvSpPr/>
          <p:nvPr/>
        </p:nvSpPr>
        <p:spPr>
          <a:xfrm>
            <a:off x="6821424" y="306324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58" name="e_667"/>
          <p:cNvSpPr/>
          <p:nvPr/>
        </p:nvSpPr>
        <p:spPr>
          <a:xfrm>
            <a:off x="6894576" y="317296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9" name="en_668"/>
          <p:cNvSpPr/>
          <p:nvPr/>
        </p:nvSpPr>
        <p:spPr>
          <a:xfrm>
            <a:off x="7479792" y="3118104"/>
            <a:ext cx="1362456" cy="329184"/>
          </a:xfrm>
          <a:prstGeom prst="rect">
            <a:avLst/>
          </a:prstGeom>
          <a:noFill/>
          <a:ln/>
        </p:spPr>
        <p:txBody>
          <a:bodyPr wrap="square" lIns="0" tIns="0" rIns="0" bIns="0" rtlCol="0" anchor="ctr">
            <a:normAutofit/>
          </a:bodyPr>
          <a:lstStyle/>
          <a:p>
            <a:pPr indent="0" marL="0">
              <a:buNone/>
            </a:pPr>
            <a:r>
              <a:rPr lang="en-US" sz="1000" dirty="0">
                <a:solidFill>
                  <a:srgbClr val="1B2559"/>
                </a:solidFill>
                <a:latin typeface="Arial Rounded MT Bold" pitchFamily="34" charset="0"/>
                <a:ea typeface="Arial Rounded MT Bold" pitchFamily="34" charset="-122"/>
                <a:cs typeface="Arial Rounded MT Bold" pitchFamily="34" charset="-120"/>
              </a:rPr>
              <a:t>apartment (US) = flat (UK)</a:t>
            </a:r>
            <a:endParaRPr lang="en-US" sz="1000" dirty="0"/>
          </a:p>
        </p:txBody>
      </p:sp>
      <p:sp>
        <p:nvSpPr>
          <p:cNvPr id="60" name="R12_it669"/>
          <p:cNvSpPr/>
          <p:nvPr/>
        </p:nvSpPr>
        <p:spPr>
          <a:xfrm>
            <a:off x="7479792"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appartamento</a:t>
            </a:r>
            <a:endParaRPr lang="en-US" sz="1000" dirty="0"/>
          </a:p>
        </p:txBody>
      </p:sp>
      <p:sp>
        <p:nvSpPr>
          <p:cNvPr id="61" name="R13_wc670"/>
          <p:cNvSpPr/>
          <p:nvPr/>
        </p:nvSpPr>
        <p:spPr>
          <a:xfrm>
            <a:off x="320040" y="3931920"/>
            <a:ext cx="8549640" cy="457200"/>
          </a:xfrm>
          <a:prstGeom prst="roundRect">
            <a:avLst>
              <a:gd name="adj" fmla="val 28000"/>
            </a:avLst>
          </a:prstGeom>
          <a:solidFill>
            <a:srgbClr val="FFE3EE"/>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62" name="R13_w671"/>
          <p:cNvSpPr/>
          <p:nvPr/>
        </p:nvSpPr>
        <p:spPr>
          <a:xfrm>
            <a:off x="457200" y="3931920"/>
            <a:ext cx="8321040" cy="45720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Watch out!  I'm more of a writer = sono più uno scrittore  ·  guy = informal (tipo)  ·  I mean… = time to think!</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4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4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fade">
                                      <p:cBhvr>
                                        <p:cTn id="42" dur="400"/>
                                        <p:tgtEl>
                                          <p:spTgt spid="4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fade">
                                      <p:cBhvr>
                                        <p:cTn id="47" dur="400"/>
                                        <p:tgtEl>
                                          <p:spTgt spid="4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2"/>
                                        </p:tgtEl>
                                        <p:attrNameLst>
                                          <p:attrName>style.visibility</p:attrName>
                                        </p:attrNameLst>
                                      </p:cBhvr>
                                      <p:to>
                                        <p:strVal val="visible"/>
                                      </p:to>
                                    </p:set>
                                    <p:animEffect transition="in" filter="fade">
                                      <p:cBhvr>
                                        <p:cTn id="52" dur="400"/>
                                        <p:tgtEl>
                                          <p:spTgt spid="5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6"/>
                                        </p:tgtEl>
                                        <p:attrNameLst>
                                          <p:attrName>style.visibility</p:attrName>
                                        </p:attrNameLst>
                                      </p:cBhvr>
                                      <p:to>
                                        <p:strVal val="visible"/>
                                      </p:to>
                                    </p:set>
                                    <p:animEffect transition="in" filter="fade">
                                      <p:cBhvr>
                                        <p:cTn id="57" dur="400"/>
                                        <p:tgtEl>
                                          <p:spTgt spid="5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0"/>
                                        </p:tgtEl>
                                        <p:attrNameLst>
                                          <p:attrName>style.visibility</p:attrName>
                                        </p:attrNameLst>
                                      </p:cBhvr>
                                      <p:to>
                                        <p:strVal val="visible"/>
                                      </p:to>
                                    </p:set>
                                    <p:animEffect transition="in" filter="fade">
                                      <p:cBhvr>
                                        <p:cTn id="62" dur="400"/>
                                        <p:tgtEl>
                                          <p:spTgt spid="60"/>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1"/>
                                        </p:tgtEl>
                                        <p:attrNameLst>
                                          <p:attrName>style.visibility</p:attrName>
                                        </p:attrNameLst>
                                      </p:cBhvr>
                                      <p:to>
                                        <p:strVal val="visible"/>
                                      </p:to>
                                    </p:set>
                                    <p:animEffect transition="in" filter="fade">
                                      <p:cBhvr>
                                        <p:cTn id="67" dur="400"/>
                                        <p:tgtEl>
                                          <p:spTgt spid="61"/>
                                        </p:tgtEl>
                                      </p:cBhvr>
                                    </p:animEffect>
                                  </p:childTnLst>
                                </p:cTn>
                              </p:par>
                              <p:par>
                                <p:cTn id="68" presetID="10" presetClass="entr" presetSubtype="0" fill="hold" nodeType="withEffect">
                                  <p:stCondLst>
                                    <p:cond delay="0"/>
                                  </p:stCondLst>
                                  <p:childTnLst>
                                    <p:set>
                                      <p:cBhvr>
                                        <p:cTn id="69" dur="1" fill="hold">
                                          <p:stCondLst>
                                            <p:cond delay="0"/>
                                          </p:stCondLst>
                                        </p:cTn>
                                        <p:tgtEl>
                                          <p:spTgt spid="62"/>
                                        </p:tgtEl>
                                        <p:attrNameLst>
                                          <p:attrName>style.visibility</p:attrName>
                                        </p:attrNameLst>
                                      </p:cBhvr>
                                      <p:to>
                                        <p:strVal val="visible"/>
                                      </p:to>
                                    </p:set>
                                    <p:animEffect transition="in" filter="fade">
                                      <p:cBhvr>
                                        <p:cTn id="70" dur="4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72"/>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20</a:t>
            </a:r>
            <a:endParaRPr lang="en-US" sz="2200" dirty="0"/>
          </a:p>
        </p:txBody>
      </p:sp>
      <p:pic>
        <p:nvPicPr>
          <p:cNvPr id="4" name="brY_673" descr="/home/claude/lls-course/v2/assets/brush-yellow.png">    </p:cNvPr>
          <p:cNvPicPr>
            <a:picLocks noChangeAspect="1"/>
          </p:cNvPicPr>
          <p:nvPr/>
        </p:nvPicPr>
        <p:blipFill>
          <a:blip r:embed="rId2"/>
          <a:stretch>
            <a:fillRect/>
          </a:stretch>
        </p:blipFill>
        <p:spPr>
          <a:xfrm>
            <a:off x="1097280" y="146304"/>
            <a:ext cx="2776118" cy="621792"/>
          </a:xfrm>
          <a:prstGeom prst="rect">
            <a:avLst/>
          </a:prstGeom>
        </p:spPr>
      </p:pic>
      <p:sp>
        <p:nvSpPr>
          <p:cNvPr id="5" name="title_674"/>
          <p:cNvSpPr/>
          <p:nvPr/>
        </p:nvSpPr>
        <p:spPr>
          <a:xfrm>
            <a:off x="1261872" y="164592"/>
            <a:ext cx="250179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Which phrase?</a:t>
            </a:r>
            <a:endParaRPr lang="en-US" sz="2500" dirty="0"/>
          </a:p>
        </p:txBody>
      </p:sp>
      <p:pic>
        <p:nvPicPr>
          <p:cNvPr id="6" name="brP_675"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676"/>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Which phrase? First team wins!</a:t>
            </a:r>
            <a:endParaRPr lang="en-US" sz="1250" dirty="0"/>
          </a:p>
        </p:txBody>
      </p:sp>
      <p:sp>
        <p:nvSpPr>
          <p:cNvPr id="8" name="insIT_677"/>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Quale frase? Vince la squadra più veloce!</a:t>
            </a:r>
            <a:endParaRPr lang="en-US" sz="950" dirty="0"/>
          </a:p>
        </p:txBody>
      </p:sp>
      <p:sp>
        <p:nvSpPr>
          <p:cNvPr id="9" name="cmd_678"/>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679"/>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teams</a:t>
            </a:r>
            <a:endParaRPr lang="en-US" sz="950" dirty="0"/>
          </a:p>
        </p:txBody>
      </p:sp>
      <p:sp>
        <p:nvSpPr>
          <p:cNvPr id="11" name="tag_680"/>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2" name="logo_68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68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PE1 · Social English game   ·   📖 SB p.15 · 3e</a:t>
            </a:r>
            <a:endParaRPr lang="en-US" sz="800" dirty="0"/>
          </a:p>
        </p:txBody>
      </p:sp>
      <p:sp>
        <p:nvSpPr>
          <p:cNvPr id="14" name="cd_683"/>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684"/>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685"/>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686"/>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1150" dirty="0">
                <a:solidFill>
                  <a:srgbClr val="1B2559"/>
                </a:solidFill>
                <a:latin typeface="Segoe UI" pitchFamily="34" charset="0"/>
                <a:ea typeface="Segoe UI" pitchFamily="34" charset="-122"/>
                <a:cs typeface="Segoe UI" pitchFamily="34" charset="-120"/>
              </a:rPr>
              <a:t>Read the mini-conversation.</a:t>
            </a:r>
            <a:endParaRPr lang="en-US" sz="1150" dirty="0"/>
          </a:p>
          <a:p>
            <a:pPr marL="190500" indent="-190500">
              <a:spcAft>
                <a:spcPts val="200"/>
              </a:spcAft>
              <a:buSzPct val="100000"/>
              <a:buChar char="​"/>
            </a:pPr>
            <a:r>
              <a:rPr lang="en-US" sz="1000" i="1" dirty="0">
                <a:solidFill>
                  <a:srgbClr val="5B6785"/>
                </a:solidFill>
                <a:latin typeface="Segoe UI" pitchFamily="34" charset="0"/>
                <a:ea typeface="Segoe UI" pitchFamily="34" charset="-122"/>
                <a:cs typeface="Segoe UI" pitchFamily="34" charset="-120"/>
              </a:rPr>
              <a:t>Leggi il mini-dialogo.</a:t>
            </a:r>
            <a:endParaRPr lang="en-US" sz="1150" dirty="0"/>
          </a:p>
          <a:p>
            <a:pPr marL="190500" indent="-190500">
              <a:spcBef>
                <a:spcPts val="500"/>
              </a:spcBef>
              <a:spcAft>
                <a:spcPts val="200"/>
              </a:spcAft>
              <a:buSzPct val="100000"/>
              <a:buChar char="2"/>
            </a:pPr>
            <a:r>
              <a:rPr lang="en-US" sz="1150" dirty="0">
                <a:solidFill>
                  <a:srgbClr val="1B2559"/>
                </a:solidFill>
                <a:latin typeface="Segoe UI" pitchFamily="34" charset="0"/>
                <a:ea typeface="Segoe UI" pitchFamily="34" charset="-122"/>
                <a:cs typeface="Segoe UI" pitchFamily="34" charset="-120"/>
              </a:rPr>
              <a:t>Teams: say the missing phrase.</a:t>
            </a:r>
            <a:endParaRPr lang="en-US" sz="1150" dirty="0"/>
          </a:p>
          <a:p>
            <a:pPr marL="190500" indent="-190500">
              <a:spcAft>
                <a:spcPts val="200"/>
              </a:spcAft>
              <a:buSzPct val="100000"/>
              <a:buChar char="​"/>
            </a:pPr>
            <a:r>
              <a:rPr lang="en-US" sz="1000" i="1" dirty="0">
                <a:solidFill>
                  <a:srgbClr val="5B6785"/>
                </a:solidFill>
                <a:latin typeface="Segoe UI" pitchFamily="34" charset="0"/>
                <a:ea typeface="Segoe UI" pitchFamily="34" charset="-122"/>
                <a:cs typeface="Segoe UI" pitchFamily="34" charset="-120"/>
              </a:rPr>
              <a:t>Squadre: dite la frase mancante.</a:t>
            </a:r>
            <a:endParaRPr lang="en-US" sz="1150" dirty="0"/>
          </a:p>
          <a:p>
            <a:pPr marL="190500" indent="-190500">
              <a:spcBef>
                <a:spcPts val="500"/>
              </a:spcBef>
              <a:spcAft>
                <a:spcPts val="200"/>
              </a:spcAft>
              <a:buSzPct val="100000"/>
              <a:buChar char="3"/>
            </a:pPr>
            <a:r>
              <a:rPr lang="en-US" sz="1150" dirty="0">
                <a:solidFill>
                  <a:srgbClr val="1B2559"/>
                </a:solidFill>
                <a:latin typeface="Segoe UI" pitchFamily="34" charset="0"/>
                <a:ea typeface="Segoe UI" pitchFamily="34" charset="-122"/>
                <a:cs typeface="Segoe UI" pitchFamily="34" charset="-120"/>
              </a:rPr>
              <a:t>First right answer = 1 point.</a:t>
            </a:r>
            <a:endParaRPr lang="en-US" sz="1150" dirty="0"/>
          </a:p>
          <a:p>
            <a:pPr marL="190500" indent="-190500">
              <a:spcAft>
                <a:spcPts val="200"/>
              </a:spcAft>
              <a:buSzPct val="100000"/>
              <a:buChar char="​"/>
            </a:pPr>
            <a:r>
              <a:rPr lang="en-US" sz="1000" i="1" dirty="0">
                <a:solidFill>
                  <a:srgbClr val="5B6785"/>
                </a:solidFill>
                <a:latin typeface="Segoe UI" pitchFamily="34" charset="0"/>
                <a:ea typeface="Segoe UI" pitchFamily="34" charset="-122"/>
                <a:cs typeface="Segoe UI" pitchFamily="34" charset="-120"/>
              </a:rPr>
              <a:t>Prima risposta giusta = 1 punto.</a:t>
            </a:r>
            <a:endParaRPr lang="en-US" sz="1150" dirty="0"/>
          </a:p>
        </p:txBody>
      </p:sp>
      <p:sp>
        <p:nvSpPr>
          <p:cNvPr id="18" name="pf_687"/>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19" name="phx_688"/>
          <p:cNvSpPr/>
          <p:nvPr/>
        </p:nvSpPr>
        <p:spPr>
          <a:xfrm>
            <a:off x="457200" y="3657600"/>
            <a:ext cx="2377440" cy="105156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pe1-cafe-seat.jpg</a:t>
            </a:r>
            <a:endParaRPr lang="en-US" sz="900" dirty="0"/>
          </a:p>
        </p:txBody>
      </p:sp>
      <p:sp>
        <p:nvSpPr>
          <p:cNvPr id="20" name="bd_689"/>
          <p:cNvSpPr/>
          <p:nvPr/>
        </p:nvSpPr>
        <p:spPr>
          <a:xfrm>
            <a:off x="3246120" y="1452590"/>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690"/>
          <p:cNvSpPr/>
          <p:nvPr/>
        </p:nvSpPr>
        <p:spPr>
          <a:xfrm>
            <a:off x="3657600" y="1417320"/>
            <a:ext cx="2514600" cy="399723"/>
          </a:xfrm>
          <a:prstGeom prst="roundRect">
            <a:avLst>
              <a:gd name="adj" fmla="val 2287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A  Can I sit here? – Of course. ___</a:t>
            </a:r>
            <a:endParaRPr lang="en-US" sz="1100" dirty="0"/>
          </a:p>
        </p:txBody>
      </p:sp>
      <p:sp>
        <p:nvSpPr>
          <p:cNvPr id="22" name="R1_chip691"/>
          <p:cNvSpPr/>
          <p:nvPr/>
        </p:nvSpPr>
        <p:spPr>
          <a:xfrm>
            <a:off x="6263640" y="1417320"/>
            <a:ext cx="2560320" cy="399723"/>
          </a:xfrm>
          <a:prstGeom prst="roundRect">
            <a:avLst>
              <a:gd name="adj" fmla="val 2287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Go ahead.</a:t>
            </a:r>
            <a:endParaRPr lang="en-US" sz="1100" dirty="0"/>
          </a:p>
        </p:txBody>
      </p:sp>
      <p:sp>
        <p:nvSpPr>
          <p:cNvPr id="23" name="bd_692"/>
          <p:cNvSpPr/>
          <p:nvPr/>
        </p:nvSpPr>
        <p:spPr>
          <a:xfrm>
            <a:off x="3246120" y="1916321"/>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693"/>
          <p:cNvSpPr/>
          <p:nvPr/>
        </p:nvSpPr>
        <p:spPr>
          <a:xfrm>
            <a:off x="3657600" y="1881051"/>
            <a:ext cx="2514600" cy="399723"/>
          </a:xfrm>
          <a:prstGeom prst="roundRect">
            <a:avLst>
              <a:gd name="adj" fmla="val 2287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B  These sandwiches look bad! – ___ they're two days old!</a:t>
            </a:r>
            <a:endParaRPr lang="en-US" sz="1050" dirty="0"/>
          </a:p>
        </p:txBody>
      </p:sp>
      <p:sp>
        <p:nvSpPr>
          <p:cNvPr id="25" name="R2_chip694"/>
          <p:cNvSpPr/>
          <p:nvPr/>
        </p:nvSpPr>
        <p:spPr>
          <a:xfrm>
            <a:off x="6263640" y="1881051"/>
            <a:ext cx="2560320" cy="399723"/>
          </a:xfrm>
          <a:prstGeom prst="roundRect">
            <a:avLst>
              <a:gd name="adj" fmla="val 2287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That's because</a:t>
            </a:r>
            <a:endParaRPr lang="en-US" sz="1100" dirty="0"/>
          </a:p>
        </p:txBody>
      </p:sp>
      <p:sp>
        <p:nvSpPr>
          <p:cNvPr id="26" name="bd_695"/>
          <p:cNvSpPr/>
          <p:nvPr/>
        </p:nvSpPr>
        <p:spPr>
          <a:xfrm>
            <a:off x="3246120" y="2380053"/>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696"/>
          <p:cNvSpPr/>
          <p:nvPr/>
        </p:nvSpPr>
        <p:spPr>
          <a:xfrm>
            <a:off x="3657600" y="2344783"/>
            <a:ext cx="2514600" cy="399723"/>
          </a:xfrm>
          <a:prstGeom prst="roundRect">
            <a:avLst>
              <a:gd name="adj" fmla="val 2287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C  Did you like the film? – ___ It was too long.</a:t>
            </a:r>
            <a:endParaRPr lang="en-US" sz="1100" dirty="0"/>
          </a:p>
        </p:txBody>
      </p:sp>
      <p:sp>
        <p:nvSpPr>
          <p:cNvPr id="28" name="R3_chip697"/>
          <p:cNvSpPr/>
          <p:nvPr/>
        </p:nvSpPr>
        <p:spPr>
          <a:xfrm>
            <a:off x="6263640" y="2344783"/>
            <a:ext cx="2560320" cy="399723"/>
          </a:xfrm>
          <a:prstGeom prst="roundRect">
            <a:avLst>
              <a:gd name="adj" fmla="val 2287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Not really.</a:t>
            </a:r>
            <a:endParaRPr lang="en-US" sz="1100" dirty="0"/>
          </a:p>
        </p:txBody>
      </p:sp>
      <p:sp>
        <p:nvSpPr>
          <p:cNvPr id="29" name="bd_698"/>
          <p:cNvSpPr/>
          <p:nvPr/>
        </p:nvSpPr>
        <p:spPr>
          <a:xfrm>
            <a:off x="3246120" y="284378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699"/>
          <p:cNvSpPr/>
          <p:nvPr/>
        </p:nvSpPr>
        <p:spPr>
          <a:xfrm>
            <a:off x="3657600" y="2808514"/>
            <a:ext cx="2514600" cy="399723"/>
          </a:xfrm>
          <a:prstGeom prst="roundRect">
            <a:avLst>
              <a:gd name="adj" fmla="val 2287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D  What's in that file? – Bills, receipts, ___</a:t>
            </a:r>
            <a:endParaRPr lang="en-US" sz="1100" dirty="0"/>
          </a:p>
        </p:txBody>
      </p:sp>
      <p:sp>
        <p:nvSpPr>
          <p:cNvPr id="31" name="R4_chip700"/>
          <p:cNvSpPr/>
          <p:nvPr/>
        </p:nvSpPr>
        <p:spPr>
          <a:xfrm>
            <a:off x="6263640" y="2808514"/>
            <a:ext cx="2560320" cy="399723"/>
          </a:xfrm>
          <a:prstGeom prst="roundRect">
            <a:avLst>
              <a:gd name="adj" fmla="val 2287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things like that</a:t>
            </a:r>
            <a:endParaRPr lang="en-US" sz="1100" dirty="0"/>
          </a:p>
        </p:txBody>
      </p:sp>
      <p:sp>
        <p:nvSpPr>
          <p:cNvPr id="32" name="bd_701"/>
          <p:cNvSpPr/>
          <p:nvPr/>
        </p:nvSpPr>
        <p:spPr>
          <a:xfrm>
            <a:off x="3246120" y="3307515"/>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702"/>
          <p:cNvSpPr/>
          <p:nvPr/>
        </p:nvSpPr>
        <p:spPr>
          <a:xfrm>
            <a:off x="3657600" y="3272246"/>
            <a:ext cx="2514600" cy="399723"/>
          </a:xfrm>
          <a:prstGeom prst="roundRect">
            <a:avLst>
              <a:gd name="adj" fmla="val 2287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E  ___ your future after university?</a:t>
            </a:r>
            <a:endParaRPr lang="en-US" sz="1100" dirty="0"/>
          </a:p>
        </p:txBody>
      </p:sp>
      <p:sp>
        <p:nvSpPr>
          <p:cNvPr id="34" name="R5_chip703"/>
          <p:cNvSpPr/>
          <p:nvPr/>
        </p:nvSpPr>
        <p:spPr>
          <a:xfrm>
            <a:off x="6263640" y="3272246"/>
            <a:ext cx="2560320" cy="399723"/>
          </a:xfrm>
          <a:prstGeom prst="roundRect">
            <a:avLst>
              <a:gd name="adj" fmla="val 2287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How do you see</a:t>
            </a:r>
            <a:endParaRPr lang="en-US" sz="1100" dirty="0"/>
          </a:p>
        </p:txBody>
      </p:sp>
      <p:sp>
        <p:nvSpPr>
          <p:cNvPr id="35" name="bd_704"/>
          <p:cNvSpPr/>
          <p:nvPr/>
        </p:nvSpPr>
        <p:spPr>
          <a:xfrm>
            <a:off x="3246120" y="3771247"/>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6" name="gq_705"/>
          <p:cNvSpPr/>
          <p:nvPr/>
        </p:nvSpPr>
        <p:spPr>
          <a:xfrm>
            <a:off x="3657600" y="3735977"/>
            <a:ext cx="2514600" cy="399723"/>
          </a:xfrm>
          <a:prstGeom prst="roundRect">
            <a:avLst>
              <a:gd name="adj" fmla="val 2287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F  We've won a holiday in Paris! – ___</a:t>
            </a:r>
            <a:endParaRPr lang="en-US" sz="1100" dirty="0"/>
          </a:p>
        </p:txBody>
      </p:sp>
      <p:sp>
        <p:nvSpPr>
          <p:cNvPr id="37" name="R6_chip706"/>
          <p:cNvSpPr/>
          <p:nvPr/>
        </p:nvSpPr>
        <p:spPr>
          <a:xfrm>
            <a:off x="6263640" y="3735977"/>
            <a:ext cx="2560320" cy="399723"/>
          </a:xfrm>
          <a:prstGeom prst="roundRect">
            <a:avLst>
              <a:gd name="adj" fmla="val 2287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How incredible!</a:t>
            </a:r>
            <a:endParaRPr lang="en-US" sz="1100" dirty="0"/>
          </a:p>
        </p:txBody>
      </p:sp>
      <p:sp>
        <p:nvSpPr>
          <p:cNvPr id="38" name="bd_707"/>
          <p:cNvSpPr/>
          <p:nvPr/>
        </p:nvSpPr>
        <p:spPr>
          <a:xfrm>
            <a:off x="3246120" y="4234978"/>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7</a:t>
            </a:r>
            <a:endParaRPr lang="en-US" sz="1100" dirty="0"/>
          </a:p>
        </p:txBody>
      </p:sp>
      <p:sp>
        <p:nvSpPr>
          <p:cNvPr id="39" name="gq_708"/>
          <p:cNvSpPr/>
          <p:nvPr/>
        </p:nvSpPr>
        <p:spPr>
          <a:xfrm>
            <a:off x="3657600" y="4199709"/>
            <a:ext cx="2514600" cy="399723"/>
          </a:xfrm>
          <a:prstGeom prst="roundRect">
            <a:avLst>
              <a:gd name="adj" fmla="val 2287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G  Your new boss? – He's OK. ___, he's a nice ___.</a:t>
            </a:r>
            <a:endParaRPr lang="en-US" sz="1100" dirty="0"/>
          </a:p>
        </p:txBody>
      </p:sp>
      <p:sp>
        <p:nvSpPr>
          <p:cNvPr id="40" name="R7_chip709"/>
          <p:cNvSpPr/>
          <p:nvPr/>
        </p:nvSpPr>
        <p:spPr>
          <a:xfrm>
            <a:off x="6263640" y="4199709"/>
            <a:ext cx="2560320" cy="399723"/>
          </a:xfrm>
          <a:prstGeom prst="roundRect">
            <a:avLst>
              <a:gd name="adj" fmla="val 2287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 mean · guy</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710"/>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21</a:t>
            </a:r>
            <a:endParaRPr lang="en-US" sz="2200" dirty="0"/>
          </a:p>
        </p:txBody>
      </p:sp>
      <p:pic>
        <p:nvPicPr>
          <p:cNvPr id="4" name="brY_711" descr="/home/claude/lls-course/v2/assets/brush-yellow.png">    </p:cNvPr>
          <p:cNvPicPr>
            <a:picLocks noChangeAspect="1"/>
          </p:cNvPicPr>
          <p:nvPr/>
        </p:nvPicPr>
        <p:blipFill>
          <a:blip r:embed="rId2"/>
          <a:stretch>
            <a:fillRect/>
          </a:stretch>
        </p:blipFill>
        <p:spPr>
          <a:xfrm>
            <a:off x="1097280" y="146304"/>
            <a:ext cx="3247949" cy="621792"/>
          </a:xfrm>
          <a:prstGeom prst="rect">
            <a:avLst/>
          </a:prstGeom>
        </p:spPr>
      </p:pic>
      <p:sp>
        <p:nvSpPr>
          <p:cNvPr id="5" name="title_712"/>
          <p:cNvSpPr/>
          <p:nvPr/>
        </p:nvSpPr>
        <p:spPr>
          <a:xfrm>
            <a:off x="1261872" y="164592"/>
            <a:ext cx="297362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Meet my parents!</a:t>
            </a:r>
            <a:endParaRPr lang="en-US" sz="2500" dirty="0"/>
          </a:p>
        </p:txBody>
      </p:sp>
      <p:pic>
        <p:nvPicPr>
          <p:cNvPr id="6" name="brP_713" descr="/home/claude/lls-course/v2/assets/brush-pink.png">    </p:cNvPr>
          <p:cNvPicPr>
            <a:picLocks noChangeAspect="1"/>
          </p:cNvPicPr>
          <p:nvPr/>
        </p:nvPicPr>
        <p:blipFill>
          <a:blip r:embed="rId3"/>
          <a:stretch>
            <a:fillRect/>
          </a:stretch>
        </p:blipFill>
        <p:spPr>
          <a:xfrm>
            <a:off x="1207008" y="731520"/>
            <a:ext cx="2816352" cy="402336"/>
          </a:xfrm>
          <a:prstGeom prst="rect">
            <a:avLst/>
          </a:prstGeom>
        </p:spPr>
      </p:pic>
      <p:sp>
        <p:nvSpPr>
          <p:cNvPr id="7" name="ins_714"/>
          <p:cNvSpPr/>
          <p:nvPr/>
        </p:nvSpPr>
        <p:spPr>
          <a:xfrm>
            <a:off x="1353312" y="731520"/>
            <a:ext cx="256032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Groups of 3: act it out!</a:t>
            </a:r>
            <a:endParaRPr lang="en-US" sz="1250" dirty="0"/>
          </a:p>
        </p:txBody>
      </p:sp>
      <p:sp>
        <p:nvSpPr>
          <p:cNvPr id="8" name="insIT_71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Gruppi di 3: recitate la scena!</a:t>
            </a:r>
            <a:endParaRPr lang="en-US" sz="950" dirty="0"/>
          </a:p>
        </p:txBody>
      </p:sp>
      <p:sp>
        <p:nvSpPr>
          <p:cNvPr id="9" name="cmd_716"/>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717"/>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groups</a:t>
            </a:r>
            <a:endParaRPr lang="en-US" sz="950" dirty="0"/>
          </a:p>
        </p:txBody>
      </p:sp>
      <p:sp>
        <p:nvSpPr>
          <p:cNvPr id="11" name="tag_718"/>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71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72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PE1 · Speaking · role play   ·   📖 SB pp.14–15 · Can you…? · role play adapted from the episode</a:t>
            </a:r>
            <a:endParaRPr lang="en-US" sz="800" dirty="0"/>
          </a:p>
        </p:txBody>
      </p:sp>
      <p:sp>
        <p:nvSpPr>
          <p:cNvPr id="14" name="pf_721"/>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722" descr="/home/claude/lls-course/v2/cache/spare_future_parents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723"/>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724"/>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725"/>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726"/>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pitchFamily="34" charset="0"/>
                <a:ea typeface="Segoe UI" pitchFamily="34" charset="-122"/>
                <a:cs typeface="Segoe UI" pitchFamily="34" charset="-120"/>
              </a:rPr>
              <a:t>Mum, this is… · It's so nice to meet you at last!</a:t>
            </a:r>
            <a:endParaRPr lang="en-US" sz="900" dirty="0"/>
          </a:p>
          <a:p>
            <a:pPr marL="152400" indent="-152400">
              <a:spcBef>
                <a:spcPts val="500"/>
              </a:spcBef>
              <a:spcAft>
                <a:spcPts val="200"/>
              </a:spcAft>
              <a:buSzPct val="100000"/>
              <a:buChar char="•"/>
            </a:pPr>
            <a:r>
              <a:rPr lang="en-US" sz="900" dirty="0">
                <a:solidFill>
                  <a:srgbClr val="1B2559"/>
                </a:solidFill>
                <a:latin typeface="Segoe UI" pitchFamily="34" charset="0"/>
                <a:ea typeface="Segoe UI" pitchFamily="34" charset="-122"/>
                <a:cs typeface="Segoe UI" pitchFamily="34" charset="-120"/>
              </a:rPr>
              <a:t>Sorry we're late! · Never mind.</a:t>
            </a:r>
            <a:endParaRPr lang="en-US" sz="900" dirty="0"/>
          </a:p>
          <a:p>
            <a:pPr marL="152400" indent="-152400">
              <a:spcBef>
                <a:spcPts val="500"/>
              </a:spcBef>
              <a:spcAft>
                <a:spcPts val="200"/>
              </a:spcAft>
              <a:buSzPct val="100000"/>
              <a:buChar char="•"/>
            </a:pPr>
            <a:r>
              <a:rPr lang="en-US" sz="900" dirty="0">
                <a:solidFill>
                  <a:srgbClr val="1B2559"/>
                </a:solidFill>
                <a:latin typeface="Segoe UI" pitchFamily="34" charset="0"/>
                <a:ea typeface="Segoe UI" pitchFamily="34" charset="-122"/>
                <a:cs typeface="Segoe UI" pitchFamily="34" charset="-120"/>
              </a:rPr>
              <a:t>Not really. · I mean… · Go ahead!</a:t>
            </a:r>
            <a:endParaRPr lang="en-US" sz="900" dirty="0"/>
          </a:p>
        </p:txBody>
      </p:sp>
      <p:sp>
        <p:nvSpPr>
          <p:cNvPr id="20" name="R1_qb727"/>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728"/>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Son / daughter: introduce your partner.</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Mum, this is Luca. – It's so nice to meet you at last!</a:t>
            </a:r>
            <a:endParaRPr lang="en-US" sz="1250" dirty="0"/>
          </a:p>
        </p:txBody>
      </p:sp>
      <p:sp>
        <p:nvSpPr>
          <p:cNvPr id="22" name="R2_qb729"/>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730"/>
          <p:cNvSpPr/>
          <p:nvPr/>
        </p:nvSpPr>
        <p:spPr>
          <a:xfrm>
            <a:off x="3675888" y="2020824"/>
            <a:ext cx="51937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Partner: say sorry – you forgot the present!</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We left your cannoli on the bus! – What a pity. Never mind.</a:t>
            </a:r>
            <a:endParaRPr lang="en-US" sz="1250" dirty="0"/>
          </a:p>
        </p:txBody>
      </p:sp>
      <p:sp>
        <p:nvSpPr>
          <p:cNvPr id="24" name="R3_qb731"/>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732"/>
          <p:cNvSpPr/>
          <p:nvPr/>
        </p:nvSpPr>
        <p:spPr>
          <a:xfrm>
            <a:off x="3675888" y="2624328"/>
            <a:ext cx="51937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Son / daughter: tell some good news.</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I've got a new job! – Really? How fantastic!</a:t>
            </a:r>
            <a:endParaRPr lang="en-US" sz="1250" dirty="0"/>
          </a:p>
        </p:txBody>
      </p:sp>
      <p:sp>
        <p:nvSpPr>
          <p:cNvPr id="26" name="R4_qb733"/>
          <p:cNvSpPr/>
          <p:nvPr/>
        </p:nvSpPr>
        <p:spPr>
          <a:xfrm>
            <a:off x="3273552" y="326440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R4_sq734"/>
          <p:cNvSpPr/>
          <p:nvPr/>
        </p:nvSpPr>
        <p:spPr>
          <a:xfrm>
            <a:off x="3675888" y="3227832"/>
            <a:ext cx="5193792" cy="530352"/>
          </a:xfrm>
          <a:prstGeom prst="roundRect">
            <a:avLst>
              <a:gd name="adj" fmla="val 20690"/>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Parent: ask about the partner's job and plans.</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How do you see your future? – Not sure. I mean, I like cooking…</a:t>
            </a:r>
            <a:endParaRPr lang="en-US" sz="1250" dirty="0"/>
          </a:p>
        </p:txBody>
      </p:sp>
      <p:sp>
        <p:nvSpPr>
          <p:cNvPr id="28" name="R5_qb735"/>
          <p:cNvSpPr/>
          <p:nvPr/>
        </p:nvSpPr>
        <p:spPr>
          <a:xfrm>
            <a:off x="3273552" y="3867912"/>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29" name="R5_sq736"/>
          <p:cNvSpPr/>
          <p:nvPr/>
        </p:nvSpPr>
        <p:spPr>
          <a:xfrm>
            <a:off x="3675888" y="3831336"/>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Parent: offer food. Partner: surprise them!</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Go ahead – have an arancina! – I'm a chef, you know. – Really?</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400"/>
                                        <p:tgtEl>
                                          <p:spTgt spid="28"/>
                                        </p:tgtEl>
                                      </p:cBhvr>
                                    </p:animEffect>
                                  </p:childTnLst>
                                </p:cTn>
                              </p:par>
                              <p:par>
                                <p:cTn id="40" presetID="10" presetClass="entr" presetSubtype="0" fill="hold"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737"/>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22</a:t>
            </a:r>
            <a:endParaRPr lang="en-US" sz="2200" dirty="0"/>
          </a:p>
        </p:txBody>
      </p:sp>
      <p:pic>
        <p:nvPicPr>
          <p:cNvPr id="4" name="brY_738"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739"/>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Today you…</a:t>
            </a:r>
            <a:endParaRPr lang="en-US" sz="2400" dirty="0"/>
          </a:p>
        </p:txBody>
      </p:sp>
      <p:pic>
        <p:nvPicPr>
          <p:cNvPr id="6" name="brP_740" descr="/home/claude/lls-course/v2/assets/brush-pink.png">    </p:cNvPr>
          <p:cNvPicPr>
            <a:picLocks noChangeAspect="1"/>
          </p:cNvPicPr>
          <p:nvPr/>
        </p:nvPicPr>
        <p:blipFill>
          <a:blip r:embed="rId3"/>
          <a:stretch>
            <a:fillRect/>
          </a:stretch>
        </p:blipFill>
        <p:spPr>
          <a:xfrm>
            <a:off x="1207008" y="731520"/>
            <a:ext cx="4553712" cy="402336"/>
          </a:xfrm>
          <a:prstGeom prst="rect">
            <a:avLst/>
          </a:prstGeom>
        </p:spPr>
      </p:pic>
      <p:sp>
        <p:nvSpPr>
          <p:cNvPr id="7" name="ins_741"/>
          <p:cNvSpPr/>
          <p:nvPr/>
        </p:nvSpPr>
        <p:spPr>
          <a:xfrm>
            <a:off x="1353312" y="731520"/>
            <a:ext cx="429768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do it now? Thumbs up or thumbs down!</a:t>
            </a:r>
            <a:endParaRPr lang="en-US" sz="1250" dirty="0"/>
          </a:p>
        </p:txBody>
      </p:sp>
      <p:sp>
        <p:nvSpPr>
          <p:cNvPr id="8" name="insIT_74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Ora sai farlo? Pollice su o pollice giù!</a:t>
            </a:r>
            <a:endParaRPr lang="en-US" sz="950" dirty="0"/>
          </a:p>
        </p:txBody>
      </p:sp>
      <p:sp>
        <p:nvSpPr>
          <p:cNvPr id="9" name="cmd_743"/>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meta_744"/>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1 min   🙋 whole class</a:t>
            </a:r>
            <a:endParaRPr lang="en-US" sz="950" dirty="0"/>
          </a:p>
        </p:txBody>
      </p:sp>
      <p:sp>
        <p:nvSpPr>
          <p:cNvPr id="11" name="tag_745"/>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Reflection</a:t>
            </a:r>
            <a:endParaRPr lang="en-US" sz="850" dirty="0"/>
          </a:p>
        </p:txBody>
      </p:sp>
      <p:pic>
        <p:nvPicPr>
          <p:cNvPr id="12" name="logo_74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74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PE1 · Review · what did you do today?</a:t>
            </a:r>
            <a:endParaRPr lang="en-US" sz="800" dirty="0"/>
          </a:p>
        </p:txBody>
      </p:sp>
      <p:sp>
        <p:nvSpPr>
          <p:cNvPr id="14" name="cd_748"/>
          <p:cNvSpPr/>
          <p:nvPr/>
        </p:nvSpPr>
        <p:spPr>
          <a:xfrm>
            <a:off x="548640" y="1417320"/>
            <a:ext cx="6035040" cy="475488"/>
          </a:xfrm>
          <a:prstGeom prst="roundRect">
            <a:avLst>
              <a:gd name="adj" fmla="val 26923"/>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15" name="te_749"/>
          <p:cNvSpPr/>
          <p:nvPr/>
        </p:nvSpPr>
        <p:spPr>
          <a:xfrm>
            <a:off x="640080" y="1453896"/>
            <a:ext cx="457200"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tt_750"/>
          <p:cNvSpPr/>
          <p:nvPr/>
        </p:nvSpPr>
        <p:spPr>
          <a:xfrm>
            <a:off x="1188720" y="1417320"/>
            <a:ext cx="4754880" cy="475488"/>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Watched Jenny and Rob meet her parents</a:t>
            </a:r>
            <a:endParaRPr lang="en-US" sz="1350" dirty="0"/>
          </a:p>
        </p:txBody>
      </p:sp>
      <p:sp>
        <p:nvSpPr>
          <p:cNvPr id="17" name="R1_tk751"/>
          <p:cNvSpPr/>
          <p:nvPr/>
        </p:nvSpPr>
        <p:spPr>
          <a:xfrm>
            <a:off x="5989320" y="1453896"/>
            <a:ext cx="502920"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8" name="cd_752"/>
          <p:cNvSpPr/>
          <p:nvPr/>
        </p:nvSpPr>
        <p:spPr>
          <a:xfrm>
            <a:off x="548640" y="1965960"/>
            <a:ext cx="6035040" cy="475488"/>
          </a:xfrm>
          <a:prstGeom prst="roundRect">
            <a:avLst>
              <a:gd name="adj" fmla="val 26923"/>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9" name="te_753"/>
          <p:cNvSpPr/>
          <p:nvPr/>
        </p:nvSpPr>
        <p:spPr>
          <a:xfrm>
            <a:off x="640080" y="2002536"/>
            <a:ext cx="457200"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tt_754"/>
          <p:cNvSpPr/>
          <p:nvPr/>
        </p:nvSpPr>
        <p:spPr>
          <a:xfrm>
            <a:off x="1188720" y="1965960"/>
            <a:ext cx="4754880" cy="475488"/>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Reacted to good, bad and surprising news</a:t>
            </a:r>
            <a:endParaRPr lang="en-US" sz="1350" dirty="0"/>
          </a:p>
        </p:txBody>
      </p:sp>
      <p:sp>
        <p:nvSpPr>
          <p:cNvPr id="21" name="R2_tk755"/>
          <p:cNvSpPr/>
          <p:nvPr/>
        </p:nvSpPr>
        <p:spPr>
          <a:xfrm>
            <a:off x="5989320" y="2002536"/>
            <a:ext cx="502920"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cd_756"/>
          <p:cNvSpPr/>
          <p:nvPr/>
        </p:nvSpPr>
        <p:spPr>
          <a:xfrm>
            <a:off x="548640" y="2514600"/>
            <a:ext cx="6035040" cy="475488"/>
          </a:xfrm>
          <a:prstGeom prst="roundRect">
            <a:avLst>
              <a:gd name="adj" fmla="val 26923"/>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23" name="te_757"/>
          <p:cNvSpPr/>
          <p:nvPr/>
        </p:nvSpPr>
        <p:spPr>
          <a:xfrm>
            <a:off x="640080" y="2551176"/>
            <a:ext cx="457200"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tt_758"/>
          <p:cNvSpPr/>
          <p:nvPr/>
        </p:nvSpPr>
        <p:spPr>
          <a:xfrm>
            <a:off x="1188720" y="2514600"/>
            <a:ext cx="4754880" cy="475488"/>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Sounded interested: copy the music!</a:t>
            </a:r>
            <a:endParaRPr lang="en-US" sz="1350" dirty="0"/>
          </a:p>
        </p:txBody>
      </p:sp>
      <p:sp>
        <p:nvSpPr>
          <p:cNvPr id="25" name="R3_tk759"/>
          <p:cNvSpPr/>
          <p:nvPr/>
        </p:nvSpPr>
        <p:spPr>
          <a:xfrm>
            <a:off x="5989320" y="2551176"/>
            <a:ext cx="502920"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6" name="cd_760"/>
          <p:cNvSpPr/>
          <p:nvPr/>
        </p:nvSpPr>
        <p:spPr>
          <a:xfrm>
            <a:off x="548640" y="3063240"/>
            <a:ext cx="6035040" cy="475488"/>
          </a:xfrm>
          <a:prstGeom prst="roundRect">
            <a:avLst>
              <a:gd name="adj" fmla="val 26923"/>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7" name="te_761"/>
          <p:cNvSpPr/>
          <p:nvPr/>
        </p:nvSpPr>
        <p:spPr>
          <a:xfrm>
            <a:off x="640080" y="3099816"/>
            <a:ext cx="457200"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tt_762"/>
          <p:cNvSpPr/>
          <p:nvPr/>
        </p:nvSpPr>
        <p:spPr>
          <a:xfrm>
            <a:off x="1188720" y="3063240"/>
            <a:ext cx="4754880" cy="475488"/>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Used Social English: I mean…, Not really…</a:t>
            </a:r>
            <a:endParaRPr lang="en-US" sz="1350" dirty="0"/>
          </a:p>
        </p:txBody>
      </p:sp>
      <p:sp>
        <p:nvSpPr>
          <p:cNvPr id="29" name="R4_tk763"/>
          <p:cNvSpPr/>
          <p:nvPr/>
        </p:nvSpPr>
        <p:spPr>
          <a:xfrm>
            <a:off x="5989320" y="3099816"/>
            <a:ext cx="502920"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0" name="cd_764"/>
          <p:cNvSpPr/>
          <p:nvPr/>
        </p:nvSpPr>
        <p:spPr>
          <a:xfrm>
            <a:off x="548640" y="3611880"/>
            <a:ext cx="6035040" cy="475488"/>
          </a:xfrm>
          <a:prstGeom prst="roundRect">
            <a:avLst>
              <a:gd name="adj" fmla="val 26923"/>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31" name="te_765"/>
          <p:cNvSpPr/>
          <p:nvPr/>
        </p:nvSpPr>
        <p:spPr>
          <a:xfrm>
            <a:off x="640080" y="3648456"/>
            <a:ext cx="457200"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2" name="tt_766"/>
          <p:cNvSpPr/>
          <p:nvPr/>
        </p:nvSpPr>
        <p:spPr>
          <a:xfrm>
            <a:off x="1188720" y="3611880"/>
            <a:ext cx="4754880" cy="475488"/>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Listened to a class story and answered questions</a:t>
            </a:r>
            <a:endParaRPr lang="en-US" sz="1350" dirty="0"/>
          </a:p>
        </p:txBody>
      </p:sp>
      <p:sp>
        <p:nvSpPr>
          <p:cNvPr id="33" name="R5_tk767"/>
          <p:cNvSpPr/>
          <p:nvPr/>
        </p:nvSpPr>
        <p:spPr>
          <a:xfrm>
            <a:off x="5989320" y="3648456"/>
            <a:ext cx="502920"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4" name="cd_768"/>
          <p:cNvSpPr/>
          <p:nvPr/>
        </p:nvSpPr>
        <p:spPr>
          <a:xfrm>
            <a:off x="548640" y="4160520"/>
            <a:ext cx="6035040" cy="475488"/>
          </a:xfrm>
          <a:prstGeom prst="roundRect">
            <a:avLst>
              <a:gd name="adj" fmla="val 26923"/>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35" name="te_769"/>
          <p:cNvSpPr/>
          <p:nvPr/>
        </p:nvSpPr>
        <p:spPr>
          <a:xfrm>
            <a:off x="640080" y="4197096"/>
            <a:ext cx="457200"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6" name="tt_770"/>
          <p:cNvSpPr/>
          <p:nvPr/>
        </p:nvSpPr>
        <p:spPr>
          <a:xfrm>
            <a:off x="1188720" y="4160520"/>
            <a:ext cx="4754880" cy="475488"/>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Role-played meeting the parents</a:t>
            </a:r>
            <a:endParaRPr lang="en-US" sz="1350" dirty="0"/>
          </a:p>
        </p:txBody>
      </p:sp>
      <p:sp>
        <p:nvSpPr>
          <p:cNvPr id="37" name="R6_tk771"/>
          <p:cNvSpPr/>
          <p:nvPr/>
        </p:nvSpPr>
        <p:spPr>
          <a:xfrm>
            <a:off x="5989320" y="4197096"/>
            <a:ext cx="502920" cy="402336"/>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8" name="st_772"/>
          <p:cNvSpPr/>
          <p:nvPr/>
        </p:nvSpPr>
        <p:spPr>
          <a:xfrm rot="180000">
            <a:off x="6949440" y="1691640"/>
            <a:ext cx="1828800" cy="1188720"/>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  👌  👎</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Can you do it now?</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Ora sai farlo?</a:t>
            </a:r>
            <a:endParaRPr lang="en-US" sz="13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773"/>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23</a:t>
            </a:r>
            <a:endParaRPr lang="en-US" sz="2200" dirty="0"/>
          </a:p>
        </p:txBody>
      </p:sp>
      <p:pic>
        <p:nvPicPr>
          <p:cNvPr id="4" name="brY_774"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775"/>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776"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777"/>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What can you remember?</a:t>
            </a:r>
            <a:endParaRPr lang="en-US" sz="1250" dirty="0"/>
          </a:p>
        </p:txBody>
      </p:sp>
      <p:sp>
        <p:nvSpPr>
          <p:cNvPr id="8" name="insIT_778"/>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Libri chiusi! Cosa ricordi?</a:t>
            </a:r>
            <a:endParaRPr lang="en-US" sz="950" dirty="0"/>
          </a:p>
        </p:txBody>
      </p:sp>
      <p:sp>
        <p:nvSpPr>
          <p:cNvPr id="9" name="meta_779"/>
          <p:cNvSpPr/>
          <p:nvPr/>
        </p:nvSpPr>
        <p:spPr>
          <a:xfrm>
            <a:off x="6583680" y="182880"/>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0" name="tag_780"/>
          <p:cNvSpPr/>
          <p:nvPr/>
        </p:nvSpPr>
        <p:spPr>
          <a:xfrm>
            <a:off x="6510528" y="420624"/>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1" name="logo_78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78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PE1 · Exit · what can you remember?</a:t>
            </a:r>
            <a:endParaRPr lang="en-US" sz="800" dirty="0"/>
          </a:p>
        </p:txBody>
      </p:sp>
      <p:sp>
        <p:nvSpPr>
          <p:cNvPr id="13" name="bd_783"/>
          <p:cNvSpPr/>
          <p:nvPr/>
        </p:nvSpPr>
        <p:spPr>
          <a:xfrm>
            <a:off x="457200" y="1508760"/>
            <a:ext cx="777240" cy="7772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4" name="rt_784"/>
          <p:cNvSpPr/>
          <p:nvPr/>
        </p:nvSpPr>
        <p:spPr>
          <a:xfrm>
            <a:off x="1417320" y="1581912"/>
            <a:ext cx="3931920" cy="640080"/>
          </a:xfrm>
          <a:prstGeom prst="roundRect">
            <a:avLst>
              <a:gd name="adj" fmla="val 2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reactions: good news, bad news, surprising</a:t>
            </a:r>
            <a:endParaRPr lang="en-US" sz="1400" dirty="0"/>
          </a:p>
        </p:txBody>
      </p:sp>
      <p:sp>
        <p:nvSpPr>
          <p:cNvPr id="15" name="bd_785"/>
          <p:cNvSpPr/>
          <p:nvPr/>
        </p:nvSpPr>
        <p:spPr>
          <a:xfrm>
            <a:off x="457200" y="2468880"/>
            <a:ext cx="777240" cy="7772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6" name="rt_786"/>
          <p:cNvSpPr/>
          <p:nvPr/>
        </p:nvSpPr>
        <p:spPr>
          <a:xfrm>
            <a:off x="1417320" y="2542032"/>
            <a:ext cx="3931920" cy="640080"/>
          </a:xfrm>
          <a:prstGeom prst="roundRect">
            <a:avLst>
              <a:gd name="adj" fmla="val 2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Social English phrases (I mean…)</a:t>
            </a:r>
            <a:endParaRPr lang="en-US" sz="1400" dirty="0"/>
          </a:p>
        </p:txBody>
      </p:sp>
      <p:sp>
        <p:nvSpPr>
          <p:cNvPr id="17" name="bd_787"/>
          <p:cNvSpPr/>
          <p:nvPr/>
        </p:nvSpPr>
        <p:spPr>
          <a:xfrm>
            <a:off x="457200" y="3429000"/>
            <a:ext cx="777240" cy="777240"/>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8" name="rt_788"/>
          <p:cNvSpPr/>
          <p:nvPr/>
        </p:nvSpPr>
        <p:spPr>
          <a:xfrm>
            <a:off x="1417320" y="3502152"/>
            <a:ext cx="3931920" cy="640080"/>
          </a:xfrm>
          <a:prstGeom prst="roundRect">
            <a:avLst>
              <a:gd name="adj" fmla="val 2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piece of news – your partner reacts!</a:t>
            </a:r>
            <a:endParaRPr lang="en-US" sz="1400" dirty="0"/>
          </a:p>
        </p:txBody>
      </p:sp>
      <p:sp>
        <p:nvSpPr>
          <p:cNvPr id="19" name="cd_789"/>
          <p:cNvSpPr/>
          <p:nvPr/>
        </p:nvSpPr>
        <p:spPr>
          <a:xfrm>
            <a:off x="5669280" y="1417320"/>
            <a:ext cx="3200400" cy="2286000"/>
          </a:xfrm>
          <a:prstGeom prst="roundRect">
            <a:avLst>
              <a:gd name="adj" fmla="val 56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0" name="ii_790"/>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791"/>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2" name="il_792"/>
          <p:cNvSpPr/>
          <p:nvPr/>
        </p:nvSpPr>
        <p:spPr>
          <a:xfrm>
            <a:off x="6236208" y="1892808"/>
            <a:ext cx="2542032" cy="173736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Workbook Practical English 1: 1a, 1b, 2, 3</a:t>
            </a:r>
            <a:endParaRPr lang="en-US" sz="1150" dirty="0"/>
          </a:p>
          <a:p>
            <a:pPr marL="152400" indent="-152400">
              <a:spcBef>
                <a:spcPts val="500"/>
              </a:spcBef>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Workbook Can you remember? 1 (File 1 revision)</a:t>
            </a:r>
            <a:endParaRPr lang="en-US" sz="1150" dirty="0"/>
          </a:p>
          <a:p>
            <a:pPr marL="152400" indent="-152400">
              <a:spcBef>
                <a:spcPts val="500"/>
              </a:spcBef>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Homework sheet in the LLS app</a:t>
            </a:r>
            <a:endParaRPr lang="en-US" sz="1150" dirty="0"/>
          </a:p>
        </p:txBody>
      </p:sp>
      <p:sp>
        <p:nvSpPr>
          <p:cNvPr id="23" name="st_793"/>
          <p:cNvSpPr/>
          <p:nvPr/>
        </p:nvSpPr>
        <p:spPr>
          <a:xfrm rot="-180000">
            <a:off x="5806440" y="3931920"/>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2A part 1 · Money</a:t>
            </a:r>
            <a:endParaRPr lang="en-US" sz="1100" dirty="0"/>
          </a:p>
        </p:txBody>
      </p:sp>
    </p:spTree>
  </p:cSld>
  <p:clrMapOvr>
    <a:masterClrMapping/>
  </p:clrMapOvr>
  <p:transition spd="med">
    <p:push dir="l"/>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794"/>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24</a:t>
            </a:r>
            <a:endParaRPr lang="en-US" sz="2200" dirty="0"/>
          </a:p>
        </p:txBody>
      </p:sp>
      <p:pic>
        <p:nvPicPr>
          <p:cNvPr id="4" name="brY_795" descr="/home/claude/lls-course/v2/assets/brush-yellow.png">    </p:cNvPr>
          <p:cNvPicPr>
            <a:picLocks noChangeAspect="1"/>
          </p:cNvPicPr>
          <p:nvPr/>
        </p:nvPicPr>
        <p:blipFill>
          <a:blip r:embed="rId2"/>
          <a:stretch>
            <a:fillRect/>
          </a:stretch>
        </p:blipFill>
        <p:spPr>
          <a:xfrm>
            <a:off x="1097280" y="146304"/>
            <a:ext cx="4977994" cy="621792"/>
          </a:xfrm>
          <a:prstGeom prst="rect">
            <a:avLst/>
          </a:prstGeom>
        </p:spPr>
      </p:pic>
      <p:sp>
        <p:nvSpPr>
          <p:cNvPr id="5" name="title_796"/>
          <p:cNvSpPr/>
          <p:nvPr/>
        </p:nvSpPr>
        <p:spPr>
          <a:xfrm>
            <a:off x="1261872" y="164592"/>
            <a:ext cx="4703674"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Fortunately… unfortunately…</a:t>
            </a:r>
            <a:endParaRPr lang="en-US" sz="2400" dirty="0"/>
          </a:p>
        </p:txBody>
      </p:sp>
      <p:pic>
        <p:nvPicPr>
          <p:cNvPr id="6" name="brP_797" descr="/home/claude/lls-course/v2/assets/brush-pink.png">    </p:cNvPr>
          <p:cNvPicPr>
            <a:picLocks noChangeAspect="1"/>
          </p:cNvPicPr>
          <p:nvPr/>
        </p:nvPicPr>
        <p:blipFill>
          <a:blip r:embed="rId3"/>
          <a:stretch>
            <a:fillRect/>
          </a:stretch>
        </p:blipFill>
        <p:spPr>
          <a:xfrm>
            <a:off x="1207008" y="731520"/>
            <a:ext cx="4293108" cy="402336"/>
          </a:xfrm>
          <a:prstGeom prst="rect">
            <a:avLst/>
          </a:prstGeom>
        </p:spPr>
      </p:pic>
      <p:sp>
        <p:nvSpPr>
          <p:cNvPr id="7" name="ins_798"/>
          <p:cNvSpPr/>
          <p:nvPr/>
        </p:nvSpPr>
        <p:spPr>
          <a:xfrm>
            <a:off x="1353312" y="731520"/>
            <a:ext cx="403707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React! Then: Fortunately / Unfortunately…</a:t>
            </a:r>
            <a:endParaRPr lang="en-US" sz="1250" dirty="0"/>
          </a:p>
        </p:txBody>
      </p:sp>
      <p:sp>
        <p:nvSpPr>
          <p:cNvPr id="8" name="insIT_799"/>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Reagisci! Poi aggiungi: Per fortuna / Purtroppo…</a:t>
            </a:r>
            <a:endParaRPr lang="en-US" sz="950" dirty="0"/>
          </a:p>
        </p:txBody>
      </p:sp>
      <p:sp>
        <p:nvSpPr>
          <p:cNvPr id="9" name="cmd_800"/>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801"/>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whole class</a:t>
            </a:r>
            <a:endParaRPr lang="en-US" sz="950" dirty="0"/>
          </a:p>
        </p:txBody>
      </p:sp>
      <p:sp>
        <p:nvSpPr>
          <p:cNvPr id="11" name="tag_802"/>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2" name="logo_80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80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PE1 · Extra game · chain story</a:t>
            </a:r>
            <a:endParaRPr lang="en-US" sz="800" dirty="0"/>
          </a:p>
        </p:txBody>
      </p:sp>
      <p:sp>
        <p:nvSpPr>
          <p:cNvPr id="14" name="st_805"/>
          <p:cNvSpPr/>
          <p:nvPr/>
        </p:nvSpPr>
        <p:spPr>
          <a:xfrm rot="-180000">
            <a:off x="7315200" y="4773168"/>
            <a:ext cx="1600200" cy="292608"/>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00" dirty="0">
                <a:solidFill>
                  <a:srgbClr val="1B2559"/>
                </a:solidFill>
                <a:latin typeface="Arial Rounded MT Bold" pitchFamily="34" charset="0"/>
                <a:ea typeface="Arial Rounded MT Bold" pitchFamily="34" charset="-122"/>
                <a:cs typeface="Arial Rounded MT Bold" pitchFamily="34" charset="-120"/>
              </a:rPr>
              <a:t>EXTRA · if there's time</a:t>
            </a:r>
            <a:endParaRPr lang="en-US" sz="900" dirty="0"/>
          </a:p>
        </p:txBody>
      </p:sp>
      <p:sp>
        <p:nvSpPr>
          <p:cNvPr id="15" name="cd_806"/>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807"/>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808"/>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8" name="il_809"/>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950" dirty="0">
                <a:solidFill>
                  <a:srgbClr val="1B2559"/>
                </a:solidFill>
                <a:latin typeface="Segoe UI" pitchFamily="34" charset="0"/>
                <a:ea typeface="Segoe UI" pitchFamily="34" charset="-122"/>
                <a:cs typeface="Segoe UI" pitchFamily="34" charset="-120"/>
              </a:rPr>
              <a:t>Listen to the sentence.</a:t>
            </a:r>
            <a:endParaRPr lang="en-US" sz="950" dirty="0"/>
          </a:p>
          <a:p>
            <a:pPr marL="190500" indent="-190500">
              <a:spcAft>
                <a:spcPts val="200"/>
              </a:spcAft>
              <a:buSzPct val="100000"/>
              <a:buChar char="​"/>
            </a:pPr>
            <a:r>
              <a:rPr lang="en-US" sz="850" i="1" dirty="0">
                <a:solidFill>
                  <a:srgbClr val="5B6785"/>
                </a:solidFill>
                <a:latin typeface="Segoe UI" pitchFamily="34" charset="0"/>
                <a:ea typeface="Segoe UI" pitchFamily="34" charset="-122"/>
                <a:cs typeface="Segoe UI" pitchFamily="34" charset="-120"/>
              </a:rPr>
              <a:t>Ascolta la frase.</a:t>
            </a:r>
            <a:endParaRPr lang="en-US" sz="950" dirty="0"/>
          </a:p>
          <a:p>
            <a:pPr marL="190500" indent="-190500">
              <a:spcBef>
                <a:spcPts val="500"/>
              </a:spcBef>
              <a:spcAft>
                <a:spcPts val="200"/>
              </a:spcAft>
              <a:buSzPct val="100000"/>
              <a:buChar char="2"/>
            </a:pPr>
            <a:r>
              <a:rPr lang="en-US" sz="950" dirty="0">
                <a:solidFill>
                  <a:srgbClr val="1B2559"/>
                </a:solidFill>
                <a:latin typeface="Segoe UI" pitchFamily="34" charset="0"/>
                <a:ea typeface="Segoe UI" pitchFamily="34" charset="-122"/>
                <a:cs typeface="Segoe UI" pitchFamily="34" charset="-120"/>
              </a:rPr>
              <a:t>React – a DIFFERENT phrase each time!</a:t>
            </a:r>
            <a:endParaRPr lang="en-US" sz="950" dirty="0"/>
          </a:p>
          <a:p>
            <a:pPr marL="190500" indent="-190500">
              <a:spcAft>
                <a:spcPts val="200"/>
              </a:spcAft>
              <a:buSzPct val="100000"/>
              <a:buChar char="​"/>
            </a:pPr>
            <a:r>
              <a:rPr lang="en-US" sz="850" i="1" dirty="0">
                <a:solidFill>
                  <a:srgbClr val="5B6785"/>
                </a:solidFill>
                <a:latin typeface="Segoe UI" pitchFamily="34" charset="0"/>
                <a:ea typeface="Segoe UI" pitchFamily="34" charset="-122"/>
                <a:cs typeface="Segoe UI" pitchFamily="34" charset="-120"/>
              </a:rPr>
              <a:t>Reagisci – ogni volta una frase DIVERSA!</a:t>
            </a:r>
            <a:endParaRPr lang="en-US" sz="950" dirty="0"/>
          </a:p>
          <a:p>
            <a:pPr marL="190500" indent="-190500">
              <a:spcBef>
                <a:spcPts val="500"/>
              </a:spcBef>
              <a:spcAft>
                <a:spcPts val="200"/>
              </a:spcAft>
              <a:buSzPct val="100000"/>
              <a:buChar char="3"/>
            </a:pPr>
            <a:r>
              <a:rPr lang="en-US" sz="950" dirty="0">
                <a:solidFill>
                  <a:srgbClr val="1B2559"/>
                </a:solidFill>
                <a:latin typeface="Segoe UI" pitchFamily="34" charset="0"/>
                <a:ea typeface="Segoe UI" pitchFamily="34" charset="-122"/>
                <a:cs typeface="Segoe UI" pitchFamily="34" charset="-120"/>
              </a:rPr>
              <a:t>Add: Fortunately… / Unfortunately…</a:t>
            </a:r>
            <a:endParaRPr lang="en-US" sz="950" dirty="0"/>
          </a:p>
          <a:p>
            <a:pPr marL="190500" indent="-190500">
              <a:spcAft>
                <a:spcPts val="200"/>
              </a:spcAft>
              <a:buSzPct val="100000"/>
              <a:buChar char="​"/>
            </a:pPr>
            <a:r>
              <a:rPr lang="en-US" sz="850" i="1" dirty="0">
                <a:solidFill>
                  <a:srgbClr val="5B6785"/>
                </a:solidFill>
                <a:latin typeface="Segoe UI" pitchFamily="34" charset="0"/>
                <a:ea typeface="Segoe UI" pitchFamily="34" charset="-122"/>
                <a:cs typeface="Segoe UI" pitchFamily="34" charset="-120"/>
              </a:rPr>
              <a:t>Aggiungi: Per fortuna… / Purtroppo…</a:t>
            </a:r>
            <a:endParaRPr lang="en-US" sz="950" dirty="0"/>
          </a:p>
        </p:txBody>
      </p:sp>
      <p:sp>
        <p:nvSpPr>
          <p:cNvPr id="19" name="pf_810"/>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0" name="phx_811"/>
          <p:cNvSpPr/>
          <p:nvPr/>
        </p:nvSpPr>
        <p:spPr>
          <a:xfrm>
            <a:off x="457200" y="3657600"/>
            <a:ext cx="2377440" cy="105156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pe1-reactions.jpg</a:t>
            </a:r>
            <a:endParaRPr lang="en-US" sz="900" dirty="0"/>
          </a:p>
        </p:txBody>
      </p:sp>
      <p:sp>
        <p:nvSpPr>
          <p:cNvPr id="21" name="bd_812"/>
          <p:cNvSpPr/>
          <p:nvPr/>
        </p:nvSpPr>
        <p:spPr>
          <a:xfrm>
            <a:off x="3246120" y="1508760"/>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2" name="gq_813"/>
          <p:cNvSpPr/>
          <p:nvPr/>
        </p:nvSpPr>
        <p:spPr>
          <a:xfrm>
            <a:off x="3657600" y="1417320"/>
            <a:ext cx="2514600" cy="512064"/>
          </a:xfrm>
          <a:prstGeom prst="roundRect">
            <a:avLst>
              <a:gd name="adj" fmla="val 17857"/>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Yesterday I won two tickets to a concert!</a:t>
            </a:r>
            <a:endParaRPr lang="en-US" sz="1100" dirty="0"/>
          </a:p>
        </p:txBody>
      </p:sp>
      <p:sp>
        <p:nvSpPr>
          <p:cNvPr id="23" name="R1_chip814"/>
          <p:cNvSpPr/>
          <p:nvPr/>
        </p:nvSpPr>
        <p:spPr>
          <a:xfrm>
            <a:off x="6263640" y="1417320"/>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 How fantastic! Unfortunately, the concert was in Rome…</a:t>
            </a:r>
            <a:endParaRPr lang="en-US" sz="1050" dirty="0"/>
          </a:p>
        </p:txBody>
      </p:sp>
      <p:sp>
        <p:nvSpPr>
          <p:cNvPr id="24" name="bd_815"/>
          <p:cNvSpPr/>
          <p:nvPr/>
        </p:nvSpPr>
        <p:spPr>
          <a:xfrm>
            <a:off x="3246120" y="2084832"/>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5" name="gq_816"/>
          <p:cNvSpPr/>
          <p:nvPr/>
        </p:nvSpPr>
        <p:spPr>
          <a:xfrm>
            <a:off x="3657600" y="1993392"/>
            <a:ext cx="2514600" cy="512064"/>
          </a:xfrm>
          <a:prstGeom prst="roundRect">
            <a:avLst>
              <a:gd name="adj" fmla="val 17857"/>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…the concert was in Rome.</a:t>
            </a:r>
            <a:endParaRPr lang="en-US" sz="1100" dirty="0"/>
          </a:p>
        </p:txBody>
      </p:sp>
      <p:sp>
        <p:nvSpPr>
          <p:cNvPr id="26" name="R2_chip817"/>
          <p:cNvSpPr/>
          <p:nvPr/>
        </p:nvSpPr>
        <p:spPr>
          <a:xfrm>
            <a:off x="6263640" y="1993392"/>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Oh no! Fortunately, my uncle had a car…</a:t>
            </a:r>
            <a:endParaRPr lang="en-US" sz="1100" dirty="0"/>
          </a:p>
        </p:txBody>
      </p:sp>
      <p:sp>
        <p:nvSpPr>
          <p:cNvPr id="27" name="bd_818"/>
          <p:cNvSpPr/>
          <p:nvPr/>
        </p:nvSpPr>
        <p:spPr>
          <a:xfrm>
            <a:off x="3246120"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8" name="gq_819"/>
          <p:cNvSpPr/>
          <p:nvPr/>
        </p:nvSpPr>
        <p:spPr>
          <a:xfrm>
            <a:off x="3657600" y="2569464"/>
            <a:ext cx="2514600" cy="512064"/>
          </a:xfrm>
          <a:prstGeom prst="roundRect">
            <a:avLst>
              <a:gd name="adj" fmla="val 17857"/>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…my uncle had a car.</a:t>
            </a:r>
            <a:endParaRPr lang="en-US" sz="1100" dirty="0"/>
          </a:p>
        </p:txBody>
      </p:sp>
      <p:sp>
        <p:nvSpPr>
          <p:cNvPr id="29" name="R3_chip820"/>
          <p:cNvSpPr/>
          <p:nvPr/>
        </p:nvSpPr>
        <p:spPr>
          <a:xfrm>
            <a:off x="6263640" y="2569464"/>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 What a great idea! Unfortunately, it broke down in Messina…</a:t>
            </a:r>
            <a:endParaRPr lang="en-US" sz="950" dirty="0"/>
          </a:p>
        </p:txBody>
      </p:sp>
      <p:sp>
        <p:nvSpPr>
          <p:cNvPr id="30" name="bd_821"/>
          <p:cNvSpPr/>
          <p:nvPr/>
        </p:nvSpPr>
        <p:spPr>
          <a:xfrm>
            <a:off x="3246120" y="3236976"/>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1" name="gq_822"/>
          <p:cNvSpPr/>
          <p:nvPr/>
        </p:nvSpPr>
        <p:spPr>
          <a:xfrm>
            <a:off x="3657600" y="3145536"/>
            <a:ext cx="2514600" cy="512064"/>
          </a:xfrm>
          <a:prstGeom prst="roundRect">
            <a:avLst>
              <a:gd name="adj" fmla="val 17857"/>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…it broke down in Messina.</a:t>
            </a:r>
            <a:endParaRPr lang="en-US" sz="1100" dirty="0"/>
          </a:p>
        </p:txBody>
      </p:sp>
      <p:sp>
        <p:nvSpPr>
          <p:cNvPr id="32" name="R4_chip823"/>
          <p:cNvSpPr/>
          <p:nvPr/>
        </p:nvSpPr>
        <p:spPr>
          <a:xfrm>
            <a:off x="6263640" y="3145536"/>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You're kidding! Fortunately…</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PE1 Meeting the parents</dc:title>
  <dc:subject>PptxGenJS Presentation</dc:subject>
  <dc:creator>PptxGenJS</dc:creator>
  <cp:lastModifiedBy>PptxGenJS</cp:lastModifiedBy>
  <cp:revision>1</cp:revision>
  <dcterms:created xsi:type="dcterms:W3CDTF">2026-10-12T10:16:36Z</dcterms:created>
  <dcterms:modified xsi:type="dcterms:W3CDTF">2026-10-12T10:16:36Z</dcterms:modified>
</cp:coreProperties>
</file>