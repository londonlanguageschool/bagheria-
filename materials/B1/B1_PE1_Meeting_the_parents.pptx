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61 min including a 4-minute TPRS class story ('Gino meets the parents') after the intonation slide. Timings are a guide: if you don't finish, note the slide you reached and start from there next lesson. If short of time, cut 'Social English in Italian' to 1 min and 'Have you heard my news?'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click once per word to show its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after the reactions chart, the How / What rule and the intonation practice, and before the game 'React!': students hear (and the class SAYS, with big interested music) the reactions for good, bad, surprising and interesting news many times before they have to choose them under pressure. Same situation as the video (meeting a partner's parents), but a new, local story. Click once per line. For each line: 1) say it, 2) ask the questions round the class (yes/no → either/or → who/what), 3) let the CLASS change details: 'Does Gino bring cannoli? No? What does he bring?' – accept their idea and use it in later lines. Make the class say the parents' reactions in chorus with exaggerated intonation. Students answer with one word or a short phrase – that's fine. Finish: 'What happens next?' – one or two ideas, then play 'React!'. Watch for ✗ What fantastic! · ✗ How a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in Italian (2 min)
CONSOLIDATION for slower students (2 min). Class says the Italian, then click once per word to show its Italian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14 and 20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watch Jenny and Rob meet her parents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react to good, bad and surprising news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sound interested: copy the music!</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use Social English: I mean…, Not really…</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role-play meeting the parents</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1b2_bossy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personality and birth order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 File 1: food and family words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106424"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reliable</a:t>
            </a:r>
            <a:endParaRPr lang="en-US" sz="1200" dirty="0"/>
          </a:p>
        </p:txBody>
      </p:sp>
      <p:sp>
        <p:nvSpPr>
          <p:cNvPr id="20" name="w_34"/>
          <p:cNvSpPr/>
          <p:nvPr/>
        </p:nvSpPr>
        <p:spPr>
          <a:xfrm>
            <a:off x="4443984" y="1783080"/>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stubborn</a:t>
            </a:r>
            <a:endParaRPr lang="en-US" sz="1200" dirty="0"/>
          </a:p>
        </p:txBody>
      </p:sp>
      <p:sp>
        <p:nvSpPr>
          <p:cNvPr id="21" name="w_35"/>
          <p:cNvSpPr/>
          <p:nvPr/>
        </p:nvSpPr>
        <p:spPr>
          <a:xfrm>
            <a:off x="5641848" y="1783080"/>
            <a:ext cx="84582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bossy</a:t>
            </a:r>
            <a:endParaRPr lang="en-US" sz="1200" dirty="0"/>
          </a:p>
        </p:txBody>
      </p:sp>
      <p:sp>
        <p:nvSpPr>
          <p:cNvPr id="22" name="w_36"/>
          <p:cNvSpPr/>
          <p:nvPr/>
        </p:nvSpPr>
        <p:spPr>
          <a:xfrm>
            <a:off x="6579108" y="1783080"/>
            <a:ext cx="1280160"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3" name="w_37"/>
          <p:cNvSpPr/>
          <p:nvPr/>
        </p:nvSpPr>
        <p:spPr>
          <a:xfrm>
            <a:off x="3246120" y="2185416"/>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4" name="w_38"/>
          <p:cNvSpPr/>
          <p:nvPr/>
        </p:nvSpPr>
        <p:spPr>
          <a:xfrm>
            <a:off x="4965192" y="2185416"/>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5" name="w_39"/>
          <p:cNvSpPr/>
          <p:nvPr/>
        </p:nvSpPr>
        <p:spPr>
          <a:xfrm>
            <a:off x="6336792" y="2185416"/>
            <a:ext cx="119329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aubergine</a:t>
            </a:r>
            <a:endParaRPr lang="en-US" sz="1200" dirty="0"/>
          </a:p>
        </p:txBody>
      </p:sp>
      <p:sp>
        <p:nvSpPr>
          <p:cNvPr id="26" name="w_40"/>
          <p:cNvSpPr/>
          <p:nvPr/>
        </p:nvSpPr>
        <p:spPr>
          <a:xfrm>
            <a:off x="7621524" y="2185416"/>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lamb</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10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opposites: un- · a dis- · an im- · an in-</a:t>
            </a:r>
            <a:endParaRPr lang="en-US" sz="8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05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Make a step- · a half- · a -in-law · a great-</a:t>
            </a:r>
            <a:endParaRPr lang="en-US" sz="90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900" dirty="0"/>
          </a:p>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900" dirty="0"/>
          </a:p>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6"/>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Warmer · File 1 · food and family   ·   📖 Recycles File 1: 1A food and cooking · 1B family · 1B personality</a:t>
            </a:r>
            <a:endParaRPr lang="en-US" sz="800" dirty="0"/>
          </a:p>
        </p:txBody>
      </p:sp>
      <p:sp>
        <p:nvSpPr>
          <p:cNvPr id="12" name="cd_61"/>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say the word – 10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dite la parola – 10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word = 1 point. Spelling = +1.</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Parola giusta = 1 punto. Spelling = +1.</a:t>
            </a:r>
            <a:endParaRPr lang="en-US" sz="1200" dirty="0"/>
          </a:p>
        </p:txBody>
      </p:sp>
      <p:sp>
        <p:nvSpPr>
          <p:cNvPr id="16" name="pf_65"/>
          <p:cNvSpPr/>
          <p:nvPr/>
        </p:nvSpPr>
        <p:spPr>
          <a:xfrm rot="-120000">
            <a:off x="411480" y="3980688"/>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spare_1a1_supper_jpg_572x253_31.png">    </p:cNvPr>
          <p:cNvPicPr>
            <a:picLocks noChangeAspect="1"/>
          </p:cNvPicPr>
          <p:nvPr/>
        </p:nvPicPr>
        <p:blipFill>
          <a:blip r:embed="rId5"/>
          <a:stretch>
            <a:fillRect/>
          </a:stretch>
        </p:blipFill>
        <p:spPr>
          <a:xfrm rot="-120000">
            <a:off x="457200" y="4026408"/>
            <a:ext cx="2377440" cy="1051560"/>
          </a:xfrm>
          <a:prstGeom prst="rect">
            <a:avLst/>
          </a:prstGeom>
        </p:spPr>
      </p:pic>
      <p:sp>
        <p:nvSpPr>
          <p:cNvPr id="18" name="bd_6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sister's husband</a:t>
            </a:r>
            <a:endParaRPr lang="en-US" sz="900" dirty="0"/>
          </a:p>
        </p:txBody>
      </p:sp>
      <p:sp>
        <p:nvSpPr>
          <p:cNvPr id="20" name="chip_6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brother-in-law</a:t>
            </a:r>
            <a:endParaRPr lang="en-US" sz="1200" dirty="0"/>
          </a:p>
        </p:txBody>
      </p:sp>
      <p:sp>
        <p:nvSpPr>
          <p:cNvPr id="21" name="bd_7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00" dirty="0"/>
          </a:p>
        </p:txBody>
      </p:sp>
      <p:sp>
        <p:nvSpPr>
          <p:cNvPr id="23" name="R1_chip7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lamb</a:t>
            </a:r>
            <a:endParaRPr lang="en-US" sz="1200" dirty="0"/>
          </a:p>
        </p:txBody>
      </p:sp>
      <p:sp>
        <p:nvSpPr>
          <p:cNvPr id="24" name="bd_7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00" dirty="0"/>
          </a:p>
        </p:txBody>
      </p:sp>
      <p:sp>
        <p:nvSpPr>
          <p:cNvPr id="26" name="R2_chip7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stepmother</a:t>
            </a:r>
            <a:endParaRPr lang="en-US" sz="1200" dirty="0"/>
          </a:p>
        </p:txBody>
      </p:sp>
      <p:sp>
        <p:nvSpPr>
          <p:cNvPr id="27" name="bd_7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00" dirty="0"/>
          </a:p>
        </p:txBody>
      </p:sp>
      <p:sp>
        <p:nvSpPr>
          <p:cNvPr id="29" name="R3_chip7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raw</a:t>
            </a:r>
            <a:endParaRPr lang="en-US" sz="1200" dirty="0"/>
          </a:p>
        </p:txBody>
      </p:sp>
      <p:sp>
        <p:nvSpPr>
          <p:cNvPr id="30" name="bd_7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900" dirty="0"/>
          </a:p>
        </p:txBody>
      </p:sp>
      <p:sp>
        <p:nvSpPr>
          <p:cNvPr id="32" name="R4_chip8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an only child</a:t>
            </a:r>
            <a:endParaRPr lang="en-US" sz="1200" dirty="0"/>
          </a:p>
        </p:txBody>
      </p:sp>
      <p:sp>
        <p:nvSpPr>
          <p:cNvPr id="33" name="bd_8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900" dirty="0"/>
          </a:p>
        </p:txBody>
      </p:sp>
      <p:sp>
        <p:nvSpPr>
          <p:cNvPr id="35" name="R5_chip8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aubergine</a:t>
            </a:r>
            <a:endParaRPr lang="en-US" sz="1200" dirty="0"/>
          </a:p>
        </p:txBody>
      </p:sp>
      <p:sp>
        <p:nvSpPr>
          <p:cNvPr id="36" name="bd_8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grandmother's mother</a:t>
            </a:r>
            <a:endParaRPr lang="en-US" sz="900" dirty="0"/>
          </a:p>
        </p:txBody>
      </p:sp>
      <p:sp>
        <p:nvSpPr>
          <p:cNvPr id="38" name="R6_chip8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great-grandmother</a:t>
            </a:r>
            <a:endParaRPr lang="en-US" sz="1200" dirty="0"/>
          </a:p>
        </p:txBody>
      </p:sp>
      <p:sp>
        <p:nvSpPr>
          <p:cNvPr id="39" name="bd_8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900" dirty="0"/>
          </a:p>
        </p:txBody>
      </p:sp>
      <p:sp>
        <p:nvSpPr>
          <p:cNvPr id="41" name="R7_chip9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Chi sono Jenny e Rob?</a:t>
            </a:r>
            <a:endParaRPr lang="en-US" sz="950" dirty="0"/>
          </a:p>
        </p:txBody>
      </p:sp>
      <p:sp>
        <p:nvSpPr>
          <p:cNvPr id="9" name="note_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Episode 1 · Introduction   ·   📖 SB p.14 · 1a, 1b · video Episode 1 Introduction / audio 1.26</a:t>
            </a:r>
            <a:endParaRPr lang="en-US" sz="800" dirty="0"/>
          </a:p>
        </p:txBody>
      </p:sp>
      <p:sp>
        <p:nvSpPr>
          <p:cNvPr id="12" name="ap_10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3" name="ah_1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20" name="bd_106"/>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1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10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3" name="bd_10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11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1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11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photos A and B. Describe Jenny and Rob.</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le foto A e B. Descrivi Jenny e Rob.</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28" name="lq_11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29" name="R1_chip11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30" name="lq_11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1" name="R2_chip11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2" name="lq_11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3" name="R3_chip11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4" name="lq_12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5" name="R4_chip12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riguarda.</a:t>
            </a:r>
            <a:endParaRPr lang="en-US" sz="950" dirty="0"/>
          </a:p>
        </p:txBody>
      </p:sp>
      <p:sp>
        <p:nvSpPr>
          <p:cNvPr id="9" name="note_12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TPRS · reading</a:t>
            </a:r>
            <a:endParaRPr lang="en-US" sz="1150" dirty="0"/>
          </a:p>
        </p:txBody>
      </p:sp>
      <p:pic>
        <p:nvPicPr>
          <p:cNvPr id="10"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detail · gap fill   ·   📖 SB p.14 · 1b · video Introduction / audio 1.26</a:t>
            </a:r>
            <a:endParaRPr lang="en-US" sz="800" dirty="0"/>
          </a:p>
        </p:txBody>
      </p:sp>
      <p:sp>
        <p:nvSpPr>
          <p:cNvPr id="12" name="cd_13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3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4" name="ln_133"/>
          <p:cNvSpPr/>
          <p:nvPr/>
        </p:nvSpPr>
        <p:spPr>
          <a:xfrm>
            <a:off x="548640" y="1920240"/>
            <a:ext cx="5349240" cy="47860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called New York 24seven.</a:t>
            </a:r>
            <a:endParaRPr lang="en-US" sz="1300" dirty="0"/>
          </a:p>
        </p:txBody>
      </p:sp>
      <p:sp>
        <p:nvSpPr>
          <p:cNvPr id="15" name="R1_lnA134"/>
          <p:cNvSpPr/>
          <p:nvPr/>
        </p:nvSpPr>
        <p:spPr>
          <a:xfrm>
            <a:off x="548640" y="1920240"/>
            <a:ext cx="5349240" cy="47860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300" dirty="0">
                <a:solidFill>
                  <a:srgbClr val="1B2559"/>
                </a:solidFill>
                <a:latin typeface="Georgia" pitchFamily="34" charset="0"/>
                <a:ea typeface="Georgia" pitchFamily="34" charset="-122"/>
                <a:cs typeface="Georgia" pitchFamily="34" charset="-120"/>
              </a:rPr>
              <a:t> called New York 24seven.</a:t>
            </a:r>
            <a:endParaRPr lang="en-US" sz="1300" dirty="0"/>
          </a:p>
        </p:txBody>
      </p:sp>
      <p:sp>
        <p:nvSpPr>
          <p:cNvPr id="16" name="ln_135"/>
          <p:cNvSpPr/>
          <p:nvPr/>
        </p:nvSpPr>
        <p:spPr>
          <a:xfrm>
            <a:off x="548640" y="2398847"/>
            <a:ext cx="5349240" cy="23634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She's American and he's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R2_lnA136"/>
          <p:cNvSpPr/>
          <p:nvPr/>
        </p:nvSpPr>
        <p:spPr>
          <a:xfrm>
            <a:off x="548640" y="2398847"/>
            <a:ext cx="5349240" cy="23634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She's American and he's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ln_137"/>
          <p:cNvSpPr/>
          <p:nvPr/>
        </p:nvSpPr>
        <p:spPr>
          <a:xfrm>
            <a:off x="548640" y="2635196"/>
            <a:ext cx="5349240" cy="2599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Rob came to New York a few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ago.</a:t>
            </a:r>
            <a:endParaRPr lang="en-US" sz="1300" dirty="0"/>
          </a:p>
        </p:txBody>
      </p:sp>
      <p:sp>
        <p:nvSpPr>
          <p:cNvPr id="19" name="R3_lnA138"/>
          <p:cNvSpPr/>
          <p:nvPr/>
        </p:nvSpPr>
        <p:spPr>
          <a:xfrm>
            <a:off x="548640" y="2635196"/>
            <a:ext cx="5349240" cy="2599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Rob came to New York a few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300" dirty="0">
                <a:solidFill>
                  <a:srgbClr val="1B2559"/>
                </a:solidFill>
                <a:latin typeface="Georgia" pitchFamily="34" charset="0"/>
                <a:ea typeface="Georgia" pitchFamily="34" charset="-122"/>
                <a:cs typeface="Georgia" pitchFamily="34" charset="-120"/>
              </a:rPr>
              <a:t> ago.</a:t>
            </a:r>
            <a:endParaRPr lang="en-US" sz="1300" dirty="0"/>
          </a:p>
        </p:txBody>
      </p:sp>
      <p:sp>
        <p:nvSpPr>
          <p:cNvPr id="20" name="ln_139"/>
          <p:cNvSpPr/>
          <p:nvPr/>
        </p:nvSpPr>
        <p:spPr>
          <a:xfrm>
            <a:off x="548640" y="2895180"/>
            <a:ext cx="5349240" cy="36634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on a work trip.</a:t>
            </a:r>
            <a:endParaRPr lang="en-US" sz="1300" dirty="0"/>
          </a:p>
        </p:txBody>
      </p:sp>
      <p:sp>
        <p:nvSpPr>
          <p:cNvPr id="21" name="R4_lnA140"/>
          <p:cNvSpPr/>
          <p:nvPr/>
        </p:nvSpPr>
        <p:spPr>
          <a:xfrm>
            <a:off x="548640" y="2895180"/>
            <a:ext cx="5349240" cy="36634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300" dirty="0">
                <a:solidFill>
                  <a:srgbClr val="1B2559"/>
                </a:solidFill>
                <a:latin typeface="Georgia" pitchFamily="34" charset="0"/>
                <a:ea typeface="Georgia" pitchFamily="34" charset="-122"/>
                <a:cs typeface="Georgia" pitchFamily="34" charset="-120"/>
              </a:rPr>
              <a:t> on a work trip.</a:t>
            </a:r>
            <a:endParaRPr lang="en-US" sz="1300" dirty="0"/>
          </a:p>
        </p:txBody>
      </p:sp>
      <p:sp>
        <p:nvSpPr>
          <p:cNvPr id="22" name="ln_141"/>
          <p:cNvSpPr/>
          <p:nvPr/>
        </p:nvSpPr>
        <p:spPr>
          <a:xfrm>
            <a:off x="548640" y="3261521"/>
            <a:ext cx="5349240" cy="45497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R5_lnA142"/>
          <p:cNvSpPr/>
          <p:nvPr/>
        </p:nvSpPr>
        <p:spPr>
          <a:xfrm>
            <a:off x="548640" y="3261521"/>
            <a:ext cx="5349240" cy="454972"/>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4" name="ln_143"/>
          <p:cNvSpPr/>
          <p:nvPr/>
        </p:nvSpPr>
        <p:spPr>
          <a:xfrm>
            <a:off x="548640" y="3716494"/>
            <a:ext cx="5349240" cy="2599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Later, he was offered a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job.</a:t>
            </a:r>
            <a:endParaRPr lang="en-US" sz="1300" dirty="0"/>
          </a:p>
        </p:txBody>
      </p:sp>
      <p:sp>
        <p:nvSpPr>
          <p:cNvPr id="25" name="R6_lnA144"/>
          <p:cNvSpPr/>
          <p:nvPr/>
        </p:nvSpPr>
        <p:spPr>
          <a:xfrm>
            <a:off x="548640" y="3716494"/>
            <a:ext cx="5349240" cy="2599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Later, he was offered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300" dirty="0">
                <a:solidFill>
                  <a:srgbClr val="1B2559"/>
                </a:solidFill>
                <a:latin typeface="Georgia" pitchFamily="34" charset="0"/>
                <a:ea typeface="Georgia" pitchFamily="34" charset="-122"/>
                <a:cs typeface="Georgia" pitchFamily="34" charset="-120"/>
              </a:rPr>
              <a:t> job.</a:t>
            </a:r>
            <a:endParaRPr lang="en-US" sz="1300" dirty="0"/>
          </a:p>
        </p:txBody>
      </p:sp>
      <p:sp>
        <p:nvSpPr>
          <p:cNvPr id="26" name="ln_145"/>
          <p:cNvSpPr/>
          <p:nvPr/>
        </p:nvSpPr>
        <p:spPr>
          <a:xfrm>
            <a:off x="548640" y="3976478"/>
            <a:ext cx="5349240" cy="24225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helped Rob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an apartment.</a:t>
            </a:r>
            <a:endParaRPr lang="en-US" sz="1300" dirty="0"/>
          </a:p>
        </p:txBody>
      </p:sp>
      <p:sp>
        <p:nvSpPr>
          <p:cNvPr id="27" name="R7_lnA146"/>
          <p:cNvSpPr/>
          <p:nvPr/>
        </p:nvSpPr>
        <p:spPr>
          <a:xfrm>
            <a:off x="548640" y="3976478"/>
            <a:ext cx="5349240" cy="24225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helped Rob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300" dirty="0">
                <a:solidFill>
                  <a:srgbClr val="1B2559"/>
                </a:solidFill>
                <a:latin typeface="Georgia" pitchFamily="34" charset="0"/>
                <a:ea typeface="Georgia" pitchFamily="34" charset="-122"/>
                <a:cs typeface="Georgia" pitchFamily="34" charset="-120"/>
              </a:rPr>
              <a:t> an apartment.</a:t>
            </a:r>
            <a:endParaRPr lang="en-US" sz="1300" dirty="0"/>
          </a:p>
        </p:txBody>
      </p:sp>
      <p:sp>
        <p:nvSpPr>
          <p:cNvPr id="28" name="ln_147"/>
          <p:cNvSpPr/>
          <p:nvPr/>
        </p:nvSpPr>
        <p:spPr>
          <a:xfrm>
            <a:off x="548640" y="4218736"/>
            <a:ext cx="5349240" cy="49042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300" b="1" dirty="0">
                <a:solidFill>
                  <a:srgbClr val="2EB872"/>
                </a:solidFill>
                <a:latin typeface="Georgia" pitchFamily="34" charset="0"/>
                <a:ea typeface="Georgia" pitchFamily="34" charset="-122"/>
                <a:cs typeface="Georgia" pitchFamily="34" charset="-120"/>
              </a:rPr>
              <a:t> (8)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9" name="R8_lnA148"/>
          <p:cNvSpPr/>
          <p:nvPr/>
        </p:nvSpPr>
        <p:spPr>
          <a:xfrm>
            <a:off x="548640" y="4218736"/>
            <a:ext cx="5349240" cy="49042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30" name="ap_149"/>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1" name="ah_15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2"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3" name="ah_15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5" name="pf_152"/>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6" name="phx_153"/>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37" name="cd_15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8" name="ii_15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9" name="ih_15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0" name="il_15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apartment = American English</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flat = British English</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2"/>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2"/>
                                        </p:tgtEl>
                                      </p:cBhvr>
                                    </p:cmd>
                                  </p:childTnLst>
                                </p:cTn>
                              </p:par>
                            </p:childTnLst>
                          </p:cTn>
                        </p:par>
                      </p:childTnLst>
                    </p:cTn>
                  </p:par>
                </p:childTnLst>
              </p:cTn>
              <p:nextCondLst>
                <p:cond evt="onClick" delay="0">
                  <p:tgtEl>
                    <p:spTgt spid="32"/>
                  </p:tgtEl>
                </p:cond>
              </p:nextCondLst>
            </p:seq>
            <p:seq concurrent="1" nextAc="seek">
              <p:cTn id="48" restart="whenNotActive" fill="hold" evtFilter="cancelBubble" nodeType="interactiveSeq">
                <p:stCondLst>
                  <p:cond evt="onClick" delay="0">
                    <p:tgtEl>
                      <p:spTgt spid="3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4"/>
                                        </p:tgtEl>
                                      </p:cBhvr>
                                    </p:cmd>
                                  </p:childTnLst>
                                </p:cTn>
                              </p:par>
                            </p:childTnLst>
                          </p:cTn>
                        </p:par>
                      </p:childTnLst>
                    </p:cTn>
                  </p:par>
                </p:childTnLst>
              </p:cTn>
              <p:nextCondLst>
                <p:cond evt="onClick" delay="0">
                  <p:tgtEl>
                    <p:spTgt spid="34"/>
                  </p:tgtEl>
                </p:cond>
              </p:nextCondLst>
            </p:seq>
            <p:audio>
              <p:cMediaNode vol="80000">
                <p:cTn id="53" fill="hold" display="0">
                  <p:stCondLst>
                    <p:cond delay="indefinite"/>
                  </p:stCondLst>
                  <p:endCondLst>
                    <p:cond evt="onStopAudio" delay="0">
                      <p:tgtEl>
                        <p:sldTgt/>
                      </p:tgtEl>
                    </p:cond>
                  </p:endCondLst>
                </p:cTn>
                <p:tgtEl>
                  <p:spTgt spid="32"/>
                </p:tgtEl>
              </p:cMediaNode>
            </p:audio>
            <p:audio>
              <p:cMediaNode vol="80000">
                <p:cTn id="54" fill="hold" display="0">
                  <p:stCondLst>
                    <p:cond delay="indefinite"/>
                  </p:stCondLst>
                  <p:endCondLst>
                    <p:cond evt="onStopAudio" delay="0">
                      <p:tgtEl>
                        <p:sldTgt/>
                      </p:tgtEl>
                    </p:cond>
                  </p:endCondLst>
                </p:cTn>
                <p:tgtEl>
                  <p:spTgt spid="34"/>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Qual è la notizia brutta e quella bella?</a:t>
            </a:r>
            <a:endParaRPr lang="en-US" sz="950" dirty="0"/>
          </a:p>
        </p:txBody>
      </p:sp>
      <p:sp>
        <p:nvSpPr>
          <p:cNvPr id="9" name="note_16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gist   ·   📖 SB p.14 · 2a · video Scene 1 / audio 1.27</a:t>
            </a:r>
            <a:endParaRPr lang="en-US" sz="800" dirty="0"/>
          </a:p>
        </p:txBody>
      </p:sp>
      <p:sp>
        <p:nvSpPr>
          <p:cNvPr id="12" name="ap_16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3" name="ah_16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6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7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7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72"/>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0" name="bd_173"/>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17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175"/>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3" name="bd_176"/>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177"/>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17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7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180"/>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What's the problem?</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Qual è il problema?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28" name="lq_181"/>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29" name="R1_chip182"/>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30" name="lq_183"/>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1" name="R2_chip184"/>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2" name="lq_185"/>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3" name="R3_chip186"/>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8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9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note_1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detail   ·   📖 SB p.14 · 2b · video Scene 1 / audio 1.27</a:t>
            </a:r>
            <a:endParaRPr lang="en-US" sz="800" dirty="0"/>
          </a:p>
        </p:txBody>
      </p:sp>
      <p:sp>
        <p:nvSpPr>
          <p:cNvPr id="12" name="ap_19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3" name="ah_1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9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20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19" name="cd_20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0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0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0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3" name="R1_chip20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4" name="gq_20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5" name="R2_chip20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26" name="gq_20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27" name="R3_chip20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28" name="gq_21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29" name="R4_chip21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0" name="gq_212"/>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1" name="R5_chip213"/>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2" name="gq_214"/>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3" name="R6_chip215"/>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1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Poi ascolta.</a:t>
            </a:r>
            <a:endParaRPr lang="en-US" sz="950" dirty="0"/>
          </a:p>
        </p:txBody>
      </p:sp>
      <p:sp>
        <p:nvSpPr>
          <p:cNvPr id="9" name="note_22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reacting to what people say   ·   📖 SB p.14 · 2c · video listen and check / audio 1.28</a:t>
            </a:r>
            <a:endParaRPr lang="en-US" sz="800" dirty="0"/>
          </a:p>
        </p:txBody>
      </p:sp>
      <p:sp>
        <p:nvSpPr>
          <p:cNvPr id="12" name="ap_22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3" name="ah_22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2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2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22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19" name="cd_23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3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3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33"/>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3" name="R1_chip234"/>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4" name="gq_235"/>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5" name="R2_chip236"/>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6" name="gq_237"/>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27" name="R3_chip238"/>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28" name="gq_239"/>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29" name="R4_chip240"/>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0" name="gq_241"/>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1" name="R5_chip242"/>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2" name="gq_243"/>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3" name="R6_chip244"/>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4" name="gq_245"/>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5" name="R7_chip246"/>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4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Sorprendente, bella o brutta notizia? Abbina.</a:t>
            </a:r>
            <a:endParaRPr lang="en-US" sz="950" dirty="0"/>
          </a:p>
        </p:txBody>
      </p:sp>
      <p:sp>
        <p:nvSpPr>
          <p:cNvPr id="9" name="note_25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the reactions chart   ·   📖 SB p.15 · 2d · chart 'Reacting to what people say'</a:t>
            </a:r>
            <a:endParaRPr lang="en-US" sz="800" dirty="0"/>
          </a:p>
        </p:txBody>
      </p:sp>
      <p:sp>
        <p:nvSpPr>
          <p:cNvPr id="12" name="cd_256"/>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5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25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6" name="lg_26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7" name="lg_261"/>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18" name="lg_262"/>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19" name="sq_263"/>
          <p:cNvSpPr/>
          <p:nvPr/>
        </p:nvSpPr>
        <p:spPr>
          <a:xfrm>
            <a:off x="3246120" y="141732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0" name="R1_tag264"/>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1" name="sq_265"/>
          <p:cNvSpPr/>
          <p:nvPr/>
        </p:nvSpPr>
        <p:spPr>
          <a:xfrm>
            <a:off x="3246120" y="178308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2" name="R2_tag266"/>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67"/>
          <p:cNvSpPr/>
          <p:nvPr/>
        </p:nvSpPr>
        <p:spPr>
          <a:xfrm>
            <a:off x="3246120" y="214884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4" name="R3_tag268"/>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5" name="sq_269"/>
          <p:cNvSpPr/>
          <p:nvPr/>
        </p:nvSpPr>
        <p:spPr>
          <a:xfrm>
            <a:off x="3246120" y="251460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6" name="R4_tag270"/>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7" name="sq_271"/>
          <p:cNvSpPr/>
          <p:nvPr/>
        </p:nvSpPr>
        <p:spPr>
          <a:xfrm>
            <a:off x="3246120" y="288036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28" name="R5_tag272"/>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73"/>
          <p:cNvSpPr/>
          <p:nvPr/>
        </p:nvSpPr>
        <p:spPr>
          <a:xfrm>
            <a:off x="3246120" y="324612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0" name="R6_tag274"/>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75"/>
          <p:cNvSpPr/>
          <p:nvPr/>
        </p:nvSpPr>
        <p:spPr>
          <a:xfrm>
            <a:off x="3246120" y="361188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2" name="R7_tag276"/>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3" name="sq_277"/>
          <p:cNvSpPr/>
          <p:nvPr/>
        </p:nvSpPr>
        <p:spPr>
          <a:xfrm>
            <a:off x="3246120" y="397764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4" name="R8_tag278"/>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79"/>
          <p:cNvSpPr/>
          <p:nvPr/>
        </p:nvSpPr>
        <p:spPr>
          <a:xfrm>
            <a:off x="3246120" y="434340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6" name="R9_tag280"/>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pf_28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8" name="phx_282"/>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8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28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8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2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in Italian</a:t>
            </a:r>
            <a:endParaRPr lang="en-US" sz="800" dirty="0"/>
          </a:p>
        </p:txBody>
      </p:sp>
      <p:sp>
        <p:nvSpPr>
          <p:cNvPr id="12" name="cd_292"/>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9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9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5" name="R1_it29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6" name="cd_296"/>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9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9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19" name="R2_it29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0" name="cd_300"/>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0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0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3" name="R3_it30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4" name="cd_304"/>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0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0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7" name="R4_it30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8" name="cd_308"/>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0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1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1" name="R5_it31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2" name="cd_312"/>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1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1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5" name="R6_it31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6" name="cd_316"/>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1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1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39" name="R7_it31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0" name="cd_320"/>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2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2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3" name="R8_it32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4" name="cd_324"/>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2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2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7" name="R9_it32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8" name="cd_328"/>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2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3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1" name="R10_it33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2" name="cd_332"/>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3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3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5" name="R11_it33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6" name="cd_336"/>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3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3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59" name="R12_it33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0" name="R13_wc340"/>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4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4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How o What? Guarda gli esempi.</a:t>
            </a:r>
            <a:endParaRPr lang="en-US" sz="950" dirty="0"/>
          </a:p>
        </p:txBody>
      </p:sp>
      <p:sp>
        <p:nvSpPr>
          <p:cNvPr id="9" name="note_34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How + adjective, What + noun   ·   📖 SB p.15 · box 'How + adjective, What + noun'</a:t>
            </a:r>
            <a:endParaRPr lang="en-US" sz="800" dirty="0"/>
          </a:p>
        </p:txBody>
      </p:sp>
      <p:sp>
        <p:nvSpPr>
          <p:cNvPr id="12" name="cd_351"/>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352"/>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4" name="pf_353"/>
          <p:cNvSpPr/>
          <p:nvPr/>
        </p:nvSpPr>
        <p:spPr>
          <a:xfrm>
            <a:off x="1118422" y="1938528"/>
            <a:ext cx="1161676"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54" descr="/home/claude/lls-course/v2/cache/spare_work_success_jpg_257x209_31.png">    </p:cNvPr>
          <p:cNvPicPr>
            <a:picLocks noChangeAspect="1"/>
          </p:cNvPicPr>
          <p:nvPr/>
        </p:nvPicPr>
        <p:blipFill>
          <a:blip r:embed="rId5"/>
          <a:stretch>
            <a:fillRect/>
          </a:stretch>
        </p:blipFill>
        <p:spPr>
          <a:xfrm>
            <a:off x="1164142" y="1984248"/>
            <a:ext cx="1070236" cy="868680"/>
          </a:xfrm>
          <a:prstGeom prst="rect">
            <a:avLst/>
          </a:prstGeom>
        </p:spPr>
      </p:pic>
      <p:sp>
        <p:nvSpPr>
          <p:cNvPr id="16" name="ru_355"/>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7" name="R1_rx356"/>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8" name="R1_ri357"/>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bello! · Che interessante!</a:t>
            </a:r>
            <a:endParaRPr lang="en-US" sz="900" dirty="0"/>
          </a:p>
        </p:txBody>
      </p:sp>
      <p:sp>
        <p:nvSpPr>
          <p:cNvPr id="19" name="cd_358"/>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359"/>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1" name="pf_360"/>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61"/>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3" name="ru_362"/>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4" name="R2_rx363"/>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5" name="R2_ri364"/>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peccato! · Che disastro!</a:t>
            </a:r>
            <a:endParaRPr lang="en-US" sz="900" dirty="0"/>
          </a:p>
        </p:txBody>
      </p:sp>
      <p:sp>
        <p:nvSpPr>
          <p:cNvPr id="26" name="cd_365"/>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366"/>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8" name="pf_367"/>
          <p:cNvSpPr/>
          <p:nvPr/>
        </p:nvSpPr>
        <p:spPr>
          <a:xfrm>
            <a:off x="6902225" y="1938528"/>
            <a:ext cx="117647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368" descr="/home/claude/lls-course/v2/cache/spare_life_celebrations_jpg_261x209_31.png">    </p:cNvPr>
          <p:cNvPicPr>
            <a:picLocks noChangeAspect="1"/>
          </p:cNvPicPr>
          <p:nvPr/>
        </p:nvPicPr>
        <p:blipFill>
          <a:blip r:embed="rId6"/>
          <a:stretch>
            <a:fillRect/>
          </a:stretch>
        </p:blipFill>
        <p:spPr>
          <a:xfrm>
            <a:off x="6947945" y="1984248"/>
            <a:ext cx="1085030" cy="868680"/>
          </a:xfrm>
          <a:prstGeom prst="rect">
            <a:avLst/>
          </a:prstGeom>
        </p:spPr>
      </p:pic>
      <p:sp>
        <p:nvSpPr>
          <p:cNvPr id="30" name="ru_369"/>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1" name="R3_rx370"/>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2" name="R3_ri371"/>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news = notizie: no 'a'!</a:t>
            </a:r>
            <a:endParaRPr lang="en-US" sz="900" dirty="0"/>
          </a:p>
        </p:txBody>
      </p:sp>
      <p:sp>
        <p:nvSpPr>
          <p:cNvPr id="33" name="R4_wc372"/>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4" name="R4_w373"/>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7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7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la musica: su e giù!</a:t>
            </a:r>
            <a:endParaRPr lang="en-US" sz="950" dirty="0"/>
          </a:p>
        </p:txBody>
      </p:sp>
      <p:sp>
        <p:nvSpPr>
          <p:cNvPr id="9" name="note_38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3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Pronunciation · sounding interested   ·   📖 SB p.15 · 2d, 2e · video listen and repeat / audio 1.29</a:t>
            </a:r>
            <a:endParaRPr lang="en-US" sz="800" dirty="0"/>
          </a:p>
        </p:txBody>
      </p:sp>
      <p:sp>
        <p:nvSpPr>
          <p:cNvPr id="12" name="ap_383"/>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3" name="ah_38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8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386"/>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38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8"/>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89"/>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1" name="pf_39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91"/>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23" name="bd_392"/>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393"/>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5" name="R2_sf394"/>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6" name="bd_395"/>
          <p:cNvSpPr/>
          <p:nvPr/>
        </p:nvSpPr>
        <p:spPr>
          <a:xfrm>
            <a:off x="3291840" y="211226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R3_sw396"/>
          <p:cNvSpPr/>
          <p:nvPr/>
        </p:nvSpPr>
        <p:spPr>
          <a:xfrm>
            <a:off x="3749040" y="2084832"/>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28" name="R4_sf397"/>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29" name="bd_398"/>
          <p:cNvSpPr/>
          <p:nvPr/>
        </p:nvSpPr>
        <p:spPr>
          <a:xfrm>
            <a:off x="3291840" y="277977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R5_sw399"/>
          <p:cNvSpPr/>
          <p:nvPr/>
        </p:nvSpPr>
        <p:spPr>
          <a:xfrm>
            <a:off x="3749040" y="2752344"/>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1" name="R6_sf400"/>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2" name="bd_401"/>
          <p:cNvSpPr/>
          <p:nvPr/>
        </p:nvSpPr>
        <p:spPr>
          <a:xfrm>
            <a:off x="3291840" y="344728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R7_sw402"/>
          <p:cNvSpPr/>
          <p:nvPr/>
        </p:nvSpPr>
        <p:spPr>
          <a:xfrm>
            <a:off x="3749040"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4" name="R8_sf403"/>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5" name="bd_404"/>
          <p:cNvSpPr/>
          <p:nvPr/>
        </p:nvSpPr>
        <p:spPr>
          <a:xfrm>
            <a:off x="3291840" y="411480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R9_sw405"/>
          <p:cNvSpPr/>
          <p:nvPr/>
        </p:nvSpPr>
        <p:spPr>
          <a:xfrm>
            <a:off x="3749040"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37" name="R9_sw406"/>
          <p:cNvSpPr/>
          <p:nvPr/>
        </p:nvSpPr>
        <p:spPr>
          <a:xfrm>
            <a:off x="4773168"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38" name="R9_sw407"/>
          <p:cNvSpPr/>
          <p:nvPr/>
        </p:nvSpPr>
        <p:spPr>
          <a:xfrm>
            <a:off x="5797296"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39" name="R10_sf408"/>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par>
                                <p:cTn id="48" presetID="10" presetClass="entr" presetSubtype="0" fill="hold"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400"/>
                                        <p:tgtEl>
                                          <p:spTgt spid="37"/>
                                        </p:tgtEl>
                                      </p:cBhvr>
                                    </p:animEffect>
                                  </p:childTnLst>
                                </p:cTn>
                              </p:par>
                              <p:par>
                                <p:cTn id="51" presetID="10"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4"/>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4"/>
                                        </p:tgtEl>
                                      </p:cBhvr>
                                    </p:cmd>
                                  </p:childTnLst>
                                </p:cTn>
                              </p:par>
                            </p:childTnLst>
                          </p:cTn>
                        </p:par>
                      </p:childTnLst>
                    </p:cTn>
                  </p:par>
                </p:childTnLst>
              </p:cTn>
              <p:nextCondLst>
                <p:cond evt="onClick" delay="0">
                  <p:tgtEl>
                    <p:spTgt spid="14"/>
                  </p:tgtEl>
                </p:cond>
              </p:nextCondLst>
            </p:seq>
            <p:seq concurrent="1" nextAc="seek">
              <p:cTn id="64" restart="whenNotActive" fill="hold" evtFilter="cancelBubble" nodeType="interactiveSeq">
                <p:stCondLst>
                  <p:cond evt="onClick" delay="0">
                    <p:tgtEl>
                      <p:spTgt spid="16"/>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6"/>
                                        </p:tgtEl>
                                      </p:cBhvr>
                                    </p:cmd>
                                  </p:childTnLst>
                                </p:cTn>
                              </p:par>
                            </p:childTnLst>
                          </p:cTn>
                        </p:par>
                      </p:childTnLst>
                    </p:cTn>
                  </p:par>
                </p:childTnLst>
              </p:cTn>
              <p:nextCondLst>
                <p:cond evt="onClick" delay="0">
                  <p:tgtEl>
                    <p:spTgt spid="16"/>
                  </p:tgtEl>
                </p:cond>
              </p:nextCondLst>
            </p:seq>
            <p:audio>
              <p:cMediaNode vol="80000">
                <p:cTn id="69" fill="hold" display="0">
                  <p:stCondLst>
                    <p:cond delay="indefinite"/>
                  </p:stCondLst>
                  <p:endCondLst>
                    <p:cond evt="onStopAudio" delay="0">
                      <p:tgtEl>
                        <p:sldTgt/>
                      </p:tgtEl>
                    </p:cond>
                  </p:endCondLst>
                </p:cTn>
                <p:tgtEl>
                  <p:spTgt spid="14"/>
                </p:tgtEl>
              </p:cMediaNode>
            </p:audio>
            <p:audio>
              <p:cMediaNode vol="80000">
                <p:cTn id="70"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1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Gino meets the parents</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class story (TPRS)</a:t>
            </a:r>
            <a:endParaRPr lang="en-US" sz="800" dirty="0"/>
          </a:p>
        </p:txBody>
      </p:sp>
      <p:sp>
        <p:nvSpPr>
          <p:cNvPr id="12" name="pf_418"/>
          <p:cNvSpPr/>
          <p:nvPr/>
        </p:nvSpPr>
        <p:spPr>
          <a:xfrm rot="-90000">
            <a:off x="899045" y="1417320"/>
            <a:ext cx="158519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19" descr="/home/claude/lls-course/v2/cache/spare_future_parents_jpg_359x286_31.png">    </p:cNvPr>
          <p:cNvPicPr>
            <a:picLocks noChangeAspect="1"/>
          </p:cNvPicPr>
          <p:nvPr/>
        </p:nvPicPr>
        <p:blipFill>
          <a:blip r:embed="rId5"/>
          <a:stretch>
            <a:fillRect/>
          </a:stretch>
        </p:blipFill>
        <p:spPr>
          <a:xfrm rot="-90000">
            <a:off x="944765" y="1463040"/>
            <a:ext cx="1493750" cy="1188720"/>
          </a:xfrm>
          <a:prstGeom prst="rect">
            <a:avLst/>
          </a:prstGeom>
        </p:spPr>
      </p:pic>
      <p:sp>
        <p:nvSpPr>
          <p:cNvPr id="14" name="cd_420"/>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1"/>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2"/>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23"/>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How fantastic!</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Fantastico! / Che bello!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What a pity. Never mind.</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Che peccato. Pazienza.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Really? How interesting!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Davvero? Che interessante!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You're kidding!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Stai scherzando!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Oh no!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Oh no!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What a great idea!</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Che bella idea!</a:t>
            </a:r>
            <a:endParaRPr lang="en-US" sz="700" dirty="0"/>
          </a:p>
        </p:txBody>
      </p:sp>
      <p:sp>
        <p:nvSpPr>
          <p:cNvPr id="18" name="R1_sb424"/>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25"/>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Gino meets his girlfriend's parents. He brings cannoli. Her mum says,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How fantastic!</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Gino bring cannoli or flowers? · What does Mum say?</a:t>
            </a:r>
            <a:endParaRPr lang="en-US" sz="900" dirty="0"/>
          </a:p>
        </p:txBody>
      </p:sp>
      <p:sp>
        <p:nvSpPr>
          <p:cNvPr id="20" name="R2_sb426"/>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27"/>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Oh no! Gino sits on the cannoli. Mum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What a pity. Never mind.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Where does Gino sit? · Good or bad news? · What does Mum say?</a:t>
            </a:r>
            <a:endParaRPr lang="en-US" sz="1050" dirty="0"/>
          </a:p>
        </p:txBody>
      </p:sp>
      <p:sp>
        <p:nvSpPr>
          <p:cNvPr id="22" name="R3_sb428"/>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29"/>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Gino says, 'I've got some news. I'm a chef!' Dad says,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Really? How interesting!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Gino a chef or a teacher? · What does Dad say?</a:t>
            </a:r>
            <a:endParaRPr lang="en-US" sz="900" dirty="0"/>
          </a:p>
        </p:txBody>
      </p:sp>
      <p:sp>
        <p:nvSpPr>
          <p:cNvPr id="24" name="R4_sb430"/>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31"/>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make fifty arancine in ten minutes!' Dad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You're kidding!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How many arancine? · Does Dad believe him?</a:t>
            </a:r>
            <a:endParaRPr lang="en-US" sz="1050" dirty="0"/>
          </a:p>
        </p:txBody>
      </p:sp>
      <p:sp>
        <p:nvSpPr>
          <p:cNvPr id="26" name="R5_sb432"/>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33"/>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Gino cooks the arancine. They're black! Everybody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Oh no!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Are the arancine golden or black? · What does everybody say?</a:t>
            </a:r>
            <a:endParaRPr lang="en-US" sz="1100" dirty="0"/>
          </a:p>
        </p:txBody>
      </p:sp>
      <p:sp>
        <p:nvSpPr>
          <p:cNvPr id="28" name="R6_sb434"/>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35"/>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Dad says, 'Let's order a pizza!' Mum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What a great idea!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does Dad want? · And you – what do you take when you meet new people?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38"/>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4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notizia. Reagisci in 5 secondi!</a:t>
            </a:r>
            <a:endParaRPr lang="en-US" sz="950" dirty="0"/>
          </a:p>
        </p:txBody>
      </p:sp>
      <p:sp>
        <p:nvSpPr>
          <p:cNvPr id="9" name="note_4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4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game</a:t>
            </a:r>
            <a:endParaRPr lang="en-US" sz="800" dirty="0"/>
          </a:p>
        </p:txBody>
      </p:sp>
      <p:sp>
        <p:nvSpPr>
          <p:cNvPr id="12" name="cd_445"/>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4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4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48"/>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react + ask a question – 5 seconds!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reagite + fate una domanda – 5 secondi!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Right reaction + right music = 2 points.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Reazione giusta + intonazione = 2 punti.</a:t>
            </a:r>
            <a:endParaRPr lang="en-US" sz="1100" dirty="0"/>
          </a:p>
        </p:txBody>
      </p:sp>
      <p:sp>
        <p:nvSpPr>
          <p:cNvPr id="16" name="pf_449"/>
          <p:cNvSpPr/>
          <p:nvPr/>
        </p:nvSpPr>
        <p:spPr>
          <a:xfrm rot="-120000">
            <a:off x="943471" y="3980688"/>
            <a:ext cx="140489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50" descr="/home/claude/lls-course/v2/cache/spare_life_celebrations_jpg_316x253_31.png">    </p:cNvPr>
          <p:cNvPicPr>
            <a:picLocks noChangeAspect="1"/>
          </p:cNvPicPr>
          <p:nvPr/>
        </p:nvPicPr>
        <p:blipFill>
          <a:blip r:embed="rId5"/>
          <a:stretch>
            <a:fillRect/>
          </a:stretch>
        </p:blipFill>
        <p:spPr>
          <a:xfrm rot="-120000">
            <a:off x="989191" y="4026408"/>
            <a:ext cx="1313458" cy="1051560"/>
          </a:xfrm>
          <a:prstGeom prst="rect">
            <a:avLst/>
          </a:prstGeom>
        </p:spPr>
      </p:pic>
      <p:sp>
        <p:nvSpPr>
          <p:cNvPr id="18" name="bd_451"/>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52"/>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250" dirty="0"/>
          </a:p>
        </p:txBody>
      </p:sp>
      <p:sp>
        <p:nvSpPr>
          <p:cNvPr id="20" name="chip_453"/>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200" dirty="0"/>
          </a:p>
        </p:txBody>
      </p:sp>
      <p:sp>
        <p:nvSpPr>
          <p:cNvPr id="21" name="bd_454"/>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55"/>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missed the last bus home."</a:t>
            </a:r>
            <a:endParaRPr lang="en-US" sz="1250" dirty="0"/>
          </a:p>
        </p:txBody>
      </p:sp>
      <p:sp>
        <p:nvSpPr>
          <p:cNvPr id="23" name="R1_chip45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200" dirty="0"/>
          </a:p>
        </p:txBody>
      </p:sp>
      <p:sp>
        <p:nvSpPr>
          <p:cNvPr id="24" name="bd_457"/>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58"/>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250" dirty="0"/>
          </a:p>
        </p:txBody>
      </p:sp>
      <p:sp>
        <p:nvSpPr>
          <p:cNvPr id="26" name="R2_chip45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200" dirty="0"/>
          </a:p>
        </p:txBody>
      </p:sp>
      <p:sp>
        <p:nvSpPr>
          <p:cNvPr id="27" name="bd_460"/>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61"/>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250" dirty="0"/>
          </a:p>
        </p:txBody>
      </p:sp>
      <p:sp>
        <p:nvSpPr>
          <p:cNvPr id="29" name="R3_chip46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a great idea!</a:t>
            </a:r>
            <a:endParaRPr lang="en-US" sz="1200" dirty="0"/>
          </a:p>
        </p:txBody>
      </p:sp>
      <p:sp>
        <p:nvSpPr>
          <p:cNvPr id="30" name="bd_463"/>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64"/>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"Sorry, I forgot my homework!"</a:t>
            </a:r>
            <a:endParaRPr lang="en-US" sz="1250" dirty="0"/>
          </a:p>
        </p:txBody>
      </p:sp>
      <p:sp>
        <p:nvSpPr>
          <p:cNvPr id="32" name="R4_chip46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200" dirty="0"/>
          </a:p>
        </p:txBody>
      </p:sp>
      <p:sp>
        <p:nvSpPr>
          <p:cNvPr id="33" name="bd_466"/>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67"/>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250" dirty="0"/>
          </a:p>
        </p:txBody>
      </p:sp>
      <p:sp>
        <p:nvSpPr>
          <p:cNvPr id="35" name="R5_chip46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7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notizia. Il compagno reagisce!</a:t>
            </a:r>
            <a:endParaRPr lang="en-US" sz="950" dirty="0"/>
          </a:p>
        </p:txBody>
      </p:sp>
      <p:sp>
        <p:nvSpPr>
          <p:cNvPr id="9" name="note_47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telling news and reacting   ·   📖 SB p.15 · 2f · Communication How awful! How fantastic! (A p.106, B p.111)</a:t>
            </a:r>
            <a:endParaRPr lang="en-US" sz="800" dirty="0"/>
          </a:p>
        </p:txBody>
      </p:sp>
      <p:sp>
        <p:nvSpPr>
          <p:cNvPr id="12" name="pf_478"/>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3" name="phx_479"/>
          <p:cNvSpPr/>
          <p:nvPr/>
        </p:nvSpPr>
        <p:spPr>
          <a:xfrm>
            <a:off x="365760" y="1417320"/>
            <a:ext cx="269748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14" name="cd_480"/>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81"/>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2"/>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83"/>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When / Where / Who…?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it happen?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Tell me more!</a:t>
            </a:r>
            <a:endParaRPr lang="en-US" sz="1150" dirty="0"/>
          </a:p>
        </p:txBody>
      </p:sp>
      <p:sp>
        <p:nvSpPr>
          <p:cNvPr id="18" name="R1_qb48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8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GOOD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I've passed my driving test! – How fantastic! When?</a:t>
            </a:r>
            <a:endParaRPr lang="en-US" sz="1400" dirty="0"/>
          </a:p>
        </p:txBody>
      </p:sp>
      <p:sp>
        <p:nvSpPr>
          <p:cNvPr id="20" name="R2_qb48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8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small BAD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I've lost my house keys. – Oh no! What a pity. Where?</a:t>
            </a:r>
            <a:endParaRPr lang="en-US" sz="1400" dirty="0"/>
          </a:p>
        </p:txBody>
      </p:sp>
      <p:sp>
        <p:nvSpPr>
          <p:cNvPr id="22" name="R3_qb48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8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SURPRISING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My little brother speaks Chinese! – You're kidding! Really?</a:t>
            </a:r>
            <a:endParaRPr lang="en-US" sz="1400" dirty="0"/>
          </a:p>
        </p:txBody>
      </p:sp>
      <p:sp>
        <p:nvSpPr>
          <p:cNvPr id="24" name="R4_qb49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491"/>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INTERESTING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I'm learning to make cannoli. – Really? How interesting!</a:t>
            </a:r>
            <a:endParaRPr lang="en-US" sz="1400" dirty="0"/>
          </a:p>
        </p:txBody>
      </p:sp>
      <p:sp>
        <p:nvSpPr>
          <p:cNvPr id="26" name="R5_qb492"/>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493"/>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A SUGGESTION</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Shall we eat out on Friday? – What a great idea! Where?</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4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serata finisce bene?</a:t>
            </a:r>
            <a:endParaRPr lang="en-US" sz="950" dirty="0"/>
          </a:p>
        </p:txBody>
      </p:sp>
      <p:sp>
        <p:nvSpPr>
          <p:cNvPr id="9" name="note_50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gist   ·   📖 SB p.15 · 3a · video Scene 2 / audio 1.30</a:t>
            </a:r>
            <a:endParaRPr lang="en-US" sz="800" dirty="0"/>
          </a:p>
        </p:txBody>
      </p:sp>
      <p:sp>
        <p:nvSpPr>
          <p:cNvPr id="12" name="ap_503"/>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3" name="ah_5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50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50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0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20" name="bd_509"/>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51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51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pe1-graduation.jpg</a:t>
            </a:r>
            <a:endParaRPr lang="en-US" sz="900" dirty="0"/>
          </a:p>
        </p:txBody>
      </p:sp>
      <p:sp>
        <p:nvSpPr>
          <p:cNvPr id="23" name="bd_512"/>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513"/>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51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1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516"/>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 are they talking about?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Di cosa parlano?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Well or badly?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Bene o male?</a:t>
            </a:r>
            <a:endParaRPr lang="en-US" sz="700" dirty="0"/>
          </a:p>
        </p:txBody>
      </p:sp>
      <p:sp>
        <p:nvSpPr>
          <p:cNvPr id="28" name="lq_517"/>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29" name="R1_chip518"/>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30" name="lq_519"/>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1" name="R2_chip520"/>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2" name="lq_521"/>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3" name="R3_chip522"/>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4" name="lq_523"/>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5" name="R4_chip524"/>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2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28"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29"/>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1–6. Poi riguarda.</a:t>
            </a:r>
            <a:endParaRPr lang="en-US" sz="950" dirty="0"/>
          </a:p>
        </p:txBody>
      </p:sp>
      <p:sp>
        <p:nvSpPr>
          <p:cNvPr id="9" name="note_5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detail   ·   📖 SB p.15 · 3b · video Scene 2 / audio 1.30</a:t>
            </a:r>
            <a:endParaRPr lang="en-US" sz="800" dirty="0"/>
          </a:p>
        </p:txBody>
      </p:sp>
      <p:sp>
        <p:nvSpPr>
          <p:cNvPr id="12" name="ap_53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3" name="ah_5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3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19" name="cd_53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54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3" name="R1_chip54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4" name="gq_54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5" name="R2_chip54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26" name="gq_54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27" name="R3_chip54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28" name="gq_548"/>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29" name="R4_chip549"/>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0" name="gq_550"/>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1" name="R5_chip551"/>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2" name="gq_552"/>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3" name="R6_chip553"/>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5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note_56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5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phrases   ·   📖 SB p.15 · 3c, 3d · video Social English / audio 1.31</a:t>
            </a:r>
            <a:endParaRPr lang="en-US" sz="800" dirty="0"/>
          </a:p>
        </p:txBody>
      </p:sp>
      <p:sp>
        <p:nvSpPr>
          <p:cNvPr id="12" name="ap_56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3" name="pf_56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56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pe1-photography.jpg</a:t>
            </a:r>
            <a:endParaRPr lang="en-US" sz="900" dirty="0"/>
          </a:p>
        </p:txBody>
      </p:sp>
      <p:sp>
        <p:nvSpPr>
          <p:cNvPr id="15" name="cd_56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6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8" name="gq_569"/>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19" name="R1_chip570"/>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0" name="gq_571"/>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1" name="R2_chip572"/>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2" name="gq_573"/>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3" name="R3_chip574"/>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4" name="gq_575"/>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5" name="R4_chip576"/>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6" name="gq_577"/>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27" name="R5_chip578"/>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28" name="gq_579"/>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29" name="R6_chip580"/>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0" name="gq_581"/>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1" name="R7_chip582"/>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2" name="gq_583"/>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3" name="R8_chip584"/>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8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8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5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59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in Italian</a:t>
            </a:r>
            <a:endParaRPr lang="en-US" sz="800" dirty="0"/>
          </a:p>
        </p:txBody>
      </p:sp>
      <p:sp>
        <p:nvSpPr>
          <p:cNvPr id="12" name="cd_594"/>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5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5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5" name="R1_it5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6" name="cd_598"/>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5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6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19" name="R2_it6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0" name="cd_602"/>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6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6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3" name="R3_it6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4" name="cd_606"/>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6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7" name="R4_it6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8" name="cd_610"/>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6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6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1" name="R5_it6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2" name="cd_614"/>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6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6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5" name="R6_it6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6" name="cd_618"/>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6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6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39" name="R7_it6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0" name="cd_622"/>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6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6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3" name="R8_it6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4" name="cd_626"/>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6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6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7" name="R9_it6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8" name="cd_630"/>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6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6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1" name="R10_it6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2" name="cd_634"/>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6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6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5" name="R11_it6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6" name="cd_638"/>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6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6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59" name="R12_it6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0" name="R13_wc642"/>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6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4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4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Vince la squadra più veloce!</a:t>
            </a:r>
            <a:endParaRPr lang="en-US" sz="950" dirty="0"/>
          </a:p>
        </p:txBody>
      </p:sp>
      <p:sp>
        <p:nvSpPr>
          <p:cNvPr id="9" name="note_6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game   ·   📖 SB p.15 · 3e</a:t>
            </a:r>
            <a:endParaRPr lang="en-US" sz="800" dirty="0"/>
          </a:p>
        </p:txBody>
      </p:sp>
      <p:sp>
        <p:nvSpPr>
          <p:cNvPr id="12" name="cd_653"/>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5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56"/>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6" name="pf_657"/>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58"/>
          <p:cNvSpPr/>
          <p:nvPr/>
        </p:nvSpPr>
        <p:spPr>
          <a:xfrm>
            <a:off x="457200" y="41148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pe1-cafe-seat.jpg</a:t>
            </a:r>
            <a:endParaRPr lang="en-US" sz="900" dirty="0"/>
          </a:p>
        </p:txBody>
      </p:sp>
      <p:sp>
        <p:nvSpPr>
          <p:cNvPr id="18" name="bd_659"/>
          <p:cNvSpPr/>
          <p:nvPr/>
        </p:nvSpPr>
        <p:spPr>
          <a:xfrm>
            <a:off x="3246120" y="1452590"/>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60"/>
          <p:cNvSpPr/>
          <p:nvPr/>
        </p:nvSpPr>
        <p:spPr>
          <a:xfrm>
            <a:off x="3657600" y="1417320"/>
            <a:ext cx="251460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050" dirty="0"/>
          </a:p>
        </p:txBody>
      </p:sp>
      <p:sp>
        <p:nvSpPr>
          <p:cNvPr id="20" name="chip_661"/>
          <p:cNvSpPr/>
          <p:nvPr/>
        </p:nvSpPr>
        <p:spPr>
          <a:xfrm>
            <a:off x="6263640" y="1417320"/>
            <a:ext cx="256032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Go ahead.</a:t>
            </a:r>
            <a:endParaRPr lang="en-US" sz="1200" dirty="0"/>
          </a:p>
        </p:txBody>
      </p:sp>
      <p:sp>
        <p:nvSpPr>
          <p:cNvPr id="21" name="bd_662"/>
          <p:cNvSpPr/>
          <p:nvPr/>
        </p:nvSpPr>
        <p:spPr>
          <a:xfrm>
            <a:off x="3246120" y="1916321"/>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63"/>
          <p:cNvSpPr/>
          <p:nvPr/>
        </p:nvSpPr>
        <p:spPr>
          <a:xfrm>
            <a:off x="3657600" y="1881051"/>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3" name="R1_chip664"/>
          <p:cNvSpPr/>
          <p:nvPr/>
        </p:nvSpPr>
        <p:spPr>
          <a:xfrm>
            <a:off x="6263640" y="1881051"/>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That's because</a:t>
            </a:r>
            <a:endParaRPr lang="en-US" sz="1200" dirty="0"/>
          </a:p>
        </p:txBody>
      </p:sp>
      <p:sp>
        <p:nvSpPr>
          <p:cNvPr id="24" name="bd_665"/>
          <p:cNvSpPr/>
          <p:nvPr/>
        </p:nvSpPr>
        <p:spPr>
          <a:xfrm>
            <a:off x="3246120" y="2380053"/>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66"/>
          <p:cNvSpPr/>
          <p:nvPr/>
        </p:nvSpPr>
        <p:spPr>
          <a:xfrm>
            <a:off x="3657600" y="2344783"/>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050" dirty="0"/>
          </a:p>
        </p:txBody>
      </p:sp>
      <p:sp>
        <p:nvSpPr>
          <p:cNvPr id="26" name="R2_chip667"/>
          <p:cNvSpPr/>
          <p:nvPr/>
        </p:nvSpPr>
        <p:spPr>
          <a:xfrm>
            <a:off x="6263640" y="2344783"/>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Not really.</a:t>
            </a:r>
            <a:endParaRPr lang="en-US" sz="1200" dirty="0"/>
          </a:p>
        </p:txBody>
      </p:sp>
      <p:sp>
        <p:nvSpPr>
          <p:cNvPr id="27" name="bd_668"/>
          <p:cNvSpPr/>
          <p:nvPr/>
        </p:nvSpPr>
        <p:spPr>
          <a:xfrm>
            <a:off x="3246120" y="284378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69"/>
          <p:cNvSpPr/>
          <p:nvPr/>
        </p:nvSpPr>
        <p:spPr>
          <a:xfrm>
            <a:off x="3657600" y="2808514"/>
            <a:ext cx="2514600" cy="399723"/>
          </a:xfrm>
          <a:prstGeom prst="roundRect">
            <a:avLst>
              <a:gd name="adj" fmla="val 2287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050" dirty="0"/>
          </a:p>
        </p:txBody>
      </p:sp>
      <p:sp>
        <p:nvSpPr>
          <p:cNvPr id="29" name="R3_chip670"/>
          <p:cNvSpPr/>
          <p:nvPr/>
        </p:nvSpPr>
        <p:spPr>
          <a:xfrm>
            <a:off x="6263640" y="2808514"/>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things like that</a:t>
            </a:r>
            <a:endParaRPr lang="en-US" sz="1200" dirty="0"/>
          </a:p>
        </p:txBody>
      </p:sp>
      <p:sp>
        <p:nvSpPr>
          <p:cNvPr id="30" name="bd_671"/>
          <p:cNvSpPr/>
          <p:nvPr/>
        </p:nvSpPr>
        <p:spPr>
          <a:xfrm>
            <a:off x="3246120" y="3307515"/>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72"/>
          <p:cNvSpPr/>
          <p:nvPr/>
        </p:nvSpPr>
        <p:spPr>
          <a:xfrm>
            <a:off x="3657600" y="3272246"/>
            <a:ext cx="2514600" cy="399723"/>
          </a:xfrm>
          <a:prstGeom prst="roundRect">
            <a:avLst>
              <a:gd name="adj" fmla="val 2287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050" dirty="0"/>
          </a:p>
        </p:txBody>
      </p:sp>
      <p:sp>
        <p:nvSpPr>
          <p:cNvPr id="32" name="R4_chip673"/>
          <p:cNvSpPr/>
          <p:nvPr/>
        </p:nvSpPr>
        <p:spPr>
          <a:xfrm>
            <a:off x="6263640" y="3272246"/>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do you see</a:t>
            </a:r>
            <a:endParaRPr lang="en-US" sz="1200" dirty="0"/>
          </a:p>
        </p:txBody>
      </p:sp>
      <p:sp>
        <p:nvSpPr>
          <p:cNvPr id="33" name="bd_674"/>
          <p:cNvSpPr/>
          <p:nvPr/>
        </p:nvSpPr>
        <p:spPr>
          <a:xfrm>
            <a:off x="3246120" y="3771247"/>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75"/>
          <p:cNvSpPr/>
          <p:nvPr/>
        </p:nvSpPr>
        <p:spPr>
          <a:xfrm>
            <a:off x="3657600" y="3735977"/>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050" dirty="0"/>
          </a:p>
        </p:txBody>
      </p:sp>
      <p:sp>
        <p:nvSpPr>
          <p:cNvPr id="35" name="R5_chip676"/>
          <p:cNvSpPr/>
          <p:nvPr/>
        </p:nvSpPr>
        <p:spPr>
          <a:xfrm>
            <a:off x="6263640" y="3735977"/>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incredible!</a:t>
            </a:r>
            <a:endParaRPr lang="en-US" sz="1200" dirty="0"/>
          </a:p>
        </p:txBody>
      </p:sp>
      <p:sp>
        <p:nvSpPr>
          <p:cNvPr id="36" name="bd_677"/>
          <p:cNvSpPr/>
          <p:nvPr/>
        </p:nvSpPr>
        <p:spPr>
          <a:xfrm>
            <a:off x="3246120" y="4234978"/>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78"/>
          <p:cNvSpPr/>
          <p:nvPr/>
        </p:nvSpPr>
        <p:spPr>
          <a:xfrm>
            <a:off x="3657600" y="4199709"/>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050" dirty="0"/>
          </a:p>
        </p:txBody>
      </p:sp>
      <p:sp>
        <p:nvSpPr>
          <p:cNvPr id="38" name="R6_chip679"/>
          <p:cNvSpPr/>
          <p:nvPr/>
        </p:nvSpPr>
        <p:spPr>
          <a:xfrm>
            <a:off x="6263640" y="4199709"/>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mean · guy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8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684"/>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6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3: recitate la scena!</a:t>
            </a:r>
            <a:endParaRPr lang="en-US" sz="950" dirty="0"/>
          </a:p>
        </p:txBody>
      </p:sp>
      <p:sp>
        <p:nvSpPr>
          <p:cNvPr id="9" name="note_6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role play   ·   📖 SB pp.14–15 · Can you…? · role play adapted from the episode</a:t>
            </a:r>
            <a:endParaRPr lang="en-US" sz="800" dirty="0"/>
          </a:p>
        </p:txBody>
      </p:sp>
      <p:sp>
        <p:nvSpPr>
          <p:cNvPr id="12" name="pf_689"/>
          <p:cNvSpPr/>
          <p:nvPr/>
        </p:nvSpPr>
        <p:spPr>
          <a:xfrm rot="-120000">
            <a:off x="893179" y="1371600"/>
            <a:ext cx="16426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690" descr="/home/claude/lls-course/v2/cache/spare_future_parents_jpg_373x297_31.png">    </p:cNvPr>
          <p:cNvPicPr>
            <a:picLocks noChangeAspect="1"/>
          </p:cNvPicPr>
          <p:nvPr/>
        </p:nvPicPr>
        <p:blipFill>
          <a:blip r:embed="rId5"/>
          <a:stretch>
            <a:fillRect/>
          </a:stretch>
        </p:blipFill>
        <p:spPr>
          <a:xfrm rot="-120000">
            <a:off x="938899" y="1417320"/>
            <a:ext cx="1551202" cy="1234440"/>
          </a:xfrm>
          <a:prstGeom prst="rect">
            <a:avLst/>
          </a:prstGeom>
        </p:spPr>
      </p:pic>
      <p:sp>
        <p:nvSpPr>
          <p:cNvPr id="14" name="cd_69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9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9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9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Mum, this is… · It's so nice to meet you at last!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Sorry we're late! · Never mind.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Not really. · I mean… · Go ahead!</a:t>
            </a:r>
            <a:endParaRPr lang="en-US" sz="1100" dirty="0"/>
          </a:p>
        </p:txBody>
      </p:sp>
      <p:sp>
        <p:nvSpPr>
          <p:cNvPr id="18" name="R1_qb69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9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Mum, this is Luca. – It's so nice to meet you at last!</a:t>
            </a:r>
            <a:endParaRPr lang="en-US" sz="1050" dirty="0"/>
          </a:p>
        </p:txBody>
      </p:sp>
      <p:sp>
        <p:nvSpPr>
          <p:cNvPr id="20" name="R2_qb69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We left your cannoli on the bus! – What a pity. Never mind.</a:t>
            </a:r>
            <a:endParaRPr lang="en-US" sz="1050" dirty="0"/>
          </a:p>
        </p:txBody>
      </p:sp>
      <p:sp>
        <p:nvSpPr>
          <p:cNvPr id="22" name="R3_qb69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0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got a new job! – Really? How fantastic!</a:t>
            </a:r>
            <a:endParaRPr lang="en-US" sz="1050" dirty="0"/>
          </a:p>
        </p:txBody>
      </p:sp>
      <p:sp>
        <p:nvSpPr>
          <p:cNvPr id="24" name="R4_qb70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0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do you see your future? – Not sure. I mean, I like cooking…</a:t>
            </a:r>
            <a:endParaRPr lang="en-US" sz="1050" dirty="0"/>
          </a:p>
        </p:txBody>
      </p:sp>
      <p:sp>
        <p:nvSpPr>
          <p:cNvPr id="26" name="R5_qb703"/>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704"/>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 ahead – have an arancina! – I'm a chef, you know. – Really?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0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0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0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71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7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Exit · what can you remember?</a:t>
            </a:r>
            <a:endParaRPr lang="en-US" sz="800" dirty="0"/>
          </a:p>
        </p:txBody>
      </p:sp>
      <p:sp>
        <p:nvSpPr>
          <p:cNvPr id="12" name="bd_714"/>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15"/>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reactions: good news, bad news, surprising</a:t>
            </a:r>
            <a:endParaRPr lang="en-US" sz="1400" dirty="0"/>
          </a:p>
        </p:txBody>
      </p:sp>
      <p:sp>
        <p:nvSpPr>
          <p:cNvPr id="14" name="bd_716"/>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17"/>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Social English phrases (I mean…)</a:t>
            </a:r>
            <a:endParaRPr lang="en-US" sz="1400" dirty="0"/>
          </a:p>
        </p:txBody>
      </p:sp>
      <p:sp>
        <p:nvSpPr>
          <p:cNvPr id="16" name="bd_718"/>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19"/>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piece of news – your partner reacts!</a:t>
            </a:r>
            <a:endParaRPr lang="en-US" sz="1400" dirty="0"/>
          </a:p>
        </p:txBody>
      </p:sp>
      <p:sp>
        <p:nvSpPr>
          <p:cNvPr id="18" name="cd_720"/>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72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2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23"/>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1: 1a, 1b, 2, 3</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 (File 1 revision)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724"/>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2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2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2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7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7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Review · what did you do today?</a:t>
            </a:r>
            <a:endParaRPr lang="en-US" sz="800" dirty="0"/>
          </a:p>
        </p:txBody>
      </p:sp>
      <p:sp>
        <p:nvSpPr>
          <p:cNvPr id="12" name="cd_734"/>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735"/>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736"/>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Jenny and Rob meet her parents</a:t>
            </a:r>
            <a:endParaRPr lang="en-US" sz="1350" dirty="0"/>
          </a:p>
        </p:txBody>
      </p:sp>
      <p:sp>
        <p:nvSpPr>
          <p:cNvPr id="15" name="R1_tk737"/>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738"/>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739"/>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740"/>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Reacted to good, bad and surprising news</a:t>
            </a:r>
            <a:endParaRPr lang="en-US" sz="1350" dirty="0"/>
          </a:p>
        </p:txBody>
      </p:sp>
      <p:sp>
        <p:nvSpPr>
          <p:cNvPr id="19" name="R2_tk741"/>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742"/>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743"/>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744"/>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Sounded interested: copy the music!</a:t>
            </a:r>
            <a:endParaRPr lang="en-US" sz="1350" dirty="0"/>
          </a:p>
        </p:txBody>
      </p:sp>
      <p:sp>
        <p:nvSpPr>
          <p:cNvPr id="23" name="R3_tk745"/>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746"/>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747"/>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748"/>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Social English: I mean…, Not really…</a:t>
            </a:r>
            <a:endParaRPr lang="en-US" sz="1350" dirty="0"/>
          </a:p>
        </p:txBody>
      </p:sp>
      <p:sp>
        <p:nvSpPr>
          <p:cNvPr id="27" name="R4_tk749"/>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750"/>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751"/>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752"/>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753"/>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754"/>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755"/>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756"/>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meeting the parents</a:t>
            </a:r>
            <a:endParaRPr lang="en-US" sz="1350" dirty="0"/>
          </a:p>
        </p:txBody>
      </p:sp>
      <p:sp>
        <p:nvSpPr>
          <p:cNvPr id="35" name="R6_tk757"/>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75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59"/>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60"/>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61"/>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62"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4"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765"/>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76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6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7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Poi aggiungi: Per fortuna / Purtroppo…</a:t>
            </a:r>
            <a:endParaRPr lang="en-US" sz="950" dirty="0"/>
          </a:p>
        </p:txBody>
      </p:sp>
      <p:sp>
        <p:nvSpPr>
          <p:cNvPr id="9" name="note_76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7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Extra game · chain story</a:t>
            </a:r>
            <a:endParaRPr lang="en-US" sz="800" dirty="0"/>
          </a:p>
        </p:txBody>
      </p:sp>
      <p:sp>
        <p:nvSpPr>
          <p:cNvPr id="12" name="ext_77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73"/>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7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76"/>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Listen to the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Ascolta la frase.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React – a DIFFERENT phrase each time!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Reagisci – ogni volta una frase DIVERSA!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Add: Fortunately… / Unfortunately…</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Aggiungi: Per fortuna… / Purtroppo…</a:t>
            </a:r>
            <a:endParaRPr lang="en-US" sz="1000" dirty="0"/>
          </a:p>
        </p:txBody>
      </p:sp>
      <p:sp>
        <p:nvSpPr>
          <p:cNvPr id="17" name="pf_777"/>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778"/>
          <p:cNvSpPr/>
          <p:nvPr/>
        </p:nvSpPr>
        <p:spPr>
          <a:xfrm>
            <a:off x="457200" y="41148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19" name="bd_779"/>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780"/>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250" dirty="0"/>
          </a:p>
        </p:txBody>
      </p:sp>
      <p:sp>
        <p:nvSpPr>
          <p:cNvPr id="21" name="chip_781"/>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200" dirty="0"/>
          </a:p>
        </p:txBody>
      </p:sp>
      <p:sp>
        <p:nvSpPr>
          <p:cNvPr id="22" name="bd_782"/>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783"/>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concert was in Rome.</a:t>
            </a:r>
            <a:endParaRPr lang="en-US" sz="1250" dirty="0"/>
          </a:p>
        </p:txBody>
      </p:sp>
      <p:sp>
        <p:nvSpPr>
          <p:cNvPr id="24" name="R1_chip784"/>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200" dirty="0"/>
          </a:p>
        </p:txBody>
      </p:sp>
      <p:sp>
        <p:nvSpPr>
          <p:cNvPr id="25" name="bd_785"/>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786"/>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uncle had a car.</a:t>
            </a:r>
            <a:endParaRPr lang="en-US" sz="1250" dirty="0"/>
          </a:p>
        </p:txBody>
      </p:sp>
      <p:sp>
        <p:nvSpPr>
          <p:cNvPr id="27" name="R2_chip787"/>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1200" dirty="0"/>
          </a:p>
        </p:txBody>
      </p:sp>
      <p:sp>
        <p:nvSpPr>
          <p:cNvPr id="28" name="bd_788"/>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789"/>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broke down in Messina.</a:t>
            </a:r>
            <a:endParaRPr lang="en-US" sz="1250" dirty="0"/>
          </a:p>
        </p:txBody>
      </p:sp>
      <p:sp>
        <p:nvSpPr>
          <p:cNvPr id="30" name="R3_chip790"/>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2026-10-21T09:56:07Z</dcterms:created>
  <dcterms:modified xsi:type="dcterms:W3CDTF">2026-10-21T09:56:07Z</dcterms:modified>
</cp:coreProperties>
</file>