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1 (60 min) · video lesson · SB pp.14–15. PLANNING CARD — Class: B1 teens / young adults and adults. Last lessons: File 1 (food and cooking, family, future forms, personality). Lesson type: functional language + video (listening) lesson, with speaking. MAIN AIM: by the end, students can react to good, bad, surprising and interesting news with the right phrase AND interested intonation (How fantastic! What a pity. You're kidding…). Secondary aims: watch for gist, then detail; Social English phrases (I mean…, Not really, things like that, Go ahead); role-play meeting a partner's parents. Anticipated problems: ✗ What fantastic! / ✗ How a pity! (How + adjective, What a + noun) · ✗ What a terrible news! (news is uncountable) · Never mind used for really bad news · flat Italian-style intonation sounds bored → exaggerate the 'music' · American words in the video (mom, apartment, cookie). Recycling: unit 1 food and family in the warmer. Exit: 3·2·1. VIDEO: the six Episode 1 clips are in /home/claude/lls-course/b1/video/ (EF4e_Int_PE_Ep1_…mp4) and were embedded in the old PE1 deck; this deck can't embed video yet, so play them from the video files / Online Practice, or use audio 1.26–1.31. Timing: 61 min including a 4-minute TPRS class story ('Gino meets the parents') after the intonation slide. Timings are a guide: if you don't finish, note the slide you reached and start from there next lesson. If short of time, cut 'Social English in Italian' to 1 min and 'Have you heard my news?' to 3 min. OPENING (2 min): show the photo. Ask the THINK question: take 3–4 ideas (flowers, chocolates, cannoli, a bottle of wine…). Ask: 'What can go wrong?' (you're late, you forget the present…). Read the 'Today you're going to…' list together. Jenny and Rob are fictional characters from the English File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the opposite of reliable (unreliable) and one more personality adjective. Quick check on family words: 'Your dad's wife – but not your mum?' (stepmother). The warmer recycles the whole of File 1 (food, family, personality), so these are the words students need. Then play 'Who or what is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File 1 · food and family (3 min)
RETRIEVAL WARMER (4 min) – different format from last lesson's 'Spot the mistake' (now: riddles). Two teams. Read each clue aloud; the first team to call out the word gets 1 point, +1 if a student can spell it on the board. Click once per clue to show the answer. Answers: 1 brother-in-law · 2 lamb (silent b) · 3 stepmother · 4 raw · 5 an only child · 6 aubergine · 7 great-grandmother · 8 reliable (opposite: unreliable). Link to today: 'Today's video is about family AND food: a dinner with a girlfriend's parents!' ICQ: 'Do you write or shout the word?' (shout – first team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Video · Episode 1 · Introduction (3 min)
VIDEO 1 · GIST (3 min). WHERE IS THE VIDEO: EF4e_Int_PE_Ep1_Introduction.mp4 (2'41") in lls-course/b1/video/ (or Online Practice; audio version 1.26). 1a: students look at the photos and describe Jenny and Rob (age, job, where they are). Play the video ONCE for gist. Pairs compare, then click once per question. Answers (video script 1.26): Jenny is from New York (American) · Rob is British, from London · they work for a magazine, New York 24seven (Rob is a writer) · this evening Jenny's taking Rob to meet her parents for the very first time. ICQ: 'Do you need every word?' (no – just the 4 answers). Extra (TG): Who is Don Taylor? (the new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detail · gap fill (3 min)
VIDEO 1 · DETAIL (3 min). The text from SB 1b is on the slide. Pairs read and guess the missing words (1 min) – they already know a lot from the first viewing. Play the Introduction again (EF4e_Int_PE_Ep1_Introduction.mp4 / audio 1.26). Click once per gap: the answer appears highlighted IN the text. Answers (TG): 1 magazine · 2 British · 3 months · 4 London · 5 New York · 6 permanent · 7 find · 8 family. Point out the British and American English box: apartment (US) = flat (UK). ICQ: 'Guess first or watch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Scene 1 · gist (3 min)
VIDEO 2 · GIST (3 min). WHERE IS THE VIDEO: EF4e_Int_PE_Ep1_Reacting_to_what_people_say.mp4 (2'14"), audio version 1.27. Before watching, ask about the photos: Where are Jenny and Rob? (in a car / at the door) How does Jenny look? (not very happy) What's on Rob's desk? (chocolates!). Play ONCE. Click once per question. Answers (TG): Rob left the chocolates on his desk at work · Jenny's got a promotion – she's now a manager (Managing Editor) · Harry and Sally. British and American English box: mom (US) = mum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Scene 1 · detail (3 min)
VIDEO 2 · DETAIL (3 min). Pairs read 1–6 and guess T / F from memory first. Play Scene 1 again (EF4e_Int_PE_Ep1_Reacting_to_what_people_say.mp4 / 1.27). Pairs must CORRECT the false sentences before you click. Click once per sentence. Answers (TG): 1 T · 2 F (Rob's desk is always a complete mess) · 3 F (Rob is meeting Jenny's parents for the first time) · 4 T · 5 F (Managing Editor) · 6 F (she's a manager, but not Rob's manager).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Function · reacting to what people say (3 min)
ELICIT FIRST (3 min). 0 is the example (done in the book). Pairs try to remember the missing words from the scene (1 min). Play the 'listen and check' clip: EF4e_Int_PE_Ep1_Reacting_to_what_people_say_listen_and_check.mp4 (1'07") / audio 1.28. Click once per line. Answers (TG / script): 1 believe · You're · 2 pity, Never · 3 Really · 4 How, news · 5 great. Context for each: 1 the chocolates (bad news) · 2 Sally hears about the chocolates · 3 Jenny has 'some good news' · 4 the promotion · 5 'Let's go and have dinner'. Next slide: sort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Function · the reactions chart (3 min)
GUIDED DISCOVERY (3 min). Pairs decide: when do you say each phrase – when you hear something surprising, interesting, good news or bad news? Click once per phrase. Answers (SB chart): something surprising – You're kidding. I don't believe it. · something interesting – Really? · good news – How fantastic! That's great news! What a great idea! · bad news – Oh no! What a pity. Never mind. CCQs: 'Your friend has lost his pen. What a pity or How awful?' (What a pity – small problem) · 'Your friend has a new job. Oh no?' (no! – How fantastic!). TG note: What a pity and Never mind are only for SMALL bad news – not for serious news (✗ My grandmother died. –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in Italian (2 min)
CONSOLIDATION for slower students (2 min). The class says the Italian for each phrase, then click once per word to show its Italian. 'Don't worry about it' is from the video (Harry, about the chocolates). Spend 20 seconds on the warning. Quick check: 'Your friend says: I've lost my umbrella.' → What a pity.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How + adjective, What + noun (2 min)
RULE (2 min). Before each click, elicit: 'fantastic – How or What?' (How: it's an adjective) · 'a pity – How or What?' (What: it's a noun). Click once per column (examples, then the Italian), then the warning. The book's examples: How interesting! How awful! How amazing! What a pity! What a good idea! What terrible news! ('What a mess!' recycles Rob's desk; 'What lovely people!' shows the plural.) CCQ: 'Why no a in What terrible news?' (news is uncountable – una notizia = a piece of news). Italian speakers say 'Che…!' for both, so they mix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sounding interested (2 min)
PRONUNCIATION (2 min) – one feature: interested intonation on the main stressed syllable. HEAR: play EF4e_Int_PE_Ep1_Reacting_to_what_people_say_listen_and_repeat.mp4 (1'37") / audio 1.29; click 1 = the big syllable (the voice jumps up and down there), click 2 = the full phrase. DISCRIMINATE: say 'How fantastic!' twice – once flat and bored, once with big up-and-down music: 'Which one is interested?' REPEAT: pause after each phrase, chorally then individually – exaggerate! (the clip has all 9 chart phrases; pause on each). PRODUCE: 2e – pairs read the conversations from slide 7 with the right music, swapping roles (1 min). Italian speakers often sound flat or bored in English – make it fun: the 'bored face' version first, then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after the reactions chart, the How / What rule and the intonation practice, and before the game 'React!': students hear (and the class SAYS, with big interested music) the reactions for good, bad, surprising and interesting news many times before they have to choose them under pressure. Same situation as the video (meeting a partner's parents), but a new, local story. Click once per line. For each line: 1) say it, 2) ask the questions round the class (yes/no → either/or → who/what), 3) let the CLASS change details: 'Does Gino bring cannoli? No? What does he bring?' – accept their idea and use it in later lines. Make the class say the parents' reactions in chorus with exaggerated intonation. Students answer with one word or a short phrase – that's fine. Finish: 'What happens next?' – one or two ideas, then play 'React!'. Watch for ✗ What fantastic! · ✗ How a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game (3 min)
GAME 2 (3 min). Two teams. Read the news with feeling. Teams have 5 seconds to react with a phrase from the chart AND ask a follow-up question. Click to show a model answer – accept any appropriate reaction (e.g. for 1: That's great news! / Really? How fantastic!). 1 point for the right reaction, +1 for interested intonation (the class votes: thumbs up / down). No phrase twice in a row! ICQ: 'Is Oh no! OK for the concert tickets?' (no – it's good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telling news and reacting (4 min)
FREER PRACTICE (4 min). The book's 2f is the Communication activity 'How awful! How fantastic!' (A p.106, B p.111) – ⚠ those pages are not in our files: if you have the book, use them; otherwise use this slide. The five types of news appear ONE PER CLICK (show all 5, then go). A tells B one piece of news of each type (true or invented); B must react with a DIFFERENT phrase each time and ask a follow-up question. Then swap. At the end B guesses which news was invented. Monitor for intonation and How / What. Feedback: 2–3 students tell the class some news; the class reacts. Note errors for delayed correction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Video · Scene 2 · gist (2 min)
VIDEO 3 · GIST (2 min). WHERE IS THE VIDEO: EF4e_Int_PE_Ep1_Harry_finds_out_more_about_Rob.mp4 (1'49"), audio version 1.30. Ask about the photos: 'What do you think Harry thinks of Rob? Is he friendly?' Prediction: 'Will the evening end well or badly?' Play ONCE. Click to check. Answer (TG): the evening ends well. They talk about Jenny (Harvard), Rob's career and Harry's photos of jazz musicians.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Video · Scene 2 · detail (3 min)
VIDEO 3 · DETAIL (3 min). Pairs read questions 1–6 first; elicit 'impressed' (colpito, impressionato). Play Scene 2 again, pausing if necessary. Click once per question. Answers (TG): 1 Harvard · 2 No, he isn't, because he thinks creative people, like writers, sometimes don't earn enough to pay the bills · 3 He likes taking photographs · 4 Jenny · 5 famous jazz musicians · 6 that Rob knows about Wynton Marsalis (Harry's idol), has interviewed him and spent the day with him. American English: cookie (US) = biscuit (UK). Follow-up: 'At the start, what does Harry think of Rob?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Social English · phrases (3 min)
ELICIT FIRST (3 min). 3c: pairs try to remember the missing words (extra challenge from the TG). 3d: play EF4e_Int_PE_Ep1_Social_English_phrases.mp4 (1'32") / audio 1.31 to check. Click once per phrase. Answers (TG / script): 1 see · 2 really · 3 things · 4 mean · 5 because · 6 incredible · 7 guy · 8 ahead. Play again: watch and repeat. Context: 8 = Sally offers Rob a cookie, Harry says 'Go ahead, 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 in Italian (2 min)
CONSOLIDATION for slower students (2 min). Class says the Italian, then click once per word to show its Italian (meaning, not word for word). Point out: you know…, I mean… and things like that give you time to think (book 'Can you…?'). Quick check: 'Can I borrow your pen?' → Go ahead! · 'Did you like the film?' → Not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Social English game (3 min)
GAME 3 (3 min). The conversations are SB 3e A–G, shortened to fit the slide (read the full book versions aloud if you prefer). Two teams. Read each conversation aloud with a gap ('beep'). The first team to say the right Social English phrase wins a point. Click once per conversation. Answers (TG): A 8 Go ahead · B 5 That's because · C 2 Not really · D 3 things like that · E 1 How do you see · F 6 How incredible · G 4 I mean, 7 guy. Then pairs practise A–G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role play (5 min)
ROLE PLAY · PRODUCTION (5 min). Groups of 3: the son / daughter, the partner and the parent (groups of 4: two parents). The 5 steps appear ONE PER CLICK – read each with a strong group as a model, then show all 5 and let groups act out the whole scene (3 min). Everyone must use at least 2 reactions and 1 Social English phrase. Keep it fun and fictional – students invent their characters (nobody talks about their real family). Fast finishers: swap roles. Feedback: one group performs for the class; the class votes 'Did the parent like the partner?'. Then 1 minute of delayed error correction: write 4–5 errors from slides 14 and 20 on the board (e.g. ✗ What fantastic! ✗ How a pity!);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reactions (one for good, one for bad, one for surprising news), 2 Social English phrases, then 1 piece of news to tell – the partner reacts. A few pairs share. CAN YOU…? (SB): react to good, bad, surprising and interesting news · introduce yourself and other people · use phrases which give you time to think (you know, I mean). Homework: Workbook Practical English 1 (1a, 1b, 2, 3) + Can you remember? 1 + the PE1 homework sheet in the app (easier version available). Students can watch the episode again on Online Practice. ⚠ 'Next lesson' assumes you go straight to 2A (Revise and Check 1&amp;2 comes after 2B) – change it if your plan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game · chain story (5 min)
EXTRA GAME (5 min, if there's time). Chain story round the class. Click once per line to show a model of how the chain works, then the class continues: each student reacts to the previous sentence with a DIFFERENT phrase from today, then adds the next part with Fortunately / Unfortunately. Repeat a reaction = you're out (or your team loses a point). Teach first: fortunately = per fortuna, unfortunately = purtroppo.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PE1</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Meeting the parents</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Reacting to news · Social English</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watch Jenny and Rob meet her parents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react to good, bad and surprising news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sound interested: copy the music!</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use Social English: I mean…, Not really…</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role-play meeting the parents</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take some flowers or a box of cannoli.</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First visit to your partner's parents. What do you take?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2_boss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1B: personality and birth order</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 File 1: food and family words</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Personality + opposites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reliable – she never forgets.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stubborn. He never changes his mind.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little brother is so bossy!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opposites: un- · dis- · im- · in-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File 1: family + food</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sister's husband = my brother-in-law.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An only child has no brothers or sisters.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Lamb is meat. Sushi fish is raw.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step- · half- · -in-law · great-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94183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reliable</a:t>
            </a:r>
            <a:endParaRPr lang="en-US" sz="1050" dirty="0"/>
          </a:p>
        </p:txBody>
      </p:sp>
      <p:sp>
        <p:nvSpPr>
          <p:cNvPr id="28" name="w_42"/>
          <p:cNvSpPr/>
          <p:nvPr/>
        </p:nvSpPr>
        <p:spPr>
          <a:xfrm>
            <a:off x="4261104"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29" name="w_43"/>
          <p:cNvSpPr/>
          <p:nvPr/>
        </p:nvSpPr>
        <p:spPr>
          <a:xfrm>
            <a:off x="5276088"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30" name="w_44"/>
          <p:cNvSpPr/>
          <p:nvPr/>
        </p:nvSpPr>
        <p:spPr>
          <a:xfrm>
            <a:off x="6057900" y="417880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only child</a:t>
            </a:r>
            <a:endParaRPr lang="en-US" sz="1050" dirty="0"/>
          </a:p>
        </p:txBody>
      </p:sp>
      <p:sp>
        <p:nvSpPr>
          <p:cNvPr id="31" name="w_45"/>
          <p:cNvSpPr/>
          <p:nvPr/>
        </p:nvSpPr>
        <p:spPr>
          <a:xfrm>
            <a:off x="7228332" y="4178808"/>
            <a:ext cx="140817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brother-in-law</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stepmother</a:t>
            </a:r>
            <a:endParaRPr lang="en-US" sz="1050" dirty="0"/>
          </a:p>
        </p:txBody>
      </p:sp>
      <p:sp>
        <p:nvSpPr>
          <p:cNvPr id="33" name="w_47"/>
          <p:cNvSpPr/>
          <p:nvPr/>
        </p:nvSpPr>
        <p:spPr>
          <a:xfrm>
            <a:off x="4416552" y="454456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aubergine</a:t>
            </a:r>
            <a:endParaRPr lang="en-US" sz="1050" dirty="0"/>
          </a:p>
        </p:txBody>
      </p:sp>
      <p:sp>
        <p:nvSpPr>
          <p:cNvPr id="34" name="w_48"/>
          <p:cNvSpPr/>
          <p:nvPr/>
        </p:nvSpPr>
        <p:spPr>
          <a:xfrm>
            <a:off x="5509260" y="454456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lamb</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or what is it?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5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 parola!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Warmer · File 1 · food and family   ·   📖 Recycles File 1: 1A food and cooking · 1B family · 1B personality</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clue.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l'indizio.</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say the word – 10 seconds!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dite la parola – 10 secondi!</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word = 1 point. Spelling = +1.</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Parola giusta = 1 punto. Spelling = +1.</a:t>
            </a:r>
            <a:endParaRPr lang="en-US" sz="9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spare_1a1_supper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sister's husband</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brother-in-law</a:t>
            </a:r>
            <a:endParaRPr lang="en-US" sz="11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Meat from a young sheep (silent letter!)</a:t>
            </a:r>
            <a:endParaRPr lang="en-US" sz="95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lamb</a:t>
            </a:r>
            <a:endParaRPr lang="en-US" sz="110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Your dad's wife – but not your mum</a:t>
            </a:r>
            <a:endParaRPr lang="en-US" sz="95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stepmother</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00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raw</a:t>
            </a:r>
            <a:endParaRPr lang="en-US" sz="110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child with no brothers or sisters</a:t>
            </a:r>
            <a:endParaRPr lang="en-US" sz="10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only child</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aubergine</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grandmother's mother</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great-grandmother</a:t>
            </a:r>
            <a:endParaRPr lang="en-US" sz="110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Always does what they promise</a:t>
            </a:r>
            <a:endParaRPr lang="en-US" sz="105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reliable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9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Meet Jenny and Rob</a:t>
            </a:r>
            <a:endParaRPr lang="en-US" sz="24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9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Who are Jenny and Rob?</a:t>
            </a:r>
            <a:endParaRPr lang="en-US" sz="1250" dirty="0"/>
          </a:p>
        </p:txBody>
      </p:sp>
      <p:sp>
        <p:nvSpPr>
          <p:cNvPr id="8" name="insIT_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Chi sono Jenny e Rob?</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Episode 1 · Introduction   ·   📖 SB p.14 · 1a, 1b · video Episode 1 Introduction / audio 1.26</a:t>
            </a:r>
            <a:endParaRPr lang="en-US" sz="800" dirty="0"/>
          </a:p>
        </p:txBody>
      </p:sp>
      <p:sp>
        <p:nvSpPr>
          <p:cNvPr id="14" name="ap_10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  ·  🎬 video: Introduction</a:t>
            </a:r>
            <a:endParaRPr lang="en-US" sz="1100" dirty="0"/>
          </a:p>
        </p:txBody>
      </p:sp>
      <p:sp>
        <p:nvSpPr>
          <p:cNvPr id="15" name="ah_10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10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10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10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06"/>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pe1-office.jpg</a:t>
            </a:r>
            <a:endParaRPr lang="en-US" sz="900" dirty="0"/>
          </a:p>
        </p:txBody>
      </p:sp>
      <p:sp>
        <p:nvSpPr>
          <p:cNvPr id="22" name="bd_10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10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109"/>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25" name="bd_11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11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11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1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11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photos A and B. Describe Jenny and Rob.</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le foto A e B. Descrivi Jenny e Rob.</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4 questions.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una volta. Rispondi alle 4 domande.</a:t>
            </a:r>
            <a:endParaRPr lang="en-US" sz="700" dirty="0"/>
          </a:p>
        </p:txBody>
      </p:sp>
      <p:sp>
        <p:nvSpPr>
          <p:cNvPr id="30" name="lq_11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 from?</a:t>
            </a:r>
            <a:endParaRPr lang="en-US" sz="1100" dirty="0"/>
          </a:p>
        </p:txBody>
      </p:sp>
      <p:sp>
        <p:nvSpPr>
          <p:cNvPr id="31" name="R1_chip11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New York – American</a:t>
            </a:r>
            <a:endParaRPr lang="en-US" sz="1050" dirty="0"/>
          </a:p>
        </p:txBody>
      </p:sp>
      <p:sp>
        <p:nvSpPr>
          <p:cNvPr id="32" name="lq_11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 from?</a:t>
            </a:r>
            <a:endParaRPr lang="en-US" sz="1100" dirty="0"/>
          </a:p>
        </p:txBody>
      </p:sp>
      <p:sp>
        <p:nvSpPr>
          <p:cNvPr id="33" name="R2_chip11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UK – British</a:t>
            </a:r>
            <a:endParaRPr lang="en-US" sz="1050" dirty="0"/>
          </a:p>
        </p:txBody>
      </p:sp>
      <p:sp>
        <p:nvSpPr>
          <p:cNvPr id="34" name="lq_119"/>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Their job?</a:t>
            </a:r>
            <a:endParaRPr lang="en-US" sz="1100" dirty="0"/>
          </a:p>
        </p:txBody>
      </p:sp>
      <p:sp>
        <p:nvSpPr>
          <p:cNvPr id="35" name="R3_chip120"/>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magazine: New York 24seven</a:t>
            </a:r>
            <a:endParaRPr lang="en-US" sz="1050" dirty="0"/>
          </a:p>
        </p:txBody>
      </p:sp>
      <p:sp>
        <p:nvSpPr>
          <p:cNvPr id="36" name="lq_121"/>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this evening?</a:t>
            </a:r>
            <a:endParaRPr lang="en-US" sz="1100" dirty="0"/>
          </a:p>
        </p:txBody>
      </p:sp>
      <p:sp>
        <p:nvSpPr>
          <p:cNvPr id="37" name="R4_chip122"/>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Rob meets Jenny's parents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Jenny and Rob's story</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watch again.</a:t>
            </a:r>
            <a:endParaRPr lang="en-US" sz="1250" dirty="0"/>
          </a:p>
        </p:txBody>
      </p:sp>
      <p:sp>
        <p:nvSpPr>
          <p:cNvPr id="8" name="insIT_1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riguarda.</a:t>
            </a:r>
            <a:endParaRPr lang="en-US" sz="950" dirty="0"/>
          </a:p>
        </p:txBody>
      </p:sp>
      <p:sp>
        <p:nvSpPr>
          <p:cNvPr id="9" name="cmd_1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30"/>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13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3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TPRS · reading</a:t>
            </a:r>
            <a:endParaRPr lang="en-US" sz="800" dirty="0"/>
          </a:p>
        </p:txBody>
      </p:sp>
      <p:pic>
        <p:nvPicPr>
          <p:cNvPr id="13" name="logo_1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detail · gap fill   ·   📖 SB p.14 · 1b · video Introduction / audio 1.26</a:t>
            </a:r>
            <a:endParaRPr lang="en-US" sz="800" dirty="0"/>
          </a:p>
        </p:txBody>
      </p:sp>
      <p:sp>
        <p:nvSpPr>
          <p:cNvPr id="15" name="cd_13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3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Jenny and Rob</a:t>
            </a:r>
            <a:endParaRPr lang="en-US" sz="1700" dirty="0"/>
          </a:p>
        </p:txBody>
      </p:sp>
      <p:sp>
        <p:nvSpPr>
          <p:cNvPr id="17" name="ln_137"/>
          <p:cNvSpPr/>
          <p:nvPr/>
        </p:nvSpPr>
        <p:spPr>
          <a:xfrm>
            <a:off x="548640" y="1920240"/>
            <a:ext cx="5349240" cy="348615"/>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100" b="1" dirty="0">
                <a:solidFill>
                  <a:srgbClr val="2EB872"/>
                </a:solidFill>
                <a:latin typeface="Georgia" pitchFamily="34" charset="0"/>
                <a:ea typeface="Georgia" pitchFamily="34" charset="-122"/>
                <a:cs typeface="Georgia" pitchFamily="34" charset="-120"/>
              </a:rPr>
              <a:t> (1) ________ </a:t>
            </a:r>
            <a:pPr indent="0" marL="0">
              <a:buNone/>
            </a:pPr>
            <a:r>
              <a:rPr lang="en-US" sz="1100" dirty="0">
                <a:solidFill>
                  <a:srgbClr val="1B2559"/>
                </a:solidFill>
                <a:latin typeface="Georgia" pitchFamily="34" charset="0"/>
                <a:ea typeface="Georgia" pitchFamily="34" charset="-122"/>
                <a:cs typeface="Georgia" pitchFamily="34" charset="-120"/>
              </a:rPr>
              <a:t> called New York 24seven.</a:t>
            </a:r>
            <a:endParaRPr lang="en-US" sz="1100" dirty="0"/>
          </a:p>
        </p:txBody>
      </p:sp>
      <p:sp>
        <p:nvSpPr>
          <p:cNvPr id="18" name="R1_lnA138"/>
          <p:cNvSpPr/>
          <p:nvPr/>
        </p:nvSpPr>
        <p:spPr>
          <a:xfrm>
            <a:off x="548640" y="1920240"/>
            <a:ext cx="5349240" cy="348615"/>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magazine</a:t>
            </a:r>
            <a:pPr indent="0" marL="0">
              <a:buNone/>
            </a:pPr>
            <a:r>
              <a:rPr lang="en-US" sz="1100" dirty="0">
                <a:solidFill>
                  <a:srgbClr val="1B2559"/>
                </a:solidFill>
                <a:latin typeface="Georgia" pitchFamily="34" charset="0"/>
                <a:ea typeface="Georgia" pitchFamily="34" charset="-122"/>
                <a:cs typeface="Georgia" pitchFamily="34" charset="-120"/>
              </a:rPr>
              <a:t> called New York 24seven.</a:t>
            </a:r>
            <a:endParaRPr lang="en-US" sz="1100" dirty="0"/>
          </a:p>
        </p:txBody>
      </p:sp>
      <p:sp>
        <p:nvSpPr>
          <p:cNvPr id="19" name="ln_139"/>
          <p:cNvSpPr/>
          <p:nvPr/>
        </p:nvSpPr>
        <p:spPr>
          <a:xfrm>
            <a:off x="548640" y="226885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She's American and he's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140"/>
          <p:cNvSpPr/>
          <p:nvPr/>
        </p:nvSpPr>
        <p:spPr>
          <a:xfrm>
            <a:off x="548640" y="226885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She's American and he's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British</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141"/>
          <p:cNvSpPr/>
          <p:nvPr/>
        </p:nvSpPr>
        <p:spPr>
          <a:xfrm>
            <a:off x="548640" y="261747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Rob came to New York a few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ago.</a:t>
            </a:r>
            <a:endParaRPr lang="en-US" sz="1150" dirty="0"/>
          </a:p>
        </p:txBody>
      </p:sp>
      <p:sp>
        <p:nvSpPr>
          <p:cNvPr id="22" name="R3_lnA142"/>
          <p:cNvSpPr/>
          <p:nvPr/>
        </p:nvSpPr>
        <p:spPr>
          <a:xfrm>
            <a:off x="548640" y="261747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Rob came to New York a few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months</a:t>
            </a:r>
            <a:pPr indent="0" marL="0">
              <a:buNone/>
            </a:pPr>
            <a:r>
              <a:rPr lang="en-US" sz="1150" dirty="0">
                <a:solidFill>
                  <a:srgbClr val="1B2559"/>
                </a:solidFill>
                <a:latin typeface="Georgia" pitchFamily="34" charset="0"/>
                <a:ea typeface="Georgia" pitchFamily="34" charset="-122"/>
                <a:cs typeface="Georgia" pitchFamily="34" charset="-120"/>
              </a:rPr>
              <a:t> ago.</a:t>
            </a:r>
            <a:endParaRPr lang="en-US" sz="1150" dirty="0"/>
          </a:p>
        </p:txBody>
      </p:sp>
      <p:sp>
        <p:nvSpPr>
          <p:cNvPr id="23" name="ln_143"/>
          <p:cNvSpPr/>
          <p:nvPr/>
        </p:nvSpPr>
        <p:spPr>
          <a:xfrm>
            <a:off x="548640" y="296608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on a work trip.</a:t>
            </a:r>
            <a:endParaRPr lang="en-US" sz="1150" dirty="0"/>
          </a:p>
        </p:txBody>
      </p:sp>
      <p:sp>
        <p:nvSpPr>
          <p:cNvPr id="24" name="R4_lnA144"/>
          <p:cNvSpPr/>
          <p:nvPr/>
        </p:nvSpPr>
        <p:spPr>
          <a:xfrm>
            <a:off x="548640" y="296608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London</a:t>
            </a:r>
            <a:pPr indent="0" marL="0">
              <a:buNone/>
            </a:pPr>
            <a:r>
              <a:rPr lang="en-US" sz="1150" dirty="0">
                <a:solidFill>
                  <a:srgbClr val="1B2559"/>
                </a:solidFill>
                <a:latin typeface="Georgia" pitchFamily="34" charset="0"/>
                <a:ea typeface="Georgia" pitchFamily="34" charset="-122"/>
                <a:cs typeface="Georgia" pitchFamily="34" charset="-120"/>
              </a:rPr>
              <a:t> on a work trip.</a:t>
            </a:r>
            <a:endParaRPr lang="en-US" sz="1150" dirty="0"/>
          </a:p>
        </p:txBody>
      </p:sp>
      <p:sp>
        <p:nvSpPr>
          <p:cNvPr id="25" name="ln_145"/>
          <p:cNvSpPr/>
          <p:nvPr/>
        </p:nvSpPr>
        <p:spPr>
          <a:xfrm>
            <a:off x="548640" y="331470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R5_lnA146"/>
          <p:cNvSpPr/>
          <p:nvPr/>
        </p:nvSpPr>
        <p:spPr>
          <a:xfrm>
            <a:off x="548640" y="331470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New York</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7" name="ln_147"/>
          <p:cNvSpPr/>
          <p:nvPr/>
        </p:nvSpPr>
        <p:spPr>
          <a:xfrm>
            <a:off x="548640" y="366331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Later, he was offered a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job.</a:t>
            </a:r>
            <a:endParaRPr lang="en-US" sz="1150" dirty="0"/>
          </a:p>
        </p:txBody>
      </p:sp>
      <p:sp>
        <p:nvSpPr>
          <p:cNvPr id="28" name="R6_lnA148"/>
          <p:cNvSpPr/>
          <p:nvPr/>
        </p:nvSpPr>
        <p:spPr>
          <a:xfrm>
            <a:off x="548640" y="366331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Later, he was offered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permanent</a:t>
            </a:r>
            <a:pPr indent="0" marL="0">
              <a:buNone/>
            </a:pPr>
            <a:r>
              <a:rPr lang="en-US" sz="1150" dirty="0">
                <a:solidFill>
                  <a:srgbClr val="1B2559"/>
                </a:solidFill>
                <a:latin typeface="Georgia" pitchFamily="34" charset="0"/>
                <a:ea typeface="Georgia" pitchFamily="34" charset="-122"/>
                <a:cs typeface="Georgia" pitchFamily="34" charset="-120"/>
              </a:rPr>
              <a:t> job.</a:t>
            </a:r>
            <a:endParaRPr lang="en-US" sz="1150" dirty="0"/>
          </a:p>
        </p:txBody>
      </p:sp>
      <p:sp>
        <p:nvSpPr>
          <p:cNvPr id="29" name="ln_149"/>
          <p:cNvSpPr/>
          <p:nvPr/>
        </p:nvSpPr>
        <p:spPr>
          <a:xfrm>
            <a:off x="548640" y="401193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helped Rob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an apartment.</a:t>
            </a:r>
            <a:endParaRPr lang="en-US" sz="1150" dirty="0"/>
          </a:p>
        </p:txBody>
      </p:sp>
      <p:sp>
        <p:nvSpPr>
          <p:cNvPr id="30" name="R7_lnA150"/>
          <p:cNvSpPr/>
          <p:nvPr/>
        </p:nvSpPr>
        <p:spPr>
          <a:xfrm>
            <a:off x="548640" y="401193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helped Rob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find</a:t>
            </a:r>
            <a:pPr indent="0" marL="0">
              <a:buNone/>
            </a:pPr>
            <a:r>
              <a:rPr lang="en-US" sz="1150" dirty="0">
                <a:solidFill>
                  <a:srgbClr val="1B2559"/>
                </a:solidFill>
                <a:latin typeface="Georgia" pitchFamily="34" charset="0"/>
                <a:ea typeface="Georgia" pitchFamily="34" charset="-122"/>
                <a:cs typeface="Georgia" pitchFamily="34" charset="-120"/>
              </a:rPr>
              <a:t> an apartment.</a:t>
            </a:r>
            <a:endParaRPr lang="en-US" sz="1150" dirty="0"/>
          </a:p>
        </p:txBody>
      </p:sp>
      <p:sp>
        <p:nvSpPr>
          <p:cNvPr id="31" name="ln_151"/>
          <p:cNvSpPr/>
          <p:nvPr/>
        </p:nvSpPr>
        <p:spPr>
          <a:xfrm>
            <a:off x="548640" y="4360545"/>
            <a:ext cx="5349240" cy="348615"/>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100" b="1" dirty="0">
                <a:solidFill>
                  <a:srgbClr val="2EB872"/>
                </a:solidFill>
                <a:latin typeface="Georgia" pitchFamily="34" charset="0"/>
                <a:ea typeface="Georgia" pitchFamily="34" charset="-122"/>
                <a:cs typeface="Georgia" pitchFamily="34" charset="-120"/>
              </a:rPr>
              <a:t> (8) ________ </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32" name="R8_lnA152"/>
          <p:cNvSpPr/>
          <p:nvPr/>
        </p:nvSpPr>
        <p:spPr>
          <a:xfrm>
            <a:off x="548640" y="436054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33" name="ap_153"/>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a:t>
            </a:r>
            <a:endParaRPr lang="en-US" sz="1100" dirty="0"/>
          </a:p>
        </p:txBody>
      </p:sp>
      <p:sp>
        <p:nvSpPr>
          <p:cNvPr id="34" name="ah_15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6" name="ah_15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8" name="pf_156"/>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9" name="phx_157"/>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pe1-office.jpg</a:t>
            </a:r>
            <a:endParaRPr lang="en-US" sz="900" dirty="0"/>
          </a:p>
        </p:txBody>
      </p:sp>
      <p:sp>
        <p:nvSpPr>
          <p:cNvPr id="40" name="cd_15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1" name="ii_15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2" name="ih_16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3" name="il_16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apartment = American English</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flat = British English</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3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35"/>
                                        </p:tgtEl>
                                      </p:cBhvr>
                                    </p:cmd>
                                  </p:childTnLst>
                                </p:cTn>
                              </p:par>
                            </p:childTnLst>
                          </p:cTn>
                        </p:par>
                      </p:childTnLst>
                    </p:cTn>
                  </p:par>
                </p:childTnLst>
              </p:cTn>
              <p:nextCondLst>
                <p:cond evt="onClick" delay="0">
                  <p:tgtEl>
                    <p:spTgt spid="35"/>
                  </p:tgtEl>
                </p:cond>
              </p:nextCondLst>
            </p:seq>
            <p:seq concurrent="1" nextAc="seek">
              <p:cTn id="48" restart="whenNotActive" fill="hold" evtFilter="cancelBubble" nodeType="interactiveSeq">
                <p:stCondLst>
                  <p:cond evt="onClick" delay="0">
                    <p:tgtEl>
                      <p:spTgt spid="3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37"/>
                                        </p:tgtEl>
                                      </p:cBhvr>
                                    </p:cmd>
                                  </p:childTnLst>
                                </p:cTn>
                              </p:par>
                            </p:childTnLst>
                          </p:cTn>
                        </p:par>
                      </p:childTnLst>
                    </p:cTn>
                  </p:par>
                </p:childTnLst>
              </p:cTn>
              <p:nextCondLst>
                <p:cond evt="onClick" delay="0">
                  <p:tgtEl>
                    <p:spTgt spid="37"/>
                  </p:tgtEl>
                </p:cond>
              </p:nextCondLst>
            </p:seq>
            <p:audio>
              <p:cMediaNode vol="80000">
                <p:cTn id="53" fill="hold" display="0">
                  <p:stCondLst>
                    <p:cond delay="indefinite"/>
                  </p:stCondLst>
                  <p:endCondLst>
                    <p:cond evt="onStopAudio" delay="0">
                      <p:tgtEl>
                        <p:sldTgt/>
                      </p:tgtEl>
                    </p:cond>
                  </p:endCondLst>
                </p:cTn>
                <p:tgtEl>
                  <p:spTgt spid="35"/>
                </p:tgtEl>
              </p:cMediaNode>
            </p:audio>
            <p:audio>
              <p:cMediaNode vol="80000">
                <p:cTn id="54" fill="hold" display="0">
                  <p:stCondLst>
                    <p:cond delay="indefinite"/>
                  </p:stCondLst>
                  <p:endCondLst>
                    <p:cond evt="onStopAudio" delay="0">
                      <p:tgtEl>
                        <p:sldTgt/>
                      </p:tgtEl>
                    </p:cond>
                  </p:endCondLst>
                </p:cTn>
                <p:tgtEl>
                  <p:spTgt spid="37"/>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What's the bad and good news?</a:t>
            </a:r>
            <a:endParaRPr lang="en-US" sz="1250" dirty="0"/>
          </a:p>
        </p:txBody>
      </p:sp>
      <p:sp>
        <p:nvSpPr>
          <p:cNvPr id="8" name="insIT_1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Qual è la notizia brutta e quella bella?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6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7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1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1 · gist   ·   📖 SB p.14 · 2a · video Scene 1 / audio 1.27</a:t>
            </a:r>
            <a:endParaRPr lang="en-US" sz="800" dirty="0"/>
          </a:p>
        </p:txBody>
      </p:sp>
      <p:sp>
        <p:nvSpPr>
          <p:cNvPr id="14" name="ap_173"/>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video: Scene 1 · once</a:t>
            </a:r>
            <a:endParaRPr lang="en-US" sz="1100" dirty="0"/>
          </a:p>
        </p:txBody>
      </p:sp>
      <p:sp>
        <p:nvSpPr>
          <p:cNvPr id="15" name="ah_17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17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176"/>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177"/>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78"/>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pe1-messy-desk.jpg</a:t>
            </a:r>
            <a:endParaRPr lang="en-US" sz="900" dirty="0"/>
          </a:p>
        </p:txBody>
      </p:sp>
      <p:sp>
        <p:nvSpPr>
          <p:cNvPr id="22" name="bd_179"/>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180"/>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181"/>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25" name="bd_182"/>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183"/>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18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8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186"/>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What's the problem?</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e B. Qual è il problema?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3 questions.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una volta. Rispondi alle 3 domande.</a:t>
            </a:r>
            <a:endParaRPr lang="en-US" sz="700" dirty="0"/>
          </a:p>
        </p:txBody>
      </p:sp>
      <p:sp>
        <p:nvSpPr>
          <p:cNvPr id="30" name="lq_187"/>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Rob's BAD news?</a:t>
            </a:r>
            <a:endParaRPr lang="en-US" sz="1100" dirty="0"/>
          </a:p>
        </p:txBody>
      </p:sp>
      <p:sp>
        <p:nvSpPr>
          <p:cNvPr id="31" name="R1_chip188"/>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left the chocolates at work.</a:t>
            </a:r>
            <a:endParaRPr lang="en-US" sz="1050" dirty="0"/>
          </a:p>
        </p:txBody>
      </p:sp>
      <p:sp>
        <p:nvSpPr>
          <p:cNvPr id="32" name="lq_189"/>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Jenny's GOOD news?</a:t>
            </a:r>
            <a:endParaRPr lang="en-US" sz="1100" dirty="0"/>
          </a:p>
        </p:txBody>
      </p:sp>
      <p:sp>
        <p:nvSpPr>
          <p:cNvPr id="33" name="R2_chip190"/>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She's got a promotion!</a:t>
            </a:r>
            <a:endParaRPr lang="en-US" sz="1050" dirty="0"/>
          </a:p>
        </p:txBody>
      </p:sp>
      <p:sp>
        <p:nvSpPr>
          <p:cNvPr id="34" name="lq_191"/>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parents' names?</a:t>
            </a:r>
            <a:endParaRPr lang="en-US" sz="1100" dirty="0"/>
          </a:p>
        </p:txBody>
      </p:sp>
      <p:sp>
        <p:nvSpPr>
          <p:cNvPr id="35" name="R3_chip192"/>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Harry and Sally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9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Vero o falso? Correggi quelle false.</a:t>
            </a:r>
            <a:endParaRPr lang="en-US" sz="950" dirty="0"/>
          </a:p>
        </p:txBody>
      </p:sp>
      <p:sp>
        <p:nvSpPr>
          <p:cNvPr id="9" name="cmd_1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00"/>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0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0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2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1 · detail   ·   📖 SB p.14 · 2b · video Scene 1 / audio 1.27</a:t>
            </a:r>
            <a:endParaRPr lang="en-US" sz="800" dirty="0"/>
          </a:p>
        </p:txBody>
      </p:sp>
      <p:sp>
        <p:nvSpPr>
          <p:cNvPr id="15" name="ap_20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watch Scene 1 again</a:t>
            </a:r>
            <a:endParaRPr lang="en-US" sz="1100" dirty="0"/>
          </a:p>
        </p:txBody>
      </p:sp>
      <p:sp>
        <p:nvSpPr>
          <p:cNvPr id="16" name="ah_20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0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0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20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pe1-messy-desk.jpg</a:t>
            </a:r>
            <a:endParaRPr lang="en-US" sz="900" dirty="0"/>
          </a:p>
        </p:txBody>
      </p:sp>
      <p:sp>
        <p:nvSpPr>
          <p:cNvPr id="22" name="cd_21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1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1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1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1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Rob left the chocolates at the office.</a:t>
            </a:r>
            <a:endParaRPr lang="en-US" sz="1200" dirty="0"/>
          </a:p>
        </p:txBody>
      </p:sp>
      <p:sp>
        <p:nvSpPr>
          <p:cNvPr id="27" name="R1_chip21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8" name="gq_21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Rob's desk is usually very tidy.</a:t>
            </a:r>
            <a:endParaRPr lang="en-US" sz="1200" dirty="0"/>
          </a:p>
        </p:txBody>
      </p:sp>
      <p:sp>
        <p:nvSpPr>
          <p:cNvPr id="29" name="R2_chip21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a complete mess</a:t>
            </a:r>
            <a:endParaRPr lang="en-US" sz="1200" dirty="0"/>
          </a:p>
        </p:txBody>
      </p:sp>
      <p:sp>
        <p:nvSpPr>
          <p:cNvPr id="30" name="gq_21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It's the 2nd time Rob has met her parents.</a:t>
            </a:r>
            <a:endParaRPr lang="en-US" sz="1200" dirty="0"/>
          </a:p>
        </p:txBody>
      </p:sp>
      <p:sp>
        <p:nvSpPr>
          <p:cNvPr id="31" name="R3_chip21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 time</a:t>
            </a:r>
            <a:endParaRPr lang="en-US" sz="1200" dirty="0"/>
          </a:p>
        </p:txBody>
      </p:sp>
      <p:sp>
        <p:nvSpPr>
          <p:cNvPr id="32" name="gq_22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Sally has prepared a big dinner.</a:t>
            </a:r>
            <a:endParaRPr lang="en-US" sz="1200" dirty="0"/>
          </a:p>
        </p:txBody>
      </p:sp>
      <p:sp>
        <p:nvSpPr>
          <p:cNvPr id="33" name="R4_chip22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 – way too much food!</a:t>
            </a:r>
            <a:endParaRPr lang="en-US" sz="1200" dirty="0"/>
          </a:p>
        </p:txBody>
      </p:sp>
      <p:sp>
        <p:nvSpPr>
          <p:cNvPr id="34" name="gq_22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Jenny's new job: Managing Director.</a:t>
            </a:r>
            <a:endParaRPr lang="en-US" sz="1200" dirty="0"/>
          </a:p>
        </p:txBody>
      </p:sp>
      <p:sp>
        <p:nvSpPr>
          <p:cNvPr id="35" name="R5_chip22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Managing Editor</a:t>
            </a:r>
            <a:endParaRPr lang="en-US" sz="1200" dirty="0"/>
          </a:p>
        </p:txBody>
      </p:sp>
      <p:sp>
        <p:nvSpPr>
          <p:cNvPr id="36" name="gq_22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Jenny is going to be Rob's manager.</a:t>
            </a:r>
            <a:endParaRPr lang="en-US" sz="1200" dirty="0"/>
          </a:p>
        </p:txBody>
      </p:sp>
      <p:sp>
        <p:nvSpPr>
          <p:cNvPr id="37" name="R6_chip22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not Rob's manager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reactions</a:t>
            </a:r>
            <a:endParaRPr lang="en-US" sz="2500" dirty="0"/>
          </a:p>
        </p:txBody>
      </p:sp>
      <p:pic>
        <p:nvPicPr>
          <p:cNvPr id="6" name="brP_229"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30"/>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words? Then listen.</a:t>
            </a:r>
            <a:endParaRPr lang="en-US" sz="1250" dirty="0"/>
          </a:p>
        </p:txBody>
      </p:sp>
      <p:sp>
        <p:nvSpPr>
          <p:cNvPr id="8" name="insIT_2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Poi ascolta.</a:t>
            </a:r>
            <a:endParaRPr lang="en-US" sz="950" dirty="0"/>
          </a:p>
        </p:txBody>
      </p:sp>
      <p:sp>
        <p:nvSpPr>
          <p:cNvPr id="9" name="cmd_2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3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3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2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reacting to what people say   ·   📖 SB p.14 · 2c · video listen and check / audio 1.28</a:t>
            </a:r>
            <a:endParaRPr lang="en-US" sz="800" dirty="0"/>
          </a:p>
        </p:txBody>
      </p:sp>
      <p:sp>
        <p:nvSpPr>
          <p:cNvPr id="14" name="ap_23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1.28  ·  listen and check</a:t>
            </a:r>
            <a:endParaRPr lang="en-US" sz="1100" dirty="0"/>
          </a:p>
        </p:txBody>
      </p:sp>
      <p:sp>
        <p:nvSpPr>
          <p:cNvPr id="15" name="ah_23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23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24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241"/>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21" name="cd_24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4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4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4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46"/>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Rob: OK. Oh ___!</a:t>
            </a:r>
            <a:endParaRPr lang="en-US" sz="1200" dirty="0"/>
          </a:p>
        </p:txBody>
      </p:sp>
      <p:sp>
        <p:nvSpPr>
          <p:cNvPr id="26" name="R1_chip247"/>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(example)</a:t>
            </a:r>
            <a:endParaRPr lang="en-US" sz="1200" dirty="0"/>
          </a:p>
        </p:txBody>
      </p:sp>
      <p:sp>
        <p:nvSpPr>
          <p:cNvPr id="27" name="gq_248"/>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I don't ___ it.</a:t>
            </a:r>
            <a:endParaRPr lang="en-US" sz="1200" dirty="0"/>
          </a:p>
        </p:txBody>
      </p:sp>
      <p:sp>
        <p:nvSpPr>
          <p:cNvPr id="28" name="R2_chip249"/>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believe</a:t>
            </a:r>
            <a:endParaRPr lang="en-US" sz="1200" dirty="0"/>
          </a:p>
        </p:txBody>
      </p:sp>
      <p:sp>
        <p:nvSpPr>
          <p:cNvPr id="29" name="gq_250"/>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kidding.</a:t>
            </a:r>
            <a:endParaRPr lang="en-US" sz="1200" dirty="0"/>
          </a:p>
        </p:txBody>
      </p:sp>
      <p:sp>
        <p:nvSpPr>
          <p:cNvPr id="30" name="R3_chip251"/>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You're</a:t>
            </a:r>
            <a:endParaRPr lang="en-US" sz="1200" dirty="0"/>
          </a:p>
        </p:txBody>
      </p:sp>
      <p:sp>
        <p:nvSpPr>
          <p:cNvPr id="31" name="gq_252"/>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Sally: What a ___. ___ mind.</a:t>
            </a:r>
            <a:endParaRPr lang="en-US" sz="1200" dirty="0"/>
          </a:p>
        </p:txBody>
      </p:sp>
      <p:sp>
        <p:nvSpPr>
          <p:cNvPr id="32" name="R4_chip253"/>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pity · Never</a:t>
            </a:r>
            <a:endParaRPr lang="en-US" sz="1200" dirty="0"/>
          </a:p>
        </p:txBody>
      </p:sp>
      <p:sp>
        <p:nvSpPr>
          <p:cNvPr id="33" name="gq_254"/>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Sally: ___? What's that?</a:t>
            </a:r>
            <a:endParaRPr lang="en-US" sz="1200" dirty="0"/>
          </a:p>
        </p:txBody>
      </p:sp>
      <p:sp>
        <p:nvSpPr>
          <p:cNvPr id="34" name="R5_chip255"/>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35" name="gq_256"/>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___ fantastic! · That's great ___!</a:t>
            </a:r>
            <a:endParaRPr lang="en-US" sz="1200" dirty="0"/>
          </a:p>
        </p:txBody>
      </p:sp>
      <p:sp>
        <p:nvSpPr>
          <p:cNvPr id="36" name="R6_chip257"/>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 news</a:t>
            </a:r>
            <a:endParaRPr lang="en-US" sz="1200" dirty="0"/>
          </a:p>
        </p:txBody>
      </p:sp>
      <p:sp>
        <p:nvSpPr>
          <p:cNvPr id="37" name="gq_258"/>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 What a ___ idea!</a:t>
            </a:r>
            <a:endParaRPr lang="en-US" sz="1200" dirty="0"/>
          </a:p>
        </p:txBody>
      </p:sp>
      <p:sp>
        <p:nvSpPr>
          <p:cNvPr id="38" name="R7_chip259"/>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seq concurrent="1" nextAc="seek">
              <p:cTn id="43" restart="whenNotActive" fill="hold" evtFilter="cancelBubble" nodeType="interactiveSeq">
                <p:stCondLst>
                  <p:cond evt="onClick" delay="0">
                    <p:tgtEl>
                      <p:spTgt spid="1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8"/>
                                        </p:tgtEl>
                                      </p:cBhvr>
                                    </p:cmd>
                                  </p:childTnLst>
                                </p:cTn>
                              </p:par>
                            </p:childTnLst>
                          </p:cTn>
                        </p:par>
                      </p:childTnLst>
                    </p:cTn>
                  </p:par>
                </p:childTnLst>
              </p:cTn>
              <p:nextCondLst>
                <p:cond evt="onClick" delay="0">
                  <p:tgtEl>
                    <p:spTgt spid="18"/>
                  </p:tgtEl>
                </p:cond>
              </p:nextCondLst>
            </p:seq>
            <p:audio>
              <p:cMediaNode vol="80000">
                <p:cTn id="48" fill="hold" display="0">
                  <p:stCondLst>
                    <p:cond delay="indefinite"/>
                  </p:stCondLst>
                  <p:endCondLst>
                    <p:cond evt="onStopAudio" delay="0">
                      <p:tgtEl>
                        <p:sldTgt/>
                      </p:tgtEl>
                    </p:cond>
                  </p:endCondLst>
                </p:cTn>
                <p:tgtEl>
                  <p:spTgt spid="16"/>
                </p:tgtEl>
              </p:cMediaNode>
            </p:audio>
            <p:audio>
              <p:cMediaNode vol="80000">
                <p:cTn id="49" fill="hold" display="0">
                  <p:stCondLst>
                    <p:cond delay="indefinite"/>
                  </p:stCondLst>
                  <p:endCondLst>
                    <p:cond evt="onStopAudio" delay="0">
                      <p:tgtEl>
                        <p:sldTgt/>
                      </p:tgtEl>
                    </p:cond>
                  </p:endCondLst>
                </p:cTn>
                <p:tgtEl>
                  <p:spTgt spid="18"/>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6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Good news or bad news?</a:t>
            </a:r>
            <a:endParaRPr lang="en-US" sz="2250" dirty="0"/>
          </a:p>
        </p:txBody>
      </p:sp>
      <p:pic>
        <p:nvPicPr>
          <p:cNvPr id="6" name="brP_2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Surprising, good or bad news? Match.</a:t>
            </a:r>
            <a:endParaRPr lang="en-US" sz="1250" dirty="0"/>
          </a:p>
        </p:txBody>
      </p:sp>
      <p:sp>
        <p:nvSpPr>
          <p:cNvPr id="8" name="insIT_2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Sorprendente, bella o brutta notizia? Abbina.</a:t>
            </a:r>
            <a:endParaRPr lang="en-US" sz="950" dirty="0"/>
          </a:p>
        </p:txBody>
      </p:sp>
      <p:sp>
        <p:nvSpPr>
          <p:cNvPr id="9" name="cmd_26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26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the reactions chart   ·   📖 SB p.15 · 2d · chart 'Reacting to what people say'</a:t>
            </a:r>
            <a:endParaRPr lang="en-US" sz="800" dirty="0"/>
          </a:p>
        </p:txBody>
      </p:sp>
      <p:sp>
        <p:nvSpPr>
          <p:cNvPr id="13" name="cd_270"/>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7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6" name="il_273"/>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274"/>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surprising</a:t>
            </a:r>
            <a:endParaRPr lang="en-US" sz="1050" dirty="0"/>
          </a:p>
        </p:txBody>
      </p:sp>
      <p:sp>
        <p:nvSpPr>
          <p:cNvPr id="18" name="lg_275"/>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interesting</a:t>
            </a:r>
            <a:endParaRPr lang="en-US" sz="1050" dirty="0"/>
          </a:p>
        </p:txBody>
      </p:sp>
      <p:sp>
        <p:nvSpPr>
          <p:cNvPr id="19" name="lg_276"/>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news</a:t>
            </a:r>
            <a:endParaRPr lang="en-US" sz="1050" dirty="0"/>
          </a:p>
        </p:txBody>
      </p:sp>
      <p:sp>
        <p:nvSpPr>
          <p:cNvPr id="20" name="lg_277"/>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news</a:t>
            </a:r>
            <a:endParaRPr lang="en-US" sz="1050" dirty="0"/>
          </a:p>
        </p:txBody>
      </p:sp>
      <p:sp>
        <p:nvSpPr>
          <p:cNvPr id="21" name="sq_278"/>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You're kidding.</a:t>
            </a:r>
            <a:endParaRPr lang="en-US" sz="1200" dirty="0"/>
          </a:p>
        </p:txBody>
      </p:sp>
      <p:sp>
        <p:nvSpPr>
          <p:cNvPr id="22" name="R1_tag279"/>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3" name="sq_280"/>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believe it.</a:t>
            </a:r>
            <a:endParaRPr lang="en-US" sz="1200" dirty="0"/>
          </a:p>
        </p:txBody>
      </p:sp>
      <p:sp>
        <p:nvSpPr>
          <p:cNvPr id="24" name="R2_tag281"/>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5" name="sq_282"/>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6" name="R3_tag283"/>
          <p:cNvSpPr/>
          <p:nvPr/>
        </p:nvSpPr>
        <p:spPr>
          <a:xfrm>
            <a:off x="7178040" y="21488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interesting</a:t>
            </a:r>
            <a:endParaRPr lang="en-US" sz="1150" dirty="0"/>
          </a:p>
        </p:txBody>
      </p:sp>
      <p:sp>
        <p:nvSpPr>
          <p:cNvPr id="27" name="sq_284"/>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fantastic!</a:t>
            </a:r>
            <a:endParaRPr lang="en-US" sz="1200" dirty="0"/>
          </a:p>
        </p:txBody>
      </p:sp>
      <p:sp>
        <p:nvSpPr>
          <p:cNvPr id="28" name="R4_tag285"/>
          <p:cNvSpPr/>
          <p:nvPr/>
        </p:nvSpPr>
        <p:spPr>
          <a:xfrm>
            <a:off x="7178040" y="251460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29" name="sq_286"/>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That's great news!</a:t>
            </a:r>
            <a:endParaRPr lang="en-US" sz="1200" dirty="0"/>
          </a:p>
        </p:txBody>
      </p:sp>
      <p:sp>
        <p:nvSpPr>
          <p:cNvPr id="30" name="R5_tag287"/>
          <p:cNvSpPr/>
          <p:nvPr/>
        </p:nvSpPr>
        <p:spPr>
          <a:xfrm>
            <a:off x="7178040" y="288036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1" name="sq_288"/>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great idea!</a:t>
            </a:r>
            <a:endParaRPr lang="en-US" sz="1200" dirty="0"/>
          </a:p>
        </p:txBody>
      </p:sp>
      <p:sp>
        <p:nvSpPr>
          <p:cNvPr id="32" name="R6_tag289"/>
          <p:cNvSpPr/>
          <p:nvPr/>
        </p:nvSpPr>
        <p:spPr>
          <a:xfrm>
            <a:off x="7178040" y="324612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3" name="sq_290"/>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Oh no!</a:t>
            </a:r>
            <a:endParaRPr lang="en-US" sz="1200" dirty="0"/>
          </a:p>
        </p:txBody>
      </p:sp>
      <p:sp>
        <p:nvSpPr>
          <p:cNvPr id="34" name="R7_tag291"/>
          <p:cNvSpPr/>
          <p:nvPr/>
        </p:nvSpPr>
        <p:spPr>
          <a:xfrm>
            <a:off x="7178040" y="361188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5" name="sq_292"/>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pity.</a:t>
            </a:r>
            <a:endParaRPr lang="en-US" sz="1200" dirty="0"/>
          </a:p>
        </p:txBody>
      </p:sp>
      <p:sp>
        <p:nvSpPr>
          <p:cNvPr id="36" name="R8_tag293"/>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7" name="sq_294"/>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Never mind.</a:t>
            </a:r>
            <a:endParaRPr lang="en-US" sz="1200" dirty="0"/>
          </a:p>
        </p:txBody>
      </p:sp>
      <p:sp>
        <p:nvSpPr>
          <p:cNvPr id="38" name="R9_tag295"/>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9" name="pf_296"/>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0" name="phx_297"/>
          <p:cNvSpPr/>
          <p:nvPr/>
        </p:nvSpPr>
        <p:spPr>
          <a:xfrm>
            <a:off x="457200" y="3749040"/>
            <a:ext cx="2423160" cy="9144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0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Reactions in Italian</a:t>
            </a:r>
            <a:endParaRPr lang="en-US" sz="2500" dirty="0"/>
          </a:p>
        </p:txBody>
      </p:sp>
      <p:pic>
        <p:nvPicPr>
          <p:cNvPr id="6" name="brP_30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0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30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0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in Italian</a:t>
            </a:r>
            <a:endParaRPr lang="en-US" sz="800" dirty="0"/>
          </a:p>
        </p:txBody>
      </p:sp>
      <p:sp>
        <p:nvSpPr>
          <p:cNvPr id="13" name="cd_30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0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1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You're kidding!</a:t>
            </a:r>
            <a:endParaRPr lang="en-US" sz="1200" dirty="0"/>
          </a:p>
        </p:txBody>
      </p:sp>
      <p:sp>
        <p:nvSpPr>
          <p:cNvPr id="16" name="R1_it31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Stai scherzando!</a:t>
            </a:r>
            <a:endParaRPr lang="en-US" sz="1000" dirty="0"/>
          </a:p>
        </p:txBody>
      </p:sp>
      <p:sp>
        <p:nvSpPr>
          <p:cNvPr id="17" name="cd_31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1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1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don't believe it!</a:t>
            </a:r>
            <a:endParaRPr lang="en-US" sz="1200" dirty="0"/>
          </a:p>
        </p:txBody>
      </p:sp>
      <p:sp>
        <p:nvSpPr>
          <p:cNvPr id="20" name="R2_it31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Non ci posso credere!</a:t>
            </a:r>
            <a:endParaRPr lang="en-US" sz="900" dirty="0"/>
          </a:p>
        </p:txBody>
      </p:sp>
      <p:sp>
        <p:nvSpPr>
          <p:cNvPr id="21" name="cd_31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1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1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Really?</a:t>
            </a:r>
            <a:endParaRPr lang="en-US" sz="1200" dirty="0"/>
          </a:p>
        </p:txBody>
      </p:sp>
      <p:sp>
        <p:nvSpPr>
          <p:cNvPr id="24" name="R3_it31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Davvero?</a:t>
            </a:r>
            <a:endParaRPr lang="en-US" sz="1000" dirty="0"/>
          </a:p>
        </p:txBody>
      </p:sp>
      <p:sp>
        <p:nvSpPr>
          <p:cNvPr id="25" name="cd_32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2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2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fantastic!</a:t>
            </a:r>
            <a:endParaRPr lang="en-US" sz="1200" dirty="0"/>
          </a:p>
        </p:txBody>
      </p:sp>
      <p:sp>
        <p:nvSpPr>
          <p:cNvPr id="28" name="R4_it32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Fantastico! / Che bello!</a:t>
            </a:r>
            <a:endParaRPr lang="en-US" sz="850" dirty="0"/>
          </a:p>
        </p:txBody>
      </p:sp>
      <p:sp>
        <p:nvSpPr>
          <p:cNvPr id="29" name="cd_32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2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2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That's great news!</a:t>
            </a:r>
            <a:endParaRPr lang="en-US" sz="1100" dirty="0"/>
          </a:p>
        </p:txBody>
      </p:sp>
      <p:sp>
        <p:nvSpPr>
          <p:cNvPr id="32" name="R5_it32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notizia!</a:t>
            </a:r>
            <a:endParaRPr lang="en-US" sz="1000" dirty="0"/>
          </a:p>
        </p:txBody>
      </p:sp>
      <p:sp>
        <p:nvSpPr>
          <p:cNvPr id="33" name="cd_32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2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3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What a great idea!</a:t>
            </a:r>
            <a:endParaRPr lang="en-US" sz="1150" dirty="0"/>
          </a:p>
        </p:txBody>
      </p:sp>
      <p:sp>
        <p:nvSpPr>
          <p:cNvPr id="36" name="R6_it33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idea!</a:t>
            </a:r>
            <a:endParaRPr lang="en-US" sz="1000" dirty="0"/>
          </a:p>
        </p:txBody>
      </p:sp>
      <p:sp>
        <p:nvSpPr>
          <p:cNvPr id="37" name="cd_33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3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3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Oh no!</a:t>
            </a:r>
            <a:endParaRPr lang="en-US" sz="1200" dirty="0"/>
          </a:p>
        </p:txBody>
      </p:sp>
      <p:sp>
        <p:nvSpPr>
          <p:cNvPr id="40" name="R7_it33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Oh no!</a:t>
            </a:r>
            <a:endParaRPr lang="en-US" sz="1000" dirty="0"/>
          </a:p>
        </p:txBody>
      </p:sp>
      <p:sp>
        <p:nvSpPr>
          <p:cNvPr id="41" name="cd_33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3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3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What a pity.</a:t>
            </a:r>
            <a:endParaRPr lang="en-US" sz="1200" dirty="0"/>
          </a:p>
        </p:txBody>
      </p:sp>
      <p:sp>
        <p:nvSpPr>
          <p:cNvPr id="44" name="R8_it33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peccato.</a:t>
            </a:r>
            <a:endParaRPr lang="en-US" sz="1000" dirty="0"/>
          </a:p>
        </p:txBody>
      </p:sp>
      <p:sp>
        <p:nvSpPr>
          <p:cNvPr id="45" name="cd_34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4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4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Never mind.</a:t>
            </a:r>
            <a:endParaRPr lang="en-US" sz="1200" dirty="0"/>
          </a:p>
        </p:txBody>
      </p:sp>
      <p:sp>
        <p:nvSpPr>
          <p:cNvPr id="48" name="R9_it34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importa. / Pazienza.</a:t>
            </a:r>
            <a:endParaRPr lang="en-US" sz="800" dirty="0"/>
          </a:p>
        </p:txBody>
      </p:sp>
      <p:sp>
        <p:nvSpPr>
          <p:cNvPr id="49" name="cd_34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4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4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Don't worry about it.</a:t>
            </a:r>
            <a:endParaRPr lang="en-US" sz="1000" dirty="0"/>
          </a:p>
        </p:txBody>
      </p:sp>
      <p:sp>
        <p:nvSpPr>
          <p:cNvPr id="52" name="R10_it34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preoccuparti.</a:t>
            </a:r>
            <a:endParaRPr lang="en-US" sz="1000" dirty="0"/>
          </a:p>
        </p:txBody>
      </p:sp>
      <p:sp>
        <p:nvSpPr>
          <p:cNvPr id="53" name="cd_34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4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5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awful!</a:t>
            </a:r>
            <a:endParaRPr lang="en-US" sz="1200" dirty="0"/>
          </a:p>
        </p:txBody>
      </p:sp>
      <p:sp>
        <p:nvSpPr>
          <p:cNvPr id="56" name="R11_it35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brutto! / Terribile!</a:t>
            </a:r>
            <a:endParaRPr lang="en-US" sz="900" dirty="0"/>
          </a:p>
        </p:txBody>
      </p:sp>
      <p:sp>
        <p:nvSpPr>
          <p:cNvPr id="57" name="cd_35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5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5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interesting!</a:t>
            </a:r>
            <a:endParaRPr lang="en-US" sz="1200" dirty="0"/>
          </a:p>
        </p:txBody>
      </p:sp>
      <p:sp>
        <p:nvSpPr>
          <p:cNvPr id="60" name="R12_it35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interessante!</a:t>
            </a:r>
            <a:endParaRPr lang="en-US" sz="1000" dirty="0"/>
          </a:p>
        </p:txBody>
      </p:sp>
      <p:sp>
        <p:nvSpPr>
          <p:cNvPr id="61" name="R13_wc35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3_w35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Never mind / What a pity = SMALL problems only (a lost pen, a late bus) – NOT for really bad news!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6"/>
                                        </p:tgtEl>
                                        <p:attrNameLst>
                                          <p:attrName>style.visibility</p:attrName>
                                        </p:attrNameLst>
                                      </p:cBhvr>
                                      <p:to>
                                        <p:strVal val="visible"/>
                                      </p:to>
                                    </p:set>
                                    <p:animEffect transition="in" filter="fade">
                                      <p:cBhvr>
                                        <p:cTn id="57" dur="400"/>
                                        <p:tgtEl>
                                          <p:spTgt spid="5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0"/>
                                        </p:tgtEl>
                                        <p:attrNameLst>
                                          <p:attrName>style.visibility</p:attrName>
                                        </p:attrNameLst>
                                      </p:cBhvr>
                                      <p:to>
                                        <p:strVal val="visible"/>
                                      </p:to>
                                    </p:set>
                                    <p:animEffect transition="in" filter="fade">
                                      <p:cBhvr>
                                        <p:cTn id="62" dur="400"/>
                                        <p:tgtEl>
                                          <p:spTgt spid="6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animEffect transition="in" filter="fade">
                                      <p:cBhvr>
                                        <p:cTn id="67" dur="400"/>
                                        <p:tgtEl>
                                          <p:spTgt spid="61"/>
                                        </p:tgtEl>
                                      </p:cBhvr>
                                    </p:animEffect>
                                  </p:childTnLst>
                                </p:cTn>
                              </p:par>
                              <p:par>
                                <p:cTn id="68" presetID="10" presetClass="entr" presetSubtype="0" fill="hold" nodeType="withEffect">
                                  <p:stCondLst>
                                    <p:cond delay="0"/>
                                  </p:stCondLst>
                                  <p:childTnLst>
                                    <p:set>
                                      <p:cBhvr>
                                        <p:cTn id="69" dur="1" fill="hold">
                                          <p:stCondLst>
                                            <p:cond delay="0"/>
                                          </p:stCondLst>
                                        </p:cTn>
                                        <p:tgtEl>
                                          <p:spTgt spid="62"/>
                                        </p:tgtEl>
                                        <p:attrNameLst>
                                          <p:attrName>style.visibility</p:attrName>
                                        </p:attrNameLst>
                                      </p:cBhvr>
                                      <p:to>
                                        <p:strVal val="visible"/>
                                      </p:to>
                                    </p:set>
                                    <p:animEffect transition="in" filter="fade">
                                      <p:cBhvr>
                                        <p:cTn id="70"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6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or What…!</a:t>
            </a:r>
            <a:endParaRPr lang="en-US" sz="2250" dirty="0"/>
          </a:p>
        </p:txBody>
      </p:sp>
      <p:pic>
        <p:nvPicPr>
          <p:cNvPr id="6" name="brP_361"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62"/>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or What? Look at the examples.</a:t>
            </a:r>
            <a:endParaRPr lang="en-US" sz="1250" dirty="0"/>
          </a:p>
        </p:txBody>
      </p:sp>
      <p:sp>
        <p:nvSpPr>
          <p:cNvPr id="8" name="insIT_3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How o What? Guarda gli esempi.</a:t>
            </a:r>
            <a:endParaRPr lang="en-US" sz="950" dirty="0"/>
          </a:p>
        </p:txBody>
      </p:sp>
      <p:sp>
        <p:nvSpPr>
          <p:cNvPr id="9" name="cmd_36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6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How + adjective, What + noun   ·   📖 SB p.15 · box 'How + adjective, What + noun'</a:t>
            </a:r>
            <a:endParaRPr lang="en-US" sz="800" dirty="0"/>
          </a:p>
        </p:txBody>
      </p:sp>
      <p:sp>
        <p:nvSpPr>
          <p:cNvPr id="13" name="cd_368"/>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369"/>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How + adjective</a:t>
            </a:r>
            <a:endParaRPr lang="en-US" sz="1250" dirty="0"/>
          </a:p>
        </p:txBody>
      </p:sp>
      <p:sp>
        <p:nvSpPr>
          <p:cNvPr id="15" name="pf_370"/>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71" descr="/home/claude/lls-course/v2/cache/spare_work_success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372"/>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adjective only – no noun</a:t>
            </a:r>
            <a:endParaRPr lang="en-US" sz="1050" dirty="0"/>
          </a:p>
        </p:txBody>
      </p:sp>
      <p:sp>
        <p:nvSpPr>
          <p:cNvPr id="18" name="R1_rx373"/>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fantastic!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interesting!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awful!</a:t>
            </a:r>
            <a:endParaRPr lang="en-US" sz="1050" dirty="0"/>
          </a:p>
        </p:txBody>
      </p:sp>
      <p:sp>
        <p:nvSpPr>
          <p:cNvPr id="19" name="R1_ri374"/>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Che bello! · Che interessante!</a:t>
            </a:r>
            <a:endParaRPr lang="en-US" sz="900" dirty="0"/>
          </a:p>
        </p:txBody>
      </p:sp>
      <p:sp>
        <p:nvSpPr>
          <p:cNvPr id="20" name="cd_375"/>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376"/>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a + noun</a:t>
            </a:r>
            <a:endParaRPr lang="en-US" sz="1250" dirty="0"/>
          </a:p>
        </p:txBody>
      </p:sp>
      <p:sp>
        <p:nvSpPr>
          <p:cNvPr id="22" name="pf_377"/>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378"/>
          <p:cNvSpPr/>
          <p:nvPr/>
        </p:nvSpPr>
        <p:spPr>
          <a:xfrm>
            <a:off x="3371088" y="1984248"/>
            <a:ext cx="24475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pe1-messy-desk.jpg</a:t>
            </a:r>
            <a:endParaRPr lang="en-US" sz="900" dirty="0"/>
          </a:p>
        </p:txBody>
      </p:sp>
      <p:sp>
        <p:nvSpPr>
          <p:cNvPr id="24" name="ru_379"/>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 / an + (adjective) + noun</a:t>
            </a:r>
            <a:endParaRPr lang="en-US" sz="1050" dirty="0"/>
          </a:p>
        </p:txBody>
      </p:sp>
      <p:sp>
        <p:nvSpPr>
          <p:cNvPr id="25" name="R2_rx380"/>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pity!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great idea!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mess!</a:t>
            </a:r>
            <a:endParaRPr lang="en-US" sz="1050" dirty="0"/>
          </a:p>
        </p:txBody>
      </p:sp>
      <p:sp>
        <p:nvSpPr>
          <p:cNvPr id="26" name="R2_ri381"/>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Che peccato! · Che disastro!</a:t>
            </a:r>
            <a:endParaRPr lang="en-US" sz="900" dirty="0"/>
          </a:p>
        </p:txBody>
      </p:sp>
      <p:sp>
        <p:nvSpPr>
          <p:cNvPr id="27" name="cd_382"/>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383"/>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 noun (no a)</a:t>
            </a:r>
            <a:endParaRPr lang="en-US" sz="1250" dirty="0"/>
          </a:p>
        </p:txBody>
      </p:sp>
      <p:sp>
        <p:nvSpPr>
          <p:cNvPr id="29" name="pf_384"/>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385" descr="/home/claude/lls-course/v2/cache/spare_life_celebrations_jpg_589x209_31.png">    </p:cNvPr>
          <p:cNvPicPr>
            <a:picLocks noChangeAspect="1"/>
          </p:cNvPicPr>
          <p:nvPr/>
        </p:nvPicPr>
        <p:blipFill>
          <a:blip r:embed="rId6"/>
          <a:stretch>
            <a:fillRect/>
          </a:stretch>
        </p:blipFill>
        <p:spPr>
          <a:xfrm>
            <a:off x="6266688" y="1984248"/>
            <a:ext cx="2447544" cy="868680"/>
          </a:xfrm>
          <a:prstGeom prst="rect">
            <a:avLst/>
          </a:prstGeom>
        </p:spPr>
      </p:pic>
      <p:sp>
        <p:nvSpPr>
          <p:cNvPr id="31" name="ru_386"/>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news, plurals – no a!</a:t>
            </a:r>
            <a:endParaRPr lang="en-US" sz="1050" dirty="0"/>
          </a:p>
        </p:txBody>
      </p:sp>
      <p:sp>
        <p:nvSpPr>
          <p:cNvPr id="32" name="R3_rx387"/>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terrible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great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lovely people!</a:t>
            </a:r>
            <a:endParaRPr lang="en-US" sz="1050" dirty="0"/>
          </a:p>
        </p:txBody>
      </p:sp>
      <p:sp>
        <p:nvSpPr>
          <p:cNvPr id="33" name="R3_ri388"/>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news = notizie: no 'a'!</a:t>
            </a:r>
            <a:endParaRPr lang="en-US" sz="900" dirty="0"/>
          </a:p>
        </p:txBody>
      </p:sp>
      <p:sp>
        <p:nvSpPr>
          <p:cNvPr id="34" name="R4_wc389"/>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390"/>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What fantastic! → ✓ How fantastic!    ✗ How a pity! → ✓ What a pity!    ✗ What a terrible news! → ✓ What terrible news!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1"/>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9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9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39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9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music – up and down!</a:t>
            </a:r>
            <a:endParaRPr lang="en-US" sz="1250" dirty="0"/>
          </a:p>
        </p:txBody>
      </p:sp>
      <p:sp>
        <p:nvSpPr>
          <p:cNvPr id="8" name="insIT_3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Copia la musica: su e giù!</a:t>
            </a:r>
            <a:endParaRPr lang="en-US" sz="950" dirty="0"/>
          </a:p>
        </p:txBody>
      </p:sp>
      <p:sp>
        <p:nvSpPr>
          <p:cNvPr id="9" name="cmd_39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98"/>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9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2" name="tag_40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4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Pronunciation · sounding interested   ·   📖 SB p.15 · 2d, 2e · video listen and repeat / audio 1.29</a:t>
            </a:r>
            <a:endParaRPr lang="en-US" sz="800" dirty="0"/>
          </a:p>
        </p:txBody>
      </p:sp>
      <p:sp>
        <p:nvSpPr>
          <p:cNvPr id="15" name="ap_403"/>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1.29  ·  pause after each phrase</a:t>
            </a:r>
            <a:endParaRPr lang="en-US" sz="1100" dirty="0"/>
          </a:p>
        </p:txBody>
      </p:sp>
      <p:sp>
        <p:nvSpPr>
          <p:cNvPr id="16" name="ah_40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0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cd_406"/>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1" name="ii_407"/>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408"/>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3" name="il_409"/>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nouns, verbs, adjectives are strong</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a, the, of are weak and fast</a:t>
            </a:r>
            <a:endParaRPr lang="en-US" sz="1050" dirty="0"/>
          </a:p>
        </p:txBody>
      </p:sp>
      <p:sp>
        <p:nvSpPr>
          <p:cNvPr id="24" name="pf_410"/>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411"/>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
        <p:nvSpPr>
          <p:cNvPr id="26" name="bd_412"/>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7" name="R1_sw413"/>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KIDding</a:t>
            </a:r>
            <a:endParaRPr lang="en-US" sz="1150" dirty="0"/>
          </a:p>
        </p:txBody>
      </p:sp>
      <p:sp>
        <p:nvSpPr>
          <p:cNvPr id="28" name="R2_sf414"/>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You're kidding.</a:t>
            </a:r>
            <a:endParaRPr lang="en-US" sz="1100" dirty="0"/>
          </a:p>
        </p:txBody>
      </p:sp>
      <p:sp>
        <p:nvSpPr>
          <p:cNvPr id="29" name="bd_415"/>
          <p:cNvSpPr/>
          <p:nvPr/>
        </p:nvSpPr>
        <p:spPr>
          <a:xfrm>
            <a:off x="3291840" y="21122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0" name="R3_sw416"/>
          <p:cNvSpPr/>
          <p:nvPr/>
        </p:nvSpPr>
        <p:spPr>
          <a:xfrm>
            <a:off x="3749040" y="2084832"/>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beLIEVE</a:t>
            </a:r>
            <a:endParaRPr lang="en-US" sz="1150" dirty="0"/>
          </a:p>
        </p:txBody>
      </p:sp>
      <p:sp>
        <p:nvSpPr>
          <p:cNvPr id="31" name="R4_sf417"/>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believe it.</a:t>
            </a:r>
            <a:endParaRPr lang="en-US" sz="1100" dirty="0"/>
          </a:p>
        </p:txBody>
      </p:sp>
      <p:sp>
        <p:nvSpPr>
          <p:cNvPr id="32" name="bd_418"/>
          <p:cNvSpPr/>
          <p:nvPr/>
        </p:nvSpPr>
        <p:spPr>
          <a:xfrm>
            <a:off x="3291840" y="277977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3" name="R5_sw419"/>
          <p:cNvSpPr/>
          <p:nvPr/>
        </p:nvSpPr>
        <p:spPr>
          <a:xfrm>
            <a:off x="3749040" y="2752344"/>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REAlly</a:t>
            </a:r>
            <a:endParaRPr lang="en-US" sz="1150" dirty="0"/>
          </a:p>
        </p:txBody>
      </p:sp>
      <p:sp>
        <p:nvSpPr>
          <p:cNvPr id="34" name="R6_sf420"/>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Really? ↗</a:t>
            </a:r>
            <a:endParaRPr lang="en-US" sz="1100" dirty="0"/>
          </a:p>
        </p:txBody>
      </p:sp>
      <p:sp>
        <p:nvSpPr>
          <p:cNvPr id="35" name="bd_421"/>
          <p:cNvSpPr/>
          <p:nvPr/>
        </p:nvSpPr>
        <p:spPr>
          <a:xfrm>
            <a:off x="3291840" y="344728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6" name="R7_sw422"/>
          <p:cNvSpPr/>
          <p:nvPr/>
        </p:nvSpPr>
        <p:spPr>
          <a:xfrm>
            <a:off x="3749040"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fanTAStic</a:t>
            </a:r>
            <a:endParaRPr lang="en-US" sz="1150" dirty="0"/>
          </a:p>
        </p:txBody>
      </p:sp>
      <p:sp>
        <p:nvSpPr>
          <p:cNvPr id="37" name="R8_sf423"/>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fantastic!</a:t>
            </a:r>
            <a:endParaRPr lang="en-US" sz="1100" dirty="0"/>
          </a:p>
        </p:txBody>
      </p:sp>
      <p:sp>
        <p:nvSpPr>
          <p:cNvPr id="38" name="bd_424"/>
          <p:cNvSpPr/>
          <p:nvPr/>
        </p:nvSpPr>
        <p:spPr>
          <a:xfrm>
            <a:off x="3291840" y="411480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9" name="R9_sw425"/>
          <p:cNvSpPr/>
          <p:nvPr/>
        </p:nvSpPr>
        <p:spPr>
          <a:xfrm>
            <a:off x="3749040"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PIty</a:t>
            </a:r>
            <a:endParaRPr lang="en-US" sz="1150" dirty="0"/>
          </a:p>
        </p:txBody>
      </p:sp>
      <p:sp>
        <p:nvSpPr>
          <p:cNvPr id="40" name="R9_sw426"/>
          <p:cNvSpPr/>
          <p:nvPr/>
        </p:nvSpPr>
        <p:spPr>
          <a:xfrm>
            <a:off x="4773168"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41" name="R9_sw427"/>
          <p:cNvSpPr/>
          <p:nvPr/>
        </p:nvSpPr>
        <p:spPr>
          <a:xfrm>
            <a:off x="5797296"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MIND</a:t>
            </a:r>
            <a:endParaRPr lang="en-US" sz="1150" dirty="0"/>
          </a:p>
        </p:txBody>
      </p:sp>
      <p:sp>
        <p:nvSpPr>
          <p:cNvPr id="42" name="R10_sf428"/>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What a pity. Never mind.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9" restart="whenNotActive" fill="hold" evtFilter="cancelBubble" nodeType="interactiveSeq">
                <p:stCondLst>
                  <p:cond evt="onClick" delay="0">
                    <p:tgtEl>
                      <p:spTgt spid="17"/>
                    </p:tgtEl>
                  </p:cond>
                </p:stCondLst>
                <p:endSync evt="end" delay="0">
                  <p:rtn val="all"/>
                </p:endSync>
                <p:childTnLst>
                  <p:par>
                    <p:cTn id="60" fill="hold">
                      <p:stCondLst>
                        <p:cond delay="0"/>
                      </p:stCondLst>
                      <p:childTnLst>
                        <p:par>
                          <p:cTn id="61" fill="hold">
                            <p:stCondLst>
                              <p:cond delay="0"/>
                            </p:stCondLst>
                            <p:childTnLst>
                              <p:par>
                                <p:cTn id="62" presetID="2" presetClass="mediacall" presetSubtype="0" fill="hold" nodeType="clickEffect">
                                  <p:stCondLst>
                                    <p:cond delay="0"/>
                                  </p:stCondLst>
                                  <p:childTnLst>
                                    <p:cmd type="call" cmd="togglePause">
                                      <p:cBhvr>
                                        <p:cTn id="63" dur="1" fill="hold"/>
                                        <p:tgtEl>
                                          <p:spTgt spid="17"/>
                                        </p:tgtEl>
                                      </p:cBhvr>
                                    </p:cmd>
                                  </p:childTnLst>
                                </p:cTn>
                              </p:par>
                            </p:childTnLst>
                          </p:cTn>
                        </p:par>
                      </p:childTnLst>
                    </p:cTn>
                  </p:par>
                </p:childTnLst>
              </p:cTn>
              <p:nextCondLst>
                <p:cond evt="onClick" delay="0">
                  <p:tgtEl>
                    <p:spTgt spid="17"/>
                  </p:tgtEl>
                </p:cond>
              </p:nextCondLst>
            </p:seq>
            <p:seq concurrent="1" nextAc="seek">
              <p:cTn id="64" restart="whenNotActive" fill="hold" evtFilter="cancelBubble" nodeType="interactiveSeq">
                <p:stCondLst>
                  <p:cond evt="onClick" delay="0">
                    <p:tgtEl>
                      <p:spTgt spid="19"/>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9"/>
                                        </p:tgtEl>
                                      </p:cBhvr>
                                    </p:cmd>
                                  </p:childTnLst>
                                </p:cTn>
                              </p:par>
                            </p:childTnLst>
                          </p:cTn>
                        </p:par>
                      </p:childTnLst>
                    </p:cTn>
                  </p:par>
                </p:childTnLst>
              </p:cTn>
              <p:nextCondLst>
                <p:cond evt="onClick" delay="0">
                  <p:tgtEl>
                    <p:spTgt spid="19"/>
                  </p:tgtEl>
                </p:cond>
              </p:nextCondLst>
            </p:seq>
            <p:audio>
              <p:cMediaNode vol="80000">
                <p:cTn id="69" fill="hold" display="0">
                  <p:stCondLst>
                    <p:cond delay="indefinite"/>
                  </p:stCondLst>
                  <p:endCondLst>
                    <p:cond evt="onStopAudio" delay="0">
                      <p:tgtEl>
                        <p:sldTgt/>
                      </p:tgtEl>
                    </p:cond>
                  </p:endCondLst>
                </p:cTn>
                <p:tgtEl>
                  <p:spTgt spid="17"/>
                </p:tgtEl>
              </p:cMediaNode>
            </p:audio>
            <p:audio>
              <p:cMediaNode vol="80000">
                <p:cTn id="70" fill="hold" display="0">
                  <p:stCondLst>
                    <p:cond delay="indefinite"/>
                  </p:stCondLst>
                  <p:endCondLst>
                    <p:cond evt="onStopAudio" delay="0">
                      <p:tgtEl>
                        <p:sldTgt/>
                      </p:tgtEl>
                    </p:cond>
                  </p:endCondLst>
                </p:cTn>
                <p:tgtEl>
                  <p:spTgt spid="19"/>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9"/>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3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3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Gino meets the parents</a:t>
            </a:r>
            <a:endParaRPr lang="en-US" sz="2500" dirty="0"/>
          </a:p>
        </p:txBody>
      </p:sp>
      <p:pic>
        <p:nvPicPr>
          <p:cNvPr id="6" name="brP_43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3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3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3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3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3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class story (TPRS)</a:t>
            </a:r>
            <a:endParaRPr lang="en-US" sz="800" dirty="0"/>
          </a:p>
        </p:txBody>
      </p:sp>
      <p:sp>
        <p:nvSpPr>
          <p:cNvPr id="15" name="cd_441"/>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4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4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44"/>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How fantastic!</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Fantastico! / Che bello!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What a pity. Never mind.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Che peccato. Pazienza.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Really? How interesting!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Davvero? Che interessante!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You're kidding!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Stai scherzando!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Oh no!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Oh no!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What a great idea!</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Che bella idea!</a:t>
            </a:r>
            <a:endParaRPr lang="en-US" sz="1000" dirty="0"/>
          </a:p>
        </p:txBody>
      </p:sp>
      <p:sp>
        <p:nvSpPr>
          <p:cNvPr id="19" name="R1_sb445"/>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46"/>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Gino meets his girlfriend's parents. He brings cannoli. Her mum says,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How fantastic!</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Gino bring cannoli or flowers? · What does Mum say?</a:t>
            </a:r>
            <a:endParaRPr lang="en-US" sz="950" dirty="0"/>
          </a:p>
        </p:txBody>
      </p:sp>
      <p:sp>
        <p:nvSpPr>
          <p:cNvPr id="21" name="R2_sb447"/>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48"/>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Oh no! Gino sits on the cannoli. Mum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What a pity. Never mind.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Where does Gino sit? · Good or bad news? · What does Mum say?</a:t>
            </a:r>
            <a:endParaRPr lang="en-US" sz="1050" dirty="0"/>
          </a:p>
        </p:txBody>
      </p:sp>
      <p:sp>
        <p:nvSpPr>
          <p:cNvPr id="23" name="R3_sb449"/>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50"/>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Gino says, 'I've got some news. I'm a chef!' Dad says,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Really? How interesting!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Gino a chef or a teacher? · What does Dad say?</a:t>
            </a:r>
            <a:endParaRPr lang="en-US" sz="950" dirty="0"/>
          </a:p>
        </p:txBody>
      </p:sp>
      <p:sp>
        <p:nvSpPr>
          <p:cNvPr id="25" name="R4_sb451"/>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52"/>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make fifty arancine in ten minutes!' Dad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You're kidding!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How many arancine? · Does Dad believe him?</a:t>
            </a:r>
            <a:endParaRPr lang="en-US" sz="1050" dirty="0"/>
          </a:p>
        </p:txBody>
      </p:sp>
      <p:sp>
        <p:nvSpPr>
          <p:cNvPr id="27" name="R5_sb453"/>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54"/>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Gino cooks the arancine. They're black! Everybody says,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Oh no!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Are the arancine golden or black? · What does everybody say?</a:t>
            </a:r>
            <a:endParaRPr lang="en-US" sz="1100" dirty="0"/>
          </a:p>
        </p:txBody>
      </p:sp>
      <p:sp>
        <p:nvSpPr>
          <p:cNvPr id="29" name="R6_sb455"/>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56"/>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Dad says, 'Let's order a pizza!' Mum says,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What a great idea!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What does Dad want? · And you – what do you take when you meet new people?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459"/>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a:t>
            </a:r>
            <a:endParaRPr lang="en-US" sz="25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6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news. React in 5 seconds!</a:t>
            </a:r>
            <a:endParaRPr lang="en-US" sz="1250" dirty="0"/>
          </a:p>
        </p:txBody>
      </p:sp>
      <p:sp>
        <p:nvSpPr>
          <p:cNvPr id="8" name="insIT_4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notizia. Reagisci in 5 secondi!</a:t>
            </a:r>
            <a:endParaRPr lang="en-US" sz="950" dirty="0"/>
          </a:p>
        </p:txBody>
      </p:sp>
      <p:sp>
        <p:nvSpPr>
          <p:cNvPr id="9" name="cmd_46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6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46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4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game</a:t>
            </a:r>
            <a:endParaRPr lang="en-US" sz="800" dirty="0"/>
          </a:p>
        </p:txBody>
      </p:sp>
      <p:sp>
        <p:nvSpPr>
          <p:cNvPr id="14" name="cd_46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6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7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news.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la notizia.</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react + ask a question – 5 seconds!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reagite + fate una domanda – 5 secondi!</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reaction + right music = 2 points.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Reazione giusta + intonazione = 2 punti.</a:t>
            </a:r>
            <a:endParaRPr lang="en-US" sz="900" dirty="0"/>
          </a:p>
        </p:txBody>
      </p:sp>
      <p:sp>
        <p:nvSpPr>
          <p:cNvPr id="18" name="pf_47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73" descr="/home/claude/lls-course/v2/cache/spare_life_celebration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7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7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tickets for the concert in Palermo!"</a:t>
            </a:r>
            <a:endParaRPr lang="en-US" sz="1100" dirty="0"/>
          </a:p>
        </p:txBody>
      </p:sp>
      <p:sp>
        <p:nvSpPr>
          <p:cNvPr id="22" name="R1_chip47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fantastic! Who are you going with?</a:t>
            </a:r>
            <a:endParaRPr lang="en-US" sz="1100" dirty="0"/>
          </a:p>
        </p:txBody>
      </p:sp>
      <p:sp>
        <p:nvSpPr>
          <p:cNvPr id="23" name="bd_47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7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missed the last bus home."</a:t>
            </a:r>
            <a:endParaRPr lang="en-US" sz="1100" dirty="0"/>
          </a:p>
        </p:txBody>
      </p:sp>
      <p:sp>
        <p:nvSpPr>
          <p:cNvPr id="25" name="R2_chip47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Oh no! What a pity. How did you get home?</a:t>
            </a:r>
            <a:endParaRPr lang="en-US" sz="1100" dirty="0"/>
          </a:p>
        </p:txBody>
      </p:sp>
      <p:sp>
        <p:nvSpPr>
          <p:cNvPr id="26" name="bd_48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8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nonna has started using TikTok!"</a:t>
            </a:r>
            <a:endParaRPr lang="en-US" sz="1100" dirty="0"/>
          </a:p>
        </p:txBody>
      </p:sp>
      <p:sp>
        <p:nvSpPr>
          <p:cNvPr id="28" name="R3_chip48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Really? You're kidding! What does she post?</a:t>
            </a:r>
            <a:endParaRPr lang="en-US" sz="1100" dirty="0"/>
          </a:p>
        </p:txBody>
      </p:sp>
      <p:sp>
        <p:nvSpPr>
          <p:cNvPr id="29" name="bd_48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8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"Shall we have arancine for lunch?"</a:t>
            </a:r>
            <a:endParaRPr lang="en-US" sz="1100" dirty="0"/>
          </a:p>
        </p:txBody>
      </p:sp>
      <p:sp>
        <p:nvSpPr>
          <p:cNvPr id="31" name="R4_chip48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 great idea!</a:t>
            </a:r>
            <a:endParaRPr lang="en-US" sz="1100" dirty="0"/>
          </a:p>
        </p:txBody>
      </p:sp>
      <p:sp>
        <p:nvSpPr>
          <p:cNvPr id="32" name="bd_48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8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"Sorry, I forgot my homework!"</a:t>
            </a:r>
            <a:endParaRPr lang="en-US" sz="1100" dirty="0"/>
          </a:p>
        </p:txBody>
      </p:sp>
      <p:sp>
        <p:nvSpPr>
          <p:cNvPr id="34" name="R5_chip48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Never mind. Bring it next time.</a:t>
            </a:r>
            <a:endParaRPr lang="en-US" sz="1100" dirty="0"/>
          </a:p>
        </p:txBody>
      </p:sp>
      <p:sp>
        <p:nvSpPr>
          <p:cNvPr id="35" name="bd_48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9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cousin's getting married – in Australia!"</a:t>
            </a:r>
            <a:endParaRPr lang="en-US" sz="1100" dirty="0"/>
          </a:p>
        </p:txBody>
      </p:sp>
      <p:sp>
        <p:nvSpPr>
          <p:cNvPr id="37" name="R6_chip49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great news! How did they meet?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9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9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Have you heard my news?</a:t>
            </a:r>
            <a:endParaRPr lang="en-US" sz="2250" dirty="0"/>
          </a:p>
        </p:txBody>
      </p:sp>
      <p:pic>
        <p:nvPicPr>
          <p:cNvPr id="6" name="brP_49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9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news. Your partner reacts!</a:t>
            </a:r>
            <a:endParaRPr lang="en-US" sz="1250" dirty="0"/>
          </a:p>
        </p:txBody>
      </p:sp>
      <p:sp>
        <p:nvSpPr>
          <p:cNvPr id="8" name="insIT_4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notizia. Il compagno reagisce!</a:t>
            </a:r>
            <a:endParaRPr lang="en-US" sz="950" dirty="0"/>
          </a:p>
        </p:txBody>
      </p:sp>
      <p:sp>
        <p:nvSpPr>
          <p:cNvPr id="9" name="cmd_49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9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50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telling news and reacting   ·   📖 SB p.15 · 2f · Communication How awful! How fantastic! (A p.106, B p.111)</a:t>
            </a:r>
            <a:endParaRPr lang="en-US" sz="800" dirty="0"/>
          </a:p>
        </p:txBody>
      </p:sp>
      <p:sp>
        <p:nvSpPr>
          <p:cNvPr id="14" name="pf_50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504"/>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
        <p:nvSpPr>
          <p:cNvPr id="16" name="cd_50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0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0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0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Really? When / Where / Who…?</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How did it happen?</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Tell me more!</a:t>
            </a:r>
            <a:endParaRPr lang="en-US" sz="950" dirty="0"/>
          </a:p>
        </p:txBody>
      </p:sp>
      <p:sp>
        <p:nvSpPr>
          <p:cNvPr id="20" name="R1_qb50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1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GOOD news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I've passed my driving test! – How fantastic! When?</a:t>
            </a:r>
            <a:endParaRPr lang="en-US" sz="1250" dirty="0"/>
          </a:p>
        </p:txBody>
      </p:sp>
      <p:sp>
        <p:nvSpPr>
          <p:cNvPr id="22" name="R2_qb51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1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small BAD news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I've lost my house keys. – Oh no! What a pity. Where?</a:t>
            </a:r>
            <a:endParaRPr lang="en-US" sz="1250" dirty="0"/>
          </a:p>
        </p:txBody>
      </p:sp>
      <p:sp>
        <p:nvSpPr>
          <p:cNvPr id="24" name="R3_qb51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1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SURPRISING news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little brother speaks Chinese! – You're kidding! Really?</a:t>
            </a:r>
            <a:endParaRPr lang="en-US" sz="1250" dirty="0"/>
          </a:p>
        </p:txBody>
      </p:sp>
      <p:sp>
        <p:nvSpPr>
          <p:cNvPr id="26" name="R4_qb51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1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INTERESTING news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I'm learning to make cannoli. – Really? How interesting!</a:t>
            </a:r>
            <a:endParaRPr lang="en-US" sz="1250" dirty="0"/>
          </a:p>
        </p:txBody>
      </p:sp>
      <p:sp>
        <p:nvSpPr>
          <p:cNvPr id="28" name="R5_qb517"/>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18"/>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SUGGESTION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Shall we eat out on Friday? – What a great idea! Where?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2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2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After dinner</a:t>
            </a:r>
            <a:endParaRPr lang="en-US" sz="2500" dirty="0"/>
          </a:p>
        </p:txBody>
      </p:sp>
      <p:pic>
        <p:nvPicPr>
          <p:cNvPr id="6" name="brP_52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Does the evening end well?</a:t>
            </a:r>
            <a:endParaRPr lang="en-US" sz="1250" dirty="0"/>
          </a:p>
        </p:txBody>
      </p:sp>
      <p:sp>
        <p:nvSpPr>
          <p:cNvPr id="8" name="insIT_5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serata finisce bene?</a:t>
            </a:r>
            <a:endParaRPr lang="en-US" sz="950" dirty="0"/>
          </a:p>
        </p:txBody>
      </p:sp>
      <p:sp>
        <p:nvSpPr>
          <p:cNvPr id="9" name="cmd_5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2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52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5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2 · gist   ·   📖 SB p.15 · 3a · video Scene 2 / audio 1.30</a:t>
            </a:r>
            <a:endParaRPr lang="en-US" sz="800" dirty="0"/>
          </a:p>
        </p:txBody>
      </p:sp>
      <p:sp>
        <p:nvSpPr>
          <p:cNvPr id="14" name="ap_53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video: Scene 2 · once</a:t>
            </a:r>
            <a:endParaRPr lang="en-US" sz="1100" dirty="0"/>
          </a:p>
        </p:txBody>
      </p:sp>
      <p:sp>
        <p:nvSpPr>
          <p:cNvPr id="15" name="ah_53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53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53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53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53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pe1-dinner.jpg</a:t>
            </a:r>
            <a:endParaRPr lang="en-US" sz="900" dirty="0"/>
          </a:p>
        </p:txBody>
      </p:sp>
      <p:sp>
        <p:nvSpPr>
          <p:cNvPr id="22" name="bd_53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53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538"/>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pe1-graduation.jpg</a:t>
            </a:r>
            <a:endParaRPr lang="en-US" sz="900" dirty="0"/>
          </a:p>
        </p:txBody>
      </p:sp>
      <p:sp>
        <p:nvSpPr>
          <p:cNvPr id="25" name="bd_53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54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54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4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54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What are they talking about?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e B. Di cosa parlano?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Well or badly?</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una volta. Bene o male?</a:t>
            </a:r>
            <a:endParaRPr lang="en-US" sz="700" dirty="0"/>
          </a:p>
        </p:txBody>
      </p:sp>
      <p:sp>
        <p:nvSpPr>
          <p:cNvPr id="30" name="lq_54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evening ends…</a:t>
            </a:r>
            <a:endParaRPr lang="en-US" sz="1100" dirty="0"/>
          </a:p>
        </p:txBody>
      </p:sp>
      <p:sp>
        <p:nvSpPr>
          <p:cNvPr id="31" name="R1_chip54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well! 😊</a:t>
            </a:r>
            <a:endParaRPr lang="en-US" sz="1050" dirty="0"/>
          </a:p>
        </p:txBody>
      </p:sp>
      <p:sp>
        <p:nvSpPr>
          <p:cNvPr id="32" name="lq_54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Who's Harry?</a:t>
            </a:r>
            <a:endParaRPr lang="en-US" sz="1100" dirty="0"/>
          </a:p>
        </p:txBody>
      </p:sp>
      <p:sp>
        <p:nvSpPr>
          <p:cNvPr id="33" name="R2_chip54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Jenny's dad</a:t>
            </a:r>
            <a:endParaRPr lang="en-US" sz="1050" dirty="0"/>
          </a:p>
        </p:txBody>
      </p:sp>
      <p:sp>
        <p:nvSpPr>
          <p:cNvPr id="34" name="lq_54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Photo B: who?</a:t>
            </a:r>
            <a:endParaRPr lang="en-US" sz="1100" dirty="0"/>
          </a:p>
        </p:txBody>
      </p:sp>
      <p:sp>
        <p:nvSpPr>
          <p:cNvPr id="35" name="R3_chip54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 at Harvard</a:t>
            </a:r>
            <a:endParaRPr lang="en-US" sz="1050" dirty="0"/>
          </a:p>
        </p:txBody>
      </p:sp>
      <p:sp>
        <p:nvSpPr>
          <p:cNvPr id="36" name="lq_550"/>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talk about…</a:t>
            </a:r>
            <a:endParaRPr lang="en-US" sz="1100" dirty="0"/>
          </a:p>
        </p:txBody>
      </p:sp>
      <p:sp>
        <p:nvSpPr>
          <p:cNvPr id="37" name="R4_chip551"/>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Rob's job, Harry's photos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5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Harry finds out more</a:t>
            </a:r>
            <a:endParaRPr lang="en-US" sz="2500" dirty="0"/>
          </a:p>
        </p:txBody>
      </p:sp>
      <p:pic>
        <p:nvPicPr>
          <p:cNvPr id="6" name="brP_555"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556"/>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1–6. Then watch again.</a:t>
            </a:r>
            <a:endParaRPr lang="en-US" sz="1250" dirty="0"/>
          </a:p>
        </p:txBody>
      </p:sp>
      <p:sp>
        <p:nvSpPr>
          <p:cNvPr id="8" name="insIT_5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1–6. Poi riguarda.</a:t>
            </a:r>
            <a:endParaRPr lang="en-US" sz="950" dirty="0"/>
          </a:p>
        </p:txBody>
      </p:sp>
      <p:sp>
        <p:nvSpPr>
          <p:cNvPr id="9" name="cmd_55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9"/>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56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6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5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2 · detail   ·   📖 SB p.15 · 3b · video Scene 2 / audio 1.30</a:t>
            </a:r>
            <a:endParaRPr lang="en-US" sz="800" dirty="0"/>
          </a:p>
        </p:txBody>
      </p:sp>
      <p:sp>
        <p:nvSpPr>
          <p:cNvPr id="15" name="ap_56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watch Scene 2 again</a:t>
            </a:r>
            <a:endParaRPr lang="en-US" sz="1100" dirty="0"/>
          </a:p>
        </p:txBody>
      </p:sp>
      <p:sp>
        <p:nvSpPr>
          <p:cNvPr id="16" name="ah_56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6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56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568"/>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pe1-dinner.jpg</a:t>
            </a:r>
            <a:endParaRPr lang="en-US" sz="900" dirty="0"/>
          </a:p>
        </p:txBody>
      </p:sp>
      <p:sp>
        <p:nvSpPr>
          <p:cNvPr id="22" name="cd_56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7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7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57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57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university did Jenny go to?</a:t>
            </a:r>
            <a:endParaRPr lang="en-US" sz="1200" dirty="0"/>
          </a:p>
        </p:txBody>
      </p:sp>
      <p:sp>
        <p:nvSpPr>
          <p:cNvPr id="27" name="R1_chip57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Harvard</a:t>
            </a:r>
            <a:endParaRPr lang="en-US" sz="1200" dirty="0"/>
          </a:p>
        </p:txBody>
      </p:sp>
      <p:sp>
        <p:nvSpPr>
          <p:cNvPr id="28" name="gq_57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Harry impressed by Rob's job? Why?</a:t>
            </a:r>
            <a:endParaRPr lang="en-US" sz="1200" dirty="0"/>
          </a:p>
        </p:txBody>
      </p:sp>
      <p:sp>
        <p:nvSpPr>
          <p:cNvPr id="29" name="R2_chip57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writing doesn't always pay the bills</a:t>
            </a:r>
            <a:endParaRPr lang="en-US" sz="1200" dirty="0"/>
          </a:p>
        </p:txBody>
      </p:sp>
      <p:sp>
        <p:nvSpPr>
          <p:cNvPr id="30" name="gq_57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does Harry like doing?</a:t>
            </a:r>
            <a:endParaRPr lang="en-US" sz="1200" dirty="0"/>
          </a:p>
        </p:txBody>
      </p:sp>
      <p:sp>
        <p:nvSpPr>
          <p:cNvPr id="31" name="R3_chip57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taking photographs</a:t>
            </a:r>
            <a:endParaRPr lang="en-US" sz="1200" dirty="0"/>
          </a:p>
        </p:txBody>
      </p:sp>
      <p:sp>
        <p:nvSpPr>
          <p:cNvPr id="32" name="gq_57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are most of the photos of?</a:t>
            </a:r>
            <a:endParaRPr lang="en-US" sz="1200" dirty="0"/>
          </a:p>
        </p:txBody>
      </p:sp>
      <p:sp>
        <p:nvSpPr>
          <p:cNvPr id="33" name="R4_chip58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Jenny</a:t>
            </a:r>
            <a:endParaRPr lang="en-US" sz="1200" dirty="0"/>
          </a:p>
        </p:txBody>
      </p:sp>
      <p:sp>
        <p:nvSpPr>
          <p:cNvPr id="34" name="gq_58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Miles Davis, Coltrane, Marsalis: who?</a:t>
            </a:r>
            <a:endParaRPr lang="en-US" sz="1200" dirty="0"/>
          </a:p>
        </p:txBody>
      </p:sp>
      <p:sp>
        <p:nvSpPr>
          <p:cNvPr id="35" name="R5_chip58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famous jazz musicians</a:t>
            </a:r>
            <a:endParaRPr lang="en-US" sz="1200" dirty="0"/>
          </a:p>
        </p:txBody>
      </p:sp>
      <p:sp>
        <p:nvSpPr>
          <p:cNvPr id="36" name="gq_58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surprises Harry about Rob?</a:t>
            </a:r>
            <a:endParaRPr lang="en-US" sz="1200" dirty="0"/>
          </a:p>
        </p:txBody>
      </p:sp>
      <p:sp>
        <p:nvSpPr>
          <p:cNvPr id="37" name="R6_chip58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He's interviewed Marsalis!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8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8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8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8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5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mancanti? Ascolta.</a:t>
            </a:r>
            <a:endParaRPr lang="en-US" sz="950" dirty="0"/>
          </a:p>
        </p:txBody>
      </p:sp>
      <p:sp>
        <p:nvSpPr>
          <p:cNvPr id="9" name="cmd_59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9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9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5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 phrases   ·   📖 SB p.15 · 3c, 3d · video Social English / audio 1.31</a:t>
            </a:r>
            <a:endParaRPr lang="en-US" sz="800" dirty="0"/>
          </a:p>
        </p:txBody>
      </p:sp>
      <p:sp>
        <p:nvSpPr>
          <p:cNvPr id="14" name="ap_59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1.31  ·  🎬 Social English clip</a:t>
            </a:r>
            <a:endParaRPr lang="en-US" sz="1100" dirty="0"/>
          </a:p>
        </p:txBody>
      </p:sp>
      <p:sp>
        <p:nvSpPr>
          <p:cNvPr id="15" name="aw_597"/>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59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59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pe1-photography.jpg</a:t>
            </a:r>
            <a:endParaRPr lang="en-US" sz="900" dirty="0"/>
          </a:p>
        </p:txBody>
      </p:sp>
      <p:sp>
        <p:nvSpPr>
          <p:cNvPr id="18" name="cd_60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0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0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60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604"/>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Harry: How do you ___ your career?</a:t>
            </a:r>
            <a:endParaRPr lang="en-US" sz="1200" dirty="0"/>
          </a:p>
        </p:txBody>
      </p:sp>
      <p:sp>
        <p:nvSpPr>
          <p:cNvPr id="23" name="R1_chip605"/>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see</a:t>
            </a:r>
            <a:endParaRPr lang="en-US" sz="1200" dirty="0"/>
          </a:p>
        </p:txBody>
      </p:sp>
      <p:sp>
        <p:nvSpPr>
          <p:cNvPr id="24" name="gq_606"/>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 Not ___. I'm more of a writer.</a:t>
            </a:r>
            <a:endParaRPr lang="en-US" sz="1200" dirty="0"/>
          </a:p>
        </p:txBody>
      </p:sp>
      <p:sp>
        <p:nvSpPr>
          <p:cNvPr id="25" name="R2_chip607"/>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6" name="gq_608"/>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Rob: …interviews, reviews, ___ like that.</a:t>
            </a:r>
            <a:endParaRPr lang="en-US" sz="1050" dirty="0"/>
          </a:p>
        </p:txBody>
      </p:sp>
      <p:sp>
        <p:nvSpPr>
          <p:cNvPr id="27" name="R3_chip609"/>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things</a:t>
            </a:r>
            <a:endParaRPr lang="en-US" sz="1200" dirty="0"/>
          </a:p>
        </p:txBody>
      </p:sp>
      <p:sp>
        <p:nvSpPr>
          <p:cNvPr id="28" name="gq_610"/>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I ___, I like photography.</a:t>
            </a:r>
            <a:endParaRPr lang="en-US" sz="1200" dirty="0"/>
          </a:p>
        </p:txBody>
      </p:sp>
      <p:sp>
        <p:nvSpPr>
          <p:cNvPr id="29" name="R4_chip611"/>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30" name="gq_612"/>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5  That's ___ most of them are of Jenny.</a:t>
            </a:r>
            <a:endParaRPr lang="en-US" sz="1150" dirty="0"/>
          </a:p>
        </p:txBody>
      </p:sp>
      <p:sp>
        <p:nvSpPr>
          <p:cNvPr id="31" name="R5_chip613"/>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because</a:t>
            </a:r>
            <a:endParaRPr lang="en-US" sz="1200" dirty="0"/>
          </a:p>
        </p:txBody>
      </p:sp>
      <p:sp>
        <p:nvSpPr>
          <p:cNvPr id="32" name="gq_614"/>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Harry: How ___!</a:t>
            </a:r>
            <a:endParaRPr lang="en-US" sz="1200" dirty="0"/>
          </a:p>
        </p:txBody>
      </p:sp>
      <p:sp>
        <p:nvSpPr>
          <p:cNvPr id="33" name="R6_chip615"/>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incredible</a:t>
            </a:r>
            <a:endParaRPr lang="en-US" sz="1200" dirty="0"/>
          </a:p>
        </p:txBody>
      </p:sp>
      <p:sp>
        <p:nvSpPr>
          <p:cNvPr id="34" name="gq_616"/>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Rob: Well, he's a really nice ___.</a:t>
            </a:r>
            <a:endParaRPr lang="en-US" sz="1200" dirty="0"/>
          </a:p>
        </p:txBody>
      </p:sp>
      <p:sp>
        <p:nvSpPr>
          <p:cNvPr id="35" name="R7_chip617"/>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guy</a:t>
            </a:r>
            <a:endParaRPr lang="en-US" sz="1200" dirty="0"/>
          </a:p>
        </p:txBody>
      </p:sp>
      <p:sp>
        <p:nvSpPr>
          <p:cNvPr id="36" name="gq_618"/>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Harry: Go ___, son!</a:t>
            </a:r>
            <a:endParaRPr lang="en-US" sz="1200" dirty="0"/>
          </a:p>
        </p:txBody>
      </p:sp>
      <p:sp>
        <p:nvSpPr>
          <p:cNvPr id="37" name="R8_chip619"/>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ahead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62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 in Italian</a:t>
            </a:r>
            <a:endParaRPr lang="en-US" sz="2500" dirty="0"/>
          </a:p>
        </p:txBody>
      </p:sp>
      <p:pic>
        <p:nvPicPr>
          <p:cNvPr id="6" name="brP_62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2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6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62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62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 in Italian</a:t>
            </a:r>
            <a:endParaRPr lang="en-US" sz="800" dirty="0"/>
          </a:p>
        </p:txBody>
      </p:sp>
      <p:sp>
        <p:nvSpPr>
          <p:cNvPr id="13" name="cd_63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63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63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How do you see…?</a:t>
            </a:r>
            <a:endParaRPr lang="en-US" sz="1050" dirty="0"/>
          </a:p>
        </p:txBody>
      </p:sp>
      <p:sp>
        <p:nvSpPr>
          <p:cNvPr id="16" name="R1_it63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Come vedi…? (il futuro)</a:t>
            </a:r>
            <a:endParaRPr lang="en-US" sz="800" dirty="0"/>
          </a:p>
        </p:txBody>
      </p:sp>
      <p:sp>
        <p:nvSpPr>
          <p:cNvPr id="17" name="cd_63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63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63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Not really.</a:t>
            </a:r>
            <a:endParaRPr lang="en-US" sz="1200" dirty="0"/>
          </a:p>
        </p:txBody>
      </p:sp>
      <p:sp>
        <p:nvSpPr>
          <p:cNvPr id="20" name="R2_it63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proprio. / Non tanto.</a:t>
            </a:r>
            <a:endParaRPr lang="en-US" sz="800" dirty="0"/>
          </a:p>
        </p:txBody>
      </p:sp>
      <p:sp>
        <p:nvSpPr>
          <p:cNvPr id="21" name="cd_63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63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64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…things like that</a:t>
            </a:r>
            <a:endParaRPr lang="en-US" sz="1200" dirty="0"/>
          </a:p>
        </p:txBody>
      </p:sp>
      <p:sp>
        <p:nvSpPr>
          <p:cNvPr id="24" name="R3_it64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…cose del genere</a:t>
            </a:r>
            <a:endParaRPr lang="en-US" sz="1000" dirty="0"/>
          </a:p>
        </p:txBody>
      </p:sp>
      <p:sp>
        <p:nvSpPr>
          <p:cNvPr id="25" name="cd_64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64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64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mean…</a:t>
            </a:r>
            <a:endParaRPr lang="en-US" sz="1200" dirty="0"/>
          </a:p>
        </p:txBody>
      </p:sp>
      <p:sp>
        <p:nvSpPr>
          <p:cNvPr id="28" name="R4_it64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Cioè… / Voglio dire…</a:t>
            </a:r>
            <a:endParaRPr lang="en-US" sz="900" dirty="0"/>
          </a:p>
        </p:txBody>
      </p:sp>
      <p:sp>
        <p:nvSpPr>
          <p:cNvPr id="29" name="cd_64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64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64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That's because…</a:t>
            </a:r>
            <a:endParaRPr lang="en-US" sz="1200" dirty="0"/>
          </a:p>
        </p:txBody>
      </p:sp>
      <p:sp>
        <p:nvSpPr>
          <p:cNvPr id="32" name="R5_it64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È perché…</a:t>
            </a:r>
            <a:endParaRPr lang="en-US" sz="1000" dirty="0"/>
          </a:p>
        </p:txBody>
      </p:sp>
      <p:sp>
        <p:nvSpPr>
          <p:cNvPr id="33" name="cd_65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65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65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incredible!</a:t>
            </a:r>
            <a:endParaRPr lang="en-US" sz="1200" dirty="0"/>
          </a:p>
        </p:txBody>
      </p:sp>
      <p:sp>
        <p:nvSpPr>
          <p:cNvPr id="36" name="R6_it65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Incredibile!</a:t>
            </a:r>
            <a:endParaRPr lang="en-US" sz="1000" dirty="0"/>
          </a:p>
        </p:txBody>
      </p:sp>
      <p:sp>
        <p:nvSpPr>
          <p:cNvPr id="37" name="cd_65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65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65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really nice guy</a:t>
            </a:r>
            <a:endParaRPr lang="en-US" sz="1200" dirty="0"/>
          </a:p>
        </p:txBody>
      </p:sp>
      <p:sp>
        <p:nvSpPr>
          <p:cNvPr id="40" name="R7_it65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tipo molto simpatico</a:t>
            </a:r>
            <a:endParaRPr lang="en-US" sz="800" dirty="0"/>
          </a:p>
        </p:txBody>
      </p:sp>
      <p:sp>
        <p:nvSpPr>
          <p:cNvPr id="41" name="cd_65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65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66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ahead!</a:t>
            </a:r>
            <a:endParaRPr lang="en-US" sz="1200" dirty="0"/>
          </a:p>
        </p:txBody>
      </p:sp>
      <p:sp>
        <p:nvSpPr>
          <p:cNvPr id="44" name="R8_it66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Prego! / Fai pure! / Serviti!</a:t>
            </a:r>
            <a:endParaRPr lang="en-US" sz="800" dirty="0"/>
          </a:p>
        </p:txBody>
      </p:sp>
      <p:sp>
        <p:nvSpPr>
          <p:cNvPr id="45" name="cd_66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66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66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It's so nice to meet you at last!</a:t>
            </a:r>
            <a:endParaRPr lang="en-US" sz="1000" dirty="0"/>
          </a:p>
        </p:txBody>
      </p:sp>
      <p:sp>
        <p:nvSpPr>
          <p:cNvPr id="48" name="R9_it66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Che piacere conoscerti finalmente!</a:t>
            </a:r>
            <a:endParaRPr lang="en-US" sz="800" dirty="0"/>
          </a:p>
        </p:txBody>
      </p:sp>
      <p:sp>
        <p:nvSpPr>
          <p:cNvPr id="49" name="cd_66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66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66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1200" dirty="0"/>
          </a:p>
        </p:txBody>
      </p:sp>
      <p:sp>
        <p:nvSpPr>
          <p:cNvPr id="52" name="R10_it66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Scusate il ritardo!</a:t>
            </a:r>
            <a:endParaRPr lang="en-US" sz="1000" dirty="0"/>
          </a:p>
        </p:txBody>
      </p:sp>
      <p:sp>
        <p:nvSpPr>
          <p:cNvPr id="53" name="cd_67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67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67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cookie (US) = biscuit (UK)</a:t>
            </a:r>
            <a:endParaRPr lang="en-US" sz="1000" dirty="0"/>
          </a:p>
        </p:txBody>
      </p:sp>
      <p:sp>
        <p:nvSpPr>
          <p:cNvPr id="56" name="R11_it67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biscotto</a:t>
            </a:r>
            <a:endParaRPr lang="en-US" sz="1000" dirty="0"/>
          </a:p>
        </p:txBody>
      </p:sp>
      <p:sp>
        <p:nvSpPr>
          <p:cNvPr id="57" name="cd_67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67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67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apartment (US) = flat (UK)</a:t>
            </a:r>
            <a:endParaRPr lang="en-US" sz="1000" dirty="0"/>
          </a:p>
        </p:txBody>
      </p:sp>
      <p:sp>
        <p:nvSpPr>
          <p:cNvPr id="60" name="R12_it67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appartamento</a:t>
            </a:r>
            <a:endParaRPr lang="en-US" sz="1000" dirty="0"/>
          </a:p>
        </p:txBody>
      </p:sp>
      <p:sp>
        <p:nvSpPr>
          <p:cNvPr id="61" name="R13_wc67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3_w67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I'm more of a writer = sono più uno scrittore  ·  guy = informal (tipo)  ·  I mean… = time to think!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6"/>
                                        </p:tgtEl>
                                        <p:attrNameLst>
                                          <p:attrName>style.visibility</p:attrName>
                                        </p:attrNameLst>
                                      </p:cBhvr>
                                      <p:to>
                                        <p:strVal val="visible"/>
                                      </p:to>
                                    </p:set>
                                    <p:animEffect transition="in" filter="fade">
                                      <p:cBhvr>
                                        <p:cTn id="57" dur="400"/>
                                        <p:tgtEl>
                                          <p:spTgt spid="5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0"/>
                                        </p:tgtEl>
                                        <p:attrNameLst>
                                          <p:attrName>style.visibility</p:attrName>
                                        </p:attrNameLst>
                                      </p:cBhvr>
                                      <p:to>
                                        <p:strVal val="visible"/>
                                      </p:to>
                                    </p:set>
                                    <p:animEffect transition="in" filter="fade">
                                      <p:cBhvr>
                                        <p:cTn id="62" dur="400"/>
                                        <p:tgtEl>
                                          <p:spTgt spid="6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animEffect transition="in" filter="fade">
                                      <p:cBhvr>
                                        <p:cTn id="67" dur="400"/>
                                        <p:tgtEl>
                                          <p:spTgt spid="61"/>
                                        </p:tgtEl>
                                      </p:cBhvr>
                                    </p:animEffect>
                                  </p:childTnLst>
                                </p:cTn>
                              </p:par>
                              <p:par>
                                <p:cTn id="68" presetID="10" presetClass="entr" presetSubtype="0" fill="hold" nodeType="withEffect">
                                  <p:stCondLst>
                                    <p:cond delay="0"/>
                                  </p:stCondLst>
                                  <p:childTnLst>
                                    <p:set>
                                      <p:cBhvr>
                                        <p:cTn id="69" dur="1" fill="hold">
                                          <p:stCondLst>
                                            <p:cond delay="0"/>
                                          </p:stCondLst>
                                        </p:cTn>
                                        <p:tgtEl>
                                          <p:spTgt spid="62"/>
                                        </p:tgtEl>
                                        <p:attrNameLst>
                                          <p:attrName>style.visibility</p:attrName>
                                        </p:attrNameLst>
                                      </p:cBhvr>
                                      <p:to>
                                        <p:strVal val="visible"/>
                                      </p:to>
                                    </p:set>
                                    <p:animEffect transition="in" filter="fade">
                                      <p:cBhvr>
                                        <p:cTn id="70"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8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8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8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8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First team wins!</a:t>
            </a:r>
            <a:endParaRPr lang="en-US" sz="1250" dirty="0"/>
          </a:p>
        </p:txBody>
      </p:sp>
      <p:sp>
        <p:nvSpPr>
          <p:cNvPr id="8" name="insIT_6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frase? Vince la squadra più veloce!</a:t>
            </a:r>
            <a:endParaRPr lang="en-US" sz="950" dirty="0"/>
          </a:p>
        </p:txBody>
      </p:sp>
      <p:sp>
        <p:nvSpPr>
          <p:cNvPr id="9" name="cmd_68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8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8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6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game   ·   📖 SB p.15 · 3e</a:t>
            </a:r>
            <a:endParaRPr lang="en-US" sz="800" dirty="0"/>
          </a:p>
        </p:txBody>
      </p:sp>
      <p:sp>
        <p:nvSpPr>
          <p:cNvPr id="14" name="cd_69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9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9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mini-conversation.</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il mini-dialogo.</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say the missing phrase.</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dite la frase mancante.</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First right answer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Prima risposta giusta = 1 punto.</a:t>
            </a:r>
            <a:endParaRPr lang="en-US" sz="1000" dirty="0"/>
          </a:p>
        </p:txBody>
      </p:sp>
      <p:sp>
        <p:nvSpPr>
          <p:cNvPr id="18" name="pf_69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696"/>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pe1-cafe-seat.jpg</a:t>
            </a:r>
            <a:endParaRPr lang="en-US" sz="900" dirty="0"/>
          </a:p>
        </p:txBody>
      </p:sp>
      <p:sp>
        <p:nvSpPr>
          <p:cNvPr id="20" name="bd_697"/>
          <p:cNvSpPr/>
          <p:nvPr/>
        </p:nvSpPr>
        <p:spPr>
          <a:xfrm>
            <a:off x="3246120" y="145259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98"/>
          <p:cNvSpPr/>
          <p:nvPr/>
        </p:nvSpPr>
        <p:spPr>
          <a:xfrm>
            <a:off x="3657600" y="1417320"/>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Can I sit here? – Of course. ___</a:t>
            </a:r>
            <a:endParaRPr lang="en-US" sz="1100" dirty="0"/>
          </a:p>
        </p:txBody>
      </p:sp>
      <p:sp>
        <p:nvSpPr>
          <p:cNvPr id="22" name="R1_chip699"/>
          <p:cNvSpPr/>
          <p:nvPr/>
        </p:nvSpPr>
        <p:spPr>
          <a:xfrm>
            <a:off x="6263640" y="1417320"/>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 ahead.</a:t>
            </a:r>
            <a:endParaRPr lang="en-US" sz="1100" dirty="0"/>
          </a:p>
        </p:txBody>
      </p:sp>
      <p:sp>
        <p:nvSpPr>
          <p:cNvPr id="23" name="bd_700"/>
          <p:cNvSpPr/>
          <p:nvPr/>
        </p:nvSpPr>
        <p:spPr>
          <a:xfrm>
            <a:off x="3246120" y="1916321"/>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1"/>
          <p:cNvSpPr/>
          <p:nvPr/>
        </p:nvSpPr>
        <p:spPr>
          <a:xfrm>
            <a:off x="3657600" y="1881051"/>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These sandwiches look bad! – ___ they're two days old!</a:t>
            </a:r>
            <a:endParaRPr lang="en-US" sz="1050" dirty="0"/>
          </a:p>
        </p:txBody>
      </p:sp>
      <p:sp>
        <p:nvSpPr>
          <p:cNvPr id="25" name="R2_chip702"/>
          <p:cNvSpPr/>
          <p:nvPr/>
        </p:nvSpPr>
        <p:spPr>
          <a:xfrm>
            <a:off x="6263640" y="1881051"/>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because</a:t>
            </a:r>
            <a:endParaRPr lang="en-US" sz="1100" dirty="0"/>
          </a:p>
        </p:txBody>
      </p:sp>
      <p:sp>
        <p:nvSpPr>
          <p:cNvPr id="26" name="bd_703"/>
          <p:cNvSpPr/>
          <p:nvPr/>
        </p:nvSpPr>
        <p:spPr>
          <a:xfrm>
            <a:off x="3246120" y="2380053"/>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04"/>
          <p:cNvSpPr/>
          <p:nvPr/>
        </p:nvSpPr>
        <p:spPr>
          <a:xfrm>
            <a:off x="3657600" y="2344783"/>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Did you like the film? – ___ It was too long.</a:t>
            </a:r>
            <a:endParaRPr lang="en-US" sz="1100" dirty="0"/>
          </a:p>
        </p:txBody>
      </p:sp>
      <p:sp>
        <p:nvSpPr>
          <p:cNvPr id="28" name="R3_chip705"/>
          <p:cNvSpPr/>
          <p:nvPr/>
        </p:nvSpPr>
        <p:spPr>
          <a:xfrm>
            <a:off x="6263640" y="2344783"/>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Not really.</a:t>
            </a:r>
            <a:endParaRPr lang="en-US" sz="1100" dirty="0"/>
          </a:p>
        </p:txBody>
      </p:sp>
      <p:sp>
        <p:nvSpPr>
          <p:cNvPr id="29" name="bd_706"/>
          <p:cNvSpPr/>
          <p:nvPr/>
        </p:nvSpPr>
        <p:spPr>
          <a:xfrm>
            <a:off x="3246120" y="284378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07"/>
          <p:cNvSpPr/>
          <p:nvPr/>
        </p:nvSpPr>
        <p:spPr>
          <a:xfrm>
            <a:off x="3657600" y="2808514"/>
            <a:ext cx="2514600" cy="399723"/>
          </a:xfrm>
          <a:prstGeom prst="roundRect">
            <a:avLst>
              <a:gd name="adj" fmla="val 2287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What's in that file? – Bills, receipts, ___</a:t>
            </a:r>
            <a:endParaRPr lang="en-US" sz="1100" dirty="0"/>
          </a:p>
        </p:txBody>
      </p:sp>
      <p:sp>
        <p:nvSpPr>
          <p:cNvPr id="31" name="R4_chip708"/>
          <p:cNvSpPr/>
          <p:nvPr/>
        </p:nvSpPr>
        <p:spPr>
          <a:xfrm>
            <a:off x="6263640" y="2808514"/>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things like that</a:t>
            </a:r>
            <a:endParaRPr lang="en-US" sz="1100" dirty="0"/>
          </a:p>
        </p:txBody>
      </p:sp>
      <p:sp>
        <p:nvSpPr>
          <p:cNvPr id="32" name="bd_709"/>
          <p:cNvSpPr/>
          <p:nvPr/>
        </p:nvSpPr>
        <p:spPr>
          <a:xfrm>
            <a:off x="3246120" y="3307515"/>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10"/>
          <p:cNvSpPr/>
          <p:nvPr/>
        </p:nvSpPr>
        <p:spPr>
          <a:xfrm>
            <a:off x="3657600" y="3272246"/>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___ your future after university?</a:t>
            </a:r>
            <a:endParaRPr lang="en-US" sz="1100" dirty="0"/>
          </a:p>
        </p:txBody>
      </p:sp>
      <p:sp>
        <p:nvSpPr>
          <p:cNvPr id="34" name="R5_chip711"/>
          <p:cNvSpPr/>
          <p:nvPr/>
        </p:nvSpPr>
        <p:spPr>
          <a:xfrm>
            <a:off x="6263640" y="3272246"/>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do you see</a:t>
            </a:r>
            <a:endParaRPr lang="en-US" sz="1100" dirty="0"/>
          </a:p>
        </p:txBody>
      </p:sp>
      <p:sp>
        <p:nvSpPr>
          <p:cNvPr id="35" name="bd_712"/>
          <p:cNvSpPr/>
          <p:nvPr/>
        </p:nvSpPr>
        <p:spPr>
          <a:xfrm>
            <a:off x="3246120" y="3771247"/>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713"/>
          <p:cNvSpPr/>
          <p:nvPr/>
        </p:nvSpPr>
        <p:spPr>
          <a:xfrm>
            <a:off x="3657600" y="3735977"/>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  We've won a holiday in Paris! – ___</a:t>
            </a:r>
            <a:endParaRPr lang="en-US" sz="1100" dirty="0"/>
          </a:p>
        </p:txBody>
      </p:sp>
      <p:sp>
        <p:nvSpPr>
          <p:cNvPr id="37" name="R6_chip714"/>
          <p:cNvSpPr/>
          <p:nvPr/>
        </p:nvSpPr>
        <p:spPr>
          <a:xfrm>
            <a:off x="6263640" y="3735977"/>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incredible!</a:t>
            </a:r>
            <a:endParaRPr lang="en-US" sz="1100" dirty="0"/>
          </a:p>
        </p:txBody>
      </p:sp>
      <p:sp>
        <p:nvSpPr>
          <p:cNvPr id="38" name="bd_715"/>
          <p:cNvSpPr/>
          <p:nvPr/>
        </p:nvSpPr>
        <p:spPr>
          <a:xfrm>
            <a:off x="3246120" y="4234978"/>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716"/>
          <p:cNvSpPr/>
          <p:nvPr/>
        </p:nvSpPr>
        <p:spPr>
          <a:xfrm>
            <a:off x="3657600" y="4199709"/>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  Your new boss? – He's OK. ___, he's a nice ___.</a:t>
            </a:r>
            <a:endParaRPr lang="en-US" sz="1100" dirty="0"/>
          </a:p>
        </p:txBody>
      </p:sp>
      <p:sp>
        <p:nvSpPr>
          <p:cNvPr id="40" name="R7_chip717"/>
          <p:cNvSpPr/>
          <p:nvPr/>
        </p:nvSpPr>
        <p:spPr>
          <a:xfrm>
            <a:off x="6263640" y="4199709"/>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mean · guy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19"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720"/>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my parents!</a:t>
            </a:r>
            <a:endParaRPr lang="en-US" sz="2500" dirty="0"/>
          </a:p>
        </p:txBody>
      </p:sp>
      <p:pic>
        <p:nvPicPr>
          <p:cNvPr id="6" name="brP_721"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722"/>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3: act it out!</a:t>
            </a:r>
            <a:endParaRPr lang="en-US" sz="1250" dirty="0"/>
          </a:p>
        </p:txBody>
      </p:sp>
      <p:sp>
        <p:nvSpPr>
          <p:cNvPr id="8" name="insIT_7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3: recitate la scena!</a:t>
            </a:r>
            <a:endParaRPr lang="en-US" sz="950" dirty="0"/>
          </a:p>
        </p:txBody>
      </p:sp>
      <p:sp>
        <p:nvSpPr>
          <p:cNvPr id="9" name="cmd_72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2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72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role play   ·   📖 SB pp.14–15 · Can you…? · role play adapted from the episode</a:t>
            </a:r>
            <a:endParaRPr lang="en-US" sz="800" dirty="0"/>
          </a:p>
        </p:txBody>
      </p:sp>
      <p:sp>
        <p:nvSpPr>
          <p:cNvPr id="14" name="pf_72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30" descr="/home/claude/lls-course/v2/cache/spare_future_parent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73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3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3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3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Mum, this is… · It's so nice to meet you at last!</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Sorry we're late! · Never mind.</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Not really. · I mean… · Go ahead!</a:t>
            </a:r>
            <a:endParaRPr lang="en-US" sz="900" dirty="0"/>
          </a:p>
        </p:txBody>
      </p:sp>
      <p:sp>
        <p:nvSpPr>
          <p:cNvPr id="20" name="R1_qb73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3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Son / daughter: introduce your partner.</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Mum, this is Luca. – It's so nice to meet you at last!</a:t>
            </a:r>
            <a:endParaRPr lang="en-US" sz="1250" dirty="0"/>
          </a:p>
        </p:txBody>
      </p:sp>
      <p:sp>
        <p:nvSpPr>
          <p:cNvPr id="22" name="R2_qb73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3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say sorry – you forgot the present!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 left your cannoli on the bus! – What a pity. Never mind.</a:t>
            </a:r>
            <a:endParaRPr lang="en-US" sz="1250" dirty="0"/>
          </a:p>
        </p:txBody>
      </p:sp>
      <p:sp>
        <p:nvSpPr>
          <p:cNvPr id="24" name="R3_qb73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4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Son / daughter: tell some good news.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I've got a new job! – Really? How fantastic!</a:t>
            </a:r>
            <a:endParaRPr lang="en-US" sz="1250" dirty="0"/>
          </a:p>
        </p:txBody>
      </p:sp>
      <p:sp>
        <p:nvSpPr>
          <p:cNvPr id="26" name="R4_qb741"/>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42"/>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Parent: ask about the partner's job and plans.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do you see your future? – Not sure. I mean, I like cooking…</a:t>
            </a:r>
            <a:endParaRPr lang="en-US" sz="1250" dirty="0"/>
          </a:p>
        </p:txBody>
      </p:sp>
      <p:sp>
        <p:nvSpPr>
          <p:cNvPr id="28" name="R5_qb743"/>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44"/>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Parent: offer food. Partner: surprise them!</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Go ahead – have an arancina! – I'm a chef, you know. – Really?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4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4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4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4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751"/>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52"/>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Exit · what can you remember?</a:t>
            </a:r>
            <a:endParaRPr lang="en-US" sz="800" dirty="0"/>
          </a:p>
        </p:txBody>
      </p:sp>
      <p:sp>
        <p:nvSpPr>
          <p:cNvPr id="13" name="bd_75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5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reactions: good news, bad news, surprising</a:t>
            </a:r>
            <a:endParaRPr lang="en-US" sz="1400" dirty="0"/>
          </a:p>
        </p:txBody>
      </p:sp>
      <p:sp>
        <p:nvSpPr>
          <p:cNvPr id="15" name="bd_75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5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Social English phrases (I mean…)</a:t>
            </a:r>
            <a:endParaRPr lang="en-US" sz="1400" dirty="0"/>
          </a:p>
        </p:txBody>
      </p:sp>
      <p:sp>
        <p:nvSpPr>
          <p:cNvPr id="17" name="bd_75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6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news – your partner reacts!</a:t>
            </a:r>
            <a:endParaRPr lang="en-US" sz="1400" dirty="0"/>
          </a:p>
        </p:txBody>
      </p:sp>
      <p:sp>
        <p:nvSpPr>
          <p:cNvPr id="19" name="cd_76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6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6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6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Practical English 1: 1a, 1b, 2, 3</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Can you remember? 1 (File 1 revision)</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76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2A part 1 · Money</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6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6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69"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70"/>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77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7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7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Review · what did you do today?</a:t>
            </a:r>
            <a:endParaRPr lang="en-US" sz="800" dirty="0"/>
          </a:p>
        </p:txBody>
      </p:sp>
      <p:sp>
        <p:nvSpPr>
          <p:cNvPr id="14" name="cd_777"/>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78"/>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79"/>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Jenny and Rob meet her parents</a:t>
            </a:r>
            <a:endParaRPr lang="en-US" sz="1350" dirty="0"/>
          </a:p>
        </p:txBody>
      </p:sp>
      <p:sp>
        <p:nvSpPr>
          <p:cNvPr id="17" name="R1_tk780"/>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81"/>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82"/>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83"/>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Reacted to good, bad and surprising news</a:t>
            </a:r>
            <a:endParaRPr lang="en-US" sz="1350" dirty="0"/>
          </a:p>
        </p:txBody>
      </p:sp>
      <p:sp>
        <p:nvSpPr>
          <p:cNvPr id="21" name="R2_tk784"/>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85"/>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86"/>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87"/>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Sounded interested: copy the music!</a:t>
            </a:r>
            <a:endParaRPr lang="en-US" sz="1350" dirty="0"/>
          </a:p>
        </p:txBody>
      </p:sp>
      <p:sp>
        <p:nvSpPr>
          <p:cNvPr id="25" name="R3_tk788"/>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89"/>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90"/>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91"/>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Social English: I mean…, Not really…</a:t>
            </a:r>
            <a:endParaRPr lang="en-US" sz="1350" dirty="0"/>
          </a:p>
        </p:txBody>
      </p:sp>
      <p:sp>
        <p:nvSpPr>
          <p:cNvPr id="29" name="R4_tk792"/>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93"/>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94"/>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95"/>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796"/>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797"/>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798"/>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799"/>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Role-played meeting the parents</a:t>
            </a:r>
            <a:endParaRPr lang="en-US" sz="1350" dirty="0"/>
          </a:p>
        </p:txBody>
      </p:sp>
      <p:sp>
        <p:nvSpPr>
          <p:cNvPr id="37" name="R6_tk800"/>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801"/>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803"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804"/>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Fortunately… unfortunately…</a:t>
            </a:r>
            <a:endParaRPr lang="en-US" sz="2400" dirty="0"/>
          </a:p>
        </p:txBody>
      </p:sp>
      <p:pic>
        <p:nvPicPr>
          <p:cNvPr id="6" name="brP_80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80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Then: Fortunately / Unfortunately…</a:t>
            </a:r>
            <a:endParaRPr lang="en-US" sz="1250" dirty="0"/>
          </a:p>
        </p:txBody>
      </p:sp>
      <p:sp>
        <p:nvSpPr>
          <p:cNvPr id="8" name="insIT_8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Reagisci! Poi aggiungi: Per fortuna / Purtroppo…</a:t>
            </a:r>
            <a:endParaRPr lang="en-US" sz="950" dirty="0"/>
          </a:p>
        </p:txBody>
      </p:sp>
      <p:sp>
        <p:nvSpPr>
          <p:cNvPr id="9" name="cmd_80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80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1" name="tag_81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8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Extra game · chain story</a:t>
            </a:r>
            <a:endParaRPr lang="en-US" sz="800" dirty="0"/>
          </a:p>
        </p:txBody>
      </p:sp>
      <p:sp>
        <p:nvSpPr>
          <p:cNvPr id="14" name="st_81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1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81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1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1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Listen to the sentence.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Ascolta la frase.</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React – a DIFFERENT phrase each time!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Reagisci – ogni volta una frase DIVERSA!</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Add: Fortunately… / Unfortunately…</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Aggiungi: Per fortuna… / Purtroppo…</a:t>
            </a:r>
            <a:endParaRPr lang="en-US" sz="900" dirty="0"/>
          </a:p>
        </p:txBody>
      </p:sp>
      <p:sp>
        <p:nvSpPr>
          <p:cNvPr id="19" name="pf_81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819"/>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
        <p:nvSpPr>
          <p:cNvPr id="21" name="bd_820"/>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821"/>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won two tickets to a concert!</a:t>
            </a:r>
            <a:endParaRPr lang="en-US" sz="1100" dirty="0"/>
          </a:p>
        </p:txBody>
      </p:sp>
      <p:sp>
        <p:nvSpPr>
          <p:cNvPr id="23" name="R1_chip822"/>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How fantastic! Unfortunately, the concert was in Rome…</a:t>
            </a:r>
            <a:endParaRPr lang="en-US" sz="1050" dirty="0"/>
          </a:p>
        </p:txBody>
      </p:sp>
      <p:sp>
        <p:nvSpPr>
          <p:cNvPr id="24" name="bd_823"/>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824"/>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was in Rome.</a:t>
            </a:r>
            <a:endParaRPr lang="en-US" sz="1100" dirty="0"/>
          </a:p>
        </p:txBody>
      </p:sp>
      <p:sp>
        <p:nvSpPr>
          <p:cNvPr id="26" name="R2_chip825"/>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Oh no! Fortunately, my uncle had a car…</a:t>
            </a:r>
            <a:endParaRPr lang="en-US" sz="1100" dirty="0"/>
          </a:p>
        </p:txBody>
      </p:sp>
      <p:sp>
        <p:nvSpPr>
          <p:cNvPr id="27" name="bd_826"/>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827"/>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had a car.</a:t>
            </a:r>
            <a:endParaRPr lang="en-US" sz="1100" dirty="0"/>
          </a:p>
        </p:txBody>
      </p:sp>
      <p:sp>
        <p:nvSpPr>
          <p:cNvPr id="29" name="R3_chip828"/>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What a great idea! Unfortunately, it broke down in Messina…</a:t>
            </a:r>
            <a:endParaRPr lang="en-US" sz="950" dirty="0"/>
          </a:p>
        </p:txBody>
      </p:sp>
      <p:sp>
        <p:nvSpPr>
          <p:cNvPr id="30" name="bd_829"/>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30"/>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 broke down in Messina.</a:t>
            </a:r>
            <a:endParaRPr lang="en-US" sz="1100" dirty="0"/>
          </a:p>
        </p:txBody>
      </p:sp>
      <p:sp>
        <p:nvSpPr>
          <p:cNvPr id="32" name="R4_chip831"/>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You're kidding! Fortunately…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PE1 Meeting the parents</dc:title>
  <dc:subject>PptxGenJS Presentation</dc:subject>
  <dc:creator>PptxGenJS</dc:creator>
  <cp:lastModifiedBy>PptxGenJS</cp:lastModifiedBy>
  <cp:revision>1</cp:revision>
  <dcterms:created xsi:type="dcterms:W3CDTF">2026-10-12T17:12:39Z</dcterms:created>
  <dcterms:modified xsi:type="dcterms:W3CDTF">2026-10-12T17:12:39Z</dcterms:modified>
</cp:coreProperties>
</file>