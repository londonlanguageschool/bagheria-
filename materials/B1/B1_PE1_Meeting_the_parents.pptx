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2+4+3+3+3+3+3+3+2+2+2+3+4+2+3+3+2+3+5+2 = 57 min. If short of time, cut slide 17 (Italian consolidation) to 1 min and slide 13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ONE click shows all the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in Italian (2 min)
CONSOLIDATION for slower students (2 min). Class says the Italian, then ONE click shows all of it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13 and 19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watch Jenny and Rob meet her parents</a:t>
            </a:r>
            <a:endParaRPr lang="en-US" sz="1200" dirty="0"/>
          </a:p>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react to good, bad and surprising news</a:t>
            </a:r>
            <a:endParaRPr lang="en-US" sz="1200" dirty="0"/>
          </a:p>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sound interested: copy the music!</a:t>
            </a:r>
            <a:endParaRPr lang="en-US" sz="1200" dirty="0"/>
          </a:p>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use Social English: I mean…, Not really…</a:t>
            </a:r>
            <a:endParaRPr lang="en-US" sz="1200" dirty="0"/>
          </a:p>
          <a:p>
            <a:pPr indent="0" marL="0">
              <a:spcAft>
                <a:spcPts val="200"/>
              </a:spcAft>
              <a:buNone/>
            </a:pPr>
            <a:r>
              <a:rPr lang="en-US" sz="1200" dirty="0">
                <a:solidFill>
                  <a:srgbClr val="1B2559"/>
                </a:solidFill>
                <a:latin typeface="Segoe UI" pitchFamily="34" charset="0"/>
                <a:ea typeface="Segoe UI" pitchFamily="34" charset="-122"/>
                <a:cs typeface="Segoe UI" pitchFamily="34" charset="-120"/>
              </a:rPr>
              <a:t>🎭  role-play meeting the parents</a:t>
            </a:r>
            <a:endParaRPr lang="en-US" sz="12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2_boss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personality and birth order</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 File 1: food and family words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opposites: un- · dis- · im- · in-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step- · half- · -in-law · great-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94183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reliable</a:t>
            </a:r>
            <a:endParaRPr lang="en-US" sz="1050" dirty="0"/>
          </a:p>
        </p:txBody>
      </p:sp>
      <p:sp>
        <p:nvSpPr>
          <p:cNvPr id="28" name="w_42"/>
          <p:cNvSpPr/>
          <p:nvPr/>
        </p:nvSpPr>
        <p:spPr>
          <a:xfrm>
            <a:off x="4261104"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29" name="w_43"/>
          <p:cNvSpPr/>
          <p:nvPr/>
        </p:nvSpPr>
        <p:spPr>
          <a:xfrm>
            <a:off x="5276088"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30" name="w_44"/>
          <p:cNvSpPr/>
          <p:nvPr/>
        </p:nvSpPr>
        <p:spPr>
          <a:xfrm>
            <a:off x="6057900"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1" name="w_45"/>
          <p:cNvSpPr/>
          <p:nvPr/>
        </p:nvSpPr>
        <p:spPr>
          <a:xfrm>
            <a:off x="7228332"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33" name="w_47"/>
          <p:cNvSpPr/>
          <p:nvPr/>
        </p:nvSpPr>
        <p:spPr>
          <a:xfrm>
            <a:off x="4416552"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4" name="w_48"/>
          <p:cNvSpPr/>
          <p:nvPr/>
        </p:nvSpPr>
        <p:spPr>
          <a:xfrm>
            <a:off x="550926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Warmer · File 1 · food and family   ·   📖 Recycles File 1: 1A food and cooking · 1B family · 1B personality</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clue.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word – 10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word = 1 point. Spelling = +1.</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1a1_supp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sister's husband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brother-in-law</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5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stepmother</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0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10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only child</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aubergine</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grandmother's mother</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great-grandmother</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10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Chi sono Jenny e Rob?</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Episode 1 · Introduction   ·   📖 SB p.14 · 1a, 1b · video Episode 1 Introduction / audio 1.26</a:t>
            </a:r>
            <a:endParaRPr lang="en-US" sz="800" dirty="0"/>
          </a:p>
        </p:txBody>
      </p:sp>
      <p:sp>
        <p:nvSpPr>
          <p:cNvPr id="14" name="ap_1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5" name="ah_10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0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21" name="bd_1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0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4" name="bd_1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photos A and B. Describe Jenny and Rob.</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4 questions.</a:t>
            </a:r>
            <a:endParaRPr lang="en-US" sz="1100" dirty="0"/>
          </a:p>
        </p:txBody>
      </p:sp>
      <p:sp>
        <p:nvSpPr>
          <p:cNvPr id="29" name="lq_11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30" name="R1_chip11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31" name="lq_11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2" name="R2_chip11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3" name="lq_11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4" name="R3_chip11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5" name="lq_12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6" name="R4_chip12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riguarda.</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1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detail · gap fill   ·   📖 SB p.14 · 1b · video Introduction / audio 1.26</a:t>
            </a:r>
            <a:endParaRPr lang="en-US" sz="800" dirty="0"/>
          </a:p>
        </p:txBody>
      </p:sp>
      <p:sp>
        <p:nvSpPr>
          <p:cNvPr id="15" name="cd_13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3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7" name="ln_136"/>
          <p:cNvSpPr/>
          <p:nvPr/>
        </p:nvSpPr>
        <p:spPr>
          <a:xfrm>
            <a:off x="548640" y="1920240"/>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2EB872"/>
                </a:solidFill>
                <a:latin typeface="Georgia" pitchFamily="34" charset="0"/>
                <a:ea typeface="Georgia" pitchFamily="34" charset="-122"/>
                <a:cs typeface="Georgia" pitchFamily="34" charset="-120"/>
              </a:rPr>
              <a:t> (1) _____ </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8" name="R1_lnA137"/>
          <p:cNvSpPr/>
          <p:nvPr/>
        </p:nvSpPr>
        <p:spPr>
          <a:xfrm>
            <a:off x="548640" y="1920240"/>
            <a:ext cx="5349240" cy="348615"/>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9" name="ln_138"/>
          <p:cNvSpPr/>
          <p:nvPr/>
        </p:nvSpPr>
        <p:spPr>
          <a:xfrm>
            <a:off x="548640" y="226885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139"/>
          <p:cNvSpPr/>
          <p:nvPr/>
        </p:nvSpPr>
        <p:spPr>
          <a:xfrm>
            <a:off x="548640" y="226885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140"/>
          <p:cNvSpPr/>
          <p:nvPr/>
        </p:nvSpPr>
        <p:spPr>
          <a:xfrm>
            <a:off x="548640" y="261747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2" name="R3_lnA141"/>
          <p:cNvSpPr/>
          <p:nvPr/>
        </p:nvSpPr>
        <p:spPr>
          <a:xfrm>
            <a:off x="548640" y="261747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3" name="ln_142"/>
          <p:cNvSpPr/>
          <p:nvPr/>
        </p:nvSpPr>
        <p:spPr>
          <a:xfrm>
            <a:off x="548640" y="296608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4" name="R4_lnA143"/>
          <p:cNvSpPr/>
          <p:nvPr/>
        </p:nvSpPr>
        <p:spPr>
          <a:xfrm>
            <a:off x="548640" y="296608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5" name="ln_144"/>
          <p:cNvSpPr/>
          <p:nvPr/>
        </p:nvSpPr>
        <p:spPr>
          <a:xfrm>
            <a:off x="548640" y="331470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145"/>
          <p:cNvSpPr/>
          <p:nvPr/>
        </p:nvSpPr>
        <p:spPr>
          <a:xfrm>
            <a:off x="548640" y="331470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146"/>
          <p:cNvSpPr/>
          <p:nvPr/>
        </p:nvSpPr>
        <p:spPr>
          <a:xfrm>
            <a:off x="548640" y="366331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8" name="R6_lnA147"/>
          <p:cNvSpPr/>
          <p:nvPr/>
        </p:nvSpPr>
        <p:spPr>
          <a:xfrm>
            <a:off x="548640" y="366331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9" name="ln_148"/>
          <p:cNvSpPr/>
          <p:nvPr/>
        </p:nvSpPr>
        <p:spPr>
          <a:xfrm>
            <a:off x="548640" y="401193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0" name="R7_lnA149"/>
          <p:cNvSpPr/>
          <p:nvPr/>
        </p:nvSpPr>
        <p:spPr>
          <a:xfrm>
            <a:off x="548640" y="401193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1" name="ln_150"/>
          <p:cNvSpPr/>
          <p:nvPr/>
        </p:nvSpPr>
        <p:spPr>
          <a:xfrm>
            <a:off x="548640" y="4360545"/>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00" b="1" dirty="0">
                <a:solidFill>
                  <a:srgbClr val="2EB872"/>
                </a:solidFill>
                <a:latin typeface="Georgia" pitchFamily="34" charset="0"/>
                <a:ea typeface="Georgia" pitchFamily="34" charset="-122"/>
                <a:cs typeface="Georgia" pitchFamily="34" charset="-120"/>
              </a:rPr>
              <a:t> (8) 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32" name="R8_lnA151"/>
          <p:cNvSpPr/>
          <p:nvPr/>
        </p:nvSpPr>
        <p:spPr>
          <a:xfrm>
            <a:off x="548640" y="436054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3" name="ap_15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4" name="ah_1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7" name="pf_15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8" name="phx_155"/>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39" name="cd_156"/>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0" name="ii_15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1" name="ih_15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2" name="il_159"/>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apartment = American English</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flat = British English</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5"/>
                                        </p:tgtEl>
                                      </p:cBhvr>
                                    </p:cmd>
                                  </p:childTnLst>
                                </p:cTn>
                              </p:par>
                            </p:childTnLst>
                          </p:cTn>
                        </p:par>
                      </p:childTnLst>
                    </p:cTn>
                  </p:par>
                </p:childTnLst>
              </p:cTn>
              <p:nextCondLst>
                <p:cond evt="onClick" delay="0">
                  <p:tgtEl>
                    <p:spTgt spid="35"/>
                  </p:tgtEl>
                </p:cond>
              </p:nextCondLst>
            </p:seq>
            <p:seq concurrent="1" nextAc="seek">
              <p:cTn id="48" restart="whenNotActive" fill="hold" evtFilter="cancelBubble" nodeType="interactiveSeq">
                <p:stCondLst>
                  <p:cond evt="onClick" delay="0">
                    <p:tgtEl>
                      <p:spTgt spid="3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6"/>
                                        </p:tgtEl>
                                      </p:cBhvr>
                                    </p:cmd>
                                  </p:childTnLst>
                                </p:cTn>
                              </p:par>
                            </p:childTnLst>
                          </p:cTn>
                        </p:par>
                      </p:childTnLst>
                    </p:cTn>
                  </p:par>
                </p:childTnLst>
              </p:cTn>
              <p:nextCondLst>
                <p:cond evt="onClick" delay="0">
                  <p:tgtEl>
                    <p:spTgt spid="36"/>
                  </p:tgtEl>
                </p:cond>
              </p:nextCondLst>
            </p:seq>
            <p:audio>
              <p:cMediaNode vol="80000">
                <p:cTn id="53" fill="hold" display="0">
                  <p:stCondLst>
                    <p:cond delay="indefinite"/>
                  </p:stCondLst>
                  <p:endCondLst>
                    <p:cond evt="onStopAudio" delay="0">
                      <p:tgtEl>
                        <p:sldTgt/>
                      </p:tgtEl>
                    </p:cond>
                  </p:endCondLst>
                </p:cTn>
                <p:tgtEl>
                  <p:spTgt spid="35"/>
                </p:tgtEl>
              </p:cMediaNode>
            </p:audio>
            <p:audio>
              <p:cMediaNode vol="80000">
                <p:cTn id="54" fill="hold" display="0">
                  <p:stCondLst>
                    <p:cond delay="indefinite"/>
                  </p:stCondLst>
                  <p:endCondLst>
                    <p:cond evt="onStopAudio" delay="0">
                      <p:tgtEl>
                        <p:sldTgt/>
                      </p:tgtEl>
                    </p:cond>
                  </p:endCondLst>
                </p:cTn>
                <p:tgtEl>
                  <p:spTgt spid="3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Qual è la notizia brutta e quella bella?</a:t>
            </a:r>
            <a:endParaRPr lang="en-US" sz="950" dirty="0"/>
          </a:p>
        </p:txBody>
      </p:sp>
      <p:sp>
        <p:nvSpPr>
          <p:cNvPr id="9" name="cmd_1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6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6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1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gist   ·   📖 SB p.14 · 2a · video Scene 1 / audio 1.27</a:t>
            </a:r>
            <a:endParaRPr lang="en-US" sz="800" dirty="0"/>
          </a:p>
        </p:txBody>
      </p:sp>
      <p:sp>
        <p:nvSpPr>
          <p:cNvPr id="14" name="ap_17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5" name="ah_17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17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17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7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1" name="bd_17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17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17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4" name="bd_17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18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18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8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18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What's the problem?</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3 questions.</a:t>
            </a:r>
            <a:endParaRPr lang="en-US" sz="1100" dirty="0"/>
          </a:p>
        </p:txBody>
      </p:sp>
      <p:sp>
        <p:nvSpPr>
          <p:cNvPr id="29" name="lq_18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30" name="R1_chip18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31" name="lq_18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2" name="R2_chip18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3" name="lq_18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4" name="R3_chip18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93"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4"/>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7"/>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detail   ·   📖 SB p.14 · 2b · video Scene 1 / audio 1.27</a:t>
            </a:r>
            <a:endParaRPr lang="en-US" sz="800" dirty="0"/>
          </a:p>
        </p:txBody>
      </p:sp>
      <p:sp>
        <p:nvSpPr>
          <p:cNvPr id="15" name="ap_2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6" name="ah_2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0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1" name="cd_2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1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6" name="R1_chip21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7" name="gq_21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8" name="R2_chip21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29" name="gq_21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30" name="R3_chip21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31" name="gq_21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32" name="R4_chip21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3" name="gq_21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4" name="R5_chip21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5" name="gq_22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6" name="R6_chip22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6"/>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Poi ascolta.</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reacting to what people say   ·   📖 SB p.14 · 2c · video listen and check / audio 1.28</a:t>
            </a:r>
            <a:endParaRPr lang="en-US" sz="800" dirty="0"/>
          </a:p>
        </p:txBody>
      </p:sp>
      <p:sp>
        <p:nvSpPr>
          <p:cNvPr id="14" name="ap_23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5" name="ah_23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23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236"/>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0" name="cd_23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23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23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24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241"/>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5" name="R1_chip242"/>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6" name="gq_243"/>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7" name="R2_chip244"/>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8" name="gq_245"/>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29" name="R3_chip246"/>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30" name="gq_247"/>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31" name="R4_chip248"/>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2" name="gq_249"/>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3" name="R5_chip250"/>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4" name="gq_251"/>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5" name="R6_chip252"/>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6" name="gq_253"/>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7" name="R7_chip254"/>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audio>
              <p:cMediaNode vol="80000">
                <p:cTn id="48" fill="hold" display="0">
                  <p:stCondLst>
                    <p:cond delay="indefinite"/>
                  </p:stCondLst>
                  <p:endCondLst>
                    <p:cond evt="onStopAudio" delay="0">
                      <p:tgtEl>
                        <p:sldTgt/>
                      </p:tgtEl>
                    </p:cond>
                  </p:endCondLst>
                </p:cTn>
                <p:tgtEl>
                  <p:spTgt spid="16"/>
                </p:tgtEl>
              </p:cMediaNode>
            </p:audio>
            <p:audio>
              <p:cMediaNode vol="80000">
                <p:cTn id="49"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5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Sorprendente, bella o brutta notizia? Abbina.</a:t>
            </a:r>
            <a:endParaRPr lang="en-US" sz="950" dirty="0"/>
          </a:p>
        </p:txBody>
      </p:sp>
      <p:sp>
        <p:nvSpPr>
          <p:cNvPr id="9" name="cmd_26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6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the reactions chart   ·   📖 SB p.15 · 2d · chart 'Reacting to what people say'</a:t>
            </a:r>
            <a:endParaRPr lang="en-US" sz="800" dirty="0"/>
          </a:p>
        </p:txBody>
      </p:sp>
      <p:sp>
        <p:nvSpPr>
          <p:cNvPr id="13" name="cd_265"/>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68"/>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6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8" name="lg_27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9" name="lg_271"/>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20" name="lg_272"/>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21" name="sq_273"/>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2" name="R1_tag274"/>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75"/>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4" name="R2_tag276"/>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5" name="sq_277"/>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R3_tag278"/>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7" name="sq_279"/>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8" name="R4_tag280"/>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81"/>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30" name="R5_tag282"/>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83"/>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2" name="R6_tag284"/>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3" name="sq_285"/>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4" name="R7_tag286"/>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87"/>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6" name="R8_tag288"/>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sq_289"/>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8" name="R9_tag290"/>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9" name="pf_291"/>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292"/>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9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5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5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How o What? Guarda gli esempi.</a:t>
            </a:r>
            <a:endParaRPr lang="en-US" sz="950" dirty="0"/>
          </a:p>
        </p:txBody>
      </p:sp>
      <p:sp>
        <p:nvSpPr>
          <p:cNvPr id="9" name="cmd_3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How + adjective, What + noun   ·   📖 SB p.15 · box 'How + adjective, What + noun'</a:t>
            </a:r>
            <a:endParaRPr lang="en-US" sz="800" dirty="0"/>
          </a:p>
        </p:txBody>
      </p:sp>
      <p:sp>
        <p:nvSpPr>
          <p:cNvPr id="13" name="cd_363"/>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364"/>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5" name="pf_365"/>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66" descr="/home/claude/lls-course/v2/cache/spare_work_success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367"/>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8" name="R1_rx368"/>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9" name="R1_ri369"/>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bello! · Che interessante!</a:t>
            </a:r>
            <a:endParaRPr lang="en-US" sz="900" dirty="0"/>
          </a:p>
        </p:txBody>
      </p:sp>
      <p:sp>
        <p:nvSpPr>
          <p:cNvPr id="20" name="cd_370"/>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371"/>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2" name="pf_372"/>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73"/>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4" name="ru_374"/>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5" name="R2_rx375"/>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6" name="R2_ri376"/>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peccato! · Che disastro!</a:t>
            </a:r>
            <a:endParaRPr lang="en-US" sz="900" dirty="0"/>
          </a:p>
        </p:txBody>
      </p:sp>
      <p:sp>
        <p:nvSpPr>
          <p:cNvPr id="27" name="cd_377"/>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378"/>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9" name="pf_379"/>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80" descr="/home/claude/lls-course/v2/cache/spare_life_celebrations_jpg_589x209_31.png">    </p:cNvPr>
          <p:cNvPicPr>
            <a:picLocks noChangeAspect="1"/>
          </p:cNvPicPr>
          <p:nvPr/>
        </p:nvPicPr>
        <p:blipFill>
          <a:blip r:embed="rId6"/>
          <a:stretch>
            <a:fillRect/>
          </a:stretch>
        </p:blipFill>
        <p:spPr>
          <a:xfrm>
            <a:off x="6266688" y="1984248"/>
            <a:ext cx="2447544" cy="868680"/>
          </a:xfrm>
          <a:prstGeom prst="rect">
            <a:avLst/>
          </a:prstGeom>
        </p:spPr>
      </p:pic>
      <p:sp>
        <p:nvSpPr>
          <p:cNvPr id="31" name="ru_381"/>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2" name="R3_rx382"/>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3" name="R3_ri383"/>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news = notizie: no 'a'!</a:t>
            </a:r>
            <a:endParaRPr lang="en-US" sz="900" dirty="0"/>
          </a:p>
        </p:txBody>
      </p:sp>
      <p:sp>
        <p:nvSpPr>
          <p:cNvPr id="34" name="R4_wc38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38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la musica: su e giù!</a:t>
            </a:r>
            <a:endParaRPr lang="en-US" sz="950" dirty="0"/>
          </a:p>
        </p:txBody>
      </p:sp>
      <p:sp>
        <p:nvSpPr>
          <p:cNvPr id="9" name="cmd_3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39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Pronunciation · sounding interested   ·   📖 SB p.15 · 2d, 2e · video listen and repeat / audio 1.29</a:t>
            </a:r>
            <a:endParaRPr lang="en-US" sz="800" dirty="0"/>
          </a:p>
        </p:txBody>
      </p:sp>
      <p:sp>
        <p:nvSpPr>
          <p:cNvPr id="15" name="ap_398"/>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6" name="ah_39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400"/>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401"/>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02"/>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403"/>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3" name="pf_404"/>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405"/>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5" name="bd_406"/>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407"/>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7" name="R2_sf408"/>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8" name="bd_409"/>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9" name="R3_sw410"/>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30" name="R4_sf411"/>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31" name="bd_412"/>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2" name="R5_sw413"/>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3" name="R6_sf414"/>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4" name="bd_415"/>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5" name="R7_sw416"/>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6" name="R8_sf417"/>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7" name="bd_418"/>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8" name="R9_sw419"/>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39" name="R9_sw420"/>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40" name="R9_sw421"/>
          <p:cNvSpPr/>
          <p:nvPr/>
        </p:nvSpPr>
        <p:spPr>
          <a:xfrm>
            <a:off x="5797296"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41" name="R10_sf422"/>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par>
                                <p:cTn id="48" presetID="10" presetClass="entr" presetSubtype="0" fill="hold" nodeType="withEffect">
                                  <p:stCondLst>
                                    <p:cond delay="0"/>
                                  </p:stCondLst>
                                  <p:childTnLst>
                                    <p:set>
                                      <p:cBhvr>
                                        <p:cTn id="49" dur="1" fill="hold">
                                          <p:stCondLst>
                                            <p:cond delay="0"/>
                                          </p:stCondLst>
                                        </p:cTn>
                                        <p:tgtEl>
                                          <p:spTgt spid="39"/>
                                        </p:tgtEl>
                                        <p:attrNameLst>
                                          <p:attrName>style.visibility</p:attrName>
                                        </p:attrNameLst>
                                      </p:cBhvr>
                                      <p:to>
                                        <p:strVal val="visible"/>
                                      </p:to>
                                    </p:set>
                                    <p:animEffect transition="in" filter="fade">
                                      <p:cBhvr>
                                        <p:cTn id="50" dur="400"/>
                                        <p:tgtEl>
                                          <p:spTgt spid="39"/>
                                        </p:tgtEl>
                                      </p:cBhvr>
                                    </p:animEffect>
                                  </p:childTnLst>
                                </p:cTn>
                              </p:par>
                              <p:par>
                                <p:cTn id="51" presetID="10" presetClass="entr" presetSubtype="0" fill="hold" nodeType="with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400"/>
                                        <p:tgtEl>
                                          <p:spTgt spid="4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1"/>
                                        </p:tgtEl>
                                        <p:attrNameLst>
                                          <p:attrName>style.visibility</p:attrName>
                                        </p:attrNameLst>
                                      </p:cBhvr>
                                      <p:to>
                                        <p:strVal val="visible"/>
                                      </p:to>
                                    </p:set>
                                    <p:animEffect transition="in" filter="fade">
                                      <p:cBhvr>
                                        <p:cTn id="58"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7"/>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7"/>
                                        </p:tgtEl>
                                      </p:cBhvr>
                                    </p:cmd>
                                  </p:childTnLst>
                                </p:cTn>
                              </p:par>
                            </p:childTnLst>
                          </p:cTn>
                        </p:par>
                      </p:childTnLst>
                    </p:cTn>
                  </p:par>
                </p:childTnLst>
              </p:cTn>
              <p:nextCondLst>
                <p:cond evt="onClick" delay="0">
                  <p:tgtEl>
                    <p:spTgt spid="17"/>
                  </p:tgtEl>
                </p:cond>
              </p:nextCondLst>
            </p:seq>
            <p:seq concurrent="1" nextAc="seek">
              <p:cTn id="64" restart="whenNotActive" fill="hold" evtFilter="cancelBubble" nodeType="interactiveSeq">
                <p:stCondLst>
                  <p:cond evt="onClick" delay="0">
                    <p:tgtEl>
                      <p:spTgt spid="18"/>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8"/>
                                        </p:tgtEl>
                                      </p:cBhvr>
                                    </p:cmd>
                                  </p:childTnLst>
                                </p:cTn>
                              </p:par>
                            </p:childTnLst>
                          </p:cTn>
                        </p:par>
                      </p:childTnLst>
                    </p:cTn>
                  </p:par>
                </p:childTnLst>
              </p:cTn>
              <p:nextCondLst>
                <p:cond evt="onClick" delay="0">
                  <p:tgtEl>
                    <p:spTgt spid="18"/>
                  </p:tgtEl>
                </p:cond>
              </p:nextCondLst>
            </p:seq>
            <p:audio>
              <p:cMediaNode vol="80000">
                <p:cTn id="69" fill="hold" display="0">
                  <p:stCondLst>
                    <p:cond delay="indefinite"/>
                  </p:stCondLst>
                  <p:endCondLst>
                    <p:cond evt="onStopAudio" delay="0">
                      <p:tgtEl>
                        <p:sldTgt/>
                      </p:tgtEl>
                    </p:cond>
                  </p:endCondLst>
                </p:cTn>
                <p:tgtEl>
                  <p:spTgt spid="17"/>
                </p:tgtEl>
              </p:cMediaNode>
            </p:audio>
            <p:audio>
              <p:cMediaNode vol="80000">
                <p:cTn id="70"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25"/>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notizia. Reagisci in 5 secondi!</a:t>
            </a:r>
            <a:endParaRPr lang="en-US" sz="950" dirty="0"/>
          </a:p>
        </p:txBody>
      </p:sp>
      <p:sp>
        <p:nvSpPr>
          <p:cNvPr id="9" name="cmd_42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game</a:t>
            </a:r>
            <a:endParaRPr lang="en-US" sz="800" dirty="0"/>
          </a:p>
        </p:txBody>
      </p:sp>
      <p:sp>
        <p:nvSpPr>
          <p:cNvPr id="14" name="cd_43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3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news.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react + ask a question – 5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reaction + right music = 2 points.</a:t>
            </a:r>
            <a:endParaRPr lang="en-US" sz="1150" dirty="0"/>
          </a:p>
        </p:txBody>
      </p:sp>
      <p:sp>
        <p:nvSpPr>
          <p:cNvPr id="18" name="pf_43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9"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4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4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100" dirty="0"/>
          </a:p>
        </p:txBody>
      </p:sp>
      <p:sp>
        <p:nvSpPr>
          <p:cNvPr id="22" name="R1_chip44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100" dirty="0"/>
          </a:p>
        </p:txBody>
      </p:sp>
      <p:sp>
        <p:nvSpPr>
          <p:cNvPr id="23" name="bd_44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4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missed the last bus home."</a:t>
            </a:r>
            <a:endParaRPr lang="en-US" sz="1100" dirty="0"/>
          </a:p>
        </p:txBody>
      </p:sp>
      <p:sp>
        <p:nvSpPr>
          <p:cNvPr id="25" name="R2_chip44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100" dirty="0"/>
          </a:p>
        </p:txBody>
      </p:sp>
      <p:sp>
        <p:nvSpPr>
          <p:cNvPr id="26" name="bd_44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4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100" dirty="0"/>
          </a:p>
        </p:txBody>
      </p:sp>
      <p:sp>
        <p:nvSpPr>
          <p:cNvPr id="28" name="R3_chip44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100" dirty="0"/>
          </a:p>
        </p:txBody>
      </p:sp>
      <p:sp>
        <p:nvSpPr>
          <p:cNvPr id="29" name="bd_44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5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100" dirty="0"/>
          </a:p>
        </p:txBody>
      </p:sp>
      <p:sp>
        <p:nvSpPr>
          <p:cNvPr id="31" name="R4_chip45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a:t>
            </a:r>
            <a:endParaRPr lang="en-US" sz="1100" dirty="0"/>
          </a:p>
        </p:txBody>
      </p:sp>
      <p:sp>
        <p:nvSpPr>
          <p:cNvPr id="32" name="bd_45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5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"Sorry, I forgot my homework!"</a:t>
            </a:r>
            <a:endParaRPr lang="en-US" sz="1100" dirty="0"/>
          </a:p>
        </p:txBody>
      </p:sp>
      <p:sp>
        <p:nvSpPr>
          <p:cNvPr id="34" name="R5_chip45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100" dirty="0"/>
          </a:p>
        </p:txBody>
      </p:sp>
      <p:sp>
        <p:nvSpPr>
          <p:cNvPr id="35" name="bd_45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5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100" dirty="0"/>
          </a:p>
        </p:txBody>
      </p:sp>
      <p:sp>
        <p:nvSpPr>
          <p:cNvPr id="37" name="R6_chip45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6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6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6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notizia. Il compagno reagisce!</a:t>
            </a:r>
            <a:endParaRPr lang="en-US" sz="950" dirty="0"/>
          </a:p>
        </p:txBody>
      </p:sp>
      <p:sp>
        <p:nvSpPr>
          <p:cNvPr id="9" name="cmd_46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telling news and reacting   ·   📖 SB p.15 · 2f · Communication How awful! How fantastic! (A p.106, B p.111)</a:t>
            </a:r>
            <a:endParaRPr lang="en-US" sz="800" dirty="0"/>
          </a:p>
        </p:txBody>
      </p:sp>
      <p:sp>
        <p:nvSpPr>
          <p:cNvPr id="14" name="pf_46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470"/>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16" name="cd_47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7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When / Where / Who…?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it happen?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Tell me more!</a:t>
            </a:r>
            <a:endParaRPr lang="en-US" sz="1050" dirty="0"/>
          </a:p>
        </p:txBody>
      </p:sp>
      <p:sp>
        <p:nvSpPr>
          <p:cNvPr id="20" name="R1_qb47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passed my driving test! – How fantastic! When?</a:t>
            </a:r>
            <a:endParaRPr lang="en-US" sz="1250" dirty="0"/>
          </a:p>
        </p:txBody>
      </p:sp>
      <p:sp>
        <p:nvSpPr>
          <p:cNvPr id="22" name="R2_qb47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small BAD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lost my house keys. – Oh no! What a pity. Where?</a:t>
            </a:r>
            <a:endParaRPr lang="en-US" sz="1250" dirty="0"/>
          </a:p>
        </p:txBody>
      </p:sp>
      <p:sp>
        <p:nvSpPr>
          <p:cNvPr id="24" name="R3_qb47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8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SURPRISING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brother speaks Chinese! – You're kidding! Really?</a:t>
            </a:r>
            <a:endParaRPr lang="en-US" sz="1250" dirty="0"/>
          </a:p>
        </p:txBody>
      </p:sp>
      <p:sp>
        <p:nvSpPr>
          <p:cNvPr id="26" name="R4_qb48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8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INTERESTING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learning to make cannoli. – Really? How interesting!</a:t>
            </a:r>
            <a:endParaRPr lang="en-US" sz="1250" dirty="0"/>
          </a:p>
        </p:txBody>
      </p:sp>
      <p:sp>
        <p:nvSpPr>
          <p:cNvPr id="28" name="R5_qb48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SUGGESTION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Shall we eat out on Friday? – What a great idea! Where?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8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4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4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serata finisce bene?</a:t>
            </a:r>
            <a:endParaRPr lang="en-US" sz="950" dirty="0"/>
          </a:p>
        </p:txBody>
      </p:sp>
      <p:sp>
        <p:nvSpPr>
          <p:cNvPr id="9" name="cmd_4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4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4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gist   ·   📖 SB p.15 · 3a · video Scene 2 / audio 1.30</a:t>
            </a:r>
            <a:endParaRPr lang="en-US" sz="800" dirty="0"/>
          </a:p>
        </p:txBody>
      </p:sp>
      <p:sp>
        <p:nvSpPr>
          <p:cNvPr id="14" name="ap_49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5" name="ah_4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49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49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0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21" name="bd_50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50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50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pe1-graduation.jpg</a:t>
            </a:r>
            <a:endParaRPr lang="en-US" sz="900" dirty="0"/>
          </a:p>
        </p:txBody>
      </p:sp>
      <p:sp>
        <p:nvSpPr>
          <p:cNvPr id="24" name="bd_50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50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50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0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508"/>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What are they talking about?</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Well or badly?</a:t>
            </a:r>
            <a:endParaRPr lang="en-US" sz="1100" dirty="0"/>
          </a:p>
        </p:txBody>
      </p:sp>
      <p:sp>
        <p:nvSpPr>
          <p:cNvPr id="29" name="lq_50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30" name="R1_chip51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31" name="lq_51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2" name="R2_chip51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3" name="lq_51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4" name="R3_chip51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5" name="lq_51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6" name="R4_chip51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1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20"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21"/>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1–6. Poi riguarda.</a:t>
            </a:r>
            <a:endParaRPr lang="en-US" sz="950" dirty="0"/>
          </a:p>
        </p:txBody>
      </p:sp>
      <p:sp>
        <p:nvSpPr>
          <p:cNvPr id="9" name="cmd_5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2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52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2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detail   ·   📖 SB p.15 · 3b · video Scene 2 / audio 1.30</a:t>
            </a:r>
            <a:endParaRPr lang="en-US" sz="800" dirty="0"/>
          </a:p>
        </p:txBody>
      </p:sp>
      <p:sp>
        <p:nvSpPr>
          <p:cNvPr id="15" name="ap_52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6" name="ah_53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3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3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21" name="cd_53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3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3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3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3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6" name="R1_chip53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7" name="gq_53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8" name="R2_chip54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29" name="gq_54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30" name="R3_chip54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31" name="gq_54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32" name="R4_chip54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3" name="gq_54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4" name="R5_chip54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5" name="gq_547"/>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6" name="R6_chip548"/>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5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5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5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55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phrases   ·   📖 SB p.15 · 3c, 3d · video Social English / audio 1.31</a:t>
            </a:r>
            <a:endParaRPr lang="en-US" sz="800" dirty="0"/>
          </a:p>
        </p:txBody>
      </p:sp>
      <p:sp>
        <p:nvSpPr>
          <p:cNvPr id="14" name="ap_56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5" name="aw_561"/>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6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6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pe1-photography.jpg</a:t>
            </a:r>
            <a:endParaRPr lang="en-US" sz="900" dirty="0"/>
          </a:p>
        </p:txBody>
      </p:sp>
      <p:sp>
        <p:nvSpPr>
          <p:cNvPr id="18" name="cd_56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56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568"/>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23" name="R1_chip569"/>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4" name="gq_570"/>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5" name="R2_chip571"/>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gq_572"/>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7" name="R3_chip573"/>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8" name="gq_574"/>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9" name="R4_chip575"/>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30" name="gq_576"/>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31" name="R5_chip577"/>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32" name="gq_578"/>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33" name="R6_chip579"/>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4" name="gq_580"/>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5" name="R7_chip581"/>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6" name="gq_582"/>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7" name="R8_chip583"/>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5"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86"/>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5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5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5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5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5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in Italian</a:t>
            </a:r>
            <a:endParaRPr lang="en-US" sz="800" dirty="0"/>
          </a:p>
        </p:txBody>
      </p:sp>
      <p:sp>
        <p:nvSpPr>
          <p:cNvPr id="13" name="cd_5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5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5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6" name="R1_it5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7" name="cd_5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5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6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20" name="R1_it6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1" name="cd_6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6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6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4" name="R1_it6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5" name="cd_6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6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6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8" name="R1_it6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9" name="cd_6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6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6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2" name="R1_it6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3" name="cd_6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6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6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6" name="R1_it6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7" name="cd_6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6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6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40" name="R1_it6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1" name="cd_6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6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6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4" name="R1_it6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5" name="cd_6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6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6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8" name="R1_it6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9" name="cd_6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6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6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2" name="R1_it6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3" name="cd_6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6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6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6" name="R1_it6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7" name="cd_6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6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6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60" name="R1_it6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1" name="R1_wc6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6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4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4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4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4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Vince la squadra più veloce!</a:t>
            </a:r>
            <a:endParaRPr lang="en-US" sz="950" dirty="0"/>
          </a:p>
        </p:txBody>
      </p:sp>
      <p:sp>
        <p:nvSpPr>
          <p:cNvPr id="9" name="cmd_65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game   ·   📖 SB p.15 · 3e</a:t>
            </a:r>
            <a:endParaRPr lang="en-US" sz="800" dirty="0"/>
          </a:p>
        </p:txBody>
      </p:sp>
      <p:sp>
        <p:nvSpPr>
          <p:cNvPr id="14" name="cd_655"/>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57"/>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58"/>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p:txBody>
      </p:sp>
      <p:sp>
        <p:nvSpPr>
          <p:cNvPr id="18" name="pf_65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660"/>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pe1-cafe-seat.jpg</a:t>
            </a:r>
            <a:endParaRPr lang="en-US" sz="900" dirty="0"/>
          </a:p>
        </p:txBody>
      </p:sp>
      <p:sp>
        <p:nvSpPr>
          <p:cNvPr id="20" name="bd_661"/>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2"/>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100" dirty="0"/>
          </a:p>
        </p:txBody>
      </p:sp>
      <p:sp>
        <p:nvSpPr>
          <p:cNvPr id="22" name="R1_chip663"/>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 ahead.</a:t>
            </a:r>
            <a:endParaRPr lang="en-US" sz="1100" dirty="0"/>
          </a:p>
        </p:txBody>
      </p:sp>
      <p:sp>
        <p:nvSpPr>
          <p:cNvPr id="23" name="bd_664"/>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65"/>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5" name="R2_chip666"/>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because</a:t>
            </a:r>
            <a:endParaRPr lang="en-US" sz="1100" dirty="0"/>
          </a:p>
        </p:txBody>
      </p:sp>
      <p:sp>
        <p:nvSpPr>
          <p:cNvPr id="26" name="bd_667"/>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68"/>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100" dirty="0"/>
          </a:p>
        </p:txBody>
      </p:sp>
      <p:sp>
        <p:nvSpPr>
          <p:cNvPr id="28" name="R3_chip669"/>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Not really.</a:t>
            </a:r>
            <a:endParaRPr lang="en-US" sz="1100" dirty="0"/>
          </a:p>
        </p:txBody>
      </p:sp>
      <p:sp>
        <p:nvSpPr>
          <p:cNvPr id="29" name="bd_670"/>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71"/>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100" dirty="0"/>
          </a:p>
        </p:txBody>
      </p:sp>
      <p:sp>
        <p:nvSpPr>
          <p:cNvPr id="31" name="R4_chip672"/>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things like that</a:t>
            </a:r>
            <a:endParaRPr lang="en-US" sz="1100" dirty="0"/>
          </a:p>
        </p:txBody>
      </p:sp>
      <p:sp>
        <p:nvSpPr>
          <p:cNvPr id="32" name="bd_673"/>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74"/>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100" dirty="0"/>
          </a:p>
        </p:txBody>
      </p:sp>
      <p:sp>
        <p:nvSpPr>
          <p:cNvPr id="34" name="R5_chip675"/>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do you see</a:t>
            </a:r>
            <a:endParaRPr lang="en-US" sz="1100" dirty="0"/>
          </a:p>
        </p:txBody>
      </p:sp>
      <p:sp>
        <p:nvSpPr>
          <p:cNvPr id="35" name="bd_676"/>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77"/>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100" dirty="0"/>
          </a:p>
        </p:txBody>
      </p:sp>
      <p:sp>
        <p:nvSpPr>
          <p:cNvPr id="37" name="R6_chip678"/>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incredible!</a:t>
            </a:r>
            <a:endParaRPr lang="en-US" sz="1100" dirty="0"/>
          </a:p>
        </p:txBody>
      </p:sp>
      <p:sp>
        <p:nvSpPr>
          <p:cNvPr id="38" name="bd_679"/>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80"/>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100" dirty="0"/>
          </a:p>
        </p:txBody>
      </p:sp>
      <p:sp>
        <p:nvSpPr>
          <p:cNvPr id="40" name="R7_chip681"/>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mean · guy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8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8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685"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686"/>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6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3: recitate la scena!</a:t>
            </a:r>
            <a:endParaRPr lang="en-US" sz="950" dirty="0"/>
          </a:p>
        </p:txBody>
      </p:sp>
      <p:sp>
        <p:nvSpPr>
          <p:cNvPr id="9" name="cmd_68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69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role play   ·   📖 SB pp.14–15 · Can you…? · role play adapted from the episode</a:t>
            </a:r>
            <a:endParaRPr lang="en-US" sz="800" dirty="0"/>
          </a:p>
        </p:txBody>
      </p:sp>
      <p:sp>
        <p:nvSpPr>
          <p:cNvPr id="14" name="pf_69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4" descr="/home/claude/lls-course/v2/cache/spare_future_paren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Mum, this is… · It's so nice to meet you at last!</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Sorry we're late! · Never mind.</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Not really. · I mean… · Go ahead!</a:t>
            </a:r>
            <a:endParaRPr lang="en-US" sz="1000" dirty="0"/>
          </a:p>
        </p:txBody>
      </p:sp>
      <p:sp>
        <p:nvSpPr>
          <p:cNvPr id="20" name="R1_qb69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0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Mum, this is Luca. – It's so nice to meet you at last!</a:t>
            </a:r>
            <a:endParaRPr lang="en-US" sz="1250" dirty="0"/>
          </a:p>
        </p:txBody>
      </p:sp>
      <p:sp>
        <p:nvSpPr>
          <p:cNvPr id="22" name="R2_qb70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left your cannoli on the bus! – What a pity. Never mind.</a:t>
            </a:r>
            <a:endParaRPr lang="en-US" sz="1250" dirty="0"/>
          </a:p>
        </p:txBody>
      </p:sp>
      <p:sp>
        <p:nvSpPr>
          <p:cNvPr id="24" name="R3_qb7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got a new job! – Really? How fantastic!</a:t>
            </a:r>
            <a:endParaRPr lang="en-US" sz="1250" dirty="0"/>
          </a:p>
        </p:txBody>
      </p:sp>
      <p:sp>
        <p:nvSpPr>
          <p:cNvPr id="26" name="R4_qb7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do you see your future? – Not sure. I mean, I like cooking…</a:t>
            </a:r>
            <a:endParaRPr lang="en-US" sz="1250" dirty="0"/>
          </a:p>
        </p:txBody>
      </p:sp>
      <p:sp>
        <p:nvSpPr>
          <p:cNvPr id="28" name="R5_qb70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0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 ahead – have an arancina! – I'm a chef, you know. – Really?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1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1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1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1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Exit · what can you remember?</a:t>
            </a:r>
            <a:endParaRPr lang="en-US" sz="800" dirty="0"/>
          </a:p>
        </p:txBody>
      </p:sp>
      <p:sp>
        <p:nvSpPr>
          <p:cNvPr id="13" name="bd_71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2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reactions: good news, bad news, surprising</a:t>
            </a:r>
            <a:endParaRPr lang="en-US" sz="1400" dirty="0"/>
          </a:p>
        </p:txBody>
      </p:sp>
      <p:sp>
        <p:nvSpPr>
          <p:cNvPr id="15" name="bd_72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2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phrases (I mean…)</a:t>
            </a:r>
            <a:endParaRPr lang="en-US" sz="1400" dirty="0"/>
          </a:p>
        </p:txBody>
      </p:sp>
      <p:sp>
        <p:nvSpPr>
          <p:cNvPr id="17" name="bd_72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2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news – your partner reacts!</a:t>
            </a:r>
            <a:endParaRPr lang="en-US" sz="1400" dirty="0"/>
          </a:p>
        </p:txBody>
      </p:sp>
      <p:sp>
        <p:nvSpPr>
          <p:cNvPr id="19" name="cd_72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2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2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2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1: 1a, 1b, 2, 3</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 (File 1 revision)</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72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31"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732"/>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73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3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7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Poi aggiungi: Per fortuna / Purtroppo…</a:t>
            </a:r>
            <a:endParaRPr lang="en-US" sz="950" dirty="0"/>
          </a:p>
        </p:txBody>
      </p:sp>
      <p:sp>
        <p:nvSpPr>
          <p:cNvPr id="9" name="cmd_73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3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73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Extra game · chain story</a:t>
            </a:r>
            <a:endParaRPr lang="en-US" sz="800" dirty="0"/>
          </a:p>
        </p:txBody>
      </p:sp>
      <p:sp>
        <p:nvSpPr>
          <p:cNvPr id="14" name="st_74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4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4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4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745"/>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to the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React – a DIFFERENT phrase each time!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Add: Fortunately… / Unfortunately…</a:t>
            </a:r>
            <a:endParaRPr lang="en-US" sz="1150" dirty="0"/>
          </a:p>
        </p:txBody>
      </p:sp>
      <p:sp>
        <p:nvSpPr>
          <p:cNvPr id="19" name="pf_74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47"/>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1" name="bd_748"/>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49"/>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100" dirty="0"/>
          </a:p>
        </p:txBody>
      </p:sp>
      <p:sp>
        <p:nvSpPr>
          <p:cNvPr id="23" name="R1_chip750"/>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050" dirty="0"/>
          </a:p>
        </p:txBody>
      </p:sp>
      <p:sp>
        <p:nvSpPr>
          <p:cNvPr id="24" name="bd_751"/>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52"/>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was in Rome.</a:t>
            </a:r>
            <a:endParaRPr lang="en-US" sz="1100" dirty="0"/>
          </a:p>
        </p:txBody>
      </p:sp>
      <p:sp>
        <p:nvSpPr>
          <p:cNvPr id="26" name="R2_chip753"/>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100" dirty="0"/>
          </a:p>
        </p:txBody>
      </p:sp>
      <p:sp>
        <p:nvSpPr>
          <p:cNvPr id="27" name="bd_754"/>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55"/>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had a car.</a:t>
            </a:r>
            <a:endParaRPr lang="en-US" sz="1100" dirty="0"/>
          </a:p>
        </p:txBody>
      </p:sp>
      <p:sp>
        <p:nvSpPr>
          <p:cNvPr id="29" name="R3_chip756"/>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950" dirty="0"/>
          </a:p>
        </p:txBody>
      </p:sp>
      <p:sp>
        <p:nvSpPr>
          <p:cNvPr id="30" name="bd_757"/>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58"/>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broke down in Messina.</a:t>
            </a:r>
            <a:endParaRPr lang="en-US" sz="1100" dirty="0"/>
          </a:p>
        </p:txBody>
      </p:sp>
      <p:sp>
        <p:nvSpPr>
          <p:cNvPr id="32" name="R4_chip759"/>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2026-10-11T16:14:52Z</dcterms:created>
  <dcterms:modified xsi:type="dcterms:W3CDTF">2026-10-11T16:14:52Z</dcterms:modified>
</cp:coreProperties>
</file>