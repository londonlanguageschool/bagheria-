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OPENING (2 min). Show the photo: a person pulling a sledge across the snow. Ask the THINK question: 'Would you ski 500 miles to the South Pole – for charity?' Take 3–4 quick answers (Yes! / No way – it's too cold!). Tell them: 'It's –15°C, the wind is 70 miles per hour… how would you feel?' Accept 'very cold, very tired' – today they'll learn stronger words. Read the 'Today you're going to…' list together. The photo is a generic image (the book's blog is by TV presenter Helen Skelton).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Read the examples with the class; ask 'for or since + 2012?' (since) · '+ ten years?' (for). Point out: action verbs → been + -ing; know / have / be → simple. Recall the charity quickly: 'Where is Adelante Africa? What have they built?'. Then play 'Number game!' – students make for / since sentences about Adelante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Adelante Africa (4 min)
RETRIEVAL WARMER (5 min) – recycles 2B part 1. Books closed. Format: a number-memory quiz (different from last lesson's 'Odd one out!' warmer) – the same numbers students predicted and heard in 2B-1, now recalled from memory. Two teams, one pen and paper each. Read each number aloud; teams have 30 seconds to write what it refers to AND a sentence with the present perfect (simple or continuous) + for or since. Click once per number for a model answer (facts from audio scripts 2.13 / 2.14). 1 point for the fact, +1 for a correct for / since sentence (accept any correct sentence, e.g. 'The new school has been open since 2010'). Watch for: ✗ The home is running since 2012 → ✓ has been running · ✗ since ten years → ✓ for ten years · ✗ I've been knowing → ✓ I've known. Bonus number if fast: 5 (kilos – Baby Rose's weight when she arrived). ICQs: 'Do you write only the fact?' (no – the fact AND a sentence) · 'for or since + 2012?' (since).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Lead-in · charity events (3 min)
LEAD-IN (3 min). SB 6a. First check the phrases in the purple box (TG): raise money for a good cause, take part in a charity event. Link to last lesson: Adelante Africa raises money for a school in Uganda. Questions appear ONE PER CLICK – about 40 seconds each. Example answers are only models. Feedback: 2–3 pairs. ICQ: 'Can you just say yes or no?' (no – give an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Reading · key words first (2 min)
PRE-TEACH BLOCKING WORDS ONLY (2 min). TG: make sure students know what a blog is (example 0). Pairs guess the meaning; click once per word – each answer gives the meaning AND the Italian (consolidation on the same slide). Use the photo for kite-skiing. Drill: sledge /sledʒ/, trek /trek/. Don't teach other words from the blog now – the strong adjectives come later (they are the gaps in the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Reading · the introduction (3 min)
READING · INTRODUCTION (3 min). SB 6b, adapted: pairs put the words from the yellow box into gaps 1–4 (1 min), then click once per line – the answer appears highlighted IN the text. Answers (SB p.22): 1 78(-mile) · 2 3,200 · 3 heat · 4 500(-mile). Then the book's two questions (in the yellow box). TG key: 1 She's run an ultra marathon in Namibia and she's kayaked down the Amazon. 2 A polar challenge – a 500-mile journey to the South Pole; it's different because the cold, rather than the heat, might be a problem. Notice the present perfect from last lesson: She has run… she has kayaked… (experiences, no time). TG extra support: 'How is Helen going to get there?' (skiing, kite-skiing and cycling). Text slightly shortened (Nauta–Almeirim route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Reading · order of events (4 min)
READING · ORDER (4 min). SB 6c: the blog entries A–I are mixed up; B (My first night in Antarctica) is number 1. Students use the highlighted time clues (the book's yellow phrases, shortened on the slide) to number the others 2–9. Tip: underline the time words first (four days, first day, second day, halfway, 150 miles from…, over a month, completed). Pairs compare, then click once per entry (rows are in letter order – the coloured row numbers are NOT the answers). Answers (TG): 2 D · 3 I · 4 C · 5 E · 6 H · 7 F · 8 A · 9 G. ICQ: 'Which entry is number 1?' (B) · 'Do you read everything now?' (no – only the first lines). The next three slides show the blog in the right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Reading · the blog (1) (2 min)
READING (2 min). The blog in the RIGHT order, entries 1–3 (shortened; facts unchanged). Students read silently (90 seconds) and guess gap 1 – a word that means 'very cold' (SB 7a, sentence 2). Click: the answer appears in the text. Answer: freezing (= very cold). Ask: 'Why can't they train?' (a huge snowstorm – they had to stay in the tent). Don't teach strong adjectives yet – just 'What do you think it means?'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Reading · the blog (2) (2 min)
READING (2 min). Entries 4–6. Students read and guess gaps 2 and 3 (SB 7a, sentences 1 and 3): 2 = very tired, 3 = very dirty. Click once per gap. Answers: 2 exhausted (= very tired) · 3 filthy (= very dirty). Point at the words before them: completely exhausted, absolutely filthy – NOT 'very exhausted' (the Strong adjectives box – taught on slide 11). Quick question: 'How far did they go on the kite-skis?' (41 miles).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Reading · the blog (3) (2 min)
READING (2 min). Entries 7–9. Gap 4: a science-fiction character with a black mask (students love guessing!) → Darth Vader. Gap 5: what do you do when you're very emotional? → cried. Click once per gap. Ask: 'How long did the journey take?' (18 days) · 'Who did she phone?' (her dad). React: 'Would YOU cry?'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Reading · detail (3 min)
READING FOR DETAIL (3 min). SB 6d: in which entry does Helen mention…? Pairs answer from memory first (a challenge!), then go back to slides 7–9 to check if they disagree. Click once per item: the entry letter AND the evidence. Answers (TG): feeling very emotional G (I cried) · how beautiful Antarctica is B (the scenery was incredible) · looking forward to a wash H (example) · having to wear the same clothes every day I (I'm not going to get clean clothes again for three weeks!) · travelling quickly for the first time E (straight away we were travelling fast) · looking like a science fiction character A (Darth Vader) · not being able to go outside D (we've had to stay in the tent) · stopping cycling because she was very tired C (completely exhausted) · stopping using one method of transport F (only bikes and cross-country skis, not kite-skis). Then 6e (if time, 1 min): 'Which day would be the worst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Vocabulary · strong adjectives (1) (3 min)
VOCABULARY (3 min). First the Strong adjectives box (SB p.22): 'exhausted, freezing and filthy are STRONG adjectives = very tired, very cold, very dirty. With strong adjectives you can use absolutely, completely, really or totally – but NOT very (✗ very exhausted).' Then SB 7b: pairs read B's answer and write the normal adjective in A's question (1 = the book's example). Play 2.20 (1–6) to check; click once per line. Answers (TG): 1 angry · 2 small · 3 afraid · 4 interesting · 5 hungry · 6 big (huge OR enormous). Play again, pausing: students repeat B's answer and copy the STRONG stress (I'm STARving!). TG: strong adjectives are not literal – starving = very hungry, not dying of hunger. Drill: furious /ˈfjʊəriəs/, huge /hjuːdʒ/, terrified /ˈterɪfaɪd/.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Vocabulary · strong adjectives (2) (3 min)
VOCABULARY (3 min). Same procedure for 7–12. Play 2.20 (7–12); click once per line. Answers (TG): 7 hot · 8 dirty · 9 pleased · 10 funny · 11 sure · 12 surprised. TG notes: amazed = very surprised, but amazing = very surprising OR very good (an amazing film) · delighted can also mean very happy · positive here = very sure. Then pairs read all 12 mini-dialogues aloud (A / B, then swap), stressing the strong adjective. 2–3 pairs perform. Drill filthy /ˈfɪlθi/ (th!), hilarious /hɪˈleəriəs/, delighted /dɪˈlaɪtɪd/ (-ed = /ɪd/ after 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Vocabulary · in Italian (2 min)
CONSOLIDATION for slower students (2 min). The class says the Italian for each word, then ONE click shows all the Italian (and the warning line). 20 seconds on the warning: never 'very' + a strong adjective. CCQs: 'I'm starving – am I going to die?' (no – I'm very hungry) · 'The film was hilarious – did we laugh a little?' (no – a lot) · 'Can I say very furious?' (no – absolutely furious). FALSE FRIEND note: positive = very sure here (not 'ottimista').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Vocabulary game (4 min)
GAME 2 (4 min). Replaces / prepares SB 7d (Communication 'Are you hungry?', A p.106, B p.111 – the same idea: answer a normal question with a strong adjective). Read each question aloud with a 'normal' voice; the first team to answer with the right strong adjective AND strong stress wins the point ('very' = no point). Click to show a model answer. Then pairs do the book activity (pp.106 / 111) or ask each other the six questions – SECOND ROUND FASTER (TG). TG extra support questions: Is an elephant big? Are you frightened of snakes? Was the book good? ICQ: 'Can you say very freezing?'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Speaking game · story chain (4 min)
GAME 3 (4 min). A chain story about a school trip where EVERYTHING went wrong (like Helen's snowstorm, soft snow and filthy hair). Show each sentence start; teams have 20 seconds to finish it with a strong adjective they haven't used yet. Click to show an example ending. Point for the funniest correct ending (the class votes with a show of hands). No adjective, a repeated adjective, or 'very + strong adjective' = no point. FAST FINISHERS / extra minute: groups of 3 invent their own 'worst trip' – each person adds one sentence with a different strong adjective; one group tells its story to the class. ICQ: 'Can you use starving twice?'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Speaking · strong adjectives (4 min)
SPEAKING (4 min). SB 7e (question 2 adapted: 'in your country' → here). TG extra support: answer one question yourself first, giving lots of detail. Questions appear ONE PER CLICK – about 45 seconds each. Each answer needs a strong adjective (freezing, furious, terrified, boiling, hilarious) and a detail; the partner asks one follow-up question. Monitor; note 4–5 errors (especially 'very + strong adjective' and flat stress) for 1 minute of delayed correction at the end. Feedback: 2–3 students tell the class their partner's best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Video listening · The Great OUP Bake Sale (9 min)
VIDEO LISTENING (9 min). ⚠ The video is NOT inside this deck: play EF_INT_2B_THE_GREAT_OUP_BAKE_SALE.mp4 (LLS course folder b1/video/) or Online Practice 2B. BEFORE watching (1 min): look at the five cakes in the book (SB p.23) and read the list on the slide – the questions are on screen before they watch. TG extra support – pre-teach if needed: buttercream (butter + sugar), a sponge cake, blueberries, cookies, a loaf cake, icing. Watch ONCE all the way through (7.5 min) and do 8a + 8b together. TG EXTRA IDEA: pause at 05:27 ('And then to choose the winner') – pairs predict the winner. Click once per line. Answers (TG): 8a the winning cake is number 2, the Neapolitan cake (Laura's) – does it look the best? 8b 1 New York Marathon: an example of raising money – about $40 million every year · 2 The Great British Bake Off: TV programme that made baking and bake sales very popular · 3 Macmillan Cancer Support and Adelante Africa: the two charities · 4 Daisy Watt: a chef, one of the judges (example) · 5 Viennese Whirls: the biscuits Emma is making · 6 Emma: baking is a stress-reliever for her · 7 James: a sponge cake with blueberries · 8 baking with kids: when James bakes, it's usually with his kids, something easy like cookies · 9 the decoration: what Daisy is looking for (real effort) · 10 £270: the sale raised over £270. Link: Adelante Africa = last lesson's charity! If short of time: set the video for homework on Online Practice and do the exit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Exit · what can you remember? (2 min)
RETRIEVAL EXIT (2 min). Books closed. Pairs: 3 strong adjectives with the normal one (starving = very hungry), 2 things that happened to Helen (snowstorm, exhausted after nine hours of cycling, filthy hair, she cried…), 1 true sentence: 'I was absolutely exhausted after…'. A few students share – check the stress. Set homework (on the slide and in the app): Workbook 2B 3a–3d + learn the strong adjectives (cover one column and test yourself) + the 2B-2 homework sheet (easier version available). If the video wasn't watched in class: Online Practice 2B Video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Extra · an exciting experience (4 min)
EXTRA (4 min, if there's time). SB 6e: tell your partner about an adventure sport you've done or an exciting experience you've had. Was it a positive experience? Why (not)? How did you feel? TG: tell the class about your own experience first. Questions appear one per click. Answers can be invented. Strong adjectives with -ing / -ed (terrifying / terrified, amazing / amazed) – accept both, and note that -ed / -ing adjectives come later in the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Extra · project (6 min)
EXTRA (6 min). TG EXTRA IDEA: the class could organize a real bake sale for a local charity. Recycles future forms from 1B (going to, will) and money words from 2A (charge, raise). Questions one per click. Keep the charity choice neutral and local. Each group presents in 1 minute; class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audio" Target="../media/media-12-5.mp3"/><Relationship Id="rId6" Type="http://schemas.microsoft.com/office/2007/relationships/media" Target="../media/media-12-5.mp3"/><Relationship Id="rId7" Type="http://schemas.openxmlformats.org/officeDocument/2006/relationships/image" Target="../media/image-12-7.png"/><Relationship Id="rId8" Type="http://schemas.openxmlformats.org/officeDocument/2006/relationships/slideLayout" Target="../slideLayouts/slideLayout1.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audio" Target="../media/media-13-5.mp3"/><Relationship Id="rId6" Type="http://schemas.microsoft.com/office/2007/relationships/media" Target="../media/media-13-5.mp3"/><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slideLayout" Target="../slideLayouts/slideLayout1.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slideLayout" Target="../slideLayouts/slideLayout1.xml"/><Relationship Id="rId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pp.22–23</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2B-2</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Changing lives</a:t>
            </a:r>
            <a:endParaRPr lang="en-US" sz="24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Charity challenges · strong adjectives</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talk about charity challenges</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read a blog from Antarctica</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use strong adjectives: I'm starving!</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watch a video about a charity bake sale</a:t>
            </a:r>
            <a:endParaRPr lang="en-US" sz="125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25400" tIns="152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No, I wouldn't – I hate the cold!</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2b2_cover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50800" tIns="1270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500 miles to the South Pole. Would you do it?</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THINK · PENSA</a:t>
            </a:r>
            <a:endParaRPr lang="en-US" sz="110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5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8" name="insIT_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Cosa abbiamo imparato? Leggi gli esempi.</a:t>
            </a:r>
            <a:endParaRPr lang="en-US" sz="950" dirty="0"/>
          </a:p>
        </p:txBody>
      </p:sp>
      <p:sp>
        <p:nvSpPr>
          <p:cNvPr id="9" name="cmd_23"/>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300" dirty="0"/>
          </a:p>
        </p:txBody>
      </p:sp>
      <p:sp>
        <p:nvSpPr>
          <p:cNvPr id="10" name="meta_24"/>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pic>
        <p:nvPicPr>
          <p:cNvPr id="11" name="logo_2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2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2B-2 · Revision · last lesson</a:t>
            </a:r>
            <a:endParaRPr lang="en-US" sz="800" dirty="0"/>
          </a:p>
        </p:txBody>
      </p:sp>
      <p:sp>
        <p:nvSpPr>
          <p:cNvPr id="13" name="pf_27"/>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28" descr="/home/claude/lls-course/v2/cache/2b1_volunteer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5" name="cd_29"/>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30"/>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31"/>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8" name="il_32"/>
          <p:cNvSpPr/>
          <p:nvPr/>
        </p:nvSpPr>
        <p:spPr>
          <a:xfrm>
            <a:off x="886968" y="3858768"/>
            <a:ext cx="208483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2B: Adelante Africa</a:t>
            </a:r>
            <a:endParaRPr lang="en-US" sz="1100" dirty="0"/>
          </a:p>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How long…? + for / since</a:t>
            </a:r>
            <a:endParaRPr lang="en-US" sz="1100" dirty="0"/>
          </a:p>
        </p:txBody>
      </p:sp>
      <p:sp>
        <p:nvSpPr>
          <p:cNvPr id="19" name="cd_33"/>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0" name="rh_34"/>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PP continuous + for / since</a:t>
            </a:r>
            <a:endParaRPr lang="en-US" sz="1200" dirty="0"/>
          </a:p>
        </p:txBody>
      </p:sp>
      <p:sp>
        <p:nvSpPr>
          <p:cNvPr id="21" name="rl_35"/>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How long have you been learning English?</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It's been raining since lunchtime.</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The home has been running since 2012.</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for + a period · since + a start point</a:t>
            </a:r>
            <a:endParaRPr lang="en-US" sz="1150" dirty="0"/>
          </a:p>
        </p:txBody>
      </p:sp>
      <p:sp>
        <p:nvSpPr>
          <p:cNvPr id="22" name="cd_36"/>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3" name="rh_37"/>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PP simple (no -ing verbs)</a:t>
            </a:r>
            <a:endParaRPr lang="en-US" sz="1200" dirty="0"/>
          </a:p>
        </p:txBody>
      </p:sp>
      <p:sp>
        <p:nvSpPr>
          <p:cNvPr id="24" name="rl_38"/>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They've known each other for years.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I've had this bag since 2019.</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They've started 11 groups since 2011.</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 been knowing → ✓ known</a:t>
            </a:r>
            <a:endParaRPr lang="en-US" sz="1150" dirty="0"/>
          </a:p>
        </p:txBody>
      </p:sp>
      <p:sp>
        <p:nvSpPr>
          <p:cNvPr id="25" name="kw_39"/>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6" name="w_40"/>
          <p:cNvSpPr/>
          <p:nvPr/>
        </p:nvSpPr>
        <p:spPr>
          <a:xfrm>
            <a:off x="3246120" y="4178808"/>
            <a:ext cx="1019556"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a charity</a:t>
            </a:r>
            <a:endParaRPr lang="en-US" sz="1050" dirty="0"/>
          </a:p>
        </p:txBody>
      </p:sp>
      <p:sp>
        <p:nvSpPr>
          <p:cNvPr id="27" name="w_41"/>
          <p:cNvSpPr/>
          <p:nvPr/>
        </p:nvSpPr>
        <p:spPr>
          <a:xfrm>
            <a:off x="4338828" y="4178808"/>
            <a:ext cx="1019556"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an orphan</a:t>
            </a:r>
            <a:endParaRPr lang="en-US" sz="1050" dirty="0"/>
          </a:p>
        </p:txBody>
      </p:sp>
      <p:sp>
        <p:nvSpPr>
          <p:cNvPr id="28" name="w_42"/>
          <p:cNvSpPr/>
          <p:nvPr/>
        </p:nvSpPr>
        <p:spPr>
          <a:xfrm>
            <a:off x="5431536" y="4178808"/>
            <a:ext cx="1175004"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raise money</a:t>
            </a:r>
            <a:endParaRPr lang="en-US" sz="1050" dirty="0"/>
          </a:p>
        </p:txBody>
      </p:sp>
      <p:sp>
        <p:nvSpPr>
          <p:cNvPr id="29" name="w_43"/>
          <p:cNvSpPr/>
          <p:nvPr/>
        </p:nvSpPr>
        <p:spPr>
          <a:xfrm>
            <a:off x="6679692" y="4178808"/>
            <a:ext cx="786384"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set up</a:t>
            </a:r>
            <a:endParaRPr lang="en-US" sz="1050" dirty="0"/>
          </a:p>
        </p:txBody>
      </p:sp>
      <p:sp>
        <p:nvSpPr>
          <p:cNvPr id="30" name="w_44"/>
          <p:cNvSpPr/>
          <p:nvPr/>
        </p:nvSpPr>
        <p:spPr>
          <a:xfrm>
            <a:off x="7539228" y="4178808"/>
            <a:ext cx="1175004"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a volunteer</a:t>
            </a:r>
            <a:endParaRPr lang="en-US" sz="1050" dirty="0"/>
          </a:p>
        </p:txBody>
      </p:sp>
      <p:sp>
        <p:nvSpPr>
          <p:cNvPr id="31" name="w_45"/>
          <p:cNvSpPr/>
          <p:nvPr/>
        </p:nvSpPr>
        <p:spPr>
          <a:xfrm>
            <a:off x="3246120" y="4544568"/>
            <a:ext cx="1097280"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How long…?</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6"/>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47"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48"/>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Number game!</a:t>
            </a:r>
            <a:endParaRPr lang="en-US" sz="2500" dirty="0"/>
          </a:p>
        </p:txBody>
      </p:sp>
      <p:pic>
        <p:nvPicPr>
          <p:cNvPr id="6" name="brP_49" descr="/home/claude/lls-course/v2/assets/brush-pink.png">    </p:cNvPr>
          <p:cNvPicPr>
            <a:picLocks noChangeAspect="1"/>
          </p:cNvPicPr>
          <p:nvPr/>
        </p:nvPicPr>
        <p:blipFill>
          <a:blip r:embed="rId3"/>
          <a:stretch>
            <a:fillRect/>
          </a:stretch>
        </p:blipFill>
        <p:spPr>
          <a:xfrm>
            <a:off x="1207008" y="731520"/>
            <a:ext cx="4727448" cy="402336"/>
          </a:xfrm>
          <a:prstGeom prst="rect">
            <a:avLst/>
          </a:prstGeom>
        </p:spPr>
      </p:pic>
      <p:sp>
        <p:nvSpPr>
          <p:cNvPr id="7" name="ins_50"/>
          <p:cNvSpPr/>
          <p:nvPr/>
        </p:nvSpPr>
        <p:spPr>
          <a:xfrm>
            <a:off x="1353312" y="731520"/>
            <a:ext cx="447141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number. What is it? Use for or since!</a:t>
            </a:r>
            <a:endParaRPr lang="en-US" sz="1250" dirty="0"/>
          </a:p>
        </p:txBody>
      </p:sp>
      <p:sp>
        <p:nvSpPr>
          <p:cNvPr id="8" name="insIT_5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il numero. Cos'è? Usa for o since!</a:t>
            </a:r>
            <a:endParaRPr lang="en-US" sz="950" dirty="0"/>
          </a:p>
        </p:txBody>
      </p:sp>
      <p:sp>
        <p:nvSpPr>
          <p:cNvPr id="9" name="cmd_52"/>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300" dirty="0"/>
          </a:p>
        </p:txBody>
      </p:sp>
      <p:sp>
        <p:nvSpPr>
          <p:cNvPr id="10" name="meta_53"/>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pic>
        <p:nvPicPr>
          <p:cNvPr id="11" name="logo_5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5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2B-2 · Warmer · last lesson: Adelante Africa   ·   📖 Recycles 2B part 1 · audio 2.13, 2.14 · present perfect + for / since</a:t>
            </a:r>
            <a:endParaRPr lang="en-US" sz="800" dirty="0"/>
          </a:p>
        </p:txBody>
      </p:sp>
      <p:sp>
        <p:nvSpPr>
          <p:cNvPr id="13" name="cd_56"/>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5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58"/>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6" name="il_59"/>
          <p:cNvSpPr/>
          <p:nvPr/>
        </p:nvSpPr>
        <p:spPr>
          <a:xfrm>
            <a:off x="886968" y="1892808"/>
            <a:ext cx="2039112" cy="1508760"/>
          </a:xfrm>
          <a:prstGeom prst="rect">
            <a:avLst/>
          </a:prstGeom>
          <a:noFill/>
          <a:ln/>
        </p:spPr>
        <p:txBody>
          <a:bodyPr wrap="square" lIns="0" tIns="0" rIns="0" bIns="0" rtlCol="0" anchor="t">
            <a:normAutofit/>
          </a:bodyPr>
          <a:lstStyle/>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Read the number.</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Teams: what is it? Make a sentence with for or since.</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Fact = 1 point. Correct sentence = +1.</a:t>
            </a:r>
            <a:endParaRPr lang="en-US" sz="1150" dirty="0"/>
          </a:p>
        </p:txBody>
      </p:sp>
      <p:sp>
        <p:nvSpPr>
          <p:cNvPr id="17" name="st_60"/>
          <p:cNvSpPr/>
          <p:nvPr/>
        </p:nvSpPr>
        <p:spPr>
          <a:xfrm rot="-180000">
            <a:off x="502920" y="3703320"/>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TEAM A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TEAM B  ☆☆☆☆☆</a:t>
            </a:r>
            <a:endParaRPr lang="en-US" sz="1300" dirty="0"/>
          </a:p>
        </p:txBody>
      </p:sp>
      <p:sp>
        <p:nvSpPr>
          <p:cNvPr id="18" name="bd_61"/>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9" name="gq_62"/>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2008</a:t>
            </a:r>
            <a:endParaRPr lang="en-US" sz="1100" dirty="0"/>
          </a:p>
        </p:txBody>
      </p:sp>
      <p:sp>
        <p:nvSpPr>
          <p:cNvPr id="20" name="R1_chip63"/>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Adelante Africa started. It's been helping since 2008.</a:t>
            </a:r>
            <a:endParaRPr lang="en-US" sz="1100" dirty="0"/>
          </a:p>
        </p:txBody>
      </p:sp>
      <p:sp>
        <p:nvSpPr>
          <p:cNvPr id="21" name="bd_64"/>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2" name="gq_65"/>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75</a:t>
            </a:r>
            <a:endParaRPr lang="en-US" sz="1100" dirty="0"/>
          </a:p>
        </p:txBody>
      </p:sp>
      <p:sp>
        <p:nvSpPr>
          <p:cNvPr id="23" name="R2_chip66"/>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children at the new school when it opened in 2010</a:t>
            </a:r>
            <a:endParaRPr lang="en-US" sz="1100" dirty="0"/>
          </a:p>
        </p:txBody>
      </p:sp>
      <p:sp>
        <p:nvSpPr>
          <p:cNvPr id="24" name="bd_67"/>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gq_68"/>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2012</a:t>
            </a:r>
            <a:endParaRPr lang="en-US" sz="1100" dirty="0"/>
          </a:p>
        </p:txBody>
      </p:sp>
      <p:sp>
        <p:nvSpPr>
          <p:cNvPr id="26" name="R3_chip69"/>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The children's home has been running since 2012.</a:t>
            </a:r>
            <a:endParaRPr lang="en-US" sz="1100" dirty="0"/>
          </a:p>
        </p:txBody>
      </p:sp>
      <p:sp>
        <p:nvSpPr>
          <p:cNvPr id="27" name="bd_70"/>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gq_71"/>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57</a:t>
            </a:r>
            <a:endParaRPr lang="en-US" sz="1100" dirty="0"/>
          </a:p>
        </p:txBody>
      </p:sp>
      <p:sp>
        <p:nvSpPr>
          <p:cNvPr id="29" name="R4_chip72"/>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children live in the children's home now</a:t>
            </a:r>
            <a:endParaRPr lang="en-US" sz="1100" dirty="0"/>
          </a:p>
        </p:txBody>
      </p:sp>
      <p:sp>
        <p:nvSpPr>
          <p:cNvPr id="30" name="bd_73"/>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1" name="gq_74"/>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11</a:t>
            </a:r>
            <a:endParaRPr lang="en-US" sz="1100" dirty="0"/>
          </a:p>
        </p:txBody>
      </p:sp>
      <p:sp>
        <p:nvSpPr>
          <p:cNvPr id="32" name="R5_chip75"/>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They've started 11 more FAL groups since 2011.</a:t>
            </a:r>
            <a:endParaRPr lang="en-US" sz="1100" dirty="0"/>
          </a:p>
        </p:txBody>
      </p:sp>
      <p:sp>
        <p:nvSpPr>
          <p:cNvPr id="33" name="bd_76"/>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4" name="gq_77"/>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10+</a:t>
            </a:r>
            <a:endParaRPr lang="en-US" sz="1100" dirty="0"/>
          </a:p>
        </p:txBody>
      </p:sp>
      <p:sp>
        <p:nvSpPr>
          <p:cNvPr id="35" name="R6_chip78"/>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Jane has been working with them for over ten years.</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0"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81"/>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Charity events</a:t>
            </a:r>
            <a:endParaRPr lang="en-US" sz="2500" dirty="0"/>
          </a:p>
        </p:txBody>
      </p:sp>
      <p:pic>
        <p:nvPicPr>
          <p:cNvPr id="6" name="brP_82"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83"/>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Then ask: What did you do?</a:t>
            </a:r>
            <a:endParaRPr lang="en-US" sz="1250" dirty="0"/>
          </a:p>
        </p:txBody>
      </p:sp>
      <p:sp>
        <p:nvSpPr>
          <p:cNvPr id="8" name="insIT_8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Rispondi. Poi chiedi: Cosa hai fatto?</a:t>
            </a:r>
            <a:endParaRPr lang="en-US" sz="950" dirty="0"/>
          </a:p>
        </p:txBody>
      </p:sp>
      <p:sp>
        <p:nvSpPr>
          <p:cNvPr id="9" name="cmd_85"/>
          <p:cNvSpPr/>
          <p:nvPr/>
        </p:nvSpPr>
        <p:spPr>
          <a:xfrm>
            <a:off x="6583680" y="182880"/>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0" name="meta_86"/>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1" name="logo_8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8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2B-2 · Lead-in · charity events   ·   📖 SB p.22 · 6a</a:t>
            </a:r>
            <a:endParaRPr lang="en-US" sz="800" dirty="0"/>
          </a:p>
        </p:txBody>
      </p:sp>
      <p:sp>
        <p:nvSpPr>
          <p:cNvPr id="13" name="pf_89"/>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90" descr="/home/claude/lls-course/v2/cache/2b2_charity_run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5" name="cd_91"/>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6" name="ii_92"/>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93"/>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8" name="il_94"/>
          <p:cNvSpPr/>
          <p:nvPr/>
        </p:nvSpPr>
        <p:spPr>
          <a:xfrm>
            <a:off x="886968" y="3904488"/>
            <a:ext cx="213055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raise money for a good cause = raccogliere fondi</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take part in = partecipare a</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a charity = un ente benefico</a:t>
            </a:r>
            <a:endParaRPr lang="en-US" sz="1050" dirty="0"/>
          </a:p>
        </p:txBody>
      </p:sp>
      <p:sp>
        <p:nvSpPr>
          <p:cNvPr id="19" name="R1_qb95"/>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R1_sq96"/>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Are there charity events in Bagheria or Palermo? What kind?</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I think there are charity runs and concerts.</a:t>
            </a:r>
            <a:endParaRPr lang="en-US" sz="1250" dirty="0"/>
          </a:p>
        </p:txBody>
      </p:sp>
      <p:sp>
        <p:nvSpPr>
          <p:cNvPr id="21" name="R2_qb97"/>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2" name="R2_sq98"/>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Have you ever taken part in one? What did you do?</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 I did a 5 km fun run with my school.</a:t>
            </a:r>
            <a:endParaRPr lang="en-US" sz="1250" dirty="0"/>
          </a:p>
        </p:txBody>
      </p:sp>
      <p:sp>
        <p:nvSpPr>
          <p:cNvPr id="23" name="R3_qb99"/>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4" name="R3_sq100"/>
          <p:cNvSpPr/>
          <p:nvPr/>
        </p:nvSpPr>
        <p:spPr>
          <a:xfrm>
            <a:off x="3675888" y="2624328"/>
            <a:ext cx="45079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How much money did you raise? For what good cause?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We raised about €300 for a children's hospital.</a:t>
            </a:r>
            <a:endParaRPr lang="en-US" sz="1250" dirty="0"/>
          </a:p>
        </p:txBody>
      </p:sp>
      <p:pic>
        <p:nvPicPr>
          <p:cNvPr id="25" name="R3_th101" descr="/home/claude/lls-course/v2/cache/spare_future_money_jpg_154x119_18.png">    </p:cNvPr>
          <p:cNvPicPr>
            <a:picLocks noChangeAspect="1"/>
          </p:cNvPicPr>
          <p:nvPr/>
        </p:nvPicPr>
        <p:blipFill>
          <a:blip r:embed="rId6"/>
          <a:stretch>
            <a:fillRect/>
          </a:stretch>
        </p:blipFill>
        <p:spPr>
          <a:xfrm>
            <a:off x="8257032" y="2642616"/>
            <a:ext cx="640080" cy="493776"/>
          </a:xfrm>
          <a:prstGeom prst="rect">
            <a:avLst/>
          </a:prstGeom>
        </p:spPr>
      </p:pic>
      <p:sp>
        <p:nvSpPr>
          <p:cNvPr id="26" name="R4_qb102"/>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103"/>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Would you do a challenge for charity? Which one?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Maybe a marathon – but not in the snow!</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par>
                                <p:cTn id="27" presetID="10" presetClass="entr" presetSubtype="0" fill="hold" nodeType="withEffect">
                                  <p:stCondLst>
                                    <p:cond delay="0"/>
                                  </p:stCondLst>
                                  <p:childTnLst>
                                    <p:set>
                                      <p:cBhvr>
                                        <p:cTn id="28" dur="1" fill="hold">
                                          <p:stCondLst>
                                            <p:cond delay="0"/>
                                          </p:stCondLst>
                                        </p:cTn>
                                        <p:tgtEl>
                                          <p:spTgt spid="25"/>
                                        </p:tgtEl>
                                        <p:attrNameLst>
                                          <p:attrName>style.visibility</p:attrName>
                                        </p:attrNameLst>
                                      </p:cBhvr>
                                      <p:to>
                                        <p:strVal val="visible"/>
                                      </p:to>
                                    </p:set>
                                    <p:animEffect transition="in" filter="fade">
                                      <p:cBhvr>
                                        <p:cTn id="29" dur="400"/>
                                        <p:tgtEl>
                                          <p:spTgt spid="25"/>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par>
                                <p:cTn id="35" presetID="10" presetClass="entr" presetSubtype="0" fill="hold"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04"/>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05" descr="/home/claude/lls-course/v2/assets/brush-yellow.png">    </p:cNvPr>
          <p:cNvPicPr>
            <a:picLocks noChangeAspect="1"/>
          </p:cNvPicPr>
          <p:nvPr/>
        </p:nvPicPr>
        <p:blipFill>
          <a:blip r:embed="rId2"/>
          <a:stretch>
            <a:fillRect/>
          </a:stretch>
        </p:blipFill>
        <p:spPr>
          <a:xfrm>
            <a:off x="1097280" y="146304"/>
            <a:ext cx="2461565" cy="621792"/>
          </a:xfrm>
          <a:prstGeom prst="rect">
            <a:avLst/>
          </a:prstGeom>
        </p:spPr>
      </p:pic>
      <p:sp>
        <p:nvSpPr>
          <p:cNvPr id="5" name="title_106"/>
          <p:cNvSpPr/>
          <p:nvPr/>
        </p:nvSpPr>
        <p:spPr>
          <a:xfrm>
            <a:off x="1261872" y="164592"/>
            <a:ext cx="218724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Polar words</a:t>
            </a:r>
            <a:endParaRPr lang="en-US" sz="2500" dirty="0"/>
          </a:p>
        </p:txBody>
      </p:sp>
      <p:pic>
        <p:nvPicPr>
          <p:cNvPr id="6" name="brP_107"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108"/>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meaning. Then click.</a:t>
            </a:r>
            <a:endParaRPr lang="en-US" sz="1250" dirty="0"/>
          </a:p>
        </p:txBody>
      </p:sp>
      <p:sp>
        <p:nvSpPr>
          <p:cNvPr id="8" name="insIT_10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il significato. Poi clicca.</a:t>
            </a:r>
            <a:endParaRPr lang="en-US" sz="950" dirty="0"/>
          </a:p>
        </p:txBody>
      </p:sp>
      <p:sp>
        <p:nvSpPr>
          <p:cNvPr id="9" name="cmd_110"/>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300" dirty="0"/>
          </a:p>
        </p:txBody>
      </p:sp>
      <p:sp>
        <p:nvSpPr>
          <p:cNvPr id="10" name="meta_111"/>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11" name="logo_11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11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2B-2 · Reading · key words first   ·   📖 SB p.22 · 6b, 6c (TG extra support: pre-teach)</a:t>
            </a:r>
            <a:endParaRPr lang="en-US" sz="800" dirty="0"/>
          </a:p>
        </p:txBody>
      </p:sp>
      <p:sp>
        <p:nvSpPr>
          <p:cNvPr id="13" name="cd_114"/>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115"/>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116"/>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6" name="il_117"/>
          <p:cNvSpPr/>
          <p:nvPr/>
        </p:nvSpPr>
        <p:spPr>
          <a:xfrm>
            <a:off x="886968" y="1892808"/>
            <a:ext cx="2039112" cy="5486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a blog → a website where someone writes about their life, with photos · un blog</a:t>
            </a:r>
            <a:endParaRPr lang="en-US" sz="1050" dirty="0"/>
          </a:p>
        </p:txBody>
      </p:sp>
      <p:sp>
        <p:nvSpPr>
          <p:cNvPr id="17" name="pf_118"/>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119" descr="/home/claude/lls-course/v2/cache/2b2_kite_ski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19" name="bd_120"/>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q_121"/>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sledge</a:t>
            </a:r>
            <a:endParaRPr lang="en-US" sz="1150" dirty="0"/>
          </a:p>
        </p:txBody>
      </p:sp>
      <p:sp>
        <p:nvSpPr>
          <p:cNvPr id="21" name="R1_chip122"/>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you pull it on the snow with your things · una slitta</a:t>
            </a:r>
            <a:endParaRPr lang="en-US" sz="1000" dirty="0"/>
          </a:p>
        </p:txBody>
      </p:sp>
      <p:sp>
        <p:nvSpPr>
          <p:cNvPr id="22" name="bd_123"/>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3" name="q_124"/>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trek</a:t>
            </a:r>
            <a:endParaRPr lang="en-US" sz="1150" dirty="0"/>
          </a:p>
        </p:txBody>
      </p:sp>
      <p:sp>
        <p:nvSpPr>
          <p:cNvPr id="24" name="R2_chip125"/>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long, hard journey · una lunga traversata</a:t>
            </a:r>
            <a:endParaRPr lang="en-US" sz="1000" dirty="0"/>
          </a:p>
        </p:txBody>
      </p:sp>
      <p:sp>
        <p:nvSpPr>
          <p:cNvPr id="25" name="bd_126"/>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6" name="q_127"/>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kite-skiing</a:t>
            </a:r>
            <a:endParaRPr lang="en-US" sz="1150" dirty="0"/>
          </a:p>
        </p:txBody>
      </p:sp>
      <p:sp>
        <p:nvSpPr>
          <p:cNvPr id="27" name="R3_chip128"/>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skiing pulled by a big kite · sci con l'aquilone</a:t>
            </a:r>
            <a:endParaRPr lang="en-US" sz="1000" dirty="0"/>
          </a:p>
        </p:txBody>
      </p:sp>
      <p:sp>
        <p:nvSpPr>
          <p:cNvPr id="28" name="bd_129"/>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9" name="q_130"/>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set off</a:t>
            </a:r>
            <a:endParaRPr lang="en-US" sz="1150" dirty="0"/>
          </a:p>
        </p:txBody>
      </p:sp>
      <p:sp>
        <p:nvSpPr>
          <p:cNvPr id="30" name="R4_chip131"/>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start a journey · partire</a:t>
            </a:r>
            <a:endParaRPr lang="en-US" sz="1000" dirty="0"/>
          </a:p>
        </p:txBody>
      </p:sp>
      <p:sp>
        <p:nvSpPr>
          <p:cNvPr id="31" name="bd_132"/>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2" name="q_133"/>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halfway checkpoint</a:t>
            </a:r>
            <a:endParaRPr lang="en-US" sz="1150" dirty="0"/>
          </a:p>
        </p:txBody>
      </p:sp>
      <p:sp>
        <p:nvSpPr>
          <p:cNvPr id="33" name="R5_chip134"/>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 stop in the middle of the journey · la tappa a metà</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35"/>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36"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37"/>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Who is Helen Skelton?</a:t>
            </a:r>
            <a:endParaRPr lang="en-US" sz="2500" dirty="0"/>
          </a:p>
        </p:txBody>
      </p:sp>
      <p:pic>
        <p:nvPicPr>
          <p:cNvPr id="6" name="brP_138"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139"/>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Put the words in gaps 1–4.</a:t>
            </a:r>
            <a:endParaRPr lang="en-US" sz="1250" dirty="0"/>
          </a:p>
        </p:txBody>
      </p:sp>
      <p:sp>
        <p:nvSpPr>
          <p:cNvPr id="8" name="insIT_14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Metti le parole negli spazi 1–4.</a:t>
            </a:r>
            <a:endParaRPr lang="en-US" sz="950" dirty="0"/>
          </a:p>
        </p:txBody>
      </p:sp>
      <p:sp>
        <p:nvSpPr>
          <p:cNvPr id="9" name="cmd_141"/>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300" dirty="0"/>
          </a:p>
        </p:txBody>
      </p:sp>
      <p:sp>
        <p:nvSpPr>
          <p:cNvPr id="10" name="cmd_142"/>
          <p:cNvSpPr/>
          <p:nvPr/>
        </p:nvSpPr>
        <p:spPr>
          <a:xfrm>
            <a:off x="6583680" y="566928"/>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COMPLETA</a:t>
            </a:r>
            <a:endParaRPr lang="en-US" sz="1300" dirty="0"/>
          </a:p>
        </p:txBody>
      </p:sp>
      <p:sp>
        <p:nvSpPr>
          <p:cNvPr id="11" name="meta_143"/>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2" name="logo_14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4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2B-2 · Reading · the introduction   ·   📖 SB p.22 · 6b · article adapted</a:t>
            </a:r>
            <a:endParaRPr lang="en-US" sz="800" dirty="0"/>
          </a:p>
        </p:txBody>
      </p:sp>
      <p:sp>
        <p:nvSpPr>
          <p:cNvPr id="14" name="cd_146"/>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147"/>
          <p:cNvSpPr/>
          <p:nvPr/>
        </p:nvSpPr>
        <p:spPr>
          <a:xfrm>
            <a:off x="320040" y="1417320"/>
            <a:ext cx="5715000" cy="438912"/>
          </a:xfrm>
          <a:prstGeom prst="rect">
            <a:avLst/>
          </a:prstGeom>
          <a:solidFill>
            <a:srgbClr val="E3F7EA"/>
          </a:solidFill>
          <a:ln/>
        </p:spPr>
        <p:txBody>
          <a:bodyPr wrap="square" lIns="0" tIns="20320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The polar challenge</a:t>
            </a:r>
            <a:endParaRPr lang="en-US" sz="1700" dirty="0"/>
          </a:p>
        </p:txBody>
      </p:sp>
      <p:sp>
        <p:nvSpPr>
          <p:cNvPr id="16" name="ln_148"/>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TV presenter Helen Skelton has never been afraid of a charity challenge.</a:t>
            </a:r>
            <a:endParaRPr lang="en-US" sz="1200" dirty="0"/>
          </a:p>
        </p:txBody>
      </p:sp>
      <p:sp>
        <p:nvSpPr>
          <p:cNvPr id="17" name="ln_149"/>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She has run the </a:t>
            </a:r>
            <a:pPr indent="0" marL="0">
              <a:buNone/>
            </a:pPr>
            <a:r>
              <a:rPr lang="en-US" sz="1200" b="1" dirty="0">
                <a:solidFill>
                  <a:srgbClr val="2EB872"/>
                </a:solidFill>
                <a:latin typeface="Georgia" pitchFamily="34" charset="0"/>
                <a:ea typeface="Georgia" pitchFamily="34" charset="-122"/>
                <a:cs typeface="Georgia" pitchFamily="34" charset="-120"/>
              </a:rPr>
              <a:t> (1) _____ </a:t>
            </a:r>
            <a:pPr indent="0" marL="0">
              <a:buNone/>
            </a:pPr>
            <a:r>
              <a:rPr lang="en-US" sz="1200" dirty="0">
                <a:solidFill>
                  <a:srgbClr val="1B2559"/>
                </a:solidFill>
                <a:latin typeface="Georgia" pitchFamily="34" charset="0"/>
                <a:ea typeface="Georgia" pitchFamily="34" charset="-122"/>
                <a:cs typeface="Georgia" pitchFamily="34" charset="-120"/>
              </a:rPr>
              <a:t> Ultra Marathon in Namibia, and she has kayaked </a:t>
            </a:r>
            <a:pPr indent="0" marL="0">
              <a:buNone/>
            </a:pPr>
            <a:r>
              <a:rPr lang="en-US" sz="1200" b="1" dirty="0">
                <a:solidFill>
                  <a:srgbClr val="2EB872"/>
                </a:solidFill>
                <a:latin typeface="Georgia" pitchFamily="34" charset="0"/>
                <a:ea typeface="Georgia" pitchFamily="34" charset="-122"/>
                <a:cs typeface="Georgia" pitchFamily="34" charset="-120"/>
              </a:rPr>
              <a:t> (2) _____ </a:t>
            </a:r>
            <a:pPr indent="0" marL="0">
              <a:buNone/>
            </a:pPr>
            <a:r>
              <a:rPr lang="en-US" sz="1200" dirty="0">
                <a:solidFill>
                  <a:srgbClr val="1B2559"/>
                </a:solidFill>
                <a:latin typeface="Georgia" pitchFamily="34" charset="0"/>
                <a:ea typeface="Georgia" pitchFamily="34" charset="-122"/>
                <a:cs typeface="Georgia" pitchFamily="34" charset="-120"/>
              </a:rPr>
              <a:t> kilometres down the Amazon for the charity Sport Relief.</a:t>
            </a:r>
            <a:endParaRPr lang="en-US" sz="1200" dirty="0"/>
          </a:p>
        </p:txBody>
      </p:sp>
      <p:sp>
        <p:nvSpPr>
          <p:cNvPr id="18" name="R1_lnA150"/>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She has run the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78-mile</a:t>
            </a:r>
            <a:pPr indent="0" marL="0">
              <a:buNone/>
            </a:pPr>
            <a:r>
              <a:rPr lang="en-US" sz="1200" dirty="0">
                <a:solidFill>
                  <a:srgbClr val="1B2559"/>
                </a:solidFill>
                <a:latin typeface="Georgia" pitchFamily="34" charset="0"/>
                <a:ea typeface="Georgia" pitchFamily="34" charset="-122"/>
                <a:cs typeface="Georgia" pitchFamily="34" charset="-120"/>
              </a:rPr>
              <a:t> Ultra Marathon in Namibia, and she has kayaked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3,200</a:t>
            </a:r>
            <a:pPr indent="0" marL="0">
              <a:buNone/>
            </a:pPr>
            <a:r>
              <a:rPr lang="en-US" sz="1200" dirty="0">
                <a:solidFill>
                  <a:srgbClr val="1B2559"/>
                </a:solidFill>
                <a:latin typeface="Georgia" pitchFamily="34" charset="0"/>
                <a:ea typeface="Georgia" pitchFamily="34" charset="-122"/>
                <a:cs typeface="Georgia" pitchFamily="34" charset="-120"/>
              </a:rPr>
              <a:t> kilometres down the Amazon for the charity Sport Relief.</a:t>
            </a:r>
            <a:endParaRPr lang="en-US" sz="1200" dirty="0"/>
          </a:p>
        </p:txBody>
      </p:sp>
      <p:sp>
        <p:nvSpPr>
          <p:cNvPr id="19" name="ln_151"/>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Now she has decided to leave the </a:t>
            </a:r>
            <a:pPr indent="0" marL="0">
              <a:buNone/>
            </a:pPr>
            <a:r>
              <a:rPr lang="en-US" sz="1200" b="1" dirty="0">
                <a:solidFill>
                  <a:srgbClr val="2EB872"/>
                </a:solidFill>
                <a:latin typeface="Georgia" pitchFamily="34" charset="0"/>
                <a:ea typeface="Georgia" pitchFamily="34" charset="-122"/>
                <a:cs typeface="Georgia" pitchFamily="34" charset="-120"/>
              </a:rPr>
              <a:t> (3) _____ </a:t>
            </a:r>
            <a:pPr indent="0" marL="0">
              <a:buNone/>
            </a:pPr>
            <a:r>
              <a:rPr lang="en-US" sz="1200" dirty="0">
                <a:solidFill>
                  <a:srgbClr val="1B2559"/>
                </a:solidFill>
                <a:latin typeface="Georgia" pitchFamily="34" charset="0"/>
                <a:ea typeface="Georgia" pitchFamily="34" charset="-122"/>
                <a:cs typeface="Georgia" pitchFamily="34" charset="-120"/>
              </a:rPr>
              <a:t> of Africa and South America to take part in a polar challenge:</a:t>
            </a:r>
            <a:endParaRPr lang="en-US" sz="1200" dirty="0"/>
          </a:p>
        </p:txBody>
      </p:sp>
      <p:sp>
        <p:nvSpPr>
          <p:cNvPr id="20" name="R2_lnA152"/>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Now she has decided to leave the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heat</a:t>
            </a:r>
            <a:pPr indent="0" marL="0">
              <a:buNone/>
            </a:pPr>
            <a:r>
              <a:rPr lang="en-US" sz="1200" dirty="0">
                <a:solidFill>
                  <a:srgbClr val="1B2559"/>
                </a:solidFill>
                <a:latin typeface="Georgia" pitchFamily="34" charset="0"/>
                <a:ea typeface="Georgia" pitchFamily="34" charset="-122"/>
                <a:cs typeface="Georgia" pitchFamily="34" charset="-120"/>
              </a:rPr>
              <a:t> of Africa and South America to take part in a polar challenge:</a:t>
            </a:r>
            <a:endParaRPr lang="en-US" sz="1200" dirty="0"/>
          </a:p>
        </p:txBody>
      </p:sp>
      <p:sp>
        <p:nvSpPr>
          <p:cNvPr id="21" name="ln_153"/>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a </a:t>
            </a:r>
            <a:pPr indent="0" marL="0">
              <a:buNone/>
            </a:pPr>
            <a:r>
              <a:rPr lang="en-US" sz="1200" b="1" dirty="0">
                <a:solidFill>
                  <a:srgbClr val="2EB872"/>
                </a:solidFill>
                <a:latin typeface="Georgia" pitchFamily="34" charset="0"/>
                <a:ea typeface="Georgia" pitchFamily="34" charset="-122"/>
                <a:cs typeface="Georgia" pitchFamily="34" charset="-120"/>
              </a:rPr>
              <a:t> (4) _____ </a:t>
            </a:r>
            <a:pPr indent="0" marL="0">
              <a:buNone/>
            </a:pPr>
            <a:r>
              <a:rPr lang="en-US" sz="1200" dirty="0">
                <a:solidFill>
                  <a:srgbClr val="1B2559"/>
                </a:solidFill>
                <a:latin typeface="Georgia" pitchFamily="34" charset="0"/>
                <a:ea typeface="Georgia" pitchFamily="34" charset="-122"/>
                <a:cs typeface="Georgia" pitchFamily="34" charset="-120"/>
              </a:rPr>
              <a:t> ski, kite-ski and bike journey to the South Pole, the bottom of the world.</a:t>
            </a:r>
            <a:endParaRPr lang="en-US" sz="1200" dirty="0"/>
          </a:p>
        </p:txBody>
      </p:sp>
      <p:sp>
        <p:nvSpPr>
          <p:cNvPr id="22" name="R3_lnA154"/>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a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500-mile</a:t>
            </a:r>
            <a:pPr indent="0" marL="0">
              <a:buNone/>
            </a:pPr>
            <a:r>
              <a:rPr lang="en-US" sz="1200" dirty="0">
                <a:solidFill>
                  <a:srgbClr val="1B2559"/>
                </a:solidFill>
                <a:latin typeface="Georgia" pitchFamily="34" charset="0"/>
                <a:ea typeface="Georgia" pitchFamily="34" charset="-122"/>
                <a:cs typeface="Georgia" pitchFamily="34" charset="-120"/>
              </a:rPr>
              <a:t> ski, kite-ski and bike journey to the South Pole, the bottom of the world.</a:t>
            </a:r>
            <a:endParaRPr lang="en-US" sz="1200" dirty="0"/>
          </a:p>
        </p:txBody>
      </p:sp>
      <p:sp>
        <p:nvSpPr>
          <p:cNvPr id="23" name="ln_155"/>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During the challenge, Helen is writing a blog.</a:t>
            </a:r>
            <a:endParaRPr lang="en-US" sz="1200" dirty="0"/>
          </a:p>
        </p:txBody>
      </p:sp>
      <p:sp>
        <p:nvSpPr>
          <p:cNvPr id="24" name="pf_156"/>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5" name="ph_157" descr="/home/claude/lls-course/v2/cache/2b2_cover_jpg_594x352_31.png">    </p:cNvPr>
          <p:cNvPicPr>
            <a:picLocks noChangeAspect="1"/>
          </p:cNvPicPr>
          <p:nvPr/>
        </p:nvPicPr>
        <p:blipFill>
          <a:blip r:embed="rId5"/>
          <a:stretch>
            <a:fillRect/>
          </a:stretch>
        </p:blipFill>
        <p:spPr>
          <a:xfrm rot="120000">
            <a:off x="6355080" y="2240280"/>
            <a:ext cx="2468880" cy="1463040"/>
          </a:xfrm>
          <a:prstGeom prst="rect">
            <a:avLst/>
          </a:prstGeom>
        </p:spPr>
      </p:pic>
      <p:sp>
        <p:nvSpPr>
          <p:cNvPr id="26" name="cd_158"/>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ii_159"/>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8" name="ih_160"/>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9" name="il_161"/>
          <p:cNvSpPr/>
          <p:nvPr/>
        </p:nvSpPr>
        <p:spPr>
          <a:xfrm>
            <a:off x="6830568" y="4270248"/>
            <a:ext cx="1993392" cy="41148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78 · 3,200 · 500 · heat</a:t>
            </a:r>
            <a:endParaRPr lang="en-US" sz="1000" dirty="0"/>
          </a:p>
          <a:p>
            <a:pPr marL="342900" indent="-3429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What has she done before? What's different now?</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62"/>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63"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64"/>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Put the blog in order</a:t>
            </a:r>
            <a:endParaRPr lang="en-US" sz="2500" dirty="0"/>
          </a:p>
        </p:txBody>
      </p:sp>
      <p:pic>
        <p:nvPicPr>
          <p:cNvPr id="6" name="brP_165"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166"/>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Use the time clues. Number the entries.</a:t>
            </a:r>
            <a:endParaRPr lang="en-US" sz="1250" dirty="0"/>
          </a:p>
        </p:txBody>
      </p:sp>
      <p:sp>
        <p:nvSpPr>
          <p:cNvPr id="8" name="insIT_16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Usa gli indizi di tempo. Numera i post.</a:t>
            </a:r>
            <a:endParaRPr lang="en-US" sz="950" dirty="0"/>
          </a:p>
        </p:txBody>
      </p:sp>
      <p:sp>
        <p:nvSpPr>
          <p:cNvPr id="9" name="cmd_168"/>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300" dirty="0"/>
          </a:p>
        </p:txBody>
      </p:sp>
      <p:sp>
        <p:nvSpPr>
          <p:cNvPr id="10" name="cmd_169"/>
          <p:cNvSpPr/>
          <p:nvPr/>
        </p:nvSpPr>
        <p:spPr>
          <a:xfrm>
            <a:off x="6583680" y="566928"/>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REORDER</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RIORDINA</a:t>
            </a:r>
            <a:endParaRPr lang="en-US" sz="1300" dirty="0"/>
          </a:p>
        </p:txBody>
      </p:sp>
      <p:sp>
        <p:nvSpPr>
          <p:cNvPr id="11" name="meta_170"/>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pic>
        <p:nvPicPr>
          <p:cNvPr id="12" name="logo_17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7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2B-2 · Reading · order of events   ·   📖 SB p.22 · 6c (the highlighted phrases)</a:t>
            </a:r>
            <a:endParaRPr lang="en-US" sz="800" dirty="0"/>
          </a:p>
        </p:txBody>
      </p:sp>
      <p:sp>
        <p:nvSpPr>
          <p:cNvPr id="14" name="cd_173"/>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17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175"/>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176"/>
          <p:cNvSpPr/>
          <p:nvPr/>
        </p:nvSpPr>
        <p:spPr>
          <a:xfrm>
            <a:off x="886968" y="1892808"/>
            <a:ext cx="2039112" cy="5486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B · "My first night in Antarctica" → 1st</a:t>
            </a:r>
            <a:endParaRPr lang="en-US" sz="1050" dirty="0"/>
          </a:p>
        </p:txBody>
      </p:sp>
      <p:sp>
        <p:nvSpPr>
          <p:cNvPr id="18" name="pf_177"/>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9" name="phx_178"/>
          <p:cNvSpPr/>
          <p:nvPr/>
        </p:nvSpPr>
        <p:spPr>
          <a:xfrm>
            <a:off x="411480" y="2743200"/>
            <a:ext cx="2514600" cy="187452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2b2-antarctic-tent.jpg</a:t>
            </a:r>
            <a:endParaRPr lang="en-US" sz="900" dirty="0"/>
          </a:p>
        </p:txBody>
      </p:sp>
      <p:sp>
        <p:nvSpPr>
          <p:cNvPr id="20" name="bd_179"/>
          <p:cNvSpPr/>
          <p:nvPr/>
        </p:nvSpPr>
        <p:spPr>
          <a:xfrm>
            <a:off x="3246120" y="14447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180"/>
          <p:cNvSpPr/>
          <p:nvPr/>
        </p:nvSpPr>
        <p:spPr>
          <a:xfrm>
            <a:off x="3630168" y="1417320"/>
            <a:ext cx="2103120" cy="365760"/>
          </a:xfrm>
          <a:prstGeom prst="roundRect">
            <a:avLst>
              <a:gd name="adj" fmla="val 25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 over a month since we arrived</a:t>
            </a:r>
            <a:endParaRPr lang="en-US" sz="1150" dirty="0"/>
          </a:p>
        </p:txBody>
      </p:sp>
      <p:sp>
        <p:nvSpPr>
          <p:cNvPr id="22" name="R1_chip181"/>
          <p:cNvSpPr/>
          <p:nvPr/>
        </p:nvSpPr>
        <p:spPr>
          <a:xfrm>
            <a:off x="5806440" y="1417320"/>
            <a:ext cx="3063240" cy="365760"/>
          </a:xfrm>
          <a:prstGeom prst="roundRect">
            <a:avLst>
              <a:gd name="adj" fmla="val 25000"/>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8th · "reach the South Pole late tonight"</a:t>
            </a:r>
            <a:endParaRPr lang="en-US" sz="1000" dirty="0"/>
          </a:p>
        </p:txBody>
      </p:sp>
      <p:sp>
        <p:nvSpPr>
          <p:cNvPr id="23" name="bd_182"/>
          <p:cNvSpPr/>
          <p:nvPr/>
        </p:nvSpPr>
        <p:spPr>
          <a:xfrm>
            <a:off x="3246120" y="185623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183"/>
          <p:cNvSpPr/>
          <p:nvPr/>
        </p:nvSpPr>
        <p:spPr>
          <a:xfrm>
            <a:off x="3630168" y="1828800"/>
            <a:ext cx="2103120" cy="365760"/>
          </a:xfrm>
          <a:prstGeom prst="roundRect">
            <a:avLst>
              <a:gd name="adj" fmla="val 25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C · first day of the trek is over</a:t>
            </a:r>
            <a:endParaRPr lang="en-US" sz="1150" dirty="0"/>
          </a:p>
        </p:txBody>
      </p:sp>
      <p:sp>
        <p:nvSpPr>
          <p:cNvPr id="25" name="R2_chip184"/>
          <p:cNvSpPr/>
          <p:nvPr/>
        </p:nvSpPr>
        <p:spPr>
          <a:xfrm>
            <a:off x="5806440" y="1828800"/>
            <a:ext cx="3063240" cy="365760"/>
          </a:xfrm>
          <a:prstGeom prst="roundRect">
            <a:avLst>
              <a:gd name="adj" fmla="val 25000"/>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4th · the trek starts</a:t>
            </a:r>
            <a:endParaRPr lang="en-US" sz="1000" dirty="0"/>
          </a:p>
        </p:txBody>
      </p:sp>
      <p:sp>
        <p:nvSpPr>
          <p:cNvPr id="26" name="bd_185"/>
          <p:cNvSpPr/>
          <p:nvPr/>
        </p:nvSpPr>
        <p:spPr>
          <a:xfrm>
            <a:off x="3246120" y="22677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186"/>
          <p:cNvSpPr/>
          <p:nvPr/>
        </p:nvSpPr>
        <p:spPr>
          <a:xfrm>
            <a:off x="3630168" y="2240280"/>
            <a:ext cx="2103120" cy="365760"/>
          </a:xfrm>
          <a:prstGeom prst="roundRect">
            <a:avLst>
              <a:gd name="adj" fmla="val 25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D · in Antarctica for four days</a:t>
            </a:r>
            <a:endParaRPr lang="en-US" sz="1150" dirty="0"/>
          </a:p>
        </p:txBody>
      </p:sp>
      <p:sp>
        <p:nvSpPr>
          <p:cNvPr id="28" name="R3_chip187"/>
          <p:cNvSpPr/>
          <p:nvPr/>
        </p:nvSpPr>
        <p:spPr>
          <a:xfrm>
            <a:off x="5806440" y="2240280"/>
            <a:ext cx="3063240" cy="365760"/>
          </a:xfrm>
          <a:prstGeom prst="roundRect">
            <a:avLst>
              <a:gd name="adj" fmla="val 25000"/>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2nd · only four days!</a:t>
            </a:r>
            <a:endParaRPr lang="en-US" sz="1000" dirty="0"/>
          </a:p>
        </p:txBody>
      </p:sp>
      <p:sp>
        <p:nvSpPr>
          <p:cNvPr id="29" name="bd_188"/>
          <p:cNvSpPr/>
          <p:nvPr/>
        </p:nvSpPr>
        <p:spPr>
          <a:xfrm>
            <a:off x="3246120" y="267919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189"/>
          <p:cNvSpPr/>
          <p:nvPr/>
        </p:nvSpPr>
        <p:spPr>
          <a:xfrm>
            <a:off x="3630168" y="2651760"/>
            <a:ext cx="2103120" cy="365760"/>
          </a:xfrm>
          <a:prstGeom prst="roundRect">
            <a:avLst>
              <a:gd name="adj" fmla="val 25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E · the second day of our trek</a:t>
            </a:r>
            <a:endParaRPr lang="en-US" sz="1150" dirty="0"/>
          </a:p>
        </p:txBody>
      </p:sp>
      <p:sp>
        <p:nvSpPr>
          <p:cNvPr id="31" name="R4_chip190"/>
          <p:cNvSpPr/>
          <p:nvPr/>
        </p:nvSpPr>
        <p:spPr>
          <a:xfrm>
            <a:off x="5806440" y="2651760"/>
            <a:ext cx="3063240" cy="365760"/>
          </a:xfrm>
          <a:prstGeom prst="roundRect">
            <a:avLst>
              <a:gd name="adj" fmla="val 25000"/>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5th · after the first day</a:t>
            </a:r>
            <a:endParaRPr lang="en-US" sz="1000" dirty="0"/>
          </a:p>
        </p:txBody>
      </p:sp>
      <p:sp>
        <p:nvSpPr>
          <p:cNvPr id="32" name="bd_191"/>
          <p:cNvSpPr/>
          <p:nvPr/>
        </p:nvSpPr>
        <p:spPr>
          <a:xfrm>
            <a:off x="3246120" y="30906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192"/>
          <p:cNvSpPr/>
          <p:nvPr/>
        </p:nvSpPr>
        <p:spPr>
          <a:xfrm>
            <a:off x="3630168" y="3063240"/>
            <a:ext cx="2103120" cy="365760"/>
          </a:xfrm>
          <a:prstGeom prst="roundRect">
            <a:avLst>
              <a:gd name="adj" fmla="val 25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F · 150 miles from our destination</a:t>
            </a:r>
            <a:endParaRPr lang="en-US" sz="1150" dirty="0"/>
          </a:p>
        </p:txBody>
      </p:sp>
      <p:sp>
        <p:nvSpPr>
          <p:cNvPr id="34" name="R5_chip193"/>
          <p:cNvSpPr/>
          <p:nvPr/>
        </p:nvSpPr>
        <p:spPr>
          <a:xfrm>
            <a:off x="5806440" y="3063240"/>
            <a:ext cx="3063240" cy="365760"/>
          </a:xfrm>
          <a:prstGeom prst="roundRect">
            <a:avLst>
              <a:gd name="adj" fmla="val 25000"/>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7th · nearly there</a:t>
            </a:r>
            <a:endParaRPr lang="en-US" sz="1000" dirty="0"/>
          </a:p>
        </p:txBody>
      </p:sp>
      <p:sp>
        <p:nvSpPr>
          <p:cNvPr id="35" name="bd_194"/>
          <p:cNvSpPr/>
          <p:nvPr/>
        </p:nvSpPr>
        <p:spPr>
          <a:xfrm>
            <a:off x="3246120" y="350215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195"/>
          <p:cNvSpPr/>
          <p:nvPr/>
        </p:nvSpPr>
        <p:spPr>
          <a:xfrm>
            <a:off x="3630168" y="3474720"/>
            <a:ext cx="2103120" cy="365760"/>
          </a:xfrm>
          <a:prstGeom prst="roundRect">
            <a:avLst>
              <a:gd name="adj" fmla="val 25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G · completed our journey in 18 days</a:t>
            </a:r>
            <a:endParaRPr lang="en-US" sz="1150" dirty="0"/>
          </a:p>
        </p:txBody>
      </p:sp>
      <p:sp>
        <p:nvSpPr>
          <p:cNvPr id="37" name="R6_chip196"/>
          <p:cNvSpPr/>
          <p:nvPr/>
        </p:nvSpPr>
        <p:spPr>
          <a:xfrm>
            <a:off x="5806440" y="3474720"/>
            <a:ext cx="3063240" cy="365760"/>
          </a:xfrm>
          <a:prstGeom prst="roundRect">
            <a:avLst>
              <a:gd name="adj" fmla="val 25000"/>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9th · the end!</a:t>
            </a:r>
            <a:endParaRPr lang="en-US" sz="1000" dirty="0"/>
          </a:p>
        </p:txBody>
      </p:sp>
      <p:sp>
        <p:nvSpPr>
          <p:cNvPr id="38" name="bd_197"/>
          <p:cNvSpPr/>
          <p:nvPr/>
        </p:nvSpPr>
        <p:spPr>
          <a:xfrm>
            <a:off x="3246120" y="391363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9" name="q_198"/>
          <p:cNvSpPr/>
          <p:nvPr/>
        </p:nvSpPr>
        <p:spPr>
          <a:xfrm>
            <a:off x="3630168" y="3886200"/>
            <a:ext cx="2103120" cy="365760"/>
          </a:xfrm>
          <a:prstGeom prst="roundRect">
            <a:avLst>
              <a:gd name="adj" fmla="val 25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 · on our way to the halfway checkpoint</a:t>
            </a:r>
            <a:endParaRPr lang="en-US" sz="1150" dirty="0"/>
          </a:p>
        </p:txBody>
      </p:sp>
      <p:sp>
        <p:nvSpPr>
          <p:cNvPr id="40" name="R7_chip199"/>
          <p:cNvSpPr/>
          <p:nvPr/>
        </p:nvSpPr>
        <p:spPr>
          <a:xfrm>
            <a:off x="5806440" y="3886200"/>
            <a:ext cx="3063240" cy="365760"/>
          </a:xfrm>
          <a:prstGeom prst="roundRect">
            <a:avLst>
              <a:gd name="adj" fmla="val 25000"/>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6th · halfway</a:t>
            </a:r>
            <a:endParaRPr lang="en-US" sz="1000" dirty="0"/>
          </a:p>
        </p:txBody>
      </p:sp>
      <p:sp>
        <p:nvSpPr>
          <p:cNvPr id="41" name="bd_200"/>
          <p:cNvSpPr/>
          <p:nvPr/>
        </p:nvSpPr>
        <p:spPr>
          <a:xfrm>
            <a:off x="3246120" y="432511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2" name="q_201"/>
          <p:cNvSpPr/>
          <p:nvPr/>
        </p:nvSpPr>
        <p:spPr>
          <a:xfrm>
            <a:off x="3630168" y="4297680"/>
            <a:ext cx="2103120" cy="365760"/>
          </a:xfrm>
          <a:prstGeom prst="roundRect">
            <a:avLst>
              <a:gd name="adj" fmla="val 25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 · training is over · starting today</a:t>
            </a:r>
            <a:endParaRPr lang="en-US" sz="1150" dirty="0"/>
          </a:p>
        </p:txBody>
      </p:sp>
      <p:sp>
        <p:nvSpPr>
          <p:cNvPr id="43" name="R8_chip202"/>
          <p:cNvSpPr/>
          <p:nvPr/>
        </p:nvSpPr>
        <p:spPr>
          <a:xfrm>
            <a:off x="5806440" y="4297680"/>
            <a:ext cx="3063240" cy="365760"/>
          </a:xfrm>
          <a:prstGeom prst="roundRect">
            <a:avLst>
              <a:gd name="adj" fmla="val 25000"/>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3rd · training, then the trek</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03"/>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04"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205"/>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polar challenge 1</a:t>
            </a:r>
            <a:endParaRPr lang="en-US" sz="2500" dirty="0"/>
          </a:p>
        </p:txBody>
      </p:sp>
      <p:pic>
        <p:nvPicPr>
          <p:cNvPr id="6" name="brP_206"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207"/>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entries 1–3. Guess the missing word.</a:t>
            </a:r>
            <a:endParaRPr lang="en-US" sz="1250" dirty="0"/>
          </a:p>
        </p:txBody>
      </p:sp>
      <p:sp>
        <p:nvSpPr>
          <p:cNvPr id="8" name="insIT_20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i post 1–3. Indovina la parola mancante.</a:t>
            </a:r>
            <a:endParaRPr lang="en-US" sz="950" dirty="0"/>
          </a:p>
        </p:txBody>
      </p:sp>
      <p:sp>
        <p:nvSpPr>
          <p:cNvPr id="9" name="cmd_209"/>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300" dirty="0"/>
          </a:p>
        </p:txBody>
      </p:sp>
      <p:sp>
        <p:nvSpPr>
          <p:cNvPr id="10" name="cmd_210"/>
          <p:cNvSpPr/>
          <p:nvPr/>
        </p:nvSpPr>
        <p:spPr>
          <a:xfrm>
            <a:off x="6583680" y="566928"/>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300" dirty="0"/>
          </a:p>
        </p:txBody>
      </p:sp>
      <p:sp>
        <p:nvSpPr>
          <p:cNvPr id="11" name="meta_211"/>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12" name="logo_21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1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2B-2 · Reading · the blog (1)   ·   📖 SB p.22 · blog entries B, D, I · 7a</a:t>
            </a:r>
            <a:endParaRPr lang="en-US" sz="800" dirty="0"/>
          </a:p>
        </p:txBody>
      </p:sp>
      <p:sp>
        <p:nvSpPr>
          <p:cNvPr id="14" name="cd_214"/>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215"/>
          <p:cNvSpPr/>
          <p:nvPr/>
        </p:nvSpPr>
        <p:spPr>
          <a:xfrm>
            <a:off x="320040" y="1417320"/>
            <a:ext cx="5715000" cy="438912"/>
          </a:xfrm>
          <a:prstGeom prst="rect">
            <a:avLst/>
          </a:prstGeom>
          <a:solidFill>
            <a:srgbClr val="E3F7EA"/>
          </a:solidFill>
          <a:ln/>
        </p:spPr>
        <p:txBody>
          <a:bodyPr wrap="square" lIns="0" tIns="20320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Entries 1–3 · B · D · I</a:t>
            </a:r>
            <a:endParaRPr lang="en-US" sz="1700" dirty="0"/>
          </a:p>
        </p:txBody>
      </p:sp>
      <p:sp>
        <p:nvSpPr>
          <p:cNvPr id="16" name="ln_216"/>
          <p:cNvSpPr/>
          <p:nvPr/>
        </p:nvSpPr>
        <p:spPr>
          <a:xfrm>
            <a:off x="548640" y="192024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1 · B   My first night in Antarctica. It's summer here, and the 24-hour daylight is weird. Today was my first full day on cross-country skis, pulling a sledge.</a:t>
            </a:r>
            <a:endParaRPr lang="en-US" sz="1050" dirty="0"/>
          </a:p>
        </p:txBody>
      </p:sp>
      <p:sp>
        <p:nvSpPr>
          <p:cNvPr id="17" name="ln_217"/>
          <p:cNvSpPr/>
          <p:nvPr/>
        </p:nvSpPr>
        <p:spPr>
          <a:xfrm>
            <a:off x="548640" y="238506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It was a nightmare! Still, the scenery was incredible. Now I'm going to try out the ice bike, and we're also going to practise kite-skiing.</a:t>
            </a:r>
            <a:endParaRPr lang="en-US" sz="1050" dirty="0"/>
          </a:p>
        </p:txBody>
      </p:sp>
      <p:sp>
        <p:nvSpPr>
          <p:cNvPr id="18" name="ln_218"/>
          <p:cNvSpPr/>
          <p:nvPr/>
        </p:nvSpPr>
        <p:spPr>
          <a:xfrm>
            <a:off x="548640" y="284988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2 · D   We've only been in Antarctica for four days, but there's been a huge snowstorm for the past 48 hours.</a:t>
            </a:r>
            <a:endParaRPr lang="en-US" sz="1050" dirty="0"/>
          </a:p>
        </p:txBody>
      </p:sp>
      <p:sp>
        <p:nvSpPr>
          <p:cNvPr id="19" name="ln_219"/>
          <p:cNvSpPr/>
          <p:nvPr/>
        </p:nvSpPr>
        <p:spPr>
          <a:xfrm>
            <a:off x="548640" y="331470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It's </a:t>
            </a:r>
            <a:pPr indent="0" marL="0">
              <a:buNone/>
            </a:pPr>
            <a:r>
              <a:rPr lang="en-US" sz="1050" b="1" dirty="0">
                <a:solidFill>
                  <a:srgbClr val="2EB872"/>
                </a:solidFill>
                <a:latin typeface="Georgia" pitchFamily="34" charset="0"/>
                <a:ea typeface="Georgia" pitchFamily="34" charset="-122"/>
                <a:cs typeface="Georgia" pitchFamily="34" charset="-120"/>
              </a:rPr>
              <a:t> (1) _____ </a:t>
            </a:r>
            <a:pPr indent="0" marL="0">
              <a:buNone/>
            </a:pPr>
            <a:r>
              <a:rPr lang="en-US" sz="1050" dirty="0">
                <a:solidFill>
                  <a:srgbClr val="1B2559"/>
                </a:solidFill>
                <a:latin typeface="Georgia" pitchFamily="34" charset="0"/>
                <a:ea typeface="Georgia" pitchFamily="34" charset="-122"/>
                <a:cs typeface="Georgia" pitchFamily="34" charset="-120"/>
              </a:rPr>
              <a:t> outside, so we can't train – we've had to stay in the tent. The winds are 70 miles per hour, with –15°C and lots of snow.</a:t>
            </a:r>
            <a:endParaRPr lang="en-US" sz="1050" dirty="0"/>
          </a:p>
        </p:txBody>
      </p:sp>
      <p:sp>
        <p:nvSpPr>
          <p:cNvPr id="20" name="R1_lnA220"/>
          <p:cNvSpPr/>
          <p:nvPr/>
        </p:nvSpPr>
        <p:spPr>
          <a:xfrm>
            <a:off x="548640" y="3314700"/>
            <a:ext cx="5349240" cy="464820"/>
          </a:xfrm>
          <a:prstGeom prst="rect">
            <a:avLst/>
          </a:prstGeom>
          <a:solidFill>
            <a:srgbClr val="FFFFFF"/>
          </a:solid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It's </a:t>
            </a:r>
            <a:pPr indent="0" marL="0">
              <a:buNone/>
            </a:pPr>
            <a:r>
              <a:rPr lang="en-US" sz="1050" b="1" dirty="0">
                <a:solidFill>
                  <a:srgbClr val="1B2559"/>
                </a:solidFill>
                <a:highlight>
                  <a:srgbClr val="FFE066"/>
                </a:highlight>
                <a:latin typeface="Georgia" pitchFamily="34" charset="0"/>
                <a:ea typeface="Georgia" pitchFamily="34" charset="-122"/>
                <a:cs typeface="Georgia" pitchFamily="34" charset="-120"/>
              </a:rPr>
              <a:t>freezing</a:t>
            </a:r>
            <a:pPr indent="0" marL="0">
              <a:buNone/>
            </a:pPr>
            <a:r>
              <a:rPr lang="en-US" sz="1050" dirty="0">
                <a:solidFill>
                  <a:srgbClr val="1B2559"/>
                </a:solidFill>
                <a:latin typeface="Georgia" pitchFamily="34" charset="0"/>
                <a:ea typeface="Georgia" pitchFamily="34" charset="-122"/>
                <a:cs typeface="Georgia" pitchFamily="34" charset="-120"/>
              </a:rPr>
              <a:t> outside, so we can't train – we've had to stay in the tent. The winds are 70 miles per hour, with –15°C and lots of snow.</a:t>
            </a:r>
            <a:endParaRPr lang="en-US" sz="1050" dirty="0"/>
          </a:p>
        </p:txBody>
      </p:sp>
      <p:sp>
        <p:nvSpPr>
          <p:cNvPr id="21" name="ln_221"/>
          <p:cNvSpPr/>
          <p:nvPr/>
        </p:nvSpPr>
        <p:spPr>
          <a:xfrm>
            <a:off x="548640" y="377952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3 · I   The training is over and we're starting our 500-mile journey today! We've been cycling, walking and kiting for ten days.</a:t>
            </a:r>
            <a:endParaRPr lang="en-US" sz="1050" dirty="0"/>
          </a:p>
        </p:txBody>
      </p:sp>
      <p:sp>
        <p:nvSpPr>
          <p:cNvPr id="22" name="ln_222"/>
          <p:cNvSpPr/>
          <p:nvPr/>
        </p:nvSpPr>
        <p:spPr>
          <a:xfrm>
            <a:off x="548640" y="424434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I washed and changed my clothes. I'm not going to get clean clothes again for three weeks!</a:t>
            </a:r>
            <a:endParaRPr lang="en-US" sz="1050" dirty="0"/>
          </a:p>
        </p:txBody>
      </p:sp>
      <p:sp>
        <p:nvSpPr>
          <p:cNvPr id="23" name="pf_223"/>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4" name="ph_224" descr="/home/claude/lls-course/v2/cache/2b2_scenery_jpg_594x352_31.png">    </p:cNvPr>
          <p:cNvPicPr>
            <a:picLocks noChangeAspect="1"/>
          </p:cNvPicPr>
          <p:nvPr/>
        </p:nvPicPr>
        <p:blipFill>
          <a:blip r:embed="rId5"/>
          <a:stretch>
            <a:fillRect/>
          </a:stretch>
        </p:blipFill>
        <p:spPr>
          <a:xfrm rot="120000">
            <a:off x="6355080" y="2240280"/>
            <a:ext cx="2468880" cy="1463040"/>
          </a:xfrm>
          <a:prstGeom prst="rect">
            <a:avLst/>
          </a:prstGeom>
        </p:spPr>
      </p:pic>
      <p:sp>
        <p:nvSpPr>
          <p:cNvPr id="25" name="cd_225"/>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6" name="ii_226"/>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7" name="ih_227"/>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8" name="il_228"/>
          <p:cNvSpPr/>
          <p:nvPr/>
        </p:nvSpPr>
        <p:spPr>
          <a:xfrm>
            <a:off x="6830568" y="4270248"/>
            <a:ext cx="1993392" cy="41148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weird = strange · strano</a:t>
            </a:r>
            <a:endParaRPr lang="en-US" sz="1000" dirty="0"/>
          </a:p>
          <a:p>
            <a:pPr marL="342900" indent="-3429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a nightmare = un incubo</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29"/>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30"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231"/>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polar challenge 2</a:t>
            </a:r>
            <a:endParaRPr lang="en-US" sz="2500" dirty="0"/>
          </a:p>
        </p:txBody>
      </p:sp>
      <p:pic>
        <p:nvPicPr>
          <p:cNvPr id="6" name="brP_232"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233"/>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entries 4–6. Guess the missing words.</a:t>
            </a:r>
            <a:endParaRPr lang="en-US" sz="1250" dirty="0"/>
          </a:p>
        </p:txBody>
      </p:sp>
      <p:sp>
        <p:nvSpPr>
          <p:cNvPr id="8" name="insIT_23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i post 4–6. Indovina le parole mancanti.</a:t>
            </a:r>
            <a:endParaRPr lang="en-US" sz="950" dirty="0"/>
          </a:p>
        </p:txBody>
      </p:sp>
      <p:sp>
        <p:nvSpPr>
          <p:cNvPr id="9" name="cmd_235"/>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300" dirty="0"/>
          </a:p>
        </p:txBody>
      </p:sp>
      <p:sp>
        <p:nvSpPr>
          <p:cNvPr id="10" name="cmd_236"/>
          <p:cNvSpPr/>
          <p:nvPr/>
        </p:nvSpPr>
        <p:spPr>
          <a:xfrm>
            <a:off x="6583680" y="566928"/>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300" dirty="0"/>
          </a:p>
        </p:txBody>
      </p:sp>
      <p:sp>
        <p:nvSpPr>
          <p:cNvPr id="11" name="meta_237"/>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12" name="logo_23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3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2B-2 · Reading · the blog (2)   ·   📖 SB p.22 · blog entries C, E, H · 7a</a:t>
            </a:r>
            <a:endParaRPr lang="en-US" sz="800" dirty="0"/>
          </a:p>
        </p:txBody>
      </p:sp>
      <p:sp>
        <p:nvSpPr>
          <p:cNvPr id="14" name="cd_240"/>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241"/>
          <p:cNvSpPr/>
          <p:nvPr/>
        </p:nvSpPr>
        <p:spPr>
          <a:xfrm>
            <a:off x="320040" y="1417320"/>
            <a:ext cx="5715000" cy="438912"/>
          </a:xfrm>
          <a:prstGeom prst="rect">
            <a:avLst/>
          </a:prstGeom>
          <a:solidFill>
            <a:srgbClr val="E3F7EA"/>
          </a:solidFill>
          <a:ln/>
        </p:spPr>
        <p:txBody>
          <a:bodyPr wrap="square" lIns="0" tIns="20320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Entries 4–6 · C · E · H</a:t>
            </a:r>
            <a:endParaRPr lang="en-US" sz="1700" dirty="0"/>
          </a:p>
        </p:txBody>
      </p:sp>
      <p:sp>
        <p:nvSpPr>
          <p:cNvPr id="16" name="ln_242"/>
          <p:cNvSpPr/>
          <p:nvPr/>
        </p:nvSpPr>
        <p:spPr>
          <a:xfrm>
            <a:off x="548640" y="192024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4 · C   The first day of the trek is over! We managed to make the bikes work! But we need to do 25 miles a day, and we only managed 15 miles today.</a:t>
            </a:r>
            <a:endParaRPr lang="en-US" sz="1050" dirty="0"/>
          </a:p>
        </p:txBody>
      </p:sp>
      <p:sp>
        <p:nvSpPr>
          <p:cNvPr id="17" name="ln_243"/>
          <p:cNvSpPr/>
          <p:nvPr/>
        </p:nvSpPr>
        <p:spPr>
          <a:xfrm>
            <a:off x="548640" y="238506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After nine hours of cycling (and a lot of pushing), we had to stop, because I was completely </a:t>
            </a:r>
            <a:pPr indent="0" marL="0">
              <a:buNone/>
            </a:pPr>
            <a:r>
              <a:rPr lang="en-US" sz="1050" b="1" dirty="0">
                <a:solidFill>
                  <a:srgbClr val="2EB872"/>
                </a:solidFill>
                <a:latin typeface="Georgia" pitchFamily="34" charset="0"/>
                <a:ea typeface="Georgia" pitchFamily="34" charset="-122"/>
                <a:cs typeface="Georgia" pitchFamily="34" charset="-120"/>
              </a:rPr>
              <a:t> (2) _____ </a:t>
            </a:r>
            <a:pPr indent="0" marL="0">
              <a:buNone/>
            </a:pPr>
            <a:r>
              <a:rPr lang="en-US" sz="1050" dirty="0">
                <a:solidFill>
                  <a:srgbClr val="1B2559"/>
                </a:solidFill>
                <a:latin typeface="Georgia" pitchFamily="34" charset="0"/>
                <a:ea typeface="Georgia" pitchFamily="34" charset="-122"/>
                <a:cs typeface="Georgia" pitchFamily="34" charset="-120"/>
              </a:rPr>
              <a:t>.</a:t>
            </a:r>
            <a:endParaRPr lang="en-US" sz="1050" dirty="0"/>
          </a:p>
        </p:txBody>
      </p:sp>
      <p:sp>
        <p:nvSpPr>
          <p:cNvPr id="18" name="R1_lnA244"/>
          <p:cNvSpPr/>
          <p:nvPr/>
        </p:nvSpPr>
        <p:spPr>
          <a:xfrm>
            <a:off x="548640" y="2385060"/>
            <a:ext cx="5349240" cy="464820"/>
          </a:xfrm>
          <a:prstGeom prst="rect">
            <a:avLst/>
          </a:prstGeom>
          <a:solidFill>
            <a:srgbClr val="FFFFFF"/>
          </a:solid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After nine hours of cycling (and a lot of pushing), we had to stop, because I was completely </a:t>
            </a:r>
            <a:pPr indent="0" marL="0">
              <a:buNone/>
            </a:pPr>
            <a:r>
              <a:rPr lang="en-US" sz="1050" b="1" dirty="0">
                <a:solidFill>
                  <a:srgbClr val="1B2559"/>
                </a:solidFill>
                <a:highlight>
                  <a:srgbClr val="FFE066"/>
                </a:highlight>
                <a:latin typeface="Georgia" pitchFamily="34" charset="0"/>
                <a:ea typeface="Georgia" pitchFamily="34" charset="-122"/>
                <a:cs typeface="Georgia" pitchFamily="34" charset="-120"/>
              </a:rPr>
              <a:t>exhausted</a:t>
            </a:r>
            <a:pPr indent="0" marL="0">
              <a:buNone/>
            </a:pPr>
            <a:r>
              <a:rPr lang="en-US" sz="1050" dirty="0">
                <a:solidFill>
                  <a:srgbClr val="1B2559"/>
                </a:solidFill>
                <a:latin typeface="Georgia" pitchFamily="34" charset="0"/>
                <a:ea typeface="Georgia" pitchFamily="34" charset="-122"/>
                <a:cs typeface="Georgia" pitchFamily="34" charset="-120"/>
              </a:rPr>
              <a:t>.</a:t>
            </a:r>
            <a:endParaRPr lang="en-US" sz="1050" dirty="0"/>
          </a:p>
        </p:txBody>
      </p:sp>
      <p:sp>
        <p:nvSpPr>
          <p:cNvPr id="19" name="ln_245"/>
          <p:cNvSpPr/>
          <p:nvPr/>
        </p:nvSpPr>
        <p:spPr>
          <a:xfrm>
            <a:off x="548640" y="284988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5 · E   This morning, the second day of our trek, we set off on the kite-skis, and straight away we were travelling fast.</a:t>
            </a:r>
            <a:endParaRPr lang="en-US" sz="1050" dirty="0"/>
          </a:p>
        </p:txBody>
      </p:sp>
      <p:sp>
        <p:nvSpPr>
          <p:cNvPr id="20" name="ln_246"/>
          <p:cNvSpPr/>
          <p:nvPr/>
        </p:nvSpPr>
        <p:spPr>
          <a:xfrm>
            <a:off x="548640" y="331470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In the first hour, we'd gone eight miles! Late this afternoon the wind dropped, but we'd travelled 41 miles – I'm very proud of that.</a:t>
            </a:r>
            <a:endParaRPr lang="en-US" sz="1050" dirty="0"/>
          </a:p>
        </p:txBody>
      </p:sp>
      <p:sp>
        <p:nvSpPr>
          <p:cNvPr id="21" name="ln_247"/>
          <p:cNvSpPr/>
          <p:nvPr/>
        </p:nvSpPr>
        <p:spPr>
          <a:xfrm>
            <a:off x="548640" y="377952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6 · H   We're on our way to the halfway checkpoint today, where we can have a rest… and lots of hot water, so I can have a good wash.</a:t>
            </a:r>
            <a:endParaRPr lang="en-US" sz="1050" dirty="0"/>
          </a:p>
        </p:txBody>
      </p:sp>
      <p:sp>
        <p:nvSpPr>
          <p:cNvPr id="22" name="ln_248"/>
          <p:cNvSpPr/>
          <p:nvPr/>
        </p:nvSpPr>
        <p:spPr>
          <a:xfrm>
            <a:off x="548640" y="424434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It's my second one since arriving in Antarctica. I have to admit it, I smell awful… and my hair is absolutely </a:t>
            </a:r>
            <a:pPr indent="0" marL="0">
              <a:buNone/>
            </a:pPr>
            <a:r>
              <a:rPr lang="en-US" sz="1050" b="1" dirty="0">
                <a:solidFill>
                  <a:srgbClr val="2EB872"/>
                </a:solidFill>
                <a:latin typeface="Georgia" pitchFamily="34" charset="0"/>
                <a:ea typeface="Georgia" pitchFamily="34" charset="-122"/>
                <a:cs typeface="Georgia" pitchFamily="34" charset="-120"/>
              </a:rPr>
              <a:t> (3) _____ </a:t>
            </a:r>
            <a:pPr indent="0" marL="0">
              <a:buNone/>
            </a:pPr>
            <a:r>
              <a:rPr lang="en-US" sz="1050" dirty="0">
                <a:solidFill>
                  <a:srgbClr val="1B2559"/>
                </a:solidFill>
                <a:latin typeface="Georgia" pitchFamily="34" charset="0"/>
                <a:ea typeface="Georgia" pitchFamily="34" charset="-122"/>
                <a:cs typeface="Georgia" pitchFamily="34" charset="-120"/>
              </a:rPr>
              <a:t>.</a:t>
            </a:r>
            <a:endParaRPr lang="en-US" sz="1050" dirty="0"/>
          </a:p>
        </p:txBody>
      </p:sp>
      <p:sp>
        <p:nvSpPr>
          <p:cNvPr id="23" name="R2_lnA249"/>
          <p:cNvSpPr/>
          <p:nvPr/>
        </p:nvSpPr>
        <p:spPr>
          <a:xfrm>
            <a:off x="548640" y="4244340"/>
            <a:ext cx="5349240" cy="464820"/>
          </a:xfrm>
          <a:prstGeom prst="rect">
            <a:avLst/>
          </a:prstGeom>
          <a:solidFill>
            <a:srgbClr val="FFFFFF"/>
          </a:solid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It's my second one since arriving in Antarctica. I have to admit it, I smell awful… and my hair is absolutely </a:t>
            </a:r>
            <a:pPr indent="0" marL="0">
              <a:buNone/>
            </a:pPr>
            <a:r>
              <a:rPr lang="en-US" sz="1050" b="1" dirty="0">
                <a:solidFill>
                  <a:srgbClr val="1B2559"/>
                </a:solidFill>
                <a:highlight>
                  <a:srgbClr val="FFE066"/>
                </a:highlight>
                <a:latin typeface="Georgia" pitchFamily="34" charset="0"/>
                <a:ea typeface="Georgia" pitchFamily="34" charset="-122"/>
                <a:cs typeface="Georgia" pitchFamily="34" charset="-120"/>
              </a:rPr>
              <a:t>filthy</a:t>
            </a:r>
            <a:pPr indent="0" marL="0">
              <a:buNone/>
            </a:pPr>
            <a:r>
              <a:rPr lang="en-US" sz="1050" dirty="0">
                <a:solidFill>
                  <a:srgbClr val="1B2559"/>
                </a:solidFill>
                <a:latin typeface="Georgia" pitchFamily="34" charset="0"/>
                <a:ea typeface="Georgia" pitchFamily="34" charset="-122"/>
                <a:cs typeface="Georgia" pitchFamily="34" charset="-120"/>
              </a:rPr>
              <a:t>.</a:t>
            </a:r>
            <a:endParaRPr lang="en-US" sz="1050" dirty="0"/>
          </a:p>
        </p:txBody>
      </p:sp>
      <p:sp>
        <p:nvSpPr>
          <p:cNvPr id="24" name="pf_250"/>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5" name="ph_251" descr="/home/claude/lls-course/v2/cache/2b2_kite_ski_jpg_594x352_31.png">    </p:cNvPr>
          <p:cNvPicPr>
            <a:picLocks noChangeAspect="1"/>
          </p:cNvPicPr>
          <p:nvPr/>
        </p:nvPicPr>
        <p:blipFill>
          <a:blip r:embed="rId5"/>
          <a:stretch>
            <a:fillRect/>
          </a:stretch>
        </p:blipFill>
        <p:spPr>
          <a:xfrm rot="120000">
            <a:off x="6355080" y="2240280"/>
            <a:ext cx="2468880" cy="1463040"/>
          </a:xfrm>
          <a:prstGeom prst="rect">
            <a:avLst/>
          </a:prstGeom>
        </p:spPr>
      </p:pic>
      <p:sp>
        <p:nvSpPr>
          <p:cNvPr id="26" name="cd_252"/>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ii_253"/>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8" name="ih_254"/>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9" name="il_255"/>
          <p:cNvSpPr/>
          <p:nvPr/>
        </p:nvSpPr>
        <p:spPr>
          <a:xfrm>
            <a:off x="6830568" y="4270248"/>
            <a:ext cx="1993392" cy="41148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managed to = riuscire a</a:t>
            </a:r>
            <a:endParaRPr lang="en-US" sz="1000" dirty="0"/>
          </a:p>
          <a:p>
            <a:pPr marL="342900" indent="-3429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awful = terrible · terribile</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56"/>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57"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258"/>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polar challenge 3</a:t>
            </a:r>
            <a:endParaRPr lang="en-US" sz="2500" dirty="0"/>
          </a:p>
        </p:txBody>
      </p:sp>
      <p:pic>
        <p:nvPicPr>
          <p:cNvPr id="6" name="brP_259"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260"/>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entries 7–9. Guess the missing words.</a:t>
            </a:r>
            <a:endParaRPr lang="en-US" sz="1250" dirty="0"/>
          </a:p>
        </p:txBody>
      </p:sp>
      <p:sp>
        <p:nvSpPr>
          <p:cNvPr id="8" name="insIT_26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i post 7–9. Indovina le parole mancanti.</a:t>
            </a:r>
            <a:endParaRPr lang="en-US" sz="950" dirty="0"/>
          </a:p>
        </p:txBody>
      </p:sp>
      <p:sp>
        <p:nvSpPr>
          <p:cNvPr id="9" name="cmd_262"/>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300" dirty="0"/>
          </a:p>
        </p:txBody>
      </p:sp>
      <p:sp>
        <p:nvSpPr>
          <p:cNvPr id="10" name="cmd_263"/>
          <p:cNvSpPr/>
          <p:nvPr/>
        </p:nvSpPr>
        <p:spPr>
          <a:xfrm>
            <a:off x="6583680" y="566928"/>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300" dirty="0"/>
          </a:p>
        </p:txBody>
      </p:sp>
      <p:sp>
        <p:nvSpPr>
          <p:cNvPr id="11" name="meta_264"/>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12" name="logo_26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6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2B-2 · Reading · the blog (3)   ·   📖 SB p.22 · blog entries F, A, G</a:t>
            </a:r>
            <a:endParaRPr lang="en-US" sz="800" dirty="0"/>
          </a:p>
        </p:txBody>
      </p:sp>
      <p:sp>
        <p:nvSpPr>
          <p:cNvPr id="14" name="cd_267"/>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268"/>
          <p:cNvSpPr/>
          <p:nvPr/>
        </p:nvSpPr>
        <p:spPr>
          <a:xfrm>
            <a:off x="320040" y="1417320"/>
            <a:ext cx="5715000" cy="438912"/>
          </a:xfrm>
          <a:prstGeom prst="rect">
            <a:avLst/>
          </a:prstGeom>
          <a:solidFill>
            <a:srgbClr val="E3F7EA"/>
          </a:solidFill>
          <a:ln/>
        </p:spPr>
        <p:txBody>
          <a:bodyPr wrap="square" lIns="0" tIns="20320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Entries 7–9 · F · A · G</a:t>
            </a:r>
            <a:endParaRPr lang="en-US" sz="1700" dirty="0"/>
          </a:p>
        </p:txBody>
      </p:sp>
      <p:sp>
        <p:nvSpPr>
          <p:cNvPr id="16" name="ln_269"/>
          <p:cNvSpPr/>
          <p:nvPr/>
        </p:nvSpPr>
        <p:spPr>
          <a:xfrm>
            <a:off x="548640" y="192024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7 · F   We're now only 150 miles from our destination. For the last few days, we've only been using bikes and cross-country skis, not kite-skis.</a:t>
            </a:r>
            <a:endParaRPr lang="en-US" sz="1050" dirty="0"/>
          </a:p>
        </p:txBody>
      </p:sp>
      <p:sp>
        <p:nvSpPr>
          <p:cNvPr id="17" name="ln_270"/>
          <p:cNvSpPr/>
          <p:nvPr/>
        </p:nvSpPr>
        <p:spPr>
          <a:xfrm>
            <a:off x="548640" y="238506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Yesterday the morning went well, but then we hit some soft snow and ended up pushing the bikes for six miles. Today we used skis, but progress has been slow.</a:t>
            </a:r>
            <a:endParaRPr lang="en-US" sz="1050" dirty="0"/>
          </a:p>
        </p:txBody>
      </p:sp>
      <p:sp>
        <p:nvSpPr>
          <p:cNvPr id="18" name="ln_271"/>
          <p:cNvSpPr/>
          <p:nvPr/>
        </p:nvSpPr>
        <p:spPr>
          <a:xfrm>
            <a:off x="548640" y="284988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8 · A   It's over a month since we arrived in Antarctica, and if everything goes to plan, we should reach the South Pole late tonight.</a:t>
            </a:r>
            <a:endParaRPr lang="en-US" sz="1050" dirty="0"/>
          </a:p>
        </p:txBody>
      </p:sp>
      <p:sp>
        <p:nvSpPr>
          <p:cNvPr id="19" name="ln_272"/>
          <p:cNvSpPr/>
          <p:nvPr/>
        </p:nvSpPr>
        <p:spPr>
          <a:xfrm>
            <a:off x="548640" y="331470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I'm wearing a face mask because of the wind and sun. I may look like </a:t>
            </a:r>
            <a:pPr indent="0" marL="0">
              <a:buNone/>
            </a:pPr>
            <a:r>
              <a:rPr lang="en-US" sz="1050" b="1" dirty="0">
                <a:solidFill>
                  <a:srgbClr val="2EB872"/>
                </a:solidFill>
                <a:latin typeface="Georgia" pitchFamily="34" charset="0"/>
                <a:ea typeface="Georgia" pitchFamily="34" charset="-122"/>
                <a:cs typeface="Georgia" pitchFamily="34" charset="-120"/>
              </a:rPr>
              <a:t> (4) _____ </a:t>
            </a:r>
            <a:pPr indent="0" marL="0">
              <a:buNone/>
            </a:pPr>
            <a:r>
              <a:rPr lang="en-US" sz="1050" dirty="0">
                <a:solidFill>
                  <a:srgbClr val="1B2559"/>
                </a:solidFill>
                <a:latin typeface="Georgia" pitchFamily="34" charset="0"/>
                <a:ea typeface="Georgia" pitchFamily="34" charset="-122"/>
                <a:cs typeface="Georgia" pitchFamily="34" charset="-120"/>
              </a:rPr>
              <a:t>, but it will help me get there.</a:t>
            </a:r>
            <a:endParaRPr lang="en-US" sz="1050" dirty="0"/>
          </a:p>
        </p:txBody>
      </p:sp>
      <p:sp>
        <p:nvSpPr>
          <p:cNvPr id="20" name="R1_lnA273"/>
          <p:cNvSpPr/>
          <p:nvPr/>
        </p:nvSpPr>
        <p:spPr>
          <a:xfrm>
            <a:off x="548640" y="3314700"/>
            <a:ext cx="5349240" cy="464820"/>
          </a:xfrm>
          <a:prstGeom prst="rect">
            <a:avLst/>
          </a:prstGeom>
          <a:solidFill>
            <a:srgbClr val="FFFFFF"/>
          </a:solid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I'm wearing a face mask because of the wind and sun. I may look like </a:t>
            </a:r>
            <a:pPr indent="0" marL="0">
              <a:buNone/>
            </a:pPr>
            <a:r>
              <a:rPr lang="en-US" sz="1050" b="1" dirty="0">
                <a:solidFill>
                  <a:srgbClr val="1B2559"/>
                </a:solidFill>
                <a:highlight>
                  <a:srgbClr val="FFE066"/>
                </a:highlight>
                <a:latin typeface="Georgia" pitchFamily="34" charset="0"/>
                <a:ea typeface="Georgia" pitchFamily="34" charset="-122"/>
                <a:cs typeface="Georgia" pitchFamily="34" charset="-120"/>
              </a:rPr>
              <a:t>Darth Vader</a:t>
            </a:r>
            <a:pPr indent="0" marL="0">
              <a:buNone/>
            </a:pPr>
            <a:r>
              <a:rPr lang="en-US" sz="1050" dirty="0">
                <a:solidFill>
                  <a:srgbClr val="1B2559"/>
                </a:solidFill>
                <a:latin typeface="Georgia" pitchFamily="34" charset="0"/>
                <a:ea typeface="Georgia" pitchFamily="34" charset="-122"/>
                <a:cs typeface="Georgia" pitchFamily="34" charset="-120"/>
              </a:rPr>
              <a:t>, but it will help me get there.</a:t>
            </a:r>
            <a:endParaRPr lang="en-US" sz="1050" dirty="0"/>
          </a:p>
        </p:txBody>
      </p:sp>
      <p:sp>
        <p:nvSpPr>
          <p:cNvPr id="21" name="ln_274"/>
          <p:cNvSpPr/>
          <p:nvPr/>
        </p:nvSpPr>
        <p:spPr>
          <a:xfrm>
            <a:off x="548640" y="377952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9 · G   We've completed our 500-mile journey in 18 days!</a:t>
            </a:r>
            <a:endParaRPr lang="en-US" sz="1050" dirty="0"/>
          </a:p>
        </p:txBody>
      </p:sp>
      <p:sp>
        <p:nvSpPr>
          <p:cNvPr id="22" name="ln_275"/>
          <p:cNvSpPr/>
          <p:nvPr/>
        </p:nvSpPr>
        <p:spPr>
          <a:xfrm>
            <a:off x="548640" y="424434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When I talked to Dad on the phone, saying we've done it, I </a:t>
            </a:r>
            <a:pPr indent="0" marL="0">
              <a:buNone/>
            </a:pPr>
            <a:r>
              <a:rPr lang="en-US" sz="1050" b="1" dirty="0">
                <a:solidFill>
                  <a:srgbClr val="2EB872"/>
                </a:solidFill>
                <a:latin typeface="Georgia" pitchFamily="34" charset="0"/>
                <a:ea typeface="Georgia" pitchFamily="34" charset="-122"/>
                <a:cs typeface="Georgia" pitchFamily="34" charset="-120"/>
              </a:rPr>
              <a:t> (5) _____ </a:t>
            </a:r>
            <a:pPr indent="0" marL="0">
              <a:buNone/>
            </a:pPr>
            <a:r>
              <a:rPr lang="en-US" sz="1050" dirty="0">
                <a:solidFill>
                  <a:srgbClr val="1B2559"/>
                </a:solidFill>
                <a:latin typeface="Georgia" pitchFamily="34" charset="0"/>
                <a:ea typeface="Georgia" pitchFamily="34" charset="-122"/>
                <a:cs typeface="Georgia" pitchFamily="34" charset="-120"/>
              </a:rPr>
              <a:t>. This is the biggest thing I have ever been part of.</a:t>
            </a:r>
            <a:endParaRPr lang="en-US" sz="1050" dirty="0"/>
          </a:p>
        </p:txBody>
      </p:sp>
      <p:sp>
        <p:nvSpPr>
          <p:cNvPr id="23" name="R2_lnA276"/>
          <p:cNvSpPr/>
          <p:nvPr/>
        </p:nvSpPr>
        <p:spPr>
          <a:xfrm>
            <a:off x="548640" y="4244340"/>
            <a:ext cx="5349240" cy="464820"/>
          </a:xfrm>
          <a:prstGeom prst="rect">
            <a:avLst/>
          </a:prstGeom>
          <a:solidFill>
            <a:srgbClr val="FFFFFF"/>
          </a:solid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When I talked to Dad on the phone, saying we've done it, I </a:t>
            </a:r>
            <a:pPr indent="0" marL="0">
              <a:buNone/>
            </a:pPr>
            <a:r>
              <a:rPr lang="en-US" sz="1050" b="1" dirty="0">
                <a:solidFill>
                  <a:srgbClr val="1B2559"/>
                </a:solidFill>
                <a:highlight>
                  <a:srgbClr val="FFE066"/>
                </a:highlight>
                <a:latin typeface="Georgia" pitchFamily="34" charset="0"/>
                <a:ea typeface="Georgia" pitchFamily="34" charset="-122"/>
                <a:cs typeface="Georgia" pitchFamily="34" charset="-120"/>
              </a:rPr>
              <a:t>cried</a:t>
            </a:r>
            <a:pPr indent="0" marL="0">
              <a:buNone/>
            </a:pPr>
            <a:r>
              <a:rPr lang="en-US" sz="1050" dirty="0">
                <a:solidFill>
                  <a:srgbClr val="1B2559"/>
                </a:solidFill>
                <a:latin typeface="Georgia" pitchFamily="34" charset="0"/>
                <a:ea typeface="Georgia" pitchFamily="34" charset="-122"/>
                <a:cs typeface="Georgia" pitchFamily="34" charset="-120"/>
              </a:rPr>
              <a:t>. This is the biggest thing I have ever been part of.</a:t>
            </a:r>
            <a:endParaRPr lang="en-US" sz="1050" dirty="0"/>
          </a:p>
        </p:txBody>
      </p:sp>
      <p:sp>
        <p:nvSpPr>
          <p:cNvPr id="24" name="pf_277"/>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5" name="phx_278"/>
          <p:cNvSpPr/>
          <p:nvPr/>
        </p:nvSpPr>
        <p:spPr>
          <a:xfrm>
            <a:off x="6355080" y="2240280"/>
            <a:ext cx="2468880" cy="14630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2b2-antarctic-tent.jpg</a:t>
            </a:r>
            <a:endParaRPr lang="en-US" sz="900" dirty="0"/>
          </a:p>
        </p:txBody>
      </p:sp>
      <p:sp>
        <p:nvSpPr>
          <p:cNvPr id="26" name="cd_279"/>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ii_280"/>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8" name="ih_281"/>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9" name="il_282"/>
          <p:cNvSpPr/>
          <p:nvPr/>
        </p:nvSpPr>
        <p:spPr>
          <a:xfrm>
            <a:off x="6830568" y="4270248"/>
            <a:ext cx="1993392" cy="41148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progress = progressi</a:t>
            </a:r>
            <a:endParaRPr lang="en-US" sz="1000" dirty="0"/>
          </a:p>
          <a:p>
            <a:pPr marL="342900" indent="-3429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ended up pushing = alla fine abbiamo spinto</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83"/>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284"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285"/>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Which entry?</a:t>
            </a:r>
            <a:endParaRPr lang="en-US" sz="2500" dirty="0"/>
          </a:p>
        </p:txBody>
      </p:sp>
      <p:pic>
        <p:nvPicPr>
          <p:cNvPr id="6" name="brP_286"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287"/>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In which entry does Helen talk about…?</a:t>
            </a:r>
            <a:endParaRPr lang="en-US" sz="1250" dirty="0"/>
          </a:p>
        </p:txBody>
      </p:sp>
      <p:sp>
        <p:nvSpPr>
          <p:cNvPr id="8" name="insIT_28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 quale post Helen parla di…?</a:t>
            </a:r>
            <a:endParaRPr lang="en-US" sz="950" dirty="0"/>
          </a:p>
        </p:txBody>
      </p:sp>
      <p:sp>
        <p:nvSpPr>
          <p:cNvPr id="9" name="cmd_289"/>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FIND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TROVA</a:t>
            </a:r>
            <a:endParaRPr lang="en-US" sz="1300" dirty="0"/>
          </a:p>
        </p:txBody>
      </p:sp>
      <p:sp>
        <p:nvSpPr>
          <p:cNvPr id="10" name="meta_290"/>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1" name="logo_29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29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2B-2 · Reading · detail   ·   📖 SB p.22 · 6d, 6e</a:t>
            </a:r>
            <a:endParaRPr lang="en-US" sz="800" dirty="0"/>
          </a:p>
        </p:txBody>
      </p:sp>
      <p:sp>
        <p:nvSpPr>
          <p:cNvPr id="13" name="cd_293"/>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29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295"/>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6" name="il_296"/>
          <p:cNvSpPr/>
          <p:nvPr/>
        </p:nvSpPr>
        <p:spPr>
          <a:xfrm>
            <a:off x="886968" y="1892808"/>
            <a:ext cx="2039112" cy="5486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looking forward to a wash → H · "hot water… a good wash"</a:t>
            </a:r>
            <a:endParaRPr lang="en-US" sz="1050" dirty="0"/>
          </a:p>
        </p:txBody>
      </p:sp>
      <p:sp>
        <p:nvSpPr>
          <p:cNvPr id="17" name="pf_297"/>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298" descr="/home/claude/lls-course/v2/cache/2b2_exhausted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19" name="bd_299"/>
          <p:cNvSpPr/>
          <p:nvPr/>
        </p:nvSpPr>
        <p:spPr>
          <a:xfrm>
            <a:off x="3246120" y="14447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q_300"/>
          <p:cNvSpPr/>
          <p:nvPr/>
        </p:nvSpPr>
        <p:spPr>
          <a:xfrm>
            <a:off x="3630168" y="1417320"/>
            <a:ext cx="2103120" cy="365760"/>
          </a:xfrm>
          <a:prstGeom prst="roundRect">
            <a:avLst>
              <a:gd name="adj" fmla="val 25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feeling very emotional</a:t>
            </a:r>
            <a:endParaRPr lang="en-US" sz="1150" dirty="0"/>
          </a:p>
        </p:txBody>
      </p:sp>
      <p:sp>
        <p:nvSpPr>
          <p:cNvPr id="21" name="R1_chip301"/>
          <p:cNvSpPr/>
          <p:nvPr/>
        </p:nvSpPr>
        <p:spPr>
          <a:xfrm>
            <a:off x="5806440" y="1417320"/>
            <a:ext cx="3063240" cy="365760"/>
          </a:xfrm>
          <a:prstGeom prst="roundRect">
            <a:avLst>
              <a:gd name="adj" fmla="val 25000"/>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G · "I cried"</a:t>
            </a:r>
            <a:endParaRPr lang="en-US" sz="1000" dirty="0"/>
          </a:p>
        </p:txBody>
      </p:sp>
      <p:sp>
        <p:nvSpPr>
          <p:cNvPr id="22" name="bd_302"/>
          <p:cNvSpPr/>
          <p:nvPr/>
        </p:nvSpPr>
        <p:spPr>
          <a:xfrm>
            <a:off x="3246120" y="185623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3" name="q_303"/>
          <p:cNvSpPr/>
          <p:nvPr/>
        </p:nvSpPr>
        <p:spPr>
          <a:xfrm>
            <a:off x="3630168" y="1828800"/>
            <a:ext cx="2103120" cy="365760"/>
          </a:xfrm>
          <a:prstGeom prst="roundRect">
            <a:avLst>
              <a:gd name="adj" fmla="val 25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how beautiful Antarctica is</a:t>
            </a:r>
            <a:endParaRPr lang="en-US" sz="1150" dirty="0"/>
          </a:p>
        </p:txBody>
      </p:sp>
      <p:sp>
        <p:nvSpPr>
          <p:cNvPr id="24" name="R2_chip304"/>
          <p:cNvSpPr/>
          <p:nvPr/>
        </p:nvSpPr>
        <p:spPr>
          <a:xfrm>
            <a:off x="5806440" y="1828800"/>
            <a:ext cx="3063240" cy="365760"/>
          </a:xfrm>
          <a:prstGeom prst="roundRect">
            <a:avLst>
              <a:gd name="adj" fmla="val 25000"/>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B · "the scenery was incredible"</a:t>
            </a:r>
            <a:endParaRPr lang="en-US" sz="1000" dirty="0"/>
          </a:p>
        </p:txBody>
      </p:sp>
      <p:sp>
        <p:nvSpPr>
          <p:cNvPr id="25" name="bd_305"/>
          <p:cNvSpPr/>
          <p:nvPr/>
        </p:nvSpPr>
        <p:spPr>
          <a:xfrm>
            <a:off x="3246120" y="22677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6" name="q_306"/>
          <p:cNvSpPr/>
          <p:nvPr/>
        </p:nvSpPr>
        <p:spPr>
          <a:xfrm>
            <a:off x="3630168" y="2240280"/>
            <a:ext cx="2103120" cy="365760"/>
          </a:xfrm>
          <a:prstGeom prst="roundRect">
            <a:avLst>
              <a:gd name="adj" fmla="val 25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same clothes every day</a:t>
            </a:r>
            <a:endParaRPr lang="en-US" sz="1150" dirty="0"/>
          </a:p>
        </p:txBody>
      </p:sp>
      <p:sp>
        <p:nvSpPr>
          <p:cNvPr id="27" name="R3_chip307"/>
          <p:cNvSpPr/>
          <p:nvPr/>
        </p:nvSpPr>
        <p:spPr>
          <a:xfrm>
            <a:off x="5806440" y="2240280"/>
            <a:ext cx="3063240" cy="365760"/>
          </a:xfrm>
          <a:prstGeom prst="roundRect">
            <a:avLst>
              <a:gd name="adj" fmla="val 25000"/>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 · "no clean clothes for three weeks"</a:t>
            </a:r>
            <a:endParaRPr lang="en-US" sz="1000" dirty="0"/>
          </a:p>
        </p:txBody>
      </p:sp>
      <p:sp>
        <p:nvSpPr>
          <p:cNvPr id="28" name="bd_308"/>
          <p:cNvSpPr/>
          <p:nvPr/>
        </p:nvSpPr>
        <p:spPr>
          <a:xfrm>
            <a:off x="3246120" y="267919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9" name="q_309"/>
          <p:cNvSpPr/>
          <p:nvPr/>
        </p:nvSpPr>
        <p:spPr>
          <a:xfrm>
            <a:off x="3630168" y="2651760"/>
            <a:ext cx="2103120" cy="365760"/>
          </a:xfrm>
          <a:prstGeom prst="roundRect">
            <a:avLst>
              <a:gd name="adj" fmla="val 25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travelling fast for the first time</a:t>
            </a:r>
            <a:endParaRPr lang="en-US" sz="1150" dirty="0"/>
          </a:p>
        </p:txBody>
      </p:sp>
      <p:sp>
        <p:nvSpPr>
          <p:cNvPr id="30" name="R4_chip310"/>
          <p:cNvSpPr/>
          <p:nvPr/>
        </p:nvSpPr>
        <p:spPr>
          <a:xfrm>
            <a:off x="5806440" y="2651760"/>
            <a:ext cx="3063240" cy="365760"/>
          </a:xfrm>
          <a:prstGeom prst="roundRect">
            <a:avLst>
              <a:gd name="adj" fmla="val 25000"/>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E · "straight away… travelling fast"</a:t>
            </a:r>
            <a:endParaRPr lang="en-US" sz="1000" dirty="0"/>
          </a:p>
        </p:txBody>
      </p:sp>
      <p:sp>
        <p:nvSpPr>
          <p:cNvPr id="31" name="bd_311"/>
          <p:cNvSpPr/>
          <p:nvPr/>
        </p:nvSpPr>
        <p:spPr>
          <a:xfrm>
            <a:off x="3246120" y="30906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2" name="q_312"/>
          <p:cNvSpPr/>
          <p:nvPr/>
        </p:nvSpPr>
        <p:spPr>
          <a:xfrm>
            <a:off x="3630168" y="3063240"/>
            <a:ext cx="2103120" cy="365760"/>
          </a:xfrm>
          <a:prstGeom prst="roundRect">
            <a:avLst>
              <a:gd name="adj" fmla="val 25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looking like a sci-fi character</a:t>
            </a:r>
            <a:endParaRPr lang="en-US" sz="1150" dirty="0"/>
          </a:p>
        </p:txBody>
      </p:sp>
      <p:sp>
        <p:nvSpPr>
          <p:cNvPr id="33" name="R5_chip313"/>
          <p:cNvSpPr/>
          <p:nvPr/>
        </p:nvSpPr>
        <p:spPr>
          <a:xfrm>
            <a:off x="5806440" y="3063240"/>
            <a:ext cx="3063240" cy="365760"/>
          </a:xfrm>
          <a:prstGeom prst="roundRect">
            <a:avLst>
              <a:gd name="adj" fmla="val 25000"/>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 "I may look like Darth Vader"</a:t>
            </a:r>
            <a:endParaRPr lang="en-US" sz="1000" dirty="0"/>
          </a:p>
        </p:txBody>
      </p:sp>
      <p:sp>
        <p:nvSpPr>
          <p:cNvPr id="34" name="bd_314"/>
          <p:cNvSpPr/>
          <p:nvPr/>
        </p:nvSpPr>
        <p:spPr>
          <a:xfrm>
            <a:off x="3246120" y="350215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5" name="q_315"/>
          <p:cNvSpPr/>
          <p:nvPr/>
        </p:nvSpPr>
        <p:spPr>
          <a:xfrm>
            <a:off x="3630168" y="3474720"/>
            <a:ext cx="2103120" cy="365760"/>
          </a:xfrm>
          <a:prstGeom prst="roundRect">
            <a:avLst>
              <a:gd name="adj" fmla="val 25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not able to go outside</a:t>
            </a:r>
            <a:endParaRPr lang="en-US" sz="1150" dirty="0"/>
          </a:p>
        </p:txBody>
      </p:sp>
      <p:sp>
        <p:nvSpPr>
          <p:cNvPr id="36" name="R6_chip316"/>
          <p:cNvSpPr/>
          <p:nvPr/>
        </p:nvSpPr>
        <p:spPr>
          <a:xfrm>
            <a:off x="5806440" y="3474720"/>
            <a:ext cx="3063240" cy="365760"/>
          </a:xfrm>
          <a:prstGeom prst="roundRect">
            <a:avLst>
              <a:gd name="adj" fmla="val 25000"/>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D · "we've had to stay in the tent"</a:t>
            </a:r>
            <a:endParaRPr lang="en-US" sz="1000" dirty="0"/>
          </a:p>
        </p:txBody>
      </p:sp>
      <p:sp>
        <p:nvSpPr>
          <p:cNvPr id="37" name="bd_317"/>
          <p:cNvSpPr/>
          <p:nvPr/>
        </p:nvSpPr>
        <p:spPr>
          <a:xfrm>
            <a:off x="3246120" y="391363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8" name="q_318"/>
          <p:cNvSpPr/>
          <p:nvPr/>
        </p:nvSpPr>
        <p:spPr>
          <a:xfrm>
            <a:off x="3630168" y="3886200"/>
            <a:ext cx="2103120" cy="365760"/>
          </a:xfrm>
          <a:prstGeom prst="roundRect">
            <a:avLst>
              <a:gd name="adj" fmla="val 25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stopping cycling: very tired</a:t>
            </a:r>
            <a:endParaRPr lang="en-US" sz="1150" dirty="0"/>
          </a:p>
        </p:txBody>
      </p:sp>
      <p:sp>
        <p:nvSpPr>
          <p:cNvPr id="39" name="R7_chip319"/>
          <p:cNvSpPr/>
          <p:nvPr/>
        </p:nvSpPr>
        <p:spPr>
          <a:xfrm>
            <a:off x="5806440" y="3886200"/>
            <a:ext cx="3063240" cy="365760"/>
          </a:xfrm>
          <a:prstGeom prst="roundRect">
            <a:avLst>
              <a:gd name="adj" fmla="val 25000"/>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C · "I was completely exhausted"</a:t>
            </a:r>
            <a:endParaRPr lang="en-US" sz="1000" dirty="0"/>
          </a:p>
        </p:txBody>
      </p:sp>
      <p:sp>
        <p:nvSpPr>
          <p:cNvPr id="40" name="bd_320"/>
          <p:cNvSpPr/>
          <p:nvPr/>
        </p:nvSpPr>
        <p:spPr>
          <a:xfrm>
            <a:off x="3246120" y="432511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1" name="q_321"/>
          <p:cNvSpPr/>
          <p:nvPr/>
        </p:nvSpPr>
        <p:spPr>
          <a:xfrm>
            <a:off x="3630168" y="4297680"/>
            <a:ext cx="2103120" cy="365760"/>
          </a:xfrm>
          <a:prstGeom prst="roundRect">
            <a:avLst>
              <a:gd name="adj" fmla="val 25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stopping one kind of transport</a:t>
            </a:r>
            <a:endParaRPr lang="en-US" sz="1150" dirty="0"/>
          </a:p>
        </p:txBody>
      </p:sp>
      <p:sp>
        <p:nvSpPr>
          <p:cNvPr id="42" name="R8_chip322"/>
          <p:cNvSpPr/>
          <p:nvPr/>
        </p:nvSpPr>
        <p:spPr>
          <a:xfrm>
            <a:off x="5806440" y="4297680"/>
            <a:ext cx="3063240" cy="365760"/>
          </a:xfrm>
          <a:prstGeom prst="roundRect">
            <a:avLst>
              <a:gd name="adj" fmla="val 25000"/>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F · "not kite-skis"</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400"/>
                                        <p:tgtEl>
                                          <p:spTgt spid="3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2"/>
                                        </p:tgtEl>
                                        <p:attrNameLst>
                                          <p:attrName>style.visibility</p:attrName>
                                        </p:attrNameLst>
                                      </p:cBhvr>
                                      <p:to>
                                        <p:strVal val="visible"/>
                                      </p:to>
                                    </p:set>
                                    <p:animEffect transition="in" filter="fade">
                                      <p:cBhvr>
                                        <p:cTn id="42"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2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24" descr="/home/claude/lls-course/v2/assets/brush-yellow.png">    </p:cNvPr>
          <p:cNvPicPr>
            <a:picLocks noChangeAspect="1"/>
          </p:cNvPicPr>
          <p:nvPr/>
        </p:nvPicPr>
        <p:blipFill>
          <a:blip r:embed="rId2"/>
          <a:stretch>
            <a:fillRect/>
          </a:stretch>
        </p:blipFill>
        <p:spPr>
          <a:xfrm>
            <a:off x="1097280" y="146304"/>
            <a:ext cx="4663440" cy="621792"/>
          </a:xfrm>
          <a:prstGeom prst="rect">
            <a:avLst/>
          </a:prstGeom>
        </p:spPr>
      </p:pic>
      <p:sp>
        <p:nvSpPr>
          <p:cNvPr id="5" name="title_325"/>
          <p:cNvSpPr/>
          <p:nvPr/>
        </p:nvSpPr>
        <p:spPr>
          <a:xfrm>
            <a:off x="1261872" y="164592"/>
            <a:ext cx="438912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Not just cold – freezing!</a:t>
            </a:r>
            <a:endParaRPr lang="en-US" sz="2500" dirty="0"/>
          </a:p>
        </p:txBody>
      </p:sp>
      <p:pic>
        <p:nvPicPr>
          <p:cNvPr id="6" name="brP_326"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327"/>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Write the normal adjective. Then listen.</a:t>
            </a:r>
            <a:endParaRPr lang="en-US" sz="1250" dirty="0"/>
          </a:p>
        </p:txBody>
      </p:sp>
      <p:sp>
        <p:nvSpPr>
          <p:cNvPr id="8" name="insIT_32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Scrivi l'aggettivo normale. Poi ascolta.</a:t>
            </a:r>
            <a:endParaRPr lang="en-US" sz="950" dirty="0"/>
          </a:p>
        </p:txBody>
      </p:sp>
      <p:sp>
        <p:nvSpPr>
          <p:cNvPr id="9" name="cmd_329"/>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0" name="cmd_330"/>
          <p:cNvSpPr/>
          <p:nvPr/>
        </p:nvSpPr>
        <p:spPr>
          <a:xfrm>
            <a:off x="6583680" y="566928"/>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COMPLETA</a:t>
            </a:r>
            <a:endParaRPr lang="en-US" sz="1300" dirty="0"/>
          </a:p>
        </p:txBody>
      </p:sp>
      <p:sp>
        <p:nvSpPr>
          <p:cNvPr id="11" name="meta_331"/>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2" name="logo_33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3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2B-2 · Vocabulary · strong adjectives (1)   ·   📖 SB p.23 · 7a, 7b, 7c · audio 2.20</a:t>
            </a:r>
            <a:endParaRPr lang="en-US" sz="800" dirty="0"/>
          </a:p>
        </p:txBody>
      </p:sp>
      <p:sp>
        <p:nvSpPr>
          <p:cNvPr id="14" name="ap_334"/>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2.20  ·  pause after each one</a:t>
            </a:r>
            <a:endParaRPr lang="en-US" sz="1100" dirty="0"/>
          </a:p>
        </p:txBody>
      </p:sp>
      <p:sp>
        <p:nvSpPr>
          <p:cNvPr id="15" name="ah_335"/>
          <p:cNvSpPr/>
          <p:nvPr/>
        </p:nvSpPr>
        <p:spPr>
          <a:xfrm>
            <a:off x="6986016"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click ▶</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973568" y="4553712"/>
            <a:ext cx="411480" cy="411480"/>
          </a:xfrm>
          <a:prstGeom prst="rect">
            <a:avLst/>
          </a:prstGeom>
        </p:spPr>
      </p:pic>
      <p:sp>
        <p:nvSpPr>
          <p:cNvPr id="17" name="pf_336"/>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8" name="phx_337"/>
          <p:cNvSpPr/>
          <p:nvPr/>
        </p:nvSpPr>
        <p:spPr>
          <a:xfrm>
            <a:off x="457200" y="2103120"/>
            <a:ext cx="2606040" cy="16916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2b2-furious.jpg</a:t>
            </a:r>
            <a:endParaRPr lang="en-US" sz="900" dirty="0"/>
          </a:p>
        </p:txBody>
      </p:sp>
      <p:sp>
        <p:nvSpPr>
          <p:cNvPr id="19" name="cd_338"/>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339"/>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340"/>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il_341"/>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3" name="gq_342"/>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Was Lisa's father ___ about the car accident? – Yes, he was furious!</a:t>
            </a:r>
            <a:endParaRPr lang="en-US" sz="1200" dirty="0"/>
          </a:p>
        </p:txBody>
      </p:sp>
      <p:sp>
        <p:nvSpPr>
          <p:cNvPr id="24" name="R1_chip343"/>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angry</a:t>
            </a:r>
            <a:endParaRPr lang="en-US" sz="1200" dirty="0"/>
          </a:p>
        </p:txBody>
      </p:sp>
      <p:sp>
        <p:nvSpPr>
          <p:cNvPr id="25" name="gq_344"/>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Is Oliver's flat ___? – Yes, it's really tiny.</a:t>
            </a:r>
            <a:endParaRPr lang="en-US" sz="1200" dirty="0"/>
          </a:p>
        </p:txBody>
      </p:sp>
      <p:sp>
        <p:nvSpPr>
          <p:cNvPr id="26" name="R2_chip345"/>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small</a:t>
            </a:r>
            <a:endParaRPr lang="en-US" sz="1200" dirty="0"/>
          </a:p>
        </p:txBody>
      </p:sp>
      <p:sp>
        <p:nvSpPr>
          <p:cNvPr id="27" name="gq_346"/>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Are you ___ of flying? – Yes, I'm terrified!</a:t>
            </a:r>
            <a:endParaRPr lang="en-US" sz="1200" dirty="0"/>
          </a:p>
        </p:txBody>
      </p:sp>
      <p:sp>
        <p:nvSpPr>
          <p:cNvPr id="28" name="R3_chip347"/>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afraid</a:t>
            </a:r>
            <a:endParaRPr lang="en-US" sz="1200" dirty="0"/>
          </a:p>
        </p:txBody>
      </p:sp>
      <p:sp>
        <p:nvSpPr>
          <p:cNvPr id="29" name="gq_348"/>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There was an ___ documentary on TV. – Yes, it was fascinating.</a:t>
            </a:r>
            <a:endParaRPr lang="en-US" sz="1200" dirty="0"/>
          </a:p>
        </p:txBody>
      </p:sp>
      <p:sp>
        <p:nvSpPr>
          <p:cNvPr id="30" name="R4_chip349"/>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interesting</a:t>
            </a:r>
            <a:endParaRPr lang="en-US" sz="1200" dirty="0"/>
          </a:p>
        </p:txBody>
      </p:sp>
      <p:sp>
        <p:nvSpPr>
          <p:cNvPr id="31" name="gq_350"/>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Are you very ___? – I'm starving! I haven't eaten all day.</a:t>
            </a:r>
            <a:endParaRPr lang="en-US" sz="1200" dirty="0"/>
          </a:p>
        </p:txBody>
      </p:sp>
      <p:sp>
        <p:nvSpPr>
          <p:cNvPr id="32" name="R5_chip351"/>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hungry</a:t>
            </a:r>
            <a:endParaRPr lang="en-US" sz="1200" dirty="0"/>
          </a:p>
        </p:txBody>
      </p:sp>
      <p:sp>
        <p:nvSpPr>
          <p:cNvPr id="33" name="gq_352"/>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Is your parents' house ___? – It's huge. It has seven bedrooms.</a:t>
            </a:r>
            <a:endParaRPr lang="en-US" sz="1200" dirty="0"/>
          </a:p>
        </p:txBody>
      </p:sp>
      <p:sp>
        <p:nvSpPr>
          <p:cNvPr id="34" name="R6_chip353"/>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big</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6"/>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6"/>
                                        </p:tgtEl>
                                      </p:cBhvr>
                                    </p:cmd>
                                  </p:childTnLst>
                                </p:cTn>
                              </p:par>
                            </p:childTnLst>
                          </p:cTn>
                        </p:par>
                      </p:childTnLst>
                    </p:cTn>
                  </p:par>
                </p:childTnLst>
              </p:cTn>
              <p:nextCondLst>
                <p:cond evt="onClick" delay="0">
                  <p:tgtEl>
                    <p:spTgt spid="16"/>
                  </p:tgtEl>
                </p:cond>
              </p:nextCondLst>
            </p:seq>
            <p:audio>
              <p:cMediaNode vol="80000">
                <p:cTn id="38" fill="hold" display="0">
                  <p:stCondLst>
                    <p:cond delay="indefinite"/>
                  </p:stCondLst>
                  <p:endCondLst>
                    <p:cond evt="onStopAudio" delay="0">
                      <p:tgtEl>
                        <p:sldTgt/>
                      </p:tgtEl>
                    </p:cond>
                  </p:endCondLst>
                </p:cTn>
                <p:tgtEl>
                  <p:spTgt spid="16"/>
                </p:tgtEl>
              </p:cMediaNode>
            </p:audio>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54"/>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355" descr="/home/claude/lls-course/v2/assets/brush-yellow.png">    </p:cNvPr>
          <p:cNvPicPr>
            <a:picLocks noChangeAspect="1"/>
          </p:cNvPicPr>
          <p:nvPr/>
        </p:nvPicPr>
        <p:blipFill>
          <a:blip r:embed="rId2"/>
          <a:stretch>
            <a:fillRect/>
          </a:stretch>
        </p:blipFill>
        <p:spPr>
          <a:xfrm>
            <a:off x="1097280" y="146304"/>
            <a:ext cx="4977994" cy="621792"/>
          </a:xfrm>
          <a:prstGeom prst="rect">
            <a:avLst/>
          </a:prstGeom>
        </p:spPr>
      </p:pic>
      <p:sp>
        <p:nvSpPr>
          <p:cNvPr id="5" name="title_356"/>
          <p:cNvSpPr/>
          <p:nvPr/>
        </p:nvSpPr>
        <p:spPr>
          <a:xfrm>
            <a:off x="1261872" y="164592"/>
            <a:ext cx="470367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Not just funny – hilarious!</a:t>
            </a:r>
            <a:endParaRPr lang="en-US" sz="2500" dirty="0"/>
          </a:p>
        </p:txBody>
      </p:sp>
      <p:pic>
        <p:nvPicPr>
          <p:cNvPr id="6" name="brP_357"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358"/>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Write the normal adjective. Then listen.</a:t>
            </a:r>
            <a:endParaRPr lang="en-US" sz="1250" dirty="0"/>
          </a:p>
        </p:txBody>
      </p:sp>
      <p:sp>
        <p:nvSpPr>
          <p:cNvPr id="8" name="insIT_35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Scrivi l'aggettivo normale. Poi ascolta.</a:t>
            </a:r>
            <a:endParaRPr lang="en-US" sz="950" dirty="0"/>
          </a:p>
        </p:txBody>
      </p:sp>
      <p:sp>
        <p:nvSpPr>
          <p:cNvPr id="9" name="cmd_360"/>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0" name="cmd_361"/>
          <p:cNvSpPr/>
          <p:nvPr/>
        </p:nvSpPr>
        <p:spPr>
          <a:xfrm>
            <a:off x="6583680" y="566928"/>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COMPLETA</a:t>
            </a:r>
            <a:endParaRPr lang="en-US" sz="1300" dirty="0"/>
          </a:p>
        </p:txBody>
      </p:sp>
      <p:sp>
        <p:nvSpPr>
          <p:cNvPr id="11" name="meta_362"/>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2" name="logo_36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6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2B-2 · Vocabulary · strong adjectives (2)   ·   📖 SB p.23 · 7b, 7c · audio 2.20</a:t>
            </a:r>
            <a:endParaRPr lang="en-US" sz="800" dirty="0"/>
          </a:p>
        </p:txBody>
      </p:sp>
      <p:sp>
        <p:nvSpPr>
          <p:cNvPr id="14" name="ap_365"/>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2.20  ·  pause after each one</a:t>
            </a:r>
            <a:endParaRPr lang="en-US" sz="1100" dirty="0"/>
          </a:p>
        </p:txBody>
      </p:sp>
      <p:sp>
        <p:nvSpPr>
          <p:cNvPr id="15" name="ah_366"/>
          <p:cNvSpPr/>
          <p:nvPr/>
        </p:nvSpPr>
        <p:spPr>
          <a:xfrm>
            <a:off x="6986016"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click ▶</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973568" y="4553712"/>
            <a:ext cx="411480" cy="411480"/>
          </a:xfrm>
          <a:prstGeom prst="rect">
            <a:avLst/>
          </a:prstGeom>
        </p:spPr>
      </p:pic>
      <p:sp>
        <p:nvSpPr>
          <p:cNvPr id="17" name="pf_367"/>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368" descr="/home/claude/lls-course/v2/cache/2b2_filthy_jpg_627x407_31.png">    </p:cNvPr>
          <p:cNvPicPr>
            <a:picLocks noChangeAspect="1"/>
          </p:cNvPicPr>
          <p:nvPr/>
        </p:nvPicPr>
        <p:blipFill>
          <a:blip r:embed="rId8"/>
          <a:stretch>
            <a:fillRect/>
          </a:stretch>
        </p:blipFill>
        <p:spPr>
          <a:xfrm rot="-90000">
            <a:off x="457200" y="2103120"/>
            <a:ext cx="2606040" cy="1691640"/>
          </a:xfrm>
          <a:prstGeom prst="rect">
            <a:avLst/>
          </a:prstGeom>
        </p:spPr>
      </p:pic>
      <p:sp>
        <p:nvSpPr>
          <p:cNvPr id="19" name="cd_369"/>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370"/>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371"/>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il_372"/>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3" name="gq_373"/>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7  Was it ___ in Dubai? – It was boiling! 45 degrees.</a:t>
            </a:r>
            <a:endParaRPr lang="en-US" sz="1200" dirty="0"/>
          </a:p>
        </p:txBody>
      </p:sp>
      <p:sp>
        <p:nvSpPr>
          <p:cNvPr id="24" name="R1_chip374"/>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hot</a:t>
            </a:r>
            <a:endParaRPr lang="en-US" sz="1200" dirty="0"/>
          </a:p>
        </p:txBody>
      </p:sp>
      <p:sp>
        <p:nvSpPr>
          <p:cNvPr id="25" name="gq_375"/>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8  Was Jack's kitchen ___? – It was filthy. It took us three hours to clean it.</a:t>
            </a:r>
            <a:endParaRPr lang="en-US" sz="1200" dirty="0"/>
          </a:p>
        </p:txBody>
      </p:sp>
      <p:sp>
        <p:nvSpPr>
          <p:cNvPr id="26" name="R2_chip376"/>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dirty</a:t>
            </a:r>
            <a:endParaRPr lang="en-US" sz="1200" dirty="0"/>
          </a:p>
        </p:txBody>
      </p:sp>
      <p:sp>
        <p:nvSpPr>
          <p:cNvPr id="27" name="gq_377"/>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9  Are your parents ___ about the wedding? – They're delighted!</a:t>
            </a:r>
            <a:endParaRPr lang="en-US" sz="1200" dirty="0"/>
          </a:p>
        </p:txBody>
      </p:sp>
      <p:sp>
        <p:nvSpPr>
          <p:cNvPr id="28" name="R3_chip378"/>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pleased</a:t>
            </a:r>
            <a:endParaRPr lang="en-US" sz="1200" dirty="0"/>
          </a:p>
        </p:txBody>
      </p:sp>
      <p:sp>
        <p:nvSpPr>
          <p:cNvPr id="29" name="gq_379"/>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10  Was the film ___? – It was hilarious. We laughed the whole way through.</a:t>
            </a:r>
            <a:endParaRPr lang="en-US" sz="1200" dirty="0"/>
          </a:p>
        </p:txBody>
      </p:sp>
      <p:sp>
        <p:nvSpPr>
          <p:cNvPr id="30" name="R4_chip380"/>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funny</a:t>
            </a:r>
            <a:endParaRPr lang="en-US" sz="1200" dirty="0"/>
          </a:p>
        </p:txBody>
      </p:sp>
      <p:sp>
        <p:nvSpPr>
          <p:cNvPr id="31" name="gq_381"/>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11  Are you ___ you locked the door? – I'm positive.</a:t>
            </a:r>
            <a:endParaRPr lang="en-US" sz="1200" dirty="0"/>
          </a:p>
        </p:txBody>
      </p:sp>
      <p:sp>
        <p:nvSpPr>
          <p:cNvPr id="32" name="R5_chip382"/>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sure</a:t>
            </a:r>
            <a:endParaRPr lang="en-US" sz="1200" dirty="0"/>
          </a:p>
        </p:txBody>
      </p:sp>
      <p:sp>
        <p:nvSpPr>
          <p:cNvPr id="33" name="gq_383"/>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12  Were you ___ to hear that Ted and Sonia have broken up? – I was absolutely amazed!</a:t>
            </a:r>
            <a:endParaRPr lang="en-US" sz="1200" dirty="0"/>
          </a:p>
        </p:txBody>
      </p:sp>
      <p:sp>
        <p:nvSpPr>
          <p:cNvPr id="34" name="R6_chip384"/>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surprised</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6"/>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6"/>
                                        </p:tgtEl>
                                      </p:cBhvr>
                                    </p:cmd>
                                  </p:childTnLst>
                                </p:cTn>
                              </p:par>
                            </p:childTnLst>
                          </p:cTn>
                        </p:par>
                      </p:childTnLst>
                    </p:cTn>
                  </p:par>
                </p:childTnLst>
              </p:cTn>
              <p:nextCondLst>
                <p:cond evt="onClick" delay="0">
                  <p:tgtEl>
                    <p:spTgt spid="16"/>
                  </p:tgtEl>
                </p:cond>
              </p:nextCondLst>
            </p:seq>
            <p:audio>
              <p:cMediaNode vol="80000">
                <p:cTn id="38" fill="hold" display="0">
                  <p:stCondLst>
                    <p:cond delay="indefinite"/>
                  </p:stCondLst>
                  <p:endCondLst>
                    <p:cond evt="onStopAudio" delay="0">
                      <p:tgtEl>
                        <p:sldTgt/>
                      </p:tgtEl>
                    </p:cond>
                  </p:endCondLst>
                </p:cTn>
                <p:tgtEl>
                  <p:spTgt spid="16"/>
                </p:tgtEl>
              </p:cMediaNode>
            </p:audio>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85"/>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386" descr="/home/claude/lls-course/v2/assets/brush-yellow.png">    </p:cNvPr>
          <p:cNvPicPr>
            <a:picLocks noChangeAspect="1"/>
          </p:cNvPicPr>
          <p:nvPr/>
        </p:nvPicPr>
        <p:blipFill>
          <a:blip r:embed="rId2"/>
          <a:stretch>
            <a:fillRect/>
          </a:stretch>
        </p:blipFill>
        <p:spPr>
          <a:xfrm>
            <a:off x="1097280" y="146304"/>
            <a:ext cx="5135270" cy="621792"/>
          </a:xfrm>
          <a:prstGeom prst="rect">
            <a:avLst/>
          </a:prstGeom>
        </p:spPr>
      </p:pic>
      <p:sp>
        <p:nvSpPr>
          <p:cNvPr id="5" name="title_387"/>
          <p:cNvSpPr/>
          <p:nvPr/>
        </p:nvSpPr>
        <p:spPr>
          <a:xfrm>
            <a:off x="1261872" y="164592"/>
            <a:ext cx="486095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Strong adjectives in Italian</a:t>
            </a:r>
            <a:endParaRPr lang="en-US" sz="2500" dirty="0"/>
          </a:p>
        </p:txBody>
      </p:sp>
      <p:pic>
        <p:nvPicPr>
          <p:cNvPr id="6" name="brP_388"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389"/>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39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Dillo in italiano. Poi clicca!</a:t>
            </a:r>
            <a:endParaRPr lang="en-US" sz="950" dirty="0"/>
          </a:p>
        </p:txBody>
      </p:sp>
      <p:sp>
        <p:nvSpPr>
          <p:cNvPr id="9" name="cmd_391"/>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300" dirty="0"/>
          </a:p>
        </p:txBody>
      </p:sp>
      <p:sp>
        <p:nvSpPr>
          <p:cNvPr id="10" name="meta_392"/>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pic>
        <p:nvPicPr>
          <p:cNvPr id="11" name="logo_39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39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2B-2 · Vocabulary · in Italian</a:t>
            </a:r>
            <a:endParaRPr lang="en-US" sz="800" dirty="0"/>
          </a:p>
        </p:txBody>
      </p:sp>
      <p:sp>
        <p:nvSpPr>
          <p:cNvPr id="13" name="cd_395"/>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4" name="e_396"/>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5" name="en_397"/>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furious</a:t>
            </a:r>
            <a:endParaRPr lang="en-US" sz="1200" dirty="0"/>
          </a:p>
        </p:txBody>
      </p:sp>
      <p:sp>
        <p:nvSpPr>
          <p:cNvPr id="16" name="R1_it398"/>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furioso</a:t>
            </a:r>
            <a:endParaRPr lang="en-US" sz="1000" dirty="0"/>
          </a:p>
        </p:txBody>
      </p:sp>
      <p:sp>
        <p:nvSpPr>
          <p:cNvPr id="17" name="cd_399"/>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8" name="e_400"/>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9" name="en_401"/>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tiny</a:t>
            </a:r>
            <a:endParaRPr lang="en-US" sz="1200" dirty="0"/>
          </a:p>
        </p:txBody>
      </p:sp>
      <p:sp>
        <p:nvSpPr>
          <p:cNvPr id="20" name="R1_it402"/>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minuscolo</a:t>
            </a:r>
            <a:endParaRPr lang="en-US" sz="1000" dirty="0"/>
          </a:p>
        </p:txBody>
      </p:sp>
      <p:sp>
        <p:nvSpPr>
          <p:cNvPr id="21" name="cd_403"/>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2" name="e_404"/>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3" name="en_405"/>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terrified</a:t>
            </a:r>
            <a:endParaRPr lang="en-US" sz="1200" dirty="0"/>
          </a:p>
        </p:txBody>
      </p:sp>
      <p:sp>
        <p:nvSpPr>
          <p:cNvPr id="24" name="R1_it406"/>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terrorizzato</a:t>
            </a:r>
            <a:endParaRPr lang="en-US" sz="1000" dirty="0"/>
          </a:p>
        </p:txBody>
      </p:sp>
      <p:sp>
        <p:nvSpPr>
          <p:cNvPr id="25" name="cd_407"/>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6" name="e_408"/>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7" name="en_409"/>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fascinating</a:t>
            </a:r>
            <a:endParaRPr lang="en-US" sz="1200" dirty="0"/>
          </a:p>
        </p:txBody>
      </p:sp>
      <p:sp>
        <p:nvSpPr>
          <p:cNvPr id="28" name="R1_it410"/>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affascinante</a:t>
            </a:r>
            <a:endParaRPr lang="en-US" sz="1000" dirty="0"/>
          </a:p>
        </p:txBody>
      </p:sp>
      <p:sp>
        <p:nvSpPr>
          <p:cNvPr id="29" name="cd_411"/>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0" name="e_412"/>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1" name="en_413"/>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starving</a:t>
            </a:r>
            <a:endParaRPr lang="en-US" sz="1200" dirty="0"/>
          </a:p>
        </p:txBody>
      </p:sp>
      <p:sp>
        <p:nvSpPr>
          <p:cNvPr id="32" name="R1_it414"/>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affamato · muoio di fame!</a:t>
            </a:r>
            <a:endParaRPr lang="en-US" sz="1000" dirty="0"/>
          </a:p>
        </p:txBody>
      </p:sp>
      <p:sp>
        <p:nvSpPr>
          <p:cNvPr id="33" name="cd_415"/>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4" name="e_416"/>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5" name="en_417"/>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huge / enormous</a:t>
            </a:r>
            <a:endParaRPr lang="en-US" sz="1200" dirty="0"/>
          </a:p>
        </p:txBody>
      </p:sp>
      <p:sp>
        <p:nvSpPr>
          <p:cNvPr id="36" name="R1_it418"/>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enorme</a:t>
            </a:r>
            <a:endParaRPr lang="en-US" sz="1000" dirty="0"/>
          </a:p>
        </p:txBody>
      </p:sp>
      <p:sp>
        <p:nvSpPr>
          <p:cNvPr id="37" name="cd_419"/>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8" name="e_420"/>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9" name="en_421"/>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boiling</a:t>
            </a:r>
            <a:endParaRPr lang="en-US" sz="1200" dirty="0"/>
          </a:p>
        </p:txBody>
      </p:sp>
      <p:sp>
        <p:nvSpPr>
          <p:cNvPr id="40" name="R1_it422"/>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si muore di caldo!</a:t>
            </a:r>
            <a:endParaRPr lang="en-US" sz="1000" dirty="0"/>
          </a:p>
        </p:txBody>
      </p:sp>
      <p:sp>
        <p:nvSpPr>
          <p:cNvPr id="41" name="cd_423"/>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2" name="e_424"/>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3" name="en_425"/>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filthy</a:t>
            </a:r>
            <a:endParaRPr lang="en-US" sz="1200" dirty="0"/>
          </a:p>
        </p:txBody>
      </p:sp>
      <p:sp>
        <p:nvSpPr>
          <p:cNvPr id="44" name="R1_it426"/>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sudicio · lurido</a:t>
            </a:r>
            <a:endParaRPr lang="en-US" sz="1000" dirty="0"/>
          </a:p>
        </p:txBody>
      </p:sp>
      <p:sp>
        <p:nvSpPr>
          <p:cNvPr id="45" name="cd_427"/>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6" name="e_428"/>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7" name="en_429"/>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delighted</a:t>
            </a:r>
            <a:endParaRPr lang="en-US" sz="1200" dirty="0"/>
          </a:p>
        </p:txBody>
      </p:sp>
      <p:sp>
        <p:nvSpPr>
          <p:cNvPr id="48" name="R1_it430"/>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felicissimo</a:t>
            </a:r>
            <a:endParaRPr lang="en-US" sz="1000" dirty="0"/>
          </a:p>
        </p:txBody>
      </p:sp>
      <p:sp>
        <p:nvSpPr>
          <p:cNvPr id="49" name="cd_431"/>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0" name="e_432"/>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1" name="en_433"/>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hilarious</a:t>
            </a:r>
            <a:endParaRPr lang="en-US" sz="1200" dirty="0"/>
          </a:p>
        </p:txBody>
      </p:sp>
      <p:sp>
        <p:nvSpPr>
          <p:cNvPr id="52" name="R1_it434"/>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esilarante</a:t>
            </a:r>
            <a:endParaRPr lang="en-US" sz="1000" dirty="0"/>
          </a:p>
        </p:txBody>
      </p:sp>
      <p:sp>
        <p:nvSpPr>
          <p:cNvPr id="53" name="cd_435"/>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4" name="e_436"/>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5" name="en_437"/>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positive</a:t>
            </a:r>
            <a:endParaRPr lang="en-US" sz="1200" dirty="0"/>
          </a:p>
        </p:txBody>
      </p:sp>
      <p:sp>
        <p:nvSpPr>
          <p:cNvPr id="56" name="R1_it438"/>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sicurissimo</a:t>
            </a:r>
            <a:endParaRPr lang="en-US" sz="1000" dirty="0"/>
          </a:p>
        </p:txBody>
      </p:sp>
      <p:sp>
        <p:nvSpPr>
          <p:cNvPr id="57" name="cd_439"/>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8" name="e_440"/>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9" name="en_441"/>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amazed</a:t>
            </a:r>
            <a:endParaRPr lang="en-US" sz="1200" dirty="0"/>
          </a:p>
        </p:txBody>
      </p:sp>
      <p:sp>
        <p:nvSpPr>
          <p:cNvPr id="60" name="R1_it442"/>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sbalordito</a:t>
            </a:r>
            <a:endParaRPr lang="en-US" sz="1000" dirty="0"/>
          </a:p>
        </p:txBody>
      </p:sp>
      <p:sp>
        <p:nvSpPr>
          <p:cNvPr id="61" name="R1_wc443"/>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2" name="R1_w444"/>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exhausted = very tired · freezing = very cold   |   ✗ very exhausted → ✓ absolutely / really / completely exhausted   |   STRESS it: I'm STARving!</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par>
                                <p:cTn id="11" presetID="10" presetClass="entr" presetSubtype="0" fill="hold" nodeType="with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fade">
                                      <p:cBhvr>
                                        <p:cTn id="13" dur="400"/>
                                        <p:tgtEl>
                                          <p:spTgt spid="24"/>
                                        </p:tgtEl>
                                      </p:cBhvr>
                                    </p:animEffect>
                                  </p:childTnLst>
                                </p:cTn>
                              </p:par>
                              <p:par>
                                <p:cTn id="14" presetID="10" presetClass="entr" presetSubtype="0" fill="hold" nodeType="withEffect">
                                  <p:stCondLst>
                                    <p:cond delay="0"/>
                                  </p:stCondLst>
                                  <p:childTnLst>
                                    <p:set>
                                      <p:cBhvr>
                                        <p:cTn id="15" dur="1" fill="hold">
                                          <p:stCondLst>
                                            <p:cond delay="0"/>
                                          </p:stCondLst>
                                        </p:cTn>
                                        <p:tgtEl>
                                          <p:spTgt spid="28"/>
                                        </p:tgtEl>
                                        <p:attrNameLst>
                                          <p:attrName>style.visibility</p:attrName>
                                        </p:attrNameLst>
                                      </p:cBhvr>
                                      <p:to>
                                        <p:strVal val="visible"/>
                                      </p:to>
                                    </p:set>
                                    <p:animEffect transition="in" filter="fade">
                                      <p:cBhvr>
                                        <p:cTn id="16" dur="400"/>
                                        <p:tgtEl>
                                          <p:spTgt spid="28"/>
                                        </p:tgtEl>
                                      </p:cBhvr>
                                    </p:animEffect>
                                  </p:childTnLst>
                                </p:cTn>
                              </p:par>
                              <p:par>
                                <p:cTn id="17" presetID="10" presetClass="entr" presetSubtype="0" fill="hold" nodeType="withEffect">
                                  <p:stCondLst>
                                    <p:cond delay="0"/>
                                  </p:stCondLst>
                                  <p:childTnLst>
                                    <p:set>
                                      <p:cBhvr>
                                        <p:cTn id="18" dur="1" fill="hold">
                                          <p:stCondLst>
                                            <p:cond delay="0"/>
                                          </p:stCondLst>
                                        </p:cTn>
                                        <p:tgtEl>
                                          <p:spTgt spid="32"/>
                                        </p:tgtEl>
                                        <p:attrNameLst>
                                          <p:attrName>style.visibility</p:attrName>
                                        </p:attrNameLst>
                                      </p:cBhvr>
                                      <p:to>
                                        <p:strVal val="visible"/>
                                      </p:to>
                                    </p:set>
                                    <p:animEffect transition="in" filter="fade">
                                      <p:cBhvr>
                                        <p:cTn id="19" dur="400"/>
                                        <p:tgtEl>
                                          <p:spTgt spid="32"/>
                                        </p:tgtEl>
                                      </p:cBhvr>
                                    </p:animEffect>
                                  </p:childTnLst>
                                </p:cTn>
                              </p:par>
                              <p:par>
                                <p:cTn id="20" presetID="10" presetClass="entr" presetSubtype="0" fill="hold" nodeType="with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par>
                                <p:cTn id="23" presetID="10" presetClass="entr" presetSubtype="0" fill="hold" nodeType="withEffect">
                                  <p:stCondLst>
                                    <p:cond delay="0"/>
                                  </p:stCondLst>
                                  <p:childTnLst>
                                    <p:set>
                                      <p:cBhvr>
                                        <p:cTn id="24" dur="1" fill="hold">
                                          <p:stCondLst>
                                            <p:cond delay="0"/>
                                          </p:stCondLst>
                                        </p:cTn>
                                        <p:tgtEl>
                                          <p:spTgt spid="40"/>
                                        </p:tgtEl>
                                        <p:attrNameLst>
                                          <p:attrName>style.visibility</p:attrName>
                                        </p:attrNameLst>
                                      </p:cBhvr>
                                      <p:to>
                                        <p:strVal val="visible"/>
                                      </p:to>
                                    </p:set>
                                    <p:animEffect transition="in" filter="fade">
                                      <p:cBhvr>
                                        <p:cTn id="25" dur="400"/>
                                        <p:tgtEl>
                                          <p:spTgt spid="40"/>
                                        </p:tgtEl>
                                      </p:cBhvr>
                                    </p:animEffect>
                                  </p:childTnLst>
                                </p:cTn>
                              </p:par>
                              <p:par>
                                <p:cTn id="26" presetID="10" presetClass="entr" presetSubtype="0" fill="hold" nodeType="withEffect">
                                  <p:stCondLst>
                                    <p:cond delay="0"/>
                                  </p:stCondLst>
                                  <p:childTnLst>
                                    <p:set>
                                      <p:cBhvr>
                                        <p:cTn id="27" dur="1" fill="hold">
                                          <p:stCondLst>
                                            <p:cond delay="0"/>
                                          </p:stCondLst>
                                        </p:cTn>
                                        <p:tgtEl>
                                          <p:spTgt spid="44"/>
                                        </p:tgtEl>
                                        <p:attrNameLst>
                                          <p:attrName>style.visibility</p:attrName>
                                        </p:attrNameLst>
                                      </p:cBhvr>
                                      <p:to>
                                        <p:strVal val="visible"/>
                                      </p:to>
                                    </p:set>
                                    <p:animEffect transition="in" filter="fade">
                                      <p:cBhvr>
                                        <p:cTn id="28" dur="400"/>
                                        <p:tgtEl>
                                          <p:spTgt spid="44"/>
                                        </p:tgtEl>
                                      </p:cBhvr>
                                    </p:animEffect>
                                  </p:childTnLst>
                                </p:cTn>
                              </p:par>
                              <p:par>
                                <p:cTn id="29" presetID="10" presetClass="entr" presetSubtype="0" fill="hold" nodeType="withEffect">
                                  <p:stCondLst>
                                    <p:cond delay="0"/>
                                  </p:stCondLst>
                                  <p:childTnLst>
                                    <p:set>
                                      <p:cBhvr>
                                        <p:cTn id="30" dur="1" fill="hold">
                                          <p:stCondLst>
                                            <p:cond delay="0"/>
                                          </p:stCondLst>
                                        </p:cTn>
                                        <p:tgtEl>
                                          <p:spTgt spid="48"/>
                                        </p:tgtEl>
                                        <p:attrNameLst>
                                          <p:attrName>style.visibility</p:attrName>
                                        </p:attrNameLst>
                                      </p:cBhvr>
                                      <p:to>
                                        <p:strVal val="visible"/>
                                      </p:to>
                                    </p:set>
                                    <p:animEffect transition="in" filter="fade">
                                      <p:cBhvr>
                                        <p:cTn id="31" dur="400"/>
                                        <p:tgtEl>
                                          <p:spTgt spid="48"/>
                                        </p:tgtEl>
                                      </p:cBhvr>
                                    </p:animEffect>
                                  </p:childTnLst>
                                </p:cTn>
                              </p:par>
                              <p:par>
                                <p:cTn id="32" presetID="10" presetClass="entr" presetSubtype="0" fill="hold" nodeType="withEffect">
                                  <p:stCondLst>
                                    <p:cond delay="0"/>
                                  </p:stCondLst>
                                  <p:childTnLst>
                                    <p:set>
                                      <p:cBhvr>
                                        <p:cTn id="33" dur="1" fill="hold">
                                          <p:stCondLst>
                                            <p:cond delay="0"/>
                                          </p:stCondLst>
                                        </p:cTn>
                                        <p:tgtEl>
                                          <p:spTgt spid="52"/>
                                        </p:tgtEl>
                                        <p:attrNameLst>
                                          <p:attrName>style.visibility</p:attrName>
                                        </p:attrNameLst>
                                      </p:cBhvr>
                                      <p:to>
                                        <p:strVal val="visible"/>
                                      </p:to>
                                    </p:set>
                                    <p:animEffect transition="in" filter="fade">
                                      <p:cBhvr>
                                        <p:cTn id="34" dur="400"/>
                                        <p:tgtEl>
                                          <p:spTgt spid="52"/>
                                        </p:tgtEl>
                                      </p:cBhvr>
                                    </p:animEffect>
                                  </p:childTnLst>
                                </p:cTn>
                              </p:par>
                              <p:par>
                                <p:cTn id="35" presetID="10" presetClass="entr" presetSubtype="0" fill="hold" nodeType="withEffect">
                                  <p:stCondLst>
                                    <p:cond delay="0"/>
                                  </p:stCondLst>
                                  <p:childTnLst>
                                    <p:set>
                                      <p:cBhvr>
                                        <p:cTn id="36" dur="1" fill="hold">
                                          <p:stCondLst>
                                            <p:cond delay="0"/>
                                          </p:stCondLst>
                                        </p:cTn>
                                        <p:tgtEl>
                                          <p:spTgt spid="56"/>
                                        </p:tgtEl>
                                        <p:attrNameLst>
                                          <p:attrName>style.visibility</p:attrName>
                                        </p:attrNameLst>
                                      </p:cBhvr>
                                      <p:to>
                                        <p:strVal val="visible"/>
                                      </p:to>
                                    </p:set>
                                    <p:animEffect transition="in" filter="fade">
                                      <p:cBhvr>
                                        <p:cTn id="37" dur="400"/>
                                        <p:tgtEl>
                                          <p:spTgt spid="56"/>
                                        </p:tgtEl>
                                      </p:cBhvr>
                                    </p:animEffect>
                                  </p:childTnLst>
                                </p:cTn>
                              </p:par>
                              <p:par>
                                <p:cTn id="38" presetID="10" presetClass="entr" presetSubtype="0" fill="hold" nodeType="withEffect">
                                  <p:stCondLst>
                                    <p:cond delay="0"/>
                                  </p:stCondLst>
                                  <p:childTnLst>
                                    <p:set>
                                      <p:cBhvr>
                                        <p:cTn id="39" dur="1" fill="hold">
                                          <p:stCondLst>
                                            <p:cond delay="0"/>
                                          </p:stCondLst>
                                        </p:cTn>
                                        <p:tgtEl>
                                          <p:spTgt spid="60"/>
                                        </p:tgtEl>
                                        <p:attrNameLst>
                                          <p:attrName>style.visibility</p:attrName>
                                        </p:attrNameLst>
                                      </p:cBhvr>
                                      <p:to>
                                        <p:strVal val="visible"/>
                                      </p:to>
                                    </p:set>
                                    <p:animEffect transition="in" filter="fade">
                                      <p:cBhvr>
                                        <p:cTn id="40" dur="400"/>
                                        <p:tgtEl>
                                          <p:spTgt spid="60"/>
                                        </p:tgtEl>
                                      </p:cBhvr>
                                    </p:animEffect>
                                  </p:childTnLst>
                                </p:cTn>
                              </p:par>
                              <p:par>
                                <p:cTn id="41" presetID="10" presetClass="entr" presetSubtype="0" fill="hold" nodeType="withEffect">
                                  <p:stCondLst>
                                    <p:cond delay="0"/>
                                  </p:stCondLst>
                                  <p:childTnLst>
                                    <p:set>
                                      <p:cBhvr>
                                        <p:cTn id="42" dur="1" fill="hold">
                                          <p:stCondLst>
                                            <p:cond delay="0"/>
                                          </p:stCondLst>
                                        </p:cTn>
                                        <p:tgtEl>
                                          <p:spTgt spid="61"/>
                                        </p:tgtEl>
                                        <p:attrNameLst>
                                          <p:attrName>style.visibility</p:attrName>
                                        </p:attrNameLst>
                                      </p:cBhvr>
                                      <p:to>
                                        <p:strVal val="visible"/>
                                      </p:to>
                                    </p:set>
                                    <p:animEffect transition="in" filter="fade">
                                      <p:cBhvr>
                                        <p:cTn id="43" dur="400"/>
                                        <p:tgtEl>
                                          <p:spTgt spid="61"/>
                                        </p:tgtEl>
                                      </p:cBhvr>
                                    </p:animEffect>
                                  </p:childTnLst>
                                </p:cTn>
                              </p:par>
                              <p:par>
                                <p:cTn id="44" presetID="10" presetClass="entr" presetSubtype="0" fill="hold" nodeType="withEffect">
                                  <p:stCondLst>
                                    <p:cond delay="0"/>
                                  </p:stCondLst>
                                  <p:childTnLst>
                                    <p:set>
                                      <p:cBhvr>
                                        <p:cTn id="45" dur="1" fill="hold">
                                          <p:stCondLst>
                                            <p:cond delay="0"/>
                                          </p:stCondLst>
                                        </p:cTn>
                                        <p:tgtEl>
                                          <p:spTgt spid="62"/>
                                        </p:tgtEl>
                                        <p:attrNameLst>
                                          <p:attrName>style.visibility</p:attrName>
                                        </p:attrNameLst>
                                      </p:cBhvr>
                                      <p:to>
                                        <p:strVal val="visible"/>
                                      </p:to>
                                    </p:set>
                                    <p:animEffect transition="in" filter="fade">
                                      <p:cBhvr>
                                        <p:cTn id="46" dur="4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45"/>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46" descr="/home/claude/lls-course/v2/assets/brush-yellow.png">    </p:cNvPr>
          <p:cNvPicPr>
            <a:picLocks noChangeAspect="1"/>
          </p:cNvPicPr>
          <p:nvPr/>
        </p:nvPicPr>
        <p:blipFill>
          <a:blip r:embed="rId2"/>
          <a:stretch>
            <a:fillRect/>
          </a:stretch>
        </p:blipFill>
        <p:spPr>
          <a:xfrm>
            <a:off x="1097280" y="146304"/>
            <a:ext cx="2461565" cy="621792"/>
          </a:xfrm>
          <a:prstGeom prst="rect">
            <a:avLst/>
          </a:prstGeom>
        </p:spPr>
      </p:pic>
      <p:sp>
        <p:nvSpPr>
          <p:cNvPr id="5" name="title_447"/>
          <p:cNvSpPr/>
          <p:nvPr/>
        </p:nvSpPr>
        <p:spPr>
          <a:xfrm>
            <a:off x="1261872" y="164592"/>
            <a:ext cx="218724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Upgrade it!</a:t>
            </a:r>
            <a:endParaRPr lang="en-US" sz="2500" dirty="0"/>
          </a:p>
        </p:txBody>
      </p:sp>
      <p:pic>
        <p:nvPicPr>
          <p:cNvPr id="6" name="brP_448"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449"/>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with a STRONG adjective!</a:t>
            </a:r>
            <a:endParaRPr lang="en-US" sz="1250" dirty="0"/>
          </a:p>
        </p:txBody>
      </p:sp>
      <p:sp>
        <p:nvSpPr>
          <p:cNvPr id="8" name="insIT_45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Rispondi con un aggettivo FORTE!</a:t>
            </a:r>
            <a:endParaRPr lang="en-US" sz="950" dirty="0"/>
          </a:p>
        </p:txBody>
      </p:sp>
      <p:sp>
        <p:nvSpPr>
          <p:cNvPr id="9" name="cmd_451"/>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300" dirty="0"/>
          </a:p>
        </p:txBody>
      </p:sp>
      <p:sp>
        <p:nvSpPr>
          <p:cNvPr id="10" name="cmd_452"/>
          <p:cNvSpPr/>
          <p:nvPr/>
        </p:nvSpPr>
        <p:spPr>
          <a:xfrm>
            <a:off x="6583680" y="566928"/>
            <a:ext cx="1783080"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300" dirty="0"/>
          </a:p>
        </p:txBody>
      </p:sp>
      <p:sp>
        <p:nvSpPr>
          <p:cNvPr id="11" name="meta_453"/>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pic>
        <p:nvPicPr>
          <p:cNvPr id="12" name="logo_45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5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2B-2 · Vocabulary game   ·   📖 SB p.23 · 7d (Communication Are you hungry? A p.106, B p.111 – adapted)</a:t>
            </a:r>
            <a:endParaRPr lang="en-US" sz="800" dirty="0"/>
          </a:p>
        </p:txBody>
      </p:sp>
      <p:sp>
        <p:nvSpPr>
          <p:cNvPr id="14" name="cd_456"/>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45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58"/>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7" name="il_459"/>
          <p:cNvSpPr/>
          <p:nvPr/>
        </p:nvSpPr>
        <p:spPr>
          <a:xfrm>
            <a:off x="886968" y="1892808"/>
            <a:ext cx="2039112" cy="1508760"/>
          </a:xfrm>
          <a:prstGeom prst="rect">
            <a:avLst/>
          </a:prstGeom>
          <a:noFill/>
          <a:ln/>
        </p:spPr>
        <p:txBody>
          <a:bodyPr wrap="square" lIns="0" tIns="0" rIns="0" bIns="0" rtlCol="0" anchor="t">
            <a:normAutofit/>
          </a:bodyPr>
          <a:lstStyle/>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Listen to the question.</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Teams: answer with a STRONG adjective – 5 seconds!</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Big stress = 1 point. 'very' = 0!</a:t>
            </a:r>
            <a:endParaRPr lang="en-US" sz="1150" dirty="0"/>
          </a:p>
        </p:txBody>
      </p:sp>
      <p:sp>
        <p:nvSpPr>
          <p:cNvPr id="18" name="pf_460"/>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9" name="phx_461"/>
          <p:cNvSpPr/>
          <p:nvPr/>
        </p:nvSpPr>
        <p:spPr>
          <a:xfrm>
            <a:off x="457200" y="3657600"/>
            <a:ext cx="2377440" cy="10515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2b2-starving.jpg</a:t>
            </a:r>
            <a:endParaRPr lang="en-US" sz="900" dirty="0"/>
          </a:p>
        </p:txBody>
      </p:sp>
      <p:sp>
        <p:nvSpPr>
          <p:cNvPr id="20" name="bd_462"/>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463"/>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Is the sea cold in January?</a:t>
            </a:r>
            <a:endParaRPr lang="en-US" sz="1100" dirty="0"/>
          </a:p>
        </p:txBody>
      </p:sp>
      <p:sp>
        <p:nvSpPr>
          <p:cNvPr id="22" name="R1_chip464"/>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Cold? It's absolutely freezing!</a:t>
            </a:r>
            <a:endParaRPr lang="en-US" sz="1100" dirty="0"/>
          </a:p>
        </p:txBody>
      </p:sp>
      <p:sp>
        <p:nvSpPr>
          <p:cNvPr id="23" name="bd_465"/>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466"/>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Are you hungry? It's 2 o'clock!</a:t>
            </a:r>
            <a:endParaRPr lang="en-US" sz="1100" dirty="0"/>
          </a:p>
        </p:txBody>
      </p:sp>
      <p:sp>
        <p:nvSpPr>
          <p:cNvPr id="25" name="R2_chip467"/>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Hungry? I'm starving!</a:t>
            </a:r>
            <a:endParaRPr lang="en-US" sz="1100" dirty="0"/>
          </a:p>
        </p:txBody>
      </p:sp>
      <p:sp>
        <p:nvSpPr>
          <p:cNvPr id="26" name="bd_468"/>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469"/>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Was Palermo hot in August?</a:t>
            </a:r>
            <a:endParaRPr lang="en-US" sz="1100" dirty="0"/>
          </a:p>
        </p:txBody>
      </p:sp>
      <p:sp>
        <p:nvSpPr>
          <p:cNvPr id="28" name="R3_chip470"/>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Hot? It was boiling!</a:t>
            </a:r>
            <a:endParaRPr lang="en-US" sz="1100" dirty="0"/>
          </a:p>
        </p:txBody>
      </p:sp>
      <p:sp>
        <p:nvSpPr>
          <p:cNvPr id="29" name="bd_471"/>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472"/>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Is your brother's bedroom dirty?</a:t>
            </a:r>
            <a:endParaRPr lang="en-US" sz="1100" dirty="0"/>
          </a:p>
        </p:txBody>
      </p:sp>
      <p:sp>
        <p:nvSpPr>
          <p:cNvPr id="31" name="R4_chip473"/>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Dirty? It's absolutely filthy!</a:t>
            </a:r>
            <a:endParaRPr lang="en-US" sz="1100" dirty="0"/>
          </a:p>
        </p:txBody>
      </p:sp>
      <p:sp>
        <p:nvSpPr>
          <p:cNvPr id="32" name="bd_474"/>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475"/>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Was the comedy funny?</a:t>
            </a:r>
            <a:endParaRPr lang="en-US" sz="1100" dirty="0"/>
          </a:p>
        </p:txBody>
      </p:sp>
      <p:sp>
        <p:nvSpPr>
          <p:cNvPr id="34" name="R5_chip476"/>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Funny? It was hilarious!</a:t>
            </a:r>
            <a:endParaRPr lang="en-US" sz="1100" dirty="0"/>
          </a:p>
        </p:txBody>
      </p:sp>
      <p:sp>
        <p:nvSpPr>
          <p:cNvPr id="35" name="bd_477"/>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478"/>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Are you tired after the match?</a:t>
            </a:r>
            <a:endParaRPr lang="en-US" sz="1100" dirty="0"/>
          </a:p>
        </p:txBody>
      </p:sp>
      <p:sp>
        <p:nvSpPr>
          <p:cNvPr id="37" name="R6_chip479"/>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Tired? I'm completely exhausted!</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8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481"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482"/>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worst trip ever!</a:t>
            </a:r>
            <a:endParaRPr lang="en-US" sz="2500" dirty="0"/>
          </a:p>
        </p:txBody>
      </p:sp>
      <p:pic>
        <p:nvPicPr>
          <p:cNvPr id="6" name="brP_483"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484"/>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Finish the story with a strong adjective!</a:t>
            </a:r>
            <a:endParaRPr lang="en-US" sz="1250" dirty="0"/>
          </a:p>
        </p:txBody>
      </p:sp>
      <p:sp>
        <p:nvSpPr>
          <p:cNvPr id="8" name="insIT_48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Finisci la storia con un aggettivo forte!</a:t>
            </a:r>
            <a:endParaRPr lang="en-US" sz="950" dirty="0"/>
          </a:p>
        </p:txBody>
      </p:sp>
      <p:sp>
        <p:nvSpPr>
          <p:cNvPr id="9" name="cmd_486"/>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300" dirty="0"/>
          </a:p>
        </p:txBody>
      </p:sp>
      <p:sp>
        <p:nvSpPr>
          <p:cNvPr id="10" name="cmd_487"/>
          <p:cNvSpPr/>
          <p:nvPr/>
        </p:nvSpPr>
        <p:spPr>
          <a:xfrm>
            <a:off x="6583680" y="566928"/>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1" name="meta_488"/>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pic>
        <p:nvPicPr>
          <p:cNvPr id="12" name="logo_48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9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2B-2 · Speaking game · story chain   ·   📖 Strong adjectives · SB p.22 6e (an exciting experience)</a:t>
            </a:r>
            <a:endParaRPr lang="en-US" sz="800" dirty="0"/>
          </a:p>
        </p:txBody>
      </p:sp>
      <p:sp>
        <p:nvSpPr>
          <p:cNvPr id="14" name="cd_491"/>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49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93"/>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7" name="il_494"/>
          <p:cNvSpPr/>
          <p:nvPr/>
        </p:nvSpPr>
        <p:spPr>
          <a:xfrm>
            <a:off x="886968" y="1892808"/>
            <a:ext cx="2039112" cy="1508760"/>
          </a:xfrm>
          <a:prstGeom prst="rect">
            <a:avLst/>
          </a:prstGeom>
          <a:noFill/>
          <a:ln/>
        </p:spPr>
        <p:txBody>
          <a:bodyPr wrap="square" lIns="0" tIns="0" rIns="0" bIns="0" rtlCol="0" anchor="t">
            <a:normAutofit/>
          </a:bodyPr>
          <a:lstStyle/>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Read the start of the sentence.</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Teams: finish it with a strong adjective. No repeats!</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Funniest correct ending = 1 point.</a:t>
            </a:r>
            <a:endParaRPr lang="en-US" sz="1150" dirty="0"/>
          </a:p>
        </p:txBody>
      </p:sp>
      <p:sp>
        <p:nvSpPr>
          <p:cNvPr id="18" name="pf_495"/>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496" descr="/home/claude/lls-course/v2/cache/2b2_worst_trip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bd_497"/>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498"/>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We got to the hotel. The room was…</a:t>
            </a:r>
            <a:endParaRPr lang="en-US" sz="1100" dirty="0"/>
          </a:p>
        </p:txBody>
      </p:sp>
      <p:sp>
        <p:nvSpPr>
          <p:cNvPr id="22" name="R1_chip499"/>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e.g. tiny – and absolutely filthy!</a:t>
            </a:r>
            <a:endParaRPr lang="en-US" sz="1100" dirty="0"/>
          </a:p>
        </p:txBody>
      </p:sp>
      <p:sp>
        <p:nvSpPr>
          <p:cNvPr id="23" name="bd_500"/>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501"/>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We went to the beach. The sea was…</a:t>
            </a:r>
            <a:endParaRPr lang="en-US" sz="1100" dirty="0"/>
          </a:p>
        </p:txBody>
      </p:sp>
      <p:sp>
        <p:nvSpPr>
          <p:cNvPr id="25" name="R2_chip502"/>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e.g. freezing! It was April!</a:t>
            </a:r>
            <a:endParaRPr lang="en-US" sz="1100" dirty="0"/>
          </a:p>
        </p:txBody>
      </p:sp>
      <p:sp>
        <p:nvSpPr>
          <p:cNvPr id="26" name="bd_503"/>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504"/>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All the restaurants were closed. We were…</a:t>
            </a:r>
            <a:endParaRPr lang="en-US" sz="1100" dirty="0"/>
          </a:p>
        </p:txBody>
      </p:sp>
      <p:sp>
        <p:nvSpPr>
          <p:cNvPr id="28" name="R3_chip505"/>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e.g. starving!</a:t>
            </a:r>
            <a:endParaRPr lang="en-US" sz="1100" dirty="0"/>
          </a:p>
        </p:txBody>
      </p:sp>
      <p:sp>
        <p:nvSpPr>
          <p:cNvPr id="29" name="bd_506"/>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507"/>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Then we got lost in the mountains. I was…</a:t>
            </a:r>
            <a:endParaRPr lang="en-US" sz="1100" dirty="0"/>
          </a:p>
        </p:txBody>
      </p:sp>
      <p:sp>
        <p:nvSpPr>
          <p:cNvPr id="31" name="R4_chip508"/>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e.g. terrified!</a:t>
            </a:r>
            <a:endParaRPr lang="en-US" sz="1100" dirty="0"/>
          </a:p>
        </p:txBody>
      </p:sp>
      <p:sp>
        <p:nvSpPr>
          <p:cNvPr id="32" name="bd_509"/>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510"/>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We walked for six hours. At the end we were…</a:t>
            </a:r>
            <a:endParaRPr lang="en-US" sz="1100" dirty="0"/>
          </a:p>
        </p:txBody>
      </p:sp>
      <p:sp>
        <p:nvSpPr>
          <p:cNvPr id="34" name="R5_chip511"/>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e.g. completely exhausted.</a:t>
            </a:r>
            <a:endParaRPr lang="en-US" sz="1100" dirty="0"/>
          </a:p>
        </p:txBody>
      </p:sp>
      <p:sp>
        <p:nvSpPr>
          <p:cNvPr id="35" name="bd_512"/>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513"/>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Mum saw our clothes. She was…</a:t>
            </a:r>
            <a:endParaRPr lang="en-US" sz="1100" dirty="0"/>
          </a:p>
        </p:txBody>
      </p:sp>
      <p:sp>
        <p:nvSpPr>
          <p:cNvPr id="37" name="R6_chip514"/>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e.g. furious! But the photos were hilarious.</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15"/>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16" descr="/home/claude/lls-course/v2/assets/brush-yellow.png">    </p:cNvPr>
          <p:cNvPicPr>
            <a:picLocks noChangeAspect="1"/>
          </p:cNvPicPr>
          <p:nvPr/>
        </p:nvPicPr>
        <p:blipFill>
          <a:blip r:embed="rId2"/>
          <a:stretch>
            <a:fillRect/>
          </a:stretch>
        </p:blipFill>
        <p:spPr>
          <a:xfrm>
            <a:off x="1097280" y="146304"/>
            <a:ext cx="2461565" cy="621792"/>
          </a:xfrm>
          <a:prstGeom prst="rect">
            <a:avLst/>
          </a:prstGeom>
        </p:spPr>
      </p:pic>
      <p:sp>
        <p:nvSpPr>
          <p:cNvPr id="5" name="title_517"/>
          <p:cNvSpPr/>
          <p:nvPr/>
        </p:nvSpPr>
        <p:spPr>
          <a:xfrm>
            <a:off x="1261872" y="164592"/>
            <a:ext cx="218724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Absolutely!</a:t>
            </a:r>
            <a:endParaRPr lang="en-US" sz="2500" dirty="0"/>
          </a:p>
        </p:txBody>
      </p:sp>
      <p:pic>
        <p:nvPicPr>
          <p:cNvPr id="6" name="brP_518"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519"/>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Ask and answer. Use a strong adjective!</a:t>
            </a:r>
            <a:endParaRPr lang="en-US" sz="1250" dirty="0"/>
          </a:p>
        </p:txBody>
      </p:sp>
      <p:sp>
        <p:nvSpPr>
          <p:cNvPr id="8" name="insIT_52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Chiedi e rispondi. Usa un aggettivo forte!</a:t>
            </a:r>
            <a:endParaRPr lang="en-US" sz="950" dirty="0"/>
          </a:p>
        </p:txBody>
      </p:sp>
      <p:sp>
        <p:nvSpPr>
          <p:cNvPr id="9" name="cmd_521"/>
          <p:cNvSpPr/>
          <p:nvPr/>
        </p:nvSpPr>
        <p:spPr>
          <a:xfrm>
            <a:off x="6583680" y="182880"/>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0" name="meta_522"/>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pic>
        <p:nvPicPr>
          <p:cNvPr id="11" name="logo_52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52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2B-2 · Speaking · strong adjectives   ·   📖 SB p.23 · 7e</a:t>
            </a:r>
            <a:endParaRPr lang="en-US" sz="800" dirty="0"/>
          </a:p>
        </p:txBody>
      </p:sp>
      <p:sp>
        <p:nvSpPr>
          <p:cNvPr id="13" name="pf_525"/>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526" descr="/home/claude/lls-course/v2/cache/2b2_hilarious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5" name="cd_527"/>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6" name="ii_528"/>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529"/>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8" name="il_530"/>
          <p:cNvSpPr/>
          <p:nvPr/>
        </p:nvSpPr>
        <p:spPr>
          <a:xfrm>
            <a:off x="886968" y="3904488"/>
            <a:ext cx="213055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Really? What happened?</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How did you feel?</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It was absolutely / really…</a:t>
            </a:r>
            <a:endParaRPr lang="en-US" sz="1050" dirty="0"/>
          </a:p>
        </p:txBody>
      </p:sp>
      <p:sp>
        <p:nvSpPr>
          <p:cNvPr id="19" name="R1_qb531"/>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R1_sq532"/>
          <p:cNvSpPr/>
          <p:nvPr/>
        </p:nvSpPr>
        <p:spPr>
          <a:xfrm>
            <a:off x="3675888" y="1417320"/>
            <a:ext cx="45079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Have you ever been swimming where the water was very cold?</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Mondello in March – it was absolutely freezing!</a:t>
            </a:r>
            <a:endParaRPr lang="en-US" sz="1250" dirty="0"/>
          </a:p>
        </p:txBody>
      </p:sp>
      <p:pic>
        <p:nvPicPr>
          <p:cNvPr id="21" name="R1_th533" descr="/home/claude/lls-course/v2/cache/2b2_freezing_jpg_154x119_18.png">    </p:cNvPr>
          <p:cNvPicPr>
            <a:picLocks noChangeAspect="1"/>
          </p:cNvPicPr>
          <p:nvPr/>
        </p:nvPicPr>
        <p:blipFill>
          <a:blip r:embed="rId6"/>
          <a:stretch>
            <a:fillRect/>
          </a:stretch>
        </p:blipFill>
        <p:spPr>
          <a:xfrm>
            <a:off x="8257032" y="1435608"/>
            <a:ext cx="640080" cy="493776"/>
          </a:xfrm>
          <a:prstGeom prst="rect">
            <a:avLst/>
          </a:prstGeom>
        </p:spPr>
      </p:pic>
      <p:sp>
        <p:nvSpPr>
          <p:cNvPr id="22" name="R2_qb534"/>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535"/>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Does anything make you angry about drivers or cyclists here?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People who park on the pavement make me furious.</a:t>
            </a:r>
            <a:endParaRPr lang="en-US" sz="1250" dirty="0"/>
          </a:p>
        </p:txBody>
      </p:sp>
      <p:sp>
        <p:nvSpPr>
          <p:cNvPr id="24" name="R3_qb536"/>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537"/>
          <p:cNvSpPr/>
          <p:nvPr/>
        </p:nvSpPr>
        <p:spPr>
          <a:xfrm>
            <a:off x="3675888" y="2624328"/>
            <a:ext cx="45079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Are you afraid of any animals or insects?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Spiders! I'm absolutely terrified of them.</a:t>
            </a:r>
            <a:endParaRPr lang="en-US" sz="1250" dirty="0"/>
          </a:p>
        </p:txBody>
      </p:sp>
      <p:pic>
        <p:nvPicPr>
          <p:cNvPr id="26" name="R3_th538" descr="/home/claude/lls-course/v2/cache/spare_life_fears_jpg_154x119_18.png">    </p:cNvPr>
          <p:cNvPicPr>
            <a:picLocks noChangeAspect="1"/>
          </p:cNvPicPr>
          <p:nvPr/>
        </p:nvPicPr>
        <p:blipFill>
          <a:blip r:embed="rId7"/>
          <a:stretch>
            <a:fillRect/>
          </a:stretch>
        </p:blipFill>
        <p:spPr>
          <a:xfrm>
            <a:off x="8257032" y="2642616"/>
            <a:ext cx="640080" cy="493776"/>
          </a:xfrm>
          <a:prstGeom prst="rect">
            <a:avLst/>
          </a:prstGeom>
        </p:spPr>
      </p:pic>
      <p:sp>
        <p:nvSpPr>
          <p:cNvPr id="27" name="R4_qb539"/>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540"/>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What's the hottest place you've been to?</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Seville in July. It was boiling – 44 degrees!</a:t>
            </a:r>
            <a:endParaRPr lang="en-US" sz="1250" dirty="0"/>
          </a:p>
        </p:txBody>
      </p:sp>
      <p:sp>
        <p:nvSpPr>
          <p:cNvPr id="29" name="R5_qb541"/>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0" name="R5_sq542"/>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Is there a TV comedy series you think is really funny?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My favourite sitcom is hilarious – I cry with laughter.</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par>
                                <p:cTn id="11" presetID="10"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400"/>
                                        <p:tgtEl>
                                          <p:spTgt spid="21"/>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par>
                                <p:cTn id="19" presetID="10" presetClass="entr" presetSubtype="0" fill="hold" nodeType="with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400"/>
                                        <p:tgtEl>
                                          <p:spTgt spid="23"/>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par>
                                <p:cTn id="27" presetID="10" presetClass="entr" presetSubtype="0" fill="hold" nodeType="withEffect">
                                  <p:stCondLst>
                                    <p:cond delay="0"/>
                                  </p:stCondLst>
                                  <p:childTnLst>
                                    <p:set>
                                      <p:cBhvr>
                                        <p:cTn id="28" dur="1" fill="hold">
                                          <p:stCondLst>
                                            <p:cond delay="0"/>
                                          </p:stCondLst>
                                        </p:cTn>
                                        <p:tgtEl>
                                          <p:spTgt spid="25"/>
                                        </p:tgtEl>
                                        <p:attrNameLst>
                                          <p:attrName>style.visibility</p:attrName>
                                        </p:attrNameLst>
                                      </p:cBhvr>
                                      <p:to>
                                        <p:strVal val="visible"/>
                                      </p:to>
                                    </p:set>
                                    <p:animEffect transition="in" filter="fade">
                                      <p:cBhvr>
                                        <p:cTn id="29" dur="400"/>
                                        <p:tgtEl>
                                          <p:spTgt spid="25"/>
                                        </p:tgtEl>
                                      </p:cBhvr>
                                    </p:animEffect>
                                  </p:childTnLst>
                                </p:cTn>
                              </p:par>
                              <p:par>
                                <p:cTn id="30" presetID="10" presetClass="entr" presetSubtype="0" fill="hold" nodeType="withEffect">
                                  <p:stCondLst>
                                    <p:cond delay="0"/>
                                  </p:stCondLst>
                                  <p:childTnLst>
                                    <p:set>
                                      <p:cBhvr>
                                        <p:cTn id="31" dur="1" fill="hold">
                                          <p:stCondLst>
                                            <p:cond delay="0"/>
                                          </p:stCondLst>
                                        </p:cTn>
                                        <p:tgtEl>
                                          <p:spTgt spid="26"/>
                                        </p:tgtEl>
                                        <p:attrNameLst>
                                          <p:attrName>style.visibility</p:attrName>
                                        </p:attrNameLst>
                                      </p:cBhvr>
                                      <p:to>
                                        <p:strVal val="visible"/>
                                      </p:to>
                                    </p:set>
                                    <p:animEffect transition="in" filter="fade">
                                      <p:cBhvr>
                                        <p:cTn id="32" dur="400"/>
                                        <p:tgtEl>
                                          <p:spTgt spid="2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29"/>
                                        </p:tgtEl>
                                        <p:attrNameLst>
                                          <p:attrName>style.visibility</p:attrName>
                                        </p:attrNameLst>
                                      </p:cBhvr>
                                      <p:to>
                                        <p:strVal val="visible"/>
                                      </p:to>
                                    </p:set>
                                    <p:animEffect transition="in" filter="fade">
                                      <p:cBhvr>
                                        <p:cTn id="45" dur="400"/>
                                        <p:tgtEl>
                                          <p:spTgt spid="29"/>
                                        </p:tgtEl>
                                      </p:cBhvr>
                                    </p:animEffect>
                                  </p:childTnLst>
                                </p:cTn>
                              </p:par>
                              <p:par>
                                <p:cTn id="46" presetID="10" presetClass="entr" presetSubtype="0" fill="hold" nodeType="withEffect">
                                  <p:stCondLst>
                                    <p:cond delay="0"/>
                                  </p:stCondLst>
                                  <p:childTnLst>
                                    <p:set>
                                      <p:cBhvr>
                                        <p:cTn id="47" dur="1" fill="hold">
                                          <p:stCondLst>
                                            <p:cond delay="0"/>
                                          </p:stCondLst>
                                        </p:cTn>
                                        <p:tgtEl>
                                          <p:spTgt spid="30"/>
                                        </p:tgtEl>
                                        <p:attrNameLst>
                                          <p:attrName>style.visibility</p:attrName>
                                        </p:attrNameLst>
                                      </p:cBhvr>
                                      <p:to>
                                        <p:strVal val="visible"/>
                                      </p:to>
                                    </p:set>
                                    <p:animEffect transition="in" filter="fade">
                                      <p:cBhvr>
                                        <p:cTn id="48"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4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44"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545"/>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Great OUP Bake Sale</a:t>
            </a:r>
            <a:endParaRPr lang="en-US" sz="2500" dirty="0"/>
          </a:p>
        </p:txBody>
      </p:sp>
      <p:pic>
        <p:nvPicPr>
          <p:cNvPr id="6" name="brP_546"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547"/>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Watch. Why are these mentioned?</a:t>
            </a:r>
            <a:endParaRPr lang="en-US" sz="1250" dirty="0"/>
          </a:p>
        </p:txBody>
      </p:sp>
      <p:sp>
        <p:nvSpPr>
          <p:cNvPr id="8" name="insIT_54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Guarda. Perché vengono nominati?</a:t>
            </a:r>
            <a:endParaRPr lang="en-US" sz="950" dirty="0"/>
          </a:p>
        </p:txBody>
      </p:sp>
      <p:sp>
        <p:nvSpPr>
          <p:cNvPr id="9" name="cmd_549"/>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300" dirty="0"/>
          </a:p>
        </p:txBody>
      </p:sp>
      <p:sp>
        <p:nvSpPr>
          <p:cNvPr id="10" name="cmd_550"/>
          <p:cNvSpPr/>
          <p:nvPr/>
        </p:nvSpPr>
        <p:spPr>
          <a:xfrm>
            <a:off x="6583680" y="566928"/>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1" name="meta_551"/>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9 min   👤 alone</a:t>
            </a:r>
            <a:endParaRPr lang="en-US" sz="950" dirty="0"/>
          </a:p>
        </p:txBody>
      </p:sp>
      <p:pic>
        <p:nvPicPr>
          <p:cNvPr id="12" name="logo_55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5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2B-2 · Video listening · The Great OUP Bake Sale   ·   📖 SB p.23 · 8a, 8b · Video 2B (7'27")</a:t>
            </a:r>
            <a:endParaRPr lang="en-US" sz="800" dirty="0"/>
          </a:p>
        </p:txBody>
      </p:sp>
      <p:sp>
        <p:nvSpPr>
          <p:cNvPr id="14" name="cd_554"/>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555"/>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556"/>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557"/>
          <p:cNvSpPr/>
          <p:nvPr/>
        </p:nvSpPr>
        <p:spPr>
          <a:xfrm>
            <a:off x="886968" y="1892808"/>
            <a:ext cx="2039112" cy="5486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Daisy Watt → a chef – one of the judges</a:t>
            </a:r>
            <a:endParaRPr lang="en-US" sz="1050" dirty="0"/>
          </a:p>
        </p:txBody>
      </p:sp>
      <p:sp>
        <p:nvSpPr>
          <p:cNvPr id="18" name="pf_558"/>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9" name="phx_559"/>
          <p:cNvSpPr/>
          <p:nvPr/>
        </p:nvSpPr>
        <p:spPr>
          <a:xfrm>
            <a:off x="411480" y="2743200"/>
            <a:ext cx="2514600" cy="187452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2b2-bake-sale.jpg</a:t>
            </a:r>
            <a:endParaRPr lang="en-US" sz="900" dirty="0"/>
          </a:p>
        </p:txBody>
      </p:sp>
      <p:sp>
        <p:nvSpPr>
          <p:cNvPr id="20" name="bd_560"/>
          <p:cNvSpPr/>
          <p:nvPr/>
        </p:nvSpPr>
        <p:spPr>
          <a:xfrm>
            <a:off x="3246120" y="14447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561"/>
          <p:cNvSpPr/>
          <p:nvPr/>
        </p:nvSpPr>
        <p:spPr>
          <a:xfrm>
            <a:off x="3630168" y="1417320"/>
            <a:ext cx="2103120" cy="365760"/>
          </a:xfrm>
          <a:prstGeom prst="roundRect">
            <a:avLst>
              <a:gd name="adj" fmla="val 25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Which cake (1–5) wins?</a:t>
            </a:r>
            <a:endParaRPr lang="en-US" sz="1150" dirty="0"/>
          </a:p>
        </p:txBody>
      </p:sp>
      <p:sp>
        <p:nvSpPr>
          <p:cNvPr id="22" name="R1_chip562"/>
          <p:cNvSpPr/>
          <p:nvPr/>
        </p:nvSpPr>
        <p:spPr>
          <a:xfrm>
            <a:off x="5806440" y="1417320"/>
            <a:ext cx="3063240" cy="365760"/>
          </a:xfrm>
          <a:prstGeom prst="roundRect">
            <a:avLst>
              <a:gd name="adj" fmla="val 25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2 · the Neapolitan cake</a:t>
            </a:r>
            <a:endParaRPr lang="en-US" sz="1000" dirty="0"/>
          </a:p>
        </p:txBody>
      </p:sp>
      <p:sp>
        <p:nvSpPr>
          <p:cNvPr id="23" name="bd_563"/>
          <p:cNvSpPr/>
          <p:nvPr/>
        </p:nvSpPr>
        <p:spPr>
          <a:xfrm>
            <a:off x="3246120" y="185623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564"/>
          <p:cNvSpPr/>
          <p:nvPr/>
        </p:nvSpPr>
        <p:spPr>
          <a:xfrm>
            <a:off x="3630168" y="1828800"/>
            <a:ext cx="2103120" cy="365760"/>
          </a:xfrm>
          <a:prstGeom prst="roundRect">
            <a:avLst>
              <a:gd name="adj" fmla="val 25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New York Marathon</a:t>
            </a:r>
            <a:endParaRPr lang="en-US" sz="1150" dirty="0"/>
          </a:p>
        </p:txBody>
      </p:sp>
      <p:sp>
        <p:nvSpPr>
          <p:cNvPr id="25" name="R2_chip565"/>
          <p:cNvSpPr/>
          <p:nvPr/>
        </p:nvSpPr>
        <p:spPr>
          <a:xfrm>
            <a:off x="5806440" y="1828800"/>
            <a:ext cx="3063240" cy="365760"/>
          </a:xfrm>
          <a:prstGeom prst="roundRect">
            <a:avLst>
              <a:gd name="adj" fmla="val 25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raises about $40 million every year</a:t>
            </a:r>
            <a:endParaRPr lang="en-US" sz="1000" dirty="0"/>
          </a:p>
        </p:txBody>
      </p:sp>
      <p:sp>
        <p:nvSpPr>
          <p:cNvPr id="26" name="bd_566"/>
          <p:cNvSpPr/>
          <p:nvPr/>
        </p:nvSpPr>
        <p:spPr>
          <a:xfrm>
            <a:off x="3246120" y="22677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567"/>
          <p:cNvSpPr/>
          <p:nvPr/>
        </p:nvSpPr>
        <p:spPr>
          <a:xfrm>
            <a:off x="3630168" y="2240280"/>
            <a:ext cx="2103120" cy="365760"/>
          </a:xfrm>
          <a:prstGeom prst="roundRect">
            <a:avLst>
              <a:gd name="adj" fmla="val 25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Great British Bake Off</a:t>
            </a:r>
            <a:endParaRPr lang="en-US" sz="1150" dirty="0"/>
          </a:p>
        </p:txBody>
      </p:sp>
      <p:sp>
        <p:nvSpPr>
          <p:cNvPr id="28" name="R3_chip568"/>
          <p:cNvSpPr/>
          <p:nvPr/>
        </p:nvSpPr>
        <p:spPr>
          <a:xfrm>
            <a:off x="5806440" y="2240280"/>
            <a:ext cx="3063240" cy="365760"/>
          </a:xfrm>
          <a:prstGeom prst="roundRect">
            <a:avLst>
              <a:gd name="adj" fmla="val 25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TV show – made bake sales very popular</a:t>
            </a:r>
            <a:endParaRPr lang="en-US" sz="1000" dirty="0"/>
          </a:p>
        </p:txBody>
      </p:sp>
      <p:sp>
        <p:nvSpPr>
          <p:cNvPr id="29" name="bd_569"/>
          <p:cNvSpPr/>
          <p:nvPr/>
        </p:nvSpPr>
        <p:spPr>
          <a:xfrm>
            <a:off x="3246120" y="267919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570"/>
          <p:cNvSpPr/>
          <p:nvPr/>
        </p:nvSpPr>
        <p:spPr>
          <a:xfrm>
            <a:off x="3630168" y="2651760"/>
            <a:ext cx="2103120" cy="365760"/>
          </a:xfrm>
          <a:prstGeom prst="roundRect">
            <a:avLst>
              <a:gd name="adj" fmla="val 25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Macmillan · Adelante Africa</a:t>
            </a:r>
            <a:endParaRPr lang="en-US" sz="1150" dirty="0"/>
          </a:p>
        </p:txBody>
      </p:sp>
      <p:sp>
        <p:nvSpPr>
          <p:cNvPr id="31" name="R4_chip571"/>
          <p:cNvSpPr/>
          <p:nvPr/>
        </p:nvSpPr>
        <p:spPr>
          <a:xfrm>
            <a:off x="5806440" y="2651760"/>
            <a:ext cx="3063240" cy="365760"/>
          </a:xfrm>
          <a:prstGeom prst="roundRect">
            <a:avLst>
              <a:gd name="adj" fmla="val 25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 two charities the sale is for</a:t>
            </a:r>
            <a:endParaRPr lang="en-US" sz="1000" dirty="0"/>
          </a:p>
        </p:txBody>
      </p:sp>
      <p:sp>
        <p:nvSpPr>
          <p:cNvPr id="32" name="bd_572"/>
          <p:cNvSpPr/>
          <p:nvPr/>
        </p:nvSpPr>
        <p:spPr>
          <a:xfrm>
            <a:off x="3246120" y="30906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573"/>
          <p:cNvSpPr/>
          <p:nvPr/>
        </p:nvSpPr>
        <p:spPr>
          <a:xfrm>
            <a:off x="3630168" y="3063240"/>
            <a:ext cx="2103120" cy="365760"/>
          </a:xfrm>
          <a:prstGeom prst="roundRect">
            <a:avLst>
              <a:gd name="adj" fmla="val 25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Viennese Whirls</a:t>
            </a:r>
            <a:endParaRPr lang="en-US" sz="1150" dirty="0"/>
          </a:p>
        </p:txBody>
      </p:sp>
      <p:sp>
        <p:nvSpPr>
          <p:cNvPr id="34" name="R5_chip574"/>
          <p:cNvSpPr/>
          <p:nvPr/>
        </p:nvSpPr>
        <p:spPr>
          <a:xfrm>
            <a:off x="5806440" y="3063240"/>
            <a:ext cx="3063240" cy="365760"/>
          </a:xfrm>
          <a:prstGeom prst="roundRect">
            <a:avLst>
              <a:gd name="adj" fmla="val 25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Emma's biscuits (buttercream and jam)</a:t>
            </a:r>
            <a:endParaRPr lang="en-US" sz="1000" dirty="0"/>
          </a:p>
        </p:txBody>
      </p:sp>
      <p:sp>
        <p:nvSpPr>
          <p:cNvPr id="35" name="bd_575"/>
          <p:cNvSpPr/>
          <p:nvPr/>
        </p:nvSpPr>
        <p:spPr>
          <a:xfrm>
            <a:off x="3246120" y="350215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576"/>
          <p:cNvSpPr/>
          <p:nvPr/>
        </p:nvSpPr>
        <p:spPr>
          <a:xfrm>
            <a:off x="3630168" y="3474720"/>
            <a:ext cx="2103120" cy="365760"/>
          </a:xfrm>
          <a:prstGeom prst="roundRect">
            <a:avLst>
              <a:gd name="adj" fmla="val 25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stress-reliever</a:t>
            </a:r>
            <a:endParaRPr lang="en-US" sz="1150" dirty="0"/>
          </a:p>
        </p:txBody>
      </p:sp>
      <p:sp>
        <p:nvSpPr>
          <p:cNvPr id="37" name="R6_chip577"/>
          <p:cNvSpPr/>
          <p:nvPr/>
        </p:nvSpPr>
        <p:spPr>
          <a:xfrm>
            <a:off x="5806440" y="3474720"/>
            <a:ext cx="3063240" cy="365760"/>
          </a:xfrm>
          <a:prstGeom prst="roundRect">
            <a:avLst>
              <a:gd name="adj" fmla="val 25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what baking is for Emma</a:t>
            </a:r>
            <a:endParaRPr lang="en-US" sz="1000" dirty="0"/>
          </a:p>
        </p:txBody>
      </p:sp>
      <p:sp>
        <p:nvSpPr>
          <p:cNvPr id="38" name="bd_578"/>
          <p:cNvSpPr/>
          <p:nvPr/>
        </p:nvSpPr>
        <p:spPr>
          <a:xfrm>
            <a:off x="3246120" y="391363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9" name="q_579"/>
          <p:cNvSpPr/>
          <p:nvPr/>
        </p:nvSpPr>
        <p:spPr>
          <a:xfrm>
            <a:off x="3630168" y="3886200"/>
            <a:ext cx="2103120" cy="365760"/>
          </a:xfrm>
          <a:prstGeom prst="roundRect">
            <a:avLst>
              <a:gd name="adj" fmla="val 25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sponge cake with blueberries</a:t>
            </a:r>
            <a:endParaRPr lang="en-US" sz="1150" dirty="0"/>
          </a:p>
        </p:txBody>
      </p:sp>
      <p:sp>
        <p:nvSpPr>
          <p:cNvPr id="40" name="R7_chip580"/>
          <p:cNvSpPr/>
          <p:nvPr/>
        </p:nvSpPr>
        <p:spPr>
          <a:xfrm>
            <a:off x="5806440" y="3886200"/>
            <a:ext cx="3063240" cy="365760"/>
          </a:xfrm>
          <a:prstGeom prst="roundRect">
            <a:avLst>
              <a:gd name="adj" fmla="val 25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James's cake</a:t>
            </a:r>
            <a:endParaRPr lang="en-US" sz="1000" dirty="0"/>
          </a:p>
        </p:txBody>
      </p:sp>
      <p:sp>
        <p:nvSpPr>
          <p:cNvPr id="41" name="bd_581"/>
          <p:cNvSpPr/>
          <p:nvPr/>
        </p:nvSpPr>
        <p:spPr>
          <a:xfrm>
            <a:off x="3246120" y="432511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2" name="q_582"/>
          <p:cNvSpPr/>
          <p:nvPr/>
        </p:nvSpPr>
        <p:spPr>
          <a:xfrm>
            <a:off x="3630168" y="4297680"/>
            <a:ext cx="2103120" cy="365760"/>
          </a:xfrm>
          <a:prstGeom prst="roundRect">
            <a:avLst>
              <a:gd name="adj" fmla="val 25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£270</a:t>
            </a:r>
            <a:endParaRPr lang="en-US" sz="1150" dirty="0"/>
          </a:p>
        </p:txBody>
      </p:sp>
      <p:sp>
        <p:nvSpPr>
          <p:cNvPr id="43" name="R8_chip583"/>
          <p:cNvSpPr/>
          <p:nvPr/>
        </p:nvSpPr>
        <p:spPr>
          <a:xfrm>
            <a:off x="5806440" y="4297680"/>
            <a:ext cx="3063240" cy="365760"/>
          </a:xfrm>
          <a:prstGeom prst="roundRect">
            <a:avLst>
              <a:gd name="adj" fmla="val 25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 sale raised over £270</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84"/>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585"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586"/>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587"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588"/>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58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Libri chiusi! Cosa ricordi?</a:t>
            </a:r>
            <a:endParaRPr lang="en-US" sz="950" dirty="0"/>
          </a:p>
        </p:txBody>
      </p:sp>
      <p:sp>
        <p:nvSpPr>
          <p:cNvPr id="9" name="meta_590"/>
          <p:cNvSpPr/>
          <p:nvPr/>
        </p:nvSpPr>
        <p:spPr>
          <a:xfrm>
            <a:off x="6583680" y="182880"/>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10" name="logo_59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9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2B-2 · Exit · what can you remember?</a:t>
            </a:r>
            <a:endParaRPr lang="en-US" sz="800" dirty="0"/>
          </a:p>
        </p:txBody>
      </p:sp>
      <p:sp>
        <p:nvSpPr>
          <p:cNvPr id="12" name="bd_593"/>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3" name="rt_594"/>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5240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strong adjectives – and their normal adjective</a:t>
            </a:r>
            <a:endParaRPr lang="en-US" sz="1400" dirty="0"/>
          </a:p>
        </p:txBody>
      </p:sp>
      <p:sp>
        <p:nvSpPr>
          <p:cNvPr id="14" name="bd_595"/>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5" name="rt_596"/>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5240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things that happened to Helen in Antarctica</a:t>
            </a:r>
            <a:endParaRPr lang="en-US" sz="1400" dirty="0"/>
          </a:p>
        </p:txBody>
      </p:sp>
      <p:sp>
        <p:nvSpPr>
          <p:cNvPr id="16" name="bd_597"/>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7" name="rt_598"/>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5240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time you were absolutely exhausted or starving</a:t>
            </a:r>
            <a:endParaRPr lang="en-US" sz="1400" dirty="0"/>
          </a:p>
        </p:txBody>
      </p:sp>
      <p:sp>
        <p:nvSpPr>
          <p:cNvPr id="18" name="cd_599"/>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9" name="ii_600"/>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601"/>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1" name="il_602"/>
          <p:cNvSpPr/>
          <p:nvPr/>
        </p:nvSpPr>
        <p:spPr>
          <a:xfrm>
            <a:off x="6236208" y="1892808"/>
            <a:ext cx="2542032" cy="173736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2B: 3a–3d</a:t>
            </a:r>
            <a:endParaRPr lang="en-US" sz="1150" dirty="0"/>
          </a:p>
          <a:p>
            <a:pPr marL="342900" indent="-3429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SB p.22: Strong adjectives – cover and test yourself</a:t>
            </a:r>
            <a:endParaRPr lang="en-US" sz="1150" dirty="0"/>
          </a:p>
          <a:p>
            <a:pPr marL="342900" indent="-3429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Video 2B on Online Practice (if not watched)</a:t>
            </a:r>
            <a:endParaRPr lang="en-US" sz="1150" dirty="0"/>
          </a:p>
          <a:p>
            <a:pPr marL="342900" indent="-3429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Homework sheet 2B-2 in the LLS app</a:t>
            </a:r>
            <a:endParaRPr lang="en-US" sz="1150" dirty="0"/>
          </a:p>
        </p:txBody>
      </p:sp>
      <p:sp>
        <p:nvSpPr>
          <p:cNvPr id="22" name="st_603"/>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Revise and Check 1&amp;2 · review games</a:t>
            </a:r>
            <a:endParaRPr lang="en-US" sz="1100" dirty="0"/>
          </a:p>
        </p:txBody>
      </p:sp>
    </p:spTree>
  </p:cSld>
  <p:clrMapOvr>
    <a:masterClrMapping/>
  </p:clrMapOvr>
  <p:transition spd="med">
    <p:push dir="l"/>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04"/>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605"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606"/>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An exciting experience</a:t>
            </a:r>
            <a:endParaRPr lang="en-US" sz="2500" dirty="0"/>
          </a:p>
        </p:txBody>
      </p:sp>
      <p:pic>
        <p:nvPicPr>
          <p:cNvPr id="6" name="brP_607" descr="/home/claude/lls-course/v2/assets/brush-pink.png">    </p:cNvPr>
          <p:cNvPicPr>
            <a:picLocks noChangeAspect="1"/>
          </p:cNvPicPr>
          <p:nvPr/>
        </p:nvPicPr>
        <p:blipFill>
          <a:blip r:embed="rId3"/>
          <a:stretch>
            <a:fillRect/>
          </a:stretch>
        </p:blipFill>
        <p:spPr>
          <a:xfrm>
            <a:off x="1207008" y="731520"/>
            <a:ext cx="4727448" cy="402336"/>
          </a:xfrm>
          <a:prstGeom prst="rect">
            <a:avLst/>
          </a:prstGeom>
        </p:spPr>
      </p:pic>
      <p:sp>
        <p:nvSpPr>
          <p:cNvPr id="7" name="ins_608"/>
          <p:cNvSpPr/>
          <p:nvPr/>
        </p:nvSpPr>
        <p:spPr>
          <a:xfrm>
            <a:off x="1353312" y="731520"/>
            <a:ext cx="447141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Tell your partner. Then ask: How did you feel?</a:t>
            </a:r>
            <a:endParaRPr lang="en-US" sz="1250" dirty="0"/>
          </a:p>
        </p:txBody>
      </p:sp>
      <p:sp>
        <p:nvSpPr>
          <p:cNvPr id="8" name="insIT_60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Racconta al compagno. Poi chiedi: Come ti sei sentito?</a:t>
            </a:r>
            <a:endParaRPr lang="en-US" sz="950" dirty="0"/>
          </a:p>
        </p:txBody>
      </p:sp>
      <p:sp>
        <p:nvSpPr>
          <p:cNvPr id="9" name="cmd_610"/>
          <p:cNvSpPr/>
          <p:nvPr/>
        </p:nvSpPr>
        <p:spPr>
          <a:xfrm>
            <a:off x="6583680" y="182880"/>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0" name="meta_611"/>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pic>
        <p:nvPicPr>
          <p:cNvPr id="11" name="logo_61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61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2B-2 · Extra · an exciting experience   ·   📖 SB p.22 · 6e</a:t>
            </a:r>
            <a:endParaRPr lang="en-US" sz="800" dirty="0"/>
          </a:p>
        </p:txBody>
      </p:sp>
      <p:sp>
        <p:nvSpPr>
          <p:cNvPr id="13" name="st_614"/>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4" name="pf_615"/>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616" descr="/home/claude/lls-course/v2/cache/spare_life_experiences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617"/>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618"/>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619"/>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620"/>
          <p:cNvSpPr/>
          <p:nvPr/>
        </p:nvSpPr>
        <p:spPr>
          <a:xfrm>
            <a:off x="886968" y="3904488"/>
            <a:ext cx="213055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It was absolutely amazing / terrifying…</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 was exhausted / delighted…</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Would you do it again?</a:t>
            </a:r>
            <a:endParaRPr lang="en-US" sz="1050" dirty="0"/>
          </a:p>
        </p:txBody>
      </p:sp>
      <p:sp>
        <p:nvSpPr>
          <p:cNvPr id="20" name="R1_qb621"/>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622"/>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Have you ever done an adventure sport? What?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 I went rafting in Calabria. It was amazing!</a:t>
            </a:r>
            <a:endParaRPr lang="en-US" sz="1250" dirty="0"/>
          </a:p>
        </p:txBody>
      </p:sp>
      <p:sp>
        <p:nvSpPr>
          <p:cNvPr id="22" name="R2_qb623"/>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624"/>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Tell me about an exciting experience.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climbed Etna with my cousins. We started at 5 a.m.</a:t>
            </a:r>
            <a:endParaRPr lang="en-US" sz="1250" dirty="0"/>
          </a:p>
        </p:txBody>
      </p:sp>
      <p:sp>
        <p:nvSpPr>
          <p:cNvPr id="24" name="R3_qb625"/>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626"/>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Was it a positive experience? Why (not)?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but I was exhausted and starving at the top!</a:t>
            </a:r>
            <a:endParaRPr lang="en-US" sz="1250" dirty="0"/>
          </a:p>
        </p:txBody>
      </p:sp>
      <p:sp>
        <p:nvSpPr>
          <p:cNvPr id="26" name="R4_qb627"/>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628"/>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How did you feel?</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Absolutely delighted – and a bit terrified!</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2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630"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631"/>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Plan a bake sale!</a:t>
            </a:r>
            <a:endParaRPr lang="en-US" sz="2500" dirty="0"/>
          </a:p>
        </p:txBody>
      </p:sp>
      <p:pic>
        <p:nvPicPr>
          <p:cNvPr id="6" name="brP_632"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633"/>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Plan a bake sale for a local charity!</a:t>
            </a:r>
            <a:endParaRPr lang="en-US" sz="1250" dirty="0"/>
          </a:p>
        </p:txBody>
      </p:sp>
      <p:sp>
        <p:nvSpPr>
          <p:cNvPr id="8" name="insIT_63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Organizzate una vendita di dolci per beneficenza!</a:t>
            </a:r>
            <a:endParaRPr lang="en-US" sz="950" dirty="0"/>
          </a:p>
        </p:txBody>
      </p:sp>
      <p:sp>
        <p:nvSpPr>
          <p:cNvPr id="9" name="cmd_635"/>
          <p:cNvSpPr/>
          <p:nvPr/>
        </p:nvSpPr>
        <p:spPr>
          <a:xfrm>
            <a:off x="6583680" y="182880"/>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0" name="meta_636"/>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6 min   👨‍👩‍👧 groups</a:t>
            </a:r>
            <a:endParaRPr lang="en-US" sz="950" dirty="0"/>
          </a:p>
        </p:txBody>
      </p:sp>
      <p:pic>
        <p:nvPicPr>
          <p:cNvPr id="11" name="logo_63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63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2B-2 · Extra · project   ·   📖 TG extra idea (Video Listening 2B): a class bake sale</a:t>
            </a:r>
            <a:endParaRPr lang="en-US" sz="800" dirty="0"/>
          </a:p>
        </p:txBody>
      </p:sp>
      <p:sp>
        <p:nvSpPr>
          <p:cNvPr id="13" name="st_639"/>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4" name="pf_640"/>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641" descr="/home/claude/lls-course/v2/cache/2b2_cannoli_sale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642"/>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643"/>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644"/>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645"/>
          <p:cNvSpPr/>
          <p:nvPr/>
        </p:nvSpPr>
        <p:spPr>
          <a:xfrm>
            <a:off x="886968" y="3904488"/>
            <a:ext cx="213055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We're going to… · We'll…</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It'll be absolutely delicious!</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How much will you charge?</a:t>
            </a:r>
            <a:endParaRPr lang="en-US" sz="1050" dirty="0"/>
          </a:p>
        </p:txBody>
      </p:sp>
      <p:sp>
        <p:nvSpPr>
          <p:cNvPr id="20" name="R1_qb646"/>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647"/>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Which charity? Why this one?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A local animal shelter – the dogs are starving!</a:t>
            </a:r>
            <a:endParaRPr lang="en-US" sz="1250" dirty="0"/>
          </a:p>
        </p:txBody>
      </p:sp>
      <p:sp>
        <p:nvSpPr>
          <p:cNvPr id="22" name="R2_qb648"/>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649"/>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When and where? Who bakes what?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On Saturday at school. I'll make cannoli!</a:t>
            </a:r>
            <a:endParaRPr lang="en-US" sz="1250" dirty="0"/>
          </a:p>
        </p:txBody>
      </p:sp>
      <p:sp>
        <p:nvSpPr>
          <p:cNvPr id="24" name="R3_qb650"/>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651"/>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How much will you charge? How much do you want to raise?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€2 a slice. We want to raise €200.</a:t>
            </a:r>
            <a:endParaRPr lang="en-US" sz="1250" dirty="0"/>
          </a:p>
        </p:txBody>
      </p:sp>
      <p:sp>
        <p:nvSpPr>
          <p:cNvPr id="26" name="R4_qb652"/>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653"/>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Write a poster slogan with a strong adjective.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Our cannoli are absolutely fantastic – only €2!</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2B-2 Changing lives</dc:title>
  <dc:subject>PptxGenJS Presentation</dc:subject>
  <dc:creator>PptxGenJS</dc:creator>
  <cp:lastModifiedBy>PptxGenJS</cp:lastModifiedBy>
  <cp:revision>1</cp:revision>
  <dcterms:created xsi:type="dcterms:W3CDTF">2026-10-08T08:17:54Z</dcterms:created>
  <dcterms:modified xsi:type="dcterms:W3CDTF">2026-10-08T08:17:54Z</dcterms:modified>
</cp:coreProperties>
</file>