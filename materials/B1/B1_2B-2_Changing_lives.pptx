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OPENING (2 min). Show the photo: a person pulling a sledge across the snow. Ask the THINK question: 'Would you ski 500 miles to the South Pole – for charity?' Take 3–4 quick answers (Yes! / No way – it's too cold!). Tell them: 'It's –15°C, the wind is 70 miles per hour… how would you feel?' Accept 'very cold, very tired' – today they'll learn stronger words. Read the 'Today you're going to…' list together. The photo is a generic image (the book's blog is by TV presenter Helen Skelton).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last lesson (2 min)
REVISION (2 min) before the warmer game. Read the examples with the class; ask 'for or since + 2012?' (since) · '+ ten years?' (for). Point out: action verbs → been + -ing; know / have / be → simple. Recall the charity quickly: 'Where is Adelante Africa? What have they built?'. Then play 'Number game!' – students make for / since sentences about Adelante Africa.
HOW TO RUN IT (active recap): pairs. Words: A points at a word, B says what it means (⭐); then a sentence with it (⭐⭐); strong students make it negative or a question (⭐⭐⭐). Grammar: pairs make their own example for each use (offer, plan…) BEFORE you click – then click to show the model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Warmer · last lesson: Adelante Africa (4 min)
RETRIEVAL WARMER (3 min) – recycles 2B part 1. Books closed. Format: a number-memory quiz (different from last lesson's 'Odd one out!' warmer) – the same numbers students predicted and heard in 2B-1, now recalled from memory. Two teams, one pen and paper each. Read each number aloud; teams have 30 seconds to write what it refers to AND a sentence with the present perfect (simple or continuous) + for or since. Click once per number for a model answer (facts from audio scripts 2.13 / 2.14). 1 point for the fact, +1 for a correct for / since sentence (accept any correct sentence, e.g. 'The new school has been open since 2010'). Watch for: ✗ The home is running since 2012 → ✓ has been running · ✗ since ten years → ✓ for ten years · ✗ I've been knowing → ✓ I've known. Bonus number if fast: 5 (kilos – Baby Rose's weight when she arrived). ICQs: 'Do you write only the fact?' (no – the fact AND a sentence) · 'for or since + 2012?' (since).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Lead-in · charity events (3 min)
LEAD-IN (2 min – take 3 of the 4 questions). SB 6a. First check the phrases in the purple box (TG): raise money for a good cause, take part in a charity event. Link to last lesson: Adelante Africa raises money for a school in Uganda. Questions appear ONE PER CLICK – about 40 seconds each. Example answers are only models. Feedback: 2–3 pairs. ICQ: 'Can you just say yes or no?' (no – give an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Reading · key words first (2 min)
PRE-TEACH BLOCKING WORDS ONLY (2 min). TG: make sure students know what a blog is (example 0). Pairs guess the meaning; click once per word – each answer gives the meaning AND the Italian (consolidation on the same slide). Use the photo for kite-skiing. Drill: sledge /sledʒ/, trek /trek/. Don't teach other words from the blog now – the strong adjectives come later (they are the gaps in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Reading · the introduction (3 min)
READING · INTRODUCTION (2 min). SB 6b, adapted: pairs put the words from the yellow box into gaps 1–4 (1 min), then click once per line – the answer appears highlighted IN the text. Answers (SB p.22): 1 78(-mile) · 2 3,200 · 3 heat · 4 500(-mile). Then the book's two questions (in the yellow box). TG key: 1 She's run an ultra marathon in Namibia and she's kayaked down the Amazon. 2 A polar challenge – a 500-mile journey to the South Pole; it's different because the cold, rather than the heat, might be a problem. Notice the present perfect from last lesson: She has run… she has kayaked… (experiences, no time). TG extra support: 'How is Helen going to get there?' (skiing, kite-skiing and cycling). Text slightly shortened (Nauta–Almeirim route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Reading · order of events (4 min)
READING · ORDER (4 min). SB 6c: the blog entries A–I are mixed up; B (My first night in Antarctica) is number 1. Students use the highlighted time clues (the book's yellow phrases, shortened on the slide) to number the others 2–9. Tip: underline the time words first (four days, first day, second day, halfway, 150 miles from…, over a month, completed). Pairs compare, then click once per entry (rows are in letter order – the coloured row numbers are NOT the answers). Answers (TG): 2 D · 3 I · 4 C · 5 E · 6 H · 7 F · 8 A · 9 G. ICQ: 'Which entry is number 1?' (B) · 'Do you read everything now?' (no – only the first lines). The next three slides show the blog in the right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Reading · the blog (1) (2 min)
READING (2 min). The blog in the RIGHT order, entries 1–3 (shortened; facts unchanged). Students read silently (90 seconds) and guess gap 1 – a word that means 'very cold' (SB 7a, sentence 2). Click: the answer appears in the text. Answer: freezing (= very cold). Ask: 'Why can't they train?' (a huge snowstorm – they had to stay in the tent). Don't teach strong adjectives yet – just 'What do you think it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Reading · the blog (2) (2 min)
READING (2 min). Entries 4–6. Students read and guess gaps 2 and 3 (SB 7a, sentences 1 and 3): 2 = very tired, 3 = very dirty. Click once per gap. Answers: 2 exhausted (= very tired) · 3 filthy (= very dirty). Point at the words before them: completely exhausted, absolutely filthy – NOT 'very exhausted' (the Strong adjectives box – taught on slide 11). Quick question: 'How far did they go on the kite-skis?' (41 miles).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Reading · the blog (3) (2 min)
READING (2 min). Entries 7–9. Gap 4: a science-fiction character with a black mask (students love guessing!) → Darth Vader. Gap 5: what do you do when you're very emotional? → cried. Click once per gap. Ask: 'How long did the journey take?' (18 days) · 'Who did she phone?' (her dad). React: 'Would YOU cry?'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Reading · detail (3 min)
READING FOR DETAIL (2 min). SB 6d: in which entry does Helen mention…? Pairs answer from memory first (a challenge!), then go back to slides 7–9 to check if they disagree. Click once per item: the entry letter AND the evidence. Answers (TG): feeling very emotional G (I cried) · how beautiful Antarctica is B (the scenery was incredible) · looking forward to a wash H (example) · having to wear the same clothes every day I (I'm not going to get clean clothes again for three weeks!) · travelling quickly for the first time E (straight away we were travelling fast) · looking like a science fiction character A (Darth Vader) · not being able to go outside D (we've had to stay in the tent) · stopping cycling because she was very tired C (completely exhausted) · stopping using one method of transport F (only bikes and cross-country skis, not kite-skis). Then 6e (if time, 1 min): 'Which day would be the worst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Vocabulary · strong adjectives (1) (3 min)
VOCABULARY (3 min). First the Strong adjectives box (SB p.22): 'exhausted, freezing and filthy are STRONG adjectives = very tired, very cold, very dirty. With strong adjectives you can use absolutely, completely, really or totally – but NOT very (✗ very exhausted).' Then SB 7b: pairs read B's answer and write the normal adjective in A's question (1 = the book's example). Play 2.20 (1–6) to check; click once per line. Answers (TG): 1 angry · 2 small · 3 afraid · 4 interesting · 5 hungry · 6 big (huge OR enormous). Play again, pausing: students repeat B's answer and copy the STRONG stress (I'm STARving!). TG: strong adjectives are not literal – starving = very hungry, not dying of hunger. Drill: furious /ˈfjʊəriəs/, huge /hjuːdʒ/, terrified /ˈterɪfaɪd/.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Vocabulary · strong adjectives (2) (3 min)
VOCABULARY (3 min). Same procedure for 7–12. Play 2.20 (7–12); click once per line. Answers (TG): 7 hot · 8 dirty · 9 pleased · 10 funny · 11 sure · 12 surprised. TG notes: amazed = very surprised, but amazing = very surprising OR very good (an amazing film) · delighted can also mean very happy · positive here = very sure. Then pairs read all 12 mini-dialogues aloud (A / B, then swap), stressing the strong adjective. 2–3 pairs perform. Drill filthy /ˈfɪlθi/ (th!), hilarious /hɪˈleəriəs/, delighted /dɪˈlaɪtɪd/ (-ed = /ɪd/ after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Vocabulary · in Italian (2 min)
CONSOLIDATION for slower students (2 min). The class says the Italian for each word, then click once per word to show its Italian (and the warning line). 20 seconds on the warning: never 'very' + a strong adjective. CCQs: 'I'm starving – am I going to die?' (no – I'm very hungry) · 'The film was hilarious – did we laugh a little?' (no – a lot) · 'Can I say very furious?' (no – absolutely furious). FALSE FRIEND note: positive = very sure here (not 'ottimista').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Speaking · class story (TPRS) (4 min)
TPRS CLASS STORY (4 min) – after the two 2.20 slides and the Italian check, students know what the strong adjectives MEAN; the story lets them hear them 15–20 times with absolutely / completely before they have to produce them fast in 'Upgrade it!', 'The worst trip ever!' and 'Absolutely!'. It recycles the strong adjectives (freezing, exhausted, starving, filthy, furious, hilarious, delighted), absolutely / completely (never very!) and a charity challenge like Helen's (raise money, present perfect from 2B part 1). Click once per line. For each line: 1) say it with BIG stress on the strong adjective, 2) ask the questions in grey round the class (yes/no → either/or → who/what), 3) let the CLASS change details: 'Does Luca climb Etna? No? Where does he go?' – accept their idea and use it in later lines (if they choose the sea, line 1 becomes 'absolutely freezing water'!). Students answer with one word or a short phrase ('Starving!') – that's fine; insist on the strong stress (STARving, FILthy). If anyone says 'very exhausted', just echo: 'Completely exhausted!' Finish: 'What happens next?' – one or two ideas,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Vocabulary game (4 min)
GAME 2 (4 min). Replaces / prepares SB 7d (Communication 'Are you hungry?', A p.106, B p.111 – the same idea: answer a normal question with a strong adjective). Read each question aloud with a 'normal' voice; the first team to answer with the right strong adjective AND strong stress wins the point ('very' = no point). Click to show a model answer. Then pairs do the book activity (pp.106 / 111) or ask each other the six questions – SECOND ROUND FASTER (TG). TG extra support questions: Is an elephant big? Are you frightened of snakes? Was the book good? ICQ: 'Can you say very freezing?'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Speaking game · story chain (4 min)
GAME 3 (4 min). A chain story about a school trip where EVERYTHING went wrong (like Helen's snowstorm, soft snow and filthy hair). Show each sentence start; teams have 20 seconds to finish it with a strong adjective they haven't used yet. Click to show an example ending. Point for the funniest correct ending (the class votes with a show of hands). No adjective, a repeated adjective, or 'very + strong adjective' = no point. FAST FINISHERS / extra minute: groups of 3 invent their own 'worst trip' – each person adds one sentence with a different strong adjective; one group tells its story to the class. ICQ: 'Can you use starving twice?'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Speaking · strong adjectives (4 min)
SPEAKING (4 min). SB 7e (question 2 adapted: 'in your country' → here). TG extra support: answer one question yourself first, giving lots of detail. Questions appear ONE PER CLICK – about 45 seconds each. Each answer needs a strong adjective (freezing, furious, terrified, boiling, hilarious) and a detail; the partner asks one follow-up question. Monitor; note 4–5 errors (especially 'very + strong adjective' and flat stress) for 1 minute of delayed correction at the end. Feedback: 2–3 students tell the class their partner's best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Video listening · The Great OUP Bake Sale (9 min)
VIDEO LISTENING (9 min). ⚠ The video is NOT inside this deck: play EF_INT_2B_THE_GREAT_OUP_BAKE_SALE.mp4 (LLS course folder b1/video/) or Online Practice 2B. BEFORE watching (1 min): look at the five cakes in the book (SB p.23) and read the list on the slide – the questions are on screen before they watch. TG extra support – pre-teach if needed: buttercream (butter + sugar), a sponge cake, blueberries, cookies, a loaf cake, icing. Watch ONCE all the way through (7.5 min) and do 8a + 8b together. TG EXTRA IDEA: pause at 05:27 ('And then to choose the winner') – pairs predict the winner. Click once per line. Answers (TG): 8a the winning cake is number 2, the Neapolitan cake (Laura's) – does it look the best? 8b 1 New York Marathon: an example of raising money – about $40 million every year · 2 The Great British Bake Off: TV programme that made baking and bake sales very popular · 3 Macmillan Cancer Support and Adelante Africa: the two charities · 4 Daisy Watt: a chef, one of the judges (example) · 5 Viennese Whirls: the biscuits Emma is making · 6 Emma: baking is a stress-reliever for her · 7 James: a sponge cake with blueberries · 8 baking with kids: when James bakes, it's usually with his kids, something easy like cookies · 9 the decoration: what Daisy is looking for (real effort) · 10 £270: the sale raised over £270. Link: Adelante Africa = last lesson's charity! If short of time: set the video for homework on Online Practice and do the exit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Exit · what can you remember? (2 min)
RETRIEVAL EXIT (2 min). Books closed. Pairs: 3 strong adjectives with the normal one (starving = very hungry), 2 things that happened to Helen (snowstorm, exhausted after nine hours of cycling, filthy hair, she cried…), 1 true sentence: 'I was absolutely exhausted after…'. A few students share – check the stress. Set homework (on the slide and in the app): Workbook 2B 3a–3d + learn the strong adjectives (cover one column and test yourself) + the 2B-2 homework sheet (easier version available). If the video wasn't watched in class: Online Practice 2B Video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Review · what did you do today? (1 min)
TODAY YOU… (1 min). Read each line (one per click: the tick appears). Students show thumbs up / middle / down: can they do it now? Note any thumbs down for the next lesson's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OPTIONAL EXTENSIONS
The lesson ended on the previous slide ("Today you…"). Use the next slides only if there is time left, or keep them for a quick start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Extra · an exciting experience (4 min)
EXTRA (4 min, if there's time). SB 6e: tell your partner about an adventure sport you've done or an exciting experience you've had. Was it a positive experience? Why (not)? How did you feel? TG: tell the class about your own experience first. Questions appear one per click. Answers can be invented. Strong adjectives with -ing / -ed (terrifying / terrified, amazing / amazed) – accept both, and note that -ed / -ing adjectives come later in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Extra · project (6 min)
EXTRA (6 min). TG EXTRA IDEA: the class could organize a real bake sale for a local charity. Recycles future forms from 1B (going to, will) and money words from 2A (charge, raise). Questions one per click. Keep the charity choice neutral and local. Each group presents in 1 minute; class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audio" Target="../media/media-12-5.mp3"/><Relationship Id="rId6" Type="http://schemas.microsoft.com/office/2007/relationships/media" Target="../media/media-12-5.mp3"/><Relationship Id="rId7" Type="http://schemas.openxmlformats.org/officeDocument/2006/relationships/image" Target="../media/image-12-7.png"/><Relationship Id="rId8" Type="http://schemas.openxmlformats.org/officeDocument/2006/relationships/audio" Target="../media/media-12-8.mp3"/><Relationship Id="rId9" Type="http://schemas.microsoft.com/office/2007/relationships/media" Target="../media/media-12-8.mp3"/><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slideLayout" Target="../slideLayouts/slideLayout1.xml"/><Relationship Id="rId1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audio" Target="../media/media-13-5.mp3"/><Relationship Id="rId6" Type="http://schemas.microsoft.com/office/2007/relationships/media" Target="../media/media-13-5.mp3"/><Relationship Id="rId7" Type="http://schemas.openxmlformats.org/officeDocument/2006/relationships/image" Target="../media/image-13-7.png"/><Relationship Id="rId8" Type="http://schemas.openxmlformats.org/officeDocument/2006/relationships/audio" Target="../media/media-13-8.mp3"/><Relationship Id="rId9" Type="http://schemas.microsoft.com/office/2007/relationships/media" Target="../media/media-13-8.mp3"/><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slideLayout" Target="../slideLayouts/slideLayout1.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1.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B1 · SB pp.22–23</a:t>
            </a:r>
            <a:endParaRPr lang="en-US" sz="1000" dirty="0"/>
          </a:p>
        </p:txBody>
      </p:sp>
      <p:sp>
        <p:nvSpPr>
          <p:cNvPr id="4" name="bd_2"/>
          <p:cNvSpPr/>
          <p:nvPr/>
        </p:nvSpPr>
        <p:spPr>
          <a:xfrm>
            <a:off x="365760" y="640080"/>
            <a:ext cx="1051560" cy="105156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600" dirty="0">
                <a:solidFill>
                  <a:srgbClr val="FFFFFF"/>
                </a:solidFill>
                <a:latin typeface="Arial Rounded MT Bold" pitchFamily="34" charset="0"/>
                <a:ea typeface="Arial Rounded MT Bold" pitchFamily="34" charset="-122"/>
                <a:cs typeface="Arial Rounded MT Bold" pitchFamily="34" charset="-120"/>
              </a:rPr>
              <a:t>2B-2</a:t>
            </a:r>
            <a:endParaRPr lang="en-US" sz="16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Changing lives</a:t>
            </a:r>
            <a:endParaRPr lang="en-US" sz="24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050" i="1" dirty="0">
                <a:solidFill>
                  <a:srgbClr val="1B2559"/>
                </a:solidFill>
                <a:latin typeface="Segoe UI Semibold" pitchFamily="34" charset="0"/>
                <a:ea typeface="Segoe UI Semibold" pitchFamily="34" charset="-122"/>
                <a:cs typeface="Segoe UI Semibold" pitchFamily="34" charset="-120"/>
              </a:rPr>
              <a:t>Charity challenges · strong adjectives</a:t>
            </a:r>
            <a:endParaRPr lang="en-US" sz="1050" dirty="0"/>
          </a:p>
        </p:txBody>
      </p:sp>
      <p:sp>
        <p:nvSpPr>
          <p:cNvPr id="9" name="cd_7"/>
          <p:cNvSpPr/>
          <p:nvPr/>
        </p:nvSpPr>
        <p:spPr>
          <a:xfrm>
            <a:off x="365760" y="2148840"/>
            <a:ext cx="4206240" cy="1691640"/>
          </a:xfrm>
          <a:prstGeom prst="roundRect">
            <a:avLst>
              <a:gd name="adj" fmla="val 7568"/>
            </a:avLst>
          </a:prstGeom>
          <a:solidFill>
            <a:srgbClr val="E3F1FD"/>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42616"/>
            <a:ext cx="3547872" cy="1124712"/>
          </a:xfrm>
          <a:prstGeom prst="rect">
            <a:avLst/>
          </a:prstGeom>
          <a:noFill/>
          <a:ln/>
        </p:spPr>
        <p:txBody>
          <a:bodyPr wrap="square" lIns="0" tIns="0" rIns="0" bIns="0" rtlCol="0" anchor="t">
            <a:normAutofit/>
          </a:bodyPr>
          <a:lstStyle/>
          <a:p>
            <a:pPr indent="0" marL="0">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talk about charity challenges</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read a blog from Antarctica</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use strong adjectives: I'm starving!</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listen to a class story and answer questions</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watch a video about a charity bake sale</a:t>
            </a:r>
            <a:endParaRPr lang="en-US" sz="850" dirty="0"/>
          </a:p>
        </p:txBody>
      </p:sp>
      <p:sp>
        <p:nvSpPr>
          <p:cNvPr id="13" name="R1_ex11"/>
          <p:cNvSpPr/>
          <p:nvPr/>
        </p:nvSpPr>
        <p:spPr>
          <a:xfrm>
            <a:off x="365760" y="3950208"/>
            <a:ext cx="4206240" cy="603504"/>
          </a:xfrm>
          <a:prstGeom prst="roundRect">
            <a:avLst>
              <a:gd name="adj" fmla="val 18182"/>
            </a:avLst>
          </a:prstGeom>
          <a:solidFill>
            <a:srgbClr val="FFF6CC"/>
          </a:solidFill>
          <a:ln w="28575">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No, I wouldn't – I hate the cold!</a:t>
            </a:r>
            <a:endParaRPr lang="en-US" sz="1000" dirty="0"/>
          </a:p>
        </p:txBody>
      </p:sp>
      <p:sp>
        <p:nvSpPr>
          <p:cNvPr id="14" name="pf_12"/>
          <p:cNvSpPr/>
          <p:nvPr/>
        </p:nvSpPr>
        <p:spPr>
          <a:xfrm rot="90000">
            <a:off x="4846320" y="777240"/>
            <a:ext cx="3977640" cy="3200400"/>
          </a:xfrm>
          <a:prstGeom prst="roundRect">
            <a:avLst>
              <a:gd name="adj" fmla="val 485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2b2_cover_jpg_935x748_31.png">    </p:cNvPr>
          <p:cNvPicPr>
            <a:picLocks noChangeAspect="1"/>
          </p:cNvPicPr>
          <p:nvPr/>
        </p:nvPicPr>
        <p:blipFill>
          <a:blip r:embed="rId4"/>
          <a:stretch>
            <a:fillRect/>
          </a:stretch>
        </p:blipFill>
        <p:spPr>
          <a:xfrm rot="90000">
            <a:off x="4892040" y="822960"/>
            <a:ext cx="3886200" cy="3108960"/>
          </a:xfrm>
          <a:prstGeom prst="rect">
            <a:avLst/>
          </a:prstGeom>
        </p:spPr>
      </p:pic>
      <p:sp>
        <p:nvSpPr>
          <p:cNvPr id="16" name="bb_14"/>
          <p:cNvSpPr/>
          <p:nvPr/>
        </p:nvSpPr>
        <p:spPr>
          <a:xfrm>
            <a:off x="5120640" y="3611880"/>
            <a:ext cx="3566160" cy="822960"/>
          </a:xfrm>
          <a:prstGeom prst="wedgeRoundRectCallout">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500 miles to the South Pole. Would you do it?</a:t>
            </a:r>
            <a:endParaRPr lang="en-US" sz="16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9"/>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Remember last lesson?</a:t>
            </a:r>
            <a:endParaRPr lang="en-US" sz="24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1"/>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remember? Say it – then use it in a sentence!</a:t>
            </a:r>
            <a:endParaRPr lang="en-US" sz="1250" dirty="0"/>
          </a:p>
        </p:txBody>
      </p:sp>
      <p:sp>
        <p:nvSpPr>
          <p:cNvPr id="8" name="insIT_2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Ti ricordi? Dillo – poi usalo in una frase!</a:t>
            </a:r>
            <a:endParaRPr lang="en-US" sz="950" dirty="0"/>
          </a:p>
        </p:txBody>
      </p:sp>
      <p:sp>
        <p:nvSpPr>
          <p:cNvPr id="9" name="note_2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Retrieval</a:t>
            </a:r>
            <a:endParaRPr lang="en-US" sz="1150" dirty="0"/>
          </a:p>
        </p:txBody>
      </p:sp>
      <p:pic>
        <p:nvPicPr>
          <p:cNvPr id="10" name="logo_2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2B-2 · Revision · last lesson</a:t>
            </a:r>
            <a:endParaRPr lang="en-US" sz="800" dirty="0"/>
          </a:p>
        </p:txBody>
      </p:sp>
      <p:sp>
        <p:nvSpPr>
          <p:cNvPr id="12" name="pf_26"/>
          <p:cNvSpPr/>
          <p:nvPr/>
        </p:nvSpPr>
        <p:spPr>
          <a:xfrm rot="-120000">
            <a:off x="365760" y="1371600"/>
            <a:ext cx="2651760" cy="1645920"/>
          </a:xfrm>
          <a:prstGeom prst="roundRect">
            <a:avLst>
              <a:gd name="adj" fmla="val 944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27" descr="/home/claude/lls-course/v2/cache/2b1_volunteer_jpg_616x374_31.png">    </p:cNvPr>
          <p:cNvPicPr>
            <a:picLocks noChangeAspect="1"/>
          </p:cNvPicPr>
          <p:nvPr/>
        </p:nvPicPr>
        <p:blipFill>
          <a:blip r:embed="rId5"/>
          <a:stretch>
            <a:fillRect/>
          </a:stretch>
        </p:blipFill>
        <p:spPr>
          <a:xfrm rot="-120000">
            <a:off x="411480" y="1417320"/>
            <a:ext cx="2560320" cy="1554480"/>
          </a:xfrm>
          <a:prstGeom prst="rect">
            <a:avLst/>
          </a:prstGeom>
        </p:spPr>
      </p:pic>
      <p:sp>
        <p:nvSpPr>
          <p:cNvPr id="14" name="cd_28"/>
          <p:cNvSpPr/>
          <p:nvPr/>
        </p:nvSpPr>
        <p:spPr>
          <a:xfrm>
            <a:off x="320040" y="3200400"/>
            <a:ext cx="2743200" cy="1223264"/>
          </a:xfrm>
          <a:prstGeom prst="roundRect">
            <a:avLst>
              <a:gd name="adj" fmla="val 10465"/>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29"/>
          <p:cNvSpPr/>
          <p:nvPr/>
        </p:nvSpPr>
        <p:spPr>
          <a:xfrm>
            <a:off x="411480" y="32735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0"/>
          <p:cNvSpPr/>
          <p:nvPr/>
        </p:nvSpPr>
        <p:spPr>
          <a:xfrm>
            <a:off x="886968" y="329184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7" name="il_31"/>
          <p:cNvSpPr/>
          <p:nvPr/>
        </p:nvSpPr>
        <p:spPr>
          <a:xfrm>
            <a:off x="886968" y="3694176"/>
            <a:ext cx="2084832" cy="656336"/>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2B: Adelante Africa</a:t>
            </a:r>
            <a:endParaRPr lang="en-US" sz="1100" dirty="0"/>
          </a:p>
          <a:p>
            <a:pPr marL="152400" indent="-152400">
              <a:spcBef>
                <a:spcPts val="6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How long…? + for / since</a:t>
            </a:r>
            <a:endParaRPr lang="en-US" sz="1100" dirty="0"/>
          </a:p>
        </p:txBody>
      </p:sp>
      <p:sp>
        <p:nvSpPr>
          <p:cNvPr id="18" name="kw_32"/>
          <p:cNvSpPr/>
          <p:nvPr/>
        </p:nvSpPr>
        <p:spPr>
          <a:xfrm>
            <a:off x="3246120" y="1417320"/>
            <a:ext cx="5623560" cy="292608"/>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 Can you remember these words? What do they mean?</a:t>
            </a:r>
            <a:endParaRPr lang="en-US" sz="1200" dirty="0"/>
          </a:p>
        </p:txBody>
      </p:sp>
      <p:sp>
        <p:nvSpPr>
          <p:cNvPr id="19" name="w_33"/>
          <p:cNvSpPr/>
          <p:nvPr/>
        </p:nvSpPr>
        <p:spPr>
          <a:xfrm>
            <a:off x="3246120" y="1783080"/>
            <a:ext cx="1193292" cy="347472"/>
          </a:xfrm>
          <a:prstGeom prst="roundRect">
            <a:avLst>
              <a:gd name="adj" fmla="val 50000"/>
            </a:avLst>
          </a:prstGeom>
          <a:solidFill>
            <a:srgbClr val="FFE3EE"/>
          </a:solidFill>
          <a:ln w="28575">
            <a:solidFill>
              <a:srgbClr val="F7A6C4"/>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a charity</a:t>
            </a:r>
            <a:endParaRPr lang="en-US" sz="1200" dirty="0"/>
          </a:p>
        </p:txBody>
      </p:sp>
      <p:sp>
        <p:nvSpPr>
          <p:cNvPr id="20" name="w_34"/>
          <p:cNvSpPr/>
          <p:nvPr/>
        </p:nvSpPr>
        <p:spPr>
          <a:xfrm>
            <a:off x="4530852" y="1783080"/>
            <a:ext cx="1193292" cy="347472"/>
          </a:xfrm>
          <a:prstGeom prst="roundRect">
            <a:avLst>
              <a:gd name="adj" fmla="val 50000"/>
            </a:avLst>
          </a:prstGeom>
          <a:solidFill>
            <a:srgbClr val="E3F1FD"/>
          </a:solidFill>
          <a:ln w="28575">
            <a:solidFill>
              <a:srgbClr val="A9D3F5"/>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an orphan</a:t>
            </a:r>
            <a:endParaRPr lang="en-US" sz="1200" dirty="0"/>
          </a:p>
        </p:txBody>
      </p:sp>
      <p:sp>
        <p:nvSpPr>
          <p:cNvPr id="21" name="w_35"/>
          <p:cNvSpPr/>
          <p:nvPr/>
        </p:nvSpPr>
        <p:spPr>
          <a:xfrm>
            <a:off x="5815584" y="1783080"/>
            <a:ext cx="1367028" cy="347472"/>
          </a:xfrm>
          <a:prstGeom prst="roundRect">
            <a:avLst>
              <a:gd name="adj" fmla="val 50000"/>
            </a:avLst>
          </a:prstGeom>
          <a:solidFill>
            <a:srgbClr val="E3F7EA"/>
          </a:solidFill>
          <a:ln w="28575">
            <a:solidFill>
              <a:srgbClr val="A8E5BE"/>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raise money</a:t>
            </a:r>
            <a:endParaRPr lang="en-US" sz="1200" dirty="0"/>
          </a:p>
        </p:txBody>
      </p:sp>
      <p:sp>
        <p:nvSpPr>
          <p:cNvPr id="22" name="w_36"/>
          <p:cNvSpPr/>
          <p:nvPr/>
        </p:nvSpPr>
        <p:spPr>
          <a:xfrm>
            <a:off x="7274052" y="1783080"/>
            <a:ext cx="932688" cy="347472"/>
          </a:xfrm>
          <a:prstGeom prst="roundRect">
            <a:avLst>
              <a:gd name="adj" fmla="val 50000"/>
            </a:avLst>
          </a:prstGeom>
          <a:solidFill>
            <a:srgbClr val="FFF6CC"/>
          </a:solidFill>
          <a:ln w="28575">
            <a:solidFill>
              <a:srgbClr val="FFE07A"/>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set up</a:t>
            </a:r>
            <a:endParaRPr lang="en-US" sz="1200" dirty="0"/>
          </a:p>
        </p:txBody>
      </p:sp>
      <p:sp>
        <p:nvSpPr>
          <p:cNvPr id="23" name="w_37"/>
          <p:cNvSpPr/>
          <p:nvPr/>
        </p:nvSpPr>
        <p:spPr>
          <a:xfrm>
            <a:off x="3246120" y="2185416"/>
            <a:ext cx="1367028" cy="347472"/>
          </a:xfrm>
          <a:prstGeom prst="roundRect">
            <a:avLst>
              <a:gd name="adj" fmla="val 50000"/>
            </a:avLst>
          </a:prstGeom>
          <a:solidFill>
            <a:srgbClr val="FFE3EE"/>
          </a:solidFill>
          <a:ln w="28575">
            <a:solidFill>
              <a:srgbClr val="F7A6C4"/>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a volunteer</a:t>
            </a:r>
            <a:endParaRPr lang="en-US" sz="1200" dirty="0"/>
          </a:p>
        </p:txBody>
      </p:sp>
      <p:sp>
        <p:nvSpPr>
          <p:cNvPr id="24" name="w_38"/>
          <p:cNvSpPr/>
          <p:nvPr/>
        </p:nvSpPr>
        <p:spPr>
          <a:xfrm>
            <a:off x="4704588" y="2185416"/>
            <a:ext cx="1280160" cy="347472"/>
          </a:xfrm>
          <a:prstGeom prst="roundRect">
            <a:avLst>
              <a:gd name="adj" fmla="val 50000"/>
            </a:avLst>
          </a:prstGeom>
          <a:solidFill>
            <a:srgbClr val="E3F1FD"/>
          </a:solidFill>
          <a:ln w="28575">
            <a:solidFill>
              <a:srgbClr val="A9D3F5"/>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How long…?</a:t>
            </a:r>
            <a:endParaRPr lang="en-US" sz="1200" dirty="0"/>
          </a:p>
        </p:txBody>
      </p:sp>
      <p:sp>
        <p:nvSpPr>
          <p:cNvPr id="25" name="lv_39"/>
          <p:cNvSpPr/>
          <p:nvPr/>
        </p:nvSpPr>
        <p:spPr>
          <a:xfrm>
            <a:off x="3246120" y="2642616"/>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1000" dirty="0">
                <a:solidFill>
                  <a:srgbClr val="000000"/>
                </a:solidFill>
              </a:rPr>
              <a:t>⭐ </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What does it mean?</a:t>
            </a:r>
            <a:endParaRPr lang="en-US" sz="1000" dirty="0"/>
          </a:p>
        </p:txBody>
      </p:sp>
      <p:sp>
        <p:nvSpPr>
          <p:cNvPr id="26" name="lv_40"/>
          <p:cNvSpPr/>
          <p:nvPr/>
        </p:nvSpPr>
        <p:spPr>
          <a:xfrm>
            <a:off x="5151120" y="2642616"/>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1000" dirty="0">
                <a:solidFill>
                  <a:srgbClr val="000000"/>
                </a:solidFill>
              </a:rPr>
              <a:t>⭐⭐ </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Use it in a sentence.</a:t>
            </a:r>
            <a:endParaRPr lang="en-US" sz="1000" dirty="0"/>
          </a:p>
        </p:txBody>
      </p:sp>
      <p:sp>
        <p:nvSpPr>
          <p:cNvPr id="27" name="lv_41"/>
          <p:cNvSpPr/>
          <p:nvPr/>
        </p:nvSpPr>
        <p:spPr>
          <a:xfrm>
            <a:off x="7056120" y="2642616"/>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950" dirty="0">
                <a:solidFill>
                  <a:srgbClr val="000000"/>
                </a:solidFill>
              </a:rPr>
              <a:t>⭐⭐⭐ </a:t>
            </a:r>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Make it negative or a question!</a:t>
            </a:r>
            <a:endParaRPr lang="en-US" sz="950" dirty="0"/>
          </a:p>
        </p:txBody>
      </p:sp>
      <p:sp>
        <p:nvSpPr>
          <p:cNvPr id="28" name="cd_42"/>
          <p:cNvSpPr/>
          <p:nvPr/>
        </p:nvSpPr>
        <p:spPr>
          <a:xfrm>
            <a:off x="3246120" y="3172968"/>
            <a:ext cx="2756916" cy="1581912"/>
          </a:xfrm>
          <a:prstGeom prst="roundRect">
            <a:avLst>
              <a:gd name="adj" fmla="val 8092"/>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29" name="rh_43"/>
          <p:cNvSpPr/>
          <p:nvPr/>
        </p:nvSpPr>
        <p:spPr>
          <a:xfrm>
            <a:off x="3337560" y="3246120"/>
            <a:ext cx="2574036" cy="310896"/>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Your turn: </a:t>
            </a:r>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PP continuous + for / since</a:t>
            </a:r>
            <a:endParaRPr lang="en-US" sz="1000" dirty="0"/>
          </a:p>
        </p:txBody>
      </p:sp>
      <p:sp>
        <p:nvSpPr>
          <p:cNvPr id="30" name="rf_44"/>
          <p:cNvSpPr/>
          <p:nvPr/>
        </p:nvSpPr>
        <p:spPr>
          <a:xfrm>
            <a:off x="3383280" y="3593592"/>
            <a:ext cx="2482596" cy="292608"/>
          </a:xfrm>
          <a:prstGeom prst="rect">
            <a:avLst/>
          </a:prstGeom>
          <a:noFill/>
          <a:ln/>
        </p:spPr>
        <p:txBody>
          <a:bodyPr wrap="square" lIns="0" tIns="0" rIns="0" bIns="0" rtlCol="0" anchor="ctr">
            <a:normAutofit/>
          </a:bodyPr>
          <a:lstStyle/>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Make a for + a period · a since + a start point</a:t>
            </a:r>
            <a:endParaRPr lang="en-US" sz="850" dirty="0"/>
          </a:p>
        </p:txBody>
      </p:sp>
      <p:sp>
        <p:nvSpPr>
          <p:cNvPr id="31" name="R1_rl45"/>
          <p:cNvSpPr/>
          <p:nvPr/>
        </p:nvSpPr>
        <p:spPr>
          <a:xfrm>
            <a:off x="3383280" y="3922776"/>
            <a:ext cx="2482596" cy="758952"/>
          </a:xfrm>
          <a:prstGeom prst="rect">
            <a:avLst/>
          </a:prstGeom>
          <a:solidFill>
            <a:srgbClr val="FFFFFF"/>
          </a:solidFill>
          <a:ln/>
        </p:spPr>
        <p:txBody>
          <a:bodyPr wrap="square" lIns="0" tIns="0" rIns="0" bIns="0" rtlCol="0" anchor="t">
            <a:normAutofit/>
          </a:bodyPr>
          <a:lstStyle/>
          <a:p>
            <a:pPr indent="0" marL="0">
              <a:spcAft>
                <a:spcPts val="300"/>
              </a:spcAft>
              <a:buNone/>
            </a:pPr>
            <a:r>
              <a:rPr lang="en-US" sz="900" dirty="0">
                <a:solidFill>
                  <a:srgbClr val="1B2559"/>
                </a:solidFill>
                <a:latin typeface="Segoe UI Semibold" pitchFamily="34" charset="0"/>
                <a:ea typeface="Segoe UI Semibold" pitchFamily="34" charset="-122"/>
                <a:cs typeface="Segoe UI Semibold" pitchFamily="34" charset="-120"/>
              </a:rPr>
              <a:t>How long have you been learning English?</a:t>
            </a:r>
            <a:endParaRPr lang="en-US" sz="900" dirty="0"/>
          </a:p>
          <a:p>
            <a:pPr indent="0" marL="0">
              <a:spcAft>
                <a:spcPts val="300"/>
              </a:spcAft>
              <a:buNone/>
            </a:pPr>
            <a:r>
              <a:rPr lang="en-US" sz="900" dirty="0">
                <a:solidFill>
                  <a:srgbClr val="1B2559"/>
                </a:solidFill>
                <a:latin typeface="Segoe UI Semibold" pitchFamily="34" charset="0"/>
                <a:ea typeface="Segoe UI Semibold" pitchFamily="34" charset="-122"/>
                <a:cs typeface="Segoe UI Semibold" pitchFamily="34" charset="-120"/>
              </a:rPr>
              <a:t>It's been raining since lunchtime.</a:t>
            </a:r>
            <a:endParaRPr lang="en-US" sz="900" dirty="0"/>
          </a:p>
          <a:p>
            <a:pPr indent="0" marL="0">
              <a:spcAft>
                <a:spcPts val="300"/>
              </a:spcAft>
              <a:buNone/>
            </a:pPr>
            <a:r>
              <a:rPr lang="en-US" sz="900" dirty="0">
                <a:solidFill>
                  <a:srgbClr val="1B2559"/>
                </a:solidFill>
                <a:latin typeface="Segoe UI Semibold" pitchFamily="34" charset="0"/>
                <a:ea typeface="Segoe UI Semibold" pitchFamily="34" charset="-122"/>
                <a:cs typeface="Segoe UI Semibold" pitchFamily="34" charset="-120"/>
              </a:rPr>
              <a:t>The home has been running since 2012.</a:t>
            </a:r>
            <a:endParaRPr lang="en-US" sz="900" dirty="0"/>
          </a:p>
        </p:txBody>
      </p:sp>
      <p:sp>
        <p:nvSpPr>
          <p:cNvPr id="32" name="cd_46"/>
          <p:cNvSpPr/>
          <p:nvPr/>
        </p:nvSpPr>
        <p:spPr>
          <a:xfrm>
            <a:off x="6112764" y="3172968"/>
            <a:ext cx="2756916" cy="1581912"/>
          </a:xfrm>
          <a:prstGeom prst="roundRect">
            <a:avLst>
              <a:gd name="adj" fmla="val 8092"/>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33" name="rh_47"/>
          <p:cNvSpPr/>
          <p:nvPr/>
        </p:nvSpPr>
        <p:spPr>
          <a:xfrm>
            <a:off x="6204204" y="3246120"/>
            <a:ext cx="2574036" cy="310896"/>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Your turn: </a:t>
            </a:r>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PP simple (no -ing verbs)</a:t>
            </a:r>
            <a:endParaRPr lang="en-US" sz="1100" dirty="0"/>
          </a:p>
        </p:txBody>
      </p:sp>
      <p:sp>
        <p:nvSpPr>
          <p:cNvPr id="34" name="rf_48"/>
          <p:cNvSpPr/>
          <p:nvPr/>
        </p:nvSpPr>
        <p:spPr>
          <a:xfrm>
            <a:off x="6249924" y="3593592"/>
            <a:ext cx="2482596" cy="292608"/>
          </a:xfrm>
          <a:prstGeom prst="rect">
            <a:avLst/>
          </a:prstGeom>
          <a:noFill/>
          <a:ln/>
        </p:spPr>
        <p:txBody>
          <a:bodyPr wrap="square" lIns="0" tIns="0" rIns="0" bIns="0" rtlCol="0" anchor="ctr">
            <a:normAutofit/>
          </a:bodyPr>
          <a:lstStyle/>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Make a ✗ been knowing → ✓ known</a:t>
            </a:r>
            <a:endParaRPr lang="en-US" sz="900" dirty="0"/>
          </a:p>
        </p:txBody>
      </p:sp>
      <p:sp>
        <p:nvSpPr>
          <p:cNvPr id="35" name="R2_rl49"/>
          <p:cNvSpPr/>
          <p:nvPr/>
        </p:nvSpPr>
        <p:spPr>
          <a:xfrm>
            <a:off x="6249924" y="3922776"/>
            <a:ext cx="2482596" cy="758952"/>
          </a:xfrm>
          <a:prstGeom prst="rect">
            <a:avLst/>
          </a:prstGeom>
          <a:solidFill>
            <a:srgbClr val="FFFFFF"/>
          </a:solidFill>
          <a:ln/>
        </p:spPr>
        <p:txBody>
          <a:bodyPr wrap="square" lIns="0" tIns="0" rIns="0" bIns="0" rtlCol="0" anchor="t">
            <a:normAutofit/>
          </a:bodyPr>
          <a:lstStyle/>
          <a:p>
            <a:pPr indent="0" marL="0">
              <a:spcAft>
                <a:spcPts val="300"/>
              </a:spcAft>
              <a:buNone/>
            </a:pPr>
            <a:r>
              <a:rPr lang="en-US" sz="1000" dirty="0">
                <a:solidFill>
                  <a:srgbClr val="1B2559"/>
                </a:solidFill>
                <a:latin typeface="Segoe UI Semibold" pitchFamily="34" charset="0"/>
                <a:ea typeface="Segoe UI Semibold" pitchFamily="34" charset="-122"/>
                <a:cs typeface="Segoe UI Semibold" pitchFamily="34" charset="-120"/>
              </a:rPr>
              <a:t>They've known each other for years.</a:t>
            </a:r>
            <a:endParaRPr lang="en-US" sz="1000" dirty="0"/>
          </a:p>
          <a:p>
            <a:pPr indent="0" marL="0">
              <a:spcAft>
                <a:spcPts val="300"/>
              </a:spcAft>
              <a:buNone/>
            </a:pPr>
            <a:r>
              <a:rPr lang="en-US" sz="1000" dirty="0">
                <a:solidFill>
                  <a:srgbClr val="1B2559"/>
                </a:solidFill>
                <a:latin typeface="Segoe UI Semibold" pitchFamily="34" charset="0"/>
                <a:ea typeface="Segoe UI Semibold" pitchFamily="34" charset="-122"/>
                <a:cs typeface="Segoe UI Semibold" pitchFamily="34" charset="-120"/>
              </a:rPr>
              <a:t>I've had this bag since 2019.</a:t>
            </a:r>
            <a:endParaRPr lang="en-US" sz="1000" dirty="0"/>
          </a:p>
          <a:p>
            <a:pPr indent="0" marL="0">
              <a:spcAft>
                <a:spcPts val="300"/>
              </a:spcAft>
              <a:buNone/>
            </a:pPr>
            <a:r>
              <a:rPr lang="en-US" sz="1000" dirty="0">
                <a:solidFill>
                  <a:srgbClr val="1B2559"/>
                </a:solidFill>
                <a:latin typeface="Segoe UI Semibold" pitchFamily="34" charset="0"/>
                <a:ea typeface="Segoe UI Semibold" pitchFamily="34" charset="-122"/>
                <a:cs typeface="Segoe UI Semibold" pitchFamily="34" charset="-120"/>
              </a:rPr>
              <a:t>They've started 11 groups since 2011.</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0"/>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51" descr="/home/claude/lls-course/v2/assets/brush-yellow.png">    </p:cNvPr>
          <p:cNvPicPr>
            <a:picLocks noChangeAspect="1"/>
          </p:cNvPicPr>
          <p:nvPr/>
        </p:nvPicPr>
        <p:blipFill>
          <a:blip r:embed="rId2"/>
          <a:stretch>
            <a:fillRect/>
          </a:stretch>
        </p:blipFill>
        <p:spPr>
          <a:xfrm>
            <a:off x="1097280" y="146304"/>
            <a:ext cx="2618842" cy="621792"/>
          </a:xfrm>
          <a:prstGeom prst="rect">
            <a:avLst/>
          </a:prstGeom>
        </p:spPr>
      </p:pic>
      <p:sp>
        <p:nvSpPr>
          <p:cNvPr id="5" name="title_52"/>
          <p:cNvSpPr/>
          <p:nvPr/>
        </p:nvSpPr>
        <p:spPr>
          <a:xfrm>
            <a:off x="1261872" y="164592"/>
            <a:ext cx="2344522"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Number game!</a:t>
            </a:r>
            <a:endParaRPr lang="en-US" sz="2400" dirty="0"/>
          </a:p>
        </p:txBody>
      </p:sp>
      <p:pic>
        <p:nvPicPr>
          <p:cNvPr id="6" name="brP_53" descr="/home/claude/lls-course/v2/assets/brush-pink.png">    </p:cNvPr>
          <p:cNvPicPr>
            <a:picLocks noChangeAspect="1"/>
          </p:cNvPicPr>
          <p:nvPr/>
        </p:nvPicPr>
        <p:blipFill>
          <a:blip r:embed="rId3"/>
          <a:stretch>
            <a:fillRect/>
          </a:stretch>
        </p:blipFill>
        <p:spPr>
          <a:xfrm>
            <a:off x="1207008" y="731520"/>
            <a:ext cx="4727448" cy="402336"/>
          </a:xfrm>
          <a:prstGeom prst="rect">
            <a:avLst/>
          </a:prstGeom>
        </p:spPr>
      </p:pic>
      <p:sp>
        <p:nvSpPr>
          <p:cNvPr id="7" name="ins_54"/>
          <p:cNvSpPr/>
          <p:nvPr/>
        </p:nvSpPr>
        <p:spPr>
          <a:xfrm>
            <a:off x="1353312" y="731520"/>
            <a:ext cx="447141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number. What is it? Use for or since!</a:t>
            </a:r>
            <a:endParaRPr lang="en-US" sz="1250" dirty="0"/>
          </a:p>
        </p:txBody>
      </p:sp>
      <p:sp>
        <p:nvSpPr>
          <p:cNvPr id="8" name="insIT_5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il numero. Cos'è? Usa for o since!</a:t>
            </a:r>
            <a:endParaRPr lang="en-US" sz="950" dirty="0"/>
          </a:p>
        </p:txBody>
      </p:sp>
      <p:sp>
        <p:nvSpPr>
          <p:cNvPr id="9" name="note_56"/>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PLAY</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GIOCA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teams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Communicative game</a:t>
            </a:r>
            <a:endParaRPr lang="en-US" sz="1250" dirty="0"/>
          </a:p>
        </p:txBody>
      </p:sp>
      <p:pic>
        <p:nvPicPr>
          <p:cNvPr id="10" name="logo_5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5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2B-2 · Warmer · last lesson: Adelante Africa   ·   📖 Recycles 2B part 1 · audio 2.13, 2.14 · present perfect + for / since</a:t>
            </a:r>
            <a:endParaRPr lang="en-US" sz="800" dirty="0"/>
          </a:p>
        </p:txBody>
      </p:sp>
      <p:sp>
        <p:nvSpPr>
          <p:cNvPr id="12" name="cd_59"/>
          <p:cNvSpPr/>
          <p:nvPr/>
        </p:nvSpPr>
        <p:spPr>
          <a:xfrm>
            <a:off x="320040" y="1417320"/>
            <a:ext cx="2697480" cy="2514600"/>
          </a:xfrm>
          <a:prstGeom prst="roundRect">
            <a:avLst>
              <a:gd name="adj" fmla="val 5091"/>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60"/>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61"/>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5" name="il_62"/>
          <p:cNvSpPr/>
          <p:nvPr/>
        </p:nvSpPr>
        <p:spPr>
          <a:xfrm>
            <a:off x="886968" y="1911096"/>
            <a:ext cx="2039112" cy="194767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Teams: what is it? Make a sentence with for or since.</a:t>
            </a:r>
            <a:endParaRPr lang="en-US" sz="1150" dirty="0"/>
          </a:p>
          <a:p>
            <a:pPr marL="152400" indent="-152400">
              <a:spcAft>
                <a:spcPts val="200"/>
              </a:spcAft>
              <a:buSzPct val="100000"/>
              <a:buChar char=" "/>
            </a:pPr>
            <a:r>
              <a:rPr lang="en-US" sz="1150" dirty="0">
                <a:solidFill>
                  <a:srgbClr val="5B6785"/>
                </a:solidFill>
                <a:latin typeface="Segoe UI Semibold" pitchFamily="34" charset="0"/>
                <a:ea typeface="Segoe UI Semibold" pitchFamily="34" charset="-122"/>
                <a:cs typeface="Segoe UI Semibold" pitchFamily="34" charset="-120"/>
              </a:rPr>
              <a:t>Squadre: cos'è? Fate una frase con for o since.</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Fact = 1 point. Correct sentence = +1.</a:t>
            </a:r>
            <a:endParaRPr lang="en-US" sz="1150" dirty="0"/>
          </a:p>
          <a:p>
            <a:pPr marL="152400" indent="-152400">
              <a:spcAft>
                <a:spcPts val="200"/>
              </a:spcAft>
              <a:buSzPct val="100000"/>
              <a:buChar char=" "/>
            </a:pPr>
            <a:r>
              <a:rPr lang="en-US" sz="1150" dirty="0">
                <a:solidFill>
                  <a:srgbClr val="5B6785"/>
                </a:solidFill>
                <a:latin typeface="Segoe UI Semibold" pitchFamily="34" charset="0"/>
                <a:ea typeface="Segoe UI Semibold" pitchFamily="34" charset="-122"/>
                <a:cs typeface="Segoe UI Semibold" pitchFamily="34" charset="-120"/>
              </a:rPr>
              <a:t>Fatto = 1 punto. Frase corretta = +1.</a:t>
            </a:r>
            <a:endParaRPr lang="en-US" sz="1150" dirty="0"/>
          </a:p>
        </p:txBody>
      </p:sp>
      <p:sp>
        <p:nvSpPr>
          <p:cNvPr id="16" name="st_63"/>
          <p:cNvSpPr/>
          <p:nvPr/>
        </p:nvSpPr>
        <p:spPr>
          <a:xfrm rot="-180000">
            <a:off x="502920" y="4114800"/>
            <a:ext cx="2286000" cy="59436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17" name="bd_64"/>
          <p:cNvSpPr/>
          <p:nvPr/>
        </p:nvSpPr>
        <p:spPr>
          <a:xfrm>
            <a:off x="3246120" y="1491234"/>
            <a:ext cx="329184" cy="329184"/>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500" dirty="0">
                <a:solidFill>
                  <a:srgbClr val="FFFFFF"/>
                </a:solidFill>
                <a:latin typeface="Arial Rounded MT Bold" pitchFamily="34" charset="0"/>
                <a:ea typeface="Arial Rounded MT Bold" pitchFamily="34" charset="-122"/>
                <a:cs typeface="Arial Rounded MT Bold" pitchFamily="34" charset="-120"/>
              </a:rPr>
              <a:t>e.g.</a:t>
            </a:r>
            <a:endParaRPr lang="en-US" sz="500" dirty="0"/>
          </a:p>
        </p:txBody>
      </p:sp>
      <p:sp>
        <p:nvSpPr>
          <p:cNvPr id="18" name="gq_65"/>
          <p:cNvSpPr/>
          <p:nvPr/>
        </p:nvSpPr>
        <p:spPr>
          <a:xfrm>
            <a:off x="3657600" y="1417320"/>
            <a:ext cx="2514600" cy="477012"/>
          </a:xfrm>
          <a:prstGeom prst="roundRect">
            <a:avLst>
              <a:gd name="adj" fmla="val 19169"/>
            </a:avLst>
          </a:prstGeom>
          <a:solidFill>
            <a:srgbClr val="EEE8FB"/>
          </a:solidFill>
          <a:ln w="28575">
            <a:solidFill>
              <a:srgbClr val="CDBFF3"/>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2008</a:t>
            </a:r>
            <a:endParaRPr lang="en-US" sz="1250" dirty="0"/>
          </a:p>
        </p:txBody>
      </p:sp>
      <p:sp>
        <p:nvSpPr>
          <p:cNvPr id="19" name="chip_66"/>
          <p:cNvSpPr/>
          <p:nvPr/>
        </p:nvSpPr>
        <p:spPr>
          <a:xfrm>
            <a:off x="6263640" y="1417320"/>
            <a:ext cx="2560320" cy="477012"/>
          </a:xfrm>
          <a:prstGeom prst="roundRect">
            <a:avLst>
              <a:gd name="adj" fmla="val 19169"/>
            </a:avLst>
          </a:prstGeom>
          <a:solidFill>
            <a:srgbClr val="EEE8FB"/>
          </a:solidFill>
          <a:ln w="28575">
            <a:solidFill>
              <a:srgbClr val="CDBFF3"/>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Adelante Africa started. It's been helping since 2008.</a:t>
            </a:r>
            <a:endParaRPr lang="en-US" sz="1150" dirty="0"/>
          </a:p>
        </p:txBody>
      </p:sp>
      <p:sp>
        <p:nvSpPr>
          <p:cNvPr id="20" name="bd_67"/>
          <p:cNvSpPr/>
          <p:nvPr/>
        </p:nvSpPr>
        <p:spPr>
          <a:xfrm>
            <a:off x="3246120" y="203225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68"/>
          <p:cNvSpPr/>
          <p:nvPr/>
        </p:nvSpPr>
        <p:spPr>
          <a:xfrm>
            <a:off x="3657600" y="195834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75</a:t>
            </a:r>
            <a:endParaRPr lang="en-US" sz="1250" dirty="0"/>
          </a:p>
        </p:txBody>
      </p:sp>
      <p:sp>
        <p:nvSpPr>
          <p:cNvPr id="22" name="R1_chip69"/>
          <p:cNvSpPr/>
          <p:nvPr/>
        </p:nvSpPr>
        <p:spPr>
          <a:xfrm>
            <a:off x="6263640" y="195834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children at the new school when it opened in 2010</a:t>
            </a:r>
            <a:endParaRPr lang="en-US" sz="1150" dirty="0"/>
          </a:p>
        </p:txBody>
      </p:sp>
      <p:sp>
        <p:nvSpPr>
          <p:cNvPr id="23" name="bd_70"/>
          <p:cNvSpPr/>
          <p:nvPr/>
        </p:nvSpPr>
        <p:spPr>
          <a:xfrm>
            <a:off x="3246120" y="2573274"/>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71"/>
          <p:cNvSpPr/>
          <p:nvPr/>
        </p:nvSpPr>
        <p:spPr>
          <a:xfrm>
            <a:off x="3657600" y="2499360"/>
            <a:ext cx="2514600" cy="477012"/>
          </a:xfrm>
          <a:prstGeom prst="roundRect">
            <a:avLst>
              <a:gd name="adj" fmla="val 19169"/>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2012</a:t>
            </a:r>
            <a:endParaRPr lang="en-US" sz="1250" dirty="0"/>
          </a:p>
        </p:txBody>
      </p:sp>
      <p:sp>
        <p:nvSpPr>
          <p:cNvPr id="25" name="R2_chip72"/>
          <p:cNvSpPr/>
          <p:nvPr/>
        </p:nvSpPr>
        <p:spPr>
          <a:xfrm>
            <a:off x="6263640" y="249936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The children's home has been running since 2012.</a:t>
            </a:r>
            <a:endParaRPr lang="en-US" sz="1150" dirty="0"/>
          </a:p>
        </p:txBody>
      </p:sp>
      <p:sp>
        <p:nvSpPr>
          <p:cNvPr id="26" name="bd_73"/>
          <p:cNvSpPr/>
          <p:nvPr/>
        </p:nvSpPr>
        <p:spPr>
          <a:xfrm>
            <a:off x="3246120" y="311429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74"/>
          <p:cNvSpPr/>
          <p:nvPr/>
        </p:nvSpPr>
        <p:spPr>
          <a:xfrm>
            <a:off x="3657600" y="3040380"/>
            <a:ext cx="2514600" cy="477012"/>
          </a:xfrm>
          <a:prstGeom prst="roundRect">
            <a:avLst>
              <a:gd name="adj" fmla="val 19169"/>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57</a:t>
            </a:r>
            <a:endParaRPr lang="en-US" sz="1250" dirty="0"/>
          </a:p>
        </p:txBody>
      </p:sp>
      <p:sp>
        <p:nvSpPr>
          <p:cNvPr id="28" name="R3_chip75"/>
          <p:cNvSpPr/>
          <p:nvPr/>
        </p:nvSpPr>
        <p:spPr>
          <a:xfrm>
            <a:off x="6263640" y="304038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children live in the children's home now</a:t>
            </a:r>
            <a:endParaRPr lang="en-US" sz="1150" dirty="0"/>
          </a:p>
        </p:txBody>
      </p:sp>
      <p:sp>
        <p:nvSpPr>
          <p:cNvPr id="29" name="bd_76"/>
          <p:cNvSpPr/>
          <p:nvPr/>
        </p:nvSpPr>
        <p:spPr>
          <a:xfrm>
            <a:off x="3246120" y="3655314"/>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77"/>
          <p:cNvSpPr/>
          <p:nvPr/>
        </p:nvSpPr>
        <p:spPr>
          <a:xfrm>
            <a:off x="3657600" y="3581400"/>
            <a:ext cx="2514600" cy="477012"/>
          </a:xfrm>
          <a:prstGeom prst="roundRect">
            <a:avLst>
              <a:gd name="adj" fmla="val 19169"/>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11</a:t>
            </a:r>
            <a:endParaRPr lang="en-US" sz="1250" dirty="0"/>
          </a:p>
        </p:txBody>
      </p:sp>
      <p:sp>
        <p:nvSpPr>
          <p:cNvPr id="31" name="R4_chip78"/>
          <p:cNvSpPr/>
          <p:nvPr/>
        </p:nvSpPr>
        <p:spPr>
          <a:xfrm>
            <a:off x="6263640" y="358140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They've started 11 more FAL groups since 2011.</a:t>
            </a:r>
            <a:endParaRPr lang="en-US" sz="1150" dirty="0"/>
          </a:p>
        </p:txBody>
      </p:sp>
      <p:sp>
        <p:nvSpPr>
          <p:cNvPr id="32" name="bd_79"/>
          <p:cNvSpPr/>
          <p:nvPr/>
        </p:nvSpPr>
        <p:spPr>
          <a:xfrm>
            <a:off x="3246120" y="419633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80"/>
          <p:cNvSpPr/>
          <p:nvPr/>
        </p:nvSpPr>
        <p:spPr>
          <a:xfrm>
            <a:off x="3657600" y="412242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10+</a:t>
            </a:r>
            <a:endParaRPr lang="en-US" sz="1250" dirty="0"/>
          </a:p>
        </p:txBody>
      </p:sp>
      <p:sp>
        <p:nvSpPr>
          <p:cNvPr id="34" name="R5_chip81"/>
          <p:cNvSpPr/>
          <p:nvPr/>
        </p:nvSpPr>
        <p:spPr>
          <a:xfrm>
            <a:off x="6263640" y="412242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Jane has been working with them for over ten years.</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82"/>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83"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84"/>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Charity events</a:t>
            </a:r>
            <a:endParaRPr lang="en-US" sz="2500" dirty="0"/>
          </a:p>
        </p:txBody>
      </p:sp>
      <p:pic>
        <p:nvPicPr>
          <p:cNvPr id="6" name="brP_85"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86"/>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Answer. Then ask: What did you do?</a:t>
            </a:r>
            <a:endParaRPr lang="en-US" sz="1250" dirty="0"/>
          </a:p>
        </p:txBody>
      </p:sp>
      <p:sp>
        <p:nvSpPr>
          <p:cNvPr id="8" name="insIT_8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Rispondi. Poi chiedi: Cosa hai fatto?</a:t>
            </a:r>
            <a:endParaRPr lang="en-US" sz="950" dirty="0"/>
          </a:p>
        </p:txBody>
      </p:sp>
      <p:sp>
        <p:nvSpPr>
          <p:cNvPr id="9" name="note_88"/>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PARLA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a:t>
            </a:r>
            <a:endParaRPr lang="en-US" sz="1250" dirty="0"/>
          </a:p>
        </p:txBody>
      </p:sp>
      <p:pic>
        <p:nvPicPr>
          <p:cNvPr id="10" name="logo_8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9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2B-2 · Lead-in · charity events   ·   📖 SB p.22 · 6a</a:t>
            </a:r>
            <a:endParaRPr lang="en-US" sz="800" dirty="0"/>
          </a:p>
        </p:txBody>
      </p:sp>
      <p:sp>
        <p:nvSpPr>
          <p:cNvPr id="12" name="pf_91"/>
          <p:cNvSpPr/>
          <p:nvPr/>
        </p:nvSpPr>
        <p:spPr>
          <a:xfrm rot="-120000">
            <a:off x="320040" y="1371600"/>
            <a:ext cx="278892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92" descr="/home/claude/lls-course/v2/cache/2b2_charity_run_jpg_649x297_31.png">    </p:cNvPr>
          <p:cNvPicPr>
            <a:picLocks noChangeAspect="1"/>
          </p:cNvPicPr>
          <p:nvPr/>
        </p:nvPicPr>
        <p:blipFill>
          <a:blip r:embed="rId5"/>
          <a:stretch>
            <a:fillRect/>
          </a:stretch>
        </p:blipFill>
        <p:spPr>
          <a:xfrm rot="-120000">
            <a:off x="365760" y="1417320"/>
            <a:ext cx="2697480" cy="1234440"/>
          </a:xfrm>
          <a:prstGeom prst="rect">
            <a:avLst/>
          </a:prstGeom>
        </p:spPr>
      </p:pic>
      <p:sp>
        <p:nvSpPr>
          <p:cNvPr id="14" name="cd_93"/>
          <p:cNvSpPr/>
          <p:nvPr/>
        </p:nvSpPr>
        <p:spPr>
          <a:xfrm>
            <a:off x="320040" y="2880360"/>
            <a:ext cx="2788920" cy="1874520"/>
          </a:xfrm>
          <a:prstGeom prst="roundRect">
            <a:avLst>
              <a:gd name="adj" fmla="val 6829"/>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94"/>
          <p:cNvSpPr/>
          <p:nvPr/>
        </p:nvSpPr>
        <p:spPr>
          <a:xfrm>
            <a:off x="411480" y="2953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95"/>
          <p:cNvSpPr/>
          <p:nvPr/>
        </p:nvSpPr>
        <p:spPr>
          <a:xfrm>
            <a:off x="886968" y="297180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7" name="il_96"/>
          <p:cNvSpPr/>
          <p:nvPr/>
        </p:nvSpPr>
        <p:spPr>
          <a:xfrm>
            <a:off x="886968" y="3374136"/>
            <a:ext cx="2130552" cy="13075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raise money for a good cause = raccogliere fondi</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take part in = partecipare a</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a charity = un ente benefico</a:t>
            </a:r>
            <a:endParaRPr lang="en-US" sz="1150" dirty="0"/>
          </a:p>
        </p:txBody>
      </p:sp>
      <p:sp>
        <p:nvSpPr>
          <p:cNvPr id="18" name="R1_qb97"/>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9" name="R1_sq98"/>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Are there charity events in Bagheria or Palermo? What kind?</a:t>
            </a:r>
            <a:endParaRPr lang="en-US" sz="10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Yes, I think there are charity runs and concerts.</a:t>
            </a:r>
            <a:endParaRPr lang="en-US" sz="1050" dirty="0"/>
          </a:p>
        </p:txBody>
      </p:sp>
      <p:sp>
        <p:nvSpPr>
          <p:cNvPr id="20" name="R2_qb99"/>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1" name="R2_sq100"/>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Have you ever taken part in one? What did you do?</a:t>
            </a:r>
            <a:endParaRPr lang="en-US" sz="10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Yes – I did a 5 km fun run with my school.</a:t>
            </a:r>
            <a:endParaRPr lang="en-US" sz="1050" dirty="0"/>
          </a:p>
        </p:txBody>
      </p:sp>
      <p:sp>
        <p:nvSpPr>
          <p:cNvPr id="22" name="R3_qb101"/>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3" name="R3_sq102"/>
          <p:cNvSpPr/>
          <p:nvPr/>
        </p:nvSpPr>
        <p:spPr>
          <a:xfrm>
            <a:off x="3675888" y="2624328"/>
            <a:ext cx="45079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How much money did you raise? For what good cause?</a:t>
            </a:r>
            <a:endParaRPr lang="en-US" sz="10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We raised about €300 for a children's hospital.</a:t>
            </a:r>
            <a:endParaRPr lang="en-US" sz="1050" dirty="0"/>
          </a:p>
        </p:txBody>
      </p:sp>
      <p:pic>
        <p:nvPicPr>
          <p:cNvPr id="24" name="R3_th103" descr="/home/claude/lls-course/v2/cache/spare_future_money_jpg_154x119_18.png">    </p:cNvPr>
          <p:cNvPicPr>
            <a:picLocks noChangeAspect="1"/>
          </p:cNvPicPr>
          <p:nvPr/>
        </p:nvPicPr>
        <p:blipFill>
          <a:blip r:embed="rId6"/>
          <a:stretch>
            <a:fillRect/>
          </a:stretch>
        </p:blipFill>
        <p:spPr>
          <a:xfrm>
            <a:off x="8257032" y="2642616"/>
            <a:ext cx="640080" cy="493776"/>
          </a:xfrm>
          <a:prstGeom prst="rect">
            <a:avLst/>
          </a:prstGeom>
        </p:spPr>
      </p:pic>
      <p:sp>
        <p:nvSpPr>
          <p:cNvPr id="25" name="R4_qb104"/>
          <p:cNvSpPr/>
          <p:nvPr/>
        </p:nvSpPr>
        <p:spPr>
          <a:xfrm>
            <a:off x="3273552" y="3264408"/>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6" name="R4_sq105"/>
          <p:cNvSpPr/>
          <p:nvPr/>
        </p:nvSpPr>
        <p:spPr>
          <a:xfrm>
            <a:off x="3675888" y="3227832"/>
            <a:ext cx="5193792" cy="530352"/>
          </a:xfrm>
          <a:prstGeom prst="roundRect">
            <a:avLst>
              <a:gd name="adj" fmla="val 2069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Would you do a challenge for charity? Which one?</a:t>
            </a:r>
            <a:endParaRPr lang="en-US" sz="10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Maybe a marathon – but not in the snow!</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400"/>
                                        <p:tgtEl>
                                          <p:spTgt spid="25"/>
                                        </p:tgtEl>
                                      </p:cBhvr>
                                    </p:animEffect>
                                  </p:childTnLst>
                                </p:cTn>
                              </p:par>
                              <p:par>
                                <p:cTn id="35" presetID="10" presetClass="entr" presetSubtype="0"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06"/>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07" descr="/home/claude/lls-course/v2/assets/brush-yellow.png">    </p:cNvPr>
          <p:cNvPicPr>
            <a:picLocks noChangeAspect="1"/>
          </p:cNvPicPr>
          <p:nvPr/>
        </p:nvPicPr>
        <p:blipFill>
          <a:blip r:embed="rId2"/>
          <a:stretch>
            <a:fillRect/>
          </a:stretch>
        </p:blipFill>
        <p:spPr>
          <a:xfrm>
            <a:off x="1097280" y="146304"/>
            <a:ext cx="2461565" cy="621792"/>
          </a:xfrm>
          <a:prstGeom prst="rect">
            <a:avLst/>
          </a:prstGeom>
        </p:spPr>
      </p:pic>
      <p:sp>
        <p:nvSpPr>
          <p:cNvPr id="5" name="title_108"/>
          <p:cNvSpPr/>
          <p:nvPr/>
        </p:nvSpPr>
        <p:spPr>
          <a:xfrm>
            <a:off x="1261872" y="164592"/>
            <a:ext cx="218724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Polar words</a:t>
            </a:r>
            <a:endParaRPr lang="en-US" sz="2500" dirty="0"/>
          </a:p>
        </p:txBody>
      </p:sp>
      <p:pic>
        <p:nvPicPr>
          <p:cNvPr id="6" name="brP_109"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110"/>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the meaning. Then click.</a:t>
            </a:r>
            <a:endParaRPr lang="en-US" sz="1250" dirty="0"/>
          </a:p>
        </p:txBody>
      </p:sp>
      <p:sp>
        <p:nvSpPr>
          <p:cNvPr id="8" name="insIT_11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Indovina il significato. Poi clicca.</a:t>
            </a:r>
            <a:endParaRPr lang="en-US" sz="950" dirty="0"/>
          </a:p>
        </p:txBody>
      </p:sp>
      <p:sp>
        <p:nvSpPr>
          <p:cNvPr id="9" name="note_112"/>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PENSA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Controlled practice</a:t>
            </a:r>
            <a:endParaRPr lang="en-US" sz="1250" dirty="0"/>
          </a:p>
        </p:txBody>
      </p:sp>
      <p:pic>
        <p:nvPicPr>
          <p:cNvPr id="10" name="logo_11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1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2B-2 · Reading · key words first   ·   📖 SB p.22 · 6b, 6c (TG extra support: pre-teach)</a:t>
            </a:r>
            <a:endParaRPr lang="en-US" sz="800" dirty="0"/>
          </a:p>
        </p:txBody>
      </p:sp>
      <p:sp>
        <p:nvSpPr>
          <p:cNvPr id="12" name="cd_115"/>
          <p:cNvSpPr/>
          <p:nvPr/>
        </p:nvSpPr>
        <p:spPr>
          <a:xfrm>
            <a:off x="320040" y="1417320"/>
            <a:ext cx="2697480" cy="1170432"/>
          </a:xfrm>
          <a:prstGeom prst="roundRect">
            <a:avLst>
              <a:gd name="adj" fmla="val 1093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116"/>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117"/>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5" name="il_118"/>
          <p:cNvSpPr/>
          <p:nvPr/>
        </p:nvSpPr>
        <p:spPr>
          <a:xfrm>
            <a:off x="886968" y="1911096"/>
            <a:ext cx="2039112" cy="603504"/>
          </a:xfrm>
          <a:prstGeom prst="rect">
            <a:avLst/>
          </a:prstGeom>
          <a:noFill/>
          <a:ln/>
        </p:spPr>
        <p:txBody>
          <a:bodyPr wrap="square" lIns="0" tIns="0" rIns="0" bIns="0" rtlCol="0" anchor="t">
            <a:normAutofit/>
          </a:bodyPr>
          <a:lstStyle/>
          <a:p>
            <a:pPr indent="0" marL="0">
              <a:spcAft>
                <a:spcPts val="200"/>
              </a:spcAft>
              <a:buNone/>
            </a:pPr>
            <a:r>
              <a:rPr lang="en-US" sz="1050" dirty="0">
                <a:solidFill>
                  <a:srgbClr val="1B2559"/>
                </a:solidFill>
                <a:latin typeface="Segoe UI Semibold" pitchFamily="34" charset="0"/>
                <a:ea typeface="Segoe UI Semibold" pitchFamily="34" charset="-122"/>
                <a:cs typeface="Segoe UI Semibold" pitchFamily="34" charset="-120"/>
              </a:rPr>
              <a:t>a blog → a website where someone writes about their life, with photos · un blog</a:t>
            </a:r>
            <a:endParaRPr lang="en-US" sz="1050" dirty="0"/>
          </a:p>
        </p:txBody>
      </p:sp>
      <p:sp>
        <p:nvSpPr>
          <p:cNvPr id="16" name="pf_119"/>
          <p:cNvSpPr/>
          <p:nvPr/>
        </p:nvSpPr>
        <p:spPr>
          <a:xfrm rot="-90000">
            <a:off x="365760" y="2770632"/>
            <a:ext cx="2606040" cy="1892808"/>
          </a:xfrm>
          <a:prstGeom prst="roundRect">
            <a:avLst>
              <a:gd name="adj" fmla="val 821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7" name="ph_120" descr="/home/claude/lls-course/v2/cache/2b2_kite_ski_jpg_605x433_31.png">    </p:cNvPr>
          <p:cNvPicPr>
            <a:picLocks noChangeAspect="1"/>
          </p:cNvPicPr>
          <p:nvPr/>
        </p:nvPicPr>
        <p:blipFill>
          <a:blip r:embed="rId5"/>
          <a:stretch>
            <a:fillRect/>
          </a:stretch>
        </p:blipFill>
        <p:spPr>
          <a:xfrm rot="-90000">
            <a:off x="411480" y="2816352"/>
            <a:ext cx="2514600" cy="1801368"/>
          </a:xfrm>
          <a:prstGeom prst="rect">
            <a:avLst/>
          </a:prstGeom>
        </p:spPr>
      </p:pic>
      <p:sp>
        <p:nvSpPr>
          <p:cNvPr id="18" name="bd_121"/>
          <p:cNvSpPr/>
          <p:nvPr/>
        </p:nvSpPr>
        <p:spPr>
          <a:xfrm>
            <a:off x="3246120" y="149047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9" name="q_122"/>
          <p:cNvSpPr/>
          <p:nvPr/>
        </p:nvSpPr>
        <p:spPr>
          <a:xfrm>
            <a:off x="3630168" y="141732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sledge</a:t>
            </a:r>
            <a:endParaRPr lang="en-US" sz="1150" dirty="0"/>
          </a:p>
        </p:txBody>
      </p:sp>
      <p:sp>
        <p:nvSpPr>
          <p:cNvPr id="20" name="R1_chip123"/>
          <p:cNvSpPr/>
          <p:nvPr/>
        </p:nvSpPr>
        <p:spPr>
          <a:xfrm>
            <a:off x="5806440" y="141732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you pull it on the snow with your things · una slitta</a:t>
            </a:r>
            <a:endParaRPr lang="en-US" sz="1050" dirty="0"/>
          </a:p>
        </p:txBody>
      </p:sp>
      <p:sp>
        <p:nvSpPr>
          <p:cNvPr id="21" name="bd_124"/>
          <p:cNvSpPr/>
          <p:nvPr/>
        </p:nvSpPr>
        <p:spPr>
          <a:xfrm>
            <a:off x="3246120" y="199339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2" name="q_125"/>
          <p:cNvSpPr/>
          <p:nvPr/>
        </p:nvSpPr>
        <p:spPr>
          <a:xfrm>
            <a:off x="3630168" y="1920240"/>
            <a:ext cx="210312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trek</a:t>
            </a:r>
            <a:endParaRPr lang="en-US" sz="1150" dirty="0"/>
          </a:p>
        </p:txBody>
      </p:sp>
      <p:sp>
        <p:nvSpPr>
          <p:cNvPr id="23" name="R2_chip126"/>
          <p:cNvSpPr/>
          <p:nvPr/>
        </p:nvSpPr>
        <p:spPr>
          <a:xfrm>
            <a:off x="5806440" y="192024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a long, hard journey · una lunga traversata</a:t>
            </a:r>
            <a:endParaRPr lang="en-US" sz="1050" dirty="0"/>
          </a:p>
        </p:txBody>
      </p:sp>
      <p:sp>
        <p:nvSpPr>
          <p:cNvPr id="24" name="bd_127"/>
          <p:cNvSpPr/>
          <p:nvPr/>
        </p:nvSpPr>
        <p:spPr>
          <a:xfrm>
            <a:off x="3246120" y="24963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5" name="q_128"/>
          <p:cNvSpPr/>
          <p:nvPr/>
        </p:nvSpPr>
        <p:spPr>
          <a:xfrm>
            <a:off x="3630168" y="2423160"/>
            <a:ext cx="2103120" cy="457200"/>
          </a:xfrm>
          <a:prstGeom prst="roundRect">
            <a:avLst>
              <a:gd name="adj" fmla="val 20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kite-skiing</a:t>
            </a:r>
            <a:endParaRPr lang="en-US" sz="1150" dirty="0"/>
          </a:p>
        </p:txBody>
      </p:sp>
      <p:sp>
        <p:nvSpPr>
          <p:cNvPr id="26" name="R3_chip129"/>
          <p:cNvSpPr/>
          <p:nvPr/>
        </p:nvSpPr>
        <p:spPr>
          <a:xfrm>
            <a:off x="5806440" y="242316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skiing pulled by a big kite · sci con l'aquilone</a:t>
            </a:r>
            <a:endParaRPr lang="en-US" sz="1050" dirty="0"/>
          </a:p>
        </p:txBody>
      </p:sp>
      <p:sp>
        <p:nvSpPr>
          <p:cNvPr id="27" name="bd_130"/>
          <p:cNvSpPr/>
          <p:nvPr/>
        </p:nvSpPr>
        <p:spPr>
          <a:xfrm>
            <a:off x="3246120" y="299923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8" name="q_131"/>
          <p:cNvSpPr/>
          <p:nvPr/>
        </p:nvSpPr>
        <p:spPr>
          <a:xfrm>
            <a:off x="3630168" y="2926080"/>
            <a:ext cx="2103120" cy="457200"/>
          </a:xfrm>
          <a:prstGeom prst="roundRect">
            <a:avLst>
              <a:gd name="adj" fmla="val 20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set off</a:t>
            </a:r>
            <a:endParaRPr lang="en-US" sz="1150" dirty="0"/>
          </a:p>
        </p:txBody>
      </p:sp>
      <p:sp>
        <p:nvSpPr>
          <p:cNvPr id="29" name="R4_chip132"/>
          <p:cNvSpPr/>
          <p:nvPr/>
        </p:nvSpPr>
        <p:spPr>
          <a:xfrm>
            <a:off x="5806440" y="292608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start a journey · partire</a:t>
            </a:r>
            <a:endParaRPr lang="en-US" sz="1050" dirty="0"/>
          </a:p>
        </p:txBody>
      </p:sp>
      <p:sp>
        <p:nvSpPr>
          <p:cNvPr id="30" name="bd_133"/>
          <p:cNvSpPr/>
          <p:nvPr/>
        </p:nvSpPr>
        <p:spPr>
          <a:xfrm>
            <a:off x="3246120" y="350215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1" name="q_134"/>
          <p:cNvSpPr/>
          <p:nvPr/>
        </p:nvSpPr>
        <p:spPr>
          <a:xfrm>
            <a:off x="3630168" y="342900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the halfway checkpoint</a:t>
            </a:r>
            <a:endParaRPr lang="en-US" sz="1150" dirty="0"/>
          </a:p>
        </p:txBody>
      </p:sp>
      <p:sp>
        <p:nvSpPr>
          <p:cNvPr id="32" name="R5_chip135"/>
          <p:cNvSpPr/>
          <p:nvPr/>
        </p:nvSpPr>
        <p:spPr>
          <a:xfrm>
            <a:off x="5806440" y="342900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the stop in the middle of the journey · la tappa a metà</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4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36"/>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37"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38"/>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Who is Helen Skelton?</a:t>
            </a:r>
            <a:endParaRPr lang="en-US" sz="2500" dirty="0"/>
          </a:p>
        </p:txBody>
      </p:sp>
      <p:pic>
        <p:nvPicPr>
          <p:cNvPr id="6" name="brP_139"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140"/>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Put the words in gaps 1–4.</a:t>
            </a:r>
            <a:endParaRPr lang="en-US" sz="1250" dirty="0"/>
          </a:p>
        </p:txBody>
      </p:sp>
      <p:sp>
        <p:nvSpPr>
          <p:cNvPr id="8" name="insIT_14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Metti le parole negli spazi 1–4.</a:t>
            </a:r>
            <a:endParaRPr lang="en-US" sz="950" dirty="0"/>
          </a:p>
        </p:txBody>
      </p:sp>
      <p:sp>
        <p:nvSpPr>
          <p:cNvPr id="9" name="note_142"/>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FILL THE GAPS</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TPRS · reading</a:t>
            </a:r>
            <a:endParaRPr lang="en-US" sz="1150" dirty="0"/>
          </a:p>
        </p:txBody>
      </p:sp>
      <p:pic>
        <p:nvPicPr>
          <p:cNvPr id="10" name="logo_14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4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2B-2 · Reading · the introduction   ·   📖 SB p.22 · 6b · article adapted</a:t>
            </a:r>
            <a:endParaRPr lang="en-US" sz="800" dirty="0"/>
          </a:p>
        </p:txBody>
      </p:sp>
      <p:sp>
        <p:nvSpPr>
          <p:cNvPr id="12" name="cd_145"/>
          <p:cNvSpPr/>
          <p:nvPr/>
        </p:nvSpPr>
        <p:spPr>
          <a:xfrm>
            <a:off x="320040" y="1417320"/>
            <a:ext cx="5715000" cy="3337560"/>
          </a:xfrm>
          <a:prstGeom prst="roundRect">
            <a:avLst>
              <a:gd name="adj" fmla="val 3836"/>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sh_146"/>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The polar challenge</a:t>
            </a:r>
            <a:endParaRPr lang="en-US" sz="1700" dirty="0"/>
          </a:p>
        </p:txBody>
      </p:sp>
      <p:sp>
        <p:nvSpPr>
          <p:cNvPr id="14" name="ln_147"/>
          <p:cNvSpPr/>
          <p:nvPr/>
        </p:nvSpPr>
        <p:spPr>
          <a:xfrm>
            <a:off x="548640" y="1920240"/>
            <a:ext cx="5349240" cy="436527"/>
          </a:xfrm>
          <a:prstGeom prst="rect">
            <a:avLst/>
          </a:prstGeom>
          <a:no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TV presenter Helen Skelton has never been afraid of a charity challenge.</a:t>
            </a:r>
            <a:endParaRPr lang="en-US" sz="1300" dirty="0"/>
          </a:p>
        </p:txBody>
      </p:sp>
      <p:sp>
        <p:nvSpPr>
          <p:cNvPr id="15" name="ln_148"/>
          <p:cNvSpPr/>
          <p:nvPr/>
        </p:nvSpPr>
        <p:spPr>
          <a:xfrm>
            <a:off x="548640" y="2356767"/>
            <a:ext cx="5349240" cy="879116"/>
          </a:xfrm>
          <a:prstGeom prst="rect">
            <a:avLst/>
          </a:prstGeom>
          <a:no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She has run the </a:t>
            </a:r>
            <a:pPr indent="0" marL="0">
              <a:buNone/>
            </a:pPr>
            <a:r>
              <a:rPr lang="en-US" sz="1300" b="1" dirty="0">
                <a:solidFill>
                  <a:srgbClr val="2EB872"/>
                </a:solidFill>
                <a:latin typeface="Georgia" pitchFamily="34" charset="0"/>
                <a:ea typeface="Georgia" pitchFamily="34" charset="-122"/>
                <a:cs typeface="Georgia" pitchFamily="34" charset="-120"/>
              </a:rPr>
              <a:t> (1) ________ </a:t>
            </a:r>
            <a:pPr indent="0" marL="0">
              <a:buNone/>
            </a:pPr>
            <a:r>
              <a:rPr lang="en-US" sz="1300" dirty="0">
                <a:solidFill>
                  <a:srgbClr val="1B2559"/>
                </a:solidFill>
                <a:latin typeface="Georgia" pitchFamily="34" charset="0"/>
                <a:ea typeface="Georgia" pitchFamily="34" charset="-122"/>
                <a:cs typeface="Georgia" pitchFamily="34" charset="-120"/>
              </a:rPr>
              <a:t> Ultra Marathon in Namibia, and she has kayaked </a:t>
            </a:r>
            <a:pPr indent="0" marL="0">
              <a:buNone/>
            </a:pPr>
            <a:r>
              <a:rPr lang="en-US" sz="1300" b="1" dirty="0">
                <a:solidFill>
                  <a:srgbClr val="2EB872"/>
                </a:solidFill>
                <a:latin typeface="Georgia" pitchFamily="34" charset="0"/>
                <a:ea typeface="Georgia" pitchFamily="34" charset="-122"/>
                <a:cs typeface="Georgia" pitchFamily="34" charset="-120"/>
              </a:rPr>
              <a:t> (2) ________ </a:t>
            </a:r>
            <a:pPr indent="0" marL="0">
              <a:buNone/>
            </a:pPr>
            <a:r>
              <a:rPr lang="en-US" sz="1300" dirty="0">
                <a:solidFill>
                  <a:srgbClr val="1B2559"/>
                </a:solidFill>
                <a:latin typeface="Georgia" pitchFamily="34" charset="0"/>
                <a:ea typeface="Georgia" pitchFamily="34" charset="-122"/>
                <a:cs typeface="Georgia" pitchFamily="34" charset="-120"/>
              </a:rPr>
              <a:t> kilometres down the Amazon for the charity Sport Relief.</a:t>
            </a:r>
            <a:endParaRPr lang="en-US" sz="1300" dirty="0"/>
          </a:p>
        </p:txBody>
      </p:sp>
      <p:sp>
        <p:nvSpPr>
          <p:cNvPr id="16" name="R1_lnA149"/>
          <p:cNvSpPr/>
          <p:nvPr/>
        </p:nvSpPr>
        <p:spPr>
          <a:xfrm>
            <a:off x="548640" y="2356767"/>
            <a:ext cx="5349240" cy="879116"/>
          </a:xfrm>
          <a:prstGeom prst="rect">
            <a:avLst/>
          </a:prstGeom>
          <a:solidFill>
            <a:srgbClr val="FFFFFF"/>
          </a:solid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She has run the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78-mile</a:t>
            </a:r>
            <a:pPr indent="0" marL="0">
              <a:buNone/>
            </a:pPr>
            <a:r>
              <a:rPr lang="en-US" sz="1300" dirty="0">
                <a:solidFill>
                  <a:srgbClr val="1B2559"/>
                </a:solidFill>
                <a:latin typeface="Georgia" pitchFamily="34" charset="0"/>
                <a:ea typeface="Georgia" pitchFamily="34" charset="-122"/>
                <a:cs typeface="Georgia" pitchFamily="34" charset="-120"/>
              </a:rPr>
              <a:t> Ultra Marathon in Namibia, and she has kayaked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3,200</a:t>
            </a:r>
            <a:pPr indent="0" marL="0">
              <a:buNone/>
            </a:pPr>
            <a:r>
              <a:rPr lang="en-US" sz="1300" dirty="0">
                <a:solidFill>
                  <a:srgbClr val="1B2559"/>
                </a:solidFill>
                <a:latin typeface="Georgia" pitchFamily="34" charset="0"/>
                <a:ea typeface="Georgia" pitchFamily="34" charset="-122"/>
                <a:cs typeface="Georgia" pitchFamily="34" charset="-120"/>
              </a:rPr>
              <a:t> kilometres down the Amazon for the charity Sport Relief.</a:t>
            </a:r>
            <a:endParaRPr lang="en-US" sz="1300" dirty="0"/>
          </a:p>
        </p:txBody>
      </p:sp>
      <p:sp>
        <p:nvSpPr>
          <p:cNvPr id="17" name="ln_150"/>
          <p:cNvSpPr/>
          <p:nvPr/>
        </p:nvSpPr>
        <p:spPr>
          <a:xfrm>
            <a:off x="548640" y="3235883"/>
            <a:ext cx="5349240" cy="642664"/>
          </a:xfrm>
          <a:prstGeom prst="rect">
            <a:avLst/>
          </a:prstGeom>
          <a:no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Now she has decided to leave the </a:t>
            </a:r>
            <a:pPr indent="0" marL="0">
              <a:buNone/>
            </a:pPr>
            <a:r>
              <a:rPr lang="en-US" sz="1300" b="1" dirty="0">
                <a:solidFill>
                  <a:srgbClr val="2EB872"/>
                </a:solidFill>
                <a:latin typeface="Georgia" pitchFamily="34" charset="0"/>
                <a:ea typeface="Georgia" pitchFamily="34" charset="-122"/>
                <a:cs typeface="Georgia" pitchFamily="34" charset="-120"/>
              </a:rPr>
              <a:t> (3) ________ </a:t>
            </a:r>
            <a:pPr indent="0" marL="0">
              <a:buNone/>
            </a:pPr>
            <a:r>
              <a:rPr lang="en-US" sz="1300" dirty="0">
                <a:solidFill>
                  <a:srgbClr val="1B2559"/>
                </a:solidFill>
                <a:latin typeface="Georgia" pitchFamily="34" charset="0"/>
                <a:ea typeface="Georgia" pitchFamily="34" charset="-122"/>
                <a:cs typeface="Georgia" pitchFamily="34" charset="-120"/>
              </a:rPr>
              <a:t> of Africa and South America to take part in a polar challenge:</a:t>
            </a:r>
            <a:endParaRPr lang="en-US" sz="1300" dirty="0"/>
          </a:p>
        </p:txBody>
      </p:sp>
      <p:sp>
        <p:nvSpPr>
          <p:cNvPr id="18" name="R2_lnA151"/>
          <p:cNvSpPr/>
          <p:nvPr/>
        </p:nvSpPr>
        <p:spPr>
          <a:xfrm>
            <a:off x="548640" y="3235883"/>
            <a:ext cx="5349240" cy="642664"/>
          </a:xfrm>
          <a:prstGeom prst="rect">
            <a:avLst/>
          </a:prstGeom>
          <a:solidFill>
            <a:srgbClr val="FFFFFF"/>
          </a:solid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Now she has decided to leave the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heat</a:t>
            </a:r>
            <a:pPr indent="0" marL="0">
              <a:buNone/>
            </a:pPr>
            <a:r>
              <a:rPr lang="en-US" sz="1300" dirty="0">
                <a:solidFill>
                  <a:srgbClr val="1B2559"/>
                </a:solidFill>
                <a:latin typeface="Georgia" pitchFamily="34" charset="0"/>
                <a:ea typeface="Georgia" pitchFamily="34" charset="-122"/>
                <a:cs typeface="Georgia" pitchFamily="34" charset="-120"/>
              </a:rPr>
              <a:t> of Africa and South America to take part in a polar challenge:</a:t>
            </a:r>
            <a:endParaRPr lang="en-US" sz="1300" dirty="0"/>
          </a:p>
        </p:txBody>
      </p:sp>
      <p:sp>
        <p:nvSpPr>
          <p:cNvPr id="19" name="ln_152"/>
          <p:cNvSpPr/>
          <p:nvPr/>
        </p:nvSpPr>
        <p:spPr>
          <a:xfrm>
            <a:off x="548640" y="3878547"/>
            <a:ext cx="5349240" cy="551721"/>
          </a:xfrm>
          <a:prstGeom prst="rect">
            <a:avLst/>
          </a:prstGeom>
          <a:no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a </a:t>
            </a:r>
            <a:pPr indent="0" marL="0">
              <a:buNone/>
            </a:pPr>
            <a:r>
              <a:rPr lang="en-US" sz="1300" b="1" dirty="0">
                <a:solidFill>
                  <a:srgbClr val="2EB872"/>
                </a:solidFill>
                <a:latin typeface="Georgia" pitchFamily="34" charset="0"/>
                <a:ea typeface="Georgia" pitchFamily="34" charset="-122"/>
                <a:cs typeface="Georgia" pitchFamily="34" charset="-120"/>
              </a:rPr>
              <a:t> (4) ________ </a:t>
            </a:r>
            <a:pPr indent="0" marL="0">
              <a:buNone/>
            </a:pPr>
            <a:r>
              <a:rPr lang="en-US" sz="1300" dirty="0">
                <a:solidFill>
                  <a:srgbClr val="1B2559"/>
                </a:solidFill>
                <a:latin typeface="Georgia" pitchFamily="34" charset="0"/>
                <a:ea typeface="Georgia" pitchFamily="34" charset="-122"/>
                <a:cs typeface="Georgia" pitchFamily="34" charset="-120"/>
              </a:rPr>
              <a:t> ski, kite-ski and bike journey to the South Pole, the bottom of the world.</a:t>
            </a:r>
            <a:endParaRPr lang="en-US" sz="1300" dirty="0"/>
          </a:p>
        </p:txBody>
      </p:sp>
      <p:sp>
        <p:nvSpPr>
          <p:cNvPr id="20" name="R3_lnA153"/>
          <p:cNvSpPr/>
          <p:nvPr/>
        </p:nvSpPr>
        <p:spPr>
          <a:xfrm>
            <a:off x="548640" y="3878547"/>
            <a:ext cx="5349240" cy="551721"/>
          </a:xfrm>
          <a:prstGeom prst="rect">
            <a:avLst/>
          </a:prstGeom>
          <a:solidFill>
            <a:srgbClr val="FFFFFF"/>
          </a:solid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a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500-mile</a:t>
            </a:r>
            <a:pPr indent="0" marL="0">
              <a:buNone/>
            </a:pPr>
            <a:r>
              <a:rPr lang="en-US" sz="1300" dirty="0">
                <a:solidFill>
                  <a:srgbClr val="1B2559"/>
                </a:solidFill>
                <a:latin typeface="Georgia" pitchFamily="34" charset="0"/>
                <a:ea typeface="Georgia" pitchFamily="34" charset="-122"/>
                <a:cs typeface="Georgia" pitchFamily="34" charset="-120"/>
              </a:rPr>
              <a:t> ski, kite-ski and bike journey to the South Pole, the bottom of the world.</a:t>
            </a:r>
            <a:endParaRPr lang="en-US" sz="1300" dirty="0"/>
          </a:p>
        </p:txBody>
      </p:sp>
      <p:sp>
        <p:nvSpPr>
          <p:cNvPr id="21" name="ln_154"/>
          <p:cNvSpPr/>
          <p:nvPr/>
        </p:nvSpPr>
        <p:spPr>
          <a:xfrm>
            <a:off x="548640" y="4430268"/>
            <a:ext cx="5349240" cy="278892"/>
          </a:xfrm>
          <a:prstGeom prst="rect">
            <a:avLst/>
          </a:prstGeom>
          <a:no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During the challenge, Helen is writing a blog.</a:t>
            </a:r>
            <a:endParaRPr lang="en-US" sz="1300" dirty="0"/>
          </a:p>
        </p:txBody>
      </p:sp>
      <p:sp>
        <p:nvSpPr>
          <p:cNvPr id="22" name="pf_155"/>
          <p:cNvSpPr/>
          <p:nvPr/>
        </p:nvSpPr>
        <p:spPr>
          <a:xfrm rot="120000">
            <a:off x="6598920" y="1417320"/>
            <a:ext cx="1981200" cy="1508760"/>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3" name="ph_156" descr="/home/claude/lls-course/v2/cache/2b2_cover_jpg_455x341_31.png">    </p:cNvPr>
          <p:cNvPicPr>
            <a:picLocks noChangeAspect="1"/>
          </p:cNvPicPr>
          <p:nvPr/>
        </p:nvPicPr>
        <p:blipFill>
          <a:blip r:embed="rId5"/>
          <a:stretch>
            <a:fillRect/>
          </a:stretch>
        </p:blipFill>
        <p:spPr>
          <a:xfrm rot="120000">
            <a:off x="6644640" y="1463040"/>
            <a:ext cx="1889760" cy="1417320"/>
          </a:xfrm>
          <a:prstGeom prst="rect">
            <a:avLst/>
          </a:prstGeom>
        </p:spPr>
      </p:pic>
      <p:sp>
        <p:nvSpPr>
          <p:cNvPr id="24" name="cd_157"/>
          <p:cNvSpPr/>
          <p:nvPr/>
        </p:nvSpPr>
        <p:spPr>
          <a:xfrm>
            <a:off x="6263640" y="3794760"/>
            <a:ext cx="2651760" cy="960120"/>
          </a:xfrm>
          <a:prstGeom prst="roundRect">
            <a:avLst>
              <a:gd name="adj" fmla="val 13333"/>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25" name="ii_158"/>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6" name="ih_159"/>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27" name="il_160"/>
          <p:cNvSpPr/>
          <p:nvPr/>
        </p:nvSpPr>
        <p:spPr>
          <a:xfrm>
            <a:off x="6830568" y="4288536"/>
            <a:ext cx="1993392" cy="3931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78 · 3,200 · 500 · heat</a:t>
            </a:r>
            <a:endParaRPr lang="en-US" sz="700" dirty="0"/>
          </a:p>
          <a:p>
            <a:pPr marL="152400" indent="-152400">
              <a:spcBef>
                <a:spcPts val="600"/>
              </a:spcBef>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What has she done before? What's different now?</a:t>
            </a:r>
            <a:endParaRPr lang="en-US" sz="7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4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61"/>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162"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63"/>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Put the blog in order</a:t>
            </a:r>
            <a:endParaRPr lang="en-US" sz="2500" dirty="0"/>
          </a:p>
        </p:txBody>
      </p:sp>
      <p:pic>
        <p:nvPicPr>
          <p:cNvPr id="6" name="brP_164"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165"/>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Use the time clues. Number the entries.</a:t>
            </a:r>
            <a:endParaRPr lang="en-US" sz="1250" dirty="0"/>
          </a:p>
        </p:txBody>
      </p:sp>
      <p:sp>
        <p:nvSpPr>
          <p:cNvPr id="8" name="insIT_16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Usa gli indizi di tempo. Numera i post.</a:t>
            </a:r>
            <a:endParaRPr lang="en-US" sz="950" dirty="0"/>
          </a:p>
        </p:txBody>
      </p:sp>
      <p:sp>
        <p:nvSpPr>
          <p:cNvPr id="9" name="note_167"/>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REORDER</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Guided discovery</a:t>
            </a:r>
            <a:endParaRPr lang="en-US" sz="1150" dirty="0"/>
          </a:p>
        </p:txBody>
      </p:sp>
      <p:pic>
        <p:nvPicPr>
          <p:cNvPr id="10" name="logo_16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6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2B-2 · Reading · order of events   ·   📖 SB p.22 · 6c (the highlighted phrases)</a:t>
            </a:r>
            <a:endParaRPr lang="en-US" sz="800" dirty="0"/>
          </a:p>
        </p:txBody>
      </p:sp>
      <p:sp>
        <p:nvSpPr>
          <p:cNvPr id="12" name="cd_170"/>
          <p:cNvSpPr/>
          <p:nvPr/>
        </p:nvSpPr>
        <p:spPr>
          <a:xfrm>
            <a:off x="320040" y="1417320"/>
            <a:ext cx="2697480" cy="969264"/>
          </a:xfrm>
          <a:prstGeom prst="roundRect">
            <a:avLst>
              <a:gd name="adj" fmla="val 1320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171"/>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172"/>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5" name="il_173"/>
          <p:cNvSpPr/>
          <p:nvPr/>
        </p:nvSpPr>
        <p:spPr>
          <a:xfrm>
            <a:off x="886968" y="1911096"/>
            <a:ext cx="2039112" cy="402336"/>
          </a:xfrm>
          <a:prstGeom prst="rect">
            <a:avLst/>
          </a:prstGeom>
          <a:noFill/>
          <a:ln/>
        </p:spPr>
        <p:txBody>
          <a:bodyPr wrap="square" lIns="0" tIns="0" rIns="0" bIns="0" rtlCol="0" anchor="t">
            <a:normAutofit/>
          </a:bodyPr>
          <a:lstStyle/>
          <a:p>
            <a:pPr indent="0" marL="0">
              <a:spcAft>
                <a:spcPts val="200"/>
              </a:spcAft>
              <a:buNone/>
            </a:pPr>
            <a:r>
              <a:rPr lang="en-US" sz="1050" dirty="0">
                <a:solidFill>
                  <a:srgbClr val="1B2559"/>
                </a:solidFill>
                <a:latin typeface="Segoe UI Semibold" pitchFamily="34" charset="0"/>
                <a:ea typeface="Segoe UI Semibold" pitchFamily="34" charset="-122"/>
                <a:cs typeface="Segoe UI Semibold" pitchFamily="34" charset="-120"/>
              </a:rPr>
              <a:t>B · "My first night in Antarctica" → 1st</a:t>
            </a:r>
            <a:endParaRPr lang="en-US" sz="1050" dirty="0"/>
          </a:p>
        </p:txBody>
      </p:sp>
      <p:sp>
        <p:nvSpPr>
          <p:cNvPr id="16" name="pf_174"/>
          <p:cNvSpPr/>
          <p:nvPr/>
        </p:nvSpPr>
        <p:spPr>
          <a:xfrm rot="-90000">
            <a:off x="365760" y="2569464"/>
            <a:ext cx="2606040" cy="2093976"/>
          </a:xfrm>
          <a:prstGeom prst="roundRect">
            <a:avLst>
              <a:gd name="adj" fmla="val 74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7" name="ph_175" descr="/home/claude/lls-course/v2/cache/2b2_antarctic_tent_jpg_605x482_31.png">    </p:cNvPr>
          <p:cNvPicPr>
            <a:picLocks noChangeAspect="1"/>
          </p:cNvPicPr>
          <p:nvPr/>
        </p:nvPicPr>
        <p:blipFill>
          <a:blip r:embed="rId5"/>
          <a:stretch>
            <a:fillRect/>
          </a:stretch>
        </p:blipFill>
        <p:spPr>
          <a:xfrm rot="-90000">
            <a:off x="411480" y="2615184"/>
            <a:ext cx="2514600" cy="2002536"/>
          </a:xfrm>
          <a:prstGeom prst="rect">
            <a:avLst/>
          </a:prstGeom>
        </p:spPr>
      </p:pic>
      <p:sp>
        <p:nvSpPr>
          <p:cNvPr id="18" name="bd_176"/>
          <p:cNvSpPr/>
          <p:nvPr/>
        </p:nvSpPr>
        <p:spPr>
          <a:xfrm>
            <a:off x="3246120" y="144475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9" name="q_177"/>
          <p:cNvSpPr/>
          <p:nvPr/>
        </p:nvSpPr>
        <p:spPr>
          <a:xfrm>
            <a:off x="3630168" y="1417320"/>
            <a:ext cx="2103120" cy="365760"/>
          </a:xfrm>
          <a:prstGeom prst="roundRect">
            <a:avLst>
              <a:gd name="adj" fmla="val 25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A · over a month since we arrived</a:t>
            </a:r>
            <a:endParaRPr lang="en-US" sz="950" dirty="0"/>
          </a:p>
        </p:txBody>
      </p:sp>
      <p:sp>
        <p:nvSpPr>
          <p:cNvPr id="20" name="R1_chip178"/>
          <p:cNvSpPr/>
          <p:nvPr/>
        </p:nvSpPr>
        <p:spPr>
          <a:xfrm>
            <a:off x="5806440" y="1417320"/>
            <a:ext cx="3063240" cy="365760"/>
          </a:xfrm>
          <a:prstGeom prst="roundRect">
            <a:avLst>
              <a:gd name="adj" fmla="val 25000"/>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8th · "reach the South Pole late tonight"</a:t>
            </a:r>
            <a:endParaRPr lang="en-US" sz="950" dirty="0"/>
          </a:p>
        </p:txBody>
      </p:sp>
      <p:sp>
        <p:nvSpPr>
          <p:cNvPr id="21" name="bd_179"/>
          <p:cNvSpPr/>
          <p:nvPr/>
        </p:nvSpPr>
        <p:spPr>
          <a:xfrm>
            <a:off x="3246120" y="185623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2" name="q_180"/>
          <p:cNvSpPr/>
          <p:nvPr/>
        </p:nvSpPr>
        <p:spPr>
          <a:xfrm>
            <a:off x="3630168" y="1828800"/>
            <a:ext cx="2103120" cy="365760"/>
          </a:xfrm>
          <a:prstGeom prst="roundRect">
            <a:avLst>
              <a:gd name="adj" fmla="val 25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C · first day of the trek is over</a:t>
            </a:r>
            <a:endParaRPr lang="en-US" sz="950" dirty="0"/>
          </a:p>
        </p:txBody>
      </p:sp>
      <p:sp>
        <p:nvSpPr>
          <p:cNvPr id="23" name="R2_chip181"/>
          <p:cNvSpPr/>
          <p:nvPr/>
        </p:nvSpPr>
        <p:spPr>
          <a:xfrm>
            <a:off x="5806440" y="1828800"/>
            <a:ext cx="3063240" cy="365760"/>
          </a:xfrm>
          <a:prstGeom prst="roundRect">
            <a:avLst>
              <a:gd name="adj" fmla="val 25000"/>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4th · the trek starts</a:t>
            </a:r>
            <a:endParaRPr lang="en-US" sz="950" dirty="0"/>
          </a:p>
        </p:txBody>
      </p:sp>
      <p:sp>
        <p:nvSpPr>
          <p:cNvPr id="24" name="bd_182"/>
          <p:cNvSpPr/>
          <p:nvPr/>
        </p:nvSpPr>
        <p:spPr>
          <a:xfrm>
            <a:off x="3246120" y="22677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5" name="q_183"/>
          <p:cNvSpPr/>
          <p:nvPr/>
        </p:nvSpPr>
        <p:spPr>
          <a:xfrm>
            <a:off x="3630168" y="2240280"/>
            <a:ext cx="2103120" cy="365760"/>
          </a:xfrm>
          <a:prstGeom prst="roundRect">
            <a:avLst>
              <a:gd name="adj" fmla="val 25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D · in Antarctica for four days</a:t>
            </a:r>
            <a:endParaRPr lang="en-US" sz="950" dirty="0"/>
          </a:p>
        </p:txBody>
      </p:sp>
      <p:sp>
        <p:nvSpPr>
          <p:cNvPr id="26" name="R3_chip184"/>
          <p:cNvSpPr/>
          <p:nvPr/>
        </p:nvSpPr>
        <p:spPr>
          <a:xfrm>
            <a:off x="5806440" y="2240280"/>
            <a:ext cx="3063240" cy="365760"/>
          </a:xfrm>
          <a:prstGeom prst="roundRect">
            <a:avLst>
              <a:gd name="adj" fmla="val 25000"/>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2nd · only four days!</a:t>
            </a:r>
            <a:endParaRPr lang="en-US" sz="950" dirty="0"/>
          </a:p>
        </p:txBody>
      </p:sp>
      <p:sp>
        <p:nvSpPr>
          <p:cNvPr id="27" name="bd_185"/>
          <p:cNvSpPr/>
          <p:nvPr/>
        </p:nvSpPr>
        <p:spPr>
          <a:xfrm>
            <a:off x="3246120" y="267919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8" name="q_186"/>
          <p:cNvSpPr/>
          <p:nvPr/>
        </p:nvSpPr>
        <p:spPr>
          <a:xfrm>
            <a:off x="3630168" y="2651760"/>
            <a:ext cx="2103120" cy="365760"/>
          </a:xfrm>
          <a:prstGeom prst="roundRect">
            <a:avLst>
              <a:gd name="adj" fmla="val 25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E · the second day of our trek</a:t>
            </a:r>
            <a:endParaRPr lang="en-US" sz="950" dirty="0"/>
          </a:p>
        </p:txBody>
      </p:sp>
      <p:sp>
        <p:nvSpPr>
          <p:cNvPr id="29" name="R4_chip187"/>
          <p:cNvSpPr/>
          <p:nvPr/>
        </p:nvSpPr>
        <p:spPr>
          <a:xfrm>
            <a:off x="5806440" y="2651760"/>
            <a:ext cx="3063240" cy="365760"/>
          </a:xfrm>
          <a:prstGeom prst="roundRect">
            <a:avLst>
              <a:gd name="adj" fmla="val 25000"/>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5th · after the first day</a:t>
            </a:r>
            <a:endParaRPr lang="en-US" sz="950" dirty="0"/>
          </a:p>
        </p:txBody>
      </p:sp>
      <p:sp>
        <p:nvSpPr>
          <p:cNvPr id="30" name="bd_188"/>
          <p:cNvSpPr/>
          <p:nvPr/>
        </p:nvSpPr>
        <p:spPr>
          <a:xfrm>
            <a:off x="3246120" y="309067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1" name="q_189"/>
          <p:cNvSpPr/>
          <p:nvPr/>
        </p:nvSpPr>
        <p:spPr>
          <a:xfrm>
            <a:off x="3630168" y="3063240"/>
            <a:ext cx="2103120" cy="365760"/>
          </a:xfrm>
          <a:prstGeom prst="roundRect">
            <a:avLst>
              <a:gd name="adj" fmla="val 25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F · 150 miles from our destination</a:t>
            </a:r>
            <a:endParaRPr lang="en-US" sz="950" dirty="0"/>
          </a:p>
        </p:txBody>
      </p:sp>
      <p:sp>
        <p:nvSpPr>
          <p:cNvPr id="32" name="R5_chip190"/>
          <p:cNvSpPr/>
          <p:nvPr/>
        </p:nvSpPr>
        <p:spPr>
          <a:xfrm>
            <a:off x="5806440" y="3063240"/>
            <a:ext cx="3063240" cy="365760"/>
          </a:xfrm>
          <a:prstGeom prst="roundRect">
            <a:avLst>
              <a:gd name="adj" fmla="val 25000"/>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7th · nearly there</a:t>
            </a:r>
            <a:endParaRPr lang="en-US" sz="950" dirty="0"/>
          </a:p>
        </p:txBody>
      </p:sp>
      <p:sp>
        <p:nvSpPr>
          <p:cNvPr id="33" name="bd_191"/>
          <p:cNvSpPr/>
          <p:nvPr/>
        </p:nvSpPr>
        <p:spPr>
          <a:xfrm>
            <a:off x="3246120" y="350215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4" name="q_192"/>
          <p:cNvSpPr/>
          <p:nvPr/>
        </p:nvSpPr>
        <p:spPr>
          <a:xfrm>
            <a:off x="3630168" y="3474720"/>
            <a:ext cx="2103120" cy="365760"/>
          </a:xfrm>
          <a:prstGeom prst="roundRect">
            <a:avLst>
              <a:gd name="adj" fmla="val 25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G · completed our journey in 18 days</a:t>
            </a:r>
            <a:endParaRPr lang="en-US" sz="950" dirty="0"/>
          </a:p>
        </p:txBody>
      </p:sp>
      <p:sp>
        <p:nvSpPr>
          <p:cNvPr id="35" name="R6_chip193"/>
          <p:cNvSpPr/>
          <p:nvPr/>
        </p:nvSpPr>
        <p:spPr>
          <a:xfrm>
            <a:off x="5806440" y="3474720"/>
            <a:ext cx="3063240" cy="365760"/>
          </a:xfrm>
          <a:prstGeom prst="roundRect">
            <a:avLst>
              <a:gd name="adj" fmla="val 25000"/>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9th · the end!</a:t>
            </a:r>
            <a:endParaRPr lang="en-US" sz="950" dirty="0"/>
          </a:p>
        </p:txBody>
      </p:sp>
      <p:sp>
        <p:nvSpPr>
          <p:cNvPr id="36" name="bd_194"/>
          <p:cNvSpPr/>
          <p:nvPr/>
        </p:nvSpPr>
        <p:spPr>
          <a:xfrm>
            <a:off x="3246120" y="391363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37" name="q_195"/>
          <p:cNvSpPr/>
          <p:nvPr/>
        </p:nvSpPr>
        <p:spPr>
          <a:xfrm>
            <a:off x="3630168" y="3886200"/>
            <a:ext cx="2103120" cy="365760"/>
          </a:xfrm>
          <a:prstGeom prst="roundRect">
            <a:avLst>
              <a:gd name="adj" fmla="val 25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H · on our way to the halfway checkpoint</a:t>
            </a:r>
            <a:endParaRPr lang="en-US" sz="950" dirty="0"/>
          </a:p>
        </p:txBody>
      </p:sp>
      <p:sp>
        <p:nvSpPr>
          <p:cNvPr id="38" name="R7_chip196"/>
          <p:cNvSpPr/>
          <p:nvPr/>
        </p:nvSpPr>
        <p:spPr>
          <a:xfrm>
            <a:off x="5806440" y="3886200"/>
            <a:ext cx="3063240" cy="365760"/>
          </a:xfrm>
          <a:prstGeom prst="roundRect">
            <a:avLst>
              <a:gd name="adj" fmla="val 25000"/>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6th · halfway</a:t>
            </a:r>
            <a:endParaRPr lang="en-US" sz="950" dirty="0"/>
          </a:p>
        </p:txBody>
      </p:sp>
      <p:sp>
        <p:nvSpPr>
          <p:cNvPr id="39" name="bd_197"/>
          <p:cNvSpPr/>
          <p:nvPr/>
        </p:nvSpPr>
        <p:spPr>
          <a:xfrm>
            <a:off x="3246120" y="432511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8</a:t>
            </a:r>
            <a:endParaRPr lang="en-US" sz="1000" dirty="0"/>
          </a:p>
        </p:txBody>
      </p:sp>
      <p:sp>
        <p:nvSpPr>
          <p:cNvPr id="40" name="q_198"/>
          <p:cNvSpPr/>
          <p:nvPr/>
        </p:nvSpPr>
        <p:spPr>
          <a:xfrm>
            <a:off x="3630168" y="4297680"/>
            <a:ext cx="2103120" cy="365760"/>
          </a:xfrm>
          <a:prstGeom prst="roundRect">
            <a:avLst>
              <a:gd name="adj" fmla="val 25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I · training is over · starting today</a:t>
            </a:r>
            <a:endParaRPr lang="en-US" sz="950" dirty="0"/>
          </a:p>
        </p:txBody>
      </p:sp>
      <p:sp>
        <p:nvSpPr>
          <p:cNvPr id="41" name="R8_chip199"/>
          <p:cNvSpPr/>
          <p:nvPr/>
        </p:nvSpPr>
        <p:spPr>
          <a:xfrm>
            <a:off x="5806440" y="4297680"/>
            <a:ext cx="3063240" cy="365760"/>
          </a:xfrm>
          <a:prstGeom prst="roundRect">
            <a:avLst>
              <a:gd name="adj" fmla="val 25000"/>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3rd · training, then the trek</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4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4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400"/>
                                        <p:tgtEl>
                                          <p:spTgt spid="3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fade">
                                      <p:cBhvr>
                                        <p:cTn id="42"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00"/>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201"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202"/>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polar challenge 1</a:t>
            </a:r>
            <a:endParaRPr lang="en-US" sz="2500" dirty="0"/>
          </a:p>
        </p:txBody>
      </p:sp>
      <p:pic>
        <p:nvPicPr>
          <p:cNvPr id="6" name="brP_203" descr="/home/claude/lls-course/v2/assets/brush-pink.png">    </p:cNvPr>
          <p:cNvPicPr>
            <a:picLocks noChangeAspect="1"/>
          </p:cNvPicPr>
          <p:nvPr/>
        </p:nvPicPr>
        <p:blipFill>
          <a:blip r:embed="rId3"/>
          <a:stretch>
            <a:fillRect/>
          </a:stretch>
        </p:blipFill>
        <p:spPr>
          <a:xfrm>
            <a:off x="1207008" y="731520"/>
            <a:ext cx="4293108" cy="402336"/>
          </a:xfrm>
          <a:prstGeom prst="rect">
            <a:avLst/>
          </a:prstGeom>
        </p:spPr>
      </p:pic>
      <p:sp>
        <p:nvSpPr>
          <p:cNvPr id="7" name="ins_204"/>
          <p:cNvSpPr/>
          <p:nvPr/>
        </p:nvSpPr>
        <p:spPr>
          <a:xfrm>
            <a:off x="1353312" y="731520"/>
            <a:ext cx="403707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entries 1–3. Guess the missing word.</a:t>
            </a:r>
            <a:endParaRPr lang="en-US" sz="1250" dirty="0"/>
          </a:p>
        </p:txBody>
      </p:sp>
      <p:sp>
        <p:nvSpPr>
          <p:cNvPr id="8" name="insIT_20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i post 1–3. Indovina la parola mancante.</a:t>
            </a:r>
            <a:endParaRPr lang="en-US" sz="950" dirty="0"/>
          </a:p>
        </p:txBody>
      </p:sp>
      <p:sp>
        <p:nvSpPr>
          <p:cNvPr id="9" name="note_206"/>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GUESS</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TPRS · reading</a:t>
            </a:r>
            <a:endParaRPr lang="en-US" sz="1150" dirty="0"/>
          </a:p>
        </p:txBody>
      </p:sp>
      <p:pic>
        <p:nvPicPr>
          <p:cNvPr id="10" name="logo_20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0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2B-2 · Reading · the blog (1)   ·   📖 SB p.22 · blog entries B, D, I · 7a</a:t>
            </a:r>
            <a:endParaRPr lang="en-US" sz="800" dirty="0"/>
          </a:p>
        </p:txBody>
      </p:sp>
      <p:sp>
        <p:nvSpPr>
          <p:cNvPr id="12" name="cd_209"/>
          <p:cNvSpPr/>
          <p:nvPr/>
        </p:nvSpPr>
        <p:spPr>
          <a:xfrm>
            <a:off x="320040" y="1417320"/>
            <a:ext cx="5715000" cy="3337560"/>
          </a:xfrm>
          <a:prstGeom prst="roundRect">
            <a:avLst>
              <a:gd name="adj" fmla="val 3836"/>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sh_210"/>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Entries 1–3 · B · D · I</a:t>
            </a:r>
            <a:endParaRPr lang="en-US" sz="1700" dirty="0"/>
          </a:p>
        </p:txBody>
      </p:sp>
      <p:sp>
        <p:nvSpPr>
          <p:cNvPr id="14" name="ln_211"/>
          <p:cNvSpPr/>
          <p:nvPr/>
        </p:nvSpPr>
        <p:spPr>
          <a:xfrm>
            <a:off x="548640" y="1920240"/>
            <a:ext cx="5349240" cy="578901"/>
          </a:xfrm>
          <a:prstGeom prst="rect">
            <a:avLst/>
          </a:prstGeom>
          <a:noFill/>
          <a:ln/>
        </p:spPr>
        <p:txBody>
          <a:bodyPr wrap="square" lIns="0" tIns="0" rIns="0" bIns="0" rtlCol="0" anchor="t"/>
          <a:lstStyle/>
          <a:p>
            <a:pPr indent="0" marL="0">
              <a:buNone/>
            </a:pPr>
            <a:r>
              <a:rPr lang="en-US" sz="950" dirty="0">
                <a:solidFill>
                  <a:srgbClr val="1B2559"/>
                </a:solidFill>
                <a:latin typeface="Georgia" pitchFamily="34" charset="0"/>
                <a:ea typeface="Georgia" pitchFamily="34" charset="-122"/>
                <a:cs typeface="Georgia" pitchFamily="34" charset="-120"/>
              </a:rPr>
              <a:t>1 · B   My first night in Antarctica. It's summer here, and the 24-hour daylight is weird. Today was my first full day on cross-country skis, pulling a sledge.</a:t>
            </a:r>
            <a:endParaRPr lang="en-US" sz="950" dirty="0"/>
          </a:p>
        </p:txBody>
      </p:sp>
      <p:sp>
        <p:nvSpPr>
          <p:cNvPr id="15" name="ln_212"/>
          <p:cNvSpPr/>
          <p:nvPr/>
        </p:nvSpPr>
        <p:spPr>
          <a:xfrm>
            <a:off x="548640" y="2499141"/>
            <a:ext cx="5349240" cy="506083"/>
          </a:xfrm>
          <a:prstGeom prst="rect">
            <a:avLst/>
          </a:prstGeom>
          <a:noFill/>
          <a:ln/>
        </p:spPr>
        <p:txBody>
          <a:bodyPr wrap="square" lIns="0" tIns="0" rIns="0" bIns="0" rtlCol="0" anchor="t"/>
          <a:lstStyle/>
          <a:p>
            <a:pPr indent="0" marL="0">
              <a:buNone/>
            </a:pPr>
            <a:r>
              <a:rPr lang="en-US" sz="950" dirty="0">
                <a:solidFill>
                  <a:srgbClr val="1B2559"/>
                </a:solidFill>
                <a:latin typeface="Georgia" pitchFamily="34" charset="0"/>
                <a:ea typeface="Georgia" pitchFamily="34" charset="-122"/>
                <a:cs typeface="Georgia" pitchFamily="34" charset="-120"/>
              </a:rPr>
              <a:t>It was a nightmare! Still, the scenery was incredible. Now I'm going to try out the ice bike, and we're also going to practise kite-skiing.</a:t>
            </a:r>
            <a:endParaRPr lang="en-US" sz="950" dirty="0"/>
          </a:p>
        </p:txBody>
      </p:sp>
      <p:sp>
        <p:nvSpPr>
          <p:cNvPr id="16" name="ln_213"/>
          <p:cNvSpPr/>
          <p:nvPr/>
        </p:nvSpPr>
        <p:spPr>
          <a:xfrm>
            <a:off x="548640" y="3005225"/>
            <a:ext cx="5349240" cy="396857"/>
          </a:xfrm>
          <a:prstGeom prst="rect">
            <a:avLst/>
          </a:prstGeom>
          <a:noFill/>
          <a:ln/>
        </p:spPr>
        <p:txBody>
          <a:bodyPr wrap="square" lIns="0" tIns="0" rIns="0" bIns="0" rtlCol="0" anchor="t"/>
          <a:lstStyle/>
          <a:p>
            <a:pPr indent="0" marL="0">
              <a:buNone/>
            </a:pPr>
            <a:r>
              <a:rPr lang="en-US" sz="950" dirty="0">
                <a:solidFill>
                  <a:srgbClr val="1B2559"/>
                </a:solidFill>
                <a:latin typeface="Georgia" pitchFamily="34" charset="0"/>
                <a:ea typeface="Georgia" pitchFamily="34" charset="-122"/>
                <a:cs typeface="Georgia" pitchFamily="34" charset="-120"/>
              </a:rPr>
              <a:t>2 · D   We've only been in Antarctica for four days, but there's been a huge snowstorm for the past 48 hours.</a:t>
            </a:r>
            <a:endParaRPr lang="en-US" sz="950" dirty="0"/>
          </a:p>
        </p:txBody>
      </p:sp>
      <p:sp>
        <p:nvSpPr>
          <p:cNvPr id="17" name="ln_214"/>
          <p:cNvSpPr/>
          <p:nvPr/>
        </p:nvSpPr>
        <p:spPr>
          <a:xfrm>
            <a:off x="548640" y="3402081"/>
            <a:ext cx="5349240" cy="513365"/>
          </a:xfrm>
          <a:prstGeom prst="rect">
            <a:avLst/>
          </a:prstGeom>
          <a:noFill/>
          <a:ln/>
        </p:spPr>
        <p:txBody>
          <a:bodyPr wrap="square" lIns="0" tIns="0" rIns="0" bIns="0" rtlCol="0" anchor="t"/>
          <a:lstStyle/>
          <a:p>
            <a:pPr indent="0" marL="0">
              <a:buNone/>
            </a:pPr>
            <a:r>
              <a:rPr lang="en-US" sz="950" dirty="0">
                <a:solidFill>
                  <a:srgbClr val="1B2559"/>
                </a:solidFill>
                <a:latin typeface="Georgia" pitchFamily="34" charset="0"/>
                <a:ea typeface="Georgia" pitchFamily="34" charset="-122"/>
                <a:cs typeface="Georgia" pitchFamily="34" charset="-120"/>
              </a:rPr>
              <a:t>It's </a:t>
            </a:r>
            <a:pPr indent="0" marL="0">
              <a:buNone/>
            </a:pPr>
            <a:r>
              <a:rPr lang="en-US" sz="950" b="1" dirty="0">
                <a:solidFill>
                  <a:srgbClr val="2EB872"/>
                </a:solidFill>
                <a:latin typeface="Georgia" pitchFamily="34" charset="0"/>
                <a:ea typeface="Georgia" pitchFamily="34" charset="-122"/>
                <a:cs typeface="Georgia" pitchFamily="34" charset="-120"/>
              </a:rPr>
              <a:t> (1) ________ </a:t>
            </a:r>
            <a:pPr indent="0" marL="0">
              <a:buNone/>
            </a:pPr>
            <a:r>
              <a:rPr lang="en-US" sz="950" dirty="0">
                <a:solidFill>
                  <a:srgbClr val="1B2559"/>
                </a:solidFill>
                <a:latin typeface="Georgia" pitchFamily="34" charset="0"/>
                <a:ea typeface="Georgia" pitchFamily="34" charset="-122"/>
                <a:cs typeface="Georgia" pitchFamily="34" charset="-120"/>
              </a:rPr>
              <a:t> outside, so we can't train – we've had to stay in the tent. The winds are 70 miles per hour, with –15°C and lots of snow.</a:t>
            </a:r>
            <a:endParaRPr lang="en-US" sz="950" dirty="0"/>
          </a:p>
        </p:txBody>
      </p:sp>
      <p:sp>
        <p:nvSpPr>
          <p:cNvPr id="18" name="R1_lnA215"/>
          <p:cNvSpPr/>
          <p:nvPr/>
        </p:nvSpPr>
        <p:spPr>
          <a:xfrm>
            <a:off x="548640" y="3402081"/>
            <a:ext cx="5349240" cy="513365"/>
          </a:xfrm>
          <a:prstGeom prst="rect">
            <a:avLst/>
          </a:prstGeom>
          <a:solidFill>
            <a:srgbClr val="FFFFFF"/>
          </a:solidFill>
          <a:ln/>
        </p:spPr>
        <p:txBody>
          <a:bodyPr wrap="square" lIns="0" tIns="0" rIns="0" bIns="0" rtlCol="0" anchor="t"/>
          <a:lstStyle/>
          <a:p>
            <a:pPr indent="0" marL="0">
              <a:buNone/>
            </a:pPr>
            <a:r>
              <a:rPr lang="en-US" sz="950" dirty="0">
                <a:solidFill>
                  <a:srgbClr val="1B2559"/>
                </a:solidFill>
                <a:latin typeface="Georgia" pitchFamily="34" charset="0"/>
                <a:ea typeface="Georgia" pitchFamily="34" charset="-122"/>
                <a:cs typeface="Georgia" pitchFamily="34" charset="-120"/>
              </a:rPr>
              <a:t>It's </a:t>
            </a:r>
            <a:pPr indent="0" marL="0">
              <a:buNone/>
            </a:pPr>
            <a:r>
              <a:rPr lang="en-US" sz="950" b="1" dirty="0">
                <a:solidFill>
                  <a:srgbClr val="1B2559"/>
                </a:solidFill>
                <a:highlight>
                  <a:srgbClr val="FFE066"/>
                </a:highlight>
                <a:latin typeface="Georgia" pitchFamily="34" charset="0"/>
                <a:ea typeface="Georgia" pitchFamily="34" charset="-122"/>
                <a:cs typeface="Georgia" pitchFamily="34" charset="-120"/>
              </a:rPr>
              <a:t>freezing</a:t>
            </a:r>
            <a:pPr indent="0" marL="0">
              <a:buNone/>
            </a:pPr>
            <a:r>
              <a:rPr lang="en-US" sz="950" dirty="0">
                <a:solidFill>
                  <a:srgbClr val="1B2559"/>
                </a:solidFill>
                <a:latin typeface="Georgia" pitchFamily="34" charset="0"/>
                <a:ea typeface="Georgia" pitchFamily="34" charset="-122"/>
                <a:cs typeface="Georgia" pitchFamily="34" charset="-120"/>
              </a:rPr>
              <a:t> outside, so we can't train – we've had to stay in the tent. The winds are 70 miles per hour, with –15°C and lots of snow.</a:t>
            </a:r>
            <a:endParaRPr lang="en-US" sz="950" dirty="0"/>
          </a:p>
        </p:txBody>
      </p:sp>
      <p:sp>
        <p:nvSpPr>
          <p:cNvPr id="19" name="ln_216"/>
          <p:cNvSpPr/>
          <p:nvPr/>
        </p:nvSpPr>
        <p:spPr>
          <a:xfrm>
            <a:off x="548640" y="3915446"/>
            <a:ext cx="5349240" cy="466034"/>
          </a:xfrm>
          <a:prstGeom prst="rect">
            <a:avLst/>
          </a:prstGeom>
          <a:noFill/>
          <a:ln/>
        </p:spPr>
        <p:txBody>
          <a:bodyPr wrap="square" lIns="0" tIns="0" rIns="0" bIns="0" rtlCol="0" anchor="t"/>
          <a:lstStyle/>
          <a:p>
            <a:pPr indent="0" marL="0">
              <a:buNone/>
            </a:pPr>
            <a:r>
              <a:rPr lang="en-US" sz="950" dirty="0">
                <a:solidFill>
                  <a:srgbClr val="1B2559"/>
                </a:solidFill>
                <a:latin typeface="Georgia" pitchFamily="34" charset="0"/>
                <a:ea typeface="Georgia" pitchFamily="34" charset="-122"/>
                <a:cs typeface="Georgia" pitchFamily="34" charset="-120"/>
              </a:rPr>
              <a:t>3 · I   The training is over and we're starting our 500-mile journey today! We've been cycling, walking and kiting for ten days.</a:t>
            </a:r>
            <a:endParaRPr lang="en-US" sz="950" dirty="0"/>
          </a:p>
        </p:txBody>
      </p:sp>
      <p:sp>
        <p:nvSpPr>
          <p:cNvPr id="20" name="ln_217"/>
          <p:cNvSpPr/>
          <p:nvPr/>
        </p:nvSpPr>
        <p:spPr>
          <a:xfrm>
            <a:off x="548640" y="4381480"/>
            <a:ext cx="5349240" cy="327680"/>
          </a:xfrm>
          <a:prstGeom prst="rect">
            <a:avLst/>
          </a:prstGeom>
          <a:noFill/>
          <a:ln/>
        </p:spPr>
        <p:txBody>
          <a:bodyPr wrap="square" lIns="0" tIns="0" rIns="0" bIns="0" rtlCol="0" anchor="t"/>
          <a:lstStyle/>
          <a:p>
            <a:pPr indent="0" marL="0">
              <a:buNone/>
            </a:pPr>
            <a:r>
              <a:rPr lang="en-US" sz="950" dirty="0">
                <a:solidFill>
                  <a:srgbClr val="1B2559"/>
                </a:solidFill>
                <a:latin typeface="Georgia" pitchFamily="34" charset="0"/>
                <a:ea typeface="Georgia" pitchFamily="34" charset="-122"/>
                <a:cs typeface="Georgia" pitchFamily="34" charset="-120"/>
              </a:rPr>
              <a:t>I washed and changed my clothes. I'm not going to get clean clothes again for three weeks!</a:t>
            </a:r>
            <a:endParaRPr lang="en-US" sz="950" dirty="0"/>
          </a:p>
        </p:txBody>
      </p:sp>
      <p:sp>
        <p:nvSpPr>
          <p:cNvPr id="21" name="pf_218"/>
          <p:cNvSpPr/>
          <p:nvPr/>
        </p:nvSpPr>
        <p:spPr>
          <a:xfrm rot="120000">
            <a:off x="6309360" y="1417320"/>
            <a:ext cx="2560320" cy="1508760"/>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2" name="ph_219" descr="/home/claude/lls-course/v2/cache/2b2_scenery_jpg_594x341_31.png">    </p:cNvPr>
          <p:cNvPicPr>
            <a:picLocks noChangeAspect="1"/>
          </p:cNvPicPr>
          <p:nvPr/>
        </p:nvPicPr>
        <p:blipFill>
          <a:blip r:embed="rId5"/>
          <a:stretch>
            <a:fillRect/>
          </a:stretch>
        </p:blipFill>
        <p:spPr>
          <a:xfrm rot="120000">
            <a:off x="6355080" y="1463040"/>
            <a:ext cx="2468880" cy="1417320"/>
          </a:xfrm>
          <a:prstGeom prst="rect">
            <a:avLst/>
          </a:prstGeom>
        </p:spPr>
      </p:pic>
      <p:sp>
        <p:nvSpPr>
          <p:cNvPr id="23" name="cd_220"/>
          <p:cNvSpPr/>
          <p:nvPr/>
        </p:nvSpPr>
        <p:spPr>
          <a:xfrm>
            <a:off x="6263640" y="3794760"/>
            <a:ext cx="2651760" cy="960120"/>
          </a:xfrm>
          <a:prstGeom prst="roundRect">
            <a:avLst>
              <a:gd name="adj" fmla="val 13333"/>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24" name="ii_221"/>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5" name="ih_222"/>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26" name="il_223"/>
          <p:cNvSpPr/>
          <p:nvPr/>
        </p:nvSpPr>
        <p:spPr>
          <a:xfrm>
            <a:off x="6830568" y="4288536"/>
            <a:ext cx="1993392" cy="3931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weird = strange · strano</a:t>
            </a:r>
            <a:endParaRPr lang="en-US" sz="900" dirty="0"/>
          </a:p>
          <a:p>
            <a:pPr marL="152400" indent="-152400">
              <a:spcBef>
                <a:spcPts val="6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a nightmare = un incubo</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24"/>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25"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226"/>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polar challenge 2</a:t>
            </a:r>
            <a:endParaRPr lang="en-US" sz="2500" dirty="0"/>
          </a:p>
        </p:txBody>
      </p:sp>
      <p:pic>
        <p:nvPicPr>
          <p:cNvPr id="6" name="brP_227" descr="/home/claude/lls-course/v2/assets/brush-pink.png">    </p:cNvPr>
          <p:cNvPicPr>
            <a:picLocks noChangeAspect="1"/>
          </p:cNvPicPr>
          <p:nvPr/>
        </p:nvPicPr>
        <p:blipFill>
          <a:blip r:embed="rId3"/>
          <a:stretch>
            <a:fillRect/>
          </a:stretch>
        </p:blipFill>
        <p:spPr>
          <a:xfrm>
            <a:off x="1207008" y="731520"/>
            <a:ext cx="4379976" cy="402336"/>
          </a:xfrm>
          <a:prstGeom prst="rect">
            <a:avLst/>
          </a:prstGeom>
        </p:spPr>
      </p:pic>
      <p:sp>
        <p:nvSpPr>
          <p:cNvPr id="7" name="ins_228"/>
          <p:cNvSpPr/>
          <p:nvPr/>
        </p:nvSpPr>
        <p:spPr>
          <a:xfrm>
            <a:off x="1353312" y="731520"/>
            <a:ext cx="412394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entries 4–6. Guess the missing words.</a:t>
            </a:r>
            <a:endParaRPr lang="en-US" sz="1250" dirty="0"/>
          </a:p>
        </p:txBody>
      </p:sp>
      <p:sp>
        <p:nvSpPr>
          <p:cNvPr id="8" name="insIT_22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i post 4–6. Indovina le parole mancanti.</a:t>
            </a:r>
            <a:endParaRPr lang="en-US" sz="950" dirty="0"/>
          </a:p>
        </p:txBody>
      </p:sp>
      <p:sp>
        <p:nvSpPr>
          <p:cNvPr id="9" name="note_230"/>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GUESS</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TPRS · reading</a:t>
            </a:r>
            <a:endParaRPr lang="en-US" sz="1150" dirty="0"/>
          </a:p>
        </p:txBody>
      </p:sp>
      <p:pic>
        <p:nvPicPr>
          <p:cNvPr id="10" name="logo_23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3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2B-2 · Reading · the blog (2)   ·   📖 SB p.22 · blog entries C, E, H · 7a</a:t>
            </a:r>
            <a:endParaRPr lang="en-US" sz="800" dirty="0"/>
          </a:p>
        </p:txBody>
      </p:sp>
      <p:sp>
        <p:nvSpPr>
          <p:cNvPr id="12" name="cd_233"/>
          <p:cNvSpPr/>
          <p:nvPr/>
        </p:nvSpPr>
        <p:spPr>
          <a:xfrm>
            <a:off x="320040" y="1417320"/>
            <a:ext cx="5715000" cy="3337560"/>
          </a:xfrm>
          <a:prstGeom prst="roundRect">
            <a:avLst>
              <a:gd name="adj" fmla="val 3836"/>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sh_234"/>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Entries 4–6 · C · E · H</a:t>
            </a:r>
            <a:endParaRPr lang="en-US" sz="1700" dirty="0"/>
          </a:p>
        </p:txBody>
      </p:sp>
      <p:sp>
        <p:nvSpPr>
          <p:cNvPr id="14" name="ln_235"/>
          <p:cNvSpPr/>
          <p:nvPr/>
        </p:nvSpPr>
        <p:spPr>
          <a:xfrm>
            <a:off x="548640" y="1920240"/>
            <a:ext cx="5349240" cy="535210"/>
          </a:xfrm>
          <a:prstGeom prst="rect">
            <a:avLst/>
          </a:prstGeom>
          <a:noFill/>
          <a:ln/>
        </p:spPr>
        <p:txBody>
          <a:bodyPr wrap="square" lIns="0" tIns="0" rIns="0" bIns="0" rtlCol="0" anchor="t"/>
          <a:lstStyle/>
          <a:p>
            <a:pPr indent="0" marL="0">
              <a:buNone/>
            </a:pPr>
            <a:r>
              <a:rPr lang="en-US" sz="1100" dirty="0">
                <a:solidFill>
                  <a:srgbClr val="1B2559"/>
                </a:solidFill>
                <a:latin typeface="Georgia" pitchFamily="34" charset="0"/>
                <a:ea typeface="Georgia" pitchFamily="34" charset="-122"/>
                <a:cs typeface="Georgia" pitchFamily="34" charset="-120"/>
              </a:rPr>
              <a:t>4 · C   The first day of the trek is over! We managed to make the bikes work! But we need to do 25 miles a day, and we only managed 15 miles today.</a:t>
            </a:r>
            <a:endParaRPr lang="en-US" sz="1100" dirty="0"/>
          </a:p>
        </p:txBody>
      </p:sp>
      <p:sp>
        <p:nvSpPr>
          <p:cNvPr id="15" name="ln_236"/>
          <p:cNvSpPr/>
          <p:nvPr/>
        </p:nvSpPr>
        <p:spPr>
          <a:xfrm>
            <a:off x="548640" y="2455450"/>
            <a:ext cx="5349240" cy="396857"/>
          </a:xfrm>
          <a:prstGeom prst="rect">
            <a:avLst/>
          </a:prstGeom>
          <a:noFill/>
          <a:ln/>
        </p:spPr>
        <p:txBody>
          <a:bodyPr wrap="square" lIns="0" tIns="0" rIns="0" bIns="0" rtlCol="0" anchor="t"/>
          <a:lstStyle/>
          <a:p>
            <a:pPr indent="0" marL="0">
              <a:buNone/>
            </a:pPr>
            <a:r>
              <a:rPr lang="en-US" sz="1100" dirty="0">
                <a:solidFill>
                  <a:srgbClr val="1B2559"/>
                </a:solidFill>
                <a:latin typeface="Georgia" pitchFamily="34" charset="0"/>
                <a:ea typeface="Georgia" pitchFamily="34" charset="-122"/>
                <a:cs typeface="Georgia" pitchFamily="34" charset="-120"/>
              </a:rPr>
              <a:t>After nine hours of cycling (and a lot of pushing), we had to stop, because I was completely </a:t>
            </a:r>
            <a:pPr indent="0" marL="0">
              <a:buNone/>
            </a:pPr>
            <a:r>
              <a:rPr lang="en-US" sz="1100" b="1" dirty="0">
                <a:solidFill>
                  <a:srgbClr val="2EB872"/>
                </a:solidFill>
                <a:latin typeface="Georgia" pitchFamily="34" charset="0"/>
                <a:ea typeface="Georgia" pitchFamily="34" charset="-122"/>
                <a:cs typeface="Georgia" pitchFamily="34" charset="-120"/>
              </a:rPr>
              <a:t> (2) ________ </a:t>
            </a:r>
            <a:pPr indent="0" marL="0">
              <a:buNone/>
            </a:pPr>
            <a:r>
              <a:rPr lang="en-US" sz="1100" dirty="0">
                <a:solidFill>
                  <a:srgbClr val="1B2559"/>
                </a:solidFill>
                <a:latin typeface="Georgia" pitchFamily="34" charset="0"/>
                <a:ea typeface="Georgia" pitchFamily="34" charset="-122"/>
                <a:cs typeface="Georgia" pitchFamily="34" charset="-120"/>
              </a:rPr>
              <a:t>.</a:t>
            </a:r>
            <a:endParaRPr lang="en-US" sz="1100" dirty="0"/>
          </a:p>
        </p:txBody>
      </p:sp>
      <p:sp>
        <p:nvSpPr>
          <p:cNvPr id="16" name="R1_lnA237"/>
          <p:cNvSpPr/>
          <p:nvPr/>
        </p:nvSpPr>
        <p:spPr>
          <a:xfrm>
            <a:off x="548640" y="2455450"/>
            <a:ext cx="5349240" cy="396857"/>
          </a:xfrm>
          <a:prstGeom prst="rect">
            <a:avLst/>
          </a:prstGeom>
          <a:solidFill>
            <a:srgbClr val="FFFFFF"/>
          </a:solidFill>
          <a:ln/>
        </p:spPr>
        <p:txBody>
          <a:bodyPr wrap="square" lIns="0" tIns="0" rIns="0" bIns="0" rtlCol="0" anchor="t"/>
          <a:lstStyle/>
          <a:p>
            <a:pPr indent="0" marL="0">
              <a:buNone/>
            </a:pPr>
            <a:r>
              <a:rPr lang="en-US" sz="1100" dirty="0">
                <a:solidFill>
                  <a:srgbClr val="1B2559"/>
                </a:solidFill>
                <a:latin typeface="Georgia" pitchFamily="34" charset="0"/>
                <a:ea typeface="Georgia" pitchFamily="34" charset="-122"/>
                <a:cs typeface="Georgia" pitchFamily="34" charset="-120"/>
              </a:rPr>
              <a:t>After nine hours of cycling (and a lot of pushing), we had to stop, because I was completely </a:t>
            </a:r>
            <a:pPr indent="0" marL="0">
              <a:buNone/>
            </a:pPr>
            <a:r>
              <a:rPr lang="en-US" sz="1100" b="1" dirty="0">
                <a:solidFill>
                  <a:srgbClr val="1B2559"/>
                </a:solidFill>
                <a:highlight>
                  <a:srgbClr val="FFE066"/>
                </a:highlight>
                <a:latin typeface="Georgia" pitchFamily="34" charset="0"/>
                <a:ea typeface="Georgia" pitchFamily="34" charset="-122"/>
                <a:cs typeface="Georgia" pitchFamily="34" charset="-120"/>
              </a:rPr>
              <a:t>exhausted</a:t>
            </a:r>
            <a:pPr indent="0" marL="0">
              <a:buNone/>
            </a:pPr>
            <a:r>
              <a:rPr lang="en-US" sz="1100" dirty="0">
                <a:solidFill>
                  <a:srgbClr val="1B2559"/>
                </a:solidFill>
                <a:latin typeface="Georgia" pitchFamily="34" charset="0"/>
                <a:ea typeface="Georgia" pitchFamily="34" charset="-122"/>
                <a:cs typeface="Georgia" pitchFamily="34" charset="-120"/>
              </a:rPr>
              <a:t>.</a:t>
            </a:r>
            <a:endParaRPr lang="en-US" sz="1100" dirty="0"/>
          </a:p>
        </p:txBody>
      </p:sp>
      <p:sp>
        <p:nvSpPr>
          <p:cNvPr id="17" name="ln_238"/>
          <p:cNvSpPr/>
          <p:nvPr/>
        </p:nvSpPr>
        <p:spPr>
          <a:xfrm>
            <a:off x="548640" y="2852307"/>
            <a:ext cx="5349240" cy="440547"/>
          </a:xfrm>
          <a:prstGeom prst="rect">
            <a:avLst/>
          </a:prstGeom>
          <a:noFill/>
          <a:ln/>
        </p:spPr>
        <p:txBody>
          <a:bodyPr wrap="square" lIns="0" tIns="0" rIns="0" bIns="0" rtlCol="0" anchor="t"/>
          <a:lstStyle/>
          <a:p>
            <a:pPr indent="0" marL="0">
              <a:buNone/>
            </a:pPr>
            <a:r>
              <a:rPr lang="en-US" sz="1100" dirty="0">
                <a:solidFill>
                  <a:srgbClr val="1B2559"/>
                </a:solidFill>
                <a:latin typeface="Georgia" pitchFamily="34" charset="0"/>
                <a:ea typeface="Georgia" pitchFamily="34" charset="-122"/>
                <a:cs typeface="Georgia" pitchFamily="34" charset="-120"/>
              </a:rPr>
              <a:t>5 · E   This morning, the second day of our trek, we set off on the kite-skis, and straight away we were travelling fast.</a:t>
            </a:r>
            <a:endParaRPr lang="en-US" sz="1100" dirty="0"/>
          </a:p>
        </p:txBody>
      </p:sp>
      <p:sp>
        <p:nvSpPr>
          <p:cNvPr id="18" name="ln_239"/>
          <p:cNvSpPr/>
          <p:nvPr/>
        </p:nvSpPr>
        <p:spPr>
          <a:xfrm>
            <a:off x="548640" y="3292855"/>
            <a:ext cx="5349240" cy="484238"/>
          </a:xfrm>
          <a:prstGeom prst="rect">
            <a:avLst/>
          </a:prstGeom>
          <a:noFill/>
          <a:ln/>
        </p:spPr>
        <p:txBody>
          <a:bodyPr wrap="square" lIns="0" tIns="0" rIns="0" bIns="0" rtlCol="0" anchor="t"/>
          <a:lstStyle/>
          <a:p>
            <a:pPr indent="0" marL="0">
              <a:buNone/>
            </a:pPr>
            <a:r>
              <a:rPr lang="en-US" sz="1100" dirty="0">
                <a:solidFill>
                  <a:srgbClr val="1B2559"/>
                </a:solidFill>
                <a:latin typeface="Georgia" pitchFamily="34" charset="0"/>
                <a:ea typeface="Georgia" pitchFamily="34" charset="-122"/>
                <a:cs typeface="Georgia" pitchFamily="34" charset="-120"/>
              </a:rPr>
              <a:t>In the first hour, we'd gone eight miles! Late this afternoon the wind dropped, but we'd travelled 41 miles – I'm very proud of that.</a:t>
            </a:r>
            <a:endParaRPr lang="en-US" sz="1100" dirty="0"/>
          </a:p>
        </p:txBody>
      </p:sp>
      <p:sp>
        <p:nvSpPr>
          <p:cNvPr id="19" name="ln_240"/>
          <p:cNvSpPr/>
          <p:nvPr/>
        </p:nvSpPr>
        <p:spPr>
          <a:xfrm>
            <a:off x="548640" y="3777093"/>
            <a:ext cx="5349240" cy="484238"/>
          </a:xfrm>
          <a:prstGeom prst="rect">
            <a:avLst/>
          </a:prstGeom>
          <a:noFill/>
          <a:ln/>
        </p:spPr>
        <p:txBody>
          <a:bodyPr wrap="square" lIns="0" tIns="0" rIns="0" bIns="0" rtlCol="0" anchor="t"/>
          <a:lstStyle/>
          <a:p>
            <a:pPr indent="0" marL="0">
              <a:buNone/>
            </a:pPr>
            <a:r>
              <a:rPr lang="en-US" sz="1100" dirty="0">
                <a:solidFill>
                  <a:srgbClr val="1B2559"/>
                </a:solidFill>
                <a:latin typeface="Georgia" pitchFamily="34" charset="0"/>
                <a:ea typeface="Georgia" pitchFamily="34" charset="-122"/>
                <a:cs typeface="Georgia" pitchFamily="34" charset="-120"/>
              </a:rPr>
              <a:t>6 · H   We're on our way to the halfway checkpoint today, where we can have a rest… and lots of hot water, so I can have a good wash.</a:t>
            </a:r>
            <a:endParaRPr lang="en-US" sz="1100" dirty="0"/>
          </a:p>
        </p:txBody>
      </p:sp>
      <p:sp>
        <p:nvSpPr>
          <p:cNvPr id="20" name="ln_241"/>
          <p:cNvSpPr/>
          <p:nvPr/>
        </p:nvSpPr>
        <p:spPr>
          <a:xfrm>
            <a:off x="548640" y="4261331"/>
            <a:ext cx="5349240" cy="447829"/>
          </a:xfrm>
          <a:prstGeom prst="rect">
            <a:avLst/>
          </a:prstGeom>
          <a:noFill/>
          <a:ln/>
        </p:spPr>
        <p:txBody>
          <a:bodyPr wrap="square" lIns="0" tIns="0" rIns="0" bIns="0" rtlCol="0" anchor="t"/>
          <a:lstStyle/>
          <a:p>
            <a:pPr indent="0" marL="0">
              <a:buNone/>
            </a:pPr>
            <a:r>
              <a:rPr lang="en-US" sz="1100" dirty="0">
                <a:solidFill>
                  <a:srgbClr val="1B2559"/>
                </a:solidFill>
                <a:latin typeface="Georgia" pitchFamily="34" charset="0"/>
                <a:ea typeface="Georgia" pitchFamily="34" charset="-122"/>
                <a:cs typeface="Georgia" pitchFamily="34" charset="-120"/>
              </a:rPr>
              <a:t>It's my second one since arriving in Antarctica. I have to admit it, I smell awful… and my hair is absolutely </a:t>
            </a:r>
            <a:pPr indent="0" marL="0">
              <a:buNone/>
            </a:pPr>
            <a:r>
              <a:rPr lang="en-US" sz="1100" b="1" dirty="0">
                <a:solidFill>
                  <a:srgbClr val="2EB872"/>
                </a:solidFill>
                <a:latin typeface="Georgia" pitchFamily="34" charset="0"/>
                <a:ea typeface="Georgia" pitchFamily="34" charset="-122"/>
                <a:cs typeface="Georgia" pitchFamily="34" charset="-120"/>
              </a:rPr>
              <a:t> (3) ________ </a:t>
            </a:r>
            <a:pPr indent="0" marL="0">
              <a:buNone/>
            </a:pPr>
            <a:r>
              <a:rPr lang="en-US" sz="1100" dirty="0">
                <a:solidFill>
                  <a:srgbClr val="1B2559"/>
                </a:solidFill>
                <a:latin typeface="Georgia" pitchFamily="34" charset="0"/>
                <a:ea typeface="Georgia" pitchFamily="34" charset="-122"/>
                <a:cs typeface="Georgia" pitchFamily="34" charset="-120"/>
              </a:rPr>
              <a:t>.</a:t>
            </a:r>
            <a:endParaRPr lang="en-US" sz="1100" dirty="0"/>
          </a:p>
        </p:txBody>
      </p:sp>
      <p:sp>
        <p:nvSpPr>
          <p:cNvPr id="21" name="R2_lnA242"/>
          <p:cNvSpPr/>
          <p:nvPr/>
        </p:nvSpPr>
        <p:spPr>
          <a:xfrm>
            <a:off x="548640" y="4261331"/>
            <a:ext cx="5349240" cy="447829"/>
          </a:xfrm>
          <a:prstGeom prst="rect">
            <a:avLst/>
          </a:prstGeom>
          <a:solidFill>
            <a:srgbClr val="FFFFFF"/>
          </a:solidFill>
          <a:ln/>
        </p:spPr>
        <p:txBody>
          <a:bodyPr wrap="square" lIns="0" tIns="0" rIns="0" bIns="0" rtlCol="0" anchor="t"/>
          <a:lstStyle/>
          <a:p>
            <a:pPr indent="0" marL="0">
              <a:buNone/>
            </a:pPr>
            <a:r>
              <a:rPr lang="en-US" sz="1100" dirty="0">
                <a:solidFill>
                  <a:srgbClr val="1B2559"/>
                </a:solidFill>
                <a:latin typeface="Georgia" pitchFamily="34" charset="0"/>
                <a:ea typeface="Georgia" pitchFamily="34" charset="-122"/>
                <a:cs typeface="Georgia" pitchFamily="34" charset="-120"/>
              </a:rPr>
              <a:t>It's my second one since arriving in Antarctica. I have to admit it, I smell awful… and my hair is absolutely </a:t>
            </a:r>
            <a:pPr indent="0" marL="0">
              <a:buNone/>
            </a:pPr>
            <a:r>
              <a:rPr lang="en-US" sz="1100" b="1" dirty="0">
                <a:solidFill>
                  <a:srgbClr val="1B2559"/>
                </a:solidFill>
                <a:highlight>
                  <a:srgbClr val="FFE066"/>
                </a:highlight>
                <a:latin typeface="Georgia" pitchFamily="34" charset="0"/>
                <a:ea typeface="Georgia" pitchFamily="34" charset="-122"/>
                <a:cs typeface="Georgia" pitchFamily="34" charset="-120"/>
              </a:rPr>
              <a:t>filthy</a:t>
            </a:r>
            <a:pPr indent="0" marL="0">
              <a:buNone/>
            </a:pPr>
            <a:r>
              <a:rPr lang="en-US" sz="1100" dirty="0">
                <a:solidFill>
                  <a:srgbClr val="1B2559"/>
                </a:solidFill>
                <a:latin typeface="Georgia" pitchFamily="34" charset="0"/>
                <a:ea typeface="Georgia" pitchFamily="34" charset="-122"/>
                <a:cs typeface="Georgia" pitchFamily="34" charset="-120"/>
              </a:rPr>
              <a:t>.</a:t>
            </a:r>
            <a:endParaRPr lang="en-US" sz="1100" dirty="0"/>
          </a:p>
        </p:txBody>
      </p:sp>
      <p:sp>
        <p:nvSpPr>
          <p:cNvPr id="22" name="pf_243"/>
          <p:cNvSpPr/>
          <p:nvPr/>
        </p:nvSpPr>
        <p:spPr>
          <a:xfrm rot="120000">
            <a:off x="6309360" y="1417320"/>
            <a:ext cx="2560320" cy="1508760"/>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3" name="ph_244" descr="/home/claude/lls-course/v2/cache/2b2_kite_ski_jpg_594x341_31.png">    </p:cNvPr>
          <p:cNvPicPr>
            <a:picLocks noChangeAspect="1"/>
          </p:cNvPicPr>
          <p:nvPr/>
        </p:nvPicPr>
        <p:blipFill>
          <a:blip r:embed="rId5"/>
          <a:stretch>
            <a:fillRect/>
          </a:stretch>
        </p:blipFill>
        <p:spPr>
          <a:xfrm rot="120000">
            <a:off x="6355080" y="1463040"/>
            <a:ext cx="2468880" cy="1417320"/>
          </a:xfrm>
          <a:prstGeom prst="rect">
            <a:avLst/>
          </a:prstGeom>
        </p:spPr>
      </p:pic>
      <p:sp>
        <p:nvSpPr>
          <p:cNvPr id="24" name="cd_245"/>
          <p:cNvSpPr/>
          <p:nvPr/>
        </p:nvSpPr>
        <p:spPr>
          <a:xfrm>
            <a:off x="6263640" y="3794760"/>
            <a:ext cx="2651760" cy="960120"/>
          </a:xfrm>
          <a:prstGeom prst="roundRect">
            <a:avLst>
              <a:gd name="adj" fmla="val 13333"/>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25" name="ii_246"/>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6" name="ih_247"/>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27" name="il_248"/>
          <p:cNvSpPr/>
          <p:nvPr/>
        </p:nvSpPr>
        <p:spPr>
          <a:xfrm>
            <a:off x="6830568" y="4288536"/>
            <a:ext cx="1993392" cy="3931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managed to = riuscire a</a:t>
            </a:r>
            <a:endParaRPr lang="en-US" sz="900" dirty="0"/>
          </a:p>
          <a:p>
            <a:pPr marL="152400" indent="-152400">
              <a:spcBef>
                <a:spcPts val="6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awful = terrible · terribile</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49"/>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250"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251"/>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polar challenge 3</a:t>
            </a:r>
            <a:endParaRPr lang="en-US" sz="2500" dirty="0"/>
          </a:p>
        </p:txBody>
      </p:sp>
      <p:pic>
        <p:nvPicPr>
          <p:cNvPr id="6" name="brP_252" descr="/home/claude/lls-course/v2/assets/brush-pink.png">    </p:cNvPr>
          <p:cNvPicPr>
            <a:picLocks noChangeAspect="1"/>
          </p:cNvPicPr>
          <p:nvPr/>
        </p:nvPicPr>
        <p:blipFill>
          <a:blip r:embed="rId3"/>
          <a:stretch>
            <a:fillRect/>
          </a:stretch>
        </p:blipFill>
        <p:spPr>
          <a:xfrm>
            <a:off x="1207008" y="731520"/>
            <a:ext cx="4379976" cy="402336"/>
          </a:xfrm>
          <a:prstGeom prst="rect">
            <a:avLst/>
          </a:prstGeom>
        </p:spPr>
      </p:pic>
      <p:sp>
        <p:nvSpPr>
          <p:cNvPr id="7" name="ins_253"/>
          <p:cNvSpPr/>
          <p:nvPr/>
        </p:nvSpPr>
        <p:spPr>
          <a:xfrm>
            <a:off x="1353312" y="731520"/>
            <a:ext cx="412394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entries 7–9. Guess the missing words.</a:t>
            </a:r>
            <a:endParaRPr lang="en-US" sz="1250" dirty="0"/>
          </a:p>
        </p:txBody>
      </p:sp>
      <p:sp>
        <p:nvSpPr>
          <p:cNvPr id="8" name="insIT_254"/>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i post 7–9. Indovina le parole mancanti.</a:t>
            </a:r>
            <a:endParaRPr lang="en-US" sz="950" dirty="0"/>
          </a:p>
        </p:txBody>
      </p:sp>
      <p:sp>
        <p:nvSpPr>
          <p:cNvPr id="9" name="note_255"/>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GUESS</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TPRS · reading</a:t>
            </a:r>
            <a:endParaRPr lang="en-US" sz="1150" dirty="0"/>
          </a:p>
        </p:txBody>
      </p:sp>
      <p:pic>
        <p:nvPicPr>
          <p:cNvPr id="10" name="logo_25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5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2B-2 · Reading · the blog (3)   ·   📖 SB p.22 · blog entries F, A, G</a:t>
            </a:r>
            <a:endParaRPr lang="en-US" sz="800" dirty="0"/>
          </a:p>
        </p:txBody>
      </p:sp>
      <p:sp>
        <p:nvSpPr>
          <p:cNvPr id="12" name="cd_258"/>
          <p:cNvSpPr/>
          <p:nvPr/>
        </p:nvSpPr>
        <p:spPr>
          <a:xfrm>
            <a:off x="320040" y="1417320"/>
            <a:ext cx="5715000" cy="3337560"/>
          </a:xfrm>
          <a:prstGeom prst="roundRect">
            <a:avLst>
              <a:gd name="adj" fmla="val 3836"/>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sh_259"/>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Entries 7–9 · F · A · G</a:t>
            </a:r>
            <a:endParaRPr lang="en-US" sz="1700" dirty="0"/>
          </a:p>
        </p:txBody>
      </p:sp>
      <p:sp>
        <p:nvSpPr>
          <p:cNvPr id="14" name="ln_260"/>
          <p:cNvSpPr/>
          <p:nvPr/>
        </p:nvSpPr>
        <p:spPr>
          <a:xfrm>
            <a:off x="548640" y="1920240"/>
            <a:ext cx="5349240" cy="549391"/>
          </a:xfrm>
          <a:prstGeom prst="rect">
            <a:avLst/>
          </a:prstGeom>
          <a:noFill/>
          <a:ln/>
        </p:spPr>
        <p:txBody>
          <a:bodyPr wrap="square" lIns="0" tIns="0" rIns="0" bIns="0" rtlCol="0" anchor="t"/>
          <a:lstStyle/>
          <a:p>
            <a:pPr indent="0" marL="0">
              <a:buNone/>
            </a:pPr>
            <a:r>
              <a:rPr lang="en-US" sz="1100" dirty="0">
                <a:solidFill>
                  <a:srgbClr val="1B2559"/>
                </a:solidFill>
                <a:latin typeface="Georgia" pitchFamily="34" charset="0"/>
                <a:ea typeface="Georgia" pitchFamily="34" charset="-122"/>
                <a:cs typeface="Georgia" pitchFamily="34" charset="-120"/>
              </a:rPr>
              <a:t>7 · F   We're now only 150 miles from our destination. For the last few days, we've only been using bikes and cross-country skis, not kite-skis.</a:t>
            </a:r>
            <a:endParaRPr lang="en-US" sz="1100" dirty="0"/>
          </a:p>
        </p:txBody>
      </p:sp>
      <p:sp>
        <p:nvSpPr>
          <p:cNvPr id="15" name="ln_261"/>
          <p:cNvSpPr/>
          <p:nvPr/>
        </p:nvSpPr>
        <p:spPr>
          <a:xfrm>
            <a:off x="548640" y="2469631"/>
            <a:ext cx="5349240" cy="598988"/>
          </a:xfrm>
          <a:prstGeom prst="rect">
            <a:avLst/>
          </a:prstGeom>
          <a:noFill/>
          <a:ln/>
        </p:spPr>
        <p:txBody>
          <a:bodyPr wrap="square" lIns="0" tIns="0" rIns="0" bIns="0" rtlCol="0" anchor="t"/>
          <a:lstStyle/>
          <a:p>
            <a:pPr indent="0" marL="0">
              <a:buNone/>
            </a:pPr>
            <a:r>
              <a:rPr lang="en-US" sz="1100" dirty="0">
                <a:solidFill>
                  <a:srgbClr val="1B2559"/>
                </a:solidFill>
                <a:latin typeface="Georgia" pitchFamily="34" charset="0"/>
                <a:ea typeface="Georgia" pitchFamily="34" charset="-122"/>
                <a:cs typeface="Georgia" pitchFamily="34" charset="-120"/>
              </a:rPr>
              <a:t>Yesterday the morning went well, but then we hit some soft snow and ended up pushing the bikes for six miles. Today we used skis, but progress has been slow.</a:t>
            </a:r>
            <a:endParaRPr lang="en-US" sz="1100" dirty="0"/>
          </a:p>
        </p:txBody>
      </p:sp>
      <p:sp>
        <p:nvSpPr>
          <p:cNvPr id="16" name="ln_262"/>
          <p:cNvSpPr/>
          <p:nvPr/>
        </p:nvSpPr>
        <p:spPr>
          <a:xfrm>
            <a:off x="548640" y="3068619"/>
            <a:ext cx="5349240" cy="511238"/>
          </a:xfrm>
          <a:prstGeom prst="rect">
            <a:avLst/>
          </a:prstGeom>
          <a:noFill/>
          <a:ln/>
        </p:spPr>
        <p:txBody>
          <a:bodyPr wrap="square" lIns="0" tIns="0" rIns="0" bIns="0" rtlCol="0" anchor="t"/>
          <a:lstStyle/>
          <a:p>
            <a:pPr indent="0" marL="0">
              <a:buNone/>
            </a:pPr>
            <a:r>
              <a:rPr lang="en-US" sz="1100" dirty="0">
                <a:solidFill>
                  <a:srgbClr val="1B2559"/>
                </a:solidFill>
                <a:latin typeface="Georgia" pitchFamily="34" charset="0"/>
                <a:ea typeface="Georgia" pitchFamily="34" charset="-122"/>
                <a:cs typeface="Georgia" pitchFamily="34" charset="-120"/>
              </a:rPr>
              <a:t>8 · A   It's over a month since we arrived in Antarctica, and if everything goes to plan, we should reach the South Pole late tonight.</a:t>
            </a:r>
            <a:endParaRPr lang="en-US" sz="1100" dirty="0"/>
          </a:p>
        </p:txBody>
      </p:sp>
      <p:sp>
        <p:nvSpPr>
          <p:cNvPr id="17" name="ln_263"/>
          <p:cNvSpPr/>
          <p:nvPr/>
        </p:nvSpPr>
        <p:spPr>
          <a:xfrm>
            <a:off x="548640" y="3579857"/>
            <a:ext cx="5349240" cy="450195"/>
          </a:xfrm>
          <a:prstGeom prst="rect">
            <a:avLst/>
          </a:prstGeom>
          <a:noFill/>
          <a:ln/>
        </p:spPr>
        <p:txBody>
          <a:bodyPr wrap="square" lIns="0" tIns="0" rIns="0" bIns="0" rtlCol="0" anchor="t"/>
          <a:lstStyle/>
          <a:p>
            <a:pPr indent="0" marL="0">
              <a:buNone/>
            </a:pPr>
            <a:r>
              <a:rPr lang="en-US" sz="1100" dirty="0">
                <a:solidFill>
                  <a:srgbClr val="1B2559"/>
                </a:solidFill>
                <a:latin typeface="Georgia" pitchFamily="34" charset="0"/>
                <a:ea typeface="Georgia" pitchFamily="34" charset="-122"/>
                <a:cs typeface="Georgia" pitchFamily="34" charset="-120"/>
              </a:rPr>
              <a:t>I'm wearing a face mask because of the wind and sun. I may look like </a:t>
            </a:r>
            <a:pPr indent="0" marL="0">
              <a:buNone/>
            </a:pPr>
            <a:r>
              <a:rPr lang="en-US" sz="1100" b="1" dirty="0">
                <a:solidFill>
                  <a:srgbClr val="2EB872"/>
                </a:solidFill>
                <a:latin typeface="Georgia" pitchFamily="34" charset="0"/>
                <a:ea typeface="Georgia" pitchFamily="34" charset="-122"/>
                <a:cs typeface="Georgia" pitchFamily="34" charset="-120"/>
              </a:rPr>
              <a:t> (4) ________ </a:t>
            </a:r>
            <a:pPr indent="0" marL="0">
              <a:buNone/>
            </a:pPr>
            <a:r>
              <a:rPr lang="en-US" sz="1100" dirty="0">
                <a:solidFill>
                  <a:srgbClr val="1B2559"/>
                </a:solidFill>
                <a:latin typeface="Georgia" pitchFamily="34" charset="0"/>
                <a:ea typeface="Georgia" pitchFamily="34" charset="-122"/>
                <a:cs typeface="Georgia" pitchFamily="34" charset="-120"/>
              </a:rPr>
              <a:t>, but it will help me get there.</a:t>
            </a:r>
            <a:endParaRPr lang="en-US" sz="1100" dirty="0"/>
          </a:p>
        </p:txBody>
      </p:sp>
      <p:sp>
        <p:nvSpPr>
          <p:cNvPr id="18" name="R1_lnA264"/>
          <p:cNvSpPr/>
          <p:nvPr/>
        </p:nvSpPr>
        <p:spPr>
          <a:xfrm>
            <a:off x="548640" y="3579857"/>
            <a:ext cx="5349240" cy="450195"/>
          </a:xfrm>
          <a:prstGeom prst="rect">
            <a:avLst/>
          </a:prstGeom>
          <a:solidFill>
            <a:srgbClr val="FFFFFF"/>
          </a:solidFill>
          <a:ln/>
        </p:spPr>
        <p:txBody>
          <a:bodyPr wrap="square" lIns="0" tIns="0" rIns="0" bIns="0" rtlCol="0" anchor="t"/>
          <a:lstStyle/>
          <a:p>
            <a:pPr indent="0" marL="0">
              <a:buNone/>
            </a:pPr>
            <a:r>
              <a:rPr lang="en-US" sz="1100" dirty="0">
                <a:solidFill>
                  <a:srgbClr val="1B2559"/>
                </a:solidFill>
                <a:latin typeface="Georgia" pitchFamily="34" charset="0"/>
                <a:ea typeface="Georgia" pitchFamily="34" charset="-122"/>
                <a:cs typeface="Georgia" pitchFamily="34" charset="-120"/>
              </a:rPr>
              <a:t>I'm wearing a face mask because of the wind and sun. I may look like </a:t>
            </a:r>
            <a:pPr indent="0" marL="0">
              <a:buNone/>
            </a:pPr>
            <a:r>
              <a:rPr lang="en-US" sz="1100" b="1" dirty="0">
                <a:solidFill>
                  <a:srgbClr val="1B2559"/>
                </a:solidFill>
                <a:highlight>
                  <a:srgbClr val="FFE066"/>
                </a:highlight>
                <a:latin typeface="Georgia" pitchFamily="34" charset="0"/>
                <a:ea typeface="Georgia" pitchFamily="34" charset="-122"/>
                <a:cs typeface="Georgia" pitchFamily="34" charset="-120"/>
              </a:rPr>
              <a:t>Darth Vader</a:t>
            </a:r>
            <a:pPr indent="0" marL="0">
              <a:buNone/>
            </a:pPr>
            <a:r>
              <a:rPr lang="en-US" sz="1100" dirty="0">
                <a:solidFill>
                  <a:srgbClr val="1B2559"/>
                </a:solidFill>
                <a:latin typeface="Georgia" pitchFamily="34" charset="0"/>
                <a:ea typeface="Georgia" pitchFamily="34" charset="-122"/>
                <a:cs typeface="Georgia" pitchFamily="34" charset="-120"/>
              </a:rPr>
              <a:t>, but it will help me get there.</a:t>
            </a:r>
            <a:endParaRPr lang="en-US" sz="1100" dirty="0"/>
          </a:p>
        </p:txBody>
      </p:sp>
      <p:sp>
        <p:nvSpPr>
          <p:cNvPr id="19" name="ln_265"/>
          <p:cNvSpPr/>
          <p:nvPr/>
        </p:nvSpPr>
        <p:spPr>
          <a:xfrm>
            <a:off x="548640" y="4030052"/>
            <a:ext cx="5349240" cy="213652"/>
          </a:xfrm>
          <a:prstGeom prst="rect">
            <a:avLst/>
          </a:prstGeom>
          <a:noFill/>
          <a:ln/>
        </p:spPr>
        <p:txBody>
          <a:bodyPr wrap="square" lIns="0" tIns="0" rIns="0" bIns="0" rtlCol="0" anchor="t"/>
          <a:lstStyle/>
          <a:p>
            <a:pPr indent="0" marL="0">
              <a:buNone/>
            </a:pPr>
            <a:r>
              <a:rPr lang="en-US" sz="1100" dirty="0">
                <a:solidFill>
                  <a:srgbClr val="1B2559"/>
                </a:solidFill>
                <a:latin typeface="Georgia" pitchFamily="34" charset="0"/>
                <a:ea typeface="Georgia" pitchFamily="34" charset="-122"/>
                <a:cs typeface="Georgia" pitchFamily="34" charset="-120"/>
              </a:rPr>
              <a:t>9 · G   We've completed our 500-mile journey in 18 days!</a:t>
            </a:r>
            <a:endParaRPr lang="en-US" sz="1100" dirty="0"/>
          </a:p>
        </p:txBody>
      </p:sp>
      <p:sp>
        <p:nvSpPr>
          <p:cNvPr id="20" name="ln_266"/>
          <p:cNvSpPr/>
          <p:nvPr/>
        </p:nvSpPr>
        <p:spPr>
          <a:xfrm>
            <a:off x="548640" y="4243704"/>
            <a:ext cx="5349240" cy="465456"/>
          </a:xfrm>
          <a:prstGeom prst="rect">
            <a:avLst/>
          </a:prstGeom>
          <a:noFill/>
          <a:ln/>
        </p:spPr>
        <p:txBody>
          <a:bodyPr wrap="square" lIns="0" tIns="0" rIns="0" bIns="0" rtlCol="0" anchor="t"/>
          <a:lstStyle/>
          <a:p>
            <a:pPr indent="0" marL="0">
              <a:buNone/>
            </a:pPr>
            <a:r>
              <a:rPr lang="en-US" sz="1100" dirty="0">
                <a:solidFill>
                  <a:srgbClr val="1B2559"/>
                </a:solidFill>
                <a:latin typeface="Georgia" pitchFamily="34" charset="0"/>
                <a:ea typeface="Georgia" pitchFamily="34" charset="-122"/>
                <a:cs typeface="Georgia" pitchFamily="34" charset="-120"/>
              </a:rPr>
              <a:t>When I talked to Dad on the phone, saying we'd done it, I </a:t>
            </a:r>
            <a:pPr indent="0" marL="0">
              <a:buNone/>
            </a:pPr>
            <a:r>
              <a:rPr lang="en-US" sz="1100" b="1" dirty="0">
                <a:solidFill>
                  <a:srgbClr val="2EB872"/>
                </a:solidFill>
                <a:latin typeface="Georgia" pitchFamily="34" charset="0"/>
                <a:ea typeface="Georgia" pitchFamily="34" charset="-122"/>
                <a:cs typeface="Georgia" pitchFamily="34" charset="-120"/>
              </a:rPr>
              <a:t> (5) ________ </a:t>
            </a:r>
            <a:pPr indent="0" marL="0">
              <a:buNone/>
            </a:pPr>
            <a:r>
              <a:rPr lang="en-US" sz="1100" dirty="0">
                <a:solidFill>
                  <a:srgbClr val="1B2559"/>
                </a:solidFill>
                <a:latin typeface="Georgia" pitchFamily="34" charset="0"/>
                <a:ea typeface="Georgia" pitchFamily="34" charset="-122"/>
                <a:cs typeface="Georgia" pitchFamily="34" charset="-120"/>
              </a:rPr>
              <a:t>. This is the biggest thing I have ever been part of.</a:t>
            </a:r>
            <a:endParaRPr lang="en-US" sz="1100" dirty="0"/>
          </a:p>
        </p:txBody>
      </p:sp>
      <p:sp>
        <p:nvSpPr>
          <p:cNvPr id="21" name="R2_lnA267"/>
          <p:cNvSpPr/>
          <p:nvPr/>
        </p:nvSpPr>
        <p:spPr>
          <a:xfrm>
            <a:off x="548640" y="4243704"/>
            <a:ext cx="5349240" cy="465456"/>
          </a:xfrm>
          <a:prstGeom prst="rect">
            <a:avLst/>
          </a:prstGeom>
          <a:solidFill>
            <a:srgbClr val="FFFFFF"/>
          </a:solidFill>
          <a:ln/>
        </p:spPr>
        <p:txBody>
          <a:bodyPr wrap="square" lIns="0" tIns="0" rIns="0" bIns="0" rtlCol="0" anchor="t"/>
          <a:lstStyle/>
          <a:p>
            <a:pPr indent="0" marL="0">
              <a:buNone/>
            </a:pPr>
            <a:r>
              <a:rPr lang="en-US" sz="1100" dirty="0">
                <a:solidFill>
                  <a:srgbClr val="1B2559"/>
                </a:solidFill>
                <a:latin typeface="Georgia" pitchFamily="34" charset="0"/>
                <a:ea typeface="Georgia" pitchFamily="34" charset="-122"/>
                <a:cs typeface="Georgia" pitchFamily="34" charset="-120"/>
              </a:rPr>
              <a:t>When I talked to Dad on the phone, saying we'd done it, I </a:t>
            </a:r>
            <a:pPr indent="0" marL="0">
              <a:buNone/>
            </a:pPr>
            <a:r>
              <a:rPr lang="en-US" sz="1100" b="1" dirty="0">
                <a:solidFill>
                  <a:srgbClr val="1B2559"/>
                </a:solidFill>
                <a:highlight>
                  <a:srgbClr val="FFE066"/>
                </a:highlight>
                <a:latin typeface="Georgia" pitchFamily="34" charset="0"/>
                <a:ea typeface="Georgia" pitchFamily="34" charset="-122"/>
                <a:cs typeface="Georgia" pitchFamily="34" charset="-120"/>
              </a:rPr>
              <a:t>cried</a:t>
            </a:r>
            <a:pPr indent="0" marL="0">
              <a:buNone/>
            </a:pPr>
            <a:r>
              <a:rPr lang="en-US" sz="1100" dirty="0">
                <a:solidFill>
                  <a:srgbClr val="1B2559"/>
                </a:solidFill>
                <a:latin typeface="Georgia" pitchFamily="34" charset="0"/>
                <a:ea typeface="Georgia" pitchFamily="34" charset="-122"/>
                <a:cs typeface="Georgia" pitchFamily="34" charset="-120"/>
              </a:rPr>
              <a:t>. This is the biggest thing I have ever been part of.</a:t>
            </a:r>
            <a:endParaRPr lang="en-US" sz="1100" dirty="0"/>
          </a:p>
        </p:txBody>
      </p:sp>
      <p:sp>
        <p:nvSpPr>
          <p:cNvPr id="22" name="pf_268"/>
          <p:cNvSpPr/>
          <p:nvPr/>
        </p:nvSpPr>
        <p:spPr>
          <a:xfrm rot="120000">
            <a:off x="6309360" y="1417320"/>
            <a:ext cx="2560320" cy="1508760"/>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3" name="ph_269" descr="/home/claude/lls-course/v2/cache/2b2_antarctic_tent_jpg_594x341_31.png">    </p:cNvPr>
          <p:cNvPicPr>
            <a:picLocks noChangeAspect="1"/>
          </p:cNvPicPr>
          <p:nvPr/>
        </p:nvPicPr>
        <p:blipFill>
          <a:blip r:embed="rId5"/>
          <a:stretch>
            <a:fillRect/>
          </a:stretch>
        </p:blipFill>
        <p:spPr>
          <a:xfrm rot="120000">
            <a:off x="6355080" y="1463040"/>
            <a:ext cx="2468880" cy="1417320"/>
          </a:xfrm>
          <a:prstGeom prst="rect">
            <a:avLst/>
          </a:prstGeom>
        </p:spPr>
      </p:pic>
      <p:sp>
        <p:nvSpPr>
          <p:cNvPr id="24" name="cd_270"/>
          <p:cNvSpPr/>
          <p:nvPr/>
        </p:nvSpPr>
        <p:spPr>
          <a:xfrm>
            <a:off x="6263640" y="3794760"/>
            <a:ext cx="2651760" cy="960120"/>
          </a:xfrm>
          <a:prstGeom prst="roundRect">
            <a:avLst>
              <a:gd name="adj" fmla="val 13333"/>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25" name="ii_271"/>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6" name="ih_272"/>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27" name="il_273"/>
          <p:cNvSpPr/>
          <p:nvPr/>
        </p:nvSpPr>
        <p:spPr>
          <a:xfrm>
            <a:off x="6830568" y="4288536"/>
            <a:ext cx="1993392" cy="3931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progress = progressi</a:t>
            </a:r>
            <a:endParaRPr lang="en-US" sz="700" dirty="0"/>
          </a:p>
          <a:p>
            <a:pPr marL="152400" indent="-152400">
              <a:spcBef>
                <a:spcPts val="600"/>
              </a:spcBef>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ended up pushing = alla fine abbiamo spinto</a:t>
            </a:r>
            <a:endParaRPr lang="en-US" sz="7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74"/>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275" descr="/home/claude/lls-course/v2/assets/brush-yellow.png">    </p:cNvPr>
          <p:cNvPicPr>
            <a:picLocks noChangeAspect="1"/>
          </p:cNvPicPr>
          <p:nvPr/>
        </p:nvPicPr>
        <p:blipFill>
          <a:blip r:embed="rId2"/>
          <a:stretch>
            <a:fillRect/>
          </a:stretch>
        </p:blipFill>
        <p:spPr>
          <a:xfrm>
            <a:off x="1097280" y="146304"/>
            <a:ext cx="2618842" cy="621792"/>
          </a:xfrm>
          <a:prstGeom prst="rect">
            <a:avLst/>
          </a:prstGeom>
        </p:spPr>
      </p:pic>
      <p:sp>
        <p:nvSpPr>
          <p:cNvPr id="5" name="title_276"/>
          <p:cNvSpPr/>
          <p:nvPr/>
        </p:nvSpPr>
        <p:spPr>
          <a:xfrm>
            <a:off x="1261872" y="164592"/>
            <a:ext cx="234452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Which entry?</a:t>
            </a:r>
            <a:endParaRPr lang="en-US" sz="2500" dirty="0"/>
          </a:p>
        </p:txBody>
      </p:sp>
      <p:pic>
        <p:nvPicPr>
          <p:cNvPr id="6" name="brP_277" descr="/home/claude/lls-course/v2/assets/brush-pink.png">    </p:cNvPr>
          <p:cNvPicPr>
            <a:picLocks noChangeAspect="1"/>
          </p:cNvPicPr>
          <p:nvPr/>
        </p:nvPicPr>
        <p:blipFill>
          <a:blip r:embed="rId3"/>
          <a:stretch>
            <a:fillRect/>
          </a:stretch>
        </p:blipFill>
        <p:spPr>
          <a:xfrm>
            <a:off x="1207008" y="731520"/>
            <a:ext cx="4032504" cy="402336"/>
          </a:xfrm>
          <a:prstGeom prst="rect">
            <a:avLst/>
          </a:prstGeom>
        </p:spPr>
      </p:pic>
      <p:sp>
        <p:nvSpPr>
          <p:cNvPr id="7" name="ins_278"/>
          <p:cNvSpPr/>
          <p:nvPr/>
        </p:nvSpPr>
        <p:spPr>
          <a:xfrm>
            <a:off x="1353312" y="731520"/>
            <a:ext cx="377647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In which entry does Helen talk about…?</a:t>
            </a:r>
            <a:endParaRPr lang="en-US" sz="1250" dirty="0"/>
          </a:p>
        </p:txBody>
      </p:sp>
      <p:sp>
        <p:nvSpPr>
          <p:cNvPr id="8" name="insIT_27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In quale post Helen parla di…?</a:t>
            </a:r>
            <a:endParaRPr lang="en-US" sz="950" dirty="0"/>
          </a:p>
        </p:txBody>
      </p:sp>
      <p:sp>
        <p:nvSpPr>
          <p:cNvPr id="9" name="note_280"/>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FIND</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TROVA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Guided discovery</a:t>
            </a:r>
            <a:endParaRPr lang="en-US" sz="1250" dirty="0"/>
          </a:p>
        </p:txBody>
      </p:sp>
      <p:pic>
        <p:nvPicPr>
          <p:cNvPr id="10" name="logo_28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8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2B-2 · Reading · detail   ·   📖 SB p.22 · 6d, 6e</a:t>
            </a:r>
            <a:endParaRPr lang="en-US" sz="800" dirty="0"/>
          </a:p>
        </p:txBody>
      </p:sp>
      <p:sp>
        <p:nvSpPr>
          <p:cNvPr id="12" name="cd_283"/>
          <p:cNvSpPr/>
          <p:nvPr/>
        </p:nvSpPr>
        <p:spPr>
          <a:xfrm>
            <a:off x="320040" y="1417320"/>
            <a:ext cx="2697480" cy="969264"/>
          </a:xfrm>
          <a:prstGeom prst="roundRect">
            <a:avLst>
              <a:gd name="adj" fmla="val 1320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284"/>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285"/>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5" name="il_286"/>
          <p:cNvSpPr/>
          <p:nvPr/>
        </p:nvSpPr>
        <p:spPr>
          <a:xfrm>
            <a:off x="886968" y="1911096"/>
            <a:ext cx="2039112" cy="402336"/>
          </a:xfrm>
          <a:prstGeom prst="rect">
            <a:avLst/>
          </a:prstGeom>
          <a:noFill/>
          <a:ln/>
        </p:spPr>
        <p:txBody>
          <a:bodyPr wrap="square" lIns="0" tIns="0" rIns="0" bIns="0" rtlCol="0" anchor="t">
            <a:normAutofit/>
          </a:bodyPr>
          <a:lstStyle/>
          <a:p>
            <a:pPr indent="0" marL="0">
              <a:spcAft>
                <a:spcPts val="200"/>
              </a:spcAft>
              <a:buNone/>
            </a:pPr>
            <a:r>
              <a:rPr lang="en-US" sz="950" dirty="0">
                <a:solidFill>
                  <a:srgbClr val="1B2559"/>
                </a:solidFill>
                <a:latin typeface="Segoe UI Semibold" pitchFamily="34" charset="0"/>
                <a:ea typeface="Segoe UI Semibold" pitchFamily="34" charset="-122"/>
                <a:cs typeface="Segoe UI Semibold" pitchFamily="34" charset="-120"/>
              </a:rPr>
              <a:t>looking forward to a wash → H · "hot water… a good wash"</a:t>
            </a:r>
            <a:endParaRPr lang="en-US" sz="950" dirty="0"/>
          </a:p>
        </p:txBody>
      </p:sp>
      <p:sp>
        <p:nvSpPr>
          <p:cNvPr id="16" name="pf_287"/>
          <p:cNvSpPr/>
          <p:nvPr/>
        </p:nvSpPr>
        <p:spPr>
          <a:xfrm rot="-90000">
            <a:off x="365760" y="2569464"/>
            <a:ext cx="2606040" cy="2093976"/>
          </a:xfrm>
          <a:prstGeom prst="roundRect">
            <a:avLst>
              <a:gd name="adj" fmla="val 74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7" name="ph_288" descr="/home/claude/lls-course/v2/cache/2b2_exhausted_jpg_605x482_31.png">    </p:cNvPr>
          <p:cNvPicPr>
            <a:picLocks noChangeAspect="1"/>
          </p:cNvPicPr>
          <p:nvPr/>
        </p:nvPicPr>
        <p:blipFill>
          <a:blip r:embed="rId5"/>
          <a:stretch>
            <a:fillRect/>
          </a:stretch>
        </p:blipFill>
        <p:spPr>
          <a:xfrm rot="-90000">
            <a:off x="411480" y="2615184"/>
            <a:ext cx="2514600" cy="2002536"/>
          </a:xfrm>
          <a:prstGeom prst="rect">
            <a:avLst/>
          </a:prstGeom>
        </p:spPr>
      </p:pic>
      <p:sp>
        <p:nvSpPr>
          <p:cNvPr id="18" name="bd_289"/>
          <p:cNvSpPr/>
          <p:nvPr/>
        </p:nvSpPr>
        <p:spPr>
          <a:xfrm>
            <a:off x="3246120" y="144475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9" name="q_290"/>
          <p:cNvSpPr/>
          <p:nvPr/>
        </p:nvSpPr>
        <p:spPr>
          <a:xfrm>
            <a:off x="3630168" y="1417320"/>
            <a:ext cx="2103120" cy="365760"/>
          </a:xfrm>
          <a:prstGeom prst="roundRect">
            <a:avLst>
              <a:gd name="adj" fmla="val 25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feeling very emotional</a:t>
            </a:r>
            <a:endParaRPr lang="en-US" sz="950" dirty="0"/>
          </a:p>
        </p:txBody>
      </p:sp>
      <p:sp>
        <p:nvSpPr>
          <p:cNvPr id="20" name="R1_chip291"/>
          <p:cNvSpPr/>
          <p:nvPr/>
        </p:nvSpPr>
        <p:spPr>
          <a:xfrm>
            <a:off x="5806440" y="1417320"/>
            <a:ext cx="3063240" cy="365760"/>
          </a:xfrm>
          <a:prstGeom prst="roundRect">
            <a:avLst>
              <a:gd name="adj" fmla="val 25000"/>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G · "I cried"</a:t>
            </a:r>
            <a:endParaRPr lang="en-US" sz="950" dirty="0"/>
          </a:p>
        </p:txBody>
      </p:sp>
      <p:sp>
        <p:nvSpPr>
          <p:cNvPr id="21" name="bd_292"/>
          <p:cNvSpPr/>
          <p:nvPr/>
        </p:nvSpPr>
        <p:spPr>
          <a:xfrm>
            <a:off x="3246120" y="185623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2" name="q_293"/>
          <p:cNvSpPr/>
          <p:nvPr/>
        </p:nvSpPr>
        <p:spPr>
          <a:xfrm>
            <a:off x="3630168" y="1828800"/>
            <a:ext cx="2103120" cy="365760"/>
          </a:xfrm>
          <a:prstGeom prst="roundRect">
            <a:avLst>
              <a:gd name="adj" fmla="val 25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how beautiful Antarctica is</a:t>
            </a:r>
            <a:endParaRPr lang="en-US" sz="950" dirty="0"/>
          </a:p>
        </p:txBody>
      </p:sp>
      <p:sp>
        <p:nvSpPr>
          <p:cNvPr id="23" name="R2_chip294"/>
          <p:cNvSpPr/>
          <p:nvPr/>
        </p:nvSpPr>
        <p:spPr>
          <a:xfrm>
            <a:off x="5806440" y="1828800"/>
            <a:ext cx="3063240" cy="365760"/>
          </a:xfrm>
          <a:prstGeom prst="roundRect">
            <a:avLst>
              <a:gd name="adj" fmla="val 25000"/>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B · "the scenery was incredible"</a:t>
            </a:r>
            <a:endParaRPr lang="en-US" sz="950" dirty="0"/>
          </a:p>
        </p:txBody>
      </p:sp>
      <p:sp>
        <p:nvSpPr>
          <p:cNvPr id="24" name="bd_295"/>
          <p:cNvSpPr/>
          <p:nvPr/>
        </p:nvSpPr>
        <p:spPr>
          <a:xfrm>
            <a:off x="3246120" y="22677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5" name="q_296"/>
          <p:cNvSpPr/>
          <p:nvPr/>
        </p:nvSpPr>
        <p:spPr>
          <a:xfrm>
            <a:off x="3630168" y="2240280"/>
            <a:ext cx="2103120" cy="365760"/>
          </a:xfrm>
          <a:prstGeom prst="roundRect">
            <a:avLst>
              <a:gd name="adj" fmla="val 25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the same clothes every day</a:t>
            </a:r>
            <a:endParaRPr lang="en-US" sz="950" dirty="0"/>
          </a:p>
        </p:txBody>
      </p:sp>
      <p:sp>
        <p:nvSpPr>
          <p:cNvPr id="26" name="R3_chip297"/>
          <p:cNvSpPr/>
          <p:nvPr/>
        </p:nvSpPr>
        <p:spPr>
          <a:xfrm>
            <a:off x="5806440" y="2240280"/>
            <a:ext cx="3063240" cy="365760"/>
          </a:xfrm>
          <a:prstGeom prst="roundRect">
            <a:avLst>
              <a:gd name="adj" fmla="val 25000"/>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I · "no clean clothes for three weeks"</a:t>
            </a:r>
            <a:endParaRPr lang="en-US" sz="950" dirty="0"/>
          </a:p>
        </p:txBody>
      </p:sp>
      <p:sp>
        <p:nvSpPr>
          <p:cNvPr id="27" name="bd_298"/>
          <p:cNvSpPr/>
          <p:nvPr/>
        </p:nvSpPr>
        <p:spPr>
          <a:xfrm>
            <a:off x="3246120" y="267919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8" name="q_299"/>
          <p:cNvSpPr/>
          <p:nvPr/>
        </p:nvSpPr>
        <p:spPr>
          <a:xfrm>
            <a:off x="3630168" y="2651760"/>
            <a:ext cx="2103120" cy="365760"/>
          </a:xfrm>
          <a:prstGeom prst="roundRect">
            <a:avLst>
              <a:gd name="adj" fmla="val 25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travelling fast for the first time</a:t>
            </a:r>
            <a:endParaRPr lang="en-US" sz="950" dirty="0"/>
          </a:p>
        </p:txBody>
      </p:sp>
      <p:sp>
        <p:nvSpPr>
          <p:cNvPr id="29" name="R4_chip300"/>
          <p:cNvSpPr/>
          <p:nvPr/>
        </p:nvSpPr>
        <p:spPr>
          <a:xfrm>
            <a:off x="5806440" y="2651760"/>
            <a:ext cx="3063240" cy="365760"/>
          </a:xfrm>
          <a:prstGeom prst="roundRect">
            <a:avLst>
              <a:gd name="adj" fmla="val 25000"/>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E · "straight away… travelling fast"</a:t>
            </a:r>
            <a:endParaRPr lang="en-US" sz="950" dirty="0"/>
          </a:p>
        </p:txBody>
      </p:sp>
      <p:sp>
        <p:nvSpPr>
          <p:cNvPr id="30" name="bd_301"/>
          <p:cNvSpPr/>
          <p:nvPr/>
        </p:nvSpPr>
        <p:spPr>
          <a:xfrm>
            <a:off x="3246120" y="309067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1" name="q_302"/>
          <p:cNvSpPr/>
          <p:nvPr/>
        </p:nvSpPr>
        <p:spPr>
          <a:xfrm>
            <a:off x="3630168" y="3063240"/>
            <a:ext cx="2103120" cy="365760"/>
          </a:xfrm>
          <a:prstGeom prst="roundRect">
            <a:avLst>
              <a:gd name="adj" fmla="val 25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looking like a sci-fi character</a:t>
            </a:r>
            <a:endParaRPr lang="en-US" sz="950" dirty="0"/>
          </a:p>
        </p:txBody>
      </p:sp>
      <p:sp>
        <p:nvSpPr>
          <p:cNvPr id="32" name="R5_chip303"/>
          <p:cNvSpPr/>
          <p:nvPr/>
        </p:nvSpPr>
        <p:spPr>
          <a:xfrm>
            <a:off x="5806440" y="3063240"/>
            <a:ext cx="3063240" cy="365760"/>
          </a:xfrm>
          <a:prstGeom prst="roundRect">
            <a:avLst>
              <a:gd name="adj" fmla="val 25000"/>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A · "I may look like Darth Vader"</a:t>
            </a:r>
            <a:endParaRPr lang="en-US" sz="950" dirty="0"/>
          </a:p>
        </p:txBody>
      </p:sp>
      <p:sp>
        <p:nvSpPr>
          <p:cNvPr id="33" name="bd_304"/>
          <p:cNvSpPr/>
          <p:nvPr/>
        </p:nvSpPr>
        <p:spPr>
          <a:xfrm>
            <a:off x="3246120" y="350215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4" name="q_305"/>
          <p:cNvSpPr/>
          <p:nvPr/>
        </p:nvSpPr>
        <p:spPr>
          <a:xfrm>
            <a:off x="3630168" y="3474720"/>
            <a:ext cx="2103120" cy="365760"/>
          </a:xfrm>
          <a:prstGeom prst="roundRect">
            <a:avLst>
              <a:gd name="adj" fmla="val 25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not able to go outside</a:t>
            </a:r>
            <a:endParaRPr lang="en-US" sz="950" dirty="0"/>
          </a:p>
        </p:txBody>
      </p:sp>
      <p:sp>
        <p:nvSpPr>
          <p:cNvPr id="35" name="R6_chip306"/>
          <p:cNvSpPr/>
          <p:nvPr/>
        </p:nvSpPr>
        <p:spPr>
          <a:xfrm>
            <a:off x="5806440" y="3474720"/>
            <a:ext cx="3063240" cy="365760"/>
          </a:xfrm>
          <a:prstGeom prst="roundRect">
            <a:avLst>
              <a:gd name="adj" fmla="val 25000"/>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D · "we've had to stay in the tent"</a:t>
            </a:r>
            <a:endParaRPr lang="en-US" sz="950" dirty="0"/>
          </a:p>
        </p:txBody>
      </p:sp>
      <p:sp>
        <p:nvSpPr>
          <p:cNvPr id="36" name="bd_307"/>
          <p:cNvSpPr/>
          <p:nvPr/>
        </p:nvSpPr>
        <p:spPr>
          <a:xfrm>
            <a:off x="3246120" y="391363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37" name="q_308"/>
          <p:cNvSpPr/>
          <p:nvPr/>
        </p:nvSpPr>
        <p:spPr>
          <a:xfrm>
            <a:off x="3630168" y="3886200"/>
            <a:ext cx="2103120" cy="365760"/>
          </a:xfrm>
          <a:prstGeom prst="roundRect">
            <a:avLst>
              <a:gd name="adj" fmla="val 25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stopping cycling: very tired</a:t>
            </a:r>
            <a:endParaRPr lang="en-US" sz="950" dirty="0"/>
          </a:p>
        </p:txBody>
      </p:sp>
      <p:sp>
        <p:nvSpPr>
          <p:cNvPr id="38" name="R7_chip309"/>
          <p:cNvSpPr/>
          <p:nvPr/>
        </p:nvSpPr>
        <p:spPr>
          <a:xfrm>
            <a:off x="5806440" y="3886200"/>
            <a:ext cx="3063240" cy="365760"/>
          </a:xfrm>
          <a:prstGeom prst="roundRect">
            <a:avLst>
              <a:gd name="adj" fmla="val 25000"/>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C · "I was completely exhausted"</a:t>
            </a:r>
            <a:endParaRPr lang="en-US" sz="950" dirty="0"/>
          </a:p>
        </p:txBody>
      </p:sp>
      <p:sp>
        <p:nvSpPr>
          <p:cNvPr id="39" name="bd_310"/>
          <p:cNvSpPr/>
          <p:nvPr/>
        </p:nvSpPr>
        <p:spPr>
          <a:xfrm>
            <a:off x="3246120" y="432511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8</a:t>
            </a:r>
            <a:endParaRPr lang="en-US" sz="1000" dirty="0"/>
          </a:p>
        </p:txBody>
      </p:sp>
      <p:sp>
        <p:nvSpPr>
          <p:cNvPr id="40" name="q_311"/>
          <p:cNvSpPr/>
          <p:nvPr/>
        </p:nvSpPr>
        <p:spPr>
          <a:xfrm>
            <a:off x="3630168" y="4297680"/>
            <a:ext cx="2103120" cy="365760"/>
          </a:xfrm>
          <a:prstGeom prst="roundRect">
            <a:avLst>
              <a:gd name="adj" fmla="val 25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stopping one kind of transport</a:t>
            </a:r>
            <a:endParaRPr lang="en-US" sz="950" dirty="0"/>
          </a:p>
        </p:txBody>
      </p:sp>
      <p:sp>
        <p:nvSpPr>
          <p:cNvPr id="41" name="R8_chip312"/>
          <p:cNvSpPr/>
          <p:nvPr/>
        </p:nvSpPr>
        <p:spPr>
          <a:xfrm>
            <a:off x="5806440" y="4297680"/>
            <a:ext cx="3063240" cy="365760"/>
          </a:xfrm>
          <a:prstGeom prst="roundRect">
            <a:avLst>
              <a:gd name="adj" fmla="val 25000"/>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F · "not kite-skis"</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4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4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400"/>
                                        <p:tgtEl>
                                          <p:spTgt spid="3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fade">
                                      <p:cBhvr>
                                        <p:cTn id="42"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13"/>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14" descr="/home/claude/lls-course/v2/assets/brush-yellow.png">    </p:cNvPr>
          <p:cNvPicPr>
            <a:picLocks noChangeAspect="1"/>
          </p:cNvPicPr>
          <p:nvPr/>
        </p:nvPicPr>
        <p:blipFill>
          <a:blip r:embed="rId2"/>
          <a:stretch>
            <a:fillRect/>
          </a:stretch>
        </p:blipFill>
        <p:spPr>
          <a:xfrm>
            <a:off x="1097280" y="146304"/>
            <a:ext cx="4663440" cy="621792"/>
          </a:xfrm>
          <a:prstGeom prst="rect">
            <a:avLst/>
          </a:prstGeom>
        </p:spPr>
      </p:pic>
      <p:sp>
        <p:nvSpPr>
          <p:cNvPr id="5" name="title_315"/>
          <p:cNvSpPr/>
          <p:nvPr/>
        </p:nvSpPr>
        <p:spPr>
          <a:xfrm>
            <a:off x="1261872" y="164592"/>
            <a:ext cx="438912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Not just cold – freezing!</a:t>
            </a:r>
            <a:endParaRPr lang="en-US" sz="2500" dirty="0"/>
          </a:p>
        </p:txBody>
      </p:sp>
      <p:pic>
        <p:nvPicPr>
          <p:cNvPr id="6" name="brP_316" descr="/home/claude/lls-course/v2/assets/brush-pink.png">    </p:cNvPr>
          <p:cNvPicPr>
            <a:picLocks noChangeAspect="1"/>
          </p:cNvPicPr>
          <p:nvPr/>
        </p:nvPicPr>
        <p:blipFill>
          <a:blip r:embed="rId3"/>
          <a:stretch>
            <a:fillRect/>
          </a:stretch>
        </p:blipFill>
        <p:spPr>
          <a:xfrm>
            <a:off x="1207008" y="731520"/>
            <a:ext cx="4206240" cy="402336"/>
          </a:xfrm>
          <a:prstGeom prst="rect">
            <a:avLst/>
          </a:prstGeom>
        </p:spPr>
      </p:pic>
      <p:sp>
        <p:nvSpPr>
          <p:cNvPr id="7" name="ins_317"/>
          <p:cNvSpPr/>
          <p:nvPr/>
        </p:nvSpPr>
        <p:spPr>
          <a:xfrm>
            <a:off x="1353312" y="731520"/>
            <a:ext cx="39502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Write the normal adjective. Then listen.</a:t>
            </a:r>
            <a:endParaRPr lang="en-US" sz="1250" dirty="0"/>
          </a:p>
        </p:txBody>
      </p:sp>
      <p:sp>
        <p:nvSpPr>
          <p:cNvPr id="8" name="insIT_31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Scrivi l'aggettivo normale. Poi ascolta.</a:t>
            </a:r>
            <a:endParaRPr lang="en-US" sz="950" dirty="0"/>
          </a:p>
        </p:txBody>
      </p:sp>
      <p:sp>
        <p:nvSpPr>
          <p:cNvPr id="9" name="note_31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LISTEN</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FILL THE GAPS</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Listening for detail</a:t>
            </a:r>
            <a:endParaRPr lang="en-US" sz="1150" dirty="0"/>
          </a:p>
        </p:txBody>
      </p:sp>
      <p:pic>
        <p:nvPicPr>
          <p:cNvPr id="10" name="logo_32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2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2B-2 · Vocabulary · strong adjectives (1)   ·   📖 SB p.23 · 7a, 7b, 7c · audio 2.20</a:t>
            </a:r>
            <a:endParaRPr lang="en-US" sz="800" dirty="0"/>
          </a:p>
        </p:txBody>
      </p:sp>
      <p:sp>
        <p:nvSpPr>
          <p:cNvPr id="12" name="ap_322"/>
          <p:cNvSpPr/>
          <p:nvPr/>
        </p:nvSpPr>
        <p:spPr>
          <a:xfrm>
            <a:off x="365760" y="1417320"/>
            <a:ext cx="219456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2.20  ·  pause after each one</a:t>
            </a:r>
            <a:endParaRPr lang="en-US" sz="1100" dirty="0"/>
          </a:p>
        </p:txBody>
      </p:sp>
      <p:sp>
        <p:nvSpPr>
          <p:cNvPr id="13" name="ah_323"/>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4"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5" name="ah_324"/>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6"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17" name="pf_325"/>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8" name="ph_326" descr="/home/claude/lls-course/v2/cache/2b2_furious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19" name="cd_327"/>
          <p:cNvSpPr/>
          <p:nvPr/>
        </p:nvSpPr>
        <p:spPr>
          <a:xfrm>
            <a:off x="320040" y="4023360"/>
            <a:ext cx="2788920" cy="731520"/>
          </a:xfrm>
          <a:prstGeom prst="roundRect">
            <a:avLst>
              <a:gd name="adj" fmla="val 17500"/>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20" name="ii_328"/>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329"/>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2" name="gq_330"/>
          <p:cNvSpPr/>
          <p:nvPr/>
        </p:nvSpPr>
        <p:spPr>
          <a:xfrm>
            <a:off x="3383280" y="1417320"/>
            <a:ext cx="333756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Was Lisa's father ___ about the car accident? – Yes, he was furious!</a:t>
            </a:r>
            <a:endParaRPr lang="en-US" sz="1200" dirty="0"/>
          </a:p>
        </p:txBody>
      </p:sp>
      <p:sp>
        <p:nvSpPr>
          <p:cNvPr id="23" name="R1_chip331"/>
          <p:cNvSpPr/>
          <p:nvPr/>
        </p:nvSpPr>
        <p:spPr>
          <a:xfrm>
            <a:off x="6812280" y="1417320"/>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angry</a:t>
            </a:r>
            <a:endParaRPr lang="en-US" sz="1200" dirty="0"/>
          </a:p>
        </p:txBody>
      </p:sp>
      <p:sp>
        <p:nvSpPr>
          <p:cNvPr id="24" name="gq_332"/>
          <p:cNvSpPr/>
          <p:nvPr/>
        </p:nvSpPr>
        <p:spPr>
          <a:xfrm>
            <a:off x="3383280" y="1938528"/>
            <a:ext cx="333756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Is Oliver's flat ___? – Yes, it's really tiny.</a:t>
            </a:r>
            <a:endParaRPr lang="en-US" sz="1200" dirty="0"/>
          </a:p>
        </p:txBody>
      </p:sp>
      <p:sp>
        <p:nvSpPr>
          <p:cNvPr id="25" name="R2_chip333"/>
          <p:cNvSpPr/>
          <p:nvPr/>
        </p:nvSpPr>
        <p:spPr>
          <a:xfrm>
            <a:off x="6812280" y="1938528"/>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small</a:t>
            </a:r>
            <a:endParaRPr lang="en-US" sz="1200" dirty="0"/>
          </a:p>
        </p:txBody>
      </p:sp>
      <p:sp>
        <p:nvSpPr>
          <p:cNvPr id="26" name="gq_334"/>
          <p:cNvSpPr/>
          <p:nvPr/>
        </p:nvSpPr>
        <p:spPr>
          <a:xfrm>
            <a:off x="3383280" y="2459736"/>
            <a:ext cx="3337560" cy="457200"/>
          </a:xfrm>
          <a:prstGeom prst="roundRect">
            <a:avLst>
              <a:gd name="adj" fmla="val 20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Are you ___ of flying? – Yes, I'm terrified!</a:t>
            </a:r>
            <a:endParaRPr lang="en-US" sz="1200" dirty="0"/>
          </a:p>
        </p:txBody>
      </p:sp>
      <p:sp>
        <p:nvSpPr>
          <p:cNvPr id="27" name="R3_chip335"/>
          <p:cNvSpPr/>
          <p:nvPr/>
        </p:nvSpPr>
        <p:spPr>
          <a:xfrm>
            <a:off x="6812280" y="2459736"/>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afraid</a:t>
            </a:r>
            <a:endParaRPr lang="en-US" sz="1200" dirty="0"/>
          </a:p>
        </p:txBody>
      </p:sp>
      <p:sp>
        <p:nvSpPr>
          <p:cNvPr id="28" name="gq_336"/>
          <p:cNvSpPr/>
          <p:nvPr/>
        </p:nvSpPr>
        <p:spPr>
          <a:xfrm>
            <a:off x="3383280" y="2980944"/>
            <a:ext cx="3337560" cy="457200"/>
          </a:xfrm>
          <a:prstGeom prst="roundRect">
            <a:avLst>
              <a:gd name="adj" fmla="val 20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There was an ___ documentary on TV. – Yes, it was fascinating.</a:t>
            </a:r>
            <a:endParaRPr lang="en-US" sz="1200" dirty="0"/>
          </a:p>
        </p:txBody>
      </p:sp>
      <p:sp>
        <p:nvSpPr>
          <p:cNvPr id="29" name="R4_chip337"/>
          <p:cNvSpPr/>
          <p:nvPr/>
        </p:nvSpPr>
        <p:spPr>
          <a:xfrm>
            <a:off x="6812280" y="2980944"/>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interesting</a:t>
            </a:r>
            <a:endParaRPr lang="en-US" sz="1200" dirty="0"/>
          </a:p>
        </p:txBody>
      </p:sp>
      <p:sp>
        <p:nvSpPr>
          <p:cNvPr id="30" name="gq_338"/>
          <p:cNvSpPr/>
          <p:nvPr/>
        </p:nvSpPr>
        <p:spPr>
          <a:xfrm>
            <a:off x="3383280" y="3502152"/>
            <a:ext cx="333756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5  Are you very ___? – I'm starving! I haven't eaten all day.</a:t>
            </a:r>
            <a:endParaRPr lang="en-US" sz="1200" dirty="0"/>
          </a:p>
        </p:txBody>
      </p:sp>
      <p:sp>
        <p:nvSpPr>
          <p:cNvPr id="31" name="R5_chip339"/>
          <p:cNvSpPr/>
          <p:nvPr/>
        </p:nvSpPr>
        <p:spPr>
          <a:xfrm>
            <a:off x="6812280" y="3502152"/>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hungry</a:t>
            </a:r>
            <a:endParaRPr lang="en-US" sz="1200" dirty="0"/>
          </a:p>
        </p:txBody>
      </p:sp>
      <p:sp>
        <p:nvSpPr>
          <p:cNvPr id="32" name="gq_340"/>
          <p:cNvSpPr/>
          <p:nvPr/>
        </p:nvSpPr>
        <p:spPr>
          <a:xfrm>
            <a:off x="3383280" y="4023360"/>
            <a:ext cx="333756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6  Is your parents' house ___? – It's huge. It has seven bedrooms.</a:t>
            </a:r>
            <a:endParaRPr lang="en-US" sz="1200" dirty="0"/>
          </a:p>
        </p:txBody>
      </p:sp>
      <p:sp>
        <p:nvSpPr>
          <p:cNvPr id="33" name="R6_chip341"/>
          <p:cNvSpPr/>
          <p:nvPr/>
        </p:nvSpPr>
        <p:spPr>
          <a:xfrm>
            <a:off x="6812280" y="4023360"/>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big</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14"/>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4"/>
                                        </p:tgtEl>
                                      </p:cBhvr>
                                    </p:cmd>
                                  </p:childTnLst>
                                </p:cTn>
                              </p:par>
                            </p:childTnLst>
                          </p:cTn>
                        </p:par>
                      </p:childTnLst>
                    </p:cTn>
                  </p:par>
                </p:childTnLst>
              </p:cTn>
              <p:nextCondLst>
                <p:cond evt="onClick" delay="0">
                  <p:tgtEl>
                    <p:spTgt spid="14"/>
                  </p:tgtEl>
                </p:cond>
              </p:nextCondLst>
            </p:seq>
            <p:seq concurrent="1" nextAc="seek">
              <p:cTn id="38" restart="whenNotActive" fill="hold" evtFilter="cancelBubble" nodeType="interactiveSeq">
                <p:stCondLst>
                  <p:cond evt="onClick" delay="0">
                    <p:tgtEl>
                      <p:spTgt spid="16"/>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6"/>
                                        </p:tgtEl>
                                      </p:cBhvr>
                                    </p:cmd>
                                  </p:childTnLst>
                                </p:cTn>
                              </p:par>
                            </p:childTnLst>
                          </p:cTn>
                        </p:par>
                      </p:childTnLst>
                    </p:cTn>
                  </p:par>
                </p:childTnLst>
              </p:cTn>
              <p:nextCondLst>
                <p:cond evt="onClick" delay="0">
                  <p:tgtEl>
                    <p:spTgt spid="16"/>
                  </p:tgtEl>
                </p:cond>
              </p:nextCondLst>
            </p:seq>
            <p:audio>
              <p:cMediaNode vol="80000">
                <p:cTn id="43" fill="hold" display="0">
                  <p:stCondLst>
                    <p:cond delay="indefinite"/>
                  </p:stCondLst>
                  <p:endCondLst>
                    <p:cond evt="onStopAudio" delay="0">
                      <p:tgtEl>
                        <p:sldTgt/>
                      </p:tgtEl>
                    </p:cond>
                  </p:endCondLst>
                </p:cTn>
                <p:tgtEl>
                  <p:spTgt spid="14"/>
                </p:tgtEl>
              </p:cMediaNode>
            </p:audio>
            <p:audio>
              <p:cMediaNode vol="80000">
                <p:cTn id="44" fill="hold" display="0">
                  <p:stCondLst>
                    <p:cond delay="indefinite"/>
                  </p:stCondLst>
                  <p:endCondLst>
                    <p:cond evt="onStopAudio" delay="0">
                      <p:tgtEl>
                        <p:sldTgt/>
                      </p:tgtEl>
                    </p:cond>
                  </p:endCondLst>
                </p:cTn>
                <p:tgtEl>
                  <p:spTgt spid="16"/>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42"/>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343" descr="/home/claude/lls-course/v2/assets/brush-yellow.png">    </p:cNvPr>
          <p:cNvPicPr>
            <a:picLocks noChangeAspect="1"/>
          </p:cNvPicPr>
          <p:nvPr/>
        </p:nvPicPr>
        <p:blipFill>
          <a:blip r:embed="rId2"/>
          <a:stretch>
            <a:fillRect/>
          </a:stretch>
        </p:blipFill>
        <p:spPr>
          <a:xfrm>
            <a:off x="1097280" y="146304"/>
            <a:ext cx="4977994" cy="621792"/>
          </a:xfrm>
          <a:prstGeom prst="rect">
            <a:avLst/>
          </a:prstGeom>
        </p:spPr>
      </p:pic>
      <p:sp>
        <p:nvSpPr>
          <p:cNvPr id="5" name="title_344"/>
          <p:cNvSpPr/>
          <p:nvPr/>
        </p:nvSpPr>
        <p:spPr>
          <a:xfrm>
            <a:off x="1261872" y="164592"/>
            <a:ext cx="4703674"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Not just funny – hilarious!</a:t>
            </a:r>
            <a:endParaRPr lang="en-US" sz="2500" dirty="0"/>
          </a:p>
        </p:txBody>
      </p:sp>
      <p:pic>
        <p:nvPicPr>
          <p:cNvPr id="6" name="brP_345" descr="/home/claude/lls-course/v2/assets/brush-pink.png">    </p:cNvPr>
          <p:cNvPicPr>
            <a:picLocks noChangeAspect="1"/>
          </p:cNvPicPr>
          <p:nvPr/>
        </p:nvPicPr>
        <p:blipFill>
          <a:blip r:embed="rId3"/>
          <a:stretch>
            <a:fillRect/>
          </a:stretch>
        </p:blipFill>
        <p:spPr>
          <a:xfrm>
            <a:off x="1207008" y="731520"/>
            <a:ext cx="4206240" cy="402336"/>
          </a:xfrm>
          <a:prstGeom prst="rect">
            <a:avLst/>
          </a:prstGeom>
        </p:spPr>
      </p:pic>
      <p:sp>
        <p:nvSpPr>
          <p:cNvPr id="7" name="ins_346"/>
          <p:cNvSpPr/>
          <p:nvPr/>
        </p:nvSpPr>
        <p:spPr>
          <a:xfrm>
            <a:off x="1353312" y="731520"/>
            <a:ext cx="39502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Write the normal adjective. Then listen.</a:t>
            </a:r>
            <a:endParaRPr lang="en-US" sz="1250" dirty="0"/>
          </a:p>
        </p:txBody>
      </p:sp>
      <p:sp>
        <p:nvSpPr>
          <p:cNvPr id="8" name="insIT_34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Scrivi l'aggettivo normale. Poi ascolta.</a:t>
            </a:r>
            <a:endParaRPr lang="en-US" sz="950" dirty="0"/>
          </a:p>
        </p:txBody>
      </p:sp>
      <p:sp>
        <p:nvSpPr>
          <p:cNvPr id="9" name="note_348"/>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LISTEN</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FILL THE GAPS</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Listening for detail</a:t>
            </a:r>
            <a:endParaRPr lang="en-US" sz="1150" dirty="0"/>
          </a:p>
        </p:txBody>
      </p:sp>
      <p:pic>
        <p:nvPicPr>
          <p:cNvPr id="10" name="logo_34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5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2B-2 · Vocabulary · strong adjectives (2)   ·   📖 SB p.23 · 7b, 7c · audio 2.20</a:t>
            </a:r>
            <a:endParaRPr lang="en-US" sz="800" dirty="0"/>
          </a:p>
        </p:txBody>
      </p:sp>
      <p:sp>
        <p:nvSpPr>
          <p:cNvPr id="12" name="ap_351"/>
          <p:cNvSpPr/>
          <p:nvPr/>
        </p:nvSpPr>
        <p:spPr>
          <a:xfrm>
            <a:off x="365760" y="1417320"/>
            <a:ext cx="219456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2.20  ·  pause after each one</a:t>
            </a:r>
            <a:endParaRPr lang="en-US" sz="1100" dirty="0"/>
          </a:p>
        </p:txBody>
      </p:sp>
      <p:sp>
        <p:nvSpPr>
          <p:cNvPr id="13" name="ah_352"/>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4"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5" name="ah_353"/>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6"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17" name="pf_354"/>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8" name="ph_355" descr="/home/claude/lls-course/v2/cache/2b2_filthy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19" name="cd_356"/>
          <p:cNvSpPr/>
          <p:nvPr/>
        </p:nvSpPr>
        <p:spPr>
          <a:xfrm>
            <a:off x="320040" y="4023360"/>
            <a:ext cx="2788920" cy="731520"/>
          </a:xfrm>
          <a:prstGeom prst="roundRect">
            <a:avLst>
              <a:gd name="adj" fmla="val 17500"/>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20" name="ii_357"/>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358"/>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2" name="gq_359"/>
          <p:cNvSpPr/>
          <p:nvPr/>
        </p:nvSpPr>
        <p:spPr>
          <a:xfrm>
            <a:off x="3383280" y="1417320"/>
            <a:ext cx="333756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7  Was it ___ in Dubai? – It was boiling! 45 degrees.</a:t>
            </a:r>
            <a:endParaRPr lang="en-US" sz="1200" dirty="0"/>
          </a:p>
        </p:txBody>
      </p:sp>
      <p:sp>
        <p:nvSpPr>
          <p:cNvPr id="23" name="R1_chip360"/>
          <p:cNvSpPr/>
          <p:nvPr/>
        </p:nvSpPr>
        <p:spPr>
          <a:xfrm>
            <a:off x="6812280" y="1417320"/>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hot</a:t>
            </a:r>
            <a:endParaRPr lang="en-US" sz="1200" dirty="0"/>
          </a:p>
        </p:txBody>
      </p:sp>
      <p:sp>
        <p:nvSpPr>
          <p:cNvPr id="24" name="gq_361"/>
          <p:cNvSpPr/>
          <p:nvPr/>
        </p:nvSpPr>
        <p:spPr>
          <a:xfrm>
            <a:off x="3383280" y="1938528"/>
            <a:ext cx="333756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8  Was Jack's kitchen ___? – It was filthy. It took us three hours to clean it.</a:t>
            </a:r>
            <a:endParaRPr lang="en-US" sz="1200" dirty="0"/>
          </a:p>
        </p:txBody>
      </p:sp>
      <p:sp>
        <p:nvSpPr>
          <p:cNvPr id="25" name="R2_chip362"/>
          <p:cNvSpPr/>
          <p:nvPr/>
        </p:nvSpPr>
        <p:spPr>
          <a:xfrm>
            <a:off x="6812280" y="1938528"/>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dirty</a:t>
            </a:r>
            <a:endParaRPr lang="en-US" sz="1200" dirty="0"/>
          </a:p>
        </p:txBody>
      </p:sp>
      <p:sp>
        <p:nvSpPr>
          <p:cNvPr id="26" name="gq_363"/>
          <p:cNvSpPr/>
          <p:nvPr/>
        </p:nvSpPr>
        <p:spPr>
          <a:xfrm>
            <a:off x="3383280" y="2459736"/>
            <a:ext cx="3337560" cy="457200"/>
          </a:xfrm>
          <a:prstGeom prst="roundRect">
            <a:avLst>
              <a:gd name="adj" fmla="val 20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9  Are your parents ___ about the wedding? – They're delighted!</a:t>
            </a:r>
            <a:endParaRPr lang="en-US" sz="1200" dirty="0"/>
          </a:p>
        </p:txBody>
      </p:sp>
      <p:sp>
        <p:nvSpPr>
          <p:cNvPr id="27" name="R3_chip364"/>
          <p:cNvSpPr/>
          <p:nvPr/>
        </p:nvSpPr>
        <p:spPr>
          <a:xfrm>
            <a:off x="6812280" y="2459736"/>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pleased</a:t>
            </a:r>
            <a:endParaRPr lang="en-US" sz="1200" dirty="0"/>
          </a:p>
        </p:txBody>
      </p:sp>
      <p:sp>
        <p:nvSpPr>
          <p:cNvPr id="28" name="gq_365"/>
          <p:cNvSpPr/>
          <p:nvPr/>
        </p:nvSpPr>
        <p:spPr>
          <a:xfrm>
            <a:off x="3383280" y="2980944"/>
            <a:ext cx="3337560" cy="457200"/>
          </a:xfrm>
          <a:prstGeom prst="roundRect">
            <a:avLst>
              <a:gd name="adj" fmla="val 20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10  Was the film ___? – It was hilarious. We laughed the whole way through.</a:t>
            </a:r>
            <a:endParaRPr lang="en-US" sz="1150" dirty="0"/>
          </a:p>
        </p:txBody>
      </p:sp>
      <p:sp>
        <p:nvSpPr>
          <p:cNvPr id="29" name="R4_chip366"/>
          <p:cNvSpPr/>
          <p:nvPr/>
        </p:nvSpPr>
        <p:spPr>
          <a:xfrm>
            <a:off x="6812280" y="2980944"/>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funny</a:t>
            </a:r>
            <a:endParaRPr lang="en-US" sz="1200" dirty="0"/>
          </a:p>
        </p:txBody>
      </p:sp>
      <p:sp>
        <p:nvSpPr>
          <p:cNvPr id="30" name="gq_367"/>
          <p:cNvSpPr/>
          <p:nvPr/>
        </p:nvSpPr>
        <p:spPr>
          <a:xfrm>
            <a:off x="3383280" y="3502152"/>
            <a:ext cx="333756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11  Are you ___ you locked the door? – I'm positive.</a:t>
            </a:r>
            <a:endParaRPr lang="en-US" sz="1200" dirty="0"/>
          </a:p>
        </p:txBody>
      </p:sp>
      <p:sp>
        <p:nvSpPr>
          <p:cNvPr id="31" name="R5_chip368"/>
          <p:cNvSpPr/>
          <p:nvPr/>
        </p:nvSpPr>
        <p:spPr>
          <a:xfrm>
            <a:off x="6812280" y="3502152"/>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sure</a:t>
            </a:r>
            <a:endParaRPr lang="en-US" sz="1200" dirty="0"/>
          </a:p>
        </p:txBody>
      </p:sp>
      <p:sp>
        <p:nvSpPr>
          <p:cNvPr id="32" name="gq_369"/>
          <p:cNvSpPr/>
          <p:nvPr/>
        </p:nvSpPr>
        <p:spPr>
          <a:xfrm>
            <a:off x="3383280" y="4023360"/>
            <a:ext cx="333756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12  Were you ___ to hear that Ted and Sonia have broken up? – I was absolutely amazed!</a:t>
            </a:r>
            <a:endParaRPr lang="en-US" sz="1000" dirty="0"/>
          </a:p>
        </p:txBody>
      </p:sp>
      <p:sp>
        <p:nvSpPr>
          <p:cNvPr id="33" name="R6_chip370"/>
          <p:cNvSpPr/>
          <p:nvPr/>
        </p:nvSpPr>
        <p:spPr>
          <a:xfrm>
            <a:off x="6812280" y="4023360"/>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surprised</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14"/>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4"/>
                                        </p:tgtEl>
                                      </p:cBhvr>
                                    </p:cmd>
                                  </p:childTnLst>
                                </p:cTn>
                              </p:par>
                            </p:childTnLst>
                          </p:cTn>
                        </p:par>
                      </p:childTnLst>
                    </p:cTn>
                  </p:par>
                </p:childTnLst>
              </p:cTn>
              <p:nextCondLst>
                <p:cond evt="onClick" delay="0">
                  <p:tgtEl>
                    <p:spTgt spid="14"/>
                  </p:tgtEl>
                </p:cond>
              </p:nextCondLst>
            </p:seq>
            <p:seq concurrent="1" nextAc="seek">
              <p:cTn id="38" restart="whenNotActive" fill="hold" evtFilter="cancelBubble" nodeType="interactiveSeq">
                <p:stCondLst>
                  <p:cond evt="onClick" delay="0">
                    <p:tgtEl>
                      <p:spTgt spid="16"/>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6"/>
                                        </p:tgtEl>
                                      </p:cBhvr>
                                    </p:cmd>
                                  </p:childTnLst>
                                </p:cTn>
                              </p:par>
                            </p:childTnLst>
                          </p:cTn>
                        </p:par>
                      </p:childTnLst>
                    </p:cTn>
                  </p:par>
                </p:childTnLst>
              </p:cTn>
              <p:nextCondLst>
                <p:cond evt="onClick" delay="0">
                  <p:tgtEl>
                    <p:spTgt spid="16"/>
                  </p:tgtEl>
                </p:cond>
              </p:nextCondLst>
            </p:seq>
            <p:audio>
              <p:cMediaNode vol="80000">
                <p:cTn id="43" fill="hold" display="0">
                  <p:stCondLst>
                    <p:cond delay="indefinite"/>
                  </p:stCondLst>
                  <p:endCondLst>
                    <p:cond evt="onStopAudio" delay="0">
                      <p:tgtEl>
                        <p:sldTgt/>
                      </p:tgtEl>
                    </p:cond>
                  </p:endCondLst>
                </p:cTn>
                <p:tgtEl>
                  <p:spTgt spid="14"/>
                </p:tgtEl>
              </p:cMediaNode>
            </p:audio>
            <p:audio>
              <p:cMediaNode vol="80000">
                <p:cTn id="44" fill="hold" display="0">
                  <p:stCondLst>
                    <p:cond delay="indefinite"/>
                  </p:stCondLst>
                  <p:endCondLst>
                    <p:cond evt="onStopAudio" delay="0">
                      <p:tgtEl>
                        <p:sldTgt/>
                      </p:tgtEl>
                    </p:cond>
                  </p:endCondLst>
                </p:cTn>
                <p:tgtEl>
                  <p:spTgt spid="16"/>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71"/>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372" descr="/home/claude/lls-course/v2/assets/brush-yellow.png">    </p:cNvPr>
          <p:cNvPicPr>
            <a:picLocks noChangeAspect="1"/>
          </p:cNvPicPr>
          <p:nvPr/>
        </p:nvPicPr>
        <p:blipFill>
          <a:blip r:embed="rId2"/>
          <a:stretch>
            <a:fillRect/>
          </a:stretch>
        </p:blipFill>
        <p:spPr>
          <a:xfrm>
            <a:off x="1097280" y="146304"/>
            <a:ext cx="5135270" cy="621792"/>
          </a:xfrm>
          <a:prstGeom prst="rect">
            <a:avLst/>
          </a:prstGeom>
        </p:spPr>
      </p:pic>
      <p:sp>
        <p:nvSpPr>
          <p:cNvPr id="5" name="title_373"/>
          <p:cNvSpPr/>
          <p:nvPr/>
        </p:nvSpPr>
        <p:spPr>
          <a:xfrm>
            <a:off x="1261872" y="164592"/>
            <a:ext cx="486095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Strong adjectives in Italian</a:t>
            </a:r>
            <a:endParaRPr lang="en-US" sz="2500" dirty="0"/>
          </a:p>
        </p:txBody>
      </p:sp>
      <p:pic>
        <p:nvPicPr>
          <p:cNvPr id="6" name="brP_374"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375"/>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it in Italian. Then click!</a:t>
            </a:r>
            <a:endParaRPr lang="en-US" sz="1250" dirty="0"/>
          </a:p>
        </p:txBody>
      </p:sp>
      <p:sp>
        <p:nvSpPr>
          <p:cNvPr id="8" name="insIT_37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Dillo in italiano. Poi clicca!</a:t>
            </a:r>
            <a:endParaRPr lang="en-US" sz="950" dirty="0"/>
          </a:p>
        </p:txBody>
      </p:sp>
      <p:sp>
        <p:nvSpPr>
          <p:cNvPr id="9" name="note_377"/>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CHECK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CONTROLLA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whole class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TPRS · meaning</a:t>
            </a:r>
            <a:endParaRPr lang="en-US" sz="1250" dirty="0"/>
          </a:p>
        </p:txBody>
      </p:sp>
      <p:pic>
        <p:nvPicPr>
          <p:cNvPr id="10" name="logo_37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7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2B-2 · Vocabulary · in Italian</a:t>
            </a:r>
            <a:endParaRPr lang="en-US" sz="800" dirty="0"/>
          </a:p>
        </p:txBody>
      </p:sp>
      <p:sp>
        <p:nvSpPr>
          <p:cNvPr id="12" name="cd_380"/>
          <p:cNvSpPr/>
          <p:nvPr/>
        </p:nvSpPr>
        <p:spPr>
          <a:xfrm>
            <a:off x="320040" y="1417320"/>
            <a:ext cx="2075688" cy="731520"/>
          </a:xfrm>
          <a:prstGeom prst="roundRect">
            <a:avLst>
              <a:gd name="adj" fmla="val 17500"/>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3" name="e_381"/>
          <p:cNvSpPr/>
          <p:nvPr/>
        </p:nvSpPr>
        <p:spPr>
          <a:xfrm>
            <a:off x="393192" y="152704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4" name="en_382"/>
          <p:cNvSpPr/>
          <p:nvPr/>
        </p:nvSpPr>
        <p:spPr>
          <a:xfrm>
            <a:off x="978408"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furious</a:t>
            </a:r>
            <a:endParaRPr lang="en-US" sz="1200" dirty="0"/>
          </a:p>
        </p:txBody>
      </p:sp>
      <p:sp>
        <p:nvSpPr>
          <p:cNvPr id="15" name="R1_it383"/>
          <p:cNvSpPr/>
          <p:nvPr/>
        </p:nvSpPr>
        <p:spPr>
          <a:xfrm>
            <a:off x="978408"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furioso</a:t>
            </a:r>
            <a:endParaRPr lang="en-US" sz="1000" dirty="0"/>
          </a:p>
        </p:txBody>
      </p:sp>
      <p:sp>
        <p:nvSpPr>
          <p:cNvPr id="16" name="cd_384"/>
          <p:cNvSpPr/>
          <p:nvPr/>
        </p:nvSpPr>
        <p:spPr>
          <a:xfrm>
            <a:off x="2487168" y="1417320"/>
            <a:ext cx="2075688" cy="731520"/>
          </a:xfrm>
          <a:prstGeom prst="roundRect">
            <a:avLst>
              <a:gd name="adj" fmla="val 17500"/>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7" name="e_385"/>
          <p:cNvSpPr/>
          <p:nvPr/>
        </p:nvSpPr>
        <p:spPr>
          <a:xfrm>
            <a:off x="2560320" y="152704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en_386"/>
          <p:cNvSpPr/>
          <p:nvPr/>
        </p:nvSpPr>
        <p:spPr>
          <a:xfrm>
            <a:off x="3145536"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tiny</a:t>
            </a:r>
            <a:endParaRPr lang="en-US" sz="1200" dirty="0"/>
          </a:p>
        </p:txBody>
      </p:sp>
      <p:sp>
        <p:nvSpPr>
          <p:cNvPr id="19" name="R2_it387"/>
          <p:cNvSpPr/>
          <p:nvPr/>
        </p:nvSpPr>
        <p:spPr>
          <a:xfrm>
            <a:off x="3145536"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minuscolo</a:t>
            </a:r>
            <a:endParaRPr lang="en-US" sz="1000" dirty="0"/>
          </a:p>
        </p:txBody>
      </p:sp>
      <p:sp>
        <p:nvSpPr>
          <p:cNvPr id="20" name="cd_388"/>
          <p:cNvSpPr/>
          <p:nvPr/>
        </p:nvSpPr>
        <p:spPr>
          <a:xfrm>
            <a:off x="4654296" y="1417320"/>
            <a:ext cx="2075688" cy="731520"/>
          </a:xfrm>
          <a:prstGeom prst="roundRect">
            <a:avLst>
              <a:gd name="adj" fmla="val 17500"/>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21" name="e_389"/>
          <p:cNvSpPr/>
          <p:nvPr/>
        </p:nvSpPr>
        <p:spPr>
          <a:xfrm>
            <a:off x="4727448" y="152704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2" name="en_390"/>
          <p:cNvSpPr/>
          <p:nvPr/>
        </p:nvSpPr>
        <p:spPr>
          <a:xfrm>
            <a:off x="5312664"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terrified</a:t>
            </a:r>
            <a:endParaRPr lang="en-US" sz="1200" dirty="0"/>
          </a:p>
        </p:txBody>
      </p:sp>
      <p:sp>
        <p:nvSpPr>
          <p:cNvPr id="23" name="R3_it391"/>
          <p:cNvSpPr/>
          <p:nvPr/>
        </p:nvSpPr>
        <p:spPr>
          <a:xfrm>
            <a:off x="5312664"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terrorizzato</a:t>
            </a:r>
            <a:endParaRPr lang="en-US" sz="1000" dirty="0"/>
          </a:p>
        </p:txBody>
      </p:sp>
      <p:sp>
        <p:nvSpPr>
          <p:cNvPr id="24" name="cd_392"/>
          <p:cNvSpPr/>
          <p:nvPr/>
        </p:nvSpPr>
        <p:spPr>
          <a:xfrm>
            <a:off x="6821424" y="1417320"/>
            <a:ext cx="2075688" cy="731520"/>
          </a:xfrm>
          <a:prstGeom prst="roundRect">
            <a:avLst>
              <a:gd name="adj" fmla="val 17500"/>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25" name="e_393"/>
          <p:cNvSpPr/>
          <p:nvPr/>
        </p:nvSpPr>
        <p:spPr>
          <a:xfrm>
            <a:off x="6894576" y="152704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6" name="en_394"/>
          <p:cNvSpPr/>
          <p:nvPr/>
        </p:nvSpPr>
        <p:spPr>
          <a:xfrm>
            <a:off x="7479792"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fascinating</a:t>
            </a:r>
            <a:endParaRPr lang="en-US" sz="1200" dirty="0"/>
          </a:p>
        </p:txBody>
      </p:sp>
      <p:sp>
        <p:nvSpPr>
          <p:cNvPr id="27" name="R4_it395"/>
          <p:cNvSpPr/>
          <p:nvPr/>
        </p:nvSpPr>
        <p:spPr>
          <a:xfrm>
            <a:off x="7479792"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affascinante</a:t>
            </a:r>
            <a:endParaRPr lang="en-US" sz="1000" dirty="0"/>
          </a:p>
        </p:txBody>
      </p:sp>
      <p:sp>
        <p:nvSpPr>
          <p:cNvPr id="28" name="cd_396"/>
          <p:cNvSpPr/>
          <p:nvPr/>
        </p:nvSpPr>
        <p:spPr>
          <a:xfrm>
            <a:off x="320040" y="2240280"/>
            <a:ext cx="2075688" cy="731520"/>
          </a:xfrm>
          <a:prstGeom prst="roundRect">
            <a:avLst>
              <a:gd name="adj" fmla="val 17500"/>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29" name="e_397"/>
          <p:cNvSpPr/>
          <p:nvPr/>
        </p:nvSpPr>
        <p:spPr>
          <a:xfrm>
            <a:off x="393192" y="235000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0" name="en_398"/>
          <p:cNvSpPr/>
          <p:nvPr/>
        </p:nvSpPr>
        <p:spPr>
          <a:xfrm>
            <a:off x="978408"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starving</a:t>
            </a:r>
            <a:endParaRPr lang="en-US" sz="1200" dirty="0"/>
          </a:p>
        </p:txBody>
      </p:sp>
      <p:sp>
        <p:nvSpPr>
          <p:cNvPr id="31" name="R5_it399"/>
          <p:cNvSpPr/>
          <p:nvPr/>
        </p:nvSpPr>
        <p:spPr>
          <a:xfrm>
            <a:off x="978408" y="262432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affamato · muoio di fame!</a:t>
            </a:r>
            <a:endParaRPr lang="en-US" sz="800" dirty="0"/>
          </a:p>
        </p:txBody>
      </p:sp>
      <p:sp>
        <p:nvSpPr>
          <p:cNvPr id="32" name="cd_400"/>
          <p:cNvSpPr/>
          <p:nvPr/>
        </p:nvSpPr>
        <p:spPr>
          <a:xfrm>
            <a:off x="2487168" y="2240280"/>
            <a:ext cx="2075688" cy="731520"/>
          </a:xfrm>
          <a:prstGeom prst="roundRect">
            <a:avLst>
              <a:gd name="adj" fmla="val 17500"/>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33" name="e_401"/>
          <p:cNvSpPr/>
          <p:nvPr/>
        </p:nvSpPr>
        <p:spPr>
          <a:xfrm>
            <a:off x="2560320" y="235000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4" name="en_402"/>
          <p:cNvSpPr/>
          <p:nvPr/>
        </p:nvSpPr>
        <p:spPr>
          <a:xfrm>
            <a:off x="3145536"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huge / enormous</a:t>
            </a:r>
            <a:endParaRPr lang="en-US" sz="1200" dirty="0"/>
          </a:p>
        </p:txBody>
      </p:sp>
      <p:sp>
        <p:nvSpPr>
          <p:cNvPr id="35" name="R6_it403"/>
          <p:cNvSpPr/>
          <p:nvPr/>
        </p:nvSpPr>
        <p:spPr>
          <a:xfrm>
            <a:off x="3145536"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enorme</a:t>
            </a:r>
            <a:endParaRPr lang="en-US" sz="1000" dirty="0"/>
          </a:p>
        </p:txBody>
      </p:sp>
      <p:sp>
        <p:nvSpPr>
          <p:cNvPr id="36" name="cd_404"/>
          <p:cNvSpPr/>
          <p:nvPr/>
        </p:nvSpPr>
        <p:spPr>
          <a:xfrm>
            <a:off x="4654296" y="2240280"/>
            <a:ext cx="2075688" cy="731520"/>
          </a:xfrm>
          <a:prstGeom prst="roundRect">
            <a:avLst>
              <a:gd name="adj" fmla="val 17500"/>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37" name="e_405"/>
          <p:cNvSpPr/>
          <p:nvPr/>
        </p:nvSpPr>
        <p:spPr>
          <a:xfrm>
            <a:off x="4727448" y="235000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8" name="en_406"/>
          <p:cNvSpPr/>
          <p:nvPr/>
        </p:nvSpPr>
        <p:spPr>
          <a:xfrm>
            <a:off x="5312664"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boiling</a:t>
            </a:r>
            <a:endParaRPr lang="en-US" sz="1200" dirty="0"/>
          </a:p>
        </p:txBody>
      </p:sp>
      <p:sp>
        <p:nvSpPr>
          <p:cNvPr id="39" name="R7_it407"/>
          <p:cNvSpPr/>
          <p:nvPr/>
        </p:nvSpPr>
        <p:spPr>
          <a:xfrm>
            <a:off x="5312664"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si muore di caldo!</a:t>
            </a:r>
            <a:endParaRPr lang="en-US" sz="1000" dirty="0"/>
          </a:p>
        </p:txBody>
      </p:sp>
      <p:sp>
        <p:nvSpPr>
          <p:cNvPr id="40" name="cd_408"/>
          <p:cNvSpPr/>
          <p:nvPr/>
        </p:nvSpPr>
        <p:spPr>
          <a:xfrm>
            <a:off x="6821424" y="2240280"/>
            <a:ext cx="2075688" cy="731520"/>
          </a:xfrm>
          <a:prstGeom prst="roundRect">
            <a:avLst>
              <a:gd name="adj" fmla="val 17500"/>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41" name="e_409"/>
          <p:cNvSpPr/>
          <p:nvPr/>
        </p:nvSpPr>
        <p:spPr>
          <a:xfrm>
            <a:off x="6894576" y="235000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2" name="en_410"/>
          <p:cNvSpPr/>
          <p:nvPr/>
        </p:nvSpPr>
        <p:spPr>
          <a:xfrm>
            <a:off x="7479792"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filthy</a:t>
            </a:r>
            <a:endParaRPr lang="en-US" sz="1200" dirty="0"/>
          </a:p>
        </p:txBody>
      </p:sp>
      <p:sp>
        <p:nvSpPr>
          <p:cNvPr id="43" name="R8_it411"/>
          <p:cNvSpPr/>
          <p:nvPr/>
        </p:nvSpPr>
        <p:spPr>
          <a:xfrm>
            <a:off x="7479792"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sudicio · lurido</a:t>
            </a:r>
            <a:endParaRPr lang="en-US" sz="1000" dirty="0"/>
          </a:p>
        </p:txBody>
      </p:sp>
      <p:sp>
        <p:nvSpPr>
          <p:cNvPr id="44" name="cd_412"/>
          <p:cNvSpPr/>
          <p:nvPr/>
        </p:nvSpPr>
        <p:spPr>
          <a:xfrm>
            <a:off x="320040" y="3063240"/>
            <a:ext cx="2075688" cy="731520"/>
          </a:xfrm>
          <a:prstGeom prst="roundRect">
            <a:avLst>
              <a:gd name="adj" fmla="val 17500"/>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45" name="e_413"/>
          <p:cNvSpPr/>
          <p:nvPr/>
        </p:nvSpPr>
        <p:spPr>
          <a:xfrm>
            <a:off x="393192" y="317296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6" name="en_414"/>
          <p:cNvSpPr/>
          <p:nvPr/>
        </p:nvSpPr>
        <p:spPr>
          <a:xfrm>
            <a:off x="978408"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delighted</a:t>
            </a:r>
            <a:endParaRPr lang="en-US" sz="1200" dirty="0"/>
          </a:p>
        </p:txBody>
      </p:sp>
      <p:sp>
        <p:nvSpPr>
          <p:cNvPr id="47" name="R9_it415"/>
          <p:cNvSpPr/>
          <p:nvPr/>
        </p:nvSpPr>
        <p:spPr>
          <a:xfrm>
            <a:off x="978408"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felicissimo</a:t>
            </a:r>
            <a:endParaRPr lang="en-US" sz="1000" dirty="0"/>
          </a:p>
        </p:txBody>
      </p:sp>
      <p:sp>
        <p:nvSpPr>
          <p:cNvPr id="48" name="cd_416"/>
          <p:cNvSpPr/>
          <p:nvPr/>
        </p:nvSpPr>
        <p:spPr>
          <a:xfrm>
            <a:off x="2487168" y="3063240"/>
            <a:ext cx="2075688" cy="731520"/>
          </a:xfrm>
          <a:prstGeom prst="roundRect">
            <a:avLst>
              <a:gd name="adj" fmla="val 17500"/>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49" name="e_417"/>
          <p:cNvSpPr/>
          <p:nvPr/>
        </p:nvSpPr>
        <p:spPr>
          <a:xfrm>
            <a:off x="2560320" y="317296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0" name="en_418"/>
          <p:cNvSpPr/>
          <p:nvPr/>
        </p:nvSpPr>
        <p:spPr>
          <a:xfrm>
            <a:off x="3145536"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hilarious</a:t>
            </a:r>
            <a:endParaRPr lang="en-US" sz="1200" dirty="0"/>
          </a:p>
        </p:txBody>
      </p:sp>
      <p:sp>
        <p:nvSpPr>
          <p:cNvPr id="51" name="R10_it419"/>
          <p:cNvSpPr/>
          <p:nvPr/>
        </p:nvSpPr>
        <p:spPr>
          <a:xfrm>
            <a:off x="3145536"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esilarante</a:t>
            </a:r>
            <a:endParaRPr lang="en-US" sz="1000" dirty="0"/>
          </a:p>
        </p:txBody>
      </p:sp>
      <p:sp>
        <p:nvSpPr>
          <p:cNvPr id="52" name="cd_420"/>
          <p:cNvSpPr/>
          <p:nvPr/>
        </p:nvSpPr>
        <p:spPr>
          <a:xfrm>
            <a:off x="4654296" y="3063240"/>
            <a:ext cx="2075688" cy="731520"/>
          </a:xfrm>
          <a:prstGeom prst="roundRect">
            <a:avLst>
              <a:gd name="adj" fmla="val 17500"/>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53" name="e_421"/>
          <p:cNvSpPr/>
          <p:nvPr/>
        </p:nvSpPr>
        <p:spPr>
          <a:xfrm>
            <a:off x="4727448" y="317296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4" name="en_422"/>
          <p:cNvSpPr/>
          <p:nvPr/>
        </p:nvSpPr>
        <p:spPr>
          <a:xfrm>
            <a:off x="5312664"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positive</a:t>
            </a:r>
            <a:endParaRPr lang="en-US" sz="1200" dirty="0"/>
          </a:p>
        </p:txBody>
      </p:sp>
      <p:sp>
        <p:nvSpPr>
          <p:cNvPr id="55" name="R11_it423"/>
          <p:cNvSpPr/>
          <p:nvPr/>
        </p:nvSpPr>
        <p:spPr>
          <a:xfrm>
            <a:off x="5312664"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sicurissimo</a:t>
            </a:r>
            <a:endParaRPr lang="en-US" sz="1000" dirty="0"/>
          </a:p>
        </p:txBody>
      </p:sp>
      <p:sp>
        <p:nvSpPr>
          <p:cNvPr id="56" name="cd_424"/>
          <p:cNvSpPr/>
          <p:nvPr/>
        </p:nvSpPr>
        <p:spPr>
          <a:xfrm>
            <a:off x="6821424" y="3063240"/>
            <a:ext cx="2075688" cy="731520"/>
          </a:xfrm>
          <a:prstGeom prst="roundRect">
            <a:avLst>
              <a:gd name="adj" fmla="val 17500"/>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57" name="e_425"/>
          <p:cNvSpPr/>
          <p:nvPr/>
        </p:nvSpPr>
        <p:spPr>
          <a:xfrm>
            <a:off x="6894576" y="317296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8" name="en_426"/>
          <p:cNvSpPr/>
          <p:nvPr/>
        </p:nvSpPr>
        <p:spPr>
          <a:xfrm>
            <a:off x="7479792"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amazed</a:t>
            </a:r>
            <a:endParaRPr lang="en-US" sz="1200" dirty="0"/>
          </a:p>
        </p:txBody>
      </p:sp>
      <p:sp>
        <p:nvSpPr>
          <p:cNvPr id="59" name="R12_it427"/>
          <p:cNvSpPr/>
          <p:nvPr/>
        </p:nvSpPr>
        <p:spPr>
          <a:xfrm>
            <a:off x="7479792"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sbalordito</a:t>
            </a:r>
            <a:endParaRPr lang="en-US" sz="1000" dirty="0"/>
          </a:p>
        </p:txBody>
      </p:sp>
      <p:sp>
        <p:nvSpPr>
          <p:cNvPr id="60" name="R13_wc428"/>
          <p:cNvSpPr/>
          <p:nvPr/>
        </p:nvSpPr>
        <p:spPr>
          <a:xfrm>
            <a:off x="320040" y="3931920"/>
            <a:ext cx="8549640" cy="457200"/>
          </a:xfrm>
          <a:prstGeom prst="roundRect">
            <a:avLst>
              <a:gd name="adj" fmla="val 28000"/>
            </a:avLst>
          </a:prstGeom>
          <a:solidFill>
            <a:srgbClr val="FFE3EE"/>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61" name="R13_w429"/>
          <p:cNvSpPr/>
          <p:nvPr/>
        </p:nvSpPr>
        <p:spPr>
          <a:xfrm>
            <a:off x="457200" y="3931920"/>
            <a:ext cx="8321040" cy="45720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Watch out!  exhausted = very tired · freezing = very cold   |   ✗ very exhausted → ✓ absolutely / really / completely exhausted   |   STRESS it: I'm STARving!</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fade">
                                      <p:cBhvr>
                                        <p:cTn id="37" dur="400"/>
                                        <p:tgtEl>
                                          <p:spTgt spid="3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400"/>
                                        <p:tgtEl>
                                          <p:spTgt spid="4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7"/>
                                        </p:tgtEl>
                                        <p:attrNameLst>
                                          <p:attrName>style.visibility</p:attrName>
                                        </p:attrNameLst>
                                      </p:cBhvr>
                                      <p:to>
                                        <p:strVal val="visible"/>
                                      </p:to>
                                    </p:set>
                                    <p:animEffect transition="in" filter="fade">
                                      <p:cBhvr>
                                        <p:cTn id="47" dur="400"/>
                                        <p:tgtEl>
                                          <p:spTgt spid="4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1"/>
                                        </p:tgtEl>
                                        <p:attrNameLst>
                                          <p:attrName>style.visibility</p:attrName>
                                        </p:attrNameLst>
                                      </p:cBhvr>
                                      <p:to>
                                        <p:strVal val="visible"/>
                                      </p:to>
                                    </p:set>
                                    <p:animEffect transition="in" filter="fade">
                                      <p:cBhvr>
                                        <p:cTn id="52" dur="400"/>
                                        <p:tgtEl>
                                          <p:spTgt spid="5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5"/>
                                        </p:tgtEl>
                                        <p:attrNameLst>
                                          <p:attrName>style.visibility</p:attrName>
                                        </p:attrNameLst>
                                      </p:cBhvr>
                                      <p:to>
                                        <p:strVal val="visible"/>
                                      </p:to>
                                    </p:set>
                                    <p:animEffect transition="in" filter="fade">
                                      <p:cBhvr>
                                        <p:cTn id="57" dur="400"/>
                                        <p:tgtEl>
                                          <p:spTgt spid="5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9"/>
                                        </p:tgtEl>
                                        <p:attrNameLst>
                                          <p:attrName>style.visibility</p:attrName>
                                        </p:attrNameLst>
                                      </p:cBhvr>
                                      <p:to>
                                        <p:strVal val="visible"/>
                                      </p:to>
                                    </p:set>
                                    <p:animEffect transition="in" filter="fade">
                                      <p:cBhvr>
                                        <p:cTn id="62" dur="400"/>
                                        <p:tgtEl>
                                          <p:spTgt spid="59"/>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0"/>
                                        </p:tgtEl>
                                        <p:attrNameLst>
                                          <p:attrName>style.visibility</p:attrName>
                                        </p:attrNameLst>
                                      </p:cBhvr>
                                      <p:to>
                                        <p:strVal val="visible"/>
                                      </p:to>
                                    </p:set>
                                    <p:animEffect transition="in" filter="fade">
                                      <p:cBhvr>
                                        <p:cTn id="67" dur="400"/>
                                        <p:tgtEl>
                                          <p:spTgt spid="60"/>
                                        </p:tgtEl>
                                      </p:cBhvr>
                                    </p:animEffect>
                                  </p:childTnLst>
                                </p:cTn>
                              </p:par>
                              <p:par>
                                <p:cTn id="68" presetID="10" presetClass="entr" presetSubtype="0" fill="hold" nodeType="withEffect">
                                  <p:stCondLst>
                                    <p:cond delay="0"/>
                                  </p:stCondLst>
                                  <p:childTnLst>
                                    <p:set>
                                      <p:cBhvr>
                                        <p:cTn id="69" dur="1" fill="hold">
                                          <p:stCondLst>
                                            <p:cond delay="0"/>
                                          </p:stCondLst>
                                        </p:cTn>
                                        <p:tgtEl>
                                          <p:spTgt spid="61"/>
                                        </p:tgtEl>
                                        <p:attrNameLst>
                                          <p:attrName>style.visibility</p:attrName>
                                        </p:attrNameLst>
                                      </p:cBhvr>
                                      <p:to>
                                        <p:strVal val="visible"/>
                                      </p:to>
                                    </p:set>
                                    <p:animEffect transition="in" filter="fade">
                                      <p:cBhvr>
                                        <p:cTn id="70"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30"/>
          <p:cNvSpPr/>
          <p:nvPr/>
        </p:nvSpPr>
        <p:spPr>
          <a:xfrm>
            <a:off x="201168" y="164592"/>
            <a:ext cx="841248" cy="841248"/>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431" descr="/home/claude/lls-course/v2/assets/brush-yellow.png">    </p:cNvPr>
          <p:cNvPicPr>
            <a:picLocks noChangeAspect="1"/>
          </p:cNvPicPr>
          <p:nvPr/>
        </p:nvPicPr>
        <p:blipFill>
          <a:blip r:embed="rId2"/>
          <a:stretch>
            <a:fillRect/>
          </a:stretch>
        </p:blipFill>
        <p:spPr>
          <a:xfrm>
            <a:off x="1097280" y="146304"/>
            <a:ext cx="3877056" cy="621792"/>
          </a:xfrm>
          <a:prstGeom prst="rect">
            <a:avLst/>
          </a:prstGeom>
        </p:spPr>
      </p:pic>
      <p:sp>
        <p:nvSpPr>
          <p:cNvPr id="5" name="title_432"/>
          <p:cNvSpPr/>
          <p:nvPr/>
        </p:nvSpPr>
        <p:spPr>
          <a:xfrm>
            <a:off x="1261872" y="164592"/>
            <a:ext cx="360273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Luca's charity climb</a:t>
            </a:r>
            <a:endParaRPr lang="en-US" sz="2500" dirty="0"/>
          </a:p>
        </p:txBody>
      </p:sp>
      <p:pic>
        <p:nvPicPr>
          <p:cNvPr id="6" name="brP_433" descr="/home/claude/lls-course/v2/assets/brush-pink.png">    </p:cNvPr>
          <p:cNvPicPr>
            <a:picLocks noChangeAspect="1"/>
          </p:cNvPicPr>
          <p:nvPr/>
        </p:nvPicPr>
        <p:blipFill>
          <a:blip r:embed="rId3"/>
          <a:stretch>
            <a:fillRect/>
          </a:stretch>
        </p:blipFill>
        <p:spPr>
          <a:xfrm>
            <a:off x="1207008" y="731520"/>
            <a:ext cx="4379976" cy="402336"/>
          </a:xfrm>
          <a:prstGeom prst="rect">
            <a:avLst/>
          </a:prstGeom>
        </p:spPr>
      </p:pic>
      <p:sp>
        <p:nvSpPr>
          <p:cNvPr id="7" name="ins_434"/>
          <p:cNvSpPr/>
          <p:nvPr/>
        </p:nvSpPr>
        <p:spPr>
          <a:xfrm>
            <a:off x="1353312" y="731520"/>
            <a:ext cx="412394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to the story. Answer the questions!</a:t>
            </a:r>
            <a:endParaRPr lang="en-US" sz="1250" dirty="0"/>
          </a:p>
        </p:txBody>
      </p:sp>
      <p:sp>
        <p:nvSpPr>
          <p:cNvPr id="8" name="insIT_43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la storia. Rispondi alle domande!</a:t>
            </a:r>
            <a:endParaRPr lang="en-US" sz="950" dirty="0"/>
          </a:p>
        </p:txBody>
      </p:sp>
      <p:sp>
        <p:nvSpPr>
          <p:cNvPr id="9" name="note_436"/>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whole class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TPRS · story</a:t>
            </a:r>
            <a:endParaRPr lang="en-US" sz="1150" dirty="0"/>
          </a:p>
        </p:txBody>
      </p:sp>
      <p:pic>
        <p:nvPicPr>
          <p:cNvPr id="10" name="logo_43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3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2B-2 · Speaking · class story (TPRS)</a:t>
            </a:r>
            <a:endParaRPr lang="en-US" sz="800" dirty="0"/>
          </a:p>
        </p:txBody>
      </p:sp>
      <p:sp>
        <p:nvSpPr>
          <p:cNvPr id="12" name="pf_439"/>
          <p:cNvSpPr/>
          <p:nvPr/>
        </p:nvSpPr>
        <p:spPr>
          <a:xfrm rot="-90000">
            <a:off x="853440" y="1417320"/>
            <a:ext cx="1676400" cy="1280160"/>
          </a:xfrm>
          <a:prstGeom prst="roundRect">
            <a:avLst>
              <a:gd name="adj" fmla="val 1214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440" descr="/home/claude/lls-course/v2/cache/2b2_exhausted_jpg_381x286_31.png">    </p:cNvPr>
          <p:cNvPicPr>
            <a:picLocks noChangeAspect="1"/>
          </p:cNvPicPr>
          <p:nvPr/>
        </p:nvPicPr>
        <p:blipFill>
          <a:blip r:embed="rId5"/>
          <a:stretch>
            <a:fillRect/>
          </a:stretch>
        </p:blipFill>
        <p:spPr>
          <a:xfrm rot="-90000">
            <a:off x="899160" y="1463040"/>
            <a:ext cx="1584960" cy="1188720"/>
          </a:xfrm>
          <a:prstGeom prst="rect">
            <a:avLst/>
          </a:prstGeom>
        </p:spPr>
      </p:pic>
      <p:sp>
        <p:nvSpPr>
          <p:cNvPr id="14" name="cd_441"/>
          <p:cNvSpPr/>
          <p:nvPr/>
        </p:nvSpPr>
        <p:spPr>
          <a:xfrm>
            <a:off x="320040" y="2834640"/>
            <a:ext cx="2697480" cy="1920240"/>
          </a:xfrm>
          <a:prstGeom prst="roundRect">
            <a:avLst>
              <a:gd name="adj" fmla="val 666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442"/>
          <p:cNvSpPr/>
          <p:nvPr/>
        </p:nvSpPr>
        <p:spPr>
          <a:xfrm>
            <a:off x="411480" y="29077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443"/>
          <p:cNvSpPr/>
          <p:nvPr/>
        </p:nvSpPr>
        <p:spPr>
          <a:xfrm>
            <a:off x="886968" y="292608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Story phrases</a:t>
            </a:r>
            <a:endParaRPr lang="en-US" sz="1300" dirty="0"/>
          </a:p>
        </p:txBody>
      </p:sp>
      <p:sp>
        <p:nvSpPr>
          <p:cNvPr id="17" name="il_444"/>
          <p:cNvSpPr/>
          <p:nvPr/>
        </p:nvSpPr>
        <p:spPr>
          <a:xfrm>
            <a:off x="886968" y="3328416"/>
            <a:ext cx="2039112" cy="1353312"/>
          </a:xfrm>
          <a:prstGeom prst="rect">
            <a:avLst/>
          </a:prstGeom>
          <a:noFill/>
          <a:ln/>
        </p:spPr>
        <p:txBody>
          <a:bodyPr wrap="square" lIns="0" tIns="0" rIns="0" bIns="0" rtlCol="0" anchor="t">
            <a:normAutofit/>
          </a:bodyPr>
          <a:lstStyle/>
          <a:p>
            <a:pPr indent="0" marL="0">
              <a:spcAft>
                <a:spcPts val="200"/>
              </a:spcAft>
              <a:buNone/>
            </a:pPr>
            <a:r>
              <a:rPr lang="en-US" sz="700" dirty="0">
                <a:solidFill>
                  <a:srgbClr val="1B2559"/>
                </a:solidFill>
                <a:latin typeface="Segoe UI Semibold" pitchFamily="34" charset="0"/>
                <a:ea typeface="Segoe UI Semibold" pitchFamily="34" charset="-122"/>
                <a:cs typeface="Segoe UI Semibold" pitchFamily="34" charset="-120"/>
              </a:rPr>
              <a:t>absolutely freezing</a:t>
            </a:r>
            <a:pPr indent="0" marL="0">
              <a:spcAft>
                <a:spcPts val="200"/>
              </a:spcAft>
              <a:buNone/>
            </a:pPr>
            <a:r>
              <a:rPr lang="en-US" sz="700" dirty="0">
                <a:solidFill>
                  <a:srgbClr val="5B6785"/>
                </a:solidFill>
                <a:latin typeface="Segoe UI Semibold" pitchFamily="34" charset="0"/>
                <a:ea typeface="Segoe UI Semibold" pitchFamily="34" charset="-122"/>
                <a:cs typeface="Segoe UI Semibold" pitchFamily="34" charset="-120"/>
              </a:rPr>
              <a:t>  – gelido · si gela!</a:t>
            </a:r>
            <a:endParaRPr lang="en-US" sz="700" dirty="0"/>
          </a:p>
          <a:p>
            <a:pPr indent="0" marL="0">
              <a:spcBef>
                <a:spcPts val="600"/>
              </a:spcBef>
              <a:spcAft>
                <a:spcPts val="200"/>
              </a:spcAft>
              <a:buNone/>
            </a:pPr>
            <a:r>
              <a:rPr lang="en-US" sz="700" dirty="0">
                <a:solidFill>
                  <a:srgbClr val="1B2559"/>
                </a:solidFill>
                <a:latin typeface="Segoe UI Semibold" pitchFamily="34" charset="0"/>
                <a:ea typeface="Segoe UI Semibold" pitchFamily="34" charset="-122"/>
                <a:cs typeface="Segoe UI Semibold" pitchFamily="34" charset="-120"/>
              </a:rPr>
              <a:t>completely exhausted</a:t>
            </a:r>
            <a:pPr indent="0" marL="0">
              <a:spcAft>
                <a:spcPts val="200"/>
              </a:spcAft>
              <a:buNone/>
            </a:pPr>
            <a:r>
              <a:rPr lang="en-US" sz="700" dirty="0">
                <a:solidFill>
                  <a:srgbClr val="5B6785"/>
                </a:solidFill>
                <a:latin typeface="Segoe UI Semibold" pitchFamily="34" charset="0"/>
                <a:ea typeface="Segoe UI Semibold" pitchFamily="34" charset="-122"/>
                <a:cs typeface="Segoe UI Semibold" pitchFamily="34" charset="-120"/>
              </a:rPr>
              <a:t>  – esausto · distrutto</a:t>
            </a:r>
            <a:endParaRPr lang="en-US" sz="700" dirty="0"/>
          </a:p>
          <a:p>
            <a:pPr indent="0" marL="0">
              <a:spcBef>
                <a:spcPts val="600"/>
              </a:spcBef>
              <a:spcAft>
                <a:spcPts val="200"/>
              </a:spcAft>
              <a:buNone/>
            </a:pPr>
            <a:r>
              <a:rPr lang="en-US" sz="700" dirty="0">
                <a:solidFill>
                  <a:srgbClr val="1B2559"/>
                </a:solidFill>
                <a:latin typeface="Segoe UI Semibold" pitchFamily="34" charset="0"/>
                <a:ea typeface="Segoe UI Semibold" pitchFamily="34" charset="-122"/>
                <a:cs typeface="Segoe UI Semibold" pitchFamily="34" charset="-120"/>
              </a:rPr>
              <a:t>starving</a:t>
            </a:r>
            <a:pPr indent="0" marL="0">
              <a:spcAft>
                <a:spcPts val="200"/>
              </a:spcAft>
              <a:buNone/>
            </a:pPr>
            <a:r>
              <a:rPr lang="en-US" sz="700" dirty="0">
                <a:solidFill>
                  <a:srgbClr val="5B6785"/>
                </a:solidFill>
                <a:latin typeface="Segoe UI Semibold" pitchFamily="34" charset="0"/>
                <a:ea typeface="Segoe UI Semibold" pitchFamily="34" charset="-122"/>
                <a:cs typeface="Segoe UI Semibold" pitchFamily="34" charset="-120"/>
              </a:rPr>
              <a:t>  – muoio di fame!</a:t>
            </a:r>
            <a:endParaRPr lang="en-US" sz="700" dirty="0"/>
          </a:p>
          <a:p>
            <a:pPr indent="0" marL="0">
              <a:spcBef>
                <a:spcPts val="600"/>
              </a:spcBef>
              <a:spcAft>
                <a:spcPts val="200"/>
              </a:spcAft>
              <a:buNone/>
            </a:pPr>
            <a:r>
              <a:rPr lang="en-US" sz="700" dirty="0">
                <a:solidFill>
                  <a:srgbClr val="1B2559"/>
                </a:solidFill>
                <a:latin typeface="Segoe UI Semibold" pitchFamily="34" charset="0"/>
                <a:ea typeface="Segoe UI Semibold" pitchFamily="34" charset="-122"/>
                <a:cs typeface="Segoe UI Semibold" pitchFamily="34" charset="-120"/>
              </a:rPr>
              <a:t>filthy</a:t>
            </a:r>
            <a:pPr indent="0" marL="0">
              <a:spcAft>
                <a:spcPts val="200"/>
              </a:spcAft>
              <a:buNone/>
            </a:pPr>
            <a:r>
              <a:rPr lang="en-US" sz="700" dirty="0">
                <a:solidFill>
                  <a:srgbClr val="5B6785"/>
                </a:solidFill>
                <a:latin typeface="Segoe UI Semibold" pitchFamily="34" charset="0"/>
                <a:ea typeface="Segoe UI Semibold" pitchFamily="34" charset="-122"/>
                <a:cs typeface="Segoe UI Semibold" pitchFamily="34" charset="-120"/>
              </a:rPr>
              <a:t>  – sudicio · lurido</a:t>
            </a:r>
            <a:endParaRPr lang="en-US" sz="700" dirty="0"/>
          </a:p>
          <a:p>
            <a:pPr indent="0" marL="0">
              <a:spcBef>
                <a:spcPts val="600"/>
              </a:spcBef>
              <a:spcAft>
                <a:spcPts val="200"/>
              </a:spcAft>
              <a:buNone/>
            </a:pPr>
            <a:r>
              <a:rPr lang="en-US" sz="700" dirty="0">
                <a:solidFill>
                  <a:srgbClr val="1B2559"/>
                </a:solidFill>
                <a:latin typeface="Segoe UI Semibold" pitchFamily="34" charset="0"/>
                <a:ea typeface="Segoe UI Semibold" pitchFamily="34" charset="-122"/>
                <a:cs typeface="Segoe UI Semibold" pitchFamily="34" charset="-120"/>
              </a:rPr>
              <a:t>furious</a:t>
            </a:r>
            <a:pPr indent="0" marL="0">
              <a:spcAft>
                <a:spcPts val="200"/>
              </a:spcAft>
              <a:buNone/>
            </a:pPr>
            <a:r>
              <a:rPr lang="en-US" sz="700" dirty="0">
                <a:solidFill>
                  <a:srgbClr val="5B6785"/>
                </a:solidFill>
                <a:latin typeface="Segoe UI Semibold" pitchFamily="34" charset="0"/>
                <a:ea typeface="Segoe UI Semibold" pitchFamily="34" charset="-122"/>
                <a:cs typeface="Segoe UI Semibold" pitchFamily="34" charset="-120"/>
              </a:rPr>
              <a:t>  – furioso</a:t>
            </a:r>
            <a:endParaRPr lang="en-US" sz="700" dirty="0"/>
          </a:p>
          <a:p>
            <a:pPr indent="0" marL="0">
              <a:spcBef>
                <a:spcPts val="600"/>
              </a:spcBef>
              <a:spcAft>
                <a:spcPts val="200"/>
              </a:spcAft>
              <a:buNone/>
            </a:pPr>
            <a:r>
              <a:rPr lang="en-US" sz="700" dirty="0">
                <a:solidFill>
                  <a:srgbClr val="1B2559"/>
                </a:solidFill>
                <a:latin typeface="Segoe UI Semibold" pitchFamily="34" charset="0"/>
                <a:ea typeface="Segoe UI Semibold" pitchFamily="34" charset="-122"/>
                <a:cs typeface="Segoe UI Semibold" pitchFamily="34" charset="-120"/>
              </a:rPr>
              <a:t>hilarious · delighted</a:t>
            </a:r>
            <a:pPr indent="0" marL="0">
              <a:spcAft>
                <a:spcPts val="200"/>
              </a:spcAft>
              <a:buNone/>
            </a:pPr>
            <a:r>
              <a:rPr lang="en-US" sz="700" dirty="0">
                <a:solidFill>
                  <a:srgbClr val="5B6785"/>
                </a:solidFill>
                <a:latin typeface="Segoe UI Semibold" pitchFamily="34" charset="0"/>
                <a:ea typeface="Segoe UI Semibold" pitchFamily="34" charset="-122"/>
                <a:cs typeface="Segoe UI Semibold" pitchFamily="34" charset="-120"/>
              </a:rPr>
              <a:t>  – esilarante · felicissimo</a:t>
            </a:r>
            <a:endParaRPr lang="en-US" sz="700" dirty="0"/>
          </a:p>
        </p:txBody>
      </p:sp>
      <p:sp>
        <p:nvSpPr>
          <p:cNvPr id="18" name="R1_sb445"/>
          <p:cNvSpPr/>
          <p:nvPr/>
        </p:nvSpPr>
        <p:spPr>
          <a:xfrm>
            <a:off x="3200400" y="1453896"/>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9" name="R1_sl446"/>
          <p:cNvSpPr/>
          <p:nvPr/>
        </p:nvSpPr>
        <p:spPr>
          <a:xfrm>
            <a:off x="3584448" y="1417320"/>
            <a:ext cx="5303520" cy="499872"/>
          </a:xfrm>
          <a:prstGeom prst="roundRect">
            <a:avLst>
              <a:gd name="adj" fmla="val 21951"/>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Luca climbs Etna for charity. At the top it's </a:t>
            </a:r>
            <a:pPr indent="0" marL="0">
              <a:buNone/>
            </a:pPr>
            <a:r>
              <a:rPr lang="en-US" sz="1150" b="1" dirty="0">
                <a:solidFill>
                  <a:srgbClr val="7B5CD6"/>
                </a:solidFill>
                <a:highlight>
                  <a:srgbClr val="FFF1A8"/>
                </a:highlight>
                <a:latin typeface="Segoe UI Semibold" pitchFamily="34" charset="0"/>
                <a:ea typeface="Segoe UI Semibold" pitchFamily="34" charset="-122"/>
                <a:cs typeface="Segoe UI Semibold" pitchFamily="34" charset="-120"/>
              </a:rPr>
              <a:t>absolutely freezing</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a:t>
            </a:r>
            <a:endParaRPr lang="en-US" sz="11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Does Luca climb Etna or Vesuvius? · Is it hot or freezing at the top?</a:t>
            </a:r>
            <a:endParaRPr lang="en-US" sz="1150" dirty="0"/>
          </a:p>
        </p:txBody>
      </p:sp>
      <p:sp>
        <p:nvSpPr>
          <p:cNvPr id="20" name="R2_sb447"/>
          <p:cNvSpPr/>
          <p:nvPr/>
        </p:nvSpPr>
        <p:spPr>
          <a:xfrm>
            <a:off x="3200400" y="2017776"/>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1" name="R2_sl448"/>
          <p:cNvSpPr/>
          <p:nvPr/>
        </p:nvSpPr>
        <p:spPr>
          <a:xfrm>
            <a:off x="3584448" y="1981200"/>
            <a:ext cx="5303520" cy="499872"/>
          </a:xfrm>
          <a:prstGeom prst="roundRect">
            <a:avLst>
              <a:gd name="adj" fmla="val 21951"/>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He walks for ten hours. Now he's </a:t>
            </a:r>
            <a:pPr indent="0" marL="0">
              <a:buNone/>
            </a:pPr>
            <a:r>
              <a:rPr lang="en-US" sz="1150" b="1" dirty="0">
                <a:solidFill>
                  <a:srgbClr val="7B5CD6"/>
                </a:solidFill>
                <a:highlight>
                  <a:srgbClr val="FFF1A8"/>
                </a:highlight>
                <a:latin typeface="Segoe UI Semibold" pitchFamily="34" charset="0"/>
                <a:ea typeface="Segoe UI Semibold" pitchFamily="34" charset="-122"/>
                <a:cs typeface="Segoe UI Semibold" pitchFamily="34" charset="-120"/>
              </a:rPr>
              <a:t>completely exhausted</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a:t>
            </a:r>
            <a:endParaRPr lang="en-US" sz="11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Is Luca a bit tired or exhausted? · How many hours does he walk?</a:t>
            </a:r>
            <a:endParaRPr lang="en-US" sz="1150" dirty="0"/>
          </a:p>
        </p:txBody>
      </p:sp>
      <p:sp>
        <p:nvSpPr>
          <p:cNvPr id="22" name="R3_sb449"/>
          <p:cNvSpPr/>
          <p:nvPr/>
        </p:nvSpPr>
        <p:spPr>
          <a:xfrm>
            <a:off x="3200400" y="2581656"/>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3" name="R3_sl450"/>
          <p:cNvSpPr/>
          <p:nvPr/>
        </p:nvSpPr>
        <p:spPr>
          <a:xfrm>
            <a:off x="3584448" y="2545080"/>
            <a:ext cx="5303520" cy="499872"/>
          </a:xfrm>
          <a:prstGeom prst="roundRect">
            <a:avLst>
              <a:gd name="adj" fmla="val 21951"/>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He hasn't eaten all day. He's </a:t>
            </a:r>
            <a:pPr indent="0" marL="0">
              <a:buNone/>
            </a:pPr>
            <a:r>
              <a:rPr lang="en-US" sz="1150" b="1" dirty="0">
                <a:solidFill>
                  <a:srgbClr val="7B5CD6"/>
                </a:solidFill>
                <a:highlight>
                  <a:srgbClr val="FFF1A8"/>
                </a:highlight>
                <a:latin typeface="Segoe UI Semibold" pitchFamily="34" charset="0"/>
                <a:ea typeface="Segoe UI Semibold" pitchFamily="34" charset="-122"/>
                <a:cs typeface="Segoe UI Semibold" pitchFamily="34" charset="-120"/>
              </a:rPr>
              <a:t>starving</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But his bag is empty.</a:t>
            </a:r>
            <a:endParaRPr lang="en-US" sz="11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Is he hungry or starving? · What's NOT in his bag? (you decide!)</a:t>
            </a:r>
            <a:endParaRPr lang="en-US" sz="1150" dirty="0"/>
          </a:p>
        </p:txBody>
      </p:sp>
      <p:sp>
        <p:nvSpPr>
          <p:cNvPr id="24" name="R4_sb451"/>
          <p:cNvSpPr/>
          <p:nvPr/>
        </p:nvSpPr>
        <p:spPr>
          <a:xfrm>
            <a:off x="3200400" y="3145536"/>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5" name="R4_sl452"/>
          <p:cNvSpPr/>
          <p:nvPr/>
        </p:nvSpPr>
        <p:spPr>
          <a:xfrm>
            <a:off x="3584448" y="3108960"/>
            <a:ext cx="5303520" cy="499872"/>
          </a:xfrm>
          <a:prstGeom prst="roundRect">
            <a:avLst>
              <a:gd name="adj" fmla="val 21951"/>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On the way down he falls in the mud. His clothes are </a:t>
            </a:r>
            <a:pPr indent="0" marL="0">
              <a:buNone/>
            </a:pPr>
            <a:r>
              <a:rPr lang="en-US" sz="1050" b="1" dirty="0">
                <a:solidFill>
                  <a:srgbClr val="7B5CD6"/>
                </a:solidFill>
                <a:highlight>
                  <a:srgbClr val="FFF1A8"/>
                </a:highlight>
                <a:latin typeface="Segoe UI Semibold" pitchFamily="34" charset="0"/>
                <a:ea typeface="Segoe UI Semibold" pitchFamily="34" charset="-122"/>
                <a:cs typeface="Segoe UI Semibold" pitchFamily="34" charset="-120"/>
              </a:rPr>
              <a:t>absolutely filthy</a:t>
            </a:r>
            <a:pPr indent="0" marL="0">
              <a:buNone/>
            </a:pPr>
            <a:r>
              <a:rPr lang="en-US" sz="1050" dirty="0">
                <a:solidFill>
                  <a:srgbClr val="1B2559"/>
                </a:solidFill>
                <a:latin typeface="Segoe UI Semibold" pitchFamily="34" charset="0"/>
                <a:ea typeface="Segoe UI Semibold" pitchFamily="34" charset="-122"/>
                <a:cs typeface="Segoe UI Semibold" pitchFamily="34" charset="-120"/>
              </a:rPr>
              <a:t>.</a:t>
            </a:r>
            <a:endParaRPr lang="en-US" sz="1050" dirty="0"/>
          </a:p>
          <a:p>
            <a:pPr indent="0" marL="0">
              <a:buNone/>
            </a:pPr>
            <a:r>
              <a:rPr lang="en-US" sz="800" i="1" dirty="0">
                <a:solidFill>
                  <a:srgbClr val="5B6785"/>
                </a:solidFill>
                <a:latin typeface="Segoe UI Semibold" pitchFamily="34" charset="0"/>
                <a:ea typeface="Segoe UI Semibold" pitchFamily="34" charset="-122"/>
                <a:cs typeface="Segoe UI Semibold" pitchFamily="34" charset="-120"/>
              </a:rPr>
              <a:t>❓ Are his clothes clean or filthy? · Where does he fall?</a:t>
            </a:r>
            <a:endParaRPr lang="en-US" sz="1050" dirty="0"/>
          </a:p>
        </p:txBody>
      </p:sp>
      <p:sp>
        <p:nvSpPr>
          <p:cNvPr id="26" name="R5_sb453"/>
          <p:cNvSpPr/>
          <p:nvPr/>
        </p:nvSpPr>
        <p:spPr>
          <a:xfrm>
            <a:off x="3200400" y="3709416"/>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7" name="R5_sl454"/>
          <p:cNvSpPr/>
          <p:nvPr/>
        </p:nvSpPr>
        <p:spPr>
          <a:xfrm>
            <a:off x="3584448" y="3672840"/>
            <a:ext cx="5303520" cy="499872"/>
          </a:xfrm>
          <a:prstGeom prst="roundRect">
            <a:avLst>
              <a:gd name="adj" fmla="val 21951"/>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He gets home. Mum sees the kitchen floor. She's </a:t>
            </a:r>
            <a:pPr indent="0" marL="0">
              <a:buNone/>
            </a:pPr>
            <a:r>
              <a:rPr lang="en-US" sz="1150" b="1" dirty="0">
                <a:solidFill>
                  <a:srgbClr val="7B5CD6"/>
                </a:solidFill>
                <a:highlight>
                  <a:srgbClr val="FFF1A8"/>
                </a:highlight>
                <a:latin typeface="Segoe UI Semibold" pitchFamily="34" charset="0"/>
                <a:ea typeface="Segoe UI Semibold" pitchFamily="34" charset="-122"/>
                <a:cs typeface="Segoe UI Semibold" pitchFamily="34" charset="-120"/>
              </a:rPr>
              <a:t>furious</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a:t>
            </a:r>
            <a:endParaRPr lang="en-US" sz="11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Is Mum pleased or furious? · Why is she furious?</a:t>
            </a:r>
            <a:endParaRPr lang="en-US" sz="1150" dirty="0"/>
          </a:p>
        </p:txBody>
      </p:sp>
      <p:sp>
        <p:nvSpPr>
          <p:cNvPr id="28" name="R6_sb455"/>
          <p:cNvSpPr/>
          <p:nvPr/>
        </p:nvSpPr>
        <p:spPr>
          <a:xfrm>
            <a:off x="3200400" y="4273296"/>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29" name="R6_sl456"/>
          <p:cNvSpPr/>
          <p:nvPr/>
        </p:nvSpPr>
        <p:spPr>
          <a:xfrm>
            <a:off x="3584448" y="4236720"/>
            <a:ext cx="5303520" cy="499872"/>
          </a:xfrm>
          <a:prstGeom prst="roundRect">
            <a:avLst>
              <a:gd name="adj" fmla="val 21951"/>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But he's raised €500! The photos are </a:t>
            </a:r>
            <a:pPr indent="0" marL="0">
              <a:buNone/>
            </a:pPr>
            <a:r>
              <a:rPr lang="en-US" sz="1050" b="1" dirty="0">
                <a:solidFill>
                  <a:srgbClr val="7B5CD6"/>
                </a:solidFill>
                <a:highlight>
                  <a:srgbClr val="FFF1A8"/>
                </a:highlight>
                <a:latin typeface="Segoe UI Semibold" pitchFamily="34" charset="0"/>
                <a:ea typeface="Segoe UI Semibold" pitchFamily="34" charset="-122"/>
                <a:cs typeface="Segoe UI Semibold" pitchFamily="34" charset="-120"/>
              </a:rPr>
              <a:t>hilarious</a:t>
            </a:r>
            <a:pPr indent="0" marL="0">
              <a:buNone/>
            </a:pPr>
            <a:r>
              <a:rPr lang="en-US" sz="1050" dirty="0">
                <a:solidFill>
                  <a:srgbClr val="1B2559"/>
                </a:solidFill>
                <a:latin typeface="Segoe UI Semibold" pitchFamily="34" charset="0"/>
                <a:ea typeface="Segoe UI Semibold" pitchFamily="34" charset="-122"/>
                <a:cs typeface="Segoe UI Semibold" pitchFamily="34" charset="-120"/>
              </a:rPr>
              <a:t> – now Mum's </a:t>
            </a:r>
            <a:pPr indent="0" marL="0">
              <a:buNone/>
            </a:pPr>
            <a:r>
              <a:rPr lang="en-US" sz="1050" b="1" dirty="0">
                <a:solidFill>
                  <a:srgbClr val="7B5CD6"/>
                </a:solidFill>
                <a:highlight>
                  <a:srgbClr val="FFF1A8"/>
                </a:highlight>
                <a:latin typeface="Segoe UI Semibold" pitchFamily="34" charset="0"/>
                <a:ea typeface="Segoe UI Semibold" pitchFamily="34" charset="-122"/>
                <a:cs typeface="Segoe UI Semibold" pitchFamily="34" charset="-120"/>
              </a:rPr>
              <a:t>delighted</a:t>
            </a:r>
            <a:pPr indent="0" marL="0">
              <a:buNone/>
            </a:pPr>
            <a:r>
              <a:rPr lang="en-US" sz="1050" dirty="0">
                <a:solidFill>
                  <a:srgbClr val="1B2559"/>
                </a:solidFill>
                <a:latin typeface="Segoe UI Semibold" pitchFamily="34" charset="0"/>
                <a:ea typeface="Segoe UI Semibold" pitchFamily="34" charset="-122"/>
                <a:cs typeface="Segoe UI Semibold" pitchFamily="34" charset="-120"/>
              </a:rPr>
              <a:t>.</a:t>
            </a:r>
            <a:endParaRPr lang="en-US" sz="1050" dirty="0"/>
          </a:p>
          <a:p>
            <a:pPr indent="0" marL="0">
              <a:buNone/>
            </a:pPr>
            <a:r>
              <a:rPr lang="en-US" sz="800" i="1" dirty="0">
                <a:solidFill>
                  <a:srgbClr val="5B6785"/>
                </a:solidFill>
                <a:latin typeface="Segoe UI Semibold" pitchFamily="34" charset="0"/>
                <a:ea typeface="Segoe UI Semibold" pitchFamily="34" charset="-122"/>
                <a:cs typeface="Segoe UI Semibold" pitchFamily="34" charset="-120"/>
              </a:rPr>
              <a:t>❓ How much has he raised? · And you – when were you absolutely exhausted?</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10" presetClass="entr" presetSubtype="0"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400"/>
                                        <p:tgtEl>
                                          <p:spTgt spid="2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400"/>
                                        <p:tgtEl>
                                          <p:spTgt spid="26"/>
                                        </p:tgtEl>
                                      </p:cBhvr>
                                    </p:animEffect>
                                  </p:childTnLst>
                                </p:cTn>
                              </p:par>
                              <p:par>
                                <p:cTn id="40" presetID="10" presetClass="entr" presetSubtype="0" fill="hold"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4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400"/>
                                        <p:tgtEl>
                                          <p:spTgt spid="28"/>
                                        </p:tgtEl>
                                      </p:cBhvr>
                                    </p:animEffect>
                                  </p:childTnLst>
                                </p:cTn>
                              </p:par>
                              <p:par>
                                <p:cTn id="48" presetID="10" presetClass="entr" presetSubtype="0" fill="hold" nodeType="with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fade">
                                      <p:cBhvr>
                                        <p:cTn id="50"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57"/>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458" descr="/home/claude/lls-course/v2/assets/brush-yellow.png">    </p:cNvPr>
          <p:cNvPicPr>
            <a:picLocks noChangeAspect="1"/>
          </p:cNvPicPr>
          <p:nvPr/>
        </p:nvPicPr>
        <p:blipFill>
          <a:blip r:embed="rId2"/>
          <a:stretch>
            <a:fillRect/>
          </a:stretch>
        </p:blipFill>
        <p:spPr>
          <a:xfrm>
            <a:off x="1097280" y="146304"/>
            <a:ext cx="2461565" cy="621792"/>
          </a:xfrm>
          <a:prstGeom prst="rect">
            <a:avLst/>
          </a:prstGeom>
        </p:spPr>
      </p:pic>
      <p:sp>
        <p:nvSpPr>
          <p:cNvPr id="5" name="title_459"/>
          <p:cNvSpPr/>
          <p:nvPr/>
        </p:nvSpPr>
        <p:spPr>
          <a:xfrm>
            <a:off x="1261872" y="164592"/>
            <a:ext cx="218724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Upgrade it!</a:t>
            </a:r>
            <a:endParaRPr lang="en-US" sz="2500" dirty="0"/>
          </a:p>
        </p:txBody>
      </p:sp>
      <p:pic>
        <p:nvPicPr>
          <p:cNvPr id="6" name="brP_460" descr="/home/claude/lls-course/v2/assets/brush-pink.png">    </p:cNvPr>
          <p:cNvPicPr>
            <a:picLocks noChangeAspect="1"/>
          </p:cNvPicPr>
          <p:nvPr/>
        </p:nvPicPr>
        <p:blipFill>
          <a:blip r:embed="rId3"/>
          <a:stretch>
            <a:fillRect/>
          </a:stretch>
        </p:blipFill>
        <p:spPr>
          <a:xfrm>
            <a:off x="1207008" y="731520"/>
            <a:ext cx="3424428" cy="402336"/>
          </a:xfrm>
          <a:prstGeom prst="rect">
            <a:avLst/>
          </a:prstGeom>
        </p:spPr>
      </p:pic>
      <p:sp>
        <p:nvSpPr>
          <p:cNvPr id="7" name="ins_461"/>
          <p:cNvSpPr/>
          <p:nvPr/>
        </p:nvSpPr>
        <p:spPr>
          <a:xfrm>
            <a:off x="1353312" y="731520"/>
            <a:ext cx="316839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Answer with a STRONG adjective!</a:t>
            </a:r>
            <a:endParaRPr lang="en-US" sz="1250" dirty="0"/>
          </a:p>
        </p:txBody>
      </p:sp>
      <p:sp>
        <p:nvSpPr>
          <p:cNvPr id="8" name="insIT_46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Rispondi con un aggettivo FORTE!</a:t>
            </a:r>
            <a:endParaRPr lang="en-US" sz="950" dirty="0"/>
          </a:p>
        </p:txBody>
      </p:sp>
      <p:sp>
        <p:nvSpPr>
          <p:cNvPr id="9" name="note_46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PLAY</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teams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Communicative game</a:t>
            </a:r>
            <a:endParaRPr lang="en-US" sz="1150" dirty="0"/>
          </a:p>
        </p:txBody>
      </p:sp>
      <p:pic>
        <p:nvPicPr>
          <p:cNvPr id="10" name="logo_46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6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2B-2 · Vocabulary game   ·   📖 SB p.23 · 7d (Communication Are you hungry? A p.106, B p.111 – adapted)</a:t>
            </a:r>
            <a:endParaRPr lang="en-US" sz="800" dirty="0"/>
          </a:p>
        </p:txBody>
      </p:sp>
      <p:sp>
        <p:nvSpPr>
          <p:cNvPr id="12" name="cd_466"/>
          <p:cNvSpPr/>
          <p:nvPr/>
        </p:nvSpPr>
        <p:spPr>
          <a:xfrm>
            <a:off x="320040" y="1417320"/>
            <a:ext cx="2697480" cy="2514600"/>
          </a:xfrm>
          <a:prstGeom prst="roundRect">
            <a:avLst>
              <a:gd name="adj" fmla="val 5091"/>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467"/>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468"/>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5" name="il_469"/>
          <p:cNvSpPr/>
          <p:nvPr/>
        </p:nvSpPr>
        <p:spPr>
          <a:xfrm>
            <a:off x="886968" y="1911096"/>
            <a:ext cx="2039112" cy="1947672"/>
          </a:xfrm>
          <a:prstGeom prst="rect">
            <a:avLst/>
          </a:prstGeom>
          <a:noFill/>
          <a:ln/>
        </p:spPr>
        <p:txBody>
          <a:bodyPr wrap="square" lIns="0" tIns="0" rIns="0" bIns="0" rtlCol="0" anchor="t">
            <a:normAutofit/>
          </a:bodyPr>
          <a:lstStyle/>
          <a:p>
            <a:pPr marL="152400" indent="-152400">
              <a:spcAft>
                <a:spcPts val="200"/>
              </a:spcAft>
              <a:buSzPct val="100000"/>
              <a:buChar char="•"/>
            </a:pPr>
            <a:r>
              <a:rPr lang="en-US" sz="950" dirty="0">
                <a:solidFill>
                  <a:srgbClr val="1B2559"/>
                </a:solidFill>
                <a:latin typeface="Segoe UI Semibold" pitchFamily="34" charset="0"/>
                <a:ea typeface="Segoe UI Semibold" pitchFamily="34" charset="-122"/>
                <a:cs typeface="Segoe UI Semibold" pitchFamily="34" charset="-120"/>
              </a:rPr>
              <a:t>Listen to the question.</a:t>
            </a:r>
            <a:endParaRPr lang="en-US" sz="950" dirty="0"/>
          </a:p>
          <a:p>
            <a:pPr marL="152400" indent="-152400">
              <a:spcAft>
                <a:spcPts val="200"/>
              </a:spcAft>
              <a:buSzPct val="100000"/>
              <a:buChar char=" "/>
            </a:pPr>
            <a:r>
              <a:rPr lang="en-US" sz="950" dirty="0">
                <a:solidFill>
                  <a:srgbClr val="5B6785"/>
                </a:solidFill>
                <a:latin typeface="Segoe UI Semibold" pitchFamily="34" charset="0"/>
                <a:ea typeface="Segoe UI Semibold" pitchFamily="34" charset="-122"/>
                <a:cs typeface="Segoe UI Semibold" pitchFamily="34" charset="-120"/>
              </a:rPr>
              <a:t>Ascolta la domanda.</a:t>
            </a:r>
            <a:endParaRPr lang="en-US" sz="950" dirty="0"/>
          </a:p>
          <a:p>
            <a:pPr marL="152400" indent="-152400">
              <a:spcBef>
                <a:spcPts val="600"/>
              </a:spcBef>
              <a:spcAft>
                <a:spcPts val="200"/>
              </a:spcAft>
              <a:buSzPct val="100000"/>
              <a:buChar char="•"/>
            </a:pPr>
            <a:r>
              <a:rPr lang="en-US" sz="950" dirty="0">
                <a:solidFill>
                  <a:srgbClr val="1B2559"/>
                </a:solidFill>
                <a:latin typeface="Segoe UI Semibold" pitchFamily="34" charset="0"/>
                <a:ea typeface="Segoe UI Semibold" pitchFamily="34" charset="-122"/>
                <a:cs typeface="Segoe UI Semibold" pitchFamily="34" charset="-120"/>
              </a:rPr>
              <a:t>Teams: answer with a STRONG adjective – 5 seconds!</a:t>
            </a:r>
            <a:endParaRPr lang="en-US" sz="950" dirty="0"/>
          </a:p>
          <a:p>
            <a:pPr marL="152400" indent="-152400">
              <a:spcAft>
                <a:spcPts val="200"/>
              </a:spcAft>
              <a:buSzPct val="100000"/>
              <a:buChar char=" "/>
            </a:pPr>
            <a:r>
              <a:rPr lang="en-US" sz="950" dirty="0">
                <a:solidFill>
                  <a:srgbClr val="5B6785"/>
                </a:solidFill>
                <a:latin typeface="Segoe UI Semibold" pitchFamily="34" charset="0"/>
                <a:ea typeface="Segoe UI Semibold" pitchFamily="34" charset="-122"/>
                <a:cs typeface="Segoe UI Semibold" pitchFamily="34" charset="-120"/>
              </a:rPr>
              <a:t>Squadre: rispondete con un aggettivo FORTE – 5 secondi!</a:t>
            </a:r>
            <a:endParaRPr lang="en-US" sz="950" dirty="0"/>
          </a:p>
          <a:p>
            <a:pPr marL="152400" indent="-152400">
              <a:spcBef>
                <a:spcPts val="600"/>
              </a:spcBef>
              <a:spcAft>
                <a:spcPts val="200"/>
              </a:spcAft>
              <a:buSzPct val="100000"/>
              <a:buChar char="•"/>
            </a:pPr>
            <a:r>
              <a:rPr lang="en-US" sz="950" dirty="0">
                <a:solidFill>
                  <a:srgbClr val="1B2559"/>
                </a:solidFill>
                <a:latin typeface="Segoe UI Semibold" pitchFamily="34" charset="0"/>
                <a:ea typeface="Segoe UI Semibold" pitchFamily="34" charset="-122"/>
                <a:cs typeface="Segoe UI Semibold" pitchFamily="34" charset="-120"/>
              </a:rPr>
              <a:t>Big stress = 1 point. 'very' = 0!</a:t>
            </a:r>
            <a:endParaRPr lang="en-US" sz="950" dirty="0"/>
          </a:p>
          <a:p>
            <a:pPr marL="152400" indent="-152400">
              <a:spcAft>
                <a:spcPts val="200"/>
              </a:spcAft>
              <a:buSzPct val="100000"/>
              <a:buChar char=" "/>
            </a:pPr>
            <a:r>
              <a:rPr lang="en-US" sz="950" dirty="0">
                <a:solidFill>
                  <a:srgbClr val="5B6785"/>
                </a:solidFill>
                <a:latin typeface="Segoe UI Semibold" pitchFamily="34" charset="0"/>
                <a:ea typeface="Segoe UI Semibold" pitchFamily="34" charset="-122"/>
                <a:cs typeface="Segoe UI Semibold" pitchFamily="34" charset="-120"/>
              </a:rPr>
              <a:t>Accento forte = 1 punto. 'very' = 0!</a:t>
            </a:r>
            <a:endParaRPr lang="en-US" sz="950" dirty="0"/>
          </a:p>
        </p:txBody>
      </p:sp>
      <p:sp>
        <p:nvSpPr>
          <p:cNvPr id="16" name="pf_470"/>
          <p:cNvSpPr/>
          <p:nvPr/>
        </p:nvSpPr>
        <p:spPr>
          <a:xfrm rot="-120000">
            <a:off x="811222" y="4069080"/>
            <a:ext cx="1669396"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7" name="ph_471" descr="/home/claude/lls-course/v2/cache/2b2_starving_jpg_380x253_31.png">    </p:cNvPr>
          <p:cNvPicPr>
            <a:picLocks noChangeAspect="1"/>
          </p:cNvPicPr>
          <p:nvPr/>
        </p:nvPicPr>
        <p:blipFill>
          <a:blip r:embed="rId5"/>
          <a:stretch>
            <a:fillRect/>
          </a:stretch>
        </p:blipFill>
        <p:spPr>
          <a:xfrm rot="-120000">
            <a:off x="856942" y="4114800"/>
            <a:ext cx="1577956" cy="1051560"/>
          </a:xfrm>
          <a:prstGeom prst="rect">
            <a:avLst/>
          </a:prstGeom>
        </p:spPr>
      </p:pic>
      <p:sp>
        <p:nvSpPr>
          <p:cNvPr id="18" name="bd_472"/>
          <p:cNvSpPr/>
          <p:nvPr/>
        </p:nvSpPr>
        <p:spPr>
          <a:xfrm>
            <a:off x="3246120" y="1491234"/>
            <a:ext cx="329184" cy="329184"/>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500" dirty="0">
                <a:solidFill>
                  <a:srgbClr val="FFFFFF"/>
                </a:solidFill>
                <a:latin typeface="Arial Rounded MT Bold" pitchFamily="34" charset="0"/>
                <a:ea typeface="Arial Rounded MT Bold" pitchFamily="34" charset="-122"/>
                <a:cs typeface="Arial Rounded MT Bold" pitchFamily="34" charset="-120"/>
              </a:rPr>
              <a:t>e.g.</a:t>
            </a:r>
            <a:endParaRPr lang="en-US" sz="500" dirty="0"/>
          </a:p>
        </p:txBody>
      </p:sp>
      <p:sp>
        <p:nvSpPr>
          <p:cNvPr id="19" name="gq_473"/>
          <p:cNvSpPr/>
          <p:nvPr/>
        </p:nvSpPr>
        <p:spPr>
          <a:xfrm>
            <a:off x="3657600" y="1417320"/>
            <a:ext cx="2514600" cy="477012"/>
          </a:xfrm>
          <a:prstGeom prst="roundRect">
            <a:avLst>
              <a:gd name="adj" fmla="val 19169"/>
            </a:avLst>
          </a:prstGeom>
          <a:solidFill>
            <a:srgbClr val="EEE8FB"/>
          </a:solidFill>
          <a:ln w="28575">
            <a:solidFill>
              <a:srgbClr val="CDBFF3"/>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Is the sea cold in January?</a:t>
            </a:r>
            <a:endParaRPr lang="en-US" sz="1250" dirty="0"/>
          </a:p>
        </p:txBody>
      </p:sp>
      <p:sp>
        <p:nvSpPr>
          <p:cNvPr id="20" name="chip_474"/>
          <p:cNvSpPr/>
          <p:nvPr/>
        </p:nvSpPr>
        <p:spPr>
          <a:xfrm>
            <a:off x="6263640" y="1417320"/>
            <a:ext cx="2560320" cy="477012"/>
          </a:xfrm>
          <a:prstGeom prst="roundRect">
            <a:avLst>
              <a:gd name="adj" fmla="val 19169"/>
            </a:avLst>
          </a:prstGeom>
          <a:solidFill>
            <a:srgbClr val="EEE8FB"/>
          </a:solidFill>
          <a:ln w="28575">
            <a:solidFill>
              <a:srgbClr val="CDBFF3"/>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Cold? It's absolutely freezing!</a:t>
            </a:r>
            <a:endParaRPr lang="en-US" sz="1200" dirty="0"/>
          </a:p>
        </p:txBody>
      </p:sp>
      <p:sp>
        <p:nvSpPr>
          <p:cNvPr id="21" name="bd_475"/>
          <p:cNvSpPr/>
          <p:nvPr/>
        </p:nvSpPr>
        <p:spPr>
          <a:xfrm>
            <a:off x="3246120" y="203225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gq_476"/>
          <p:cNvSpPr/>
          <p:nvPr/>
        </p:nvSpPr>
        <p:spPr>
          <a:xfrm>
            <a:off x="3657600" y="195834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Are you hungry? It's 2 o'clock!</a:t>
            </a:r>
            <a:endParaRPr lang="en-US" sz="1250" dirty="0"/>
          </a:p>
        </p:txBody>
      </p:sp>
      <p:sp>
        <p:nvSpPr>
          <p:cNvPr id="23" name="R1_chip477"/>
          <p:cNvSpPr/>
          <p:nvPr/>
        </p:nvSpPr>
        <p:spPr>
          <a:xfrm>
            <a:off x="6263640" y="195834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Hungry? I'm starving!</a:t>
            </a:r>
            <a:endParaRPr lang="en-US" sz="1200" dirty="0"/>
          </a:p>
        </p:txBody>
      </p:sp>
      <p:sp>
        <p:nvSpPr>
          <p:cNvPr id="24" name="bd_478"/>
          <p:cNvSpPr/>
          <p:nvPr/>
        </p:nvSpPr>
        <p:spPr>
          <a:xfrm>
            <a:off x="3246120" y="2573274"/>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5" name="gq_479"/>
          <p:cNvSpPr/>
          <p:nvPr/>
        </p:nvSpPr>
        <p:spPr>
          <a:xfrm>
            <a:off x="3657600" y="2499360"/>
            <a:ext cx="2514600" cy="477012"/>
          </a:xfrm>
          <a:prstGeom prst="roundRect">
            <a:avLst>
              <a:gd name="adj" fmla="val 19169"/>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Was Palermo hot in August?</a:t>
            </a:r>
            <a:endParaRPr lang="en-US" sz="1250" dirty="0"/>
          </a:p>
        </p:txBody>
      </p:sp>
      <p:sp>
        <p:nvSpPr>
          <p:cNvPr id="26" name="R2_chip480"/>
          <p:cNvSpPr/>
          <p:nvPr/>
        </p:nvSpPr>
        <p:spPr>
          <a:xfrm>
            <a:off x="6263640" y="249936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Hot? It was boiling!</a:t>
            </a:r>
            <a:endParaRPr lang="en-US" sz="1200" dirty="0"/>
          </a:p>
        </p:txBody>
      </p:sp>
      <p:sp>
        <p:nvSpPr>
          <p:cNvPr id="27" name="bd_481"/>
          <p:cNvSpPr/>
          <p:nvPr/>
        </p:nvSpPr>
        <p:spPr>
          <a:xfrm>
            <a:off x="3246120" y="311429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8" name="gq_482"/>
          <p:cNvSpPr/>
          <p:nvPr/>
        </p:nvSpPr>
        <p:spPr>
          <a:xfrm>
            <a:off x="3657600" y="3040380"/>
            <a:ext cx="2514600" cy="477012"/>
          </a:xfrm>
          <a:prstGeom prst="roundRect">
            <a:avLst>
              <a:gd name="adj" fmla="val 19169"/>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Is your brother's bedroom dirty?</a:t>
            </a:r>
            <a:endParaRPr lang="en-US" sz="1250" dirty="0"/>
          </a:p>
        </p:txBody>
      </p:sp>
      <p:sp>
        <p:nvSpPr>
          <p:cNvPr id="29" name="R3_chip483"/>
          <p:cNvSpPr/>
          <p:nvPr/>
        </p:nvSpPr>
        <p:spPr>
          <a:xfrm>
            <a:off x="6263640" y="304038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Dirty? It's absolutely filthy!</a:t>
            </a:r>
            <a:endParaRPr lang="en-US" sz="1200" dirty="0"/>
          </a:p>
        </p:txBody>
      </p:sp>
      <p:sp>
        <p:nvSpPr>
          <p:cNvPr id="30" name="bd_484"/>
          <p:cNvSpPr/>
          <p:nvPr/>
        </p:nvSpPr>
        <p:spPr>
          <a:xfrm>
            <a:off x="3246120" y="3655314"/>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1" name="gq_485"/>
          <p:cNvSpPr/>
          <p:nvPr/>
        </p:nvSpPr>
        <p:spPr>
          <a:xfrm>
            <a:off x="3657600" y="3581400"/>
            <a:ext cx="2514600" cy="477012"/>
          </a:xfrm>
          <a:prstGeom prst="roundRect">
            <a:avLst>
              <a:gd name="adj" fmla="val 19169"/>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Was the comedy funny?</a:t>
            </a:r>
            <a:endParaRPr lang="en-US" sz="1250" dirty="0"/>
          </a:p>
        </p:txBody>
      </p:sp>
      <p:sp>
        <p:nvSpPr>
          <p:cNvPr id="32" name="R4_chip486"/>
          <p:cNvSpPr/>
          <p:nvPr/>
        </p:nvSpPr>
        <p:spPr>
          <a:xfrm>
            <a:off x="6263640" y="358140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Funny? It was hilarious!</a:t>
            </a:r>
            <a:endParaRPr lang="en-US" sz="1200" dirty="0"/>
          </a:p>
        </p:txBody>
      </p:sp>
      <p:sp>
        <p:nvSpPr>
          <p:cNvPr id="33" name="bd_487"/>
          <p:cNvSpPr/>
          <p:nvPr/>
        </p:nvSpPr>
        <p:spPr>
          <a:xfrm>
            <a:off x="3246120" y="419633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4" name="gq_488"/>
          <p:cNvSpPr/>
          <p:nvPr/>
        </p:nvSpPr>
        <p:spPr>
          <a:xfrm>
            <a:off x="3657600" y="412242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Are you tired after the match?</a:t>
            </a:r>
            <a:endParaRPr lang="en-US" sz="1250" dirty="0"/>
          </a:p>
        </p:txBody>
      </p:sp>
      <p:sp>
        <p:nvSpPr>
          <p:cNvPr id="35" name="R5_chip489"/>
          <p:cNvSpPr/>
          <p:nvPr/>
        </p:nvSpPr>
        <p:spPr>
          <a:xfrm>
            <a:off x="6263640" y="412242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Tired? I'm completely exhausted!</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90"/>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17</a:t>
            </a:r>
            <a:endParaRPr lang="en-US" sz="2200" dirty="0"/>
          </a:p>
        </p:txBody>
      </p:sp>
      <p:pic>
        <p:nvPicPr>
          <p:cNvPr id="4" name="brY_491" descr="/home/claude/lls-course/v2/assets/brush-yellow.png">    </p:cNvPr>
          <p:cNvPicPr>
            <a:picLocks noChangeAspect="1"/>
          </p:cNvPicPr>
          <p:nvPr/>
        </p:nvPicPr>
        <p:blipFill>
          <a:blip r:embed="rId2"/>
          <a:stretch>
            <a:fillRect/>
          </a:stretch>
        </p:blipFill>
        <p:spPr>
          <a:xfrm>
            <a:off x="1097280" y="146304"/>
            <a:ext cx="3877056" cy="621792"/>
          </a:xfrm>
          <a:prstGeom prst="rect">
            <a:avLst/>
          </a:prstGeom>
        </p:spPr>
      </p:pic>
      <p:sp>
        <p:nvSpPr>
          <p:cNvPr id="5" name="title_492"/>
          <p:cNvSpPr/>
          <p:nvPr/>
        </p:nvSpPr>
        <p:spPr>
          <a:xfrm>
            <a:off x="1261872" y="164592"/>
            <a:ext cx="360273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worst trip ever!</a:t>
            </a:r>
            <a:endParaRPr lang="en-US" sz="2500" dirty="0"/>
          </a:p>
        </p:txBody>
      </p:sp>
      <p:pic>
        <p:nvPicPr>
          <p:cNvPr id="6" name="brP_493" descr="/home/claude/lls-course/v2/assets/brush-pink.png">    </p:cNvPr>
          <p:cNvPicPr>
            <a:picLocks noChangeAspect="1"/>
          </p:cNvPicPr>
          <p:nvPr/>
        </p:nvPicPr>
        <p:blipFill>
          <a:blip r:embed="rId3"/>
          <a:stretch>
            <a:fillRect/>
          </a:stretch>
        </p:blipFill>
        <p:spPr>
          <a:xfrm>
            <a:off x="1207008" y="731520"/>
            <a:ext cx="4293108" cy="402336"/>
          </a:xfrm>
          <a:prstGeom prst="rect">
            <a:avLst/>
          </a:prstGeom>
        </p:spPr>
      </p:pic>
      <p:sp>
        <p:nvSpPr>
          <p:cNvPr id="7" name="ins_494"/>
          <p:cNvSpPr/>
          <p:nvPr/>
        </p:nvSpPr>
        <p:spPr>
          <a:xfrm>
            <a:off x="1353312" y="731520"/>
            <a:ext cx="403707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Finish the story with a strong adjective!</a:t>
            </a:r>
            <a:endParaRPr lang="en-US" sz="1250" dirty="0"/>
          </a:p>
        </p:txBody>
      </p:sp>
      <p:sp>
        <p:nvSpPr>
          <p:cNvPr id="8" name="insIT_49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Finisci la storia con un aggettivo forte!</a:t>
            </a:r>
            <a:endParaRPr lang="en-US" sz="950" dirty="0"/>
          </a:p>
        </p:txBody>
      </p:sp>
      <p:sp>
        <p:nvSpPr>
          <p:cNvPr id="9" name="note_496"/>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PLAY</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teams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 game</a:t>
            </a:r>
            <a:endParaRPr lang="en-US" sz="1150" dirty="0"/>
          </a:p>
        </p:txBody>
      </p:sp>
      <p:pic>
        <p:nvPicPr>
          <p:cNvPr id="10" name="logo_49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9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2B-2 · Speaking game · story chain   ·   📖 Strong adjectives · SB p.22 6e (an exciting experience)</a:t>
            </a:r>
            <a:endParaRPr lang="en-US" sz="800" dirty="0"/>
          </a:p>
        </p:txBody>
      </p:sp>
      <p:sp>
        <p:nvSpPr>
          <p:cNvPr id="12" name="cd_499"/>
          <p:cNvSpPr/>
          <p:nvPr/>
        </p:nvSpPr>
        <p:spPr>
          <a:xfrm>
            <a:off x="320040" y="1417320"/>
            <a:ext cx="2697480" cy="2514600"/>
          </a:xfrm>
          <a:prstGeom prst="roundRect">
            <a:avLst>
              <a:gd name="adj" fmla="val 5091"/>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500"/>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501"/>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5" name="il_502"/>
          <p:cNvSpPr/>
          <p:nvPr/>
        </p:nvSpPr>
        <p:spPr>
          <a:xfrm>
            <a:off x="886968" y="1911096"/>
            <a:ext cx="2039112" cy="1947672"/>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Read the start of the sentence.</a:t>
            </a:r>
            <a:endParaRPr lang="en-US" sz="900" dirty="0"/>
          </a:p>
          <a:p>
            <a:pPr marL="152400" indent="-152400">
              <a:spcAft>
                <a:spcPts val="200"/>
              </a:spcAft>
              <a:buSzPct val="100000"/>
              <a:buChar char=" "/>
            </a:pPr>
            <a:r>
              <a:rPr lang="en-US" sz="900" dirty="0">
                <a:solidFill>
                  <a:srgbClr val="5B6785"/>
                </a:solidFill>
                <a:latin typeface="Segoe UI Semibold" pitchFamily="34" charset="0"/>
                <a:ea typeface="Segoe UI Semibold" pitchFamily="34" charset="-122"/>
                <a:cs typeface="Segoe UI Semibold" pitchFamily="34" charset="-120"/>
              </a:rPr>
              <a:t>Leggi l'inizio della frase.</a:t>
            </a:r>
            <a:endParaRPr lang="en-US" sz="900" dirty="0"/>
          </a:p>
          <a:p>
            <a:pPr marL="152400" indent="-152400">
              <a:spcBef>
                <a:spcPts val="6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Teams: finish it with a strong adjective. No repeats!</a:t>
            </a:r>
            <a:endParaRPr lang="en-US" sz="900" dirty="0"/>
          </a:p>
          <a:p>
            <a:pPr marL="152400" indent="-152400">
              <a:spcAft>
                <a:spcPts val="200"/>
              </a:spcAft>
              <a:buSzPct val="100000"/>
              <a:buChar char=" "/>
            </a:pPr>
            <a:r>
              <a:rPr lang="en-US" sz="900" dirty="0">
                <a:solidFill>
                  <a:srgbClr val="5B6785"/>
                </a:solidFill>
                <a:latin typeface="Segoe UI Semibold" pitchFamily="34" charset="0"/>
                <a:ea typeface="Segoe UI Semibold" pitchFamily="34" charset="-122"/>
                <a:cs typeface="Segoe UI Semibold" pitchFamily="34" charset="-120"/>
              </a:rPr>
              <a:t>Squadre: finitela con un aggettivo forte. Niente ripetizioni!</a:t>
            </a:r>
            <a:endParaRPr lang="en-US" sz="900" dirty="0"/>
          </a:p>
          <a:p>
            <a:pPr marL="152400" indent="-152400">
              <a:spcBef>
                <a:spcPts val="6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Funniest correct ending = 1 point.</a:t>
            </a:r>
            <a:endParaRPr lang="en-US" sz="900" dirty="0"/>
          </a:p>
          <a:p>
            <a:pPr marL="152400" indent="-152400">
              <a:spcAft>
                <a:spcPts val="200"/>
              </a:spcAft>
              <a:buSzPct val="100000"/>
              <a:buChar char=" "/>
            </a:pPr>
            <a:r>
              <a:rPr lang="en-US" sz="900" dirty="0">
                <a:solidFill>
                  <a:srgbClr val="5B6785"/>
                </a:solidFill>
                <a:latin typeface="Segoe UI Semibold" pitchFamily="34" charset="0"/>
                <a:ea typeface="Segoe UI Semibold" pitchFamily="34" charset="-122"/>
                <a:cs typeface="Segoe UI Semibold" pitchFamily="34" charset="-120"/>
              </a:rPr>
              <a:t>Il finale corretto più divertente = 1 punto.</a:t>
            </a:r>
            <a:endParaRPr lang="en-US" sz="900" dirty="0"/>
          </a:p>
        </p:txBody>
      </p:sp>
      <p:sp>
        <p:nvSpPr>
          <p:cNvPr id="16" name="pf_503"/>
          <p:cNvSpPr/>
          <p:nvPr/>
        </p:nvSpPr>
        <p:spPr>
          <a:xfrm rot="-120000">
            <a:off x="811222" y="4069080"/>
            <a:ext cx="1669396"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7" name="ph_504" descr="/home/claude/lls-course/v2/cache/2b2_worst_trip_jpg_380x253_31.png">    </p:cNvPr>
          <p:cNvPicPr>
            <a:picLocks noChangeAspect="1"/>
          </p:cNvPicPr>
          <p:nvPr/>
        </p:nvPicPr>
        <p:blipFill>
          <a:blip r:embed="rId5"/>
          <a:stretch>
            <a:fillRect/>
          </a:stretch>
        </p:blipFill>
        <p:spPr>
          <a:xfrm rot="-120000">
            <a:off x="856942" y="4114800"/>
            <a:ext cx="1577956" cy="1051560"/>
          </a:xfrm>
          <a:prstGeom prst="rect">
            <a:avLst/>
          </a:prstGeom>
        </p:spPr>
      </p:pic>
      <p:sp>
        <p:nvSpPr>
          <p:cNvPr id="18" name="bd_505"/>
          <p:cNvSpPr/>
          <p:nvPr/>
        </p:nvSpPr>
        <p:spPr>
          <a:xfrm>
            <a:off x="3246120" y="1491234"/>
            <a:ext cx="329184" cy="329184"/>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500" dirty="0">
                <a:solidFill>
                  <a:srgbClr val="FFFFFF"/>
                </a:solidFill>
                <a:latin typeface="Arial Rounded MT Bold" pitchFamily="34" charset="0"/>
                <a:ea typeface="Arial Rounded MT Bold" pitchFamily="34" charset="-122"/>
                <a:cs typeface="Arial Rounded MT Bold" pitchFamily="34" charset="-120"/>
              </a:rPr>
              <a:t>e.g.</a:t>
            </a:r>
            <a:endParaRPr lang="en-US" sz="500" dirty="0"/>
          </a:p>
        </p:txBody>
      </p:sp>
      <p:sp>
        <p:nvSpPr>
          <p:cNvPr id="19" name="gq_506"/>
          <p:cNvSpPr/>
          <p:nvPr/>
        </p:nvSpPr>
        <p:spPr>
          <a:xfrm>
            <a:off x="3657600" y="1417320"/>
            <a:ext cx="2514600" cy="477012"/>
          </a:xfrm>
          <a:prstGeom prst="roundRect">
            <a:avLst>
              <a:gd name="adj" fmla="val 19169"/>
            </a:avLst>
          </a:prstGeom>
          <a:solidFill>
            <a:srgbClr val="EEE8FB"/>
          </a:solidFill>
          <a:ln w="28575">
            <a:solidFill>
              <a:srgbClr val="CDBFF3"/>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We got to the hotel. The room was…</a:t>
            </a:r>
            <a:endParaRPr lang="en-US" sz="1250" dirty="0"/>
          </a:p>
        </p:txBody>
      </p:sp>
      <p:sp>
        <p:nvSpPr>
          <p:cNvPr id="20" name="chip_507"/>
          <p:cNvSpPr/>
          <p:nvPr/>
        </p:nvSpPr>
        <p:spPr>
          <a:xfrm>
            <a:off x="6263640" y="1417320"/>
            <a:ext cx="2560320" cy="477012"/>
          </a:xfrm>
          <a:prstGeom prst="roundRect">
            <a:avLst>
              <a:gd name="adj" fmla="val 19169"/>
            </a:avLst>
          </a:prstGeom>
          <a:solidFill>
            <a:srgbClr val="EEE8FB"/>
          </a:solidFill>
          <a:ln w="28575">
            <a:solidFill>
              <a:srgbClr val="CDBFF3"/>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e.g. tiny – and absolutely filthy!</a:t>
            </a:r>
            <a:endParaRPr lang="en-US" sz="1200" dirty="0"/>
          </a:p>
        </p:txBody>
      </p:sp>
      <p:sp>
        <p:nvSpPr>
          <p:cNvPr id="21" name="bd_508"/>
          <p:cNvSpPr/>
          <p:nvPr/>
        </p:nvSpPr>
        <p:spPr>
          <a:xfrm>
            <a:off x="3246120" y="203225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gq_509"/>
          <p:cNvSpPr/>
          <p:nvPr/>
        </p:nvSpPr>
        <p:spPr>
          <a:xfrm>
            <a:off x="3657600" y="195834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We went to the beach. The sea was…</a:t>
            </a:r>
            <a:endParaRPr lang="en-US" sz="1250" dirty="0"/>
          </a:p>
        </p:txBody>
      </p:sp>
      <p:sp>
        <p:nvSpPr>
          <p:cNvPr id="23" name="R1_chip510"/>
          <p:cNvSpPr/>
          <p:nvPr/>
        </p:nvSpPr>
        <p:spPr>
          <a:xfrm>
            <a:off x="6263640" y="195834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e.g. freezing! It was April!</a:t>
            </a:r>
            <a:endParaRPr lang="en-US" sz="1200" dirty="0"/>
          </a:p>
        </p:txBody>
      </p:sp>
      <p:sp>
        <p:nvSpPr>
          <p:cNvPr id="24" name="bd_511"/>
          <p:cNvSpPr/>
          <p:nvPr/>
        </p:nvSpPr>
        <p:spPr>
          <a:xfrm>
            <a:off x="3246120" y="2573274"/>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5" name="gq_512"/>
          <p:cNvSpPr/>
          <p:nvPr/>
        </p:nvSpPr>
        <p:spPr>
          <a:xfrm>
            <a:off x="3657600" y="2499360"/>
            <a:ext cx="2514600" cy="477012"/>
          </a:xfrm>
          <a:prstGeom prst="roundRect">
            <a:avLst>
              <a:gd name="adj" fmla="val 19169"/>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All the restaurants were closed. We were…</a:t>
            </a:r>
            <a:endParaRPr lang="en-US" sz="1250" dirty="0"/>
          </a:p>
        </p:txBody>
      </p:sp>
      <p:sp>
        <p:nvSpPr>
          <p:cNvPr id="26" name="R2_chip513"/>
          <p:cNvSpPr/>
          <p:nvPr/>
        </p:nvSpPr>
        <p:spPr>
          <a:xfrm>
            <a:off x="6263640" y="249936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e.g. starving!</a:t>
            </a:r>
            <a:endParaRPr lang="en-US" sz="1200" dirty="0"/>
          </a:p>
        </p:txBody>
      </p:sp>
      <p:sp>
        <p:nvSpPr>
          <p:cNvPr id="27" name="bd_514"/>
          <p:cNvSpPr/>
          <p:nvPr/>
        </p:nvSpPr>
        <p:spPr>
          <a:xfrm>
            <a:off x="3246120" y="311429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8" name="gq_515"/>
          <p:cNvSpPr/>
          <p:nvPr/>
        </p:nvSpPr>
        <p:spPr>
          <a:xfrm>
            <a:off x="3657600" y="3040380"/>
            <a:ext cx="2514600" cy="477012"/>
          </a:xfrm>
          <a:prstGeom prst="roundRect">
            <a:avLst>
              <a:gd name="adj" fmla="val 19169"/>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Then we got lost in the mountains. I was…</a:t>
            </a:r>
            <a:endParaRPr lang="en-US" sz="1250" dirty="0"/>
          </a:p>
        </p:txBody>
      </p:sp>
      <p:sp>
        <p:nvSpPr>
          <p:cNvPr id="29" name="R3_chip516"/>
          <p:cNvSpPr/>
          <p:nvPr/>
        </p:nvSpPr>
        <p:spPr>
          <a:xfrm>
            <a:off x="6263640" y="304038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e.g. terrified!</a:t>
            </a:r>
            <a:endParaRPr lang="en-US" sz="1200" dirty="0"/>
          </a:p>
        </p:txBody>
      </p:sp>
      <p:sp>
        <p:nvSpPr>
          <p:cNvPr id="30" name="bd_517"/>
          <p:cNvSpPr/>
          <p:nvPr/>
        </p:nvSpPr>
        <p:spPr>
          <a:xfrm>
            <a:off x="3246120" y="3655314"/>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1" name="gq_518"/>
          <p:cNvSpPr/>
          <p:nvPr/>
        </p:nvSpPr>
        <p:spPr>
          <a:xfrm>
            <a:off x="3657600" y="3581400"/>
            <a:ext cx="2514600" cy="477012"/>
          </a:xfrm>
          <a:prstGeom prst="roundRect">
            <a:avLst>
              <a:gd name="adj" fmla="val 19169"/>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We walked for six hours. At the end we were…</a:t>
            </a:r>
            <a:endParaRPr lang="en-US" sz="1250" dirty="0"/>
          </a:p>
        </p:txBody>
      </p:sp>
      <p:sp>
        <p:nvSpPr>
          <p:cNvPr id="32" name="R4_chip519"/>
          <p:cNvSpPr/>
          <p:nvPr/>
        </p:nvSpPr>
        <p:spPr>
          <a:xfrm>
            <a:off x="6263640" y="358140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e.g. completely exhausted.</a:t>
            </a:r>
            <a:endParaRPr lang="en-US" sz="1200" dirty="0"/>
          </a:p>
        </p:txBody>
      </p:sp>
      <p:sp>
        <p:nvSpPr>
          <p:cNvPr id="33" name="bd_520"/>
          <p:cNvSpPr/>
          <p:nvPr/>
        </p:nvSpPr>
        <p:spPr>
          <a:xfrm>
            <a:off x="3246120" y="419633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4" name="gq_521"/>
          <p:cNvSpPr/>
          <p:nvPr/>
        </p:nvSpPr>
        <p:spPr>
          <a:xfrm>
            <a:off x="3657600" y="412242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Mum saw our clothes. She was…</a:t>
            </a:r>
            <a:endParaRPr lang="en-US" sz="1250" dirty="0"/>
          </a:p>
        </p:txBody>
      </p:sp>
      <p:sp>
        <p:nvSpPr>
          <p:cNvPr id="35" name="R5_chip522"/>
          <p:cNvSpPr/>
          <p:nvPr/>
        </p:nvSpPr>
        <p:spPr>
          <a:xfrm>
            <a:off x="6263640" y="412242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e.g. furious! But the photos were hilarious.</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23"/>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18</a:t>
            </a:r>
            <a:endParaRPr lang="en-US" sz="2200" dirty="0"/>
          </a:p>
        </p:txBody>
      </p:sp>
      <p:pic>
        <p:nvPicPr>
          <p:cNvPr id="4" name="brY_524" descr="/home/claude/lls-course/v2/assets/brush-yellow.png">    </p:cNvPr>
          <p:cNvPicPr>
            <a:picLocks noChangeAspect="1"/>
          </p:cNvPicPr>
          <p:nvPr/>
        </p:nvPicPr>
        <p:blipFill>
          <a:blip r:embed="rId2"/>
          <a:stretch>
            <a:fillRect/>
          </a:stretch>
        </p:blipFill>
        <p:spPr>
          <a:xfrm>
            <a:off x="1097280" y="146304"/>
            <a:ext cx="2461565" cy="621792"/>
          </a:xfrm>
          <a:prstGeom prst="rect">
            <a:avLst/>
          </a:prstGeom>
        </p:spPr>
      </p:pic>
      <p:sp>
        <p:nvSpPr>
          <p:cNvPr id="5" name="title_525"/>
          <p:cNvSpPr/>
          <p:nvPr/>
        </p:nvSpPr>
        <p:spPr>
          <a:xfrm>
            <a:off x="1261872" y="164592"/>
            <a:ext cx="218724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Absolutely!</a:t>
            </a:r>
            <a:endParaRPr lang="en-US" sz="2500" dirty="0"/>
          </a:p>
        </p:txBody>
      </p:sp>
      <p:pic>
        <p:nvPicPr>
          <p:cNvPr id="6" name="brP_526"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527"/>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Ask and answer. Use a strong adjective!</a:t>
            </a:r>
            <a:endParaRPr lang="en-US" sz="1250" dirty="0"/>
          </a:p>
        </p:txBody>
      </p:sp>
      <p:sp>
        <p:nvSpPr>
          <p:cNvPr id="8" name="insIT_52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Chiedi e rispondi. Usa un aggettivo forte!</a:t>
            </a:r>
            <a:endParaRPr lang="en-US" sz="950" dirty="0"/>
          </a:p>
        </p:txBody>
      </p:sp>
      <p:sp>
        <p:nvSpPr>
          <p:cNvPr id="9" name="note_52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PARLA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a:t>
            </a:r>
            <a:endParaRPr lang="en-US" sz="1250" dirty="0"/>
          </a:p>
        </p:txBody>
      </p:sp>
      <p:pic>
        <p:nvPicPr>
          <p:cNvPr id="10" name="logo_53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53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2B-2 · Speaking · strong adjectives   ·   📖 SB p.23 · 7e</a:t>
            </a:r>
            <a:endParaRPr lang="en-US" sz="800" dirty="0"/>
          </a:p>
        </p:txBody>
      </p:sp>
      <p:sp>
        <p:nvSpPr>
          <p:cNvPr id="12" name="pf_532"/>
          <p:cNvSpPr/>
          <p:nvPr/>
        </p:nvSpPr>
        <p:spPr>
          <a:xfrm rot="-120000">
            <a:off x="743673" y="1371600"/>
            <a:ext cx="1941655"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533" descr="/home/claude/lls-course/v2/cache/2b2_hilarious_jpg_445x297_31.png">    </p:cNvPr>
          <p:cNvPicPr>
            <a:picLocks noChangeAspect="1"/>
          </p:cNvPicPr>
          <p:nvPr/>
        </p:nvPicPr>
        <p:blipFill>
          <a:blip r:embed="rId5"/>
          <a:stretch>
            <a:fillRect/>
          </a:stretch>
        </p:blipFill>
        <p:spPr>
          <a:xfrm rot="-120000">
            <a:off x="789393" y="1417320"/>
            <a:ext cx="1850215" cy="1234440"/>
          </a:xfrm>
          <a:prstGeom prst="rect">
            <a:avLst/>
          </a:prstGeom>
        </p:spPr>
      </p:pic>
      <p:sp>
        <p:nvSpPr>
          <p:cNvPr id="14" name="cd_534"/>
          <p:cNvSpPr/>
          <p:nvPr/>
        </p:nvSpPr>
        <p:spPr>
          <a:xfrm>
            <a:off x="320040" y="2880360"/>
            <a:ext cx="2788920" cy="1689608"/>
          </a:xfrm>
          <a:prstGeom prst="roundRect">
            <a:avLst>
              <a:gd name="adj" fmla="val 757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535"/>
          <p:cNvSpPr/>
          <p:nvPr/>
        </p:nvSpPr>
        <p:spPr>
          <a:xfrm>
            <a:off x="411480" y="2953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536"/>
          <p:cNvSpPr/>
          <p:nvPr/>
        </p:nvSpPr>
        <p:spPr>
          <a:xfrm>
            <a:off x="886968" y="297180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7" name="il_537"/>
          <p:cNvSpPr/>
          <p:nvPr/>
        </p:nvSpPr>
        <p:spPr>
          <a:xfrm>
            <a:off x="886968" y="3374136"/>
            <a:ext cx="2130552" cy="11226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Really? What happened?</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How did you feel?</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It was absolutely / really…</a:t>
            </a:r>
            <a:endParaRPr lang="en-US" sz="1150" dirty="0"/>
          </a:p>
        </p:txBody>
      </p:sp>
      <p:sp>
        <p:nvSpPr>
          <p:cNvPr id="18" name="R1_qb538"/>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9" name="R1_sq539"/>
          <p:cNvSpPr/>
          <p:nvPr/>
        </p:nvSpPr>
        <p:spPr>
          <a:xfrm>
            <a:off x="3675888" y="1417320"/>
            <a:ext cx="45079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Have you ever been swimming where the water was very cold?</a:t>
            </a:r>
            <a:endParaRPr lang="en-US" sz="10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Yes! Mondello in March – it was absolutely freezing!</a:t>
            </a:r>
            <a:endParaRPr lang="en-US" sz="1000" dirty="0"/>
          </a:p>
        </p:txBody>
      </p:sp>
      <p:pic>
        <p:nvPicPr>
          <p:cNvPr id="20" name="R1_th540" descr="/home/claude/lls-course/v2/cache/2b2_freezing_jpg_154x119_18.png">    </p:cNvPr>
          <p:cNvPicPr>
            <a:picLocks noChangeAspect="1"/>
          </p:cNvPicPr>
          <p:nvPr/>
        </p:nvPicPr>
        <p:blipFill>
          <a:blip r:embed="rId6"/>
          <a:stretch>
            <a:fillRect/>
          </a:stretch>
        </p:blipFill>
        <p:spPr>
          <a:xfrm>
            <a:off x="8257032" y="1435608"/>
            <a:ext cx="640080" cy="493776"/>
          </a:xfrm>
          <a:prstGeom prst="rect">
            <a:avLst/>
          </a:prstGeom>
        </p:spPr>
      </p:pic>
      <p:sp>
        <p:nvSpPr>
          <p:cNvPr id="21" name="R2_qb541"/>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2" name="R2_sq542"/>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Does anything make you angry about drivers or cyclists here?</a:t>
            </a:r>
            <a:endParaRPr lang="en-US" sz="10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Yes! People who park on the pavement make me furious.</a:t>
            </a:r>
            <a:endParaRPr lang="en-US" sz="1000" dirty="0"/>
          </a:p>
        </p:txBody>
      </p:sp>
      <p:sp>
        <p:nvSpPr>
          <p:cNvPr id="23" name="R3_qb543"/>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4" name="R3_sq544"/>
          <p:cNvSpPr/>
          <p:nvPr/>
        </p:nvSpPr>
        <p:spPr>
          <a:xfrm>
            <a:off x="3675888" y="2624328"/>
            <a:ext cx="45079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Are you afraid of any animals or insects?</a:t>
            </a:r>
            <a:endParaRPr lang="en-US" sz="10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Spiders! I'm absolutely terrified of them.</a:t>
            </a:r>
            <a:endParaRPr lang="en-US" sz="1000" dirty="0"/>
          </a:p>
        </p:txBody>
      </p:sp>
      <p:pic>
        <p:nvPicPr>
          <p:cNvPr id="25" name="R3_th545" descr="/home/claude/lls-course/v2/cache/spare_life_fears_jpg_154x119_18.png">    </p:cNvPr>
          <p:cNvPicPr>
            <a:picLocks noChangeAspect="1"/>
          </p:cNvPicPr>
          <p:nvPr/>
        </p:nvPicPr>
        <p:blipFill>
          <a:blip r:embed="rId7"/>
          <a:stretch>
            <a:fillRect/>
          </a:stretch>
        </p:blipFill>
        <p:spPr>
          <a:xfrm>
            <a:off x="8257032" y="2642616"/>
            <a:ext cx="640080" cy="493776"/>
          </a:xfrm>
          <a:prstGeom prst="rect">
            <a:avLst/>
          </a:prstGeom>
        </p:spPr>
      </p:pic>
      <p:sp>
        <p:nvSpPr>
          <p:cNvPr id="26" name="R4_qb546"/>
          <p:cNvSpPr/>
          <p:nvPr/>
        </p:nvSpPr>
        <p:spPr>
          <a:xfrm>
            <a:off x="3273552" y="3264408"/>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R4_sq547"/>
          <p:cNvSpPr/>
          <p:nvPr/>
        </p:nvSpPr>
        <p:spPr>
          <a:xfrm>
            <a:off x="3675888" y="3227832"/>
            <a:ext cx="4507992" cy="530352"/>
          </a:xfrm>
          <a:prstGeom prst="roundRect">
            <a:avLst>
              <a:gd name="adj" fmla="val 2069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What's the hottest place you've been to?</a:t>
            </a:r>
            <a:endParaRPr lang="en-US" sz="10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Seville in July. It was boiling – 44 degrees!</a:t>
            </a:r>
            <a:endParaRPr lang="en-US" sz="1000" dirty="0"/>
          </a:p>
        </p:txBody>
      </p:sp>
      <p:pic>
        <p:nvPicPr>
          <p:cNvPr id="28" name="R4_th548" descr="/home/claude/lls-course/v2/cache/2b2_boiling_jpg_154x119_18.png">    </p:cNvPr>
          <p:cNvPicPr>
            <a:picLocks noChangeAspect="1"/>
          </p:cNvPicPr>
          <p:nvPr/>
        </p:nvPicPr>
        <p:blipFill>
          <a:blip r:embed="rId8"/>
          <a:stretch>
            <a:fillRect/>
          </a:stretch>
        </p:blipFill>
        <p:spPr>
          <a:xfrm>
            <a:off x="8257032" y="3246120"/>
            <a:ext cx="640080" cy="493776"/>
          </a:xfrm>
          <a:prstGeom prst="rect">
            <a:avLst/>
          </a:prstGeom>
        </p:spPr>
      </p:pic>
      <p:sp>
        <p:nvSpPr>
          <p:cNvPr id="29" name="R5_qb549"/>
          <p:cNvSpPr/>
          <p:nvPr/>
        </p:nvSpPr>
        <p:spPr>
          <a:xfrm>
            <a:off x="3273552" y="3867912"/>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0" name="R5_sq550"/>
          <p:cNvSpPr/>
          <p:nvPr/>
        </p:nvSpPr>
        <p:spPr>
          <a:xfrm>
            <a:off x="3675888" y="3831336"/>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Is there a TV comedy series you think is really funny?</a:t>
            </a:r>
            <a:endParaRPr lang="en-US" sz="10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Yes! My favourite sitcom is hilarious – I cry with laughter.</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00"/>
                                        <p:tgtEl>
                                          <p:spTgt spid="2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fade">
                                      <p:cBhvr>
                                        <p:cTn id="48" dur="400"/>
                                        <p:tgtEl>
                                          <p:spTgt spid="29"/>
                                        </p:tgtEl>
                                      </p:cBhvr>
                                    </p:animEffect>
                                  </p:childTnLst>
                                </p:cTn>
                              </p:par>
                              <p:par>
                                <p:cTn id="49" presetID="10" presetClass="entr" presetSubtype="0" fill="hold" nodeType="with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fade">
                                      <p:cBhvr>
                                        <p:cTn id="51"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51"/>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19</a:t>
            </a:r>
            <a:endParaRPr lang="en-US" sz="2200" dirty="0"/>
          </a:p>
        </p:txBody>
      </p:sp>
      <p:pic>
        <p:nvPicPr>
          <p:cNvPr id="4" name="brY_552"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553"/>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The Great OUP Bake Sale</a:t>
            </a:r>
            <a:endParaRPr lang="en-US" sz="2400" dirty="0"/>
          </a:p>
        </p:txBody>
      </p:sp>
      <p:pic>
        <p:nvPicPr>
          <p:cNvPr id="6" name="brP_554" descr="/home/claude/lls-course/v2/assets/brush-pink.png">    </p:cNvPr>
          <p:cNvPicPr>
            <a:picLocks noChangeAspect="1"/>
          </p:cNvPicPr>
          <p:nvPr/>
        </p:nvPicPr>
        <p:blipFill>
          <a:blip r:embed="rId3"/>
          <a:stretch>
            <a:fillRect/>
          </a:stretch>
        </p:blipFill>
        <p:spPr>
          <a:xfrm>
            <a:off x="1207008" y="731520"/>
            <a:ext cx="3424428" cy="402336"/>
          </a:xfrm>
          <a:prstGeom prst="rect">
            <a:avLst/>
          </a:prstGeom>
        </p:spPr>
      </p:pic>
      <p:sp>
        <p:nvSpPr>
          <p:cNvPr id="7" name="ins_555"/>
          <p:cNvSpPr/>
          <p:nvPr/>
        </p:nvSpPr>
        <p:spPr>
          <a:xfrm>
            <a:off x="1353312" y="731520"/>
            <a:ext cx="316839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Watch. Why are these mentioned?</a:t>
            </a:r>
            <a:endParaRPr lang="en-US" sz="1250" dirty="0"/>
          </a:p>
        </p:txBody>
      </p:sp>
      <p:sp>
        <p:nvSpPr>
          <p:cNvPr id="8" name="insIT_55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Guarda. Perché vengono nominati?</a:t>
            </a:r>
            <a:endParaRPr lang="en-US" sz="950" dirty="0"/>
          </a:p>
        </p:txBody>
      </p:sp>
      <p:sp>
        <p:nvSpPr>
          <p:cNvPr id="9" name="note_557"/>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LOOK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LISTEN</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9 min   👤 alone</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Listening · Controlled practice</a:t>
            </a:r>
            <a:endParaRPr lang="en-US" sz="1150" dirty="0"/>
          </a:p>
        </p:txBody>
      </p:sp>
      <p:pic>
        <p:nvPicPr>
          <p:cNvPr id="10" name="logo_55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55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2B-2 · Video listening · The Great OUP Bake Sale   ·   📖 SB p.23 · 8a, 8b · Video 2B (7'27")</a:t>
            </a:r>
            <a:endParaRPr lang="en-US" sz="800" dirty="0"/>
          </a:p>
        </p:txBody>
      </p:sp>
      <p:sp>
        <p:nvSpPr>
          <p:cNvPr id="12" name="cd_560"/>
          <p:cNvSpPr/>
          <p:nvPr/>
        </p:nvSpPr>
        <p:spPr>
          <a:xfrm>
            <a:off x="320040" y="1417320"/>
            <a:ext cx="2697480" cy="969264"/>
          </a:xfrm>
          <a:prstGeom prst="roundRect">
            <a:avLst>
              <a:gd name="adj" fmla="val 1320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561"/>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562"/>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5" name="il_563"/>
          <p:cNvSpPr/>
          <p:nvPr/>
        </p:nvSpPr>
        <p:spPr>
          <a:xfrm>
            <a:off x="886968" y="1911096"/>
            <a:ext cx="2039112" cy="402336"/>
          </a:xfrm>
          <a:prstGeom prst="rect">
            <a:avLst/>
          </a:prstGeom>
          <a:noFill/>
          <a:ln/>
        </p:spPr>
        <p:txBody>
          <a:bodyPr wrap="square" lIns="0" tIns="0" rIns="0" bIns="0" rtlCol="0" anchor="t">
            <a:normAutofit/>
          </a:bodyPr>
          <a:lstStyle/>
          <a:p>
            <a:pPr indent="0" marL="0">
              <a:spcAft>
                <a:spcPts val="200"/>
              </a:spcAft>
              <a:buNone/>
            </a:pPr>
            <a:r>
              <a:rPr lang="en-US" sz="1050" dirty="0">
                <a:solidFill>
                  <a:srgbClr val="1B2559"/>
                </a:solidFill>
                <a:latin typeface="Segoe UI Semibold" pitchFamily="34" charset="0"/>
                <a:ea typeface="Segoe UI Semibold" pitchFamily="34" charset="-122"/>
                <a:cs typeface="Segoe UI Semibold" pitchFamily="34" charset="-120"/>
              </a:rPr>
              <a:t>Daisy Watt → a chef – one of the judges</a:t>
            </a:r>
            <a:endParaRPr lang="en-US" sz="1050" dirty="0"/>
          </a:p>
        </p:txBody>
      </p:sp>
      <p:sp>
        <p:nvSpPr>
          <p:cNvPr id="16" name="pf_564"/>
          <p:cNvSpPr/>
          <p:nvPr/>
        </p:nvSpPr>
        <p:spPr>
          <a:xfrm rot="-90000">
            <a:off x="365760" y="2569464"/>
            <a:ext cx="2606040" cy="2093976"/>
          </a:xfrm>
          <a:prstGeom prst="roundRect">
            <a:avLst>
              <a:gd name="adj" fmla="val 74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7" name="ph_565" descr="/home/claude/lls-course/v2/cache/2b2_bake_sale_jpg_605x482_31.png">    </p:cNvPr>
          <p:cNvPicPr>
            <a:picLocks noChangeAspect="1"/>
          </p:cNvPicPr>
          <p:nvPr/>
        </p:nvPicPr>
        <p:blipFill>
          <a:blip r:embed="rId5"/>
          <a:stretch>
            <a:fillRect/>
          </a:stretch>
        </p:blipFill>
        <p:spPr>
          <a:xfrm rot="-90000">
            <a:off x="411480" y="2615184"/>
            <a:ext cx="2514600" cy="2002536"/>
          </a:xfrm>
          <a:prstGeom prst="rect">
            <a:avLst/>
          </a:prstGeom>
        </p:spPr>
      </p:pic>
      <p:sp>
        <p:nvSpPr>
          <p:cNvPr id="18" name="bd_566"/>
          <p:cNvSpPr/>
          <p:nvPr/>
        </p:nvSpPr>
        <p:spPr>
          <a:xfrm>
            <a:off x="3246120" y="144475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9" name="q_567"/>
          <p:cNvSpPr/>
          <p:nvPr/>
        </p:nvSpPr>
        <p:spPr>
          <a:xfrm>
            <a:off x="3630168" y="1417320"/>
            <a:ext cx="2103120" cy="365760"/>
          </a:xfrm>
          <a:prstGeom prst="roundRect">
            <a:avLst>
              <a:gd name="adj" fmla="val 25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Which cake (1–5) wins?</a:t>
            </a:r>
            <a:endParaRPr lang="en-US" sz="950" dirty="0"/>
          </a:p>
        </p:txBody>
      </p:sp>
      <p:sp>
        <p:nvSpPr>
          <p:cNvPr id="20" name="R1_chip568"/>
          <p:cNvSpPr/>
          <p:nvPr/>
        </p:nvSpPr>
        <p:spPr>
          <a:xfrm>
            <a:off x="5806440" y="141732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2 · the Neapolitan cake</a:t>
            </a:r>
            <a:endParaRPr lang="en-US" sz="950" dirty="0"/>
          </a:p>
        </p:txBody>
      </p:sp>
      <p:sp>
        <p:nvSpPr>
          <p:cNvPr id="21" name="bd_569"/>
          <p:cNvSpPr/>
          <p:nvPr/>
        </p:nvSpPr>
        <p:spPr>
          <a:xfrm>
            <a:off x="3246120" y="185623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2" name="q_570"/>
          <p:cNvSpPr/>
          <p:nvPr/>
        </p:nvSpPr>
        <p:spPr>
          <a:xfrm>
            <a:off x="3630168" y="1828800"/>
            <a:ext cx="2103120" cy="365760"/>
          </a:xfrm>
          <a:prstGeom prst="roundRect">
            <a:avLst>
              <a:gd name="adj" fmla="val 25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the New York Marathon</a:t>
            </a:r>
            <a:endParaRPr lang="en-US" sz="950" dirty="0"/>
          </a:p>
        </p:txBody>
      </p:sp>
      <p:sp>
        <p:nvSpPr>
          <p:cNvPr id="23" name="R2_chip571"/>
          <p:cNvSpPr/>
          <p:nvPr/>
        </p:nvSpPr>
        <p:spPr>
          <a:xfrm>
            <a:off x="5806440" y="182880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raises about $40 million every year</a:t>
            </a:r>
            <a:endParaRPr lang="en-US" sz="950" dirty="0"/>
          </a:p>
        </p:txBody>
      </p:sp>
      <p:sp>
        <p:nvSpPr>
          <p:cNvPr id="24" name="bd_572"/>
          <p:cNvSpPr/>
          <p:nvPr/>
        </p:nvSpPr>
        <p:spPr>
          <a:xfrm>
            <a:off x="3246120" y="22677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5" name="q_573"/>
          <p:cNvSpPr/>
          <p:nvPr/>
        </p:nvSpPr>
        <p:spPr>
          <a:xfrm>
            <a:off x="3630168" y="2240280"/>
            <a:ext cx="2103120" cy="365760"/>
          </a:xfrm>
          <a:prstGeom prst="roundRect">
            <a:avLst>
              <a:gd name="adj" fmla="val 25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The Great British Bake Off</a:t>
            </a:r>
            <a:endParaRPr lang="en-US" sz="950" dirty="0"/>
          </a:p>
        </p:txBody>
      </p:sp>
      <p:sp>
        <p:nvSpPr>
          <p:cNvPr id="26" name="R3_chip574"/>
          <p:cNvSpPr/>
          <p:nvPr/>
        </p:nvSpPr>
        <p:spPr>
          <a:xfrm>
            <a:off x="5806440" y="224028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TV show – made bake sales very popular</a:t>
            </a:r>
            <a:endParaRPr lang="en-US" sz="950" dirty="0"/>
          </a:p>
        </p:txBody>
      </p:sp>
      <p:sp>
        <p:nvSpPr>
          <p:cNvPr id="27" name="bd_575"/>
          <p:cNvSpPr/>
          <p:nvPr/>
        </p:nvSpPr>
        <p:spPr>
          <a:xfrm>
            <a:off x="3246120" y="267919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8" name="q_576"/>
          <p:cNvSpPr/>
          <p:nvPr/>
        </p:nvSpPr>
        <p:spPr>
          <a:xfrm>
            <a:off x="3630168" y="2651760"/>
            <a:ext cx="2103120" cy="365760"/>
          </a:xfrm>
          <a:prstGeom prst="roundRect">
            <a:avLst>
              <a:gd name="adj" fmla="val 25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Macmillan · Adelante Africa</a:t>
            </a:r>
            <a:endParaRPr lang="en-US" sz="950" dirty="0"/>
          </a:p>
        </p:txBody>
      </p:sp>
      <p:sp>
        <p:nvSpPr>
          <p:cNvPr id="29" name="R4_chip577"/>
          <p:cNvSpPr/>
          <p:nvPr/>
        </p:nvSpPr>
        <p:spPr>
          <a:xfrm>
            <a:off x="5806440" y="265176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the two charities the sale is for</a:t>
            </a:r>
            <a:endParaRPr lang="en-US" sz="950" dirty="0"/>
          </a:p>
        </p:txBody>
      </p:sp>
      <p:sp>
        <p:nvSpPr>
          <p:cNvPr id="30" name="bd_578"/>
          <p:cNvSpPr/>
          <p:nvPr/>
        </p:nvSpPr>
        <p:spPr>
          <a:xfrm>
            <a:off x="3246120" y="309067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1" name="q_579"/>
          <p:cNvSpPr/>
          <p:nvPr/>
        </p:nvSpPr>
        <p:spPr>
          <a:xfrm>
            <a:off x="3630168" y="3063240"/>
            <a:ext cx="2103120" cy="365760"/>
          </a:xfrm>
          <a:prstGeom prst="roundRect">
            <a:avLst>
              <a:gd name="adj" fmla="val 25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Viennese Whirls</a:t>
            </a:r>
            <a:endParaRPr lang="en-US" sz="950" dirty="0"/>
          </a:p>
        </p:txBody>
      </p:sp>
      <p:sp>
        <p:nvSpPr>
          <p:cNvPr id="32" name="R5_chip580"/>
          <p:cNvSpPr/>
          <p:nvPr/>
        </p:nvSpPr>
        <p:spPr>
          <a:xfrm>
            <a:off x="5806440" y="306324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Emma's biscuits (buttercream and jam)</a:t>
            </a:r>
            <a:endParaRPr lang="en-US" sz="950" dirty="0"/>
          </a:p>
        </p:txBody>
      </p:sp>
      <p:sp>
        <p:nvSpPr>
          <p:cNvPr id="33" name="bd_581"/>
          <p:cNvSpPr/>
          <p:nvPr/>
        </p:nvSpPr>
        <p:spPr>
          <a:xfrm>
            <a:off x="3246120" y="350215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4" name="q_582"/>
          <p:cNvSpPr/>
          <p:nvPr/>
        </p:nvSpPr>
        <p:spPr>
          <a:xfrm>
            <a:off x="3630168" y="3474720"/>
            <a:ext cx="2103120" cy="365760"/>
          </a:xfrm>
          <a:prstGeom prst="roundRect">
            <a:avLst>
              <a:gd name="adj" fmla="val 25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a stress-reliever</a:t>
            </a:r>
            <a:endParaRPr lang="en-US" sz="950" dirty="0"/>
          </a:p>
        </p:txBody>
      </p:sp>
      <p:sp>
        <p:nvSpPr>
          <p:cNvPr id="35" name="R6_chip583"/>
          <p:cNvSpPr/>
          <p:nvPr/>
        </p:nvSpPr>
        <p:spPr>
          <a:xfrm>
            <a:off x="5806440" y="347472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what baking is for Emma</a:t>
            </a:r>
            <a:endParaRPr lang="en-US" sz="950" dirty="0"/>
          </a:p>
        </p:txBody>
      </p:sp>
      <p:sp>
        <p:nvSpPr>
          <p:cNvPr id="36" name="bd_584"/>
          <p:cNvSpPr/>
          <p:nvPr/>
        </p:nvSpPr>
        <p:spPr>
          <a:xfrm>
            <a:off x="3246120" y="391363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37" name="q_585"/>
          <p:cNvSpPr/>
          <p:nvPr/>
        </p:nvSpPr>
        <p:spPr>
          <a:xfrm>
            <a:off x="3630168" y="3886200"/>
            <a:ext cx="2103120" cy="365760"/>
          </a:xfrm>
          <a:prstGeom prst="roundRect">
            <a:avLst>
              <a:gd name="adj" fmla="val 25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a sponge cake with blueberries</a:t>
            </a:r>
            <a:endParaRPr lang="en-US" sz="950" dirty="0"/>
          </a:p>
        </p:txBody>
      </p:sp>
      <p:sp>
        <p:nvSpPr>
          <p:cNvPr id="38" name="R7_chip586"/>
          <p:cNvSpPr/>
          <p:nvPr/>
        </p:nvSpPr>
        <p:spPr>
          <a:xfrm>
            <a:off x="5806440" y="388620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James's cake</a:t>
            </a:r>
            <a:endParaRPr lang="en-US" sz="950" dirty="0"/>
          </a:p>
        </p:txBody>
      </p:sp>
      <p:sp>
        <p:nvSpPr>
          <p:cNvPr id="39" name="bd_587"/>
          <p:cNvSpPr/>
          <p:nvPr/>
        </p:nvSpPr>
        <p:spPr>
          <a:xfrm>
            <a:off x="3246120" y="432511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8</a:t>
            </a:r>
            <a:endParaRPr lang="en-US" sz="1000" dirty="0"/>
          </a:p>
        </p:txBody>
      </p:sp>
      <p:sp>
        <p:nvSpPr>
          <p:cNvPr id="40" name="q_588"/>
          <p:cNvSpPr/>
          <p:nvPr/>
        </p:nvSpPr>
        <p:spPr>
          <a:xfrm>
            <a:off x="3630168" y="4297680"/>
            <a:ext cx="2103120" cy="365760"/>
          </a:xfrm>
          <a:prstGeom prst="roundRect">
            <a:avLst>
              <a:gd name="adj" fmla="val 25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£270</a:t>
            </a:r>
            <a:endParaRPr lang="en-US" sz="950" dirty="0"/>
          </a:p>
        </p:txBody>
      </p:sp>
      <p:sp>
        <p:nvSpPr>
          <p:cNvPr id="41" name="R8_chip589"/>
          <p:cNvSpPr/>
          <p:nvPr/>
        </p:nvSpPr>
        <p:spPr>
          <a:xfrm>
            <a:off x="5806440" y="429768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the sale raised over £270</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4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4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400"/>
                                        <p:tgtEl>
                                          <p:spTgt spid="3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fade">
                                      <p:cBhvr>
                                        <p:cTn id="42"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90"/>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20</a:t>
            </a:r>
            <a:endParaRPr lang="en-US" sz="2200" dirty="0"/>
          </a:p>
        </p:txBody>
      </p:sp>
      <p:pic>
        <p:nvPicPr>
          <p:cNvPr id="4" name="brY_591"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592"/>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593"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594"/>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What can you remember?</a:t>
            </a:r>
            <a:endParaRPr lang="en-US" sz="1250" dirty="0"/>
          </a:p>
        </p:txBody>
      </p:sp>
      <p:sp>
        <p:nvSpPr>
          <p:cNvPr id="8" name="insIT_59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Libri chiusi! Cosa ricordi?</a:t>
            </a:r>
            <a:endParaRPr lang="en-US" sz="950" dirty="0"/>
          </a:p>
        </p:txBody>
      </p:sp>
      <p:sp>
        <p:nvSpPr>
          <p:cNvPr id="9" name="note_596"/>
          <p:cNvSpPr/>
          <p:nvPr/>
        </p:nvSpPr>
        <p:spPr>
          <a:xfrm rot="180000">
            <a:off x="6382512" y="128016"/>
            <a:ext cx="2029968" cy="74980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10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Retrieval</a:t>
            </a:r>
            <a:endParaRPr lang="en-US" sz="1100" dirty="0"/>
          </a:p>
        </p:txBody>
      </p:sp>
      <p:pic>
        <p:nvPicPr>
          <p:cNvPr id="10" name="logo_59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59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2B-2 · Exit · what can you remember?</a:t>
            </a:r>
            <a:endParaRPr lang="en-US" sz="800" dirty="0"/>
          </a:p>
        </p:txBody>
      </p:sp>
      <p:sp>
        <p:nvSpPr>
          <p:cNvPr id="12" name="bd_599"/>
          <p:cNvSpPr/>
          <p:nvPr/>
        </p:nvSpPr>
        <p:spPr>
          <a:xfrm>
            <a:off x="457200" y="1508760"/>
            <a:ext cx="777240" cy="77724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3" name="rt_600"/>
          <p:cNvSpPr/>
          <p:nvPr/>
        </p:nvSpPr>
        <p:spPr>
          <a:xfrm>
            <a:off x="1417320" y="1581912"/>
            <a:ext cx="3931920" cy="640080"/>
          </a:xfrm>
          <a:prstGeom prst="roundRect">
            <a:avLst>
              <a:gd name="adj" fmla="val 2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3 strong adjectives – and their normal adjective</a:t>
            </a:r>
            <a:endParaRPr lang="en-US" sz="1400" dirty="0"/>
          </a:p>
        </p:txBody>
      </p:sp>
      <p:sp>
        <p:nvSpPr>
          <p:cNvPr id="14" name="bd_601"/>
          <p:cNvSpPr/>
          <p:nvPr/>
        </p:nvSpPr>
        <p:spPr>
          <a:xfrm>
            <a:off x="457200" y="2468880"/>
            <a:ext cx="777240" cy="777240"/>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5" name="rt_602"/>
          <p:cNvSpPr/>
          <p:nvPr/>
        </p:nvSpPr>
        <p:spPr>
          <a:xfrm>
            <a:off x="1417320" y="2542032"/>
            <a:ext cx="3931920" cy="640080"/>
          </a:xfrm>
          <a:prstGeom prst="roundRect">
            <a:avLst>
              <a:gd name="adj" fmla="val 2000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2 things that happened to Helen in Antarctica</a:t>
            </a:r>
            <a:endParaRPr lang="en-US" sz="1400" dirty="0"/>
          </a:p>
        </p:txBody>
      </p:sp>
      <p:sp>
        <p:nvSpPr>
          <p:cNvPr id="16" name="bd_603"/>
          <p:cNvSpPr/>
          <p:nvPr/>
        </p:nvSpPr>
        <p:spPr>
          <a:xfrm>
            <a:off x="457200" y="3429000"/>
            <a:ext cx="777240" cy="777240"/>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7" name="rt_604"/>
          <p:cNvSpPr/>
          <p:nvPr/>
        </p:nvSpPr>
        <p:spPr>
          <a:xfrm>
            <a:off x="1417320" y="3502152"/>
            <a:ext cx="3931920" cy="640080"/>
          </a:xfrm>
          <a:prstGeom prst="roundRect">
            <a:avLst>
              <a:gd name="adj" fmla="val 2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1 time you were absolutely exhausted or starving</a:t>
            </a:r>
            <a:endParaRPr lang="en-US" sz="1400" dirty="0"/>
          </a:p>
        </p:txBody>
      </p:sp>
      <p:sp>
        <p:nvSpPr>
          <p:cNvPr id="18" name="cd_605"/>
          <p:cNvSpPr/>
          <p:nvPr/>
        </p:nvSpPr>
        <p:spPr>
          <a:xfrm>
            <a:off x="5669280" y="1417320"/>
            <a:ext cx="3200400" cy="2221992"/>
          </a:xfrm>
          <a:prstGeom prst="roundRect">
            <a:avLst>
              <a:gd name="adj" fmla="val 5761"/>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9" name="ii_606"/>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0" name="ih_607"/>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1" name="il_608"/>
          <p:cNvSpPr/>
          <p:nvPr/>
        </p:nvSpPr>
        <p:spPr>
          <a:xfrm>
            <a:off x="6236208" y="1911096"/>
            <a:ext cx="2542032" cy="1655064"/>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Workbook 2B: 3a–3d</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SB p.22: Strong adjectives – cover and test yourself</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Video 2B on Online Practice (if not watched)</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Homework sheet 2B-2 in the LLS app</a:t>
            </a:r>
            <a:endParaRPr lang="en-US" sz="1150" dirty="0"/>
          </a:p>
        </p:txBody>
      </p:sp>
      <p:sp>
        <p:nvSpPr>
          <p:cNvPr id="22" name="st_609"/>
          <p:cNvSpPr/>
          <p:nvPr/>
        </p:nvSpPr>
        <p:spPr>
          <a:xfrm rot="-180000">
            <a:off x="5806440" y="3867912"/>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Revise and Check 1&amp;2 · review games</a:t>
            </a:r>
            <a:endParaRPr lang="en-US" sz="1100" dirty="0"/>
          </a:p>
        </p:txBody>
      </p:sp>
    </p:spTree>
  </p:cSld>
  <p:clrMapOvr>
    <a:masterClrMapping/>
  </p:clrMapOvr>
  <p:transition spd="med">
    <p:push dir="l"/>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10"/>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21</a:t>
            </a:r>
            <a:endParaRPr lang="en-US" sz="2200" dirty="0"/>
          </a:p>
        </p:txBody>
      </p:sp>
      <p:pic>
        <p:nvPicPr>
          <p:cNvPr id="4" name="brY_611"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612"/>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Today you…</a:t>
            </a:r>
            <a:endParaRPr lang="en-US" sz="2400" dirty="0"/>
          </a:p>
        </p:txBody>
      </p:sp>
      <p:pic>
        <p:nvPicPr>
          <p:cNvPr id="6" name="brP_613"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614"/>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do it now? Thumbs up or thumbs down!</a:t>
            </a:r>
            <a:endParaRPr lang="en-US" sz="1250" dirty="0"/>
          </a:p>
        </p:txBody>
      </p:sp>
      <p:sp>
        <p:nvSpPr>
          <p:cNvPr id="8" name="insIT_61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Ora sai farlo? Pollice su o pollice giù!</a:t>
            </a:r>
            <a:endParaRPr lang="en-US" sz="950" dirty="0"/>
          </a:p>
        </p:txBody>
      </p:sp>
      <p:sp>
        <p:nvSpPr>
          <p:cNvPr id="9" name="note_616"/>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PENSA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1 min   🙋 whole class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Reflection</a:t>
            </a:r>
            <a:endParaRPr lang="en-US" sz="1250" dirty="0"/>
          </a:p>
        </p:txBody>
      </p:sp>
      <p:pic>
        <p:nvPicPr>
          <p:cNvPr id="10" name="logo_61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61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2B-2 · Review · what did you do today?</a:t>
            </a:r>
            <a:endParaRPr lang="en-US" sz="800" dirty="0"/>
          </a:p>
        </p:txBody>
      </p:sp>
      <p:sp>
        <p:nvSpPr>
          <p:cNvPr id="12" name="cd_619"/>
          <p:cNvSpPr/>
          <p:nvPr/>
        </p:nvSpPr>
        <p:spPr>
          <a:xfrm>
            <a:off x="548640" y="1417320"/>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3" name="te_620"/>
          <p:cNvSpPr/>
          <p:nvPr/>
        </p:nvSpPr>
        <p:spPr>
          <a:xfrm>
            <a:off x="640080" y="1453896"/>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4" name="tt_621"/>
          <p:cNvSpPr/>
          <p:nvPr/>
        </p:nvSpPr>
        <p:spPr>
          <a:xfrm>
            <a:off x="1188720" y="1417320"/>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Talked about charity challenges</a:t>
            </a:r>
            <a:endParaRPr lang="en-US" sz="1350" dirty="0"/>
          </a:p>
        </p:txBody>
      </p:sp>
      <p:sp>
        <p:nvSpPr>
          <p:cNvPr id="15" name="R1_tk622"/>
          <p:cNvSpPr/>
          <p:nvPr/>
        </p:nvSpPr>
        <p:spPr>
          <a:xfrm>
            <a:off x="5989320" y="1453896"/>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cd_623"/>
          <p:cNvSpPr/>
          <p:nvPr/>
        </p:nvSpPr>
        <p:spPr>
          <a:xfrm>
            <a:off x="548640" y="2020824"/>
            <a:ext cx="6035040" cy="530352"/>
          </a:xfrm>
          <a:prstGeom prst="roundRect">
            <a:avLst>
              <a:gd name="adj" fmla="val 24138"/>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7" name="te_624"/>
          <p:cNvSpPr/>
          <p:nvPr/>
        </p:nvSpPr>
        <p:spPr>
          <a:xfrm>
            <a:off x="640080" y="205740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tt_625"/>
          <p:cNvSpPr/>
          <p:nvPr/>
        </p:nvSpPr>
        <p:spPr>
          <a:xfrm>
            <a:off x="1188720" y="2020824"/>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Read a blog from Antarctica</a:t>
            </a:r>
            <a:endParaRPr lang="en-US" sz="1350" dirty="0"/>
          </a:p>
        </p:txBody>
      </p:sp>
      <p:sp>
        <p:nvSpPr>
          <p:cNvPr id="19" name="R2_tk626"/>
          <p:cNvSpPr/>
          <p:nvPr/>
        </p:nvSpPr>
        <p:spPr>
          <a:xfrm>
            <a:off x="5989320" y="2057400"/>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cd_627"/>
          <p:cNvSpPr/>
          <p:nvPr/>
        </p:nvSpPr>
        <p:spPr>
          <a:xfrm>
            <a:off x="548640" y="2624328"/>
            <a:ext cx="6035040" cy="530352"/>
          </a:xfrm>
          <a:prstGeom prst="roundRect">
            <a:avLst>
              <a:gd name="adj" fmla="val 24138"/>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21" name="te_628"/>
          <p:cNvSpPr/>
          <p:nvPr/>
        </p:nvSpPr>
        <p:spPr>
          <a:xfrm>
            <a:off x="640080" y="2660904"/>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tt_629"/>
          <p:cNvSpPr/>
          <p:nvPr/>
        </p:nvSpPr>
        <p:spPr>
          <a:xfrm>
            <a:off x="1188720" y="2624328"/>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Used strong adjectives: I'm starving!</a:t>
            </a:r>
            <a:endParaRPr lang="en-US" sz="1350" dirty="0"/>
          </a:p>
        </p:txBody>
      </p:sp>
      <p:sp>
        <p:nvSpPr>
          <p:cNvPr id="23" name="R3_tk630"/>
          <p:cNvSpPr/>
          <p:nvPr/>
        </p:nvSpPr>
        <p:spPr>
          <a:xfrm>
            <a:off x="5989320" y="2660904"/>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cd_631"/>
          <p:cNvSpPr/>
          <p:nvPr/>
        </p:nvSpPr>
        <p:spPr>
          <a:xfrm>
            <a:off x="548640" y="3227832"/>
            <a:ext cx="6035040" cy="530352"/>
          </a:xfrm>
          <a:prstGeom prst="roundRect">
            <a:avLst>
              <a:gd name="adj" fmla="val 24138"/>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25" name="te_632"/>
          <p:cNvSpPr/>
          <p:nvPr/>
        </p:nvSpPr>
        <p:spPr>
          <a:xfrm>
            <a:off x="640080" y="3264408"/>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6" name="tt_633"/>
          <p:cNvSpPr/>
          <p:nvPr/>
        </p:nvSpPr>
        <p:spPr>
          <a:xfrm>
            <a:off x="1188720" y="3227832"/>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Listened to a class story and answered questions</a:t>
            </a:r>
            <a:endParaRPr lang="en-US" sz="1350" dirty="0"/>
          </a:p>
        </p:txBody>
      </p:sp>
      <p:sp>
        <p:nvSpPr>
          <p:cNvPr id="27" name="R4_tk634"/>
          <p:cNvSpPr/>
          <p:nvPr/>
        </p:nvSpPr>
        <p:spPr>
          <a:xfrm>
            <a:off x="5989320" y="3264408"/>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cd_635"/>
          <p:cNvSpPr/>
          <p:nvPr/>
        </p:nvSpPr>
        <p:spPr>
          <a:xfrm>
            <a:off x="548640" y="3831336"/>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29" name="te_636"/>
          <p:cNvSpPr/>
          <p:nvPr/>
        </p:nvSpPr>
        <p:spPr>
          <a:xfrm>
            <a:off x="640080" y="3867912"/>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0" name="tt_637"/>
          <p:cNvSpPr/>
          <p:nvPr/>
        </p:nvSpPr>
        <p:spPr>
          <a:xfrm>
            <a:off x="1188720" y="3831336"/>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Watched a video about a charity bake sale</a:t>
            </a:r>
            <a:endParaRPr lang="en-US" sz="1350" dirty="0"/>
          </a:p>
        </p:txBody>
      </p:sp>
      <p:sp>
        <p:nvSpPr>
          <p:cNvPr id="31" name="R5_tk638"/>
          <p:cNvSpPr/>
          <p:nvPr/>
        </p:nvSpPr>
        <p:spPr>
          <a:xfrm>
            <a:off x="5989320" y="3867912"/>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st_639"/>
          <p:cNvSpPr/>
          <p:nvPr/>
        </p:nvSpPr>
        <p:spPr>
          <a:xfrm rot="180000">
            <a:off x="6949440" y="1691640"/>
            <a:ext cx="1828800" cy="1188720"/>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  👌  👎</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Can you do it now?</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Ora sai farlo?</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dv_640"/>
          <p:cNvSpPr/>
          <p:nvPr/>
        </p:nvSpPr>
        <p:spPr>
          <a:xfrm>
            <a:off x="4023360" y="914400"/>
            <a:ext cx="1097280" cy="914400"/>
          </a:xfrm>
          <a:prstGeom prst="rect">
            <a:avLst/>
          </a:prstGeom>
          <a:noFill/>
          <a:ln/>
        </p:spPr>
        <p:txBody>
          <a:bodyPr wrap="square" lIns="0" tIns="0" rIns="0" bIns="0" rtlCol="0" anchor="ctr"/>
          <a:lstStyle/>
          <a:p>
            <a:pPr algn="ctr" indent="0" marL="0">
              <a:buNone/>
            </a:pPr>
            <a:r>
              <a:rPr lang="en-US" sz="5400" dirty="0">
                <a:solidFill>
                  <a:srgbClr val="000000"/>
                </a:solidFill>
              </a:rPr>
              <a:t>⭐</a:t>
            </a:r>
            <a:endParaRPr lang="en-US" sz="5400" dirty="0"/>
          </a:p>
        </p:txBody>
      </p:sp>
      <p:sp>
        <p:nvSpPr>
          <p:cNvPr id="4" name="dvt_641"/>
          <p:cNvSpPr/>
          <p:nvPr/>
        </p:nvSpPr>
        <p:spPr>
          <a:xfrm>
            <a:off x="914400" y="1828800"/>
            <a:ext cx="7315200" cy="731520"/>
          </a:xfrm>
          <a:prstGeom prst="rect">
            <a:avLst/>
          </a:prstGeom>
          <a:noFill/>
          <a:ln/>
        </p:spPr>
        <p:txBody>
          <a:bodyPr wrap="square" lIns="0" tIns="0" rIns="0" bIns="0" rtlCol="0" anchor="ctr"/>
          <a:lstStyle/>
          <a:p>
            <a:pPr algn="ctr" indent="0" marL="0">
              <a:buNone/>
            </a:pPr>
            <a:r>
              <a:rPr lang="en-US" sz="3400" dirty="0">
                <a:solidFill>
                  <a:srgbClr val="1B2559"/>
                </a:solidFill>
                <a:latin typeface="Arial Rounded MT Bold" pitchFamily="34" charset="0"/>
                <a:ea typeface="Arial Rounded MT Bold" pitchFamily="34" charset="-122"/>
                <a:cs typeface="Arial Rounded MT Bold" pitchFamily="34" charset="-120"/>
              </a:rPr>
              <a:t>Optional extensions</a:t>
            </a:r>
            <a:endParaRPr lang="en-US" sz="3400" dirty="0"/>
          </a:p>
        </p:txBody>
      </p:sp>
      <p:sp>
        <p:nvSpPr>
          <p:cNvPr id="5" name="dvs_642"/>
          <p:cNvSpPr/>
          <p:nvPr/>
        </p:nvSpPr>
        <p:spPr>
          <a:xfrm>
            <a:off x="914400" y="2606040"/>
            <a:ext cx="7315200" cy="457200"/>
          </a:xfrm>
          <a:prstGeom prst="rect">
            <a:avLst/>
          </a:prstGeom>
          <a:noFill/>
          <a:ln/>
        </p:spPr>
        <p:txBody>
          <a:bodyPr wrap="square" lIns="0" tIns="0" rIns="0" bIns="0" rtlCol="0" anchor="ctr"/>
          <a:lstStyle/>
          <a:p>
            <a:pPr algn="ctr" indent="0" marL="0">
              <a:buNone/>
            </a:pPr>
            <a:r>
              <a:rPr lang="en-US" sz="1250" i="1" dirty="0">
                <a:solidFill>
                  <a:srgbClr val="5B6785"/>
                </a:solidFill>
                <a:latin typeface="Segoe UI Semibold" pitchFamily="34" charset="0"/>
                <a:ea typeface="Segoe UI Semibold" pitchFamily="34" charset="-122"/>
                <a:cs typeface="Segoe UI Semibold" pitchFamily="34" charset="-120"/>
              </a:rPr>
              <a:t>Only if there's time – the lesson is finished. · Solo se c'è tempo – la lezione è finita.</a:t>
            </a:r>
            <a:endParaRPr lang="en-US" sz="1250" dirty="0"/>
          </a:p>
        </p:txBody>
      </p:sp>
      <p:pic>
        <p:nvPicPr>
          <p:cNvPr id="6" name="logo_643" descr="/home/claude/lls-course/v2/img/logo.png">    </p:cNvPr>
          <p:cNvPicPr>
            <a:picLocks noChangeAspect="1"/>
          </p:cNvPicPr>
          <p:nvPr/>
        </p:nvPicPr>
        <p:blipFill>
          <a:blip r:embed="rId2"/>
          <a:stretch>
            <a:fillRect/>
          </a:stretch>
        </p:blipFill>
        <p:spPr>
          <a:xfrm>
            <a:off x="8485632" y="4526280"/>
            <a:ext cx="502920" cy="502920"/>
          </a:xfrm>
          <a:prstGeom prst="rect">
            <a:avLst/>
          </a:prstGeom>
        </p:spPr>
      </p:pic>
    </p:spTree>
  </p:cSld>
  <p:clrMapOvr>
    <a:masterClrMapping/>
  </p:clrMapOvr>
  <p:transition spd="med">
    <p:push dir="l"/>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44"/>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23</a:t>
            </a:r>
            <a:endParaRPr lang="en-US" sz="2200" dirty="0"/>
          </a:p>
        </p:txBody>
      </p:sp>
      <p:pic>
        <p:nvPicPr>
          <p:cNvPr id="4" name="brY_645"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646"/>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An exciting experience</a:t>
            </a:r>
            <a:endParaRPr lang="en-US" sz="2500" dirty="0"/>
          </a:p>
        </p:txBody>
      </p:sp>
      <p:pic>
        <p:nvPicPr>
          <p:cNvPr id="6" name="brP_647" descr="/home/claude/lls-course/v2/assets/brush-pink.png">    </p:cNvPr>
          <p:cNvPicPr>
            <a:picLocks noChangeAspect="1"/>
          </p:cNvPicPr>
          <p:nvPr/>
        </p:nvPicPr>
        <p:blipFill>
          <a:blip r:embed="rId3"/>
          <a:stretch>
            <a:fillRect/>
          </a:stretch>
        </p:blipFill>
        <p:spPr>
          <a:xfrm>
            <a:off x="1207008" y="731520"/>
            <a:ext cx="4727448" cy="402336"/>
          </a:xfrm>
          <a:prstGeom prst="rect">
            <a:avLst/>
          </a:prstGeom>
        </p:spPr>
      </p:pic>
      <p:sp>
        <p:nvSpPr>
          <p:cNvPr id="7" name="ins_648"/>
          <p:cNvSpPr/>
          <p:nvPr/>
        </p:nvSpPr>
        <p:spPr>
          <a:xfrm>
            <a:off x="1353312" y="731520"/>
            <a:ext cx="447141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Tell your partner. Then ask: How did you feel?</a:t>
            </a:r>
            <a:endParaRPr lang="en-US" sz="1250" dirty="0"/>
          </a:p>
        </p:txBody>
      </p:sp>
      <p:sp>
        <p:nvSpPr>
          <p:cNvPr id="8" name="insIT_64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Racconta al compagno. Poi chiedi: Come ti sei sentito?</a:t>
            </a:r>
            <a:endParaRPr lang="en-US" sz="950" dirty="0"/>
          </a:p>
        </p:txBody>
      </p:sp>
      <p:sp>
        <p:nvSpPr>
          <p:cNvPr id="9" name="note_650"/>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PARLA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a:t>
            </a:r>
            <a:endParaRPr lang="en-US" sz="1250" dirty="0"/>
          </a:p>
        </p:txBody>
      </p:sp>
      <p:pic>
        <p:nvPicPr>
          <p:cNvPr id="10" name="logo_65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65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2B-2 · Extra · an exciting experience   ·   📖 SB p.22 · 6e</a:t>
            </a:r>
            <a:endParaRPr lang="en-US" sz="800" dirty="0"/>
          </a:p>
        </p:txBody>
      </p:sp>
      <p:sp>
        <p:nvSpPr>
          <p:cNvPr id="12" name="ext_653"/>
          <p:cNvSpPr/>
          <p:nvPr/>
        </p:nvSpPr>
        <p:spPr>
          <a:xfrm>
            <a:off x="5120640" y="4727448"/>
            <a:ext cx="3291840" cy="310896"/>
          </a:xfrm>
          <a:prstGeom prst="roundRect">
            <a:avLst>
              <a:gd name="adj" fmla="val 50000"/>
            </a:avLst>
          </a:prstGeom>
          <a:solidFill>
            <a:srgbClr val="EEE8FB"/>
          </a:solidFill>
          <a:ln w="28575">
            <a:solidFill>
              <a:srgbClr val="CDBFF3"/>
            </a:solidFill>
          </a:ln>
        </p:spPr>
        <p:txBody>
          <a:bodyPr wrap="square" lIns="0" tIns="0" rIns="0" bIns="0" rtlCol="0" anchor="ctr"/>
          <a:lstStyle/>
          <a:p>
            <a:pPr algn="ctr" indent="0" marL="0">
              <a:buNone/>
            </a:pPr>
            <a:r>
              <a:rPr lang="en-US" sz="1050" dirty="0">
                <a:solidFill>
                  <a:srgbClr val="7B5CD6"/>
                </a:solidFill>
                <a:latin typeface="Arial Rounded MT Bold" pitchFamily="34" charset="0"/>
                <a:ea typeface="Arial Rounded MT Bold" pitchFamily="34" charset="-122"/>
                <a:cs typeface="Arial Rounded MT Bold" pitchFamily="34" charset="-120"/>
              </a:rPr>
              <a:t>⭐ OPTIONAL EXTENSION · only if there's time</a:t>
            </a:r>
            <a:endParaRPr lang="en-US" sz="1050" dirty="0"/>
          </a:p>
        </p:txBody>
      </p:sp>
      <p:sp>
        <p:nvSpPr>
          <p:cNvPr id="13" name="pf_654"/>
          <p:cNvSpPr/>
          <p:nvPr/>
        </p:nvSpPr>
        <p:spPr>
          <a:xfrm rot="-120000">
            <a:off x="918210" y="1371600"/>
            <a:ext cx="15925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4" name="ph_655" descr="/home/claude/lls-course/v2/cache/spare_life_experiences_jpg_361x297_31.png">    </p:cNvPr>
          <p:cNvPicPr>
            <a:picLocks noChangeAspect="1"/>
          </p:cNvPicPr>
          <p:nvPr/>
        </p:nvPicPr>
        <p:blipFill>
          <a:blip r:embed="rId5"/>
          <a:stretch>
            <a:fillRect/>
          </a:stretch>
        </p:blipFill>
        <p:spPr>
          <a:xfrm rot="-120000">
            <a:off x="963930" y="1417320"/>
            <a:ext cx="1501140" cy="1234440"/>
          </a:xfrm>
          <a:prstGeom prst="rect">
            <a:avLst/>
          </a:prstGeom>
        </p:spPr>
      </p:pic>
      <p:sp>
        <p:nvSpPr>
          <p:cNvPr id="15" name="cd_656"/>
          <p:cNvSpPr/>
          <p:nvPr/>
        </p:nvSpPr>
        <p:spPr>
          <a:xfrm>
            <a:off x="320040" y="2880360"/>
            <a:ext cx="2788920" cy="1874520"/>
          </a:xfrm>
          <a:prstGeom prst="roundRect">
            <a:avLst>
              <a:gd name="adj" fmla="val 6829"/>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6" name="ii_657"/>
          <p:cNvSpPr/>
          <p:nvPr/>
        </p:nvSpPr>
        <p:spPr>
          <a:xfrm>
            <a:off x="411480" y="2953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658"/>
          <p:cNvSpPr/>
          <p:nvPr/>
        </p:nvSpPr>
        <p:spPr>
          <a:xfrm>
            <a:off x="886968" y="297180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8" name="il_659"/>
          <p:cNvSpPr/>
          <p:nvPr/>
        </p:nvSpPr>
        <p:spPr>
          <a:xfrm>
            <a:off x="886968" y="3374136"/>
            <a:ext cx="2130552" cy="13075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It was absolutely amazing / terrifying…</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 was exhausted / delighted…</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Would you do it again?</a:t>
            </a:r>
            <a:endParaRPr lang="en-US" sz="1150" dirty="0"/>
          </a:p>
        </p:txBody>
      </p:sp>
      <p:sp>
        <p:nvSpPr>
          <p:cNvPr id="19" name="R1_qb660"/>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0" name="R1_sq661"/>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Have you ever done an adventure sport? What?</a:t>
            </a:r>
            <a:endParaRPr lang="en-US" sz="1200" dirty="0"/>
          </a:p>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e.g. Yes – I went rafting in Calabria. It was amazing!</a:t>
            </a:r>
            <a:endParaRPr lang="en-US" sz="1200" dirty="0"/>
          </a:p>
        </p:txBody>
      </p:sp>
      <p:sp>
        <p:nvSpPr>
          <p:cNvPr id="21" name="R2_qb662"/>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2" name="R2_sq663"/>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Tell me about an exciting experience.</a:t>
            </a:r>
            <a:endParaRPr lang="en-US" sz="1200" dirty="0"/>
          </a:p>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e.g. I climbed Etna with my cousins. We started at 5 a.m.</a:t>
            </a:r>
            <a:endParaRPr lang="en-US" sz="1200" dirty="0"/>
          </a:p>
        </p:txBody>
      </p:sp>
      <p:sp>
        <p:nvSpPr>
          <p:cNvPr id="23" name="R3_qb664"/>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4" name="R3_sq665"/>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Was it a positive experience? Why (not)?</a:t>
            </a:r>
            <a:endParaRPr lang="en-US" sz="1200" dirty="0"/>
          </a:p>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e.g. Yes, but I was exhausted and starving at the top!</a:t>
            </a:r>
            <a:endParaRPr lang="en-US" sz="1200" dirty="0"/>
          </a:p>
        </p:txBody>
      </p:sp>
      <p:sp>
        <p:nvSpPr>
          <p:cNvPr id="25" name="R4_qb666"/>
          <p:cNvSpPr/>
          <p:nvPr/>
        </p:nvSpPr>
        <p:spPr>
          <a:xfrm>
            <a:off x="3273552" y="3264408"/>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6" name="R4_sq667"/>
          <p:cNvSpPr/>
          <p:nvPr/>
        </p:nvSpPr>
        <p:spPr>
          <a:xfrm>
            <a:off x="3675888" y="3227832"/>
            <a:ext cx="5193792" cy="530352"/>
          </a:xfrm>
          <a:prstGeom prst="roundRect">
            <a:avLst>
              <a:gd name="adj" fmla="val 2069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How did you feel?</a:t>
            </a:r>
            <a:endParaRPr lang="en-US" sz="1200" dirty="0"/>
          </a:p>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e.g. Absolutely delighted – and a bit terrified!</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68"/>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24</a:t>
            </a:r>
            <a:endParaRPr lang="en-US" sz="2200" dirty="0"/>
          </a:p>
        </p:txBody>
      </p:sp>
      <p:pic>
        <p:nvPicPr>
          <p:cNvPr id="4" name="brY_669"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670"/>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Plan a bake sale!</a:t>
            </a:r>
            <a:endParaRPr lang="en-US" sz="2500" dirty="0"/>
          </a:p>
        </p:txBody>
      </p:sp>
      <p:pic>
        <p:nvPicPr>
          <p:cNvPr id="6" name="brP_671"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672"/>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Plan a bake sale for a local charity!</a:t>
            </a:r>
            <a:endParaRPr lang="en-US" sz="1250" dirty="0"/>
          </a:p>
        </p:txBody>
      </p:sp>
      <p:sp>
        <p:nvSpPr>
          <p:cNvPr id="8" name="insIT_67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Organizzate una vendita di dolci per beneficenza!</a:t>
            </a:r>
            <a:endParaRPr lang="en-US" sz="950" dirty="0"/>
          </a:p>
        </p:txBody>
      </p:sp>
      <p:sp>
        <p:nvSpPr>
          <p:cNvPr id="9" name="note_674"/>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PARLA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6 min   👨‍👩‍👧 groups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a:t>
            </a:r>
            <a:endParaRPr lang="en-US" sz="1250" dirty="0"/>
          </a:p>
        </p:txBody>
      </p:sp>
      <p:pic>
        <p:nvPicPr>
          <p:cNvPr id="10" name="logo_67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67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2B-2 · Extra · project   ·   📖 TG extra idea (Video Listening 2B): a class bake sale</a:t>
            </a:r>
            <a:endParaRPr lang="en-US" sz="800" dirty="0"/>
          </a:p>
        </p:txBody>
      </p:sp>
      <p:sp>
        <p:nvSpPr>
          <p:cNvPr id="12" name="ext_677"/>
          <p:cNvSpPr/>
          <p:nvPr/>
        </p:nvSpPr>
        <p:spPr>
          <a:xfrm>
            <a:off x="5120640" y="4727448"/>
            <a:ext cx="3291840" cy="310896"/>
          </a:xfrm>
          <a:prstGeom prst="roundRect">
            <a:avLst>
              <a:gd name="adj" fmla="val 50000"/>
            </a:avLst>
          </a:prstGeom>
          <a:solidFill>
            <a:srgbClr val="EEE8FB"/>
          </a:solidFill>
          <a:ln w="28575">
            <a:solidFill>
              <a:srgbClr val="CDBFF3"/>
            </a:solidFill>
          </a:ln>
        </p:spPr>
        <p:txBody>
          <a:bodyPr wrap="square" lIns="0" tIns="0" rIns="0" bIns="0" rtlCol="0" anchor="ctr"/>
          <a:lstStyle/>
          <a:p>
            <a:pPr algn="ctr" indent="0" marL="0">
              <a:buNone/>
            </a:pPr>
            <a:r>
              <a:rPr lang="en-US" sz="1050" dirty="0">
                <a:solidFill>
                  <a:srgbClr val="7B5CD6"/>
                </a:solidFill>
                <a:latin typeface="Arial Rounded MT Bold" pitchFamily="34" charset="0"/>
                <a:ea typeface="Arial Rounded MT Bold" pitchFamily="34" charset="-122"/>
                <a:cs typeface="Arial Rounded MT Bold" pitchFamily="34" charset="-120"/>
              </a:rPr>
              <a:t>⭐ OPTIONAL EXTENSION · only if there's time</a:t>
            </a:r>
            <a:endParaRPr lang="en-US" sz="1050" dirty="0"/>
          </a:p>
        </p:txBody>
      </p:sp>
      <p:sp>
        <p:nvSpPr>
          <p:cNvPr id="13" name="pf_678"/>
          <p:cNvSpPr/>
          <p:nvPr/>
        </p:nvSpPr>
        <p:spPr>
          <a:xfrm rot="-120000">
            <a:off x="658497" y="1371600"/>
            <a:ext cx="2112007"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4" name="ph_679" descr="/home/claude/lls-course/v2/cache/2b2_cannoli_sale_jpg_486x297_31.png">    </p:cNvPr>
          <p:cNvPicPr>
            <a:picLocks noChangeAspect="1"/>
          </p:cNvPicPr>
          <p:nvPr/>
        </p:nvPicPr>
        <p:blipFill>
          <a:blip r:embed="rId5"/>
          <a:stretch>
            <a:fillRect/>
          </a:stretch>
        </p:blipFill>
        <p:spPr>
          <a:xfrm rot="-120000">
            <a:off x="704217" y="1417320"/>
            <a:ext cx="2020567" cy="1234440"/>
          </a:xfrm>
          <a:prstGeom prst="rect">
            <a:avLst/>
          </a:prstGeom>
        </p:spPr>
      </p:pic>
      <p:sp>
        <p:nvSpPr>
          <p:cNvPr id="15" name="cd_680"/>
          <p:cNvSpPr/>
          <p:nvPr/>
        </p:nvSpPr>
        <p:spPr>
          <a:xfrm>
            <a:off x="320040" y="2880360"/>
            <a:ext cx="2788920" cy="1689608"/>
          </a:xfrm>
          <a:prstGeom prst="roundRect">
            <a:avLst>
              <a:gd name="adj" fmla="val 757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6" name="ii_681"/>
          <p:cNvSpPr/>
          <p:nvPr/>
        </p:nvSpPr>
        <p:spPr>
          <a:xfrm>
            <a:off x="411480" y="2953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682"/>
          <p:cNvSpPr/>
          <p:nvPr/>
        </p:nvSpPr>
        <p:spPr>
          <a:xfrm>
            <a:off x="886968" y="297180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8" name="il_683"/>
          <p:cNvSpPr/>
          <p:nvPr/>
        </p:nvSpPr>
        <p:spPr>
          <a:xfrm>
            <a:off x="886968" y="3374136"/>
            <a:ext cx="2130552" cy="11226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We're going to… · We'll…</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It'll be absolutely delicious!</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How much will you charge?</a:t>
            </a:r>
            <a:endParaRPr lang="en-US" sz="1150" dirty="0"/>
          </a:p>
        </p:txBody>
      </p:sp>
      <p:sp>
        <p:nvSpPr>
          <p:cNvPr id="19" name="R1_qb684"/>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0" name="R1_sq685"/>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Which charity? Why this one?</a:t>
            </a:r>
            <a:endParaRPr lang="en-US" sz="1200" dirty="0"/>
          </a:p>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e.g. A local animal shelter – the dogs are starving!</a:t>
            </a:r>
            <a:endParaRPr lang="en-US" sz="1200" dirty="0"/>
          </a:p>
        </p:txBody>
      </p:sp>
      <p:sp>
        <p:nvSpPr>
          <p:cNvPr id="21" name="R2_qb686"/>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2" name="R2_sq687"/>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When and where? Who bakes what?</a:t>
            </a:r>
            <a:endParaRPr lang="en-US" sz="1200" dirty="0"/>
          </a:p>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e.g. On Saturday at school. I'll make cannoli!</a:t>
            </a:r>
            <a:endParaRPr lang="en-US" sz="1200" dirty="0"/>
          </a:p>
        </p:txBody>
      </p:sp>
      <p:sp>
        <p:nvSpPr>
          <p:cNvPr id="23" name="R3_qb688"/>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4" name="R3_sq689"/>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How much will you charge? How much do you want to raise?</a:t>
            </a:r>
            <a:endParaRPr lang="en-US" sz="11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e.g. €2 a slice. We want to raise €200.</a:t>
            </a:r>
            <a:endParaRPr lang="en-US" sz="1150" dirty="0"/>
          </a:p>
        </p:txBody>
      </p:sp>
      <p:sp>
        <p:nvSpPr>
          <p:cNvPr id="25" name="R4_qb690"/>
          <p:cNvSpPr/>
          <p:nvPr/>
        </p:nvSpPr>
        <p:spPr>
          <a:xfrm>
            <a:off x="3273552" y="3264408"/>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6" name="R4_sq691"/>
          <p:cNvSpPr/>
          <p:nvPr/>
        </p:nvSpPr>
        <p:spPr>
          <a:xfrm>
            <a:off x="3675888" y="3227832"/>
            <a:ext cx="5193792" cy="530352"/>
          </a:xfrm>
          <a:prstGeom prst="roundRect">
            <a:avLst>
              <a:gd name="adj" fmla="val 2069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Write a poster slogan with a strong adjective.</a:t>
            </a:r>
            <a:endParaRPr lang="en-US" sz="1200" dirty="0"/>
          </a:p>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e.g. Our cannoli are absolutely fantastic – only €2!</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2B-2 Changing lives</dc:title>
  <dc:subject>PptxGenJS Presentation</dc:subject>
  <dc:creator>PptxGenJS</dc:creator>
  <cp:lastModifiedBy>PptxGenJS</cp:lastModifiedBy>
  <cp:revision>1</cp:revision>
  <dcterms:created xsi:type="dcterms:W3CDTF">2026-10-21T09:55:09Z</dcterms:created>
  <dcterms:modified xsi:type="dcterms:W3CDTF">2026-10-21T09:55:09Z</dcterms:modified>
</cp:coreProperties>
</file>