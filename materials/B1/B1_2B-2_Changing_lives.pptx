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(3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(2 min – take 3 of the 4 questions).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(2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(2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click once per word to show its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two 2.20 slides and the Italian check, students know what the strong adjectives MEAN; the story lets them hear them 15–20 times with absolutely / completely before they have to produce them fast in 'Upgrade it!', 'The worst trip ever!' and 'Absolutely!'. It recycles the strong adjectives (freezing, exhausted, starving, filthy, furious, hilarious, delighted), absolutely / completely (never very!) and a charity challenge like Helen's (raise money, present perfect from 2B part 1). Click once per line. For each line: 1) say it with BIG stress on the strong adjective, 2) ask the questions in grey round the class (yes/no → either/or → who/what), 3) let the CLASS change details: 'Does Luca climb Etna? No? Where does he go?' – accept their idea and use it in later lines (if they choose the sea, line 1 becomes 'absolutely freezing water'!). Students answer with one word or a short phrase ('Starving!') – that's fine; insist on the strong stress (STARving, FILthy). If anyone says 'very exhausted', just echo: 'Completely exhausted!'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charity challenges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 blog from Antarctica</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strong adjectives: I'm starving!</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watch a video about a charity bake sale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2B: Adelante Africa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long…? + for / since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8" name="w_42"/>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9" name="w_43"/>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30" name="w_44"/>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1" name="w_45"/>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Number game!</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numero. Cos'è? Usa for o since!</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Warmer · last lesson: Adelante Africa   ·   📖 Recycles 2B part 1 · audio 2.13, 2.14 · present perfect + for / since</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number.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il numero.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what is it? Make a sentence with for or since.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cos'è? Fate una frase con for o since.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Fact = 1 point. Correct sentence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Fatto = 1 punto. Frase corretta = +1.</a:t>
            </a:r>
            <a:endParaRPr lang="en-US" sz="9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Cosa hai fatto?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Lead-in · charity events   ·   📖 SB p.22 · 6a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raise money for a good cause = raccogliere fondi</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take part in = partecipare a</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charity = un ente benefico</a:t>
            </a:r>
            <a:endParaRPr lang="en-US" sz="90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Yes, I think there are charity runs and concerts.</a:t>
            </a:r>
            <a:endParaRPr lang="en-US" sz="120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did a 5 km fun run with my school.</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We raised about €300 for a children's hospital.</a:t>
            </a:r>
            <a:endParaRPr lang="en-US" sz="1100" dirty="0"/>
          </a:p>
        </p:txBody>
      </p:sp>
      <p:pic>
        <p:nvPicPr>
          <p:cNvPr id="26" name="R3_th104"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1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1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1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key words first   ·   📖 SB p.22 · 6b, 6c (TG extra support: pre-teach)</a:t>
            </a:r>
            <a:endParaRPr lang="en-US" sz="800" dirty="0"/>
          </a:p>
        </p:txBody>
      </p:sp>
      <p:sp>
        <p:nvSpPr>
          <p:cNvPr id="14" name="cd_11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blog → a website where someone writes about their life, with photos · un blog</a:t>
            </a:r>
            <a:endParaRPr lang="en-US" sz="1050" dirty="0"/>
          </a:p>
        </p:txBody>
      </p:sp>
      <p:sp>
        <p:nvSpPr>
          <p:cNvPr id="18" name="pf_12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3"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2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2" name="R1_chip12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3" name="bd_12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2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5" name="R2_chip12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6" name="bd_13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8" name="R3_chip13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9" name="bd_13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1" name="R4_chip13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2" name="bd_13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3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4" name="R5_chip13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4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Metti le parole negli spazi 1–4.</a:t>
            </a:r>
            <a:endParaRPr lang="en-US" sz="950" dirty="0"/>
          </a:p>
        </p:txBody>
      </p:sp>
      <p:sp>
        <p:nvSpPr>
          <p:cNvPr id="9" name="cmd_1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4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introduction   ·   📖 SB p.22 · 6b · article adapted</a:t>
            </a:r>
            <a:endParaRPr lang="en-US" sz="800" dirty="0"/>
          </a:p>
        </p:txBody>
      </p:sp>
      <p:sp>
        <p:nvSpPr>
          <p:cNvPr id="15" name="cd_15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5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7" name="ln_15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8" name="ln_15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R1_lnA15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20" name="ln_15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R2_lnA15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2" name="ln_15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R3_lnA15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4" name="ln_1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5" name="pf_1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2" descr="/home/claude/lls-course/v2/cache/2b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78 · 3,200 · 500 · heat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has she done before? What's different now?</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7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Usa gli indizi di tempo. Numera i post.</a:t>
            </a:r>
            <a:endParaRPr lang="en-US" sz="950" dirty="0"/>
          </a:p>
        </p:txBody>
      </p:sp>
      <p:sp>
        <p:nvSpPr>
          <p:cNvPr id="9" name="cmd_1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17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1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order of events   ·   📖 SB p.22 · 6c (the highlighted phrases)</a:t>
            </a:r>
            <a:endParaRPr lang="en-US" sz="800" dirty="0"/>
          </a:p>
        </p:txBody>
      </p:sp>
      <p:sp>
        <p:nvSpPr>
          <p:cNvPr id="15" name="cd_17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B · "My first night in Antarctica" → 1st</a:t>
            </a:r>
            <a:endParaRPr lang="en-US" sz="1050" dirty="0"/>
          </a:p>
        </p:txBody>
      </p:sp>
      <p:sp>
        <p:nvSpPr>
          <p:cNvPr id="19" name="pf_18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4" descr="/home/claude/lls-course/v2/cache/2b2_antarctic_ten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050" dirty="0"/>
          </a:p>
        </p:txBody>
      </p:sp>
      <p:sp>
        <p:nvSpPr>
          <p:cNvPr id="23" name="R1_chip187"/>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4" name="bd_18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050" dirty="0"/>
          </a:p>
        </p:txBody>
      </p:sp>
      <p:sp>
        <p:nvSpPr>
          <p:cNvPr id="26" name="R2_chip190"/>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7" name="bd_19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050" dirty="0"/>
          </a:p>
        </p:txBody>
      </p:sp>
      <p:sp>
        <p:nvSpPr>
          <p:cNvPr id="29" name="R3_chip193"/>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30" name="bd_19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050" dirty="0"/>
          </a:p>
        </p:txBody>
      </p:sp>
      <p:sp>
        <p:nvSpPr>
          <p:cNvPr id="32" name="R4_chip196"/>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3" name="bd_19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050" dirty="0"/>
          </a:p>
        </p:txBody>
      </p:sp>
      <p:sp>
        <p:nvSpPr>
          <p:cNvPr id="35" name="R5_chip199"/>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6" name="bd_20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0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050" dirty="0"/>
          </a:p>
        </p:txBody>
      </p:sp>
      <p:sp>
        <p:nvSpPr>
          <p:cNvPr id="38" name="R6_chip202"/>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9" name="bd_20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050" dirty="0"/>
          </a:p>
        </p:txBody>
      </p:sp>
      <p:sp>
        <p:nvSpPr>
          <p:cNvPr id="41" name="R7_chip205"/>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2" name="bd_20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050" dirty="0"/>
          </a:p>
        </p:txBody>
      </p:sp>
      <p:sp>
        <p:nvSpPr>
          <p:cNvPr id="44" name="R8_chip208"/>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1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1–3. Indovina la parola mancante.</a:t>
            </a:r>
            <a:endParaRPr lang="en-US" sz="950" dirty="0"/>
          </a:p>
        </p:txBody>
      </p:sp>
      <p:sp>
        <p:nvSpPr>
          <p:cNvPr id="9" name="cmd_2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1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1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(1)   ·   📖 SB p.22 · blog entries B, D, I · 7a</a:t>
            </a:r>
            <a:endParaRPr lang="en-US" sz="800" dirty="0"/>
          </a:p>
        </p:txBody>
      </p:sp>
      <p:sp>
        <p:nvSpPr>
          <p:cNvPr id="15"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7" name="ln_2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8" name="ln_22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9" name="ln_22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20" name="ln_22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R1_lnA22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2" name="ln_22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3" name="ln_22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4" name="pf_23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31" descr="/home/claude/lls-course/v2/cache/2b2_scener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23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3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weird = strange · strano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4–6. Indovina le parole mancanti.</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(2)   ·   📖 SB p.22 · blog entries C, E, H · 7a</a:t>
            </a:r>
            <a:endParaRPr lang="en-US" sz="800" dirty="0"/>
          </a:p>
        </p:txBody>
      </p:sp>
      <p:sp>
        <p:nvSpPr>
          <p:cNvPr id="15" name="cd_2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7" name="ln_25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8" name="ln_25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R1_lnA25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ln_25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1" name="ln_25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2" name="ln_255"/>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3" name="ln_25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R2_lnA25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5" name="pf_25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59" descr="/home/claude/lls-course/v2/cache/2b2_kite_ski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6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managed to = riuscire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post 7–9. Indovina le parole mancanti.</a:t>
            </a:r>
            <a:endParaRPr lang="en-US" sz="950" dirty="0"/>
          </a:p>
        </p:txBody>
      </p:sp>
      <p:sp>
        <p:nvSpPr>
          <p:cNvPr id="9" name="cmd_2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the blog (3)   ·   📖 SB p.22 · blog entries F, A, G</a:t>
            </a:r>
            <a:endParaRPr lang="en-US" sz="800" dirty="0"/>
          </a:p>
        </p:txBody>
      </p:sp>
      <p:sp>
        <p:nvSpPr>
          <p:cNvPr id="15"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7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7"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8"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9"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20"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R1_lnA2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2" name="ln_2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3" name="ln_28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2EB872"/>
                </a:solidFill>
                <a:latin typeface="Georgia" pitchFamily="34" charset="0"/>
                <a:ea typeface="Georgia" pitchFamily="34" charset="-122"/>
                <a:cs typeface="Georgia" pitchFamily="34" charset="-120"/>
              </a:rPr>
              <a:t> (5) ________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R2_lnA28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5" name="pf_2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7"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progress = progressi</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ended up pushing = alla fine abbiamo spinto</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9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quale post Helen parla di…?</a:t>
            </a:r>
            <a:endParaRPr lang="en-US" sz="950" dirty="0"/>
          </a:p>
        </p:txBody>
      </p:sp>
      <p:sp>
        <p:nvSpPr>
          <p:cNvPr id="9" name="cmd_29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Reading · detail   ·   📖 SB p.22 · 6d, 6e</a:t>
            </a:r>
            <a:endParaRPr lang="en-US" sz="800" dirty="0"/>
          </a:p>
        </p:txBody>
      </p:sp>
      <p:sp>
        <p:nvSpPr>
          <p:cNvPr id="14" name="cd_3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looking forward to a wash → H · "hot water… a good wash"</a:t>
            </a:r>
            <a:endParaRPr lang="en-US" sz="1050" dirty="0"/>
          </a:p>
        </p:txBody>
      </p:sp>
      <p:sp>
        <p:nvSpPr>
          <p:cNvPr id="18" name="pf_3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1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2" name="R1_chip31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3" name="bd_31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1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050" dirty="0"/>
          </a:p>
        </p:txBody>
      </p:sp>
      <p:sp>
        <p:nvSpPr>
          <p:cNvPr id="25" name="R2_chip31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6" name="bd_31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050" dirty="0"/>
          </a:p>
        </p:txBody>
      </p:sp>
      <p:sp>
        <p:nvSpPr>
          <p:cNvPr id="28" name="R3_chip31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9" name="bd_31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050" dirty="0"/>
          </a:p>
        </p:txBody>
      </p:sp>
      <p:sp>
        <p:nvSpPr>
          <p:cNvPr id="31" name="R4_chip32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2" name="bd_32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2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050" dirty="0"/>
          </a:p>
        </p:txBody>
      </p:sp>
      <p:sp>
        <p:nvSpPr>
          <p:cNvPr id="34" name="R5_chip32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5" name="bd_32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2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7" name="R6_chip32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8" name="bd_32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32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050" dirty="0"/>
          </a:p>
        </p:txBody>
      </p:sp>
      <p:sp>
        <p:nvSpPr>
          <p:cNvPr id="40" name="R7_chip32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1" name="bd_33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33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050" dirty="0"/>
          </a:p>
        </p:txBody>
      </p:sp>
      <p:sp>
        <p:nvSpPr>
          <p:cNvPr id="43" name="R8_chip33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3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l'aggettivo normale.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strong adjectives (1)   ·   📖 SB p.23 · 7a, 7b, 7c · audio 2.20</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9" descr="/home/claude/lls-course/v2/cache/2b2_fu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7" name="R1_chip3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8" name="gq_3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9" name="R2_chip3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30" name="gq_3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31" name="R3_chip3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32" name="gq_3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3" name="R4_chip3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4" name="gq_3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5" name="R5_chip3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6" name="gq_36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7" name="R6_chip36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6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7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l'aggettivo normale. Poi ascolta.</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strong adjectives (2)   ·   📖 SB p.23 · 7b, 7c · audio 2.20</a:t>
            </a:r>
            <a:endParaRPr lang="en-US" sz="800" dirty="0"/>
          </a:p>
        </p:txBody>
      </p:sp>
      <p:sp>
        <p:nvSpPr>
          <p:cNvPr id="15" name="ap_37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7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8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8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82" descr="/home/claude/lls-course/v2/cache/2b2_filth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8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8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8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8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8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7" name="R1_chip38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8" name="gq_38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9" name="R2_chip39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30" name="gq_39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31" name="R3_chip39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32" name="gq_39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150" dirty="0"/>
          </a:p>
        </p:txBody>
      </p:sp>
      <p:sp>
        <p:nvSpPr>
          <p:cNvPr id="33" name="R4_chip39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4" name="gq_39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5" name="R5_chip39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6" name="gq_397"/>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000" dirty="0"/>
          </a:p>
        </p:txBody>
      </p:sp>
      <p:sp>
        <p:nvSpPr>
          <p:cNvPr id="37" name="R6_chip398"/>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0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 in Italian</a:t>
            </a:r>
            <a:endParaRPr lang="en-US" sz="800" dirty="0"/>
          </a:p>
        </p:txBody>
      </p:sp>
      <p:sp>
        <p:nvSpPr>
          <p:cNvPr id="14" name="cd_4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7" name="R1_it4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8" name="cd_4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1" name="R2_it4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2" name="cd_4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5" name="R3_it4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6" name="cd_4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9" name="R4_it4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30" name="cd_4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3" name="R5_it4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affamato · muoio di fame!</a:t>
            </a:r>
            <a:endParaRPr lang="en-US" sz="800" dirty="0"/>
          </a:p>
        </p:txBody>
      </p:sp>
      <p:sp>
        <p:nvSpPr>
          <p:cNvPr id="34" name="cd_4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7" name="R6_it4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8" name="cd_4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1" name="R7_it4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2" name="cd_4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5" name="R8_it4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6" name="cd_4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9" name="R9_it4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50" name="cd_4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3" name="R10_it4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4" name="cd_4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7" name="R11_it4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8" name="cd_4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1" name="R12_it4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2" name="R13_wc4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6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charity climb</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6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6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 class story (TPRS)</a:t>
            </a:r>
            <a:endParaRPr lang="en-US" sz="800" dirty="0"/>
          </a:p>
        </p:txBody>
      </p:sp>
      <p:sp>
        <p:nvSpPr>
          <p:cNvPr id="15" name="cd_47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absolutely freezing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gelido · si gela!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completely exhausted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esausto · distrutto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starving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muoio di fame!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filthy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sudicio · lurido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furious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furioso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hilarious · delighted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esilarante · felicissimo</a:t>
            </a:r>
            <a:endParaRPr lang="en-US" sz="1000" dirty="0"/>
          </a:p>
        </p:txBody>
      </p:sp>
      <p:sp>
        <p:nvSpPr>
          <p:cNvPr id="19" name="R1_sb47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climbs Etna for charity. At the top it's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absolutely freezing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Luca climb Etna or Vesuvius? · Is it hot or freezing at the top?</a:t>
            </a:r>
            <a:endParaRPr lang="en-US" sz="1100" dirty="0"/>
          </a:p>
        </p:txBody>
      </p:sp>
      <p:sp>
        <p:nvSpPr>
          <p:cNvPr id="21" name="R2_sb47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7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walks for ten hours. Now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completely exhausted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Luca a bit tired or exhausted? · How many hours does he walk?</a:t>
            </a:r>
            <a:endParaRPr lang="en-US" sz="1250" dirty="0"/>
          </a:p>
        </p:txBody>
      </p:sp>
      <p:sp>
        <p:nvSpPr>
          <p:cNvPr id="23" name="R3_sb48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hasn't eaten all day.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starving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But his bag is empty.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hungry or starving? · What's NOT in his bag? (you decide!)</a:t>
            </a:r>
            <a:endParaRPr lang="en-US" sz="1250" dirty="0"/>
          </a:p>
        </p:txBody>
      </p:sp>
      <p:sp>
        <p:nvSpPr>
          <p:cNvPr id="25" name="R4_sb48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way down he falls in the mud. His clothes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absolutely filthy</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Are his clothes clean or filthy? · Where does he fall?</a:t>
            </a:r>
            <a:endParaRPr lang="en-US" sz="1050" dirty="0"/>
          </a:p>
        </p:txBody>
      </p:sp>
      <p:sp>
        <p:nvSpPr>
          <p:cNvPr id="27" name="R5_sb48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gets home. Mum sees the kitchen floor. She's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furious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Mum pleased or furious? · Why is she furious?</a:t>
            </a:r>
            <a:endParaRPr lang="en-US" sz="1250" dirty="0"/>
          </a:p>
        </p:txBody>
      </p:sp>
      <p:sp>
        <p:nvSpPr>
          <p:cNvPr id="29" name="R6_sb48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But he's raised €500! The photos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hilarious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now Mum's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delighted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How much has he raised? · And you – when were you absolutely exhausted?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9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9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9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aggettivo FORTE!</a:t>
            </a:r>
            <a:endParaRPr lang="en-US" sz="950" dirty="0"/>
          </a:p>
        </p:txBody>
      </p:sp>
      <p:sp>
        <p:nvSpPr>
          <p:cNvPr id="9" name="cmd_49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9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9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49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Vocabulary game   ·   📖 SB p.23 · 7d (Communication Are you hungry? A p.106, B p.111 – adapted)</a:t>
            </a:r>
            <a:endParaRPr lang="en-US" sz="800" dirty="0"/>
          </a:p>
        </p:txBody>
      </p:sp>
      <p:sp>
        <p:nvSpPr>
          <p:cNvPr id="15" name="cd_50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0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Listen to the question.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Ascolta la domanda.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answer with a STRONG adjective – 5 seconds!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rispondete con un aggettivo FORTE – 5 secondi!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Big stress = 1 point. 'very' = 0!</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Accento forte = 1 punto. 'very' = 0!</a:t>
            </a:r>
            <a:endParaRPr lang="en-US" sz="950" dirty="0"/>
          </a:p>
        </p:txBody>
      </p:sp>
      <p:sp>
        <p:nvSpPr>
          <p:cNvPr id="19" name="pf_50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5" descr="/home/claude/lls-course/v2/cache/2b2_starv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0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0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3" name="R1_chip50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4" name="bd_50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6" name="R2_chip51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7" name="bd_51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9" name="R3_chip51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30" name="bd_51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1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2" name="R4_chip51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3" name="bd_51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1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5" name="R5_chip52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6" name="bd_52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8" name="R6_chip52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2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52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2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5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Finisci la storia con un aggettivo forte!</a:t>
            </a:r>
            <a:endParaRPr lang="en-US" sz="950" dirty="0"/>
          </a:p>
        </p:txBody>
      </p:sp>
      <p:sp>
        <p:nvSpPr>
          <p:cNvPr id="9" name="cmd_5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3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game · story chain   ·   📖 Strong adjectives · SB p.22 6e (an exciting experience)</a:t>
            </a:r>
            <a:endParaRPr lang="en-US" sz="800" dirty="0"/>
          </a:p>
        </p:txBody>
      </p:sp>
      <p:sp>
        <p:nvSpPr>
          <p:cNvPr id="15" name="cd_53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start of the sentence.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l'inizio della frase.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finish it with a strong adjective. No repeats!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finitela con un aggettivo forte. Niente ripetizioni!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Funniest correct ending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Il finale corretto più divertente = 1 punto.</a:t>
            </a:r>
            <a:endParaRPr lang="en-US" sz="900" dirty="0"/>
          </a:p>
        </p:txBody>
      </p:sp>
      <p:sp>
        <p:nvSpPr>
          <p:cNvPr id="19" name="pf_54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1"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3" name="R1_chip54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4" name="bd_54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6" name="R2_chip54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7" name="bd_54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9" name="R3_chip55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30" name="bd_55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2" name="R4_chip55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3" name="bd_55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5" name="R5_chip55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6" name="bd_55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8" name="R6_chip55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6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6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Usa un aggettivo forte!</a:t>
            </a:r>
            <a:endParaRPr lang="en-US" sz="950" dirty="0"/>
          </a:p>
        </p:txBody>
      </p:sp>
      <p:sp>
        <p:nvSpPr>
          <p:cNvPr id="9" name="cmd_56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6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Speaking · strong adjectives   ·   📖 SB p.23 · 7e</a:t>
            </a:r>
            <a:endParaRPr lang="en-US" sz="800" dirty="0"/>
          </a:p>
        </p:txBody>
      </p:sp>
      <p:sp>
        <p:nvSpPr>
          <p:cNvPr id="14" name="pf_57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2"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7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7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What happened?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did you feel?</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was absolutely / really…</a:t>
            </a:r>
            <a:endParaRPr lang="en-US" sz="1050" dirty="0"/>
          </a:p>
        </p:txBody>
      </p:sp>
      <p:sp>
        <p:nvSpPr>
          <p:cNvPr id="20" name="R1_qb57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7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Yes! Mondello in March – it was absolutely freezing!</a:t>
            </a:r>
            <a:endParaRPr lang="en-US" sz="1000" dirty="0"/>
          </a:p>
        </p:txBody>
      </p:sp>
      <p:pic>
        <p:nvPicPr>
          <p:cNvPr id="22" name="R1_th579"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58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8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People who park on the pavement make me furious.</a:t>
            </a:r>
            <a:endParaRPr lang="en-US" sz="1100" dirty="0"/>
          </a:p>
        </p:txBody>
      </p:sp>
      <p:sp>
        <p:nvSpPr>
          <p:cNvPr id="25" name="R3_qb58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Spiders! I'm absolutely terrified of them.</a:t>
            </a:r>
            <a:endParaRPr lang="en-US" sz="1250" dirty="0"/>
          </a:p>
        </p:txBody>
      </p:sp>
      <p:pic>
        <p:nvPicPr>
          <p:cNvPr id="27" name="R3_th584"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58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8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Seville in July. It was boiling – 44 degrees!</a:t>
            </a:r>
            <a:endParaRPr lang="en-US" sz="1250" dirty="0"/>
          </a:p>
        </p:txBody>
      </p:sp>
      <p:pic>
        <p:nvPicPr>
          <p:cNvPr id="30" name="R4_th587" descr="/home/claude/lls-course/v2/cache/2b2_boiling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58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8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4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vengono nominati?</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59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sp>
        <p:nvSpPr>
          <p:cNvPr id="12" name="tag_5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Video listening · The Great OUP Bake Sale   ·   📖 SB p.23 · 8a, 8b · Video 2B (7'27")</a:t>
            </a:r>
            <a:endParaRPr lang="en-US" sz="800" dirty="0"/>
          </a:p>
        </p:txBody>
      </p:sp>
      <p:sp>
        <p:nvSpPr>
          <p:cNvPr id="15" name="cd_6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0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Daisy Watt → a chef – one of the judges</a:t>
            </a:r>
            <a:endParaRPr lang="en-US" sz="1050" dirty="0"/>
          </a:p>
        </p:txBody>
      </p:sp>
      <p:sp>
        <p:nvSpPr>
          <p:cNvPr id="19" name="pf_6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2b2_bake_sa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0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0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3" name="R1_chip61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4" name="bd_61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1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6" name="R2_chip61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7" name="bd_61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1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050" dirty="0"/>
          </a:p>
        </p:txBody>
      </p:sp>
      <p:sp>
        <p:nvSpPr>
          <p:cNvPr id="29" name="R3_chip61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30" name="bd_61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1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050" dirty="0"/>
          </a:p>
        </p:txBody>
      </p:sp>
      <p:sp>
        <p:nvSpPr>
          <p:cNvPr id="32" name="R4_chip61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3" name="bd_62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2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5" name="R5_chip62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6" name="bd_62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62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8" name="R6_chip62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9" name="bd_62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62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050" dirty="0"/>
          </a:p>
        </p:txBody>
      </p:sp>
      <p:sp>
        <p:nvSpPr>
          <p:cNvPr id="41" name="R7_chip62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2" name="bd_62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63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4" name="R8_chip63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38"/>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9"/>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Exit · what can you remember?</a:t>
            </a:r>
            <a:endParaRPr lang="en-US" sz="800" dirty="0"/>
          </a:p>
        </p:txBody>
      </p:sp>
      <p:sp>
        <p:nvSpPr>
          <p:cNvPr id="13" name="bd_64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5" name="bd_64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7" name="bd_64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9" name="cd_64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5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5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2B: 3a–3d</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SB p.22: Strong adjectives –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Video 2B on Online Practice (if not watched)</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2B-2 in the LLS app</a:t>
            </a:r>
            <a:endParaRPr lang="en-US" sz="1150" dirty="0"/>
          </a:p>
        </p:txBody>
      </p:sp>
      <p:sp>
        <p:nvSpPr>
          <p:cNvPr id="23" name="st_65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5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5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6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6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Review · what did you do today?</a:t>
            </a:r>
            <a:endParaRPr lang="en-US" sz="800" dirty="0"/>
          </a:p>
        </p:txBody>
      </p:sp>
      <p:sp>
        <p:nvSpPr>
          <p:cNvPr id="14" name="cd_664"/>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6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6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charity challenges</a:t>
            </a:r>
            <a:endParaRPr lang="en-US" sz="1350" dirty="0"/>
          </a:p>
        </p:txBody>
      </p:sp>
      <p:sp>
        <p:nvSpPr>
          <p:cNvPr id="17" name="R1_tk66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68"/>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6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7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blog from Antarctica</a:t>
            </a:r>
            <a:endParaRPr lang="en-US" sz="1350" dirty="0"/>
          </a:p>
        </p:txBody>
      </p:sp>
      <p:sp>
        <p:nvSpPr>
          <p:cNvPr id="21" name="R2_tk67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72"/>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7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7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strong adjectives: I'm starving!</a:t>
            </a:r>
            <a:endParaRPr lang="en-US" sz="1350" dirty="0"/>
          </a:p>
        </p:txBody>
      </p:sp>
      <p:sp>
        <p:nvSpPr>
          <p:cNvPr id="25" name="R3_tk67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76"/>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7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7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7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80"/>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8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8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a video about a charity bake sale</a:t>
            </a:r>
            <a:endParaRPr lang="en-US" sz="1350" dirty="0"/>
          </a:p>
        </p:txBody>
      </p:sp>
      <p:sp>
        <p:nvSpPr>
          <p:cNvPr id="33" name="R5_tk68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8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8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88"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89"/>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al compagno. Poi chiedi: Come ti sei sentito?</a:t>
            </a:r>
            <a:endParaRPr lang="en-US" sz="950" dirty="0"/>
          </a:p>
        </p:txBody>
      </p:sp>
      <p:sp>
        <p:nvSpPr>
          <p:cNvPr id="9" name="cmd_69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9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Extra · an exciting experience   ·   📖 SB p.22 · 6e</a:t>
            </a:r>
            <a:endParaRPr lang="en-US" sz="800" dirty="0"/>
          </a:p>
        </p:txBody>
      </p:sp>
      <p:sp>
        <p:nvSpPr>
          <p:cNvPr id="14" name="st_69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98"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0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It was absolutely amazing / terrifying…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was exhausted / delighted…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Would you do it again?</a:t>
            </a:r>
            <a:endParaRPr lang="en-US" sz="900" dirty="0"/>
          </a:p>
        </p:txBody>
      </p:sp>
      <p:sp>
        <p:nvSpPr>
          <p:cNvPr id="21" name="R1_qb7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0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 went rafting in Calabria. It was amazing!</a:t>
            </a:r>
            <a:endParaRPr lang="en-US" sz="1250" dirty="0"/>
          </a:p>
        </p:txBody>
      </p:sp>
      <p:sp>
        <p:nvSpPr>
          <p:cNvPr id="23" name="R2_qb70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0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climbed Etna with my cousins. We started at 5 a.m.</a:t>
            </a:r>
            <a:endParaRPr lang="en-US" sz="1250" dirty="0"/>
          </a:p>
        </p:txBody>
      </p:sp>
      <p:sp>
        <p:nvSpPr>
          <p:cNvPr id="25" name="R3_qb70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0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but I was exhausted and starving at the top!</a:t>
            </a:r>
            <a:endParaRPr lang="en-US" sz="1250" dirty="0"/>
          </a:p>
        </p:txBody>
      </p:sp>
      <p:sp>
        <p:nvSpPr>
          <p:cNvPr id="27" name="R4_qb70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1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1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7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7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Organizzate una vendita di dolci per beneficenza!</a:t>
            </a:r>
            <a:endParaRPr lang="en-US" sz="950" dirty="0"/>
          </a:p>
        </p:txBody>
      </p:sp>
      <p:sp>
        <p:nvSpPr>
          <p:cNvPr id="9" name="cmd_71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1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71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2B-2 · Extra · project   ·   📖 TG extra idea (Video Listening 2B): a class bake sale</a:t>
            </a:r>
            <a:endParaRPr lang="en-US" sz="800" dirty="0"/>
          </a:p>
        </p:txBody>
      </p:sp>
      <p:sp>
        <p:nvSpPr>
          <p:cNvPr id="14" name="st_72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2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24"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2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2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2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2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We're going to… · We'll…</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It'll be absolutely delicious!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much will you charge?</a:t>
            </a:r>
            <a:endParaRPr lang="en-US" sz="1050" dirty="0"/>
          </a:p>
        </p:txBody>
      </p:sp>
      <p:sp>
        <p:nvSpPr>
          <p:cNvPr id="21" name="R1_qb72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3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 local animal shelter – the dogs are starving!</a:t>
            </a:r>
            <a:endParaRPr lang="en-US" sz="1250" dirty="0"/>
          </a:p>
        </p:txBody>
      </p:sp>
      <p:sp>
        <p:nvSpPr>
          <p:cNvPr id="23" name="R2_qb73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3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Saturday at school. I'll make cannoli!</a:t>
            </a:r>
            <a:endParaRPr lang="en-US" sz="1250" dirty="0"/>
          </a:p>
        </p:txBody>
      </p:sp>
      <p:sp>
        <p:nvSpPr>
          <p:cNvPr id="25" name="R3_qb73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3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€2 a slice. We want to raise €200.</a:t>
            </a:r>
            <a:endParaRPr lang="en-US" sz="1100" dirty="0"/>
          </a:p>
        </p:txBody>
      </p:sp>
      <p:sp>
        <p:nvSpPr>
          <p:cNvPr id="27" name="R4_qb73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3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2026-10-12T17:09:40Z</dcterms:created>
  <dcterms:modified xsi:type="dcterms:W3CDTF">2026-10-12T17:09:40Z</dcterms:modified>
</cp:coreProperties>
</file>