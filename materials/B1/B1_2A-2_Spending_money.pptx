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ask and answer about money experiences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choose: present perfect or past simple?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find the mistakes in a scam email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three true scam stories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2a1_len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2A: spending money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earn = from work · win = the lottery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spend ON · pay BY · be worth €…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5138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14019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76656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62609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3246120" y="454456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cmd_55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1300" dirty="0"/>
          </a:p>
        </p:txBody>
      </p:sp>
      <p:sp>
        <p:nvSpPr>
          <p:cNvPr id="11" name="meta_5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 There's ONE mistake.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it correctly – 15 seconds!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sentence = 1 point.</a:t>
            </a:r>
            <a:endParaRPr lang="en-US" sz="115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future_mone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meta_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950" dirty="0"/>
          </a:p>
        </p:txBody>
      </p:sp>
      <p:pic>
        <p:nvPicPr>
          <p:cNvPr id="11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3" name="ap_93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4" name="ah_94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6" name="ah2_95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7" name="pf_96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97"/>
          <p:cNvSpPr/>
          <p:nvPr/>
        </p:nvSpPr>
        <p:spPr>
          <a:xfrm>
            <a:off x="457200" y="2103120"/>
            <a:ext cx="1691640" cy="12344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2a2-cover.jpg</a:t>
            </a:r>
            <a:endParaRPr lang="en-US" sz="900" dirty="0"/>
          </a:p>
        </p:txBody>
      </p:sp>
      <p:sp>
        <p:nvSpPr>
          <p:cNvPr id="19" name="bd_98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0" name="pf_99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1" name="phx_100"/>
          <p:cNvSpPr/>
          <p:nvPr/>
        </p:nvSpPr>
        <p:spPr>
          <a:xfrm>
            <a:off x="2331720" y="2103120"/>
            <a:ext cx="1691640" cy="12344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2a2-receipt.jpg</a:t>
            </a:r>
            <a:endParaRPr lang="en-US" sz="900" dirty="0"/>
          </a:p>
        </p:txBody>
      </p:sp>
      <p:sp>
        <p:nvSpPr>
          <p:cNvPr id="22" name="bd_101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pf_102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103" descr="/home/claude/lls-course/v2/cache/spare_1a2_bill_jpg_407x29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5" name="bd_104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6" name="cd_105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106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8" name="ih_107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29" name="il_108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A–C. What are they thinking?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What are they arguing about?</a:t>
            </a:r>
            <a:endParaRPr lang="en-US" sz="1100" dirty="0"/>
          </a:p>
        </p:txBody>
      </p:sp>
      <p:sp>
        <p:nvSpPr>
          <p:cNvPr id="30" name="lq_109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1" name="R1_chip110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2" name="lq_111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3" name="R2_chip112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4" name="lq_113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5" name="R3_chip114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6" name="lq_115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37" name="R4_chip116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1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cmd_1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124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1" name="meta_12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1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4" name="cd_12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2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6" name="ln_130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7" name="ln_131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8" name="R1_lnA132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9" name="ln_133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0" name="R2_lnA134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1" name="ln_135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2" name="R3_lnA136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3" name="ln_137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4" name="R4_lnA138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5" name="ln_139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6" name="R5_lnA140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7" name="ln_141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8" name="R6_lnA142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9" name="ln_143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0" name="R7_lnA144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1" name="ln_145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2" name="R8_lnA146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3" name="ln_147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4" name="R9_lnA148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5" name="ln_149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6" name="R10_lnA150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7" name="ln_151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8" name="R11_lnA152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9" name="ap_153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40" name="ah_154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4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42" name="pf_155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43" name="phx_156"/>
          <p:cNvSpPr/>
          <p:nvPr/>
        </p:nvSpPr>
        <p:spPr>
          <a:xfrm>
            <a:off x="6355080" y="2240280"/>
            <a:ext cx="2468880" cy="14630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2a2-receipt.jpg</a:t>
            </a:r>
            <a:endParaRPr lang="en-US" sz="900" dirty="0"/>
          </a:p>
        </p:txBody>
      </p:sp>
      <p:sp>
        <p:nvSpPr>
          <p:cNvPr id="44" name="cd_15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ii_15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6" name="ih_15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47" name="il_16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bargain = affare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bill = bolletta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500" dirty="0"/>
          </a:p>
        </p:txBody>
      </p:sp>
      <p:pic>
        <p:nvPicPr>
          <p:cNvPr id="6" name="brP_1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65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cmd_16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10" name="meta_16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3" name="cd_171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17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17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174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17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8" name="lg_17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19" name="lg_177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20" name="sq_178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21" name="R1_tag179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2" name="sq_180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3" name="R2_tag181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4" name="sq_182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5" name="R3_tag183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6" name="sq_184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7" name="R4_tag185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8" name="sq_186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29" name="R5_tag187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30" name="sq_188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31" name="R6_tag189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2" name="pf_190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33" name="phx_191"/>
          <p:cNvSpPr/>
          <p:nvPr/>
        </p:nvSpPr>
        <p:spPr>
          <a:xfrm>
            <a:off x="457200" y="3749040"/>
            <a:ext cx="2423160" cy="96012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2a2-cover.jpg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1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196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19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cmd_19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19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1" name="logo_2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3" name="cd_202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203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5" name="pf_204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5" descr="/home/claude/lls-course/v2/cache/2a2_passport_map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7" name="ru_206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8" name="R1_rx207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19" name="R1_ri208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20" name="cd_209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10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2" name="pf_211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3" name="phx_212"/>
          <p:cNvSpPr/>
          <p:nvPr/>
        </p:nvSpPr>
        <p:spPr>
          <a:xfrm>
            <a:off x="3371088" y="1984248"/>
            <a:ext cx="2447544" cy="8686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2a2-cover.jpg</a:t>
            </a:r>
            <a:endParaRPr lang="en-US" sz="900" dirty="0"/>
          </a:p>
        </p:txBody>
      </p:sp>
      <p:sp>
        <p:nvSpPr>
          <p:cNvPr id="24" name="ru_213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5" name="R2_rx214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6" name="R2_ri215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7" name="cd_216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17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29" name="pf_218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9" descr="/home/claude/lls-course/v2/cache/2a2_holiday_album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1" name="ru_220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2" name="R3_rx221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3" name="R3_ri222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4" name="R4_wc223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4_w224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2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29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3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cmd_23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1300" dirty="0"/>
          </a:p>
        </p:txBody>
      </p:sp>
      <p:sp>
        <p:nvSpPr>
          <p:cNvPr id="10" name="cmd_232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23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2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4" name="cd_23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I've seen that film yesterday. → ✗ I saw that film yesterday. (yesterday = finished time)</a:t>
            </a:r>
            <a:endParaRPr lang="en-US" sz="1050" dirty="0"/>
          </a:p>
        </p:txBody>
      </p:sp>
      <p:sp>
        <p:nvSpPr>
          <p:cNvPr id="18" name="pf_24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241"/>
          <p:cNvSpPr/>
          <p:nvPr/>
        </p:nvSpPr>
        <p:spPr>
          <a:xfrm>
            <a:off x="411480" y="2743200"/>
            <a:ext cx="2514600" cy="187452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2a2-booking.jpg</a:t>
            </a:r>
            <a:endParaRPr lang="en-US" sz="900" dirty="0"/>
          </a:p>
        </p:txBody>
      </p:sp>
      <p:sp>
        <p:nvSpPr>
          <p:cNvPr id="20" name="bd_24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4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2" name="R1_chip24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00" dirty="0"/>
          </a:p>
        </p:txBody>
      </p:sp>
      <p:sp>
        <p:nvSpPr>
          <p:cNvPr id="23" name="bd_24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4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5" name="R2_chip24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00" dirty="0"/>
          </a:p>
        </p:txBody>
      </p:sp>
      <p:sp>
        <p:nvSpPr>
          <p:cNvPr id="26" name="bd_24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8" name="R3_chip25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00" dirty="0"/>
          </a:p>
        </p:txBody>
      </p:sp>
      <p:sp>
        <p:nvSpPr>
          <p:cNvPr id="29" name="bd_25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5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50" dirty="0"/>
          </a:p>
        </p:txBody>
      </p:sp>
      <p:sp>
        <p:nvSpPr>
          <p:cNvPr id="31" name="R4_chip25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00" dirty="0"/>
          </a:p>
        </p:txBody>
      </p:sp>
      <p:sp>
        <p:nvSpPr>
          <p:cNvPr id="32" name="bd_25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5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150" dirty="0"/>
          </a:p>
        </p:txBody>
      </p:sp>
      <p:sp>
        <p:nvSpPr>
          <p:cNvPr id="34" name="R5_chip25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00" dirty="0"/>
          </a:p>
        </p:txBody>
      </p:sp>
      <p:sp>
        <p:nvSpPr>
          <p:cNvPr id="35" name="bd_25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7" name="R6_chip25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6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6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6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cmd_26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26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1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3" name="cd_27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27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make a sentence – 15 seconds!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tense = 1 point.</a:t>
            </a:r>
            <a:endParaRPr lang="en-US" sz="1150" dirty="0"/>
          </a:p>
        </p:txBody>
      </p:sp>
      <p:sp>
        <p:nvSpPr>
          <p:cNvPr id="17" name="pf_27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75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27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7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100" dirty="0"/>
          </a:p>
        </p:txBody>
      </p:sp>
      <p:sp>
        <p:nvSpPr>
          <p:cNvPr id="21" name="R1_chip27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100" dirty="0"/>
          </a:p>
        </p:txBody>
      </p:sp>
      <p:sp>
        <p:nvSpPr>
          <p:cNvPr id="22" name="bd_27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8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100" dirty="0"/>
          </a:p>
        </p:txBody>
      </p:sp>
      <p:sp>
        <p:nvSpPr>
          <p:cNvPr id="24" name="R2_chip28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100" dirty="0"/>
          </a:p>
        </p:txBody>
      </p:sp>
      <p:sp>
        <p:nvSpPr>
          <p:cNvPr id="25" name="bd_28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8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100" dirty="0"/>
          </a:p>
        </p:txBody>
      </p:sp>
      <p:sp>
        <p:nvSpPr>
          <p:cNvPr id="27" name="R3_chip28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100" dirty="0"/>
          </a:p>
        </p:txBody>
      </p:sp>
      <p:sp>
        <p:nvSpPr>
          <p:cNvPr id="28" name="bd_28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8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100" dirty="0"/>
          </a:p>
        </p:txBody>
      </p:sp>
      <p:sp>
        <p:nvSpPr>
          <p:cNvPr id="30" name="R4_chip28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100" dirty="0"/>
          </a:p>
        </p:txBody>
      </p:sp>
      <p:sp>
        <p:nvSpPr>
          <p:cNvPr id="31" name="bd_28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8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100" dirty="0"/>
          </a:p>
        </p:txBody>
      </p:sp>
      <p:sp>
        <p:nvSpPr>
          <p:cNvPr id="33" name="R5_chip29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100" dirty="0"/>
          </a:p>
        </p:txBody>
      </p:sp>
      <p:sp>
        <p:nvSpPr>
          <p:cNvPr id="34" name="bd_29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9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100" dirty="0"/>
          </a:p>
        </p:txBody>
      </p:sp>
      <p:sp>
        <p:nvSpPr>
          <p:cNvPr id="36" name="R6_chip29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cmd_30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cmd_301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1" name="meta_30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2" name="logo_3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4" name="cd_30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30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A says the verb.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 says the past simple AND the participle.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50" dirty="0"/>
          </a:p>
        </p:txBody>
      </p:sp>
      <p:sp>
        <p:nvSpPr>
          <p:cNvPr id="18" name="st_30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9" name="bd_31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1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100" dirty="0"/>
          </a:p>
        </p:txBody>
      </p:sp>
      <p:sp>
        <p:nvSpPr>
          <p:cNvPr id="21" name="R1_chip31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1100" dirty="0"/>
          </a:p>
        </p:txBody>
      </p:sp>
      <p:sp>
        <p:nvSpPr>
          <p:cNvPr id="22" name="bd_31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1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100" dirty="0"/>
          </a:p>
        </p:txBody>
      </p:sp>
      <p:sp>
        <p:nvSpPr>
          <p:cNvPr id="24" name="R2_chip31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1100" dirty="0"/>
          </a:p>
        </p:txBody>
      </p:sp>
      <p:sp>
        <p:nvSpPr>
          <p:cNvPr id="25" name="bd_31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1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100" dirty="0"/>
          </a:p>
        </p:txBody>
      </p:sp>
      <p:sp>
        <p:nvSpPr>
          <p:cNvPr id="27" name="R3_chip31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1100" dirty="0"/>
          </a:p>
        </p:txBody>
      </p:sp>
      <p:sp>
        <p:nvSpPr>
          <p:cNvPr id="28" name="bd_31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2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100" dirty="0"/>
          </a:p>
        </p:txBody>
      </p:sp>
      <p:sp>
        <p:nvSpPr>
          <p:cNvPr id="30" name="R4_chip32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1100" dirty="0"/>
          </a:p>
        </p:txBody>
      </p:sp>
      <p:sp>
        <p:nvSpPr>
          <p:cNvPr id="31" name="bd_32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32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100" dirty="0"/>
          </a:p>
        </p:txBody>
      </p:sp>
      <p:sp>
        <p:nvSpPr>
          <p:cNvPr id="33" name="R5_chip32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1100" dirty="0"/>
          </a:p>
        </p:txBody>
      </p:sp>
      <p:sp>
        <p:nvSpPr>
          <p:cNvPr id="34" name="bd_32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32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100" dirty="0"/>
          </a:p>
        </p:txBody>
      </p:sp>
      <p:sp>
        <p:nvSpPr>
          <p:cNvPr id="36" name="R6_chip32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1100" dirty="0"/>
          </a:p>
        </p:txBody>
      </p:sp>
      <p:sp>
        <p:nvSpPr>
          <p:cNvPr id="37" name="bd_32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32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100" dirty="0"/>
          </a:p>
        </p:txBody>
      </p:sp>
      <p:sp>
        <p:nvSpPr>
          <p:cNvPr id="39" name="R7_chip33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1100" dirty="0"/>
          </a:p>
        </p:txBody>
      </p:sp>
      <p:sp>
        <p:nvSpPr>
          <p:cNvPr id="40" name="bd_33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33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100" dirty="0"/>
          </a:p>
        </p:txBody>
      </p:sp>
      <p:sp>
        <p:nvSpPr>
          <p:cNvPr id="42" name="R8_chip33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36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3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3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cmd_34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34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pic>
        <p:nvPicPr>
          <p:cNvPr id="11" name="logo_3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3" name="pf_34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4" name="phx_345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2a2-found-money.jpg</a:t>
            </a:r>
            <a:endParaRPr lang="en-US" sz="900" dirty="0"/>
          </a:p>
        </p:txBody>
      </p:sp>
      <p:sp>
        <p:nvSpPr>
          <p:cNvPr id="15" name="cd_34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4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34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34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did you…? Where…?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much was it? What happened?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19" name="R1_qb35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351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saved for six months to pay the deposit on my car. – How much was it?</a:t>
            </a:r>
            <a:endParaRPr lang="en-US" sz="1250" dirty="0"/>
          </a:p>
        </p:txBody>
      </p:sp>
      <p:pic>
        <p:nvPicPr>
          <p:cNvPr id="21" name="R1_th352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2" name="R2_qb353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54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I haven't. But my brother lent me some money last week…</a:t>
            </a:r>
            <a:endParaRPr lang="en-US" sz="1250" dirty="0"/>
          </a:p>
        </p:txBody>
      </p:sp>
      <p:sp>
        <p:nvSpPr>
          <p:cNvPr id="24" name="R3_qb355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56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I bought a guitar two years ago. I've never played it!</a:t>
            </a:r>
            <a:endParaRPr lang="en-US" sz="1250" dirty="0"/>
          </a:p>
        </p:txBody>
      </p:sp>
      <p:sp>
        <p:nvSpPr>
          <p:cNvPr id="26" name="R4_qb357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58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have. I lost it on the bus last summer.</a:t>
            </a:r>
            <a:endParaRPr lang="en-US" sz="1250" dirty="0"/>
          </a:p>
        </p:txBody>
      </p:sp>
      <p:sp>
        <p:nvSpPr>
          <p:cNvPr id="28" name="R5_qb359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60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I won €20 in a school raffle!</a:t>
            </a:r>
            <a:endParaRPr lang="en-US" sz="1250" dirty="0"/>
          </a:p>
        </p:txBody>
      </p:sp>
      <p:sp>
        <p:nvSpPr>
          <p:cNvPr id="30" name="R6_qb361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362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sold my old phone on Vinted last month.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37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3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3" name="cd_37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3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37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scam /skæm/ → a dishonest way of making money · una truffa</a:t>
            </a:r>
            <a:endParaRPr lang="en-US" sz="1050" dirty="0"/>
          </a:p>
        </p:txBody>
      </p:sp>
      <p:sp>
        <p:nvSpPr>
          <p:cNvPr id="17" name="pf_37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78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37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38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1" name="R1_chip38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00" dirty="0"/>
          </a:p>
        </p:txBody>
      </p:sp>
      <p:sp>
        <p:nvSpPr>
          <p:cNvPr id="22" name="bd_38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38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4" name="R2_chip38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00" dirty="0"/>
          </a:p>
        </p:txBody>
      </p:sp>
      <p:sp>
        <p:nvSpPr>
          <p:cNvPr id="25" name="bd_38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8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7" name="R3_chip38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00" dirty="0"/>
          </a:p>
        </p:txBody>
      </p:sp>
      <p:sp>
        <p:nvSpPr>
          <p:cNvPr id="28" name="bd_38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8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30" name="R4_chip39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00" dirty="0"/>
          </a:p>
        </p:txBody>
      </p:sp>
      <p:sp>
        <p:nvSpPr>
          <p:cNvPr id="31" name="bd_39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9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3" name="R5_chip39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00" dirty="0"/>
          </a:p>
        </p:txBody>
      </p:sp>
      <p:sp>
        <p:nvSpPr>
          <p:cNvPr id="34" name="bd_39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39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6" name="R6_chip39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39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01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0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cmd_40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404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1300" dirty="0"/>
          </a:p>
        </p:txBody>
      </p:sp>
      <p:sp>
        <p:nvSpPr>
          <p:cNvPr id="11" name="meta_40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4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4" name="cd_40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0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6" name="ln_410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7" name="R1_lnA411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8" name="ln_412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150" dirty="0"/>
          </a:p>
        </p:txBody>
      </p:sp>
      <p:sp>
        <p:nvSpPr>
          <p:cNvPr id="19" name="ln_413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150" dirty="0"/>
          </a:p>
        </p:txBody>
      </p:sp>
      <p:sp>
        <p:nvSpPr>
          <p:cNvPr id="20" name="ln_41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1" name="R2_lnA415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2" name="ln_416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3" name="R3_lnA417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4" name="ln_418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5" name="R4_lnA419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6" name="pf_42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21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8" name="cd_42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42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42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42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Mistakes = a sign of a scam!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and correct ten.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28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3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cmd_43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433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1300" dirty="0"/>
          </a:p>
        </p:txBody>
      </p:sp>
      <p:sp>
        <p:nvSpPr>
          <p:cNvPr id="11" name="meta_43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2" name="logo_4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4" name="cd_43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3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6" name="ln_439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7" name="R1_lnA440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8" name="ln_441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150" dirty="0"/>
          </a:p>
        </p:txBody>
      </p:sp>
      <p:sp>
        <p:nvSpPr>
          <p:cNvPr id="19" name="ln_442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0" name="R2_lnA443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1" name="ln_44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2" name="R3_lnA445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3" name="ln_446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4" name="R4_lnA447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5" name="ln_448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150" dirty="0"/>
          </a:p>
        </p:txBody>
      </p:sp>
      <p:sp>
        <p:nvSpPr>
          <p:cNvPr id="26" name="pf_449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50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8" name="cd_45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45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45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45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4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59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4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cmd_46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meta_46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pic>
        <p:nvPicPr>
          <p:cNvPr id="11" name="logo_4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3" name="ap_465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4" name="ah_466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6" name="ah2_467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7" name="pf_468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469"/>
          <p:cNvSpPr/>
          <p:nvPr/>
        </p:nvSpPr>
        <p:spPr>
          <a:xfrm>
            <a:off x="457200" y="2103120"/>
            <a:ext cx="1691640" cy="12344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2a2-friend-abroad.jpg</a:t>
            </a:r>
            <a:endParaRPr lang="en-US" sz="900" dirty="0"/>
          </a:p>
        </p:txBody>
      </p:sp>
      <p:sp>
        <p:nvSpPr>
          <p:cNvPr id="19" name="bd_470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0" name="pf_471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1" name="phx_472"/>
          <p:cNvSpPr/>
          <p:nvPr/>
        </p:nvSpPr>
        <p:spPr>
          <a:xfrm>
            <a:off x="2331720" y="2103120"/>
            <a:ext cx="1691640" cy="12344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2a2-lottery-letter.jpg</a:t>
            </a:r>
            <a:endParaRPr lang="en-US" sz="900" dirty="0"/>
          </a:p>
        </p:txBody>
      </p:sp>
      <p:sp>
        <p:nvSpPr>
          <p:cNvPr id="22" name="bd_473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pf_474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475" descr="/home/claude/lls-course/v2/cache/2a2_bank_call_jpg_407x29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5" name="bd_476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6" name="cd_477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478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8" name="ih_479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29" name="il_480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A, B and C. Which scam cost the most? Guess!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How much did they lose? The best advice?</a:t>
            </a:r>
            <a:endParaRPr lang="en-US" sz="1100" dirty="0"/>
          </a:p>
        </p:txBody>
      </p:sp>
      <p:sp>
        <p:nvSpPr>
          <p:cNvPr id="30" name="lq_481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1" name="R1_chip482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2" name="lq_483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3" name="R2_chip484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4" name="lq_485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5" name="R3_chip486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6" name="lq_487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37" name="R4_chip488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49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4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9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49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49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496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1" name="meta_49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4" name="ap_50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5" name="ah_501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pf_50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503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2a2-lottery-letter.jpg</a:t>
            </a:r>
            <a:endParaRPr lang="en-US" sz="900" dirty="0"/>
          </a:p>
        </p:txBody>
      </p:sp>
      <p:sp>
        <p:nvSpPr>
          <p:cNvPr id="19" name="cd_50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0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50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50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508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4" name="R1_chip509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5" name="gq_510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6" name="R2_chip511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27" name="gq_512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28" name="R3_chip513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29" name="gq_514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30" name="R4_chip515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1" name="gq_516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2" name="R5_chip517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3" name="gq_518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4" name="R6_chip519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5" name="gq_520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6" name="R7_chip521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37" name="gq_522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38" name="R8_chip523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2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2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cmd_53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5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5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3" name="pf_53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535" descr="/home/claude/lls-course/v2/cache/2a2_parcel_tex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53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3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53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53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must be a scam because…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hang up / delete it.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click on the link.</a:t>
            </a:r>
            <a:endParaRPr lang="en-US" sz="1050" dirty="0"/>
          </a:p>
        </p:txBody>
      </p:sp>
      <p:sp>
        <p:nvSpPr>
          <p:cNvPr id="19" name="R1_qb54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54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Scam! I'd never click on the link.</a:t>
            </a:r>
            <a:endParaRPr lang="en-US" sz="1250" dirty="0"/>
          </a:p>
        </p:txBody>
      </p:sp>
      <p:sp>
        <p:nvSpPr>
          <p:cNvPr id="21" name="R2_qb54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54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Paul! I'd hang up and phone my bank.</a:t>
            </a:r>
            <a:endParaRPr lang="en-US" sz="1250" dirty="0"/>
          </a:p>
        </p:txBody>
      </p:sp>
      <p:sp>
        <p:nvSpPr>
          <p:cNvPr id="23" name="R3_qb54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54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Carl. I've never bought a Spanish ticket!</a:t>
            </a:r>
            <a:endParaRPr lang="en-US" sz="1250" dirty="0"/>
          </a:p>
        </p:txBody>
      </p:sp>
      <p:sp>
        <p:nvSpPr>
          <p:cNvPr id="25" name="R4_qb54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54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Heather. I'd phone my friend first.</a:t>
            </a:r>
            <a:endParaRPr lang="en-US" sz="1250" dirty="0"/>
          </a:p>
        </p:txBody>
      </p:sp>
      <p:sp>
        <p:nvSpPr>
          <p:cNvPr id="27" name="R5_qb548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549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my uncle has. He got a strange text last year and he clicked on the link…</a:t>
            </a:r>
            <a:endParaRPr lang="en-US" sz="1250" dirty="0"/>
          </a:p>
        </p:txBody>
      </p:sp>
      <p:pic>
        <p:nvPicPr>
          <p:cNvPr id="29" name="R5_th550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5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5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5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57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5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2" name="bd_56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6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questions with money verbs</a:t>
            </a:r>
            <a:endParaRPr lang="en-US" sz="1400" dirty="0"/>
          </a:p>
        </p:txBody>
      </p:sp>
      <p:sp>
        <p:nvSpPr>
          <p:cNvPr id="14" name="bd_56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6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with just, one with yesterday</a:t>
            </a:r>
            <a:endParaRPr lang="en-US" sz="1400" dirty="0"/>
          </a:p>
        </p:txBody>
      </p:sp>
      <p:sp>
        <p:nvSpPr>
          <p:cNvPr id="16" name="bd_56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6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golden rule to avoid a scam</a:t>
            </a:r>
            <a:endParaRPr lang="en-US" sz="1400" dirty="0"/>
          </a:p>
        </p:txBody>
      </p:sp>
      <p:sp>
        <p:nvSpPr>
          <p:cNvPr id="18" name="cd_566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6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6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69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3a–3d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2A: a 5–8, b 6–10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2" name="st_570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57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5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575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5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cmd_57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57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950" dirty="0"/>
          </a:p>
        </p:txBody>
      </p:sp>
      <p:pic>
        <p:nvPicPr>
          <p:cNvPr id="11" name="logo_5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3" name="st_58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58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5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58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1 = been · b1 1 = have you been (examples on the sheet)</a:t>
            </a:r>
            <a:endParaRPr lang="en-US" sz="1050" dirty="0"/>
          </a:p>
        </p:txBody>
      </p:sp>
      <p:sp>
        <p:nvSpPr>
          <p:cNvPr id="18" name="pf_58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587" descr="/home/claude/lls-course/v2/cache/2a2_holiday_album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58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58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2" name="R1_chip59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00" dirty="0"/>
          </a:p>
        </p:txBody>
      </p:sp>
      <p:sp>
        <p:nvSpPr>
          <p:cNvPr id="23" name="bd_59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59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5" name="R2_chip59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00" dirty="0"/>
          </a:p>
        </p:txBody>
      </p:sp>
      <p:sp>
        <p:nvSpPr>
          <p:cNvPr id="26" name="bd_59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59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8" name="R3_chip59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00" dirty="0"/>
          </a:p>
        </p:txBody>
      </p:sp>
      <p:sp>
        <p:nvSpPr>
          <p:cNvPr id="29" name="bd_59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59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1" name="R4_chip59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00" dirty="0"/>
          </a:p>
        </p:txBody>
      </p:sp>
      <p:sp>
        <p:nvSpPr>
          <p:cNvPr id="32" name="bd_60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0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4" name="R5_chip60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00" dirty="0"/>
          </a:p>
        </p:txBody>
      </p:sp>
      <p:sp>
        <p:nvSpPr>
          <p:cNvPr id="35" name="bd_60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60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7" name="R6_chip60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08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10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1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cmd_61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61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pic>
        <p:nvPicPr>
          <p:cNvPr id="11" name="logo_6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3" name="st_61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61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618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2a2-saver-spender.jpg</a:t>
            </a:r>
            <a:endParaRPr lang="en-US" sz="900" dirty="0"/>
          </a:p>
        </p:txBody>
      </p:sp>
      <p:sp>
        <p:nvSpPr>
          <p:cNvPr id="16" name="cd_61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2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2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2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a = a SPENDER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b = in the middle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c = a SAVER</a:t>
            </a:r>
            <a:endParaRPr lang="en-US" sz="1050" dirty="0"/>
          </a:p>
        </p:txBody>
      </p:sp>
      <p:sp>
        <p:nvSpPr>
          <p:cNvPr id="20" name="R1_qb62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2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once. I borrowed €20 from my brother – and I paid him back!</a:t>
            </a:r>
            <a:endParaRPr lang="en-US" sz="1250" dirty="0"/>
          </a:p>
        </p:txBody>
      </p:sp>
      <p:sp>
        <p:nvSpPr>
          <p:cNvPr id="22" name="R2_qb62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2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really. I usually pay by card.</a:t>
            </a:r>
            <a:endParaRPr lang="en-US" sz="1250" dirty="0"/>
          </a:p>
        </p:txBody>
      </p:sp>
      <p:sp>
        <p:nvSpPr>
          <p:cNvPr id="24" name="R3_qb62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2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save half and spend half on a holiday.</a:t>
            </a:r>
            <a:endParaRPr lang="en-US" sz="1250" dirty="0"/>
          </a:p>
        </p:txBody>
      </p:sp>
      <p:sp>
        <p:nvSpPr>
          <p:cNvPr id="26" name="R4_qb62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3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spender! I've already spent my birthday money.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2026-10-08T08:17:50Z</dcterms:created>
  <dcterms:modified xsi:type="dcterms:W3CDTF">2026-10-08T08:17:50Z</dcterms:modified>
</cp:coreProperties>
</file>