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OPENING (2 min). Show the photo: a woman showing her partner her new shoes. Ask the THINK question (it recycles 'waste' from last lesson): take 3–4 quick opinions (show of hands: good idea / waste of money). Ask: 'What is HE thinking?' (e.g. How much did they cost?!) – accept anything, don't correct tenses yet. Read the 'Today you're going to…' list together. Don't teach the grammar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last lesson (2 min)
REVISION (2 min) before the warmer game. Read the examples with the class; CCQ: 'lend – give or take?' (give) · 'borrow?' (take). Point at the prepositions (spend ON, pay BY) and 'My house is worth…' (no verb 'values'). Remind them: would = imaginary situations ('I'd cook at home'). Then play 'Fix it!' – every mistake in the game is one of these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Warmer · last lesson (4 min)
RETRIEVAL WARMER (5 min) – a different format from last lesson's warmer: correct the mistake. Books closed. Two teams. Show one sentence at a time (read it aloud), teams have 15 seconds to say it correctly; click to show the answer. 1 point for the correct sentence, +1 bonus if they can say WHY (e.g. lend = give, borrow = take). Answers: 1 lend (lend = prestare a qualcuno; borrow = prendere in prestito) · 2 spend money ON something (audio 2.2) · 3 earn = from work, win = lottery · 4 pay BY credit card, pay cash (audio 2.2) · 5 be worth (audio 2.1: 'My house is worth…') · 6 would for imaginary situations (3f box: 'To save money, I'd spend less on clothes and I'd cook for myself at home'). Drill worth /wɜːθ/ and won /wʌn/ (o and or from last lesson). ICQ: 'How many mistakes in each sentence?' (one).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Grammar · the conversation · gist (2 min)
GIST (2 min). Books closed. Look at the photos: husband and wife or boyfriend and girlfriend (TG). The SB thought bubbles: 'More new shoes?' (him) / 'He'll never notice my new shoes.' (her). Play 2.8 ONCE. Pairs compare. Click once per line. Photo C (a shocked look at a bill) = the phone bill that arrived this morning. Answers (audio script 2.8): they're arguing about money – Kate's new shoes (£99.99) and the iPad David bought last week. Quick vote: 'Who's right, David or Kate?' (show of hands – no right answer!). ICQ: 'Do you need every word?' (no – just the topic).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Grammar · the conversation · detail (4 min)
DETAIL + NOTICING (4 min). Line 1 is the example (haven't seen). Pairs complete the verbs in the present perfect or past simple (in the book or on paper) – 2 minutes. Play 2.8 again to check. Click once per line: the answers appear highlighted IN the conversation. Answers (TG key 4b): 2 've just bought · 3 did … cost · 4 were · 5 Have … seen · 6 arrived · 7 haven't paid · 8 bought · 9 didn't need · 10 worked · 11 needed · 12 needed. Click once per gap (11 clicks). The conversation on the slide is slightly shortened (cut: 'That isn't cheap for a pair of shoes. Anyway, we can't afford to buy new clothes at the moment.' / 'Why not?' / 'No. What is it?' / 'What about it?'); answers unchanged. Then pairs read the conversation aloud (one is David, one is Kate). Don't explain the rule yet – that's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Grammar · guided discovery (3 min)
GUIDED DISCOVERY (3 min). Explain the colours first: PINK = past simple, we know WHEN (a finished time); BLUE = present perfect, no time is said; GREEN = present perfect with just, yet or already. Pairs decide for a–f. Click once per sentence. Answers: a green (just) · b pink (she bought them today – we know when) · c blue (no time – 'in my life until now') · d pink (this morning) · e green (yet) · f pink (last week). Then ask the SB 4c questions (answers TG): 'Which tense for a completed action in the past?' (PS) · 'For recent actions when we don't say exactly when?' (PP) · 'In sentences with just, yet and already?' (PP). CCQ for b: 'Do we know when she bought the shoes?' (yes – today) → past simple.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Grammar · the rule (4 min)
RULE (4 min). Click once per column: the examples appear (meaning first). All examples are from audio 2.9, 2.10 and 2.11 (🎧 play them from the book audio – Grammar Bank 2A) – play them for students to listen and repeat (copy the rhythm). Rules (TG): present perfect = a past action when NO specific time is mentioned or understood (experiences: ever / never); very recent actions, often with just, to give news; yet (questions and negatives, at the end), already (positive, before the main verb). Past simple = a specific time is mentioned or understood – so When…? and What time…? questions are past simple. Column 3, last example (2.11): we start with the present perfect (experience), then change to the past simple when we say WHEN. Last click = the Italian-speaker warning: the passato prossimo is NOT the present perfect ('Ho comprato le scarpe ieri' = I bought the shoes yesterday). Also on the slide: What time did you wake up this morning? (2.10) can be added orally. CCQs: 'Have you ever lost your credit card? – Do I want to know when?' (no – in your life) · 'They got married last year – finished time?' (yes) → past simple. Irregular verbs list p.165.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Grammar · controlled practice (3 min)
CONTROLLED PRACTICE (3 min). Do 0 with the class. Pairs say right or wrong and correct the wrong ones – say WHY (the time word!). Click once per sentence. Answers: 1 ✗ Have you ever booked a flight online? · 2 ✗ We've just won the lottery! · 3 ✗ When did you buy that (leather) jacket? · 4 ✓ · 5 ✗ I didn't borrow any money from you last week · 6 ✓. The CORRECT sentences are from the Grammar Bank 2A key (a 1, a 6, b 2, b 4, b 5, b 8); the wrong versions are written for this slide, so the exercise is not the book's wording – the book's Grammar Bank exercises a 5–8 and b 6–10 are homework. ICQ: 'Do you only say right or wrong?' (no – correct it and say why).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Grammar game (3 min)
GAME 2 (3 min). Two teams, mini-whiteboards or paper. Show the words, 15 seconds, then 'Show me!' Click to show the model answer. 1 point for the right tense, +1 for a perfect sentence (spelling of the participle!). Teaching point: lines 1 and 2 – same verb, different tense (yesterday vs just). Drill won /wʌn/ and bought /bɔːt/. ICQ: 'Can you change the order of the words?' (yes – make a correct sentence).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Speaking prep · irregular verbs (3 min)
GAME 3 (3 min). These are the bold verbs in the SB 5a questionnaire. Teams take turns: the teacher (or Team A) says the verb, the other team says past simple + past participle. Click to check each one. Answers (TG 5a + Irregular verbs p.165): saved · lent · wasted · bought · inherited (regular) · lost · won · forgotten · taken out · bought, sold. Pronunciation (TG): saved /seɪvd/ (one syllable), wasted /ˈweɪstɪd/ and inherited /ɪnˈherɪtɪd/ (extra syllable after t and d) – ITALIAN SPEAKERS often say 'sav-ed'. won /wʌn/ = one (o and or, last lesson!). This prepares the questionnaire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Speaking · class story (TPRS) (4 min)
TPRS CLASS STORY (4 min) – this comes after the rule, the practice games and the participles, and BEFORE the 'Have you ever…? One lie!' questionnaire: students hear present perfect vs past simple 15–20 times in a context (has never won · hasn't got… yet · has already bought · 've just lost / washed vs last Saturday, on Monday, yesterday), plus lend from last lesson. Click once per line. For each line: 1) say it, 2) ask the questions in grey round the class (yes/no → either/or → who/what), 3) let the CLASS change details: 'Has he already bought trainers? No? What has he bought?' – accept their idea and use it in later lines. Students answer with one word or a short phrase – that's fine. As you go, point at the time words and ask 'When? Or no time?' (last Saturday / on Monday / yesterday → past simple; never / yet / already / just → present perfect). Line 4 also prepares the scam topic (a friend who has 'lost his wallet' – like Heather in 2.12): 'Is it a scam?' Finish: 'What happens next?' – one or two ideas,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Speaking · the money questionnaire (7 min)
SPEAKING (7 min). Questions 1, 2, 3, 6, 7, 9 and 11 of the SB questionnaire (the book has 11 – the others: immediately regretted buying · inherited from a relative · lost your card in a cash machine · forgotten your PIN · taken out a loan from the bank). Questions appear ONE PER CLICK – show all six, then start. MODEL FIRST (1 min): students ask YOU 2 questions; one of your answers is a lie – they ask follow-ups and guess. Then pairs: each student secretly chooses ONE question to answer 'Yes' falsely and invents details. The partner asks Have you ever…? (present perfect) and, if the answer is yes, 2 follow-up questions in the past simple (When did you…? How much was it?), then guesses the lie. Example answers 1 and 2 are the SB 5b models; the others are examples. Monitor: note 4–5 tense mistakes for delayed correction (e.g. 'When have you lost it?'). Feedback (TG): how many people have sold something on the internet? PRIVACY: nobody has to talk about real amounts of money – 'I'd rather not say' is 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Reading &amp; listening · key words first (2 min)
ELICIT + CONSOLIDATE (2 min). SB 6a: read the definition of a scam (n.): 'a dishonest and illegal way of making money by tricking people, e.g. selling a product online that doesn't exist'. Ask: 'What kind of scams have you heard of?' (TG – take 2–3 ideas: fake messages, fake shops online…). Then pairs guess the meaning of the 6 words; click once per word – each answer gives the meaning AND the Italian (consolidation on the same slide). These are the words that block the email and the listening; don't teach more. Drill scam /skæm/, suspicious /səˈspɪʃəs/. FALSE FRIEND: details = dati (not just 'dettagli').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Reading · a scam email · part 1 (3 min)
READING part 1 (3 min). 6b (1 min): pairs read the email: 'What would you do if you got an email like this? Why?' (delete it – it's a scam!). Elicit the clues: a stranger, lots of money, 'reply fast', and the mistakes. 6c – race: 'Emails like this often have lots of mistakes, especially grammar and spelling. Correct the ten highlighted mistakes.' The mistakes are in brackets, in green; pairs correct them. Click once per line: the correction appears highlighted IN the email. Answers (TG key 6c), part 1: Businness → Business · have died → died · there → their · I am needing → I need · can to transfer → can transfer. Highlight 'have died last month → died': last month = finished time → past simple (today's grammar!).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Reading · a scam email · part 2 (2 min)
READING part 2 (2 min). Same procedure – the race continues: first pair with all ten corrections wins. Click once per line. Answers (TG key 6c), part 2: dolars → dollars · acount → account · him → it (the money) · I want organize → I want to organize · you → your. Ask: 'What does Naomi really want?' (your bank account details – to steal your money). This leads into the listening: three people who believed scams.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Listening · Five-Minute Money · gist (4 min)
GIST (4 min). Before listening (1 min): A = an email from a friend abroad · B = a lottery win · C = a phone call from 'your bank'. Pairs guess which scam cost the most money – rank them. Play 2.12 ONCE: students write how much each person lost and the most important advice. Pairs compare; play again if needed. Click once per line. Answers (TG / audio script 2.12): Heather (Edinburgh) over £2,000 · Carl (Hastings) about £200 · Paul (Bristol) £20,000 · never give your bank account or credit card details to anybody, either in an email or on the phone, unless you are 100% sure who they really are. Facts from the script: over 3,000,000 people a year are victims of scams in the UK; average loss £1,200. ICQ: 'Do you write the whole story?' (no – just the money).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Listening · detail (4 min)
DETAIL (4 min). The SB summaries (H = Heather, C = Carl, P = Paul), shortened to fit. Extra challenge (TG): pairs try to complete the gaps BEFORE the second listening. Play 2.12 again, pausing after each story. Click once per line. Answers (TG key 6e): 1 email · 2 wallet · 3 credit card · 4 money · 5 believed · 6 bank account · 7 phone call · 8 bank · 9 account · 10 new account. Presenter's advice for Paul's scam: your bank will never ask you on the phone to transfer money to another account – hang up, wait ten minutes, then phone your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Speaking · scam or real? (5 min)
SPEAKING (5 min). Questions appear ONE PER CLICK – about 45 seconds each. Forced choice: SCAM or REAL, no 'maybe', and a reason. Messages 2–4 are the three scams from 2.12; message 1 is a common text-message scam (not in the book – the picture shows it). Model answer for each: SCAM. Uses 'would' from last lesson (I'd hang up). Question 5 = SB 6f: 'Have you, or has anybody you know, ever been the victim of a scam? Explain what happened.' – present perfect question, past simple story. No names needed; 'I'd rather not talk about that' is fine. Then 1–2 minutes of delayed error correction: write 4–5 tense mistakes from today's speaking on the board; students correct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20. Exit · what can you remember? (2 min)
RETRIEVAL EXIT (2 min). Books closed. Pairs: 3 Have you ever…? questions (lend, waste, win…), 2 sentences – one present perfect with just, one past simple with yesterday – and 1 golden rule (never give your bank or card details to anybody). A few students share. Set homework (on the slide and in the app): Workbook 2A 3a–3d + Grammar Bank 2A a 5–8, b 6–10 + the 2A-2 homework sheet (easier version available).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21. Extra · Grammar PCM (8 min)
EXTRA (8 min, if there's time – or extra homework). Grammar photocopiable 2A (one copy per student). a: circle the correct verb in Mike and Gina's conversation. b: complete conversations 1 and 2 with the past simple or present perfect (contractions where possible). Click once per line. Official answers (TG PCM): a 2 I've been · 3 did you go · 4 finished · 5 I've been · 6 did you go · 7 went. b1 2 had · 3 did you meet · 4 was · 5 went · 6 've known · 7 got · 8 were you · 9 've just met. b2 1 did you go · 2 didn't leave · 3 came · 4 Have you finished · 5 sent · 6 've just made · 7 've already had. Then pairs practise the conversations aloud. Student as teacher: for each answer, say the clue (finished time → past simple; ever / just / already / yet → present perfect).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22. Extra · Communicative PCM (8 min)
EXTRA (8 min, if there's time). Communicative photocopiable 2A 'Are you a saver or a spender?' (one copy per student or pair). Language: present simple and present perfect questions, money vocabulary. Procedure (TG): read out question 1 and the three options and demonstrate by choosing one and explaining why. Pairs ask and answer, noting their partner's answers; about 5 minutes. Then they count a, b and c answers: mostly a = a SPENDER · mostly b = somewhere in the middle · mostly c = a SAVER – partners read the paragraph. The quiz's 9 topics: cash in your wallet · something expensive you love in a shop · what you'd do with money you won or inherited · your money situation in the future · saving · borrowing from friends or family · lending · credit cards · bank loans. The questions on the slide are short warm-up examples (not the photocopiable's wording); the example answers are models. Nobody has to give real amounts or talk about family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audio" Target="../media/media-4-5.mp3"/><Relationship Id="rId6" Type="http://schemas.microsoft.com/office/2007/relationships/media" Target="../media/media-4-5.mp3"/><Relationship Id="rId7" Type="http://schemas.openxmlformats.org/officeDocument/2006/relationships/image" Target="../media/image-4-7.png"/><Relationship Id="rId8" Type="http://schemas.openxmlformats.org/officeDocument/2006/relationships/audio" Target="../media/media-4-8.mp3"/><Relationship Id="rId9" Type="http://schemas.microsoft.com/office/2007/relationships/media" Target="../media/media-4-8.mp3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audio" Target="../media/media-5-5.mp3"/><Relationship Id="rId6" Type="http://schemas.microsoft.com/office/2007/relationships/media" Target="../media/media-5-5.mp3"/><Relationship Id="rId7" Type="http://schemas.openxmlformats.org/officeDocument/2006/relationships/image" Target="../media/image-5-7.png"/><Relationship Id="rId8" Type="http://schemas.openxmlformats.org/officeDocument/2006/relationships/audio" Target="../media/media-5-8.mp3"/><Relationship Id="rId9" Type="http://schemas.microsoft.com/office/2007/relationships/media" Target="../media/media-5-8.mp3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audio" Target="../media/media-16-5.mp3"/><Relationship Id="rId6" Type="http://schemas.microsoft.com/office/2007/relationships/media" Target="../media/media-16-5.mp3"/><Relationship Id="rId7" Type="http://schemas.openxmlformats.org/officeDocument/2006/relationships/image" Target="../media/image-16-7.png"/><Relationship Id="rId8" Type="http://schemas.openxmlformats.org/officeDocument/2006/relationships/audio" Target="../media/media-16-8.mp3"/><Relationship Id="rId9" Type="http://schemas.microsoft.com/office/2007/relationships/media" Target="../media/media-16-8.mp3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audio" Target="../media/media-17-5.mp3"/><Relationship Id="rId6" Type="http://schemas.microsoft.com/office/2007/relationships/media" Target="../media/media-17-5.mp3"/><Relationship Id="rId7" Type="http://schemas.openxmlformats.org/officeDocument/2006/relationships/image" Target="../media/image-17-7.png"/><Relationship Id="rId8" Type="http://schemas.openxmlformats.org/officeDocument/2006/relationships/audio" Target="../media/media-17-8.mp3"/><Relationship Id="rId9" Type="http://schemas.microsoft.com/office/2007/relationships/media" Target="../media/media-17-8.mp3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B1 · SB pp.18–19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2A-2</a:t>
            </a:r>
            <a:endParaRPr lang="en-US" sz="16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Spending money</a:t>
            </a:r>
            <a:endParaRPr lang="en-US" sz="24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Money experiences and scams</a:t>
            </a:r>
            <a:endParaRPr lang="en-US" sz="12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24328"/>
            <a:ext cx="3547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ask and answer about money experiences</a:t>
            </a:r>
            <a:endParaRPr lang="en-US" sz="10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✏️  choose: present perfect or past simple?</a:t>
            </a:r>
            <a:endParaRPr lang="en-US" sz="10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👀  find the mistakes in a scam email</a:t>
            </a:r>
            <a:endParaRPr lang="en-US" sz="10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 listen to a class story and answer questions</a:t>
            </a:r>
            <a:endParaRPr lang="en-US" sz="10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🎧  listen to three true scam stories</a:t>
            </a:r>
            <a:endParaRPr lang="en-US" sz="100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19050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waste of money – I've already got five pairs!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777240"/>
            <a:ext cx="3977640" cy="3200400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2a2_cover_jpg_935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892040" y="822960"/>
            <a:ext cx="3886200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New shoes again! A good idea or a waste of money?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last lesson?</a:t>
            </a:r>
            <a:endParaRPr lang="en-US" sz="24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945636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36896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did we learn? Read the examples.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Cosa abbiamo imparato? Leggi gli esempi.</a:t>
            </a:r>
            <a:endParaRPr lang="en-US" sz="950" dirty="0"/>
          </a:p>
        </p:txBody>
      </p:sp>
      <p:sp>
        <p:nvSpPr>
          <p:cNvPr id="9" name="cmd_2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💡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1100" dirty="0"/>
          </a:p>
        </p:txBody>
      </p:sp>
      <p:sp>
        <p:nvSpPr>
          <p:cNvPr id="10" name="meta_24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🙋 whole class</a:t>
            </a:r>
            <a:endParaRPr lang="en-US" sz="950" dirty="0"/>
          </a:p>
        </p:txBody>
      </p:sp>
      <p:sp>
        <p:nvSpPr>
          <p:cNvPr id="11" name="tag_25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Revision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Retrieval</a:t>
            </a:r>
            <a:endParaRPr lang="en-US" sz="850" dirty="0"/>
          </a:p>
        </p:txBody>
      </p:sp>
      <p:pic>
        <p:nvPicPr>
          <p:cNvPr id="12" name="logo_2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2A-2 · Revision · last lesson</a:t>
            </a:r>
            <a:endParaRPr lang="en-US" sz="800" dirty="0"/>
          </a:p>
        </p:txBody>
      </p:sp>
      <p:sp>
        <p:nvSpPr>
          <p:cNvPr id="14" name="pf_28"/>
          <p:cNvSpPr/>
          <p:nvPr/>
        </p:nvSpPr>
        <p:spPr>
          <a:xfrm rot="-120000">
            <a:off x="365760" y="1371600"/>
            <a:ext cx="2651760" cy="182880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29" descr="/home/claude/lls-course/v2/cache/2a1_lend_jpg_616x418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11480" y="1417320"/>
            <a:ext cx="2560320" cy="1737360"/>
          </a:xfrm>
          <a:prstGeom prst="rect">
            <a:avLst/>
          </a:prstGeom>
        </p:spPr>
      </p:pic>
      <p:sp>
        <p:nvSpPr>
          <p:cNvPr id="16" name="cd_30"/>
          <p:cNvSpPr/>
          <p:nvPr/>
        </p:nvSpPr>
        <p:spPr>
          <a:xfrm>
            <a:off x="320040" y="3383280"/>
            <a:ext cx="2743200" cy="1325880"/>
          </a:xfrm>
          <a:prstGeom prst="roundRect">
            <a:avLst>
              <a:gd name="adj" fmla="val 9655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31"/>
          <p:cNvSpPr/>
          <p:nvPr/>
        </p:nvSpPr>
        <p:spPr>
          <a:xfrm>
            <a:off x="41148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8" name="ih_32"/>
          <p:cNvSpPr/>
          <p:nvPr/>
        </p:nvSpPr>
        <p:spPr>
          <a:xfrm>
            <a:off x="886968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9" name="il_33"/>
          <p:cNvSpPr/>
          <p:nvPr/>
        </p:nvSpPr>
        <p:spPr>
          <a:xfrm>
            <a:off x="886968" y="385876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2A: spending money</a:t>
            </a:r>
            <a:endParaRPr lang="en-US" sz="11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money verbs · prepositions · would</a:t>
            </a:r>
            <a:endParaRPr lang="en-US" sz="1100" dirty="0"/>
          </a:p>
        </p:txBody>
      </p:sp>
      <p:sp>
        <p:nvSpPr>
          <p:cNvPr id="20" name="cd_34"/>
          <p:cNvSpPr/>
          <p:nvPr/>
        </p:nvSpPr>
        <p:spPr>
          <a:xfrm>
            <a:off x="3246120" y="1417320"/>
            <a:ext cx="278892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2540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rh_35"/>
          <p:cNvSpPr/>
          <p:nvPr/>
        </p:nvSpPr>
        <p:spPr>
          <a:xfrm>
            <a:off x="3355848" y="1508760"/>
            <a:ext cx="2569464" cy="347472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Money verbs</a:t>
            </a:r>
            <a:endParaRPr lang="en-US" sz="1200" dirty="0"/>
          </a:p>
        </p:txBody>
      </p:sp>
      <p:sp>
        <p:nvSpPr>
          <p:cNvPr id="22" name="rl_36"/>
          <p:cNvSpPr/>
          <p:nvPr/>
        </p:nvSpPr>
        <p:spPr>
          <a:xfrm>
            <a:off x="3383280" y="1920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lend me €10, please?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I borrow €10 from you?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earns €1,500 a month.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earn = from work · win = the lottery</a:t>
            </a:r>
            <a:endParaRPr lang="en-US" sz="1150" dirty="0"/>
          </a:p>
        </p:txBody>
      </p:sp>
      <p:sp>
        <p:nvSpPr>
          <p:cNvPr id="23" name="cd_37"/>
          <p:cNvSpPr/>
          <p:nvPr/>
        </p:nvSpPr>
        <p:spPr>
          <a:xfrm>
            <a:off x="6126480" y="1417320"/>
            <a:ext cx="278892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2540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4" name="rh_38"/>
          <p:cNvSpPr/>
          <p:nvPr/>
        </p:nvSpPr>
        <p:spPr>
          <a:xfrm>
            <a:off x="6236208" y="1508760"/>
            <a:ext cx="2569464" cy="347472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Prepositions + would</a:t>
            </a:r>
            <a:endParaRPr lang="en-US" sz="1200" dirty="0"/>
          </a:p>
        </p:txBody>
      </p:sp>
      <p:sp>
        <p:nvSpPr>
          <p:cNvPr id="25" name="rl_39"/>
          <p:cNvSpPr/>
          <p:nvPr/>
        </p:nvSpPr>
        <p:spPr>
          <a:xfrm>
            <a:off x="6263640" y="1920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spent €50 on books last month.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I pay by credit card?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 save money, I'd cook at home.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spend ON · pay BY · be worth €…</a:t>
            </a:r>
            <a:endParaRPr lang="en-US" sz="1150" dirty="0"/>
          </a:p>
        </p:txBody>
      </p:sp>
      <p:sp>
        <p:nvSpPr>
          <p:cNvPr id="26" name="kw_40"/>
          <p:cNvSpPr/>
          <p:nvPr/>
        </p:nvSpPr>
        <p:spPr>
          <a:xfrm>
            <a:off x="3246120" y="3867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KEY WORDS</a:t>
            </a:r>
            <a:endParaRPr lang="en-US" sz="1100" dirty="0"/>
          </a:p>
        </p:txBody>
      </p:sp>
      <p:sp>
        <p:nvSpPr>
          <p:cNvPr id="27" name="w_41"/>
          <p:cNvSpPr/>
          <p:nvPr/>
        </p:nvSpPr>
        <p:spPr>
          <a:xfrm>
            <a:off x="3246120" y="4178808"/>
            <a:ext cx="630936" cy="310896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lend</a:t>
            </a:r>
            <a:endParaRPr lang="en-US" sz="1050" dirty="0"/>
          </a:p>
        </p:txBody>
      </p:sp>
      <p:sp>
        <p:nvSpPr>
          <p:cNvPr id="28" name="w_42"/>
          <p:cNvSpPr/>
          <p:nvPr/>
        </p:nvSpPr>
        <p:spPr>
          <a:xfrm>
            <a:off x="3950208" y="4178808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borrow</a:t>
            </a:r>
            <a:endParaRPr lang="en-US" sz="1050" dirty="0"/>
          </a:p>
        </p:txBody>
      </p:sp>
      <p:sp>
        <p:nvSpPr>
          <p:cNvPr id="29" name="w_43"/>
          <p:cNvSpPr/>
          <p:nvPr/>
        </p:nvSpPr>
        <p:spPr>
          <a:xfrm>
            <a:off x="4809744" y="4178808"/>
            <a:ext cx="630936" cy="310896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earn</a:t>
            </a:r>
            <a:endParaRPr lang="en-US" sz="1050" dirty="0"/>
          </a:p>
        </p:txBody>
      </p:sp>
      <p:sp>
        <p:nvSpPr>
          <p:cNvPr id="30" name="w_44"/>
          <p:cNvSpPr/>
          <p:nvPr/>
        </p:nvSpPr>
        <p:spPr>
          <a:xfrm>
            <a:off x="5513832" y="4178808"/>
            <a:ext cx="553212" cy="310896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</a:t>
            </a:r>
            <a:endParaRPr lang="en-US" sz="1050" dirty="0"/>
          </a:p>
        </p:txBody>
      </p:sp>
      <p:sp>
        <p:nvSpPr>
          <p:cNvPr id="31" name="w_45"/>
          <p:cNvSpPr/>
          <p:nvPr/>
        </p:nvSpPr>
        <p:spPr>
          <a:xfrm>
            <a:off x="6140196" y="4178808"/>
            <a:ext cx="553212" cy="310896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owe</a:t>
            </a:r>
            <a:endParaRPr lang="en-US" sz="1050" dirty="0"/>
          </a:p>
        </p:txBody>
      </p:sp>
      <p:sp>
        <p:nvSpPr>
          <p:cNvPr id="32" name="w_46"/>
          <p:cNvSpPr/>
          <p:nvPr/>
        </p:nvSpPr>
        <p:spPr>
          <a:xfrm>
            <a:off x="6766560" y="4178808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afford</a:t>
            </a:r>
            <a:endParaRPr lang="en-US" sz="1050" dirty="0"/>
          </a:p>
        </p:txBody>
      </p:sp>
      <p:sp>
        <p:nvSpPr>
          <p:cNvPr id="33" name="w_47"/>
          <p:cNvSpPr/>
          <p:nvPr/>
        </p:nvSpPr>
        <p:spPr>
          <a:xfrm>
            <a:off x="7626096" y="4178808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 worth</a:t>
            </a:r>
            <a:endParaRPr lang="en-US" sz="1050" dirty="0"/>
          </a:p>
        </p:txBody>
      </p:sp>
      <p:sp>
        <p:nvSpPr>
          <p:cNvPr id="34" name="w_48"/>
          <p:cNvSpPr/>
          <p:nvPr/>
        </p:nvSpPr>
        <p:spPr>
          <a:xfrm>
            <a:off x="3246120" y="4544568"/>
            <a:ext cx="708660" cy="310896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waste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5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1832458" cy="621792"/>
          </a:xfrm>
          <a:prstGeom prst="rect">
            <a:avLst/>
          </a:prstGeom>
        </p:spPr>
      </p:pic>
      <p:sp>
        <p:nvSpPr>
          <p:cNvPr id="5" name="title_51"/>
          <p:cNvSpPr/>
          <p:nvPr/>
        </p:nvSpPr>
        <p:spPr>
          <a:xfrm>
            <a:off x="1261872" y="164592"/>
            <a:ext cx="15581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Fix it!</a:t>
            </a:r>
            <a:endParaRPr lang="en-US" sz="2500" dirty="0"/>
          </a:p>
        </p:txBody>
      </p:sp>
      <p:pic>
        <p:nvPicPr>
          <p:cNvPr id="6" name="brP_5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771900" cy="402336"/>
          </a:xfrm>
          <a:prstGeom prst="rect">
            <a:avLst/>
          </a:prstGeom>
        </p:spPr>
      </p:pic>
      <p:sp>
        <p:nvSpPr>
          <p:cNvPr id="7" name="ins_53"/>
          <p:cNvSpPr/>
          <p:nvPr/>
        </p:nvSpPr>
        <p:spPr>
          <a:xfrm>
            <a:off x="1353312" y="731520"/>
            <a:ext cx="35158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Find the mistake. Say it correctly!</a:t>
            </a:r>
            <a:endParaRPr lang="en-US" sz="1250" dirty="0"/>
          </a:p>
        </p:txBody>
      </p:sp>
      <p:sp>
        <p:nvSpPr>
          <p:cNvPr id="8" name="insIT_54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Trova l'errore. Dillo correttamente!</a:t>
            </a:r>
            <a:endParaRPr lang="en-US" sz="950" dirty="0"/>
          </a:p>
        </p:txBody>
      </p:sp>
      <p:sp>
        <p:nvSpPr>
          <p:cNvPr id="9" name="cmd_55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cmd_56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🔁 </a:t>
            </a:r>
            <a:pPr indent="0" marL="0">
              <a:buNone/>
            </a:pPr>
            <a:r>
              <a:rPr lang="en-US" sz="9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CHANGE THE WORD</a:t>
            </a:r>
            <a:pPr indent="0" marL="0"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CAMBIA</a:t>
            </a:r>
            <a:endParaRPr lang="en-US" sz="800" dirty="0"/>
          </a:p>
        </p:txBody>
      </p:sp>
      <p:sp>
        <p:nvSpPr>
          <p:cNvPr id="11" name="meta_57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🏆 teams</a:t>
            </a:r>
            <a:endParaRPr lang="en-US" sz="950" dirty="0"/>
          </a:p>
        </p:txBody>
      </p:sp>
      <p:sp>
        <p:nvSpPr>
          <p:cNvPr id="12" name="tag_58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Revision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 game</a:t>
            </a:r>
            <a:endParaRPr lang="en-US" sz="850" dirty="0"/>
          </a:p>
        </p:txBody>
      </p:sp>
      <p:pic>
        <p:nvPicPr>
          <p:cNvPr id="13" name="logo_5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6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2A-2 · Warmer · last lesson   ·   📖 Recycles 2A part 1: money verbs, prepositions, would (Vocabulary Bank Money p.154)</a:t>
            </a:r>
            <a:endParaRPr lang="en-US" sz="800" dirty="0"/>
          </a:p>
        </p:txBody>
      </p:sp>
      <p:sp>
        <p:nvSpPr>
          <p:cNvPr id="15" name="cd_61"/>
          <p:cNvSpPr/>
          <p:nvPr/>
        </p:nvSpPr>
        <p:spPr>
          <a:xfrm>
            <a:off x="320040" y="141732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62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7" name="ih_63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8" name="il_64"/>
          <p:cNvSpPr/>
          <p:nvPr/>
        </p:nvSpPr>
        <p:spPr>
          <a:xfrm>
            <a:off x="886968" y="1892808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1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sentence. There's ONE mistake.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 la frase. C'è UN errore.</a:t>
            </a:r>
            <a:endParaRPr lang="en-US" sz="10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2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Teams: say it correctly – 15 seconds!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Squadre: ditela giusta – 15 secondi!</a:t>
            </a:r>
            <a:endParaRPr lang="en-US" sz="10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3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 sentence = 1 point.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Frase corretta = 1 punto.</a:t>
            </a:r>
            <a:endParaRPr lang="en-US" sz="1000" dirty="0"/>
          </a:p>
        </p:txBody>
      </p:sp>
      <p:sp>
        <p:nvSpPr>
          <p:cNvPr id="19" name="pf_65"/>
          <p:cNvSpPr/>
          <p:nvPr/>
        </p:nvSpPr>
        <p:spPr>
          <a:xfrm rot="-120000">
            <a:off x="411480" y="3611880"/>
            <a:ext cx="2468880" cy="1143000"/>
          </a:xfrm>
          <a:prstGeom prst="roundRect">
            <a:avLst>
              <a:gd name="adj" fmla="val 13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66" descr="/home/claude/lls-course/v2/cache/spare_future_money_jpg_572x253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57200" y="3657600"/>
            <a:ext cx="2377440" cy="1051560"/>
          </a:xfrm>
          <a:prstGeom prst="rect">
            <a:avLst/>
          </a:prstGeom>
        </p:spPr>
      </p:pic>
      <p:sp>
        <p:nvSpPr>
          <p:cNvPr id="21" name="bd_67"/>
          <p:cNvSpPr/>
          <p:nvPr/>
        </p:nvSpPr>
        <p:spPr>
          <a:xfrm>
            <a:off x="3246120" y="149123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gq_68"/>
          <p:cNvSpPr/>
          <p:nvPr/>
        </p:nvSpPr>
        <p:spPr>
          <a:xfrm>
            <a:off x="3657600" y="14173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"Can you borrow me €10, please?"</a:t>
            </a:r>
            <a:endParaRPr lang="en-US" sz="1100" dirty="0"/>
          </a:p>
        </p:txBody>
      </p:sp>
      <p:sp>
        <p:nvSpPr>
          <p:cNvPr id="23" name="R1_chip69"/>
          <p:cNvSpPr/>
          <p:nvPr/>
        </p:nvSpPr>
        <p:spPr>
          <a:xfrm>
            <a:off x="6263640" y="14173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Can you LEND me €10, please?</a:t>
            </a:r>
            <a:endParaRPr lang="en-US" sz="1100" dirty="0"/>
          </a:p>
        </p:txBody>
      </p:sp>
      <p:sp>
        <p:nvSpPr>
          <p:cNvPr id="24" name="bd_70"/>
          <p:cNvSpPr/>
          <p:nvPr/>
        </p:nvSpPr>
        <p:spPr>
          <a:xfrm>
            <a:off x="3246120" y="2032254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gq_71"/>
          <p:cNvSpPr/>
          <p:nvPr/>
        </p:nvSpPr>
        <p:spPr>
          <a:xfrm>
            <a:off x="3657600" y="195834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"I spent €50 for books last month."</a:t>
            </a:r>
            <a:endParaRPr lang="en-US" sz="1100" dirty="0"/>
          </a:p>
        </p:txBody>
      </p:sp>
      <p:sp>
        <p:nvSpPr>
          <p:cNvPr id="26" name="R2_chip72"/>
          <p:cNvSpPr/>
          <p:nvPr/>
        </p:nvSpPr>
        <p:spPr>
          <a:xfrm>
            <a:off x="6263640" y="195834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 spent €50 ON books last month.</a:t>
            </a:r>
            <a:endParaRPr lang="en-US" sz="1100" dirty="0"/>
          </a:p>
        </p:txBody>
      </p:sp>
      <p:sp>
        <p:nvSpPr>
          <p:cNvPr id="27" name="bd_73"/>
          <p:cNvSpPr/>
          <p:nvPr/>
        </p:nvSpPr>
        <p:spPr>
          <a:xfrm>
            <a:off x="3246120" y="2573274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gq_74"/>
          <p:cNvSpPr/>
          <p:nvPr/>
        </p:nvSpPr>
        <p:spPr>
          <a:xfrm>
            <a:off x="3657600" y="249936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"She wins €1,500 a month as a nurse."</a:t>
            </a:r>
            <a:endParaRPr lang="en-US" sz="1100" dirty="0"/>
          </a:p>
        </p:txBody>
      </p:sp>
      <p:sp>
        <p:nvSpPr>
          <p:cNvPr id="29" name="R3_chip75"/>
          <p:cNvSpPr/>
          <p:nvPr/>
        </p:nvSpPr>
        <p:spPr>
          <a:xfrm>
            <a:off x="6263640" y="249936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She EARNS €1,500 a month as a nurse.</a:t>
            </a:r>
            <a:endParaRPr lang="en-US" sz="1100" dirty="0"/>
          </a:p>
        </p:txBody>
      </p:sp>
      <p:sp>
        <p:nvSpPr>
          <p:cNvPr id="30" name="bd_76"/>
          <p:cNvSpPr/>
          <p:nvPr/>
        </p:nvSpPr>
        <p:spPr>
          <a:xfrm>
            <a:off x="3246120" y="3114294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gq_77"/>
          <p:cNvSpPr/>
          <p:nvPr/>
        </p:nvSpPr>
        <p:spPr>
          <a:xfrm>
            <a:off x="3657600" y="304038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"Can I pay with credit card?"</a:t>
            </a:r>
            <a:endParaRPr lang="en-US" sz="1100" dirty="0"/>
          </a:p>
        </p:txBody>
      </p:sp>
      <p:sp>
        <p:nvSpPr>
          <p:cNvPr id="32" name="R4_chip78"/>
          <p:cNvSpPr/>
          <p:nvPr/>
        </p:nvSpPr>
        <p:spPr>
          <a:xfrm>
            <a:off x="6263640" y="304038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Can I pay BY credit card?</a:t>
            </a:r>
            <a:endParaRPr lang="en-US" sz="1100" dirty="0"/>
          </a:p>
        </p:txBody>
      </p:sp>
      <p:sp>
        <p:nvSpPr>
          <p:cNvPr id="33" name="bd_79"/>
          <p:cNvSpPr/>
          <p:nvPr/>
        </p:nvSpPr>
        <p:spPr>
          <a:xfrm>
            <a:off x="3246120" y="365531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gq_80"/>
          <p:cNvSpPr/>
          <p:nvPr/>
        </p:nvSpPr>
        <p:spPr>
          <a:xfrm>
            <a:off x="3657600" y="358140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"My house values about €200,000."</a:t>
            </a:r>
            <a:endParaRPr lang="en-US" sz="1100" dirty="0"/>
          </a:p>
        </p:txBody>
      </p:sp>
      <p:sp>
        <p:nvSpPr>
          <p:cNvPr id="35" name="R5_chip81"/>
          <p:cNvSpPr/>
          <p:nvPr/>
        </p:nvSpPr>
        <p:spPr>
          <a:xfrm>
            <a:off x="6263640" y="358140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My house IS WORTH about €200,000.</a:t>
            </a:r>
            <a:endParaRPr lang="en-US" sz="1100" dirty="0"/>
          </a:p>
        </p:txBody>
      </p:sp>
      <p:sp>
        <p:nvSpPr>
          <p:cNvPr id="36" name="bd_82"/>
          <p:cNvSpPr/>
          <p:nvPr/>
        </p:nvSpPr>
        <p:spPr>
          <a:xfrm>
            <a:off x="3246120" y="4196334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gq_83"/>
          <p:cNvSpPr/>
          <p:nvPr/>
        </p:nvSpPr>
        <p:spPr>
          <a:xfrm>
            <a:off x="3657600" y="41224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"To save money, I will cook at home." (imaginary)</a:t>
            </a:r>
            <a:endParaRPr lang="en-US" sz="1100" dirty="0"/>
          </a:p>
        </p:txBody>
      </p:sp>
      <p:sp>
        <p:nvSpPr>
          <p:cNvPr id="38" name="R6_chip84"/>
          <p:cNvSpPr/>
          <p:nvPr/>
        </p:nvSpPr>
        <p:spPr>
          <a:xfrm>
            <a:off x="6263640" y="41224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I'D (would) cook at home.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8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8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87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New shoes!</a:t>
            </a:r>
            <a:endParaRPr lang="en-US" sz="2500" dirty="0"/>
          </a:p>
        </p:txBody>
      </p:sp>
      <p:pic>
        <p:nvPicPr>
          <p:cNvPr id="6" name="brP_8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89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Listen. What are they arguing about?</a:t>
            </a:r>
            <a:endParaRPr lang="en-US" sz="1250" dirty="0"/>
          </a:p>
        </p:txBody>
      </p:sp>
      <p:sp>
        <p:nvSpPr>
          <p:cNvPr id="8" name="insIT_90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Ascolta. Su cosa litigano?</a:t>
            </a:r>
            <a:endParaRPr lang="en-US" sz="950" dirty="0"/>
          </a:p>
        </p:txBody>
      </p:sp>
      <p:sp>
        <p:nvSpPr>
          <p:cNvPr id="9" name="cmd_91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0" name="meta_92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👤 alone</a:t>
            </a:r>
            <a:endParaRPr lang="en-US" sz="950" dirty="0"/>
          </a:p>
        </p:txBody>
      </p:sp>
      <p:sp>
        <p:nvSpPr>
          <p:cNvPr id="11" name="tag_93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Listening for gist</a:t>
            </a:r>
            <a:endParaRPr lang="en-US" sz="850" dirty="0"/>
          </a:p>
        </p:txBody>
      </p:sp>
      <p:pic>
        <p:nvPicPr>
          <p:cNvPr id="12" name="logo_9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9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2A-2 · Grammar · the conversation · gist   ·   📖 SB p.18 · 4a · audio 2.8</a:t>
            </a:r>
            <a:endParaRPr lang="en-US" sz="800" dirty="0"/>
          </a:p>
        </p:txBody>
      </p:sp>
      <p:sp>
        <p:nvSpPr>
          <p:cNvPr id="14" name="ap_96"/>
          <p:cNvSpPr/>
          <p:nvPr/>
        </p:nvSpPr>
        <p:spPr>
          <a:xfrm>
            <a:off x="365760" y="1417320"/>
            <a:ext cx="26517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2.8  ·  books closed · play once</a:t>
            </a:r>
            <a:endParaRPr lang="en-US" sz="1100" dirty="0"/>
          </a:p>
        </p:txBody>
      </p:sp>
      <p:sp>
        <p:nvSpPr>
          <p:cNvPr id="15" name="ah_97"/>
          <p:cNvSpPr/>
          <p:nvPr/>
        </p:nvSpPr>
        <p:spPr>
          <a:xfrm>
            <a:off x="5925312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 · 🐢 slower</a:t>
            </a:r>
            <a:endParaRPr lang="en-US" sz="950" dirty="0"/>
          </a:p>
        </p:txBody>
      </p:sp>
      <p:pic>
        <p:nvPicPr>
          <p:cNvPr id="16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25512" y="4553712"/>
            <a:ext cx="411480" cy="411480"/>
          </a:xfrm>
          <a:prstGeom prst="rect">
            <a:avLst/>
          </a:prstGeom>
        </p:spPr>
      </p:pic>
      <p:pic>
        <p:nvPicPr>
          <p:cNvPr id="17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4553712"/>
            <a:ext cx="411480" cy="411480"/>
          </a:xfrm>
          <a:prstGeom prst="rect">
            <a:avLst/>
          </a:prstGeom>
        </p:spPr>
      </p:pic>
      <p:sp>
        <p:nvSpPr>
          <p:cNvPr id="18" name="ah2_98"/>
          <p:cNvSpPr/>
          <p:nvPr/>
        </p:nvSpPr>
        <p:spPr>
          <a:xfrm>
            <a:off x="3090672" y="141732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↘ speaker bottom right</a:t>
            </a:r>
            <a:endParaRPr lang="en-US" sz="900" dirty="0"/>
          </a:p>
        </p:txBody>
      </p:sp>
      <p:sp>
        <p:nvSpPr>
          <p:cNvPr id="19" name="pf_99"/>
          <p:cNvSpPr/>
          <p:nvPr/>
        </p:nvSpPr>
        <p:spPr>
          <a:xfrm rot="-90000">
            <a:off x="411480" y="2057400"/>
            <a:ext cx="1783080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100" descr="/home/claude/lls-course/v2/cache/2a2_cover_jpg_407x297_3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90000">
            <a:off x="457200" y="2103120"/>
            <a:ext cx="1691640" cy="1234440"/>
          </a:xfrm>
          <a:prstGeom prst="rect">
            <a:avLst/>
          </a:prstGeom>
        </p:spPr>
      </p:pic>
      <p:sp>
        <p:nvSpPr>
          <p:cNvPr id="21" name="bd_101"/>
          <p:cNvSpPr/>
          <p:nvPr/>
        </p:nvSpPr>
        <p:spPr>
          <a:xfrm>
            <a:off x="310896" y="1956816"/>
            <a:ext cx="420624" cy="42062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pf_102"/>
          <p:cNvSpPr/>
          <p:nvPr/>
        </p:nvSpPr>
        <p:spPr>
          <a:xfrm rot="90000">
            <a:off x="2286000" y="2057400"/>
            <a:ext cx="1783080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3" name="ph_103" descr="/home/claude/lls-course/v2/cache/2a2_receipt_jpg_407x297_3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90000">
            <a:off x="2331720" y="2103120"/>
            <a:ext cx="1691640" cy="1234440"/>
          </a:xfrm>
          <a:prstGeom prst="rect">
            <a:avLst/>
          </a:prstGeom>
        </p:spPr>
      </p:pic>
      <p:sp>
        <p:nvSpPr>
          <p:cNvPr id="24" name="bd_104"/>
          <p:cNvSpPr/>
          <p:nvPr/>
        </p:nvSpPr>
        <p:spPr>
          <a:xfrm>
            <a:off x="2185416" y="1956816"/>
            <a:ext cx="420624" cy="42062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</a:t>
            </a:r>
            <a:endParaRPr lang="en-US" sz="1400" dirty="0"/>
          </a:p>
        </p:txBody>
      </p:sp>
      <p:sp>
        <p:nvSpPr>
          <p:cNvPr id="25" name="pf_105"/>
          <p:cNvSpPr/>
          <p:nvPr/>
        </p:nvSpPr>
        <p:spPr>
          <a:xfrm rot="-90000">
            <a:off x="4160520" y="2057400"/>
            <a:ext cx="1783080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6" name="ph_106" descr="/home/claude/lls-course/v2/cache/spare_1a2_bill_jpg_407x297_3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90000">
            <a:off x="4206240" y="2103120"/>
            <a:ext cx="1691640" cy="1234440"/>
          </a:xfrm>
          <a:prstGeom prst="rect">
            <a:avLst/>
          </a:prstGeom>
        </p:spPr>
      </p:pic>
      <p:sp>
        <p:nvSpPr>
          <p:cNvPr id="27" name="bd_107"/>
          <p:cNvSpPr/>
          <p:nvPr/>
        </p:nvSpPr>
        <p:spPr>
          <a:xfrm>
            <a:off x="4059936" y="1956816"/>
            <a:ext cx="420624" cy="42062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</a:t>
            </a:r>
            <a:endParaRPr lang="en-US" sz="1400" dirty="0"/>
          </a:p>
        </p:txBody>
      </p:sp>
      <p:sp>
        <p:nvSpPr>
          <p:cNvPr id="28" name="cd_108"/>
          <p:cNvSpPr/>
          <p:nvPr/>
        </p:nvSpPr>
        <p:spPr>
          <a:xfrm>
            <a:off x="365760" y="3611880"/>
            <a:ext cx="5440680" cy="1097280"/>
          </a:xfrm>
          <a:prstGeom prst="roundRect">
            <a:avLst>
              <a:gd name="adj" fmla="val 11667"/>
            </a:avLst>
          </a:prstGeom>
          <a:solidFill>
            <a:srgbClr val="E3F1FD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ii_109"/>
          <p:cNvSpPr/>
          <p:nvPr/>
        </p:nvSpPr>
        <p:spPr>
          <a:xfrm>
            <a:off x="45720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🎧</a:t>
            </a:r>
            <a:endParaRPr lang="en-US" sz="2200" dirty="0"/>
          </a:p>
        </p:txBody>
      </p:sp>
      <p:sp>
        <p:nvSpPr>
          <p:cNvPr id="30" name="ih_110"/>
          <p:cNvSpPr/>
          <p:nvPr/>
        </p:nvSpPr>
        <p:spPr>
          <a:xfrm>
            <a:off x="932688" y="37033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While you listen</a:t>
            </a:r>
            <a:endParaRPr lang="en-US" sz="1300" dirty="0"/>
          </a:p>
        </p:txBody>
      </p:sp>
      <p:sp>
        <p:nvSpPr>
          <p:cNvPr id="31" name="il_111"/>
          <p:cNvSpPr/>
          <p:nvPr/>
        </p:nvSpPr>
        <p:spPr>
          <a:xfrm>
            <a:off x="932688" y="4087368"/>
            <a:ext cx="4782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 at A–C. What are they thinking?</a:t>
            </a:r>
            <a:endParaRPr lang="en-US" sz="700" dirty="0"/>
          </a:p>
          <a:p>
            <a:pPr marL="152400" indent="-152400">
              <a:spcAft>
                <a:spcPts val="200"/>
              </a:spcAft>
              <a:buSzPct val="100000"/>
              <a:buChar char="​"/>
            </a:pPr>
            <a:r>
              <a:rPr lang="en-US" sz="7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 A–C. Cosa pensano?</a:t>
            </a:r>
            <a:endParaRPr lang="en-US" sz="7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Listen. What are they arguing about?</a:t>
            </a:r>
            <a:endParaRPr lang="en-US" sz="700" dirty="0"/>
          </a:p>
          <a:p>
            <a:pPr marL="152400" indent="-152400">
              <a:spcAft>
                <a:spcPts val="200"/>
              </a:spcAft>
              <a:buSzPct val="100000"/>
              <a:buChar char="​"/>
            </a:pPr>
            <a:r>
              <a:rPr lang="en-US" sz="7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Ascolta. Su cosa litigano?</a:t>
            </a:r>
            <a:endParaRPr lang="en-US" sz="700" dirty="0"/>
          </a:p>
        </p:txBody>
      </p:sp>
      <p:sp>
        <p:nvSpPr>
          <p:cNvPr id="32" name="lq_112"/>
          <p:cNvSpPr/>
          <p:nvPr/>
        </p:nvSpPr>
        <p:spPr>
          <a:xfrm>
            <a:off x="6035040" y="210312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Arguing about…?</a:t>
            </a:r>
            <a:endParaRPr lang="en-US" sz="1100" dirty="0"/>
          </a:p>
        </p:txBody>
      </p:sp>
      <p:sp>
        <p:nvSpPr>
          <p:cNvPr id="33" name="R1_chip113"/>
          <p:cNvSpPr/>
          <p:nvPr/>
        </p:nvSpPr>
        <p:spPr>
          <a:xfrm>
            <a:off x="7315200" y="2103120"/>
            <a:ext cx="1554480" cy="566928"/>
          </a:xfrm>
          <a:prstGeom prst="roundRect">
            <a:avLst>
              <a:gd name="adj" fmla="val 16129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money!</a:t>
            </a:r>
            <a:endParaRPr lang="en-US" sz="1050" dirty="0"/>
          </a:p>
        </p:txBody>
      </p:sp>
      <p:sp>
        <p:nvSpPr>
          <p:cNvPr id="34" name="lq_114"/>
          <p:cNvSpPr/>
          <p:nvPr/>
        </p:nvSpPr>
        <p:spPr>
          <a:xfrm>
            <a:off x="6035040" y="2761488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Kate bought…</a:t>
            </a:r>
            <a:endParaRPr lang="en-US" sz="1100" dirty="0"/>
          </a:p>
        </p:txBody>
      </p:sp>
      <p:sp>
        <p:nvSpPr>
          <p:cNvPr id="35" name="R2_chip115"/>
          <p:cNvSpPr/>
          <p:nvPr/>
        </p:nvSpPr>
        <p:spPr>
          <a:xfrm>
            <a:off x="7315200" y="2761488"/>
            <a:ext cx="1554480" cy="566928"/>
          </a:xfrm>
          <a:prstGeom prst="roundRect">
            <a:avLst>
              <a:gd name="adj" fmla="val 16129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new shoes</a:t>
            </a:r>
            <a:endParaRPr lang="en-US" sz="1050" dirty="0"/>
          </a:p>
        </p:txBody>
      </p:sp>
      <p:sp>
        <p:nvSpPr>
          <p:cNvPr id="36" name="lq_116"/>
          <p:cNvSpPr/>
          <p:nvPr/>
        </p:nvSpPr>
        <p:spPr>
          <a:xfrm>
            <a:off x="6035040" y="3419856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David bought…</a:t>
            </a:r>
            <a:endParaRPr lang="en-US" sz="1100" dirty="0"/>
          </a:p>
        </p:txBody>
      </p:sp>
      <p:sp>
        <p:nvSpPr>
          <p:cNvPr id="37" name="R3_chip117"/>
          <p:cNvSpPr/>
          <p:nvPr/>
        </p:nvSpPr>
        <p:spPr>
          <a:xfrm>
            <a:off x="7315200" y="3419856"/>
            <a:ext cx="1554480" cy="566928"/>
          </a:xfrm>
          <a:prstGeom prst="roundRect">
            <a:avLst>
              <a:gd name="adj" fmla="val 16129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new iPad</a:t>
            </a:r>
            <a:endParaRPr lang="en-US" sz="1050" dirty="0"/>
          </a:p>
        </p:txBody>
      </p:sp>
      <p:sp>
        <p:nvSpPr>
          <p:cNvPr id="38" name="lq_118"/>
          <p:cNvSpPr/>
          <p:nvPr/>
        </p:nvSpPr>
        <p:spPr>
          <a:xfrm>
            <a:off x="6035040" y="4078224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This morning?</a:t>
            </a:r>
            <a:endParaRPr lang="en-US" sz="1100" dirty="0"/>
          </a:p>
        </p:txBody>
      </p:sp>
      <p:sp>
        <p:nvSpPr>
          <p:cNvPr id="39" name="R4_chip119"/>
          <p:cNvSpPr/>
          <p:nvPr/>
        </p:nvSpPr>
        <p:spPr>
          <a:xfrm>
            <a:off x="7315200" y="4078224"/>
            <a:ext cx="1554480" cy="566928"/>
          </a:xfrm>
          <a:prstGeom prst="roundRect">
            <a:avLst>
              <a:gd name="adj" fmla="val 16129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phone bill arrived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audio>
              <p:cMediaNode vol="8000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audio>
              <p:cMediaNode vol="8000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2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2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719779" cy="621792"/>
          </a:xfrm>
          <a:prstGeom prst="rect">
            <a:avLst/>
          </a:prstGeom>
        </p:spPr>
      </p:pic>
      <p:sp>
        <p:nvSpPr>
          <p:cNvPr id="5" name="title_122"/>
          <p:cNvSpPr/>
          <p:nvPr/>
        </p:nvSpPr>
        <p:spPr>
          <a:xfrm>
            <a:off x="1261872" y="164592"/>
            <a:ext cx="3445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Have you seen this?</a:t>
            </a:r>
            <a:endParaRPr lang="en-US" sz="2500" dirty="0"/>
          </a:p>
        </p:txBody>
      </p:sp>
      <p:pic>
        <p:nvPicPr>
          <p:cNvPr id="6" name="brP_12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124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Complete the verbs. Then listen and check.</a:t>
            </a:r>
            <a:endParaRPr lang="en-US" sz="1250" dirty="0"/>
          </a:p>
        </p:txBody>
      </p:sp>
      <p:sp>
        <p:nvSpPr>
          <p:cNvPr id="8" name="insIT_125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Completa i verbi. Poi ascolta e controlla.</a:t>
            </a:r>
            <a:endParaRPr lang="en-US" sz="950" dirty="0"/>
          </a:p>
        </p:txBody>
      </p:sp>
      <p:sp>
        <p:nvSpPr>
          <p:cNvPr id="9" name="cmd_126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LEGGI</a:t>
            </a:r>
            <a:endParaRPr lang="en-US" sz="1100" dirty="0"/>
          </a:p>
        </p:txBody>
      </p:sp>
      <p:sp>
        <p:nvSpPr>
          <p:cNvPr id="10" name="cmd_127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✏️ </a:t>
            </a:r>
            <a:pPr indent="0" marL="0">
              <a:buNone/>
            </a:pPr>
            <a:r>
              <a:rPr lang="en-US" sz="9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FILL THE GAPS</a:t>
            </a:r>
            <a:pPr indent="0" marL="0"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COMPLETA</a:t>
            </a:r>
            <a:endParaRPr lang="en-US" sz="800" dirty="0"/>
          </a:p>
        </p:txBody>
      </p:sp>
      <p:sp>
        <p:nvSpPr>
          <p:cNvPr id="11" name="meta_128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2" name="tag_129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TPRS · reading</a:t>
            </a:r>
            <a:endParaRPr lang="en-US" sz="850" dirty="0"/>
          </a:p>
        </p:txBody>
      </p:sp>
      <p:pic>
        <p:nvPicPr>
          <p:cNvPr id="13" name="logo_13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13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2A-2 · Grammar · the conversation · detail   ·   📖 SB p.18 · 4b · audio 2.8 (conversation shortened)</a:t>
            </a:r>
            <a:endParaRPr lang="en-US" sz="800" dirty="0"/>
          </a:p>
        </p:txBody>
      </p:sp>
      <p:sp>
        <p:nvSpPr>
          <p:cNvPr id="15" name="cd_132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sh_133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David and Kate</a:t>
            </a:r>
            <a:endParaRPr lang="en-US" sz="1700" dirty="0"/>
          </a:p>
        </p:txBody>
      </p:sp>
      <p:sp>
        <p:nvSpPr>
          <p:cNvPr id="17" name="ln_134"/>
          <p:cNvSpPr/>
          <p:nvPr/>
        </p:nvSpPr>
        <p:spPr>
          <a:xfrm>
            <a:off x="548640" y="1920240"/>
            <a:ext cx="534924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D: I haven't seen (see) those shoes before. Are they new?</a:t>
            </a:r>
            <a:endParaRPr lang="en-US" sz="1100" dirty="0"/>
          </a:p>
        </p:txBody>
      </p:sp>
      <p:sp>
        <p:nvSpPr>
          <p:cNvPr id="18" name="ln_135"/>
          <p:cNvSpPr/>
          <p:nvPr/>
        </p:nvSpPr>
        <p:spPr>
          <a:xfrm>
            <a:off x="548640" y="2152650"/>
            <a:ext cx="534924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K: Yes. I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(just buy) them. Do you like them?</a:t>
            </a:r>
            <a:endParaRPr lang="en-US" sz="1100" dirty="0"/>
          </a:p>
        </p:txBody>
      </p:sp>
      <p:sp>
        <p:nvSpPr>
          <p:cNvPr id="19" name="R1_lnA136"/>
          <p:cNvSpPr/>
          <p:nvPr/>
        </p:nvSpPr>
        <p:spPr>
          <a:xfrm>
            <a:off x="548640" y="2152650"/>
            <a:ext cx="5349240" cy="23241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K: Yes. I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've just bought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(just buy) them. Do you like them?</a:t>
            </a:r>
            <a:endParaRPr lang="en-US" sz="1100" dirty="0"/>
          </a:p>
        </p:txBody>
      </p:sp>
      <p:sp>
        <p:nvSpPr>
          <p:cNvPr id="20" name="ln_137"/>
          <p:cNvSpPr/>
          <p:nvPr/>
        </p:nvSpPr>
        <p:spPr>
          <a:xfrm>
            <a:off x="548640" y="2385060"/>
            <a:ext cx="534924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D: They're OK. How much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(cost)?</a:t>
            </a:r>
            <a:endParaRPr lang="en-US" sz="1100" dirty="0"/>
          </a:p>
        </p:txBody>
      </p:sp>
      <p:sp>
        <p:nvSpPr>
          <p:cNvPr id="21" name="R2_lnA138"/>
          <p:cNvSpPr/>
          <p:nvPr/>
        </p:nvSpPr>
        <p:spPr>
          <a:xfrm>
            <a:off x="548640" y="2385060"/>
            <a:ext cx="5349240" cy="23241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D: They're OK. How much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did they cost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(cost)?</a:t>
            </a:r>
            <a:endParaRPr lang="en-US" sz="1100" dirty="0"/>
          </a:p>
        </p:txBody>
      </p:sp>
      <p:sp>
        <p:nvSpPr>
          <p:cNvPr id="22" name="ln_139"/>
          <p:cNvSpPr/>
          <p:nvPr/>
        </p:nvSpPr>
        <p:spPr>
          <a:xfrm>
            <a:off x="548640" y="2617470"/>
            <a:ext cx="534924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K: Oh, not much. They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(be) a bargain. Under £100.</a:t>
            </a:r>
            <a:endParaRPr lang="en-US" sz="1100" dirty="0"/>
          </a:p>
        </p:txBody>
      </p:sp>
      <p:sp>
        <p:nvSpPr>
          <p:cNvPr id="23" name="R3_lnA140"/>
          <p:cNvSpPr/>
          <p:nvPr/>
        </p:nvSpPr>
        <p:spPr>
          <a:xfrm>
            <a:off x="548640" y="2617470"/>
            <a:ext cx="5349240" cy="23241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K: Oh, not much. They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were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(be) a bargain. Under £100.</a:t>
            </a:r>
            <a:endParaRPr lang="en-US" sz="1100" dirty="0"/>
          </a:p>
        </p:txBody>
      </p:sp>
      <p:sp>
        <p:nvSpPr>
          <p:cNvPr id="24" name="ln_141"/>
          <p:cNvSpPr/>
          <p:nvPr/>
        </p:nvSpPr>
        <p:spPr>
          <a:xfrm>
            <a:off x="548640" y="2849880"/>
            <a:ext cx="534924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D: You mean £99.99! …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(see) this?</a:t>
            </a:r>
            <a:endParaRPr lang="en-US" sz="1100" dirty="0"/>
          </a:p>
        </p:txBody>
      </p:sp>
      <p:sp>
        <p:nvSpPr>
          <p:cNvPr id="25" name="R4_lnA142"/>
          <p:cNvSpPr/>
          <p:nvPr/>
        </p:nvSpPr>
        <p:spPr>
          <a:xfrm>
            <a:off x="548640" y="2849880"/>
            <a:ext cx="5349240" cy="23241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D: You mean £99.99! …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Have you seen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(see) this?</a:t>
            </a:r>
            <a:endParaRPr lang="en-US" sz="1100" dirty="0"/>
          </a:p>
        </p:txBody>
      </p:sp>
      <p:sp>
        <p:nvSpPr>
          <p:cNvPr id="26" name="ln_143"/>
          <p:cNvSpPr/>
          <p:nvPr/>
        </p:nvSpPr>
        <p:spPr>
          <a:xfrm>
            <a:off x="548640" y="3082290"/>
            <a:ext cx="534924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D: Our phone bill. It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(arrive) this morning.</a:t>
            </a:r>
            <a:endParaRPr lang="en-US" sz="1100" dirty="0"/>
          </a:p>
        </p:txBody>
      </p:sp>
      <p:sp>
        <p:nvSpPr>
          <p:cNvPr id="27" name="R5_lnA144"/>
          <p:cNvSpPr/>
          <p:nvPr/>
        </p:nvSpPr>
        <p:spPr>
          <a:xfrm>
            <a:off x="548640" y="3082290"/>
            <a:ext cx="5349240" cy="23241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D: Our phone bill. It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arrived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(arrive) this morning.</a:t>
            </a:r>
            <a:endParaRPr lang="en-US" sz="1100" dirty="0"/>
          </a:p>
        </p:txBody>
      </p:sp>
      <p:sp>
        <p:nvSpPr>
          <p:cNvPr id="28" name="ln_145"/>
          <p:cNvSpPr/>
          <p:nvPr/>
        </p:nvSpPr>
        <p:spPr>
          <a:xfrm>
            <a:off x="548640" y="3314700"/>
            <a:ext cx="534924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D: And we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(not pay) the house insurance yet.</a:t>
            </a:r>
            <a:endParaRPr lang="en-US" sz="1100" dirty="0"/>
          </a:p>
        </p:txBody>
      </p:sp>
      <p:sp>
        <p:nvSpPr>
          <p:cNvPr id="29" name="R6_lnA146"/>
          <p:cNvSpPr/>
          <p:nvPr/>
        </p:nvSpPr>
        <p:spPr>
          <a:xfrm>
            <a:off x="548640" y="3314700"/>
            <a:ext cx="5349240" cy="23241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D: And we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haven't paid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(not pay) the house insurance yet.</a:t>
            </a:r>
            <a:endParaRPr lang="en-US" sz="1100" dirty="0"/>
          </a:p>
        </p:txBody>
      </p:sp>
      <p:sp>
        <p:nvSpPr>
          <p:cNvPr id="30" name="ln_147"/>
          <p:cNvSpPr/>
          <p:nvPr/>
        </p:nvSpPr>
        <p:spPr>
          <a:xfrm>
            <a:off x="548640" y="3547110"/>
            <a:ext cx="534924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K: Well, what about the iPad you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(buy) last week?</a:t>
            </a:r>
            <a:endParaRPr lang="en-US" sz="1100" dirty="0"/>
          </a:p>
        </p:txBody>
      </p:sp>
      <p:sp>
        <p:nvSpPr>
          <p:cNvPr id="31" name="R7_lnA148"/>
          <p:cNvSpPr/>
          <p:nvPr/>
        </p:nvSpPr>
        <p:spPr>
          <a:xfrm>
            <a:off x="548640" y="3547110"/>
            <a:ext cx="5349240" cy="23241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K: Well, what about the iPad you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bought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(buy) last week?</a:t>
            </a:r>
            <a:endParaRPr lang="en-US" sz="1100" dirty="0"/>
          </a:p>
        </p:txBody>
      </p:sp>
      <p:sp>
        <p:nvSpPr>
          <p:cNvPr id="32" name="ln_149"/>
          <p:cNvSpPr/>
          <p:nvPr/>
        </p:nvSpPr>
        <p:spPr>
          <a:xfrm>
            <a:off x="548640" y="3779520"/>
            <a:ext cx="534924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K: You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(not need) a new one.</a:t>
            </a:r>
            <a:endParaRPr lang="en-US" sz="1100" dirty="0"/>
          </a:p>
        </p:txBody>
      </p:sp>
      <p:sp>
        <p:nvSpPr>
          <p:cNvPr id="33" name="R8_lnA150"/>
          <p:cNvSpPr/>
          <p:nvPr/>
        </p:nvSpPr>
        <p:spPr>
          <a:xfrm>
            <a:off x="548640" y="3779520"/>
            <a:ext cx="5349240" cy="23241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K: You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didn't need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(not need) a new one.</a:t>
            </a:r>
            <a:endParaRPr lang="en-US" sz="1100" dirty="0"/>
          </a:p>
        </p:txBody>
      </p:sp>
      <p:sp>
        <p:nvSpPr>
          <p:cNvPr id="34" name="ln_151"/>
          <p:cNvSpPr/>
          <p:nvPr/>
        </p:nvSpPr>
        <p:spPr>
          <a:xfrm>
            <a:off x="548640" y="4011930"/>
            <a:ext cx="534924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K: The old one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(work) perfectly well.</a:t>
            </a:r>
            <a:endParaRPr lang="en-US" sz="1100" dirty="0"/>
          </a:p>
        </p:txBody>
      </p:sp>
      <p:sp>
        <p:nvSpPr>
          <p:cNvPr id="35" name="R9_lnA152"/>
          <p:cNvSpPr/>
          <p:nvPr/>
        </p:nvSpPr>
        <p:spPr>
          <a:xfrm>
            <a:off x="548640" y="4011930"/>
            <a:ext cx="5349240" cy="23241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K: The old one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worked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(work) perfectly well.</a:t>
            </a:r>
            <a:endParaRPr lang="en-US" sz="1100" dirty="0"/>
          </a:p>
        </p:txBody>
      </p:sp>
      <p:sp>
        <p:nvSpPr>
          <p:cNvPr id="36" name="ln_153"/>
          <p:cNvSpPr/>
          <p:nvPr/>
        </p:nvSpPr>
        <p:spPr>
          <a:xfrm>
            <a:off x="548640" y="4244340"/>
            <a:ext cx="534924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D: But I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(need) the new model.</a:t>
            </a:r>
            <a:endParaRPr lang="en-US" sz="1100" dirty="0"/>
          </a:p>
        </p:txBody>
      </p:sp>
      <p:sp>
        <p:nvSpPr>
          <p:cNvPr id="37" name="R10_lnA154"/>
          <p:cNvSpPr/>
          <p:nvPr/>
        </p:nvSpPr>
        <p:spPr>
          <a:xfrm>
            <a:off x="548640" y="4244340"/>
            <a:ext cx="5349240" cy="23241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D: But I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needed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(need) the new model.</a:t>
            </a:r>
            <a:endParaRPr lang="en-US" sz="1100" dirty="0"/>
          </a:p>
        </p:txBody>
      </p:sp>
      <p:sp>
        <p:nvSpPr>
          <p:cNvPr id="38" name="ln_155"/>
          <p:cNvSpPr/>
          <p:nvPr/>
        </p:nvSpPr>
        <p:spPr>
          <a:xfrm>
            <a:off x="548640" y="4476750"/>
            <a:ext cx="534924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K: Well, I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(need) some new shoes.</a:t>
            </a:r>
            <a:endParaRPr lang="en-US" sz="1100" dirty="0"/>
          </a:p>
        </p:txBody>
      </p:sp>
      <p:sp>
        <p:nvSpPr>
          <p:cNvPr id="39" name="R11_lnA156"/>
          <p:cNvSpPr/>
          <p:nvPr/>
        </p:nvSpPr>
        <p:spPr>
          <a:xfrm>
            <a:off x="548640" y="4476750"/>
            <a:ext cx="5349240" cy="23241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K: Well, I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needed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(need) some new shoes.</a:t>
            </a:r>
            <a:endParaRPr lang="en-US" sz="1100" dirty="0"/>
          </a:p>
        </p:txBody>
      </p:sp>
      <p:sp>
        <p:nvSpPr>
          <p:cNvPr id="40" name="ap_157"/>
          <p:cNvSpPr/>
          <p:nvPr/>
        </p:nvSpPr>
        <p:spPr>
          <a:xfrm>
            <a:off x="6263640" y="1417320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2.8</a:t>
            </a:r>
            <a:endParaRPr lang="en-US" sz="1100" dirty="0"/>
          </a:p>
        </p:txBody>
      </p:sp>
      <p:sp>
        <p:nvSpPr>
          <p:cNvPr id="41" name="ah_158"/>
          <p:cNvSpPr/>
          <p:nvPr/>
        </p:nvSpPr>
        <p:spPr>
          <a:xfrm>
            <a:off x="5925312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 · 🐢 slower</a:t>
            </a:r>
            <a:endParaRPr lang="en-US" sz="950" dirty="0"/>
          </a:p>
        </p:txBody>
      </p:sp>
      <p:pic>
        <p:nvPicPr>
          <p:cNvPr id="42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25512" y="4553712"/>
            <a:ext cx="411480" cy="411480"/>
          </a:xfrm>
          <a:prstGeom prst="rect">
            <a:avLst/>
          </a:prstGeom>
        </p:spPr>
      </p:pic>
      <p:pic>
        <p:nvPicPr>
          <p:cNvPr id="43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4553712"/>
            <a:ext cx="411480" cy="411480"/>
          </a:xfrm>
          <a:prstGeom prst="rect">
            <a:avLst/>
          </a:prstGeom>
        </p:spPr>
      </p:pic>
      <p:sp>
        <p:nvSpPr>
          <p:cNvPr id="44" name="pf_159"/>
          <p:cNvSpPr/>
          <p:nvPr/>
        </p:nvSpPr>
        <p:spPr>
          <a:xfrm rot="120000">
            <a:off x="6309360" y="1965960"/>
            <a:ext cx="2560320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45" name="ph_160" descr="/home/claude/lls-course/v2/cache/2a2_receipt_jpg_594x341_3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20000">
            <a:off x="6355080" y="2011680"/>
            <a:ext cx="2468880" cy="1417320"/>
          </a:xfrm>
          <a:prstGeom prst="rect">
            <a:avLst/>
          </a:prstGeom>
        </p:spPr>
      </p:pic>
      <p:sp>
        <p:nvSpPr>
          <p:cNvPr id="46" name="cd_161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7" name="ii_162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48" name="ih_163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49" name="il_164"/>
          <p:cNvSpPr/>
          <p:nvPr/>
        </p:nvSpPr>
        <p:spPr>
          <a:xfrm>
            <a:off x="6830568" y="42702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bargain = affare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bill = bolletta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2" dur="1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7" dur="1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audio>
              <p:cMediaNode vol="80000">
                <p:cTn id="6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  <p:audio>
              <p:cMediaNode vol="80000">
                <p:cTn id="6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6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6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167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When? Or no time?</a:t>
            </a:r>
            <a:endParaRPr lang="en-US" sz="2400" dirty="0"/>
          </a:p>
        </p:txBody>
      </p:sp>
      <p:pic>
        <p:nvPicPr>
          <p:cNvPr id="6" name="brP_16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98164" cy="402336"/>
          </a:xfrm>
          <a:prstGeom prst="rect">
            <a:avLst/>
          </a:prstGeom>
        </p:spPr>
      </p:pic>
      <p:sp>
        <p:nvSpPr>
          <p:cNvPr id="7" name="ins_169"/>
          <p:cNvSpPr/>
          <p:nvPr/>
        </p:nvSpPr>
        <p:spPr>
          <a:xfrm>
            <a:off x="1353312" y="731520"/>
            <a:ext cx="3342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this tense? Match the colour.</a:t>
            </a:r>
            <a:endParaRPr lang="en-US" sz="1250" dirty="0"/>
          </a:p>
        </p:txBody>
      </p:sp>
      <p:sp>
        <p:nvSpPr>
          <p:cNvPr id="8" name="insIT_170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Perché questo tempo? Abbina il colore.</a:t>
            </a:r>
            <a:endParaRPr lang="en-US" sz="950" dirty="0"/>
          </a:p>
        </p:txBody>
      </p:sp>
      <p:sp>
        <p:nvSpPr>
          <p:cNvPr id="9" name="cmd_171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🔗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MATCH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ABBINA</a:t>
            </a:r>
            <a:endParaRPr lang="en-US" sz="1100" dirty="0"/>
          </a:p>
        </p:txBody>
      </p:sp>
      <p:sp>
        <p:nvSpPr>
          <p:cNvPr id="10" name="meta_172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1" name="tag_173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Guided discovery</a:t>
            </a:r>
            <a:endParaRPr lang="en-US" sz="850" dirty="0"/>
          </a:p>
        </p:txBody>
      </p:sp>
      <p:pic>
        <p:nvPicPr>
          <p:cNvPr id="12" name="logo_17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17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2A-2 · Grammar · guided discovery   ·   📖 SB p.18 · 4c</a:t>
            </a:r>
            <a:endParaRPr lang="en-US" sz="800" dirty="0"/>
          </a:p>
        </p:txBody>
      </p:sp>
      <p:sp>
        <p:nvSpPr>
          <p:cNvPr id="14" name="cd_176"/>
          <p:cNvSpPr/>
          <p:nvPr/>
        </p:nvSpPr>
        <p:spPr>
          <a:xfrm>
            <a:off x="320040" y="1417320"/>
            <a:ext cx="2697480" cy="1911096"/>
          </a:xfrm>
          <a:prstGeom prst="roundRect">
            <a:avLst>
              <a:gd name="adj" fmla="val 6699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17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6" name="ih_17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colours</a:t>
            </a:r>
            <a:endParaRPr lang="en-US" sz="1300" dirty="0"/>
          </a:p>
        </p:txBody>
      </p:sp>
      <p:sp>
        <p:nvSpPr>
          <p:cNvPr id="17" name="il_179"/>
          <p:cNvSpPr/>
          <p:nvPr/>
        </p:nvSpPr>
        <p:spPr>
          <a:xfrm>
            <a:off x="886968" y="1892808"/>
            <a:ext cx="203911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18" name="lg_180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PS · when?</a:t>
            </a:r>
            <a:endParaRPr lang="en-US" sz="1050" dirty="0"/>
          </a:p>
        </p:txBody>
      </p:sp>
      <p:sp>
        <p:nvSpPr>
          <p:cNvPr id="19" name="lg_181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PP · no time</a:t>
            </a:r>
            <a:endParaRPr lang="en-US" sz="1050" dirty="0"/>
          </a:p>
        </p:txBody>
      </p:sp>
      <p:sp>
        <p:nvSpPr>
          <p:cNvPr id="20" name="lg_182"/>
          <p:cNvSpPr/>
          <p:nvPr/>
        </p:nvSpPr>
        <p:spPr>
          <a:xfrm>
            <a:off x="457200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PP · just / yet</a:t>
            </a:r>
            <a:endParaRPr lang="en-US" sz="1050" dirty="0"/>
          </a:p>
        </p:txBody>
      </p:sp>
      <p:sp>
        <p:nvSpPr>
          <p:cNvPr id="21" name="sq_183"/>
          <p:cNvSpPr/>
          <p:nvPr/>
        </p:nvSpPr>
        <p:spPr>
          <a:xfrm>
            <a:off x="3246120" y="1417320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 I've just bought them.</a:t>
            </a:r>
            <a:endParaRPr lang="en-US" sz="1200" dirty="0"/>
          </a:p>
        </p:txBody>
      </p:sp>
      <p:sp>
        <p:nvSpPr>
          <p:cNvPr id="22" name="R1_tag184"/>
          <p:cNvSpPr/>
          <p:nvPr/>
        </p:nvSpPr>
        <p:spPr>
          <a:xfrm>
            <a:off x="7178040" y="1417320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PP · just / yet</a:t>
            </a:r>
            <a:endParaRPr lang="en-US" sz="1150" dirty="0"/>
          </a:p>
        </p:txBody>
      </p:sp>
      <p:sp>
        <p:nvSpPr>
          <p:cNvPr id="23" name="sq_185"/>
          <p:cNvSpPr/>
          <p:nvPr/>
        </p:nvSpPr>
        <p:spPr>
          <a:xfrm>
            <a:off x="3246120" y="1956816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 How much did they cost?</a:t>
            </a:r>
            <a:endParaRPr lang="en-US" sz="1200" dirty="0"/>
          </a:p>
        </p:txBody>
      </p:sp>
      <p:sp>
        <p:nvSpPr>
          <p:cNvPr id="24" name="R2_tag186"/>
          <p:cNvSpPr/>
          <p:nvPr/>
        </p:nvSpPr>
        <p:spPr>
          <a:xfrm>
            <a:off x="7178040" y="1956816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PS · when?</a:t>
            </a:r>
            <a:endParaRPr lang="en-US" sz="1150" dirty="0"/>
          </a:p>
        </p:txBody>
      </p:sp>
      <p:sp>
        <p:nvSpPr>
          <p:cNvPr id="25" name="sq_187"/>
          <p:cNvSpPr/>
          <p:nvPr/>
        </p:nvSpPr>
        <p:spPr>
          <a:xfrm>
            <a:off x="3246120" y="2496312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  I haven't seen those shoes before.</a:t>
            </a:r>
            <a:endParaRPr lang="en-US" sz="1200" dirty="0"/>
          </a:p>
        </p:txBody>
      </p:sp>
      <p:sp>
        <p:nvSpPr>
          <p:cNvPr id="26" name="R3_tag188"/>
          <p:cNvSpPr/>
          <p:nvPr/>
        </p:nvSpPr>
        <p:spPr>
          <a:xfrm>
            <a:off x="7178040" y="2496312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PP · no time</a:t>
            </a:r>
            <a:endParaRPr lang="en-US" sz="1150" dirty="0"/>
          </a:p>
        </p:txBody>
      </p:sp>
      <p:sp>
        <p:nvSpPr>
          <p:cNvPr id="27" name="sq_189"/>
          <p:cNvSpPr/>
          <p:nvPr/>
        </p:nvSpPr>
        <p:spPr>
          <a:xfrm>
            <a:off x="3246120" y="3035808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  It arrived this morning.</a:t>
            </a:r>
            <a:endParaRPr lang="en-US" sz="1200" dirty="0"/>
          </a:p>
        </p:txBody>
      </p:sp>
      <p:sp>
        <p:nvSpPr>
          <p:cNvPr id="28" name="R4_tag190"/>
          <p:cNvSpPr/>
          <p:nvPr/>
        </p:nvSpPr>
        <p:spPr>
          <a:xfrm>
            <a:off x="7178040" y="3035808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PS · when?</a:t>
            </a:r>
            <a:endParaRPr lang="en-US" sz="1150" dirty="0"/>
          </a:p>
        </p:txBody>
      </p:sp>
      <p:sp>
        <p:nvSpPr>
          <p:cNvPr id="29" name="sq_191"/>
          <p:cNvSpPr/>
          <p:nvPr/>
        </p:nvSpPr>
        <p:spPr>
          <a:xfrm>
            <a:off x="3246120" y="3575304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  We haven't paid the insurance yet.</a:t>
            </a:r>
            <a:endParaRPr lang="en-US" sz="1200" dirty="0"/>
          </a:p>
        </p:txBody>
      </p:sp>
      <p:sp>
        <p:nvSpPr>
          <p:cNvPr id="30" name="R5_tag192"/>
          <p:cNvSpPr/>
          <p:nvPr/>
        </p:nvSpPr>
        <p:spPr>
          <a:xfrm>
            <a:off x="7178040" y="3575304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PP · just / yet</a:t>
            </a:r>
            <a:endParaRPr lang="en-US" sz="1150" dirty="0"/>
          </a:p>
        </p:txBody>
      </p:sp>
      <p:sp>
        <p:nvSpPr>
          <p:cNvPr id="31" name="sq_193"/>
          <p:cNvSpPr/>
          <p:nvPr/>
        </p:nvSpPr>
        <p:spPr>
          <a:xfrm>
            <a:off x="3246120" y="4114800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 …the iPad you bought last week.</a:t>
            </a:r>
            <a:endParaRPr lang="en-US" sz="1200" dirty="0"/>
          </a:p>
        </p:txBody>
      </p:sp>
      <p:sp>
        <p:nvSpPr>
          <p:cNvPr id="32" name="R6_tag194"/>
          <p:cNvSpPr/>
          <p:nvPr/>
        </p:nvSpPr>
        <p:spPr>
          <a:xfrm>
            <a:off x="7178040" y="4114800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PS · when?</a:t>
            </a:r>
            <a:endParaRPr lang="en-US" sz="1150" dirty="0"/>
          </a:p>
        </p:txBody>
      </p:sp>
      <p:sp>
        <p:nvSpPr>
          <p:cNvPr id="33" name="pf_195"/>
          <p:cNvSpPr/>
          <p:nvPr/>
        </p:nvSpPr>
        <p:spPr>
          <a:xfrm rot="-120000">
            <a:off x="411480" y="3703320"/>
            <a:ext cx="2514600" cy="1051560"/>
          </a:xfrm>
          <a:prstGeom prst="roundRect">
            <a:avLst>
              <a:gd name="adj" fmla="val 147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4" name="ph_196" descr="/home/claude/lls-course/v2/cache/2a2_cover_jpg_583x23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57200" y="3749040"/>
            <a:ext cx="2423160" cy="9601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9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9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199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Ever? Or when?</a:t>
            </a:r>
            <a:endParaRPr lang="en-US" sz="2500" dirty="0"/>
          </a:p>
        </p:txBody>
      </p:sp>
      <p:pic>
        <p:nvPicPr>
          <p:cNvPr id="6" name="brP_20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2729484" cy="402336"/>
          </a:xfrm>
          <a:prstGeom prst="rect">
            <a:avLst/>
          </a:prstGeom>
        </p:spPr>
      </p:pic>
      <p:sp>
        <p:nvSpPr>
          <p:cNvPr id="7" name="ins_201"/>
          <p:cNvSpPr/>
          <p:nvPr/>
        </p:nvSpPr>
        <p:spPr>
          <a:xfrm>
            <a:off x="1353312" y="731520"/>
            <a:ext cx="24734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Read. Which tense? Why?</a:t>
            </a:r>
            <a:endParaRPr lang="en-US" sz="1250" dirty="0"/>
          </a:p>
        </p:txBody>
      </p:sp>
      <p:sp>
        <p:nvSpPr>
          <p:cNvPr id="8" name="insIT_202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Leggi. Quale tempo? Perché?</a:t>
            </a:r>
            <a:endParaRPr lang="en-US" sz="950" dirty="0"/>
          </a:p>
        </p:txBody>
      </p:sp>
      <p:sp>
        <p:nvSpPr>
          <p:cNvPr id="9" name="cmd_20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GUARDA</a:t>
            </a:r>
            <a:endParaRPr lang="en-US" sz="1100" dirty="0"/>
          </a:p>
        </p:txBody>
      </p:sp>
      <p:sp>
        <p:nvSpPr>
          <p:cNvPr id="10" name="meta_204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950" dirty="0"/>
          </a:p>
        </p:txBody>
      </p:sp>
      <p:sp>
        <p:nvSpPr>
          <p:cNvPr id="11" name="tag_205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Guided discovery</a:t>
            </a:r>
            <a:endParaRPr lang="en-US" sz="850" dirty="0"/>
          </a:p>
        </p:txBody>
      </p:sp>
      <p:pic>
        <p:nvPicPr>
          <p:cNvPr id="12" name="logo_20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0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2A-2 · Grammar · the rule   ·   📖 Grammar Bank 2A p.134 · audio 2.9, 2.10, 2.11</a:t>
            </a:r>
            <a:endParaRPr lang="en-US" sz="800" dirty="0"/>
          </a:p>
        </p:txBody>
      </p:sp>
      <p:sp>
        <p:nvSpPr>
          <p:cNvPr id="14" name="cd_208"/>
          <p:cNvSpPr/>
          <p:nvPr/>
        </p:nvSpPr>
        <p:spPr>
          <a:xfrm>
            <a:off x="320040" y="1417320"/>
            <a:ext cx="2758440" cy="301752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2540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rh_209"/>
          <p:cNvSpPr/>
          <p:nvPr/>
        </p:nvSpPr>
        <p:spPr>
          <a:xfrm>
            <a:off x="429768" y="1508760"/>
            <a:ext cx="2538984" cy="365760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present perfect</a:t>
            </a:r>
            <a:endParaRPr lang="en-US" sz="1250" dirty="0"/>
          </a:p>
        </p:txBody>
      </p:sp>
      <p:sp>
        <p:nvSpPr>
          <p:cNvPr id="16" name="pf_210"/>
          <p:cNvSpPr/>
          <p:nvPr/>
        </p:nvSpPr>
        <p:spPr>
          <a:xfrm>
            <a:off x="429768" y="1938528"/>
            <a:ext cx="25389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7" name="ph_211" descr="/home/claude/lls-course/v2/cache/2a2_passport_map_jpg_589x20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1984248"/>
            <a:ext cx="2447544" cy="868680"/>
          </a:xfrm>
          <a:prstGeom prst="rect">
            <a:avLst/>
          </a:prstGeom>
        </p:spPr>
      </p:pic>
      <p:sp>
        <p:nvSpPr>
          <p:cNvPr id="18" name="ru_212"/>
          <p:cNvSpPr/>
          <p:nvPr/>
        </p:nvSpPr>
        <p:spPr>
          <a:xfrm>
            <a:off x="411480" y="2926080"/>
            <a:ext cx="257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life until now · NO time (ever / never)</a:t>
            </a:r>
            <a:endParaRPr lang="en-US" sz="1050" dirty="0"/>
          </a:p>
        </p:txBody>
      </p:sp>
      <p:sp>
        <p:nvSpPr>
          <p:cNvPr id="19" name="R1_rx213"/>
          <p:cNvSpPr/>
          <p:nvPr/>
        </p:nvSpPr>
        <p:spPr>
          <a:xfrm>
            <a:off x="411480" y="3319272"/>
            <a:ext cx="2575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you ever lost your credit card?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Sally has never met Bill's ex-wife.</a:t>
            </a:r>
            <a:endParaRPr lang="en-US" sz="1050" dirty="0"/>
          </a:p>
        </p:txBody>
      </p:sp>
      <p:sp>
        <p:nvSpPr>
          <p:cNvPr id="20" name="R1_ri214"/>
          <p:cNvSpPr/>
          <p:nvPr/>
        </p:nvSpPr>
        <p:spPr>
          <a:xfrm>
            <a:off x="411480" y="4087368"/>
            <a:ext cx="257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esperienze · senza dire quando</a:t>
            </a:r>
            <a:endParaRPr lang="en-US" sz="900" dirty="0"/>
          </a:p>
        </p:txBody>
      </p:sp>
      <p:sp>
        <p:nvSpPr>
          <p:cNvPr id="21" name="cd_215"/>
          <p:cNvSpPr/>
          <p:nvPr/>
        </p:nvSpPr>
        <p:spPr>
          <a:xfrm>
            <a:off x="3215640" y="1417320"/>
            <a:ext cx="2758440" cy="301752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2540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2" name="rh_216"/>
          <p:cNvSpPr/>
          <p:nvPr/>
        </p:nvSpPr>
        <p:spPr>
          <a:xfrm>
            <a:off x="3325368" y="1508760"/>
            <a:ext cx="2538984" cy="365760"/>
          </a:xfrm>
          <a:prstGeom prst="roundRect">
            <a:avLst>
              <a:gd name="adj" fmla="val 50000"/>
            </a:avLst>
          </a:prstGeom>
          <a:solidFill>
            <a:srgbClr val="2EB87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present perfect</a:t>
            </a:r>
            <a:endParaRPr lang="en-US" sz="1250" dirty="0"/>
          </a:p>
        </p:txBody>
      </p:sp>
      <p:sp>
        <p:nvSpPr>
          <p:cNvPr id="23" name="pf_217"/>
          <p:cNvSpPr/>
          <p:nvPr/>
        </p:nvSpPr>
        <p:spPr>
          <a:xfrm>
            <a:off x="3325368" y="1938528"/>
            <a:ext cx="25389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4" name="ph_218" descr="/home/claude/lls-course/v2/cache/2a2_cover_jpg_589x209_3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1088" y="1984248"/>
            <a:ext cx="2447544" cy="868680"/>
          </a:xfrm>
          <a:prstGeom prst="rect">
            <a:avLst/>
          </a:prstGeom>
        </p:spPr>
      </p:pic>
      <p:sp>
        <p:nvSpPr>
          <p:cNvPr id="25" name="ru_219"/>
          <p:cNvSpPr/>
          <p:nvPr/>
        </p:nvSpPr>
        <p:spPr>
          <a:xfrm>
            <a:off x="3307080" y="2926080"/>
            <a:ext cx="257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news · just / yet / already</a:t>
            </a:r>
            <a:endParaRPr lang="en-US" sz="1050" dirty="0"/>
          </a:p>
        </p:txBody>
      </p:sp>
      <p:sp>
        <p:nvSpPr>
          <p:cNvPr id="26" name="R2_rx220"/>
          <p:cNvSpPr/>
          <p:nvPr/>
        </p:nvSpPr>
        <p:spPr>
          <a:xfrm>
            <a:off x="3307080" y="3319272"/>
            <a:ext cx="2575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Too late! Our train has just left!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I've already seen this film twice.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you finished your homework yet?</a:t>
            </a:r>
            <a:endParaRPr lang="en-US" sz="1050" dirty="0"/>
          </a:p>
        </p:txBody>
      </p:sp>
      <p:sp>
        <p:nvSpPr>
          <p:cNvPr id="27" name="R2_ri221"/>
          <p:cNvSpPr/>
          <p:nvPr/>
        </p:nvSpPr>
        <p:spPr>
          <a:xfrm>
            <a:off x="3307080" y="4087368"/>
            <a:ext cx="257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appena · già · non ancora</a:t>
            </a:r>
            <a:endParaRPr lang="en-US" sz="900" dirty="0"/>
          </a:p>
        </p:txBody>
      </p:sp>
      <p:sp>
        <p:nvSpPr>
          <p:cNvPr id="28" name="cd_222"/>
          <p:cNvSpPr/>
          <p:nvPr/>
        </p:nvSpPr>
        <p:spPr>
          <a:xfrm>
            <a:off x="6111240" y="1417320"/>
            <a:ext cx="2758440" cy="301752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2540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rh_223"/>
          <p:cNvSpPr/>
          <p:nvPr/>
        </p:nvSpPr>
        <p:spPr>
          <a:xfrm>
            <a:off x="6220968" y="1508760"/>
            <a:ext cx="2538984" cy="365760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past simple</a:t>
            </a:r>
            <a:endParaRPr lang="en-US" sz="1250" dirty="0"/>
          </a:p>
        </p:txBody>
      </p:sp>
      <p:sp>
        <p:nvSpPr>
          <p:cNvPr id="30" name="pf_224"/>
          <p:cNvSpPr/>
          <p:nvPr/>
        </p:nvSpPr>
        <p:spPr>
          <a:xfrm>
            <a:off x="6220968" y="1938528"/>
            <a:ext cx="25389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1" name="ph_225" descr="/home/claude/lls-course/v2/cache/2a2_holiday_album_jpg_589x209_3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688" y="1984248"/>
            <a:ext cx="2447544" cy="868680"/>
          </a:xfrm>
          <a:prstGeom prst="rect">
            <a:avLst/>
          </a:prstGeom>
        </p:spPr>
      </p:pic>
      <p:sp>
        <p:nvSpPr>
          <p:cNvPr id="32" name="ru_226"/>
          <p:cNvSpPr/>
          <p:nvPr/>
        </p:nvSpPr>
        <p:spPr>
          <a:xfrm>
            <a:off x="6202680" y="2926080"/>
            <a:ext cx="257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WHEN? a finished time</a:t>
            </a:r>
            <a:endParaRPr lang="en-US" sz="1050" dirty="0"/>
          </a:p>
        </p:txBody>
      </p:sp>
      <p:sp>
        <p:nvSpPr>
          <p:cNvPr id="33" name="R3_rx227"/>
          <p:cNvSpPr/>
          <p:nvPr/>
        </p:nvSpPr>
        <p:spPr>
          <a:xfrm>
            <a:off x="6202680" y="3319272"/>
            <a:ext cx="2575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got married last year.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I've been to Madrid twice. I went there in 1998.</a:t>
            </a:r>
            <a:endParaRPr lang="en-US" sz="1050" dirty="0"/>
          </a:p>
        </p:txBody>
      </p:sp>
      <p:sp>
        <p:nvSpPr>
          <p:cNvPr id="34" name="R3_ri228"/>
          <p:cNvSpPr/>
          <p:nvPr/>
        </p:nvSpPr>
        <p:spPr>
          <a:xfrm>
            <a:off x="6202680" y="4087368"/>
            <a:ext cx="257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ieri · fa · lo scorso… · When…?</a:t>
            </a:r>
            <a:endParaRPr lang="en-US" sz="900" dirty="0"/>
          </a:p>
        </p:txBody>
      </p:sp>
      <p:sp>
        <p:nvSpPr>
          <p:cNvPr id="35" name="R4_wc229"/>
          <p:cNvSpPr/>
          <p:nvPr/>
        </p:nvSpPr>
        <p:spPr>
          <a:xfrm>
            <a:off x="320040" y="4544568"/>
            <a:ext cx="8549640" cy="329184"/>
          </a:xfrm>
          <a:prstGeom prst="roundRect">
            <a:avLst>
              <a:gd name="adj" fmla="val 38889"/>
            </a:avLst>
          </a:prstGeom>
          <a:solidFill>
            <a:srgbClr val="FFE3EE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6" name="R4_w230"/>
          <p:cNvSpPr/>
          <p:nvPr/>
        </p:nvSpPr>
        <p:spPr>
          <a:xfrm>
            <a:off x="457200" y="4544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✗ I've bought them yesterday → ✓ I bought them yesterday   ·   ✗ When have you arrived? → ✓ When did you arrive?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3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23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233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Right or wrong?</a:t>
            </a:r>
            <a:endParaRPr lang="en-US" sz="2500" dirty="0"/>
          </a:p>
        </p:txBody>
      </p:sp>
      <p:pic>
        <p:nvPicPr>
          <p:cNvPr id="6" name="brP_23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945636" cy="402336"/>
          </a:xfrm>
          <a:prstGeom prst="rect">
            <a:avLst/>
          </a:prstGeom>
        </p:spPr>
      </p:pic>
      <p:sp>
        <p:nvSpPr>
          <p:cNvPr id="7" name="ins_235"/>
          <p:cNvSpPr/>
          <p:nvPr/>
        </p:nvSpPr>
        <p:spPr>
          <a:xfrm>
            <a:off x="1353312" y="731520"/>
            <a:ext cx="36896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Right or wrong? Correct the mistakes.</a:t>
            </a:r>
            <a:endParaRPr lang="en-US" sz="1250" dirty="0"/>
          </a:p>
        </p:txBody>
      </p:sp>
      <p:sp>
        <p:nvSpPr>
          <p:cNvPr id="8" name="insIT_236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Giusto o sbagliato? Correggi gli errori.</a:t>
            </a:r>
            <a:endParaRPr lang="en-US" sz="950" dirty="0"/>
          </a:p>
        </p:txBody>
      </p:sp>
      <p:sp>
        <p:nvSpPr>
          <p:cNvPr id="9" name="cmd_237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🔁 </a:t>
            </a:r>
            <a:pPr indent="0" marL="0">
              <a:buNone/>
            </a:pPr>
            <a:r>
              <a:rPr lang="en-US" sz="9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CHANGE THE WORD</a:t>
            </a:r>
            <a:pPr indent="0" marL="0"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CAMBIA</a:t>
            </a:r>
            <a:endParaRPr lang="en-US" sz="800" dirty="0"/>
          </a:p>
        </p:txBody>
      </p:sp>
      <p:sp>
        <p:nvSpPr>
          <p:cNvPr id="10" name="cmd_238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CHECK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CONTROLLA</a:t>
            </a:r>
            <a:endParaRPr lang="en-US" sz="1100" dirty="0"/>
          </a:p>
        </p:txBody>
      </p:sp>
      <p:sp>
        <p:nvSpPr>
          <p:cNvPr id="11" name="meta_239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2" name="tag_240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Controlled practice</a:t>
            </a:r>
            <a:endParaRPr lang="en-US" sz="850" dirty="0"/>
          </a:p>
        </p:txBody>
      </p:sp>
      <p:pic>
        <p:nvPicPr>
          <p:cNvPr id="13" name="logo_24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24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2A-2 · Grammar · controlled practice   ·   📖 Grammar Bank 2A p.134 · a and b (adapted)</a:t>
            </a:r>
            <a:endParaRPr lang="en-US" sz="800" dirty="0"/>
          </a:p>
        </p:txBody>
      </p:sp>
      <p:sp>
        <p:nvSpPr>
          <p:cNvPr id="15" name="cd_243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244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7" name="ih_245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8" name="il_246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 I've seen that film yesterday. → ✗ I saw that film yesterday. (yesterday = finished time)</a:t>
            </a:r>
            <a:endParaRPr lang="en-US" sz="1050" dirty="0"/>
          </a:p>
        </p:txBody>
      </p:sp>
      <p:sp>
        <p:nvSpPr>
          <p:cNvPr id="19" name="pf_247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248" descr="/home/claude/lls-course/v2/cache/2a2_booking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1" name="bd_249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q_250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Did you ever book a flight online?</a:t>
            </a:r>
            <a:endParaRPr lang="en-US" sz="1150" dirty="0"/>
          </a:p>
        </p:txBody>
      </p:sp>
      <p:sp>
        <p:nvSpPr>
          <p:cNvPr id="23" name="R1_chip251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✗ Have you ever booked a flight online?</a:t>
            </a:r>
            <a:endParaRPr lang="en-US" sz="1000" dirty="0"/>
          </a:p>
        </p:txBody>
      </p:sp>
      <p:sp>
        <p:nvSpPr>
          <p:cNvPr id="24" name="bd_252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q_253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just won the lottery!</a:t>
            </a:r>
            <a:endParaRPr lang="en-US" sz="1150" dirty="0"/>
          </a:p>
        </p:txBody>
      </p:sp>
      <p:sp>
        <p:nvSpPr>
          <p:cNvPr id="26" name="R2_chip254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✗ We've just won the lottery!</a:t>
            </a:r>
            <a:endParaRPr lang="en-US" sz="1000" dirty="0"/>
          </a:p>
        </p:txBody>
      </p:sp>
      <p:sp>
        <p:nvSpPr>
          <p:cNvPr id="27" name="bd_255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q_256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have you bought that jacket?</a:t>
            </a:r>
            <a:endParaRPr lang="en-US" sz="1150" dirty="0"/>
          </a:p>
        </p:txBody>
      </p:sp>
      <p:sp>
        <p:nvSpPr>
          <p:cNvPr id="29" name="R3_chip257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✗ When did you buy that jacket?</a:t>
            </a:r>
            <a:endParaRPr lang="en-US" sz="1000" dirty="0"/>
          </a:p>
        </p:txBody>
      </p:sp>
      <p:sp>
        <p:nvSpPr>
          <p:cNvPr id="30" name="bd_258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q_259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finished paying back the loan last month.</a:t>
            </a:r>
            <a:endParaRPr lang="en-US" sz="1100" dirty="0"/>
          </a:p>
        </p:txBody>
      </p:sp>
      <p:sp>
        <p:nvSpPr>
          <p:cNvPr id="32" name="R4_chip260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last month = finished time</a:t>
            </a:r>
            <a:endParaRPr lang="en-US" sz="1000" dirty="0"/>
          </a:p>
        </p:txBody>
      </p:sp>
      <p:sp>
        <p:nvSpPr>
          <p:cNvPr id="33" name="bd_261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q_262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haven't borrowed money from you last week.</a:t>
            </a:r>
            <a:endParaRPr lang="en-US" sz="1050" dirty="0"/>
          </a:p>
        </p:txBody>
      </p:sp>
      <p:sp>
        <p:nvSpPr>
          <p:cNvPr id="35" name="R5_chip263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✗ I didn't borrow any money from you last week.</a:t>
            </a:r>
            <a:endParaRPr lang="en-US" sz="1000" dirty="0"/>
          </a:p>
        </p:txBody>
      </p:sp>
      <p:sp>
        <p:nvSpPr>
          <p:cNvPr id="36" name="bd_264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q_265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Has your sister paid you back yet?</a:t>
            </a:r>
            <a:endParaRPr lang="en-US" sz="1150" dirty="0"/>
          </a:p>
        </p:txBody>
      </p:sp>
      <p:sp>
        <p:nvSpPr>
          <p:cNvPr id="38" name="R6_chip266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yet → present perfect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6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6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269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Build it fast!</a:t>
            </a:r>
            <a:endParaRPr lang="en-US" sz="2500" dirty="0"/>
          </a:p>
        </p:txBody>
      </p:sp>
      <p:pic>
        <p:nvPicPr>
          <p:cNvPr id="6" name="brP_27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119372" cy="402336"/>
          </a:xfrm>
          <a:prstGeom prst="rect">
            <a:avLst/>
          </a:prstGeom>
        </p:spPr>
      </p:pic>
      <p:sp>
        <p:nvSpPr>
          <p:cNvPr id="7" name="ins_271"/>
          <p:cNvSpPr/>
          <p:nvPr/>
        </p:nvSpPr>
        <p:spPr>
          <a:xfrm>
            <a:off x="1353312" y="731520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the sentence. Right tense = point!</a:t>
            </a:r>
            <a:endParaRPr lang="en-US" sz="1250" dirty="0"/>
          </a:p>
        </p:txBody>
      </p:sp>
      <p:sp>
        <p:nvSpPr>
          <p:cNvPr id="8" name="insIT_272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 la frase. Tempo giusto = punto!</a:t>
            </a:r>
            <a:endParaRPr lang="en-US" sz="950" dirty="0"/>
          </a:p>
        </p:txBody>
      </p:sp>
      <p:sp>
        <p:nvSpPr>
          <p:cNvPr id="9" name="cmd_27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meta_274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🏆 teams</a:t>
            </a:r>
            <a:endParaRPr lang="en-US" sz="950" dirty="0"/>
          </a:p>
        </p:txBody>
      </p:sp>
      <p:sp>
        <p:nvSpPr>
          <p:cNvPr id="11" name="tag_275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 game</a:t>
            </a:r>
            <a:endParaRPr lang="en-US" sz="850" dirty="0"/>
          </a:p>
        </p:txBody>
      </p:sp>
      <p:pic>
        <p:nvPicPr>
          <p:cNvPr id="12" name="logo_27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7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2A-2 · Grammar game</a:t>
            </a:r>
            <a:endParaRPr lang="en-US" sz="800" dirty="0"/>
          </a:p>
        </p:txBody>
      </p:sp>
      <p:sp>
        <p:nvSpPr>
          <p:cNvPr id="14" name="cd_278"/>
          <p:cNvSpPr/>
          <p:nvPr/>
        </p:nvSpPr>
        <p:spPr>
          <a:xfrm>
            <a:off x="320040" y="141732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79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6" name="ih_280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7" name="il_281"/>
          <p:cNvSpPr/>
          <p:nvPr/>
        </p:nvSpPr>
        <p:spPr>
          <a:xfrm>
            <a:off x="886968" y="1892808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1"/>
            </a:pPr>
            <a:r>
              <a:rPr lang="en-US" sz="11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words.</a:t>
            </a:r>
            <a:endParaRPr lang="en-US" sz="115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 le parole.</a:t>
            </a:r>
            <a:endParaRPr lang="en-US" sz="115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2"/>
            </a:pPr>
            <a:r>
              <a:rPr lang="en-US" sz="11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Teams: make a sentence – 15 seconds!</a:t>
            </a:r>
            <a:endParaRPr lang="en-US" sz="115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Squadre: fate una frase – 15 secondi!</a:t>
            </a:r>
            <a:endParaRPr lang="en-US" sz="115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3"/>
            </a:pPr>
            <a:r>
              <a:rPr lang="en-US" sz="11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 tense = 1 point.</a:t>
            </a:r>
            <a:endParaRPr lang="en-US" sz="115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 giusto = 1 punto.</a:t>
            </a:r>
            <a:endParaRPr lang="en-US" sz="1150" dirty="0"/>
          </a:p>
        </p:txBody>
      </p:sp>
      <p:sp>
        <p:nvSpPr>
          <p:cNvPr id="18" name="pf_282"/>
          <p:cNvSpPr/>
          <p:nvPr/>
        </p:nvSpPr>
        <p:spPr>
          <a:xfrm rot="-120000">
            <a:off x="411480" y="3611880"/>
            <a:ext cx="2468880" cy="1143000"/>
          </a:xfrm>
          <a:prstGeom prst="roundRect">
            <a:avLst>
              <a:gd name="adj" fmla="val 13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283" descr="/home/claude/lls-course/v2/cache/spare_1a2_bill_jpg_572x253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57200" y="3657600"/>
            <a:ext cx="2377440" cy="1051560"/>
          </a:xfrm>
          <a:prstGeom prst="rect">
            <a:avLst/>
          </a:prstGeom>
        </p:spPr>
      </p:pic>
      <p:sp>
        <p:nvSpPr>
          <p:cNvPr id="20" name="bd_284"/>
          <p:cNvSpPr/>
          <p:nvPr/>
        </p:nvSpPr>
        <p:spPr>
          <a:xfrm>
            <a:off x="3246120" y="149123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285"/>
          <p:cNvSpPr/>
          <p:nvPr/>
        </p:nvSpPr>
        <p:spPr>
          <a:xfrm>
            <a:off x="3657600" y="14173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/ lose / my phone / yesterday</a:t>
            </a:r>
            <a:endParaRPr lang="en-US" sz="1100" dirty="0"/>
          </a:p>
        </p:txBody>
      </p:sp>
      <p:sp>
        <p:nvSpPr>
          <p:cNvPr id="22" name="R1_chip286"/>
          <p:cNvSpPr/>
          <p:nvPr/>
        </p:nvSpPr>
        <p:spPr>
          <a:xfrm>
            <a:off x="6263640" y="14173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 lost my phone yesterday.</a:t>
            </a:r>
            <a:endParaRPr lang="en-US" sz="1100" dirty="0"/>
          </a:p>
        </p:txBody>
      </p:sp>
      <p:sp>
        <p:nvSpPr>
          <p:cNvPr id="23" name="bd_287"/>
          <p:cNvSpPr/>
          <p:nvPr/>
        </p:nvSpPr>
        <p:spPr>
          <a:xfrm>
            <a:off x="3246120" y="2032254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288"/>
          <p:cNvSpPr/>
          <p:nvPr/>
        </p:nvSpPr>
        <p:spPr>
          <a:xfrm>
            <a:off x="3657600" y="195834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/ just / lose / my phone!</a:t>
            </a:r>
            <a:endParaRPr lang="en-US" sz="1100" dirty="0"/>
          </a:p>
        </p:txBody>
      </p:sp>
      <p:sp>
        <p:nvSpPr>
          <p:cNvPr id="25" name="R2_chip289"/>
          <p:cNvSpPr/>
          <p:nvPr/>
        </p:nvSpPr>
        <p:spPr>
          <a:xfrm>
            <a:off x="6263640" y="195834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I've just lost my phone!</a:t>
            </a:r>
            <a:endParaRPr lang="en-US" sz="1100" dirty="0"/>
          </a:p>
        </p:txBody>
      </p:sp>
      <p:sp>
        <p:nvSpPr>
          <p:cNvPr id="26" name="bd_290"/>
          <p:cNvSpPr/>
          <p:nvPr/>
        </p:nvSpPr>
        <p:spPr>
          <a:xfrm>
            <a:off x="3246120" y="2573274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291"/>
          <p:cNvSpPr/>
          <p:nvPr/>
        </p:nvSpPr>
        <p:spPr>
          <a:xfrm>
            <a:off x="3657600" y="249936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/ pay / the bill / yet?</a:t>
            </a:r>
            <a:endParaRPr lang="en-US" sz="1100" dirty="0"/>
          </a:p>
        </p:txBody>
      </p:sp>
      <p:sp>
        <p:nvSpPr>
          <p:cNvPr id="28" name="R3_chip292"/>
          <p:cNvSpPr/>
          <p:nvPr/>
        </p:nvSpPr>
        <p:spPr>
          <a:xfrm>
            <a:off x="6263640" y="249936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Have you paid the bill yet?</a:t>
            </a:r>
            <a:endParaRPr lang="en-US" sz="1100" dirty="0"/>
          </a:p>
        </p:txBody>
      </p:sp>
      <p:sp>
        <p:nvSpPr>
          <p:cNvPr id="29" name="bd_293"/>
          <p:cNvSpPr/>
          <p:nvPr/>
        </p:nvSpPr>
        <p:spPr>
          <a:xfrm>
            <a:off x="3246120" y="3114294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294"/>
          <p:cNvSpPr/>
          <p:nvPr/>
        </p:nvSpPr>
        <p:spPr>
          <a:xfrm>
            <a:off x="3657600" y="304038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/ ever / win / a prize?</a:t>
            </a:r>
            <a:endParaRPr lang="en-US" sz="1100" dirty="0"/>
          </a:p>
        </p:txBody>
      </p:sp>
      <p:sp>
        <p:nvSpPr>
          <p:cNvPr id="31" name="R4_chip295"/>
          <p:cNvSpPr/>
          <p:nvPr/>
        </p:nvSpPr>
        <p:spPr>
          <a:xfrm>
            <a:off x="6263640" y="304038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Have you ever won a prize?</a:t>
            </a:r>
            <a:endParaRPr lang="en-US" sz="1100" dirty="0"/>
          </a:p>
        </p:txBody>
      </p:sp>
      <p:sp>
        <p:nvSpPr>
          <p:cNvPr id="32" name="bd_296"/>
          <p:cNvSpPr/>
          <p:nvPr/>
        </p:nvSpPr>
        <p:spPr>
          <a:xfrm>
            <a:off x="3246120" y="365531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gq_297"/>
          <p:cNvSpPr/>
          <p:nvPr/>
        </p:nvSpPr>
        <p:spPr>
          <a:xfrm>
            <a:off x="3657600" y="358140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/ you / buy / those shoes?</a:t>
            </a:r>
            <a:endParaRPr lang="en-US" sz="1100" dirty="0"/>
          </a:p>
        </p:txBody>
      </p:sp>
      <p:sp>
        <p:nvSpPr>
          <p:cNvPr id="34" name="R5_chip298"/>
          <p:cNvSpPr/>
          <p:nvPr/>
        </p:nvSpPr>
        <p:spPr>
          <a:xfrm>
            <a:off x="6263640" y="358140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When did you buy those shoes?</a:t>
            </a:r>
            <a:endParaRPr lang="en-US" sz="1100" dirty="0"/>
          </a:p>
        </p:txBody>
      </p:sp>
      <p:sp>
        <p:nvSpPr>
          <p:cNvPr id="35" name="bd_299"/>
          <p:cNvSpPr/>
          <p:nvPr/>
        </p:nvSpPr>
        <p:spPr>
          <a:xfrm>
            <a:off x="3246120" y="4196334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gq_300"/>
          <p:cNvSpPr/>
          <p:nvPr/>
        </p:nvSpPr>
        <p:spPr>
          <a:xfrm>
            <a:off x="3657600" y="41224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/ never / borrow / money from a bank</a:t>
            </a:r>
            <a:endParaRPr lang="en-US" sz="1100" dirty="0"/>
          </a:p>
        </p:txBody>
      </p:sp>
      <p:sp>
        <p:nvSpPr>
          <p:cNvPr id="37" name="R6_chip301"/>
          <p:cNvSpPr/>
          <p:nvPr/>
        </p:nvSpPr>
        <p:spPr>
          <a:xfrm>
            <a:off x="6263640" y="41224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I've never borrowed money from a bank.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0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30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304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Verb ping-pong</a:t>
            </a:r>
            <a:endParaRPr lang="en-US" sz="2500" dirty="0"/>
          </a:p>
        </p:txBody>
      </p:sp>
      <p:pic>
        <p:nvPicPr>
          <p:cNvPr id="6" name="brP_30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119372" cy="402336"/>
          </a:xfrm>
          <a:prstGeom prst="rect">
            <a:avLst/>
          </a:prstGeom>
        </p:spPr>
      </p:pic>
      <p:sp>
        <p:nvSpPr>
          <p:cNvPr id="7" name="ins_306"/>
          <p:cNvSpPr/>
          <p:nvPr/>
        </p:nvSpPr>
        <p:spPr>
          <a:xfrm>
            <a:off x="1353312" y="731520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the past simple and the participle!</a:t>
            </a:r>
            <a:endParaRPr lang="en-US" sz="1250" dirty="0"/>
          </a:p>
        </p:txBody>
      </p:sp>
      <p:sp>
        <p:nvSpPr>
          <p:cNvPr id="8" name="insIT_307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Di' il past simple e il participio!</a:t>
            </a:r>
            <a:endParaRPr lang="en-US" sz="950" dirty="0"/>
          </a:p>
        </p:txBody>
      </p:sp>
      <p:sp>
        <p:nvSpPr>
          <p:cNvPr id="9" name="cmd_308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cmd_309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🔊 </a:t>
            </a:r>
            <a:pPr indent="0" marL="0">
              <a:buNone/>
            </a:pPr>
            <a:r>
              <a:rPr lang="en-US" sz="120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IT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PRONUNCIA</a:t>
            </a:r>
            <a:endParaRPr lang="en-US" sz="1100" dirty="0"/>
          </a:p>
        </p:txBody>
      </p:sp>
      <p:sp>
        <p:nvSpPr>
          <p:cNvPr id="11" name="meta_310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🏆 teams</a:t>
            </a:r>
            <a:endParaRPr lang="en-US" sz="950" dirty="0"/>
          </a:p>
        </p:txBody>
      </p:sp>
      <p:sp>
        <p:nvSpPr>
          <p:cNvPr id="12" name="tag_311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 game</a:t>
            </a:r>
            <a:endParaRPr lang="en-US" sz="850" dirty="0"/>
          </a:p>
        </p:txBody>
      </p:sp>
      <p:pic>
        <p:nvPicPr>
          <p:cNvPr id="13" name="logo_31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31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2A-2 · Speaking prep · irregular verbs   ·   📖 SB p.18 · 5a verbs · Irregular verbs p.165</a:t>
            </a:r>
            <a:endParaRPr lang="en-US" sz="800" dirty="0"/>
          </a:p>
        </p:txBody>
      </p:sp>
      <p:sp>
        <p:nvSpPr>
          <p:cNvPr id="15" name="cd_314"/>
          <p:cNvSpPr/>
          <p:nvPr/>
        </p:nvSpPr>
        <p:spPr>
          <a:xfrm>
            <a:off x="320040" y="141732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315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7" name="ih_316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8" name="il_317"/>
          <p:cNvSpPr/>
          <p:nvPr/>
        </p:nvSpPr>
        <p:spPr>
          <a:xfrm>
            <a:off x="886968" y="1892808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1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A says the verb.</a:t>
            </a:r>
            <a:endParaRPr lang="en-US" sz="11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squadra A dice il verbo.</a:t>
            </a:r>
            <a:endParaRPr lang="en-US" sz="11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2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B says the past simple AND the participle.</a:t>
            </a:r>
            <a:endParaRPr lang="en-US" sz="11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squadra B dice il past simple E il participio.</a:t>
            </a:r>
            <a:endParaRPr lang="en-US" sz="11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3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 = 1 point. Then swap.</a:t>
            </a:r>
            <a:endParaRPr lang="en-US" sz="1100" dirty="0"/>
          </a:p>
          <a:p>
            <a:pPr marL="190500" indent="-190500">
              <a:spcAft>
                <a:spcPts val="200"/>
              </a:spcAft>
              <a:buSzPct val="100000"/>
              <a:buChar char="​"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Giusto = 1 punto. Poi scambiatevi.</a:t>
            </a:r>
            <a:endParaRPr lang="en-US" sz="1100" dirty="0"/>
          </a:p>
        </p:txBody>
      </p:sp>
      <p:sp>
        <p:nvSpPr>
          <p:cNvPr id="19" name="st_318"/>
          <p:cNvSpPr/>
          <p:nvPr/>
        </p:nvSpPr>
        <p:spPr>
          <a:xfrm rot="-180000">
            <a:off x="502920" y="3703320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20" name="bd_319"/>
          <p:cNvSpPr/>
          <p:nvPr/>
        </p:nvSpPr>
        <p:spPr>
          <a:xfrm>
            <a:off x="3246120" y="1423607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320"/>
          <p:cNvSpPr/>
          <p:nvPr/>
        </p:nvSpPr>
        <p:spPr>
          <a:xfrm>
            <a:off x="3657600" y="141732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save</a:t>
            </a:r>
            <a:endParaRPr lang="en-US" sz="1100" dirty="0"/>
          </a:p>
        </p:txBody>
      </p:sp>
      <p:sp>
        <p:nvSpPr>
          <p:cNvPr id="22" name="R1_chip321"/>
          <p:cNvSpPr/>
          <p:nvPr/>
        </p:nvSpPr>
        <p:spPr>
          <a:xfrm>
            <a:off x="6263640" y="141732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saved · saved /seɪvd/</a:t>
            </a:r>
            <a:endParaRPr lang="en-US" sz="1100" dirty="0"/>
          </a:p>
        </p:txBody>
      </p:sp>
      <p:sp>
        <p:nvSpPr>
          <p:cNvPr id="23" name="bd_322"/>
          <p:cNvSpPr/>
          <p:nvPr/>
        </p:nvSpPr>
        <p:spPr>
          <a:xfrm>
            <a:off x="3246120" y="1829372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323"/>
          <p:cNvSpPr/>
          <p:nvPr/>
        </p:nvSpPr>
        <p:spPr>
          <a:xfrm>
            <a:off x="3657600" y="182308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lend</a:t>
            </a:r>
            <a:endParaRPr lang="en-US" sz="1100" dirty="0"/>
          </a:p>
        </p:txBody>
      </p:sp>
      <p:sp>
        <p:nvSpPr>
          <p:cNvPr id="25" name="R2_chip324"/>
          <p:cNvSpPr/>
          <p:nvPr/>
        </p:nvSpPr>
        <p:spPr>
          <a:xfrm>
            <a:off x="6263640" y="182308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lent · lent</a:t>
            </a:r>
            <a:endParaRPr lang="en-US" sz="1100" dirty="0"/>
          </a:p>
        </p:txBody>
      </p:sp>
      <p:sp>
        <p:nvSpPr>
          <p:cNvPr id="26" name="bd_325"/>
          <p:cNvSpPr/>
          <p:nvPr/>
        </p:nvSpPr>
        <p:spPr>
          <a:xfrm>
            <a:off x="3246120" y="2235137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326"/>
          <p:cNvSpPr/>
          <p:nvPr/>
        </p:nvSpPr>
        <p:spPr>
          <a:xfrm>
            <a:off x="3657600" y="222885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waste</a:t>
            </a:r>
            <a:endParaRPr lang="en-US" sz="1100" dirty="0"/>
          </a:p>
        </p:txBody>
      </p:sp>
      <p:sp>
        <p:nvSpPr>
          <p:cNvPr id="28" name="R3_chip327"/>
          <p:cNvSpPr/>
          <p:nvPr/>
        </p:nvSpPr>
        <p:spPr>
          <a:xfrm>
            <a:off x="6263640" y="222885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wasted · wasted /ˈweɪstɪd/</a:t>
            </a:r>
            <a:endParaRPr lang="en-US" sz="1100" dirty="0"/>
          </a:p>
        </p:txBody>
      </p:sp>
      <p:sp>
        <p:nvSpPr>
          <p:cNvPr id="29" name="bd_328"/>
          <p:cNvSpPr/>
          <p:nvPr/>
        </p:nvSpPr>
        <p:spPr>
          <a:xfrm>
            <a:off x="3246120" y="2640901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329"/>
          <p:cNvSpPr/>
          <p:nvPr/>
        </p:nvSpPr>
        <p:spPr>
          <a:xfrm>
            <a:off x="3657600" y="263461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buy</a:t>
            </a:r>
            <a:endParaRPr lang="en-US" sz="1100" dirty="0"/>
          </a:p>
        </p:txBody>
      </p:sp>
      <p:sp>
        <p:nvSpPr>
          <p:cNvPr id="31" name="R4_chip330"/>
          <p:cNvSpPr/>
          <p:nvPr/>
        </p:nvSpPr>
        <p:spPr>
          <a:xfrm>
            <a:off x="6263640" y="263461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bought · bought /bɔːt/</a:t>
            </a:r>
            <a:endParaRPr lang="en-US" sz="1100" dirty="0"/>
          </a:p>
        </p:txBody>
      </p:sp>
      <p:sp>
        <p:nvSpPr>
          <p:cNvPr id="32" name="bd_331"/>
          <p:cNvSpPr/>
          <p:nvPr/>
        </p:nvSpPr>
        <p:spPr>
          <a:xfrm>
            <a:off x="3246120" y="3046667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gq_332"/>
          <p:cNvSpPr/>
          <p:nvPr/>
        </p:nvSpPr>
        <p:spPr>
          <a:xfrm>
            <a:off x="3657600" y="304038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lose</a:t>
            </a:r>
            <a:endParaRPr lang="en-US" sz="1100" dirty="0"/>
          </a:p>
        </p:txBody>
      </p:sp>
      <p:sp>
        <p:nvSpPr>
          <p:cNvPr id="34" name="R5_chip333"/>
          <p:cNvSpPr/>
          <p:nvPr/>
        </p:nvSpPr>
        <p:spPr>
          <a:xfrm>
            <a:off x="6263640" y="304038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lost · lost</a:t>
            </a:r>
            <a:endParaRPr lang="en-US" sz="1100" dirty="0"/>
          </a:p>
        </p:txBody>
      </p:sp>
      <p:sp>
        <p:nvSpPr>
          <p:cNvPr id="35" name="bd_334"/>
          <p:cNvSpPr/>
          <p:nvPr/>
        </p:nvSpPr>
        <p:spPr>
          <a:xfrm>
            <a:off x="3246120" y="3452432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gq_335"/>
          <p:cNvSpPr/>
          <p:nvPr/>
        </p:nvSpPr>
        <p:spPr>
          <a:xfrm>
            <a:off x="3657600" y="344614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</a:t>
            </a:r>
            <a:endParaRPr lang="en-US" sz="1100" dirty="0"/>
          </a:p>
        </p:txBody>
      </p:sp>
      <p:sp>
        <p:nvSpPr>
          <p:cNvPr id="37" name="R6_chip336"/>
          <p:cNvSpPr/>
          <p:nvPr/>
        </p:nvSpPr>
        <p:spPr>
          <a:xfrm>
            <a:off x="6263640" y="344614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won · won /wʌn/</a:t>
            </a:r>
            <a:endParaRPr lang="en-US" sz="1100" dirty="0"/>
          </a:p>
        </p:txBody>
      </p:sp>
      <p:sp>
        <p:nvSpPr>
          <p:cNvPr id="38" name="bd_337"/>
          <p:cNvSpPr/>
          <p:nvPr/>
        </p:nvSpPr>
        <p:spPr>
          <a:xfrm>
            <a:off x="3246120" y="3858196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gq_338"/>
          <p:cNvSpPr/>
          <p:nvPr/>
        </p:nvSpPr>
        <p:spPr>
          <a:xfrm>
            <a:off x="3657600" y="385191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forget</a:t>
            </a:r>
            <a:endParaRPr lang="en-US" sz="1100" dirty="0"/>
          </a:p>
        </p:txBody>
      </p:sp>
      <p:sp>
        <p:nvSpPr>
          <p:cNvPr id="40" name="R7_chip339"/>
          <p:cNvSpPr/>
          <p:nvPr/>
        </p:nvSpPr>
        <p:spPr>
          <a:xfrm>
            <a:off x="6263640" y="385191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forgot · forgotten</a:t>
            </a:r>
            <a:endParaRPr lang="en-US" sz="1100" dirty="0"/>
          </a:p>
        </p:txBody>
      </p:sp>
      <p:sp>
        <p:nvSpPr>
          <p:cNvPr id="41" name="bd_340"/>
          <p:cNvSpPr/>
          <p:nvPr/>
        </p:nvSpPr>
        <p:spPr>
          <a:xfrm>
            <a:off x="3246120" y="4263962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100" dirty="0"/>
          </a:p>
        </p:txBody>
      </p:sp>
      <p:sp>
        <p:nvSpPr>
          <p:cNvPr id="42" name="gq_341"/>
          <p:cNvSpPr/>
          <p:nvPr/>
        </p:nvSpPr>
        <p:spPr>
          <a:xfrm>
            <a:off x="3657600" y="425767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take out · sell</a:t>
            </a:r>
            <a:endParaRPr lang="en-US" sz="1100" dirty="0"/>
          </a:p>
        </p:txBody>
      </p:sp>
      <p:sp>
        <p:nvSpPr>
          <p:cNvPr id="43" name="R8_chip342"/>
          <p:cNvSpPr/>
          <p:nvPr/>
        </p:nvSpPr>
        <p:spPr>
          <a:xfrm>
            <a:off x="6263640" y="425767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took out · taken out · sold · sold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4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7B5CD6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34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345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Pino's lottery ticket</a:t>
            </a:r>
            <a:endParaRPr lang="en-US" sz="2500" dirty="0"/>
          </a:p>
        </p:txBody>
      </p:sp>
      <p:pic>
        <p:nvPicPr>
          <p:cNvPr id="6" name="brP_34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347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the story. Answer the questions!</a:t>
            </a:r>
            <a:endParaRPr lang="en-US" sz="1250" dirty="0"/>
          </a:p>
        </p:txBody>
      </p:sp>
      <p:sp>
        <p:nvSpPr>
          <p:cNvPr id="8" name="insIT_348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Ascolta la storia. Rispondi alle domande!</a:t>
            </a:r>
            <a:endParaRPr lang="en-US" sz="950" dirty="0"/>
          </a:p>
        </p:txBody>
      </p:sp>
      <p:sp>
        <p:nvSpPr>
          <p:cNvPr id="9" name="cmd_349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0" name="cmd_350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1" name="meta_351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950" dirty="0"/>
          </a:p>
        </p:txBody>
      </p:sp>
      <p:sp>
        <p:nvSpPr>
          <p:cNvPr id="12" name="tag_352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TPRS · story</a:t>
            </a:r>
            <a:endParaRPr lang="en-US" sz="850" dirty="0"/>
          </a:p>
        </p:txBody>
      </p:sp>
      <p:pic>
        <p:nvPicPr>
          <p:cNvPr id="13" name="logo_35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35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2A-2 · Speaking · class story (TPRS)</a:t>
            </a:r>
            <a:endParaRPr lang="en-US" sz="800" dirty="0"/>
          </a:p>
        </p:txBody>
      </p:sp>
      <p:sp>
        <p:nvSpPr>
          <p:cNvPr id="15" name="cd_355"/>
          <p:cNvSpPr/>
          <p:nvPr/>
        </p:nvSpPr>
        <p:spPr>
          <a:xfrm>
            <a:off x="320040" y="1417320"/>
            <a:ext cx="2697480" cy="2852928"/>
          </a:xfrm>
          <a:prstGeom prst="roundRect">
            <a:avLst>
              <a:gd name="adj" fmla="val 4746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356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7" name="ih_357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Story phrases</a:t>
            </a:r>
            <a:endParaRPr lang="en-US" sz="1300" dirty="0"/>
          </a:p>
        </p:txBody>
      </p:sp>
      <p:sp>
        <p:nvSpPr>
          <p:cNvPr id="18" name="il_358"/>
          <p:cNvSpPr/>
          <p:nvPr/>
        </p:nvSpPr>
        <p:spPr>
          <a:xfrm>
            <a:off x="886968" y="1892808"/>
            <a:ext cx="203911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 never won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 ha mai vinto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bought (last Saturday)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 comprato (sabato scorso)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hasn't got it yet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 l'ha ancora preso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 already bought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 già comprato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I've just lost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 appena perso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you lend me…?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​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 presti…?</a:t>
            </a:r>
            <a:endParaRPr lang="en-US" sz="1000" dirty="0"/>
          </a:p>
        </p:txBody>
      </p:sp>
      <p:sp>
        <p:nvSpPr>
          <p:cNvPr id="19" name="R1_sb359"/>
          <p:cNvSpPr/>
          <p:nvPr/>
        </p:nvSpPr>
        <p:spPr>
          <a:xfrm>
            <a:off x="3200400" y="1453896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R1_sl360"/>
          <p:cNvSpPr/>
          <p:nvPr/>
        </p:nvSpPr>
        <p:spPr>
          <a:xfrm>
            <a:off x="3584448" y="141732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Pino </a:t>
            </a:r>
            <a:pPr indent="0" marL="0"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has never won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anything. But </a:t>
            </a:r>
            <a:pPr indent="0" marL="0"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last Saturday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he </a:t>
            </a:r>
            <a:pPr indent="0" marL="0">
              <a:buNone/>
            </a:pPr>
            <a:r>
              <a:rPr lang="en-US" sz="10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bought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 lottery ticket.</a:t>
            </a:r>
            <a:endParaRPr lang="en-US" sz="1000" dirty="0"/>
          </a:p>
          <a:p>
            <a:pPr indent="0" marL="0">
              <a:buNone/>
            </a:pPr>
            <a:r>
              <a:rPr lang="en-US" sz="7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Has Pino ever won anything? · When did he buy the ticket?</a:t>
            </a:r>
            <a:endParaRPr lang="en-US" sz="1000" dirty="0"/>
          </a:p>
        </p:txBody>
      </p:sp>
      <p:sp>
        <p:nvSpPr>
          <p:cNvPr id="21" name="R2_sb361"/>
          <p:cNvSpPr/>
          <p:nvPr/>
        </p:nvSpPr>
        <p:spPr>
          <a:xfrm>
            <a:off x="3200400" y="2017776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R2_sl362"/>
          <p:cNvSpPr/>
          <p:nvPr/>
        </p:nvSpPr>
        <p:spPr>
          <a:xfrm>
            <a:off x="3584448" y="198120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Monday he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checked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numbers. He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won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€10,000!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Did he win €100 or €10,000? · When did he check the numbers?</a:t>
            </a:r>
            <a:endParaRPr lang="en-US" sz="1250" dirty="0"/>
          </a:p>
        </p:txBody>
      </p:sp>
      <p:sp>
        <p:nvSpPr>
          <p:cNvPr id="23" name="R3_sb363"/>
          <p:cNvSpPr/>
          <p:nvPr/>
        </p:nvSpPr>
        <p:spPr>
          <a:xfrm>
            <a:off x="3200400" y="2581656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R3_sl364"/>
          <p:cNvSpPr/>
          <p:nvPr/>
        </p:nvSpPr>
        <p:spPr>
          <a:xfrm>
            <a:off x="3584448" y="254508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hasn't got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money 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yet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, but he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's already bought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new trainers!</a:t>
            </a:r>
            <a:endParaRPr lang="en-US" sz="1050" dirty="0"/>
          </a:p>
          <a:p>
            <a:pPr indent="0" marL="0">
              <a:buNone/>
            </a:pPr>
            <a:r>
              <a:rPr lang="en-US" sz="7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Has he got the money yet? · What has he already bought? (you decide!)</a:t>
            </a:r>
            <a:endParaRPr lang="en-US" sz="1050" dirty="0"/>
          </a:p>
        </p:txBody>
      </p:sp>
      <p:sp>
        <p:nvSpPr>
          <p:cNvPr id="25" name="R4_sb365"/>
          <p:cNvSpPr/>
          <p:nvPr/>
        </p:nvSpPr>
        <p:spPr>
          <a:xfrm>
            <a:off x="3200400" y="3145536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R4_sl366"/>
          <p:cNvSpPr/>
          <p:nvPr/>
        </p:nvSpPr>
        <p:spPr>
          <a:xfrm>
            <a:off x="3584448" y="310896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His friend phones: 'I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've just lost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my wallet. Can you 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lend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me €500?'</a:t>
            </a:r>
            <a:endParaRPr lang="en-US" sz="1050" dirty="0"/>
          </a:p>
          <a:p>
            <a:pPr indent="0" marL="0">
              <a:buNone/>
            </a:pPr>
            <a:r>
              <a:rPr lang="en-US" sz="7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Has his friend lost his wallet or his phone? · What does he want?</a:t>
            </a:r>
            <a:endParaRPr lang="en-US" sz="1050" dirty="0"/>
          </a:p>
        </p:txBody>
      </p:sp>
      <p:sp>
        <p:nvSpPr>
          <p:cNvPr id="27" name="R5_sb367"/>
          <p:cNvSpPr/>
          <p:nvPr/>
        </p:nvSpPr>
        <p:spPr>
          <a:xfrm>
            <a:off x="3200400" y="3709416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R5_sl368"/>
          <p:cNvSpPr/>
          <p:nvPr/>
        </p:nvSpPr>
        <p:spPr>
          <a:xfrm>
            <a:off x="3584448" y="367284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Pino looks for the ticket. Where is it? He 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put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it in his jeans 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yesterday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…</a:t>
            </a:r>
            <a:endParaRPr lang="en-US" sz="1050" dirty="0"/>
          </a:p>
          <a:p>
            <a:pPr indent="0" marL="0">
              <a:buNone/>
            </a:pPr>
            <a:r>
              <a:rPr lang="en-US" sz="7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Did he put it in his jeans or his bag? · When did he put it there?</a:t>
            </a:r>
            <a:endParaRPr lang="en-US" sz="1050" dirty="0"/>
          </a:p>
        </p:txBody>
      </p:sp>
      <p:sp>
        <p:nvSpPr>
          <p:cNvPr id="29" name="R6_sb369"/>
          <p:cNvSpPr/>
          <p:nvPr/>
        </p:nvSpPr>
        <p:spPr>
          <a:xfrm>
            <a:off x="3200400" y="4273296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R6_sl370"/>
          <p:cNvSpPr/>
          <p:nvPr/>
        </p:nvSpPr>
        <p:spPr>
          <a:xfrm>
            <a:off x="3584448" y="423672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Nonna smiles: 'Don't worry – I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've just washed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your jeans!'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Who has just washed the jeans? · And you – have you ever lost something important?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7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37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506163" cy="621792"/>
          </a:xfrm>
          <a:prstGeom prst="rect">
            <a:avLst/>
          </a:prstGeom>
        </p:spPr>
      </p:pic>
      <p:sp>
        <p:nvSpPr>
          <p:cNvPr id="5" name="title_373"/>
          <p:cNvSpPr/>
          <p:nvPr/>
        </p:nvSpPr>
        <p:spPr>
          <a:xfrm>
            <a:off x="1261872" y="164592"/>
            <a:ext cx="42318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Have you ever…? One lie!</a:t>
            </a:r>
            <a:endParaRPr lang="en-US" sz="2500" dirty="0"/>
          </a:p>
        </p:txBody>
      </p:sp>
      <p:pic>
        <p:nvPicPr>
          <p:cNvPr id="6" name="brP_37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119372" cy="402336"/>
          </a:xfrm>
          <a:prstGeom prst="rect">
            <a:avLst/>
          </a:prstGeom>
        </p:spPr>
      </p:pic>
      <p:sp>
        <p:nvSpPr>
          <p:cNvPr id="7" name="ins_375"/>
          <p:cNvSpPr/>
          <p:nvPr/>
        </p:nvSpPr>
        <p:spPr>
          <a:xfrm>
            <a:off x="1353312" y="731520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Have you ever…? One 'yes' is a lie!</a:t>
            </a:r>
            <a:endParaRPr lang="en-US" sz="1250" dirty="0"/>
          </a:p>
        </p:txBody>
      </p:sp>
      <p:sp>
        <p:nvSpPr>
          <p:cNvPr id="8" name="insIT_376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Chiedi Have you ever…? Un 'sì' è una bugia!</a:t>
            </a:r>
            <a:endParaRPr lang="en-US" sz="950" dirty="0"/>
          </a:p>
        </p:txBody>
      </p:sp>
      <p:sp>
        <p:nvSpPr>
          <p:cNvPr id="9" name="cmd_377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0" name="meta_378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7 min   👥 pairs</a:t>
            </a:r>
            <a:endParaRPr lang="en-US" sz="950" dirty="0"/>
          </a:p>
        </p:txBody>
      </p:sp>
      <p:sp>
        <p:nvSpPr>
          <p:cNvPr id="11" name="tag_379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</a:t>
            </a:r>
            <a:endParaRPr lang="en-US" sz="850" dirty="0"/>
          </a:p>
        </p:txBody>
      </p:sp>
      <p:pic>
        <p:nvPicPr>
          <p:cNvPr id="12" name="logo_38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38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2A-2 · Speaking · the money questionnaire   ·   📖 SB p.18 · 5a, 5b</a:t>
            </a:r>
            <a:endParaRPr lang="en-US" sz="800" dirty="0"/>
          </a:p>
        </p:txBody>
      </p:sp>
      <p:sp>
        <p:nvSpPr>
          <p:cNvPr id="14" name="pf_382"/>
          <p:cNvSpPr/>
          <p:nvPr/>
        </p:nvSpPr>
        <p:spPr>
          <a:xfrm rot="-120000">
            <a:off x="320040" y="1371600"/>
            <a:ext cx="2788920" cy="1874520"/>
          </a:xfrm>
          <a:prstGeom prst="roundRect">
            <a:avLst>
              <a:gd name="adj" fmla="val 82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383" descr="/home/claude/lls-course/v2/cache/2a2_found_money_jpg_649x42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65760" y="1417320"/>
            <a:ext cx="2697480" cy="1783080"/>
          </a:xfrm>
          <a:prstGeom prst="rect">
            <a:avLst/>
          </a:prstGeom>
        </p:spPr>
      </p:pic>
      <p:sp>
        <p:nvSpPr>
          <p:cNvPr id="16" name="cd_384"/>
          <p:cNvSpPr/>
          <p:nvPr/>
        </p:nvSpPr>
        <p:spPr>
          <a:xfrm>
            <a:off x="320040" y="3429000"/>
            <a:ext cx="2788920" cy="1325880"/>
          </a:xfrm>
          <a:prstGeom prst="roundRect">
            <a:avLst>
              <a:gd name="adj" fmla="val 9655"/>
            </a:avLst>
          </a:prstGeom>
          <a:solidFill>
            <a:srgbClr val="EEE8FB"/>
          </a:solidFill>
          <a:ln w="19050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385"/>
          <p:cNvSpPr/>
          <p:nvPr/>
        </p:nvSpPr>
        <p:spPr>
          <a:xfrm>
            <a:off x="41148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8" name="ih_386"/>
          <p:cNvSpPr/>
          <p:nvPr/>
        </p:nvSpPr>
        <p:spPr>
          <a:xfrm>
            <a:off x="886968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9" name="il_387"/>
          <p:cNvSpPr/>
          <p:nvPr/>
        </p:nvSpPr>
        <p:spPr>
          <a:xfrm>
            <a:off x="886968" y="3904488"/>
            <a:ext cx="213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did you…? Where…?</a:t>
            </a:r>
            <a:endParaRPr lang="en-US" sz="9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much was it? What happened?</a:t>
            </a:r>
            <a:endParaRPr lang="en-US" sz="9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I'd rather not say.</a:t>
            </a:r>
            <a:endParaRPr lang="en-US" sz="950" dirty="0"/>
          </a:p>
        </p:txBody>
      </p:sp>
      <p:sp>
        <p:nvSpPr>
          <p:cNvPr id="20" name="R1_qb388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R1_sq389"/>
          <p:cNvSpPr/>
          <p:nvPr/>
        </p:nvSpPr>
        <p:spPr>
          <a:xfrm>
            <a:off x="3675888" y="1417320"/>
            <a:ext cx="45079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you ever saved for something for a long time?</a:t>
            </a:r>
            <a:endParaRPr lang="en-US" sz="10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Yes, I saved for six months to pay the deposit on my car. – How much was it?</a:t>
            </a:r>
            <a:endParaRPr lang="en-US" sz="1050" dirty="0"/>
          </a:p>
        </p:txBody>
      </p:sp>
      <p:pic>
        <p:nvPicPr>
          <p:cNvPr id="22" name="R1_th390" descr="/home/claude/lls-course/v2/cache/spare_future_money_jpg_154x107_1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032" y="1435608"/>
            <a:ext cx="640080" cy="446532"/>
          </a:xfrm>
          <a:prstGeom prst="rect">
            <a:avLst/>
          </a:prstGeom>
        </p:spPr>
      </p:pic>
      <p:sp>
        <p:nvSpPr>
          <p:cNvPr id="23" name="R2_qb391"/>
          <p:cNvSpPr/>
          <p:nvPr/>
        </p:nvSpPr>
        <p:spPr>
          <a:xfrm>
            <a:off x="3273552" y="2010156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R2_sq392"/>
          <p:cNvSpPr/>
          <p:nvPr/>
        </p:nvSpPr>
        <p:spPr>
          <a:xfrm>
            <a:off x="3675888" y="197358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you ever lent money to somebody who didn't pay you back?</a:t>
            </a:r>
            <a:endParaRPr lang="en-US" sz="10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No, I haven't. But my brother lent me some money last week…</a:t>
            </a:r>
            <a:endParaRPr lang="en-US" sz="1050" dirty="0"/>
          </a:p>
        </p:txBody>
      </p:sp>
      <p:sp>
        <p:nvSpPr>
          <p:cNvPr id="25" name="R3_qb393"/>
          <p:cNvSpPr/>
          <p:nvPr/>
        </p:nvSpPr>
        <p:spPr>
          <a:xfrm>
            <a:off x="3273552" y="2566416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R3_sq394"/>
          <p:cNvSpPr/>
          <p:nvPr/>
        </p:nvSpPr>
        <p:spPr>
          <a:xfrm>
            <a:off x="3675888" y="252984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you ever wasted money on something you've never used?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Yes! I bought a guitar two years ago. I've never played it!</a:t>
            </a:r>
            <a:endParaRPr lang="en-US" sz="1100" dirty="0"/>
          </a:p>
        </p:txBody>
      </p:sp>
      <p:sp>
        <p:nvSpPr>
          <p:cNvPr id="27" name="R4_qb395"/>
          <p:cNvSpPr/>
          <p:nvPr/>
        </p:nvSpPr>
        <p:spPr>
          <a:xfrm>
            <a:off x="3273552" y="3122676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R4_sq396"/>
          <p:cNvSpPr/>
          <p:nvPr/>
        </p:nvSpPr>
        <p:spPr>
          <a:xfrm>
            <a:off x="3675888" y="308610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you ever lost your wallet or purse?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Yes, I have. I lost it on the bus last summer.</a:t>
            </a:r>
            <a:endParaRPr lang="en-US" sz="1250" dirty="0"/>
          </a:p>
        </p:txBody>
      </p:sp>
      <p:sp>
        <p:nvSpPr>
          <p:cNvPr id="29" name="R5_qb397"/>
          <p:cNvSpPr/>
          <p:nvPr/>
        </p:nvSpPr>
        <p:spPr>
          <a:xfrm>
            <a:off x="3273552" y="3678936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R5_sq398"/>
          <p:cNvSpPr/>
          <p:nvPr/>
        </p:nvSpPr>
        <p:spPr>
          <a:xfrm>
            <a:off x="3675888" y="364236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you ever won any money (e.g. in a lottery)?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Yes – I won €20 in a school raffle!</a:t>
            </a:r>
            <a:endParaRPr lang="en-US" sz="1250" dirty="0"/>
          </a:p>
        </p:txBody>
      </p:sp>
      <p:sp>
        <p:nvSpPr>
          <p:cNvPr id="31" name="R6_qb399"/>
          <p:cNvSpPr/>
          <p:nvPr/>
        </p:nvSpPr>
        <p:spPr>
          <a:xfrm>
            <a:off x="3273552" y="4235196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R6_sq400"/>
          <p:cNvSpPr/>
          <p:nvPr/>
        </p:nvSpPr>
        <p:spPr>
          <a:xfrm>
            <a:off x="3675888" y="419862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you ever bought or sold something on eBay or a similar site?</a:t>
            </a:r>
            <a:endParaRPr lang="en-US" sz="10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Yes, I sold my old phone on Vinted last month.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0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40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776118" cy="621792"/>
          </a:xfrm>
          <a:prstGeom prst="rect">
            <a:avLst/>
          </a:prstGeom>
        </p:spPr>
      </p:pic>
      <p:sp>
        <p:nvSpPr>
          <p:cNvPr id="5" name="title_403"/>
          <p:cNvSpPr/>
          <p:nvPr/>
        </p:nvSpPr>
        <p:spPr>
          <a:xfrm>
            <a:off x="1261872" y="164592"/>
            <a:ext cx="25017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Is it a scam?</a:t>
            </a:r>
            <a:endParaRPr lang="en-US" sz="2500" dirty="0"/>
          </a:p>
        </p:txBody>
      </p:sp>
      <p:pic>
        <p:nvPicPr>
          <p:cNvPr id="6" name="brP_40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337560" cy="402336"/>
          </a:xfrm>
          <a:prstGeom prst="rect">
            <a:avLst/>
          </a:prstGeom>
        </p:spPr>
      </p:pic>
      <p:sp>
        <p:nvSpPr>
          <p:cNvPr id="7" name="ins_405"/>
          <p:cNvSpPr/>
          <p:nvPr/>
        </p:nvSpPr>
        <p:spPr>
          <a:xfrm>
            <a:off x="1353312" y="731520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Guess the meaning. Then click.</a:t>
            </a:r>
            <a:endParaRPr lang="en-US" sz="1250" dirty="0"/>
          </a:p>
        </p:txBody>
      </p:sp>
      <p:sp>
        <p:nvSpPr>
          <p:cNvPr id="8" name="insIT_406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Indovina il significato. Poi clicca.</a:t>
            </a:r>
            <a:endParaRPr lang="en-US" sz="950" dirty="0"/>
          </a:p>
        </p:txBody>
      </p:sp>
      <p:sp>
        <p:nvSpPr>
          <p:cNvPr id="9" name="cmd_407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💡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1100" dirty="0"/>
          </a:p>
        </p:txBody>
      </p:sp>
      <p:sp>
        <p:nvSpPr>
          <p:cNvPr id="10" name="meta_408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950" dirty="0"/>
          </a:p>
        </p:txBody>
      </p:sp>
      <p:sp>
        <p:nvSpPr>
          <p:cNvPr id="11" name="tag_409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Controlled practice</a:t>
            </a:r>
            <a:endParaRPr lang="en-US" sz="850" dirty="0"/>
          </a:p>
        </p:txBody>
      </p:sp>
      <p:pic>
        <p:nvPicPr>
          <p:cNvPr id="12" name="logo_41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41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2A-2 · Reading &amp; listening · key words first   ·   📖 SB p.19 · 6a · words from the email and audio 2.12</a:t>
            </a:r>
            <a:endParaRPr lang="en-US" sz="800" dirty="0"/>
          </a:p>
        </p:txBody>
      </p:sp>
      <p:sp>
        <p:nvSpPr>
          <p:cNvPr id="14" name="cd_412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413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6" name="ih_414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7" name="il_415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 a scam /skæm/ → a dishonest way of making money · una truffa</a:t>
            </a:r>
            <a:endParaRPr lang="en-US" sz="1050" dirty="0"/>
          </a:p>
        </p:txBody>
      </p:sp>
      <p:sp>
        <p:nvSpPr>
          <p:cNvPr id="18" name="pf_416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417" descr="/home/claude/lls-course/v2/cache/spare_future_technology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0" name="bd_418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q_419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scammer</a:t>
            </a:r>
            <a:endParaRPr lang="en-US" sz="1150" dirty="0"/>
          </a:p>
        </p:txBody>
      </p:sp>
      <p:sp>
        <p:nvSpPr>
          <p:cNvPr id="22" name="R1_chip420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person who does scams · un truffatore</a:t>
            </a:r>
            <a:endParaRPr lang="en-US" sz="1000" dirty="0"/>
          </a:p>
        </p:txBody>
      </p:sp>
      <p:sp>
        <p:nvSpPr>
          <p:cNvPr id="23" name="bd_421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q_422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victim</a:t>
            </a:r>
            <a:endParaRPr lang="en-US" sz="1150" dirty="0"/>
          </a:p>
        </p:txBody>
      </p:sp>
      <p:sp>
        <p:nvSpPr>
          <p:cNvPr id="25" name="R2_chip423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person a scam happens to · una vittima</a:t>
            </a:r>
            <a:endParaRPr lang="en-US" sz="1000" dirty="0"/>
          </a:p>
        </p:txBody>
      </p:sp>
      <p:sp>
        <p:nvSpPr>
          <p:cNvPr id="26" name="bd_424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q_425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suspicious</a:t>
            </a:r>
            <a:endParaRPr lang="en-US" sz="1150" dirty="0"/>
          </a:p>
        </p:txBody>
      </p:sp>
      <p:sp>
        <p:nvSpPr>
          <p:cNvPr id="28" name="R3_chip426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think something is wrong · sospettoso</a:t>
            </a:r>
            <a:endParaRPr lang="en-US" sz="1000" dirty="0"/>
          </a:p>
        </p:txBody>
      </p:sp>
      <p:sp>
        <p:nvSpPr>
          <p:cNvPr id="29" name="bd_427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q_428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bank / card details</a:t>
            </a:r>
            <a:endParaRPr lang="en-US" sz="1150" dirty="0"/>
          </a:p>
        </p:txBody>
      </p:sp>
      <p:sp>
        <p:nvSpPr>
          <p:cNvPr id="31" name="R4_chip429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account number, PIN… · i dati bancari</a:t>
            </a:r>
            <a:endParaRPr lang="en-US" sz="1000" dirty="0"/>
          </a:p>
        </p:txBody>
      </p:sp>
      <p:sp>
        <p:nvSpPr>
          <p:cNvPr id="32" name="bd_430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q_431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transfer money</a:t>
            </a:r>
            <a:endParaRPr lang="en-US" sz="1150" dirty="0"/>
          </a:p>
        </p:txBody>
      </p:sp>
      <p:sp>
        <p:nvSpPr>
          <p:cNvPr id="34" name="R5_chip432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move money to another account · trasferire</a:t>
            </a:r>
            <a:endParaRPr lang="en-US" sz="1000" dirty="0"/>
          </a:p>
        </p:txBody>
      </p:sp>
      <p:sp>
        <p:nvSpPr>
          <p:cNvPr id="35" name="bd_433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q_434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hang up</a:t>
            </a:r>
            <a:endParaRPr lang="en-US" sz="1150" dirty="0"/>
          </a:p>
        </p:txBody>
      </p:sp>
      <p:sp>
        <p:nvSpPr>
          <p:cNvPr id="37" name="R6_chip435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end a phone call · riattaccare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3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43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438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strange email</a:t>
            </a:r>
            <a:endParaRPr lang="en-US" sz="2500" dirty="0"/>
          </a:p>
        </p:txBody>
      </p:sp>
      <p:pic>
        <p:nvPicPr>
          <p:cNvPr id="6" name="brP_43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076956" cy="402336"/>
          </a:xfrm>
          <a:prstGeom prst="rect">
            <a:avLst/>
          </a:prstGeom>
        </p:spPr>
      </p:pic>
      <p:sp>
        <p:nvSpPr>
          <p:cNvPr id="7" name="ins_440"/>
          <p:cNvSpPr/>
          <p:nvPr/>
        </p:nvSpPr>
        <p:spPr>
          <a:xfrm>
            <a:off x="1353312" y="731520"/>
            <a:ext cx="28209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Read. Would you reply? Why?</a:t>
            </a:r>
            <a:endParaRPr lang="en-US" sz="1250" dirty="0"/>
          </a:p>
        </p:txBody>
      </p:sp>
      <p:sp>
        <p:nvSpPr>
          <p:cNvPr id="8" name="insIT_441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Leggi. Risponderesti? Perché?</a:t>
            </a:r>
            <a:endParaRPr lang="en-US" sz="950" dirty="0"/>
          </a:p>
        </p:txBody>
      </p:sp>
      <p:sp>
        <p:nvSpPr>
          <p:cNvPr id="9" name="cmd_442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LEGGI</a:t>
            </a:r>
            <a:endParaRPr lang="en-US" sz="1100" dirty="0"/>
          </a:p>
        </p:txBody>
      </p:sp>
      <p:sp>
        <p:nvSpPr>
          <p:cNvPr id="10" name="cmd_443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🔁 </a:t>
            </a:r>
            <a:pPr indent="0" marL="0">
              <a:buNone/>
            </a:pPr>
            <a:r>
              <a:rPr lang="en-US" sz="9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CHANGE THE WORD</a:t>
            </a:r>
            <a:pPr indent="0" marL="0"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CAMBIA</a:t>
            </a:r>
            <a:endParaRPr lang="en-US" sz="800" dirty="0"/>
          </a:p>
        </p:txBody>
      </p:sp>
      <p:sp>
        <p:nvSpPr>
          <p:cNvPr id="11" name="meta_444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2" name="tag_445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TPRS · reading</a:t>
            </a:r>
            <a:endParaRPr lang="en-US" sz="850" dirty="0"/>
          </a:p>
        </p:txBody>
      </p:sp>
      <p:pic>
        <p:nvPicPr>
          <p:cNvPr id="13" name="logo_44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44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2A-2 · Reading · a scam email · part 1   ·   📖 SB p.19 · 6b, 6c</a:t>
            </a:r>
            <a:endParaRPr lang="en-US" sz="800" dirty="0"/>
          </a:p>
        </p:txBody>
      </p:sp>
      <p:sp>
        <p:nvSpPr>
          <p:cNvPr id="15" name="cd_448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sh_449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✉ From: Naomi Cooper</a:t>
            </a:r>
            <a:endParaRPr lang="en-US" sz="1700" dirty="0"/>
          </a:p>
        </p:txBody>
      </p:sp>
      <p:sp>
        <p:nvSpPr>
          <p:cNvPr id="17" name="ln_450"/>
          <p:cNvSpPr/>
          <p:nvPr/>
        </p:nvSpPr>
        <p:spPr>
          <a:xfrm>
            <a:off x="548640" y="1920240"/>
            <a:ext cx="534924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Subject: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(Businness)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opportunity</a:t>
            </a:r>
            <a:endParaRPr lang="en-US" sz="1150" dirty="0"/>
          </a:p>
        </p:txBody>
      </p:sp>
      <p:sp>
        <p:nvSpPr>
          <p:cNvPr id="18" name="R1_lnA451"/>
          <p:cNvSpPr/>
          <p:nvPr/>
        </p:nvSpPr>
        <p:spPr>
          <a:xfrm>
            <a:off x="548640" y="1920240"/>
            <a:ext cx="5349240" cy="4648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Subject: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opportunity</a:t>
            </a:r>
            <a:endParaRPr lang="en-US" sz="1150" dirty="0"/>
          </a:p>
        </p:txBody>
      </p:sp>
      <p:sp>
        <p:nvSpPr>
          <p:cNvPr id="19" name="ln_452"/>
          <p:cNvSpPr/>
          <p:nvPr/>
        </p:nvSpPr>
        <p:spPr>
          <a:xfrm>
            <a:off x="548640" y="2385060"/>
            <a:ext cx="534924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Dear Friend,</a:t>
            </a:r>
            <a:endParaRPr lang="en-US" sz="1150" dirty="0"/>
          </a:p>
        </p:txBody>
      </p:sp>
      <p:sp>
        <p:nvSpPr>
          <p:cNvPr id="20" name="ln_453"/>
          <p:cNvSpPr/>
          <p:nvPr/>
        </p:nvSpPr>
        <p:spPr>
          <a:xfrm>
            <a:off x="548640" y="2849880"/>
            <a:ext cx="534924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know this message will be a surprise. I am Naomi Cooper and I work at the International Bank in Lagos, Nigeria.</a:t>
            </a:r>
            <a:endParaRPr lang="en-US" sz="1150" dirty="0"/>
          </a:p>
        </p:txBody>
      </p:sp>
      <p:sp>
        <p:nvSpPr>
          <p:cNvPr id="21" name="ln_454"/>
          <p:cNvSpPr/>
          <p:nvPr/>
        </p:nvSpPr>
        <p:spPr>
          <a:xfrm>
            <a:off x="548640" y="3314700"/>
            <a:ext cx="534924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parents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(have died)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last month and left 4.6 million US dollars in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(there)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account.</a:t>
            </a:r>
            <a:endParaRPr lang="en-US" sz="1150" dirty="0"/>
          </a:p>
        </p:txBody>
      </p:sp>
      <p:sp>
        <p:nvSpPr>
          <p:cNvPr id="22" name="R2_lnA455"/>
          <p:cNvSpPr/>
          <p:nvPr/>
        </p:nvSpPr>
        <p:spPr>
          <a:xfrm>
            <a:off x="548640" y="3314700"/>
            <a:ext cx="5349240" cy="4648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parents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died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last month and left 4.6 million US dollars in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their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account.</a:t>
            </a:r>
            <a:endParaRPr lang="en-US" sz="1150" dirty="0"/>
          </a:p>
        </p:txBody>
      </p:sp>
      <p:sp>
        <p:nvSpPr>
          <p:cNvPr id="23" name="ln_456"/>
          <p:cNvSpPr/>
          <p:nvPr/>
        </p:nvSpPr>
        <p:spPr>
          <a:xfrm>
            <a:off x="548640" y="3779520"/>
            <a:ext cx="534924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would like to transfer this money out of Nigeria and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 am needing)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your help.</a:t>
            </a:r>
            <a:endParaRPr lang="en-US" sz="1150" dirty="0"/>
          </a:p>
        </p:txBody>
      </p:sp>
      <p:sp>
        <p:nvSpPr>
          <p:cNvPr id="24" name="R3_lnA457"/>
          <p:cNvSpPr/>
          <p:nvPr/>
        </p:nvSpPr>
        <p:spPr>
          <a:xfrm>
            <a:off x="548640" y="3779520"/>
            <a:ext cx="5349240" cy="4648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would like to transfer this money out of Nigeria and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 need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your help.</a:t>
            </a:r>
            <a:endParaRPr lang="en-US" sz="1150" dirty="0"/>
          </a:p>
        </p:txBody>
      </p:sp>
      <p:sp>
        <p:nvSpPr>
          <p:cNvPr id="25" name="ln_458"/>
          <p:cNvSpPr/>
          <p:nvPr/>
        </p:nvSpPr>
        <p:spPr>
          <a:xfrm>
            <a:off x="548640" y="4244340"/>
            <a:ext cx="534924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(can to transfer)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all the money to you in the UK, and you can then keep 20% of the money for yourself…</a:t>
            </a:r>
            <a:endParaRPr lang="en-US" sz="1150" dirty="0"/>
          </a:p>
        </p:txBody>
      </p:sp>
      <p:sp>
        <p:nvSpPr>
          <p:cNvPr id="26" name="R4_lnA459"/>
          <p:cNvSpPr/>
          <p:nvPr/>
        </p:nvSpPr>
        <p:spPr>
          <a:xfrm>
            <a:off x="548640" y="4244340"/>
            <a:ext cx="5349240" cy="4648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can transfer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all the money to you in the UK, and you can then keep 20% of the money for yourself…</a:t>
            </a:r>
            <a:endParaRPr lang="en-US" sz="1150" dirty="0"/>
          </a:p>
        </p:txBody>
      </p:sp>
      <p:sp>
        <p:nvSpPr>
          <p:cNvPr id="27" name="pf_460"/>
          <p:cNvSpPr/>
          <p:nvPr/>
        </p:nvSpPr>
        <p:spPr>
          <a:xfrm rot="120000">
            <a:off x="6309360" y="1417320"/>
            <a:ext cx="2560320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8" name="ph_461" descr="/home/claude/lls-course/v2/cache/2a2_scam_email_jpg_594x34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6355080" y="1463040"/>
            <a:ext cx="2468880" cy="1417320"/>
          </a:xfrm>
          <a:prstGeom prst="rect">
            <a:avLst/>
          </a:prstGeom>
        </p:spPr>
      </p:pic>
      <p:sp>
        <p:nvSpPr>
          <p:cNvPr id="29" name="cd_462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0" name="ii_463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1" name="ih_464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32" name="il_465"/>
          <p:cNvSpPr/>
          <p:nvPr/>
        </p:nvSpPr>
        <p:spPr>
          <a:xfrm>
            <a:off x="6830568" y="42702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Mistakes = a sign of a scam!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and correct ten.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6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46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468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strange email</a:t>
            </a:r>
            <a:endParaRPr lang="en-US" sz="2500" dirty="0"/>
          </a:p>
        </p:txBody>
      </p:sp>
      <p:pic>
        <p:nvPicPr>
          <p:cNvPr id="6" name="brP_46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119372" cy="402336"/>
          </a:xfrm>
          <a:prstGeom prst="rect">
            <a:avLst/>
          </a:prstGeom>
        </p:spPr>
      </p:pic>
      <p:sp>
        <p:nvSpPr>
          <p:cNvPr id="7" name="ins_470"/>
          <p:cNvSpPr/>
          <p:nvPr/>
        </p:nvSpPr>
        <p:spPr>
          <a:xfrm>
            <a:off x="1353312" y="731520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Correct mistakes 6–10. First pair wins!</a:t>
            </a:r>
            <a:endParaRPr lang="en-US" sz="1250" dirty="0"/>
          </a:p>
        </p:txBody>
      </p:sp>
      <p:sp>
        <p:nvSpPr>
          <p:cNvPr id="8" name="insIT_471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Correggi gli errori 6–10. Vince la prima coppia!</a:t>
            </a:r>
            <a:endParaRPr lang="en-US" sz="950" dirty="0"/>
          </a:p>
        </p:txBody>
      </p:sp>
      <p:sp>
        <p:nvSpPr>
          <p:cNvPr id="9" name="cmd_472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LEGGI</a:t>
            </a:r>
            <a:endParaRPr lang="en-US" sz="1100" dirty="0"/>
          </a:p>
        </p:txBody>
      </p:sp>
      <p:sp>
        <p:nvSpPr>
          <p:cNvPr id="10" name="cmd_473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🔁 </a:t>
            </a:r>
            <a:pPr indent="0" marL="0">
              <a:buNone/>
            </a:pPr>
            <a:r>
              <a:rPr lang="en-US" sz="9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CHANGE THE WORD</a:t>
            </a:r>
            <a:pPr indent="0" marL="0"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CAMBIA</a:t>
            </a:r>
            <a:endParaRPr lang="en-US" sz="800" dirty="0"/>
          </a:p>
        </p:txBody>
      </p:sp>
      <p:sp>
        <p:nvSpPr>
          <p:cNvPr id="11" name="meta_474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950" dirty="0"/>
          </a:p>
        </p:txBody>
      </p:sp>
      <p:sp>
        <p:nvSpPr>
          <p:cNvPr id="12" name="tag_475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TPRS · reading</a:t>
            </a:r>
            <a:endParaRPr lang="en-US" sz="850" dirty="0"/>
          </a:p>
        </p:txBody>
      </p:sp>
      <p:pic>
        <p:nvPicPr>
          <p:cNvPr id="13" name="logo_47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47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2A-2 · Reading · a scam email · part 2   ·   📖 SB p.19 · 6c</a:t>
            </a:r>
            <a:endParaRPr lang="en-US" sz="800" dirty="0"/>
          </a:p>
        </p:txBody>
      </p:sp>
      <p:sp>
        <p:nvSpPr>
          <p:cNvPr id="15" name="cd_478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sh_479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✉ …the email continues</a:t>
            </a:r>
            <a:endParaRPr lang="en-US" sz="1700" dirty="0"/>
          </a:p>
        </p:txBody>
      </p:sp>
      <p:sp>
        <p:nvSpPr>
          <p:cNvPr id="17" name="ln_480"/>
          <p:cNvSpPr/>
          <p:nvPr/>
        </p:nvSpPr>
        <p:spPr>
          <a:xfrm>
            <a:off x="548640" y="1920240"/>
            <a:ext cx="534924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…(920,000 US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(dolars)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and transfer the rest to an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(acount)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Switzerland.</a:t>
            </a:r>
            <a:endParaRPr lang="en-US" sz="1150" dirty="0"/>
          </a:p>
        </p:txBody>
      </p:sp>
      <p:sp>
        <p:nvSpPr>
          <p:cNvPr id="18" name="R1_lnA481"/>
          <p:cNvSpPr/>
          <p:nvPr/>
        </p:nvSpPr>
        <p:spPr>
          <a:xfrm>
            <a:off x="548640" y="1920240"/>
            <a:ext cx="5349240" cy="4648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…(920,000 US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dollars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and transfer the rest to an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account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Switzerland.</a:t>
            </a:r>
            <a:endParaRPr lang="en-US" sz="1150" dirty="0"/>
          </a:p>
        </p:txBody>
      </p:sp>
      <p:sp>
        <p:nvSpPr>
          <p:cNvPr id="19" name="ln_482"/>
          <p:cNvSpPr/>
          <p:nvPr/>
        </p:nvSpPr>
        <p:spPr>
          <a:xfrm>
            <a:off x="548640" y="2385060"/>
            <a:ext cx="534924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will be very quick and easy.</a:t>
            </a:r>
            <a:endParaRPr lang="en-US" sz="1150" dirty="0"/>
          </a:p>
        </p:txBody>
      </p:sp>
      <p:sp>
        <p:nvSpPr>
          <p:cNvPr id="20" name="ln_483"/>
          <p:cNvSpPr/>
          <p:nvPr/>
        </p:nvSpPr>
        <p:spPr>
          <a:xfrm>
            <a:off x="548640" y="2849880"/>
            <a:ext cx="534924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would be very grateful if you can do this for me – it's my parents' money and I want to keep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(him)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safe for my family.</a:t>
            </a:r>
            <a:endParaRPr lang="en-US" sz="1150" dirty="0"/>
          </a:p>
        </p:txBody>
      </p:sp>
      <p:sp>
        <p:nvSpPr>
          <p:cNvPr id="21" name="R2_lnA484"/>
          <p:cNvSpPr/>
          <p:nvPr/>
        </p:nvSpPr>
        <p:spPr>
          <a:xfrm>
            <a:off x="548640" y="2849880"/>
            <a:ext cx="5349240" cy="4648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would be very grateful if you can do this for me – it's my parents' money and I want to keep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it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safe for my family.</a:t>
            </a:r>
            <a:endParaRPr lang="en-US" sz="1150" dirty="0"/>
          </a:p>
        </p:txBody>
      </p:sp>
      <p:sp>
        <p:nvSpPr>
          <p:cNvPr id="22" name="ln_485"/>
          <p:cNvSpPr/>
          <p:nvPr/>
        </p:nvSpPr>
        <p:spPr>
          <a:xfrm>
            <a:off x="548640" y="3314700"/>
            <a:ext cx="534924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Please reply to this email as fast as you can –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 want organize)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everything in the next two days.</a:t>
            </a:r>
            <a:endParaRPr lang="en-US" sz="1150" dirty="0"/>
          </a:p>
        </p:txBody>
      </p:sp>
      <p:sp>
        <p:nvSpPr>
          <p:cNvPr id="23" name="R3_lnA486"/>
          <p:cNvSpPr/>
          <p:nvPr/>
        </p:nvSpPr>
        <p:spPr>
          <a:xfrm>
            <a:off x="548640" y="3314700"/>
            <a:ext cx="5349240" cy="4648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Please reply to this email as fast as you can –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 want to organize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everything in the next two days.</a:t>
            </a:r>
            <a:endParaRPr lang="en-US" sz="1150" dirty="0"/>
          </a:p>
        </p:txBody>
      </p:sp>
      <p:sp>
        <p:nvSpPr>
          <p:cNvPr id="24" name="ln_487"/>
          <p:cNvSpPr/>
          <p:nvPr/>
        </p:nvSpPr>
        <p:spPr>
          <a:xfrm>
            <a:off x="548640" y="3779520"/>
            <a:ext cx="534924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in advance for </a:t>
            </a:r>
            <a:pPr indent="0" marL="0">
              <a:buNone/>
            </a:pPr>
            <a:r>
              <a:rPr lang="en-US" sz="11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(you) ________ 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help.</a:t>
            </a:r>
            <a:endParaRPr lang="en-US" sz="1150" dirty="0"/>
          </a:p>
        </p:txBody>
      </p:sp>
      <p:sp>
        <p:nvSpPr>
          <p:cNvPr id="25" name="R4_lnA488"/>
          <p:cNvSpPr/>
          <p:nvPr/>
        </p:nvSpPr>
        <p:spPr>
          <a:xfrm>
            <a:off x="548640" y="3779520"/>
            <a:ext cx="5349240" cy="4648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in advance for </a:t>
            </a:r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your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help.</a:t>
            </a:r>
            <a:endParaRPr lang="en-US" sz="1150" dirty="0"/>
          </a:p>
        </p:txBody>
      </p:sp>
      <p:sp>
        <p:nvSpPr>
          <p:cNvPr id="26" name="ln_489"/>
          <p:cNvSpPr/>
          <p:nvPr/>
        </p:nvSpPr>
        <p:spPr>
          <a:xfrm>
            <a:off x="548640" y="4244340"/>
            <a:ext cx="534924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Naomi Cooper</a:t>
            </a:r>
            <a:endParaRPr lang="en-US" sz="1150" dirty="0"/>
          </a:p>
        </p:txBody>
      </p:sp>
      <p:sp>
        <p:nvSpPr>
          <p:cNvPr id="27" name="pf_490"/>
          <p:cNvSpPr/>
          <p:nvPr/>
        </p:nvSpPr>
        <p:spPr>
          <a:xfrm rot="120000">
            <a:off x="6309360" y="1417320"/>
            <a:ext cx="2560320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8" name="ph_491" descr="/home/claude/lls-course/v2/cache/2a2_scam_email_jpg_594x34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6355080" y="1463040"/>
            <a:ext cx="2468880" cy="1417320"/>
          </a:xfrm>
          <a:prstGeom prst="rect">
            <a:avLst/>
          </a:prstGeom>
        </p:spPr>
      </p:pic>
      <p:sp>
        <p:nvSpPr>
          <p:cNvPr id="29" name="cd_492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0" name="ii_493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1" name="ih_494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32" name="il_495"/>
          <p:cNvSpPr/>
          <p:nvPr/>
        </p:nvSpPr>
        <p:spPr>
          <a:xfrm>
            <a:off x="6830568" y="42702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the scam? She wants your bank details!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9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16</a:t>
            </a:r>
            <a:endParaRPr lang="en-US" sz="2200" dirty="0"/>
          </a:p>
        </p:txBody>
      </p:sp>
      <p:pic>
        <p:nvPicPr>
          <p:cNvPr id="4" name="brY_49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498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Three scam stories</a:t>
            </a:r>
            <a:endParaRPr lang="en-US" sz="2500" dirty="0"/>
          </a:p>
        </p:txBody>
      </p:sp>
      <p:pic>
        <p:nvPicPr>
          <p:cNvPr id="6" name="brP_49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032504" cy="402336"/>
          </a:xfrm>
          <a:prstGeom prst="rect">
            <a:avLst/>
          </a:prstGeom>
        </p:spPr>
      </p:pic>
      <p:sp>
        <p:nvSpPr>
          <p:cNvPr id="7" name="ins_500"/>
          <p:cNvSpPr/>
          <p:nvPr/>
        </p:nvSpPr>
        <p:spPr>
          <a:xfrm>
            <a:off x="1353312" y="731520"/>
            <a:ext cx="3776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Listen. How much did each person lose?</a:t>
            </a:r>
            <a:endParaRPr lang="en-US" sz="1250" dirty="0"/>
          </a:p>
        </p:txBody>
      </p:sp>
      <p:sp>
        <p:nvSpPr>
          <p:cNvPr id="8" name="insIT_501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Ascolta. Quanto ha perso ognuno?</a:t>
            </a:r>
            <a:endParaRPr lang="en-US" sz="950" dirty="0"/>
          </a:p>
        </p:txBody>
      </p:sp>
      <p:sp>
        <p:nvSpPr>
          <p:cNvPr id="9" name="cmd_502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0" name="meta_503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👤 alone</a:t>
            </a:r>
            <a:endParaRPr lang="en-US" sz="950" dirty="0"/>
          </a:p>
        </p:txBody>
      </p:sp>
      <p:sp>
        <p:nvSpPr>
          <p:cNvPr id="11" name="tag_504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Listening for gist</a:t>
            </a:r>
            <a:endParaRPr lang="en-US" sz="850" dirty="0"/>
          </a:p>
        </p:txBody>
      </p:sp>
      <p:pic>
        <p:nvPicPr>
          <p:cNvPr id="12" name="logo_50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50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2A-2 · Listening · Five-Minute Money · gist   ·   📖 SB p.19 · 6d · audio 2.12</a:t>
            </a:r>
            <a:endParaRPr lang="en-US" sz="800" dirty="0"/>
          </a:p>
        </p:txBody>
      </p:sp>
      <p:sp>
        <p:nvSpPr>
          <p:cNvPr id="14" name="ap_507"/>
          <p:cNvSpPr/>
          <p:nvPr/>
        </p:nvSpPr>
        <p:spPr>
          <a:xfrm>
            <a:off x="365760" y="1417320"/>
            <a:ext cx="26517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2.12  ·  play once</a:t>
            </a:r>
            <a:endParaRPr lang="en-US" sz="1100" dirty="0"/>
          </a:p>
        </p:txBody>
      </p:sp>
      <p:sp>
        <p:nvSpPr>
          <p:cNvPr id="15" name="ah_508"/>
          <p:cNvSpPr/>
          <p:nvPr/>
        </p:nvSpPr>
        <p:spPr>
          <a:xfrm>
            <a:off x="5925312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 · 🐢 slower</a:t>
            </a:r>
            <a:endParaRPr lang="en-US" sz="950" dirty="0"/>
          </a:p>
        </p:txBody>
      </p:sp>
      <p:pic>
        <p:nvPicPr>
          <p:cNvPr id="16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25512" y="4553712"/>
            <a:ext cx="411480" cy="411480"/>
          </a:xfrm>
          <a:prstGeom prst="rect">
            <a:avLst/>
          </a:prstGeom>
        </p:spPr>
      </p:pic>
      <p:pic>
        <p:nvPicPr>
          <p:cNvPr id="17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4553712"/>
            <a:ext cx="411480" cy="411480"/>
          </a:xfrm>
          <a:prstGeom prst="rect">
            <a:avLst/>
          </a:prstGeom>
        </p:spPr>
      </p:pic>
      <p:sp>
        <p:nvSpPr>
          <p:cNvPr id="18" name="ah2_509"/>
          <p:cNvSpPr/>
          <p:nvPr/>
        </p:nvSpPr>
        <p:spPr>
          <a:xfrm>
            <a:off x="3090672" y="141732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↘ speaker bottom right</a:t>
            </a:r>
            <a:endParaRPr lang="en-US" sz="900" dirty="0"/>
          </a:p>
        </p:txBody>
      </p:sp>
      <p:sp>
        <p:nvSpPr>
          <p:cNvPr id="19" name="pf_510"/>
          <p:cNvSpPr/>
          <p:nvPr/>
        </p:nvSpPr>
        <p:spPr>
          <a:xfrm rot="-90000">
            <a:off x="411480" y="2057400"/>
            <a:ext cx="1783080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511" descr="/home/claude/lls-course/v2/cache/2a2_friend_abroad_jpg_407x297_3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90000">
            <a:off x="457200" y="2103120"/>
            <a:ext cx="1691640" cy="1234440"/>
          </a:xfrm>
          <a:prstGeom prst="rect">
            <a:avLst/>
          </a:prstGeom>
        </p:spPr>
      </p:pic>
      <p:sp>
        <p:nvSpPr>
          <p:cNvPr id="21" name="bd_512"/>
          <p:cNvSpPr/>
          <p:nvPr/>
        </p:nvSpPr>
        <p:spPr>
          <a:xfrm>
            <a:off x="310896" y="1956816"/>
            <a:ext cx="420624" cy="42062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pf_513"/>
          <p:cNvSpPr/>
          <p:nvPr/>
        </p:nvSpPr>
        <p:spPr>
          <a:xfrm rot="90000">
            <a:off x="2286000" y="2057400"/>
            <a:ext cx="1783080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3" name="ph_514" descr="/home/claude/lls-course/v2/cache/2a2_lottery_letter_jpg_407x297_3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90000">
            <a:off x="2331720" y="2103120"/>
            <a:ext cx="1691640" cy="1234440"/>
          </a:xfrm>
          <a:prstGeom prst="rect">
            <a:avLst/>
          </a:prstGeom>
        </p:spPr>
      </p:pic>
      <p:sp>
        <p:nvSpPr>
          <p:cNvPr id="24" name="bd_515"/>
          <p:cNvSpPr/>
          <p:nvPr/>
        </p:nvSpPr>
        <p:spPr>
          <a:xfrm>
            <a:off x="2185416" y="1956816"/>
            <a:ext cx="420624" cy="42062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</a:t>
            </a:r>
            <a:endParaRPr lang="en-US" sz="1400" dirty="0"/>
          </a:p>
        </p:txBody>
      </p:sp>
      <p:sp>
        <p:nvSpPr>
          <p:cNvPr id="25" name="pf_516"/>
          <p:cNvSpPr/>
          <p:nvPr/>
        </p:nvSpPr>
        <p:spPr>
          <a:xfrm rot="-90000">
            <a:off x="4160520" y="2057400"/>
            <a:ext cx="1783080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6" name="ph_517" descr="/home/claude/lls-course/v2/cache/2a2_bank_call_jpg_407x297_3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90000">
            <a:off x="4206240" y="2103120"/>
            <a:ext cx="1691640" cy="1234440"/>
          </a:xfrm>
          <a:prstGeom prst="rect">
            <a:avLst/>
          </a:prstGeom>
        </p:spPr>
      </p:pic>
      <p:sp>
        <p:nvSpPr>
          <p:cNvPr id="27" name="bd_518"/>
          <p:cNvSpPr/>
          <p:nvPr/>
        </p:nvSpPr>
        <p:spPr>
          <a:xfrm>
            <a:off x="4059936" y="1956816"/>
            <a:ext cx="420624" cy="42062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</a:t>
            </a:r>
            <a:endParaRPr lang="en-US" sz="1400" dirty="0"/>
          </a:p>
        </p:txBody>
      </p:sp>
      <p:sp>
        <p:nvSpPr>
          <p:cNvPr id="28" name="cd_519"/>
          <p:cNvSpPr/>
          <p:nvPr/>
        </p:nvSpPr>
        <p:spPr>
          <a:xfrm>
            <a:off x="365760" y="3611880"/>
            <a:ext cx="5440680" cy="1097280"/>
          </a:xfrm>
          <a:prstGeom prst="roundRect">
            <a:avLst>
              <a:gd name="adj" fmla="val 11667"/>
            </a:avLst>
          </a:prstGeom>
          <a:solidFill>
            <a:srgbClr val="E3F1FD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ii_520"/>
          <p:cNvSpPr/>
          <p:nvPr/>
        </p:nvSpPr>
        <p:spPr>
          <a:xfrm>
            <a:off x="45720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🎧</a:t>
            </a:r>
            <a:endParaRPr lang="en-US" sz="2200" dirty="0"/>
          </a:p>
        </p:txBody>
      </p:sp>
      <p:sp>
        <p:nvSpPr>
          <p:cNvPr id="30" name="ih_521"/>
          <p:cNvSpPr/>
          <p:nvPr/>
        </p:nvSpPr>
        <p:spPr>
          <a:xfrm>
            <a:off x="932688" y="37033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While you listen</a:t>
            </a:r>
            <a:endParaRPr lang="en-US" sz="1300" dirty="0"/>
          </a:p>
        </p:txBody>
      </p:sp>
      <p:sp>
        <p:nvSpPr>
          <p:cNvPr id="31" name="il_522"/>
          <p:cNvSpPr/>
          <p:nvPr/>
        </p:nvSpPr>
        <p:spPr>
          <a:xfrm>
            <a:off x="932688" y="4087368"/>
            <a:ext cx="4782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 at A, B and C. Which scam cost the most? Guess!</a:t>
            </a:r>
            <a:endParaRPr lang="en-US" sz="700" dirty="0"/>
          </a:p>
          <a:p>
            <a:pPr marL="152400" indent="-152400">
              <a:spcAft>
                <a:spcPts val="200"/>
              </a:spcAft>
              <a:buSzPct val="100000"/>
              <a:buChar char="​"/>
            </a:pPr>
            <a:r>
              <a:rPr lang="en-US" sz="7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 A, B e C. Quale truffa è costata di più? Indovina!</a:t>
            </a:r>
            <a:endParaRPr lang="en-US" sz="7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Listen. How much did they lose? The best advice?</a:t>
            </a:r>
            <a:endParaRPr lang="en-US" sz="700" dirty="0"/>
          </a:p>
          <a:p>
            <a:pPr marL="152400" indent="-152400">
              <a:spcAft>
                <a:spcPts val="200"/>
              </a:spcAft>
              <a:buSzPct val="100000"/>
              <a:buChar char="​"/>
            </a:pPr>
            <a:r>
              <a:rPr lang="en-US" sz="7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Ascolta. Quanto hanno perso? Il consiglio migliore?</a:t>
            </a:r>
            <a:endParaRPr lang="en-US" sz="700" dirty="0"/>
          </a:p>
        </p:txBody>
      </p:sp>
      <p:sp>
        <p:nvSpPr>
          <p:cNvPr id="32" name="lq_523"/>
          <p:cNvSpPr/>
          <p:nvPr/>
        </p:nvSpPr>
        <p:spPr>
          <a:xfrm>
            <a:off x="6035040" y="2103120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· Heather</a:t>
            </a:r>
            <a:endParaRPr lang="en-US" sz="1100" dirty="0"/>
          </a:p>
        </p:txBody>
      </p:sp>
      <p:sp>
        <p:nvSpPr>
          <p:cNvPr id="33" name="R1_chip524"/>
          <p:cNvSpPr/>
          <p:nvPr/>
        </p:nvSpPr>
        <p:spPr>
          <a:xfrm>
            <a:off x="7315200" y="2103120"/>
            <a:ext cx="1554480" cy="566928"/>
          </a:xfrm>
          <a:prstGeom prst="roundRect">
            <a:avLst>
              <a:gd name="adj" fmla="val 16129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 £2,000</a:t>
            </a:r>
            <a:endParaRPr lang="en-US" sz="1050" dirty="0"/>
          </a:p>
        </p:txBody>
      </p:sp>
      <p:sp>
        <p:nvSpPr>
          <p:cNvPr id="34" name="lq_525"/>
          <p:cNvSpPr/>
          <p:nvPr/>
        </p:nvSpPr>
        <p:spPr>
          <a:xfrm>
            <a:off x="6035040" y="2761488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 · Carl</a:t>
            </a:r>
            <a:endParaRPr lang="en-US" sz="1100" dirty="0"/>
          </a:p>
        </p:txBody>
      </p:sp>
      <p:sp>
        <p:nvSpPr>
          <p:cNvPr id="35" name="R2_chip526"/>
          <p:cNvSpPr/>
          <p:nvPr/>
        </p:nvSpPr>
        <p:spPr>
          <a:xfrm>
            <a:off x="7315200" y="2761488"/>
            <a:ext cx="1554480" cy="566928"/>
          </a:xfrm>
          <a:prstGeom prst="roundRect">
            <a:avLst>
              <a:gd name="adj" fmla="val 16129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about £200</a:t>
            </a:r>
            <a:endParaRPr lang="en-US" sz="1050" dirty="0"/>
          </a:p>
        </p:txBody>
      </p:sp>
      <p:sp>
        <p:nvSpPr>
          <p:cNvPr id="36" name="lq_527"/>
          <p:cNvSpPr/>
          <p:nvPr/>
        </p:nvSpPr>
        <p:spPr>
          <a:xfrm>
            <a:off x="6035040" y="3419856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 · Paul</a:t>
            </a:r>
            <a:endParaRPr lang="en-US" sz="1100" dirty="0"/>
          </a:p>
        </p:txBody>
      </p:sp>
      <p:sp>
        <p:nvSpPr>
          <p:cNvPr id="37" name="R3_chip528"/>
          <p:cNvSpPr/>
          <p:nvPr/>
        </p:nvSpPr>
        <p:spPr>
          <a:xfrm>
            <a:off x="7315200" y="3419856"/>
            <a:ext cx="1554480" cy="566928"/>
          </a:xfrm>
          <a:prstGeom prst="roundRect">
            <a:avLst>
              <a:gd name="adj" fmla="val 16129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£20,000</a:t>
            </a:r>
            <a:endParaRPr lang="en-US" sz="1050" dirty="0"/>
          </a:p>
        </p:txBody>
      </p:sp>
      <p:sp>
        <p:nvSpPr>
          <p:cNvPr id="38" name="lq_529"/>
          <p:cNvSpPr/>
          <p:nvPr/>
        </p:nvSpPr>
        <p:spPr>
          <a:xfrm>
            <a:off x="6035040" y="4078224"/>
            <a:ext cx="1234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Best advice?</a:t>
            </a:r>
            <a:endParaRPr lang="en-US" sz="1100" dirty="0"/>
          </a:p>
        </p:txBody>
      </p:sp>
      <p:sp>
        <p:nvSpPr>
          <p:cNvPr id="39" name="R4_chip530"/>
          <p:cNvSpPr/>
          <p:nvPr/>
        </p:nvSpPr>
        <p:spPr>
          <a:xfrm>
            <a:off x="7315200" y="4078224"/>
            <a:ext cx="1554480" cy="566928"/>
          </a:xfrm>
          <a:prstGeom prst="roundRect">
            <a:avLst>
              <a:gd name="adj" fmla="val 16129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never give your bank or card details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audio>
              <p:cMediaNode vol="8000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audio>
              <p:cMediaNode vol="8000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3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17</a:t>
            </a:r>
            <a:endParaRPr lang="en-US" sz="2200" dirty="0"/>
          </a:p>
        </p:txBody>
      </p:sp>
      <p:pic>
        <p:nvPicPr>
          <p:cNvPr id="4" name="brY_53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191610" cy="621792"/>
          </a:xfrm>
          <a:prstGeom prst="rect">
            <a:avLst/>
          </a:prstGeom>
        </p:spPr>
      </p:pic>
      <p:sp>
        <p:nvSpPr>
          <p:cNvPr id="5" name="title_533"/>
          <p:cNvSpPr/>
          <p:nvPr/>
        </p:nvSpPr>
        <p:spPr>
          <a:xfrm>
            <a:off x="1261872" y="164592"/>
            <a:ext cx="39172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again: complete</a:t>
            </a:r>
            <a:endParaRPr lang="en-US" sz="2500" dirty="0"/>
          </a:p>
        </p:txBody>
      </p:sp>
      <p:pic>
        <p:nvPicPr>
          <p:cNvPr id="6" name="brP_53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771900" cy="402336"/>
          </a:xfrm>
          <a:prstGeom prst="rect">
            <a:avLst/>
          </a:prstGeom>
        </p:spPr>
      </p:pic>
      <p:sp>
        <p:nvSpPr>
          <p:cNvPr id="7" name="ins_535"/>
          <p:cNvSpPr/>
          <p:nvPr/>
        </p:nvSpPr>
        <p:spPr>
          <a:xfrm>
            <a:off x="1353312" y="731520"/>
            <a:ext cx="35158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Guess the words. Then listen again.</a:t>
            </a:r>
            <a:endParaRPr lang="en-US" sz="1250" dirty="0"/>
          </a:p>
        </p:txBody>
      </p:sp>
      <p:sp>
        <p:nvSpPr>
          <p:cNvPr id="8" name="insIT_536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Indovina le parole. Poi riascolta.</a:t>
            </a:r>
            <a:endParaRPr lang="en-US" sz="950" dirty="0"/>
          </a:p>
        </p:txBody>
      </p:sp>
      <p:sp>
        <p:nvSpPr>
          <p:cNvPr id="9" name="cmd_537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0" name="cmd_538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✏️ </a:t>
            </a:r>
            <a:pPr indent="0" marL="0">
              <a:buNone/>
            </a:pPr>
            <a:r>
              <a:rPr lang="en-US" sz="9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FILL THE GAPS</a:t>
            </a:r>
            <a:pPr indent="0" marL="0"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COMPLETA</a:t>
            </a:r>
            <a:endParaRPr lang="en-US" sz="800" dirty="0"/>
          </a:p>
        </p:txBody>
      </p:sp>
      <p:sp>
        <p:nvSpPr>
          <p:cNvPr id="11" name="meta_539"/>
          <p:cNvSpPr/>
          <p:nvPr/>
        </p:nvSpPr>
        <p:spPr>
          <a:xfrm>
            <a:off x="6583680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2" name="tag_540"/>
          <p:cNvSpPr/>
          <p:nvPr/>
        </p:nvSpPr>
        <p:spPr>
          <a:xfrm>
            <a:off x="6510528" y="1188720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Listening for detail</a:t>
            </a:r>
            <a:endParaRPr lang="en-US" sz="850" dirty="0"/>
          </a:p>
        </p:txBody>
      </p:sp>
      <p:pic>
        <p:nvPicPr>
          <p:cNvPr id="13" name="logo_54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54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2A-2 · Listening · detail   ·   📖 SB p.19 · 6e · audio 2.12</a:t>
            </a:r>
            <a:endParaRPr lang="en-US" sz="800" dirty="0"/>
          </a:p>
        </p:txBody>
      </p:sp>
      <p:sp>
        <p:nvSpPr>
          <p:cNvPr id="15" name="ap_543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2.12  ·  pause after each story</a:t>
            </a:r>
            <a:endParaRPr lang="en-US" sz="1100" dirty="0"/>
          </a:p>
        </p:txBody>
      </p:sp>
      <p:sp>
        <p:nvSpPr>
          <p:cNvPr id="16" name="ah_544"/>
          <p:cNvSpPr/>
          <p:nvPr/>
        </p:nvSpPr>
        <p:spPr>
          <a:xfrm>
            <a:off x="5925312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 · 🐢 slower</a:t>
            </a:r>
            <a:endParaRPr lang="en-US" sz="950" dirty="0"/>
          </a:p>
        </p:txBody>
      </p:sp>
      <p:pic>
        <p:nvPicPr>
          <p:cNvPr id="17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25512" y="4553712"/>
            <a:ext cx="411480" cy="411480"/>
          </a:xfrm>
          <a:prstGeom prst="rect">
            <a:avLst/>
          </a:prstGeom>
        </p:spPr>
      </p:pic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4553712"/>
            <a:ext cx="411480" cy="411480"/>
          </a:xfrm>
          <a:prstGeom prst="rect">
            <a:avLst/>
          </a:prstGeom>
        </p:spPr>
      </p:pic>
      <p:sp>
        <p:nvSpPr>
          <p:cNvPr id="19" name="pf_545"/>
          <p:cNvSpPr/>
          <p:nvPr/>
        </p:nvSpPr>
        <p:spPr>
          <a:xfrm rot="-90000">
            <a:off x="411480" y="2057400"/>
            <a:ext cx="2697480" cy="1783080"/>
          </a:xfrm>
          <a:prstGeom prst="roundRect">
            <a:avLst>
              <a:gd name="adj" fmla="val 8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546" descr="/home/claude/lls-course/v2/cache/2a2_lottery_letter_jpg_627x407_3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90000">
            <a:off x="457200" y="2103120"/>
            <a:ext cx="2606040" cy="1691640"/>
          </a:xfrm>
          <a:prstGeom prst="rect">
            <a:avLst/>
          </a:prstGeom>
        </p:spPr>
      </p:pic>
      <p:sp>
        <p:nvSpPr>
          <p:cNvPr id="21" name="cd_547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2" name="ii_548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3" name="ih_549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first, then listen!</a:t>
            </a:r>
            <a:endParaRPr lang="en-US" sz="1200" dirty="0"/>
          </a:p>
        </p:txBody>
      </p:sp>
      <p:sp>
        <p:nvSpPr>
          <p:cNvPr id="24" name="il_550"/>
          <p:cNvSpPr/>
          <p:nvPr/>
        </p:nvSpPr>
        <p:spPr>
          <a:xfrm>
            <a:off x="886968" y="449884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25" name="gq_551"/>
          <p:cNvSpPr/>
          <p:nvPr/>
        </p:nvSpPr>
        <p:spPr>
          <a:xfrm>
            <a:off x="3383280" y="141732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H: an ___ from a friend in Berlin</a:t>
            </a:r>
            <a:endParaRPr lang="en-US" sz="1200" dirty="0"/>
          </a:p>
        </p:txBody>
      </p:sp>
      <p:sp>
        <p:nvSpPr>
          <p:cNvPr id="26" name="R1_chip552"/>
          <p:cNvSpPr/>
          <p:nvPr/>
        </p:nvSpPr>
        <p:spPr>
          <a:xfrm>
            <a:off x="6812280" y="141732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email</a:t>
            </a:r>
            <a:endParaRPr lang="en-US" sz="1200" dirty="0"/>
          </a:p>
        </p:txBody>
      </p:sp>
      <p:sp>
        <p:nvSpPr>
          <p:cNvPr id="27" name="gq_553"/>
          <p:cNvSpPr/>
          <p:nvPr/>
        </p:nvSpPr>
        <p:spPr>
          <a:xfrm>
            <a:off x="3383280" y="182880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H: he'd lost his ___</a:t>
            </a:r>
            <a:endParaRPr lang="en-US" sz="1200" dirty="0"/>
          </a:p>
        </p:txBody>
      </p:sp>
      <p:sp>
        <p:nvSpPr>
          <p:cNvPr id="28" name="R2_chip554"/>
          <p:cNvSpPr/>
          <p:nvPr/>
        </p:nvSpPr>
        <p:spPr>
          <a:xfrm>
            <a:off x="6812280" y="182880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wallet</a:t>
            </a:r>
            <a:endParaRPr lang="en-US" sz="1200" dirty="0"/>
          </a:p>
        </p:txBody>
      </p:sp>
      <p:sp>
        <p:nvSpPr>
          <p:cNvPr id="29" name="gq_555"/>
          <p:cNvSpPr/>
          <p:nvPr/>
        </p:nvSpPr>
        <p:spPr>
          <a:xfrm>
            <a:off x="3383280" y="224028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H: send him her ___ details</a:t>
            </a:r>
            <a:endParaRPr lang="en-US" sz="1200" dirty="0"/>
          </a:p>
        </p:txBody>
      </p:sp>
      <p:sp>
        <p:nvSpPr>
          <p:cNvPr id="30" name="R3_chip556"/>
          <p:cNvSpPr/>
          <p:nvPr/>
        </p:nvSpPr>
        <p:spPr>
          <a:xfrm>
            <a:off x="6812280" y="224028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credit card</a:t>
            </a:r>
            <a:endParaRPr lang="en-US" sz="1200" dirty="0"/>
          </a:p>
        </p:txBody>
      </p:sp>
      <p:sp>
        <p:nvSpPr>
          <p:cNvPr id="31" name="gq_557"/>
          <p:cNvSpPr/>
          <p:nvPr/>
        </p:nvSpPr>
        <p:spPr>
          <a:xfrm>
            <a:off x="3383280" y="265176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C: he'd won a lot of ___ · He ___ it.</a:t>
            </a:r>
            <a:endParaRPr lang="en-US" sz="1200" dirty="0"/>
          </a:p>
        </p:txBody>
      </p:sp>
      <p:sp>
        <p:nvSpPr>
          <p:cNvPr id="32" name="R4_chip558"/>
          <p:cNvSpPr/>
          <p:nvPr/>
        </p:nvSpPr>
        <p:spPr>
          <a:xfrm>
            <a:off x="6812280" y="265176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money · 5 believed</a:t>
            </a:r>
            <a:endParaRPr lang="en-US" sz="1200" dirty="0"/>
          </a:p>
        </p:txBody>
      </p:sp>
      <p:sp>
        <p:nvSpPr>
          <p:cNvPr id="33" name="gq_559"/>
          <p:cNvSpPr/>
          <p:nvPr/>
        </p:nvSpPr>
        <p:spPr>
          <a:xfrm>
            <a:off x="3383280" y="306324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C: send his ___ details</a:t>
            </a:r>
            <a:endParaRPr lang="en-US" sz="1200" dirty="0"/>
          </a:p>
        </p:txBody>
      </p:sp>
      <p:sp>
        <p:nvSpPr>
          <p:cNvPr id="34" name="R5_chip560"/>
          <p:cNvSpPr/>
          <p:nvPr/>
        </p:nvSpPr>
        <p:spPr>
          <a:xfrm>
            <a:off x="6812280" y="306324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bank account</a:t>
            </a:r>
            <a:endParaRPr lang="en-US" sz="1200" dirty="0"/>
          </a:p>
        </p:txBody>
      </p:sp>
      <p:sp>
        <p:nvSpPr>
          <p:cNvPr id="35" name="gq_561"/>
          <p:cNvSpPr/>
          <p:nvPr/>
        </p:nvSpPr>
        <p:spPr>
          <a:xfrm>
            <a:off x="3383280" y="347472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P: a ___ from 'his ___'</a:t>
            </a:r>
            <a:endParaRPr lang="en-US" sz="1200" dirty="0"/>
          </a:p>
        </p:txBody>
      </p:sp>
      <p:sp>
        <p:nvSpPr>
          <p:cNvPr id="36" name="R6_chip562"/>
          <p:cNvSpPr/>
          <p:nvPr/>
        </p:nvSpPr>
        <p:spPr>
          <a:xfrm>
            <a:off x="6812280" y="347472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 phone call · 8 bank</a:t>
            </a:r>
            <a:endParaRPr lang="en-US" sz="1200" dirty="0"/>
          </a:p>
        </p:txBody>
      </p:sp>
      <p:sp>
        <p:nvSpPr>
          <p:cNvPr id="37" name="gq_563"/>
          <p:cNvSpPr/>
          <p:nvPr/>
        </p:nvSpPr>
        <p:spPr>
          <a:xfrm>
            <a:off x="3383280" y="388620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P: a problem with his ___</a:t>
            </a:r>
            <a:endParaRPr lang="en-US" sz="1200" dirty="0"/>
          </a:p>
        </p:txBody>
      </p:sp>
      <p:sp>
        <p:nvSpPr>
          <p:cNvPr id="38" name="R7_chip564"/>
          <p:cNvSpPr/>
          <p:nvPr/>
        </p:nvSpPr>
        <p:spPr>
          <a:xfrm>
            <a:off x="6812280" y="388620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 account</a:t>
            </a:r>
            <a:endParaRPr lang="en-US" sz="1200" dirty="0"/>
          </a:p>
        </p:txBody>
      </p:sp>
      <p:sp>
        <p:nvSpPr>
          <p:cNvPr id="39" name="gq_565"/>
          <p:cNvSpPr/>
          <p:nvPr/>
        </p:nvSpPr>
        <p:spPr>
          <a:xfrm>
            <a:off x="3383280" y="4297680"/>
            <a:ext cx="33375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P: move his money into a ___</a:t>
            </a:r>
            <a:endParaRPr lang="en-US" sz="1200" dirty="0"/>
          </a:p>
        </p:txBody>
      </p:sp>
      <p:sp>
        <p:nvSpPr>
          <p:cNvPr id="40" name="R8_chip566"/>
          <p:cNvSpPr/>
          <p:nvPr/>
        </p:nvSpPr>
        <p:spPr>
          <a:xfrm>
            <a:off x="6812280" y="429768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F6CC"/>
          </a:solidFill>
          <a:ln w="19050">
            <a:solidFill>
              <a:srgbClr val="F2B70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new account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7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audio>
              <p:cMediaNode vol="8000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6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18</a:t>
            </a:r>
            <a:endParaRPr lang="en-US" sz="2200" dirty="0"/>
          </a:p>
        </p:txBody>
      </p:sp>
      <p:pic>
        <p:nvPicPr>
          <p:cNvPr id="4" name="brY_56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776118" cy="621792"/>
          </a:xfrm>
          <a:prstGeom prst="rect">
            <a:avLst/>
          </a:prstGeom>
        </p:spPr>
      </p:pic>
      <p:sp>
        <p:nvSpPr>
          <p:cNvPr id="5" name="title_569"/>
          <p:cNvSpPr/>
          <p:nvPr/>
        </p:nvSpPr>
        <p:spPr>
          <a:xfrm>
            <a:off x="1261872" y="164592"/>
            <a:ext cx="25017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Scam or real?</a:t>
            </a:r>
            <a:endParaRPr lang="en-US" sz="2500" dirty="0"/>
          </a:p>
        </p:txBody>
      </p:sp>
      <p:pic>
        <p:nvPicPr>
          <p:cNvPr id="6" name="brP_57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771900" cy="402336"/>
          </a:xfrm>
          <a:prstGeom prst="rect">
            <a:avLst/>
          </a:prstGeom>
        </p:spPr>
      </p:pic>
      <p:sp>
        <p:nvSpPr>
          <p:cNvPr id="7" name="ins_571"/>
          <p:cNvSpPr/>
          <p:nvPr/>
        </p:nvSpPr>
        <p:spPr>
          <a:xfrm>
            <a:off x="1353312" y="731520"/>
            <a:ext cx="35158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Scam or real? Decide – and say why!</a:t>
            </a:r>
            <a:endParaRPr lang="en-US" sz="1250" dirty="0"/>
          </a:p>
        </p:txBody>
      </p:sp>
      <p:sp>
        <p:nvSpPr>
          <p:cNvPr id="8" name="insIT_572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Truffa o vero? Decidete – e dite perché!</a:t>
            </a:r>
            <a:endParaRPr lang="en-US" sz="950" dirty="0"/>
          </a:p>
        </p:txBody>
      </p:sp>
      <p:sp>
        <p:nvSpPr>
          <p:cNvPr id="9" name="cmd_57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0" name="meta_574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950" dirty="0"/>
          </a:p>
        </p:txBody>
      </p:sp>
      <p:sp>
        <p:nvSpPr>
          <p:cNvPr id="11" name="tag_575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</a:t>
            </a:r>
            <a:endParaRPr lang="en-US" sz="850" dirty="0"/>
          </a:p>
        </p:txBody>
      </p:sp>
      <p:pic>
        <p:nvPicPr>
          <p:cNvPr id="12" name="logo_57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57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2A-2 · Speaking · scam or real?   ·   📖 SB p.19 · 6f + follow-up</a:t>
            </a:r>
            <a:endParaRPr lang="en-US" sz="800" dirty="0"/>
          </a:p>
        </p:txBody>
      </p:sp>
      <p:sp>
        <p:nvSpPr>
          <p:cNvPr id="14" name="pf_578"/>
          <p:cNvSpPr/>
          <p:nvPr/>
        </p:nvSpPr>
        <p:spPr>
          <a:xfrm rot="-120000">
            <a:off x="320040" y="1371600"/>
            <a:ext cx="2788920" cy="1874520"/>
          </a:xfrm>
          <a:prstGeom prst="roundRect">
            <a:avLst>
              <a:gd name="adj" fmla="val 82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579" descr="/home/claude/lls-course/v2/cache/2a2_parcel_text_jpg_649x42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65760" y="1417320"/>
            <a:ext cx="2697480" cy="1783080"/>
          </a:xfrm>
          <a:prstGeom prst="rect">
            <a:avLst/>
          </a:prstGeom>
        </p:spPr>
      </p:pic>
      <p:sp>
        <p:nvSpPr>
          <p:cNvPr id="16" name="cd_580"/>
          <p:cNvSpPr/>
          <p:nvPr/>
        </p:nvSpPr>
        <p:spPr>
          <a:xfrm>
            <a:off x="320040" y="3429000"/>
            <a:ext cx="2788920" cy="1325880"/>
          </a:xfrm>
          <a:prstGeom prst="roundRect">
            <a:avLst>
              <a:gd name="adj" fmla="val 9655"/>
            </a:avLst>
          </a:prstGeom>
          <a:solidFill>
            <a:srgbClr val="EEE8FB"/>
          </a:solidFill>
          <a:ln w="19050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581"/>
          <p:cNvSpPr/>
          <p:nvPr/>
        </p:nvSpPr>
        <p:spPr>
          <a:xfrm>
            <a:off x="41148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8" name="ih_582"/>
          <p:cNvSpPr/>
          <p:nvPr/>
        </p:nvSpPr>
        <p:spPr>
          <a:xfrm>
            <a:off x="886968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9" name="il_583"/>
          <p:cNvSpPr/>
          <p:nvPr/>
        </p:nvSpPr>
        <p:spPr>
          <a:xfrm>
            <a:off x="886968" y="3904488"/>
            <a:ext cx="213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must be a scam because…</a:t>
            </a:r>
            <a:endParaRPr lang="en-US" sz="10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I'd hang up / delete it.</a:t>
            </a:r>
            <a:endParaRPr lang="en-US" sz="10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I'd never click on the link.</a:t>
            </a:r>
            <a:endParaRPr lang="en-US" sz="1050" dirty="0"/>
          </a:p>
        </p:txBody>
      </p:sp>
      <p:sp>
        <p:nvSpPr>
          <p:cNvPr id="20" name="R1_qb584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R1_sq585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text: "Your parcel is waiting. Pay €1.99 here." + a link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Scam! I'd never click on the link.</a:t>
            </a:r>
            <a:endParaRPr lang="en-US" sz="1250" dirty="0"/>
          </a:p>
        </p:txBody>
      </p:sp>
      <p:sp>
        <p:nvSpPr>
          <p:cNvPr id="22" name="R2_qb586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R2_sq587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'bank' phones: "Move all your money to a new account now!"</a:t>
            </a:r>
            <a:endParaRPr lang="en-US" sz="10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Scam – like Paul! I'd hang up and phone my bank.</a:t>
            </a:r>
            <a:endParaRPr lang="en-US" sz="1050" dirty="0"/>
          </a:p>
        </p:txBody>
      </p:sp>
      <p:sp>
        <p:nvSpPr>
          <p:cNvPr id="24" name="R3_qb588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R3_sq589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email: "You've won the lottery in Spain! Send your bank details."</a:t>
            </a:r>
            <a:endParaRPr lang="en-US" sz="10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Scam – like Carl. I've never bought a Spanish ticket!</a:t>
            </a:r>
            <a:endParaRPr lang="en-US" sz="1050" dirty="0"/>
          </a:p>
        </p:txBody>
      </p:sp>
      <p:sp>
        <p:nvSpPr>
          <p:cNvPr id="26" name="R4_qb590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R4_sq591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friend: "I've lost my wallet abroad. Send me your card number!"</a:t>
            </a:r>
            <a:endParaRPr lang="en-US" sz="10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Scam – like Heather. I'd phone my friend first.</a:t>
            </a:r>
            <a:endParaRPr lang="en-US" sz="1050" dirty="0"/>
          </a:p>
        </p:txBody>
      </p:sp>
      <p:sp>
        <p:nvSpPr>
          <p:cNvPr id="28" name="R5_qb592"/>
          <p:cNvSpPr/>
          <p:nvPr/>
        </p:nvSpPr>
        <p:spPr>
          <a:xfrm>
            <a:off x="3273552" y="3867912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R5_sq593"/>
          <p:cNvSpPr/>
          <p:nvPr/>
        </p:nvSpPr>
        <p:spPr>
          <a:xfrm>
            <a:off x="3675888" y="3831336"/>
            <a:ext cx="45079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you, or has anybody you know, ever been the victim of a scam?</a:t>
            </a:r>
            <a:endParaRPr lang="en-US" sz="950" dirty="0"/>
          </a:p>
          <a:p>
            <a:pPr indent="0" marL="0">
              <a:buNone/>
            </a:pPr>
            <a:r>
              <a:rPr lang="en-US" sz="7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Yes, my uncle has. He got a strange text last year and he clicked on the link…</a:t>
            </a:r>
            <a:endParaRPr lang="en-US" sz="950" dirty="0"/>
          </a:p>
        </p:txBody>
      </p:sp>
      <p:pic>
        <p:nvPicPr>
          <p:cNvPr id="30" name="R5_th594" descr="/home/claude/lls-course/v2/cache/spare_future_technology_jpg_154x119_1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032" y="3849624"/>
            <a:ext cx="640080" cy="493776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9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19</a:t>
            </a:r>
            <a:endParaRPr lang="en-US" sz="2200" dirty="0"/>
          </a:p>
        </p:txBody>
      </p:sp>
      <p:pic>
        <p:nvPicPr>
          <p:cNvPr id="4" name="brY_59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597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59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599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600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cmd_601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💡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1100" dirty="0"/>
          </a:p>
        </p:txBody>
      </p:sp>
      <p:sp>
        <p:nvSpPr>
          <p:cNvPr id="10" name="meta_602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950" dirty="0"/>
          </a:p>
        </p:txBody>
      </p:sp>
      <p:sp>
        <p:nvSpPr>
          <p:cNvPr id="11" name="tag_603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Revision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Reflection</a:t>
            </a:r>
            <a:endParaRPr lang="en-US" sz="850" dirty="0"/>
          </a:p>
        </p:txBody>
      </p:sp>
      <p:pic>
        <p:nvPicPr>
          <p:cNvPr id="12" name="logo_60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60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2A-2 · Review · what did you do today?</a:t>
            </a:r>
            <a:endParaRPr lang="en-US" sz="800" dirty="0"/>
          </a:p>
        </p:txBody>
      </p:sp>
      <p:sp>
        <p:nvSpPr>
          <p:cNvPr id="14" name="cd_606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te_607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6" name="tt_608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Asked and answered about money experiences</a:t>
            </a:r>
            <a:endParaRPr lang="en-US" sz="1350" dirty="0"/>
          </a:p>
        </p:txBody>
      </p:sp>
      <p:sp>
        <p:nvSpPr>
          <p:cNvPr id="17" name="R1_tk609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8" name="cd_610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te_611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20" name="tt_612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Chose: present perfect or past simple?</a:t>
            </a:r>
            <a:endParaRPr lang="en-US" sz="1350" dirty="0"/>
          </a:p>
        </p:txBody>
      </p:sp>
      <p:sp>
        <p:nvSpPr>
          <p:cNvPr id="21" name="R2_tk613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2" name="cd_614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3" name="te_615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👀</a:t>
            </a:r>
            <a:endParaRPr lang="en-US" sz="1800" dirty="0"/>
          </a:p>
        </p:txBody>
      </p:sp>
      <p:sp>
        <p:nvSpPr>
          <p:cNvPr id="24" name="tt_616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Found the mistakes in a scam email</a:t>
            </a:r>
            <a:endParaRPr lang="en-US" sz="1350" dirty="0"/>
          </a:p>
        </p:txBody>
      </p:sp>
      <p:sp>
        <p:nvSpPr>
          <p:cNvPr id="25" name="R3_tk617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6" name="cd_618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7" name="te_619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28" name="tt_620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Listened to a class story and answered questions</a:t>
            </a:r>
            <a:endParaRPr lang="en-US" sz="1350" dirty="0"/>
          </a:p>
        </p:txBody>
      </p:sp>
      <p:sp>
        <p:nvSpPr>
          <p:cNvPr id="29" name="R4_tk621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0" name="cd_622"/>
          <p:cNvSpPr/>
          <p:nvPr/>
        </p:nvSpPr>
        <p:spPr>
          <a:xfrm>
            <a:off x="548640" y="3831336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te_623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🎧</a:t>
            </a:r>
            <a:endParaRPr lang="en-US" sz="1800" dirty="0"/>
          </a:p>
        </p:txBody>
      </p:sp>
      <p:sp>
        <p:nvSpPr>
          <p:cNvPr id="32" name="tt_624"/>
          <p:cNvSpPr/>
          <p:nvPr/>
        </p:nvSpPr>
        <p:spPr>
          <a:xfrm>
            <a:off x="1188720" y="38313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Listened to three true scam stories</a:t>
            </a:r>
            <a:endParaRPr lang="en-US" sz="1350" dirty="0"/>
          </a:p>
        </p:txBody>
      </p:sp>
      <p:sp>
        <p:nvSpPr>
          <p:cNvPr id="33" name="R5_tk625"/>
          <p:cNvSpPr/>
          <p:nvPr/>
        </p:nvSpPr>
        <p:spPr>
          <a:xfrm>
            <a:off x="5989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4" name="st_626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62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20</a:t>
            </a:r>
            <a:endParaRPr lang="en-US" sz="2200" dirty="0"/>
          </a:p>
        </p:txBody>
      </p:sp>
      <p:pic>
        <p:nvPicPr>
          <p:cNvPr id="4" name="brY_62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629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63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631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What can you remember?</a:t>
            </a:r>
            <a:endParaRPr lang="en-US" sz="1250" dirty="0"/>
          </a:p>
        </p:txBody>
      </p:sp>
      <p:sp>
        <p:nvSpPr>
          <p:cNvPr id="8" name="insIT_632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Libri chiusi! Cosa ricordi?</a:t>
            </a:r>
            <a:endParaRPr lang="en-US" sz="950" dirty="0"/>
          </a:p>
        </p:txBody>
      </p:sp>
      <p:sp>
        <p:nvSpPr>
          <p:cNvPr id="9" name="meta_633"/>
          <p:cNvSpPr/>
          <p:nvPr/>
        </p:nvSpPr>
        <p:spPr>
          <a:xfrm>
            <a:off x="6583680" y="182880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950" dirty="0"/>
          </a:p>
        </p:txBody>
      </p:sp>
      <p:sp>
        <p:nvSpPr>
          <p:cNvPr id="10" name="tag_634"/>
          <p:cNvSpPr/>
          <p:nvPr/>
        </p:nvSpPr>
        <p:spPr>
          <a:xfrm>
            <a:off x="6510528" y="420624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Revision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Retrieval</a:t>
            </a:r>
            <a:endParaRPr lang="en-US" sz="850" dirty="0"/>
          </a:p>
        </p:txBody>
      </p:sp>
      <p:pic>
        <p:nvPicPr>
          <p:cNvPr id="11" name="logo_63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2" name="foot_63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2A-2 · Exit · what can you remember?</a:t>
            </a:r>
            <a:endParaRPr lang="en-US" sz="800" dirty="0"/>
          </a:p>
        </p:txBody>
      </p:sp>
      <p:sp>
        <p:nvSpPr>
          <p:cNvPr id="13" name="bd_637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rt_638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Have you ever…? questions with money verbs</a:t>
            </a:r>
            <a:endParaRPr lang="en-US" sz="1400" dirty="0"/>
          </a:p>
        </p:txBody>
      </p:sp>
      <p:sp>
        <p:nvSpPr>
          <p:cNvPr id="15" name="bd_639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rt_640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sentences: one with just, one with yesterday</a:t>
            </a:r>
            <a:endParaRPr lang="en-US" sz="1400" dirty="0"/>
          </a:p>
        </p:txBody>
      </p:sp>
      <p:sp>
        <p:nvSpPr>
          <p:cNvPr id="17" name="bd_641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8" name="rt_642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golden rule to avoid a scam</a:t>
            </a:r>
            <a:endParaRPr lang="en-US" sz="1400" dirty="0"/>
          </a:p>
        </p:txBody>
      </p:sp>
      <p:sp>
        <p:nvSpPr>
          <p:cNvPr id="19" name="cd_643"/>
          <p:cNvSpPr/>
          <p:nvPr/>
        </p:nvSpPr>
        <p:spPr>
          <a:xfrm>
            <a:off x="5669280" y="1417320"/>
            <a:ext cx="3200400" cy="2286000"/>
          </a:xfrm>
          <a:prstGeom prst="roundRect">
            <a:avLst>
              <a:gd name="adj" fmla="val 5600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644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1" name="ih_645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2" name="il_646"/>
          <p:cNvSpPr/>
          <p:nvPr/>
        </p:nvSpPr>
        <p:spPr>
          <a:xfrm>
            <a:off x="6236208" y="1892808"/>
            <a:ext cx="2542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Workbook 2A: 3a–3d</a:t>
            </a:r>
            <a:endParaRPr lang="en-US" sz="11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Grammar Bank 2A: a 5–8, b 6–10</a:t>
            </a:r>
            <a:endParaRPr lang="en-US" sz="11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Homework sheet 2A-2 in the LLS app</a:t>
            </a:r>
            <a:endParaRPr lang="en-US" sz="1150" dirty="0"/>
          </a:p>
        </p:txBody>
      </p:sp>
      <p:sp>
        <p:nvSpPr>
          <p:cNvPr id="23" name="st_647"/>
          <p:cNvSpPr/>
          <p:nvPr/>
        </p:nvSpPr>
        <p:spPr>
          <a:xfrm rot="-180000">
            <a:off x="5806440" y="3931920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2B part 1 · Changing lives · How long have you been…?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64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21</a:t>
            </a:r>
            <a:endParaRPr lang="en-US" sz="2200" dirty="0"/>
          </a:p>
        </p:txBody>
      </p:sp>
      <p:pic>
        <p:nvPicPr>
          <p:cNvPr id="4" name="brY_64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650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Been there, did that</a:t>
            </a:r>
            <a:endParaRPr lang="en-US" sz="2500" dirty="0"/>
          </a:p>
        </p:txBody>
      </p:sp>
      <p:pic>
        <p:nvPicPr>
          <p:cNvPr id="6" name="brP_65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652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Check the photocopiable answers.</a:t>
            </a:r>
            <a:endParaRPr lang="en-US" sz="1250" dirty="0"/>
          </a:p>
        </p:txBody>
      </p:sp>
      <p:sp>
        <p:nvSpPr>
          <p:cNvPr id="8" name="insIT_653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Controlla le risposte della fotocopia.</a:t>
            </a:r>
            <a:endParaRPr lang="en-US" sz="950" dirty="0"/>
          </a:p>
        </p:txBody>
      </p:sp>
      <p:sp>
        <p:nvSpPr>
          <p:cNvPr id="9" name="cmd_654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CHECK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CONTROLLA</a:t>
            </a:r>
            <a:endParaRPr lang="en-US" sz="1100" dirty="0"/>
          </a:p>
        </p:txBody>
      </p:sp>
      <p:sp>
        <p:nvSpPr>
          <p:cNvPr id="10" name="meta_655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8 min   👤 alone</a:t>
            </a:r>
            <a:endParaRPr lang="en-US" sz="950" dirty="0"/>
          </a:p>
        </p:txBody>
      </p:sp>
      <p:sp>
        <p:nvSpPr>
          <p:cNvPr id="11" name="tag_656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Controlled practice</a:t>
            </a:r>
            <a:endParaRPr lang="en-US" sz="850" dirty="0"/>
          </a:p>
        </p:txBody>
      </p:sp>
      <p:pic>
        <p:nvPicPr>
          <p:cNvPr id="12" name="logo_65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65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2A-2 · Extra · Grammar PCM   ·   📖 📄 B1_2A_Photocopiables.pdf p.1 (TG p.151)</a:t>
            </a:r>
            <a:endParaRPr lang="en-US" sz="800" dirty="0"/>
          </a:p>
        </p:txBody>
      </p:sp>
      <p:sp>
        <p:nvSpPr>
          <p:cNvPr id="14" name="st_659"/>
          <p:cNvSpPr/>
          <p:nvPr/>
        </p:nvSpPr>
        <p:spPr>
          <a:xfrm rot="-180000">
            <a:off x="7315200" y="4773168"/>
            <a:ext cx="1600200" cy="292608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EXTRA · if there's time</a:t>
            </a:r>
            <a:endParaRPr lang="en-US" sz="900" dirty="0"/>
          </a:p>
        </p:txBody>
      </p:sp>
      <p:sp>
        <p:nvSpPr>
          <p:cNvPr id="15" name="cd_660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661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7" name="ih_662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8" name="il_663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 a 1 = been · b1 1 = have you been (examples on the sheet)</a:t>
            </a:r>
            <a:endParaRPr lang="en-US" sz="1050" dirty="0"/>
          </a:p>
        </p:txBody>
      </p:sp>
      <p:sp>
        <p:nvSpPr>
          <p:cNvPr id="19" name="pf_664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665" descr="/home/claude/lls-course/v2/cache/2a2_holiday_album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1" name="bd_666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q_667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 Mike &amp; Gina 2–4</a:t>
            </a:r>
            <a:endParaRPr lang="en-US" sz="1150" dirty="0"/>
          </a:p>
        </p:txBody>
      </p:sp>
      <p:sp>
        <p:nvSpPr>
          <p:cNvPr id="23" name="R1_chip668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I've been · did you go · finished</a:t>
            </a:r>
            <a:endParaRPr lang="en-US" sz="1000" dirty="0"/>
          </a:p>
        </p:txBody>
      </p:sp>
      <p:sp>
        <p:nvSpPr>
          <p:cNvPr id="24" name="bd_669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q_670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 Mike &amp; Gina 5–7</a:t>
            </a:r>
            <a:endParaRPr lang="en-US" sz="1150" dirty="0"/>
          </a:p>
        </p:txBody>
      </p:sp>
      <p:sp>
        <p:nvSpPr>
          <p:cNvPr id="26" name="R2_chip671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I've been · did you go · went</a:t>
            </a:r>
            <a:endParaRPr lang="en-US" sz="1000" dirty="0"/>
          </a:p>
        </p:txBody>
      </p:sp>
      <p:sp>
        <p:nvSpPr>
          <p:cNvPr id="27" name="bd_672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q_673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b1  Paul &amp; James 2–5</a:t>
            </a:r>
            <a:endParaRPr lang="en-US" sz="1150" dirty="0"/>
          </a:p>
        </p:txBody>
      </p:sp>
      <p:sp>
        <p:nvSpPr>
          <p:cNvPr id="29" name="R3_chip674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had · did you meet · was · went</a:t>
            </a:r>
            <a:endParaRPr lang="en-US" sz="1000" dirty="0"/>
          </a:p>
        </p:txBody>
      </p:sp>
      <p:sp>
        <p:nvSpPr>
          <p:cNvPr id="30" name="bd_675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q_676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b1  Paul &amp; James 6–9</a:t>
            </a:r>
            <a:endParaRPr lang="en-US" sz="1150" dirty="0"/>
          </a:p>
        </p:txBody>
      </p:sp>
      <p:sp>
        <p:nvSpPr>
          <p:cNvPr id="32" name="R4_chip677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've known · got · were you · 've just met</a:t>
            </a:r>
            <a:endParaRPr lang="en-US" sz="1000" dirty="0"/>
          </a:p>
        </p:txBody>
      </p:sp>
      <p:sp>
        <p:nvSpPr>
          <p:cNvPr id="33" name="bd_678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q_679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b2  Sophia &amp; Jacob 1–4</a:t>
            </a:r>
            <a:endParaRPr lang="en-US" sz="1150" dirty="0"/>
          </a:p>
        </p:txBody>
      </p:sp>
      <p:sp>
        <p:nvSpPr>
          <p:cNvPr id="35" name="R5_chip680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did you go · didn't leave · came · Have you finished</a:t>
            </a:r>
            <a:endParaRPr lang="en-US" sz="1000" dirty="0"/>
          </a:p>
        </p:txBody>
      </p:sp>
      <p:sp>
        <p:nvSpPr>
          <p:cNvPr id="36" name="bd_681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q_682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b2  Sophia &amp; Jacob 5–7</a:t>
            </a:r>
            <a:endParaRPr lang="en-US" sz="1150" dirty="0"/>
          </a:p>
        </p:txBody>
      </p:sp>
      <p:sp>
        <p:nvSpPr>
          <p:cNvPr id="38" name="R6_chip683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sent · 've just made · 've already had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68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22</a:t>
            </a:r>
            <a:endParaRPr lang="en-US" sz="2200" dirty="0"/>
          </a:p>
        </p:txBody>
      </p:sp>
      <p:pic>
        <p:nvPicPr>
          <p:cNvPr id="4" name="brY_68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686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Saver or spender?</a:t>
            </a:r>
            <a:endParaRPr lang="en-US" sz="2500" dirty="0"/>
          </a:p>
        </p:txBody>
      </p:sp>
      <p:pic>
        <p:nvPicPr>
          <p:cNvPr id="6" name="brP_68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98164" cy="402336"/>
          </a:xfrm>
          <a:prstGeom prst="rect">
            <a:avLst/>
          </a:prstGeom>
        </p:spPr>
      </p:pic>
      <p:sp>
        <p:nvSpPr>
          <p:cNvPr id="7" name="ins_688"/>
          <p:cNvSpPr/>
          <p:nvPr/>
        </p:nvSpPr>
        <p:spPr>
          <a:xfrm>
            <a:off x="1353312" y="731520"/>
            <a:ext cx="3342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and answer. Saver or spender?</a:t>
            </a:r>
            <a:endParaRPr lang="en-US" sz="1250" dirty="0"/>
          </a:p>
        </p:txBody>
      </p:sp>
      <p:sp>
        <p:nvSpPr>
          <p:cNvPr id="8" name="insIT_689"/>
          <p:cNvSpPr/>
          <p:nvPr/>
        </p:nvSpPr>
        <p:spPr>
          <a:xfrm>
            <a:off x="1371600" y="1115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Chiedi e rispondi. Risparmiatore o spendaccione?</a:t>
            </a:r>
            <a:endParaRPr lang="en-US" sz="950" dirty="0"/>
          </a:p>
        </p:txBody>
      </p:sp>
      <p:sp>
        <p:nvSpPr>
          <p:cNvPr id="9" name="cmd_690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0" name="meta_691"/>
          <p:cNvSpPr/>
          <p:nvPr/>
        </p:nvSpPr>
        <p:spPr>
          <a:xfrm>
            <a:off x="6583680" y="566928"/>
            <a:ext cx="2286000" cy="256032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8 min   👥 pairs</a:t>
            </a:r>
            <a:endParaRPr lang="en-US" sz="950" dirty="0"/>
          </a:p>
        </p:txBody>
      </p:sp>
      <p:sp>
        <p:nvSpPr>
          <p:cNvPr id="11" name="tag_692"/>
          <p:cNvSpPr/>
          <p:nvPr/>
        </p:nvSpPr>
        <p:spPr>
          <a:xfrm>
            <a:off x="6510528" y="804672"/>
            <a:ext cx="2514600" cy="237744"/>
          </a:xfrm>
          <a:prstGeom prst="rect">
            <a:avLst/>
          </a:prstGeom>
          <a:noFill/>
          <a:ln/>
        </p:spPr>
        <p:txBody>
          <a:bodyPr wrap="square" lIns="101600" tIns="0" rIns="508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Speaking</a:t>
            </a:r>
            <a:pPr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Communicative</a:t>
            </a:r>
            <a:endParaRPr lang="en-US" sz="850" dirty="0"/>
          </a:p>
        </p:txBody>
      </p:sp>
      <p:pic>
        <p:nvPicPr>
          <p:cNvPr id="12" name="logo_69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69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2A-2 · Extra · Communicative PCM   ·   📖 📄 B1_2A_Photocopiables.pdf p.2 (TG p.180)</a:t>
            </a:r>
            <a:endParaRPr lang="en-US" sz="800" dirty="0"/>
          </a:p>
        </p:txBody>
      </p:sp>
      <p:sp>
        <p:nvSpPr>
          <p:cNvPr id="14" name="st_695"/>
          <p:cNvSpPr/>
          <p:nvPr/>
        </p:nvSpPr>
        <p:spPr>
          <a:xfrm rot="-180000">
            <a:off x="7315200" y="4773168"/>
            <a:ext cx="1600200" cy="292608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EXTRA · if there's time</a:t>
            </a:r>
            <a:endParaRPr lang="en-US" sz="900" dirty="0"/>
          </a:p>
        </p:txBody>
      </p:sp>
      <p:sp>
        <p:nvSpPr>
          <p:cNvPr id="15" name="pf_696"/>
          <p:cNvSpPr/>
          <p:nvPr/>
        </p:nvSpPr>
        <p:spPr>
          <a:xfrm rot="-120000">
            <a:off x="320040" y="1371600"/>
            <a:ext cx="2788920" cy="1874520"/>
          </a:xfrm>
          <a:prstGeom prst="roundRect">
            <a:avLst>
              <a:gd name="adj" fmla="val 82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6" name="ph_697" descr="/home/claude/lls-course/v2/cache/2a2_saver_spender_jpg_649x42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65760" y="1417320"/>
            <a:ext cx="2697480" cy="1783080"/>
          </a:xfrm>
          <a:prstGeom prst="rect">
            <a:avLst/>
          </a:prstGeom>
        </p:spPr>
      </p:pic>
      <p:sp>
        <p:nvSpPr>
          <p:cNvPr id="17" name="cd_698"/>
          <p:cNvSpPr/>
          <p:nvPr/>
        </p:nvSpPr>
        <p:spPr>
          <a:xfrm>
            <a:off x="320040" y="3429000"/>
            <a:ext cx="2788920" cy="1325880"/>
          </a:xfrm>
          <a:prstGeom prst="roundRect">
            <a:avLst>
              <a:gd name="adj" fmla="val 9655"/>
            </a:avLst>
          </a:prstGeom>
          <a:solidFill>
            <a:srgbClr val="EEE8FB"/>
          </a:solidFill>
          <a:ln w="19050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8" name="ii_699"/>
          <p:cNvSpPr/>
          <p:nvPr/>
        </p:nvSpPr>
        <p:spPr>
          <a:xfrm>
            <a:off x="41148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9" name="ih_700"/>
          <p:cNvSpPr/>
          <p:nvPr/>
        </p:nvSpPr>
        <p:spPr>
          <a:xfrm>
            <a:off x="886968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20" name="il_701"/>
          <p:cNvSpPr/>
          <p:nvPr/>
        </p:nvSpPr>
        <p:spPr>
          <a:xfrm>
            <a:off x="886968" y="3904488"/>
            <a:ext cx="213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mostly a = a SPENDER</a:t>
            </a:r>
            <a:endParaRPr lang="en-US" sz="10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mostly b = in the middle</a:t>
            </a:r>
            <a:endParaRPr lang="en-US" sz="10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mostly c = a SAVER</a:t>
            </a:r>
            <a:endParaRPr lang="en-US" sz="1050" dirty="0"/>
          </a:p>
        </p:txBody>
      </p:sp>
      <p:sp>
        <p:nvSpPr>
          <p:cNvPr id="21" name="R1_qb702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R1_sq703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you ever borrowed money from friends or family?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Yes, once. I borrowed €20 from my brother – and I paid him back!</a:t>
            </a:r>
            <a:endParaRPr lang="en-US" sz="1250" dirty="0"/>
          </a:p>
        </p:txBody>
      </p:sp>
      <p:sp>
        <p:nvSpPr>
          <p:cNvPr id="23" name="R2_qb704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R2_sq705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usually have cash in your wallet?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Not really. I usually pay by card.</a:t>
            </a:r>
            <a:endParaRPr lang="en-US" sz="1250" dirty="0"/>
          </a:p>
        </p:txBody>
      </p:sp>
      <p:sp>
        <p:nvSpPr>
          <p:cNvPr id="25" name="R3_qb706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R3_sq707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would you do with money you won?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I'd save half and spend half on a holiday.</a:t>
            </a:r>
            <a:endParaRPr lang="en-US" sz="1250" dirty="0"/>
          </a:p>
        </p:txBody>
      </p:sp>
      <p:sp>
        <p:nvSpPr>
          <p:cNvPr id="27" name="R4_qb708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R4_sq709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222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 – are you a saver or a spender?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A spender! I've already spent my birthday money.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2A-2 Spending money</dc:title>
  <dc:subject>PptxGenJS Presentation</dc:subject>
  <dc:creator>PptxGenJS</dc:creator>
  <cp:lastModifiedBy>PptxGenJS</cp:lastModifiedBy>
  <cp:revision>1</cp:revision>
  <dcterms:created xsi:type="dcterms:W3CDTF">2026-10-12T10:14:01Z</dcterms:created>
  <dcterms:modified xsi:type="dcterms:W3CDTF">2026-10-12T10:14:01Z</dcterms:modified>
</cp:coreProperties>
</file>