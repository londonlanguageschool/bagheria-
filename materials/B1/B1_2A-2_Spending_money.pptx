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photo: a woman showing her partner her new shoes. Ask the THINK question (it recycles 'waste' from last lesson): take 3–4 quick opinions (show of hands: good idea / waste of money). Ask: 'What is HE thinking?' (e.g. How much did they cost?!) – accept anything, don't correct tenses yet. Read the 'Today you're going to…' list together. Don't teach the grammar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Read the examples with the class; CCQ: 'lend – give or take?' (give) · 'borrow?' (take). Point at the prepositions (spend ON, pay BY) and 'My house is worth…' (no verb 'values'). Remind them: would = imaginary situations ('I'd cook at home'). Then play 'Fix it!' – every mistake in the game is one of these points.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(5 min) – a different format from last lesson's warmer: correct the mistake. Books closed. Two teams. Show one sentence at a time (read it aloud), teams have 15 seconds to say it correctly; click to show the answer. 1 point for the correct sentence, +1 bonus if they can say WHY (e.g. lend = give, borrow = take). Answers: 1 lend (lend = prestare a qualcuno; borrow = prendere in prestito) · 2 spend money ON something (audio 2.2) · 3 earn = from work, win = lottery · 4 pay BY credit card, pay cash (audio 2.2) · 5 be worth (audio 2.1: 'My house is worth…') · 6 would for imaginary situations (3f box: 'To save money, I'd spend less on clothes and I'd cook for myself at home'). Drill worth /wɜːθ/ and won /wʌn/ (o and or from last lesson). ICQ: 'How many mistakes in each sentence?'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Grammar · the conversation · gist (2 min)
GIST (2 min). Books closed. Look at the photos: husband and wife or boyfriend and girlfriend (TG). The SB thought bubbles: 'More new shoes?' (him) / 'He'll never notice my new shoes.' (her). Play 2.8 ONCE. Pairs compare. Click once per line. Photo C (a shocked look at a bill) = the phone bill that arrived this morning. Answers (audio script 2.8): they're arguing about money – Kate's new shoes (£99.99) and the iPad David bought last week. Quick vote: 'Who's right, David or Kate?' (show of hands – no right answer!). ICQ: 'Do you need every word?' (no – just the topic).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 conversation · detail (4 min)
DETAIL + NOTICING (4 min). Line 1 is the example (haven't seen). Pairs complete the verbs in the present perfect or past simple (in the book or on paper) – 2 minutes. Play 2.8 again to check. Click once per line: the answers appear highlighted IN the conversation. Answers (TG key 4b): 2 've just bought · 3 did … cost · 4 were · 5 Have … seen · 6 arrived · 7 haven't paid · 8 bought · 9 didn't need · 10 worked · 11 needed · 12 needed. Click once per gap (11 clicks). The conversation on the slide is slightly shortened (cut: 'That isn't cheap for a pair of shoes. Anyway, we can't afford to buy new clothes at the moment.' / 'Why not?' / 'No. What is it?' / 'What about it?'); answers unchanged. Then pairs read the conversation aloud (one is David, one is Kate). Don't explain the rule yet –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guided discovery (3 min)
GUIDED DISCOVERY (3 min). Explain the colours first: PINK = past simple, we know WHEN (a finished time); BLUE = present perfect, no time is said; GREEN = present perfect with just, yet or already. Pairs decide for a–f. Click once per sentence. Answers: a green (just) · b pink (she bought them today – we know when) · c blue (no time – 'in my life until now') · d pink (this morning) · e green (yet) · f pink (last week). Then ask the SB 4c questions (answers TG): 'Which tense for a completed action in the past?' (PS) · 'For recent actions when we don't say exactly when?' (PP) · 'In sentences with just, yet and already?' (PP). CCQ for b: 'Do we know when she bought the shoes?' (yes – today) → past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the rule (4 min)
RULE (4 min). Click once per column: the examples appear (meaning first). All examples are from audio 2.9, 2.10 and 2.11 (🎧 play them from the book audio – Grammar Bank 2A) – play them for students to listen and repeat (copy the rhythm). Rules (TG): present perfect = a past action when NO specific time is mentioned or understood (experiences: ever / never); very recent actions, often with just, to give news; yet (questions and negatives, at the end), already (positive, before the main verb). Past simple = a specific time is mentioned or understood – so When…? and What time…? questions are past simple. Column 3, last example (2.11): we start with the present perfect (experience), then change to the past simple when we say WHEN. Last click = the Italian-speaker warning: the passato prossimo is NOT the present perfect ('Ho comprato le scarpe ieri' = I bought the shoes yesterday). Also on the slide: What time did you wake up this morning? (2.10) can be added orally. CCQs: 'Have you ever lost your credit card? – Do I want to know when?' (no – in your life) · 'They got married last year – finished time?' (yes) → past simple. Irregular verbs list p.165.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controlled practice (3 min)
CONTROLLED PRACTICE (3 min). Do 0 with the class. Pairs say right or wrong and correct the wrong ones – say WHY (the time word!). Click once per sentence. Answers: 1 ✗ Have you ever booked a flight online? · 2 ✗ We've just won the lottery! · 3 ✗ When did you buy that (leather) jacket? · 4 ✓ · 5 ✗ I didn't borrow any money from you last week · 6 ✓. The CORRECT sentences are from the Grammar Bank 2A key (a 1, a 6, b 2, b 4, b 5, b 8); the wrong versions are written for this slide, so the exercise is not the book's wording – the book's Grammar Bank exercises a 5–8 and b 6–10 are homework. ICQ: 'Do you only say right or wrong?' (no – correct it and say why).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game (3 min)
GAME 2 (3 min). Two teams, mini-whiteboards or paper. Show the words, 15 seconds, then 'Show me!' Click to show the model answer. 1 point for the right tense, +1 for a perfect sentence (spelling of the participle!). Teaching point: lines 1 and 2 – same verb, different tense (yesterday vs just). Drill won /wʌn/ and bought /bɔːt/. ICQ: 'Can you change the order of the words?' (yes – make a correct sentence).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prep · irregular verbs (3 min)
GAME 3 (3 min). These are the bold verbs in the SB 5a questionnaire. Teams take turns: the teacher (or Team A) says the verb, the other team says past simple + past participle. Click to check each one. Answers (TG 5a + Irregular verbs p.165): saved · lent · wasted · bought · inherited (regular) · lost · won · forgotten · taken out · bought, sold. Pronunciation (TG): saved /seɪvd/ (one syllable), wasted /ˈweɪstɪd/ and inherited /ɪnˈherɪtɪd/ (extra syllable after t and d) – ITALIAN SPEAKERS often say 'sav-ed'. won /wʌn/ = one (o and or, last lesson!). This prepares the questionnaire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(4 min)
TPRS CLASS STORY (4 min) – this comes after the rule, the practice games and the participles, and BEFORE the 'Have you ever…? One lie!' questionnaire: students hear present perfect vs past simple 15–20 times in a context (has never won · hasn't got… yet · has already bought · 've just lost / washed vs last Saturday, on Monday, yesterday), plus lend from last lesson. Click once per line. For each line: 1) say it, 2) ask the questions in grey round the class (yes/no → either/or → who/what), 3) let the CLASS change details: 'Has he already bought trainers? No? What has he bought?' – accept their idea and use it in later lines. Students answer with one word or a short phrase – that's fine. As you go, point at the time words and ask 'When? Or no time?' (last Saturday / on Monday / yesterday → past simple; never / yet / already / just → present perfect). Line 4 also prepares the scam topic (a friend who has 'lost his wallet' – like Heather in 2.12): 'Is it a scam?' Finish: 'What happens next?' – one or two ideas,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the money questionnaire (7 min)
SPEAKING (7 min). Questions 1, 2, 3, 6, 7, 9 and 11 of the SB questionnaire (the book has 11 – the others: immediately regretted buying · inherited from a relative · lost your card in a cash machine · forgotten your PIN · taken out a loan from the bank). Questions appear ONE PER CLICK – show all six, then start. MODEL FIRST (1 min): students ask YOU 2 questions; one of your answers is a lie – they ask follow-ups and guess. Then pairs: each student secretly chooses ONE question to answer 'Yes' falsely and invents details. The partner asks Have you ever…? (present perfect) and, if the answer is yes, 2 follow-up questions in the past simple (When did you…? How much was it?), then guesses the lie. Example answers 1 and 2 are the SB 5b models; the others are examples. Monitor: note 4–5 tense mistakes for delayed correction (e.g. 'When have you lost it?'). Feedback (TG): how many people have sold something on the internet? PRIVACY: nobody has to talk about real amounts of money – 'I'd rather not say' is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&amp; listening · key words first (2 min)
ELICIT + CONSOLIDATE (2 min). SB 6a: read the definition of a scam (n.): 'a dishonest and illegal way of making money by tricking people, e.g. selling a product online that doesn't exist'. Ask: 'What kind of scams have you heard of?' (TG – take 2–3 ideas: fake messages, fake shops online…). Then pairs guess the meaning of the 6 words; click once per word – each answer gives the meaning AND the Italian (consolidation on the same slide). These are the words that block the email and the listening; don't teach more. Drill scam /skæm/, suspicious /səˈspɪʃəs/. FALSE FRIEND: details = dati (not just 'dettagli').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a scam email · part 1 (3 min)
READING part 1 (3 min). 6b (1 min): pairs read the email: 'What would you do if you got an email like this? Why?' (delete it – it's a scam!). Elicit the clues: a stranger, lots of money, 'reply fast', and the mistakes. 6c – race: 'Emails like this often have lots of mistakes, especially grammar and spelling. Correct the ten highlighted mistakes.' The mistakes are in brackets, in green; pairs correct them. Click once per line: the correction appears highlighted IN the email. Answers (TG key 6c), part 1: Businness → Business · have died → died · there → their · I am needing → I need · can to transfer → can transfer. Highlight 'have died last month → died': last month = finished time → past simple (today's grammar!).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a scam email · part 2 (2 min)
READING part 2 (2 min). Same procedure – the race continues: first pair with all ten corrections wins. Click once per line. Answers (TG key 6c), part 2: dolars → dollars · acount → account · him → it (the money) · I want organize → I want to organize · you → your. Ask: 'What does Naomi really want?' (your bank account details – to steal your money). This leads into the listening: three people who believed scams.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Five-Minute Money · gist (4 min)
GIST (4 min). Before listening (1 min): A = an email from a friend abroad · B = a lottery win · C = a phone call from 'your bank'. Pairs guess which scam cost the most money – rank them. Play 2.12 ONCE: students write how much each person lost and the most important advice. Pairs compare; play again if needed. Click once per line. Answers (TG / audio script 2.12): Heather (Edinburgh) over £2,000 · Carl (Hastings) about £200 · Paul (Bristol) £20,000 · never give your bank account or credit card details to anybody, either in an email or on the phone, unless you are 100% sure who they really are. Facts from the script: over 3,000,000 people a year are victims of scams in the UK; average loss £1,200. ICQ: 'Do you write the whole story?' (no – just the money).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Listening · detail (4 min)
DETAIL (4 min). The SB summaries (H = Heather, C = Carl, P = Paul), shortened to fit. Extra challenge (TG): pairs try to complete the gaps BEFORE the second listening. Play 2.12 again, pausing after each story. Click once per line. Answers (TG key 6e): 1 email · 2 wallet · 3 credit card · 4 money · 5 believed · 6 bank account · 7 phone call · 8 bank · 9 account · 10 new account. Presenter's advice for Paul's scam: your bank will never ask you on the phone to transfer money to another account – hang up, wait ten minutes, then phone your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scam or real? (5 min)
SPEAKING (5 min). Questions appear ONE PER CLICK – about 45 seconds each. Forced choice: SCAM or REAL, no 'maybe', and a reason. Messages 2–4 are the three scams from 2.12; message 1 is a common text-message scam (not in the book – the picture shows it). Model answer for each: SCAM. Uses 'would' from last lesson (I'd hang up). Question 5 = SB 6f: 'Have you, or has anybody you know, ever been the victim of a scam? Explain what happened.' – present perfect question, past simple story. No names needed; 'I'd rather not talk about that' is fine. Then 1–2 minutes of delayed error correction: write 4–5 tense mistakes from today's speaking on the board; students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Pairs: 3 Have you ever…? questions (lend, waste, win…), 2 sentences – one present perfect with just, one past simple with yesterday – and 1 golden rule (never give your bank or card details to anybody). A few students share. Set homework (on the slide and in the app): Workbook 2A 3a–3d + Grammar Bank 2A a 5–8, b 6–10 + the 2A-2 homework sheet (easier version available).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Extra · Grammar PCM (8 min)
EXTRA (8 min, if there's time – or extra homework). Grammar photocopiable 2A (one copy per student). a: circle the correct verb in Mike and Gina's conversation. b: complete conversations 1 and 2 with the past simple or present perfect (contractions where possible). Click once per line. Official answers (TG PCM): a 2 I've been · 3 did you go · 4 finished · 5 I've been · 6 did you go · 7 went. b1 2 had · 3 did you meet · 4 was · 5 went · 6 've known · 7 got · 8 were you · 9 've just met. b2 1 did you go · 2 didn't leave · 3 came · 4 Have you finished · 5 sent · 6 've just made · 7 've already had. Then pairs practise the conversations aloud. Student as teacher: for each answer, say the clue (finished time → past simple; ever / just / already / yet → present perfect).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Extra · Communicative PCM (8 min)
EXTRA (8 min, if there's time). Communicative photocopiable 2A 'Are you a saver or a spender?' (one copy per student or pair). Language: present simple and present perfect questions, money vocabulary. Procedure (TG): read out question 1 and the three options and demonstrate by choosing one and explaining why. Pairs ask and answer, noting their partner's answers; about 5 minutes. Then they count a, b and c answers: mostly a = a SPENDER · mostly b = somewhere in the middle · mostly c = a SAVER – partners read the paragraph. The quiz's 9 topics: cash in your wallet · something expensive you love in a shop · what you'd do with money you won or inherited · your money situation in the future · saving · borrowing from friends or family · lending · credit cards · bank loans. The questions on the slide are short warm-up examples (not the photocopiable's wording); the example answers are models. Nobody has to give real amounts or talk about family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audio" Target="../media/media-5-8.mp3"/><Relationship Id="rId9" Type="http://schemas.microsoft.com/office/2007/relationships/media" Target="../media/media-5-8.mp3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audio" Target="../media/media-17-5.mp3"/><Relationship Id="rId6" Type="http://schemas.microsoft.com/office/2007/relationships/media" Target="../media/media-17-5.mp3"/><Relationship Id="rId7" Type="http://schemas.openxmlformats.org/officeDocument/2006/relationships/image" Target="../media/image-17-7.png"/><Relationship Id="rId8" Type="http://schemas.openxmlformats.org/officeDocument/2006/relationships/audio" Target="../media/media-17-8.mp3"/><Relationship Id="rId9" Type="http://schemas.microsoft.com/office/2007/relationships/media" Target="../media/media-17-8.mp3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pp.18–19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experiences and scams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ask and answer about money experiences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choose: present perfect or past simple?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find the mistakes in a scam email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three true scam stories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 – I've already got five pairs!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2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 again! A good idea or a waste of money?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713523" y="1371600"/>
            <a:ext cx="1956233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2a1_lend_jpg_449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59243" y="1417320"/>
            <a:ext cx="1864793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spending money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verbs · prepositions · would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096512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120640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5971032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6734556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749808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3246120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4443984" y="2185416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200" dirty="0"/>
          </a:p>
        </p:txBody>
      </p:sp>
      <p:sp>
        <p:nvSpPr>
          <p:cNvPr id="27" name="lv_41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0" name="cd_44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45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</a:t>
            </a:r>
            <a:endParaRPr lang="en-US" sz="1100" dirty="0"/>
          </a:p>
        </p:txBody>
      </p:sp>
      <p:sp>
        <p:nvSpPr>
          <p:cNvPr id="32" name="rf_46"/>
          <p:cNvSpPr/>
          <p:nvPr/>
        </p:nvSpPr>
        <p:spPr>
          <a:xfrm>
            <a:off x="3383280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an earn = from work · a win = the lottery</a:t>
            </a:r>
            <a:endParaRPr lang="en-US" sz="850" dirty="0"/>
          </a:p>
        </p:txBody>
      </p:sp>
      <p:sp>
        <p:nvSpPr>
          <p:cNvPr id="33" name="R1_rl47"/>
          <p:cNvSpPr/>
          <p:nvPr/>
        </p:nvSpPr>
        <p:spPr>
          <a:xfrm>
            <a:off x="3383280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lend me €10, please?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borrow €10 from you?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earns €1,500 a month.</a:t>
            </a:r>
            <a:endParaRPr lang="en-US" sz="1100" dirty="0"/>
          </a:p>
        </p:txBody>
      </p:sp>
      <p:sp>
        <p:nvSpPr>
          <p:cNvPr id="34" name="cd_48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49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Prepositions + would</a:t>
            </a:r>
            <a:endParaRPr lang="en-US" sz="1100" dirty="0"/>
          </a:p>
        </p:txBody>
      </p:sp>
      <p:sp>
        <p:nvSpPr>
          <p:cNvPr id="36" name="rf_50"/>
          <p:cNvSpPr/>
          <p:nvPr/>
        </p:nvSpPr>
        <p:spPr>
          <a:xfrm>
            <a:off x="6249924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 spend ON · a pay BY · a be worth €…</a:t>
            </a:r>
            <a:endParaRPr lang="en-US" sz="850" dirty="0"/>
          </a:p>
        </p:txBody>
      </p:sp>
      <p:sp>
        <p:nvSpPr>
          <p:cNvPr id="37" name="R2_rl51"/>
          <p:cNvSpPr/>
          <p:nvPr/>
        </p:nvSpPr>
        <p:spPr>
          <a:xfrm>
            <a:off x="6249924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€50 on books last month.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pay by credit card?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save money, I'd cook at home.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832458" cy="621792"/>
          </a:xfrm>
          <a:prstGeom prst="rect">
            <a:avLst/>
          </a:prstGeom>
        </p:spPr>
      </p:pic>
      <p:sp>
        <p:nvSpPr>
          <p:cNvPr id="5" name="title_54"/>
          <p:cNvSpPr/>
          <p:nvPr/>
        </p:nvSpPr>
        <p:spPr>
          <a:xfrm>
            <a:off x="1261872" y="164592"/>
            <a:ext cx="1558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Fix it!</a:t>
            </a:r>
            <a:endParaRPr lang="en-US" sz="2500" dirty="0"/>
          </a:p>
        </p:txBody>
      </p:sp>
      <p:pic>
        <p:nvPicPr>
          <p:cNvPr id="6" name="brP_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6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Say it correctly!</a:t>
            </a:r>
            <a:endParaRPr lang="en-US" sz="1250" dirty="0"/>
          </a:p>
        </p:txBody>
      </p:sp>
      <p:sp>
        <p:nvSpPr>
          <p:cNvPr id="8" name="insIT_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Dillo correttamente!</a:t>
            </a:r>
            <a:endParaRPr lang="en-US" sz="950" dirty="0"/>
          </a:p>
        </p:txBody>
      </p:sp>
      <p:sp>
        <p:nvSpPr>
          <p:cNvPr id="9" name="note_5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🔁 CHANGE THE WORD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 game</a:t>
            </a:r>
            <a:endParaRPr lang="en-US" sz="1150" dirty="0"/>
          </a:p>
        </p:txBody>
      </p:sp>
      <p:pic>
        <p:nvPicPr>
          <p:cNvPr id="10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Warmer · last lesson   ·   📖 Recycles 2A part 1: money verbs, prepositions, would (Vocabulary Bank Money p.154)</a:t>
            </a:r>
            <a:endParaRPr lang="en-US" sz="800" dirty="0"/>
          </a:p>
        </p:txBody>
      </p:sp>
      <p:sp>
        <p:nvSpPr>
          <p:cNvPr id="12" name="cd_6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6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 There's ONE mistake.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 C'è UN errore.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say it correctly – 15 seconds!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ditela giusta – 15 secondi!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sentence = 1 point.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1000" dirty="0"/>
          </a:p>
        </p:txBody>
      </p:sp>
      <p:sp>
        <p:nvSpPr>
          <p:cNvPr id="16" name="pf_65"/>
          <p:cNvSpPr/>
          <p:nvPr/>
        </p:nvSpPr>
        <p:spPr>
          <a:xfrm rot="-120000">
            <a:off x="1097116" y="4069080"/>
            <a:ext cx="1097609" cy="1143000"/>
          </a:xfrm>
          <a:prstGeom prst="roundRect">
            <a:avLst>
              <a:gd name="adj" fmla="val 141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66" descr="/home/claude/lls-course/v2/cache/spare_future_money_jpg_24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142836" y="4114800"/>
            <a:ext cx="1006169" cy="1051560"/>
          </a:xfrm>
          <a:prstGeom prst="rect">
            <a:avLst/>
          </a:prstGeom>
        </p:spPr>
      </p:pic>
      <p:sp>
        <p:nvSpPr>
          <p:cNvPr id="18" name="bd_6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6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you borrow me €10, please?"</a:t>
            </a:r>
            <a:endParaRPr lang="en-US" sz="1250" dirty="0"/>
          </a:p>
        </p:txBody>
      </p:sp>
      <p:sp>
        <p:nvSpPr>
          <p:cNvPr id="20" name="chip_6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you LEND me €10, please?</a:t>
            </a:r>
            <a:endParaRPr lang="en-US" sz="1200" dirty="0"/>
          </a:p>
        </p:txBody>
      </p:sp>
      <p:sp>
        <p:nvSpPr>
          <p:cNvPr id="21" name="bd_7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7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spent €50 for books last month."</a:t>
            </a:r>
            <a:endParaRPr lang="en-US" sz="1250" dirty="0"/>
          </a:p>
        </p:txBody>
      </p:sp>
      <p:sp>
        <p:nvSpPr>
          <p:cNvPr id="23" name="R1_chip7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spent €50 ON books last month.</a:t>
            </a:r>
            <a:endParaRPr lang="en-US" sz="1200" dirty="0"/>
          </a:p>
        </p:txBody>
      </p:sp>
      <p:sp>
        <p:nvSpPr>
          <p:cNvPr id="24" name="bd_7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7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wins €1,500 a month as a nurse."</a:t>
            </a:r>
            <a:endParaRPr lang="en-US" sz="1250" dirty="0"/>
          </a:p>
        </p:txBody>
      </p:sp>
      <p:sp>
        <p:nvSpPr>
          <p:cNvPr id="26" name="R2_chip7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EARNS €1,500 a month as a nurse.</a:t>
            </a:r>
            <a:endParaRPr lang="en-US" sz="1200" dirty="0"/>
          </a:p>
        </p:txBody>
      </p:sp>
      <p:sp>
        <p:nvSpPr>
          <p:cNvPr id="27" name="bd_7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7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pay with credit card?"</a:t>
            </a:r>
            <a:endParaRPr lang="en-US" sz="1250" dirty="0"/>
          </a:p>
        </p:txBody>
      </p:sp>
      <p:sp>
        <p:nvSpPr>
          <p:cNvPr id="29" name="R3_chip7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I pay BY credit card?</a:t>
            </a:r>
            <a:endParaRPr lang="en-US" sz="1200" dirty="0"/>
          </a:p>
        </p:txBody>
      </p:sp>
      <p:sp>
        <p:nvSpPr>
          <p:cNvPr id="30" name="bd_7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8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"My house values about €200,000."</a:t>
            </a:r>
            <a:endParaRPr lang="en-US" sz="1250" dirty="0"/>
          </a:p>
        </p:txBody>
      </p:sp>
      <p:sp>
        <p:nvSpPr>
          <p:cNvPr id="32" name="R4_chip8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My house IS WORTH about €200,000.</a:t>
            </a:r>
            <a:endParaRPr lang="en-US" sz="1200" dirty="0"/>
          </a:p>
        </p:txBody>
      </p:sp>
      <p:sp>
        <p:nvSpPr>
          <p:cNvPr id="33" name="bd_8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8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"To save money, I will cook at home." (imaginary)</a:t>
            </a:r>
            <a:endParaRPr lang="en-US" sz="1250" dirty="0"/>
          </a:p>
        </p:txBody>
      </p:sp>
      <p:sp>
        <p:nvSpPr>
          <p:cNvPr id="35" name="R5_chip8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I'D (would) cook at home.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8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shoes!</a:t>
            </a:r>
            <a:endParaRPr lang="en-US" sz="2500" dirty="0"/>
          </a:p>
        </p:txBody>
      </p:sp>
      <p:pic>
        <p:nvPicPr>
          <p:cNvPr id="6" name="brP_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What are they arguing about?</a:t>
            </a:r>
            <a:endParaRPr lang="en-US" sz="1250" dirty="0"/>
          </a:p>
        </p:txBody>
      </p:sp>
      <p:sp>
        <p:nvSpPr>
          <p:cNvPr id="8" name="insIT_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Su cosa litigano?</a:t>
            </a:r>
            <a:endParaRPr lang="en-US" sz="950" dirty="0"/>
          </a:p>
        </p:txBody>
      </p:sp>
      <p:sp>
        <p:nvSpPr>
          <p:cNvPr id="9" name="note_9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ASCOLTA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Listening for gist</a:t>
            </a:r>
            <a:endParaRPr lang="en-US" sz="1250" dirty="0"/>
          </a:p>
        </p:txBody>
      </p:sp>
      <p:pic>
        <p:nvPicPr>
          <p:cNvPr id="10" name="logo_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the conversation · gist   ·   📖 SB p.18 · 4a · audio 2.8</a:t>
            </a:r>
            <a:endParaRPr lang="en-US" sz="800" dirty="0"/>
          </a:p>
        </p:txBody>
      </p:sp>
      <p:sp>
        <p:nvSpPr>
          <p:cNvPr id="12" name="ap_94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  ·  books closed · play once</a:t>
            </a:r>
            <a:endParaRPr lang="en-US" sz="1100" dirty="0"/>
          </a:p>
        </p:txBody>
      </p:sp>
      <p:sp>
        <p:nvSpPr>
          <p:cNvPr id="13" name="ah_95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9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ah2_97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8" name="pf_98"/>
          <p:cNvSpPr/>
          <p:nvPr/>
        </p:nvSpPr>
        <p:spPr>
          <a:xfrm rot="-90000">
            <a:off x="640080" y="2057400"/>
            <a:ext cx="13258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9" descr="/home/claude/lls-course/v2/cache/2a2_cover_jpg_29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685800" y="2103120"/>
            <a:ext cx="1234440" cy="1234440"/>
          </a:xfrm>
          <a:prstGeom prst="rect">
            <a:avLst/>
          </a:prstGeom>
        </p:spPr>
      </p:pic>
      <p:sp>
        <p:nvSpPr>
          <p:cNvPr id="20" name="bd_100"/>
          <p:cNvSpPr/>
          <p:nvPr/>
        </p:nvSpPr>
        <p:spPr>
          <a:xfrm>
            <a:off x="539496" y="1956816"/>
            <a:ext cx="420624" cy="42062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pf_101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102" descr="/home/claude/lls-course/v2/cache/2a2_receipt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3" name="bd_103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4" name="pf_104"/>
          <p:cNvSpPr/>
          <p:nvPr/>
        </p:nvSpPr>
        <p:spPr>
          <a:xfrm rot="-90000">
            <a:off x="4442025" y="2057400"/>
            <a:ext cx="1220071" cy="1325880"/>
          </a:xfrm>
          <a:prstGeom prst="roundRect">
            <a:avLst>
              <a:gd name="adj" fmla="val 127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105" descr="/home/claude/lls-course/v2/cache/spare_1a2_bill_jpg_272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487745" y="2103120"/>
            <a:ext cx="1128631" cy="1234440"/>
          </a:xfrm>
          <a:prstGeom prst="rect">
            <a:avLst/>
          </a:prstGeom>
        </p:spPr>
      </p:pic>
      <p:sp>
        <p:nvSpPr>
          <p:cNvPr id="26" name="bd_106"/>
          <p:cNvSpPr/>
          <p:nvPr/>
        </p:nvSpPr>
        <p:spPr>
          <a:xfrm>
            <a:off x="4341441" y="1956816"/>
            <a:ext cx="420624" cy="42062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7" name="cd_107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ii_108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29" name="ih_109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0" name="il_110"/>
          <p:cNvSpPr/>
          <p:nvPr/>
        </p:nvSpPr>
        <p:spPr>
          <a:xfrm>
            <a:off x="932688" y="4105656"/>
            <a:ext cx="4782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A–C. What are they thinking?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A–C. Cosa pensano?</a:t>
            </a:r>
            <a:endParaRPr lang="en-US" sz="1100" dirty="0"/>
          </a:p>
        </p:txBody>
      </p:sp>
      <p:sp>
        <p:nvSpPr>
          <p:cNvPr id="31" name="lq_111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Arguing about…?</a:t>
            </a:r>
            <a:endParaRPr lang="en-US" sz="1100" dirty="0"/>
          </a:p>
        </p:txBody>
      </p:sp>
      <p:sp>
        <p:nvSpPr>
          <p:cNvPr id="32" name="R1_chip112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money!</a:t>
            </a:r>
            <a:endParaRPr lang="en-US" sz="1050" dirty="0"/>
          </a:p>
        </p:txBody>
      </p:sp>
      <p:sp>
        <p:nvSpPr>
          <p:cNvPr id="33" name="lq_113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Kate bought…</a:t>
            </a:r>
            <a:endParaRPr lang="en-US" sz="1100" dirty="0"/>
          </a:p>
        </p:txBody>
      </p:sp>
      <p:sp>
        <p:nvSpPr>
          <p:cNvPr id="34" name="R2_chip114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shoes</a:t>
            </a:r>
            <a:endParaRPr lang="en-US" sz="1050" dirty="0"/>
          </a:p>
        </p:txBody>
      </p:sp>
      <p:sp>
        <p:nvSpPr>
          <p:cNvPr id="35" name="lq_115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David bought…</a:t>
            </a:r>
            <a:endParaRPr lang="en-US" sz="1100" dirty="0"/>
          </a:p>
        </p:txBody>
      </p:sp>
      <p:sp>
        <p:nvSpPr>
          <p:cNvPr id="36" name="R3_chip116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new iPad</a:t>
            </a:r>
            <a:endParaRPr lang="en-US" sz="1050" dirty="0"/>
          </a:p>
        </p:txBody>
      </p:sp>
      <p:sp>
        <p:nvSpPr>
          <p:cNvPr id="37" name="lq_117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morning?</a:t>
            </a:r>
            <a:endParaRPr lang="en-US" sz="1100" dirty="0"/>
          </a:p>
        </p:txBody>
      </p:sp>
      <p:sp>
        <p:nvSpPr>
          <p:cNvPr id="38" name="R4_chip118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phone bill arrived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2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seen this?</a:t>
            </a:r>
            <a:endParaRPr lang="en-US" sz="2500" dirty="0"/>
          </a:p>
        </p:txBody>
      </p:sp>
      <p:pic>
        <p:nvPicPr>
          <p:cNvPr id="6" name="brP_1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2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the verbs. Then listen and check.</a:t>
            </a:r>
            <a:endParaRPr lang="en-US" sz="1250" dirty="0"/>
          </a:p>
        </p:txBody>
      </p:sp>
      <p:sp>
        <p:nvSpPr>
          <p:cNvPr id="8" name="insIT_12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i verbi. Poi ascolta e controlla.</a:t>
            </a:r>
            <a:endParaRPr lang="en-US" sz="950" dirty="0"/>
          </a:p>
        </p:txBody>
      </p:sp>
      <p:sp>
        <p:nvSpPr>
          <p:cNvPr id="9" name="note_12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1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the conversation · detail   ·   📖 SB p.18 · 4b · audio 2.8 (conversation shortened)</a:t>
            </a:r>
            <a:endParaRPr lang="en-US" sz="800" dirty="0"/>
          </a:p>
        </p:txBody>
      </p:sp>
      <p:sp>
        <p:nvSpPr>
          <p:cNvPr id="12" name="cd_12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12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and Kate</a:t>
            </a:r>
            <a:endParaRPr lang="en-US" sz="1700" dirty="0"/>
          </a:p>
        </p:txBody>
      </p:sp>
      <p:sp>
        <p:nvSpPr>
          <p:cNvPr id="14" name="ln_130"/>
          <p:cNvSpPr/>
          <p:nvPr/>
        </p:nvSpPr>
        <p:spPr>
          <a:xfrm>
            <a:off x="548640" y="19202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I haven't seen (see) those shoes before. Are they new?</a:t>
            </a:r>
            <a:endParaRPr lang="en-US" sz="1100" dirty="0"/>
          </a:p>
        </p:txBody>
      </p:sp>
      <p:sp>
        <p:nvSpPr>
          <p:cNvPr id="15" name="ln_131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16" name="R1_lnA132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've just 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17" name="ln_133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18" name="R2_lnA134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 they cost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19" name="ln_135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0" name="R3_lnA136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were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1" name="ln_137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2" name="R4_lnA138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 you seen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3" name="ln_139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4" name="R5_lnA140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arrived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5" name="ln_141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26" name="R6_lnA142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haven't paid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27" name="ln_143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28" name="R7_lnA144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29" name="ln_145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0" name="R8_lnA146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didn't need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1" name="ln_147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2" name="R9_lnA148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worked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3" name="ln_149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4" name="R10_lnA150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5" name="ln_151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36" name="R11_lnA152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37" name="ap_153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</a:t>
            </a:r>
            <a:endParaRPr lang="en-US" sz="1100" dirty="0"/>
          </a:p>
        </p:txBody>
      </p:sp>
      <p:sp>
        <p:nvSpPr>
          <p:cNvPr id="38" name="ah_15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3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40" name="ah_15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4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42" name="pf_156"/>
          <p:cNvSpPr/>
          <p:nvPr/>
        </p:nvSpPr>
        <p:spPr>
          <a:xfrm rot="120000">
            <a:off x="6599903" y="1965960"/>
            <a:ext cx="1979234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3" name="ph_157" descr="/home/claude/lls-course/v2/cache/2a2_receipt_jpg_454x341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0000">
            <a:off x="6645623" y="2011680"/>
            <a:ext cx="1887794" cy="1417320"/>
          </a:xfrm>
          <a:prstGeom prst="rect">
            <a:avLst/>
          </a:prstGeom>
        </p:spPr>
      </p:pic>
      <p:sp>
        <p:nvSpPr>
          <p:cNvPr id="44" name="cd_158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ii_159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46" name="ih_160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47" name="il_161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bargain = affare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phone bill = bolletta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3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7" dur="1" fill="hold"/>
                                        <p:tgtEl>
                                          <p:spTgt spid="4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audio>
              <p:cMediaNode vol="80000">
                <p:cTn id="6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9"/>
                </p:tgtEl>
              </p:cMediaNode>
            </p:audio>
            <p:audio>
              <p:cMediaNode vol="80000">
                <p:cTn id="6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64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Or no time?</a:t>
            </a:r>
            <a:endParaRPr lang="en-US" sz="2400" dirty="0"/>
          </a:p>
        </p:txBody>
      </p:sp>
      <p:pic>
        <p:nvPicPr>
          <p:cNvPr id="6" name="brP_1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166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this tense? Match the colour.</a:t>
            </a:r>
            <a:endParaRPr lang="en-US" sz="1250" dirty="0"/>
          </a:p>
        </p:txBody>
      </p:sp>
      <p:sp>
        <p:nvSpPr>
          <p:cNvPr id="8" name="insIT_1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Perché questo tempo? Abbina il colore.</a:t>
            </a:r>
            <a:endParaRPr lang="en-US" sz="950" dirty="0"/>
          </a:p>
        </p:txBody>
      </p:sp>
      <p:sp>
        <p:nvSpPr>
          <p:cNvPr id="9" name="note_16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ABBINA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1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guided discovery   ·   📖 SB p.18 · 4c</a:t>
            </a:r>
            <a:endParaRPr lang="en-US" sz="800" dirty="0"/>
          </a:p>
        </p:txBody>
      </p:sp>
      <p:sp>
        <p:nvSpPr>
          <p:cNvPr id="12" name="cd_171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7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17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5" name="lg_174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050" dirty="0"/>
          </a:p>
        </p:txBody>
      </p:sp>
      <p:sp>
        <p:nvSpPr>
          <p:cNvPr id="16" name="lg_175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050" dirty="0"/>
          </a:p>
        </p:txBody>
      </p:sp>
      <p:sp>
        <p:nvSpPr>
          <p:cNvPr id="17" name="lg_176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050" dirty="0"/>
          </a:p>
        </p:txBody>
      </p:sp>
      <p:sp>
        <p:nvSpPr>
          <p:cNvPr id="18" name="sq_177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I've just bought them.</a:t>
            </a:r>
            <a:endParaRPr lang="en-US" sz="1200" dirty="0"/>
          </a:p>
        </p:txBody>
      </p:sp>
      <p:sp>
        <p:nvSpPr>
          <p:cNvPr id="19" name="R1_tag178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20" name="sq_179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How much did they cost?</a:t>
            </a:r>
            <a:endParaRPr lang="en-US" sz="1200" dirty="0"/>
          </a:p>
        </p:txBody>
      </p:sp>
      <p:sp>
        <p:nvSpPr>
          <p:cNvPr id="21" name="R2_tag180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2" name="sq_181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haven't seen those shoes before.</a:t>
            </a:r>
            <a:endParaRPr lang="en-US" sz="1200" dirty="0"/>
          </a:p>
        </p:txBody>
      </p:sp>
      <p:sp>
        <p:nvSpPr>
          <p:cNvPr id="23" name="R3_tag182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150" dirty="0"/>
          </a:p>
        </p:txBody>
      </p:sp>
      <p:sp>
        <p:nvSpPr>
          <p:cNvPr id="24" name="sq_183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 arrived this morning.</a:t>
            </a:r>
            <a:endParaRPr lang="en-US" sz="1200" dirty="0"/>
          </a:p>
        </p:txBody>
      </p:sp>
      <p:sp>
        <p:nvSpPr>
          <p:cNvPr id="25" name="R4_tag184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6" name="sq_185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We haven't paid the insurance yet.</a:t>
            </a:r>
            <a:endParaRPr lang="en-US" sz="1200" dirty="0"/>
          </a:p>
        </p:txBody>
      </p:sp>
      <p:sp>
        <p:nvSpPr>
          <p:cNvPr id="27" name="R5_tag186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28" name="sq_187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…the iPad you bought last week.</a:t>
            </a:r>
            <a:endParaRPr lang="en-US" sz="1200" dirty="0"/>
          </a:p>
        </p:txBody>
      </p:sp>
      <p:sp>
        <p:nvSpPr>
          <p:cNvPr id="29" name="R6_tag188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30" name="pf_189"/>
          <p:cNvSpPr/>
          <p:nvPr/>
        </p:nvSpPr>
        <p:spPr>
          <a:xfrm rot="-120000">
            <a:off x="1165860" y="3703320"/>
            <a:ext cx="100584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190" descr="/home/claude/lls-course/v2/cache/2a2_cover_jpg_220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211580" y="374904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Ever? Or when?</a:t>
            </a:r>
            <a:endParaRPr lang="en-US" sz="2500" dirty="0"/>
          </a:p>
        </p:txBody>
      </p:sp>
      <p:pic>
        <p:nvPicPr>
          <p:cNvPr id="6" name="brP_1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729484" cy="402336"/>
          </a:xfrm>
          <a:prstGeom prst="rect">
            <a:avLst/>
          </a:prstGeom>
        </p:spPr>
      </p:pic>
      <p:sp>
        <p:nvSpPr>
          <p:cNvPr id="7" name="ins_195"/>
          <p:cNvSpPr/>
          <p:nvPr/>
        </p:nvSpPr>
        <p:spPr>
          <a:xfrm>
            <a:off x="1353312" y="731520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tense? Why?</a:t>
            </a:r>
            <a:endParaRPr lang="en-US" sz="1250" dirty="0"/>
          </a:p>
        </p:txBody>
      </p:sp>
      <p:sp>
        <p:nvSpPr>
          <p:cNvPr id="8" name="insIT_1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tempo? Perché?</a:t>
            </a:r>
            <a:endParaRPr lang="en-US" sz="950" dirty="0"/>
          </a:p>
        </p:txBody>
      </p:sp>
      <p:sp>
        <p:nvSpPr>
          <p:cNvPr id="9" name="note_19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1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the rule   ·   📖 Grammar Bank 2A p.134 · audio 2.9, 2.10, 2.11</a:t>
            </a:r>
            <a:endParaRPr lang="en-US" sz="800" dirty="0"/>
          </a:p>
        </p:txBody>
      </p:sp>
      <p:sp>
        <p:nvSpPr>
          <p:cNvPr id="12" name="cd_20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20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14" name="pf_202"/>
          <p:cNvSpPr/>
          <p:nvPr/>
        </p:nvSpPr>
        <p:spPr>
          <a:xfrm>
            <a:off x="1110615" y="1938528"/>
            <a:ext cx="117729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03" descr="/home/claude/lls-course/v2/cache/2a2_passport_map_jpg_261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335" y="1984248"/>
            <a:ext cx="1085850" cy="868680"/>
          </a:xfrm>
          <a:prstGeom prst="rect">
            <a:avLst/>
          </a:prstGeom>
        </p:spPr>
      </p:pic>
      <p:sp>
        <p:nvSpPr>
          <p:cNvPr id="16" name="ru_204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life until now · NO time (ever / never)</a:t>
            </a:r>
            <a:endParaRPr lang="en-US" sz="1050" dirty="0"/>
          </a:p>
        </p:txBody>
      </p:sp>
      <p:sp>
        <p:nvSpPr>
          <p:cNvPr id="17" name="R1_rx205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Sally has never met Bill's ex-wife.</a:t>
            </a:r>
            <a:endParaRPr lang="en-US" sz="1050" dirty="0"/>
          </a:p>
        </p:txBody>
      </p:sp>
      <p:sp>
        <p:nvSpPr>
          <p:cNvPr id="18" name="R1_ri206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esperienze · senza dire quando</a:t>
            </a:r>
            <a:endParaRPr lang="en-US" sz="900" dirty="0"/>
          </a:p>
        </p:txBody>
      </p:sp>
      <p:sp>
        <p:nvSpPr>
          <p:cNvPr id="19" name="cd_207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208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21" name="pf_209"/>
          <p:cNvSpPr/>
          <p:nvPr/>
        </p:nvSpPr>
        <p:spPr>
          <a:xfrm>
            <a:off x="4114800" y="1938528"/>
            <a:ext cx="96012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210" descr="/home/claude/lls-course/v2/cache/2a2_cover_jpg_20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1984248"/>
            <a:ext cx="868680" cy="868680"/>
          </a:xfrm>
          <a:prstGeom prst="rect">
            <a:avLst/>
          </a:prstGeom>
        </p:spPr>
      </p:pic>
      <p:sp>
        <p:nvSpPr>
          <p:cNvPr id="23" name="ru_211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news · just / yet / already</a:t>
            </a:r>
            <a:endParaRPr lang="en-US" sz="1050" dirty="0"/>
          </a:p>
        </p:txBody>
      </p:sp>
      <p:sp>
        <p:nvSpPr>
          <p:cNvPr id="24" name="R2_rx212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 late! Our train has just left!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already seen this film twice.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finished your homework yet?</a:t>
            </a:r>
            <a:endParaRPr lang="en-US" sz="1050" dirty="0"/>
          </a:p>
        </p:txBody>
      </p:sp>
      <p:sp>
        <p:nvSpPr>
          <p:cNvPr id="25" name="R2_ri213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appena · già · non ancora</a:t>
            </a:r>
            <a:endParaRPr lang="en-US" sz="900" dirty="0"/>
          </a:p>
        </p:txBody>
      </p:sp>
      <p:sp>
        <p:nvSpPr>
          <p:cNvPr id="26" name="cd_214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rh_215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250" dirty="0"/>
          </a:p>
        </p:txBody>
      </p:sp>
      <p:sp>
        <p:nvSpPr>
          <p:cNvPr id="28" name="pf_216"/>
          <p:cNvSpPr/>
          <p:nvPr/>
        </p:nvSpPr>
        <p:spPr>
          <a:xfrm>
            <a:off x="6789132" y="1938528"/>
            <a:ext cx="1402655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217" descr="/home/claude/lls-course/v2/cache/2a2_holiday_album_jpg_3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4852" y="1984248"/>
            <a:ext cx="1311215" cy="868680"/>
          </a:xfrm>
          <a:prstGeom prst="rect">
            <a:avLst/>
          </a:prstGeom>
        </p:spPr>
      </p:pic>
      <p:sp>
        <p:nvSpPr>
          <p:cNvPr id="30" name="ru_218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a finished time</a:t>
            </a:r>
            <a:endParaRPr lang="en-US" sz="1050" dirty="0"/>
          </a:p>
        </p:txBody>
      </p:sp>
      <p:sp>
        <p:nvSpPr>
          <p:cNvPr id="31" name="R3_rx219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got married last year.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Madrid twice. I went there in 1998.</a:t>
            </a:r>
            <a:endParaRPr lang="en-US" sz="1050" dirty="0"/>
          </a:p>
        </p:txBody>
      </p:sp>
      <p:sp>
        <p:nvSpPr>
          <p:cNvPr id="32" name="R3_ri220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ieri · fa · lo scorso… · When…?</a:t>
            </a:r>
            <a:endParaRPr lang="en-US" sz="900" dirty="0"/>
          </a:p>
        </p:txBody>
      </p:sp>
      <p:sp>
        <p:nvSpPr>
          <p:cNvPr id="33" name="R4_wc221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4_w222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I've bought them yesterday → ✓ I bought them yesterday   ·   ✗ When have you arrived? → ✓ When did you arrive?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25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Right or wrong?</a:t>
            </a:r>
            <a:endParaRPr lang="en-US" sz="2500" dirty="0"/>
          </a:p>
        </p:txBody>
      </p:sp>
      <p:pic>
        <p:nvPicPr>
          <p:cNvPr id="6" name="brP_2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2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or wrong? Correct the mistakes.</a:t>
            </a:r>
            <a:endParaRPr lang="en-US" sz="1250" dirty="0"/>
          </a:p>
        </p:txBody>
      </p:sp>
      <p:sp>
        <p:nvSpPr>
          <p:cNvPr id="8" name="insIT_22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o sbagliato? Correggi gli errori.</a:t>
            </a:r>
            <a:endParaRPr lang="en-US" sz="950" dirty="0"/>
          </a:p>
        </p:txBody>
      </p:sp>
      <p:sp>
        <p:nvSpPr>
          <p:cNvPr id="9" name="note_22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🔁 CHANGE THE WORD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2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· controlled practice   ·   📖 Grammar Bank 2A p.134 · a and b (adapted)</a:t>
            </a:r>
            <a:endParaRPr lang="en-US" sz="800" dirty="0"/>
          </a:p>
        </p:txBody>
      </p:sp>
      <p:sp>
        <p:nvSpPr>
          <p:cNvPr id="12" name="cd_232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3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3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35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seen that film yesterday. → ✗ I saw that film yesterday. (yesterday = finished time)</a:t>
            </a:r>
            <a:endParaRPr lang="en-US" sz="950" dirty="0"/>
          </a:p>
        </p:txBody>
      </p:sp>
      <p:sp>
        <p:nvSpPr>
          <p:cNvPr id="16" name="pf_236"/>
          <p:cNvSpPr/>
          <p:nvPr/>
        </p:nvSpPr>
        <p:spPr>
          <a:xfrm rot="-90000">
            <a:off x="365760" y="2770632"/>
            <a:ext cx="2606040" cy="1892808"/>
          </a:xfrm>
          <a:prstGeom prst="roundRect">
            <a:avLst>
              <a:gd name="adj" fmla="val 82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37" descr="/home/claude/lls-course/v2/cache/2a2_booking_jpg_605x43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816352"/>
            <a:ext cx="2514600" cy="1801368"/>
          </a:xfrm>
          <a:prstGeom prst="rect">
            <a:avLst/>
          </a:prstGeom>
        </p:spPr>
      </p:pic>
      <p:sp>
        <p:nvSpPr>
          <p:cNvPr id="18" name="bd_23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23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ever book a flight online?</a:t>
            </a:r>
            <a:endParaRPr lang="en-US" sz="1150" dirty="0"/>
          </a:p>
        </p:txBody>
      </p:sp>
      <p:sp>
        <p:nvSpPr>
          <p:cNvPr id="20" name="R1_chip24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Have you ever booked a flight online?</a:t>
            </a:r>
            <a:endParaRPr lang="en-US" sz="1050" dirty="0"/>
          </a:p>
        </p:txBody>
      </p:sp>
      <p:sp>
        <p:nvSpPr>
          <p:cNvPr id="21" name="bd_24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24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just won the lottery!</a:t>
            </a:r>
            <a:endParaRPr lang="en-US" sz="1150" dirty="0"/>
          </a:p>
        </p:txBody>
      </p:sp>
      <p:sp>
        <p:nvSpPr>
          <p:cNvPr id="23" name="R2_chip24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We've just won the lottery!</a:t>
            </a:r>
            <a:endParaRPr lang="en-US" sz="1050" dirty="0"/>
          </a:p>
        </p:txBody>
      </p:sp>
      <p:sp>
        <p:nvSpPr>
          <p:cNvPr id="24" name="bd_24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24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have you bought that jacket?</a:t>
            </a:r>
            <a:endParaRPr lang="en-US" sz="1150" dirty="0"/>
          </a:p>
        </p:txBody>
      </p:sp>
      <p:sp>
        <p:nvSpPr>
          <p:cNvPr id="26" name="R3_chip24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When did you buy that jacket?</a:t>
            </a:r>
            <a:endParaRPr lang="en-US" sz="1050" dirty="0"/>
          </a:p>
        </p:txBody>
      </p:sp>
      <p:sp>
        <p:nvSpPr>
          <p:cNvPr id="27" name="bd_24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24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finished paying back the loan last month.</a:t>
            </a:r>
            <a:endParaRPr lang="en-US" sz="1100" dirty="0"/>
          </a:p>
        </p:txBody>
      </p:sp>
      <p:sp>
        <p:nvSpPr>
          <p:cNvPr id="29" name="R4_chip24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last month = finished time</a:t>
            </a:r>
            <a:endParaRPr lang="en-US" sz="1050" dirty="0"/>
          </a:p>
        </p:txBody>
      </p:sp>
      <p:sp>
        <p:nvSpPr>
          <p:cNvPr id="30" name="bd_25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25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haven't borrowed money from you last week.</a:t>
            </a:r>
            <a:endParaRPr lang="en-US" sz="1050" dirty="0"/>
          </a:p>
        </p:txBody>
      </p:sp>
      <p:sp>
        <p:nvSpPr>
          <p:cNvPr id="32" name="R5_chip25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 didn't borrow any money from you last week.</a:t>
            </a:r>
            <a:endParaRPr lang="en-US" sz="1050" dirty="0"/>
          </a:p>
        </p:txBody>
      </p:sp>
      <p:sp>
        <p:nvSpPr>
          <p:cNvPr id="33" name="bd_25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25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your sister paid you back yet?</a:t>
            </a:r>
            <a:endParaRPr lang="en-US" sz="1150" dirty="0"/>
          </a:p>
        </p:txBody>
      </p:sp>
      <p:sp>
        <p:nvSpPr>
          <p:cNvPr id="35" name="R6_chip25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yet → present perfect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5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Build it fast!</a:t>
            </a:r>
            <a:endParaRPr lang="en-US" sz="2500" dirty="0"/>
          </a:p>
        </p:txBody>
      </p:sp>
      <p:pic>
        <p:nvPicPr>
          <p:cNvPr id="6" name="brP_2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6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sentence. Right tense = point!</a:t>
            </a:r>
            <a:endParaRPr lang="en-US" sz="1250" dirty="0"/>
          </a:p>
        </p:txBody>
      </p:sp>
      <p:sp>
        <p:nvSpPr>
          <p:cNvPr id="8" name="insIT_26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la frase. Tempo giusto = punto!</a:t>
            </a:r>
            <a:endParaRPr lang="en-US" sz="950" dirty="0"/>
          </a:p>
        </p:txBody>
      </p:sp>
      <p:sp>
        <p:nvSpPr>
          <p:cNvPr id="9" name="note_26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 game</a:t>
            </a:r>
            <a:endParaRPr lang="en-US" sz="1250" dirty="0"/>
          </a:p>
        </p:txBody>
      </p:sp>
      <p:pic>
        <p:nvPicPr>
          <p:cNvPr id="10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Grammar game</a:t>
            </a:r>
            <a:endParaRPr lang="en-US" sz="800" dirty="0"/>
          </a:p>
        </p:txBody>
      </p:sp>
      <p:sp>
        <p:nvSpPr>
          <p:cNvPr id="12" name="cd_265"/>
          <p:cNvSpPr/>
          <p:nvPr/>
        </p:nvSpPr>
        <p:spPr>
          <a:xfrm>
            <a:off x="320040" y="1417320"/>
            <a:ext cx="2697480" cy="2036064"/>
          </a:xfrm>
          <a:prstGeom prst="roundRect">
            <a:avLst>
              <a:gd name="adj" fmla="val 628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6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6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268"/>
          <p:cNvSpPr/>
          <p:nvPr/>
        </p:nvSpPr>
        <p:spPr>
          <a:xfrm>
            <a:off x="886968" y="1911096"/>
            <a:ext cx="2039112" cy="1469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words.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parole.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make a sentence – 15 seconds!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fate una frase – 15 secondi!</a:t>
            </a:r>
            <a:endParaRPr lang="en-US" sz="1200" dirty="0"/>
          </a:p>
        </p:txBody>
      </p:sp>
      <p:sp>
        <p:nvSpPr>
          <p:cNvPr id="16" name="pf_269"/>
          <p:cNvSpPr/>
          <p:nvPr/>
        </p:nvSpPr>
        <p:spPr>
          <a:xfrm rot="-120000">
            <a:off x="1119487" y="3590544"/>
            <a:ext cx="1052866" cy="1143000"/>
          </a:xfrm>
          <a:prstGeom prst="roundRect">
            <a:avLst>
              <a:gd name="adj" fmla="val 147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70" descr="/home/claude/lls-course/v2/cache/spare_1a2_bill_jpg_231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165207" y="3636264"/>
            <a:ext cx="961426" cy="1051560"/>
          </a:xfrm>
          <a:prstGeom prst="rect">
            <a:avLst/>
          </a:prstGeom>
        </p:spPr>
      </p:pic>
      <p:sp>
        <p:nvSpPr>
          <p:cNvPr id="18" name="bd_27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27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lose / my phone / yesterday</a:t>
            </a:r>
            <a:endParaRPr lang="en-US" sz="1250" dirty="0"/>
          </a:p>
        </p:txBody>
      </p:sp>
      <p:sp>
        <p:nvSpPr>
          <p:cNvPr id="20" name="chip_27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lost my phone yesterday.</a:t>
            </a:r>
            <a:endParaRPr lang="en-US" sz="1200" dirty="0"/>
          </a:p>
        </p:txBody>
      </p:sp>
      <p:sp>
        <p:nvSpPr>
          <p:cNvPr id="21" name="bd_27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27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just / lose / my phone!</a:t>
            </a:r>
            <a:endParaRPr lang="en-US" sz="1250" dirty="0"/>
          </a:p>
        </p:txBody>
      </p:sp>
      <p:sp>
        <p:nvSpPr>
          <p:cNvPr id="23" name="R1_chip27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just lost my phone!</a:t>
            </a:r>
            <a:endParaRPr lang="en-US" sz="1200" dirty="0"/>
          </a:p>
        </p:txBody>
      </p:sp>
      <p:sp>
        <p:nvSpPr>
          <p:cNvPr id="24" name="bd_27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27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pay / the bill / yet?</a:t>
            </a:r>
            <a:endParaRPr lang="en-US" sz="1250" dirty="0"/>
          </a:p>
        </p:txBody>
      </p:sp>
      <p:sp>
        <p:nvSpPr>
          <p:cNvPr id="26" name="R2_chip27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paid the bill yet?</a:t>
            </a:r>
            <a:endParaRPr lang="en-US" sz="1200" dirty="0"/>
          </a:p>
        </p:txBody>
      </p:sp>
      <p:sp>
        <p:nvSpPr>
          <p:cNvPr id="27" name="bd_28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28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ever / win / a prize?</a:t>
            </a:r>
            <a:endParaRPr lang="en-US" sz="1250" dirty="0"/>
          </a:p>
        </p:txBody>
      </p:sp>
      <p:sp>
        <p:nvSpPr>
          <p:cNvPr id="29" name="R3_chip28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won a prize?</a:t>
            </a:r>
            <a:endParaRPr lang="en-US" sz="1200" dirty="0"/>
          </a:p>
        </p:txBody>
      </p:sp>
      <p:sp>
        <p:nvSpPr>
          <p:cNvPr id="30" name="bd_28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28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/ you / buy / those shoes?</a:t>
            </a:r>
            <a:endParaRPr lang="en-US" sz="1250" dirty="0"/>
          </a:p>
        </p:txBody>
      </p:sp>
      <p:sp>
        <p:nvSpPr>
          <p:cNvPr id="32" name="R4_chip28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When did you buy those shoes?</a:t>
            </a:r>
            <a:endParaRPr lang="en-US" sz="1200" dirty="0"/>
          </a:p>
        </p:txBody>
      </p:sp>
      <p:sp>
        <p:nvSpPr>
          <p:cNvPr id="33" name="bd_28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28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never / borrow / money from a bank</a:t>
            </a:r>
            <a:endParaRPr lang="en-US" sz="1250" dirty="0"/>
          </a:p>
        </p:txBody>
      </p:sp>
      <p:sp>
        <p:nvSpPr>
          <p:cNvPr id="35" name="R5_chip28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never borrowed money from a bank.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9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ping-pong</a:t>
            </a:r>
            <a:endParaRPr lang="en-US" sz="2500" dirty="0"/>
          </a:p>
        </p:txBody>
      </p:sp>
      <p:pic>
        <p:nvPicPr>
          <p:cNvPr id="6" name="brP_2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93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past simple and the participle!</a:t>
            </a:r>
            <a:endParaRPr lang="en-US" sz="1250" dirty="0"/>
          </a:p>
        </p:txBody>
      </p:sp>
      <p:sp>
        <p:nvSpPr>
          <p:cNvPr id="8" name="insIT_2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past simple e il participio!</a:t>
            </a:r>
            <a:endParaRPr lang="en-US" sz="950" dirty="0"/>
          </a:p>
        </p:txBody>
      </p:sp>
      <p:sp>
        <p:nvSpPr>
          <p:cNvPr id="9" name="note_29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150" dirty="0"/>
          </a:p>
        </p:txBody>
      </p:sp>
      <p:pic>
        <p:nvPicPr>
          <p:cNvPr id="10" name="logo_2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prep · irregular verbs   ·   📖 SB p.18 · 5a verbs · Irregular verbs p.165</a:t>
            </a:r>
            <a:endParaRPr lang="en-US" sz="800" dirty="0"/>
          </a:p>
        </p:txBody>
      </p:sp>
      <p:sp>
        <p:nvSpPr>
          <p:cNvPr id="12" name="cd_298"/>
          <p:cNvSpPr/>
          <p:nvPr/>
        </p:nvSpPr>
        <p:spPr>
          <a:xfrm>
            <a:off x="320040" y="1417320"/>
            <a:ext cx="2697480" cy="2231136"/>
          </a:xfrm>
          <a:prstGeom prst="roundRect">
            <a:avLst>
              <a:gd name="adj" fmla="val 57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9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30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301"/>
          <p:cNvSpPr/>
          <p:nvPr/>
        </p:nvSpPr>
        <p:spPr>
          <a:xfrm>
            <a:off x="886968" y="1911096"/>
            <a:ext cx="2039112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A says the verb.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A dice il verbo.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Then swap.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 Poi scambiatevi.</a:t>
            </a:r>
            <a:endParaRPr lang="en-US" sz="1200" dirty="0"/>
          </a:p>
        </p:txBody>
      </p:sp>
      <p:sp>
        <p:nvSpPr>
          <p:cNvPr id="16" name="st_302"/>
          <p:cNvSpPr/>
          <p:nvPr/>
        </p:nvSpPr>
        <p:spPr>
          <a:xfrm rot="-180000">
            <a:off x="502920" y="3831336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303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304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</a:t>
            </a:r>
            <a:endParaRPr lang="en-US" sz="1250" dirty="0"/>
          </a:p>
        </p:txBody>
      </p:sp>
      <p:sp>
        <p:nvSpPr>
          <p:cNvPr id="19" name="chip_305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saved · saved /seɪvd/</a:t>
            </a:r>
            <a:endParaRPr lang="en-US" sz="900" dirty="0"/>
          </a:p>
        </p:txBody>
      </p:sp>
      <p:sp>
        <p:nvSpPr>
          <p:cNvPr id="20" name="bd_306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307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250" dirty="0"/>
          </a:p>
        </p:txBody>
      </p:sp>
      <p:sp>
        <p:nvSpPr>
          <p:cNvPr id="22" name="R1_chip308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lent · lent</a:t>
            </a:r>
            <a:endParaRPr lang="en-US" sz="900" dirty="0"/>
          </a:p>
        </p:txBody>
      </p:sp>
      <p:sp>
        <p:nvSpPr>
          <p:cNvPr id="23" name="bd_309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310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250" dirty="0"/>
          </a:p>
        </p:txBody>
      </p:sp>
      <p:sp>
        <p:nvSpPr>
          <p:cNvPr id="25" name="R2_chip311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wasted · wasted /ˈweɪstɪd/</a:t>
            </a:r>
            <a:endParaRPr lang="en-US" sz="900" dirty="0"/>
          </a:p>
        </p:txBody>
      </p:sp>
      <p:sp>
        <p:nvSpPr>
          <p:cNvPr id="26" name="bd_312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313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buy</a:t>
            </a:r>
            <a:endParaRPr lang="en-US" sz="1250" dirty="0"/>
          </a:p>
        </p:txBody>
      </p:sp>
      <p:sp>
        <p:nvSpPr>
          <p:cNvPr id="28" name="R3_chip314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bought · bought /bɔːt/</a:t>
            </a:r>
            <a:endParaRPr lang="en-US" sz="900" dirty="0"/>
          </a:p>
        </p:txBody>
      </p:sp>
      <p:sp>
        <p:nvSpPr>
          <p:cNvPr id="29" name="bd_315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316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lose</a:t>
            </a:r>
            <a:endParaRPr lang="en-US" sz="1250" dirty="0"/>
          </a:p>
        </p:txBody>
      </p:sp>
      <p:sp>
        <p:nvSpPr>
          <p:cNvPr id="31" name="R4_chip317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lost · lost</a:t>
            </a:r>
            <a:endParaRPr lang="en-US" sz="900" dirty="0"/>
          </a:p>
        </p:txBody>
      </p:sp>
      <p:sp>
        <p:nvSpPr>
          <p:cNvPr id="32" name="bd_318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319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250" dirty="0"/>
          </a:p>
        </p:txBody>
      </p:sp>
      <p:sp>
        <p:nvSpPr>
          <p:cNvPr id="34" name="R5_chip320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won · won /wʌn/</a:t>
            </a:r>
            <a:endParaRPr lang="en-US" sz="900" dirty="0"/>
          </a:p>
        </p:txBody>
      </p:sp>
      <p:sp>
        <p:nvSpPr>
          <p:cNvPr id="35" name="bd_321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22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</a:t>
            </a:r>
            <a:endParaRPr lang="en-US" sz="1250" dirty="0"/>
          </a:p>
        </p:txBody>
      </p:sp>
      <p:sp>
        <p:nvSpPr>
          <p:cNvPr id="37" name="R6_chip323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forgot · forgotten</a:t>
            </a:r>
            <a:endParaRPr lang="en-US" sz="900" dirty="0"/>
          </a:p>
        </p:txBody>
      </p:sp>
      <p:sp>
        <p:nvSpPr>
          <p:cNvPr id="38" name="bd_324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325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out · sell</a:t>
            </a:r>
            <a:endParaRPr lang="en-US" sz="1250" dirty="0"/>
          </a:p>
        </p:txBody>
      </p:sp>
      <p:sp>
        <p:nvSpPr>
          <p:cNvPr id="40" name="R7_chip326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took out · taken out · sold · sold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2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Pino's lottery ticket</a:t>
            </a:r>
            <a:endParaRPr lang="en-US" sz="2500" dirty="0"/>
          </a:p>
        </p:txBody>
      </p:sp>
      <p:pic>
        <p:nvPicPr>
          <p:cNvPr id="6" name="brP_3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31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3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· class story (TPRS)</a:t>
            </a:r>
            <a:endParaRPr lang="en-US" sz="800" dirty="0"/>
          </a:p>
        </p:txBody>
      </p:sp>
      <p:sp>
        <p:nvSpPr>
          <p:cNvPr id="12" name="pf_336"/>
          <p:cNvSpPr/>
          <p:nvPr/>
        </p:nvSpPr>
        <p:spPr>
          <a:xfrm rot="-90000">
            <a:off x="754032" y="1417320"/>
            <a:ext cx="1875217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37" descr="/home/claude/lls-course/v2/cache/2a2_lottery_letter_jpg_429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99752" y="1463040"/>
            <a:ext cx="1783777" cy="1188720"/>
          </a:xfrm>
          <a:prstGeom prst="rect">
            <a:avLst/>
          </a:prstGeom>
        </p:spPr>
      </p:pic>
      <p:sp>
        <p:nvSpPr>
          <p:cNvPr id="14" name="cd_338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39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40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41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won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ha mai vinto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bought (last Saturday)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ha comprato (sabato scorso)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hasn't got it yet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l'ha ancora preso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already bought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ha già comprato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just lost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ho appena perso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lend me…?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Mi presti…?</a:t>
            </a:r>
            <a:endParaRPr lang="en-US" sz="750" dirty="0"/>
          </a:p>
        </p:txBody>
      </p:sp>
      <p:sp>
        <p:nvSpPr>
          <p:cNvPr id="18" name="R1_sb342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343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Pino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won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anything. But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Saturday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bought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lottery ticket.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Pino ever won anything? · When did he buy the ticket?</a:t>
            </a:r>
            <a:endParaRPr lang="en-US" sz="1000" dirty="0"/>
          </a:p>
        </p:txBody>
      </p:sp>
      <p:sp>
        <p:nvSpPr>
          <p:cNvPr id="20" name="R2_sb344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345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Monday 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numbers. 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€10,000!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win €100 or €10,000? · When did he check the numbers?</a:t>
            </a:r>
            <a:endParaRPr lang="en-US" sz="1150" dirty="0"/>
          </a:p>
        </p:txBody>
      </p:sp>
      <p:sp>
        <p:nvSpPr>
          <p:cNvPr id="22" name="R3_sb346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347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hasn't got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money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he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already 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new trainers!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he got the money yet? · What has he already bought? (you decide!)</a:t>
            </a:r>
            <a:endParaRPr lang="en-US" sz="1100" dirty="0"/>
          </a:p>
        </p:txBody>
      </p:sp>
      <p:sp>
        <p:nvSpPr>
          <p:cNvPr id="24" name="R4_sb348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349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friend phones: 'I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just lost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wallet. Can you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me €500?'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his friend lost his wallet or his phone? · What does he want?</a:t>
            </a:r>
            <a:endParaRPr lang="en-US" sz="1100" dirty="0"/>
          </a:p>
        </p:txBody>
      </p:sp>
      <p:sp>
        <p:nvSpPr>
          <p:cNvPr id="26" name="R5_sb350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351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Pino looks for the ticket. Where is it?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in his jeans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yesterday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put it in his jeans or his bag? · When did he put it there?</a:t>
            </a:r>
            <a:endParaRPr lang="en-US" sz="1050" dirty="0"/>
          </a:p>
        </p:txBody>
      </p:sp>
      <p:sp>
        <p:nvSpPr>
          <p:cNvPr id="28" name="R6_sb352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353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Nonna smiles: 'Don't worry – I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just washed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your jeans!'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Who has just washed the jeans? · And you – have you ever lost something important?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356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One lie!</a:t>
            </a:r>
            <a:endParaRPr lang="en-US" sz="2500" dirty="0"/>
          </a:p>
        </p:txBody>
      </p:sp>
      <p:pic>
        <p:nvPicPr>
          <p:cNvPr id="6" name="brP_3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5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Have you ever…? One 'yes' is a lie!</a:t>
            </a:r>
            <a:endParaRPr lang="en-US" sz="1250" dirty="0"/>
          </a:p>
        </p:txBody>
      </p:sp>
      <p:sp>
        <p:nvSpPr>
          <p:cNvPr id="8" name="insIT_3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Have you ever…? Un 'sì' è una bugia!</a:t>
            </a:r>
            <a:endParaRPr lang="en-US" sz="950" dirty="0"/>
          </a:p>
        </p:txBody>
      </p:sp>
      <p:sp>
        <p:nvSpPr>
          <p:cNvPr id="9" name="note_36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3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· the money questionnaire   ·   📖 SB p.18 · 5a, 5b</a:t>
            </a:r>
            <a:endParaRPr lang="en-US" sz="800" dirty="0"/>
          </a:p>
        </p:txBody>
      </p:sp>
      <p:sp>
        <p:nvSpPr>
          <p:cNvPr id="12" name="pf_363"/>
          <p:cNvSpPr/>
          <p:nvPr/>
        </p:nvSpPr>
        <p:spPr>
          <a:xfrm rot="-120000">
            <a:off x="742588" y="1371600"/>
            <a:ext cx="1943824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64" descr="/home/claude/lls-course/v2/cache/2a2_found_money_jpg_446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88308" y="1417320"/>
            <a:ext cx="1852384" cy="1234440"/>
          </a:xfrm>
          <a:prstGeom prst="rect">
            <a:avLst/>
          </a:prstGeom>
        </p:spPr>
      </p:pic>
      <p:sp>
        <p:nvSpPr>
          <p:cNvPr id="14" name="cd_365"/>
          <p:cNvSpPr/>
          <p:nvPr/>
        </p:nvSpPr>
        <p:spPr>
          <a:xfrm>
            <a:off x="320040" y="2880360"/>
            <a:ext cx="278892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66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367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368"/>
          <p:cNvSpPr/>
          <p:nvPr/>
        </p:nvSpPr>
        <p:spPr>
          <a:xfrm>
            <a:off x="886968" y="3374136"/>
            <a:ext cx="213055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did you…? Where…?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was it? What happened?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1100" dirty="0"/>
          </a:p>
        </p:txBody>
      </p:sp>
      <p:sp>
        <p:nvSpPr>
          <p:cNvPr id="18" name="R1_qb36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370"/>
          <p:cNvSpPr/>
          <p:nvPr/>
        </p:nvSpPr>
        <p:spPr>
          <a:xfrm>
            <a:off x="3675888" y="141732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saved for something for a long time?</a:t>
            </a:r>
            <a:endParaRPr lang="en-US" sz="8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saved for six months to pay the deposit on my car. – How much was it?</a:t>
            </a:r>
            <a:endParaRPr lang="en-US" sz="850" dirty="0"/>
          </a:p>
        </p:txBody>
      </p:sp>
      <p:pic>
        <p:nvPicPr>
          <p:cNvPr id="20" name="R1_th371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1435608"/>
            <a:ext cx="640080" cy="446532"/>
          </a:xfrm>
          <a:prstGeom prst="rect">
            <a:avLst/>
          </a:prstGeom>
        </p:spPr>
      </p:pic>
      <p:sp>
        <p:nvSpPr>
          <p:cNvPr id="21" name="R2_qb372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373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lent money to somebody who didn't pay you back?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But my brother lent me some money last week…</a:t>
            </a:r>
            <a:endParaRPr lang="en-US" sz="950" dirty="0"/>
          </a:p>
        </p:txBody>
      </p:sp>
      <p:sp>
        <p:nvSpPr>
          <p:cNvPr id="23" name="R3_qb374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375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wasted money on something you've never used?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Yes! I bought a guitar two years ago. I've never played it!</a:t>
            </a:r>
            <a:endParaRPr lang="en-US" sz="950" dirty="0"/>
          </a:p>
        </p:txBody>
      </p:sp>
      <p:sp>
        <p:nvSpPr>
          <p:cNvPr id="25" name="R4_qb376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377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wallet or purse?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have. I lost it on the bus last summer.</a:t>
            </a:r>
            <a:endParaRPr lang="en-US" sz="950" dirty="0"/>
          </a:p>
        </p:txBody>
      </p:sp>
      <p:sp>
        <p:nvSpPr>
          <p:cNvPr id="27" name="R5_qb378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379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 (e.g. in a lottery)?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I won €20 in a school raffle!</a:t>
            </a:r>
            <a:endParaRPr lang="en-US" sz="950" dirty="0"/>
          </a:p>
        </p:txBody>
      </p:sp>
      <p:sp>
        <p:nvSpPr>
          <p:cNvPr id="29" name="R6_qb380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R6_sq381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bought or sold something on eBay or a similar site?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sold my old phone on Vinted last month.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84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it a scam?</a:t>
            </a:r>
            <a:endParaRPr lang="en-US" sz="2500" dirty="0"/>
          </a:p>
        </p:txBody>
      </p:sp>
      <p:pic>
        <p:nvPicPr>
          <p:cNvPr id="6" name="brP_3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86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meaning. Then click.</a:t>
            </a:r>
            <a:endParaRPr lang="en-US" sz="1250" dirty="0"/>
          </a:p>
        </p:txBody>
      </p:sp>
      <p:sp>
        <p:nvSpPr>
          <p:cNvPr id="8" name="insIT_38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il significato. Poi clicca.</a:t>
            </a:r>
            <a:endParaRPr lang="en-US" sz="950" dirty="0"/>
          </a:p>
        </p:txBody>
      </p:sp>
      <p:sp>
        <p:nvSpPr>
          <p:cNvPr id="9" name="note_38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Controlled practice</a:t>
            </a:r>
            <a:endParaRPr lang="en-US" sz="1250" dirty="0"/>
          </a:p>
        </p:txBody>
      </p:sp>
      <p:pic>
        <p:nvPicPr>
          <p:cNvPr id="10" name="logo_38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9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Reading &amp; listening · key words first   ·   📖 SB p.19 · 6a · words from the email and audio 2.12</a:t>
            </a:r>
            <a:endParaRPr lang="en-US" sz="800" dirty="0"/>
          </a:p>
        </p:txBody>
      </p:sp>
      <p:sp>
        <p:nvSpPr>
          <p:cNvPr id="12" name="cd_391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9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39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394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scam /skæm/ → a dishonest way of making money · una truffa</a:t>
            </a:r>
            <a:endParaRPr lang="en-US" sz="900" dirty="0"/>
          </a:p>
        </p:txBody>
      </p:sp>
      <p:sp>
        <p:nvSpPr>
          <p:cNvPr id="16" name="pf_395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96" descr="/home/claude/lls-course/v2/cache/spare_future_technology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39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39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scammer</a:t>
            </a:r>
            <a:endParaRPr lang="en-US" sz="1150" dirty="0"/>
          </a:p>
        </p:txBody>
      </p:sp>
      <p:sp>
        <p:nvSpPr>
          <p:cNvPr id="20" name="R1_chip39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does scams · un truffatore</a:t>
            </a:r>
            <a:endParaRPr lang="en-US" sz="1050" dirty="0"/>
          </a:p>
        </p:txBody>
      </p:sp>
      <p:sp>
        <p:nvSpPr>
          <p:cNvPr id="21" name="bd_40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40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victim</a:t>
            </a:r>
            <a:endParaRPr lang="en-US" sz="1150" dirty="0"/>
          </a:p>
        </p:txBody>
      </p:sp>
      <p:sp>
        <p:nvSpPr>
          <p:cNvPr id="23" name="R2_chip40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a scam happens to · una vittima</a:t>
            </a:r>
            <a:endParaRPr lang="en-US" sz="1050" dirty="0"/>
          </a:p>
        </p:txBody>
      </p:sp>
      <p:sp>
        <p:nvSpPr>
          <p:cNvPr id="24" name="bd_40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40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6" name="R3_chip40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think something is wrong · sospettoso</a:t>
            </a:r>
            <a:endParaRPr lang="en-US" sz="1050" dirty="0"/>
          </a:p>
        </p:txBody>
      </p:sp>
      <p:sp>
        <p:nvSpPr>
          <p:cNvPr id="27" name="bd_40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40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bank / card details</a:t>
            </a:r>
            <a:endParaRPr lang="en-US" sz="1150" dirty="0"/>
          </a:p>
        </p:txBody>
      </p:sp>
      <p:sp>
        <p:nvSpPr>
          <p:cNvPr id="29" name="R4_chip40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account number, PIN… · i dati bancari</a:t>
            </a:r>
            <a:endParaRPr lang="en-US" sz="1050" dirty="0"/>
          </a:p>
        </p:txBody>
      </p:sp>
      <p:sp>
        <p:nvSpPr>
          <p:cNvPr id="30" name="bd_40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41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transfer money</a:t>
            </a:r>
            <a:endParaRPr lang="en-US" sz="1150" dirty="0"/>
          </a:p>
        </p:txBody>
      </p:sp>
      <p:sp>
        <p:nvSpPr>
          <p:cNvPr id="32" name="R5_chip41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money to another account · trasferire</a:t>
            </a:r>
            <a:endParaRPr lang="en-US" sz="1050" dirty="0"/>
          </a:p>
        </p:txBody>
      </p:sp>
      <p:sp>
        <p:nvSpPr>
          <p:cNvPr id="33" name="bd_41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41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hang up</a:t>
            </a:r>
            <a:endParaRPr lang="en-US" sz="1150" dirty="0"/>
          </a:p>
        </p:txBody>
      </p:sp>
      <p:sp>
        <p:nvSpPr>
          <p:cNvPr id="35" name="R6_chip41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end a phone call · riattaccare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17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076956" cy="402336"/>
          </a:xfrm>
          <a:prstGeom prst="rect">
            <a:avLst/>
          </a:prstGeom>
        </p:spPr>
      </p:pic>
      <p:sp>
        <p:nvSpPr>
          <p:cNvPr id="7" name="ins_419"/>
          <p:cNvSpPr/>
          <p:nvPr/>
        </p:nvSpPr>
        <p:spPr>
          <a:xfrm>
            <a:off x="1353312" y="731520"/>
            <a:ext cx="28209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Would you reply? Why?</a:t>
            </a:r>
            <a:endParaRPr lang="en-US" sz="1250" dirty="0"/>
          </a:p>
        </p:txBody>
      </p:sp>
      <p:sp>
        <p:nvSpPr>
          <p:cNvPr id="8" name="insIT_4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Risponderesti? Perché?</a:t>
            </a:r>
            <a:endParaRPr lang="en-US" sz="950" dirty="0"/>
          </a:p>
        </p:txBody>
      </p:sp>
      <p:sp>
        <p:nvSpPr>
          <p:cNvPr id="9" name="note_42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🔁 CHANGE THE WORD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150" dirty="0"/>
          </a:p>
        </p:txBody>
      </p:sp>
      <p:pic>
        <p:nvPicPr>
          <p:cNvPr id="10" name="logo_4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Reading · a scam email · part 1   ·   📖 SB p.19 · 6b, 6c</a:t>
            </a:r>
            <a:endParaRPr lang="en-US" sz="800" dirty="0"/>
          </a:p>
        </p:txBody>
      </p:sp>
      <p:sp>
        <p:nvSpPr>
          <p:cNvPr id="12" name="cd_424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425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From: Naomi Cooper</a:t>
            </a:r>
            <a:endParaRPr lang="en-US" sz="1700" dirty="0"/>
          </a:p>
        </p:txBody>
      </p:sp>
      <p:sp>
        <p:nvSpPr>
          <p:cNvPr id="14" name="ln_426"/>
          <p:cNvSpPr/>
          <p:nvPr/>
        </p:nvSpPr>
        <p:spPr>
          <a:xfrm>
            <a:off x="548640" y="1920240"/>
            <a:ext cx="5349240" cy="2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(Businness)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300" dirty="0"/>
          </a:p>
        </p:txBody>
      </p:sp>
      <p:sp>
        <p:nvSpPr>
          <p:cNvPr id="15" name="R1_lnA427"/>
          <p:cNvSpPr/>
          <p:nvPr/>
        </p:nvSpPr>
        <p:spPr>
          <a:xfrm>
            <a:off x="548640" y="1920240"/>
            <a:ext cx="5349240" cy="2379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300" dirty="0"/>
          </a:p>
        </p:txBody>
      </p:sp>
      <p:sp>
        <p:nvSpPr>
          <p:cNvPr id="16" name="ln_428"/>
          <p:cNvSpPr/>
          <p:nvPr/>
        </p:nvSpPr>
        <p:spPr>
          <a:xfrm>
            <a:off x="548640" y="2158184"/>
            <a:ext cx="5349240" cy="221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Dear Friend,</a:t>
            </a:r>
            <a:endParaRPr lang="en-US" sz="1300" dirty="0"/>
          </a:p>
        </p:txBody>
      </p:sp>
      <p:sp>
        <p:nvSpPr>
          <p:cNvPr id="17" name="ln_429"/>
          <p:cNvSpPr/>
          <p:nvPr/>
        </p:nvSpPr>
        <p:spPr>
          <a:xfrm>
            <a:off x="548640" y="2379526"/>
            <a:ext cx="5349240" cy="625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know this message will be a surprise. I am Naomi Cooper and I work at the International Bank in Lagos, Nigeria.</a:t>
            </a:r>
            <a:endParaRPr lang="en-US" sz="1300" dirty="0"/>
          </a:p>
        </p:txBody>
      </p:sp>
      <p:sp>
        <p:nvSpPr>
          <p:cNvPr id="18" name="ln_430"/>
          <p:cNvSpPr/>
          <p:nvPr/>
        </p:nvSpPr>
        <p:spPr>
          <a:xfrm>
            <a:off x="548640" y="3004820"/>
            <a:ext cx="5349240" cy="55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(have died)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(there)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300" dirty="0"/>
          </a:p>
        </p:txBody>
      </p:sp>
      <p:sp>
        <p:nvSpPr>
          <p:cNvPr id="19" name="R2_lnA431"/>
          <p:cNvSpPr/>
          <p:nvPr/>
        </p:nvSpPr>
        <p:spPr>
          <a:xfrm>
            <a:off x="548640" y="3004820"/>
            <a:ext cx="5349240" cy="55335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died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their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300" dirty="0"/>
          </a:p>
        </p:txBody>
      </p:sp>
      <p:sp>
        <p:nvSpPr>
          <p:cNvPr id="20" name="ln_432"/>
          <p:cNvSpPr/>
          <p:nvPr/>
        </p:nvSpPr>
        <p:spPr>
          <a:xfrm>
            <a:off x="548640" y="3558177"/>
            <a:ext cx="5349240" cy="49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am needing)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300" dirty="0"/>
          </a:p>
        </p:txBody>
      </p:sp>
      <p:sp>
        <p:nvSpPr>
          <p:cNvPr id="21" name="R3_lnA433"/>
          <p:cNvSpPr/>
          <p:nvPr/>
        </p:nvSpPr>
        <p:spPr>
          <a:xfrm>
            <a:off x="548640" y="3558177"/>
            <a:ext cx="5349240" cy="4924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need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300" dirty="0"/>
          </a:p>
        </p:txBody>
      </p:sp>
      <p:sp>
        <p:nvSpPr>
          <p:cNvPr id="22" name="ln_434"/>
          <p:cNvSpPr/>
          <p:nvPr/>
        </p:nvSpPr>
        <p:spPr>
          <a:xfrm>
            <a:off x="548640" y="4050665"/>
            <a:ext cx="5349240" cy="658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 to transfer)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300" dirty="0"/>
          </a:p>
        </p:txBody>
      </p:sp>
      <p:sp>
        <p:nvSpPr>
          <p:cNvPr id="23" name="R4_lnA435"/>
          <p:cNvSpPr/>
          <p:nvPr/>
        </p:nvSpPr>
        <p:spPr>
          <a:xfrm>
            <a:off x="548640" y="4050665"/>
            <a:ext cx="5349240" cy="658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can transfer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300" dirty="0"/>
          </a:p>
        </p:txBody>
      </p:sp>
      <p:sp>
        <p:nvSpPr>
          <p:cNvPr id="24" name="pf_436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437" descr="/home/claude/lls-course/v2/cache/2a2_scam_email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6" name="cd_438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439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440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441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Mistakes = a sign of a scam!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and correct ten.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44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446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mistakes 6–10. First pair wins!</a:t>
            </a:r>
            <a:endParaRPr lang="en-US" sz="1250" dirty="0"/>
          </a:p>
        </p:txBody>
      </p:sp>
      <p:sp>
        <p:nvSpPr>
          <p:cNvPr id="8" name="insIT_4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Correggi gli errori 6–10. Vince la prima coppia!</a:t>
            </a:r>
            <a:endParaRPr lang="en-US" sz="950" dirty="0"/>
          </a:p>
        </p:txBody>
      </p:sp>
      <p:sp>
        <p:nvSpPr>
          <p:cNvPr id="9" name="note_44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🔁 CHANGE THE WORD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150" dirty="0"/>
          </a:p>
        </p:txBody>
      </p:sp>
      <p:pic>
        <p:nvPicPr>
          <p:cNvPr id="10" name="logo_4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Reading · a scam email · part 2   ·   📖 SB p.19 · 6c</a:t>
            </a:r>
            <a:endParaRPr lang="en-US" sz="800" dirty="0"/>
          </a:p>
        </p:txBody>
      </p:sp>
      <p:sp>
        <p:nvSpPr>
          <p:cNvPr id="12" name="cd_45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45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…the email continues</a:t>
            </a:r>
            <a:endParaRPr lang="en-US" sz="1700" dirty="0"/>
          </a:p>
        </p:txBody>
      </p:sp>
      <p:sp>
        <p:nvSpPr>
          <p:cNvPr id="14" name="ln_453"/>
          <p:cNvSpPr/>
          <p:nvPr/>
        </p:nvSpPr>
        <p:spPr>
          <a:xfrm>
            <a:off x="548640" y="1920240"/>
            <a:ext cx="5349240" cy="573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(dolars)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(acount)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300" dirty="0"/>
          </a:p>
        </p:txBody>
      </p:sp>
      <p:sp>
        <p:nvSpPr>
          <p:cNvPr id="15" name="R1_lnA454"/>
          <p:cNvSpPr/>
          <p:nvPr/>
        </p:nvSpPr>
        <p:spPr>
          <a:xfrm>
            <a:off x="548640" y="1920240"/>
            <a:ext cx="5349240" cy="57347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dollars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account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300" dirty="0"/>
          </a:p>
        </p:txBody>
      </p:sp>
      <p:sp>
        <p:nvSpPr>
          <p:cNvPr id="16" name="ln_455"/>
          <p:cNvSpPr/>
          <p:nvPr/>
        </p:nvSpPr>
        <p:spPr>
          <a:xfrm>
            <a:off x="548640" y="2493719"/>
            <a:ext cx="5349240" cy="24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will be very quick and easy.</a:t>
            </a:r>
            <a:endParaRPr lang="en-US" sz="1300" dirty="0"/>
          </a:p>
        </p:txBody>
      </p:sp>
      <p:sp>
        <p:nvSpPr>
          <p:cNvPr id="17" name="ln_456"/>
          <p:cNvSpPr/>
          <p:nvPr/>
        </p:nvSpPr>
        <p:spPr>
          <a:xfrm>
            <a:off x="548640" y="2735184"/>
            <a:ext cx="5349240" cy="7545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(him)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300" dirty="0"/>
          </a:p>
        </p:txBody>
      </p:sp>
      <p:sp>
        <p:nvSpPr>
          <p:cNvPr id="18" name="R2_lnA457"/>
          <p:cNvSpPr/>
          <p:nvPr/>
        </p:nvSpPr>
        <p:spPr>
          <a:xfrm>
            <a:off x="548640" y="2735184"/>
            <a:ext cx="5349240" cy="75457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300" dirty="0"/>
          </a:p>
        </p:txBody>
      </p:sp>
      <p:sp>
        <p:nvSpPr>
          <p:cNvPr id="19" name="ln_458"/>
          <p:cNvSpPr/>
          <p:nvPr/>
        </p:nvSpPr>
        <p:spPr>
          <a:xfrm>
            <a:off x="548640" y="3489762"/>
            <a:ext cx="5349240" cy="718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want organize)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300" dirty="0"/>
          </a:p>
        </p:txBody>
      </p:sp>
      <p:sp>
        <p:nvSpPr>
          <p:cNvPr id="20" name="R3_lnA459"/>
          <p:cNvSpPr/>
          <p:nvPr/>
        </p:nvSpPr>
        <p:spPr>
          <a:xfrm>
            <a:off x="548640" y="3489762"/>
            <a:ext cx="5349240" cy="71835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want to organize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300" dirty="0"/>
          </a:p>
        </p:txBody>
      </p:sp>
      <p:sp>
        <p:nvSpPr>
          <p:cNvPr id="21" name="ln_460"/>
          <p:cNvSpPr/>
          <p:nvPr/>
        </p:nvSpPr>
        <p:spPr>
          <a:xfrm>
            <a:off x="548640" y="4208120"/>
            <a:ext cx="5349240" cy="25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(you)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300" dirty="0"/>
          </a:p>
        </p:txBody>
      </p:sp>
      <p:sp>
        <p:nvSpPr>
          <p:cNvPr id="22" name="R4_lnA461"/>
          <p:cNvSpPr/>
          <p:nvPr/>
        </p:nvSpPr>
        <p:spPr>
          <a:xfrm>
            <a:off x="548640" y="4208120"/>
            <a:ext cx="5349240" cy="2595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your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300" dirty="0"/>
          </a:p>
        </p:txBody>
      </p:sp>
      <p:sp>
        <p:nvSpPr>
          <p:cNvPr id="23" name="ln_462"/>
          <p:cNvSpPr/>
          <p:nvPr/>
        </p:nvSpPr>
        <p:spPr>
          <a:xfrm>
            <a:off x="548640" y="4467695"/>
            <a:ext cx="5349240" cy="24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Naomi Cooper</a:t>
            </a:r>
            <a:endParaRPr lang="en-US" sz="1300" dirty="0"/>
          </a:p>
        </p:txBody>
      </p:sp>
      <p:sp>
        <p:nvSpPr>
          <p:cNvPr id="24" name="pf_463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464" descr="/home/claude/lls-course/v2/cache/2a2_scam_email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6" name="cd_46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46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46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468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scam? She wants your bank details!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7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 scam stories</a:t>
            </a:r>
            <a:endParaRPr lang="en-US" sz="2500" dirty="0"/>
          </a:p>
        </p:txBody>
      </p:sp>
      <p:pic>
        <p:nvPicPr>
          <p:cNvPr id="6" name="brP_4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73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How much did each person lose?</a:t>
            </a:r>
            <a:endParaRPr lang="en-US" sz="1250" dirty="0"/>
          </a:p>
        </p:txBody>
      </p:sp>
      <p:sp>
        <p:nvSpPr>
          <p:cNvPr id="8" name="insIT_4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Quanto ha perso ognuno?</a:t>
            </a:r>
            <a:endParaRPr lang="en-US" sz="950" dirty="0"/>
          </a:p>
        </p:txBody>
      </p:sp>
      <p:sp>
        <p:nvSpPr>
          <p:cNvPr id="9" name="note_47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ASCOLTA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for gist</a:t>
            </a:r>
            <a:endParaRPr lang="en-US" sz="1250" dirty="0"/>
          </a:p>
        </p:txBody>
      </p:sp>
      <p:pic>
        <p:nvPicPr>
          <p:cNvPr id="10" name="logo_4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Listening · Five-Minute Money · gist   ·   📖 SB p.19 · 6d · audio 2.12</a:t>
            </a:r>
            <a:endParaRPr lang="en-US" sz="800" dirty="0"/>
          </a:p>
        </p:txBody>
      </p:sp>
      <p:sp>
        <p:nvSpPr>
          <p:cNvPr id="12" name="ap_478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play once</a:t>
            </a:r>
            <a:endParaRPr lang="en-US" sz="1100" dirty="0"/>
          </a:p>
        </p:txBody>
      </p:sp>
      <p:sp>
        <p:nvSpPr>
          <p:cNvPr id="13" name="ah_47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48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ah2_481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8" name="pf_482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83" descr="/home/claude/lls-course/v2/cache/2a2_friend_abroad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0" name="bd_484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pf_485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486" descr="/home/claude/lls-course/v2/cache/2a2_lottery_letter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3" name="bd_487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4" name="pf_488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489" descr="/home/claude/lls-course/v2/cache/2a2_bank_call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6" name="bd_490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7" name="cd_491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ii_492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29" name="ih_493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0" name="il_494"/>
          <p:cNvSpPr/>
          <p:nvPr/>
        </p:nvSpPr>
        <p:spPr>
          <a:xfrm>
            <a:off x="932688" y="4105656"/>
            <a:ext cx="4782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A, B and C. Which scam cost the most? Guess!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A, B e C. Quale truffa è costata di più? Indovina!</a:t>
            </a:r>
            <a:endParaRPr lang="en-US" sz="7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How much did they lose? The best advice?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Quanto hanno perso? Il consiglio migliore?</a:t>
            </a:r>
            <a:endParaRPr lang="en-US" sz="700" dirty="0"/>
          </a:p>
        </p:txBody>
      </p:sp>
      <p:sp>
        <p:nvSpPr>
          <p:cNvPr id="31" name="lq_495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· Heather</a:t>
            </a:r>
            <a:endParaRPr lang="en-US" sz="1100" dirty="0"/>
          </a:p>
        </p:txBody>
      </p:sp>
      <p:sp>
        <p:nvSpPr>
          <p:cNvPr id="32" name="R1_chip496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 £2,000</a:t>
            </a:r>
            <a:endParaRPr lang="en-US" sz="1050" dirty="0"/>
          </a:p>
        </p:txBody>
      </p:sp>
      <p:sp>
        <p:nvSpPr>
          <p:cNvPr id="33" name="lq_497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· Carl</a:t>
            </a:r>
            <a:endParaRPr lang="en-US" sz="1100" dirty="0"/>
          </a:p>
        </p:txBody>
      </p:sp>
      <p:sp>
        <p:nvSpPr>
          <p:cNvPr id="34" name="R2_chip498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£200</a:t>
            </a:r>
            <a:endParaRPr lang="en-US" sz="1050" dirty="0"/>
          </a:p>
        </p:txBody>
      </p:sp>
      <p:sp>
        <p:nvSpPr>
          <p:cNvPr id="35" name="lq_499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· Paul</a:t>
            </a:r>
            <a:endParaRPr lang="en-US" sz="1100" dirty="0"/>
          </a:p>
        </p:txBody>
      </p:sp>
      <p:sp>
        <p:nvSpPr>
          <p:cNvPr id="36" name="R3_chip500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£20,000</a:t>
            </a:r>
            <a:endParaRPr lang="en-US" sz="1050" dirty="0"/>
          </a:p>
        </p:txBody>
      </p:sp>
      <p:sp>
        <p:nvSpPr>
          <p:cNvPr id="37" name="lq_501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Best advice?</a:t>
            </a:r>
            <a:endParaRPr lang="en-US" sz="1100" dirty="0"/>
          </a:p>
        </p:txBody>
      </p:sp>
      <p:sp>
        <p:nvSpPr>
          <p:cNvPr id="38" name="R4_chip502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give your bank or card details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0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505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again: complete</a:t>
            </a:r>
            <a:endParaRPr lang="en-US" sz="2500" dirty="0"/>
          </a:p>
        </p:txBody>
      </p:sp>
      <p:pic>
        <p:nvPicPr>
          <p:cNvPr id="6" name="brP_50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07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words. Then listen again.</a:t>
            </a:r>
            <a:endParaRPr lang="en-US" sz="1250" dirty="0"/>
          </a:p>
        </p:txBody>
      </p:sp>
      <p:sp>
        <p:nvSpPr>
          <p:cNvPr id="8" name="insIT_50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parole. Poi riascolta.</a:t>
            </a:r>
            <a:endParaRPr lang="en-US" sz="950" dirty="0"/>
          </a:p>
        </p:txBody>
      </p:sp>
      <p:sp>
        <p:nvSpPr>
          <p:cNvPr id="9" name="note_50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for detail</a:t>
            </a:r>
            <a:endParaRPr lang="en-US" sz="1150" dirty="0"/>
          </a:p>
        </p:txBody>
      </p:sp>
      <p:pic>
        <p:nvPicPr>
          <p:cNvPr id="10" name="logo_51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1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Listening · detail   ·   📖 SB p.19 · 6e · audio 2.12</a:t>
            </a:r>
            <a:endParaRPr lang="en-US" sz="800" dirty="0"/>
          </a:p>
        </p:txBody>
      </p:sp>
      <p:sp>
        <p:nvSpPr>
          <p:cNvPr id="12" name="ap_51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pause after each story</a:t>
            </a:r>
            <a:endParaRPr lang="en-US" sz="1100" dirty="0"/>
          </a:p>
        </p:txBody>
      </p:sp>
      <p:sp>
        <p:nvSpPr>
          <p:cNvPr id="13" name="ah_51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51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515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516" descr="/home/claude/lls-course/v2/cache/2a2_lottery_letter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517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18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519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520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an ___ from a friend in Berlin</a:t>
            </a:r>
            <a:endParaRPr lang="en-US" sz="1200" dirty="0"/>
          </a:p>
        </p:txBody>
      </p:sp>
      <p:sp>
        <p:nvSpPr>
          <p:cNvPr id="23" name="R1_chip521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email</a:t>
            </a:r>
            <a:endParaRPr lang="en-US" sz="1200" dirty="0"/>
          </a:p>
        </p:txBody>
      </p:sp>
      <p:sp>
        <p:nvSpPr>
          <p:cNvPr id="24" name="gq_522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he'd lost his ___</a:t>
            </a:r>
            <a:endParaRPr lang="en-US" sz="1200" dirty="0"/>
          </a:p>
        </p:txBody>
      </p:sp>
      <p:sp>
        <p:nvSpPr>
          <p:cNvPr id="25" name="R2_chip523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wallet</a:t>
            </a:r>
            <a:endParaRPr lang="en-US" sz="1200" dirty="0"/>
          </a:p>
        </p:txBody>
      </p:sp>
      <p:sp>
        <p:nvSpPr>
          <p:cNvPr id="26" name="gq_524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send him her ___ details</a:t>
            </a:r>
            <a:endParaRPr lang="en-US" sz="1200" dirty="0"/>
          </a:p>
        </p:txBody>
      </p:sp>
      <p:sp>
        <p:nvSpPr>
          <p:cNvPr id="27" name="R3_chip525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credit card</a:t>
            </a:r>
            <a:endParaRPr lang="en-US" sz="1200" dirty="0"/>
          </a:p>
        </p:txBody>
      </p:sp>
      <p:sp>
        <p:nvSpPr>
          <p:cNvPr id="28" name="gq_526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he'd won a lot of ___ · He ___ it.</a:t>
            </a:r>
            <a:endParaRPr lang="en-US" sz="1200" dirty="0"/>
          </a:p>
        </p:txBody>
      </p:sp>
      <p:sp>
        <p:nvSpPr>
          <p:cNvPr id="29" name="R4_chip527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money · 5 believed</a:t>
            </a:r>
            <a:endParaRPr lang="en-US" sz="1200" dirty="0"/>
          </a:p>
        </p:txBody>
      </p:sp>
      <p:sp>
        <p:nvSpPr>
          <p:cNvPr id="30" name="gq_528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send his ___ details</a:t>
            </a:r>
            <a:endParaRPr lang="en-US" sz="1200" dirty="0"/>
          </a:p>
        </p:txBody>
      </p:sp>
      <p:sp>
        <p:nvSpPr>
          <p:cNvPr id="31" name="R5_chip529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bank account</a:t>
            </a:r>
            <a:endParaRPr lang="en-US" sz="1200" dirty="0"/>
          </a:p>
        </p:txBody>
      </p:sp>
      <p:sp>
        <p:nvSpPr>
          <p:cNvPr id="32" name="gq_530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___ from 'his ___'</a:t>
            </a:r>
            <a:endParaRPr lang="en-US" sz="1200" dirty="0"/>
          </a:p>
        </p:txBody>
      </p:sp>
      <p:sp>
        <p:nvSpPr>
          <p:cNvPr id="33" name="R6_chip531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phone call · 8 bank</a:t>
            </a:r>
            <a:endParaRPr lang="en-US" sz="1200" dirty="0"/>
          </a:p>
        </p:txBody>
      </p:sp>
      <p:sp>
        <p:nvSpPr>
          <p:cNvPr id="34" name="gq_532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problem with his ___</a:t>
            </a:r>
            <a:endParaRPr lang="en-US" sz="1200" dirty="0"/>
          </a:p>
        </p:txBody>
      </p:sp>
      <p:sp>
        <p:nvSpPr>
          <p:cNvPr id="35" name="R7_chip533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account</a:t>
            </a:r>
            <a:endParaRPr lang="en-US" sz="1200" dirty="0"/>
          </a:p>
        </p:txBody>
      </p:sp>
      <p:sp>
        <p:nvSpPr>
          <p:cNvPr id="36" name="gq_534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move his money into a ___</a:t>
            </a:r>
            <a:endParaRPr lang="en-US" sz="1200" dirty="0"/>
          </a:p>
        </p:txBody>
      </p:sp>
      <p:sp>
        <p:nvSpPr>
          <p:cNvPr id="37" name="R8_chip535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new account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538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Scam or real?</a:t>
            </a:r>
            <a:endParaRPr lang="en-US" sz="2500" dirty="0"/>
          </a:p>
        </p:txBody>
      </p:sp>
      <p:pic>
        <p:nvPicPr>
          <p:cNvPr id="6" name="brP_5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40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 or real? Decide – and say why!</a:t>
            </a:r>
            <a:endParaRPr lang="en-US" sz="1250" dirty="0"/>
          </a:p>
        </p:txBody>
      </p:sp>
      <p:sp>
        <p:nvSpPr>
          <p:cNvPr id="8" name="insIT_54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Truffa o vero? Decidete – e dite perché!</a:t>
            </a:r>
            <a:endParaRPr lang="en-US" sz="950" dirty="0"/>
          </a:p>
        </p:txBody>
      </p:sp>
      <p:sp>
        <p:nvSpPr>
          <p:cNvPr id="9" name="note_54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5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Speaking · scam or real?   ·   📖 SB p.19 · 6f + follow-up</a:t>
            </a:r>
            <a:endParaRPr lang="en-US" sz="800" dirty="0"/>
          </a:p>
        </p:txBody>
      </p:sp>
      <p:sp>
        <p:nvSpPr>
          <p:cNvPr id="12" name="pf_545"/>
          <p:cNvSpPr/>
          <p:nvPr/>
        </p:nvSpPr>
        <p:spPr>
          <a:xfrm rot="-120000">
            <a:off x="742588" y="1371600"/>
            <a:ext cx="1943824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546" descr="/home/claude/lls-course/v2/cache/2a2_parcel_text_jpg_446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88308" y="1417320"/>
            <a:ext cx="1852384" cy="1234440"/>
          </a:xfrm>
          <a:prstGeom prst="rect">
            <a:avLst/>
          </a:prstGeom>
        </p:spPr>
      </p:pic>
      <p:sp>
        <p:nvSpPr>
          <p:cNvPr id="14" name="cd_547"/>
          <p:cNvSpPr/>
          <p:nvPr/>
        </p:nvSpPr>
        <p:spPr>
          <a:xfrm>
            <a:off x="320040" y="2880360"/>
            <a:ext cx="278892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48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549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550"/>
          <p:cNvSpPr/>
          <p:nvPr/>
        </p:nvSpPr>
        <p:spPr>
          <a:xfrm>
            <a:off x="886968" y="3374136"/>
            <a:ext cx="213055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must be a scam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hang up / delete it.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click on the link.</a:t>
            </a:r>
            <a:endParaRPr lang="en-US" sz="1150" dirty="0"/>
          </a:p>
        </p:txBody>
      </p:sp>
      <p:sp>
        <p:nvSpPr>
          <p:cNvPr id="18" name="R1_qb551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552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text: "Your parcel is waiting. Pay €1.99 here." + a link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Scam! I'd never click on the link.</a:t>
            </a:r>
            <a:endParaRPr lang="en-US" sz="950" dirty="0"/>
          </a:p>
        </p:txBody>
      </p:sp>
      <p:sp>
        <p:nvSpPr>
          <p:cNvPr id="20" name="R2_qb553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554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'bank' phones: "Move all your money to a new account now!"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 – like Paul! I'd hang up and phone my bank.</a:t>
            </a:r>
            <a:endParaRPr lang="en-US" sz="950" dirty="0"/>
          </a:p>
        </p:txBody>
      </p:sp>
      <p:sp>
        <p:nvSpPr>
          <p:cNvPr id="22" name="R3_qb555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556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email: "You've won the lottery in Spain! Send your bank details."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 – like Carl. I've never bought a Spanish ticket!</a:t>
            </a:r>
            <a:endParaRPr lang="en-US" sz="950" dirty="0"/>
          </a:p>
        </p:txBody>
      </p:sp>
      <p:sp>
        <p:nvSpPr>
          <p:cNvPr id="24" name="R4_qb557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558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friend: "I've lost my wallet abroad. Send me your card number!"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Scam – like Heather. I'd phone my friend first.</a:t>
            </a:r>
            <a:endParaRPr lang="en-US" sz="950" dirty="0"/>
          </a:p>
        </p:txBody>
      </p:sp>
      <p:sp>
        <p:nvSpPr>
          <p:cNvPr id="26" name="R5_qb559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560"/>
          <p:cNvSpPr/>
          <p:nvPr/>
        </p:nvSpPr>
        <p:spPr>
          <a:xfrm>
            <a:off x="3675888" y="3831336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you, or has anybody you know, ever been the victim of a scam?</a:t>
            </a:r>
            <a:endParaRPr lang="en-US" sz="9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my uncle has. He got a strange text last year and he clicked on the link…</a:t>
            </a:r>
            <a:endParaRPr lang="en-US" sz="900" dirty="0"/>
          </a:p>
        </p:txBody>
      </p:sp>
      <p:pic>
        <p:nvPicPr>
          <p:cNvPr id="28" name="R5_th561" descr="/home/claude/lls-course/v2/cache/spare_future_technology_jpg_154x119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849624"/>
            <a:ext cx="640080" cy="493776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6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66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568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5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Exit · what can you remember?</a:t>
            </a:r>
            <a:endParaRPr lang="en-US" sz="800" dirty="0"/>
          </a:p>
        </p:txBody>
      </p:sp>
      <p:sp>
        <p:nvSpPr>
          <p:cNvPr id="12" name="bd_571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572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Have you ever…? questions with money verbs</a:t>
            </a:r>
            <a:endParaRPr lang="en-US" sz="1400" dirty="0"/>
          </a:p>
        </p:txBody>
      </p:sp>
      <p:sp>
        <p:nvSpPr>
          <p:cNvPr id="14" name="bd_573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574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sentences: one with just, one with yesterday</a:t>
            </a:r>
            <a:endParaRPr lang="en-US" sz="1400" dirty="0"/>
          </a:p>
        </p:txBody>
      </p:sp>
      <p:sp>
        <p:nvSpPr>
          <p:cNvPr id="16" name="bd_575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576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golden rule to avoid a scam</a:t>
            </a:r>
            <a:endParaRPr lang="en-US" sz="1400" dirty="0"/>
          </a:p>
        </p:txBody>
      </p:sp>
      <p:sp>
        <p:nvSpPr>
          <p:cNvPr id="18" name="cd_577"/>
          <p:cNvSpPr/>
          <p:nvPr/>
        </p:nvSpPr>
        <p:spPr>
          <a:xfrm>
            <a:off x="5669280" y="1417320"/>
            <a:ext cx="320040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578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579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580"/>
          <p:cNvSpPr/>
          <p:nvPr/>
        </p:nvSpPr>
        <p:spPr>
          <a:xfrm>
            <a:off x="6236208" y="1911096"/>
            <a:ext cx="254203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2A: 3a–3d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2A: a 5–8, b 6–10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2A-2 in the LLS app</a:t>
            </a:r>
            <a:endParaRPr lang="en-US" sz="1150" dirty="0"/>
          </a:p>
        </p:txBody>
      </p:sp>
      <p:sp>
        <p:nvSpPr>
          <p:cNvPr id="22" name="st_581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2B part 1 · Changing lives · How long have you been…?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8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86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8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58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58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9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Review · what did you do today?</a:t>
            </a:r>
            <a:endParaRPr lang="en-US" sz="800" dirty="0"/>
          </a:p>
        </p:txBody>
      </p:sp>
      <p:sp>
        <p:nvSpPr>
          <p:cNvPr id="12" name="cd_591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592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4" name="tt_593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and answered about money experiences</a:t>
            </a:r>
            <a:endParaRPr lang="en-US" sz="1350" dirty="0"/>
          </a:p>
        </p:txBody>
      </p:sp>
      <p:sp>
        <p:nvSpPr>
          <p:cNvPr id="15" name="R1_tk594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595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596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8" name="tt_597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Chose: present perfect or past simple?</a:t>
            </a:r>
            <a:endParaRPr lang="en-US" sz="1350" dirty="0"/>
          </a:p>
        </p:txBody>
      </p:sp>
      <p:sp>
        <p:nvSpPr>
          <p:cNvPr id="19" name="R2_tk598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599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600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22" name="tt_601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 the mistakes in a scam email</a:t>
            </a:r>
            <a:endParaRPr lang="en-US" sz="1350" dirty="0"/>
          </a:p>
        </p:txBody>
      </p:sp>
      <p:sp>
        <p:nvSpPr>
          <p:cNvPr id="23" name="R3_tk602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603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604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6" name="tt_605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7" name="R4_tk606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607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608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30" name="tt_609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three true scam stories</a:t>
            </a:r>
            <a:endParaRPr lang="en-US" sz="1350" dirty="0"/>
          </a:p>
        </p:txBody>
      </p:sp>
      <p:sp>
        <p:nvSpPr>
          <p:cNvPr id="31" name="R5_tk610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61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612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61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614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615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1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1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618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Been there, did that</a:t>
            </a:r>
            <a:endParaRPr lang="en-US" sz="2500" dirty="0"/>
          </a:p>
        </p:txBody>
      </p:sp>
      <p:pic>
        <p:nvPicPr>
          <p:cNvPr id="6" name="brP_61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620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the photocopiable answers.</a:t>
            </a:r>
            <a:endParaRPr lang="en-US" sz="1250" dirty="0"/>
          </a:p>
        </p:txBody>
      </p:sp>
      <p:sp>
        <p:nvSpPr>
          <p:cNvPr id="8" name="insIT_62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Controlla le risposte della fotocopia.</a:t>
            </a:r>
            <a:endParaRPr lang="en-US" sz="950" dirty="0"/>
          </a:p>
        </p:txBody>
      </p:sp>
      <p:sp>
        <p:nvSpPr>
          <p:cNvPr id="9" name="note_62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6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Extra · Grammar PCM   ·   📖 📄 B1_2A_Photocopiables.pdf p.1 (TG p.151)</a:t>
            </a:r>
            <a:endParaRPr lang="en-US" sz="800" dirty="0"/>
          </a:p>
        </p:txBody>
      </p:sp>
      <p:sp>
        <p:nvSpPr>
          <p:cNvPr id="12" name="ext_625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626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62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62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629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1 = been · b1 1 = have you been (examples on the sheet)</a:t>
            </a:r>
            <a:endParaRPr lang="en-US" sz="1000" dirty="0"/>
          </a:p>
        </p:txBody>
      </p:sp>
      <p:sp>
        <p:nvSpPr>
          <p:cNvPr id="17" name="pf_630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631" descr="/home/claude/lls-course/v2/cache/2a2_holiday_album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9" name="bd_63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63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2–4</a:t>
            </a:r>
            <a:endParaRPr lang="en-US" sz="1150" dirty="0"/>
          </a:p>
        </p:txBody>
      </p:sp>
      <p:sp>
        <p:nvSpPr>
          <p:cNvPr id="21" name="R1_chip63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finished</a:t>
            </a:r>
            <a:endParaRPr lang="en-US" sz="1050" dirty="0"/>
          </a:p>
        </p:txBody>
      </p:sp>
      <p:sp>
        <p:nvSpPr>
          <p:cNvPr id="22" name="bd_63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63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5–7</a:t>
            </a:r>
            <a:endParaRPr lang="en-US" sz="1150" dirty="0"/>
          </a:p>
        </p:txBody>
      </p:sp>
      <p:sp>
        <p:nvSpPr>
          <p:cNvPr id="24" name="R2_chip63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went</a:t>
            </a:r>
            <a:endParaRPr lang="en-US" sz="1050" dirty="0"/>
          </a:p>
        </p:txBody>
      </p:sp>
      <p:sp>
        <p:nvSpPr>
          <p:cNvPr id="25" name="bd_63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63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2–5</a:t>
            </a:r>
            <a:endParaRPr lang="en-US" sz="1150" dirty="0"/>
          </a:p>
        </p:txBody>
      </p:sp>
      <p:sp>
        <p:nvSpPr>
          <p:cNvPr id="27" name="R3_chip64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· did you meet · was · went</a:t>
            </a:r>
            <a:endParaRPr lang="en-US" sz="1050" dirty="0"/>
          </a:p>
        </p:txBody>
      </p:sp>
      <p:sp>
        <p:nvSpPr>
          <p:cNvPr id="28" name="bd_64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64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6–9</a:t>
            </a:r>
            <a:endParaRPr lang="en-US" sz="1150" dirty="0"/>
          </a:p>
        </p:txBody>
      </p:sp>
      <p:sp>
        <p:nvSpPr>
          <p:cNvPr id="30" name="R4_chip64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known · got · were you · 've just met</a:t>
            </a:r>
            <a:endParaRPr lang="en-US" sz="1050" dirty="0"/>
          </a:p>
        </p:txBody>
      </p:sp>
      <p:sp>
        <p:nvSpPr>
          <p:cNvPr id="31" name="bd_64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64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1–4</a:t>
            </a:r>
            <a:endParaRPr lang="en-US" sz="1150" dirty="0"/>
          </a:p>
        </p:txBody>
      </p:sp>
      <p:sp>
        <p:nvSpPr>
          <p:cNvPr id="33" name="R5_chip64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go · didn't leave · came · Have you finished</a:t>
            </a:r>
            <a:endParaRPr lang="en-US" sz="1050" dirty="0"/>
          </a:p>
        </p:txBody>
      </p:sp>
      <p:sp>
        <p:nvSpPr>
          <p:cNvPr id="34" name="bd_647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648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5–7</a:t>
            </a:r>
            <a:endParaRPr lang="en-US" sz="1150" dirty="0"/>
          </a:p>
        </p:txBody>
      </p:sp>
      <p:sp>
        <p:nvSpPr>
          <p:cNvPr id="36" name="R6_chip649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 · 've just made · 've already had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652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Saver or spender?</a:t>
            </a:r>
            <a:endParaRPr lang="en-US" sz="2500" dirty="0"/>
          </a:p>
        </p:txBody>
      </p:sp>
      <p:pic>
        <p:nvPicPr>
          <p:cNvPr id="6" name="brP_6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54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Saver or spender?</a:t>
            </a:r>
            <a:endParaRPr lang="en-US" sz="1250" dirty="0"/>
          </a:p>
        </p:txBody>
      </p:sp>
      <p:sp>
        <p:nvSpPr>
          <p:cNvPr id="8" name="insIT_6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e rispondi. Risparmiatore o spendaccione?</a:t>
            </a:r>
            <a:endParaRPr lang="en-US" sz="950" dirty="0"/>
          </a:p>
        </p:txBody>
      </p:sp>
      <p:sp>
        <p:nvSpPr>
          <p:cNvPr id="9" name="note_65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6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2A-2 · Extra · Communicative PCM   ·   📖 📄 B1_2A_Photocopiables.pdf p.2 (TG p.180)</a:t>
            </a:r>
            <a:endParaRPr lang="en-US" sz="800" dirty="0"/>
          </a:p>
        </p:txBody>
      </p:sp>
      <p:sp>
        <p:nvSpPr>
          <p:cNvPr id="12" name="ext_659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pf_660"/>
          <p:cNvSpPr/>
          <p:nvPr/>
        </p:nvSpPr>
        <p:spPr>
          <a:xfrm rot="-120000">
            <a:off x="633339" y="1371600"/>
            <a:ext cx="2162322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661" descr="/home/claude/lls-course/v2/cache/2a2_saver_spender_jpg_498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679059" y="1417320"/>
            <a:ext cx="2070882" cy="1234440"/>
          </a:xfrm>
          <a:prstGeom prst="rect">
            <a:avLst/>
          </a:prstGeom>
        </p:spPr>
      </p:pic>
      <p:sp>
        <p:nvSpPr>
          <p:cNvPr id="15" name="cd_662"/>
          <p:cNvSpPr/>
          <p:nvPr/>
        </p:nvSpPr>
        <p:spPr>
          <a:xfrm>
            <a:off x="320040" y="2880360"/>
            <a:ext cx="2788920" cy="1502664"/>
          </a:xfrm>
          <a:prstGeom prst="roundRect">
            <a:avLst>
              <a:gd name="adj" fmla="val 851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63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664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665"/>
          <p:cNvSpPr/>
          <p:nvPr/>
        </p:nvSpPr>
        <p:spPr>
          <a:xfrm>
            <a:off x="886968" y="3374136"/>
            <a:ext cx="2130552" cy="935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mostly a = a SPENDER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mostly b = in the middle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mostly c = a SAVER</a:t>
            </a:r>
            <a:endParaRPr lang="en-US" sz="1150" dirty="0"/>
          </a:p>
        </p:txBody>
      </p:sp>
      <p:sp>
        <p:nvSpPr>
          <p:cNvPr id="19" name="R1_qb66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667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borrowed money from friends or family?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once. I borrowed €20 from my brother – and I paid him back!</a:t>
            </a:r>
            <a:endParaRPr lang="en-US" sz="1000" dirty="0"/>
          </a:p>
        </p:txBody>
      </p:sp>
      <p:sp>
        <p:nvSpPr>
          <p:cNvPr id="21" name="R2_qb668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669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usually have cash in your wallet?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really. I usually pay by card.</a:t>
            </a:r>
            <a:endParaRPr lang="en-US" sz="1000" dirty="0"/>
          </a:p>
        </p:txBody>
      </p:sp>
      <p:sp>
        <p:nvSpPr>
          <p:cNvPr id="23" name="R3_qb670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671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do with money you won?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save half and spend half on a holiday.</a:t>
            </a:r>
            <a:endParaRPr lang="en-US" sz="1000" dirty="0"/>
          </a:p>
        </p:txBody>
      </p:sp>
      <p:sp>
        <p:nvSpPr>
          <p:cNvPr id="25" name="R4_qb672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673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 – are you a saver or a spender?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 spender! I've already spent my birthday money.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2A-2 Spending money</dc:title>
  <dc:subject>PptxGenJS Presentation</dc:subject>
  <dc:creator>PptxGenJS</dc:creator>
  <cp:lastModifiedBy>PptxGenJS</cp:lastModifiedBy>
  <cp:revision>1</cp:revision>
  <dcterms:created xsi:type="dcterms:W3CDTF">2026-10-21T09:54:59Z</dcterms:created>
  <dcterms:modified xsi:type="dcterms:W3CDTF">2026-10-21T09:54:59Z</dcterms:modified>
</cp:coreProperties>
</file>