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this comes after the rule, the practice games and the participles, and BEFORE the 'Have you ever…? One lie!' questionnaire: students hear present perfect vs past simple 15–20 times in a context (has never won · hasn't got… yet · has already bought · 've just lost / washed vs last Saturday, on Monday, yesterday), plus lend from last lesson. Click once per line. For each line: 1) say it, 2) ask the questions in grey round the class (yes/no → either/or → who/what), 3) let the CLASS change details: 'Has he already bought trainers? No? What has he bought?' – accept their idea and use it in later lines. Students answer with one word or a short phrase – that's fine. As you go, point at the time words and ask 'When? Or no time?' (last Saturday / on Monday / yesterday → past simple; never / yet / already / just → present perfect). Line 4 also prepares the scam topic (a friend who has 'lost his wallet' – like Heather in 2.12): 'Is it a scam?'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audio" Target="../media/media-17-5.mp3"/><Relationship Id="rId6" Type="http://schemas.microsoft.com/office/2007/relationships/media" Target="../media/media-17-5.mp3"/><Relationship Id="rId7" Type="http://schemas.openxmlformats.org/officeDocument/2006/relationships/image" Target="../media/image-17-7.png"/><Relationship Id="rId8" Type="http://schemas.openxmlformats.org/officeDocument/2006/relationships/audio" Target="../media/media-17-8.mp3"/><Relationship Id="rId9" Type="http://schemas.microsoft.com/office/2007/relationships/media" Target="../media/media-17-8.mp3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ask and answer about money experiences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choose: present perfect or past simple?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find the mistakes in a scam email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three true scam stories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2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len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spending money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earn = from work · win = the lottery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spend ON · pay BY · be worth €…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14019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676656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62609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3246120" y="454456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5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5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5" name="cd_6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There's ONE mistake.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 C'è UN errore.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it correctly – 15 seconds!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ditela giusta – 15 secondi!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9" name="pf_65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" descr="/home/claude/lls-course/v2/cache/spare_future_mone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100" dirty="0"/>
          </a:p>
        </p:txBody>
      </p:sp>
      <p:sp>
        <p:nvSpPr>
          <p:cNvPr id="23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100" dirty="0"/>
          </a:p>
        </p:txBody>
      </p:sp>
      <p:sp>
        <p:nvSpPr>
          <p:cNvPr id="24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100" dirty="0"/>
          </a:p>
        </p:txBody>
      </p:sp>
      <p:sp>
        <p:nvSpPr>
          <p:cNvPr id="26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100" dirty="0"/>
          </a:p>
        </p:txBody>
      </p:sp>
      <p:sp>
        <p:nvSpPr>
          <p:cNvPr id="27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100" dirty="0"/>
          </a:p>
        </p:txBody>
      </p:sp>
      <p:sp>
        <p:nvSpPr>
          <p:cNvPr id="29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100" dirty="0"/>
          </a:p>
        </p:txBody>
      </p:sp>
      <p:sp>
        <p:nvSpPr>
          <p:cNvPr id="30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100" dirty="0"/>
          </a:p>
        </p:txBody>
      </p:sp>
      <p:sp>
        <p:nvSpPr>
          <p:cNvPr id="32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100" dirty="0"/>
          </a:p>
        </p:txBody>
      </p:sp>
      <p:sp>
        <p:nvSpPr>
          <p:cNvPr id="33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100" dirty="0"/>
          </a:p>
        </p:txBody>
      </p:sp>
      <p:sp>
        <p:nvSpPr>
          <p:cNvPr id="35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100" dirty="0"/>
          </a:p>
        </p:txBody>
      </p:sp>
      <p:sp>
        <p:nvSpPr>
          <p:cNvPr id="36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100" dirty="0"/>
          </a:p>
        </p:txBody>
      </p:sp>
      <p:sp>
        <p:nvSpPr>
          <p:cNvPr id="38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9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950" dirty="0"/>
          </a:p>
        </p:txBody>
      </p:sp>
      <p:sp>
        <p:nvSpPr>
          <p:cNvPr id="11" name="tag_9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gist</a:t>
            </a:r>
            <a:endParaRPr lang="en-US" sz="750" dirty="0"/>
          </a:p>
        </p:txBody>
      </p:sp>
      <p:pic>
        <p:nvPicPr>
          <p:cNvPr id="12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4" name="ap_96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5" name="ah_9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9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ah2_99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20" name="pf_100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01" descr="/home/claude/lls-course/v2/cache/2a2_cover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2" name="bd_102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3" name="pf_103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104" descr="/home/claude/lls-course/v2/cache/2a2_receipt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5" name="bd_105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pf_106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07" descr="/home/claude/lls-course/v2/cache/spare_1a2_bi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8" name="bd_108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cd_109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110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1" name="ih_111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2" name="il_112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A–C. What are they thinking?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A–C. Cosa pensano?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Su cosa litigano?</a:t>
            </a:r>
            <a:endParaRPr lang="en-US" sz="700" dirty="0"/>
          </a:p>
        </p:txBody>
      </p:sp>
      <p:sp>
        <p:nvSpPr>
          <p:cNvPr id="33" name="lq_113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4" name="R1_chip114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5" name="lq_115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6" name="R2_chip116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7" name="lq_117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8" name="R3_chip118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9" name="lq_119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40" name="R4_chip120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5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7" name="ln_135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8" name="ln_136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9" name="R1_lnA137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20" name="ln_138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1" name="R2_lnA139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2" name="ln_140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3" name="R3_lnA141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4" name="ln_142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5" name="R4_lnA143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6" name="ln_144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7" name="R5_lnA145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8" name="ln_146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9" name="R6_lnA147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30" name="ln_148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1" name="R7_lnA149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2" name="ln_150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3" name="R8_lnA151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4" name="ln_152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5" name="R9_lnA153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6" name="ln_154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7" name="R10_lnA155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8" name="ln_156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9" name="R11_lnA157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40" name="ap_158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41" name="ah_15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42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43" name="ah_16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4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45" name="pf_161"/>
          <p:cNvSpPr/>
          <p:nvPr/>
        </p:nvSpPr>
        <p:spPr>
          <a:xfrm rot="120000">
            <a:off x="6309360" y="196596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6" name="ph_162" descr="/home/claude/lls-course/v2/cache/2a2_receipt_jpg_594x341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011680"/>
            <a:ext cx="2468880" cy="1417320"/>
          </a:xfrm>
          <a:prstGeom prst="rect">
            <a:avLst/>
          </a:prstGeom>
        </p:spPr>
      </p:pic>
      <p:sp>
        <p:nvSpPr>
          <p:cNvPr id="47" name="cd_16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ii_16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9" name="ih_16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50" name="il_16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bargain = affare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 bill = bolletta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7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4"/>
                  </p:tgtEl>
                </p:cond>
              </p:nextCondLst>
            </p:seq>
            <p:audio>
              <p:cMediaNode vol="80000">
                <p:cTn id="6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  <p:audio>
              <p:cMediaNode vol="80000">
                <p:cTn id="6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400" dirty="0"/>
          </a:p>
        </p:txBody>
      </p:sp>
      <p:pic>
        <p:nvPicPr>
          <p:cNvPr id="6" name="brP_1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71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7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cmd_17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17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7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4" name="cd_17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1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18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18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9" name="lg_18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20" name="lg_18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21" name="sq_18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22" name="R1_tag18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3" name="sq_18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4" name="R2_tag18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5" name="sq_18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6" name="R3_tag19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7" name="sq_19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8" name="R4_tag19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9" name="sq_19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30" name="R5_tag19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31" name="sq_19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32" name="R6_tag19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3" name="pf_19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98" descr="/home/claude/lls-course/v2/cache/2a2_cover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2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203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2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cmd_2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0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0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4" name="cd_21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1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6" name="pf_212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13" descr="/home/claude/lls-course/v2/cache/2a2_passport_map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21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9" name="R1_rx21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20" name="R1_ri21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21" name="cd_21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1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3" name="pf_219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20" descr="/home/claude/lls-course/v2/cache/2a2_cover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22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6" name="R2_rx22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7" name="R2_ri22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8" name="cd_22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22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30" name="pf_226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27" descr="/home/claude/lls-course/v2/cache/2a2_holiday_album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22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3" name="R3_rx22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4" name="R3_ri23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5" name="R4_wc23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23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3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3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cmd_2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4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24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4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2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5" name="cd_24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4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4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4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seen that film yesterday. → ✗ I saw that film yesterday. (yesterday = finished time)</a:t>
            </a:r>
            <a:endParaRPr lang="en-US" sz="950" dirty="0"/>
          </a:p>
        </p:txBody>
      </p:sp>
      <p:sp>
        <p:nvSpPr>
          <p:cNvPr id="19" name="pf_24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50" descr="/home/claude/lls-course/v2/cache/2a2_book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25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5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3" name="R1_chip25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00" dirty="0"/>
          </a:p>
        </p:txBody>
      </p:sp>
      <p:sp>
        <p:nvSpPr>
          <p:cNvPr id="24" name="bd_25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5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6" name="R2_chip25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00" dirty="0"/>
          </a:p>
        </p:txBody>
      </p:sp>
      <p:sp>
        <p:nvSpPr>
          <p:cNvPr id="27" name="bd_25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5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9" name="R3_chip25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00" dirty="0"/>
          </a:p>
        </p:txBody>
      </p:sp>
      <p:sp>
        <p:nvSpPr>
          <p:cNvPr id="30" name="bd_26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6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00" dirty="0"/>
          </a:p>
        </p:txBody>
      </p:sp>
      <p:sp>
        <p:nvSpPr>
          <p:cNvPr id="32" name="R4_chip26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00" dirty="0"/>
          </a:p>
        </p:txBody>
      </p:sp>
      <p:sp>
        <p:nvSpPr>
          <p:cNvPr id="33" name="bd_26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6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050" dirty="0"/>
          </a:p>
        </p:txBody>
      </p:sp>
      <p:sp>
        <p:nvSpPr>
          <p:cNvPr id="35" name="R5_chip26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00" dirty="0"/>
          </a:p>
        </p:txBody>
      </p:sp>
      <p:sp>
        <p:nvSpPr>
          <p:cNvPr id="36" name="bd_266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67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8" name="R6_chip268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7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7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cmd_27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7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7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4" name="cd_28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8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make a sentence – 15 seconds!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fate una frase – 15 secondi!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tense = 1 point.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 giusto = 1 punto.</a:t>
            </a:r>
            <a:endParaRPr lang="en-US" sz="1150" dirty="0"/>
          </a:p>
        </p:txBody>
      </p:sp>
      <p:sp>
        <p:nvSpPr>
          <p:cNvPr id="18" name="pf_28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85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8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8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100" dirty="0"/>
          </a:p>
        </p:txBody>
      </p:sp>
      <p:sp>
        <p:nvSpPr>
          <p:cNvPr id="22" name="R1_chip28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100" dirty="0"/>
          </a:p>
        </p:txBody>
      </p:sp>
      <p:sp>
        <p:nvSpPr>
          <p:cNvPr id="23" name="bd_28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9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100" dirty="0"/>
          </a:p>
        </p:txBody>
      </p:sp>
      <p:sp>
        <p:nvSpPr>
          <p:cNvPr id="25" name="R2_chip29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100" dirty="0"/>
          </a:p>
        </p:txBody>
      </p:sp>
      <p:sp>
        <p:nvSpPr>
          <p:cNvPr id="26" name="bd_29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9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100" dirty="0"/>
          </a:p>
        </p:txBody>
      </p:sp>
      <p:sp>
        <p:nvSpPr>
          <p:cNvPr id="28" name="R3_chip29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100" dirty="0"/>
          </a:p>
        </p:txBody>
      </p:sp>
      <p:sp>
        <p:nvSpPr>
          <p:cNvPr id="29" name="bd_29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9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100" dirty="0"/>
          </a:p>
        </p:txBody>
      </p:sp>
      <p:sp>
        <p:nvSpPr>
          <p:cNvPr id="31" name="R4_chip29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100" dirty="0"/>
          </a:p>
        </p:txBody>
      </p:sp>
      <p:sp>
        <p:nvSpPr>
          <p:cNvPr id="32" name="bd_29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9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100" dirty="0"/>
          </a:p>
        </p:txBody>
      </p:sp>
      <p:sp>
        <p:nvSpPr>
          <p:cNvPr id="34" name="R5_chip30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100" dirty="0"/>
          </a:p>
        </p:txBody>
      </p:sp>
      <p:sp>
        <p:nvSpPr>
          <p:cNvPr id="35" name="bd_30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0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100" dirty="0"/>
          </a:p>
        </p:txBody>
      </p:sp>
      <p:sp>
        <p:nvSpPr>
          <p:cNvPr id="37" name="R6_chip30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cmd_3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3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3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5" name="cd_31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31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A says the verb.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A dice il verbo.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 says the past simple AND the participle.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B dice il past simple E il participio.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000" dirty="0"/>
          </a:p>
        </p:txBody>
      </p:sp>
      <p:sp>
        <p:nvSpPr>
          <p:cNvPr id="19" name="st_32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321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22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100" dirty="0"/>
          </a:p>
        </p:txBody>
      </p:sp>
      <p:sp>
        <p:nvSpPr>
          <p:cNvPr id="22" name="R1_chip323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1100" dirty="0"/>
          </a:p>
        </p:txBody>
      </p:sp>
      <p:sp>
        <p:nvSpPr>
          <p:cNvPr id="23" name="bd_324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25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100" dirty="0"/>
          </a:p>
        </p:txBody>
      </p:sp>
      <p:sp>
        <p:nvSpPr>
          <p:cNvPr id="25" name="R2_chip326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1100" dirty="0"/>
          </a:p>
        </p:txBody>
      </p:sp>
      <p:sp>
        <p:nvSpPr>
          <p:cNvPr id="26" name="bd_327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28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100" dirty="0"/>
          </a:p>
        </p:txBody>
      </p:sp>
      <p:sp>
        <p:nvSpPr>
          <p:cNvPr id="28" name="R3_chip329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1100" dirty="0"/>
          </a:p>
        </p:txBody>
      </p:sp>
      <p:sp>
        <p:nvSpPr>
          <p:cNvPr id="29" name="bd_330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31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100" dirty="0"/>
          </a:p>
        </p:txBody>
      </p:sp>
      <p:sp>
        <p:nvSpPr>
          <p:cNvPr id="31" name="R4_chip332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1100" dirty="0"/>
          </a:p>
        </p:txBody>
      </p:sp>
      <p:sp>
        <p:nvSpPr>
          <p:cNvPr id="32" name="bd_333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34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100" dirty="0"/>
          </a:p>
        </p:txBody>
      </p:sp>
      <p:sp>
        <p:nvSpPr>
          <p:cNvPr id="34" name="R5_chip335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1100" dirty="0"/>
          </a:p>
        </p:txBody>
      </p:sp>
      <p:sp>
        <p:nvSpPr>
          <p:cNvPr id="35" name="bd_336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37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100" dirty="0"/>
          </a:p>
        </p:txBody>
      </p:sp>
      <p:sp>
        <p:nvSpPr>
          <p:cNvPr id="37" name="R6_chip338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1100" dirty="0"/>
          </a:p>
        </p:txBody>
      </p:sp>
      <p:sp>
        <p:nvSpPr>
          <p:cNvPr id="38" name="bd_339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40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100" dirty="0"/>
          </a:p>
        </p:txBody>
      </p:sp>
      <p:sp>
        <p:nvSpPr>
          <p:cNvPr id="40" name="R7_chip341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1100" dirty="0"/>
          </a:p>
        </p:txBody>
      </p:sp>
      <p:sp>
        <p:nvSpPr>
          <p:cNvPr id="41" name="bd_342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43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100" dirty="0"/>
          </a:p>
        </p:txBody>
      </p:sp>
      <p:sp>
        <p:nvSpPr>
          <p:cNvPr id="43" name="R8_chip344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4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Pino's lottery ticket</a:t>
            </a:r>
            <a:endParaRPr lang="en-US" sz="2500" dirty="0"/>
          </a:p>
        </p:txBody>
      </p:sp>
      <p:pic>
        <p:nvPicPr>
          <p:cNvPr id="6" name="brP_3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5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5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5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class story (TPRS)</a:t>
            </a:r>
            <a:endParaRPr lang="en-US" sz="800" dirty="0"/>
          </a:p>
        </p:txBody>
      </p:sp>
      <p:sp>
        <p:nvSpPr>
          <p:cNvPr id="15" name="cd_357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60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ha mai vinto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 (last Saturday)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comprato (sabato scorso)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 it yet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l'ha ancora preso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already bought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già comprato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just lost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 appena perso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me…?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 presti…?</a:t>
            </a:r>
            <a:endParaRPr lang="en-US" sz="1000" dirty="0"/>
          </a:p>
        </p:txBody>
      </p:sp>
      <p:sp>
        <p:nvSpPr>
          <p:cNvPr id="19" name="R1_sb36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6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anything. But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Saturday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lottery ticket.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Pino ever won anything? · When did he buy the ticket?</a:t>
            </a:r>
            <a:endParaRPr lang="en-US" sz="1000" dirty="0"/>
          </a:p>
        </p:txBody>
      </p:sp>
      <p:sp>
        <p:nvSpPr>
          <p:cNvPr id="21" name="R2_sb36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6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Monday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numbers.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€10,000!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win €100 or €10,000? · When did he check the numbers?</a:t>
            </a:r>
            <a:endParaRPr lang="en-US" sz="1250" dirty="0"/>
          </a:p>
        </p:txBody>
      </p:sp>
      <p:sp>
        <p:nvSpPr>
          <p:cNvPr id="23" name="R3_sb36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6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money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already bought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new trainers!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got the money yet? · What has he already bought? (you decide!)</a:t>
            </a:r>
            <a:endParaRPr lang="en-US" sz="1050" dirty="0"/>
          </a:p>
        </p:txBody>
      </p:sp>
      <p:sp>
        <p:nvSpPr>
          <p:cNvPr id="25" name="R4_sb36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6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friend phones: 'I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lost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wallet. Can you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€500?'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his friend lost his wallet or his phone? · What does he want?</a:t>
            </a:r>
            <a:endParaRPr lang="en-US" sz="1050" dirty="0"/>
          </a:p>
        </p:txBody>
      </p:sp>
      <p:sp>
        <p:nvSpPr>
          <p:cNvPr id="27" name="R5_sb36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7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looks for the ticket. Where is it?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in his jeans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yesterday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put it in his jeans or his bag? · When did he put it there?</a:t>
            </a:r>
            <a:endParaRPr lang="en-US" sz="1050" dirty="0"/>
          </a:p>
        </p:txBody>
      </p:sp>
      <p:sp>
        <p:nvSpPr>
          <p:cNvPr id="29" name="R6_sb37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7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Nonna smiles: 'Don't worry – I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washed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your jeans!'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has just washed the jeans? · And you – have you ever lost something important?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7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7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cmd_37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8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38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4" name="pf_38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85" descr="/home/claude/lls-course/v2/cache/2a2_found_mone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8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8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8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8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did you…? Where…?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was it? What happened?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900" dirty="0"/>
          </a:p>
        </p:txBody>
      </p:sp>
      <p:sp>
        <p:nvSpPr>
          <p:cNvPr id="20" name="R1_qb39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91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saved for six months to pay the deposit on my car. – How much was it?</a:t>
            </a:r>
            <a:endParaRPr lang="en-US" sz="950" dirty="0"/>
          </a:p>
        </p:txBody>
      </p:sp>
      <p:pic>
        <p:nvPicPr>
          <p:cNvPr id="22" name="R1_th392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3" name="R2_qb393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394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But my brother lent me some money last week…</a:t>
            </a:r>
            <a:endParaRPr lang="en-US" sz="1050" dirty="0"/>
          </a:p>
        </p:txBody>
      </p:sp>
      <p:sp>
        <p:nvSpPr>
          <p:cNvPr id="25" name="R3_qb395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396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Yes! I bought a guitar two years ago. I've never played it!</a:t>
            </a:r>
            <a:endParaRPr lang="en-US" sz="1100" dirty="0"/>
          </a:p>
        </p:txBody>
      </p:sp>
      <p:sp>
        <p:nvSpPr>
          <p:cNvPr id="27" name="R4_qb397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398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have. I lost it on the bus last summer.</a:t>
            </a:r>
            <a:endParaRPr lang="en-US" sz="1250" dirty="0"/>
          </a:p>
        </p:txBody>
      </p:sp>
      <p:sp>
        <p:nvSpPr>
          <p:cNvPr id="29" name="R5_qb399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00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I won €20 in a school raffle!</a:t>
            </a:r>
            <a:endParaRPr lang="en-US" sz="1250" dirty="0"/>
          </a:p>
        </p:txBody>
      </p:sp>
      <p:sp>
        <p:nvSpPr>
          <p:cNvPr id="31" name="R6_qb401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02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sold my old phone on Vinted last month.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0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4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40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4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cmd_40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1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41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4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4" name="cd_41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1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1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 /skæm/ → a dishonest way of making money · una truffa</a:t>
            </a:r>
            <a:endParaRPr lang="en-US" sz="1050" dirty="0"/>
          </a:p>
        </p:txBody>
      </p:sp>
      <p:sp>
        <p:nvSpPr>
          <p:cNvPr id="18" name="pf_41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19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2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2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2" name="R1_chip42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00" dirty="0"/>
          </a:p>
        </p:txBody>
      </p:sp>
      <p:sp>
        <p:nvSpPr>
          <p:cNvPr id="23" name="bd_42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2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5" name="R2_chip42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00" dirty="0"/>
          </a:p>
        </p:txBody>
      </p:sp>
      <p:sp>
        <p:nvSpPr>
          <p:cNvPr id="26" name="bd_42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2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8" name="R3_chip42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00" dirty="0"/>
          </a:p>
        </p:txBody>
      </p:sp>
      <p:sp>
        <p:nvSpPr>
          <p:cNvPr id="29" name="bd_42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3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31" name="R4_chip43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00" dirty="0"/>
          </a:p>
        </p:txBody>
      </p:sp>
      <p:sp>
        <p:nvSpPr>
          <p:cNvPr id="32" name="bd_43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3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4" name="R5_chip43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00" dirty="0"/>
          </a:p>
        </p:txBody>
      </p:sp>
      <p:sp>
        <p:nvSpPr>
          <p:cNvPr id="35" name="bd_43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43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7" name="R6_chip43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4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42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cmd_4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4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4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4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5" name="cd_4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7" name="ln_45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8" name="R1_lnA45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9" name="ln_45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150" dirty="0"/>
          </a:p>
        </p:txBody>
      </p:sp>
      <p:sp>
        <p:nvSpPr>
          <p:cNvPr id="20" name="ln_45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150" dirty="0"/>
          </a:p>
        </p:txBody>
      </p:sp>
      <p:sp>
        <p:nvSpPr>
          <p:cNvPr id="21" name="ln_456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2" name="R2_lnA45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3" name="ln_458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4" name="R3_lnA45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5" name="ln_46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6" name="R4_lnA46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7" name="pf_46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63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46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6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6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6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Mistakes = a sign of a scam!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and correct ten.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7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7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cmd_4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7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7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7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5" name="cd_48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8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7" name="ln_48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8" name="R1_lnA48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9" name="ln_48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150" dirty="0"/>
          </a:p>
        </p:txBody>
      </p:sp>
      <p:sp>
        <p:nvSpPr>
          <p:cNvPr id="20" name="ln_48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1" name="R2_lnA486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2" name="ln_48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3" name="R3_lnA48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4" name="ln_48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5" name="R4_lnA490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6" name="ln_49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150" dirty="0"/>
          </a:p>
        </p:txBody>
      </p:sp>
      <p:sp>
        <p:nvSpPr>
          <p:cNvPr id="27" name="pf_49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93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9" name="cd_49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9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9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9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0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5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0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5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cmd_5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50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50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gist</a:t>
            </a:r>
            <a:endParaRPr lang="en-US" sz="850" dirty="0"/>
          </a:p>
        </p:txBody>
      </p:sp>
      <p:pic>
        <p:nvPicPr>
          <p:cNvPr id="12" name="logo_5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4" name="ap_509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5" name="ah_51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51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ah2_512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20" name="pf_513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14" descr="/home/claude/lls-course/v2/cache/2a2_friend_abroad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2" name="bd_515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3" name="pf_516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517" descr="/home/claude/lls-course/v2/cache/2a2_lottery_letter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5" name="bd_518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pf_519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520" descr="/home/claude/lls-course/v2/cache/2a2_bank_ca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8" name="bd_521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cd_522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23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1" name="ih_524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2" name="il_525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A, B and C. Which scam cost the most? Guess!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A, B e C. Quale truffa è costata di più? Indovina!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they lose? The best advice?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hanno perso? Il consiglio migliore?</a:t>
            </a:r>
            <a:endParaRPr lang="en-US" sz="700" dirty="0"/>
          </a:p>
        </p:txBody>
      </p:sp>
      <p:sp>
        <p:nvSpPr>
          <p:cNvPr id="33" name="lq_526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4" name="R1_chip527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5" name="lq_528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6" name="R2_chip529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7" name="lq_530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8" name="R3_chip531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9" name="lq_532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40" name="R4_chip533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3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5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5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5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54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54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54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5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5" name="ap_54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6" name="ah_54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4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4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50" descr="/home/claude/lls-course/v2/cache/2a2_lottery_letter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5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5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5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55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555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7" name="R1_chip556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8" name="gq_557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9" name="R2_chip558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30" name="gq_559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31" name="R3_chip560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32" name="gq_561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33" name="R4_chip562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4" name="gq_563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5" name="R5_chip564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6" name="gq_565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7" name="R6_chip566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8" name="gq_567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9" name="R7_chip568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40" name="gq_569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41" name="R8_chip570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73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7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cmd_5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7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57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4" name="pf_58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83" descr="/home/claude/lls-course/v2/cache/2a2_parcel_tex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8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8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8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8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must be a scam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hang up / delete it.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click on the link.</a:t>
            </a:r>
            <a:endParaRPr lang="en-US" sz="1050" dirty="0"/>
          </a:p>
        </p:txBody>
      </p:sp>
      <p:sp>
        <p:nvSpPr>
          <p:cNvPr id="20" name="R1_qb58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8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Scam! I'd never click on the link.</a:t>
            </a:r>
            <a:endParaRPr lang="en-US" sz="1250" dirty="0"/>
          </a:p>
        </p:txBody>
      </p:sp>
      <p:sp>
        <p:nvSpPr>
          <p:cNvPr id="22" name="R2_qb59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9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Paul! I'd hang up and phone my bank.</a:t>
            </a:r>
            <a:endParaRPr lang="en-US" sz="1050" dirty="0"/>
          </a:p>
        </p:txBody>
      </p:sp>
      <p:sp>
        <p:nvSpPr>
          <p:cNvPr id="24" name="R3_qb59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9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Carl. I've never bought a Spanish ticket!</a:t>
            </a:r>
            <a:endParaRPr lang="en-US" sz="1050" dirty="0"/>
          </a:p>
        </p:txBody>
      </p:sp>
      <p:sp>
        <p:nvSpPr>
          <p:cNvPr id="26" name="R4_qb59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9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Heather. I'd phone my friend first.</a:t>
            </a:r>
            <a:endParaRPr lang="en-US" sz="1050" dirty="0"/>
          </a:p>
        </p:txBody>
      </p:sp>
      <p:sp>
        <p:nvSpPr>
          <p:cNvPr id="28" name="R5_qb59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597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my uncle has. He got a strange text last year and he clicked on the link…</a:t>
            </a:r>
            <a:endParaRPr lang="en-US" sz="950" dirty="0"/>
          </a:p>
        </p:txBody>
      </p:sp>
      <p:pic>
        <p:nvPicPr>
          <p:cNvPr id="30" name="R5_th598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0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0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05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06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6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3" name="bd_60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1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questions with money verbs</a:t>
            </a:r>
            <a:endParaRPr lang="en-US" sz="1400" dirty="0"/>
          </a:p>
        </p:txBody>
      </p:sp>
      <p:sp>
        <p:nvSpPr>
          <p:cNvPr id="15" name="bd_61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1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with just, one with yesterday</a:t>
            </a:r>
            <a:endParaRPr lang="en-US" sz="1400" dirty="0"/>
          </a:p>
        </p:txBody>
      </p:sp>
      <p:sp>
        <p:nvSpPr>
          <p:cNvPr id="17" name="bd_61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1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golden rule to avoid a scam</a:t>
            </a:r>
            <a:endParaRPr lang="en-US" sz="1400" dirty="0"/>
          </a:p>
        </p:txBody>
      </p:sp>
      <p:sp>
        <p:nvSpPr>
          <p:cNvPr id="19" name="cd_61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1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1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1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3a–3d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2A: a 5–8, b 6–10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3" name="st_61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2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2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2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2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Review · what did you do today?</a:t>
            </a:r>
            <a:endParaRPr lang="en-US" sz="800" dirty="0"/>
          </a:p>
        </p:txBody>
      </p:sp>
      <p:sp>
        <p:nvSpPr>
          <p:cNvPr id="14" name="cd_63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3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t_63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and answered about money experiences</a:t>
            </a:r>
            <a:endParaRPr lang="en-US" sz="1350" dirty="0"/>
          </a:p>
        </p:txBody>
      </p:sp>
      <p:sp>
        <p:nvSpPr>
          <p:cNvPr id="17" name="R1_tk63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3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3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63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Chose: present perfect or past simple?</a:t>
            </a:r>
            <a:endParaRPr lang="en-US" sz="1350" dirty="0"/>
          </a:p>
        </p:txBody>
      </p:sp>
      <p:sp>
        <p:nvSpPr>
          <p:cNvPr id="21" name="R2_tk63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3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4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24" name="tt_64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mistakes in a scam email</a:t>
            </a:r>
            <a:endParaRPr lang="en-US" sz="1350" dirty="0"/>
          </a:p>
        </p:txBody>
      </p:sp>
      <p:sp>
        <p:nvSpPr>
          <p:cNvPr id="25" name="R3_tk64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4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4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4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4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4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4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32" name="tt_64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three true scam stories</a:t>
            </a:r>
            <a:endParaRPr lang="en-US" sz="1350" dirty="0"/>
          </a:p>
        </p:txBody>
      </p:sp>
      <p:sp>
        <p:nvSpPr>
          <p:cNvPr id="33" name="R5_tk65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5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54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6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65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6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cmd_65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65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950" dirty="0"/>
          </a:p>
        </p:txBody>
      </p:sp>
      <p:sp>
        <p:nvSpPr>
          <p:cNvPr id="11" name="tag_66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6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4" name="st_663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1 = been · b1 1 = have you been (examples on the sheet)</a:t>
            </a:r>
            <a:endParaRPr lang="en-US" sz="1050" dirty="0"/>
          </a:p>
        </p:txBody>
      </p:sp>
      <p:sp>
        <p:nvSpPr>
          <p:cNvPr id="19" name="pf_66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9" descr="/home/claude/lls-course/v2/cache/2a2_holiday_album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7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7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3" name="R1_chip67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00" dirty="0"/>
          </a:p>
        </p:txBody>
      </p:sp>
      <p:sp>
        <p:nvSpPr>
          <p:cNvPr id="24" name="bd_67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7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6" name="R2_chip67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00" dirty="0"/>
          </a:p>
        </p:txBody>
      </p:sp>
      <p:sp>
        <p:nvSpPr>
          <p:cNvPr id="27" name="bd_67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7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9" name="R3_chip67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00" dirty="0"/>
          </a:p>
        </p:txBody>
      </p:sp>
      <p:sp>
        <p:nvSpPr>
          <p:cNvPr id="30" name="bd_67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8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2" name="R4_chip68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00" dirty="0"/>
          </a:p>
        </p:txBody>
      </p:sp>
      <p:sp>
        <p:nvSpPr>
          <p:cNvPr id="33" name="bd_68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8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5" name="R5_chip68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00" dirty="0"/>
          </a:p>
        </p:txBody>
      </p:sp>
      <p:sp>
        <p:nvSpPr>
          <p:cNvPr id="36" name="bd_68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8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8" name="R6_chip68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9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92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cmd_6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6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6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4" name="st_6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0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01" descr="/home/claude/lls-course/v2/cache/2a2_saver_spender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0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0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0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0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a = a SPENDER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b = in the middle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c = a SAVER</a:t>
            </a:r>
            <a:endParaRPr lang="en-US" sz="1050" dirty="0"/>
          </a:p>
        </p:txBody>
      </p:sp>
      <p:sp>
        <p:nvSpPr>
          <p:cNvPr id="21" name="R1_qb70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0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once. I borrowed €20 from my brother – and I paid him back!</a:t>
            </a:r>
            <a:endParaRPr lang="en-US" sz="1250" dirty="0"/>
          </a:p>
        </p:txBody>
      </p:sp>
      <p:sp>
        <p:nvSpPr>
          <p:cNvPr id="23" name="R2_qb70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0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really. I usually pay by card.</a:t>
            </a:r>
            <a:endParaRPr lang="en-US" sz="1250" dirty="0"/>
          </a:p>
        </p:txBody>
      </p:sp>
      <p:sp>
        <p:nvSpPr>
          <p:cNvPr id="25" name="R3_qb71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1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save half and spend half on a holiday.</a:t>
            </a:r>
            <a:endParaRPr lang="en-US" sz="1250" dirty="0"/>
          </a:p>
        </p:txBody>
      </p:sp>
      <p:sp>
        <p:nvSpPr>
          <p:cNvPr id="27" name="R4_qb71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1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spender! I've already spent my birthday money.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2026-10-12T17:09:13Z</dcterms:created>
  <dcterms:modified xsi:type="dcterms:W3CDTF">2026-10-12T17:09:13Z</dcterms:modified>
</cp:coreProperties>
</file>