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FIRST LESSON OF THE COURSE (60 min). Show the photo. Ask the THINK question: 'When's the best time to drink coffee?' Take 3–4 guesses (7 a.m.? after lunch? never?). Don't give the answer: 'You'll find out at the end of the lesson – science has an answer!' (the article on p.7 says between 2.00 and 5.00 p.m.). Read the 'Today you're going to…' list together so students know where the lesson is going. No revision warmer today (first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getting to know you (5 min)
GETTING TO KNOW YOU (5 min) – first lesson, so no revision. The six prompts appear ONE PER CLICK: students write only a short answer for each (a word, a name, a number) on a piece of paper, in circles around their name. MODEL FIRST (1 min): draw your own circles on the board with YOUR answers; the class guesses why, then asks 'Why did you write…?' and you answer. Then pairs swap papers: the partner GUESSES the reason first ('I think it's because…'), then asks and asks one follow-up question (3 min). Feedback (1 min): 3–4 students tell the class one surprising thing about their partner. Learn names now! Classroom language to teach on the way: How do you spell…? What does … mean? Can you say that again, please? PRIVACY: no questions about family, address or house numbers in a new group. ICQs: 'Do you write the question or the answer?' (the answer) · 'Who asks why – you or your partner?' (partner). Example answers on the slide are only models. Food prompts 2, 3 and 5 lead into today's topic (accept Italian food names: arancine, panelle, sfincione…).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fish and seafood (3 min)
ELICIT FIRST (3 min). Pairs look at the photo and the clues and say the English word for 1–6 (Italian is fine as a first step – then try English). Click once per number. Answers (Vocabulary Bank p.152, audio 1.2): 1 crab · 2 mussels · 3 prawns · 4 squid · 5 salmon · 6 tuna. Drill: squid /skwɪd/, salmon /ˈsæmən/ (silent l), tuna /ˈtjuːnə/ (not /ˈtuːnə/), mussels /ˈmʌslz/. Other words in the Vocabulary Bank: lobster (aragosta). ICQ: 'Are you writing or speaking?' (speaking). The Italian is on slide 6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meat (2 min)
ELICIT (2 min). Do 0 with the class: pig = the animal, pork = the meat. Pairs say the meat words, then click once per line. Answers: 1 pork · 2 beef · 3 lamb · 4 chicken · 5 duck. Point out: we eat pork, beef and lamb – NOT 'pig', 'cow', 'sheep'. Drill lamb /læm/ (silent b). Italian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fruit and vegetables (3 min)
ELICIT (3 min). Same procedure: pairs, then one click per number. Answers (VB p.152): 1 aubergine · 2 beetroot · 3 raspberries · 4 peaches · 5 green beans · 6 courgettes. Also in the photo: pears (bottom left), cherries (top middle), cabbage (right) – elicit if there's time. Drill aubergine /ˈəʊbəʒiːn/, courgette /kɔːˈʒet/, beetroot /ˈbiːtruːt/. TG tip: teach important local food that isn't in the book – artichokes, prickly pears (fichi d'India), pistachios, swordfish (pesce spada), sardines.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in Italian (2 min)
CONSOLIDATION for slower students (2 min). Play 1.2 (listen and repeat). The class says the Italian for each word, then click to show it – one word per click. 20 seconds on the warning: we eat pork, not pig! Quick check: 'Spaghetti allo scoglio has… ?' (mussels, prawns, squid…). 'Is lamb from a cow?' (no – a young sheep).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1 (3 min). Demo first with a strong student: 'It's meat from a cow' → beef (not in the game). Click to show each word: round 1 = 4 words for A, round 2 = 4 words for B (now B faces the screen). About 20 seconds per word. Useful language to model: It's a fish / a fruit / a vegetable / meat… It's red / long / small… You eat it in… ICQs: 'Can you say the word?' (no) · 'Can you use Italian?'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cooking (2 min)
ELICIT (2 min). Pairs say the cooking word for 1–4; click once per number. Answers (VB p.152, 1.3): 1 fried · 2 grilled · 3 steamed · 4 roast. Then the Remember box: boiled and baked. TG note: baked and roast are both 'cooked in the oven' – baked for bread, cakes, sweet things, fruit or vegetables; roast always with fat, especially meat and potatoes. Quick personalisation: 'How do you like your eggs? Potatoes? Fish?' (2–3 students). Drill steamed /stiːmd/ (one syllable, not 'steam-ed').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food adjectives (2 min)
ELICIT (2 min). SB 1d: the adjectives fresh, frozen, hot / spicy, low-fat, raw, tinned. Pairs match 1–5; click once per number. Answers: 1 raw (sushi) · 2 spicy / hot (chillies) · 3 tinned (tuna) · 4 frozen (peas) · 5 fresh (tomatoes). Then low-fat from the Remember box. TG possible answers for other foods: fresh fish, vegetables · frozen peas, fish, pizza · hot / spicy sauce, chicken · low-fat yogurt, cheese · raw fish, vegetables · tinned tomatoes, tuna. Drill frozen /ˈfrəʊzn/, spicy /ˈspaɪsi/, raw /rɔː/.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Play 1.3/1.4 (listen and repeat). Class says the Italian, then one click per word shows it. The last row is new: the phrasal verbs from the Vocabulary Bank (audio 1.4) and 'takeaway'. Give the book's examples: 'I eat out a lot because I often don't have time to cook.' · 'I'm trying to cut down on coffee at the moment. I'm only having one cup at breakfast.' · 'The doctor told me that I should completely cut out all cheese and dairy products.' CCQ: 'I cut out sugar – do I eat a little sugar?' (no, none) · 'I cut down on sugar?' (yes,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food adjectives (3 min)
LISTENING (3 min). 0 is the example (raw beetroot – done in the book). Pairs guess the adjectives first. Play 1.5, pausing after each conversation. Click once per sentence. Answers (TG + audio script): 0 raw beetroot · 1 spicy prawns, hot food · 2 fresh tuna · 3 low-fat yogurts · 4 tinned red peppers · 5 frozen raspberries. yogurt can also be spelled yoghurt. ICQ: 'Do you write the food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short and long vowels (3 min)
PRONUNCIATION (3 min). 2a: introduce the sound pictures (one for each of the 44 sounds of English). Elicit and drill fish /ɪ/ and tree /iː/, then cat, car, clock, horse, bull, boot. Ask: 'How do you know a sound is long?' – the two dots /ː/. Each pair = a short and a long sound (left short, right long). 2b: pairs say the phrases aloud and match them (the vowel sound is highlighted in each phrase, like the pink letters in the book). Play 1.6 to check; click once per phrase. Answers (TG/audio script): crab salad cat /æ/ · grilled squid fish /ɪ/ · a jar of raspberry jam car /ɑː/ · steamed green beans tree /iː/ · a good cook bull /ʊ/ · hot sausages clock /ɒ/ · raw pork horse /ɔː/ · tuna with beetroot boot /uː/. Play again: listen and repeat. ITALIAN SPEAKERS: Italian has one 'i' and one 'u', so /ɪ/–/iː/ (ship / sheep, live / leave) and /ʊ/–/uː/ (full / fool) sound the same to them – exaggerate the long sounds. tuna = /ˈtjuːnə/.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(2 min)
GAME 3 (2 min). The vowel in each word is highlighted. Two teams. Teams say the four words aloud (quietly!), then the first team to call out the odd one out AND say its sound picture wins a point. Click once per line. Answers: 1 squid · 2 jar · 3 hot · 4 steamed · 5 good · 6 food. Drill each answer against the others (squid / beef). ICQ: 'Are we looking at the spelling or the sound?' (the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key words first (2 min)
ELICIT + CONSOLIDATE (2 min). SB 3a: the bold words in the questionnaire 'Your food profile'. Pairs guess the meaning; click once per word – each answer gives the meaning AND the Italian (consolidation for slower students on the same slide). Drill: allergic /əˈlɜːdʒɪk/ (stress on LER, not 'al-LER-gic' Italian-style), intolerant /ɪnˈtɒlərənt/, takeaway /ˈteɪkəweɪ/. FALSE FRIEND: miss here = sentire la mancanza (not 'perdere'): 'I miss my nonna's pasta.'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this is where the key phrases from the last slide get heard 15–20 times BEFORE the questionnaire and the listening. Click once per line. For each line: 1) say it, 2) ask the questions in grey quickly round the class (yes/no → either/or → who/what), 3) let the CLASS change details: 'Is Tom allergic to prawns? No? What is he allergic to?' – accept their idea and use it in the rest of the story (change the topping in line 5 to match!). Keep it light and funny; students answer with one word or a short phrase – that's fine. Finish: 'What happens next?' – one or two ideas, then move on. If the class is quiet, make it personal: 'Marco, are you allergic to anything? What do you eat to cheer yourself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&amp; speaking · the questionnaire (2 min)
RECALL IN CONTEXT (2 min). The questionnaire from p.7 with the key words removed. Pairs choose the word for each gap 1–8 from the word box (3 words don't fit: frozen, raw, tinned). Question 1a (snack) and 2c (spicy food) are complete – no gap. Click once per question: the words appear highlighted in the text. Answers: 1 topping, filling · 2 ready-made, takeaway · 3 allergic, intolerant · 4 cheer yourself up · 5 miss. Check they understand every question (they need them for the listening). Book question 3 also asks 'How long have you had the problem?' –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gist (3 min)
GIST (3 min). The phrases they will hear (cheer yourself up, can't live without, allergic, takeaway…) were pre-taught on 'Key words first' and recycled in the class story – if a student asks, point back to the story. Photo A = people answering in the street. Students look at the questionnaire again (previous slide). Play 1.7 once just to listen, then again pausing after each speaker: which question is he / she answering? Emma is the example (question 5). Pairs compare, then click once per speaker. Answers (TG/SB p.7): Emma 5 · Sarah 6 · John 2c · Rob 4a · James 3 · Sean 1b. Photo task: B = Rob (cheer yourself up – something sweet) · C = Sean (pizza toppings). ICQ: 'Do you write the food now?' (no – only the question number; food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detail (3 min)
DETAIL (3 min). Pairs guess the food first from what they remember. Play 1.7 again, pausing after each speaker. Click once per line. Answers (audio script 1.7): Emma tea (she missed English breakfast tea on holiday in Slovenia) · Sarah pasta (pasta and pesto at least twice a week) · John curries (his wife is from Indonesia; he also loves Thai green curry) · Rob chocolate or ice cream – 'definitely something sweet' · James caffeine – coffee gave him headaches · Sean pepperoni – spicy toppings with meat. Note: pepperoni in English = spicy salami (NOT peperoni = peppers!).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your food profile (4 min)
SPEAKING (4 min). Demonstrate by answering one or two questions yourself first (TG extra support). New pairs. Questions appear ONE PER CLICK – about 30–40 seconds each. No one-word answers: give an example or a reason. Monitor and help with food words; note 4–5 errors for delayed correction. TG extra challenge: teach Both of us… (plural verb: Both of us like…) and Neither of us… (singular verb: Neither of us likes…). Feedback: 2–3 pairs say what they have in common. Then 1 minute of delayed error correction on the board. ICQ: 'Can you answer just yes or no?' (no – example or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Reading · the morning and lunch (3 min)
READING (3 min). 4a first (1 min): pairs tell each other what time they usually get up, have breakfast, have a coffee, have lunch, have dinner and go to bed. Pre-teach only the blocking words (Remember box + heart disease = malattie cardiache). Then: the article is ON THE SLIDE – each gap is followed by the reason. Pairs read and choose the best time for 1–3 from the box (2 distractors: 6.00 a.m., 9.00–11.00 a.m.) (2 min). Click once per gap: the time appears highlighted in the text. Answers (SB p.7): 1 8.00 a.m. · 2 between 2.00 and 5.00 p.m. · 3 between 12.00 and 2.00. Back to the opening question: coffee is best between 2 and 5 p.m. – early morning is the WORST time! 'Would your Italian parents agree?!' The text is the book's article, shortened (the introduction and the research details are cut); facts unchanged. 4c question answers: 1 you're less likely to be at risk of heart disease as an adult · 2 it can make us more mentally alert · 3 lunch: we digest it better; dinner: our blood glucose levels are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Reading · the evening and more (3 min)
READING (3 min). Same procedure (melatonin = the sleep hormone): read the article on the slide, choose 4–7 from the box (2 distractors: 1.00 p.m., midnight), click once per gap. Answers (SB p.7): 4 7.00 p.m. · 5 11.00 a.m. · 6 5.00 p.m. · 7 between 9.00 p.m. and 11.00 p.m. Then 4b: 'Do you or your partner do any of these things at the times the article recommends?' Expect a reaction to 'dinner at 7.00 p.m.' – most Sicilian families eat at 8.30–9! 4c answers: 4 our senses of smell and taste are at their best · 5 a yoga or going for a walk b running or cycling · 6 it helps us to go to sleep. Cut from the book's text: the glass of wine before dinner, getting up at sunrise, weightlifting at midday. If short of time: do this slide quickly as a whole class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reading for detail (3 min)
EXTRA (3 min, if there's time). SB 4c questions 1–6 (shortened). Pairs answer from the article; click once per question. Answers (TG): 1 Because you're less likely to be at risk of heart disease as an adult. 2 It can make us more mentally alert. 3 Having steak and chips for lunch means we digest it better; having it for dinner makes our blood glucose levels higher. 4 Because our senses of smell and taste are at their best at this time. 5 a yoga or going for a walk b running or cycling. 6 Because it helps us to go to sleep. 4e follow-up: 'Do you believe all the information in this article? Would you change any of your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seafood or meat words, 2 cooking words with a food (e.g. grilled squid, roast potatoes), 1 best time for coffee and why (between 2 and 5 p.m. – it makes us more alert). A few students share. Set homework (on the slide and in the app): Workbook 1A vocabulary 1a–1g and pronunciation 2a, 2c (2b and 2d need audio – optional) + Vocabulary Bank p.152 (cover and test yourself) + the 1A-1 homework sheet (easier version available). Explain how homework works at LLS: photo of the sheet → LLS app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food quotes (3 min)
EXTRA (3 min, if there's time – or as the warmer for 1A part 2). SB 1a: a quote = una citazione. Pairs complete the six quotes with the words in the word box (2 distractors: bread, bananas). Click once per quote. Answers (TG): 1 pear · 2 pasta · 3 onions · 4 tomato, fruit salad · 5 cake · 6 cookie. Drill onions /ˈʌnjənz/; cookie (AmE) = biscuit (BrE). 1b: choose your favourite quote and tell a partner why. Forced choice: 'Only ONE quote can go on the fridge at LLS – which one?'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vocabulary game (3 min)
EXTRA GAME (3 min, if there's time – or a warmer next lesson). Teams of 3–4, one pen and paper per team. Show a category, 30 seconds, 'Go!' Then click to show EXAMPLE answers – accept any correct, correctly spelled word (the TG optional lead-in idea, adapted to today's words). 1 point per correct word; +1 bonus for a word nobody else has. Write the scores on the board. ICQ: 'How long do you have?' (30 seconds) · 'Does spelling count?'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audio" Target="../media/media-10-11.mp3"/><Relationship Id="rId12" Type="http://schemas.microsoft.com/office/2007/relationships/media" Target="../media/media-10-11.mp3"/><Relationship Id="rId13" Type="http://schemas.openxmlformats.org/officeDocument/2006/relationships/image" Target="../media/image-10-13.png"/><Relationship Id="rId14" Type="http://schemas.openxmlformats.org/officeDocument/2006/relationships/audio" Target="../media/media-10-14.mp3"/><Relationship Id="rId15" Type="http://schemas.microsoft.com/office/2007/relationships/media" Target="../media/media-10-14.mp3"/><Relationship Id="rId16" Type="http://schemas.openxmlformats.org/officeDocument/2006/relationships/image" Target="../media/image-10-16.png"/><Relationship Id="rId17" Type="http://schemas.openxmlformats.org/officeDocument/2006/relationships/slideLayout" Target="../slideLayouts/slideLayout1.xml"/><Relationship Id="rId1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slideLayout" Target="../slideLayouts/slideLayout1.xml"/><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pp.6–7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 are what you eat!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get to know your new classmates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name food and ways to cook it</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hear short and long vowel sounds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people talking about food</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read about the best times to eat</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morning – I can't wake up without a coffee!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When's the best time to drink coffee?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why!</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answers. Your partner asks: Why?</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6 risposte. Il compagno chiede: Perché?</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Warmer · getting to know you   ·   📖 Adapted from TG Communicative photocopiable 'Getting to know you' p.176–177</a:t>
            </a:r>
            <a:endParaRPr lang="en-US" sz="800" dirty="0"/>
          </a:p>
        </p:txBody>
      </p:sp>
      <p:sp>
        <p:nvSpPr>
          <p:cNvPr id="14" name="pf_2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1_first_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Why did you write…?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 think it's because…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Really? Tell me more!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How do you spell that?</a:t>
            </a:r>
            <a:endParaRPr lang="en-US" sz="800" dirty="0"/>
          </a:p>
        </p:txBody>
      </p:sp>
      <p:sp>
        <p:nvSpPr>
          <p:cNvPr id="20" name="R1_qb3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5"/>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year you started learning English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"2015" → Why did you write 2015? – I started at primary school.</a:t>
            </a:r>
            <a:endParaRPr lang="en-US" sz="1250" dirty="0"/>
          </a:p>
        </p:txBody>
      </p:sp>
      <p:sp>
        <p:nvSpPr>
          <p:cNvPr id="22" name="R2_qb36"/>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7"/>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LOVE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"arancine" → I think it's because you eat them every Sunday!</a:t>
            </a:r>
            <a:endParaRPr lang="en-US" sz="1250" dirty="0"/>
          </a:p>
        </p:txBody>
      </p:sp>
      <p:sp>
        <p:nvSpPr>
          <p:cNvPr id="24" name="R3_qb38"/>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9"/>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can't stand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"broccoli" → Really? Why? – I hate the smell!</a:t>
            </a:r>
            <a:endParaRPr lang="en-US" sz="1250" dirty="0"/>
          </a:p>
        </p:txBody>
      </p:sp>
      <p:sp>
        <p:nvSpPr>
          <p:cNvPr id="26" name="R4_qb4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1"/>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things you like doing in your free time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"football, TikTok" → How often do you play football?</a:t>
            </a:r>
            <a:endParaRPr lang="en-US" sz="1250" dirty="0"/>
          </a:p>
        </p:txBody>
      </p:sp>
      <p:sp>
        <p:nvSpPr>
          <p:cNvPr id="28" name="R5_qb42"/>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3"/>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place to eat in Bagheria</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nonna's house" → Why? – Her pasta is the best!</a:t>
            </a:r>
            <a:endParaRPr lang="en-US" sz="1250" dirty="0"/>
          </a:p>
        </p:txBody>
      </p:sp>
      <p:sp>
        <p:nvSpPr>
          <p:cNvPr id="30" name="R6_qb4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4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last film or TV series you watched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"Wednesday" → Did you like it? – Yes, it was really funny.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fish market</a:t>
            </a:r>
            <a:endParaRPr lang="en-US" sz="25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Come si dice 1–6 in inglese? Prova!</a:t>
            </a:r>
            <a:endParaRPr lang="en-US" sz="950" dirty="0"/>
          </a:p>
        </p:txBody>
      </p:sp>
      <p:sp>
        <p:nvSpPr>
          <p:cNvPr id="9" name="cmd_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fish and seafood   ·   📖 SB p.6 · 1c · Vocabulary Bank p.152 · 1 Food (audio 1.2)</a:t>
            </a:r>
            <a:endParaRPr lang="en-US" sz="800" dirty="0"/>
          </a:p>
        </p:txBody>
      </p:sp>
      <p:sp>
        <p:nvSpPr>
          <p:cNvPr id="14" name="pf_57"/>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 descr="/home/claude/lls-course/v2/cache/1a1_fish_market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6" name="bd_59"/>
          <p:cNvSpPr/>
          <p:nvPr/>
        </p:nvSpPr>
        <p:spPr>
          <a:xfrm>
            <a:off x="1527962" y="197510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60"/>
          <p:cNvSpPr/>
          <p:nvPr/>
        </p:nvSpPr>
        <p:spPr>
          <a:xfrm>
            <a:off x="3030322" y="255117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61"/>
          <p:cNvSpPr/>
          <p:nvPr/>
        </p:nvSpPr>
        <p:spPr>
          <a:xfrm>
            <a:off x="4387291" y="248716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62"/>
          <p:cNvSpPr/>
          <p:nvPr/>
        </p:nvSpPr>
        <p:spPr>
          <a:xfrm>
            <a:off x="946404" y="303123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63"/>
          <p:cNvSpPr/>
          <p:nvPr/>
        </p:nvSpPr>
        <p:spPr>
          <a:xfrm>
            <a:off x="2642616" y="344728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64"/>
          <p:cNvSpPr/>
          <p:nvPr/>
        </p:nvSpPr>
        <p:spPr>
          <a:xfrm>
            <a:off x="4484218" y="363931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6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6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Red, with eight legs.</a:t>
            </a:r>
            <a:endParaRPr lang="en-US" sz="1100" dirty="0"/>
          </a:p>
        </p:txBody>
      </p:sp>
      <p:sp>
        <p:nvSpPr>
          <p:cNvPr id="24" name="R1_chip6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crab</a:t>
            </a:r>
            <a:endParaRPr lang="en-US" sz="1000" dirty="0"/>
          </a:p>
        </p:txBody>
      </p:sp>
      <p:sp>
        <p:nvSpPr>
          <p:cNvPr id="25" name="bd_6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6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Black – in spaghetti allo scoglio!</a:t>
            </a:r>
            <a:endParaRPr lang="en-US" sz="1100" dirty="0"/>
          </a:p>
        </p:txBody>
      </p:sp>
      <p:sp>
        <p:nvSpPr>
          <p:cNvPr id="27" name="R2_chip7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mussels</a:t>
            </a:r>
            <a:endParaRPr lang="en-US" sz="1000" dirty="0"/>
          </a:p>
        </p:txBody>
      </p:sp>
      <p:sp>
        <p:nvSpPr>
          <p:cNvPr id="28" name="bd_7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7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pink and curly.</a:t>
            </a:r>
            <a:endParaRPr lang="en-US" sz="1100" dirty="0"/>
          </a:p>
        </p:txBody>
      </p:sp>
      <p:sp>
        <p:nvSpPr>
          <p:cNvPr id="30" name="R3_chip7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prawns</a:t>
            </a:r>
            <a:endParaRPr lang="en-US" sz="1000" dirty="0"/>
          </a:p>
        </p:txBody>
      </p:sp>
      <p:sp>
        <p:nvSpPr>
          <p:cNvPr id="31" name="bd_7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7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33" name="R4_chip7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squid /skwɪd/</a:t>
            </a:r>
            <a:endParaRPr lang="en-US" sz="1000" dirty="0"/>
          </a:p>
        </p:txBody>
      </p:sp>
      <p:sp>
        <p:nvSpPr>
          <p:cNvPr id="34" name="bd_7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7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fish from Norway.</a:t>
            </a:r>
            <a:endParaRPr lang="en-US" sz="1100" dirty="0"/>
          </a:p>
        </p:txBody>
      </p:sp>
      <p:sp>
        <p:nvSpPr>
          <p:cNvPr id="36" name="R5_chip7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salmon (silent l!) /ˈsæmən/</a:t>
            </a:r>
            <a:endParaRPr lang="en-US" sz="1000" dirty="0"/>
          </a:p>
        </p:txBody>
      </p:sp>
      <p:sp>
        <p:nvSpPr>
          <p:cNvPr id="37" name="bd_8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8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39" name="R6_chip8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tuna /ˈtjuːnə/</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butcher's</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animal? Say the meat word.</a:t>
            </a:r>
            <a:endParaRPr lang="en-US" sz="1250" dirty="0"/>
          </a:p>
        </p:txBody>
      </p:sp>
      <p:sp>
        <p:nvSpPr>
          <p:cNvPr id="8" name="insIT_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animale? Di' il nome della carne.</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meat   ·   📖 Vocabulary Bank p.152 · 1 Food (audio 1.2)</a:t>
            </a:r>
            <a:endParaRPr lang="en-US" sz="800" dirty="0"/>
          </a:p>
        </p:txBody>
      </p:sp>
      <p:sp>
        <p:nvSpPr>
          <p:cNvPr id="14" name="cd_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7"/>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pig → pork  (the animal is pig, the MEAT is pork)</a:t>
            </a:r>
            <a:endParaRPr lang="en-US" sz="1050" dirty="0"/>
          </a:p>
        </p:txBody>
      </p:sp>
      <p:sp>
        <p:nvSpPr>
          <p:cNvPr id="18" name="pf_9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1a1_butch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pig</a:t>
            </a:r>
            <a:endParaRPr lang="en-US" sz="1150" dirty="0"/>
          </a:p>
        </p:txBody>
      </p:sp>
      <p:sp>
        <p:nvSpPr>
          <p:cNvPr id="22" name="R1_chip10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pork</a:t>
            </a:r>
            <a:endParaRPr lang="en-US" sz="1000" dirty="0"/>
          </a:p>
        </p:txBody>
      </p:sp>
      <p:sp>
        <p:nvSpPr>
          <p:cNvPr id="23" name="bd_10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cow</a:t>
            </a:r>
            <a:endParaRPr lang="en-US" sz="1150" dirty="0"/>
          </a:p>
        </p:txBody>
      </p:sp>
      <p:sp>
        <p:nvSpPr>
          <p:cNvPr id="25" name="R2_chip10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beef</a:t>
            </a:r>
            <a:endParaRPr lang="en-US" sz="1000" dirty="0"/>
          </a:p>
        </p:txBody>
      </p:sp>
      <p:sp>
        <p:nvSpPr>
          <p:cNvPr id="26" name="bd_10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young sheep</a:t>
            </a:r>
            <a:endParaRPr lang="en-US" sz="1150" dirty="0"/>
          </a:p>
        </p:txBody>
      </p:sp>
      <p:sp>
        <p:nvSpPr>
          <p:cNvPr id="28" name="R3_chip10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lamb (silent b!) /læm/</a:t>
            </a:r>
            <a:endParaRPr lang="en-US" sz="1000" dirty="0"/>
          </a:p>
        </p:txBody>
      </p:sp>
      <p:sp>
        <p:nvSpPr>
          <p:cNvPr id="29" name="bd_10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lays eggs</a:t>
            </a:r>
            <a:endParaRPr lang="en-US" sz="1150" dirty="0"/>
          </a:p>
        </p:txBody>
      </p:sp>
      <p:sp>
        <p:nvSpPr>
          <p:cNvPr id="31" name="R4_chip11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chicken</a:t>
            </a:r>
            <a:endParaRPr lang="en-US" sz="1000" dirty="0"/>
          </a:p>
        </p:txBody>
      </p:sp>
      <p:sp>
        <p:nvSpPr>
          <p:cNvPr id="32" name="bd_11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says "quack!"</a:t>
            </a:r>
            <a:endParaRPr lang="en-US" sz="1150" dirty="0"/>
          </a:p>
        </p:txBody>
      </p:sp>
      <p:sp>
        <p:nvSpPr>
          <p:cNvPr id="34" name="R5_chip11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duck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Fruit and veg</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1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Come si dice 1–6 in inglese? Prova!</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fruit and vegetables   ·   📖 Vocabulary Bank p.152 · 1 Food (audio 1.2)</a:t>
            </a:r>
            <a:endParaRPr lang="en-US" sz="800" dirty="0"/>
          </a:p>
        </p:txBody>
      </p:sp>
      <p:sp>
        <p:nvSpPr>
          <p:cNvPr id="14" name="pf_126"/>
          <p:cNvSpPr/>
          <p:nvPr/>
        </p:nvSpPr>
        <p:spPr>
          <a:xfrm rot="-60000">
            <a:off x="365760" y="1417320"/>
            <a:ext cx="493776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7" descr="/home/claude/lls-course/v2/cache/1a1_fruit_veg_jpg_1166x385_31.png">    </p:cNvPr>
          <p:cNvPicPr>
            <a:picLocks noChangeAspect="1"/>
          </p:cNvPicPr>
          <p:nvPr/>
        </p:nvPicPr>
        <p:blipFill>
          <a:blip r:embed="rId5"/>
          <a:stretch>
            <a:fillRect/>
          </a:stretch>
        </p:blipFill>
        <p:spPr>
          <a:xfrm rot="-60000">
            <a:off x="411480" y="1463040"/>
            <a:ext cx="4846320" cy="1600200"/>
          </a:xfrm>
          <a:prstGeom prst="rect">
            <a:avLst/>
          </a:prstGeom>
        </p:spPr>
      </p:pic>
      <p:sp>
        <p:nvSpPr>
          <p:cNvPr id="16" name="cd_128"/>
          <p:cNvSpPr/>
          <p:nvPr/>
        </p:nvSpPr>
        <p:spPr>
          <a:xfrm>
            <a:off x="320040" y="3291840"/>
            <a:ext cx="5029200" cy="1417320"/>
          </a:xfrm>
          <a:prstGeom prst="roundRect">
            <a:avLst>
              <a:gd name="adj" fmla="val 903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129"/>
          <p:cNvSpPr/>
          <p:nvPr/>
        </p:nvSpPr>
        <p:spPr>
          <a:xfrm>
            <a:off x="411480" y="3364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30"/>
          <p:cNvSpPr/>
          <p:nvPr/>
        </p:nvSpPr>
        <p:spPr>
          <a:xfrm>
            <a:off x="886968" y="338328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131"/>
          <p:cNvSpPr/>
          <p:nvPr/>
        </p:nvSpPr>
        <p:spPr>
          <a:xfrm>
            <a:off x="886968" y="3767328"/>
            <a:ext cx="4370832" cy="868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aubergine (US eggplant) · courgette (US zucchini)</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 peach (pesca) ≠ a pear (pera) · a cherry (ciliegia)</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One more: what's 'carciofo'? → artichoke!</a:t>
            </a:r>
            <a:endParaRPr lang="en-US" sz="1100" dirty="0"/>
          </a:p>
        </p:txBody>
      </p:sp>
      <p:sp>
        <p:nvSpPr>
          <p:cNvPr id="20" name="bd_132"/>
          <p:cNvSpPr/>
          <p:nvPr/>
        </p:nvSpPr>
        <p:spPr>
          <a:xfrm>
            <a:off x="849478" y="191109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133"/>
          <p:cNvSpPr/>
          <p:nvPr/>
        </p:nvSpPr>
        <p:spPr>
          <a:xfrm>
            <a:off x="2012594" y="191109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134"/>
          <p:cNvSpPr/>
          <p:nvPr/>
        </p:nvSpPr>
        <p:spPr>
          <a:xfrm>
            <a:off x="4581144" y="141503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135"/>
          <p:cNvSpPr/>
          <p:nvPr/>
        </p:nvSpPr>
        <p:spPr>
          <a:xfrm>
            <a:off x="1673352" y="253517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136"/>
          <p:cNvSpPr/>
          <p:nvPr/>
        </p:nvSpPr>
        <p:spPr>
          <a:xfrm>
            <a:off x="2981858" y="234315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137"/>
          <p:cNvSpPr/>
          <p:nvPr/>
        </p:nvSpPr>
        <p:spPr>
          <a:xfrm>
            <a:off x="3999586" y="2487168"/>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6" name="bd_138"/>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7" name="q_139"/>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28" name="R1_chip140"/>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aubergine /ˈəʊbəʒiːn/</a:t>
            </a:r>
            <a:endParaRPr lang="en-US" sz="1000" dirty="0"/>
          </a:p>
        </p:txBody>
      </p:sp>
      <p:sp>
        <p:nvSpPr>
          <p:cNvPr id="29" name="bd_141"/>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30" name="q_142"/>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Dark red. Great in salads.</a:t>
            </a:r>
            <a:endParaRPr lang="en-US" sz="1100" dirty="0"/>
          </a:p>
        </p:txBody>
      </p:sp>
      <p:sp>
        <p:nvSpPr>
          <p:cNvPr id="31" name="R2_chip143"/>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beetroot</a:t>
            </a:r>
            <a:endParaRPr lang="en-US" sz="1000" dirty="0"/>
          </a:p>
        </p:txBody>
      </p:sp>
      <p:sp>
        <p:nvSpPr>
          <p:cNvPr id="32" name="bd_144"/>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3" name="q_145"/>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red and soft.</a:t>
            </a:r>
            <a:endParaRPr lang="en-US" sz="1100" dirty="0"/>
          </a:p>
        </p:txBody>
      </p:sp>
      <p:sp>
        <p:nvSpPr>
          <p:cNvPr id="34" name="R3_chip146"/>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raspberries</a:t>
            </a:r>
            <a:endParaRPr lang="en-US" sz="1000" dirty="0"/>
          </a:p>
        </p:txBody>
      </p:sp>
      <p:sp>
        <p:nvSpPr>
          <p:cNvPr id="35" name="bd_147"/>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6" name="q_148"/>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summer fruit.</a:t>
            </a:r>
            <a:endParaRPr lang="en-US" sz="1100" dirty="0"/>
          </a:p>
        </p:txBody>
      </p:sp>
      <p:sp>
        <p:nvSpPr>
          <p:cNvPr id="37" name="R4_chip149"/>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peaches (not pears!)</a:t>
            </a:r>
            <a:endParaRPr lang="en-US" sz="1000" dirty="0"/>
          </a:p>
        </p:txBody>
      </p:sp>
      <p:sp>
        <p:nvSpPr>
          <p:cNvPr id="38" name="bd_150"/>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9" name="q_151"/>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thin and green.</a:t>
            </a:r>
            <a:endParaRPr lang="en-US" sz="1100" dirty="0"/>
          </a:p>
        </p:txBody>
      </p:sp>
      <p:sp>
        <p:nvSpPr>
          <p:cNvPr id="40" name="R5_chip152"/>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green beans</a:t>
            </a:r>
            <a:endParaRPr lang="en-US" sz="1000" dirty="0"/>
          </a:p>
        </p:txBody>
      </p:sp>
      <p:sp>
        <p:nvSpPr>
          <p:cNvPr id="41" name="bd_153"/>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2" name="q_154"/>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and green. Great in pasta!</a:t>
            </a:r>
            <a:endParaRPr lang="en-US" sz="1100" dirty="0"/>
          </a:p>
        </p:txBody>
      </p:sp>
      <p:sp>
        <p:nvSpPr>
          <p:cNvPr id="43" name="R6_chip155"/>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courgettes /kɔːˈʒets/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words in Italian</a:t>
            </a:r>
            <a:endParaRPr lang="en-US" sz="2500" dirty="0"/>
          </a:p>
        </p:txBody>
      </p:sp>
      <p:pic>
        <p:nvPicPr>
          <p:cNvPr id="6" name="brP_15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6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6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6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6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in Italian</a:t>
            </a:r>
            <a:endParaRPr lang="en-US" sz="800" dirty="0"/>
          </a:p>
        </p:txBody>
      </p:sp>
      <p:sp>
        <p:nvSpPr>
          <p:cNvPr id="14" name="cd_16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6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6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crab</a:t>
            </a:r>
            <a:endParaRPr lang="en-US" sz="1200" dirty="0"/>
          </a:p>
        </p:txBody>
      </p:sp>
      <p:sp>
        <p:nvSpPr>
          <p:cNvPr id="17" name="R1_it17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granchio</a:t>
            </a:r>
            <a:endParaRPr lang="en-US" sz="1000" dirty="0"/>
          </a:p>
        </p:txBody>
      </p:sp>
      <p:sp>
        <p:nvSpPr>
          <p:cNvPr id="18" name="cd_17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7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7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prawns</a:t>
            </a:r>
            <a:endParaRPr lang="en-US" sz="1200" dirty="0"/>
          </a:p>
        </p:txBody>
      </p:sp>
      <p:sp>
        <p:nvSpPr>
          <p:cNvPr id="21" name="R2_it17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gamberi / gamberetti</a:t>
            </a:r>
            <a:endParaRPr lang="en-US" sz="950" dirty="0"/>
          </a:p>
        </p:txBody>
      </p:sp>
      <p:sp>
        <p:nvSpPr>
          <p:cNvPr id="22" name="cd_17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7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7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mussels</a:t>
            </a:r>
            <a:endParaRPr lang="en-US" sz="1200" dirty="0"/>
          </a:p>
        </p:txBody>
      </p:sp>
      <p:sp>
        <p:nvSpPr>
          <p:cNvPr id="25" name="R3_it17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cozze</a:t>
            </a:r>
            <a:endParaRPr lang="en-US" sz="1000" dirty="0"/>
          </a:p>
        </p:txBody>
      </p:sp>
      <p:sp>
        <p:nvSpPr>
          <p:cNvPr id="26" name="cd_17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8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8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squid</a:t>
            </a:r>
            <a:endParaRPr lang="en-US" sz="1200" dirty="0"/>
          </a:p>
        </p:txBody>
      </p:sp>
      <p:sp>
        <p:nvSpPr>
          <p:cNvPr id="29" name="R4_it18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calamari / totani</a:t>
            </a:r>
            <a:endParaRPr lang="en-US" sz="1000" dirty="0"/>
          </a:p>
        </p:txBody>
      </p:sp>
      <p:sp>
        <p:nvSpPr>
          <p:cNvPr id="30" name="cd_18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8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8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salmon · tuna</a:t>
            </a:r>
            <a:endParaRPr lang="en-US" sz="1200" dirty="0"/>
          </a:p>
        </p:txBody>
      </p:sp>
      <p:sp>
        <p:nvSpPr>
          <p:cNvPr id="33" name="R5_it18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salmone · tonno</a:t>
            </a:r>
            <a:endParaRPr lang="en-US" sz="1000" dirty="0"/>
          </a:p>
        </p:txBody>
      </p:sp>
      <p:sp>
        <p:nvSpPr>
          <p:cNvPr id="34" name="cd_18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8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8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pork</a:t>
            </a:r>
            <a:endParaRPr lang="en-US" sz="1200" dirty="0"/>
          </a:p>
        </p:txBody>
      </p:sp>
      <p:sp>
        <p:nvSpPr>
          <p:cNvPr id="37" name="R6_it19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maiale</a:t>
            </a:r>
            <a:endParaRPr lang="en-US" sz="1000" dirty="0"/>
          </a:p>
        </p:txBody>
      </p:sp>
      <p:sp>
        <p:nvSpPr>
          <p:cNvPr id="38" name="cd_19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9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9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beef</a:t>
            </a:r>
            <a:endParaRPr lang="en-US" sz="1200" dirty="0"/>
          </a:p>
        </p:txBody>
      </p:sp>
      <p:sp>
        <p:nvSpPr>
          <p:cNvPr id="41" name="R7_it19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manzo</a:t>
            </a:r>
            <a:endParaRPr lang="en-US" sz="1000" dirty="0"/>
          </a:p>
        </p:txBody>
      </p:sp>
      <p:sp>
        <p:nvSpPr>
          <p:cNvPr id="42" name="cd_19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9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9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lamb</a:t>
            </a:r>
            <a:endParaRPr lang="en-US" sz="1200" dirty="0"/>
          </a:p>
        </p:txBody>
      </p:sp>
      <p:sp>
        <p:nvSpPr>
          <p:cNvPr id="45" name="R8_it19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agnello</a:t>
            </a:r>
            <a:endParaRPr lang="en-US" sz="1000" dirty="0"/>
          </a:p>
        </p:txBody>
      </p:sp>
      <p:sp>
        <p:nvSpPr>
          <p:cNvPr id="46" name="cd_19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0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0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aubergine</a:t>
            </a:r>
            <a:endParaRPr lang="en-US" sz="1200" dirty="0"/>
          </a:p>
        </p:txBody>
      </p:sp>
      <p:sp>
        <p:nvSpPr>
          <p:cNvPr id="49" name="R9_it20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melanzana</a:t>
            </a:r>
            <a:endParaRPr lang="en-US" sz="1000" dirty="0"/>
          </a:p>
        </p:txBody>
      </p:sp>
      <p:sp>
        <p:nvSpPr>
          <p:cNvPr id="50" name="cd_20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0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0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courgette</a:t>
            </a:r>
            <a:endParaRPr lang="en-US" sz="1200" dirty="0"/>
          </a:p>
        </p:txBody>
      </p:sp>
      <p:sp>
        <p:nvSpPr>
          <p:cNvPr id="53" name="R10_it20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zucchina</a:t>
            </a:r>
            <a:endParaRPr lang="en-US" sz="1000" dirty="0"/>
          </a:p>
        </p:txBody>
      </p:sp>
      <p:sp>
        <p:nvSpPr>
          <p:cNvPr id="54" name="cd_20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0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0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beetroot</a:t>
            </a:r>
            <a:endParaRPr lang="en-US" sz="1200" dirty="0"/>
          </a:p>
        </p:txBody>
      </p:sp>
      <p:sp>
        <p:nvSpPr>
          <p:cNvPr id="57" name="R11_it21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barbabietola</a:t>
            </a:r>
            <a:endParaRPr lang="en-US" sz="1000" dirty="0"/>
          </a:p>
        </p:txBody>
      </p:sp>
      <p:sp>
        <p:nvSpPr>
          <p:cNvPr id="58" name="cd_21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1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1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raspberries</a:t>
            </a:r>
            <a:endParaRPr lang="en-US" sz="1200" dirty="0"/>
          </a:p>
        </p:txBody>
      </p:sp>
      <p:sp>
        <p:nvSpPr>
          <p:cNvPr id="61" name="R12_it21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lamponi</a:t>
            </a:r>
            <a:endParaRPr lang="en-US" sz="1000" dirty="0"/>
          </a:p>
        </p:txBody>
      </p:sp>
      <p:sp>
        <p:nvSpPr>
          <p:cNvPr id="62" name="ap_215"/>
          <p:cNvSpPr/>
          <p:nvPr/>
        </p:nvSpPr>
        <p:spPr>
          <a:xfrm>
            <a:off x="320040" y="448056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a:t>
            </a:r>
            <a:endParaRPr lang="en-US" sz="1100" dirty="0"/>
          </a:p>
        </p:txBody>
      </p:sp>
      <p:sp>
        <p:nvSpPr>
          <p:cNvPr id="63" name="ah_21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6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65" name="ah_21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6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67" name="R13_wc21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8" name="R13_w21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pig / cow / sheep = the ANIMAL  ·  pork / beef / lamb = the MEAT   |   silent letters: salmon, lamb</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7"/>
                                        </p:tgtEl>
                                        <p:attrNameLst>
                                          <p:attrName>style.visibility</p:attrName>
                                        </p:attrNameLst>
                                      </p:cBhvr>
                                      <p:to>
                                        <p:strVal val="visible"/>
                                      </p:to>
                                    </p:set>
                                    <p:animEffect transition="in" filter="fade">
                                      <p:cBhvr>
                                        <p:cTn id="67" dur="400"/>
                                        <p:tgtEl>
                                          <p:spTgt spid="67"/>
                                        </p:tgtEl>
                                      </p:cBhvr>
                                    </p:animEffect>
                                  </p:childTnLst>
                                </p:cTn>
                              </p:par>
                              <p:par>
                                <p:cTn id="68" presetID="10" presetClass="entr" presetSubtype="0" fill="hold" nodeType="withEffect">
                                  <p:stCondLst>
                                    <p:cond delay="0"/>
                                  </p:stCondLst>
                                  <p:childTnLst>
                                    <p:set>
                                      <p:cBhvr>
                                        <p:cTn id="69" dur="1" fill="hold">
                                          <p:stCondLst>
                                            <p:cond delay="0"/>
                                          </p:stCondLst>
                                        </p:cTn>
                                        <p:tgtEl>
                                          <p:spTgt spid="68"/>
                                        </p:tgtEl>
                                        <p:attrNameLst>
                                          <p:attrName>style.visibility</p:attrName>
                                        </p:attrNameLst>
                                      </p:cBhvr>
                                      <p:to>
                                        <p:strVal val="visible"/>
                                      </p:to>
                                    </p:set>
                                    <p:animEffect transition="in" filter="fade">
                                      <p:cBhvr>
                                        <p:cTn id="70"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1" restart="whenNotActive" fill="hold" evtFilter="cancelBubble" nodeType="interactiveSeq">
                <p:stCondLst>
                  <p:cond evt="onClick" delay="0">
                    <p:tgtEl>
                      <p:spTgt spid="64"/>
                    </p:tgtEl>
                  </p:cond>
                </p:stCondLst>
                <p:endSync evt="end" delay="0">
                  <p:rtn val="all"/>
                </p:endSync>
                <p:childTnLst>
                  <p:par>
                    <p:cTn id="72" fill="hold">
                      <p:stCondLst>
                        <p:cond delay="0"/>
                      </p:stCondLst>
                      <p:childTnLst>
                        <p:par>
                          <p:cTn id="73" fill="hold">
                            <p:stCondLst>
                              <p:cond delay="0"/>
                            </p:stCondLst>
                            <p:childTnLst>
                              <p:par>
                                <p:cTn id="74" presetID="2" presetClass="mediacall" presetSubtype="0" fill="hold" nodeType="clickEffect">
                                  <p:stCondLst>
                                    <p:cond delay="0"/>
                                  </p:stCondLst>
                                  <p:childTnLst>
                                    <p:cmd type="call" cmd="togglePause">
                                      <p:cBhvr>
                                        <p:cTn id="75" dur="1" fill="hold"/>
                                        <p:tgtEl>
                                          <p:spTgt spid="64"/>
                                        </p:tgtEl>
                                      </p:cBhvr>
                                    </p:cmd>
                                  </p:childTnLst>
                                </p:cTn>
                              </p:par>
                            </p:childTnLst>
                          </p:cTn>
                        </p:par>
                      </p:childTnLst>
                    </p:cTn>
                  </p:par>
                </p:childTnLst>
              </p:cTn>
              <p:nextCondLst>
                <p:cond evt="onClick" delay="0">
                  <p:tgtEl>
                    <p:spTgt spid="64"/>
                  </p:tgtEl>
                </p:cond>
              </p:nextCondLst>
            </p:seq>
            <p:seq concurrent="1" nextAc="seek">
              <p:cTn id="76" restart="whenNotActive" fill="hold" evtFilter="cancelBubble" nodeType="interactiveSeq">
                <p:stCondLst>
                  <p:cond evt="onClick" delay="0">
                    <p:tgtEl>
                      <p:spTgt spid="66"/>
                    </p:tgtEl>
                  </p:cond>
                </p:stCondLst>
                <p:endSync evt="end" delay="0">
                  <p:rtn val="all"/>
                </p:endSync>
                <p:childTnLst>
                  <p:par>
                    <p:cTn id="77" fill="hold">
                      <p:stCondLst>
                        <p:cond delay="0"/>
                      </p:stCondLst>
                      <p:childTnLst>
                        <p:par>
                          <p:cTn id="78" fill="hold">
                            <p:stCondLst>
                              <p:cond delay="0"/>
                            </p:stCondLst>
                            <p:childTnLst>
                              <p:par>
                                <p:cTn id="79" presetID="2" presetClass="mediacall" presetSubtype="0" fill="hold" nodeType="clickEffect">
                                  <p:stCondLst>
                                    <p:cond delay="0"/>
                                  </p:stCondLst>
                                  <p:childTnLst>
                                    <p:cmd type="call" cmd="togglePause">
                                      <p:cBhvr>
                                        <p:cTn id="80" dur="1" fill="hold"/>
                                        <p:tgtEl>
                                          <p:spTgt spid="66"/>
                                        </p:tgtEl>
                                      </p:cBhvr>
                                    </p:cmd>
                                  </p:childTnLst>
                                </p:cTn>
                              </p:par>
                            </p:childTnLst>
                          </p:cTn>
                        </p:par>
                      </p:childTnLst>
                    </p:cTn>
                  </p:par>
                </p:childTnLst>
              </p:cTn>
              <p:nextCondLst>
                <p:cond evt="onClick" delay="0">
                  <p:tgtEl>
                    <p:spTgt spid="66"/>
                  </p:tgtEl>
                </p:cond>
              </p:nextCondLst>
            </p:seq>
            <p:audio>
              <p:cMediaNode vol="80000">
                <p:cTn id="81" fill="hold" display="0">
                  <p:stCondLst>
                    <p:cond delay="indefinite"/>
                  </p:stCondLst>
                  <p:endCondLst>
                    <p:cond evt="onStopAudio" delay="0">
                      <p:tgtEl>
                        <p:sldTgt/>
                      </p:tgtEl>
                    </p:cond>
                  </p:endCondLst>
                </p:cTn>
                <p:tgtEl>
                  <p:spTgt spid="64"/>
                </p:tgtEl>
              </p:cMediaNode>
            </p:audio>
            <p:audio>
              <p:cMediaNode vol="80000">
                <p:cTn id="82" fill="hold" display="0">
                  <p:stCondLst>
                    <p:cond delay="indefinite"/>
                  </p:stCondLst>
                  <p:endCondLst>
                    <p:cond evt="onStopAudio" delay="0">
                      <p:tgtEl>
                        <p:sldTgt/>
                      </p:tgtEl>
                    </p:cond>
                  </p:endCondLst>
                </p:cTn>
                <p:tgtEl>
                  <p:spTgt spid="6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2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2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food. Don't say it!</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il cibo. Non dirlo!</a:t>
            </a:r>
            <a:endParaRPr lang="en-US" sz="950" dirty="0"/>
          </a:p>
        </p:txBody>
      </p:sp>
      <p:sp>
        <p:nvSpPr>
          <p:cNvPr id="9" name="cmd_22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2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game</a:t>
            </a:r>
            <a:endParaRPr lang="en-US" sz="800" dirty="0"/>
          </a:p>
        </p:txBody>
      </p:sp>
      <p:sp>
        <p:nvSpPr>
          <p:cNvPr id="14" name="cd_23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3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A explains the food. Don't say it!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spiega il cibo. Non dirlo!</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B guesses. Then swap.</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100" dirty="0"/>
          </a:p>
        </p:txBody>
      </p:sp>
      <p:sp>
        <p:nvSpPr>
          <p:cNvPr id="18" name="pf_23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36"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3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3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squid</a:t>
            </a:r>
            <a:endParaRPr lang="en-US" sz="1700" dirty="0"/>
          </a:p>
        </p:txBody>
      </p:sp>
      <p:sp>
        <p:nvSpPr>
          <p:cNvPr id="22" name="R3_w23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aubergine</a:t>
            </a:r>
            <a:endParaRPr lang="en-US" sz="1700" dirty="0"/>
          </a:p>
        </p:txBody>
      </p:sp>
      <p:sp>
        <p:nvSpPr>
          <p:cNvPr id="23" name="R5_w24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mussels</a:t>
            </a:r>
            <a:endParaRPr lang="en-US" sz="1700" dirty="0"/>
          </a:p>
        </p:txBody>
      </p:sp>
      <p:sp>
        <p:nvSpPr>
          <p:cNvPr id="24" name="R7_w24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lamb</a:t>
            </a:r>
            <a:endParaRPr lang="en-US" sz="1700" dirty="0"/>
          </a:p>
        </p:txBody>
      </p:sp>
      <p:sp>
        <p:nvSpPr>
          <p:cNvPr id="25" name="rl_24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4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beetroot</a:t>
            </a:r>
            <a:endParaRPr lang="en-US" sz="1700" dirty="0"/>
          </a:p>
        </p:txBody>
      </p:sp>
      <p:sp>
        <p:nvSpPr>
          <p:cNvPr id="27" name="R4_w24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prawns</a:t>
            </a:r>
            <a:endParaRPr lang="en-US" sz="1700" dirty="0"/>
          </a:p>
        </p:txBody>
      </p:sp>
      <p:sp>
        <p:nvSpPr>
          <p:cNvPr id="28" name="R6_w24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courgette</a:t>
            </a:r>
            <a:endParaRPr lang="en-US" sz="1700" dirty="0"/>
          </a:p>
        </p:txBody>
      </p:sp>
      <p:sp>
        <p:nvSpPr>
          <p:cNvPr id="29" name="R8_w24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duck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4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is it cooked?</a:t>
            </a:r>
            <a:endParaRPr lang="en-US" sz="2500" dirty="0"/>
          </a:p>
        </p:txBody>
      </p:sp>
      <p:pic>
        <p:nvPicPr>
          <p:cNvPr id="6" name="brP_25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5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is it cooked? Say the word.</a:t>
            </a:r>
            <a:endParaRPr lang="en-US" sz="1250" dirty="0"/>
          </a:p>
        </p:txBody>
      </p:sp>
      <p:sp>
        <p:nvSpPr>
          <p:cNvPr id="8" name="insIT_2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Com'è cucinato? Di' la parola.</a:t>
            </a:r>
            <a:endParaRPr lang="en-US" sz="950" dirty="0"/>
          </a:p>
        </p:txBody>
      </p:sp>
      <p:sp>
        <p:nvSpPr>
          <p:cNvPr id="9" name="cmd_2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2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cooking   ·   📖 Vocabulary Bank p.152 · 2 Cooking (audio 1.3)</a:t>
            </a:r>
            <a:endParaRPr lang="en-US" sz="800" dirty="0"/>
          </a:p>
        </p:txBody>
      </p:sp>
      <p:sp>
        <p:nvSpPr>
          <p:cNvPr id="14" name="pf_258"/>
          <p:cNvSpPr/>
          <p:nvPr/>
        </p:nvSpPr>
        <p:spPr>
          <a:xfrm rot="-60000">
            <a:off x="365760" y="1417320"/>
            <a:ext cx="4937760" cy="1627632"/>
          </a:xfrm>
          <a:prstGeom prst="roundRect">
            <a:avLst>
              <a:gd name="adj" fmla="val 955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59" descr="/home/claude/lls-course/v2/cache/1a1_cooking_methods_jpg_1166x370_31.png">    </p:cNvPr>
          <p:cNvPicPr>
            <a:picLocks noChangeAspect="1"/>
          </p:cNvPicPr>
          <p:nvPr/>
        </p:nvPicPr>
        <p:blipFill>
          <a:blip r:embed="rId5"/>
          <a:stretch>
            <a:fillRect/>
          </a:stretch>
        </p:blipFill>
        <p:spPr>
          <a:xfrm rot="-60000">
            <a:off x="411480" y="1463040"/>
            <a:ext cx="4846320" cy="1536192"/>
          </a:xfrm>
          <a:prstGeom prst="rect">
            <a:avLst/>
          </a:prstGeom>
        </p:spPr>
      </p:pic>
      <p:sp>
        <p:nvSpPr>
          <p:cNvPr id="16" name="cd_260"/>
          <p:cNvSpPr/>
          <p:nvPr/>
        </p:nvSpPr>
        <p:spPr>
          <a:xfrm>
            <a:off x="320040" y="3227832"/>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61"/>
          <p:cNvSpPr/>
          <p:nvPr/>
        </p:nvSpPr>
        <p:spPr>
          <a:xfrm>
            <a:off x="411480" y="3300984"/>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62"/>
          <p:cNvSpPr/>
          <p:nvPr/>
        </p:nvSpPr>
        <p:spPr>
          <a:xfrm>
            <a:off x="886968" y="3319272"/>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63"/>
          <p:cNvSpPr/>
          <p:nvPr/>
        </p:nvSpPr>
        <p:spPr>
          <a:xfrm>
            <a:off x="886968" y="3703320"/>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boiled = cooked in hot water: boiled eggs, pasta</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baked = in the oven: bread, cakes</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How do you like your eggs? – Fried!</a:t>
            </a:r>
            <a:endParaRPr lang="en-US" sz="1100" dirty="0"/>
          </a:p>
        </p:txBody>
      </p:sp>
      <p:sp>
        <p:nvSpPr>
          <p:cNvPr id="20" name="bd_264"/>
          <p:cNvSpPr/>
          <p:nvPr/>
        </p:nvSpPr>
        <p:spPr>
          <a:xfrm>
            <a:off x="704088" y="214664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65"/>
          <p:cNvSpPr/>
          <p:nvPr/>
        </p:nvSpPr>
        <p:spPr>
          <a:xfrm>
            <a:off x="1818742" y="2054474"/>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66"/>
          <p:cNvSpPr/>
          <p:nvPr/>
        </p:nvSpPr>
        <p:spPr>
          <a:xfrm>
            <a:off x="3127248" y="200838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267"/>
          <p:cNvSpPr/>
          <p:nvPr/>
        </p:nvSpPr>
        <p:spPr>
          <a:xfrm>
            <a:off x="4435754" y="1916217"/>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268"/>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269"/>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in hot oil in a pan</a:t>
            </a:r>
            <a:endParaRPr lang="en-US" sz="1100" dirty="0"/>
          </a:p>
        </p:txBody>
      </p:sp>
      <p:sp>
        <p:nvSpPr>
          <p:cNvPr id="26" name="R1_chip270"/>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fried eggs</a:t>
            </a:r>
            <a:endParaRPr lang="en-US" sz="1000" dirty="0"/>
          </a:p>
        </p:txBody>
      </p:sp>
      <p:sp>
        <p:nvSpPr>
          <p:cNvPr id="27" name="bd_271"/>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272"/>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on very hot metal</a:t>
            </a:r>
            <a:endParaRPr lang="en-US" sz="1100" dirty="0"/>
          </a:p>
        </p:txBody>
      </p:sp>
      <p:sp>
        <p:nvSpPr>
          <p:cNvPr id="29" name="R2_chip273"/>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grilled vegetables</a:t>
            </a:r>
            <a:endParaRPr lang="en-US" sz="1000" dirty="0"/>
          </a:p>
        </p:txBody>
      </p:sp>
      <p:sp>
        <p:nvSpPr>
          <p:cNvPr id="30" name="bd_274"/>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275"/>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32" name="R3_chip276"/>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steamed fish</a:t>
            </a:r>
            <a:endParaRPr lang="en-US" sz="1000" dirty="0"/>
          </a:p>
        </p:txBody>
      </p:sp>
      <p:sp>
        <p:nvSpPr>
          <p:cNvPr id="33" name="bd_277"/>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278"/>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the oven, with oil or fat</a:t>
            </a:r>
            <a:endParaRPr lang="en-US" sz="1100" dirty="0"/>
          </a:p>
        </p:txBody>
      </p:sp>
      <p:sp>
        <p:nvSpPr>
          <p:cNvPr id="35" name="R4_chip279"/>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roast chicken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Raw, frozen or fresh?</a:t>
            </a:r>
            <a:endParaRPr lang="en-US" sz="2500" dirty="0"/>
          </a:p>
        </p:txBody>
      </p:sp>
      <p:pic>
        <p:nvPicPr>
          <p:cNvPr id="6" name="brP_2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word? Raw, spicy, fresh…</a:t>
            </a:r>
            <a:endParaRPr lang="en-US" sz="1250" dirty="0"/>
          </a:p>
        </p:txBody>
      </p:sp>
      <p:sp>
        <p:nvSpPr>
          <p:cNvPr id="8" name="insIT_2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parola? Crudo, piccante, fresco…</a:t>
            </a:r>
            <a:endParaRPr lang="en-US" sz="950" dirty="0"/>
          </a:p>
        </p:txBody>
      </p:sp>
      <p:sp>
        <p:nvSpPr>
          <p:cNvPr id="9" name="cmd_28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8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8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2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food adjectives   ·   📖 SB p.6 · 1d</a:t>
            </a:r>
            <a:endParaRPr lang="en-US" sz="800" dirty="0"/>
          </a:p>
        </p:txBody>
      </p:sp>
      <p:sp>
        <p:nvSpPr>
          <p:cNvPr id="14" name="pf_291"/>
          <p:cNvSpPr/>
          <p:nvPr/>
        </p:nvSpPr>
        <p:spPr>
          <a:xfrm rot="-60000">
            <a:off x="365760" y="1417320"/>
            <a:ext cx="493776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2" descr="/home/claude/lls-course/v2/cache/1a1_food_adjectives_jpg_1166x352_31.png">    </p:cNvPr>
          <p:cNvPicPr>
            <a:picLocks noChangeAspect="1"/>
          </p:cNvPicPr>
          <p:nvPr/>
        </p:nvPicPr>
        <p:blipFill>
          <a:blip r:embed="rId5"/>
          <a:stretch>
            <a:fillRect/>
          </a:stretch>
        </p:blipFill>
        <p:spPr>
          <a:xfrm rot="-60000">
            <a:off x="411480" y="1463040"/>
            <a:ext cx="4846320" cy="1463040"/>
          </a:xfrm>
          <a:prstGeom prst="rect">
            <a:avLst/>
          </a:prstGeom>
        </p:spPr>
      </p:pic>
      <p:sp>
        <p:nvSpPr>
          <p:cNvPr id="16" name="cd_293"/>
          <p:cNvSpPr/>
          <p:nvPr/>
        </p:nvSpPr>
        <p:spPr>
          <a:xfrm>
            <a:off x="320040" y="3154680"/>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94"/>
          <p:cNvSpPr/>
          <p:nvPr/>
        </p:nvSpPr>
        <p:spPr>
          <a:xfrm>
            <a:off x="411480" y="3227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95"/>
          <p:cNvSpPr/>
          <p:nvPr/>
        </p:nvSpPr>
        <p:spPr>
          <a:xfrm>
            <a:off x="886968" y="324612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96"/>
          <p:cNvSpPr/>
          <p:nvPr/>
        </p:nvSpPr>
        <p:spPr>
          <a:xfrm>
            <a:off x="886968" y="3630168"/>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hot = spicy (piccante) – or warm (caldo)!</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low-fat = with very little fat: low-fat yogurt, cheese</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tinned (UK) = canned (US)</a:t>
            </a:r>
            <a:endParaRPr lang="en-US" sz="1100" dirty="0"/>
          </a:p>
        </p:txBody>
      </p:sp>
      <p:sp>
        <p:nvSpPr>
          <p:cNvPr id="20" name="bd_297"/>
          <p:cNvSpPr/>
          <p:nvPr/>
        </p:nvSpPr>
        <p:spPr>
          <a:xfrm>
            <a:off x="801014" y="192938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98"/>
          <p:cNvSpPr/>
          <p:nvPr/>
        </p:nvSpPr>
        <p:spPr>
          <a:xfrm>
            <a:off x="1188720" y="2529230"/>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99"/>
          <p:cNvSpPr/>
          <p:nvPr/>
        </p:nvSpPr>
        <p:spPr>
          <a:xfrm>
            <a:off x="3321101" y="2178101"/>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300"/>
          <p:cNvSpPr/>
          <p:nvPr/>
        </p:nvSpPr>
        <p:spPr>
          <a:xfrm>
            <a:off x="4338828" y="1856232"/>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301"/>
          <p:cNvSpPr/>
          <p:nvPr/>
        </p:nvSpPr>
        <p:spPr>
          <a:xfrm>
            <a:off x="4435754" y="249997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302"/>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6" name="q_303"/>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100" dirty="0"/>
          </a:p>
        </p:txBody>
      </p:sp>
      <p:sp>
        <p:nvSpPr>
          <p:cNvPr id="27" name="R1_chip304"/>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raw</a:t>
            </a:r>
            <a:endParaRPr lang="en-US" sz="1000" dirty="0"/>
          </a:p>
        </p:txBody>
      </p:sp>
      <p:sp>
        <p:nvSpPr>
          <p:cNvPr id="28" name="bd_305"/>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9" name="q_306"/>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Chillies are very…</a:t>
            </a:r>
            <a:endParaRPr lang="en-US" sz="1100" dirty="0"/>
          </a:p>
        </p:txBody>
      </p:sp>
      <p:sp>
        <p:nvSpPr>
          <p:cNvPr id="30" name="R2_chip307"/>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spicy / hot</a:t>
            </a:r>
            <a:endParaRPr lang="en-US" sz="1000" dirty="0"/>
          </a:p>
        </p:txBody>
      </p:sp>
      <p:sp>
        <p:nvSpPr>
          <p:cNvPr id="31" name="bd_308"/>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2" name="q_309"/>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Fish in a metal can</a:t>
            </a:r>
            <a:endParaRPr lang="en-US" sz="1100" dirty="0"/>
          </a:p>
        </p:txBody>
      </p:sp>
      <p:sp>
        <p:nvSpPr>
          <p:cNvPr id="33" name="R3_chip310"/>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tinned tuna</a:t>
            </a:r>
            <a:endParaRPr lang="en-US" sz="1000" dirty="0"/>
          </a:p>
        </p:txBody>
      </p:sp>
      <p:sp>
        <p:nvSpPr>
          <p:cNvPr id="34" name="bd_311"/>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5" name="q_312"/>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Kept at –18°C</a:t>
            </a:r>
            <a:endParaRPr lang="en-US" sz="1100" dirty="0"/>
          </a:p>
        </p:txBody>
      </p:sp>
      <p:sp>
        <p:nvSpPr>
          <p:cNvPr id="36" name="R4_chip313"/>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frozen peas</a:t>
            </a:r>
            <a:endParaRPr lang="en-US" sz="1000" dirty="0"/>
          </a:p>
        </p:txBody>
      </p:sp>
      <p:sp>
        <p:nvSpPr>
          <p:cNvPr id="37" name="bd_314"/>
          <p:cNvSpPr/>
          <p:nvPr/>
        </p:nvSpPr>
        <p:spPr>
          <a:xfrm>
            <a:off x="5532120" y="3776472"/>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8" name="q_315"/>
          <p:cNvSpPr/>
          <p:nvPr/>
        </p:nvSpPr>
        <p:spPr>
          <a:xfrm>
            <a:off x="5897880" y="3758184"/>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picked – not old</a:t>
            </a:r>
            <a:endParaRPr lang="en-US" sz="1100" dirty="0"/>
          </a:p>
        </p:txBody>
      </p:sp>
      <p:sp>
        <p:nvSpPr>
          <p:cNvPr id="39" name="R5_chip316"/>
          <p:cNvSpPr/>
          <p:nvPr/>
        </p:nvSpPr>
        <p:spPr>
          <a:xfrm>
            <a:off x="5897880" y="4023360"/>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fresh tomatoes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Cooking words in Italian</a:t>
            </a:r>
            <a:endParaRPr lang="en-US" sz="2500" dirty="0"/>
          </a:p>
        </p:txBody>
      </p:sp>
      <p:pic>
        <p:nvPicPr>
          <p:cNvPr id="6" name="brP_32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2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32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3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in Italian</a:t>
            </a:r>
            <a:endParaRPr lang="en-US" sz="800" dirty="0"/>
          </a:p>
        </p:txBody>
      </p:sp>
      <p:sp>
        <p:nvSpPr>
          <p:cNvPr id="14" name="cd_32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2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3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fried</a:t>
            </a:r>
            <a:endParaRPr lang="en-US" sz="1200" dirty="0"/>
          </a:p>
        </p:txBody>
      </p:sp>
      <p:sp>
        <p:nvSpPr>
          <p:cNvPr id="17" name="R1_it33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fritto</a:t>
            </a:r>
            <a:endParaRPr lang="en-US" sz="1000" dirty="0"/>
          </a:p>
        </p:txBody>
      </p:sp>
      <p:sp>
        <p:nvSpPr>
          <p:cNvPr id="18" name="cd_33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grilled</a:t>
            </a:r>
            <a:endParaRPr lang="en-US" sz="1200" dirty="0"/>
          </a:p>
        </p:txBody>
      </p:sp>
      <p:sp>
        <p:nvSpPr>
          <p:cNvPr id="21" name="R2_it33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alla griglia</a:t>
            </a:r>
            <a:endParaRPr lang="en-US" sz="1000" dirty="0"/>
          </a:p>
        </p:txBody>
      </p:sp>
      <p:sp>
        <p:nvSpPr>
          <p:cNvPr id="22" name="cd_33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3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3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steamed</a:t>
            </a:r>
            <a:endParaRPr lang="en-US" sz="1200" dirty="0"/>
          </a:p>
        </p:txBody>
      </p:sp>
      <p:sp>
        <p:nvSpPr>
          <p:cNvPr id="25" name="R3_it33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 vapore</a:t>
            </a:r>
            <a:endParaRPr lang="en-US" sz="1000" dirty="0"/>
          </a:p>
        </p:txBody>
      </p:sp>
      <p:sp>
        <p:nvSpPr>
          <p:cNvPr id="26" name="cd_34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roast</a:t>
            </a:r>
            <a:endParaRPr lang="en-US" sz="1200" dirty="0"/>
          </a:p>
        </p:txBody>
      </p:sp>
      <p:sp>
        <p:nvSpPr>
          <p:cNvPr id="29" name="R4_it34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arrosto</a:t>
            </a:r>
            <a:endParaRPr lang="en-US" sz="1000" dirty="0"/>
          </a:p>
        </p:txBody>
      </p:sp>
      <p:sp>
        <p:nvSpPr>
          <p:cNvPr id="30" name="cd_34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boiled</a:t>
            </a:r>
            <a:endParaRPr lang="en-US" sz="1200" dirty="0"/>
          </a:p>
        </p:txBody>
      </p:sp>
      <p:sp>
        <p:nvSpPr>
          <p:cNvPr id="33" name="R5_it34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bollito / lesso</a:t>
            </a:r>
            <a:endParaRPr lang="en-US" sz="1000" dirty="0"/>
          </a:p>
        </p:txBody>
      </p:sp>
      <p:sp>
        <p:nvSpPr>
          <p:cNvPr id="34" name="cd_34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4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5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baked</a:t>
            </a:r>
            <a:endParaRPr lang="en-US" sz="1200" dirty="0"/>
          </a:p>
        </p:txBody>
      </p:sp>
      <p:sp>
        <p:nvSpPr>
          <p:cNvPr id="37" name="R6_it35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al forno (pane, dolci)</a:t>
            </a:r>
            <a:endParaRPr lang="en-US" sz="950" dirty="0"/>
          </a:p>
        </p:txBody>
      </p:sp>
      <p:sp>
        <p:nvSpPr>
          <p:cNvPr id="38" name="cd_35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raw</a:t>
            </a:r>
            <a:endParaRPr lang="en-US" sz="1200" dirty="0"/>
          </a:p>
        </p:txBody>
      </p:sp>
      <p:sp>
        <p:nvSpPr>
          <p:cNvPr id="41" name="R7_it35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crudo</a:t>
            </a:r>
            <a:endParaRPr lang="en-US" sz="1000" dirty="0"/>
          </a:p>
        </p:txBody>
      </p:sp>
      <p:sp>
        <p:nvSpPr>
          <p:cNvPr id="42" name="cd_35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5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5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spicy / hot</a:t>
            </a:r>
            <a:endParaRPr lang="en-US" sz="1200" dirty="0"/>
          </a:p>
        </p:txBody>
      </p:sp>
      <p:sp>
        <p:nvSpPr>
          <p:cNvPr id="45" name="R8_it35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piccante</a:t>
            </a:r>
            <a:endParaRPr lang="en-US" sz="1000" dirty="0"/>
          </a:p>
        </p:txBody>
      </p:sp>
      <p:sp>
        <p:nvSpPr>
          <p:cNvPr id="46" name="cd_36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fresh</a:t>
            </a:r>
            <a:endParaRPr lang="en-US" sz="1200" dirty="0"/>
          </a:p>
        </p:txBody>
      </p:sp>
      <p:sp>
        <p:nvSpPr>
          <p:cNvPr id="49" name="R9_it36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fresco</a:t>
            </a:r>
            <a:endParaRPr lang="en-US" sz="1000" dirty="0"/>
          </a:p>
        </p:txBody>
      </p:sp>
      <p:sp>
        <p:nvSpPr>
          <p:cNvPr id="50" name="cd_36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frozen</a:t>
            </a:r>
            <a:endParaRPr lang="en-US" sz="1200" dirty="0"/>
          </a:p>
        </p:txBody>
      </p:sp>
      <p:sp>
        <p:nvSpPr>
          <p:cNvPr id="53" name="R10_it36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surgelato</a:t>
            </a:r>
            <a:endParaRPr lang="en-US" sz="1000" dirty="0"/>
          </a:p>
        </p:txBody>
      </p:sp>
      <p:sp>
        <p:nvSpPr>
          <p:cNvPr id="54" name="cd_36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6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7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tinned</a:t>
            </a:r>
            <a:endParaRPr lang="en-US" sz="1200" dirty="0"/>
          </a:p>
        </p:txBody>
      </p:sp>
      <p:sp>
        <p:nvSpPr>
          <p:cNvPr id="57" name="R11_it37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scatola</a:t>
            </a:r>
            <a:endParaRPr lang="en-US" sz="1000" dirty="0"/>
          </a:p>
        </p:txBody>
      </p:sp>
      <p:sp>
        <p:nvSpPr>
          <p:cNvPr id="58" name="cd_37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low-fat</a:t>
            </a:r>
            <a:endParaRPr lang="en-US" sz="1200" dirty="0"/>
          </a:p>
        </p:txBody>
      </p:sp>
      <p:sp>
        <p:nvSpPr>
          <p:cNvPr id="61" name="R12_it37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magro / light</a:t>
            </a:r>
            <a:endParaRPr lang="en-US" sz="1000" dirty="0"/>
          </a:p>
        </p:txBody>
      </p:sp>
      <p:sp>
        <p:nvSpPr>
          <p:cNvPr id="62" name="cd_376"/>
          <p:cNvSpPr/>
          <p:nvPr/>
        </p:nvSpPr>
        <p:spPr>
          <a:xfrm>
            <a:off x="320040" y="388620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e_377"/>
          <p:cNvSpPr/>
          <p:nvPr/>
        </p:nvSpPr>
        <p:spPr>
          <a:xfrm>
            <a:off x="393192" y="399592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4" name="en_378"/>
          <p:cNvSpPr/>
          <p:nvPr/>
        </p:nvSpPr>
        <p:spPr>
          <a:xfrm>
            <a:off x="978408"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eat out</a:t>
            </a:r>
            <a:endParaRPr lang="en-US" sz="1200" dirty="0"/>
          </a:p>
        </p:txBody>
      </p:sp>
      <p:sp>
        <p:nvSpPr>
          <p:cNvPr id="65" name="R13_it379"/>
          <p:cNvSpPr/>
          <p:nvPr/>
        </p:nvSpPr>
        <p:spPr>
          <a:xfrm>
            <a:off x="978408"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fuori</a:t>
            </a:r>
            <a:endParaRPr lang="en-US" sz="1000" dirty="0"/>
          </a:p>
        </p:txBody>
      </p:sp>
      <p:sp>
        <p:nvSpPr>
          <p:cNvPr id="66" name="cd_380"/>
          <p:cNvSpPr/>
          <p:nvPr/>
        </p:nvSpPr>
        <p:spPr>
          <a:xfrm>
            <a:off x="2487168" y="388620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67" name="e_381"/>
          <p:cNvSpPr/>
          <p:nvPr/>
        </p:nvSpPr>
        <p:spPr>
          <a:xfrm>
            <a:off x="2560320" y="399592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8" name="en_382"/>
          <p:cNvSpPr/>
          <p:nvPr/>
        </p:nvSpPr>
        <p:spPr>
          <a:xfrm>
            <a:off x="3145536"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takeaway</a:t>
            </a:r>
            <a:endParaRPr lang="en-US" sz="1200" dirty="0"/>
          </a:p>
        </p:txBody>
      </p:sp>
      <p:sp>
        <p:nvSpPr>
          <p:cNvPr id="69" name="R14_it383"/>
          <p:cNvSpPr/>
          <p:nvPr/>
        </p:nvSpPr>
        <p:spPr>
          <a:xfrm>
            <a:off x="3145536"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cibo da asporto</a:t>
            </a:r>
            <a:endParaRPr lang="en-US" sz="1000" dirty="0"/>
          </a:p>
        </p:txBody>
      </p:sp>
      <p:sp>
        <p:nvSpPr>
          <p:cNvPr id="70" name="cd_384"/>
          <p:cNvSpPr/>
          <p:nvPr/>
        </p:nvSpPr>
        <p:spPr>
          <a:xfrm>
            <a:off x="4654296" y="388620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71" name="e_385"/>
          <p:cNvSpPr/>
          <p:nvPr/>
        </p:nvSpPr>
        <p:spPr>
          <a:xfrm>
            <a:off x="4727448" y="399592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2" name="en_386"/>
          <p:cNvSpPr/>
          <p:nvPr/>
        </p:nvSpPr>
        <p:spPr>
          <a:xfrm>
            <a:off x="5312664"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down on</a:t>
            </a:r>
            <a:endParaRPr lang="en-US" sz="1200" dirty="0"/>
          </a:p>
        </p:txBody>
      </p:sp>
      <p:sp>
        <p:nvSpPr>
          <p:cNvPr id="73" name="R15_it387"/>
          <p:cNvSpPr/>
          <p:nvPr/>
        </p:nvSpPr>
        <p:spPr>
          <a:xfrm>
            <a:off x="5312664" y="427024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mangiare / bere meno</a:t>
            </a:r>
            <a:endParaRPr lang="en-US" sz="900" dirty="0"/>
          </a:p>
        </p:txBody>
      </p:sp>
      <p:sp>
        <p:nvSpPr>
          <p:cNvPr id="74" name="cd_388"/>
          <p:cNvSpPr/>
          <p:nvPr/>
        </p:nvSpPr>
        <p:spPr>
          <a:xfrm>
            <a:off x="6821424" y="388620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75" name="e_389"/>
          <p:cNvSpPr/>
          <p:nvPr/>
        </p:nvSpPr>
        <p:spPr>
          <a:xfrm>
            <a:off x="6894576" y="399592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6" name="en_390"/>
          <p:cNvSpPr/>
          <p:nvPr/>
        </p:nvSpPr>
        <p:spPr>
          <a:xfrm>
            <a:off x="7479792"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out</a:t>
            </a:r>
            <a:endParaRPr lang="en-US" sz="1200" dirty="0"/>
          </a:p>
        </p:txBody>
      </p:sp>
      <p:sp>
        <p:nvSpPr>
          <p:cNvPr id="77" name="R16_it391"/>
          <p:cNvSpPr/>
          <p:nvPr/>
        </p:nvSpPr>
        <p:spPr>
          <a:xfrm>
            <a:off x="7479792"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eliminare</a:t>
            </a:r>
            <a:endParaRPr lang="en-US" sz="1000" dirty="0"/>
          </a:p>
        </p:txBody>
      </p:sp>
      <p:sp>
        <p:nvSpPr>
          <p:cNvPr id="78" name="ap_392"/>
          <p:cNvSpPr/>
          <p:nvPr/>
        </p:nvSpPr>
        <p:spPr>
          <a:xfrm>
            <a:off x="320040" y="448056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 + 1.4</a:t>
            </a:r>
            <a:endParaRPr lang="en-US" sz="1100" dirty="0"/>
          </a:p>
        </p:txBody>
      </p:sp>
      <p:sp>
        <p:nvSpPr>
          <p:cNvPr id="79" name="ah_393"/>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8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8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82" name="ah_394"/>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83"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84"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5"/>
                                        </p:tgtEl>
                                        <p:attrNameLst>
                                          <p:attrName>style.visibility</p:attrName>
                                        </p:attrNameLst>
                                      </p:cBhvr>
                                      <p:to>
                                        <p:strVal val="visible"/>
                                      </p:to>
                                    </p:set>
                                    <p:animEffect transition="in" filter="fade">
                                      <p:cBhvr>
                                        <p:cTn id="67" dur="400"/>
                                        <p:tgtEl>
                                          <p:spTgt spid="6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9"/>
                                        </p:tgtEl>
                                        <p:attrNameLst>
                                          <p:attrName>style.visibility</p:attrName>
                                        </p:attrNameLst>
                                      </p:cBhvr>
                                      <p:to>
                                        <p:strVal val="visible"/>
                                      </p:to>
                                    </p:set>
                                    <p:animEffect transition="in" filter="fade">
                                      <p:cBhvr>
                                        <p:cTn id="72" dur="400"/>
                                        <p:tgtEl>
                                          <p:spTgt spid="6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73"/>
                                        </p:tgtEl>
                                        <p:attrNameLst>
                                          <p:attrName>style.visibility</p:attrName>
                                        </p:attrNameLst>
                                      </p:cBhvr>
                                      <p:to>
                                        <p:strVal val="visible"/>
                                      </p:to>
                                    </p:set>
                                    <p:animEffect transition="in" filter="fade">
                                      <p:cBhvr>
                                        <p:cTn id="77" dur="400"/>
                                        <p:tgtEl>
                                          <p:spTgt spid="7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77"/>
                                        </p:tgtEl>
                                        <p:attrNameLst>
                                          <p:attrName>style.visibility</p:attrName>
                                        </p:attrNameLst>
                                      </p:cBhvr>
                                      <p:to>
                                        <p:strVal val="visible"/>
                                      </p:to>
                                    </p:set>
                                    <p:animEffect transition="in" filter="fade">
                                      <p:cBhvr>
                                        <p:cTn id="82"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3" restart="whenNotActive" fill="hold" evtFilter="cancelBubble" nodeType="interactiveSeq">
                <p:stCondLst>
                  <p:cond evt="onClick" delay="0">
                    <p:tgtEl>
                      <p:spTgt spid="80"/>
                    </p:tgtEl>
                  </p:cond>
                </p:stCondLst>
                <p:endSync evt="end" delay="0">
                  <p:rtn val="all"/>
                </p:endSync>
                <p:childTnLst>
                  <p:par>
                    <p:cTn id="84" fill="hold">
                      <p:stCondLst>
                        <p:cond delay="0"/>
                      </p:stCondLst>
                      <p:childTnLst>
                        <p:par>
                          <p:cTn id="85" fill="hold">
                            <p:stCondLst>
                              <p:cond delay="0"/>
                            </p:stCondLst>
                            <p:childTnLst>
                              <p:par>
                                <p:cTn id="86" presetID="2" presetClass="mediacall" presetSubtype="0" fill="hold" nodeType="clickEffect">
                                  <p:stCondLst>
                                    <p:cond delay="0"/>
                                  </p:stCondLst>
                                  <p:childTnLst>
                                    <p:cmd type="call" cmd="togglePause">
                                      <p:cBhvr>
                                        <p:cTn id="87" dur="1" fill="hold"/>
                                        <p:tgtEl>
                                          <p:spTgt spid="80"/>
                                        </p:tgtEl>
                                      </p:cBhvr>
                                    </p:cmd>
                                  </p:childTnLst>
                                </p:cTn>
                              </p:par>
                            </p:childTnLst>
                          </p:cTn>
                        </p:par>
                      </p:childTnLst>
                    </p:cTn>
                  </p:par>
                </p:childTnLst>
              </p:cTn>
              <p:nextCondLst>
                <p:cond evt="onClick" delay="0">
                  <p:tgtEl>
                    <p:spTgt spid="80"/>
                  </p:tgtEl>
                </p:cond>
              </p:nextCondLst>
            </p:seq>
            <p:seq concurrent="1" nextAc="seek">
              <p:cTn id="88" restart="whenNotActive" fill="hold" evtFilter="cancelBubble" nodeType="interactiveSeq">
                <p:stCondLst>
                  <p:cond evt="onClick" delay="0">
                    <p:tgtEl>
                      <p:spTgt spid="81"/>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81"/>
                                        </p:tgtEl>
                                      </p:cBhvr>
                                    </p:cmd>
                                  </p:childTnLst>
                                </p:cTn>
                              </p:par>
                            </p:childTnLst>
                          </p:cTn>
                        </p:par>
                      </p:childTnLst>
                    </p:cTn>
                  </p:par>
                </p:childTnLst>
              </p:cTn>
              <p:nextCondLst>
                <p:cond evt="onClick" delay="0">
                  <p:tgtEl>
                    <p:spTgt spid="81"/>
                  </p:tgtEl>
                </p:cond>
              </p:nextCondLst>
            </p:seq>
            <p:seq concurrent="1" nextAc="seek">
              <p:cTn id="93" restart="whenNotActive" fill="hold" evtFilter="cancelBubble" nodeType="interactiveSeq">
                <p:stCondLst>
                  <p:cond evt="onClick" delay="0">
                    <p:tgtEl>
                      <p:spTgt spid="83"/>
                    </p:tgtEl>
                  </p:cond>
                </p:stCondLst>
                <p:endSync evt="end" delay="0">
                  <p:rtn val="all"/>
                </p:endSync>
                <p:childTnLst>
                  <p:par>
                    <p:cTn id="94" fill="hold">
                      <p:stCondLst>
                        <p:cond delay="0"/>
                      </p:stCondLst>
                      <p:childTnLst>
                        <p:par>
                          <p:cTn id="95" fill="hold">
                            <p:stCondLst>
                              <p:cond delay="0"/>
                            </p:stCondLst>
                            <p:childTnLst>
                              <p:par>
                                <p:cTn id="96" presetID="2" presetClass="mediacall" presetSubtype="0" fill="hold" nodeType="clickEffect">
                                  <p:stCondLst>
                                    <p:cond delay="0"/>
                                  </p:stCondLst>
                                  <p:childTnLst>
                                    <p:cmd type="call" cmd="togglePause">
                                      <p:cBhvr>
                                        <p:cTn id="97" dur="1" fill="hold"/>
                                        <p:tgtEl>
                                          <p:spTgt spid="83"/>
                                        </p:tgtEl>
                                      </p:cBhvr>
                                    </p:cmd>
                                  </p:childTnLst>
                                </p:cTn>
                              </p:par>
                            </p:childTnLst>
                          </p:cTn>
                        </p:par>
                      </p:childTnLst>
                    </p:cTn>
                  </p:par>
                </p:childTnLst>
              </p:cTn>
              <p:nextCondLst>
                <p:cond evt="onClick" delay="0">
                  <p:tgtEl>
                    <p:spTgt spid="83"/>
                  </p:tgtEl>
                </p:cond>
              </p:nextCondLst>
            </p:seq>
            <p:seq concurrent="1" nextAc="seek">
              <p:cTn id="98" restart="whenNotActive" fill="hold" evtFilter="cancelBubble" nodeType="interactiveSeq">
                <p:stCondLst>
                  <p:cond evt="onClick" delay="0">
                    <p:tgtEl>
                      <p:spTgt spid="84"/>
                    </p:tgtEl>
                  </p:cond>
                </p:stCondLst>
                <p:endSync evt="end" delay="0">
                  <p:rtn val="all"/>
                </p:endSync>
                <p:childTnLst>
                  <p:par>
                    <p:cTn id="99" fill="hold">
                      <p:stCondLst>
                        <p:cond delay="0"/>
                      </p:stCondLst>
                      <p:childTnLst>
                        <p:par>
                          <p:cTn id="100" fill="hold">
                            <p:stCondLst>
                              <p:cond delay="0"/>
                            </p:stCondLst>
                            <p:childTnLst>
                              <p:par>
                                <p:cTn id="101" presetID="2" presetClass="mediacall" presetSubtype="0" fill="hold" nodeType="clickEffect">
                                  <p:stCondLst>
                                    <p:cond delay="0"/>
                                  </p:stCondLst>
                                  <p:childTnLst>
                                    <p:cmd type="call" cmd="togglePause">
                                      <p:cBhvr>
                                        <p:cTn id="102" dur="1" fill="hold"/>
                                        <p:tgtEl>
                                          <p:spTgt spid="84"/>
                                        </p:tgtEl>
                                      </p:cBhvr>
                                    </p:cmd>
                                  </p:childTnLst>
                                </p:cTn>
                              </p:par>
                            </p:childTnLst>
                          </p:cTn>
                        </p:par>
                      </p:childTnLst>
                    </p:cTn>
                  </p:par>
                </p:childTnLst>
              </p:cTn>
              <p:nextCondLst>
                <p:cond evt="onClick" delay="0">
                  <p:tgtEl>
                    <p:spTgt spid="84"/>
                  </p:tgtEl>
                </p:cond>
              </p:nextCondLst>
            </p:seq>
            <p:audio>
              <p:cMediaNode vol="80000">
                <p:cTn id="103" fill="hold" display="0">
                  <p:stCondLst>
                    <p:cond delay="indefinite"/>
                  </p:stCondLst>
                  <p:endCondLst>
                    <p:cond evt="onStopAudio" delay="0">
                      <p:tgtEl>
                        <p:sldTgt/>
                      </p:tgtEl>
                    </p:cond>
                  </p:endCondLst>
                </p:cTn>
                <p:tgtEl>
                  <p:spTgt spid="80"/>
                </p:tgtEl>
              </p:cMediaNode>
            </p:audio>
            <p:audio>
              <p:cMediaNode vol="80000">
                <p:cTn id="104" fill="hold" display="0">
                  <p:stCondLst>
                    <p:cond delay="indefinite"/>
                  </p:stCondLst>
                  <p:endCondLst>
                    <p:cond evt="onStopAudio" delay="0">
                      <p:tgtEl>
                        <p:sldTgt/>
                      </p:tgtEl>
                    </p:cond>
                  </p:endCondLst>
                </p:cTn>
                <p:tgtEl>
                  <p:spTgt spid="81"/>
                </p:tgtEl>
              </p:cMediaNode>
            </p:audio>
            <p:audio>
              <p:cMediaNode vol="80000">
                <p:cTn id="105" fill="hold" display="0">
                  <p:stCondLst>
                    <p:cond delay="indefinite"/>
                  </p:stCondLst>
                  <p:endCondLst>
                    <p:cond evt="onStopAudio" delay="0">
                      <p:tgtEl>
                        <p:sldTgt/>
                      </p:tgtEl>
                    </p:cond>
                  </p:endCondLst>
                </p:cTn>
                <p:tgtEl>
                  <p:spTgt spid="83"/>
                </p:tgtEl>
              </p:cMediaNode>
            </p:audio>
            <p:audio>
              <p:cMediaNode vol="80000">
                <p:cTn id="106" fill="hold" display="0">
                  <p:stCondLst>
                    <p:cond delay="indefinite"/>
                  </p:stCondLst>
                  <p:endCondLst>
                    <p:cond evt="onStopAudio" delay="0">
                      <p:tgtEl>
                        <p:sldTgt/>
                      </p:tgtEl>
                    </p:cond>
                  </p:endCondLst>
                </p:cTn>
                <p:tgtEl>
                  <p:spTgt spid="84"/>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9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9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short conversations</a:t>
            </a:r>
            <a:endParaRPr lang="en-US" sz="2500" dirty="0"/>
          </a:p>
        </p:txBody>
      </p:sp>
      <p:pic>
        <p:nvPicPr>
          <p:cNvPr id="6" name="brP_39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9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adjectives. Then listen.</a:t>
            </a:r>
            <a:endParaRPr lang="en-US" sz="1250" dirty="0"/>
          </a:p>
        </p:txBody>
      </p:sp>
      <p:sp>
        <p:nvSpPr>
          <p:cNvPr id="8" name="insIT_4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aggettivi. Poi ascolta.</a:t>
            </a:r>
            <a:endParaRPr lang="en-US" sz="950" dirty="0"/>
          </a:p>
        </p:txBody>
      </p:sp>
      <p:sp>
        <p:nvSpPr>
          <p:cNvPr id="9" name="cmd_4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0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0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0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food adjectives   ·   📖 SB p.6 · 1e · audio 1.5</a:t>
            </a:r>
            <a:endParaRPr lang="en-US" sz="800" dirty="0"/>
          </a:p>
        </p:txBody>
      </p:sp>
      <p:sp>
        <p:nvSpPr>
          <p:cNvPr id="15" name="ap_40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1.5  ·  pause after each one</a:t>
            </a:r>
            <a:endParaRPr lang="en-US" sz="1100" dirty="0"/>
          </a:p>
        </p:txBody>
      </p:sp>
      <p:sp>
        <p:nvSpPr>
          <p:cNvPr id="16" name="ah_40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0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41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11" descr="/home/claude/lls-course/v2/cache/1a1_teen_breakfa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41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41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1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41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41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You need ___ beetroot, not the cooked kind.</a:t>
            </a:r>
            <a:endParaRPr lang="en-US" sz="1200" dirty="0"/>
          </a:p>
        </p:txBody>
      </p:sp>
      <p:sp>
        <p:nvSpPr>
          <p:cNvPr id="27" name="R1_chip41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raw</a:t>
            </a:r>
            <a:endParaRPr lang="en-US" sz="1200" dirty="0"/>
          </a:p>
        </p:txBody>
      </p:sp>
      <p:sp>
        <p:nvSpPr>
          <p:cNvPr id="28" name="gq_41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I'll have the ___ prawns. I love ___ food.</a:t>
            </a:r>
            <a:endParaRPr lang="en-US" sz="1200" dirty="0"/>
          </a:p>
        </p:txBody>
      </p:sp>
      <p:sp>
        <p:nvSpPr>
          <p:cNvPr id="29" name="R2_chip41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spicy · hot</a:t>
            </a:r>
            <a:endParaRPr lang="en-US" sz="1200" dirty="0"/>
          </a:p>
        </p:txBody>
      </p:sp>
      <p:sp>
        <p:nvSpPr>
          <p:cNvPr id="30" name="gq_42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 should I cook this ___ tuna?</a:t>
            </a:r>
            <a:endParaRPr lang="en-US" sz="1200" dirty="0"/>
          </a:p>
        </p:txBody>
      </p:sp>
      <p:sp>
        <p:nvSpPr>
          <p:cNvPr id="31" name="R3_chip42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fresh</a:t>
            </a:r>
            <a:endParaRPr lang="en-US" sz="1200" dirty="0"/>
          </a:p>
        </p:txBody>
      </p:sp>
      <p:sp>
        <p:nvSpPr>
          <p:cNvPr id="32" name="gq_42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Could you get me some ___ yogurts?</a:t>
            </a:r>
            <a:endParaRPr lang="en-US" sz="1200" dirty="0"/>
          </a:p>
        </p:txBody>
      </p:sp>
      <p:sp>
        <p:nvSpPr>
          <p:cNvPr id="33" name="R4_chip42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low-fat</a:t>
            </a:r>
            <a:endParaRPr lang="en-US" sz="1200" dirty="0"/>
          </a:p>
        </p:txBody>
      </p:sp>
      <p:sp>
        <p:nvSpPr>
          <p:cNvPr id="34" name="gq_42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got some ___ red peppers (peperoni).</a:t>
            </a:r>
            <a:endParaRPr lang="en-US" sz="1200" dirty="0"/>
          </a:p>
        </p:txBody>
      </p:sp>
      <p:sp>
        <p:nvSpPr>
          <p:cNvPr id="35" name="R5_chip42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tinned</a:t>
            </a:r>
            <a:endParaRPr lang="en-US" sz="1200" dirty="0"/>
          </a:p>
        </p:txBody>
      </p:sp>
      <p:sp>
        <p:nvSpPr>
          <p:cNvPr id="36" name="gq_42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 never buy ___ raspberries.</a:t>
            </a:r>
            <a:endParaRPr lang="en-US" sz="1200" dirty="0"/>
          </a:p>
        </p:txBody>
      </p:sp>
      <p:sp>
        <p:nvSpPr>
          <p:cNvPr id="37" name="R6_chip42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frozen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2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3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Fish or tree?</a:t>
            </a:r>
            <a:endParaRPr lang="en-US" sz="2500" dirty="0"/>
          </a:p>
        </p:txBody>
      </p:sp>
      <p:pic>
        <p:nvPicPr>
          <p:cNvPr id="6" name="brP_43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3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phrase. Which sound picture?</a:t>
            </a:r>
            <a:endParaRPr lang="en-US" sz="1250" dirty="0"/>
          </a:p>
        </p:txBody>
      </p:sp>
      <p:sp>
        <p:nvSpPr>
          <p:cNvPr id="8" name="insIT_4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frase. Quale immagine-suono?</a:t>
            </a:r>
            <a:endParaRPr lang="en-US" sz="950" dirty="0"/>
          </a:p>
        </p:txBody>
      </p:sp>
      <p:sp>
        <p:nvSpPr>
          <p:cNvPr id="9" name="cmd_434"/>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cmd_435"/>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3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3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4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Pronunciation · short and long vowels   ·   📖 SB p.7 · 2a, 2b · audio 1.6</a:t>
            </a:r>
            <a:endParaRPr lang="en-US" sz="800" dirty="0"/>
          </a:p>
        </p:txBody>
      </p:sp>
      <p:sp>
        <p:nvSpPr>
          <p:cNvPr id="15" name="cd_440"/>
          <p:cNvSpPr/>
          <p:nvPr/>
        </p:nvSpPr>
        <p:spPr>
          <a:xfrm>
            <a:off x="320040" y="1417320"/>
            <a:ext cx="2697480" cy="2679192"/>
          </a:xfrm>
          <a:prstGeom prst="roundRect">
            <a:avLst>
              <a:gd name="adj" fmla="val 47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4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4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443"/>
          <p:cNvSpPr/>
          <p:nvPr/>
        </p:nvSpPr>
        <p:spPr>
          <a:xfrm>
            <a:off x="886968" y="1892808"/>
            <a:ext cx="2039112" cy="2130552"/>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ap_444"/>
          <p:cNvSpPr/>
          <p:nvPr/>
        </p:nvSpPr>
        <p:spPr>
          <a:xfrm>
            <a:off x="365760" y="4233672"/>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1.6</a:t>
            </a:r>
            <a:endParaRPr lang="en-US" sz="1100" dirty="0"/>
          </a:p>
        </p:txBody>
      </p:sp>
      <p:sp>
        <p:nvSpPr>
          <p:cNvPr id="20" name="ah_44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2" name="ah_44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3"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4" name="lg_44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fish /ɪ/</a:t>
            </a:r>
            <a:endParaRPr lang="en-US" sz="1050" dirty="0"/>
          </a:p>
        </p:txBody>
      </p:sp>
      <p:sp>
        <p:nvSpPr>
          <p:cNvPr id="25" name="lg_448"/>
          <p:cNvSpPr/>
          <p:nvPr/>
        </p:nvSpPr>
        <p:spPr>
          <a:xfrm>
            <a:off x="1719072" y="1984248"/>
            <a:ext cx="1188720" cy="310896"/>
          </a:xfrm>
          <a:prstGeom prst="roundRect">
            <a:avLst>
              <a:gd name="adj" fmla="val 50000"/>
            </a:avLst>
          </a:prstGeom>
          <a:solidFill>
            <a:srgbClr val="FFC2D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tree /iː/</a:t>
            </a:r>
            <a:endParaRPr lang="en-US" sz="1050" dirty="0"/>
          </a:p>
        </p:txBody>
      </p:sp>
      <p:sp>
        <p:nvSpPr>
          <p:cNvPr id="26" name="lg_449"/>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cat /æ/</a:t>
            </a:r>
            <a:endParaRPr lang="en-US" sz="1050" dirty="0"/>
          </a:p>
        </p:txBody>
      </p:sp>
      <p:sp>
        <p:nvSpPr>
          <p:cNvPr id="27" name="lg_450"/>
          <p:cNvSpPr/>
          <p:nvPr/>
        </p:nvSpPr>
        <p:spPr>
          <a:xfrm>
            <a:off x="1719072" y="2368296"/>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car /ɑː/</a:t>
            </a:r>
            <a:endParaRPr lang="en-US" sz="1050" dirty="0"/>
          </a:p>
        </p:txBody>
      </p:sp>
      <p:sp>
        <p:nvSpPr>
          <p:cNvPr id="28" name="lg_451"/>
          <p:cNvSpPr/>
          <p:nvPr/>
        </p:nvSpPr>
        <p:spPr>
          <a:xfrm>
            <a:off x="457200" y="2752344"/>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clock /ɒ/</a:t>
            </a:r>
            <a:endParaRPr lang="en-US" sz="1050" dirty="0"/>
          </a:p>
        </p:txBody>
      </p:sp>
      <p:sp>
        <p:nvSpPr>
          <p:cNvPr id="29" name="lg_452"/>
          <p:cNvSpPr/>
          <p:nvPr/>
        </p:nvSpPr>
        <p:spPr>
          <a:xfrm>
            <a:off x="1719072" y="2752344"/>
            <a:ext cx="1188720" cy="310896"/>
          </a:xfrm>
          <a:prstGeom prst="roundRect">
            <a:avLst>
              <a:gd name="adj" fmla="val 50000"/>
            </a:avLst>
          </a:prstGeom>
          <a:solidFill>
            <a:srgbClr val="C9F0D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horse /ɔː/</a:t>
            </a:r>
            <a:endParaRPr lang="en-US" sz="1050" dirty="0"/>
          </a:p>
        </p:txBody>
      </p:sp>
      <p:sp>
        <p:nvSpPr>
          <p:cNvPr id="30" name="lg_453"/>
          <p:cNvSpPr/>
          <p:nvPr/>
        </p:nvSpPr>
        <p:spPr>
          <a:xfrm>
            <a:off x="457200" y="3136392"/>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bull /ʊ/</a:t>
            </a:r>
            <a:endParaRPr lang="en-US" sz="1050" dirty="0"/>
          </a:p>
        </p:txBody>
      </p:sp>
      <p:sp>
        <p:nvSpPr>
          <p:cNvPr id="31" name="lg_454"/>
          <p:cNvSpPr/>
          <p:nvPr/>
        </p:nvSpPr>
        <p:spPr>
          <a:xfrm>
            <a:off x="1719072" y="3136392"/>
            <a:ext cx="1188720" cy="310896"/>
          </a:xfrm>
          <a:prstGeom prst="roundRect">
            <a:avLst>
              <a:gd name="adj" fmla="val 50000"/>
            </a:avLst>
          </a:prstGeom>
          <a:solidFill>
            <a:srgbClr val="FFF0B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boot /uː/</a:t>
            </a:r>
            <a:endParaRPr lang="en-US" sz="1050" dirty="0"/>
          </a:p>
        </p:txBody>
      </p:sp>
      <p:sp>
        <p:nvSpPr>
          <p:cNvPr id="32" name="sq_455"/>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lad</a:t>
            </a:r>
            <a:endParaRPr lang="en-US" sz="1200" dirty="0"/>
          </a:p>
        </p:txBody>
      </p:sp>
      <p:sp>
        <p:nvSpPr>
          <p:cNvPr id="33" name="R1_tag456"/>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cat /æ/</a:t>
            </a:r>
            <a:endParaRPr lang="en-US" sz="1150" dirty="0"/>
          </a:p>
        </p:txBody>
      </p:sp>
      <p:sp>
        <p:nvSpPr>
          <p:cNvPr id="34" name="sq_457"/>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lled squ</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a:t>
            </a:r>
            <a:endParaRPr lang="en-US" sz="1200" dirty="0"/>
          </a:p>
        </p:txBody>
      </p:sp>
      <p:sp>
        <p:nvSpPr>
          <p:cNvPr id="35" name="R2_tag458"/>
          <p:cNvSpPr/>
          <p:nvPr/>
        </p:nvSpPr>
        <p:spPr>
          <a:xfrm>
            <a:off x="7178040" y="18288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fish /ɪ/</a:t>
            </a:r>
            <a:endParaRPr lang="en-US" sz="1150" dirty="0"/>
          </a:p>
        </p:txBody>
      </p:sp>
      <p:sp>
        <p:nvSpPr>
          <p:cNvPr id="36" name="sq_459"/>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j</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of 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spberry jam</a:t>
            </a:r>
            <a:endParaRPr lang="en-US" sz="1200" dirty="0"/>
          </a:p>
        </p:txBody>
      </p:sp>
      <p:sp>
        <p:nvSpPr>
          <p:cNvPr id="37" name="R3_tag460"/>
          <p:cNvSpPr/>
          <p:nvPr/>
        </p:nvSpPr>
        <p:spPr>
          <a:xfrm>
            <a:off x="7178040" y="224028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car /ɑː/</a:t>
            </a:r>
            <a:endParaRPr lang="en-US" sz="1150" dirty="0"/>
          </a:p>
        </p:txBody>
      </p:sp>
      <p:sp>
        <p:nvSpPr>
          <p:cNvPr id="38" name="sq_461"/>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med 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 b</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ns</a:t>
            </a:r>
            <a:endParaRPr lang="en-US" sz="1200" dirty="0"/>
          </a:p>
        </p:txBody>
      </p:sp>
      <p:sp>
        <p:nvSpPr>
          <p:cNvPr id="39" name="R4_tag462"/>
          <p:cNvSpPr/>
          <p:nvPr/>
        </p:nvSpPr>
        <p:spPr>
          <a:xfrm>
            <a:off x="7178040" y="2651760"/>
            <a:ext cx="1691640" cy="347472"/>
          </a:xfrm>
          <a:prstGeom prst="roundRect">
            <a:avLst>
              <a:gd name="adj" fmla="val 65789"/>
            </a:avLst>
          </a:prstGeom>
          <a:solidFill>
            <a:srgbClr val="FFC2D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tree /iː/</a:t>
            </a:r>
            <a:endParaRPr lang="en-US" sz="1150" dirty="0"/>
          </a:p>
        </p:txBody>
      </p:sp>
      <p:sp>
        <p:nvSpPr>
          <p:cNvPr id="40" name="sq_463"/>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g</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c</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41" name="R5_tag464"/>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bull /ʊ/</a:t>
            </a:r>
            <a:endParaRPr lang="en-US" sz="1150" dirty="0"/>
          </a:p>
        </p:txBody>
      </p:sp>
      <p:sp>
        <p:nvSpPr>
          <p:cNvPr id="42" name="sq_465"/>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sages</a:t>
            </a:r>
            <a:endParaRPr lang="en-US" sz="1200" dirty="0"/>
          </a:p>
        </p:txBody>
      </p:sp>
      <p:sp>
        <p:nvSpPr>
          <p:cNvPr id="43" name="R6_tag466"/>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clock /ɒ/</a:t>
            </a:r>
            <a:endParaRPr lang="en-US" sz="1150" dirty="0"/>
          </a:p>
        </p:txBody>
      </p:sp>
      <p:sp>
        <p:nvSpPr>
          <p:cNvPr id="44" name="sq_467"/>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p</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45" name="R7_tag468"/>
          <p:cNvSpPr/>
          <p:nvPr/>
        </p:nvSpPr>
        <p:spPr>
          <a:xfrm>
            <a:off x="7178040" y="3886200"/>
            <a:ext cx="1691640" cy="347472"/>
          </a:xfrm>
          <a:prstGeom prst="roundRect">
            <a:avLst>
              <a:gd name="adj" fmla="val 65789"/>
            </a:avLst>
          </a:prstGeom>
          <a:solidFill>
            <a:srgbClr val="C9F0D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horse /ɔː/</a:t>
            </a:r>
            <a:endParaRPr lang="en-US" sz="1150" dirty="0"/>
          </a:p>
        </p:txBody>
      </p:sp>
      <p:sp>
        <p:nvSpPr>
          <p:cNvPr id="46" name="sq_469"/>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na with beetr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47" name="R8_tag470"/>
          <p:cNvSpPr/>
          <p:nvPr/>
        </p:nvSpPr>
        <p:spPr>
          <a:xfrm>
            <a:off x="7178040" y="4297680"/>
            <a:ext cx="1691640" cy="347472"/>
          </a:xfrm>
          <a:prstGeom prst="roundRect">
            <a:avLst>
              <a:gd name="adj" fmla="val 65789"/>
            </a:avLst>
          </a:prstGeom>
          <a:solidFill>
            <a:srgbClr val="FFF0B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boot /uː/</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5"/>
                                        </p:tgtEl>
                                        <p:attrNameLst>
                                          <p:attrName>style.visibility</p:attrName>
                                        </p:attrNameLst>
                                      </p:cBhvr>
                                      <p:to>
                                        <p:strVal val="visible"/>
                                      </p:to>
                                    </p:set>
                                    <p:animEffect transition="in" filter="fade">
                                      <p:cBhvr>
                                        <p:cTn id="37" dur="400"/>
                                        <p:tgtEl>
                                          <p:spTgt spid="4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1"/>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1"/>
                                        </p:tgtEl>
                                      </p:cBhvr>
                                    </p:cmd>
                                  </p:childTnLst>
                                </p:cTn>
                              </p:par>
                            </p:childTnLst>
                          </p:cTn>
                        </p:par>
                      </p:childTnLst>
                    </p:cTn>
                  </p:par>
                </p:childTnLst>
              </p:cTn>
              <p:nextCondLst>
                <p:cond evt="onClick" delay="0">
                  <p:tgtEl>
                    <p:spTgt spid="21"/>
                  </p:tgtEl>
                </p:cond>
              </p:nextCondLst>
            </p:seq>
            <p:seq concurrent="1" nextAc="seek">
              <p:cTn id="48" restart="whenNotActive" fill="hold" evtFilter="cancelBubble" nodeType="interactiveSeq">
                <p:stCondLst>
                  <p:cond evt="onClick" delay="0">
                    <p:tgtEl>
                      <p:spTgt spid="23"/>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3"/>
                                        </p:tgtEl>
                                      </p:cBhvr>
                                    </p:cmd>
                                  </p:childTnLst>
                                </p:cTn>
                              </p:par>
                            </p:childTnLst>
                          </p:cTn>
                        </p:par>
                      </p:childTnLst>
                    </p:cTn>
                  </p:par>
                </p:childTnLst>
              </p:cTn>
              <p:nextCondLst>
                <p:cond evt="onClick" delay="0">
                  <p:tgtEl>
                    <p:spTgt spid="23"/>
                  </p:tgtEl>
                </p:cond>
              </p:nextCondLst>
            </p:seq>
            <p:audio>
              <p:cMediaNode vol="80000">
                <p:cTn id="53" fill="hold" display="0">
                  <p:stCondLst>
                    <p:cond delay="indefinite"/>
                  </p:stCondLst>
                  <p:endCondLst>
                    <p:cond evt="onStopAudio" delay="0">
                      <p:tgtEl>
                        <p:sldTgt/>
                      </p:tgtEl>
                    </p:cond>
                  </p:endCondLst>
                </p:cTn>
                <p:tgtEl>
                  <p:spTgt spid="21"/>
                </p:tgtEl>
              </p:cMediaNode>
            </p:audio>
            <p:audio>
              <p:cMediaNode vol="80000">
                <p:cTn id="54" fill="hold" display="0">
                  <p:stCondLst>
                    <p:cond delay="indefinite"/>
                  </p:stCondLst>
                  <p:endCondLst>
                    <p:cond evt="onStopAudio" delay="0">
                      <p:tgtEl>
                        <p:sldTgt/>
                      </p:tgtEl>
                    </p:cond>
                  </p:endCondLst>
                </p:cTn>
                <p:tgtEl>
                  <p:spTgt spid="23"/>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72"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73"/>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47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7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different sound. Be quick!</a:t>
            </a:r>
            <a:endParaRPr lang="en-US" sz="1250" dirty="0"/>
          </a:p>
        </p:txBody>
      </p:sp>
      <p:sp>
        <p:nvSpPr>
          <p:cNvPr id="8" name="insIT_4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il suono diverso. Veloci!</a:t>
            </a:r>
            <a:endParaRPr lang="en-US" sz="950" dirty="0"/>
          </a:p>
        </p:txBody>
      </p:sp>
      <p:sp>
        <p:nvSpPr>
          <p:cNvPr id="9" name="cmd_47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78"/>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7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teams</a:t>
            </a:r>
            <a:endParaRPr lang="en-US" sz="950" dirty="0"/>
          </a:p>
        </p:txBody>
      </p:sp>
      <p:sp>
        <p:nvSpPr>
          <p:cNvPr id="12" name="tag_48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4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Pronunciation game</a:t>
            </a:r>
            <a:endParaRPr lang="en-US" sz="800" dirty="0"/>
          </a:p>
        </p:txBody>
      </p:sp>
      <p:sp>
        <p:nvSpPr>
          <p:cNvPr id="15" name="cd_48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8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8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Say the four words aloud.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Di' le quattro parole ad alta voce.</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Find the word with a different vowel sound.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Trova la parola con un suono vocalico diverso.</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First team to say it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La prima squadra che lo dice = 1 punto.</a:t>
            </a:r>
            <a:endParaRPr lang="en-US" sz="1000" dirty="0"/>
          </a:p>
        </p:txBody>
      </p:sp>
      <p:sp>
        <p:nvSpPr>
          <p:cNvPr id="19" name="st_487"/>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48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8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 p</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 · squ</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ns</a:t>
            </a:r>
            <a:endParaRPr lang="en-US" sz="1100" dirty="0"/>
          </a:p>
        </p:txBody>
      </p:sp>
      <p:sp>
        <p:nvSpPr>
          <p:cNvPr id="22" name="R1_chip49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/ɪ/ (others /iː/)</a:t>
            </a:r>
            <a:endParaRPr lang="en-US" sz="1100" dirty="0"/>
          </a:p>
        </p:txBody>
      </p:sp>
      <p:sp>
        <p:nvSpPr>
          <p:cNvPr id="23" name="bd_49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9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l</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mb · j</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 · j</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ar</a:t>
            </a:r>
            <a:endParaRPr lang="en-US" sz="1100" dirty="0"/>
          </a:p>
        </p:txBody>
      </p:sp>
      <p:sp>
        <p:nvSpPr>
          <p:cNvPr id="25" name="R2_chip49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/ɑː/ (others /æ/)</a:t>
            </a:r>
            <a:endParaRPr lang="en-US" sz="1100" dirty="0"/>
          </a:p>
        </p:txBody>
      </p:sp>
      <p:sp>
        <p:nvSpPr>
          <p:cNvPr id="26" name="bd_49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9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 · pr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ns · 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 h</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t>
            </a:r>
            <a:endParaRPr lang="en-US" sz="1100" dirty="0"/>
          </a:p>
        </p:txBody>
      </p:sp>
      <p:sp>
        <p:nvSpPr>
          <p:cNvPr id="28" name="R3_chip49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/ɒ/ (others /ɔː/)</a:t>
            </a:r>
            <a:endParaRPr lang="en-US" sz="1100" dirty="0"/>
          </a:p>
        </p:txBody>
      </p:sp>
      <p:sp>
        <p:nvSpPr>
          <p:cNvPr id="29" name="bd_49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9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cken · gr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lled · f</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 · st</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med</a:t>
            </a:r>
            <a:endParaRPr lang="en-US" sz="1100" dirty="0"/>
          </a:p>
        </p:txBody>
      </p:sp>
      <p:sp>
        <p:nvSpPr>
          <p:cNvPr id="31" name="R4_chip49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/iː/ (others /ɪ/)</a:t>
            </a:r>
            <a:endParaRPr lang="en-US" sz="1100" dirty="0"/>
          </a:p>
        </p:txBody>
      </p:sp>
      <p:sp>
        <p:nvSpPr>
          <p:cNvPr id="32" name="bd_50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0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na · fr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 · g</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t>
            </a:r>
            <a:endParaRPr lang="en-US" sz="1100" dirty="0"/>
          </a:p>
        </p:txBody>
      </p:sp>
      <p:sp>
        <p:nvSpPr>
          <p:cNvPr id="34" name="R5_chip50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good /ʊ/ (others /uː/)</a:t>
            </a:r>
            <a:endParaRPr lang="en-US" sz="1100" dirty="0"/>
          </a:p>
        </p:txBody>
      </p:sp>
      <p:sp>
        <p:nvSpPr>
          <p:cNvPr id="35" name="bd_50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 · c</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kie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ll · f</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t>
            </a:r>
            <a:endParaRPr lang="en-US" sz="1100" dirty="0"/>
          </a:p>
        </p:txBody>
      </p:sp>
      <p:sp>
        <p:nvSpPr>
          <p:cNvPr id="37" name="R6_chip50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food /uː/ (others /ʊ/)</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50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0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50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1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5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51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51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1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5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key words first   ·   📖 SB p.7 · 3a</a:t>
            </a:r>
            <a:endParaRPr lang="en-US" sz="800" dirty="0"/>
          </a:p>
        </p:txBody>
      </p:sp>
      <p:sp>
        <p:nvSpPr>
          <p:cNvPr id="14" name="cd_51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1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1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52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snack → a little food between meals · uno spuntino</a:t>
            </a:r>
            <a:endParaRPr lang="en-US" sz="1050" dirty="0"/>
          </a:p>
        </p:txBody>
      </p:sp>
      <p:sp>
        <p:nvSpPr>
          <p:cNvPr id="18" name="pf_52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22" descr="/home/claude/lls-course/v2/cache/1a1_takeaw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523"/>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524"/>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topping</a:t>
            </a:r>
            <a:endParaRPr lang="en-US" sz="1150" dirty="0"/>
          </a:p>
        </p:txBody>
      </p:sp>
      <p:sp>
        <p:nvSpPr>
          <p:cNvPr id="22" name="R1_chip525"/>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top of a pizza · il condimento</a:t>
            </a:r>
            <a:endParaRPr lang="en-US" sz="1000" dirty="0"/>
          </a:p>
        </p:txBody>
      </p:sp>
      <p:sp>
        <p:nvSpPr>
          <p:cNvPr id="23" name="bd_526"/>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527"/>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filling</a:t>
            </a:r>
            <a:endParaRPr lang="en-US" sz="1150" dirty="0"/>
          </a:p>
        </p:txBody>
      </p:sp>
      <p:sp>
        <p:nvSpPr>
          <p:cNvPr id="25" name="R2_chip528"/>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inside a sandwich · il ripieno</a:t>
            </a:r>
            <a:endParaRPr lang="en-US" sz="1000" dirty="0"/>
          </a:p>
        </p:txBody>
      </p:sp>
      <p:sp>
        <p:nvSpPr>
          <p:cNvPr id="26" name="bd_529"/>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530"/>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ready-made</a:t>
            </a:r>
            <a:endParaRPr lang="en-US" sz="1150" dirty="0"/>
          </a:p>
        </p:txBody>
      </p:sp>
      <p:sp>
        <p:nvSpPr>
          <p:cNvPr id="28" name="R3_chip531"/>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already cooked – just heat it · pronto</a:t>
            </a:r>
            <a:endParaRPr lang="en-US" sz="1000" dirty="0"/>
          </a:p>
        </p:txBody>
      </p:sp>
      <p:sp>
        <p:nvSpPr>
          <p:cNvPr id="29" name="bd_532"/>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533"/>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takeaway</a:t>
            </a:r>
            <a:endParaRPr lang="en-US" sz="1150" dirty="0"/>
          </a:p>
        </p:txBody>
      </p:sp>
      <p:sp>
        <p:nvSpPr>
          <p:cNvPr id="31" name="R4_chip534"/>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restaurant food you eat at home · da asporto</a:t>
            </a:r>
            <a:endParaRPr lang="en-US" sz="1000" dirty="0"/>
          </a:p>
        </p:txBody>
      </p:sp>
      <p:sp>
        <p:nvSpPr>
          <p:cNvPr id="32" name="bd_535"/>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536"/>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allergic (to)</a:t>
            </a:r>
            <a:endParaRPr lang="en-US" sz="1150" dirty="0"/>
          </a:p>
        </p:txBody>
      </p:sp>
      <p:sp>
        <p:nvSpPr>
          <p:cNvPr id="34" name="R5_chip537"/>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body reacts badly to a food · allergico</a:t>
            </a:r>
            <a:endParaRPr lang="en-US" sz="1000" dirty="0"/>
          </a:p>
        </p:txBody>
      </p:sp>
      <p:sp>
        <p:nvSpPr>
          <p:cNvPr id="35" name="bd_538"/>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539"/>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intolerant (to)</a:t>
            </a:r>
            <a:endParaRPr lang="en-US" sz="1150" dirty="0"/>
          </a:p>
        </p:txBody>
      </p:sp>
      <p:sp>
        <p:nvSpPr>
          <p:cNvPr id="37" name="R6_chip540"/>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food makes you feel ill · intollerante</a:t>
            </a:r>
            <a:endParaRPr lang="en-US" sz="1000" dirty="0"/>
          </a:p>
        </p:txBody>
      </p:sp>
      <p:sp>
        <p:nvSpPr>
          <p:cNvPr id="38" name="bd_541"/>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542"/>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cheer yourself up</a:t>
            </a:r>
            <a:endParaRPr lang="en-US" sz="1150" dirty="0"/>
          </a:p>
        </p:txBody>
      </p:sp>
      <p:sp>
        <p:nvSpPr>
          <p:cNvPr id="40" name="R7_chip543"/>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make yourself happier · tirarsi su</a:t>
            </a:r>
            <a:endParaRPr lang="en-US" sz="1000" dirty="0"/>
          </a:p>
        </p:txBody>
      </p:sp>
      <p:sp>
        <p:nvSpPr>
          <p:cNvPr id="41" name="bd_544"/>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545"/>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miss</a:t>
            </a:r>
            <a:endParaRPr lang="en-US" sz="1150" dirty="0"/>
          </a:p>
        </p:txBody>
      </p:sp>
      <p:sp>
        <p:nvSpPr>
          <p:cNvPr id="43" name="R8_chip546"/>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feel sad without it · sentire la mancanza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7"/>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4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4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Tom's terrible evening</a:t>
            </a:r>
            <a:endParaRPr lang="en-US" sz="2500" dirty="0"/>
          </a:p>
        </p:txBody>
      </p:sp>
      <p:pic>
        <p:nvPicPr>
          <p:cNvPr id="6" name="brP_55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5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55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5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5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Speaking · class story (TPRS)</a:t>
            </a:r>
            <a:endParaRPr lang="en-US" sz="800" dirty="0"/>
          </a:p>
        </p:txBody>
      </p:sp>
      <p:sp>
        <p:nvSpPr>
          <p:cNvPr id="15" name="cd_559"/>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6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62"/>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allergic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è allergico 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cheer yourself up</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tirarsi su</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can't live without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può vivere senza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order a takeaway</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ordinare da asporto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topping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condimento (pizza)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miss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sentire la mancanza</a:t>
            </a:r>
            <a:endParaRPr lang="en-US" sz="1000" dirty="0"/>
          </a:p>
        </p:txBody>
      </p:sp>
      <p:sp>
        <p:nvSpPr>
          <p:cNvPr id="19" name="R1_sb563"/>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64"/>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Tom. Tom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allergic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prawns.</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Tom allergic to prawns or pasta? · Who is allergic to prawns?</a:t>
            </a:r>
            <a:endParaRPr lang="en-US" sz="1250" dirty="0"/>
          </a:p>
        </p:txBody>
      </p:sp>
      <p:sp>
        <p:nvSpPr>
          <p:cNvPr id="21" name="R2_sb565"/>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66"/>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evening Tom is very sad. He wants to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cheer himself up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Tom happy? · Why is he sad? (you decide!) · What does he want to do?</a:t>
            </a:r>
            <a:endParaRPr lang="en-US" sz="1200" dirty="0"/>
          </a:p>
        </p:txBody>
      </p:sp>
      <p:sp>
        <p:nvSpPr>
          <p:cNvPr id="23" name="R3_sb567"/>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68"/>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 always eats chocolate to feel better.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can't live without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chocolate!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he eat chocolate or broccoli? · Can he live without chocolate?</a:t>
            </a:r>
            <a:endParaRPr lang="en-US" sz="1050" dirty="0"/>
          </a:p>
        </p:txBody>
      </p:sp>
      <p:sp>
        <p:nvSpPr>
          <p:cNvPr id="25" name="R4_sb569"/>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70"/>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 chocolate at home! So 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orders a takeaway</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 pizza with a spicy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topping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there chocolate at home? · What does he order? · What's the topping?</a:t>
            </a:r>
            <a:endParaRPr lang="en-US" sz="950" dirty="0"/>
          </a:p>
        </p:txBody>
      </p:sp>
      <p:sp>
        <p:nvSpPr>
          <p:cNvPr id="27" name="R5_sb571"/>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72"/>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pizza arrives. Oh no! The topping is… prawns!</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What's the topping? · Is Tom allergic to prawns? · Is he happy now?!</a:t>
            </a:r>
            <a:endParaRPr lang="en-US" sz="1250" dirty="0"/>
          </a:p>
        </p:txBody>
      </p:sp>
      <p:sp>
        <p:nvSpPr>
          <p:cNvPr id="29" name="R6_sb573"/>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74"/>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 Tom really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misses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his nonna's cooking…</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 does Tom miss? · And you – whose cooking do you miss?</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7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7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578"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579"/>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with words from the box.</a:t>
            </a:r>
            <a:endParaRPr lang="en-US" sz="1250" dirty="0"/>
          </a:p>
        </p:txBody>
      </p:sp>
      <p:sp>
        <p:nvSpPr>
          <p:cNvPr id="8" name="insIT_5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domande con le parole del riquadro.</a:t>
            </a:r>
            <a:endParaRPr lang="en-US" sz="950" dirty="0"/>
          </a:p>
        </p:txBody>
      </p:sp>
      <p:sp>
        <p:nvSpPr>
          <p:cNvPr id="9" name="cmd_58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58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8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58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5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&amp; speaking · the questionnaire   ·   📖 SB p.7 · 3a · Your food profile</a:t>
            </a:r>
            <a:endParaRPr lang="en-US" sz="800" dirty="0"/>
          </a:p>
        </p:txBody>
      </p:sp>
      <p:sp>
        <p:nvSpPr>
          <p:cNvPr id="15" name="cd_58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58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Your food profile</a:t>
            </a:r>
            <a:endParaRPr lang="en-US" sz="1700" dirty="0"/>
          </a:p>
        </p:txBody>
      </p:sp>
      <p:sp>
        <p:nvSpPr>
          <p:cNvPr id="17" name="ln_589"/>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90"/>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topping</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filling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91"/>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a:t>
            </a:r>
            <a:endParaRPr lang="en-US" sz="1150" dirty="0"/>
          </a:p>
        </p:txBody>
      </p:sp>
      <p:sp>
        <p:nvSpPr>
          <p:cNvPr id="20" name="R2_lnA592"/>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ready-made</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takeaway</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a:t>
            </a:r>
            <a:endParaRPr lang="en-US" sz="1150" dirty="0"/>
          </a:p>
        </p:txBody>
      </p:sp>
      <p:sp>
        <p:nvSpPr>
          <p:cNvPr id="21" name="ln_593"/>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2" name="R3_lnA594"/>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allergic</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intolerant</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3" name="ln_595"/>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eat…   a) to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b) when you're tired and don't want to cook?</a:t>
            </a:r>
            <a:endParaRPr lang="en-US" sz="1150" dirty="0"/>
          </a:p>
        </p:txBody>
      </p:sp>
      <p:sp>
        <p:nvSpPr>
          <p:cNvPr id="24" name="R4_lnA596"/>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eat…   a)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cheer yourself up</a:t>
            </a:r>
            <a:pPr indent="0" marL="0">
              <a:buNone/>
            </a:pPr>
            <a:r>
              <a:rPr lang="en-US" sz="1150" dirty="0">
                <a:solidFill>
                  <a:srgbClr val="1B2559"/>
                </a:solidFill>
                <a:latin typeface="Georgia" pitchFamily="34" charset="0"/>
                <a:ea typeface="Georgia" pitchFamily="34" charset="-122"/>
                <a:cs typeface="Georgia" pitchFamily="34" charset="-120"/>
              </a:rPr>
              <a:t>?   b) when you're tired and don't want to cook?</a:t>
            </a:r>
            <a:endParaRPr lang="en-US" sz="1150" dirty="0"/>
          </a:p>
        </p:txBody>
      </p:sp>
      <p:sp>
        <p:nvSpPr>
          <p:cNvPr id="25" name="ln_597"/>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150" b="1" dirty="0">
                <a:solidFill>
                  <a:srgbClr val="2EB872"/>
                </a:solidFill>
                <a:latin typeface="Georgia" pitchFamily="34" charset="0"/>
                <a:ea typeface="Georgia" pitchFamily="34" charset="-122"/>
                <a:cs typeface="Georgia" pitchFamily="34" charset="-120"/>
              </a:rPr>
              <a:t> (8)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R5_lnA598"/>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miss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7" name="ln_59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6  Is there any food or drink that you couldn't live without?</a:t>
            </a:r>
            <a:endParaRPr lang="en-US" sz="1150" dirty="0"/>
          </a:p>
        </p:txBody>
      </p:sp>
      <p:sp>
        <p:nvSpPr>
          <p:cNvPr id="28" name="cd_600"/>
          <p:cNvSpPr/>
          <p:nvPr/>
        </p:nvSpPr>
        <p:spPr>
          <a:xfrm>
            <a:off x="6263640" y="1417320"/>
            <a:ext cx="2651760" cy="2432304"/>
          </a:xfrm>
          <a:prstGeom prst="roundRect">
            <a:avLst>
              <a:gd name="adj" fmla="val 5263"/>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bkh_601"/>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Word box · not all the words fit!</a:t>
            </a:r>
            <a:endParaRPr lang="en-US" sz="1050" dirty="0"/>
          </a:p>
        </p:txBody>
      </p:sp>
      <p:sp>
        <p:nvSpPr>
          <p:cNvPr id="30" name="bk_602"/>
          <p:cNvSpPr/>
          <p:nvPr/>
        </p:nvSpPr>
        <p:spPr>
          <a:xfrm>
            <a:off x="6373368"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allergic</a:t>
            </a:r>
            <a:endParaRPr lang="en-US" sz="1050" dirty="0"/>
          </a:p>
        </p:txBody>
      </p:sp>
      <p:sp>
        <p:nvSpPr>
          <p:cNvPr id="31" name="bk_603"/>
          <p:cNvSpPr/>
          <p:nvPr/>
        </p:nvSpPr>
        <p:spPr>
          <a:xfrm>
            <a:off x="7626096"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cheer yourself up</a:t>
            </a:r>
            <a:endParaRPr lang="en-US" sz="950" dirty="0"/>
          </a:p>
        </p:txBody>
      </p:sp>
      <p:sp>
        <p:nvSpPr>
          <p:cNvPr id="32" name="bk_604"/>
          <p:cNvSpPr/>
          <p:nvPr/>
        </p:nvSpPr>
        <p:spPr>
          <a:xfrm>
            <a:off x="6373368"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filling</a:t>
            </a:r>
            <a:endParaRPr lang="en-US" sz="1050" dirty="0"/>
          </a:p>
        </p:txBody>
      </p:sp>
      <p:sp>
        <p:nvSpPr>
          <p:cNvPr id="33" name="bk_605"/>
          <p:cNvSpPr/>
          <p:nvPr/>
        </p:nvSpPr>
        <p:spPr>
          <a:xfrm>
            <a:off x="7626096"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frozen</a:t>
            </a:r>
            <a:endParaRPr lang="en-US" sz="1050" dirty="0"/>
          </a:p>
        </p:txBody>
      </p:sp>
      <p:sp>
        <p:nvSpPr>
          <p:cNvPr id="34" name="bk_606"/>
          <p:cNvSpPr/>
          <p:nvPr/>
        </p:nvSpPr>
        <p:spPr>
          <a:xfrm>
            <a:off x="6373368"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intolerant</a:t>
            </a:r>
            <a:endParaRPr lang="en-US" sz="1050" dirty="0"/>
          </a:p>
        </p:txBody>
      </p:sp>
      <p:sp>
        <p:nvSpPr>
          <p:cNvPr id="35" name="bk_607"/>
          <p:cNvSpPr/>
          <p:nvPr/>
        </p:nvSpPr>
        <p:spPr>
          <a:xfrm>
            <a:off x="7626096"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miss</a:t>
            </a:r>
            <a:endParaRPr lang="en-US" sz="1050" dirty="0"/>
          </a:p>
        </p:txBody>
      </p:sp>
      <p:sp>
        <p:nvSpPr>
          <p:cNvPr id="36" name="bk_608"/>
          <p:cNvSpPr/>
          <p:nvPr/>
        </p:nvSpPr>
        <p:spPr>
          <a:xfrm>
            <a:off x="6373368"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7" name="bk_609"/>
          <p:cNvSpPr/>
          <p:nvPr/>
        </p:nvSpPr>
        <p:spPr>
          <a:xfrm>
            <a:off x="7626096"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ready-made</a:t>
            </a:r>
            <a:endParaRPr lang="en-US" sz="1050" dirty="0"/>
          </a:p>
        </p:txBody>
      </p:sp>
      <p:sp>
        <p:nvSpPr>
          <p:cNvPr id="38" name="bk_610"/>
          <p:cNvSpPr/>
          <p:nvPr/>
        </p:nvSpPr>
        <p:spPr>
          <a:xfrm>
            <a:off x="6373368"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takeaway</a:t>
            </a:r>
            <a:endParaRPr lang="en-US" sz="1050" dirty="0"/>
          </a:p>
        </p:txBody>
      </p:sp>
      <p:sp>
        <p:nvSpPr>
          <p:cNvPr id="39" name="bk_611"/>
          <p:cNvSpPr/>
          <p:nvPr/>
        </p:nvSpPr>
        <p:spPr>
          <a:xfrm>
            <a:off x="7626096"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tinned</a:t>
            </a:r>
            <a:endParaRPr lang="en-US" sz="1050" dirty="0"/>
          </a:p>
        </p:txBody>
      </p:sp>
      <p:sp>
        <p:nvSpPr>
          <p:cNvPr id="40" name="bk_612"/>
          <p:cNvSpPr/>
          <p:nvPr/>
        </p:nvSpPr>
        <p:spPr>
          <a:xfrm>
            <a:off x="6373368" y="346557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61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1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people, six answers</a:t>
            </a:r>
            <a:endParaRPr lang="en-US" sz="2500" dirty="0"/>
          </a:p>
        </p:txBody>
      </p:sp>
      <p:pic>
        <p:nvPicPr>
          <p:cNvPr id="6" name="brP_61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1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question are they answering?</a:t>
            </a:r>
            <a:endParaRPr lang="en-US" sz="1250" dirty="0"/>
          </a:p>
        </p:txBody>
      </p:sp>
      <p:sp>
        <p:nvSpPr>
          <p:cNvPr id="8" name="insIT_61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A quale domanda rispondono?</a:t>
            </a:r>
            <a:endParaRPr lang="en-US" sz="950" dirty="0"/>
          </a:p>
        </p:txBody>
      </p:sp>
      <p:sp>
        <p:nvSpPr>
          <p:cNvPr id="9" name="cmd_61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2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2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6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gist   ·   📖 SB p.7 · 3b · audio 1.7</a:t>
            </a:r>
            <a:endParaRPr lang="en-US" sz="800" dirty="0"/>
          </a:p>
        </p:txBody>
      </p:sp>
      <p:sp>
        <p:nvSpPr>
          <p:cNvPr id="14" name="ap_624"/>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play once, then pause</a:t>
            </a:r>
            <a:endParaRPr lang="en-US" sz="1100" dirty="0"/>
          </a:p>
        </p:txBody>
      </p:sp>
      <p:sp>
        <p:nvSpPr>
          <p:cNvPr id="15" name="ah_62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62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627"/>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628"/>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29" descr="/home/claude/lls-course/v2/cache/1a1_vox_po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630"/>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631"/>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632" descr="/home/claude/lls-course/v2/cache/1a1_comfort_food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633"/>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634"/>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635" descr="/home/claude/lls-course/v2/cache/1a1_takeaway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636"/>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637"/>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638"/>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639"/>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640"/>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look at A–C. What are they eating?</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Prima di ascoltare: guarda A–C. Cosa mangiano?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Which question (1–6) is each person answering?</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A quale domanda (1–6) risponde ognuno?</a:t>
            </a:r>
            <a:endParaRPr lang="en-US" sz="700" dirty="0"/>
          </a:p>
        </p:txBody>
      </p:sp>
      <p:sp>
        <p:nvSpPr>
          <p:cNvPr id="33" name="lq_641"/>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Emma (e.g.)</a:t>
            </a:r>
            <a:endParaRPr lang="en-US" sz="1100" dirty="0"/>
          </a:p>
        </p:txBody>
      </p:sp>
      <p:sp>
        <p:nvSpPr>
          <p:cNvPr id="34" name="R1_chip642"/>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 · food you miss</a:t>
            </a:r>
            <a:endParaRPr lang="en-US" sz="1050" dirty="0"/>
          </a:p>
        </p:txBody>
      </p:sp>
      <p:sp>
        <p:nvSpPr>
          <p:cNvPr id="35" name="lq_643"/>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Sarah</a:t>
            </a:r>
            <a:endParaRPr lang="en-US" sz="1100" dirty="0"/>
          </a:p>
        </p:txBody>
      </p:sp>
      <p:sp>
        <p:nvSpPr>
          <p:cNvPr id="36" name="R2_chip644"/>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 · can't live without</a:t>
            </a:r>
            <a:endParaRPr lang="en-US" sz="1000" dirty="0"/>
          </a:p>
        </p:txBody>
      </p:sp>
      <p:sp>
        <p:nvSpPr>
          <p:cNvPr id="37" name="lq_645"/>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a:t>
            </a:r>
            <a:endParaRPr lang="en-US" sz="1100" dirty="0"/>
          </a:p>
        </p:txBody>
      </p:sp>
      <p:sp>
        <p:nvSpPr>
          <p:cNvPr id="38" name="R3_chip646"/>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2c · hot / spicy food</a:t>
            </a:r>
            <a:endParaRPr lang="en-US" sz="1000" dirty="0"/>
          </a:p>
        </p:txBody>
      </p:sp>
      <p:sp>
        <p:nvSpPr>
          <p:cNvPr id="39" name="lq_647"/>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a:t>
            </a:r>
            <a:endParaRPr lang="en-US" sz="1100" dirty="0"/>
          </a:p>
        </p:txBody>
      </p:sp>
      <p:sp>
        <p:nvSpPr>
          <p:cNvPr id="40" name="R4_chip648"/>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4a · cheer yourself up</a:t>
            </a:r>
            <a:endParaRPr lang="en-US" sz="1000" dirty="0"/>
          </a:p>
        </p:txBody>
      </p:sp>
      <p:sp>
        <p:nvSpPr>
          <p:cNvPr id="41" name="lq_649"/>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a:t>
            </a:r>
            <a:endParaRPr lang="en-US" sz="1100" dirty="0"/>
          </a:p>
        </p:txBody>
      </p:sp>
      <p:sp>
        <p:nvSpPr>
          <p:cNvPr id="42" name="R5_chip650"/>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 · allergic / intolerant</a:t>
            </a:r>
            <a:endParaRPr lang="en-US" sz="1000" dirty="0"/>
          </a:p>
        </p:txBody>
      </p:sp>
      <p:sp>
        <p:nvSpPr>
          <p:cNvPr id="43" name="lq_651"/>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Sean</a:t>
            </a:r>
            <a:endParaRPr lang="en-US" sz="1100" dirty="0"/>
          </a:p>
        </p:txBody>
      </p:sp>
      <p:sp>
        <p:nvSpPr>
          <p:cNvPr id="44" name="R6_chip652"/>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1b · pizza 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5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food?</a:t>
            </a:r>
            <a:endParaRPr lang="en-US" sz="25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food? Guess, then listen again.</a:t>
            </a:r>
            <a:endParaRPr lang="en-US" sz="1250" dirty="0"/>
          </a:p>
        </p:txBody>
      </p:sp>
      <p:sp>
        <p:nvSpPr>
          <p:cNvPr id="8" name="insIT_6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Che cibo? Indovina, poi riascolta.</a:t>
            </a:r>
            <a:endParaRPr lang="en-US" sz="950" dirty="0"/>
          </a:p>
        </p:txBody>
      </p:sp>
      <p:sp>
        <p:nvSpPr>
          <p:cNvPr id="9" name="cmd_65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6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6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6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6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detail   ·   📖 SB p.7 · 3c · audio 1.7</a:t>
            </a:r>
            <a:endParaRPr lang="en-US" sz="800" dirty="0"/>
          </a:p>
        </p:txBody>
      </p:sp>
      <p:sp>
        <p:nvSpPr>
          <p:cNvPr id="15" name="ap_66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pause after each speaker</a:t>
            </a:r>
            <a:endParaRPr lang="en-US" sz="1100" dirty="0"/>
          </a:p>
        </p:txBody>
      </p:sp>
      <p:sp>
        <p:nvSpPr>
          <p:cNvPr id="16" name="ah_66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6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66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69" descr="/home/claude/lls-course/v2/cache/1a1_vox_po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67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67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7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67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67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Emma missed English breakfast ___.</a:t>
            </a:r>
            <a:endParaRPr lang="en-US" sz="1200" dirty="0"/>
          </a:p>
        </p:txBody>
      </p:sp>
      <p:sp>
        <p:nvSpPr>
          <p:cNvPr id="27" name="R1_chip67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tea</a:t>
            </a:r>
            <a:endParaRPr lang="en-US" sz="1200" dirty="0"/>
          </a:p>
        </p:txBody>
      </p:sp>
      <p:sp>
        <p:nvSpPr>
          <p:cNvPr id="28" name="gq_67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Sarah: ___ and pesto – twice a week!</a:t>
            </a:r>
            <a:endParaRPr lang="en-US" sz="1200" dirty="0"/>
          </a:p>
        </p:txBody>
      </p:sp>
      <p:sp>
        <p:nvSpPr>
          <p:cNvPr id="29" name="R2_chip67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pasta</a:t>
            </a:r>
            <a:endParaRPr lang="en-US" sz="1200" dirty="0"/>
          </a:p>
        </p:txBody>
      </p:sp>
      <p:sp>
        <p:nvSpPr>
          <p:cNvPr id="30" name="gq_67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loves hot food, like ___.</a:t>
            </a:r>
            <a:endParaRPr lang="en-US" sz="1200" dirty="0"/>
          </a:p>
        </p:txBody>
      </p:sp>
      <p:sp>
        <p:nvSpPr>
          <p:cNvPr id="31" name="R3_chip67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curries</a:t>
            </a:r>
            <a:endParaRPr lang="en-US" sz="1200" dirty="0"/>
          </a:p>
        </p:txBody>
      </p:sp>
      <p:sp>
        <p:nvSpPr>
          <p:cNvPr id="32" name="gq_68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Rob eats ___ or ice cream.</a:t>
            </a:r>
            <a:endParaRPr lang="en-US" sz="1200" dirty="0"/>
          </a:p>
        </p:txBody>
      </p:sp>
      <p:sp>
        <p:nvSpPr>
          <p:cNvPr id="33" name="R4_chip68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chocolate</a:t>
            </a:r>
            <a:endParaRPr lang="en-US" sz="1200" dirty="0"/>
          </a:p>
        </p:txBody>
      </p:sp>
      <p:sp>
        <p:nvSpPr>
          <p:cNvPr id="34" name="gq_68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James stopped drinking ___.</a:t>
            </a:r>
            <a:endParaRPr lang="en-US" sz="1200" dirty="0"/>
          </a:p>
        </p:txBody>
      </p:sp>
      <p:sp>
        <p:nvSpPr>
          <p:cNvPr id="35" name="R5_chip68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caffeine (coffee)</a:t>
            </a:r>
            <a:endParaRPr lang="en-US" sz="1200" dirty="0"/>
          </a:p>
        </p:txBody>
      </p:sp>
      <p:sp>
        <p:nvSpPr>
          <p:cNvPr id="36" name="gq_68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Sean likes his pizza with ___.</a:t>
            </a:r>
            <a:endParaRPr lang="en-US" sz="1200" dirty="0"/>
          </a:p>
        </p:txBody>
      </p:sp>
      <p:sp>
        <p:nvSpPr>
          <p:cNvPr id="37" name="R6_chip68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pepperoni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8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8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68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9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Find 3 things in common!</a:t>
            </a:r>
            <a:endParaRPr lang="en-US" sz="1250" dirty="0"/>
          </a:p>
        </p:txBody>
      </p:sp>
      <p:sp>
        <p:nvSpPr>
          <p:cNvPr id="8" name="insIT_6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al compagno. Trovate 3 cose in comune!</a:t>
            </a:r>
            <a:endParaRPr lang="en-US" sz="950" dirty="0"/>
          </a:p>
        </p:txBody>
      </p:sp>
      <p:sp>
        <p:nvSpPr>
          <p:cNvPr id="9" name="cmd_69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9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Speaking · your food profile   ·   📖 SB p.7 · 3d</a:t>
            </a:r>
            <a:endParaRPr lang="en-US" sz="800" dirty="0"/>
          </a:p>
        </p:txBody>
      </p:sp>
      <p:sp>
        <p:nvSpPr>
          <p:cNvPr id="14" name="pf_69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98" descr="/home/claude/lls-course/v2/cache/spare_1a1_fast_f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9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0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0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0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Really? Me too! / Not me!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What kind? How often?</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Both of us love… / Neither of us likes…</a:t>
            </a:r>
            <a:endParaRPr lang="en-US" sz="900" dirty="0"/>
          </a:p>
        </p:txBody>
      </p:sp>
      <p:sp>
        <p:nvSpPr>
          <p:cNvPr id="20" name="R1_qb70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0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What's your favourite pizza topping? And sandwich filling?</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Spicy salami! And tuna and tomato in a sandwich.</a:t>
            </a:r>
            <a:endParaRPr lang="en-US" sz="1200" dirty="0"/>
          </a:p>
        </p:txBody>
      </p:sp>
      <p:sp>
        <p:nvSpPr>
          <p:cNvPr id="22" name="R2_qb70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ever have takeaway or ready-made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we get a pizza takeaway on Saturdays.</a:t>
            </a:r>
            <a:endParaRPr lang="en-US" sz="1250" dirty="0"/>
          </a:p>
        </p:txBody>
      </p:sp>
      <p:sp>
        <p:nvSpPr>
          <p:cNvPr id="24" name="R3_qb70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8"/>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allergic or intolerant to any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but my sister is allergic to prawns.</a:t>
            </a:r>
            <a:endParaRPr lang="en-US" sz="1250" dirty="0"/>
          </a:p>
        </p:txBody>
      </p:sp>
      <p:sp>
        <p:nvSpPr>
          <p:cNvPr id="26" name="R4_qb70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0"/>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eat to cheer yourself up?</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Ice cream – or my mum's arancine!</a:t>
            </a:r>
            <a:endParaRPr lang="en-US" sz="1250" dirty="0"/>
          </a:p>
        </p:txBody>
      </p:sp>
      <p:pic>
        <p:nvPicPr>
          <p:cNvPr id="28" name="R4_th711" descr="/home/claude/lls-course/v2/cache/1a1_comfort_food_jpg_154x107_18.png">    </p:cNvPr>
          <p:cNvPicPr>
            <a:picLocks noChangeAspect="1"/>
          </p:cNvPicPr>
          <p:nvPr/>
        </p:nvPicPr>
        <p:blipFill>
          <a:blip r:embed="rId6"/>
          <a:stretch>
            <a:fillRect/>
          </a:stretch>
        </p:blipFill>
        <p:spPr>
          <a:xfrm>
            <a:off x="8257032" y="3104388"/>
            <a:ext cx="640080" cy="446532"/>
          </a:xfrm>
          <a:prstGeom prst="rect">
            <a:avLst/>
          </a:prstGeom>
        </p:spPr>
      </p:pic>
      <p:sp>
        <p:nvSpPr>
          <p:cNvPr id="29" name="R5_qb712"/>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13"/>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you're away from home, what food do you really miss?</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Fresh fish! It's never the same abroad.</a:t>
            </a:r>
            <a:endParaRPr lang="en-US" sz="1100" dirty="0"/>
          </a:p>
        </p:txBody>
      </p:sp>
      <p:sp>
        <p:nvSpPr>
          <p:cNvPr id="31" name="R6_qb71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71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there a food you couldn't live without? How often do you eat it?</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Pasta! I eat it almost every day.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71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1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19"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720"/>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Which time goes in gaps 1–3?</a:t>
            </a:r>
            <a:endParaRPr lang="en-US" sz="1250" dirty="0"/>
          </a:p>
        </p:txBody>
      </p:sp>
      <p:sp>
        <p:nvSpPr>
          <p:cNvPr id="8" name="insIT_7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Quale orario va negli spazi 1–3?</a:t>
            </a:r>
            <a:endParaRPr lang="en-US" sz="950" dirty="0"/>
          </a:p>
        </p:txBody>
      </p:sp>
      <p:sp>
        <p:nvSpPr>
          <p:cNvPr id="9" name="cmd_72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2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2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2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Reading · the morning and lunch   ·   📖 SB p.7 · 4a, 4b · article adapted</a:t>
            </a:r>
            <a:endParaRPr lang="en-US" sz="800" dirty="0"/>
          </a:p>
        </p:txBody>
      </p:sp>
      <p:sp>
        <p:nvSpPr>
          <p:cNvPr id="15" name="cd_72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2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Eat and drink – but at the right time!</a:t>
            </a:r>
            <a:endParaRPr lang="en-US" sz="1700" dirty="0"/>
          </a:p>
        </p:txBody>
      </p:sp>
      <p:sp>
        <p:nvSpPr>
          <p:cNvPr id="17" name="ln_73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We usually do things whenever it suits us – but science shows that by doing things at the right time, we can be happier and healthier.</a:t>
            </a:r>
            <a:endParaRPr lang="en-US" sz="1150" dirty="0"/>
          </a:p>
        </p:txBody>
      </p:sp>
      <p:sp>
        <p:nvSpPr>
          <p:cNvPr id="18" name="ln_73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19" name="R1_lnA73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8.00 a.m.</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20" name="ln_73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1" name="R2_lnA73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 and 5.00 p.m.</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2" name="ln_73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3" name="R3_lnA736"/>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12.00 and 2.00</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4" name="cd_737"/>
          <p:cNvSpPr/>
          <p:nvPr/>
        </p:nvSpPr>
        <p:spPr>
          <a:xfrm>
            <a:off x="6263640" y="1417320"/>
            <a:ext cx="2651760" cy="2103120"/>
          </a:xfrm>
          <a:prstGeom prst="roundRect">
            <a:avLst>
              <a:gd name="adj" fmla="val 608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5" name="bkh_738"/>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6" name="bk_739"/>
          <p:cNvSpPr/>
          <p:nvPr/>
        </p:nvSpPr>
        <p:spPr>
          <a:xfrm>
            <a:off x="6373368" y="181965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12.00 and 2.00</a:t>
            </a:r>
            <a:endParaRPr lang="en-US" sz="1050" dirty="0"/>
          </a:p>
        </p:txBody>
      </p:sp>
      <p:sp>
        <p:nvSpPr>
          <p:cNvPr id="27" name="bk_740"/>
          <p:cNvSpPr/>
          <p:nvPr/>
        </p:nvSpPr>
        <p:spPr>
          <a:xfrm>
            <a:off x="6373368" y="2148840"/>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2.00 and 5.00 p.m.</a:t>
            </a:r>
            <a:endParaRPr lang="en-US" sz="1050" dirty="0"/>
          </a:p>
        </p:txBody>
      </p:sp>
      <p:sp>
        <p:nvSpPr>
          <p:cNvPr id="28" name="bk_741"/>
          <p:cNvSpPr/>
          <p:nvPr/>
        </p:nvSpPr>
        <p:spPr>
          <a:xfrm>
            <a:off x="6373368" y="2478024"/>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6.00 a.m.</a:t>
            </a:r>
            <a:endParaRPr lang="en-US" sz="1050" dirty="0"/>
          </a:p>
        </p:txBody>
      </p:sp>
      <p:sp>
        <p:nvSpPr>
          <p:cNvPr id="29" name="bk_742"/>
          <p:cNvSpPr/>
          <p:nvPr/>
        </p:nvSpPr>
        <p:spPr>
          <a:xfrm>
            <a:off x="6373368" y="2807208"/>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8.00 a.m.</a:t>
            </a:r>
            <a:endParaRPr lang="en-US" sz="1050" dirty="0"/>
          </a:p>
        </p:txBody>
      </p:sp>
      <p:sp>
        <p:nvSpPr>
          <p:cNvPr id="30" name="bk_743"/>
          <p:cNvSpPr/>
          <p:nvPr/>
        </p:nvSpPr>
        <p:spPr>
          <a:xfrm>
            <a:off x="6373368" y="3136392"/>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and 11.00 a.m.</a:t>
            </a:r>
            <a:endParaRPr lang="en-US" sz="1050" dirty="0"/>
          </a:p>
        </p:txBody>
      </p:sp>
      <p:sp>
        <p:nvSpPr>
          <p:cNvPr id="31" name="cd_74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2" name="ii_74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3" name="ih_74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4" name="il_747"/>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alert = awake · attento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digest = digerire · heart disease = malattie cardiache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4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5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5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5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rest of the article. Which time goes in gaps 4–7?</a:t>
            </a:r>
            <a:endParaRPr lang="en-US" sz="1250" dirty="0"/>
          </a:p>
        </p:txBody>
      </p:sp>
      <p:sp>
        <p:nvSpPr>
          <p:cNvPr id="8" name="insIT_7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resto dell'articolo. Quale orario va negli spazi 4–7?</a:t>
            </a:r>
            <a:endParaRPr lang="en-US" sz="950" dirty="0"/>
          </a:p>
        </p:txBody>
      </p:sp>
      <p:sp>
        <p:nvSpPr>
          <p:cNvPr id="9" name="cmd_75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5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5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5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Reading · the evening and more   ·   📖 SB p.7 · 4b, 4c · article adapted</a:t>
            </a:r>
            <a:endParaRPr lang="en-US" sz="800" dirty="0"/>
          </a:p>
        </p:txBody>
      </p:sp>
      <p:sp>
        <p:nvSpPr>
          <p:cNvPr id="15" name="cd_76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6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The article continues…</a:t>
            </a:r>
            <a:endParaRPr lang="en-US" sz="1700" dirty="0"/>
          </a:p>
        </p:txBody>
      </p:sp>
      <p:sp>
        <p:nvSpPr>
          <p:cNvPr id="17" name="ln_76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8" name="R1_lnA763"/>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7.00 p.m.</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9" name="ln_76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yoga or go for a walk before breakfast.</a:t>
            </a:r>
            <a:endParaRPr lang="en-US" sz="1150" dirty="0"/>
          </a:p>
        </p:txBody>
      </p:sp>
      <p:sp>
        <p:nvSpPr>
          <p:cNvPr id="20" name="ln_76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1" name="R2_lnA766"/>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11.00 a.m.</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2" name="ln_76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3" name="R3_lnA768"/>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5.00 p.m.</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4" name="ln_769"/>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5" name="R4_lnA770"/>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9.00 p.m. and 11.00 p.m.</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6" name="cd_771"/>
          <p:cNvSpPr/>
          <p:nvPr/>
        </p:nvSpPr>
        <p:spPr>
          <a:xfrm>
            <a:off x="6263640" y="1417320"/>
            <a:ext cx="2651760" cy="2432304"/>
          </a:xfrm>
          <a:prstGeom prst="roundRect">
            <a:avLst>
              <a:gd name="adj" fmla="val 5263"/>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bkh_772"/>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8" name="bk_773"/>
          <p:cNvSpPr/>
          <p:nvPr/>
        </p:nvSpPr>
        <p:spPr>
          <a:xfrm>
            <a:off x="6373368" y="181965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1.00 p.m.</a:t>
            </a:r>
            <a:endParaRPr lang="en-US" sz="1050" dirty="0"/>
          </a:p>
        </p:txBody>
      </p:sp>
      <p:sp>
        <p:nvSpPr>
          <p:cNvPr id="29" name="bk_774"/>
          <p:cNvSpPr/>
          <p:nvPr/>
        </p:nvSpPr>
        <p:spPr>
          <a:xfrm>
            <a:off x="6373368" y="2148840"/>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11.00 a.m.</a:t>
            </a:r>
            <a:endParaRPr lang="en-US" sz="1050" dirty="0"/>
          </a:p>
        </p:txBody>
      </p:sp>
      <p:sp>
        <p:nvSpPr>
          <p:cNvPr id="30" name="bk_775"/>
          <p:cNvSpPr/>
          <p:nvPr/>
        </p:nvSpPr>
        <p:spPr>
          <a:xfrm>
            <a:off x="6373368" y="2478024"/>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5.00 p.m.</a:t>
            </a:r>
            <a:endParaRPr lang="en-US" sz="1050" dirty="0"/>
          </a:p>
        </p:txBody>
      </p:sp>
      <p:sp>
        <p:nvSpPr>
          <p:cNvPr id="31" name="bk_776"/>
          <p:cNvSpPr/>
          <p:nvPr/>
        </p:nvSpPr>
        <p:spPr>
          <a:xfrm>
            <a:off x="6373368" y="2807208"/>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7.00 p.m.</a:t>
            </a:r>
            <a:endParaRPr lang="en-US" sz="1050" dirty="0"/>
          </a:p>
        </p:txBody>
      </p:sp>
      <p:sp>
        <p:nvSpPr>
          <p:cNvPr id="32" name="bk_777"/>
          <p:cNvSpPr/>
          <p:nvPr/>
        </p:nvSpPr>
        <p:spPr>
          <a:xfrm>
            <a:off x="6373368" y="3136392"/>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p.m. and 11.00 p.m.</a:t>
            </a:r>
            <a:endParaRPr lang="en-US" sz="1050" dirty="0"/>
          </a:p>
        </p:txBody>
      </p:sp>
      <p:sp>
        <p:nvSpPr>
          <p:cNvPr id="33" name="bk_778"/>
          <p:cNvSpPr/>
          <p:nvPr/>
        </p:nvSpPr>
        <p:spPr>
          <a:xfrm>
            <a:off x="6373368" y="346557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midnight</a:t>
            </a:r>
            <a:endParaRPr lang="en-US" sz="1050" dirty="0"/>
          </a:p>
        </p:txBody>
      </p:sp>
      <p:sp>
        <p:nvSpPr>
          <p:cNvPr id="34" name="cd_77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5" name="ii_78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6" name="ih_78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7" name="il_78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light = not heavy · leggero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lungs = polmoni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8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78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Find it in the text</a:t>
            </a:r>
            <a:endParaRPr lang="en-US" sz="2500" dirty="0"/>
          </a:p>
        </p:txBody>
      </p:sp>
      <p:pic>
        <p:nvPicPr>
          <p:cNvPr id="6" name="brP_78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8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questions about the article.</a:t>
            </a:r>
            <a:endParaRPr lang="en-US" sz="1250" dirty="0"/>
          </a:p>
        </p:txBody>
      </p:sp>
      <p:sp>
        <p:nvSpPr>
          <p:cNvPr id="8" name="insIT_7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alle domande sull'articolo.</a:t>
            </a:r>
            <a:endParaRPr lang="en-US" sz="950" dirty="0"/>
          </a:p>
        </p:txBody>
      </p:sp>
      <p:sp>
        <p:nvSpPr>
          <p:cNvPr id="9" name="cmd_78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9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9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7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Extra · reading for detail   ·   📖 SB p.7 · 4c</a:t>
            </a:r>
            <a:endParaRPr lang="en-US" sz="800" dirty="0"/>
          </a:p>
        </p:txBody>
      </p:sp>
      <p:sp>
        <p:nvSpPr>
          <p:cNvPr id="14" name="st_79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9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9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98"/>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 The article is on the last 2 slides. Go back!</a:t>
            </a:r>
            <a:endParaRPr lang="en-US" sz="1050" dirty="0"/>
          </a:p>
        </p:txBody>
      </p:sp>
      <p:sp>
        <p:nvSpPr>
          <p:cNvPr id="19" name="pf_79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00" descr="/home/claude/lls-course/v2/cache/1a1_afternoon_ru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80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80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have breakfast as a teenager?</a:t>
            </a:r>
            <a:endParaRPr lang="en-US" sz="1150" dirty="0"/>
          </a:p>
        </p:txBody>
      </p:sp>
      <p:sp>
        <p:nvSpPr>
          <p:cNvPr id="23" name="R1_chip803"/>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less risk of heart disease as an adult</a:t>
            </a:r>
            <a:endParaRPr lang="en-US" sz="1000" dirty="0"/>
          </a:p>
        </p:txBody>
      </p:sp>
      <p:sp>
        <p:nvSpPr>
          <p:cNvPr id="24" name="bd_80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80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Coffee at 2–5 p.m.: what effect?</a:t>
            </a:r>
            <a:endParaRPr lang="en-US" sz="1150" dirty="0"/>
          </a:p>
        </p:txBody>
      </p:sp>
      <p:sp>
        <p:nvSpPr>
          <p:cNvPr id="26" name="R2_chip806"/>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can make us more mentally alert</a:t>
            </a:r>
            <a:endParaRPr lang="en-US" sz="1000" dirty="0"/>
          </a:p>
        </p:txBody>
      </p:sp>
      <p:sp>
        <p:nvSpPr>
          <p:cNvPr id="27" name="bd_80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80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Steak and chips for lunch, not dinner. Why?</a:t>
            </a:r>
            <a:endParaRPr lang="en-US" sz="1150" dirty="0"/>
          </a:p>
        </p:txBody>
      </p:sp>
      <p:sp>
        <p:nvSpPr>
          <p:cNvPr id="29" name="R3_chip809"/>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lunch: we digest it better · dinner: higher blood glucose</a:t>
            </a:r>
            <a:endParaRPr lang="en-US" sz="1000" dirty="0"/>
          </a:p>
        </p:txBody>
      </p:sp>
      <p:sp>
        <p:nvSpPr>
          <p:cNvPr id="30" name="bd_81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81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should dinner be delicious?</a:t>
            </a:r>
            <a:endParaRPr lang="en-US" sz="1150" dirty="0"/>
          </a:p>
        </p:txBody>
      </p:sp>
      <p:sp>
        <p:nvSpPr>
          <p:cNvPr id="32" name="R4_chip812"/>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our senses of smell and taste are at their best</a:t>
            </a:r>
            <a:endParaRPr lang="en-US" sz="1000" dirty="0"/>
          </a:p>
        </p:txBody>
      </p:sp>
      <p:sp>
        <p:nvSpPr>
          <p:cNvPr id="33" name="bd_81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81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Best exercise: a) early morning b) afternoon?</a:t>
            </a:r>
            <a:endParaRPr lang="en-US" sz="1150" dirty="0"/>
          </a:p>
        </p:txBody>
      </p:sp>
      <p:sp>
        <p:nvSpPr>
          <p:cNvPr id="35" name="R5_chip815"/>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yoga or a walk  b) running or cycling</a:t>
            </a:r>
            <a:endParaRPr lang="en-US" sz="1000" dirty="0"/>
          </a:p>
        </p:txBody>
      </p:sp>
      <p:sp>
        <p:nvSpPr>
          <p:cNvPr id="36" name="bd_816"/>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817"/>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does the body produce melatonin?</a:t>
            </a:r>
            <a:endParaRPr lang="en-US" sz="1150" dirty="0"/>
          </a:p>
        </p:txBody>
      </p:sp>
      <p:sp>
        <p:nvSpPr>
          <p:cNvPr id="38" name="R6_chip818"/>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helps us to go to sleep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82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2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2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2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825"/>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26"/>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8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Exit · what can you remember?</a:t>
            </a:r>
            <a:endParaRPr lang="en-US" sz="800" dirty="0"/>
          </a:p>
        </p:txBody>
      </p:sp>
      <p:sp>
        <p:nvSpPr>
          <p:cNvPr id="13" name="bd_82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3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seafood or meat words (no looking!)</a:t>
            </a:r>
            <a:endParaRPr lang="en-US" sz="1400" dirty="0"/>
          </a:p>
        </p:txBody>
      </p:sp>
      <p:sp>
        <p:nvSpPr>
          <p:cNvPr id="15" name="bd_83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3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cook – and a food for each</a:t>
            </a:r>
            <a:endParaRPr lang="en-US" sz="1400" dirty="0"/>
          </a:p>
        </p:txBody>
      </p:sp>
      <p:sp>
        <p:nvSpPr>
          <p:cNvPr id="17" name="bd_83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3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best time for coffee – and why?</a:t>
            </a:r>
            <a:endParaRPr lang="en-US" sz="1400" dirty="0"/>
          </a:p>
        </p:txBody>
      </p:sp>
      <p:sp>
        <p:nvSpPr>
          <p:cNvPr id="19" name="cd_83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83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3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3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1A: 1a–1g, 2a, 2c</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p.152: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1A-1 in the LLS app</a:t>
            </a:r>
            <a:endParaRPr lang="en-US" sz="1150" dirty="0"/>
          </a:p>
        </p:txBody>
      </p:sp>
      <p:sp>
        <p:nvSpPr>
          <p:cNvPr id="23" name="st_83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1A part 2 · A chef's story · present simple &amp; continuous</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84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4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4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4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84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4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4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8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Review · what did you do today?</a:t>
            </a:r>
            <a:endParaRPr lang="en-US" sz="800" dirty="0"/>
          </a:p>
        </p:txBody>
      </p:sp>
      <p:sp>
        <p:nvSpPr>
          <p:cNvPr id="14" name="cd_851"/>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852"/>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53"/>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Got to know your new classmates</a:t>
            </a:r>
            <a:endParaRPr lang="en-US" sz="1350" dirty="0"/>
          </a:p>
        </p:txBody>
      </p:sp>
      <p:sp>
        <p:nvSpPr>
          <p:cNvPr id="17" name="R1_tk854"/>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55"/>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856"/>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57"/>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Named food and ways to cook it</a:t>
            </a:r>
            <a:endParaRPr lang="en-US" sz="1350" dirty="0"/>
          </a:p>
        </p:txBody>
      </p:sp>
      <p:sp>
        <p:nvSpPr>
          <p:cNvPr id="21" name="R2_tk858"/>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59"/>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860"/>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61"/>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short and long vowel sounds</a:t>
            </a:r>
            <a:endParaRPr lang="en-US" sz="1350" dirty="0"/>
          </a:p>
        </p:txBody>
      </p:sp>
      <p:sp>
        <p:nvSpPr>
          <p:cNvPr id="25" name="R3_tk862"/>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63"/>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864"/>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65"/>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66"/>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67"/>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868"/>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69"/>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people talking about food</a:t>
            </a:r>
            <a:endParaRPr lang="en-US" sz="1350" dirty="0"/>
          </a:p>
        </p:txBody>
      </p:sp>
      <p:sp>
        <p:nvSpPr>
          <p:cNvPr id="33" name="R5_tk870"/>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871"/>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872"/>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873"/>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the best times to eat</a:t>
            </a:r>
            <a:endParaRPr lang="en-US" sz="1350" dirty="0"/>
          </a:p>
        </p:txBody>
      </p:sp>
      <p:sp>
        <p:nvSpPr>
          <p:cNvPr id="37" name="R6_tk874"/>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87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7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7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7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for thought</a:t>
            </a:r>
            <a:endParaRPr lang="en-US" sz="2500" dirty="0"/>
          </a:p>
        </p:txBody>
      </p:sp>
      <p:pic>
        <p:nvPicPr>
          <p:cNvPr id="6" name="brP_879"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880"/>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quotes. Choose your favourite!</a:t>
            </a:r>
            <a:endParaRPr lang="en-US" sz="1250" dirty="0"/>
          </a:p>
        </p:txBody>
      </p:sp>
      <p:sp>
        <p:nvSpPr>
          <p:cNvPr id="8" name="insIT_8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citazioni. Scegli la preferita!</a:t>
            </a:r>
            <a:endParaRPr lang="en-US" sz="950" dirty="0"/>
          </a:p>
        </p:txBody>
      </p:sp>
      <p:sp>
        <p:nvSpPr>
          <p:cNvPr id="9" name="cmd_88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88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88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8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Extra · food quotes   ·   📖 SB p.6 · 1a, 1b</a:t>
            </a:r>
            <a:endParaRPr lang="en-US" sz="800" dirty="0"/>
          </a:p>
        </p:txBody>
      </p:sp>
      <p:sp>
        <p:nvSpPr>
          <p:cNvPr id="14" name="st_88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8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88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Famous quotes about food</a:t>
            </a:r>
            <a:endParaRPr lang="en-US" sz="1700" dirty="0"/>
          </a:p>
        </p:txBody>
      </p:sp>
      <p:sp>
        <p:nvSpPr>
          <p:cNvPr id="17" name="ln_890"/>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8" name="R1_lnA891"/>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pear</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9" name="ln_892"/>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0" name="R2_lnA893"/>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pasta</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1" name="ln_894"/>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2" name="R3_lnA895"/>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onions</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3" name="ln_89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2EB872"/>
                </a:solidFill>
                <a:latin typeface="Georgia" pitchFamily="34" charset="0"/>
                <a:ea typeface="Georgia" pitchFamily="34" charset="-122"/>
                <a:cs typeface="Georgia" pitchFamily="34" charset="-120"/>
              </a:rPr>
              <a:t> (4a) ________ </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2EB872"/>
                </a:solidFill>
                <a:latin typeface="Georgia" pitchFamily="34" charset="0"/>
                <a:ea typeface="Georgia" pitchFamily="34" charset="-122"/>
                <a:cs typeface="Georgia" pitchFamily="34" charset="-120"/>
              </a:rPr>
              <a:t> (4b) ________ </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4" name="R4_lnA89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tomato</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fruit salad</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5" name="ln_89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6" name="R5_lnA899"/>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cake</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7" name="ln_900"/>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8" name="R6_lnA901"/>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cookie</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9" name="cd_902"/>
          <p:cNvSpPr/>
          <p:nvPr/>
        </p:nvSpPr>
        <p:spPr>
          <a:xfrm>
            <a:off x="6263640" y="1417320"/>
            <a:ext cx="2651760" cy="2103120"/>
          </a:xfrm>
          <a:prstGeom prst="roundRect">
            <a:avLst>
              <a:gd name="adj" fmla="val 608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bkh_903"/>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Word box · two don't fit!</a:t>
            </a:r>
            <a:endParaRPr lang="en-US" sz="1100" dirty="0"/>
          </a:p>
        </p:txBody>
      </p:sp>
      <p:sp>
        <p:nvSpPr>
          <p:cNvPr id="31" name="bk_904"/>
          <p:cNvSpPr/>
          <p:nvPr/>
        </p:nvSpPr>
        <p:spPr>
          <a:xfrm>
            <a:off x="6373368"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bananas</a:t>
            </a:r>
            <a:endParaRPr lang="en-US" sz="1050" dirty="0"/>
          </a:p>
        </p:txBody>
      </p:sp>
      <p:sp>
        <p:nvSpPr>
          <p:cNvPr id="32" name="bk_905"/>
          <p:cNvSpPr/>
          <p:nvPr/>
        </p:nvSpPr>
        <p:spPr>
          <a:xfrm>
            <a:off x="7626096"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bread</a:t>
            </a:r>
            <a:endParaRPr lang="en-US" sz="1050" dirty="0"/>
          </a:p>
        </p:txBody>
      </p:sp>
      <p:sp>
        <p:nvSpPr>
          <p:cNvPr id="33" name="bk_906"/>
          <p:cNvSpPr/>
          <p:nvPr/>
        </p:nvSpPr>
        <p:spPr>
          <a:xfrm>
            <a:off x="6373368"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cake</a:t>
            </a:r>
            <a:endParaRPr lang="en-US" sz="1050" dirty="0"/>
          </a:p>
        </p:txBody>
      </p:sp>
      <p:sp>
        <p:nvSpPr>
          <p:cNvPr id="34" name="bk_907"/>
          <p:cNvSpPr/>
          <p:nvPr/>
        </p:nvSpPr>
        <p:spPr>
          <a:xfrm>
            <a:off x="7626096"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cookie</a:t>
            </a:r>
            <a:endParaRPr lang="en-US" sz="1050" dirty="0"/>
          </a:p>
        </p:txBody>
      </p:sp>
      <p:sp>
        <p:nvSpPr>
          <p:cNvPr id="35" name="bk_908"/>
          <p:cNvSpPr/>
          <p:nvPr/>
        </p:nvSpPr>
        <p:spPr>
          <a:xfrm>
            <a:off x="6373368"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fruit salad</a:t>
            </a:r>
            <a:endParaRPr lang="en-US" sz="1050" dirty="0"/>
          </a:p>
        </p:txBody>
      </p:sp>
      <p:sp>
        <p:nvSpPr>
          <p:cNvPr id="36" name="bk_909"/>
          <p:cNvSpPr/>
          <p:nvPr/>
        </p:nvSpPr>
        <p:spPr>
          <a:xfrm>
            <a:off x="7626096"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onions</a:t>
            </a:r>
            <a:endParaRPr lang="en-US" sz="1050" dirty="0"/>
          </a:p>
        </p:txBody>
      </p:sp>
      <p:sp>
        <p:nvSpPr>
          <p:cNvPr id="37" name="bk_910"/>
          <p:cNvSpPr/>
          <p:nvPr/>
        </p:nvSpPr>
        <p:spPr>
          <a:xfrm>
            <a:off x="6373368"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pasta</a:t>
            </a:r>
            <a:endParaRPr lang="en-US" sz="1050" dirty="0"/>
          </a:p>
        </p:txBody>
      </p:sp>
      <p:sp>
        <p:nvSpPr>
          <p:cNvPr id="38" name="bk_911"/>
          <p:cNvSpPr/>
          <p:nvPr/>
        </p:nvSpPr>
        <p:spPr>
          <a:xfrm>
            <a:off x="7626096"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pear</a:t>
            </a:r>
            <a:endParaRPr lang="en-US" sz="1050" dirty="0"/>
          </a:p>
        </p:txBody>
      </p:sp>
      <p:sp>
        <p:nvSpPr>
          <p:cNvPr id="39" name="bk_912"/>
          <p:cNvSpPr/>
          <p:nvPr/>
        </p:nvSpPr>
        <p:spPr>
          <a:xfrm>
            <a:off x="6373368"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tomato</a:t>
            </a:r>
            <a:endParaRPr lang="en-US" sz="1050" dirty="0"/>
          </a:p>
        </p:txBody>
      </p:sp>
      <p:sp>
        <p:nvSpPr>
          <p:cNvPr id="40" name="pf_913"/>
          <p:cNvSpPr/>
          <p:nvPr/>
        </p:nvSpPr>
        <p:spPr>
          <a:xfrm rot="120000">
            <a:off x="6309360" y="3630168"/>
            <a:ext cx="2560320" cy="1170432"/>
          </a:xfrm>
          <a:prstGeom prst="roundRect">
            <a:avLst>
              <a:gd name="adj" fmla="val 1328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914" descr="/home/claude/lls-course/v2/cache/spare_1a2_cooking_jpg_594x260_31.png">    </p:cNvPr>
          <p:cNvPicPr>
            <a:picLocks noChangeAspect="1"/>
          </p:cNvPicPr>
          <p:nvPr/>
        </p:nvPicPr>
        <p:blipFill>
          <a:blip r:embed="rId5"/>
          <a:stretch>
            <a:fillRect/>
          </a:stretch>
        </p:blipFill>
        <p:spPr>
          <a:xfrm rot="120000">
            <a:off x="6355080" y="3675888"/>
            <a:ext cx="2468880" cy="107899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91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91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race!</a:t>
            </a:r>
            <a:endParaRPr lang="en-US" sz="2500" dirty="0"/>
          </a:p>
        </p:txBody>
      </p:sp>
      <p:pic>
        <p:nvPicPr>
          <p:cNvPr id="6" name="brP_91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91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write the words. Fastest wins!</a:t>
            </a:r>
            <a:endParaRPr lang="en-US" sz="1250" dirty="0"/>
          </a:p>
        </p:txBody>
      </p:sp>
      <p:sp>
        <p:nvSpPr>
          <p:cNvPr id="8" name="insIT_9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scrivete le parole. Vince chi è più veloce!</a:t>
            </a:r>
            <a:endParaRPr lang="en-US" sz="950" dirty="0"/>
          </a:p>
        </p:txBody>
      </p:sp>
      <p:sp>
        <p:nvSpPr>
          <p:cNvPr id="9" name="cmd_92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92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92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9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Extra · vocabulary game</a:t>
            </a:r>
            <a:endParaRPr lang="en-US" sz="800" dirty="0"/>
          </a:p>
        </p:txBody>
      </p:sp>
      <p:sp>
        <p:nvSpPr>
          <p:cNvPr id="14" name="st_92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92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2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2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93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category.</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la categoria.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write the words – 30 seconds!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scrivete le parole – 30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Correct words = 1 point each.</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Parola corretta = 1 punto.</a:t>
            </a:r>
            <a:endParaRPr lang="en-US" sz="1000" dirty="0"/>
          </a:p>
        </p:txBody>
      </p:sp>
      <p:sp>
        <p:nvSpPr>
          <p:cNvPr id="19" name="pf_93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32" descr="/home/claude/lls-course/v2/cache/1a1_food_rac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93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93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kinds of seafood</a:t>
            </a:r>
            <a:endParaRPr lang="en-US" sz="1100" dirty="0"/>
          </a:p>
        </p:txBody>
      </p:sp>
      <p:sp>
        <p:nvSpPr>
          <p:cNvPr id="23" name="R1_chip93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prawns · mussels · squid</a:t>
            </a:r>
            <a:endParaRPr lang="en-US" sz="1100" dirty="0"/>
          </a:p>
        </p:txBody>
      </p:sp>
      <p:sp>
        <p:nvSpPr>
          <p:cNvPr id="24" name="bd_93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93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THREE ways to cook potatoes</a:t>
            </a:r>
            <a:endParaRPr lang="en-US" sz="1100" dirty="0"/>
          </a:p>
        </p:txBody>
      </p:sp>
      <p:sp>
        <p:nvSpPr>
          <p:cNvPr id="26" name="R2_chip93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fried · roast · boiled · baked</a:t>
            </a:r>
            <a:endParaRPr lang="en-US" sz="1100" dirty="0"/>
          </a:p>
        </p:txBody>
      </p:sp>
      <p:sp>
        <p:nvSpPr>
          <p:cNvPr id="27" name="bd_93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94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you can eat raw</a:t>
            </a:r>
            <a:endParaRPr lang="en-US" sz="1100" dirty="0"/>
          </a:p>
        </p:txBody>
      </p:sp>
      <p:sp>
        <p:nvSpPr>
          <p:cNvPr id="29" name="R3_chip94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salmon (sushi) · tomatoes</a:t>
            </a:r>
            <a:endParaRPr lang="en-US" sz="1100" dirty="0"/>
          </a:p>
        </p:txBody>
      </p:sp>
      <p:sp>
        <p:nvSpPr>
          <p:cNvPr id="30" name="bd_94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94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people often buy frozen</a:t>
            </a:r>
            <a:endParaRPr lang="en-US" sz="1100" dirty="0"/>
          </a:p>
        </p:txBody>
      </p:sp>
      <p:sp>
        <p:nvSpPr>
          <p:cNvPr id="32" name="R4_chip94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peas · prawns</a:t>
            </a:r>
            <a:endParaRPr lang="en-US" sz="1100" dirty="0"/>
          </a:p>
        </p:txBody>
      </p:sp>
      <p:sp>
        <p:nvSpPr>
          <p:cNvPr id="33" name="bd_94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94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that often come in tins</a:t>
            </a:r>
            <a:endParaRPr lang="en-US" sz="1100" dirty="0"/>
          </a:p>
        </p:txBody>
      </p:sp>
      <p:sp>
        <p:nvSpPr>
          <p:cNvPr id="35" name="R5_chip94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tuna · red peppers</a:t>
            </a:r>
            <a:endParaRPr lang="en-US" sz="1100" dirty="0"/>
          </a:p>
        </p:txBody>
      </p:sp>
      <p:sp>
        <p:nvSpPr>
          <p:cNvPr id="36" name="bd_94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94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ONE red and ONE green fruit or vegetable</a:t>
            </a:r>
            <a:endParaRPr lang="en-US" sz="1100" dirty="0"/>
          </a:p>
        </p:txBody>
      </p:sp>
      <p:sp>
        <p:nvSpPr>
          <p:cNvPr id="38" name="R6_chip95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raspberries · courgette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1A-1 Eating in… and out</dc:title>
  <dc:subject>PptxGenJS Presentation</dc:subject>
  <dc:creator>PptxGenJS</dc:creator>
  <cp:lastModifiedBy>PptxGenJS</cp:lastModifiedBy>
  <cp:revision>1</cp:revision>
  <dcterms:created xsi:type="dcterms:W3CDTF">2026-10-12T17:07:58Z</dcterms:created>
  <dcterms:modified xsi:type="dcterms:W3CDTF">2026-10-12T17:07:58Z</dcterms:modified>
</cp:coreProperties>
</file>