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The class says the Italian for each word, then ONE click shows all the Italian.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then ONE click shows it all.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game · race (3 min)
GAME 2 (3 min).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(in the book the target letters are pink).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game (3 min)
GAME 3 (3 min).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say which word goes in each gap (from the last slide – no looking back!).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read the REASONS in the article and guess the best times for 1–3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reasons, guess 4–7,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food quotes (3 min)
EXTRA (3 min, if there's time – or as the warmer for 1A part 2). SB 1a: a quote = una citazione. Pairs complete the six quotes with the words in the Remember box.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get to know your new classmates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name food and ways to cook it</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hear short and long vowel sounds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people talking about food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the best times to eat</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Il compagno chiede: Perché?</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Warmer · getting to know you   ·   📖 Adapted from TG Communicative photocopiable 'Getting to know you' p.176–177</a:t>
            </a:r>
            <a:endParaRPr lang="en-US" sz="800" dirty="0"/>
          </a:p>
        </p:txBody>
      </p:sp>
      <p:sp>
        <p:nvSpPr>
          <p:cNvPr id="13" name="pf_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a1_first_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did you write…?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Tell me more!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do you spell that?</a:t>
            </a:r>
            <a:endParaRPr lang="en-US" sz="1050" dirty="0"/>
          </a:p>
        </p:txBody>
      </p:sp>
      <p:sp>
        <p:nvSpPr>
          <p:cNvPr id="19" name="R1_qb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"2015" → Why did you write 2015? – I started at primary school.</a:t>
            </a:r>
            <a:endParaRPr lang="en-US" sz="1250" dirty="0"/>
          </a:p>
        </p:txBody>
      </p:sp>
      <p:sp>
        <p:nvSpPr>
          <p:cNvPr id="21" name="R2_qb3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LOVE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"arancine" → I think it's because you eat them every Sunday!</a:t>
            </a:r>
            <a:endParaRPr lang="en-US" sz="1250" dirty="0"/>
          </a:p>
        </p:txBody>
      </p:sp>
      <p:sp>
        <p:nvSpPr>
          <p:cNvPr id="23" name="R3_qb3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can't stand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"broccoli" → Really? Why? – I hate the smell!</a:t>
            </a:r>
            <a:endParaRPr lang="en-US" sz="1250" dirty="0"/>
          </a:p>
        </p:txBody>
      </p:sp>
      <p:sp>
        <p:nvSpPr>
          <p:cNvPr id="25" name="R4_qb3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"football, TikTok" → How often do you play football?</a:t>
            </a:r>
            <a:endParaRPr lang="en-US" sz="1250" dirty="0"/>
          </a:p>
        </p:txBody>
      </p:sp>
      <p:sp>
        <p:nvSpPr>
          <p:cNvPr id="27" name="R5_qb4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house" → Why? – Her pasta is the best!</a:t>
            </a:r>
            <a:endParaRPr lang="en-US" sz="1250" dirty="0"/>
          </a:p>
        </p:txBody>
      </p:sp>
      <p:sp>
        <p:nvSpPr>
          <p:cNvPr id="29" name="R6_qb4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4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"Wednesday" → Did you like it? – Yes, it was really funny.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5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fish and seafood   ·   📖 SB p.6 · 1c · Vocabulary Bank p.152 · 1 Food (audio 1.2)</a:t>
            </a:r>
            <a:endParaRPr lang="en-US" sz="800" dirty="0"/>
          </a:p>
        </p:txBody>
      </p:sp>
      <p:sp>
        <p:nvSpPr>
          <p:cNvPr id="13" name="pf_55"/>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6"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5" name="bd_57"/>
          <p:cNvSpPr/>
          <p:nvPr/>
        </p:nvSpPr>
        <p:spPr>
          <a:xfrm>
            <a:off x="1527962" y="197510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6" name="bd_58"/>
          <p:cNvSpPr/>
          <p:nvPr/>
        </p:nvSpPr>
        <p:spPr>
          <a:xfrm>
            <a:off x="3030322" y="255117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7" name="bd_59"/>
          <p:cNvSpPr/>
          <p:nvPr/>
        </p:nvSpPr>
        <p:spPr>
          <a:xfrm>
            <a:off x="4387291" y="248716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8" name="bd_60"/>
          <p:cNvSpPr/>
          <p:nvPr/>
        </p:nvSpPr>
        <p:spPr>
          <a:xfrm>
            <a:off x="946404" y="303123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19" name="bd_61"/>
          <p:cNvSpPr/>
          <p:nvPr/>
        </p:nvSpPr>
        <p:spPr>
          <a:xfrm>
            <a:off x="2642616" y="344728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0" name="bd_62"/>
          <p:cNvSpPr/>
          <p:nvPr/>
        </p:nvSpPr>
        <p:spPr>
          <a:xfrm>
            <a:off x="4484218" y="363931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1" name="bd_63"/>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4"/>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3" name="R1_chip65"/>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4" name="bd_66"/>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7"/>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6" name="R2_chip68"/>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7" name="bd_69"/>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0"/>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29" name="R3_chip71"/>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30" name="bd_72"/>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3"/>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2" name="R4_chip74"/>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3" name="bd_75"/>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6"/>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5" name="R5_chip77"/>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6" name="bd_78"/>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79"/>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8" name="R6_chip80"/>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animale? Di' il nome della carne.</a:t>
            </a:r>
            <a:endParaRPr lang="en-US" sz="950" dirty="0"/>
          </a:p>
        </p:txBody>
      </p:sp>
      <p:sp>
        <p:nvSpPr>
          <p:cNvPr id="9" name="cmd_87"/>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meat   ·   📖 Vocabulary Bank p.152 · 1 Food (audio 1.2)</a:t>
            </a:r>
            <a:endParaRPr lang="en-US" sz="800" dirty="0"/>
          </a:p>
        </p:txBody>
      </p:sp>
      <p:sp>
        <p:nvSpPr>
          <p:cNvPr id="13" name="cd_9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9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94"/>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pig → pork  (the animal is pig, the MEAT is pork)</a:t>
            </a:r>
            <a:endParaRPr lang="en-US" sz="1050" dirty="0"/>
          </a:p>
        </p:txBody>
      </p:sp>
      <p:sp>
        <p:nvSpPr>
          <p:cNvPr id="17" name="pf_9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6" descr="/home/claude/lls-course/v2/cache/1a1_butch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9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9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1" name="R1_chip9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pork</a:t>
            </a:r>
            <a:endParaRPr lang="en-US" sz="1000" dirty="0"/>
          </a:p>
        </p:txBody>
      </p:sp>
      <p:sp>
        <p:nvSpPr>
          <p:cNvPr id="22" name="bd_10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0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4" name="R2_chip10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beef</a:t>
            </a:r>
            <a:endParaRPr lang="en-US" sz="1000" dirty="0"/>
          </a:p>
        </p:txBody>
      </p:sp>
      <p:sp>
        <p:nvSpPr>
          <p:cNvPr id="25" name="bd_10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0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7" name="R3_chip10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lamb (silent b!) /læm/</a:t>
            </a:r>
            <a:endParaRPr lang="en-US" sz="1000" dirty="0"/>
          </a:p>
        </p:txBody>
      </p:sp>
      <p:sp>
        <p:nvSpPr>
          <p:cNvPr id="28" name="bd_10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0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30" name="R4_chip10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chicken</a:t>
            </a:r>
            <a:endParaRPr lang="en-US" sz="1000" dirty="0"/>
          </a:p>
        </p:txBody>
      </p:sp>
      <p:sp>
        <p:nvSpPr>
          <p:cNvPr id="31" name="bd_10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1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3" name="R5_chip11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duck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11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1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1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fruit and vegetables   ·   📖 Vocabulary Bank p.152 · 1 Food (audio 1.2)</a:t>
            </a:r>
            <a:endParaRPr lang="en-US" sz="800" dirty="0"/>
          </a:p>
        </p:txBody>
      </p:sp>
      <p:sp>
        <p:nvSpPr>
          <p:cNvPr id="13" name="pf_122"/>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23"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5" name="cd_124"/>
          <p:cNvSpPr/>
          <p:nvPr/>
        </p:nvSpPr>
        <p:spPr>
          <a:xfrm>
            <a:off x="320040" y="3291840"/>
            <a:ext cx="5029200" cy="1417320"/>
          </a:xfrm>
          <a:prstGeom prst="roundRect">
            <a:avLst>
              <a:gd name="adj" fmla="val 903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25"/>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26"/>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127"/>
          <p:cNvSpPr/>
          <p:nvPr/>
        </p:nvSpPr>
        <p:spPr>
          <a:xfrm>
            <a:off x="886968" y="3767328"/>
            <a:ext cx="4370832" cy="8686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aubergine (US eggplant) · courgette (US zucchini)</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 peach (pesca) ≠ a pear (pera) · a cherry (ciliegia)</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One more: what's 'carciofo'? → artichoke!</a:t>
            </a:r>
            <a:endParaRPr lang="en-US" sz="1100" dirty="0"/>
          </a:p>
        </p:txBody>
      </p:sp>
      <p:sp>
        <p:nvSpPr>
          <p:cNvPr id="19" name="bd_128"/>
          <p:cNvSpPr/>
          <p:nvPr/>
        </p:nvSpPr>
        <p:spPr>
          <a:xfrm>
            <a:off x="849478" y="191109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0" name="bd_129"/>
          <p:cNvSpPr/>
          <p:nvPr/>
        </p:nvSpPr>
        <p:spPr>
          <a:xfrm>
            <a:off x="2012594" y="191109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1" name="bd_130"/>
          <p:cNvSpPr/>
          <p:nvPr/>
        </p:nvSpPr>
        <p:spPr>
          <a:xfrm>
            <a:off x="4581144" y="141503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2" name="bd_131"/>
          <p:cNvSpPr/>
          <p:nvPr/>
        </p:nvSpPr>
        <p:spPr>
          <a:xfrm>
            <a:off x="1673352" y="253517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3" name="bd_132"/>
          <p:cNvSpPr/>
          <p:nvPr/>
        </p:nvSpPr>
        <p:spPr>
          <a:xfrm>
            <a:off x="2981858" y="234315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4" name="bd_133"/>
          <p:cNvSpPr/>
          <p:nvPr/>
        </p:nvSpPr>
        <p:spPr>
          <a:xfrm>
            <a:off x="3999586" y="2487168"/>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5" name="bd_134"/>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135"/>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7" name="R1_chip136"/>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8" name="bd_137"/>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138"/>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30" name="R2_chip139"/>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1" name="bd_140"/>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141"/>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3" name="R3_chip142"/>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4" name="bd_143"/>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144"/>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6" name="R4_chip145"/>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7" name="bd_146"/>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147"/>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39" name="R5_chip148"/>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40" name="bd_149"/>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1" name="q_150"/>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2" name="R6_chip151"/>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5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5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1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1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3" name="cd_16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16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16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6" name="R1_it16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7" name="cd_16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16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6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20" name="R1_it16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gamberi / gamberetti</a:t>
            </a:r>
            <a:endParaRPr lang="en-US" sz="1000" dirty="0"/>
          </a:p>
        </p:txBody>
      </p:sp>
      <p:sp>
        <p:nvSpPr>
          <p:cNvPr id="21" name="cd_17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7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7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4" name="R1_it17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5" name="cd_17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7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7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8" name="R1_it17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29" name="cd_17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7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8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2" name="R1_it18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3" name="cd_18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8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8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6" name="R1_it18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7" name="cd_18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8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8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40" name="R1_it18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1" name="cd_19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9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9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4" name="R1_it19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5" name="cd_19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9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9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8" name="R1_it19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49" name="cd_19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9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20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2" name="R1_it20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3" name="cd_20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20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20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6" name="R1_it20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7" name="cd_20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20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20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60" name="R1_it20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1" name="R1_wc21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21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1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1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1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cibo. Non dirlo!</a:t>
            </a:r>
            <a:endParaRPr lang="en-US" sz="950" dirty="0"/>
          </a:p>
        </p:txBody>
      </p:sp>
      <p:sp>
        <p:nvSpPr>
          <p:cNvPr id="9" name="cmd_21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21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game</a:t>
            </a:r>
            <a:endParaRPr lang="en-US" sz="800" dirty="0"/>
          </a:p>
        </p:txBody>
      </p:sp>
      <p:sp>
        <p:nvSpPr>
          <p:cNvPr id="13" name="cd_22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2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22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food.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22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27"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22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22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1" name="R2_w23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2" name="R3_w23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3" name="R4_w23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4" name="rl_23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23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6" name="R6_w23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7" name="R7_w23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8" name="R8_w23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4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4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è cucinato? Di' la parola.</a:t>
            </a:r>
            <a:endParaRPr lang="en-US" sz="950" dirty="0"/>
          </a:p>
        </p:txBody>
      </p:sp>
      <p:sp>
        <p:nvSpPr>
          <p:cNvPr id="9" name="cmd_244"/>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4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cooking   ·   📖 Vocabulary Bank p.152 · 2 Cooking (audio 1.3)</a:t>
            </a:r>
            <a:endParaRPr lang="en-US" sz="800" dirty="0"/>
          </a:p>
        </p:txBody>
      </p:sp>
      <p:sp>
        <p:nvSpPr>
          <p:cNvPr id="13" name="pf_248"/>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49"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5" name="cd_250"/>
          <p:cNvSpPr/>
          <p:nvPr/>
        </p:nvSpPr>
        <p:spPr>
          <a:xfrm>
            <a:off x="320040" y="3227832"/>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51"/>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52"/>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253"/>
          <p:cNvSpPr/>
          <p:nvPr/>
        </p:nvSpPr>
        <p:spPr>
          <a:xfrm>
            <a:off x="886968" y="3703320"/>
            <a:ext cx="4370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boiled = cooked in hot water: boiled eggs, pasta</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baked = in the oven: bread, cakes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do you like your eggs? – Fried!</a:t>
            </a:r>
            <a:endParaRPr lang="en-US" sz="1100" dirty="0"/>
          </a:p>
        </p:txBody>
      </p:sp>
      <p:sp>
        <p:nvSpPr>
          <p:cNvPr id="19" name="bd_254"/>
          <p:cNvSpPr/>
          <p:nvPr/>
        </p:nvSpPr>
        <p:spPr>
          <a:xfrm>
            <a:off x="704088" y="214664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0" name="bd_255"/>
          <p:cNvSpPr/>
          <p:nvPr/>
        </p:nvSpPr>
        <p:spPr>
          <a:xfrm>
            <a:off x="1818742" y="2054474"/>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1" name="bd_256"/>
          <p:cNvSpPr/>
          <p:nvPr/>
        </p:nvSpPr>
        <p:spPr>
          <a:xfrm>
            <a:off x="3127248" y="200838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2" name="bd_257"/>
          <p:cNvSpPr/>
          <p:nvPr/>
        </p:nvSpPr>
        <p:spPr>
          <a:xfrm>
            <a:off x="4435754" y="1916217"/>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3" name="bd_25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5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5" name="R1_chip26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6" name="bd_261"/>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62"/>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8" name="R2_chip263"/>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29" name="bd_264"/>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65"/>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1" name="R3_chip266"/>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2" name="bd_267"/>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68"/>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4" name="R4_chip269"/>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7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7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parola? Crudo, piccante, fresco…</a:t>
            </a:r>
            <a:endParaRPr lang="en-US" sz="950" dirty="0"/>
          </a:p>
        </p:txBody>
      </p:sp>
      <p:sp>
        <p:nvSpPr>
          <p:cNvPr id="9" name="cmd_276"/>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7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food adjectives   ·   📖 SB p.6 · 1d</a:t>
            </a:r>
            <a:endParaRPr lang="en-US" sz="800" dirty="0"/>
          </a:p>
        </p:txBody>
      </p:sp>
      <p:sp>
        <p:nvSpPr>
          <p:cNvPr id="13" name="pf_280"/>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1"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5" name="cd_282"/>
          <p:cNvSpPr/>
          <p:nvPr/>
        </p:nvSpPr>
        <p:spPr>
          <a:xfrm>
            <a:off x="320040" y="3154680"/>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83"/>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84"/>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285"/>
          <p:cNvSpPr/>
          <p:nvPr/>
        </p:nvSpPr>
        <p:spPr>
          <a:xfrm>
            <a:off x="886968" y="3630168"/>
            <a:ext cx="4370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hot = spicy (piccante) – or warm (caldo)!</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low-fat = with very little fat: low-fat yogurt, cheese</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tinned (UK) = canned (US)</a:t>
            </a:r>
            <a:endParaRPr lang="en-US" sz="1100" dirty="0"/>
          </a:p>
        </p:txBody>
      </p:sp>
      <p:sp>
        <p:nvSpPr>
          <p:cNvPr id="19" name="bd_286"/>
          <p:cNvSpPr/>
          <p:nvPr/>
        </p:nvSpPr>
        <p:spPr>
          <a:xfrm>
            <a:off x="801014" y="192938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0" name="bd_287"/>
          <p:cNvSpPr/>
          <p:nvPr/>
        </p:nvSpPr>
        <p:spPr>
          <a:xfrm>
            <a:off x="1188720" y="2529230"/>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1" name="bd_288"/>
          <p:cNvSpPr/>
          <p:nvPr/>
        </p:nvSpPr>
        <p:spPr>
          <a:xfrm>
            <a:off x="3321101" y="2178101"/>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2" name="bd_289"/>
          <p:cNvSpPr/>
          <p:nvPr/>
        </p:nvSpPr>
        <p:spPr>
          <a:xfrm>
            <a:off x="4338828" y="1856232"/>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3" name="bd_290"/>
          <p:cNvSpPr/>
          <p:nvPr/>
        </p:nvSpPr>
        <p:spPr>
          <a:xfrm>
            <a:off x="4435754" y="249997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4" name="bd_29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29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6" name="R1_chip29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7" name="bd_294"/>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295"/>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29" name="R2_chip296"/>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30" name="bd_297"/>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298"/>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2" name="R3_chip299"/>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3" name="bd_300"/>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301"/>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5" name="R4_chip302"/>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6" name="bd_303"/>
          <p:cNvSpPr/>
          <p:nvPr/>
        </p:nvSpPr>
        <p:spPr>
          <a:xfrm>
            <a:off x="5532120" y="3776472"/>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7" name="q_304"/>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8" name="R5_chip305"/>
          <p:cNvSpPr/>
          <p:nvPr/>
        </p:nvSpPr>
        <p:spPr>
          <a:xfrm>
            <a:off x="5897880" y="4023360"/>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0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1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1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1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3" name="cd_31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1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1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6" name="R1_it31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7" name="cd_32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2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2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20" name="R1_it32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1" name="cd_32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2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2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4" name="R1_it32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5" name="cd_32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2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3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8" name="R1_it33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29" name="cd_33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3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3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2" name="R1_it33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3" name="cd_33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3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3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6" name="R1_it33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forno (pane, dolci)</a:t>
            </a:r>
            <a:endParaRPr lang="en-US" sz="1000" dirty="0"/>
          </a:p>
        </p:txBody>
      </p:sp>
      <p:sp>
        <p:nvSpPr>
          <p:cNvPr id="37" name="cd_34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4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4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40" name="R1_it34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1" name="cd_34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4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4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4" name="R1_it34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5" name="cd_34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4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5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8" name="R1_it35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49" name="cd_35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5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5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2" name="R1_it35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3" name="cd_35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5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5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6" name="R1_it35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7" name="cd_36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6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6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60" name="R1_it36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1" name="cd_364"/>
          <p:cNvSpPr/>
          <p:nvPr/>
        </p:nvSpPr>
        <p:spPr>
          <a:xfrm>
            <a:off x="320040" y="388620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e_365"/>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3" name="en_366"/>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4" name="R1_it367"/>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5" name="cd_368"/>
          <p:cNvSpPr/>
          <p:nvPr/>
        </p:nvSpPr>
        <p:spPr>
          <a:xfrm>
            <a:off x="2487168" y="388620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66" name="e_369"/>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7" name="en_370"/>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8" name="R1_it371"/>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69" name="cd_372"/>
          <p:cNvSpPr/>
          <p:nvPr/>
        </p:nvSpPr>
        <p:spPr>
          <a:xfrm>
            <a:off x="4654296" y="388620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70" name="e_373"/>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1" name="en_374"/>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2" name="R1_it375"/>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 bere meno</a:t>
            </a:r>
            <a:endParaRPr lang="en-US" sz="1000" dirty="0"/>
          </a:p>
        </p:txBody>
      </p:sp>
      <p:sp>
        <p:nvSpPr>
          <p:cNvPr id="73" name="cd_376"/>
          <p:cNvSpPr/>
          <p:nvPr/>
        </p:nvSpPr>
        <p:spPr>
          <a:xfrm>
            <a:off x="6821424" y="388620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74" name="e_377"/>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5" name="en_378"/>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6" name="R1_it379"/>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4"/>
                                        </p:tgtEl>
                                        <p:attrNameLst>
                                          <p:attrName>style.visibility</p:attrName>
                                        </p:attrNameLst>
                                      </p:cBhvr>
                                      <p:to>
                                        <p:strVal val="visible"/>
                                      </p:to>
                                    </p:set>
                                    <p:animEffect transition="in" filter="fade">
                                      <p:cBhvr>
                                        <p:cTn id="43" dur="400"/>
                                        <p:tgtEl>
                                          <p:spTgt spid="64"/>
                                        </p:tgtEl>
                                      </p:cBhvr>
                                    </p:animEffect>
                                  </p:childTnLst>
                                </p:cTn>
                              </p:par>
                              <p:par>
                                <p:cTn id="44" presetID="10" presetClass="entr" presetSubtype="0" fill="hold" nodeType="withEffect">
                                  <p:stCondLst>
                                    <p:cond delay="0"/>
                                  </p:stCondLst>
                                  <p:childTnLst>
                                    <p:set>
                                      <p:cBhvr>
                                        <p:cTn id="45" dur="1" fill="hold">
                                          <p:stCondLst>
                                            <p:cond delay="0"/>
                                          </p:stCondLst>
                                        </p:cTn>
                                        <p:tgtEl>
                                          <p:spTgt spid="68"/>
                                        </p:tgtEl>
                                        <p:attrNameLst>
                                          <p:attrName>style.visibility</p:attrName>
                                        </p:attrNameLst>
                                      </p:cBhvr>
                                      <p:to>
                                        <p:strVal val="visible"/>
                                      </p:to>
                                    </p:set>
                                    <p:animEffect transition="in" filter="fade">
                                      <p:cBhvr>
                                        <p:cTn id="46" dur="400"/>
                                        <p:tgtEl>
                                          <p:spTgt spid="68"/>
                                        </p:tgtEl>
                                      </p:cBhvr>
                                    </p:animEffect>
                                  </p:childTnLst>
                                </p:cTn>
                              </p:par>
                              <p:par>
                                <p:cTn id="47" presetID="10" presetClass="entr" presetSubtype="0" fill="hold" nodeType="withEffect">
                                  <p:stCondLst>
                                    <p:cond delay="0"/>
                                  </p:stCondLst>
                                  <p:childTnLst>
                                    <p:set>
                                      <p:cBhvr>
                                        <p:cTn id="48" dur="1" fill="hold">
                                          <p:stCondLst>
                                            <p:cond delay="0"/>
                                          </p:stCondLst>
                                        </p:cTn>
                                        <p:tgtEl>
                                          <p:spTgt spid="72"/>
                                        </p:tgtEl>
                                        <p:attrNameLst>
                                          <p:attrName>style.visibility</p:attrName>
                                        </p:attrNameLst>
                                      </p:cBhvr>
                                      <p:to>
                                        <p:strVal val="visible"/>
                                      </p:to>
                                    </p:set>
                                    <p:animEffect transition="in" filter="fade">
                                      <p:cBhvr>
                                        <p:cTn id="49" dur="400"/>
                                        <p:tgtEl>
                                          <p:spTgt spid="72"/>
                                        </p:tgtEl>
                                      </p:cBhvr>
                                    </p:animEffect>
                                  </p:childTnLst>
                                </p:cTn>
                              </p:par>
                              <p:par>
                                <p:cTn id="50" presetID="10" presetClass="entr" presetSubtype="0" fill="hold" nodeType="withEffect">
                                  <p:stCondLst>
                                    <p:cond delay="0"/>
                                  </p:stCondLst>
                                  <p:childTnLst>
                                    <p:set>
                                      <p:cBhvr>
                                        <p:cTn id="51" dur="1" fill="hold">
                                          <p:stCondLst>
                                            <p:cond delay="0"/>
                                          </p:stCondLst>
                                        </p:cTn>
                                        <p:tgtEl>
                                          <p:spTgt spid="76"/>
                                        </p:tgtEl>
                                        <p:attrNameLst>
                                          <p:attrName>style.visibility</p:attrName>
                                        </p:attrNameLst>
                                      </p:cBhvr>
                                      <p:to>
                                        <p:strVal val="visible"/>
                                      </p:to>
                                    </p:set>
                                    <p:animEffect transition="in" filter="fade">
                                      <p:cBhvr>
                                        <p:cTn id="52"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8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8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8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8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3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aggettivi. Poi ascolta.</a:t>
            </a:r>
            <a:endParaRPr lang="en-US" sz="950" dirty="0"/>
          </a:p>
        </p:txBody>
      </p:sp>
      <p:sp>
        <p:nvSpPr>
          <p:cNvPr id="9" name="cmd_38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8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8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food adjectives   ·   📖 SB p.6 · 1e · audio 1.5</a:t>
            </a:r>
            <a:endParaRPr lang="en-US" sz="800" dirty="0"/>
          </a:p>
        </p:txBody>
      </p:sp>
      <p:sp>
        <p:nvSpPr>
          <p:cNvPr id="14" name="ap_39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5" name="aw_392"/>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39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94" descr="/home/claude/lls-course/v2/cache/1a1_teen_breakfast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8" name="cd_39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39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39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39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39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3" name="R1_chip40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4" name="gq_40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5" name="R2_chip40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26" name="gq_40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27" name="R3_chip40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28" name="gq_40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29" name="R4_chip40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0" name="gq_40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1" name="R5_chip40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2" name="gq_40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3" name="R6_chip41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1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4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4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Squadre: scrivete le parole. Vince chi è più veloce!</a:t>
            </a:r>
            <a:endParaRPr lang="en-US" sz="950" dirty="0"/>
          </a:p>
        </p:txBody>
      </p:sp>
      <p:sp>
        <p:nvSpPr>
          <p:cNvPr id="9" name="cmd_41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1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game · race</a:t>
            </a:r>
            <a:endParaRPr lang="en-US" sz="800" dirty="0"/>
          </a:p>
        </p:txBody>
      </p:sp>
      <p:sp>
        <p:nvSpPr>
          <p:cNvPr id="13" name="cd_42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2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42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category.</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words – 30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words = 1 point each.</a:t>
            </a:r>
            <a:endParaRPr lang="en-US" sz="1150" dirty="0"/>
          </a:p>
        </p:txBody>
      </p:sp>
      <p:sp>
        <p:nvSpPr>
          <p:cNvPr id="17" name="pf_42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26"/>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1a1-food-race.jpg</a:t>
            </a:r>
            <a:endParaRPr lang="en-US" sz="900" dirty="0"/>
          </a:p>
        </p:txBody>
      </p:sp>
      <p:sp>
        <p:nvSpPr>
          <p:cNvPr id="19" name="bd_42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2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kinds of seafood</a:t>
            </a:r>
            <a:endParaRPr lang="en-US" sz="1100" dirty="0"/>
          </a:p>
        </p:txBody>
      </p:sp>
      <p:sp>
        <p:nvSpPr>
          <p:cNvPr id="21" name="R1_chip42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100" dirty="0"/>
          </a:p>
        </p:txBody>
      </p:sp>
      <p:sp>
        <p:nvSpPr>
          <p:cNvPr id="22" name="bd_43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3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100" dirty="0"/>
          </a:p>
        </p:txBody>
      </p:sp>
      <p:sp>
        <p:nvSpPr>
          <p:cNvPr id="24" name="R2_chip43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100" dirty="0"/>
          </a:p>
        </p:txBody>
      </p:sp>
      <p:sp>
        <p:nvSpPr>
          <p:cNvPr id="25" name="bd_43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3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you can eat raw</a:t>
            </a:r>
            <a:endParaRPr lang="en-US" sz="1100" dirty="0"/>
          </a:p>
        </p:txBody>
      </p:sp>
      <p:sp>
        <p:nvSpPr>
          <p:cNvPr id="27" name="R3_chip43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100" dirty="0"/>
          </a:p>
        </p:txBody>
      </p:sp>
      <p:sp>
        <p:nvSpPr>
          <p:cNvPr id="28" name="bd_43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3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100" dirty="0"/>
          </a:p>
        </p:txBody>
      </p:sp>
      <p:sp>
        <p:nvSpPr>
          <p:cNvPr id="30" name="R4_chip43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peas · prawns</a:t>
            </a:r>
            <a:endParaRPr lang="en-US" sz="1100" dirty="0"/>
          </a:p>
        </p:txBody>
      </p:sp>
      <p:sp>
        <p:nvSpPr>
          <p:cNvPr id="31" name="bd_43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4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100" dirty="0"/>
          </a:p>
        </p:txBody>
      </p:sp>
      <p:sp>
        <p:nvSpPr>
          <p:cNvPr id="33" name="R5_chip44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tuna · red peppers</a:t>
            </a:r>
            <a:endParaRPr lang="en-US" sz="1100" dirty="0"/>
          </a:p>
        </p:txBody>
      </p:sp>
      <p:sp>
        <p:nvSpPr>
          <p:cNvPr id="34" name="bd_44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4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100" dirty="0"/>
          </a:p>
        </p:txBody>
      </p:sp>
      <p:sp>
        <p:nvSpPr>
          <p:cNvPr id="36" name="R6_chip44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4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4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frase. Quale immagine-suono?</a:t>
            </a:r>
            <a:endParaRPr lang="en-US" sz="950" dirty="0"/>
          </a:p>
        </p:txBody>
      </p:sp>
      <p:sp>
        <p:nvSpPr>
          <p:cNvPr id="9" name="cmd_451"/>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cmd_452"/>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45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 short and long vowels   ·   📖 SB p.7 · 2a, 2b · audio 1.6</a:t>
            </a:r>
            <a:endParaRPr lang="en-US" sz="800" dirty="0"/>
          </a:p>
        </p:txBody>
      </p:sp>
      <p:sp>
        <p:nvSpPr>
          <p:cNvPr id="14" name="cd_456"/>
          <p:cNvSpPr/>
          <p:nvPr/>
        </p:nvSpPr>
        <p:spPr>
          <a:xfrm>
            <a:off x="320040" y="1417320"/>
            <a:ext cx="2697480" cy="2679192"/>
          </a:xfrm>
          <a:prstGeom prst="roundRect">
            <a:avLst>
              <a:gd name="adj" fmla="val 47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59"/>
          <p:cNvSpPr/>
          <p:nvPr/>
        </p:nvSpPr>
        <p:spPr>
          <a:xfrm>
            <a:off x="886968" y="1892808"/>
            <a:ext cx="2039112" cy="2130552"/>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60"/>
          <p:cNvSpPr/>
          <p:nvPr/>
        </p:nvSpPr>
        <p:spPr>
          <a:xfrm>
            <a:off x="365760" y="4233672"/>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19" name="aw_461"/>
          <p:cNvSpPr/>
          <p:nvPr/>
        </p:nvSpPr>
        <p:spPr>
          <a:xfrm>
            <a:off x="365760" y="4654296"/>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0" name="lg_462"/>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1" name="lg_463"/>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2" name="lg_464"/>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3" name="lg_465"/>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4" name="lg_466"/>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5" name="lg_467"/>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26" name="lg_468"/>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27" name="lg_469"/>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28" name="sq_470"/>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crab salad</a:t>
            </a:r>
            <a:endParaRPr lang="en-US" sz="1200" dirty="0"/>
          </a:p>
        </p:txBody>
      </p:sp>
      <p:sp>
        <p:nvSpPr>
          <p:cNvPr id="29" name="R1_tag471"/>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0" name="sq_472"/>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grilled squid</a:t>
            </a:r>
            <a:endParaRPr lang="en-US" sz="1200" dirty="0"/>
          </a:p>
        </p:txBody>
      </p:sp>
      <p:sp>
        <p:nvSpPr>
          <p:cNvPr id="31" name="R2_tag473"/>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2" name="sq_474"/>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jar of raspberry jam</a:t>
            </a:r>
            <a:endParaRPr lang="en-US" sz="1200" dirty="0"/>
          </a:p>
        </p:txBody>
      </p:sp>
      <p:sp>
        <p:nvSpPr>
          <p:cNvPr id="33" name="R3_tag475"/>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4" name="sq_476"/>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steamed green beans</a:t>
            </a:r>
            <a:endParaRPr lang="en-US" sz="1200" dirty="0"/>
          </a:p>
        </p:txBody>
      </p:sp>
      <p:sp>
        <p:nvSpPr>
          <p:cNvPr id="35" name="R4_tag477"/>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36" name="sq_478"/>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good cook</a:t>
            </a:r>
            <a:endParaRPr lang="en-US" sz="1200" dirty="0"/>
          </a:p>
        </p:txBody>
      </p:sp>
      <p:sp>
        <p:nvSpPr>
          <p:cNvPr id="37" name="R5_tag479"/>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38" name="sq_480"/>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hot sausages</a:t>
            </a:r>
            <a:endParaRPr lang="en-US" sz="1200" dirty="0"/>
          </a:p>
        </p:txBody>
      </p:sp>
      <p:sp>
        <p:nvSpPr>
          <p:cNvPr id="39" name="R6_tag48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0" name="sq_482"/>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raw pork</a:t>
            </a:r>
            <a:endParaRPr lang="en-US" sz="1200" dirty="0"/>
          </a:p>
        </p:txBody>
      </p:sp>
      <p:sp>
        <p:nvSpPr>
          <p:cNvPr id="41" name="R7_tag483"/>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2" name="sq_484"/>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tuna with beetroot</a:t>
            </a:r>
            <a:endParaRPr lang="en-US" sz="1200" dirty="0"/>
          </a:p>
        </p:txBody>
      </p:sp>
      <p:sp>
        <p:nvSpPr>
          <p:cNvPr id="43" name="R8_tag485"/>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8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9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4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il suono diverso. Veloci!</a:t>
            </a:r>
            <a:endParaRPr lang="en-US" sz="950" dirty="0"/>
          </a:p>
        </p:txBody>
      </p:sp>
      <p:sp>
        <p:nvSpPr>
          <p:cNvPr id="9" name="cmd_49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93"/>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49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4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game</a:t>
            </a:r>
            <a:endParaRPr lang="en-US" sz="800" dirty="0"/>
          </a:p>
        </p:txBody>
      </p:sp>
      <p:sp>
        <p:nvSpPr>
          <p:cNvPr id="14" name="cd_49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0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Say the four words aloud.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word with a different vowel sound.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team to say it = 1 point.</a:t>
            </a:r>
            <a:endParaRPr lang="en-US" sz="1150" dirty="0"/>
          </a:p>
        </p:txBody>
      </p:sp>
      <p:sp>
        <p:nvSpPr>
          <p:cNvPr id="18" name="st_50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9" name="bd_50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0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beef · peach · squid · beans</a:t>
            </a:r>
            <a:endParaRPr lang="en-US" sz="1100" dirty="0"/>
          </a:p>
        </p:txBody>
      </p:sp>
      <p:sp>
        <p:nvSpPr>
          <p:cNvPr id="21" name="R1_chip50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/ɪ/ (others /iː/)</a:t>
            </a:r>
            <a:endParaRPr lang="en-US" sz="1100" dirty="0"/>
          </a:p>
        </p:txBody>
      </p:sp>
      <p:sp>
        <p:nvSpPr>
          <p:cNvPr id="22" name="bd_50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0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crab · lamb · jam · jar</a:t>
            </a:r>
            <a:endParaRPr lang="en-US" sz="1100" dirty="0"/>
          </a:p>
        </p:txBody>
      </p:sp>
      <p:sp>
        <p:nvSpPr>
          <p:cNvPr id="24" name="R2_chip50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/ɑː/ (others /æ/)</a:t>
            </a:r>
            <a:endParaRPr lang="en-US" sz="1100" dirty="0"/>
          </a:p>
        </p:txBody>
      </p:sp>
      <p:sp>
        <p:nvSpPr>
          <p:cNvPr id="25" name="bd_50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0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pork · prawns · raw · hot</a:t>
            </a:r>
            <a:endParaRPr lang="en-US" sz="1100" dirty="0"/>
          </a:p>
        </p:txBody>
      </p:sp>
      <p:sp>
        <p:nvSpPr>
          <p:cNvPr id="27" name="R3_chip51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/ɒ/ (others /ɔː/)</a:t>
            </a:r>
            <a:endParaRPr lang="en-US" sz="1100" dirty="0"/>
          </a:p>
        </p:txBody>
      </p:sp>
      <p:sp>
        <p:nvSpPr>
          <p:cNvPr id="28" name="bd_51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1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chicken · grilled · fish · steamed</a:t>
            </a:r>
            <a:endParaRPr lang="en-US" sz="1100" dirty="0"/>
          </a:p>
        </p:txBody>
      </p:sp>
      <p:sp>
        <p:nvSpPr>
          <p:cNvPr id="30" name="R4_chip51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/iː/ (others /ɪ/)</a:t>
            </a:r>
            <a:endParaRPr lang="en-US" sz="1100" dirty="0"/>
          </a:p>
        </p:txBody>
      </p:sp>
      <p:sp>
        <p:nvSpPr>
          <p:cNvPr id="31" name="bd_51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1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tuna · fruit · boot · good</a:t>
            </a:r>
            <a:endParaRPr lang="en-US" sz="1100" dirty="0"/>
          </a:p>
        </p:txBody>
      </p:sp>
      <p:sp>
        <p:nvSpPr>
          <p:cNvPr id="33" name="R5_chip51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good /ʊ/ (others /uː/)</a:t>
            </a:r>
            <a:endParaRPr lang="en-US" sz="1100" dirty="0"/>
          </a:p>
        </p:txBody>
      </p:sp>
      <p:sp>
        <p:nvSpPr>
          <p:cNvPr id="34" name="bd_51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1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 · cookie · bull · food</a:t>
            </a:r>
            <a:endParaRPr lang="en-US" sz="1100" dirty="0"/>
          </a:p>
        </p:txBody>
      </p:sp>
      <p:sp>
        <p:nvSpPr>
          <p:cNvPr id="36" name="R6_chip51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food /uː/ (others /ʊ/)</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2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2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52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5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52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52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5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key words first   ·   📖 SB p.7 · 3a</a:t>
            </a:r>
            <a:endParaRPr lang="en-US" sz="800" dirty="0"/>
          </a:p>
        </p:txBody>
      </p:sp>
      <p:sp>
        <p:nvSpPr>
          <p:cNvPr id="13" name="cd_53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3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533"/>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snack → a little food between meals · uno spuntino</a:t>
            </a:r>
            <a:endParaRPr lang="en-US" sz="1050" dirty="0"/>
          </a:p>
        </p:txBody>
      </p:sp>
      <p:sp>
        <p:nvSpPr>
          <p:cNvPr id="17" name="pf_53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35" descr="/home/claude/lls-course/v2/cache/1a1_takeaw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536"/>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537"/>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1" name="R1_chip538"/>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1000" dirty="0"/>
          </a:p>
        </p:txBody>
      </p:sp>
      <p:sp>
        <p:nvSpPr>
          <p:cNvPr id="22" name="bd_539"/>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540"/>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4" name="R2_chip541"/>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1000" dirty="0"/>
          </a:p>
        </p:txBody>
      </p:sp>
      <p:sp>
        <p:nvSpPr>
          <p:cNvPr id="25" name="bd_542"/>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543"/>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7" name="R3_chip544"/>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1000" dirty="0"/>
          </a:p>
        </p:txBody>
      </p:sp>
      <p:sp>
        <p:nvSpPr>
          <p:cNvPr id="28" name="bd_545"/>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546"/>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30" name="R4_chip547"/>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1000" dirty="0"/>
          </a:p>
        </p:txBody>
      </p:sp>
      <p:sp>
        <p:nvSpPr>
          <p:cNvPr id="31" name="bd_548"/>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549"/>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3" name="R5_chip550"/>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1000" dirty="0"/>
          </a:p>
        </p:txBody>
      </p:sp>
      <p:sp>
        <p:nvSpPr>
          <p:cNvPr id="34" name="bd_551"/>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552"/>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6" name="R6_chip553"/>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1000" dirty="0"/>
          </a:p>
        </p:txBody>
      </p:sp>
      <p:sp>
        <p:nvSpPr>
          <p:cNvPr id="37" name="bd_554"/>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555"/>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39" name="R7_chip556"/>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1000" dirty="0"/>
          </a:p>
        </p:txBody>
      </p:sp>
      <p:sp>
        <p:nvSpPr>
          <p:cNvPr id="40" name="bd_557"/>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558"/>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2" name="R8_chip559"/>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6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6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questionnaire.</a:t>
            </a:r>
            <a:endParaRPr lang="en-US" sz="1250" dirty="0"/>
          </a:p>
        </p:txBody>
      </p:sp>
      <p:sp>
        <p:nvSpPr>
          <p:cNvPr id="8" name="insIT_5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il questionario.</a:t>
            </a:r>
            <a:endParaRPr lang="en-US" sz="950" dirty="0"/>
          </a:p>
        </p:txBody>
      </p:sp>
      <p:sp>
        <p:nvSpPr>
          <p:cNvPr id="9" name="cmd_56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56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56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5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&amp; speaking · the questionnaire   ·   📖 SB p.7 · 3a · Your food profile</a:t>
            </a:r>
            <a:endParaRPr lang="en-US" sz="800" dirty="0"/>
          </a:p>
        </p:txBody>
      </p:sp>
      <p:sp>
        <p:nvSpPr>
          <p:cNvPr id="14" name="cd_57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72"/>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6" name="ln_57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74"/>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7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 Give examples.</a:t>
            </a:r>
            <a:endParaRPr lang="en-US" sz="1150" dirty="0"/>
          </a:p>
        </p:txBody>
      </p:sp>
      <p:sp>
        <p:nvSpPr>
          <p:cNvPr id="19" name="R2_lnA576"/>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 Give examples.</a:t>
            </a:r>
            <a:endParaRPr lang="en-US" sz="1150" dirty="0"/>
          </a:p>
        </p:txBody>
      </p:sp>
      <p:sp>
        <p:nvSpPr>
          <p:cNvPr id="20" name="ln_577"/>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1" name="R3_lnA578"/>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2" name="ln_579"/>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usually eat…  a to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when you're feeling sad  b when you're tired and don't want to cook?</a:t>
            </a:r>
            <a:endParaRPr lang="en-US" sz="1150" dirty="0"/>
          </a:p>
        </p:txBody>
      </p:sp>
      <p:sp>
        <p:nvSpPr>
          <p:cNvPr id="23" name="R4_lnA580"/>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usually eat…  a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150" dirty="0">
                <a:solidFill>
                  <a:srgbClr val="1B2559"/>
                </a:solidFill>
                <a:latin typeface="Georgia" pitchFamily="34" charset="0"/>
                <a:ea typeface="Georgia" pitchFamily="34" charset="-122"/>
                <a:cs typeface="Georgia" pitchFamily="34" charset="-120"/>
              </a:rPr>
              <a:t> when you're feeling sad  b when you're tired and don't want to cook?</a:t>
            </a:r>
            <a:endParaRPr lang="en-US" sz="1150" dirty="0"/>
          </a:p>
        </p:txBody>
      </p:sp>
      <p:sp>
        <p:nvSpPr>
          <p:cNvPr id="24" name="ln_581"/>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is there any food or drink that you really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5_lnA582"/>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is there any food or drink that you really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ln_583"/>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6  Is there any food or drink that you couldn't live without? How often do you eat / drink it?</a:t>
            </a:r>
            <a:endParaRPr lang="en-US" sz="1150" dirty="0"/>
          </a:p>
        </p:txBody>
      </p:sp>
      <p:sp>
        <p:nvSpPr>
          <p:cNvPr id="27" name="pf_58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85" descr="/home/claude/lls-course/v2/cache/1a1_comfort_food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9" name="cd_58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58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58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589"/>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8 words in 5 questions</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No looking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9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9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5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A quale domanda rispondono?</a:t>
            </a:r>
            <a:endParaRPr lang="en-US" sz="950" dirty="0"/>
          </a:p>
        </p:txBody>
      </p:sp>
      <p:sp>
        <p:nvSpPr>
          <p:cNvPr id="9" name="cmd_59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59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5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gist   ·   📖 SB p.7 · 3b · audio 1.7</a:t>
            </a:r>
            <a:endParaRPr lang="en-US" sz="800" dirty="0"/>
          </a:p>
        </p:txBody>
      </p:sp>
      <p:sp>
        <p:nvSpPr>
          <p:cNvPr id="13" name="ap_60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4" name="aw_601"/>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5" name="pf_60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03" descr="/home/claude/lls-course/v2/cache/1a1_vox_pop_jpg_407x297_31.png">    </p:cNvPr>
          <p:cNvPicPr>
            <a:picLocks noChangeAspect="1"/>
          </p:cNvPicPr>
          <p:nvPr/>
        </p:nvPicPr>
        <p:blipFill>
          <a:blip r:embed="rId5"/>
          <a:stretch>
            <a:fillRect/>
          </a:stretch>
        </p:blipFill>
        <p:spPr>
          <a:xfrm rot="-90000">
            <a:off x="457200" y="2103120"/>
            <a:ext cx="1691640" cy="1234440"/>
          </a:xfrm>
          <a:prstGeom prst="rect">
            <a:avLst/>
          </a:prstGeom>
        </p:spPr>
      </p:pic>
      <p:sp>
        <p:nvSpPr>
          <p:cNvPr id="17" name="bd_604"/>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60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06" descr="/home/claude/lls-course/v2/cache/1a1_comfort_food_jpg_407x297_31.png">    </p:cNvPr>
          <p:cNvPicPr>
            <a:picLocks noChangeAspect="1"/>
          </p:cNvPicPr>
          <p:nvPr/>
        </p:nvPicPr>
        <p:blipFill>
          <a:blip r:embed="rId6"/>
          <a:stretch>
            <a:fillRect/>
          </a:stretch>
        </p:blipFill>
        <p:spPr>
          <a:xfrm rot="90000">
            <a:off x="2331720" y="2103120"/>
            <a:ext cx="1691640" cy="1234440"/>
          </a:xfrm>
          <a:prstGeom prst="rect">
            <a:avLst/>
          </a:prstGeom>
        </p:spPr>
      </p:pic>
      <p:sp>
        <p:nvSpPr>
          <p:cNvPr id="20" name="bd_607"/>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pf_608"/>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609" descr="/home/claude/lls-course/v2/cache/1a1_takeaway_jpg_407x297_31.png">    </p:cNvPr>
          <p:cNvPicPr>
            <a:picLocks noChangeAspect="1"/>
          </p:cNvPicPr>
          <p:nvPr/>
        </p:nvPicPr>
        <p:blipFill>
          <a:blip r:embed="rId7"/>
          <a:stretch>
            <a:fillRect/>
          </a:stretch>
        </p:blipFill>
        <p:spPr>
          <a:xfrm rot="-90000">
            <a:off x="4206240" y="2103120"/>
            <a:ext cx="1691640" cy="1234440"/>
          </a:xfrm>
          <a:prstGeom prst="rect">
            <a:avLst/>
          </a:prstGeom>
        </p:spPr>
      </p:pic>
      <p:sp>
        <p:nvSpPr>
          <p:cNvPr id="23" name="bd_610"/>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4" name="cd_61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5" name="ii_61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61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614"/>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Before you listen: look at A–C. What are they eating?</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Which question (1–6) is each person answering?</a:t>
            </a:r>
            <a:endParaRPr lang="en-US" sz="1100" dirty="0"/>
          </a:p>
        </p:txBody>
      </p:sp>
      <p:sp>
        <p:nvSpPr>
          <p:cNvPr id="28" name="lq_615"/>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29" name="R1_chip616"/>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0" name="lq_617"/>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1" name="R2_chip618"/>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 · can't live without</a:t>
            </a:r>
            <a:endParaRPr lang="en-US" sz="1050" dirty="0"/>
          </a:p>
        </p:txBody>
      </p:sp>
      <p:sp>
        <p:nvSpPr>
          <p:cNvPr id="32" name="lq_619"/>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3" name="R3_chip620"/>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2c · hot / spicy food</a:t>
            </a:r>
            <a:endParaRPr lang="en-US" sz="1050" dirty="0"/>
          </a:p>
        </p:txBody>
      </p:sp>
      <p:sp>
        <p:nvSpPr>
          <p:cNvPr id="34" name="lq_621"/>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35" name="R4_chip622"/>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 · cheer yourself up</a:t>
            </a:r>
            <a:endParaRPr lang="en-US" sz="1050" dirty="0"/>
          </a:p>
        </p:txBody>
      </p:sp>
      <p:sp>
        <p:nvSpPr>
          <p:cNvPr id="36" name="lq_623"/>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37" name="R5_chip624"/>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50" dirty="0"/>
          </a:p>
        </p:txBody>
      </p:sp>
      <p:sp>
        <p:nvSpPr>
          <p:cNvPr id="38" name="lq_625"/>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39" name="R6_chip626"/>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2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2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3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Che cibo? Indovina, poi riascolta.</a:t>
            </a:r>
            <a:endParaRPr lang="en-US" sz="950" dirty="0"/>
          </a:p>
        </p:txBody>
      </p:sp>
      <p:sp>
        <p:nvSpPr>
          <p:cNvPr id="9" name="cmd_63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634"/>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63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detail   ·   📖 SB p.7 · 3c · audio 1.7</a:t>
            </a:r>
            <a:endParaRPr lang="en-US" sz="800" dirty="0"/>
          </a:p>
        </p:txBody>
      </p:sp>
      <p:sp>
        <p:nvSpPr>
          <p:cNvPr id="14" name="ap_63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5" name="aw_639"/>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41" descr="/home/claude/lls-course/v2/cache/1a1_vox_pop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8" name="cd_6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4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3" name="R1_chip64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4" name="gq_64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5" name="R2_chip64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26" name="gq_65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27" name="R3_chip65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28" name="gq_65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29" name="R4_chip65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0" name="gq_65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1" name="R5_chip65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2" name="gq_65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3" name="R6_chip65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5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6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6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6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Trovate 3 cose in comune!</a:t>
            </a:r>
            <a:endParaRPr lang="en-US" sz="950" dirty="0"/>
          </a:p>
        </p:txBody>
      </p:sp>
      <p:sp>
        <p:nvSpPr>
          <p:cNvPr id="9" name="cmd_664"/>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6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6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Speaking · your food profile   ·   📖 SB p.7 · 3d</a:t>
            </a:r>
            <a:endParaRPr lang="en-US" sz="800" dirty="0"/>
          </a:p>
        </p:txBody>
      </p:sp>
      <p:sp>
        <p:nvSpPr>
          <p:cNvPr id="13" name="pf_66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69" descr="/home/claude/lls-course/v2/cache/spare_1a1_fast_f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67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67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7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73"/>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 / Not me!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kind? How often?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Both of us love… / Neither of us likes…</a:t>
            </a:r>
            <a:endParaRPr lang="en-US" sz="1050" dirty="0"/>
          </a:p>
        </p:txBody>
      </p:sp>
      <p:sp>
        <p:nvSpPr>
          <p:cNvPr id="19" name="R1_qb67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7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Spicy salami! And tuna and tomato in a sandwich.</a:t>
            </a:r>
            <a:endParaRPr lang="en-US" sz="1250" dirty="0"/>
          </a:p>
        </p:txBody>
      </p:sp>
      <p:sp>
        <p:nvSpPr>
          <p:cNvPr id="21" name="R2_qb67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7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we get a pizza takeaway on Saturdays.</a:t>
            </a:r>
            <a:endParaRPr lang="en-US" sz="1250" dirty="0"/>
          </a:p>
        </p:txBody>
      </p:sp>
      <p:sp>
        <p:nvSpPr>
          <p:cNvPr id="23" name="R3_qb67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7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but my sister is allergic to prawns.</a:t>
            </a:r>
            <a:endParaRPr lang="en-US" sz="1250" dirty="0"/>
          </a:p>
        </p:txBody>
      </p:sp>
      <p:sp>
        <p:nvSpPr>
          <p:cNvPr id="25" name="R4_qb68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81"/>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Ice cream – or my mum's arancine!</a:t>
            </a:r>
            <a:endParaRPr lang="en-US" sz="1250" dirty="0"/>
          </a:p>
        </p:txBody>
      </p:sp>
      <p:pic>
        <p:nvPicPr>
          <p:cNvPr id="27" name="R4_th682"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8" name="R5_qb68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84"/>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Fresh fish! It's never the same abroad.</a:t>
            </a:r>
            <a:endParaRPr lang="en-US" sz="1250" dirty="0"/>
          </a:p>
        </p:txBody>
      </p:sp>
      <p:sp>
        <p:nvSpPr>
          <p:cNvPr id="30" name="R6_qb685"/>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686"/>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Pasta! I eat it almost every day.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8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8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69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9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Guess the times!</a:t>
            </a:r>
            <a:endParaRPr lang="en-US" sz="1250" dirty="0"/>
          </a:p>
        </p:txBody>
      </p:sp>
      <p:sp>
        <p:nvSpPr>
          <p:cNvPr id="8" name="insIT_6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Indovina gli orari!</a:t>
            </a:r>
            <a:endParaRPr lang="en-US" sz="950" dirty="0"/>
          </a:p>
        </p:txBody>
      </p:sp>
      <p:sp>
        <p:nvSpPr>
          <p:cNvPr id="9" name="cmd_693"/>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694"/>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6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morning and lunch   ·   📖 SB p.7 · 4a, 4b · article adapted</a:t>
            </a:r>
            <a:endParaRPr lang="en-US" sz="800" dirty="0"/>
          </a:p>
        </p:txBody>
      </p:sp>
      <p:sp>
        <p:nvSpPr>
          <p:cNvPr id="14" name="cd_69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699"/>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Eat and drink – but at the right time!</a:t>
            </a:r>
            <a:endParaRPr lang="en-US" sz="1700" dirty="0"/>
          </a:p>
        </p:txBody>
      </p:sp>
      <p:sp>
        <p:nvSpPr>
          <p:cNvPr id="16" name="ln_70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150" dirty="0"/>
          </a:p>
        </p:txBody>
      </p:sp>
      <p:sp>
        <p:nvSpPr>
          <p:cNvPr id="17" name="ln_70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2EB872"/>
                </a:solidFill>
                <a:latin typeface="Georgia" pitchFamily="34" charset="0"/>
                <a:ea typeface="Georgia" pitchFamily="34" charset="-122"/>
                <a:cs typeface="Georgia" pitchFamily="34" charset="-120"/>
              </a:rPr>
              <a:t> (1) _____ </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8" name="R1_lnA70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9" name="ln_70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0" name="R2_lnA70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1" name="ln_70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2" name="R3_lnA70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3" name="pf_70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08" descr="/home/claude/lls-course/v2/cache/1a1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70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71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71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712"/>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alert = awake · attento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digest = digerire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1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1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1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71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Guess the times!</a:t>
            </a:r>
            <a:endParaRPr lang="en-US" sz="1250" dirty="0"/>
          </a:p>
        </p:txBody>
      </p:sp>
      <p:sp>
        <p:nvSpPr>
          <p:cNvPr id="8" name="insIT_7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Indovina gli orari!</a:t>
            </a:r>
            <a:endParaRPr lang="en-US" sz="950" dirty="0"/>
          </a:p>
        </p:txBody>
      </p:sp>
      <p:sp>
        <p:nvSpPr>
          <p:cNvPr id="9" name="cmd_71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720"/>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72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7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evening and more   ·   📖 SB p.7 · 4b, 4c · article adapted</a:t>
            </a:r>
            <a:endParaRPr lang="en-US" sz="800" dirty="0"/>
          </a:p>
        </p:txBody>
      </p:sp>
      <p:sp>
        <p:nvSpPr>
          <p:cNvPr id="14" name="cd_72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725"/>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the rest of the day</a:t>
            </a:r>
            <a:endParaRPr lang="en-US" sz="1700" dirty="0"/>
          </a:p>
        </p:txBody>
      </p:sp>
      <p:sp>
        <p:nvSpPr>
          <p:cNvPr id="16" name="ln_72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 of smell and taste are at their best at this time – but light.</a:t>
            </a:r>
            <a:endParaRPr lang="en-US" sz="1150" dirty="0"/>
          </a:p>
        </p:txBody>
      </p:sp>
      <p:sp>
        <p:nvSpPr>
          <p:cNvPr id="17" name="R1_lnA72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 of smell and taste are at their best at this time – but light.</a:t>
            </a:r>
            <a:endParaRPr lang="en-US" sz="1150" dirty="0"/>
          </a:p>
        </p:txBody>
      </p:sp>
      <p:sp>
        <p:nvSpPr>
          <p:cNvPr id="18" name="ln_72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yoga or go for a walk before breakfast.</a:t>
            </a:r>
            <a:endParaRPr lang="en-US" sz="1150" dirty="0"/>
          </a:p>
        </p:txBody>
      </p:sp>
      <p:sp>
        <p:nvSpPr>
          <p:cNvPr id="19" name="ln_72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0" name="R2_lnA73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1" name="ln_73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2" name="R3_lnA73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3" name="ln_73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4" name="R4_lnA73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5" name="pf_73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736" descr="/home/claude/lls-course/v2/cache/1a1_late_dinn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73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73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73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740"/>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light = not heavy · leggero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lungs = polmoni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4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4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4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4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47"/>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7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Exit · what can you remember?</a:t>
            </a:r>
            <a:endParaRPr lang="en-US" sz="800" dirty="0"/>
          </a:p>
        </p:txBody>
      </p:sp>
      <p:sp>
        <p:nvSpPr>
          <p:cNvPr id="12" name="bd_75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75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seafood or meat words (no looking!)</a:t>
            </a:r>
            <a:endParaRPr lang="en-US" sz="1400" dirty="0"/>
          </a:p>
        </p:txBody>
      </p:sp>
      <p:sp>
        <p:nvSpPr>
          <p:cNvPr id="14" name="bd_75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75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cook – and a food for each</a:t>
            </a:r>
            <a:endParaRPr lang="en-US" sz="1400" dirty="0"/>
          </a:p>
        </p:txBody>
      </p:sp>
      <p:sp>
        <p:nvSpPr>
          <p:cNvPr id="16" name="bd_75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75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best time for coffee – and why?</a:t>
            </a:r>
            <a:endParaRPr lang="en-US" sz="1400" dirty="0"/>
          </a:p>
        </p:txBody>
      </p:sp>
      <p:sp>
        <p:nvSpPr>
          <p:cNvPr id="18" name="cd_75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75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5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759"/>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1a–1g, 2a, 2c</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p.152: cover and test yourself</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1A-1 in the LLS app</a:t>
            </a:r>
            <a:endParaRPr lang="en-US" sz="1150" dirty="0"/>
          </a:p>
        </p:txBody>
      </p:sp>
      <p:sp>
        <p:nvSpPr>
          <p:cNvPr id="22" name="st_76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6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6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764"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765"/>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7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citazioni. Scegli la preferita!</a:t>
            </a:r>
            <a:endParaRPr lang="en-US" sz="950" dirty="0"/>
          </a:p>
        </p:txBody>
      </p:sp>
      <p:sp>
        <p:nvSpPr>
          <p:cNvPr id="9" name="cmd_76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76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76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7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food quotes   ·   📖 SB p.6 · 1a, 1b</a:t>
            </a:r>
            <a:endParaRPr lang="en-US" sz="800" dirty="0"/>
          </a:p>
        </p:txBody>
      </p:sp>
      <p:sp>
        <p:nvSpPr>
          <p:cNvPr id="14" name="st_77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7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74"/>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Food quotes from Pinterest</a:t>
            </a:r>
            <a:endParaRPr lang="en-US" sz="1700" dirty="0"/>
          </a:p>
        </p:txBody>
      </p:sp>
      <p:sp>
        <p:nvSpPr>
          <p:cNvPr id="17" name="ln_77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8" name="R1_lnA776"/>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9" name="ln_77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0" name="R2_lnA778"/>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1" name="ln_779"/>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2" name="R3_lnA780"/>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3" name="ln_7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4" name="R4_lnA78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5" name="ln_78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6" name="R5_lnA784"/>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7" name="ln_785"/>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8" name="R6_lnA786"/>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9" name="pf_78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788" descr="/home/claude/lls-course/v2/cache/spare_1a2_cooking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31" name="cd_78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2" name="ii_79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79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792"/>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cake · cookie · fruit salad</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onions · pasta · pear · tomato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9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9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79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9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7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alle domande sull'articolo.</a:t>
            </a:r>
            <a:endParaRPr lang="en-US" sz="950" dirty="0"/>
          </a:p>
        </p:txBody>
      </p:sp>
      <p:sp>
        <p:nvSpPr>
          <p:cNvPr id="9" name="cmd_79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meta_8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8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reading for detail   ·   📖 SB p.7 · 4c</a:t>
            </a:r>
            <a:endParaRPr lang="en-US" sz="800" dirty="0"/>
          </a:p>
        </p:txBody>
      </p:sp>
      <p:sp>
        <p:nvSpPr>
          <p:cNvPr id="13" name="st_80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804"/>
          <p:cNvSpPr/>
          <p:nvPr/>
        </p:nvSpPr>
        <p:spPr>
          <a:xfrm rot="-90000">
            <a:off x="365760" y="1371600"/>
            <a:ext cx="2606040" cy="3200400"/>
          </a:xfrm>
          <a:prstGeom prst="roundRect">
            <a:avLst>
              <a:gd name="adj" fmla="val 59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805" descr="/home/claude/lls-course/v2/cache/1a1_afternoon_run_jpg_605x748_31.png">    </p:cNvPr>
          <p:cNvPicPr>
            <a:picLocks noChangeAspect="1"/>
          </p:cNvPicPr>
          <p:nvPr/>
        </p:nvPicPr>
        <p:blipFill>
          <a:blip r:embed="rId5"/>
          <a:stretch>
            <a:fillRect/>
          </a:stretch>
        </p:blipFill>
        <p:spPr>
          <a:xfrm rot="-90000">
            <a:off x="411480" y="1417320"/>
            <a:ext cx="2514600" cy="3108960"/>
          </a:xfrm>
          <a:prstGeom prst="rect">
            <a:avLst/>
          </a:prstGeom>
        </p:spPr>
      </p:pic>
      <p:sp>
        <p:nvSpPr>
          <p:cNvPr id="16" name="bd_806"/>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7" name="q_807"/>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18" name="R1_chip808"/>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00" dirty="0"/>
          </a:p>
        </p:txBody>
      </p:sp>
      <p:sp>
        <p:nvSpPr>
          <p:cNvPr id="19" name="bd_809"/>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0" name="q_810"/>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1" name="R2_chip811"/>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00" dirty="0"/>
          </a:p>
        </p:txBody>
      </p:sp>
      <p:sp>
        <p:nvSpPr>
          <p:cNvPr id="22" name="bd_812"/>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q_813"/>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4" name="R3_chip814"/>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00" dirty="0"/>
          </a:p>
        </p:txBody>
      </p:sp>
      <p:sp>
        <p:nvSpPr>
          <p:cNvPr id="25" name="bd_815"/>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q_816"/>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27" name="R4_chip817"/>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our sense of smell and taste are at their best</a:t>
            </a:r>
            <a:endParaRPr lang="en-US" sz="1000" dirty="0"/>
          </a:p>
        </p:txBody>
      </p:sp>
      <p:sp>
        <p:nvSpPr>
          <p:cNvPr id="28" name="bd_818"/>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q_819"/>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0" name="R5_chip820"/>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00" dirty="0"/>
          </a:p>
        </p:txBody>
      </p:sp>
      <p:sp>
        <p:nvSpPr>
          <p:cNvPr id="31" name="bd_821"/>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q_822"/>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3" name="R6_chip823"/>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2026-10-08T08:17:34Z</dcterms:created>
  <dcterms:modified xsi:type="dcterms:W3CDTF">2026-10-08T08:17:34Z</dcterms:modified>
</cp:coreProperties>
</file>