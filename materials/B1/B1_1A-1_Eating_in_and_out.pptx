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The class says the Italian for each word, then ONE click shows all the Italian.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then ONE click shows it all.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game · race (3 min)
GAME 2 (3 min).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(in the book the target letters are pink).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game (3 min)
GAME 3 (3 min).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say which word goes in each gap (from the last slide – no looking back!).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read the REASONS in the article and guess the best times for 1–3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reasons, guess 4–7,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food quotes (3 min)
EXTRA (3 min, if there's time – or as the warmer for 1A part 2). SB 1a: a quote = una citazione. Pairs complete the six quotes with the words in the Remember box.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get to know your new classmates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name food and ways to cook it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hear short and long vowel sounds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people talking about food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the best times to eat</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Il compagno chiede: Perché?</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Warmer · getting to know you   ·   📖 Adapted from TG Communicative photocopiable 'Getting to know you' p.176–177</a:t>
            </a:r>
            <a:endParaRPr lang="en-US" sz="800" dirty="0"/>
          </a:p>
        </p:txBody>
      </p:sp>
      <p:sp>
        <p:nvSpPr>
          <p:cNvPr id="14" name="pf_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Why did you write…?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because…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Tell me more!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do you spell that?</a:t>
            </a:r>
            <a:endParaRPr lang="en-US" sz="1050" dirty="0"/>
          </a:p>
        </p:txBody>
      </p:sp>
      <p:sp>
        <p:nvSpPr>
          <p:cNvPr id="20" name="R1_qb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"2015" → Why did you write 2015? – I started at primary school.</a:t>
            </a:r>
            <a:endParaRPr lang="en-US" sz="1250" dirty="0"/>
          </a:p>
        </p:txBody>
      </p:sp>
      <p:sp>
        <p:nvSpPr>
          <p:cNvPr id="22" name="R2_qb3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"arancine" → I think it's because you eat them every Sunday!</a:t>
            </a:r>
            <a:endParaRPr lang="en-US" sz="1250" dirty="0"/>
          </a:p>
        </p:txBody>
      </p:sp>
      <p:sp>
        <p:nvSpPr>
          <p:cNvPr id="24" name="R3_qb3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"broccoli" → Really? Why? – I hate the smell!</a:t>
            </a:r>
            <a:endParaRPr lang="en-US" sz="1250" dirty="0"/>
          </a:p>
        </p:txBody>
      </p:sp>
      <p:sp>
        <p:nvSpPr>
          <p:cNvPr id="26" name="R4_qb4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"football, TikTok" → How often do you play football?</a:t>
            </a:r>
            <a:endParaRPr lang="en-US" sz="1250" dirty="0"/>
          </a:p>
        </p:txBody>
      </p:sp>
      <p:sp>
        <p:nvSpPr>
          <p:cNvPr id="28" name="R5_qb4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house" → Why? – Her pasta is the best!</a:t>
            </a:r>
            <a:endParaRPr lang="en-US" sz="1250" dirty="0"/>
          </a:p>
        </p:txBody>
      </p:sp>
      <p:sp>
        <p:nvSpPr>
          <p:cNvPr id="30" name="R6_qb4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4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fish and seafood   ·   📖 SB p.6 · 1c · Vocabulary Bank p.152 · 1 Food (audio 1.2)</a:t>
            </a:r>
            <a:endParaRPr lang="en-US" sz="800" dirty="0"/>
          </a:p>
        </p:txBody>
      </p:sp>
      <p:sp>
        <p:nvSpPr>
          <p:cNvPr id="14" name="pf_57"/>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59"/>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60"/>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61"/>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62"/>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63"/>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64"/>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4" name="R1_chip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5" name="bd_6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7" name="R2_chip7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8" name="bd_7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7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30" name="R3_chip7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1" name="bd_7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7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3" name="R4_chip7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4" name="bd_7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7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6" name="R5_chip7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7" name="bd_8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8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9" name="R6_chip8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animale? Di' il nome della carne.</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meat   ·   📖 Vocabulary Bank p.152 · 1 Food (audio 1.2)</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pig → pork  (the animal is pig, the MEAT is pork)</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fruit and vegetables   ·   📖 Vocabulary Bank p.152 · 1 Food (audio 1.2)</a:t>
            </a:r>
            <a:endParaRPr lang="en-US" sz="800" dirty="0"/>
          </a:p>
        </p:txBody>
      </p:sp>
      <p:sp>
        <p:nvSpPr>
          <p:cNvPr id="14" name="pf_126"/>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6" name="cd_128"/>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131"/>
          <p:cNvSpPr/>
          <p:nvPr/>
        </p:nvSpPr>
        <p:spPr>
          <a:xfrm>
            <a:off x="886968" y="3767328"/>
            <a:ext cx="4370832" cy="868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aubergine (US eggplant) · courgette (US zucchini)</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 peach (pesca) ≠ a pear (pera) · a cherry (ciliegia)</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One more: what's 'carciofo'? → artichoke!</a:t>
            </a:r>
            <a:endParaRPr lang="en-US" sz="1100" dirty="0"/>
          </a:p>
        </p:txBody>
      </p:sp>
      <p:sp>
        <p:nvSpPr>
          <p:cNvPr id="20" name="bd_132"/>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133"/>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134"/>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135"/>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136"/>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137"/>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6" name="bd_13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7" name="q_13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8" name="R1_chip14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9" name="bd_141"/>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0" name="q_14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1" name="R2_chip143"/>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2" name="bd_144"/>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3" name="q_14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4" name="R3_chip146"/>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5" name="bd_147"/>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6" name="q_14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7" name="R4_chip149"/>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8" name="bd_150"/>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9" name="q_15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40" name="R5_chip152"/>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1" name="bd_153"/>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2" name="q_15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3" name="R6_chip155"/>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6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6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6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6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16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6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6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7" name="R1_it17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8" name="cd_17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7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7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1" name="R1_it17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2" name="cd_17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7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7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5" name="R1_it17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6" name="cd_17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8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8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9" name="R1_it18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30" name="cd_18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8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8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3" name="R1_it18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4" name="cd_18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8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8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7" name="R1_it19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8" name="cd_19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9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9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1" name="R1_it19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2" name="cd_19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9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9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5" name="R1_it19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6" name="cd_19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0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0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9" name="R1_it20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50" name="cd_20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0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0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3" name="R1_it20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4" name="cd_20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0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0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7" name="R1_it21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8" name="cd_21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1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1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1" name="R1_it21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2" name="R1_wc21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21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1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0"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1"/>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cibo. Non dirlo!</a:t>
            </a:r>
            <a:endParaRPr lang="en-US" sz="950" dirty="0"/>
          </a:p>
        </p:txBody>
      </p:sp>
      <p:sp>
        <p:nvSpPr>
          <p:cNvPr id="9" name="cmd_22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a:t>
            </a:r>
            <a:endParaRPr lang="en-US" sz="800" dirty="0"/>
          </a:p>
        </p:txBody>
      </p:sp>
      <p:sp>
        <p:nvSpPr>
          <p:cNvPr id="14" name="cd_22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2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23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food. Don't say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23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3"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23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2" name="R2_w23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3" name="R3_w23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4" name="R4_w23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5" name="rl_23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24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7" name="R6_w24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8" name="R7_w24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9" name="R8_w24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Com'è cucinato? Di' la parola.</a:t>
            </a:r>
            <a:endParaRPr lang="en-US" sz="950" dirty="0"/>
          </a:p>
        </p:txBody>
      </p:sp>
      <p:sp>
        <p:nvSpPr>
          <p:cNvPr id="9" name="cmd_2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cooking   ·   📖 Vocabulary Bank p.152 · 2 Cooking (audio 1.3)</a:t>
            </a:r>
            <a:endParaRPr lang="en-US" sz="800" dirty="0"/>
          </a:p>
        </p:txBody>
      </p:sp>
      <p:sp>
        <p:nvSpPr>
          <p:cNvPr id="14" name="pf_255"/>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56"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6" name="cd_257"/>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58"/>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59"/>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60"/>
          <p:cNvSpPr/>
          <p:nvPr/>
        </p:nvSpPr>
        <p:spPr>
          <a:xfrm>
            <a:off x="886968" y="3703320"/>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boiled = cooked in hot water: boiled eggs, pasta</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baked = in the oven: bread, cakes</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do you like your eggs? – Fried!</a:t>
            </a:r>
            <a:endParaRPr lang="en-US" sz="1100" dirty="0"/>
          </a:p>
        </p:txBody>
      </p:sp>
      <p:sp>
        <p:nvSpPr>
          <p:cNvPr id="20" name="bd_261"/>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62"/>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63"/>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64"/>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6" name="R1_chip2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7" name="bd_268"/>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69"/>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9" name="R2_chip270"/>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30" name="bd_271"/>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72"/>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2" name="R3_chip273"/>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3" name="bd_274"/>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275"/>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5" name="R4_chip276"/>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8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parola? Crudo, piccante, fresco…</a:t>
            </a:r>
            <a:endParaRPr lang="en-US" sz="950" dirty="0"/>
          </a:p>
        </p:txBody>
      </p:sp>
      <p:sp>
        <p:nvSpPr>
          <p:cNvPr id="9" name="cmd_28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8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food adjectives   ·   📖 SB p.6 · 1d</a:t>
            </a:r>
            <a:endParaRPr lang="en-US" sz="800" dirty="0"/>
          </a:p>
        </p:txBody>
      </p:sp>
      <p:sp>
        <p:nvSpPr>
          <p:cNvPr id="14" name="pf_288"/>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89"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6" name="cd_290"/>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91"/>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2"/>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93"/>
          <p:cNvSpPr/>
          <p:nvPr/>
        </p:nvSpPr>
        <p:spPr>
          <a:xfrm>
            <a:off x="886968" y="3630168"/>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hot = spicy (piccante) – or warm (caldo)!</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low-fat = with very little fat: low-fat yogurt, cheese</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tinned (UK) = canned (US)</a:t>
            </a:r>
            <a:endParaRPr lang="en-US" sz="1100" dirty="0"/>
          </a:p>
        </p:txBody>
      </p:sp>
      <p:sp>
        <p:nvSpPr>
          <p:cNvPr id="20" name="bd_294"/>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95"/>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96"/>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97"/>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98"/>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299"/>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300"/>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7" name="R1_chip301"/>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8" name="bd_302"/>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303"/>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30" name="R2_chip304"/>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1" name="bd_305"/>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306"/>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3" name="R3_chip307"/>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4" name="bd_308"/>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309"/>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6" name="R4_chip310"/>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7" name="bd_311"/>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312"/>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9" name="R5_chip313"/>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32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2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7" name="R1_it32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8" name="cd_32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1" name="R1_it33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2" name="cd_33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5" name="R1_it33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6" name="cd_33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3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3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9" name="R1_it34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30" name="cd_34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3" name="R1_it34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4" name="cd_34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4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7" name="R1_it34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8" name="cd_34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1" name="R1_it35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2" name="cd_35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5" name="R1_it35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6" name="cd_35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5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5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9" name="R1_it36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50" name="cd_36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3" name="R1_it36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4" name="cd_36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6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7" name="R1_it36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8" name="cd_36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1" name="R1_it37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2" name="cd_373"/>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e_374"/>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4" name="en_375"/>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5" name="R1_it376"/>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6" name="cd_377"/>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7" name="e_378"/>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8" name="en_379"/>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9" name="R1_it380"/>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70" name="cd_381"/>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1" name="e_382"/>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2" name="en_383"/>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3" name="R1_it384"/>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4" name="cd_385"/>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5" name="e_386"/>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6" name="en_387"/>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7" name="R1_it388"/>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5"/>
                                        </p:tgtEl>
                                        <p:attrNameLst>
                                          <p:attrName>style.visibility</p:attrName>
                                        </p:attrNameLst>
                                      </p:cBhvr>
                                      <p:to>
                                        <p:strVal val="visible"/>
                                      </p:to>
                                    </p:set>
                                    <p:animEffect transition="in" filter="fade">
                                      <p:cBhvr>
                                        <p:cTn id="43" dur="400"/>
                                        <p:tgtEl>
                                          <p:spTgt spid="65"/>
                                        </p:tgtEl>
                                      </p:cBhvr>
                                    </p:animEffect>
                                  </p:childTnLst>
                                </p:cTn>
                              </p:par>
                              <p:par>
                                <p:cTn id="44" presetID="10" presetClass="entr" presetSubtype="0" fill="hold" nodeType="withEffect">
                                  <p:stCondLst>
                                    <p:cond delay="0"/>
                                  </p:stCondLst>
                                  <p:childTnLst>
                                    <p:set>
                                      <p:cBhvr>
                                        <p:cTn id="45" dur="1" fill="hold">
                                          <p:stCondLst>
                                            <p:cond delay="0"/>
                                          </p:stCondLst>
                                        </p:cTn>
                                        <p:tgtEl>
                                          <p:spTgt spid="69"/>
                                        </p:tgtEl>
                                        <p:attrNameLst>
                                          <p:attrName>style.visibility</p:attrName>
                                        </p:attrNameLst>
                                      </p:cBhvr>
                                      <p:to>
                                        <p:strVal val="visible"/>
                                      </p:to>
                                    </p:set>
                                    <p:animEffect transition="in" filter="fade">
                                      <p:cBhvr>
                                        <p:cTn id="46" dur="400"/>
                                        <p:tgtEl>
                                          <p:spTgt spid="69"/>
                                        </p:tgtEl>
                                      </p:cBhvr>
                                    </p:animEffect>
                                  </p:childTnLst>
                                </p:cTn>
                              </p:par>
                              <p:par>
                                <p:cTn id="47" presetID="10" presetClass="entr" presetSubtype="0" fill="hold" nodeType="with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fade">
                                      <p:cBhvr>
                                        <p:cTn id="49" dur="400"/>
                                        <p:tgtEl>
                                          <p:spTgt spid="73"/>
                                        </p:tgtEl>
                                      </p:cBhvr>
                                    </p:animEffect>
                                  </p:childTnLst>
                                </p:cTn>
                              </p:par>
                              <p:par>
                                <p:cTn id="50" presetID="10" presetClass="entr" presetSubtype="0" fill="hold" nodeType="withEffect">
                                  <p:stCondLst>
                                    <p:cond delay="0"/>
                                  </p:stCondLst>
                                  <p:childTnLst>
                                    <p:set>
                                      <p:cBhvr>
                                        <p:cTn id="51" dur="1" fill="hold">
                                          <p:stCondLst>
                                            <p:cond delay="0"/>
                                          </p:stCondLst>
                                        </p:cTn>
                                        <p:tgtEl>
                                          <p:spTgt spid="77"/>
                                        </p:tgtEl>
                                        <p:attrNameLst>
                                          <p:attrName>style.visibility</p:attrName>
                                        </p:attrNameLst>
                                      </p:cBhvr>
                                      <p:to>
                                        <p:strVal val="visible"/>
                                      </p:to>
                                    </p:set>
                                    <p:animEffect transition="in" filter="fade">
                                      <p:cBhvr>
                                        <p:cTn id="52"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9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9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3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aggettivi. Poi ascolta.</a:t>
            </a:r>
            <a:endParaRPr lang="en-US" sz="950" dirty="0"/>
          </a:p>
        </p:txBody>
      </p:sp>
      <p:sp>
        <p:nvSpPr>
          <p:cNvPr id="9" name="cmd_39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9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9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food adjectives   ·   📖 SB p.6 · 1e · audio 1.5</a:t>
            </a:r>
            <a:endParaRPr lang="en-US" sz="800" dirty="0"/>
          </a:p>
        </p:txBody>
      </p:sp>
      <p:sp>
        <p:nvSpPr>
          <p:cNvPr id="15" name="ap_40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6" name="aw_402"/>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40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4" descr="/home/claude/lls-course/v2/cache/1a1_teen_breakfast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40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0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0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0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0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4" name="R1_chip41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5" name="gq_41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6" name="R2_chip41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27" name="gq_41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28" name="R3_chip41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29" name="gq_41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30" name="R4_chip41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1" name="gq_41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2" name="R5_chip41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3" name="gq_41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4" name="R6_chip42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42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2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4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Squadre: scrivete le parole. Vince chi è più veloce!</a:t>
            </a:r>
            <a:endParaRPr lang="en-US" sz="950" dirty="0"/>
          </a:p>
        </p:txBody>
      </p:sp>
      <p:sp>
        <p:nvSpPr>
          <p:cNvPr id="9" name="cmd_4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2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2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 · race</a:t>
            </a:r>
            <a:endParaRPr lang="en-US" sz="800" dirty="0"/>
          </a:p>
        </p:txBody>
      </p:sp>
      <p:sp>
        <p:nvSpPr>
          <p:cNvPr id="14" name="cd_43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35"/>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category.</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words – 30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words = 1 point each.</a:t>
            </a:r>
            <a:endParaRPr lang="en-US" sz="1150" dirty="0"/>
          </a:p>
        </p:txBody>
      </p:sp>
      <p:sp>
        <p:nvSpPr>
          <p:cNvPr id="18" name="pf_43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7" descr="/home/claude/lls-course/v2/cache/1a1_food_rac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3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3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2" name="R1_chip44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3" name="bd_44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5" name="R2_chip44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6" name="bd_44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4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8" name="R3_chip44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29" name="bd_44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4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1" name="R4_chip44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2" name="bd_45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4" name="R5_chip45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5" name="bd_45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5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7" name="R6_chip45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57"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58"/>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5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6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frase. Quale immagine-suono?</a:t>
            </a:r>
            <a:endParaRPr lang="en-US" sz="950" dirty="0"/>
          </a:p>
        </p:txBody>
      </p:sp>
      <p:sp>
        <p:nvSpPr>
          <p:cNvPr id="9" name="cmd_462"/>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46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6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6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 short and long vowels   ·   📖 SB p.7 · 2a, 2b · audio 1.6</a:t>
            </a:r>
            <a:endParaRPr lang="en-US" sz="800" dirty="0"/>
          </a:p>
        </p:txBody>
      </p:sp>
      <p:sp>
        <p:nvSpPr>
          <p:cNvPr id="15" name="cd_468"/>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71"/>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ap_472"/>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20" name="aw_473"/>
          <p:cNvSpPr/>
          <p:nvPr/>
        </p:nvSpPr>
        <p:spPr>
          <a:xfrm>
            <a:off x="365760" y="4654296"/>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1" name="lg_47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2" name="lg_475"/>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3" name="lg_476"/>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4" name="lg_477"/>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5" name="lg_478"/>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6" name="lg_479"/>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27" name="lg_480"/>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28" name="lg_481"/>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29" name="sq_482"/>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crab salad</a:t>
            </a:r>
            <a:endParaRPr lang="en-US" sz="1200" dirty="0"/>
          </a:p>
        </p:txBody>
      </p:sp>
      <p:sp>
        <p:nvSpPr>
          <p:cNvPr id="30" name="R1_tag483"/>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1" name="sq_484"/>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grilled squid</a:t>
            </a:r>
            <a:endParaRPr lang="en-US" sz="1200" dirty="0"/>
          </a:p>
        </p:txBody>
      </p:sp>
      <p:sp>
        <p:nvSpPr>
          <p:cNvPr id="32" name="R2_tag485"/>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3" name="sq_486"/>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jar of raspberry jam</a:t>
            </a:r>
            <a:endParaRPr lang="en-US" sz="1200" dirty="0"/>
          </a:p>
        </p:txBody>
      </p:sp>
      <p:sp>
        <p:nvSpPr>
          <p:cNvPr id="34" name="R3_tag487"/>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5" name="sq_488"/>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steamed green beans</a:t>
            </a:r>
            <a:endParaRPr lang="en-US" sz="1200" dirty="0"/>
          </a:p>
        </p:txBody>
      </p:sp>
      <p:sp>
        <p:nvSpPr>
          <p:cNvPr id="36" name="R4_tag489"/>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37" name="sq_490"/>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good cook</a:t>
            </a:r>
            <a:endParaRPr lang="en-US" sz="1200" dirty="0"/>
          </a:p>
        </p:txBody>
      </p:sp>
      <p:sp>
        <p:nvSpPr>
          <p:cNvPr id="38" name="R5_tag491"/>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39" name="sq_492"/>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hot sausages</a:t>
            </a:r>
            <a:endParaRPr lang="en-US" sz="1200" dirty="0"/>
          </a:p>
        </p:txBody>
      </p:sp>
      <p:sp>
        <p:nvSpPr>
          <p:cNvPr id="40" name="R6_tag493"/>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1" name="sq_494"/>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raw pork</a:t>
            </a:r>
            <a:endParaRPr lang="en-US" sz="1200" dirty="0"/>
          </a:p>
        </p:txBody>
      </p:sp>
      <p:sp>
        <p:nvSpPr>
          <p:cNvPr id="42" name="R7_tag495"/>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3" name="sq_496"/>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tuna with beetroot</a:t>
            </a:r>
            <a:endParaRPr lang="en-US" sz="1200" dirty="0"/>
          </a:p>
        </p:txBody>
      </p:sp>
      <p:sp>
        <p:nvSpPr>
          <p:cNvPr id="44" name="R8_tag497"/>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400"/>
                                        <p:tgtEl>
                                          <p:spTgt spid="4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99"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00"/>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0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50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il suono diverso. Veloci!</a:t>
            </a:r>
            <a:endParaRPr lang="en-US" sz="950" dirty="0"/>
          </a:p>
        </p:txBody>
      </p:sp>
      <p:sp>
        <p:nvSpPr>
          <p:cNvPr id="9" name="cmd_50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0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0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0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game</a:t>
            </a:r>
            <a:endParaRPr lang="en-US" sz="800" dirty="0"/>
          </a:p>
        </p:txBody>
      </p:sp>
      <p:sp>
        <p:nvSpPr>
          <p:cNvPr id="15" name="cd_51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1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51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the four words aloud.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Find the word with a different vowel sound.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team to say it = 1 point.</a:t>
            </a:r>
            <a:endParaRPr lang="en-US" sz="1150" dirty="0"/>
          </a:p>
        </p:txBody>
      </p:sp>
      <p:sp>
        <p:nvSpPr>
          <p:cNvPr id="19" name="st_514"/>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51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1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beef · peach · squid · beans</a:t>
            </a:r>
            <a:endParaRPr lang="en-US" sz="1100" dirty="0"/>
          </a:p>
        </p:txBody>
      </p:sp>
      <p:sp>
        <p:nvSpPr>
          <p:cNvPr id="22" name="R1_chip51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3" name="bd_51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1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crab · lamb · jam · jar</a:t>
            </a:r>
            <a:endParaRPr lang="en-US" sz="1100" dirty="0"/>
          </a:p>
        </p:txBody>
      </p:sp>
      <p:sp>
        <p:nvSpPr>
          <p:cNvPr id="25" name="R2_chip52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6" name="bd_52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2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pork · prawns · raw · hot</a:t>
            </a:r>
            <a:endParaRPr lang="en-US" sz="1100" dirty="0"/>
          </a:p>
        </p:txBody>
      </p:sp>
      <p:sp>
        <p:nvSpPr>
          <p:cNvPr id="28" name="R3_chip52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9" name="bd_52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2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chicken · grilled · fish · steamed</a:t>
            </a:r>
            <a:endParaRPr lang="en-US" sz="1100" dirty="0"/>
          </a:p>
        </p:txBody>
      </p:sp>
      <p:sp>
        <p:nvSpPr>
          <p:cNvPr id="31" name="R4_chip52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2" name="bd_52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2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tuna · fruit · boot · good</a:t>
            </a:r>
            <a:endParaRPr lang="en-US" sz="1100" dirty="0"/>
          </a:p>
        </p:txBody>
      </p:sp>
      <p:sp>
        <p:nvSpPr>
          <p:cNvPr id="34" name="R5_chip52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5" name="bd_53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3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 · cookie · bull · food</a:t>
            </a:r>
            <a:endParaRPr lang="en-US" sz="1100" dirty="0"/>
          </a:p>
        </p:txBody>
      </p:sp>
      <p:sp>
        <p:nvSpPr>
          <p:cNvPr id="37" name="R6_chip53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3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3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3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53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4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4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5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key words first   ·   📖 SB p.7 · 3a</a:t>
            </a:r>
            <a:endParaRPr lang="en-US" sz="800" dirty="0"/>
          </a:p>
        </p:txBody>
      </p:sp>
      <p:sp>
        <p:nvSpPr>
          <p:cNvPr id="14" name="cd_54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4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snack → a little food between meals · uno spuntino</a:t>
            </a:r>
            <a:endParaRPr lang="en-US" sz="1050" dirty="0"/>
          </a:p>
        </p:txBody>
      </p:sp>
      <p:sp>
        <p:nvSpPr>
          <p:cNvPr id="18" name="pf_54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49"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50"/>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51"/>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2" name="R1_chip552"/>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3" name="bd_553"/>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54"/>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5" name="R2_chip555"/>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6" name="bd_556"/>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57"/>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8" name="R3_chip558"/>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9" name="bd_559"/>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60"/>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1" name="R4_chip561"/>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2" name="bd_562"/>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63"/>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4" name="R5_chip564"/>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5" name="bd_565"/>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66"/>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7" name="R6_chip567"/>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8" name="bd_568"/>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69"/>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40" name="R7_chip570"/>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1" name="bd_571"/>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72"/>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3" name="R8_chip573"/>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75"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6"/>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77"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78"/>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questionnaire.</a:t>
            </a:r>
            <a:endParaRPr lang="en-US" sz="1250" dirty="0"/>
          </a:p>
        </p:txBody>
      </p:sp>
      <p:sp>
        <p:nvSpPr>
          <p:cNvPr id="8" name="insIT_5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il questionario.</a:t>
            </a:r>
            <a:endParaRPr lang="en-US" sz="950" dirty="0"/>
          </a:p>
        </p:txBody>
      </p:sp>
      <p:sp>
        <p:nvSpPr>
          <p:cNvPr id="9" name="cmd_5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8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5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5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&amp; speaking · the questionnaire   ·   📖 SB p.7 · 3a · Your food profile</a:t>
            </a:r>
            <a:endParaRPr lang="en-US" sz="800" dirty="0"/>
          </a:p>
        </p:txBody>
      </p:sp>
      <p:sp>
        <p:nvSpPr>
          <p:cNvPr id="15" name="cd_58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58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7" name="ln_588"/>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9"/>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90"/>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 Give examples.</a:t>
            </a:r>
            <a:endParaRPr lang="en-US" sz="1150" dirty="0"/>
          </a:p>
        </p:txBody>
      </p:sp>
      <p:sp>
        <p:nvSpPr>
          <p:cNvPr id="20" name="R2_lnA591"/>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 Give examples.</a:t>
            </a:r>
            <a:endParaRPr lang="en-US" sz="1150" dirty="0"/>
          </a:p>
        </p:txBody>
      </p:sp>
      <p:sp>
        <p:nvSpPr>
          <p:cNvPr id="21" name="ln_592"/>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R3_lnA593"/>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3" name="ln_594"/>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usually eat…  a to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 when you're feeling sad  b when you're tired and don't want to cook?</a:t>
            </a:r>
            <a:endParaRPr lang="en-US" sz="1150" dirty="0"/>
          </a:p>
        </p:txBody>
      </p:sp>
      <p:sp>
        <p:nvSpPr>
          <p:cNvPr id="24" name="R4_lnA595"/>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usually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when you're feeling sad  b when you're tired and don't want to cook?</a:t>
            </a:r>
            <a:endParaRPr lang="en-US" sz="1150" dirty="0"/>
          </a:p>
        </p:txBody>
      </p:sp>
      <p:sp>
        <p:nvSpPr>
          <p:cNvPr id="25" name="ln_596"/>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is there any food or drink that you really </a:t>
            </a:r>
            <a:pPr indent="0" marL="0">
              <a:buNone/>
            </a:pPr>
            <a:r>
              <a:rPr lang="en-US" sz="1150" b="1" dirty="0">
                <a:solidFill>
                  <a:srgbClr val="2EB872"/>
                </a:solidFill>
                <a:latin typeface="Georgia" pitchFamily="34" charset="0"/>
                <a:ea typeface="Georgia" pitchFamily="34" charset="-122"/>
                <a:cs typeface="Georgia" pitchFamily="34" charset="-120"/>
              </a:rPr>
              <a:t> (?)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597"/>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is there any food or drink that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598"/>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 How often do you eat / drink it?</a:t>
            </a:r>
            <a:endParaRPr lang="en-US" sz="1150" dirty="0"/>
          </a:p>
        </p:txBody>
      </p:sp>
      <p:sp>
        <p:nvSpPr>
          <p:cNvPr id="28" name="pf_59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600" descr="/home/claude/lls-course/v2/cache/1a1_comfort_food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30" name="cd_60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1" name="ii_60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2" name="ih_60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3" name="il_604"/>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8 words in 5 questions</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No looking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60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0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60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0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6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 quale domanda rispondono?</a:t>
            </a:r>
            <a:endParaRPr lang="en-US" sz="950" dirty="0"/>
          </a:p>
        </p:txBody>
      </p:sp>
      <p:sp>
        <p:nvSpPr>
          <p:cNvPr id="9" name="cmd_61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1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1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gist   ·   📖 SB p.7 · 3b · audio 1.7</a:t>
            </a:r>
            <a:endParaRPr lang="en-US" sz="800" dirty="0"/>
          </a:p>
        </p:txBody>
      </p:sp>
      <p:sp>
        <p:nvSpPr>
          <p:cNvPr id="14" name="ap_61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5" name="aw_617"/>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61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19" descr="/home/claude/lls-course/v2/cache/1a1_vox_pop_jpg_407x297_31.png">    </p:cNvPr>
          <p:cNvPicPr>
            <a:picLocks noChangeAspect="1"/>
          </p:cNvPicPr>
          <p:nvPr/>
        </p:nvPicPr>
        <p:blipFill>
          <a:blip r:embed="rId5"/>
          <a:stretch>
            <a:fillRect/>
          </a:stretch>
        </p:blipFill>
        <p:spPr>
          <a:xfrm rot="-90000">
            <a:off x="457200" y="2103120"/>
            <a:ext cx="1691640" cy="1234440"/>
          </a:xfrm>
          <a:prstGeom prst="rect">
            <a:avLst/>
          </a:prstGeom>
        </p:spPr>
      </p:pic>
      <p:sp>
        <p:nvSpPr>
          <p:cNvPr id="18" name="bd_62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62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22" descr="/home/claude/lls-course/v2/cache/1a1_comfort_food_jpg_407x297_31.png">    </p:cNvPr>
          <p:cNvPicPr>
            <a:picLocks noChangeAspect="1"/>
          </p:cNvPicPr>
          <p:nvPr/>
        </p:nvPicPr>
        <p:blipFill>
          <a:blip r:embed="rId6"/>
          <a:stretch>
            <a:fillRect/>
          </a:stretch>
        </p:blipFill>
        <p:spPr>
          <a:xfrm rot="90000">
            <a:off x="2331720" y="2103120"/>
            <a:ext cx="1691640" cy="1234440"/>
          </a:xfrm>
          <a:prstGeom prst="rect">
            <a:avLst/>
          </a:prstGeom>
        </p:spPr>
      </p:pic>
      <p:sp>
        <p:nvSpPr>
          <p:cNvPr id="21" name="bd_62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pf_62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25" descr="/home/claude/lls-course/v2/cache/1a1_takeaway_jpg_407x297_31.png">    </p:cNvPr>
          <p:cNvPicPr>
            <a:picLocks noChangeAspect="1"/>
          </p:cNvPicPr>
          <p:nvPr/>
        </p:nvPicPr>
        <p:blipFill>
          <a:blip r:embed="rId7"/>
          <a:stretch>
            <a:fillRect/>
          </a:stretch>
        </p:blipFill>
        <p:spPr>
          <a:xfrm rot="-90000">
            <a:off x="4206240" y="2103120"/>
            <a:ext cx="1691640" cy="1234440"/>
          </a:xfrm>
          <a:prstGeom prst="rect">
            <a:avLst/>
          </a:prstGeom>
        </p:spPr>
      </p:pic>
      <p:sp>
        <p:nvSpPr>
          <p:cNvPr id="24" name="bd_62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5" name="cd_62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62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62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630"/>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Before you listen: look at A–C. What are they eating?</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Which question (1–6) is each person answering?</a:t>
            </a:r>
            <a:endParaRPr lang="en-US" sz="1100" dirty="0"/>
          </a:p>
        </p:txBody>
      </p:sp>
      <p:sp>
        <p:nvSpPr>
          <p:cNvPr id="29" name="lq_631"/>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0" name="R1_chip632"/>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1" name="lq_633"/>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2" name="R2_chip634"/>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3" name="lq_635"/>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4" name="R3_chip636"/>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5" name="lq_637"/>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36" name="R4_chip638"/>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37" name="lq_639"/>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38" name="R5_chip640"/>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39" name="lq_641"/>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0" name="R6_chip642"/>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4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Che cibo? Indovina, poi riascolta.</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detail   ·   📖 SB p.7 · 3c · audio 1.7</a:t>
            </a:r>
            <a:endParaRPr lang="en-US" sz="800" dirty="0"/>
          </a:p>
        </p:txBody>
      </p:sp>
      <p:sp>
        <p:nvSpPr>
          <p:cNvPr id="15" name="ap_65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6" name="aw_656"/>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65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58" descr="/home/claude/lls-course/v2/cache/1a1_vox_pop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65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6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6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66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66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4" name="R1_chip66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5" name="gq_66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6" name="R2_chip66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27" name="gq_66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28" name="R3_chip66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29" name="gq_66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30" name="R4_chip67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1" name="gq_67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2" name="R5_chip67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3" name="gq_67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4" name="R6_chip67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7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7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7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7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Trovate 3 cose in comune!</a:t>
            </a:r>
            <a:endParaRPr lang="en-US" sz="950" dirty="0"/>
          </a:p>
        </p:txBody>
      </p:sp>
      <p:sp>
        <p:nvSpPr>
          <p:cNvPr id="9" name="cmd_68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8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your food profile   ·   📖 SB p.7 · 3d</a:t>
            </a:r>
            <a:endParaRPr lang="en-US" sz="800" dirty="0"/>
          </a:p>
        </p:txBody>
      </p:sp>
      <p:sp>
        <p:nvSpPr>
          <p:cNvPr id="14" name="pf_68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87"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8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8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 / Not me!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kind? How often?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Both of us love… / Neither of us likes…</a:t>
            </a:r>
            <a:endParaRPr lang="en-US" sz="1050" dirty="0"/>
          </a:p>
        </p:txBody>
      </p:sp>
      <p:sp>
        <p:nvSpPr>
          <p:cNvPr id="20" name="R1_qb69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3"/>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Spicy salami! And tuna and tomato in a sandwich.</a:t>
            </a:r>
            <a:endParaRPr lang="en-US" sz="1200" dirty="0"/>
          </a:p>
        </p:txBody>
      </p:sp>
      <p:sp>
        <p:nvSpPr>
          <p:cNvPr id="22" name="R2_qb694"/>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95"/>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we get a pizza takeaway on Saturdays.</a:t>
            </a:r>
            <a:endParaRPr lang="en-US" sz="1250" dirty="0"/>
          </a:p>
        </p:txBody>
      </p:sp>
      <p:sp>
        <p:nvSpPr>
          <p:cNvPr id="24" name="R3_qb696"/>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7"/>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but my sister is allergic to prawns.</a:t>
            </a:r>
            <a:endParaRPr lang="en-US" sz="1250" dirty="0"/>
          </a:p>
        </p:txBody>
      </p:sp>
      <p:sp>
        <p:nvSpPr>
          <p:cNvPr id="26" name="R4_qb69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99"/>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Ice cream – or my mum's arancine!</a:t>
            </a:r>
            <a:endParaRPr lang="en-US" sz="1250" dirty="0"/>
          </a:p>
        </p:txBody>
      </p:sp>
      <p:pic>
        <p:nvPicPr>
          <p:cNvPr id="28" name="R4_th700"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9" name="R5_qb70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Fresh fish! It's never the same abroad.</a:t>
            </a:r>
            <a:endParaRPr lang="en-US" sz="1100" dirty="0"/>
          </a:p>
        </p:txBody>
      </p:sp>
      <p:sp>
        <p:nvSpPr>
          <p:cNvPr id="31" name="R6_qb70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0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Pasta! I eat it almost every day.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70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0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7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Guess the times!</a:t>
            </a:r>
            <a:endParaRPr lang="en-US" sz="1250" dirty="0"/>
          </a:p>
        </p:txBody>
      </p:sp>
      <p:sp>
        <p:nvSpPr>
          <p:cNvPr id="8" name="insIT_71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Indovina gli orari!</a:t>
            </a:r>
            <a:endParaRPr lang="en-US" sz="950" dirty="0"/>
          </a:p>
        </p:txBody>
      </p:sp>
      <p:sp>
        <p:nvSpPr>
          <p:cNvPr id="9" name="cmd_7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1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1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1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morning and lunch   ·   📖 SB p.7 · 4a, 4b · article adapted</a:t>
            </a:r>
            <a:endParaRPr lang="en-US" sz="800" dirty="0"/>
          </a:p>
        </p:txBody>
      </p:sp>
      <p:sp>
        <p:nvSpPr>
          <p:cNvPr id="15" name="cd_71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1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Eat and drink – but at the right time!</a:t>
            </a:r>
            <a:endParaRPr lang="en-US" sz="1700" dirty="0"/>
          </a:p>
        </p:txBody>
      </p:sp>
      <p:sp>
        <p:nvSpPr>
          <p:cNvPr id="17" name="ln_71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8" name="ln_72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R1_lnA72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20" name="ln_72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R2_lnA72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2" name="ln_72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R3_lnA72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4" name="pf_72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727" descr="/home/claude/lls-course/v2/cache/1a1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72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72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3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73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alert = awake · attento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digest = digerire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3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3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3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73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Guess the times!</a:t>
            </a:r>
            <a:endParaRPr lang="en-US" sz="1250" dirty="0"/>
          </a:p>
        </p:txBody>
      </p:sp>
      <p:sp>
        <p:nvSpPr>
          <p:cNvPr id="8" name="insIT_73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 motivi. Indovina gli orari!</a:t>
            </a:r>
            <a:endParaRPr lang="en-US" sz="950" dirty="0"/>
          </a:p>
        </p:txBody>
      </p:sp>
      <p:sp>
        <p:nvSpPr>
          <p:cNvPr id="9" name="cmd_73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3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4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4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evening and more   ·   📖 SB p.7 · 4b, 4c · article adapted</a:t>
            </a:r>
            <a:endParaRPr lang="en-US" sz="800" dirty="0"/>
          </a:p>
        </p:txBody>
      </p:sp>
      <p:sp>
        <p:nvSpPr>
          <p:cNvPr id="15" name="cd_74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4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the rest of the day</a:t>
            </a:r>
            <a:endParaRPr lang="en-US" sz="1700" dirty="0"/>
          </a:p>
        </p:txBody>
      </p:sp>
      <p:sp>
        <p:nvSpPr>
          <p:cNvPr id="17" name="ln_74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8" name="R1_lnA74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9" name="ln_74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20" name="ln_74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R2_lnA75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2" name="ln_75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R3_lnA75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4" name="ln_75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R4_lnA75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6" name="pf_75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756" descr="/home/claude/lls-course/v2/cache/1a1_late_dinn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75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75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75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76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light = not heavy · leggero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6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6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6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6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67"/>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68"/>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Exit · what can you remember?</a:t>
            </a:r>
            <a:endParaRPr lang="en-US" sz="800" dirty="0"/>
          </a:p>
        </p:txBody>
      </p:sp>
      <p:sp>
        <p:nvSpPr>
          <p:cNvPr id="13" name="bd_771"/>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72"/>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5" name="bd_773"/>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74"/>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7" name="bd_775"/>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76"/>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9" name="cd_777"/>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78"/>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79"/>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80"/>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1a–1g, 2a, 2c</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p.152: cover and test yourself</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1A-1 in the LLS app</a:t>
            </a:r>
            <a:endParaRPr lang="en-US" sz="1150" dirty="0"/>
          </a:p>
        </p:txBody>
      </p:sp>
      <p:sp>
        <p:nvSpPr>
          <p:cNvPr id="23" name="st_781"/>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8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8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785"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786"/>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7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citazioni. Scegli la preferita!</a:t>
            </a:r>
            <a:endParaRPr lang="en-US" sz="950" dirty="0"/>
          </a:p>
        </p:txBody>
      </p:sp>
      <p:sp>
        <p:nvSpPr>
          <p:cNvPr id="9" name="cmd_78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9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7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food quotes   ·   📖 SB p.6 · 1a, 1b</a:t>
            </a:r>
            <a:endParaRPr lang="en-US" sz="800" dirty="0"/>
          </a:p>
        </p:txBody>
      </p:sp>
      <p:sp>
        <p:nvSpPr>
          <p:cNvPr id="14" name="st_79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9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9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Food quotes from Pinterest</a:t>
            </a:r>
            <a:endParaRPr lang="en-US" sz="1700" dirty="0"/>
          </a:p>
        </p:txBody>
      </p:sp>
      <p:sp>
        <p:nvSpPr>
          <p:cNvPr id="17" name="ln_79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797"/>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798"/>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799"/>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80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801"/>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80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803"/>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804"/>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805"/>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80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80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pf_80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809" descr="/home/claude/lls-course/v2/cache/spare_1a2_cooking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31" name="cd_81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81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81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81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cake · cookie · fruit salad</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onions · pasta · pear · tomato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1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81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81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1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8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alle domande sull'articolo.</a:t>
            </a:r>
            <a:endParaRPr lang="en-US" sz="950" dirty="0"/>
          </a:p>
        </p:txBody>
      </p:sp>
      <p:sp>
        <p:nvSpPr>
          <p:cNvPr id="9" name="cmd_82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8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8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reading for detail   ·   📖 SB p.7 · 4c</a:t>
            </a:r>
            <a:endParaRPr lang="en-US" sz="800" dirty="0"/>
          </a:p>
        </p:txBody>
      </p:sp>
      <p:sp>
        <p:nvSpPr>
          <p:cNvPr id="14" name="st_82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826"/>
          <p:cNvSpPr/>
          <p:nvPr/>
        </p:nvSpPr>
        <p:spPr>
          <a:xfrm rot="-90000">
            <a:off x="365760" y="1371600"/>
            <a:ext cx="2606040" cy="3200400"/>
          </a:xfrm>
          <a:prstGeom prst="roundRect">
            <a:avLst>
              <a:gd name="adj" fmla="val 596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827" descr="/home/claude/lls-course/v2/cache/1a1_afternoon_run_jpg_605x748_31.png">    </p:cNvPr>
          <p:cNvPicPr>
            <a:picLocks noChangeAspect="1"/>
          </p:cNvPicPr>
          <p:nvPr/>
        </p:nvPicPr>
        <p:blipFill>
          <a:blip r:embed="rId5"/>
          <a:stretch>
            <a:fillRect/>
          </a:stretch>
        </p:blipFill>
        <p:spPr>
          <a:xfrm rot="-90000">
            <a:off x="411480" y="1417320"/>
            <a:ext cx="2514600" cy="3108960"/>
          </a:xfrm>
          <a:prstGeom prst="rect">
            <a:avLst/>
          </a:prstGeom>
        </p:spPr>
      </p:pic>
      <p:sp>
        <p:nvSpPr>
          <p:cNvPr id="17" name="bd_82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8" name="q_82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19" name="R1_chip830"/>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20" name="bd_83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q_83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2" name="R2_chip833"/>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3" name="bd_83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q_83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5" name="R3_chip836"/>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26" name="bd_83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q_83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28" name="R4_chip839"/>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00" dirty="0"/>
          </a:p>
        </p:txBody>
      </p:sp>
      <p:sp>
        <p:nvSpPr>
          <p:cNvPr id="29" name="bd_84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q_84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1" name="R5_chip842"/>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2" name="bd_84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3" name="q_84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4" name="R6_chip845"/>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2026-10-11T16:12:04Z</dcterms:created>
  <dcterms:modified xsi:type="dcterms:W3CDTF">2026-10-11T16:12:04Z</dcterms:modified>
</cp:coreProperties>
</file>