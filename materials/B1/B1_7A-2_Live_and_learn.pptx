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The speech bubbles on p.66: 'What will you do if you don't pass your exams?' – 'I'll probably retake them.'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Words: ⭐ ⭐⭐ ⭐⭐⭐. Grammar card: students make their own example first. Check homework: Workbook 7A vocabulary.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Speaking · exams (4 min)
EXAMS (4 min). SB 5a. Tell them how YOU feel (felt) about exams (TG).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Listening · before the results (5 min)
BEFORE (5 min). Read the Exam results box: marks (out of 10 / 100) or grades (A, B, C); A* (A star) is better than an A. Key (TG).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Listening · after the results (3 min)
AFTER (3 min). Key (TG). Her parents were really nice – they know how disappointed she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Grammar · noticing (4 min)
NOTICING (4 min). Pairs try first, then play 7.12; one click per gap. Key (TG): 1 I get 2 I wake up 3 I know 4 my parents will kill me 5 I feel. Ask: present or future after when / as soon as? (present – but the meaning is future).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Grammar Bank 7A · the rule (4 min)
RULE (4 min). Play 7.13 / 7.14 for listen and repeat. TG notes: future time clauses (when, as soon as, unless, until, before, after) work like if-clauses – present tense, future meaning. Main clause: will, imperative or going to. Typical mistake: I'll call you when I'll arrive.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Grammar Bank 7A p.144 · a (5 min)
GRAMMAR BANK a (5 min). Alone, then click once per gap (TG key).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· choose the right option (4 min)
CHOOSE (4 min). The first is the example. Items 1 and 7 = the TG's typical mistakes.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Speaking · What will you do…? (4 min)
WHAT WILL YOU DO? (4 min). SB 5f. Give them a minute to think. Correct: present after if / when / as soon 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Reading &amp; speaking · university (3 min)
UNIVERSITY (3 min). SB 6a – students choose the bubble that matches them. You can demonstrate with yourself (TG). uni = university.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Reading · Is it really worth going to uni? (5 min)
READING (5 min). 6b: 'Is it really worth…?' = Is it a good idea / a good use of your time, effort, and money? (TG). 6c: one click per comment. Key (TG): 1 S 2 ✓ 3 ✗ 4 ✗ 5 ✓. Comment 5 has a first conditional – find it! 6d: which comments are true about university in Italy?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Reading &amp; speaking · University or not? (4 min)
JACK OR EMILY-FLEUR? (4 min). SB 6e–6g. The texts are on Communication p.108 / p.112 (books open for this step). TG: B answers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Speaking · debate (8 min)
DEBATE (8 min). SB 7. Groups of 3–4: each student chooses a different topic, 5 minutes to prepare 3 reasons, then presents; the others say if they agree and vote. Other topics on p.69: PE optional and separate · no jobs during term-time · students should live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Exit · what can you remember? (2 min)
EXIT (2 min). Pairs, books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audio" Target="../media/media-4-5.mp3"/><Relationship Id="rId6" Type="http://schemas.microsoft.com/office/2007/relationships/media" Target="../media/media-4-5.mp3"/><Relationship Id="rId7" Type="http://schemas.openxmlformats.org/officeDocument/2006/relationships/image" Target="../media/image-4-7.png"/><Relationship Id="rId8" Type="http://schemas.openxmlformats.org/officeDocument/2006/relationships/audio" Target="../media/media-4-8.mp3"/><Relationship Id="rId9" Type="http://schemas.microsoft.com/office/2007/relationships/media" Target="../media/media-4-8.mp3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audio" Target="../media/media-5-5.mp3"/><Relationship Id="rId6" Type="http://schemas.microsoft.com/office/2007/relationships/media" Target="../media/media-5-5.mp3"/><Relationship Id="rId7" Type="http://schemas.openxmlformats.org/officeDocument/2006/relationships/image" Target="../media/image-5-7.png"/><Relationship Id="rId8" Type="http://schemas.openxmlformats.org/officeDocument/2006/relationships/audio" Target="../media/media-5-8.mp3"/><Relationship Id="rId9" Type="http://schemas.microsoft.com/office/2007/relationships/media" Target="../media/media-5-8.mp3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audio" Target="../media/media-6-5.mp3"/><Relationship Id="rId6" Type="http://schemas.microsoft.com/office/2007/relationships/media" Target="../media/media-6-5.mp3"/><Relationship Id="rId7" Type="http://schemas.openxmlformats.org/officeDocument/2006/relationships/image" Target="../media/image-6-7.png"/><Relationship Id="rId8" Type="http://schemas.openxmlformats.org/officeDocument/2006/relationships/audio" Target="../media/media-6-8.mp3"/><Relationship Id="rId9" Type="http://schemas.microsoft.com/office/2007/relationships/media" Target="../media/media-6-8.mp3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B1 · SB pp.68–69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7A-2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it worth going to uni?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conditional · future time clauses · university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📝  talk about exams: pass, fail, revise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 listen to Olivia waiting for her results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🔗  use if, unless, when, as soon as, until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🎓  read: is it really worth going to uni?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🗣️  agree or disagree in a group debate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 don't pass, I'll probably retake them.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6061372" y="777240"/>
            <a:ext cx="1547535" cy="3200400"/>
          </a:xfrm>
          <a:prstGeom prst="roundRect">
            <a:avLst>
              <a:gd name="adj" fmla="val 100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b1_7a_olivia_jpg_350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6107092" y="822960"/>
            <a:ext cx="1456095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will you do if you don't pass your exams?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753058" y="1371600"/>
            <a:ext cx="1877165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b1_7a_teacher_jpg_430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798778" y="1417320"/>
            <a:ext cx="1785725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402080"/>
          </a:xfrm>
          <a:prstGeom prst="roundRect">
            <a:avLst>
              <a:gd name="adj" fmla="val 913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 part 1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education · Chinese v British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state school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791456" y="1783080"/>
            <a:ext cx="1714500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boarding school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6597396" y="1783080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pupils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7621524" y="1783080"/>
            <a:ext cx="758952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3246120" y="2185416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degree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4270248" y="2185416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revise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5294376" y="2185416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expelled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6752844" y="2185416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cheat</a:t>
            </a:r>
            <a:endParaRPr lang="en-US" sz="1200" dirty="0"/>
          </a:p>
        </p:txBody>
      </p:sp>
      <p:sp>
        <p:nvSpPr>
          <p:cNvPr id="27" name="lv_41"/>
          <p:cNvSpPr/>
          <p:nvPr/>
        </p:nvSpPr>
        <p:spPr>
          <a:xfrm>
            <a:off x="324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42"/>
          <p:cNvSpPr/>
          <p:nvPr/>
        </p:nvSpPr>
        <p:spPr>
          <a:xfrm>
            <a:off x="5151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705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30" name="cd_44"/>
          <p:cNvSpPr/>
          <p:nvPr/>
        </p:nvSpPr>
        <p:spPr>
          <a:xfrm>
            <a:off x="3246120" y="3172968"/>
            <a:ext cx="5623560" cy="158191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rh_45"/>
          <p:cNvSpPr/>
          <p:nvPr/>
        </p:nvSpPr>
        <p:spPr>
          <a:xfrm>
            <a:off x="3337560" y="3246120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make, let, allowed to</a:t>
            </a:r>
            <a:endParaRPr lang="en-US" sz="1100" dirty="0"/>
          </a:p>
        </p:txBody>
      </p:sp>
      <p:sp>
        <p:nvSpPr>
          <p:cNvPr id="32" name="rf_46"/>
          <p:cNvSpPr/>
          <p:nvPr/>
        </p:nvSpPr>
        <p:spPr>
          <a:xfrm>
            <a:off x="3383280" y="359359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an obligation · a permission</a:t>
            </a:r>
            <a:endParaRPr lang="en-US" sz="1050" dirty="0"/>
          </a:p>
        </p:txBody>
      </p:sp>
      <p:sp>
        <p:nvSpPr>
          <p:cNvPr id="33" name="R1_rl47"/>
          <p:cNvSpPr/>
          <p:nvPr/>
        </p:nvSpPr>
        <p:spPr>
          <a:xfrm>
            <a:off x="3383280" y="3922776"/>
            <a:ext cx="5349240" cy="7589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teacher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made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them stand and look at the wall.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didn't let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them go home at 5.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aren't allowed to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use phones.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50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and exams</a:t>
            </a:r>
            <a:endParaRPr lang="en-US" sz="2500" dirty="0"/>
          </a:p>
        </p:txBody>
      </p:sp>
      <p:pic>
        <p:nvPicPr>
          <p:cNvPr id="6" name="brP_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424428" cy="402336"/>
          </a:xfrm>
          <a:prstGeom prst="rect">
            <a:avLst/>
          </a:prstGeom>
        </p:spPr>
      </p:pic>
      <p:sp>
        <p:nvSpPr>
          <p:cNvPr id="7" name="ins_52"/>
          <p:cNvSpPr/>
          <p:nvPr/>
        </p:nvSpPr>
        <p:spPr>
          <a:xfrm>
            <a:off x="1353312" y="731520"/>
            <a:ext cx="31683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pairs, answer the questions.</a:t>
            </a:r>
            <a:endParaRPr lang="en-US" sz="1250" dirty="0"/>
          </a:p>
        </p:txBody>
      </p:sp>
      <p:sp>
        <p:nvSpPr>
          <p:cNvPr id="8" name="insIT_5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coppia, rispondete alle domande.</a:t>
            </a:r>
            <a:endParaRPr lang="en-US" sz="950" dirty="0"/>
          </a:p>
        </p:txBody>
      </p:sp>
      <p:sp>
        <p:nvSpPr>
          <p:cNvPr id="9" name="note_5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Speaking · exams   ·   📖 SB p.68 · 5a</a:t>
            </a:r>
            <a:endParaRPr lang="en-US" sz="800" dirty="0"/>
          </a:p>
        </p:txBody>
      </p:sp>
      <p:sp>
        <p:nvSpPr>
          <p:cNvPr id="12" name="cd_57"/>
          <p:cNvSpPr/>
          <p:nvPr/>
        </p:nvSpPr>
        <p:spPr>
          <a:xfrm>
            <a:off x="320040" y="1417320"/>
            <a:ext cx="2788920" cy="1952752"/>
          </a:xfrm>
          <a:prstGeom prst="roundRect">
            <a:avLst>
              <a:gd name="adj" fmla="val 655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5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59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60"/>
          <p:cNvSpPr/>
          <p:nvPr/>
        </p:nvSpPr>
        <p:spPr>
          <a:xfrm>
            <a:off x="886968" y="1911096"/>
            <a:ext cx="2130552" cy="1385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passed / failed…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next exam is…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night before, I usually…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feel nervous / relaxed…</a:t>
            </a:r>
            <a:endParaRPr lang="en-US" sz="1150" dirty="0"/>
          </a:p>
        </p:txBody>
      </p:sp>
      <p:sp>
        <p:nvSpPr>
          <p:cNvPr id="16" name="R1_qb61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62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was the last time you did an exam? Did you pass or fail?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In June – my driving test. I passed!</a:t>
            </a:r>
            <a:endParaRPr lang="en-US" sz="1000" dirty="0"/>
          </a:p>
        </p:txBody>
      </p:sp>
      <p:sp>
        <p:nvSpPr>
          <p:cNvPr id="18" name="R2_qb63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64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the next exam you are going to do? How do you feel about it?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PET in May – a bit nervous.</a:t>
            </a:r>
            <a:endParaRPr lang="en-US" sz="1000" dirty="0"/>
          </a:p>
        </p:txBody>
      </p:sp>
      <p:sp>
        <p:nvSpPr>
          <p:cNvPr id="20" name="R3_qb65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66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usually do the night before an exam?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revise until midnight.</a:t>
            </a:r>
            <a:endParaRPr lang="en-US" sz="1000" dirty="0"/>
          </a:p>
        </p:txBody>
      </p:sp>
      <p:sp>
        <p:nvSpPr>
          <p:cNvPr id="22" name="R4_qb67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R4_sq68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 you usually feel just before you do an exam?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Sick!</a:t>
            </a:r>
            <a:endParaRPr lang="en-US" sz="1000" dirty="0"/>
          </a:p>
        </p:txBody>
      </p:sp>
      <p:sp>
        <p:nvSpPr>
          <p:cNvPr id="24" name="R5_qb69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R5_sq70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failed an important exam you thought you had passed (or vice versa)?</a:t>
            </a: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 – maths. I was sure I'd passed.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73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Olivia's results (1)</a:t>
            </a:r>
            <a:endParaRPr lang="en-US" sz="2500" dirty="0"/>
          </a:p>
        </p:txBody>
      </p:sp>
      <p:pic>
        <p:nvPicPr>
          <p:cNvPr id="6" name="brP_7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7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Olivia. She's waiting for her A level results. Answer the questions.</a:t>
            </a:r>
            <a:endParaRPr lang="en-US" sz="1100" dirty="0"/>
          </a:p>
        </p:txBody>
      </p:sp>
      <p:sp>
        <p:nvSpPr>
          <p:cNvPr id="8" name="insIT_7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Olivia. Aspetta i risultati degli A level. Rispondi.</a:t>
            </a:r>
            <a:endParaRPr lang="en-US" sz="950" dirty="0"/>
          </a:p>
        </p:txBody>
      </p:sp>
      <p:sp>
        <p:nvSpPr>
          <p:cNvPr id="9" name="note_7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Controlled practice</a:t>
            </a:r>
            <a:endParaRPr lang="en-US" sz="1150" dirty="0"/>
          </a:p>
        </p:txBody>
      </p:sp>
      <p:pic>
        <p:nvPicPr>
          <p:cNvPr id="10" name="logo_7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7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Listening · before the results   ·   📖 SB p.68 · 5b · audio 7.10 (TG key)</a:t>
            </a:r>
            <a:endParaRPr lang="en-US" sz="800" dirty="0"/>
          </a:p>
        </p:txBody>
      </p:sp>
      <p:sp>
        <p:nvSpPr>
          <p:cNvPr id="12" name="ap_80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7.10</a:t>
            </a:r>
            <a:endParaRPr lang="en-US" sz="1100" dirty="0"/>
          </a:p>
        </p:txBody>
      </p:sp>
      <p:sp>
        <p:nvSpPr>
          <p:cNvPr id="13" name="ah_81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82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bd_83"/>
          <p:cNvSpPr/>
          <p:nvPr/>
        </p:nvSpPr>
        <p:spPr>
          <a:xfrm>
            <a:off x="320040" y="1440729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q_84"/>
          <p:cNvSpPr/>
          <p:nvPr/>
        </p:nvSpPr>
        <p:spPr>
          <a:xfrm>
            <a:off x="704088" y="1417320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she think she's passed?</a:t>
            </a:r>
            <a:endParaRPr lang="en-US" sz="950" dirty="0"/>
          </a:p>
        </p:txBody>
      </p:sp>
      <p:sp>
        <p:nvSpPr>
          <p:cNvPr id="19" name="R1_chip85"/>
          <p:cNvSpPr/>
          <p:nvPr/>
        </p:nvSpPr>
        <p:spPr>
          <a:xfrm>
            <a:off x="704088" y="1820753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sure she's passed, but she's worried about her grades.</a:t>
            </a:r>
            <a:endParaRPr lang="en-US" sz="1150" dirty="0"/>
          </a:p>
        </p:txBody>
      </p:sp>
      <p:sp>
        <p:nvSpPr>
          <p:cNvPr id="20" name="bd_86"/>
          <p:cNvSpPr/>
          <p:nvPr/>
        </p:nvSpPr>
        <p:spPr>
          <a:xfrm>
            <a:off x="320040" y="2562393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q_87"/>
          <p:cNvSpPr/>
          <p:nvPr/>
        </p:nvSpPr>
        <p:spPr>
          <a:xfrm>
            <a:off x="704088" y="2538984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and how will she get her exam results?</a:t>
            </a:r>
            <a:endParaRPr lang="en-US" sz="950" dirty="0"/>
          </a:p>
        </p:txBody>
      </p:sp>
      <p:sp>
        <p:nvSpPr>
          <p:cNvPr id="22" name="R2_chip88"/>
          <p:cNvSpPr/>
          <p:nvPr/>
        </p:nvSpPr>
        <p:spPr>
          <a:xfrm>
            <a:off x="704088" y="2942417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Tomorrow at school – she'll pick up the envelope.</a:t>
            </a:r>
            <a:endParaRPr lang="en-US" sz="1150" dirty="0"/>
          </a:p>
        </p:txBody>
      </p:sp>
      <p:sp>
        <p:nvSpPr>
          <p:cNvPr id="23" name="bd_89"/>
          <p:cNvSpPr/>
          <p:nvPr/>
        </p:nvSpPr>
        <p:spPr>
          <a:xfrm>
            <a:off x="320040" y="3684057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q_90"/>
          <p:cNvSpPr/>
          <p:nvPr/>
        </p:nvSpPr>
        <p:spPr>
          <a:xfrm>
            <a:off x="704088" y="3660648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will she celebrate if she gets good results?</a:t>
            </a:r>
            <a:endParaRPr lang="en-US" sz="950" dirty="0"/>
          </a:p>
        </p:txBody>
      </p:sp>
      <p:sp>
        <p:nvSpPr>
          <p:cNvPr id="25" name="R3_chip91"/>
          <p:cNvSpPr/>
          <p:nvPr/>
        </p:nvSpPr>
        <p:spPr>
          <a:xfrm>
            <a:off x="704088" y="4064081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doesn't want to plan any celebrations until she knows the results.</a:t>
            </a:r>
            <a:endParaRPr lang="en-US" sz="1150" dirty="0"/>
          </a:p>
        </p:txBody>
      </p:sp>
      <p:sp>
        <p:nvSpPr>
          <p:cNvPr id="26" name="bd_92"/>
          <p:cNvSpPr/>
          <p:nvPr/>
        </p:nvSpPr>
        <p:spPr>
          <a:xfrm>
            <a:off x="4709160" y="1440729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q_93"/>
          <p:cNvSpPr/>
          <p:nvPr/>
        </p:nvSpPr>
        <p:spPr>
          <a:xfrm>
            <a:off x="5093208" y="1417320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she want to do if she gets good results?</a:t>
            </a:r>
            <a:endParaRPr lang="en-US" sz="950" dirty="0"/>
          </a:p>
        </p:txBody>
      </p:sp>
      <p:sp>
        <p:nvSpPr>
          <p:cNvPr id="28" name="R4_chip94"/>
          <p:cNvSpPr/>
          <p:nvPr/>
        </p:nvSpPr>
        <p:spPr>
          <a:xfrm>
            <a:off x="5093208" y="1820753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Study Medicine at Cambridge University.</a:t>
            </a:r>
            <a:endParaRPr lang="en-US" sz="1150" dirty="0"/>
          </a:p>
        </p:txBody>
      </p:sp>
      <p:sp>
        <p:nvSpPr>
          <p:cNvPr id="29" name="bd_95"/>
          <p:cNvSpPr/>
          <p:nvPr/>
        </p:nvSpPr>
        <p:spPr>
          <a:xfrm>
            <a:off x="4709160" y="2562393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q_96"/>
          <p:cNvSpPr/>
          <p:nvPr/>
        </p:nvSpPr>
        <p:spPr>
          <a:xfrm>
            <a:off x="5093208" y="2538984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will she do if she doesn't get the results that she needs?</a:t>
            </a:r>
            <a:endParaRPr lang="en-US" sz="950" dirty="0"/>
          </a:p>
        </p:txBody>
      </p:sp>
      <p:sp>
        <p:nvSpPr>
          <p:cNvPr id="31" name="R5_chip97"/>
          <p:cNvSpPr/>
          <p:nvPr/>
        </p:nvSpPr>
        <p:spPr>
          <a:xfrm>
            <a:off x="5093208" y="2942417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Probably do another year at school and take the exams again.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9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9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100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Olivia's results (2)</a:t>
            </a:r>
            <a:endParaRPr lang="en-US" sz="2500" dirty="0"/>
          </a:p>
        </p:txBody>
      </p:sp>
      <p:pic>
        <p:nvPicPr>
          <p:cNvPr id="6" name="brP_10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0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Olivia after she got her results. What grades did she get? What's she going to do?</a:t>
            </a:r>
            <a:endParaRPr lang="en-US" sz="1100" dirty="0"/>
          </a:p>
        </p:txBody>
      </p:sp>
      <p:sp>
        <p:nvSpPr>
          <p:cNvPr id="8" name="insIT_10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Olivia dopo i risultati. Che voti ha preso? Cosa farà?</a:t>
            </a:r>
            <a:endParaRPr lang="en-US" sz="950" dirty="0"/>
          </a:p>
        </p:txBody>
      </p:sp>
      <p:sp>
        <p:nvSpPr>
          <p:cNvPr id="9" name="note_10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10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0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Listening · after the results   ·   📖 SB p.68 · 5c · audio 7.11 (TG key)</a:t>
            </a:r>
            <a:endParaRPr lang="en-US" sz="800" dirty="0"/>
          </a:p>
        </p:txBody>
      </p:sp>
      <p:sp>
        <p:nvSpPr>
          <p:cNvPr id="12" name="ap_107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7.11  ·  play once</a:t>
            </a:r>
            <a:endParaRPr lang="en-US" sz="1100" dirty="0"/>
          </a:p>
        </p:txBody>
      </p:sp>
      <p:sp>
        <p:nvSpPr>
          <p:cNvPr id="13" name="ah_108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109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pf_110"/>
          <p:cNvSpPr/>
          <p:nvPr/>
        </p:nvSpPr>
        <p:spPr>
          <a:xfrm rot="-90000">
            <a:off x="1318356" y="2057400"/>
            <a:ext cx="883727" cy="1783080"/>
          </a:xfrm>
          <a:prstGeom prst="roundRect">
            <a:avLst>
              <a:gd name="adj" fmla="val 175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8" name="ph_111" descr="/home/claude/lls-course/v2/cache/b1_7a_olivia_jpg_191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1364076" y="2103120"/>
            <a:ext cx="792287" cy="1691640"/>
          </a:xfrm>
          <a:prstGeom prst="rect">
            <a:avLst/>
          </a:prstGeom>
        </p:spPr>
      </p:pic>
      <p:sp>
        <p:nvSpPr>
          <p:cNvPr id="19" name="cd_112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113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ih_114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first: good news or bad news?</a:t>
            </a:r>
            <a:endParaRPr lang="en-US" sz="1200" dirty="0"/>
          </a:p>
        </p:txBody>
      </p:sp>
      <p:sp>
        <p:nvSpPr>
          <p:cNvPr id="22" name="gq_115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biology</a:t>
            </a:r>
            <a:endParaRPr lang="en-US" sz="1200" dirty="0"/>
          </a:p>
        </p:txBody>
      </p:sp>
      <p:sp>
        <p:nvSpPr>
          <p:cNvPr id="23" name="R1_chip116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A* (A star)</a:t>
            </a:r>
            <a:endParaRPr lang="en-US" sz="1200" dirty="0"/>
          </a:p>
        </p:txBody>
      </p:sp>
      <p:sp>
        <p:nvSpPr>
          <p:cNvPr id="24" name="gq_117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chemistry and physics</a:t>
            </a:r>
            <a:endParaRPr lang="en-US" sz="1200" dirty="0"/>
          </a:p>
        </p:txBody>
      </p:sp>
      <p:sp>
        <p:nvSpPr>
          <p:cNvPr id="25" name="R2_chip118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gq_119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maths</a:t>
            </a:r>
            <a:endParaRPr lang="en-US" sz="1200" dirty="0"/>
          </a:p>
        </p:txBody>
      </p:sp>
      <p:sp>
        <p:nvSpPr>
          <p:cNvPr id="27" name="R3_chip120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a B – not quite good enough</a:t>
            </a:r>
            <a:endParaRPr lang="en-US" sz="1200" dirty="0"/>
          </a:p>
        </p:txBody>
      </p:sp>
      <p:sp>
        <p:nvSpPr>
          <p:cNvPr id="28" name="gq_121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she going to do?</a:t>
            </a:r>
            <a:endParaRPr lang="en-US" sz="1200" dirty="0"/>
          </a:p>
        </p:txBody>
      </p:sp>
      <p:sp>
        <p:nvSpPr>
          <p:cNvPr id="29" name="R4_chip122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try to get a place at another university – or retake her A levels next year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2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125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did Olivia say?</a:t>
            </a:r>
            <a:endParaRPr lang="en-US" sz="2500" dirty="0"/>
          </a:p>
        </p:txBody>
      </p:sp>
      <p:pic>
        <p:nvPicPr>
          <p:cNvPr id="6" name="brP_12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27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 what Olivia said? Complete the sentences. Then listen and check.</a:t>
            </a:r>
            <a:endParaRPr lang="en-US" sz="1100" dirty="0"/>
          </a:p>
        </p:txBody>
      </p:sp>
      <p:sp>
        <p:nvSpPr>
          <p:cNvPr id="8" name="insIT_12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 cosa ha detto Olivia? Completa. Poi ascolta e controlla.</a:t>
            </a:r>
            <a:endParaRPr lang="en-US" sz="950" dirty="0"/>
          </a:p>
        </p:txBody>
      </p:sp>
      <p:sp>
        <p:nvSpPr>
          <p:cNvPr id="9" name="note_12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13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3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Grammar · noticing   ·   📖 SB p.68 · 5d · audio 7.12 (TG key)</a:t>
            </a:r>
            <a:endParaRPr lang="en-US" sz="800" dirty="0"/>
          </a:p>
        </p:txBody>
      </p:sp>
      <p:sp>
        <p:nvSpPr>
          <p:cNvPr id="12" name="cd_132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133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interviews</a:t>
            </a:r>
            <a:endParaRPr lang="en-US" sz="1700" dirty="0"/>
          </a:p>
        </p:txBody>
      </p:sp>
      <p:sp>
        <p:nvSpPr>
          <p:cNvPr id="14" name="ln_134"/>
          <p:cNvSpPr/>
          <p:nvPr/>
        </p:nvSpPr>
        <p:spPr>
          <a:xfrm>
            <a:off x="548640" y="1920240"/>
            <a:ext cx="5349240" cy="560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They </a:t>
            </a:r>
            <a:pPr indent="0" marL="0">
              <a:buNone/>
            </a:pPr>
            <a:r>
              <a:rPr lang="en-US" sz="13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won't give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 a place unless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least two A*s and an A.</a:t>
            </a:r>
            <a:endParaRPr lang="en-US" sz="1300" dirty="0"/>
          </a:p>
        </p:txBody>
      </p:sp>
      <p:sp>
        <p:nvSpPr>
          <p:cNvPr id="15" name="R1_lnA135"/>
          <p:cNvSpPr/>
          <p:nvPr/>
        </p:nvSpPr>
        <p:spPr>
          <a:xfrm>
            <a:off x="548640" y="1920240"/>
            <a:ext cx="5349240" cy="5607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They </a:t>
            </a:r>
            <a:pPr indent="0" marL="0">
              <a:buNone/>
            </a:pPr>
            <a:r>
              <a:rPr lang="en-US" sz="13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won't give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 a place unless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get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least two A*s and an A.</a:t>
            </a:r>
            <a:endParaRPr lang="en-US" sz="1300" dirty="0"/>
          </a:p>
        </p:txBody>
      </p:sp>
      <p:sp>
        <p:nvSpPr>
          <p:cNvPr id="16" name="ln_136"/>
          <p:cNvSpPr/>
          <p:nvPr/>
        </p:nvSpPr>
        <p:spPr>
          <a:xfrm>
            <a:off x="548640" y="2481015"/>
            <a:ext cx="5349240" cy="553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As soon as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buNone/>
            </a:pPr>
            <a:r>
              <a:rPr lang="en-US" sz="13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I'll go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school and pick up the envelope.</a:t>
            </a:r>
            <a:endParaRPr lang="en-US" sz="1300" dirty="0"/>
          </a:p>
        </p:txBody>
      </p:sp>
      <p:sp>
        <p:nvSpPr>
          <p:cNvPr id="17" name="R2_lnA137"/>
          <p:cNvSpPr/>
          <p:nvPr/>
        </p:nvSpPr>
        <p:spPr>
          <a:xfrm>
            <a:off x="548640" y="2481015"/>
            <a:ext cx="5349240" cy="55329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As soon as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wake up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buNone/>
            </a:pPr>
            <a:r>
              <a:rPr lang="en-US" sz="13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I'll go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school and pick up the envelope.</a:t>
            </a:r>
            <a:endParaRPr lang="en-US" sz="1300" dirty="0"/>
          </a:p>
        </p:txBody>
      </p:sp>
      <p:sp>
        <p:nvSpPr>
          <p:cNvPr id="18" name="ln_138"/>
          <p:cNvSpPr/>
          <p:nvPr/>
        </p:nvSpPr>
        <p:spPr>
          <a:xfrm>
            <a:off x="548640" y="3034313"/>
            <a:ext cx="5349240" cy="5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I don't want to plan any celebrations until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results.</a:t>
            </a:r>
            <a:endParaRPr lang="en-US" sz="1300" dirty="0"/>
          </a:p>
        </p:txBody>
      </p:sp>
      <p:sp>
        <p:nvSpPr>
          <p:cNvPr id="19" name="R3_lnA139"/>
          <p:cNvSpPr/>
          <p:nvPr/>
        </p:nvSpPr>
        <p:spPr>
          <a:xfrm>
            <a:off x="548640" y="3034313"/>
            <a:ext cx="5349240" cy="5383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I don't want to plan any celebrations until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know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results.</a:t>
            </a:r>
            <a:endParaRPr lang="en-US" sz="1300" dirty="0"/>
          </a:p>
        </p:txBody>
      </p:sp>
      <p:sp>
        <p:nvSpPr>
          <p:cNvPr id="20" name="ln_140"/>
          <p:cNvSpPr/>
          <p:nvPr/>
        </p:nvSpPr>
        <p:spPr>
          <a:xfrm>
            <a:off x="548640" y="3572656"/>
            <a:ext cx="5349240" cy="47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pPr indent="0" marL="0">
              <a:buNone/>
            </a:pPr>
            <a:r>
              <a:rPr lang="en-US" sz="13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 don't get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into Cambridge,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R4_lnA141"/>
          <p:cNvSpPr/>
          <p:nvPr/>
        </p:nvSpPr>
        <p:spPr>
          <a:xfrm>
            <a:off x="548640" y="3572656"/>
            <a:ext cx="5349240" cy="4785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pPr indent="0" marL="0">
              <a:buNone/>
            </a:pPr>
            <a:r>
              <a:rPr lang="en-US" sz="13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 don't get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into Cambridge,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my parents will kill me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ln_142"/>
          <p:cNvSpPr/>
          <p:nvPr/>
        </p:nvSpPr>
        <p:spPr>
          <a:xfrm>
            <a:off x="548640" y="4051184"/>
            <a:ext cx="5349240" cy="657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When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bit more positive, </a:t>
            </a:r>
            <a:pPr indent="0" marL="0">
              <a:buNone/>
            </a:pPr>
            <a:r>
              <a:rPr lang="en-US" sz="13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I'll try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get a place at another university.</a:t>
            </a:r>
            <a:endParaRPr lang="en-US" sz="1300" dirty="0"/>
          </a:p>
        </p:txBody>
      </p:sp>
      <p:sp>
        <p:nvSpPr>
          <p:cNvPr id="23" name="R5_lnA143"/>
          <p:cNvSpPr/>
          <p:nvPr/>
        </p:nvSpPr>
        <p:spPr>
          <a:xfrm>
            <a:off x="548640" y="4051184"/>
            <a:ext cx="5349240" cy="6579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When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feel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bit more positive, </a:t>
            </a:r>
            <a:pPr indent="0" marL="0">
              <a:buNone/>
            </a:pPr>
            <a:r>
              <a:rPr lang="en-US" sz="13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I'll try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get a place at another university.</a:t>
            </a:r>
            <a:endParaRPr lang="en-US" sz="1300" dirty="0"/>
          </a:p>
        </p:txBody>
      </p:sp>
      <p:sp>
        <p:nvSpPr>
          <p:cNvPr id="24" name="ap_144"/>
          <p:cNvSpPr/>
          <p:nvPr/>
        </p:nvSpPr>
        <p:spPr>
          <a:xfrm>
            <a:off x="6263640" y="141732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7.12</a:t>
            </a:r>
            <a:endParaRPr lang="en-US" sz="1100" dirty="0"/>
          </a:p>
        </p:txBody>
      </p:sp>
      <p:sp>
        <p:nvSpPr>
          <p:cNvPr id="25" name="ah_145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26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27" name="ah_146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2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9" name="cd_147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0" name="ii_148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1" name="ih_149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2" name="il_150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unless = if… not</a:t>
            </a:r>
            <a:endParaRPr lang="en-US" sz="7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 soon as = the moment when</a:t>
            </a:r>
            <a:endParaRPr lang="en-US" sz="7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when / until / as soon as → present!</a:t>
            </a:r>
            <a:endParaRPr lang="en-US" sz="7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5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5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292547" cy="621792"/>
          </a:xfrm>
          <a:prstGeom prst="rect">
            <a:avLst/>
          </a:prstGeom>
        </p:spPr>
      </p:pic>
      <p:sp>
        <p:nvSpPr>
          <p:cNvPr id="5" name="title_153"/>
          <p:cNvSpPr/>
          <p:nvPr/>
        </p:nvSpPr>
        <p:spPr>
          <a:xfrm>
            <a:off x="1261872" y="164592"/>
            <a:ext cx="50182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If, unless, when, as soon as…</a:t>
            </a:r>
            <a:endParaRPr lang="en-US" sz="2500" dirty="0"/>
          </a:p>
        </p:txBody>
      </p:sp>
      <p:pic>
        <p:nvPicPr>
          <p:cNvPr id="6" name="brP_15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5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after if / when / until… – future in the other half. Say it, then click!</a:t>
            </a:r>
            <a:endParaRPr lang="en-US" sz="1100" dirty="0"/>
          </a:p>
        </p:txBody>
      </p:sp>
      <p:sp>
        <p:nvSpPr>
          <p:cNvPr id="8" name="insIT_15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Presente dopo if / when / until… – futuro nell'altra metà. Dillo, poi clicca!</a:t>
            </a:r>
            <a:endParaRPr lang="en-US" sz="950" dirty="0"/>
          </a:p>
        </p:txBody>
      </p:sp>
      <p:sp>
        <p:nvSpPr>
          <p:cNvPr id="9" name="note_15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</a:t>
            </a:r>
            <a:endParaRPr lang="en-US" sz="1150" dirty="0"/>
          </a:p>
        </p:txBody>
      </p:sp>
      <p:pic>
        <p:nvPicPr>
          <p:cNvPr id="10" name="logo_15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5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Grammar Bank 7A · the rule   ·   📖 Grammar Bank 7A p.144 · audio 7.13, 7.14 (TG grammar notes)</a:t>
            </a:r>
            <a:endParaRPr lang="en-US" sz="800" dirty="0"/>
          </a:p>
        </p:txBody>
      </p:sp>
      <p:sp>
        <p:nvSpPr>
          <p:cNvPr id="12" name="cvl_160"/>
          <p:cNvSpPr/>
          <p:nvPr/>
        </p:nvSpPr>
        <p:spPr>
          <a:xfrm>
            <a:off x="320040" y="141732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 / pass all my exams</a:t>
            </a:r>
            <a:endParaRPr lang="en-US" sz="1250" dirty="0"/>
          </a:p>
        </p:txBody>
      </p:sp>
      <p:sp>
        <p:nvSpPr>
          <p:cNvPr id="13" name="cva_161"/>
          <p:cNvSpPr/>
          <p:nvPr/>
        </p:nvSpPr>
        <p:spPr>
          <a:xfrm>
            <a:off x="3364992" y="14173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if + present</a:t>
            </a:r>
            <a:endParaRPr lang="en-US" sz="1000" dirty="0"/>
          </a:p>
        </p:txBody>
      </p:sp>
      <p:sp>
        <p:nvSpPr>
          <p:cNvPr id="14" name="R1_cvb162"/>
          <p:cNvSpPr/>
          <p:nvPr/>
        </p:nvSpPr>
        <p:spPr>
          <a:xfrm>
            <a:off x="4443984" y="14173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will + inf.</a:t>
            </a:r>
            <a:endParaRPr lang="en-US" sz="1000" dirty="0"/>
          </a:p>
        </p:txBody>
      </p:sp>
      <p:sp>
        <p:nvSpPr>
          <p:cNvPr id="15" name="R1_cvr163"/>
          <p:cNvSpPr/>
          <p:nvPr/>
        </p:nvSpPr>
        <p:spPr>
          <a:xfrm>
            <a:off x="5541264" y="141732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all my exams, I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'll go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to university.</a:t>
            </a:r>
            <a:endParaRPr lang="en-US" sz="1250" dirty="0"/>
          </a:p>
        </p:txBody>
      </p:sp>
      <p:sp>
        <p:nvSpPr>
          <p:cNvPr id="16" name="cvl_164"/>
          <p:cNvSpPr/>
          <p:nvPr/>
        </p:nvSpPr>
        <p:spPr>
          <a:xfrm>
            <a:off x="320040" y="192024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unless I / get two A*s</a:t>
            </a:r>
            <a:endParaRPr lang="en-US" sz="1250" dirty="0"/>
          </a:p>
        </p:txBody>
      </p:sp>
      <p:sp>
        <p:nvSpPr>
          <p:cNvPr id="17" name="cva_165"/>
          <p:cNvSpPr/>
          <p:nvPr/>
        </p:nvSpPr>
        <p:spPr>
          <a:xfrm>
            <a:off x="3364992" y="192024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unless = if not</a:t>
            </a:r>
            <a:endParaRPr lang="en-US" sz="1000" dirty="0"/>
          </a:p>
        </p:txBody>
      </p:sp>
      <p:sp>
        <p:nvSpPr>
          <p:cNvPr id="18" name="R2_cvb166"/>
          <p:cNvSpPr/>
          <p:nvPr/>
        </p:nvSpPr>
        <p:spPr>
          <a:xfrm>
            <a:off x="4443984" y="192024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won't</a:t>
            </a:r>
            <a:endParaRPr lang="en-US" sz="1000" dirty="0"/>
          </a:p>
        </p:txBody>
      </p:sp>
      <p:sp>
        <p:nvSpPr>
          <p:cNvPr id="19" name="R2_cvr167"/>
          <p:cNvSpPr/>
          <p:nvPr/>
        </p:nvSpPr>
        <p:spPr>
          <a:xfrm>
            <a:off x="5541264" y="192024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won't give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me a place unless I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two A*s.</a:t>
            </a:r>
            <a:endParaRPr lang="en-US" sz="1250" dirty="0"/>
          </a:p>
        </p:txBody>
      </p:sp>
      <p:sp>
        <p:nvSpPr>
          <p:cNvPr id="20" name="cvl_168"/>
          <p:cNvSpPr/>
          <p:nvPr/>
        </p:nvSpPr>
        <p:spPr>
          <a:xfrm>
            <a:off x="320040" y="242316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I / feel better</a:t>
            </a:r>
            <a:endParaRPr lang="en-US" sz="1250" dirty="0"/>
          </a:p>
        </p:txBody>
      </p:sp>
      <p:sp>
        <p:nvSpPr>
          <p:cNvPr id="21" name="cva_169"/>
          <p:cNvSpPr/>
          <p:nvPr/>
        </p:nvSpPr>
        <p:spPr>
          <a:xfrm>
            <a:off x="3364992" y="24231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when + present</a:t>
            </a:r>
            <a:endParaRPr lang="en-US" sz="1000" dirty="0"/>
          </a:p>
        </p:txBody>
      </p:sp>
      <p:sp>
        <p:nvSpPr>
          <p:cNvPr id="22" name="R3_cvb170"/>
          <p:cNvSpPr/>
          <p:nvPr/>
        </p:nvSpPr>
        <p:spPr>
          <a:xfrm>
            <a:off x="4443984" y="24231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I'll try</a:t>
            </a:r>
            <a:endParaRPr lang="en-US" sz="1000" dirty="0"/>
          </a:p>
        </p:txBody>
      </p:sp>
      <p:sp>
        <p:nvSpPr>
          <p:cNvPr id="23" name="R3_cvr171"/>
          <p:cNvSpPr/>
          <p:nvPr/>
        </p:nvSpPr>
        <p:spPr>
          <a:xfrm>
            <a:off x="5541264" y="242316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I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feel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better, I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'll try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another university.</a:t>
            </a:r>
            <a:endParaRPr lang="en-US" sz="1250" dirty="0"/>
          </a:p>
        </p:txBody>
      </p:sp>
      <p:sp>
        <p:nvSpPr>
          <p:cNvPr id="24" name="cvl_172"/>
          <p:cNvSpPr/>
          <p:nvPr/>
        </p:nvSpPr>
        <p:spPr>
          <a:xfrm>
            <a:off x="320040" y="292608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 soon as I / wake up</a:t>
            </a:r>
            <a:endParaRPr lang="en-US" sz="1250" dirty="0"/>
          </a:p>
        </p:txBody>
      </p:sp>
      <p:sp>
        <p:nvSpPr>
          <p:cNvPr id="25" name="cva_173"/>
          <p:cNvSpPr/>
          <p:nvPr/>
        </p:nvSpPr>
        <p:spPr>
          <a:xfrm>
            <a:off x="3364992" y="292608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 soon as + present</a:t>
            </a:r>
            <a:endParaRPr lang="en-US" sz="1000" dirty="0"/>
          </a:p>
        </p:txBody>
      </p:sp>
      <p:sp>
        <p:nvSpPr>
          <p:cNvPr id="26" name="R4_cvb174"/>
          <p:cNvSpPr/>
          <p:nvPr/>
        </p:nvSpPr>
        <p:spPr>
          <a:xfrm>
            <a:off x="4443984" y="292608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I'll go</a:t>
            </a:r>
            <a:endParaRPr lang="en-US" sz="1000" dirty="0"/>
          </a:p>
        </p:txBody>
      </p:sp>
      <p:sp>
        <p:nvSpPr>
          <p:cNvPr id="27" name="R4_cvr175"/>
          <p:cNvSpPr/>
          <p:nvPr/>
        </p:nvSpPr>
        <p:spPr>
          <a:xfrm>
            <a:off x="5541264" y="292608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 soon as I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wake up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I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'll go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to school.</a:t>
            </a:r>
            <a:endParaRPr lang="en-US" sz="1250" dirty="0"/>
          </a:p>
        </p:txBody>
      </p:sp>
      <p:sp>
        <p:nvSpPr>
          <p:cNvPr id="28" name="cvl_176"/>
          <p:cNvSpPr/>
          <p:nvPr/>
        </p:nvSpPr>
        <p:spPr>
          <a:xfrm>
            <a:off x="320040" y="342900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until I / know the results</a:t>
            </a:r>
            <a:endParaRPr lang="en-US" sz="1250" dirty="0"/>
          </a:p>
        </p:txBody>
      </p:sp>
      <p:sp>
        <p:nvSpPr>
          <p:cNvPr id="29" name="cva_177"/>
          <p:cNvSpPr/>
          <p:nvPr/>
        </p:nvSpPr>
        <p:spPr>
          <a:xfrm>
            <a:off x="3364992" y="342900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until + present</a:t>
            </a:r>
            <a:endParaRPr lang="en-US" sz="1000" dirty="0"/>
          </a:p>
        </p:txBody>
      </p:sp>
      <p:sp>
        <p:nvSpPr>
          <p:cNvPr id="30" name="R5_cvb178"/>
          <p:cNvSpPr/>
          <p:nvPr/>
        </p:nvSpPr>
        <p:spPr>
          <a:xfrm>
            <a:off x="4443984" y="342900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don't + inf.</a:t>
            </a:r>
            <a:endParaRPr lang="en-US" sz="1000" dirty="0"/>
          </a:p>
        </p:txBody>
      </p:sp>
      <p:sp>
        <p:nvSpPr>
          <p:cNvPr id="31" name="R5_cvr179"/>
          <p:cNvSpPr/>
          <p:nvPr/>
        </p:nvSpPr>
        <p:spPr>
          <a:xfrm>
            <a:off x="5541264" y="342900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want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to plan anything until I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know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results.</a:t>
            </a:r>
            <a:endParaRPr lang="en-US" sz="1250" dirty="0"/>
          </a:p>
        </p:txBody>
      </p:sp>
      <p:sp>
        <p:nvSpPr>
          <p:cNvPr id="32" name="cvl_180"/>
          <p:cNvSpPr/>
          <p:nvPr/>
        </p:nvSpPr>
        <p:spPr>
          <a:xfrm>
            <a:off x="320040" y="393192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/ start the exam</a:t>
            </a:r>
            <a:endParaRPr lang="en-US" sz="1250" dirty="0"/>
          </a:p>
        </p:txBody>
      </p:sp>
      <p:sp>
        <p:nvSpPr>
          <p:cNvPr id="33" name="cva_181"/>
          <p:cNvSpPr/>
          <p:nvPr/>
        </p:nvSpPr>
        <p:spPr>
          <a:xfrm>
            <a:off x="3364992" y="39319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before + present</a:t>
            </a:r>
            <a:endParaRPr lang="en-US" sz="1000" dirty="0"/>
          </a:p>
        </p:txBody>
      </p:sp>
      <p:sp>
        <p:nvSpPr>
          <p:cNvPr id="34" name="R6_cvb182"/>
          <p:cNvSpPr/>
          <p:nvPr/>
        </p:nvSpPr>
        <p:spPr>
          <a:xfrm>
            <a:off x="4443984" y="39319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imperative</a:t>
            </a:r>
            <a:endParaRPr lang="en-US" sz="1000" dirty="0"/>
          </a:p>
        </p:txBody>
      </p:sp>
      <p:sp>
        <p:nvSpPr>
          <p:cNvPr id="35" name="R6_cvr183"/>
          <p:cNvSpPr/>
          <p:nvPr/>
        </p:nvSpPr>
        <p:spPr>
          <a:xfrm>
            <a:off x="5541264" y="393192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all the questions before you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exam.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8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8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86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Bank practice</a:t>
            </a:r>
            <a:endParaRPr lang="en-US" sz="2400" dirty="0"/>
          </a:p>
        </p:txBody>
      </p:sp>
      <p:pic>
        <p:nvPicPr>
          <p:cNvPr id="6" name="brP_18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8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7A a: complete with the verb – positive or negative.</a:t>
            </a:r>
            <a:endParaRPr lang="en-US" sz="1100" dirty="0"/>
          </a:p>
        </p:txBody>
      </p:sp>
      <p:sp>
        <p:nvSpPr>
          <p:cNvPr id="8" name="insIT_18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7A a: completa con il verbo – positivo o negativo.</a:t>
            </a:r>
            <a:endParaRPr lang="en-US" sz="950" dirty="0"/>
          </a:p>
        </p:txBody>
      </p:sp>
      <p:sp>
        <p:nvSpPr>
          <p:cNvPr id="9" name="note_19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19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9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Grammar Bank 7A p.144 · a   ·   📖 Grammar Bank 7A p.144 · a (TG key)</a:t>
            </a:r>
            <a:endParaRPr lang="en-US" sz="800" dirty="0"/>
          </a:p>
        </p:txBody>
      </p:sp>
      <p:sp>
        <p:nvSpPr>
          <p:cNvPr id="12" name="cd_193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194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</a:t>
            </a:r>
            <a:endParaRPr lang="en-US" sz="1700" dirty="0"/>
          </a:p>
        </p:txBody>
      </p:sp>
      <p:sp>
        <p:nvSpPr>
          <p:cNvPr id="14" name="ln_195"/>
          <p:cNvSpPr/>
          <p:nvPr/>
        </p:nvSpPr>
        <p:spPr>
          <a:xfrm>
            <a:off x="548640" y="1920240"/>
            <a:ext cx="5349240" cy="331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That girl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into trouble if she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 uniform.</a:t>
            </a:r>
            <a:endParaRPr lang="en-US" sz="1000" dirty="0"/>
          </a:p>
        </p:txBody>
      </p:sp>
      <p:sp>
        <p:nvSpPr>
          <p:cNvPr id="15" name="R1_lnA196"/>
          <p:cNvSpPr/>
          <p:nvPr/>
        </p:nvSpPr>
        <p:spPr>
          <a:xfrm>
            <a:off x="548640" y="1920240"/>
            <a:ext cx="5349240" cy="33181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That girl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will get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into trouble if she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doesn't wear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 uniform.</a:t>
            </a:r>
            <a:endParaRPr lang="en-US" sz="1000" dirty="0"/>
          </a:p>
        </p:txBody>
      </p:sp>
      <p:sp>
        <p:nvSpPr>
          <p:cNvPr id="16" name="ln_197"/>
          <p:cNvSpPr/>
          <p:nvPr/>
        </p:nvSpPr>
        <p:spPr>
          <a:xfrm>
            <a:off x="548640" y="2252054"/>
            <a:ext cx="5349240" cy="29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give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your homework late, the teacher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it.</a:t>
            </a:r>
            <a:endParaRPr lang="en-US" sz="1000" dirty="0"/>
          </a:p>
        </p:txBody>
      </p:sp>
      <p:sp>
        <p:nvSpPr>
          <p:cNvPr id="17" name="R2_lnA198"/>
          <p:cNvSpPr/>
          <p:nvPr/>
        </p:nvSpPr>
        <p:spPr>
          <a:xfrm>
            <a:off x="548640" y="2252054"/>
            <a:ext cx="5349240" cy="2940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give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your homework late, the teacher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won't mark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it.</a:t>
            </a:r>
            <a:endParaRPr lang="en-US" sz="1000" dirty="0"/>
          </a:p>
        </p:txBody>
      </p:sp>
      <p:sp>
        <p:nvSpPr>
          <p:cNvPr id="18" name="ln_199"/>
          <p:cNvSpPr/>
          <p:nvPr/>
        </p:nvSpPr>
        <p:spPr>
          <a:xfrm>
            <a:off x="548640" y="2546067"/>
            <a:ext cx="5349240" cy="29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Don't write anything unless you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the answer.</a:t>
            </a:r>
            <a:endParaRPr lang="en-US" sz="1000" dirty="0"/>
          </a:p>
        </p:txBody>
      </p:sp>
      <p:sp>
        <p:nvSpPr>
          <p:cNvPr id="19" name="R3_lnA200"/>
          <p:cNvSpPr/>
          <p:nvPr/>
        </p:nvSpPr>
        <p:spPr>
          <a:xfrm>
            <a:off x="548640" y="2546067"/>
            <a:ext cx="5349240" cy="2940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Don't write anything unless you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are / 're sure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the answer.</a:t>
            </a:r>
            <a:endParaRPr lang="en-US" sz="1000" dirty="0"/>
          </a:p>
        </p:txBody>
      </p:sp>
      <p:sp>
        <p:nvSpPr>
          <p:cNvPr id="20" name="ln_201"/>
          <p:cNvSpPr/>
          <p:nvPr/>
        </p:nvSpPr>
        <p:spPr>
          <a:xfrm>
            <a:off x="548640" y="2840080"/>
            <a:ext cx="5349240" cy="29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Gary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if his behaviour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00" dirty="0"/>
          </a:p>
        </p:txBody>
      </p:sp>
      <p:sp>
        <p:nvSpPr>
          <p:cNvPr id="21" name="R4_lnA202"/>
          <p:cNvSpPr/>
          <p:nvPr/>
        </p:nvSpPr>
        <p:spPr>
          <a:xfrm>
            <a:off x="548640" y="2840080"/>
            <a:ext cx="5349240" cy="2940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Gary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will be expelled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if his behaviour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doesn't improve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ln_203"/>
          <p:cNvSpPr/>
          <p:nvPr/>
        </p:nvSpPr>
        <p:spPr>
          <a:xfrm>
            <a:off x="548640" y="3134092"/>
            <a:ext cx="5349240" cy="226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They'll be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late for school unless they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00" dirty="0"/>
          </a:p>
        </p:txBody>
      </p:sp>
      <p:sp>
        <p:nvSpPr>
          <p:cNvPr id="23" name="R5_lnA204"/>
          <p:cNvSpPr/>
          <p:nvPr/>
        </p:nvSpPr>
        <p:spPr>
          <a:xfrm>
            <a:off x="548640" y="3134092"/>
            <a:ext cx="5349240" cy="2268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They'll be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late for school unless they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hurry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00" dirty="0"/>
          </a:p>
        </p:txBody>
      </p:sp>
      <p:sp>
        <p:nvSpPr>
          <p:cNvPr id="24" name="ln_205"/>
          <p:cNvSpPr/>
          <p:nvPr/>
        </p:nvSpPr>
        <p:spPr>
          <a:xfrm>
            <a:off x="548640" y="3360902"/>
            <a:ext cx="5349240" cy="189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Ask me if you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to do.</a:t>
            </a:r>
            <a:endParaRPr lang="en-US" sz="1000" dirty="0"/>
          </a:p>
        </p:txBody>
      </p:sp>
      <p:sp>
        <p:nvSpPr>
          <p:cNvPr id="25" name="R6_lnA206"/>
          <p:cNvSpPr/>
          <p:nvPr/>
        </p:nvSpPr>
        <p:spPr>
          <a:xfrm>
            <a:off x="548640" y="3360902"/>
            <a:ext cx="5349240" cy="189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Ask me if you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don't know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to do.</a:t>
            </a:r>
            <a:endParaRPr lang="en-US" sz="1000" dirty="0"/>
          </a:p>
        </p:txBody>
      </p:sp>
      <p:sp>
        <p:nvSpPr>
          <p:cNvPr id="26" name="ln_207"/>
          <p:cNvSpPr/>
          <p:nvPr/>
        </p:nvSpPr>
        <p:spPr>
          <a:xfrm>
            <a:off x="548640" y="3549910"/>
            <a:ext cx="5349240" cy="28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Johnny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he shouts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the teacher again.</a:t>
            </a:r>
            <a:endParaRPr lang="en-US" sz="1000" dirty="0"/>
          </a:p>
        </p:txBody>
      </p:sp>
      <p:sp>
        <p:nvSpPr>
          <p:cNvPr id="27" name="R7_lnA208"/>
          <p:cNvSpPr/>
          <p:nvPr/>
        </p:nvSpPr>
        <p:spPr>
          <a:xfrm>
            <a:off x="548640" y="3549910"/>
            <a:ext cx="5349240" cy="2814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Johnny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will be punished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he shouts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the teacher again.</a:t>
            </a:r>
            <a:endParaRPr lang="en-US" sz="1000" dirty="0"/>
          </a:p>
        </p:txBody>
      </p:sp>
      <p:sp>
        <p:nvSpPr>
          <p:cNvPr id="28" name="ln_209"/>
          <p:cNvSpPr/>
          <p:nvPr/>
        </p:nvSpPr>
        <p:spPr>
          <a:xfrm>
            <a:off x="548640" y="3831322"/>
            <a:ext cx="5349240" cy="34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My sister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finish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university this year if she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her exams.</a:t>
            </a:r>
            <a:endParaRPr lang="en-US" sz="1000" dirty="0"/>
          </a:p>
        </p:txBody>
      </p:sp>
      <p:sp>
        <p:nvSpPr>
          <p:cNvPr id="29" name="R8_lnA210"/>
          <p:cNvSpPr/>
          <p:nvPr/>
        </p:nvSpPr>
        <p:spPr>
          <a:xfrm>
            <a:off x="548640" y="3831322"/>
            <a:ext cx="5349240" cy="3402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My sister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finish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university this year if she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passes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her exams.</a:t>
            </a:r>
            <a:endParaRPr lang="en-US" sz="1000" dirty="0"/>
          </a:p>
        </p:txBody>
      </p:sp>
      <p:sp>
        <p:nvSpPr>
          <p:cNvPr id="30" name="ln_211"/>
          <p:cNvSpPr/>
          <p:nvPr/>
        </p:nvSpPr>
        <p:spPr>
          <a:xfrm>
            <a:off x="548640" y="4171537"/>
            <a:ext cx="5349240" cy="28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I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 tonight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unless I finish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my homework quickly.</a:t>
            </a:r>
            <a:endParaRPr lang="en-US" sz="1000" dirty="0"/>
          </a:p>
        </p:txBody>
      </p:sp>
      <p:sp>
        <p:nvSpPr>
          <p:cNvPr id="31" name="R9_lnA212"/>
          <p:cNvSpPr/>
          <p:nvPr/>
        </p:nvSpPr>
        <p:spPr>
          <a:xfrm>
            <a:off x="548640" y="4171537"/>
            <a:ext cx="5349240" cy="2898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I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won't go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 tonight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unless I finish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my homework quickly.</a:t>
            </a:r>
            <a:endParaRPr lang="en-US" sz="1000" dirty="0"/>
          </a:p>
        </p:txBody>
      </p:sp>
      <p:sp>
        <p:nvSpPr>
          <p:cNvPr id="32" name="ln_213"/>
          <p:cNvSpPr/>
          <p:nvPr/>
        </p:nvSpPr>
        <p:spPr>
          <a:xfrm>
            <a:off x="548640" y="4461349"/>
            <a:ext cx="5349240" cy="247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Call me if you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some help with your project.</a:t>
            </a:r>
            <a:endParaRPr lang="en-US" sz="1000" dirty="0"/>
          </a:p>
        </p:txBody>
      </p:sp>
      <p:sp>
        <p:nvSpPr>
          <p:cNvPr id="33" name="R10_lnA214"/>
          <p:cNvSpPr/>
          <p:nvPr/>
        </p:nvSpPr>
        <p:spPr>
          <a:xfrm>
            <a:off x="548640" y="4461349"/>
            <a:ext cx="5349240" cy="24781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Call me if you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need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some help with your project.</a:t>
            </a:r>
            <a:endParaRPr lang="en-US" sz="1000" dirty="0"/>
          </a:p>
        </p:txBody>
      </p:sp>
      <p:sp>
        <p:nvSpPr>
          <p:cNvPr id="34" name="pf_215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5" name="ph_216" descr="/home/claude/lls-course/v2/cache/b1_7a_students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36" name="cd_217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ii_218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8" name="ih_219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9" name="il_220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/ unless + present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will / won't / imperative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2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2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135270" cy="621792"/>
          </a:xfrm>
          <a:prstGeom prst="rect">
            <a:avLst/>
          </a:prstGeom>
        </p:spPr>
      </p:pic>
      <p:sp>
        <p:nvSpPr>
          <p:cNvPr id="5" name="title_223"/>
          <p:cNvSpPr/>
          <p:nvPr/>
        </p:nvSpPr>
        <p:spPr>
          <a:xfrm>
            <a:off x="1261872" y="164592"/>
            <a:ext cx="48609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If or unless? When or until?</a:t>
            </a:r>
            <a:endParaRPr lang="en-US" sz="2500" dirty="0"/>
          </a:p>
        </p:txBody>
      </p:sp>
      <p:pic>
        <p:nvPicPr>
          <p:cNvPr id="6" name="brP_22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225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choose the correct word. Say why!</a:t>
            </a:r>
            <a:endParaRPr lang="en-US" sz="1250" dirty="0"/>
          </a:p>
        </p:txBody>
      </p:sp>
      <p:sp>
        <p:nvSpPr>
          <p:cNvPr id="8" name="insIT_22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scegliete la parola giusta. Dite perché!</a:t>
            </a:r>
            <a:endParaRPr lang="en-US" sz="950" dirty="0"/>
          </a:p>
        </p:txBody>
      </p:sp>
      <p:sp>
        <p:nvSpPr>
          <p:cNvPr id="9" name="note_22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 game</a:t>
            </a:r>
            <a:endParaRPr lang="en-US" sz="1250" dirty="0"/>
          </a:p>
        </p:txBody>
      </p:sp>
      <p:pic>
        <p:nvPicPr>
          <p:cNvPr id="10" name="logo_22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2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Grammar · choose the right option   ·   📖 Grammar Bank 7A rules + TG typical mistakes</a:t>
            </a:r>
            <a:endParaRPr lang="en-US" sz="800" dirty="0"/>
          </a:p>
        </p:txBody>
      </p:sp>
      <p:sp>
        <p:nvSpPr>
          <p:cNvPr id="12" name="cd_230"/>
          <p:cNvSpPr/>
          <p:nvPr/>
        </p:nvSpPr>
        <p:spPr>
          <a:xfrm>
            <a:off x="320040" y="1417320"/>
            <a:ext cx="2697480" cy="1917192"/>
          </a:xfrm>
          <a:prstGeom prst="roundRect">
            <a:avLst>
              <a:gd name="adj" fmla="val 667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3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23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233"/>
          <p:cNvSpPr/>
          <p:nvPr/>
        </p:nvSpPr>
        <p:spPr>
          <a:xfrm>
            <a:off x="886968" y="1911096"/>
            <a:ext cx="2039112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sentence. Choose A or B.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= 1 point.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 the meaning = 1 more point!</a:t>
            </a:r>
            <a:endParaRPr lang="en-US" sz="1200" dirty="0"/>
          </a:p>
        </p:txBody>
      </p:sp>
      <p:sp>
        <p:nvSpPr>
          <p:cNvPr id="16" name="st_234"/>
          <p:cNvSpPr/>
          <p:nvPr/>
        </p:nvSpPr>
        <p:spPr>
          <a:xfrm rot="-180000">
            <a:off x="502920" y="3517392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235"/>
          <p:cNvSpPr/>
          <p:nvPr/>
        </p:nvSpPr>
        <p:spPr>
          <a:xfrm>
            <a:off x="3246120" y="1452590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236"/>
          <p:cNvSpPr/>
          <p:nvPr/>
        </p:nvSpPr>
        <p:spPr>
          <a:xfrm>
            <a:off x="3657600" y="1417320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I'll call you when I arrive / I'll arrive.</a:t>
            </a:r>
            <a:endParaRPr lang="en-US" sz="1050" dirty="0"/>
          </a:p>
        </p:txBody>
      </p:sp>
      <p:sp>
        <p:nvSpPr>
          <p:cNvPr id="19" name="chip_237"/>
          <p:cNvSpPr/>
          <p:nvPr/>
        </p:nvSpPr>
        <p:spPr>
          <a:xfrm>
            <a:off x="6263640" y="1417320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arrive (present after when)</a:t>
            </a:r>
            <a:endParaRPr lang="en-US" sz="1150" dirty="0"/>
          </a:p>
        </p:txBody>
      </p:sp>
      <p:sp>
        <p:nvSpPr>
          <p:cNvPr id="20" name="bd_238"/>
          <p:cNvSpPr/>
          <p:nvPr/>
        </p:nvSpPr>
        <p:spPr>
          <a:xfrm>
            <a:off x="3246120" y="1916321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239"/>
          <p:cNvSpPr/>
          <p:nvPr/>
        </p:nvSpPr>
        <p:spPr>
          <a:xfrm>
            <a:off x="3657600" y="1881051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won't pass if / unless you revise.</a:t>
            </a:r>
            <a:endParaRPr lang="en-US" sz="1050" dirty="0"/>
          </a:p>
        </p:txBody>
      </p:sp>
      <p:sp>
        <p:nvSpPr>
          <p:cNvPr id="22" name="R1_chip240"/>
          <p:cNvSpPr/>
          <p:nvPr/>
        </p:nvSpPr>
        <p:spPr>
          <a:xfrm>
            <a:off x="6263640" y="1881051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unless (= if you don't)</a:t>
            </a:r>
            <a:endParaRPr lang="en-US" sz="1150" dirty="0"/>
          </a:p>
        </p:txBody>
      </p:sp>
      <p:sp>
        <p:nvSpPr>
          <p:cNvPr id="23" name="bd_241"/>
          <p:cNvSpPr/>
          <p:nvPr/>
        </p:nvSpPr>
        <p:spPr>
          <a:xfrm>
            <a:off x="3246120" y="2380053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242"/>
          <p:cNvSpPr/>
          <p:nvPr/>
        </p:nvSpPr>
        <p:spPr>
          <a:xfrm>
            <a:off x="3657600" y="2344783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Wait here until / when I come back.</a:t>
            </a:r>
            <a:endParaRPr lang="en-US" sz="1050" dirty="0"/>
          </a:p>
        </p:txBody>
      </p:sp>
      <p:sp>
        <p:nvSpPr>
          <p:cNvPr id="25" name="R2_chip243"/>
          <p:cNvSpPr/>
          <p:nvPr/>
        </p:nvSpPr>
        <p:spPr>
          <a:xfrm>
            <a:off x="6263640" y="2344783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until</a:t>
            </a:r>
            <a:endParaRPr lang="en-US" sz="1150" dirty="0"/>
          </a:p>
        </p:txBody>
      </p:sp>
      <p:sp>
        <p:nvSpPr>
          <p:cNvPr id="26" name="bd_244"/>
          <p:cNvSpPr/>
          <p:nvPr/>
        </p:nvSpPr>
        <p:spPr>
          <a:xfrm>
            <a:off x="3246120" y="284378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245"/>
          <p:cNvSpPr/>
          <p:nvPr/>
        </p:nvSpPr>
        <p:spPr>
          <a:xfrm>
            <a:off x="3657600" y="2808514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 soon as / Until I get my results, I'll phone you.</a:t>
            </a:r>
            <a:endParaRPr lang="en-US" sz="1050" dirty="0"/>
          </a:p>
        </p:txBody>
      </p:sp>
      <p:sp>
        <p:nvSpPr>
          <p:cNvPr id="28" name="R3_chip246"/>
          <p:cNvSpPr/>
          <p:nvPr/>
        </p:nvSpPr>
        <p:spPr>
          <a:xfrm>
            <a:off x="6263640" y="2808514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As soon as</a:t>
            </a:r>
            <a:endParaRPr lang="en-US" sz="1150" dirty="0"/>
          </a:p>
        </p:txBody>
      </p:sp>
      <p:sp>
        <p:nvSpPr>
          <p:cNvPr id="29" name="bd_247"/>
          <p:cNvSpPr/>
          <p:nvPr/>
        </p:nvSpPr>
        <p:spPr>
          <a:xfrm>
            <a:off x="3246120" y="3307515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248"/>
          <p:cNvSpPr/>
          <p:nvPr/>
        </p:nvSpPr>
        <p:spPr>
          <a:xfrm>
            <a:off x="3657600" y="3272246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a coffee before / after you start the exam – not during!</a:t>
            </a:r>
            <a:endParaRPr lang="en-US" sz="1050" dirty="0"/>
          </a:p>
        </p:txBody>
      </p:sp>
      <p:sp>
        <p:nvSpPr>
          <p:cNvPr id="31" name="R4_chip249"/>
          <p:cNvSpPr/>
          <p:nvPr/>
        </p:nvSpPr>
        <p:spPr>
          <a:xfrm>
            <a:off x="6263640" y="3272246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before</a:t>
            </a:r>
            <a:endParaRPr lang="en-US" sz="1150" dirty="0"/>
          </a:p>
        </p:txBody>
      </p:sp>
      <p:sp>
        <p:nvSpPr>
          <p:cNvPr id="32" name="bd_250"/>
          <p:cNvSpPr/>
          <p:nvPr/>
        </p:nvSpPr>
        <p:spPr>
          <a:xfrm>
            <a:off x="3246120" y="3771247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251"/>
          <p:cNvSpPr/>
          <p:nvPr/>
        </p:nvSpPr>
        <p:spPr>
          <a:xfrm>
            <a:off x="3657600" y="3735977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rains / will rain at the weekend, we'll stay at home.</a:t>
            </a:r>
            <a:endParaRPr lang="en-US" sz="1050" dirty="0"/>
          </a:p>
        </p:txBody>
      </p:sp>
      <p:sp>
        <p:nvSpPr>
          <p:cNvPr id="34" name="R5_chip252"/>
          <p:cNvSpPr/>
          <p:nvPr/>
        </p:nvSpPr>
        <p:spPr>
          <a:xfrm>
            <a:off x="6263640" y="3735977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rains</a:t>
            </a:r>
            <a:endParaRPr lang="en-US" sz="1150" dirty="0"/>
          </a:p>
        </p:txBody>
      </p:sp>
      <p:sp>
        <p:nvSpPr>
          <p:cNvPr id="35" name="bd_253"/>
          <p:cNvSpPr/>
          <p:nvPr/>
        </p:nvSpPr>
        <p:spPr>
          <a:xfrm>
            <a:off x="3246120" y="4234978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254"/>
          <p:cNvSpPr/>
          <p:nvPr/>
        </p:nvSpPr>
        <p:spPr>
          <a:xfrm>
            <a:off x="3657600" y="4199709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won't go out unless I finish / don't finish my homework.</a:t>
            </a:r>
            <a:endParaRPr lang="en-US" sz="1050" dirty="0"/>
          </a:p>
        </p:txBody>
      </p:sp>
      <p:sp>
        <p:nvSpPr>
          <p:cNvPr id="37" name="R6_chip255"/>
          <p:cNvSpPr/>
          <p:nvPr/>
        </p:nvSpPr>
        <p:spPr>
          <a:xfrm>
            <a:off x="6263640" y="4199709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finish (unless = if not)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5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258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will you do…?</a:t>
            </a:r>
            <a:endParaRPr lang="en-US" sz="2500" dirty="0"/>
          </a:p>
        </p:txBody>
      </p:sp>
      <p:pic>
        <p:nvPicPr>
          <p:cNvPr id="6" name="brP_25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260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and answer. Make full sentences!</a:t>
            </a:r>
            <a:endParaRPr lang="en-US" sz="1250" dirty="0"/>
          </a:p>
        </p:txBody>
      </p:sp>
      <p:sp>
        <p:nvSpPr>
          <p:cNvPr id="8" name="insIT_26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e rispondi. Frasi complete!</a:t>
            </a:r>
            <a:endParaRPr lang="en-US" sz="950" dirty="0"/>
          </a:p>
        </p:txBody>
      </p:sp>
      <p:sp>
        <p:nvSpPr>
          <p:cNvPr id="9" name="note_26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26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6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Speaking · What will you do…?   ·   📖 SB p.68 · 5f</a:t>
            </a:r>
            <a:endParaRPr lang="en-US" sz="800" dirty="0"/>
          </a:p>
        </p:txBody>
      </p:sp>
      <p:sp>
        <p:nvSpPr>
          <p:cNvPr id="12" name="cd_265"/>
          <p:cNvSpPr/>
          <p:nvPr/>
        </p:nvSpPr>
        <p:spPr>
          <a:xfrm>
            <a:off x="320040" y="1417320"/>
            <a:ext cx="2788920" cy="2326640"/>
          </a:xfrm>
          <a:prstGeom prst="roundRect">
            <a:avLst>
              <a:gd name="adj" fmla="val 5502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6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267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268"/>
          <p:cNvSpPr/>
          <p:nvPr/>
        </p:nvSpPr>
        <p:spPr>
          <a:xfrm>
            <a:off x="886968" y="1911096"/>
            <a:ext cx="2130552" cy="1759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 soon as I get home, I'll…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 don't get a good mark, I'll…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this course finishes, I'm going to…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rains, we'll…</a:t>
            </a:r>
            <a:endParaRPr lang="en-US" sz="1150" dirty="0"/>
          </a:p>
        </p:txBody>
      </p:sp>
      <p:sp>
        <p:nvSpPr>
          <p:cNvPr id="16" name="R1_qb269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270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will you do as soon as you get home?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As soon as I get home, I'll have something to eat.</a:t>
            </a:r>
            <a:endParaRPr lang="en-US" sz="1200" dirty="0"/>
          </a:p>
        </p:txBody>
      </p:sp>
      <p:sp>
        <p:nvSpPr>
          <p:cNvPr id="18" name="R2_qb271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272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…if you don't get a good mark in your next test?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If I don't get a good mark, I'll study harder.</a:t>
            </a:r>
            <a:endParaRPr lang="en-US" sz="1200" dirty="0"/>
          </a:p>
        </p:txBody>
      </p:sp>
      <p:sp>
        <p:nvSpPr>
          <p:cNvPr id="20" name="R3_qb273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274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…when this course finishes?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When this course finishes, I'll take the PET exam.</a:t>
            </a:r>
            <a:endParaRPr lang="en-US" sz="1200" dirty="0"/>
          </a:p>
        </p:txBody>
      </p:sp>
      <p:sp>
        <p:nvSpPr>
          <p:cNvPr id="22" name="R4_qb275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R4_sq276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…if it rains at the weekend?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If it rains, I'll watch a series.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7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7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279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and university</a:t>
            </a:r>
            <a:endParaRPr lang="en-US" sz="2500" dirty="0"/>
          </a:p>
        </p:txBody>
      </p:sp>
      <p:pic>
        <p:nvPicPr>
          <p:cNvPr id="6" name="brP_28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814316" cy="402336"/>
          </a:xfrm>
          <a:prstGeom prst="rect">
            <a:avLst/>
          </a:prstGeom>
        </p:spPr>
      </p:pic>
      <p:sp>
        <p:nvSpPr>
          <p:cNvPr id="7" name="ins_281"/>
          <p:cNvSpPr/>
          <p:nvPr/>
        </p:nvSpPr>
        <p:spPr>
          <a:xfrm>
            <a:off x="1353312" y="731520"/>
            <a:ext cx="4558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the questions that match your situation.</a:t>
            </a:r>
            <a:endParaRPr lang="en-US" sz="1250" dirty="0"/>
          </a:p>
        </p:txBody>
      </p:sp>
      <p:sp>
        <p:nvSpPr>
          <p:cNvPr id="8" name="insIT_28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Rispondi alle domande che corrispondono alla tua situazione.</a:t>
            </a:r>
            <a:endParaRPr lang="en-US" sz="950" dirty="0"/>
          </a:p>
        </p:txBody>
      </p:sp>
      <p:sp>
        <p:nvSpPr>
          <p:cNvPr id="9" name="note_28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Communicative</a:t>
            </a:r>
            <a:endParaRPr lang="en-US" sz="1250" dirty="0"/>
          </a:p>
        </p:txBody>
      </p:sp>
      <p:pic>
        <p:nvPicPr>
          <p:cNvPr id="10" name="logo_28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8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Reading &amp; speaking · university   ·   📖 SB p.69 · 6a</a:t>
            </a:r>
            <a:endParaRPr lang="en-US" sz="800" dirty="0"/>
          </a:p>
        </p:txBody>
      </p:sp>
      <p:sp>
        <p:nvSpPr>
          <p:cNvPr id="12" name="pf_286"/>
          <p:cNvSpPr/>
          <p:nvPr/>
        </p:nvSpPr>
        <p:spPr>
          <a:xfrm rot="-120000">
            <a:off x="943193" y="1371600"/>
            <a:ext cx="1542614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87" descr="/home/claude/lls-course/v2/cache/b1_7a_campus_jpg_34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988913" y="1417320"/>
            <a:ext cx="1451174" cy="1234440"/>
          </a:xfrm>
          <a:prstGeom prst="rect">
            <a:avLst/>
          </a:prstGeom>
        </p:spPr>
      </p:pic>
      <p:sp>
        <p:nvSpPr>
          <p:cNvPr id="14" name="cd_288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89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290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291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studying…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I'd like to study… because…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didn't go because…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I graduate, I'll…</a:t>
            </a:r>
            <a:endParaRPr lang="en-US" sz="1150" dirty="0"/>
          </a:p>
        </p:txBody>
      </p:sp>
      <p:sp>
        <p:nvSpPr>
          <p:cNvPr id="18" name="R1_qb292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293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at university now? What are you studying? Are you enjoying it? Is there anything you don't like? What are you planning to do when you graduate?</a:t>
            </a:r>
            <a:endParaRPr lang="en-US" sz="900" dirty="0"/>
          </a:p>
        </p:txBody>
      </p:sp>
      <p:sp>
        <p:nvSpPr>
          <p:cNvPr id="20" name="R2_qb294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295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been to university? Yes: What did you study? Did you enjoy it? Was there anything you didn't enjoy? No: Are you happy you didn't go? What are you doing now?</a:t>
            </a:r>
            <a:endParaRPr lang="en-US" sz="900" dirty="0"/>
          </a:p>
        </p:txBody>
      </p:sp>
      <p:sp>
        <p:nvSpPr>
          <p:cNvPr id="22" name="R3_qb296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297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want to go to university? Yes: What would you like to study? Why? Do you think you'll enjoy it? No: Why not? What would you like to do instead?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I'd like to study law in Palermo.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29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760720" cy="621792"/>
          </a:xfrm>
          <a:prstGeom prst="rect">
            <a:avLst/>
          </a:prstGeom>
        </p:spPr>
      </p:pic>
      <p:sp>
        <p:nvSpPr>
          <p:cNvPr id="5" name="title_300"/>
          <p:cNvSpPr/>
          <p:nvPr/>
        </p:nvSpPr>
        <p:spPr>
          <a:xfrm>
            <a:off x="1261872" y="1645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it really worth going to uni?</a:t>
            </a:r>
            <a:endParaRPr lang="en-US" sz="2500" dirty="0"/>
          </a:p>
        </p:txBody>
      </p:sp>
      <p:pic>
        <p:nvPicPr>
          <p:cNvPr id="6" name="brP_30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0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comments. Mark them ✓ (yes, it's worth it), ✗ (no, it isn't) or S (sometimes).</a:t>
            </a:r>
            <a:endParaRPr lang="en-US" sz="1100" dirty="0"/>
          </a:p>
        </p:txBody>
      </p:sp>
      <p:sp>
        <p:nvSpPr>
          <p:cNvPr id="8" name="insIT_30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i commenti. Segna ✓ (sì), ✗ (no) o S (a volte).</a:t>
            </a:r>
            <a:endParaRPr lang="en-US" sz="950" dirty="0"/>
          </a:p>
        </p:txBody>
      </p:sp>
      <p:sp>
        <p:nvSpPr>
          <p:cNvPr id="9" name="note_30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for opinion</a:t>
            </a:r>
            <a:endParaRPr lang="en-US" sz="1150" dirty="0"/>
          </a:p>
        </p:txBody>
      </p:sp>
      <p:pic>
        <p:nvPicPr>
          <p:cNvPr id="10" name="logo_30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0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Reading · Is it really worth going to uni?   ·   📖 SB p.69 · 6b, 6c (the comments are on the slide · TG key)</a:t>
            </a:r>
            <a:endParaRPr lang="en-US" sz="800" dirty="0"/>
          </a:p>
        </p:txBody>
      </p:sp>
      <p:sp>
        <p:nvSpPr>
          <p:cNvPr id="12" name="cd_307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0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UK student site · Forum: Is it really worth going to uni?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depends what you want to do. Some degrees are worth it, like medicine or dentistry. But I think media studies, and things like that, are a waste of 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 gives you the time and space to find out what you really want to do in life. And it has a lot of social benefits, like friends, clubs – that sort of thing.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so many better alternatives out there, in my opinion. I got a place at uni to do accountancy, but I chose to do an apprenticeship. All my friends are now at uni and in debt. I'm 20 and I'm earning money and learning on the job.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still amazes me how everyone thinks that uni is the only solution to their future. Trust me, it isn't. Some people are just not made for uni.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a software engineer at a global tech company. A degree is preferred, but not essential. The recruitment team always say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they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people, and one is self-taught and has experience, and the other has just finished uni with no experience,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they'll choose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first. But often they ask for a degree AND experience.</a:t>
            </a:r>
            <a:endParaRPr lang="en-US" sz="950" dirty="0"/>
          </a:p>
        </p:txBody>
      </p:sp>
      <p:sp>
        <p:nvSpPr>
          <p:cNvPr id="14" name="R1_rdE30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UK student site · Forum: Is it really worth going to uni?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depends what you want to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Some degrees are worth it, like medicine or dentistry. But I think media studies, and things like that, are a waste of 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 gives you the time and space to find out what you really want to do in life.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has a lot of social benefits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like friends, clubs – that sort of thing.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There are so many better alternatives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 there, in my opinion. I got a place at uni to do accountancy, but I chose to do an apprenticeship. All my friends are now at uni and in debt. I'm 20 and I'm earning money and learning on the job.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still amazes me how everyone thinks that uni is the only solution to their future. Trust me, it isn't.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Some people are just not made for uni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a software engineer at a global tech company. A degree is preferred, but not essential. The recruitment team always say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they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people, and one is self-taught and has experience, and the other has just finished uni with no experience,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they'll choose the first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But often they ask for a degree AND experience.</a:t>
            </a:r>
            <a:endParaRPr lang="en-US" sz="950" dirty="0"/>
          </a:p>
        </p:txBody>
      </p:sp>
      <p:sp>
        <p:nvSpPr>
          <p:cNvPr id="15" name="R1_rdA31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UK student site · Forum: Is it really worth going to uni?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depends what you want to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Some degrees are worth it, like medicine or dentistry. But I think media studies, and things like that, are a waste of 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 gives you the time and space to find out what you really want to do in life.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has a lot of social benefits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like friends, clubs – that sort of thing.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There are so many better alternatives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 there, in my opinion. I got a place at uni to do accountancy, but I chose to do an apprenticeship. All my friends are now at uni and in debt. I'm 20 and I'm earning money and learning on the job.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still amazes me how everyone thinks that uni is the only solution to their future. Trust me, it isn't.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Some people are just not made for uni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a software engineer at a global tech company. A degree is preferred, but not essential. The recruitment team always say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they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people, and one is self-taught and has experience, and the other has just finished uni with no experience,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they'll choose the first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But often they ask for a degree AND experience.</a:t>
            </a:r>
            <a:endParaRPr lang="en-US" sz="950" dirty="0"/>
          </a:p>
        </p:txBody>
      </p:sp>
      <p:sp>
        <p:nvSpPr>
          <p:cNvPr id="16" name="R2_rdA31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UK student site · Forum: Is it really worth going to uni?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depends what you want to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Some degrees are worth it, like medicine or dentistry. But I think media studies, and things like that, are a waste of 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✓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 gives you the time and space to find out what you really want to do in life.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has a lot of social benefits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like friends, clubs – that sort of thing.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There are so many better alternatives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 there, in my opinion. I got a place at uni to do accountancy, but I chose to do an apprenticeship. All my friends are now at uni and in debt. I'm 20 and I'm earning money and learning on the job.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still amazes me how everyone thinks that uni is the only solution to their future. Trust me, it isn't.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Some people are just not made for uni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a software engineer at a global tech company. A degree is preferred, but not essential. The recruitment team always say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they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people, and one is self-taught and has experience, and the other has just finished uni with no experience,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they'll choose the first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But often they ask for a degree AND experience.</a:t>
            </a:r>
            <a:endParaRPr lang="en-US" sz="950" dirty="0"/>
          </a:p>
        </p:txBody>
      </p:sp>
      <p:sp>
        <p:nvSpPr>
          <p:cNvPr id="17" name="R3_rdA31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UK student site · Forum: Is it really worth going to uni?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depends what you want to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Some degrees are worth it, like medicine or dentistry. But I think media studies, and things like that, are a waste of 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✓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 gives you the time and space to find out what you really want to do in life.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has a lot of social benefits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like friends, clubs – that sort of thing.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✗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There are so many better alternatives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 there, in my opinion. I got a place at uni to do accountancy, but I chose to do an apprenticeship. All my friends are now at uni and in debt. I'm 20 and I'm earning money and learning on the job.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still amazes me how everyone thinks that uni is the only solution to their future. Trust me, it isn't.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Some people are just not made for uni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a software engineer at a global tech company. A degree is preferred, but not essential. The recruitment team always say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they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people, and one is self-taught and has experience, and the other has just finished uni with no experience,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they'll choose the first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But often they ask for a degree AND experience.</a:t>
            </a:r>
            <a:endParaRPr lang="en-US" sz="950" dirty="0"/>
          </a:p>
        </p:txBody>
      </p:sp>
      <p:sp>
        <p:nvSpPr>
          <p:cNvPr id="18" name="R4_rdA31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UK student site · Forum: Is it really worth going to uni?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depends what you want to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Some degrees are worth it, like medicine or dentistry. But I think media studies, and things like that, are a waste of 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✓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 gives you the time and space to find out what you really want to do in life.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has a lot of social benefits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like friends, clubs – that sort of thing.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✗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There are so many better alternatives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 there, in my opinion. I got a place at uni to do accountancy, but I chose to do an apprenticeship. All my friends are now at uni and in debt. I'm 20 and I'm earning money and learning on the job.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✗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still amazes me how everyone thinks that uni is the only solution to their future. Trust me, it isn't.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Some people are just not made for uni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a software engineer at a global tech company. A degree is preferred, but not essential. The recruitment team always say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they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people, and one is self-taught and has experience, and the other has just finished uni with no experience,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they'll choose the first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But often they ask for a degree AND experience.</a:t>
            </a:r>
            <a:endParaRPr lang="en-US" sz="950" dirty="0"/>
          </a:p>
        </p:txBody>
      </p:sp>
      <p:sp>
        <p:nvSpPr>
          <p:cNvPr id="19" name="R5_rdA31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UK student site · Forum: Is it really worth going to uni?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depends what you want to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Some degrees are worth it, like medicine or dentistry. But I think media studies, and things like that, are a waste of 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✓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 gives you the time and space to find out what you really want to do in life.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has a lot of social benefits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like friends, clubs – that sort of thing.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✗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There are so many better alternatives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 there, in my opinion. I got a place at uni to do accountancy, but I chose to do an apprenticeship. All my friends are now at uni and in debt. I'm 20 and I'm earning money and learning on the job.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✗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still amazes me how everyone thinks that uni is the only solution to their future. Trust me, it isn't.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Some people are just not made for uni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✓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a software engineer at a global tech company. A degree is preferred, but not essential. The recruitment team always say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they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people, and one is self-taught and has experience, and the other has just finished uni with no experience,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they'll choose the first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But often they ask for a degree AND experience.</a:t>
            </a:r>
            <a:endParaRPr lang="en-US" sz="950" dirty="0"/>
          </a:p>
        </p:txBody>
      </p:sp>
      <p:sp>
        <p:nvSpPr>
          <p:cNvPr id="20" name="cd_315"/>
          <p:cNvSpPr/>
          <p:nvPr/>
        </p:nvSpPr>
        <p:spPr>
          <a:xfrm>
            <a:off x="6263640" y="1417320"/>
            <a:ext cx="2606040" cy="1350264"/>
          </a:xfrm>
          <a:prstGeom prst="roundRect">
            <a:avLst>
              <a:gd name="adj" fmla="val 948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ii_316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🤔</a:t>
            </a:r>
            <a:endParaRPr lang="en-US" sz="2200" dirty="0"/>
          </a:p>
        </p:txBody>
      </p:sp>
      <p:sp>
        <p:nvSpPr>
          <p:cNvPr id="22" name="ih_317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it really worth…?</a:t>
            </a:r>
            <a:endParaRPr lang="en-US" sz="1300" dirty="0"/>
          </a:p>
        </p:txBody>
      </p:sp>
      <p:sp>
        <p:nvSpPr>
          <p:cNvPr id="23" name="il_318"/>
          <p:cNvSpPr/>
          <p:nvPr/>
        </p:nvSpPr>
        <p:spPr>
          <a:xfrm>
            <a:off x="6830568" y="1911096"/>
            <a:ext cx="1947672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= Is it a good idea / a good use of your time, effort, and money?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2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321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Jack or Emily-Fleur?</a:t>
            </a:r>
            <a:endParaRPr lang="en-US" sz="2500" dirty="0"/>
          </a:p>
        </p:txBody>
      </p:sp>
      <p:pic>
        <p:nvPicPr>
          <p:cNvPr id="6" name="brP_32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2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Jack and Emily-Fleur. Which of them do you think is happier?</a:t>
            </a:r>
            <a:endParaRPr lang="en-US" sz="1100" dirty="0"/>
          </a:p>
        </p:txBody>
      </p:sp>
      <p:sp>
        <p:nvSpPr>
          <p:cNvPr id="8" name="insIT_32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Jack ed Emily-Fleur. Chi pensi sia più felice?</a:t>
            </a:r>
            <a:endParaRPr lang="en-US" sz="950" dirty="0"/>
          </a:p>
        </p:txBody>
      </p:sp>
      <p:sp>
        <p:nvSpPr>
          <p:cNvPr id="9" name="note_32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Communicative</a:t>
            </a:r>
            <a:endParaRPr lang="en-US" sz="1150" dirty="0"/>
          </a:p>
        </p:txBody>
      </p:sp>
      <p:pic>
        <p:nvPicPr>
          <p:cNvPr id="10" name="logo_3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Reading &amp; speaking · University or not?   ·   📖 SB p.69 · 6e, 6f, 6g · Communication A p.108, B p.112</a:t>
            </a:r>
            <a:endParaRPr lang="en-US" sz="800" dirty="0"/>
          </a:p>
        </p:txBody>
      </p:sp>
      <p:sp>
        <p:nvSpPr>
          <p:cNvPr id="12" name="pf_328"/>
          <p:cNvSpPr/>
          <p:nvPr/>
        </p:nvSpPr>
        <p:spPr>
          <a:xfrm rot="-120000">
            <a:off x="320040" y="1371600"/>
            <a:ext cx="278892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29" descr="/home/claude/lls-course/v2/cache/b1_7a_jack_emily_jpg_64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234440"/>
          </a:xfrm>
          <a:prstGeom prst="rect">
            <a:avLst/>
          </a:prstGeom>
        </p:spPr>
      </p:pic>
      <p:sp>
        <p:nvSpPr>
          <p:cNvPr id="14" name="cd_330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31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332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333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think … is happier because…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Jack has a degree, but…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Emily-Fleur didn't go to university, so…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think … made a better decision.</a:t>
            </a:r>
            <a:endParaRPr lang="en-US" sz="1000" dirty="0"/>
          </a:p>
        </p:txBody>
      </p:sp>
      <p:sp>
        <p:nvSpPr>
          <p:cNvPr id="18" name="R1_qb334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335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Jack Turner, 23, has a degree and is unemployed. Emily-Fleur Sizmur didn't go to university and runs her own business. Which of them do you think is happier?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Emily-Fleur – she has her own business.</a:t>
            </a:r>
            <a:endParaRPr lang="en-US" sz="900" dirty="0"/>
          </a:p>
        </p:txBody>
      </p:sp>
      <p:sp>
        <p:nvSpPr>
          <p:cNvPr id="20" name="R2_qb336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337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about them: A reads about Jack (p.108), B about Emily-Fleur (p.112). Ask and answer.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(Communication University or not?)</a:t>
            </a:r>
            <a:endParaRPr lang="en-US" sz="950" dirty="0"/>
          </a:p>
        </p:txBody>
      </p:sp>
      <p:sp>
        <p:nvSpPr>
          <p:cNvPr id="22" name="R3_qb338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339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your opinion, who made a better decision about university, Emily-Fleur or Jack? Why?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Maybe Emily-Fleur – but it depends on the job.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4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4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342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completely disagree!</a:t>
            </a:r>
            <a:endParaRPr lang="en-US" sz="2500" dirty="0"/>
          </a:p>
        </p:txBody>
      </p:sp>
      <p:pic>
        <p:nvPicPr>
          <p:cNvPr id="6" name="brP_34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4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a topic. Agree or disagree? Give 3 reasons. Then the group votes!</a:t>
            </a:r>
            <a:endParaRPr lang="en-US" sz="1100" dirty="0"/>
          </a:p>
        </p:txBody>
      </p:sp>
      <p:sp>
        <p:nvSpPr>
          <p:cNvPr id="8" name="insIT_34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Scegli un tema. D'accordo o no? Dai 3 motivi. Poi il gruppo vota!</a:t>
            </a:r>
            <a:endParaRPr lang="en-US" sz="950" dirty="0"/>
          </a:p>
        </p:txBody>
      </p:sp>
      <p:sp>
        <p:nvSpPr>
          <p:cNvPr id="9" name="note_34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👨‍👩‍👧 groups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150" dirty="0"/>
          </a:p>
        </p:txBody>
      </p:sp>
      <p:pic>
        <p:nvPicPr>
          <p:cNvPr id="10" name="logo_34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4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Speaking · debate   ·   📖 SB p.69 · 7a, 7b (5 of the 8 topics)</a:t>
            </a:r>
            <a:endParaRPr lang="en-US" sz="800" dirty="0"/>
          </a:p>
        </p:txBody>
      </p:sp>
      <p:sp>
        <p:nvSpPr>
          <p:cNvPr id="12" name="cd_349"/>
          <p:cNvSpPr/>
          <p:nvPr/>
        </p:nvSpPr>
        <p:spPr>
          <a:xfrm>
            <a:off x="320040" y="1417320"/>
            <a:ext cx="2788920" cy="3039872"/>
          </a:xfrm>
          <a:prstGeom prst="roundRect">
            <a:avLst>
              <a:gd name="adj" fmla="val 459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5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14" name="ih_351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Organizing and presenting your opinions</a:t>
            </a:r>
            <a:endParaRPr lang="en-US" sz="1100" dirty="0"/>
          </a:p>
        </p:txBody>
      </p:sp>
      <p:sp>
        <p:nvSpPr>
          <p:cNvPr id="15" name="il_352"/>
          <p:cNvSpPr/>
          <p:nvPr/>
        </p:nvSpPr>
        <p:spPr>
          <a:xfrm>
            <a:off x="886968" y="1911096"/>
            <a:ext cx="2130552" cy="247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topic I've chosen is…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completely agree / partly agree / completely disagree that…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of all, (I think that…)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second point is that…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Another important point is that…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Finally,…</a:t>
            </a:r>
            <a:endParaRPr lang="en-US" sz="1150" dirty="0"/>
          </a:p>
        </p:txBody>
      </p:sp>
      <p:sp>
        <p:nvSpPr>
          <p:cNvPr id="16" name="R1_qb353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354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School doesn't prepare students for life. They should be taught practical things, like childcare, and how to cook healthy food.</a:t>
            </a:r>
            <a:endParaRPr lang="en-US" sz="950" dirty="0"/>
          </a:p>
        </p:txBody>
      </p:sp>
      <p:sp>
        <p:nvSpPr>
          <p:cNvPr id="18" name="R2_qb355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356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Primary pupils shouldn't get any homework, and secondary students not more than one hour a night during the week.</a:t>
            </a:r>
            <a:endParaRPr lang="en-US" sz="950" dirty="0"/>
          </a:p>
        </p:txBody>
      </p:sp>
      <p:sp>
        <p:nvSpPr>
          <p:cNvPr id="20" name="R3_qb357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358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Schools should spend most of the time on maths, science, and IT, and less on arts subjects like history and literature.</a:t>
            </a:r>
            <a:endParaRPr lang="en-US" sz="950" dirty="0"/>
          </a:p>
        </p:txBody>
      </p:sp>
      <p:sp>
        <p:nvSpPr>
          <p:cNvPr id="22" name="R4_qb359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R4_sq360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University courses are too long. They should be a maximum of two years.</a:t>
            </a:r>
            <a:endParaRPr lang="en-US" sz="950" dirty="0"/>
          </a:p>
        </p:txBody>
      </p:sp>
      <p:sp>
        <p:nvSpPr>
          <p:cNvPr id="24" name="R5_qb361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R5_sq362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Students should choose to study a subject they love, not necessarily one that will get them a good job.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6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65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36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367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36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369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37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7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Exit · what can you remember?</a:t>
            </a:r>
            <a:endParaRPr lang="en-US" sz="800" dirty="0"/>
          </a:p>
        </p:txBody>
      </p:sp>
      <p:sp>
        <p:nvSpPr>
          <p:cNvPr id="12" name="bd_372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373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sentences with if, unless and as soon as.</a:t>
            </a:r>
            <a:endParaRPr lang="en-US" sz="1400" dirty="0"/>
          </a:p>
        </p:txBody>
      </p:sp>
      <p:sp>
        <p:nvSpPr>
          <p:cNvPr id="14" name="bd_374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375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reasons for (or against) going to university.</a:t>
            </a:r>
            <a:endParaRPr lang="en-US" sz="1400" dirty="0"/>
          </a:p>
        </p:txBody>
      </p:sp>
      <p:sp>
        <p:nvSpPr>
          <p:cNvPr id="16" name="bd_376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377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you'll do when this lesson finishes.</a:t>
            </a:r>
            <a:endParaRPr lang="en-US" sz="1400" dirty="0"/>
          </a:p>
        </p:txBody>
      </p:sp>
      <p:sp>
        <p:nvSpPr>
          <p:cNvPr id="18" name="cd_378"/>
          <p:cNvSpPr/>
          <p:nvPr/>
        </p:nvSpPr>
        <p:spPr>
          <a:xfrm>
            <a:off x="5669280" y="1417320"/>
            <a:ext cx="3200400" cy="1453896"/>
          </a:xfrm>
          <a:prstGeom prst="roundRect">
            <a:avLst>
              <a:gd name="adj" fmla="val 880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379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380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381"/>
          <p:cNvSpPr/>
          <p:nvPr/>
        </p:nvSpPr>
        <p:spPr>
          <a:xfrm>
            <a:off x="6236208" y="1911096"/>
            <a:ext cx="2542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7A: grammar (first conditional)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7A p.144: exercise b</a:t>
            </a:r>
            <a:endParaRPr lang="en-US" sz="1150" dirty="0"/>
          </a:p>
        </p:txBody>
      </p:sp>
      <p:sp>
        <p:nvSpPr>
          <p:cNvPr id="22" name="st_382"/>
          <p:cNvSpPr/>
          <p:nvPr/>
        </p:nvSpPr>
        <p:spPr>
          <a:xfrm rot="-180000">
            <a:off x="5806440" y="3099816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7B The hotel of Mum and Dad (SB p.70)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8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38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385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38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387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38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38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39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9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7A-2 · Review · what did you do today?</a:t>
            </a:r>
            <a:endParaRPr lang="en-US" sz="800" dirty="0"/>
          </a:p>
        </p:txBody>
      </p:sp>
      <p:sp>
        <p:nvSpPr>
          <p:cNvPr id="12" name="cd_392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393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4" name="tt_394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Talked about exams: pass, fail, revise</a:t>
            </a:r>
            <a:endParaRPr lang="en-US" sz="1350" dirty="0"/>
          </a:p>
        </p:txBody>
      </p:sp>
      <p:sp>
        <p:nvSpPr>
          <p:cNvPr id="15" name="R1_tk395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396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397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18" name="tt_398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Olivia waiting for her results</a:t>
            </a:r>
            <a:endParaRPr lang="en-US" sz="1350" dirty="0"/>
          </a:p>
        </p:txBody>
      </p:sp>
      <p:sp>
        <p:nvSpPr>
          <p:cNvPr id="19" name="R2_tk399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00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01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2" name="tt_402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Used if, unless, when, as soon as, until</a:t>
            </a:r>
            <a:endParaRPr lang="en-US" sz="1350" dirty="0"/>
          </a:p>
        </p:txBody>
      </p:sp>
      <p:sp>
        <p:nvSpPr>
          <p:cNvPr id="23" name="R3_tk403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04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05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6" name="tt_406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Read: is it really worth going to uni?</a:t>
            </a:r>
            <a:endParaRPr lang="en-US" sz="1350" dirty="0"/>
          </a:p>
        </p:txBody>
      </p:sp>
      <p:sp>
        <p:nvSpPr>
          <p:cNvPr id="27" name="R4_tk407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08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09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30" name="tt_410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Agreed or disagree in a group debate</a:t>
            </a:r>
            <a:endParaRPr lang="en-US" sz="1350" dirty="0"/>
          </a:p>
        </p:txBody>
      </p:sp>
      <p:sp>
        <p:nvSpPr>
          <p:cNvPr id="31" name="R5_tk411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12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7A-2 Is it worth going to uni?</dc:title>
  <dc:subject>PptxGenJS Presentation</dc:subject>
  <dc:creator>PptxGenJS</dc:creator>
  <cp:lastModifiedBy>PptxGenJS</cp:lastModifiedBy>
  <cp:revision>1</cp:revision>
  <dcterms:created xsi:type="dcterms:W3CDTF">2026-10-23T08:07:36Z</dcterms:created>
  <dcterms:modified xsi:type="dcterms:W3CDTF">2026-10-23T08:07:36Z</dcterms:modified>
</cp:coreProperties>
</file>