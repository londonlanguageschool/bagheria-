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photo. Ask the THINK question: 'Files 1 and 2 – how much can you remember? Give me one word from File 1 and one from File 2.' Take 4–5 words quickly (no corrections). Read the 'Today you're going to…' list: it's a game and test lesson, so put students in 2–3 TEAMS now and draw a score table on the board. Teams keep the same names all lesson (points from every game add 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Left: last lesson's strong adjectives – elicit the normal adjective for each (very tired, very cold, very funny) and check 'Can you say very exhausted?' (no). Right: the four key grammar points of Files 1–2 that today's exam practice tests (present simple / continuous, future forms, present perfect / past simple, How long…? + for / since) – one example each, just to activate them. Then play 'Make it stronger!'.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lesson: strong adjectives (3 min)
RETRIEVAL WARMER (4 min) · books closed, no notes. Read each 'very' sentence aloud with a bored voice; the first team to shout the strong version (with lots of stress: 'I'm EXhausted!') gets the point. Click once per line to show the model answer. Bonus point for adding 'absolutely' or 'really' – but NOT 'very' (✗ very exhausted → ✓ absolutely / really exhausted): Italian speakers say 'molto stanchissimo' logic, so check it every time. ICQ: 'Can you say very exhausted?' (no). Answers: exhausted · freezing · starving · filthy · furious · hilarious (other correct strong adjectives accepted, e.g. boiling is wrong for cold!).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Game · pronunciation · vowel sounds (4 min)
GAME 2 (4 min) · beat the clock. Say the sound word and the sound (fish – /ɪ/ – fish) and drill it once chorally. Teams have 30 seconds to write as many words from Files 1–2 with that sound as they can. Then click: the model words appear (all from 1A Vocabulary Bank Food, 1A pronunciation 1.6 and 2A audio 2.5–2.7). Teams read their lists aloud: 1 point per word with the right sound; 0 if the sound is wrong (trap: 'money' is /ʌ/, not /ɒ/; 'worth' is /ɜː/, not /ɔː/). Do 3–4 sounds if time is short. Remind them: the Sound Bank on pp.166–167 shows the typical spellings.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Exam practice · SB p.24 Grammar 1–8 (6 min)
EXAM TASK UNDER REAL CONDITIONS (6 min). Books open at p.24. Students do ALL of Grammar 1–15 ALONE, in silence, in 4 minutes (exam conditions; set a visible timer). ICQs: 'Alone or in pairs?' (alone) · 'How many minutes?' (4). Then swap books with a partner to mark. Click once per gap: the right answer appears IN the sentence. TG key: 1 a doesn't like · 2 c I'm usually · 3 a never watch · 4 b I'm studying · 5 c Do you have · 6 c are you going to do · 7 a I'm meeting · 8 c I'll have. (Item 8 is shortened on the slide: book = 'Would you like something to drink?') Don't explain yet – just mark; the WHY comes on slide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Exam practice · SB p.24 Grammar 9–15 (2 min)
CHECK (2 min). Click once per gap. TG key: 9 a Shall I · 10 b did you buy · 11 a I've never been · 12 b haven't spent it yet · 13 a for about three years · 14 c has he been living · 15 b I've been going to. Partners write the score (/15) at the top of the page. Quick hands-up: 'Who got 13 or more?' Ask each student to circle the numbers they got wrong – they use them on the exit slide (their target).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Exam strategy · multiple choice (3 min)
STRATEGY FOCUS (3 min). Click once per card. For each card, point back to a test item: card 1 → items 10 (Where did you buy it?) and 13 (for about three years) · card 2 → item 1 (like = no -ing) · card 3 → items 7 (arrangement), 8 (decide now), 9 (offer) · card 4 → items 1, 4, 6 (one distractor is just a spelling or form mistake). Last click = the exam routine. CCQ: 'last March – finished or not finished?' (finished → past simple, BUT 'Since last March' → present perfect!). Elicit: why is 14c right? (How long + since → present perfect continuous).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Exam practice · second attempt (3 min)
SECOND ATTEMPT (3 min). Pairs, 90 seconds, then click once per sentence (the letter appears). Ask for the CLUE each time (students as teachers): 1 b tastes (taste = non-action verb) · 2 b I'm visiting (arrangement) · 3 b lost (yesterday = finished time) · 4 a 've had (for + non-action verb have = possess) · 5 a Shall I (offer, question) · 6 b have you been waiting (How long + action verb). ICQ: 'Do you just choose, or say the clue too?' (say the clue). The sentences are ours, built only from Files 1–2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Game · grammar auction (7 min)
GAME 3 (7 min) · risk. Teach 'auction' (asta) and 'bid' (offerta) with the picture. Teams of 3–4, €1,000 each; teams have 2 minutes to decide which sentences are correct (no clicking yet!). The teacher is the auctioneer: read sentence 1 – 'Who will give me €50?' – minimum bid €50, the highest bid buys it. Write the purchases on the board. When all 8 are sold, click once per sentence to reveal. Teams LOSE the money spent on wrong sentences; the team with the most CORRECT sentences wins (money left = tie-break). Then teams correct the wrong ones aloud. Rules: 1 like = non-action · 2 present continuous for arrangements · 3 going to + evidence · 4 offers = will / shall (typical Italian mistake) · 5 last year = finished time → past simple · 6 present perfect for experiences · 7 How long…? + present perfect · 8 present perfect continuous: a recent action with a visible result. ICQ: 'Do you want to buy the wrong sentences?' (no!).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Game · vocabulary · noughts and crosses (6 min)
GAME 4 (6 min) · choice + strategy. Draw a 3 × 3 grid numbered 1–9 on the board (two teams: X and O; with three teams, play winner-stays-on). Team X chooses a square; the teacher reads the prompt from the slide, the team has 15 seconds: correct = X in the square; wrong = team O can steal it. The answers on the slide come one per click IN ORDER, so DON'T click during the game – use these notes; click through all 9 at the end as a quick check. Answers: 1 any 3 of crab, lobster, mussels, prawns, squid (salmon and tuna are fish) · 2 any 3 of fried, grilled, steamed, roast, boiled, baked · 3 impatient, immature, dishonest · 4 borrow · 5 money a bank lends you to buy a house · 6 stepmother · 7 competitive · 8 out, down · 9 nephew. Game 2 if time: teams must give DIFFERENT answers from game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class story (TPRS) (4 min)
TPRS CLASS STORY (4 min) – after the test, the strategy and the two games, and just before the street-interview speaking and the 2.21 listening: one funny story that puts the whole of Files 1–2 together in context – present simple / continuous (is saving, is still cooking), future plans (going to), present perfect continuous + for (has been practising for three weeks), present perfect for experience (has never cooked), money (afford, borrow, a waste of money), family (stepbrother, nonna), food (fried arancine, prawns, takeaway) and strong adjectives (starving, filthy, furious). Click once per line. For each line: 1) say it, 2) ask the questions round the class (yes/no → either/or → who/what), 3) let the CLASS change details: 'Is it Nonna's birthday? No? Whose birthday is it?' – accept their idea and use it in later lines. Students answer with one word or a short phrase – that's fine, but award a team point for a full correct sentence ('He's been practising for three weeks!'). Finish: 'What happens next?' – one or two ideas, then move on to 'Street interview: you!'.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before you listen (3 min)
PREDICTION + PERSONALISATION (3 min). These are the five questions the interviewer asks in 2.21 – students answer them first, so they know what to listen for. Questions appear ONE PER CLICK (about 30 seconds each). A interviews B with a pretend microphone (a pen!), then swap for the last two. Polite refusal is on the card – nobody has to talk about family or money. Monitor and note 3–4 errors for the delayed correction at the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Exam practice · listening · 2.21 (5 min)
EXAM-STYLE LISTENING (5 min). Like the B1 Preliminary listening: read the options first (30 seconds), listen twice. Play 2.21 (or the video EF_INT_REVISE_AND_CHECK_1_2.mp4) ONCE; students choose; play AGAIN to check; pairs compare; click once per item. TG key: 1 a · 2 b · 3 b · 4 c · 5 b. Evidence (audio script): 1 'I love roast potatoes, baked potatoes' · 2 'usually pizza, Mexican, or Asian' → pizza = Italian · 3 'we didn't grow up together, but we're now all adults and we get on really well' · 4 'an unplanned long weekend break in the Malverns' (a long WEEKEND = a short holiday – the distractor trap!) · 5 'About six and a half thousand pounds'. Strategy point: in 4 you HEAR 'long' but the answer is 'short' – the exam often uses words from the wrong option. ICQ: 'How many times will you hear it?' (twice).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roll and talk (7 min)
SPEAKING (7 min) · chance + challenge. Click 6 times to show all six topics before you start. Groups of 3–4 with a dice (or a dice app / the teacher rolls for the class). The speaker talks about the topic for 45 seconds without stopping; then the group asks two follow-up questions. Same number again = choose any topic. Each topic recycles one grammar point: 1 present simple + cooking (1A) · 2 present continuous for now / temporary (1A) · 3 future forms (1B) · 4 personality (1B) · 5 past simple / present perfect + money (2A) · 6 present perfect continuous + for / since (2B). Topic 4 can be about a friend or a famous person. ICQs: 'How long do you talk?' (45 seconds) · 'What do the others do?' (ask two questions). Monitor and note errors for the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Self-assessment · Can you say this in English? (4 min)
SELF-ASSESSMENT (4 min). Students write ✓ or ? for each line in the book (p.25) or on paper: be honest! Then in pairs they PROVE each ✓ to their partner (30 seconds each). Click once per line to show a model answer for students who need support. Partner decides: 'Yes, you can!' or 'Not yet'. Any '?' becomes the target on the next slide. ICQ: 'Do you tick everything?' (no – only what you can do well).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Exit · what can you remember? (3 min)
RETRIEVAL EXIT + SELF-ASSESSMENT (3 min). Books closed. Students write 3·2·1 on a slip: the '2 mistakes' come from the test, the auction or your delayed correction (write 3–4 errors you noted during the speaking on the board first; students correct them). The '1' is their personal target (e.g. 'I'll revise for / since – Grammar Bank 2B p.135'). Collect the slips: they tell you what to recycle in File 3. Announce the winning team. Homework: SB p.25 reading (TG key: a is now doing · b 1 giving · 2 proud · 3 benefit · 4 might · 5 wasted · 6 improvement · 7 closing), Online Practice Check your progress, homework sheet R1-2 (easier version available). Teacher's Resource Centre: Quick Test 2 / File 2 Test if you want a formal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Extra · SB p.24 Vocabulary + Pronunciation (8 min)
EXTRA (8 min, or homework). Pairs do Vocabulary a–e and Pronunciation c–d on p.24 (6 min), then click once per section. TG key: a 1 duck (the others are seafood) · 2 crab (the others are meat) · 3 beetroot (the others are fruits) · 4 raspberry (the others are vegetables) · 5 chicken (the others are ways of cooking) · b 1 dishonest · 2 unfriendly · 3 irresponsible · 4 immature · 5 insensitive · c 1 waste · 2 inherit · 3 earn · 4 borrow · 5 save · d 1 exhausted · 2 starving · 3 freezing · 4 filthy · 5 furious · e 1 out · 2 out · 3 on · 4 back · 5 out · Pronunciation c 1 chicken /ɪ/ · 2 charge /ɑː/ · 3 inherit /h/ · 4 salary /æ/ · 5 steamed /iː/ · d: the stress shown is standard dictionary stress (the TG prints the words without marking it). Score: grammar 15 + vocabulary 25 + pronunciation 10 = 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Extra game · word snake (5 min)
EXTRA GAME (5 min) · constraint challenge. Click through the example snake first (one link per click) so everyone sees how it works, then play: write the snake on the board as it grows. Topics: FOOD / COOKING, FAMILY, PERSONALITY, MONEY, STRONG ADJECTIVES. Bonus point for a correct sentence with the word in a Files 1–2 tense (e.g. 'My nephew is going to start school.').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audio" Target="../media/media-13-5.mp3"/><Relationship Id="rId6" Type="http://schemas.microsoft.com/office/2007/relationships/media" Target="../media/media-13-5.mp3"/><Relationship Id="rId7" Type="http://schemas.openxmlformats.org/officeDocument/2006/relationships/image" Target="../media/image-13-7.png"/><Relationship Id="rId8" Type="http://schemas.openxmlformats.org/officeDocument/2006/relationships/audio" Target="../media/media-13-8.mp3"/><Relationship Id="rId9" Type="http://schemas.microsoft.com/office/2007/relationships/media" Target="../media/media-13-8.mp3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pp.24–25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R1-2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Revise and Check 1&amp;2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Play, test and talk!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🎲  play four review games in teams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do the book's grammar test – against the clock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 listen to five people in the street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food, family, money and you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 choose your own revision target</a:t>
            </a:r>
            <a:endParaRPr lang="en-US" sz="8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can remember lots of food words and the future forms!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5" name="phx_13"/>
          <p:cNvSpPr/>
          <p:nvPr/>
        </p:nvSpPr>
        <p:spPr>
          <a:xfrm>
            <a:off x="4892040" y="822960"/>
            <a:ext cx="3886200" cy="310896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r12-cover.jpg</a:t>
            </a:r>
            <a:endParaRPr lang="en-US" sz="900" dirty="0"/>
          </a:p>
        </p:txBody>
      </p:sp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Files 1 and 2: how much can you remember?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2b2_freezing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2B: charity challenges, strong adjectives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today: review of Files 1–2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Strong adjectives (last lesson)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ran 10 km. I'm exhausted!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–30°C. It's freezing!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That comedy is hilarious!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absolutely / really – NOT very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Files 1–2: key grammar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usually cook, but today I'm eating out.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seeing Nonna on Sunday.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Rome. I went in 2020.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long have you been…? + for / since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338828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freezing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353812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368796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filthy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228332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furious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hilarious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4338828" y="454456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terrified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it stronger!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stronger! Use ONE strong word.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Rendila più forte! Usa UNA parola forte.</a:t>
            </a:r>
            <a:endParaRPr lang="en-US" sz="950" dirty="0"/>
          </a:p>
        </p:txBody>
      </p:sp>
      <p:sp>
        <p:nvSpPr>
          <p:cNvPr id="9" name="cmd_5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Warmer · last lesson: strong adjectives   ·   📖 Recycles 2B part 2: strong adjectives (SB p.22–23, audio 2.20)</a:t>
            </a:r>
            <a:endParaRPr lang="en-US" sz="800" dirty="0"/>
          </a:p>
        </p:txBody>
      </p:sp>
      <p:sp>
        <p:nvSpPr>
          <p:cNvPr id="14" name="cd_59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2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 with 'very'.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 con 'very'.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again with a STRONG adjective.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Ridilla con un aggettivo FORTE.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team to say it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prima squadra che la dice = 1 punto.</a:t>
            </a:r>
            <a:endParaRPr lang="en-US" sz="1000" dirty="0"/>
          </a:p>
        </p:txBody>
      </p:sp>
      <p:sp>
        <p:nvSpPr>
          <p:cNvPr id="18" name="pf_63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4" descr="/home/claude/lls-course/v2/cache/spare_future_stress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6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ran 10 km. I'm very tired."</a:t>
            </a:r>
            <a:endParaRPr lang="en-US" sz="1100" dirty="0"/>
          </a:p>
        </p:txBody>
      </p:sp>
      <p:sp>
        <p:nvSpPr>
          <p:cNvPr id="22" name="R1_chip6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exhausted!</a:t>
            </a:r>
            <a:endParaRPr lang="en-US" sz="1100" dirty="0"/>
          </a:p>
        </p:txBody>
      </p:sp>
      <p:sp>
        <p:nvSpPr>
          <p:cNvPr id="23" name="bd_6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"It's –30°C. It's very cold!"</a:t>
            </a:r>
            <a:endParaRPr lang="en-US" sz="1100" dirty="0"/>
          </a:p>
        </p:txBody>
      </p:sp>
      <p:sp>
        <p:nvSpPr>
          <p:cNvPr id="25" name="R2_chip7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freezing!</a:t>
            </a:r>
            <a:endParaRPr lang="en-US" sz="1100" dirty="0"/>
          </a:p>
        </p:txBody>
      </p:sp>
      <p:sp>
        <p:nvSpPr>
          <p:cNvPr id="26" name="bd_7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7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haven't eaten all day. I'm very hungry."</a:t>
            </a:r>
            <a:endParaRPr lang="en-US" sz="1100" dirty="0"/>
          </a:p>
        </p:txBody>
      </p:sp>
      <p:sp>
        <p:nvSpPr>
          <p:cNvPr id="28" name="R3_chip7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starving!</a:t>
            </a:r>
            <a:endParaRPr lang="en-US" sz="1100" dirty="0"/>
          </a:p>
        </p:txBody>
      </p:sp>
      <p:sp>
        <p:nvSpPr>
          <p:cNvPr id="29" name="bd_7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7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"Your football boots are very dirty!"</a:t>
            </a:r>
            <a:endParaRPr lang="en-US" sz="1100" dirty="0"/>
          </a:p>
        </p:txBody>
      </p:sp>
      <p:sp>
        <p:nvSpPr>
          <p:cNvPr id="31" name="R4_chip7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They're filthy!</a:t>
            </a:r>
            <a:endParaRPr lang="en-US" sz="1100" dirty="0"/>
          </a:p>
        </p:txBody>
      </p:sp>
      <p:sp>
        <p:nvSpPr>
          <p:cNvPr id="32" name="bd_7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7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"Mum saw the phone bill. She was very angry."</a:t>
            </a:r>
            <a:endParaRPr lang="en-US" sz="1100" dirty="0"/>
          </a:p>
        </p:txBody>
      </p:sp>
      <p:sp>
        <p:nvSpPr>
          <p:cNvPr id="34" name="R5_chip7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furious!</a:t>
            </a:r>
            <a:endParaRPr lang="en-US" sz="1100" dirty="0"/>
          </a:p>
        </p:txBody>
      </p:sp>
      <p:sp>
        <p:nvSpPr>
          <p:cNvPr id="35" name="bd_8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8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"That comedy is very funny."</a:t>
            </a:r>
            <a:endParaRPr lang="en-US" sz="1100" dirty="0"/>
          </a:p>
        </p:txBody>
      </p:sp>
      <p:sp>
        <p:nvSpPr>
          <p:cNvPr id="37" name="R6_chip8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hilarious!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85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Sound race!</a:t>
            </a:r>
            <a:endParaRPr lang="en-US" sz="2500" dirty="0"/>
          </a:p>
        </p:txBody>
      </p:sp>
      <p:pic>
        <p:nvPicPr>
          <p:cNvPr id="6" name="brP_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87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seconds: write words with this sound!</a:t>
            </a:r>
            <a:endParaRPr lang="en-US" sz="1250" dirty="0"/>
          </a:p>
        </p:txBody>
      </p:sp>
      <p:sp>
        <p:nvSpPr>
          <p:cNvPr id="8" name="insIT_8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secondi: scrivete parole con questo suono!</a:t>
            </a:r>
            <a:endParaRPr lang="en-US" sz="950" dirty="0"/>
          </a:p>
        </p:txBody>
      </p:sp>
      <p:sp>
        <p:nvSpPr>
          <p:cNvPr id="9" name="cmd_8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9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91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2" name="tag_9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3" name="logo_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Game · pronunciation · vowel sounds   ·   📖 SB p.24 · Pronunciation a, b · Sound Bank pp.166–167 · recycles 1A (vowels) and 2A (o and or)</a:t>
            </a:r>
            <a:endParaRPr lang="en-US" sz="700" dirty="0"/>
          </a:p>
        </p:txBody>
      </p:sp>
      <p:sp>
        <p:nvSpPr>
          <p:cNvPr id="15" name="cd_95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9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9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98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 the sound picture.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l'immagine del suono.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seconds: write words from Files 1–2 with that sound.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secondi: scrivete parole dei File 1–2 con quel suono.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sound = 1 point per word.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Suono giusto = 1 punto a parola.</a:t>
            </a:r>
            <a:endParaRPr lang="en-US" sz="950" dirty="0"/>
          </a:p>
        </p:txBody>
      </p:sp>
      <p:sp>
        <p:nvSpPr>
          <p:cNvPr id="19" name="pf_99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00" descr="/home/claude/lls-course/v2/cache/1a1_first_day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1" name="bd_101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102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🐟 fish /ɪ/</a:t>
            </a:r>
            <a:endParaRPr lang="en-US" sz="1100" dirty="0"/>
          </a:p>
        </p:txBody>
      </p:sp>
      <p:sp>
        <p:nvSpPr>
          <p:cNvPr id="23" name="R1_chip103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chicken · grilled · squid · inherit</a:t>
            </a:r>
            <a:endParaRPr lang="en-US" sz="1100" dirty="0"/>
          </a:p>
        </p:txBody>
      </p:sp>
      <p:sp>
        <p:nvSpPr>
          <p:cNvPr id="24" name="bd_104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105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🌳 tree /iː/</a:t>
            </a:r>
            <a:endParaRPr lang="en-US" sz="1100" dirty="0"/>
          </a:p>
        </p:txBody>
      </p:sp>
      <p:sp>
        <p:nvSpPr>
          <p:cNvPr id="26" name="R2_chip106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steamed · green beans · beef · peach</a:t>
            </a:r>
            <a:endParaRPr lang="en-US" sz="1100" dirty="0"/>
          </a:p>
        </p:txBody>
      </p:sp>
      <p:sp>
        <p:nvSpPr>
          <p:cNvPr id="27" name="bd_107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108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🐱 cat /æ/</a:t>
            </a:r>
            <a:endParaRPr lang="en-US" sz="1100" dirty="0"/>
          </a:p>
        </p:txBody>
      </p:sp>
      <p:sp>
        <p:nvSpPr>
          <p:cNvPr id="29" name="R3_chip109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crab · lamb · jam · salary</a:t>
            </a:r>
            <a:endParaRPr lang="en-US" sz="1100" dirty="0"/>
          </a:p>
        </p:txBody>
      </p:sp>
      <p:sp>
        <p:nvSpPr>
          <p:cNvPr id="30" name="bd_110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111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☝️ up /ʌ/</a:t>
            </a:r>
            <a:endParaRPr lang="en-US" sz="1100" dirty="0"/>
          </a:p>
        </p:txBody>
      </p:sp>
      <p:sp>
        <p:nvSpPr>
          <p:cNvPr id="32" name="R4_chip112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money · nothing · worry · done</a:t>
            </a:r>
            <a:endParaRPr lang="en-US" sz="1100" dirty="0"/>
          </a:p>
        </p:txBody>
      </p:sp>
      <p:sp>
        <p:nvSpPr>
          <p:cNvPr id="33" name="bd_113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114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🐴 horse /ɔː/</a:t>
            </a:r>
            <a:endParaRPr lang="en-US" sz="1100" dirty="0"/>
          </a:p>
        </p:txBody>
      </p:sp>
      <p:sp>
        <p:nvSpPr>
          <p:cNvPr id="35" name="R5_chip115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pork · prawns · afford · mortgage</a:t>
            </a:r>
            <a:endParaRPr lang="en-US" sz="1100" dirty="0"/>
          </a:p>
        </p:txBody>
      </p:sp>
      <p:sp>
        <p:nvSpPr>
          <p:cNvPr id="36" name="bd_116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gq_117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📱 phone /əʊ/</a:t>
            </a:r>
            <a:endParaRPr lang="en-US" sz="1100" dirty="0"/>
          </a:p>
        </p:txBody>
      </p:sp>
      <p:sp>
        <p:nvSpPr>
          <p:cNvPr id="38" name="R6_chip118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owe · loan · clothes · won't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21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task: grammar</a:t>
            </a:r>
            <a:endParaRPr lang="en-US" sz="2400" dirty="0"/>
          </a:p>
        </p:txBody>
      </p:sp>
      <p:pic>
        <p:nvPicPr>
          <p:cNvPr id="6" name="brP_1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123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Test! Choose a, b or c. 4 minutes.</a:t>
            </a:r>
            <a:endParaRPr lang="en-US" sz="1250" dirty="0"/>
          </a:p>
        </p:txBody>
      </p:sp>
      <p:sp>
        <p:nvSpPr>
          <p:cNvPr id="8" name="insIT_12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Test! Scegli a, b o c. 4 minuti.</a:t>
            </a:r>
            <a:endParaRPr lang="en-US" sz="950" dirty="0"/>
          </a:p>
        </p:txBody>
      </p:sp>
      <p:sp>
        <p:nvSpPr>
          <p:cNvPr id="9" name="cmd_12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0" name="cmd_12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12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2" name="tag_12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00" dirty="0"/>
          </a:p>
        </p:txBody>
      </p:sp>
      <p:pic>
        <p:nvPicPr>
          <p:cNvPr id="13" name="logo_1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SB p.24 Grammar 1–8   ·   📖 SB p.24 · Revise and Check · GRAMMAR 1–8 (TG key)</a:t>
            </a:r>
            <a:endParaRPr lang="en-US" sz="800" dirty="0"/>
          </a:p>
        </p:txBody>
      </p:sp>
      <p:sp>
        <p:nvSpPr>
          <p:cNvPr id="15" name="cd_131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132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a, b or c  (SB p.24)</a:t>
            </a:r>
            <a:endParaRPr lang="en-US" sz="1700" dirty="0"/>
          </a:p>
        </p:txBody>
      </p:sp>
      <p:sp>
        <p:nvSpPr>
          <p:cNvPr id="17" name="ln_133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My sister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or seafood.</a:t>
            </a:r>
            <a:endParaRPr lang="en-US" sz="1150" dirty="0"/>
          </a:p>
        </p:txBody>
      </p:sp>
      <p:sp>
        <p:nvSpPr>
          <p:cNvPr id="18" name="R1_lnA134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My sister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doesn't like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or seafood.</a:t>
            </a:r>
            <a:endParaRPr lang="en-US" sz="1150" dirty="0"/>
          </a:p>
        </p:txBody>
      </p:sp>
      <p:sp>
        <p:nvSpPr>
          <p:cNvPr id="19" name="ln_135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I have a quick breakfast because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a hurry.</a:t>
            </a:r>
            <a:endParaRPr lang="en-US" sz="1150" dirty="0"/>
          </a:p>
        </p:txBody>
      </p:sp>
      <p:sp>
        <p:nvSpPr>
          <p:cNvPr id="20" name="R2_lnA136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I have a quick breakfast because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I'm usually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a hurry.</a:t>
            </a:r>
            <a:endParaRPr lang="en-US" sz="1150" dirty="0"/>
          </a:p>
        </p:txBody>
      </p:sp>
      <p:sp>
        <p:nvSpPr>
          <p:cNvPr id="21" name="ln_137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I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when I'm having a meal.</a:t>
            </a:r>
            <a:endParaRPr lang="en-US" sz="1150" dirty="0"/>
          </a:p>
        </p:txBody>
      </p:sp>
      <p:sp>
        <p:nvSpPr>
          <p:cNvPr id="22" name="R3_lnA138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never watch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when I'm having a meal.</a:t>
            </a:r>
            <a:endParaRPr lang="en-US" sz="1150" dirty="0"/>
          </a:p>
        </p:txBody>
      </p:sp>
      <p:sp>
        <p:nvSpPr>
          <p:cNvPr id="23" name="ln_139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for my exams at the moment.</a:t>
            </a:r>
            <a:endParaRPr lang="en-US" sz="1150" dirty="0"/>
          </a:p>
        </p:txBody>
      </p:sp>
      <p:sp>
        <p:nvSpPr>
          <p:cNvPr id="24" name="R4_lnA140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I'm studying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for my exams at the moment.</a:t>
            </a:r>
            <a:endParaRPr lang="en-US" sz="1150" dirty="0"/>
          </a:p>
        </p:txBody>
      </p:sp>
      <p:sp>
        <p:nvSpPr>
          <p:cNvPr id="25" name="ln_141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any brothers or sisters?</a:t>
            </a:r>
            <a:endParaRPr lang="en-US" sz="1150" dirty="0"/>
          </a:p>
        </p:txBody>
      </p:sp>
      <p:sp>
        <p:nvSpPr>
          <p:cNvPr id="26" name="R5_lnA142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Do you have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any brothers or sisters?</a:t>
            </a:r>
            <a:endParaRPr lang="en-US" sz="1150" dirty="0"/>
          </a:p>
        </p:txBody>
      </p:sp>
      <p:sp>
        <p:nvSpPr>
          <p:cNvPr id="27" name="ln_143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What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you leave school?</a:t>
            </a:r>
            <a:endParaRPr lang="en-US" sz="1150" dirty="0"/>
          </a:p>
        </p:txBody>
      </p:sp>
      <p:sp>
        <p:nvSpPr>
          <p:cNvPr id="28" name="R6_lnA144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What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are you going to do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you leave school?</a:t>
            </a:r>
            <a:endParaRPr lang="en-US" sz="1150" dirty="0"/>
          </a:p>
        </p:txBody>
      </p:sp>
      <p:sp>
        <p:nvSpPr>
          <p:cNvPr id="29" name="ln_145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can't see you this evening because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some friends.</a:t>
            </a:r>
            <a:endParaRPr lang="en-US" sz="1150" dirty="0"/>
          </a:p>
        </p:txBody>
      </p:sp>
      <p:sp>
        <p:nvSpPr>
          <p:cNvPr id="30" name="R7_lnA146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can't see you this evening because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I'm meeting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some friends.</a:t>
            </a:r>
            <a:endParaRPr lang="en-US" sz="1150" dirty="0"/>
          </a:p>
        </p:txBody>
      </p:sp>
      <p:sp>
        <p:nvSpPr>
          <p:cNvPr id="31" name="ln_147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A Something to drink?  B Yes,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 orange juice, please.</a:t>
            </a:r>
            <a:endParaRPr lang="en-US" sz="1150" dirty="0"/>
          </a:p>
        </p:txBody>
      </p:sp>
      <p:sp>
        <p:nvSpPr>
          <p:cNvPr id="32" name="R8_lnA148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A Something to drink?  B Yes,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I'll have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 orange juice, please.</a:t>
            </a:r>
            <a:endParaRPr lang="en-US" sz="1150" dirty="0"/>
          </a:p>
        </p:txBody>
      </p:sp>
      <p:sp>
        <p:nvSpPr>
          <p:cNvPr id="33" name="pf_149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4" name="ph_150" descr="/home/claude/lls-course/v2/cache/spare_work_training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35" name="cd_15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ii_15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7" name="ih_15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8" name="il_154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Alone · no talking · 4 minutes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point each · ___ / 15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5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task: grammar</a:t>
            </a:r>
            <a:endParaRPr lang="en-US" sz="2400" dirty="0"/>
          </a:p>
        </p:txBody>
      </p:sp>
      <p:pic>
        <p:nvPicPr>
          <p:cNvPr id="6" name="brP_1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59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 9–15. Count your score!</a:t>
            </a:r>
            <a:endParaRPr lang="en-US" sz="1250" dirty="0"/>
          </a:p>
        </p:txBody>
      </p:sp>
      <p:sp>
        <p:nvSpPr>
          <p:cNvPr id="8" name="insIT_16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Controlla 9–15. Conta i punti!</a:t>
            </a:r>
            <a:endParaRPr lang="en-US" sz="950" dirty="0"/>
          </a:p>
        </p:txBody>
      </p:sp>
      <p:sp>
        <p:nvSpPr>
          <p:cNvPr id="9" name="cmd_16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16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16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00" dirty="0"/>
          </a:p>
        </p:txBody>
      </p:sp>
      <p:pic>
        <p:nvPicPr>
          <p:cNvPr id="12" name="logo_1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SB p.24 Grammar 9–15   ·   📖 SB p.24 · Revise and Check · GRAMMAR 9–15 (TG key)</a:t>
            </a:r>
            <a:endParaRPr lang="en-US" sz="800" dirty="0"/>
          </a:p>
        </p:txBody>
      </p:sp>
      <p:sp>
        <p:nvSpPr>
          <p:cNvPr id="14" name="cd_166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167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a, b or c  (SB p.24)</a:t>
            </a:r>
            <a:endParaRPr lang="en-US" sz="1700" dirty="0"/>
          </a:p>
        </p:txBody>
      </p:sp>
      <p:sp>
        <p:nvSpPr>
          <p:cNvPr id="16" name="ln_168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A I can't open this jar.  B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 you?</a:t>
            </a:r>
            <a:endParaRPr lang="en-US" sz="1150" dirty="0"/>
          </a:p>
        </p:txBody>
      </p:sp>
      <p:sp>
        <p:nvSpPr>
          <p:cNvPr id="17" name="R1_lnA169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A I can't open this jar.  B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Shall I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 you?</a:t>
            </a:r>
            <a:endParaRPr lang="en-US" sz="1150" dirty="0"/>
          </a:p>
        </p:txBody>
      </p:sp>
      <p:sp>
        <p:nvSpPr>
          <p:cNvPr id="18" name="ln_170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That's a lovely dress. Where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it?</a:t>
            </a:r>
            <a:endParaRPr lang="en-US" sz="1150" dirty="0"/>
          </a:p>
        </p:txBody>
      </p:sp>
      <p:sp>
        <p:nvSpPr>
          <p:cNvPr id="19" name="R2_lnA171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That's a lovely dress. Where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did you buy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it?</a:t>
            </a:r>
            <a:endParaRPr lang="en-US" sz="1150" dirty="0"/>
          </a:p>
        </p:txBody>
      </p:sp>
      <p:sp>
        <p:nvSpPr>
          <p:cNvPr id="20" name="ln_172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good at saving money.</a:t>
            </a:r>
            <a:endParaRPr lang="en-US" sz="1150" dirty="0"/>
          </a:p>
        </p:txBody>
      </p:sp>
      <p:sp>
        <p:nvSpPr>
          <p:cNvPr id="21" name="R3_lnA173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I've never been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good at saving money.</a:t>
            </a:r>
            <a:endParaRPr lang="en-US" sz="1150" dirty="0"/>
          </a:p>
        </p:txBody>
      </p:sp>
      <p:sp>
        <p:nvSpPr>
          <p:cNvPr id="22" name="ln_174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 I got £50 for my birthday, but I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3" name="R4_lnA175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 I got £50 for my birthday, but 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haven't spent it yet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4" name="ln_176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 I've had this phone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5" name="R5_lnA177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 I've had this phone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for about three years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6" name="ln_178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 A How long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(14)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Paris?  B Since last March.</a:t>
            </a:r>
            <a:endParaRPr lang="en-US" sz="1150" dirty="0"/>
          </a:p>
        </p:txBody>
      </p:sp>
      <p:sp>
        <p:nvSpPr>
          <p:cNvPr id="27" name="R6_lnA179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 A How long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has he been living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Paris?  B Since last March.</a:t>
            </a:r>
            <a:endParaRPr lang="en-US" sz="1150" dirty="0"/>
          </a:p>
        </p:txBody>
      </p:sp>
      <p:sp>
        <p:nvSpPr>
          <p:cNvPr id="28" name="ln_180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(15)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gym for five years.</a:t>
            </a:r>
            <a:endParaRPr lang="en-US" sz="1150" dirty="0"/>
          </a:p>
        </p:txBody>
      </p:sp>
      <p:sp>
        <p:nvSpPr>
          <p:cNvPr id="29" name="R7_lnA181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I've been going to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gym for five years.</a:t>
            </a:r>
            <a:endParaRPr lang="en-US" sz="1150" dirty="0"/>
          </a:p>
        </p:txBody>
      </p:sp>
      <p:sp>
        <p:nvSpPr>
          <p:cNvPr id="30" name="pf_182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183" descr="/home/claude/lls-course/v2/cache/spare_future_university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32" name="cd_18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ii_18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4" name="ih_18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5" name="il_187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Score: ___ / 15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ones did you get wrong?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190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tips: find the clue</a:t>
            </a:r>
            <a:endParaRPr lang="en-US" sz="2500" dirty="0"/>
          </a:p>
        </p:txBody>
      </p:sp>
      <p:pic>
        <p:nvPicPr>
          <p:cNvPr id="6" name="brP_1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19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is it right? Find the clue.</a:t>
            </a:r>
            <a:endParaRPr lang="en-US" sz="1250" dirty="0"/>
          </a:p>
        </p:txBody>
      </p:sp>
      <p:sp>
        <p:nvSpPr>
          <p:cNvPr id="8" name="insIT_19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Perché è giusta? Trova l'indizio.</a:t>
            </a:r>
            <a:endParaRPr lang="en-US" sz="950" dirty="0"/>
          </a:p>
        </p:txBody>
      </p:sp>
      <p:sp>
        <p:nvSpPr>
          <p:cNvPr id="9" name="cmd_19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19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pic>
        <p:nvPicPr>
          <p:cNvPr id="11" name="logo_1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strategy · multiple choice   ·   📖 Strategy for SB p.24 Grammar · Grammar Banks 1A, 1B, 2A, 2B</a:t>
            </a:r>
            <a:endParaRPr lang="en-US" sz="800" dirty="0"/>
          </a:p>
        </p:txBody>
      </p:sp>
      <p:sp>
        <p:nvSpPr>
          <p:cNvPr id="13" name="cd_198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rh_199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time words</a:t>
            </a:r>
            <a:endParaRPr lang="en-US" sz="1250" dirty="0"/>
          </a:p>
        </p:txBody>
      </p:sp>
      <p:sp>
        <p:nvSpPr>
          <p:cNvPr id="15" name="pf_200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201" descr="/home/claude/lls-course/v2/cache/1b1_diary_jpg_415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17" name="ru_202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last…, ago → past simple · for / since → present perfect</a:t>
            </a:r>
            <a:endParaRPr lang="en-US" sz="950" dirty="0"/>
          </a:p>
        </p:txBody>
      </p:sp>
      <p:sp>
        <p:nvSpPr>
          <p:cNvPr id="18" name="R1_rx203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did you buy it? (finished)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had this phone for three years.</a:t>
            </a:r>
            <a:endParaRPr lang="en-US" sz="1050" dirty="0"/>
          </a:p>
        </p:txBody>
      </p:sp>
      <p:sp>
        <p:nvSpPr>
          <p:cNvPr id="19" name="R1_ri204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parole di tempo sono indizi</a:t>
            </a:r>
            <a:endParaRPr lang="en-US" sz="900" dirty="0"/>
          </a:p>
        </p:txBody>
      </p:sp>
      <p:sp>
        <p:nvSpPr>
          <p:cNvPr id="20" name="cd_205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206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-ing verbs</a:t>
            </a:r>
            <a:endParaRPr lang="en-US" sz="1250" dirty="0"/>
          </a:p>
        </p:txBody>
      </p:sp>
      <p:sp>
        <p:nvSpPr>
          <p:cNvPr id="22" name="pf_207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208" descr="/home/claude/lls-course/v2/cache/spare_1a2_food_preferences_jpg_415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4" name="ru_209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like, need, know, have (= possess) → simple</a:t>
            </a:r>
            <a:endParaRPr lang="en-US" sz="1050" dirty="0"/>
          </a:p>
        </p:txBody>
      </p:sp>
      <p:sp>
        <p:nvSpPr>
          <p:cNvPr id="25" name="R2_rx210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sister doesn't like fish. ✓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isn't liking</a:t>
            </a:r>
            <a:endParaRPr lang="en-US" sz="1050" dirty="0"/>
          </a:p>
        </p:txBody>
      </p:sp>
      <p:sp>
        <p:nvSpPr>
          <p:cNvPr id="26" name="R2_ri211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verbi di stato: niente -ing</a:t>
            </a:r>
            <a:endParaRPr lang="en-US" sz="900" dirty="0"/>
          </a:p>
        </p:txBody>
      </p:sp>
      <p:sp>
        <p:nvSpPr>
          <p:cNvPr id="27" name="cd_212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rh_213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future: why?</a:t>
            </a:r>
            <a:endParaRPr lang="en-US" sz="1250" dirty="0"/>
          </a:p>
        </p:txBody>
      </p:sp>
      <p:sp>
        <p:nvSpPr>
          <p:cNvPr id="29" name="pf_214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215" descr="/home/claude/lls-course/v2/cache/1b1_bags_jpg_4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1" name="ru_216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 · plan · offer · decide now</a:t>
            </a:r>
            <a:endParaRPr lang="en-US" sz="1050" dirty="0"/>
          </a:p>
        </p:txBody>
      </p:sp>
      <p:sp>
        <p:nvSpPr>
          <p:cNvPr id="32" name="R3_rx217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meeting some friends.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help you?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I'll have an orange juice.</a:t>
            </a:r>
            <a:endParaRPr lang="en-US" sz="1050" dirty="0"/>
          </a:p>
        </p:txBody>
      </p:sp>
      <p:sp>
        <p:nvSpPr>
          <p:cNvPr id="33" name="R3_ri218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organizzato · offerta · decisione ora</a:t>
            </a:r>
            <a:endParaRPr lang="en-US" sz="750" dirty="0"/>
          </a:p>
        </p:txBody>
      </p:sp>
      <p:sp>
        <p:nvSpPr>
          <p:cNvPr id="34" name="cd_219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220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 the form</a:t>
            </a:r>
            <a:endParaRPr lang="en-US" sz="1250" dirty="0"/>
          </a:p>
        </p:txBody>
      </p:sp>
      <p:sp>
        <p:nvSpPr>
          <p:cNvPr id="36" name="pf_221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7" name="ph_222" descr="/home/claude/lls-course/v2/cache/spare_1b2_homework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38" name="ru_223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answers look right? Check every letter!</a:t>
            </a:r>
            <a:endParaRPr lang="en-US" sz="1050" dirty="0"/>
          </a:p>
        </p:txBody>
      </p:sp>
      <p:sp>
        <p:nvSpPr>
          <p:cNvPr id="39" name="R4_rx224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doesn't likes  ✗ I'm studing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are you going do</a:t>
            </a:r>
            <a:endParaRPr lang="en-US" sz="1050" dirty="0"/>
          </a:p>
        </p:txBody>
      </p:sp>
      <p:sp>
        <p:nvSpPr>
          <p:cNvPr id="40" name="R4_ri225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attenzione a forma e ortografia</a:t>
            </a:r>
            <a:endParaRPr lang="en-US" sz="850" dirty="0"/>
          </a:p>
        </p:txBody>
      </p:sp>
      <p:sp>
        <p:nvSpPr>
          <p:cNvPr id="41" name="R5_wc226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R5_w227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Exam tip: read the WHOLE sentence first → find the clue → cross out the two wrong answers → then choose.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2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30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a, b or c?</a:t>
            </a:r>
            <a:endParaRPr lang="en-US" sz="2500" dirty="0"/>
          </a:p>
        </p:txBody>
      </p:sp>
      <p:pic>
        <p:nvPicPr>
          <p:cNvPr id="6" name="brP_23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3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the tips! Choose a, b or c.</a:t>
            </a:r>
            <a:endParaRPr lang="en-US" sz="1250" dirty="0"/>
          </a:p>
        </p:txBody>
      </p:sp>
      <p:sp>
        <p:nvSpPr>
          <p:cNvPr id="8" name="insIT_23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Usa i consigli! Scegli a, b o c.</a:t>
            </a:r>
            <a:endParaRPr lang="en-US" sz="950" dirty="0"/>
          </a:p>
        </p:txBody>
      </p:sp>
      <p:sp>
        <p:nvSpPr>
          <p:cNvPr id="9" name="cmd_23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23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23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3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second attempt   ·   📖 New items in the SB p.24 format (written for LLS)</a:t>
            </a:r>
            <a:endParaRPr lang="en-US" sz="800" dirty="0"/>
          </a:p>
        </p:txBody>
      </p:sp>
      <p:sp>
        <p:nvSpPr>
          <p:cNvPr id="13" name="cd_238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3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5" name="ih_24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6" name="il_241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7" name="lg_242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050" dirty="0"/>
          </a:p>
        </p:txBody>
      </p:sp>
      <p:sp>
        <p:nvSpPr>
          <p:cNvPr id="18" name="lg_243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050" dirty="0"/>
          </a:p>
        </p:txBody>
      </p:sp>
      <p:sp>
        <p:nvSpPr>
          <p:cNvPr id="19" name="lg_244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050" dirty="0"/>
          </a:p>
        </p:txBody>
      </p:sp>
      <p:sp>
        <p:nvSpPr>
          <p:cNvPr id="20" name="sq_245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This soup ___ amazing!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is tasting · b tastes · c taste</a:t>
            </a:r>
            <a:endParaRPr lang="en-US" sz="1200" dirty="0"/>
          </a:p>
        </p:txBody>
      </p:sp>
      <p:sp>
        <p:nvSpPr>
          <p:cNvPr id="21" name="R1_tag246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2" name="sq_247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Free on Friday? – No, ___ my nonna.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 visit · b I'm visiting · c I'll visit</a:t>
            </a:r>
            <a:endParaRPr lang="en-US" sz="1200" dirty="0"/>
          </a:p>
        </p:txBody>
      </p:sp>
      <p:sp>
        <p:nvSpPr>
          <p:cNvPr id="23" name="R2_tag248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4" name="sq_249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 ___ my keys yesterday.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've lost · b lost · c lose</a:t>
            </a:r>
            <a:endParaRPr lang="en-US" sz="1200" dirty="0"/>
          </a:p>
        </p:txBody>
      </p:sp>
      <p:sp>
        <p:nvSpPr>
          <p:cNvPr id="25" name="R3_tag250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6" name="sq_251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We ___ this car for ten years.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've had · b have · c 're having</a:t>
            </a:r>
            <a:endParaRPr lang="en-US" sz="1200" dirty="0"/>
          </a:p>
        </p:txBody>
      </p:sp>
      <p:sp>
        <p:nvSpPr>
          <p:cNvPr id="27" name="R4_tag252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50" dirty="0"/>
          </a:p>
        </p:txBody>
      </p:sp>
      <p:sp>
        <p:nvSpPr>
          <p:cNvPr id="28" name="sq_253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It's hot in here. ___ open the window?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Shall I · b Will I · c Do I</a:t>
            </a:r>
            <a:endParaRPr lang="en-US" sz="1200" dirty="0"/>
          </a:p>
        </p:txBody>
      </p:sp>
      <p:sp>
        <p:nvSpPr>
          <p:cNvPr id="29" name="R5_tag254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50" dirty="0"/>
          </a:p>
        </p:txBody>
      </p:sp>
      <p:sp>
        <p:nvSpPr>
          <p:cNvPr id="30" name="sq_255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How long ___ for the bus? – 20 minutes!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are you waiting · b have you been waiting · c do you wait</a:t>
            </a:r>
            <a:endParaRPr lang="en-US" sz="900" dirty="0"/>
          </a:p>
        </p:txBody>
      </p:sp>
      <p:sp>
        <p:nvSpPr>
          <p:cNvPr id="31" name="R6_tag256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32" name="pf_257"/>
          <p:cNvSpPr/>
          <p:nvPr/>
        </p:nvSpPr>
        <p:spPr>
          <a:xfrm rot="-120000">
            <a:off x="411480" y="3703320"/>
            <a:ext cx="2514600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3" name="ph_258" descr="/home/claude/lls-course/v2/cache/spare_work_teamwork_jpg_583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61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Grammar auction</a:t>
            </a:r>
            <a:endParaRPr lang="en-US" sz="2400" dirty="0"/>
          </a:p>
        </p:txBody>
      </p:sp>
      <p:pic>
        <p:nvPicPr>
          <p:cNvPr id="6" name="brP_2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63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have €1,000. Buy the CORRECT ones!</a:t>
            </a:r>
            <a:endParaRPr lang="en-US" sz="1250" dirty="0"/>
          </a:p>
        </p:txBody>
      </p:sp>
      <p:sp>
        <p:nvSpPr>
          <p:cNvPr id="8" name="insIT_26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Avete 1.000 €. Comprate quelle GIUSTE!</a:t>
            </a:r>
            <a:endParaRPr lang="en-US" sz="950" dirty="0"/>
          </a:p>
        </p:txBody>
      </p:sp>
      <p:sp>
        <p:nvSpPr>
          <p:cNvPr id="9" name="cmd_26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6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🏆 teams</a:t>
            </a:r>
            <a:endParaRPr lang="en-US" sz="950" dirty="0"/>
          </a:p>
        </p:txBody>
      </p:sp>
      <p:sp>
        <p:nvSpPr>
          <p:cNvPr id="11" name="tag_26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2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Game · grammar auction   ·   📖 Review of Grammar Banks 1A, 1B, 2A, 2B · items 3, 6, 8 close to Grammar Bank examples</a:t>
            </a:r>
            <a:endParaRPr lang="en-US" sz="750" dirty="0"/>
          </a:p>
        </p:txBody>
      </p:sp>
      <p:sp>
        <p:nvSpPr>
          <p:cNvPr id="14" name="cd_270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7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7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273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team has €1,000.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Ogni squadra ha 1.000 €.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Bid to buy the sentences you think are CORRECT.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Fate offerte per comprare le frasi che pensate siano GIUSTE.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team with the most correct sentences wins!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Vince chi ha più frasi giuste!</a:t>
            </a:r>
            <a:endParaRPr lang="en-US" sz="1000" dirty="0"/>
          </a:p>
        </p:txBody>
      </p:sp>
      <p:sp>
        <p:nvSpPr>
          <p:cNvPr id="18" name="pf_274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9" name="phx_275"/>
          <p:cNvSpPr/>
          <p:nvPr/>
        </p:nvSpPr>
        <p:spPr>
          <a:xfrm>
            <a:off x="457200" y="3657600"/>
            <a:ext cx="2377440" cy="105156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r12-auction.jpg</a:t>
            </a:r>
            <a:endParaRPr lang="en-US" sz="900" dirty="0"/>
          </a:p>
        </p:txBody>
      </p:sp>
      <p:sp>
        <p:nvSpPr>
          <p:cNvPr id="20" name="bd_276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77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liking this soup – it's too salty.</a:t>
            </a:r>
            <a:endParaRPr lang="en-US" sz="950" dirty="0"/>
          </a:p>
        </p:txBody>
      </p:sp>
      <p:sp>
        <p:nvSpPr>
          <p:cNvPr id="22" name="R1_chip278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 don't like this soup.</a:t>
            </a:r>
            <a:endParaRPr lang="en-US" sz="1100" dirty="0"/>
          </a:p>
        </p:txBody>
      </p:sp>
      <p:sp>
        <p:nvSpPr>
          <p:cNvPr id="23" name="bd_279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80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having dinner with my in-laws on Saturday.</a:t>
            </a:r>
            <a:endParaRPr lang="en-US" sz="950" dirty="0"/>
          </a:p>
        </p:txBody>
      </p:sp>
      <p:sp>
        <p:nvSpPr>
          <p:cNvPr id="25" name="R2_chip281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arrangement</a:t>
            </a:r>
            <a:endParaRPr lang="en-US" sz="1100" dirty="0"/>
          </a:p>
        </p:txBody>
      </p:sp>
      <p:sp>
        <p:nvSpPr>
          <p:cNvPr id="26" name="bd_282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83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sky! It's going to rain.</a:t>
            </a:r>
            <a:endParaRPr lang="en-US" sz="1000" dirty="0"/>
          </a:p>
        </p:txBody>
      </p:sp>
      <p:sp>
        <p:nvSpPr>
          <p:cNvPr id="28" name="R3_chip284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prediction – you can see it</a:t>
            </a:r>
            <a:endParaRPr lang="en-US" sz="1050" dirty="0"/>
          </a:p>
        </p:txBody>
      </p:sp>
      <p:sp>
        <p:nvSpPr>
          <p:cNvPr id="29" name="bd_285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86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carry your bag for you.</a:t>
            </a:r>
            <a:endParaRPr lang="en-US" sz="1100" dirty="0"/>
          </a:p>
        </p:txBody>
      </p:sp>
      <p:sp>
        <p:nvSpPr>
          <p:cNvPr id="31" name="R4_chip287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I'll carry your bag. (offer)</a:t>
            </a:r>
            <a:endParaRPr lang="en-US" sz="1100" dirty="0"/>
          </a:p>
        </p:txBody>
      </p:sp>
      <p:sp>
        <p:nvSpPr>
          <p:cNvPr id="32" name="bd_288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89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London last year.</a:t>
            </a:r>
            <a:endParaRPr lang="en-US" sz="1100" dirty="0"/>
          </a:p>
        </p:txBody>
      </p:sp>
      <p:sp>
        <p:nvSpPr>
          <p:cNvPr id="34" name="R5_chip290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 went to London last year.</a:t>
            </a:r>
            <a:endParaRPr lang="en-US" sz="1050" dirty="0"/>
          </a:p>
        </p:txBody>
      </p:sp>
      <p:sp>
        <p:nvSpPr>
          <p:cNvPr id="35" name="bd_291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292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credit card?</a:t>
            </a:r>
            <a:endParaRPr lang="en-US" sz="950" dirty="0"/>
          </a:p>
        </p:txBody>
      </p:sp>
      <p:sp>
        <p:nvSpPr>
          <p:cNvPr id="37" name="R6_chip293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experience – no time</a:t>
            </a:r>
            <a:endParaRPr lang="en-US" sz="1100" dirty="0"/>
          </a:p>
        </p:txBody>
      </p:sp>
      <p:sp>
        <p:nvSpPr>
          <p:cNvPr id="38" name="bd_294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295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do you live in Bagheria?</a:t>
            </a:r>
            <a:endParaRPr lang="en-US" sz="950" dirty="0"/>
          </a:p>
        </p:txBody>
      </p:sp>
      <p:sp>
        <p:nvSpPr>
          <p:cNvPr id="40" name="R7_chip296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How long have you lived / been living…?</a:t>
            </a:r>
            <a:endParaRPr lang="en-US" sz="950" dirty="0"/>
          </a:p>
        </p:txBody>
      </p:sp>
      <p:sp>
        <p:nvSpPr>
          <p:cNvPr id="41" name="bd_297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298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are red. Have you been crying?</a:t>
            </a:r>
            <a:endParaRPr lang="en-US" sz="950" dirty="0"/>
          </a:p>
        </p:txBody>
      </p:sp>
      <p:sp>
        <p:nvSpPr>
          <p:cNvPr id="43" name="R8_chip299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recent action, you can see it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0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0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Noughts and crosses</a:t>
            </a:r>
            <a:endParaRPr lang="en-US" sz="2400" dirty="0"/>
          </a:p>
        </p:txBody>
      </p:sp>
      <p:pic>
        <p:nvPicPr>
          <p:cNvPr id="6" name="brP_30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304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a square. Answer to win it!</a:t>
            </a:r>
            <a:endParaRPr lang="en-US" sz="1250" dirty="0"/>
          </a:p>
        </p:txBody>
      </p:sp>
      <p:sp>
        <p:nvSpPr>
          <p:cNvPr id="8" name="insIT_30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Scegliete un quadrato. Rispondete per vincerlo!</a:t>
            </a:r>
            <a:endParaRPr lang="en-US" sz="950" dirty="0"/>
          </a:p>
        </p:txBody>
      </p:sp>
      <p:sp>
        <p:nvSpPr>
          <p:cNvPr id="9" name="cmd_30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30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🏆 teams</a:t>
            </a:r>
            <a:endParaRPr lang="en-US" sz="950" dirty="0"/>
          </a:p>
        </p:txBody>
      </p:sp>
      <p:sp>
        <p:nvSpPr>
          <p:cNvPr id="11" name="tag_308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30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1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Game · vocabulary · noughts and crosses   ·   📖 Review of Vocabulary Banks Food and cooking p.152, Personality p.153, Money p.154 · family (1B)</a:t>
            </a:r>
            <a:endParaRPr lang="en-US" sz="700" dirty="0"/>
          </a:p>
        </p:txBody>
      </p:sp>
      <p:sp>
        <p:nvSpPr>
          <p:cNvPr id="14" name="cd_311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1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31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314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X or O chooses a square 1–9.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squadra X o O sceglie un quadrato 1–9.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in 15 seconds = your square.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Risposta in 15 secondi = il quadrato è vostro.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in a row wins!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Tre in fila vince!</a:t>
            </a:r>
            <a:endParaRPr lang="en-US" sz="900" dirty="0"/>
          </a:p>
        </p:txBody>
      </p:sp>
      <p:sp>
        <p:nvSpPr>
          <p:cNvPr id="18" name="st_315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316"/>
          <p:cNvSpPr/>
          <p:nvPr/>
        </p:nvSpPr>
        <p:spPr>
          <a:xfrm>
            <a:off x="3246120" y="140106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317"/>
          <p:cNvSpPr/>
          <p:nvPr/>
        </p:nvSpPr>
        <p:spPr>
          <a:xfrm>
            <a:off x="3657600" y="14173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kinds of seafood</a:t>
            </a:r>
            <a:endParaRPr lang="en-US" sz="1100" dirty="0"/>
          </a:p>
        </p:txBody>
      </p:sp>
      <p:sp>
        <p:nvSpPr>
          <p:cNvPr id="21" name="R1_chip318"/>
          <p:cNvSpPr/>
          <p:nvPr/>
        </p:nvSpPr>
        <p:spPr>
          <a:xfrm>
            <a:off x="6263640" y="14173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crab · mussels · prawns · squid</a:t>
            </a:r>
            <a:endParaRPr lang="en-US" sz="900" dirty="0"/>
          </a:p>
        </p:txBody>
      </p:sp>
      <p:sp>
        <p:nvSpPr>
          <p:cNvPr id="22" name="bd_319"/>
          <p:cNvSpPr/>
          <p:nvPr/>
        </p:nvSpPr>
        <p:spPr>
          <a:xfrm>
            <a:off x="3246120" y="176174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320"/>
          <p:cNvSpPr/>
          <p:nvPr/>
        </p:nvSpPr>
        <p:spPr>
          <a:xfrm>
            <a:off x="3657600" y="17780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ways of cooking</a:t>
            </a:r>
            <a:endParaRPr lang="en-US" sz="1100" dirty="0"/>
          </a:p>
        </p:txBody>
      </p:sp>
      <p:sp>
        <p:nvSpPr>
          <p:cNvPr id="24" name="R2_chip321"/>
          <p:cNvSpPr/>
          <p:nvPr/>
        </p:nvSpPr>
        <p:spPr>
          <a:xfrm>
            <a:off x="6263640" y="17780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fried · grilled · steamed · roast · boiled · baked</a:t>
            </a:r>
            <a:endParaRPr lang="en-US" sz="800" dirty="0"/>
          </a:p>
        </p:txBody>
      </p:sp>
      <p:sp>
        <p:nvSpPr>
          <p:cNvPr id="25" name="bd_322"/>
          <p:cNvSpPr/>
          <p:nvPr/>
        </p:nvSpPr>
        <p:spPr>
          <a:xfrm>
            <a:off x="3246120" y="212242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323"/>
          <p:cNvSpPr/>
          <p:nvPr/>
        </p:nvSpPr>
        <p:spPr>
          <a:xfrm>
            <a:off x="3657600" y="21386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Opposites: patient · mature · honest</a:t>
            </a:r>
            <a:endParaRPr lang="en-US" sz="900" dirty="0"/>
          </a:p>
        </p:txBody>
      </p:sp>
      <p:sp>
        <p:nvSpPr>
          <p:cNvPr id="27" name="R3_chip324"/>
          <p:cNvSpPr/>
          <p:nvPr/>
        </p:nvSpPr>
        <p:spPr>
          <a:xfrm>
            <a:off x="6263640" y="21386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impatient · immature · dishonest</a:t>
            </a:r>
            <a:endParaRPr lang="en-US" sz="950" dirty="0"/>
          </a:p>
        </p:txBody>
      </p:sp>
      <p:sp>
        <p:nvSpPr>
          <p:cNvPr id="28" name="bd_325"/>
          <p:cNvSpPr/>
          <p:nvPr/>
        </p:nvSpPr>
        <p:spPr>
          <a:xfrm>
            <a:off x="3246120" y="248310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326"/>
          <p:cNvSpPr/>
          <p:nvPr/>
        </p:nvSpPr>
        <p:spPr>
          <a:xfrm>
            <a:off x="3657600" y="24993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___ your pen? (lend or borrow?)</a:t>
            </a:r>
            <a:endParaRPr lang="en-US" sz="900" dirty="0"/>
          </a:p>
        </p:txBody>
      </p:sp>
      <p:sp>
        <p:nvSpPr>
          <p:cNvPr id="30" name="R4_chip327"/>
          <p:cNvSpPr/>
          <p:nvPr/>
        </p:nvSpPr>
        <p:spPr>
          <a:xfrm>
            <a:off x="6263640" y="24993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borrow</a:t>
            </a:r>
            <a:endParaRPr lang="en-US" sz="1100" dirty="0"/>
          </a:p>
        </p:txBody>
      </p:sp>
      <p:sp>
        <p:nvSpPr>
          <p:cNvPr id="31" name="bd_328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329"/>
          <p:cNvSpPr/>
          <p:nvPr/>
        </p:nvSpPr>
        <p:spPr>
          <a:xfrm>
            <a:off x="3657600" y="286004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a mortgage?</a:t>
            </a:r>
            <a:endParaRPr lang="en-US" sz="1100" dirty="0"/>
          </a:p>
        </p:txBody>
      </p:sp>
      <p:sp>
        <p:nvSpPr>
          <p:cNvPr id="33" name="R5_chip330"/>
          <p:cNvSpPr/>
          <p:nvPr/>
        </p:nvSpPr>
        <p:spPr>
          <a:xfrm>
            <a:off x="6263640" y="286004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bank loan to buy a house or flat</a:t>
            </a:r>
            <a:endParaRPr lang="en-US" sz="950" dirty="0"/>
          </a:p>
        </p:txBody>
      </p:sp>
      <p:sp>
        <p:nvSpPr>
          <p:cNvPr id="34" name="bd_331"/>
          <p:cNvSpPr/>
          <p:nvPr/>
        </p:nvSpPr>
        <p:spPr>
          <a:xfrm>
            <a:off x="3246120" y="320446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332"/>
          <p:cNvSpPr/>
          <p:nvPr/>
        </p:nvSpPr>
        <p:spPr>
          <a:xfrm>
            <a:off x="3657600" y="32207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dad's new wife is your…</a:t>
            </a:r>
            <a:endParaRPr lang="en-US" sz="1100" dirty="0"/>
          </a:p>
        </p:txBody>
      </p:sp>
      <p:sp>
        <p:nvSpPr>
          <p:cNvPr id="36" name="R6_chip333"/>
          <p:cNvSpPr/>
          <p:nvPr/>
        </p:nvSpPr>
        <p:spPr>
          <a:xfrm>
            <a:off x="6263640" y="32207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stepmother</a:t>
            </a:r>
            <a:endParaRPr lang="en-US" sz="1100" dirty="0"/>
          </a:p>
        </p:txBody>
      </p:sp>
      <p:sp>
        <p:nvSpPr>
          <p:cNvPr id="37" name="bd_334"/>
          <p:cNvSpPr/>
          <p:nvPr/>
        </p:nvSpPr>
        <p:spPr>
          <a:xfrm>
            <a:off x="3246120" y="356514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gq_335"/>
          <p:cNvSpPr/>
          <p:nvPr/>
        </p:nvSpPr>
        <p:spPr>
          <a:xfrm>
            <a:off x="3657600" y="35814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who always wants to win is…</a:t>
            </a:r>
            <a:endParaRPr lang="en-US" sz="850" dirty="0"/>
          </a:p>
        </p:txBody>
      </p:sp>
      <p:sp>
        <p:nvSpPr>
          <p:cNvPr id="39" name="R7_chip336"/>
          <p:cNvSpPr/>
          <p:nvPr/>
        </p:nvSpPr>
        <p:spPr>
          <a:xfrm>
            <a:off x="6263640" y="35814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competitive</a:t>
            </a:r>
            <a:endParaRPr lang="en-US" sz="1100" dirty="0"/>
          </a:p>
        </p:txBody>
      </p:sp>
      <p:sp>
        <p:nvSpPr>
          <p:cNvPr id="40" name="bd_337"/>
          <p:cNvSpPr/>
          <p:nvPr/>
        </p:nvSpPr>
        <p:spPr>
          <a:xfrm>
            <a:off x="3246120" y="392582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gq_338"/>
          <p:cNvSpPr/>
          <p:nvPr/>
        </p:nvSpPr>
        <p:spPr>
          <a:xfrm>
            <a:off x="3657600" y="39420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Phrasal verbs: eat ___ · cut ___ on</a:t>
            </a:r>
            <a:endParaRPr lang="en-US" sz="950" dirty="0"/>
          </a:p>
        </p:txBody>
      </p:sp>
      <p:sp>
        <p:nvSpPr>
          <p:cNvPr id="42" name="R8_chip339"/>
          <p:cNvSpPr/>
          <p:nvPr/>
        </p:nvSpPr>
        <p:spPr>
          <a:xfrm>
            <a:off x="6263640" y="39420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out (restaurant) · down (eat less)</a:t>
            </a:r>
            <a:endParaRPr lang="en-US" sz="950" dirty="0"/>
          </a:p>
        </p:txBody>
      </p:sp>
      <p:sp>
        <p:nvSpPr>
          <p:cNvPr id="43" name="bd_340"/>
          <p:cNvSpPr/>
          <p:nvPr/>
        </p:nvSpPr>
        <p:spPr>
          <a:xfrm>
            <a:off x="3246120" y="428650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1100" dirty="0"/>
          </a:p>
        </p:txBody>
      </p:sp>
      <p:sp>
        <p:nvSpPr>
          <p:cNvPr id="44" name="gq_341"/>
          <p:cNvSpPr/>
          <p:nvPr/>
        </p:nvSpPr>
        <p:spPr>
          <a:xfrm>
            <a:off x="3657600" y="43027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brother's son is your…</a:t>
            </a:r>
            <a:endParaRPr lang="en-US" sz="1100" dirty="0"/>
          </a:p>
        </p:txBody>
      </p:sp>
      <p:sp>
        <p:nvSpPr>
          <p:cNvPr id="45" name="R9_chip342"/>
          <p:cNvSpPr/>
          <p:nvPr/>
        </p:nvSpPr>
        <p:spPr>
          <a:xfrm>
            <a:off x="6263640" y="43027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nephew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45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Marco's birthday dinner</a:t>
            </a:r>
            <a:endParaRPr lang="en-US" sz="2500" dirty="0"/>
          </a:p>
        </p:txBody>
      </p:sp>
      <p:pic>
        <p:nvPicPr>
          <p:cNvPr id="6" name="brP_3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47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4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4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5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51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35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5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5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Speaking · class story (TPRS)</a:t>
            </a:r>
            <a:endParaRPr lang="en-US" sz="800" dirty="0"/>
          </a:p>
        </p:txBody>
      </p:sp>
      <p:sp>
        <p:nvSpPr>
          <p:cNvPr id="15" name="cd_355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5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5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58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to…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 intenzione di…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been practising for…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 esercita da…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afford / borrow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può permettersi / prendere in prestito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 · filthy · furious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affamatissimo · sudicio · furioso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never cooked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ha mai cucinato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waste of money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uno spreco di soldi</a:t>
            </a:r>
            <a:endParaRPr lang="en-US" sz="950" dirty="0"/>
          </a:p>
        </p:txBody>
      </p:sp>
      <p:sp>
        <p:nvSpPr>
          <p:cNvPr id="19" name="R1_sb359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60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Marco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saving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money because he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going to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cook for his nonna's 80th birthday.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Marco saving or spending? · Why? · How old is Nonna?</a:t>
            </a:r>
            <a:endParaRPr lang="en-US" sz="950" dirty="0"/>
          </a:p>
        </p:txBody>
      </p:sp>
      <p:sp>
        <p:nvSpPr>
          <p:cNvPr id="21" name="R2_sb361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62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been practising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fried arancine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three weeks, but they're always horrible.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has he been practising? · For three weeks or three days?</a:t>
            </a:r>
            <a:endParaRPr lang="en-US" sz="950" dirty="0"/>
          </a:p>
        </p:txBody>
      </p:sp>
      <p:sp>
        <p:nvSpPr>
          <p:cNvPr id="23" name="R3_sb363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64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afford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prawns, so 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€50 from his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stepbrother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Can he afford prawns? · Who does he borrow money from?</a:t>
            </a:r>
            <a:endParaRPr lang="en-US" sz="1100" dirty="0"/>
          </a:p>
        </p:txBody>
      </p:sp>
      <p:sp>
        <p:nvSpPr>
          <p:cNvPr id="25" name="R4_sb365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66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Sunday the family arrives. Everyone is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and Marco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still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Are they hungry or starving? · What is Marco doing?</a:t>
            </a:r>
            <a:endParaRPr lang="en-US" sz="950" dirty="0"/>
          </a:p>
        </p:txBody>
      </p:sp>
      <p:sp>
        <p:nvSpPr>
          <p:cNvPr id="27" name="R5_sb367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68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never cooked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prawns! The kitchen 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filthy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Nonna 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furious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Has he ever cooked prawns? · Is the kitchen clean? · Who is furious?</a:t>
            </a:r>
            <a:endParaRPr lang="en-US" sz="1050" dirty="0"/>
          </a:p>
        </p:txBody>
      </p:sp>
      <p:sp>
        <p:nvSpPr>
          <p:cNvPr id="29" name="R6_sb369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70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the end they order a takeaway. '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 waste of money!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 Nonna says, laughing.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 they eat Marco's food? · And you – what's the worst meal you've ever cooked?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73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Street interview: you!</a:t>
            </a:r>
            <a:endParaRPr lang="en-US" sz="2500" dirty="0"/>
          </a:p>
        </p:txBody>
      </p:sp>
      <p:pic>
        <p:nvPicPr>
          <p:cNvPr id="6" name="brP_3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163824" cy="402336"/>
          </a:xfrm>
          <a:prstGeom prst="rect">
            <a:avLst/>
          </a:prstGeom>
        </p:spPr>
      </p:pic>
      <p:sp>
        <p:nvSpPr>
          <p:cNvPr id="7" name="ins_375"/>
          <p:cNvSpPr/>
          <p:nvPr/>
        </p:nvSpPr>
        <p:spPr>
          <a:xfrm>
            <a:off x="1353312" y="73152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swap.</a:t>
            </a:r>
            <a:endParaRPr lang="en-US" sz="1250" dirty="0"/>
          </a:p>
        </p:txBody>
      </p:sp>
      <p:sp>
        <p:nvSpPr>
          <p:cNvPr id="8" name="insIT_37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le domande al compagno. Poi scambiatevi.</a:t>
            </a:r>
            <a:endParaRPr lang="en-US" sz="950" dirty="0"/>
          </a:p>
        </p:txBody>
      </p:sp>
      <p:sp>
        <p:nvSpPr>
          <p:cNvPr id="9" name="cmd_37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37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37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3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Speaking · before you listen   ·   📖 SB p.25 · the interviewer's questions from 2.21</a:t>
            </a:r>
            <a:endParaRPr lang="en-US" sz="800" dirty="0"/>
          </a:p>
        </p:txBody>
      </p:sp>
      <p:sp>
        <p:nvSpPr>
          <p:cNvPr id="14" name="pf_382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83" descr="/home/claude/lls-course/v2/cache/1a1_vox_pop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384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85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86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87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often – maybe once a month.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 have! / No, never.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rather not say.</a:t>
            </a:r>
            <a:endParaRPr lang="en-US" sz="950" dirty="0"/>
          </a:p>
        </p:txBody>
      </p:sp>
      <p:sp>
        <p:nvSpPr>
          <p:cNvPr id="20" name="R1_qb388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89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eat to cheer yourself up when you're feeling sad?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Chocolate – or my mum's arancine!</a:t>
            </a:r>
            <a:endParaRPr lang="en-US" sz="1100" dirty="0"/>
          </a:p>
        </p:txBody>
      </p:sp>
      <p:sp>
        <p:nvSpPr>
          <p:cNvPr id="22" name="R2_qb390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91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do you eat out? Where do you go?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About once a week – usually pizza with friends.</a:t>
            </a:r>
            <a:endParaRPr lang="en-US" sz="1250" dirty="0"/>
          </a:p>
        </p:txBody>
      </p:sp>
      <p:sp>
        <p:nvSpPr>
          <p:cNvPr id="24" name="R3_qb392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93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get on well with your brothers and sisters (or cousins)?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most of the time – but my sister is SO bossy!</a:t>
            </a:r>
            <a:endParaRPr lang="en-US" sz="1100" dirty="0"/>
          </a:p>
        </p:txBody>
      </p:sp>
      <p:sp>
        <p:nvSpPr>
          <p:cNvPr id="26" name="R4_qb394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95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money? What did you do with it?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€20 in a raffle. I spent it on a takeaway!</a:t>
            </a:r>
            <a:endParaRPr lang="en-US" sz="1250" dirty="0"/>
          </a:p>
        </p:txBody>
      </p:sp>
      <p:sp>
        <p:nvSpPr>
          <p:cNvPr id="28" name="R5_qb396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397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taken part in a charity event?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No, never. But I'd like to do a charity run.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00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Street interviews</a:t>
            </a:r>
            <a:endParaRPr lang="en-US" sz="2500" dirty="0"/>
          </a:p>
        </p:txBody>
      </p:sp>
      <p:pic>
        <p:nvPicPr>
          <p:cNvPr id="6" name="brP_4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40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twice. Choose a, b or c.</a:t>
            </a:r>
            <a:endParaRPr lang="en-US" sz="1250" dirty="0"/>
          </a:p>
        </p:txBody>
      </p:sp>
      <p:sp>
        <p:nvSpPr>
          <p:cNvPr id="8" name="insIT_40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due volte. Scegli a, b o c.</a:t>
            </a:r>
            <a:endParaRPr lang="en-US" sz="950" dirty="0"/>
          </a:p>
        </p:txBody>
      </p:sp>
      <p:sp>
        <p:nvSpPr>
          <p:cNvPr id="9" name="cmd_40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40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40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40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850" dirty="0"/>
          </a:p>
        </p:txBody>
      </p:sp>
      <p:pic>
        <p:nvPicPr>
          <p:cNvPr id="13" name="logo_40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0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listening · 2.21   ·   📖 SB p.25 · Can you understand these people? · audio / video 2.21 (2'42")</a:t>
            </a:r>
            <a:endParaRPr lang="en-US" sz="800" dirty="0"/>
          </a:p>
        </p:txBody>
      </p:sp>
      <p:sp>
        <p:nvSpPr>
          <p:cNvPr id="15" name="ap_410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2.21  ·  play twice</a:t>
            </a:r>
            <a:endParaRPr lang="en-US" sz="1100" dirty="0"/>
          </a:p>
        </p:txBody>
      </p:sp>
      <p:sp>
        <p:nvSpPr>
          <p:cNvPr id="16" name="ah_411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412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413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21" name="phx_414"/>
          <p:cNvSpPr/>
          <p:nvPr/>
        </p:nvSpPr>
        <p:spPr>
          <a:xfrm>
            <a:off x="457200" y="2103120"/>
            <a:ext cx="2606040" cy="16916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r12-street-interview.jpg</a:t>
            </a:r>
            <a:endParaRPr lang="en-US" sz="900" dirty="0"/>
          </a:p>
        </p:txBody>
      </p:sp>
      <p:sp>
        <p:nvSpPr>
          <p:cNvPr id="22" name="cd_415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416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417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418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419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Philomena: ___ potatoes cheer her up.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roast or baked · b fried or roast · c boiled or baked)</a:t>
            </a:r>
            <a:endParaRPr lang="en-US" sz="850" dirty="0"/>
          </a:p>
        </p:txBody>
      </p:sp>
      <p:sp>
        <p:nvSpPr>
          <p:cNvPr id="27" name="R1_chip420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roast or baked</a:t>
            </a:r>
            <a:endParaRPr lang="en-US" sz="1200" dirty="0"/>
          </a:p>
        </p:txBody>
      </p:sp>
      <p:sp>
        <p:nvSpPr>
          <p:cNvPr id="28" name="gq_421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Mark likes ___ food when he eats out.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Spanish · b Italian · c French)</a:t>
            </a:r>
            <a:endParaRPr lang="en-US" sz="1150" dirty="0"/>
          </a:p>
        </p:txBody>
      </p:sp>
      <p:sp>
        <p:nvSpPr>
          <p:cNvPr id="29" name="R2_chip422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Italian (pizza)</a:t>
            </a:r>
            <a:endParaRPr lang="en-US" sz="1200" dirty="0"/>
          </a:p>
        </p:txBody>
      </p:sp>
      <p:sp>
        <p:nvSpPr>
          <p:cNvPr id="30" name="gq_423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Ross gets on with his step-siblings ___.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all his life · b since they grew up · c since teenage years)</a:t>
            </a:r>
            <a:endParaRPr lang="en-US" sz="850" dirty="0"/>
          </a:p>
        </p:txBody>
      </p:sp>
      <p:sp>
        <p:nvSpPr>
          <p:cNvPr id="31" name="R3_chip424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since they grew up</a:t>
            </a:r>
            <a:endParaRPr lang="en-US" sz="1200" dirty="0"/>
          </a:p>
        </p:txBody>
      </p:sp>
      <p:sp>
        <p:nvSpPr>
          <p:cNvPr id="32" name="gq_425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Coleen won some money. She spent it on ___.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a long holiday · b a holiday abroad · c a short holiday)</a:t>
            </a:r>
            <a:endParaRPr lang="en-US" sz="850" dirty="0"/>
          </a:p>
        </p:txBody>
      </p:sp>
      <p:sp>
        <p:nvSpPr>
          <p:cNvPr id="33" name="R4_chip426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a short holiday</a:t>
            </a:r>
            <a:endParaRPr lang="en-US" sz="1200" dirty="0"/>
          </a:p>
        </p:txBody>
      </p:sp>
      <p:sp>
        <p:nvSpPr>
          <p:cNvPr id="34" name="gq_427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Richard raised ___ for Cancer Research.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£6,000 · b £6,500 · c £6,050)</a:t>
            </a:r>
            <a:endParaRPr lang="en-US" sz="1050" dirty="0"/>
          </a:p>
        </p:txBody>
      </p:sp>
      <p:sp>
        <p:nvSpPr>
          <p:cNvPr id="35" name="R5_chip428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£6,500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3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3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Roll and talk!</a:t>
            </a:r>
            <a:endParaRPr lang="en-US" sz="2500" dirty="0"/>
          </a:p>
        </p:txBody>
      </p:sp>
      <p:pic>
        <p:nvPicPr>
          <p:cNvPr id="6" name="brP_43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33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Roll the dice. Talk for 45 seconds!</a:t>
            </a:r>
            <a:endParaRPr lang="en-US" sz="1250" dirty="0"/>
          </a:p>
        </p:txBody>
      </p:sp>
      <p:sp>
        <p:nvSpPr>
          <p:cNvPr id="8" name="insIT_43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Tira il dado. Parla per 45 secondi!</a:t>
            </a:r>
            <a:endParaRPr lang="en-US" sz="950" dirty="0"/>
          </a:p>
        </p:txBody>
      </p:sp>
      <p:sp>
        <p:nvSpPr>
          <p:cNvPr id="9" name="cmd_43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43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43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👨‍👩‍👧 groups</a:t>
            </a:r>
            <a:endParaRPr lang="en-US" sz="950" dirty="0"/>
          </a:p>
        </p:txBody>
      </p:sp>
      <p:sp>
        <p:nvSpPr>
          <p:cNvPr id="12" name="tag_43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3" name="logo_43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4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Speaking · roll and talk   ·   📖 SB p.25 · Can you say this in English? (speaking challenge)</a:t>
            </a:r>
            <a:endParaRPr lang="en-US" sz="800" dirty="0"/>
          </a:p>
        </p:txBody>
      </p:sp>
      <p:sp>
        <p:nvSpPr>
          <p:cNvPr id="15" name="pf_441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6" name="phx_442"/>
          <p:cNvSpPr/>
          <p:nvPr/>
        </p:nvSpPr>
        <p:spPr>
          <a:xfrm>
            <a:off x="365760" y="1417320"/>
            <a:ext cx="2697480" cy="178308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r12-dice.jpg</a:t>
            </a:r>
            <a:endParaRPr lang="en-US" sz="900" dirty="0"/>
          </a:p>
        </p:txBody>
      </p:sp>
      <p:sp>
        <p:nvSpPr>
          <p:cNvPr id="17" name="cd_443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444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445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20" name="il_446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me think…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thing is…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Follow-up: Why? When? How long…?</a:t>
            </a:r>
            <a:endParaRPr lang="en-US" sz="900" dirty="0"/>
          </a:p>
        </p:txBody>
      </p:sp>
      <p:sp>
        <p:nvSpPr>
          <p:cNvPr id="21" name="R1_qb447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R1_sq448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favourite dish – how is it cooked?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Pasta alla Norma – the aubergines are fried, and there's lots of fresh tomato.</a:t>
            </a:r>
            <a:endParaRPr lang="en-US" sz="1100" dirty="0"/>
          </a:p>
        </p:txBody>
      </p:sp>
      <p:sp>
        <p:nvSpPr>
          <p:cNvPr id="23" name="R2_qb449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450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you're doing these days (not usually!)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learning to drive at the moment – it's terrifying!</a:t>
            </a:r>
            <a:endParaRPr lang="en-US" sz="1250" dirty="0"/>
          </a:p>
        </p:txBody>
      </p:sp>
      <p:sp>
        <p:nvSpPr>
          <p:cNvPr id="25" name="R3_qb451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452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plans for next weekend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the beach on Saturday, and on Sunday I'm having lunch at my nonna's.</a:t>
            </a:r>
            <a:endParaRPr lang="en-US" sz="1000" dirty="0"/>
          </a:p>
        </p:txBody>
      </p:sp>
      <p:sp>
        <p:nvSpPr>
          <p:cNvPr id="27" name="R4_qb453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454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Someone in your family: what are they like?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brother is really competitive – and a bit moody!</a:t>
            </a:r>
            <a:endParaRPr lang="en-US" sz="1250" dirty="0"/>
          </a:p>
        </p:txBody>
      </p:sp>
      <p:sp>
        <p:nvSpPr>
          <p:cNvPr id="29" name="R5_qb455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456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bought and then thought: what a waste of money!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Last summer I bought some expensive trainers. I've only worn them twice!</a:t>
            </a:r>
            <a:endParaRPr lang="en-US" sz="1050" dirty="0"/>
          </a:p>
        </p:txBody>
      </p:sp>
      <p:sp>
        <p:nvSpPr>
          <p:cNvPr id="31" name="R6_qb457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R6_sq458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you've been doing for a long time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I've been playing volleyball for six years – since I was ten.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61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you…?</a:t>
            </a:r>
            <a:endParaRPr lang="en-US" sz="2400" dirty="0"/>
          </a:p>
        </p:txBody>
      </p:sp>
      <p:pic>
        <p:nvPicPr>
          <p:cNvPr id="6" name="brP_4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463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it? Show your partner!</a:t>
            </a:r>
            <a:endParaRPr lang="en-US" sz="1250" dirty="0"/>
          </a:p>
        </p:txBody>
      </p:sp>
      <p:sp>
        <p:nvSpPr>
          <p:cNvPr id="8" name="insIT_46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 farlo? Dimostralo al compagno!</a:t>
            </a:r>
            <a:endParaRPr lang="en-US" sz="950" dirty="0"/>
          </a:p>
        </p:txBody>
      </p:sp>
      <p:sp>
        <p:nvSpPr>
          <p:cNvPr id="9" name="cmd_46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46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46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2" name="logo_4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Self-assessment · Can you say this in English?   ·   📖 SB p.25 · Can you say this in English? 1–4</a:t>
            </a:r>
            <a:endParaRPr lang="en-US" sz="800" dirty="0"/>
          </a:p>
        </p:txBody>
      </p:sp>
      <p:sp>
        <p:nvSpPr>
          <p:cNvPr id="14" name="cd_470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7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47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473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= I can do it well · ? = I need practice</a:t>
            </a:r>
            <a:endParaRPr lang="en-US" sz="1050" dirty="0"/>
          </a:p>
        </p:txBody>
      </p:sp>
      <p:sp>
        <p:nvSpPr>
          <p:cNvPr id="18" name="pf_474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75" descr="/home/claude/lls-course/v2/cache/spare_future_aims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47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47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diet – and how it's changing?</a:t>
            </a:r>
            <a:endParaRPr lang="en-US" sz="1150" dirty="0"/>
          </a:p>
        </p:txBody>
      </p:sp>
      <p:sp>
        <p:nvSpPr>
          <p:cNvPr id="22" name="R1_chip47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eat a lot of fish, but people here are eating more fast food now.</a:t>
            </a:r>
            <a:endParaRPr lang="en-US" sz="1000" dirty="0"/>
          </a:p>
        </p:txBody>
      </p:sp>
      <p:sp>
        <p:nvSpPr>
          <p:cNvPr id="23" name="bd_47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48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family – what they're like?</a:t>
            </a:r>
            <a:endParaRPr lang="en-US" sz="1150" dirty="0"/>
          </a:p>
        </p:txBody>
      </p:sp>
      <p:sp>
        <p:nvSpPr>
          <p:cNvPr id="25" name="R2_chip48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dad is very patient, but my sister is a bit stubborn.</a:t>
            </a:r>
            <a:endParaRPr lang="en-US" sz="1000" dirty="0"/>
          </a:p>
        </p:txBody>
      </p:sp>
      <p:sp>
        <p:nvSpPr>
          <p:cNvPr id="26" name="bd_48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48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about plans and predictions?</a:t>
            </a:r>
            <a:endParaRPr lang="en-US" sz="1150" dirty="0"/>
          </a:p>
        </p:txBody>
      </p:sp>
      <p:sp>
        <p:nvSpPr>
          <p:cNvPr id="28" name="R3_chip48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study in Palermo. I think I'll live at home.</a:t>
            </a:r>
            <a:endParaRPr lang="en-US" sz="1000" dirty="0"/>
          </a:p>
        </p:txBody>
      </p:sp>
      <p:sp>
        <p:nvSpPr>
          <p:cNvPr id="29" name="bd_48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48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money? How much? What did you do with it?</a:t>
            </a:r>
            <a:endParaRPr lang="en-US" sz="850" dirty="0"/>
          </a:p>
        </p:txBody>
      </p:sp>
      <p:sp>
        <p:nvSpPr>
          <p:cNvPr id="31" name="R4_chip48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No, I haven't. / Yes, I won €50 and I bought a jacket.</a:t>
            </a:r>
            <a:endParaRPr lang="en-US" sz="1000" dirty="0"/>
          </a:p>
        </p:txBody>
      </p:sp>
      <p:sp>
        <p:nvSpPr>
          <p:cNvPr id="32" name="bd_488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489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have you been learning English? Where did you start?</a:t>
            </a:r>
            <a:endParaRPr lang="en-US" sz="850" dirty="0"/>
          </a:p>
        </p:txBody>
      </p:sp>
      <p:sp>
        <p:nvSpPr>
          <p:cNvPr id="34" name="R5_chip490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I've been learning it for eight years. I started at primary school.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93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95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looking! Then write your target.</a:t>
            </a:r>
            <a:endParaRPr lang="en-US" sz="1250" dirty="0"/>
          </a:p>
        </p:txBody>
      </p:sp>
      <p:sp>
        <p:nvSpPr>
          <p:cNvPr id="8" name="insIT_49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Senza guardare! Poi scrivi il tuo obiettivo.</a:t>
            </a:r>
            <a:endParaRPr lang="en-US" sz="950" dirty="0"/>
          </a:p>
        </p:txBody>
      </p:sp>
      <p:sp>
        <p:nvSpPr>
          <p:cNvPr id="9" name="meta_497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0" name="tag_498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4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Exit · what can you remember?</a:t>
            </a:r>
            <a:endParaRPr lang="en-US" sz="800" dirty="0"/>
          </a:p>
        </p:txBody>
      </p:sp>
      <p:sp>
        <p:nvSpPr>
          <p:cNvPr id="13" name="bd_501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02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you can do well now – from Files 1 and 2</a:t>
            </a:r>
            <a:endParaRPr lang="en-US" sz="1400" dirty="0"/>
          </a:p>
        </p:txBody>
      </p:sp>
      <p:sp>
        <p:nvSpPr>
          <p:cNvPr id="15" name="bd_503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04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mistakes from today – and the correct sentence</a:t>
            </a:r>
            <a:endParaRPr lang="en-US" sz="1400" dirty="0"/>
          </a:p>
        </p:txBody>
      </p:sp>
      <p:sp>
        <p:nvSpPr>
          <p:cNvPr id="17" name="bd_505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06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target: what will you revise this week?</a:t>
            </a:r>
            <a:endParaRPr lang="en-US" sz="1400" dirty="0"/>
          </a:p>
        </p:txBody>
      </p:sp>
      <p:sp>
        <p:nvSpPr>
          <p:cNvPr id="19" name="cd_507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08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09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10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 p.25: Can you understand this text? a, b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Online Practice: Check your progress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R1-2</a:t>
            </a:r>
            <a:endParaRPr lang="en-US" sz="1150" dirty="0"/>
          </a:p>
        </p:txBody>
      </p:sp>
      <p:sp>
        <p:nvSpPr>
          <p:cNvPr id="23" name="st_511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3A · Survive the drive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14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1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16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1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51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51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52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52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2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Review · what did you do today?</a:t>
            </a:r>
            <a:endParaRPr lang="en-US" sz="800" dirty="0"/>
          </a:p>
        </p:txBody>
      </p:sp>
      <p:sp>
        <p:nvSpPr>
          <p:cNvPr id="14" name="cd_523"/>
          <p:cNvSpPr/>
          <p:nvPr/>
        </p:nvSpPr>
        <p:spPr>
          <a:xfrm>
            <a:off x="548640" y="14173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524"/>
          <p:cNvSpPr/>
          <p:nvPr/>
        </p:nvSpPr>
        <p:spPr>
          <a:xfrm>
            <a:off x="640080" y="14538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🎲</a:t>
            </a:r>
            <a:endParaRPr lang="en-US" sz="1800" dirty="0"/>
          </a:p>
        </p:txBody>
      </p:sp>
      <p:sp>
        <p:nvSpPr>
          <p:cNvPr id="16" name="tt_525"/>
          <p:cNvSpPr/>
          <p:nvPr/>
        </p:nvSpPr>
        <p:spPr>
          <a:xfrm>
            <a:off x="1188720" y="14173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Played four review games in teams</a:t>
            </a:r>
            <a:endParaRPr lang="en-US" sz="1350" dirty="0"/>
          </a:p>
        </p:txBody>
      </p:sp>
      <p:sp>
        <p:nvSpPr>
          <p:cNvPr id="17" name="R1_tk526"/>
          <p:cNvSpPr/>
          <p:nvPr/>
        </p:nvSpPr>
        <p:spPr>
          <a:xfrm>
            <a:off x="5989320" y="14538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527"/>
          <p:cNvSpPr/>
          <p:nvPr/>
        </p:nvSpPr>
        <p:spPr>
          <a:xfrm>
            <a:off x="548640" y="196596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528"/>
          <p:cNvSpPr/>
          <p:nvPr/>
        </p:nvSpPr>
        <p:spPr>
          <a:xfrm>
            <a:off x="640080" y="20025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20" name="tt_529"/>
          <p:cNvSpPr/>
          <p:nvPr/>
        </p:nvSpPr>
        <p:spPr>
          <a:xfrm>
            <a:off x="1188720" y="196596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the book's grammar test – against the clock</a:t>
            </a:r>
            <a:endParaRPr lang="en-US" sz="1350" dirty="0"/>
          </a:p>
        </p:txBody>
      </p:sp>
      <p:sp>
        <p:nvSpPr>
          <p:cNvPr id="21" name="R2_tk530"/>
          <p:cNvSpPr/>
          <p:nvPr/>
        </p:nvSpPr>
        <p:spPr>
          <a:xfrm>
            <a:off x="5989320" y="200253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531"/>
          <p:cNvSpPr/>
          <p:nvPr/>
        </p:nvSpPr>
        <p:spPr>
          <a:xfrm>
            <a:off x="548640" y="251460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532"/>
          <p:cNvSpPr/>
          <p:nvPr/>
        </p:nvSpPr>
        <p:spPr>
          <a:xfrm>
            <a:off x="640080" y="25511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🎧</a:t>
            </a:r>
            <a:endParaRPr lang="en-US" sz="1800" dirty="0"/>
          </a:p>
        </p:txBody>
      </p:sp>
      <p:sp>
        <p:nvSpPr>
          <p:cNvPr id="24" name="tt_533"/>
          <p:cNvSpPr/>
          <p:nvPr/>
        </p:nvSpPr>
        <p:spPr>
          <a:xfrm>
            <a:off x="1188720" y="251460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five people in the street</a:t>
            </a:r>
            <a:endParaRPr lang="en-US" sz="1350" dirty="0"/>
          </a:p>
        </p:txBody>
      </p:sp>
      <p:sp>
        <p:nvSpPr>
          <p:cNvPr id="25" name="R3_tk534"/>
          <p:cNvSpPr/>
          <p:nvPr/>
        </p:nvSpPr>
        <p:spPr>
          <a:xfrm>
            <a:off x="5989320" y="2551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535"/>
          <p:cNvSpPr/>
          <p:nvPr/>
        </p:nvSpPr>
        <p:spPr>
          <a:xfrm>
            <a:off x="548640" y="306324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536"/>
          <p:cNvSpPr/>
          <p:nvPr/>
        </p:nvSpPr>
        <p:spPr>
          <a:xfrm>
            <a:off x="640080" y="309981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8" name="tt_537"/>
          <p:cNvSpPr/>
          <p:nvPr/>
        </p:nvSpPr>
        <p:spPr>
          <a:xfrm>
            <a:off x="1188720" y="306324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food, family, money and you</a:t>
            </a:r>
            <a:endParaRPr lang="en-US" sz="1350" dirty="0"/>
          </a:p>
        </p:txBody>
      </p:sp>
      <p:sp>
        <p:nvSpPr>
          <p:cNvPr id="29" name="R4_tk538"/>
          <p:cNvSpPr/>
          <p:nvPr/>
        </p:nvSpPr>
        <p:spPr>
          <a:xfrm>
            <a:off x="5989320" y="309981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539"/>
          <p:cNvSpPr/>
          <p:nvPr/>
        </p:nvSpPr>
        <p:spPr>
          <a:xfrm>
            <a:off x="548640" y="361188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540"/>
          <p:cNvSpPr/>
          <p:nvPr/>
        </p:nvSpPr>
        <p:spPr>
          <a:xfrm>
            <a:off x="640080" y="36484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32" name="tt_541"/>
          <p:cNvSpPr/>
          <p:nvPr/>
        </p:nvSpPr>
        <p:spPr>
          <a:xfrm>
            <a:off x="1188720" y="361188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33" name="R5_tk542"/>
          <p:cNvSpPr/>
          <p:nvPr/>
        </p:nvSpPr>
        <p:spPr>
          <a:xfrm>
            <a:off x="5989320" y="364845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cd_543"/>
          <p:cNvSpPr/>
          <p:nvPr/>
        </p:nvSpPr>
        <p:spPr>
          <a:xfrm>
            <a:off x="548640" y="41605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te_544"/>
          <p:cNvSpPr/>
          <p:nvPr/>
        </p:nvSpPr>
        <p:spPr>
          <a:xfrm>
            <a:off x="640080" y="41970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36" name="tt_545"/>
          <p:cNvSpPr/>
          <p:nvPr/>
        </p:nvSpPr>
        <p:spPr>
          <a:xfrm>
            <a:off x="1188720" y="41605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Chose your own revision target</a:t>
            </a:r>
            <a:endParaRPr lang="en-US" sz="1350" dirty="0"/>
          </a:p>
        </p:txBody>
      </p:sp>
      <p:sp>
        <p:nvSpPr>
          <p:cNvPr id="37" name="R6_tk546"/>
          <p:cNvSpPr/>
          <p:nvPr/>
        </p:nvSpPr>
        <p:spPr>
          <a:xfrm>
            <a:off x="5989320" y="41970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8" name="st_547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550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 test: words</a:t>
            </a:r>
            <a:endParaRPr lang="en-US" sz="2500" dirty="0"/>
          </a:p>
        </p:txBody>
      </p:sp>
      <p:pic>
        <p:nvPicPr>
          <p:cNvPr id="6" name="brP_5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5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p.24 Vocabulary. Then check!</a:t>
            </a:r>
            <a:endParaRPr lang="en-US" sz="1250" dirty="0"/>
          </a:p>
        </p:txBody>
      </p:sp>
      <p:sp>
        <p:nvSpPr>
          <p:cNvPr id="8" name="insIT_5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p.24 Vocabulary. Poi controlla!</a:t>
            </a:r>
            <a:endParaRPr lang="en-US" sz="950" dirty="0"/>
          </a:p>
        </p:txBody>
      </p:sp>
      <p:sp>
        <p:nvSpPr>
          <p:cNvPr id="9" name="cmd_55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cmd_55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55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2" name="tag_55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5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Extra · SB p.24 Vocabulary + Pronunciation   ·   📖 SB p.24 · VOCABULARY a–e, PRONUNCIATION c, d (TG key)</a:t>
            </a:r>
            <a:endParaRPr lang="en-US" sz="800" dirty="0"/>
          </a:p>
        </p:txBody>
      </p:sp>
      <p:sp>
        <p:nvSpPr>
          <p:cNvPr id="15" name="st_560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6" name="cd_56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8" name="ih_5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9" name="il_56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a: prawns, mussels, duck, squid → duck (not seafood)</a:t>
            </a:r>
            <a:endParaRPr lang="en-US" sz="1050" dirty="0"/>
          </a:p>
        </p:txBody>
      </p:sp>
      <p:sp>
        <p:nvSpPr>
          <p:cNvPr id="20" name="pf_565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66" descr="/home/claude/lls-course/v2/cache/1a1_fruit_veg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2" name="bd_567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q_568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odd one out</a:t>
            </a:r>
            <a:endParaRPr lang="en-US" sz="1150" dirty="0"/>
          </a:p>
        </p:txBody>
      </p:sp>
      <p:sp>
        <p:nvSpPr>
          <p:cNvPr id="24" name="R1_chip569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duck · 2 crab · 3 beetroot · 4 raspberry · 5 chicken</a:t>
            </a:r>
            <a:endParaRPr lang="en-US" sz="1000" dirty="0"/>
          </a:p>
        </p:txBody>
      </p:sp>
      <p:sp>
        <p:nvSpPr>
          <p:cNvPr id="25" name="bd_570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q_571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opposites (prefix)</a:t>
            </a:r>
            <a:endParaRPr lang="en-US" sz="1150" dirty="0"/>
          </a:p>
        </p:txBody>
      </p:sp>
      <p:sp>
        <p:nvSpPr>
          <p:cNvPr id="27" name="R2_chip572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dishonest · unfriendly · irresponsible · immature · insensitive</a:t>
            </a:r>
            <a:endParaRPr lang="en-US" sz="1000" dirty="0"/>
          </a:p>
        </p:txBody>
      </p:sp>
      <p:sp>
        <p:nvSpPr>
          <p:cNvPr id="28" name="bd_573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q_574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money verbs</a:t>
            </a:r>
            <a:endParaRPr lang="en-US" sz="1150" dirty="0"/>
          </a:p>
        </p:txBody>
      </p:sp>
      <p:sp>
        <p:nvSpPr>
          <p:cNvPr id="30" name="R3_chip575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waste · 2 inherit · 3 earn · 4 borrow · 5 save</a:t>
            </a:r>
            <a:endParaRPr lang="en-US" sz="1000" dirty="0"/>
          </a:p>
        </p:txBody>
      </p:sp>
      <p:sp>
        <p:nvSpPr>
          <p:cNvPr id="31" name="bd_576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2" name="q_577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strong adjectives</a:t>
            </a:r>
            <a:endParaRPr lang="en-US" sz="1150" dirty="0"/>
          </a:p>
        </p:txBody>
      </p:sp>
      <p:sp>
        <p:nvSpPr>
          <p:cNvPr id="33" name="R4_chip578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 · starving · freezing · filthy · furious</a:t>
            </a:r>
            <a:endParaRPr lang="en-US" sz="1000" dirty="0"/>
          </a:p>
        </p:txBody>
      </p:sp>
      <p:sp>
        <p:nvSpPr>
          <p:cNvPr id="34" name="bd_579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q_580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phrasal verbs</a:t>
            </a:r>
            <a:endParaRPr lang="en-US" sz="1150" dirty="0"/>
          </a:p>
        </p:txBody>
      </p:sp>
      <p:sp>
        <p:nvSpPr>
          <p:cNvPr id="36" name="R5_chip581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out · 2 out · 3 on · 4 back · 5 out</a:t>
            </a:r>
            <a:endParaRPr lang="en-US" sz="1000" dirty="0"/>
          </a:p>
        </p:txBody>
      </p:sp>
      <p:sp>
        <p:nvSpPr>
          <p:cNvPr id="37" name="bd_582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q_583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Pron. c  sounds</a:t>
            </a:r>
            <a:endParaRPr lang="en-US" sz="1150" dirty="0"/>
          </a:p>
        </p:txBody>
      </p:sp>
      <p:sp>
        <p:nvSpPr>
          <p:cNvPr id="39" name="R6_chip584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chicken /ɪ/ · charge /ɑː/ · inherit /h/ · salary /æ/ · steamed /iː/</a:t>
            </a:r>
            <a:endParaRPr lang="en-US" sz="1000" dirty="0"/>
          </a:p>
        </p:txBody>
      </p:sp>
      <p:sp>
        <p:nvSpPr>
          <p:cNvPr id="40" name="bd_585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q_586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Pron. d  stress</a:t>
            </a:r>
            <a:endParaRPr lang="en-US" sz="1150" dirty="0"/>
          </a:p>
        </p:txBody>
      </p:sp>
      <p:sp>
        <p:nvSpPr>
          <p:cNvPr id="42" name="R7_chip587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SENsible · TERrified · unSELfish · MORTgage · exHAUSted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90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snake</a:t>
            </a:r>
            <a:endParaRPr lang="en-US" sz="2500" dirty="0"/>
          </a:p>
        </p:txBody>
      </p:sp>
      <p:pic>
        <p:nvPicPr>
          <p:cNvPr id="6" name="brP_5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9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letter = first letter. Go!</a:t>
            </a:r>
            <a:endParaRPr lang="en-US" sz="1250" dirty="0"/>
          </a:p>
        </p:txBody>
      </p:sp>
      <p:sp>
        <p:nvSpPr>
          <p:cNvPr id="8" name="insIT_59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Ultima lettera = prima lettera. Via!</a:t>
            </a:r>
            <a:endParaRPr lang="en-US" sz="950" dirty="0"/>
          </a:p>
        </p:txBody>
      </p:sp>
      <p:sp>
        <p:nvSpPr>
          <p:cNvPr id="9" name="cmd_59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9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59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Extra game · word snake   ·   📖 Topics: food &amp; cooking · family · personality · money · strong adjectives</a:t>
            </a:r>
            <a:endParaRPr lang="en-US" sz="800" dirty="0"/>
          </a:p>
        </p:txBody>
      </p:sp>
      <p:sp>
        <p:nvSpPr>
          <p:cNvPr id="14" name="st_599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00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0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0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03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a word from Files 1–2 + its topic.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una parola dei File 1–2 + l'argomento.</a:t>
            </a:r>
            <a:endParaRPr lang="en-US" sz="8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team: 10 seconds, a word that starts with the LAST letter.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Squadra dopo: 10 secondi, una parola che inizia con l'ULTIMA lettera.</a:t>
            </a:r>
            <a:endParaRPr lang="en-US" sz="8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word or repeated word = point to the other team.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Nessuna parola o parola ripetuta = punto all'altra squadra.</a:t>
            </a:r>
            <a:endParaRPr lang="en-US" sz="800" dirty="0"/>
          </a:p>
        </p:txBody>
      </p:sp>
      <p:sp>
        <p:nvSpPr>
          <p:cNvPr id="19" name="st_604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60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0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salmon – FOOD</a:t>
            </a:r>
            <a:endParaRPr lang="en-US" sz="1100" dirty="0"/>
          </a:p>
        </p:txBody>
      </p:sp>
      <p:sp>
        <p:nvSpPr>
          <p:cNvPr id="22" name="R1_chip60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n: nephew – FAMILY</a:t>
            </a:r>
            <a:endParaRPr lang="en-US" sz="1100" dirty="0"/>
          </a:p>
        </p:txBody>
      </p:sp>
      <p:sp>
        <p:nvSpPr>
          <p:cNvPr id="23" name="bd_60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0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nephew – FAMILY</a:t>
            </a:r>
            <a:endParaRPr lang="en-US" sz="1100" dirty="0"/>
          </a:p>
        </p:txBody>
      </p:sp>
      <p:sp>
        <p:nvSpPr>
          <p:cNvPr id="25" name="R2_chip61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w: waste – MONEY</a:t>
            </a:r>
            <a:endParaRPr lang="en-US" sz="1100" dirty="0"/>
          </a:p>
        </p:txBody>
      </p:sp>
      <p:sp>
        <p:nvSpPr>
          <p:cNvPr id="26" name="bd_61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61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 – MONEY</a:t>
            </a:r>
            <a:endParaRPr lang="en-US" sz="1100" dirty="0"/>
          </a:p>
        </p:txBody>
      </p:sp>
      <p:sp>
        <p:nvSpPr>
          <p:cNvPr id="28" name="R3_chip61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e: exhausted – STRONG ADJ.</a:t>
            </a:r>
            <a:endParaRPr lang="en-US" sz="1100" dirty="0"/>
          </a:p>
        </p:txBody>
      </p:sp>
      <p:sp>
        <p:nvSpPr>
          <p:cNvPr id="29" name="bd_61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61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 – STRONG ADJ.</a:t>
            </a:r>
            <a:endParaRPr lang="en-US" sz="1100" dirty="0"/>
          </a:p>
        </p:txBody>
      </p:sp>
      <p:sp>
        <p:nvSpPr>
          <p:cNvPr id="31" name="R4_chip61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d: duck – FOOD</a:t>
            </a:r>
            <a:endParaRPr lang="en-US" sz="1100" dirty="0"/>
          </a:p>
        </p:txBody>
      </p:sp>
      <p:sp>
        <p:nvSpPr>
          <p:cNvPr id="32" name="bd_61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61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duck – FOOD</a:t>
            </a:r>
            <a:endParaRPr lang="en-US" sz="1100" dirty="0"/>
          </a:p>
        </p:txBody>
      </p:sp>
      <p:sp>
        <p:nvSpPr>
          <p:cNvPr id="34" name="R5_chip61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k: kind – PERSONALITY</a:t>
            </a:r>
            <a:endParaRPr lang="en-US" sz="1100" dirty="0"/>
          </a:p>
        </p:txBody>
      </p:sp>
      <p:sp>
        <p:nvSpPr>
          <p:cNvPr id="35" name="bd_62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62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 point!</a:t>
            </a:r>
            <a:endParaRPr lang="en-US" sz="1100" dirty="0"/>
          </a:p>
        </p:txBody>
      </p:sp>
      <p:sp>
        <p:nvSpPr>
          <p:cNvPr id="37" name="R6_chip62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sentence with your word: 'I've never eaten duck.'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R1-2 Revise and Check 1&amp;2</dc:title>
  <dc:subject>PptxGenJS Presentation</dc:subject>
  <dc:creator>PptxGenJS</dc:creator>
  <cp:lastModifiedBy>PptxGenJS</cp:lastModifiedBy>
  <cp:revision>1</cp:revision>
  <dcterms:created xsi:type="dcterms:W3CDTF">2026-10-15T08:42:17Z</dcterms:created>
  <dcterms:modified xsi:type="dcterms:W3CDTF">2026-10-15T08:42:17Z</dcterms:modified>
</cp:coreProperties>
</file>