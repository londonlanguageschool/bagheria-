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after the test, the strategy and the two games, and just before the street-interview speaking and the 2.21 listening: one funny story that puts the whole of Files 1–2 together in context – present simple / continuous (is saving, is still cooking), future plans (going to), present perfect continuous + for (has been practising for three weeks), present perfect for experience (has never cooked), money (afford, borrow, a waste of money), family (stepbrother, nonna), food (fried arancine, prawns, takeaway) and strong adjectives (starving, filthy, furious). Click once per line. For each line: 1) say it, 2) ask the questions round the class (yes/no → either/or → who/what), 3) let the CLASS change details: 'Is it Nonna's birthday? No? Whose birthday is it?' – accept their idea and use it in later lines. Students answer with one word or a short phrase – that's fine, but award a team point for a full correct sentence ('He's been practising for three weeks!'). Finish: 'What happens next?' – one or two ideas, then move on to 'Street interview: you!'.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🎲  play four review games in teams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do the book's grammar test – against the clock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five people in the street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food, family, money and you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 choose your own revision target</a:t>
            </a:r>
            <a:endParaRPr lang="en-US" sz="8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b2_freezing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2B: charity challenges, strong adjectives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absolutely / really – NOT very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long have you been…? + for / since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338828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35381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228332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33882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 with 'very'.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 con 'very'.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again with a STRONG adjective.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Ridilla con un aggettivo FORTE.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team to say it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prima squadra che la dice = 1 punto.</a:t>
            </a:r>
            <a:endParaRPr lang="en-US" sz="100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future_stres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9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9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700" dirty="0"/>
          </a:p>
        </p:txBody>
      </p:sp>
      <p:sp>
        <p:nvSpPr>
          <p:cNvPr id="15" name="cd_9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9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 the sound picture.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l'immagine del suono.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from Files 1–2 with that sound.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dei File 1–2 con quel suono.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sound = 1 point per word.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Suono giusto = 1 punto a parola.</a:t>
            </a:r>
            <a:endParaRPr lang="en-US" sz="950" dirty="0"/>
          </a:p>
        </p:txBody>
      </p:sp>
      <p:sp>
        <p:nvSpPr>
          <p:cNvPr id="19" name="pf_99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00" descr="/home/claude/lls-course/v2/cache/1a1_first_da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1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100" dirty="0"/>
          </a:p>
        </p:txBody>
      </p:sp>
      <p:sp>
        <p:nvSpPr>
          <p:cNvPr id="23" name="R1_chip1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100" dirty="0"/>
          </a:p>
        </p:txBody>
      </p:sp>
      <p:sp>
        <p:nvSpPr>
          <p:cNvPr id="24" name="bd_1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100" dirty="0"/>
          </a:p>
        </p:txBody>
      </p:sp>
      <p:sp>
        <p:nvSpPr>
          <p:cNvPr id="26" name="R2_chip1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100" dirty="0"/>
          </a:p>
        </p:txBody>
      </p:sp>
      <p:sp>
        <p:nvSpPr>
          <p:cNvPr id="27" name="bd_1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100" dirty="0"/>
          </a:p>
        </p:txBody>
      </p:sp>
      <p:sp>
        <p:nvSpPr>
          <p:cNvPr id="29" name="R3_chip1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100" dirty="0"/>
          </a:p>
        </p:txBody>
      </p:sp>
      <p:sp>
        <p:nvSpPr>
          <p:cNvPr id="30" name="bd_1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100" dirty="0"/>
          </a:p>
        </p:txBody>
      </p:sp>
      <p:sp>
        <p:nvSpPr>
          <p:cNvPr id="32" name="R4_chip1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100" dirty="0"/>
          </a:p>
        </p:txBody>
      </p:sp>
      <p:sp>
        <p:nvSpPr>
          <p:cNvPr id="33" name="bd_1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100" dirty="0"/>
          </a:p>
        </p:txBody>
      </p:sp>
      <p:sp>
        <p:nvSpPr>
          <p:cNvPr id="35" name="R5_chip1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100" dirty="0"/>
          </a:p>
        </p:txBody>
      </p:sp>
      <p:sp>
        <p:nvSpPr>
          <p:cNvPr id="36" name="bd_1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1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100" dirty="0"/>
          </a:p>
        </p:txBody>
      </p:sp>
      <p:sp>
        <p:nvSpPr>
          <p:cNvPr id="38" name="R6_chip1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cmd_1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12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12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2" name="tag_12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1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5" name="cd_13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7" name="ln_133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8" name="R1_lnA134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0" name="R2_lnA136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1" name="ln_137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2" name="R3_lnA138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3" name="ln_139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4" name="R4_lnA140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5" name="ln_141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6" name="R5_lnA142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7" name="ln_143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8" name="R6_lnA144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9" name="ln_145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0" name="R7_lnA146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1" name="ln_14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2" name="R8_lnA148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3" name="pf_149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50" descr="/home/claude/lls-course/v2/cache/spare_work_training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5" name="cd_15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ii_15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7" name="ih_15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8" name="il_15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Alone · no talking · 4 minutes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point each · ___ / 15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cmd_1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16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2" name="logo_1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4" name="cd_16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6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6" name="ln_16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7" name="R1_lnA169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8" name="ln_170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19" name="R2_lnA171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20" name="ln_172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1" name="R3_lnA173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2" name="ln_174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R4_lnA175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4" name="ln_176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R5_lnA177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6" name="ln_178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7" name="R6_lnA179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8" name="ln_180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29" name="R7_lnA181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30" name="pf_18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83" descr="/home/claude/lls-course/v2/cache/spare_future_university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2" name="cd_18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18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18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18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Score: ___ / 15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ones did you get wrong?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cmd_1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3" name="cd_198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99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5" name="pf_200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01" descr="/home/claude/lls-course/v2/cache/1b1_diary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202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950" dirty="0"/>
          </a:p>
        </p:txBody>
      </p:sp>
      <p:sp>
        <p:nvSpPr>
          <p:cNvPr id="18" name="R1_rx203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9" name="R1_ri204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20" name="cd_205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06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2" name="pf_207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208" descr="/home/claude/lls-course/v2/cache/spare_1a2_food_preferences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209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5" name="R2_rx210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6" name="R2_ri211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7" name="cd_212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13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9" name="pf_214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15" descr="/home/claude/lls-course/v2/cache/1b1_bag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216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2" name="R3_rx217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3" name="R3_ri218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organizzato · offerta · decisione ora</a:t>
            </a:r>
            <a:endParaRPr lang="en-US" sz="750" dirty="0"/>
          </a:p>
        </p:txBody>
      </p:sp>
      <p:sp>
        <p:nvSpPr>
          <p:cNvPr id="34" name="cd_219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220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6" name="pf_221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222" descr="/home/claude/lls-course/v2/cache/spare_1b2_homework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223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9" name="R4_rx224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40" name="R4_ri225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attenzione a forma e ortografia</a:t>
            </a:r>
            <a:endParaRPr lang="en-US" sz="850" dirty="0"/>
          </a:p>
        </p:txBody>
      </p:sp>
      <p:sp>
        <p:nvSpPr>
          <p:cNvPr id="41" name="R5_wc22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22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3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3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3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cmd_2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23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3" name="cd_23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241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4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lg_24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9" name="lg_24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20" name="sq_24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200" dirty="0"/>
          </a:p>
        </p:txBody>
      </p:sp>
      <p:sp>
        <p:nvSpPr>
          <p:cNvPr id="21" name="R1_tag24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4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200" dirty="0"/>
          </a:p>
        </p:txBody>
      </p:sp>
      <p:sp>
        <p:nvSpPr>
          <p:cNvPr id="23" name="R2_tag24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4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200" dirty="0"/>
          </a:p>
        </p:txBody>
      </p:sp>
      <p:sp>
        <p:nvSpPr>
          <p:cNvPr id="25" name="R3_tag25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6" name="sq_25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200" dirty="0"/>
          </a:p>
        </p:txBody>
      </p:sp>
      <p:sp>
        <p:nvSpPr>
          <p:cNvPr id="27" name="R4_tag25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5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200" dirty="0"/>
          </a:p>
        </p:txBody>
      </p:sp>
      <p:sp>
        <p:nvSpPr>
          <p:cNvPr id="29" name="R5_tag25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30" name="sq_25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900" dirty="0"/>
          </a:p>
        </p:txBody>
      </p:sp>
      <p:sp>
        <p:nvSpPr>
          <p:cNvPr id="31" name="R6_tag25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2" name="pf_257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58" descr="/home/claude/lls-course/v2/cache/spare_work_teamwork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6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400" dirty="0"/>
          </a:p>
        </p:txBody>
      </p:sp>
      <p:pic>
        <p:nvPicPr>
          <p:cNvPr id="6" name="brP_2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6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cmd_2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950" dirty="0"/>
          </a:p>
        </p:txBody>
      </p:sp>
      <p:sp>
        <p:nvSpPr>
          <p:cNvPr id="11" name="tag_26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grammar auction   ·   📖 Review of Grammar Banks 1A, 1B, 2A, 2B · items 3, 6, 8 close to Grammar Bank examples</a:t>
            </a:r>
            <a:endParaRPr lang="en-US" sz="750" dirty="0"/>
          </a:p>
        </p:txBody>
      </p:sp>
      <p:sp>
        <p:nvSpPr>
          <p:cNvPr id="14" name="cd_27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7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team has €1,000.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Ogni squadra ha 1.000 €.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Bid to buy the sentences you think are CORRECT.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Fate offerte per comprare le frasi che pensate siano GIUSTE.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 with the most correct sentences wins!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Vince chi ha più frasi giuste!</a:t>
            </a:r>
            <a:endParaRPr lang="en-US" sz="1000" dirty="0"/>
          </a:p>
        </p:txBody>
      </p:sp>
      <p:sp>
        <p:nvSpPr>
          <p:cNvPr id="18" name="pf_27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9" name="phx_275"/>
          <p:cNvSpPr/>
          <p:nvPr/>
        </p:nvSpPr>
        <p:spPr>
          <a:xfrm>
            <a:off x="457200" y="3657600"/>
            <a:ext cx="2377440" cy="10515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r12-auction.jpg</a:t>
            </a:r>
            <a:endParaRPr lang="en-US" sz="900" dirty="0"/>
          </a:p>
        </p:txBody>
      </p:sp>
      <p:sp>
        <p:nvSpPr>
          <p:cNvPr id="20" name="bd_276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7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950" dirty="0"/>
          </a:p>
        </p:txBody>
      </p:sp>
      <p:sp>
        <p:nvSpPr>
          <p:cNvPr id="22" name="R1_chip278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1100" dirty="0"/>
          </a:p>
        </p:txBody>
      </p:sp>
      <p:sp>
        <p:nvSpPr>
          <p:cNvPr id="23" name="bd_279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80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950" dirty="0"/>
          </a:p>
        </p:txBody>
      </p:sp>
      <p:sp>
        <p:nvSpPr>
          <p:cNvPr id="25" name="R2_chip281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1100" dirty="0"/>
          </a:p>
        </p:txBody>
      </p:sp>
      <p:sp>
        <p:nvSpPr>
          <p:cNvPr id="26" name="bd_282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83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1000" dirty="0"/>
          </a:p>
        </p:txBody>
      </p:sp>
      <p:sp>
        <p:nvSpPr>
          <p:cNvPr id="28" name="R3_chip284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1050" dirty="0"/>
          </a:p>
        </p:txBody>
      </p:sp>
      <p:sp>
        <p:nvSpPr>
          <p:cNvPr id="29" name="bd_285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6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1100" dirty="0"/>
          </a:p>
        </p:txBody>
      </p:sp>
      <p:sp>
        <p:nvSpPr>
          <p:cNvPr id="31" name="R4_chip287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1100" dirty="0"/>
          </a:p>
        </p:txBody>
      </p:sp>
      <p:sp>
        <p:nvSpPr>
          <p:cNvPr id="32" name="bd_288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9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1100" dirty="0"/>
          </a:p>
        </p:txBody>
      </p:sp>
      <p:sp>
        <p:nvSpPr>
          <p:cNvPr id="34" name="R5_chip290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1050" dirty="0"/>
          </a:p>
        </p:txBody>
      </p:sp>
      <p:sp>
        <p:nvSpPr>
          <p:cNvPr id="35" name="bd_291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92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950" dirty="0"/>
          </a:p>
        </p:txBody>
      </p:sp>
      <p:sp>
        <p:nvSpPr>
          <p:cNvPr id="37" name="R6_chip293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1100" dirty="0"/>
          </a:p>
        </p:txBody>
      </p:sp>
      <p:sp>
        <p:nvSpPr>
          <p:cNvPr id="38" name="bd_294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95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950" dirty="0"/>
          </a:p>
        </p:txBody>
      </p:sp>
      <p:sp>
        <p:nvSpPr>
          <p:cNvPr id="40" name="R7_chip296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950" dirty="0"/>
          </a:p>
        </p:txBody>
      </p:sp>
      <p:sp>
        <p:nvSpPr>
          <p:cNvPr id="41" name="bd_297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8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950" dirty="0"/>
          </a:p>
        </p:txBody>
      </p:sp>
      <p:sp>
        <p:nvSpPr>
          <p:cNvPr id="43" name="R8_chip299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0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400" dirty="0"/>
          </a:p>
        </p:txBody>
      </p:sp>
      <p:pic>
        <p:nvPicPr>
          <p:cNvPr id="6" name="brP_3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04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3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cmd_3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0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50" dirty="0"/>
          </a:p>
        </p:txBody>
      </p:sp>
      <p:sp>
        <p:nvSpPr>
          <p:cNvPr id="11" name="tag_30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3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700" dirty="0"/>
          </a:p>
        </p:txBody>
      </p:sp>
      <p:sp>
        <p:nvSpPr>
          <p:cNvPr id="14" name="cd_31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31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X or O chooses a square 1–9.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X o O sceglie un quadrato 1–9.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in 15 seconds = your square.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Risposta in 15 secondi = il quadrato è vostro.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in a row wins!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in fila vince!</a:t>
            </a:r>
            <a:endParaRPr lang="en-US" sz="900" dirty="0"/>
          </a:p>
        </p:txBody>
      </p:sp>
      <p:sp>
        <p:nvSpPr>
          <p:cNvPr id="18" name="st_315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316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17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1100" dirty="0"/>
          </a:p>
        </p:txBody>
      </p:sp>
      <p:sp>
        <p:nvSpPr>
          <p:cNvPr id="21" name="R1_chip318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900" dirty="0"/>
          </a:p>
        </p:txBody>
      </p:sp>
      <p:sp>
        <p:nvSpPr>
          <p:cNvPr id="22" name="bd_319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20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1100" dirty="0"/>
          </a:p>
        </p:txBody>
      </p:sp>
      <p:sp>
        <p:nvSpPr>
          <p:cNvPr id="24" name="R2_chip321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800" dirty="0"/>
          </a:p>
        </p:txBody>
      </p:sp>
      <p:sp>
        <p:nvSpPr>
          <p:cNvPr id="25" name="bd_322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23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900" dirty="0"/>
          </a:p>
        </p:txBody>
      </p:sp>
      <p:sp>
        <p:nvSpPr>
          <p:cNvPr id="27" name="R3_chip324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950" dirty="0"/>
          </a:p>
        </p:txBody>
      </p:sp>
      <p:sp>
        <p:nvSpPr>
          <p:cNvPr id="28" name="bd_325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26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900" dirty="0"/>
          </a:p>
        </p:txBody>
      </p:sp>
      <p:sp>
        <p:nvSpPr>
          <p:cNvPr id="30" name="R4_chip327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1100" dirty="0"/>
          </a:p>
        </p:txBody>
      </p:sp>
      <p:sp>
        <p:nvSpPr>
          <p:cNvPr id="31" name="bd_328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329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1100" dirty="0"/>
          </a:p>
        </p:txBody>
      </p:sp>
      <p:sp>
        <p:nvSpPr>
          <p:cNvPr id="33" name="R5_chip330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950" dirty="0"/>
          </a:p>
        </p:txBody>
      </p:sp>
      <p:sp>
        <p:nvSpPr>
          <p:cNvPr id="34" name="bd_331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332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1100" dirty="0"/>
          </a:p>
        </p:txBody>
      </p:sp>
      <p:sp>
        <p:nvSpPr>
          <p:cNvPr id="36" name="R6_chip333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1100" dirty="0"/>
          </a:p>
        </p:txBody>
      </p:sp>
      <p:sp>
        <p:nvSpPr>
          <p:cNvPr id="37" name="bd_334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335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850" dirty="0"/>
          </a:p>
        </p:txBody>
      </p:sp>
      <p:sp>
        <p:nvSpPr>
          <p:cNvPr id="39" name="R7_chip336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1100" dirty="0"/>
          </a:p>
        </p:txBody>
      </p:sp>
      <p:sp>
        <p:nvSpPr>
          <p:cNvPr id="40" name="bd_337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338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950" dirty="0"/>
          </a:p>
        </p:txBody>
      </p:sp>
      <p:sp>
        <p:nvSpPr>
          <p:cNvPr id="42" name="R8_chip339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950" dirty="0"/>
          </a:p>
        </p:txBody>
      </p:sp>
      <p:sp>
        <p:nvSpPr>
          <p:cNvPr id="43" name="bd_340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4" name="gq_341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1100" dirty="0"/>
          </a:p>
        </p:txBody>
      </p:sp>
      <p:sp>
        <p:nvSpPr>
          <p:cNvPr id="45" name="R9_chip342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Marco's birthday dinner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5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5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class story (TPRS)</a:t>
            </a:r>
            <a:endParaRPr lang="en-US" sz="800" dirty="0"/>
          </a:p>
        </p:txBody>
      </p:sp>
      <p:sp>
        <p:nvSpPr>
          <p:cNvPr id="15" name="cd_355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5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5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58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to…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 intenzione di…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been practising for…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 esercita da…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 / borrow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può permettersi / prendere in prestito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 · filthy · furious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affamatissimo · sudicio · furioso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cooked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ha mai cucinato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spreco di soldi</a:t>
            </a:r>
            <a:endParaRPr lang="en-US" sz="950" dirty="0"/>
          </a:p>
        </p:txBody>
      </p:sp>
      <p:sp>
        <p:nvSpPr>
          <p:cNvPr id="19" name="R1_sb359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60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Marco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saving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money because he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cook for his nonna's 80th birthday.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Marco saving or spending? · Why? · How old is Nonna?</a:t>
            </a:r>
            <a:endParaRPr lang="en-US" sz="950" dirty="0"/>
          </a:p>
        </p:txBody>
      </p:sp>
      <p:sp>
        <p:nvSpPr>
          <p:cNvPr id="21" name="R2_sb361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62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been practising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fried arancine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three weeks, but they're always horrible.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has he been practising? · For three weeks or three days?</a:t>
            </a:r>
            <a:endParaRPr lang="en-US" sz="950" dirty="0"/>
          </a:p>
        </p:txBody>
      </p:sp>
      <p:sp>
        <p:nvSpPr>
          <p:cNvPr id="23" name="R3_sb363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64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prawns, so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 from his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stepbrother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Can he afford prawns? · Who does he borrow money from?</a:t>
            </a:r>
            <a:endParaRPr lang="en-US" sz="1100" dirty="0"/>
          </a:p>
        </p:txBody>
      </p:sp>
      <p:sp>
        <p:nvSpPr>
          <p:cNvPr id="25" name="R4_sb365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66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Sunday the family arrives. Everyone is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and Marco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still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they hungry or starving? · What is Marco doing?</a:t>
            </a:r>
            <a:endParaRPr lang="en-US" sz="950" dirty="0"/>
          </a:p>
        </p:txBody>
      </p:sp>
      <p:sp>
        <p:nvSpPr>
          <p:cNvPr id="27" name="R5_sb367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68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never cooked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prawns! The kitchen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Nonna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ever cooked prawns? · Is the kitchen clean? · Who is furious?</a:t>
            </a:r>
            <a:endParaRPr lang="en-US" sz="1050" dirty="0"/>
          </a:p>
        </p:txBody>
      </p:sp>
      <p:sp>
        <p:nvSpPr>
          <p:cNvPr id="29" name="R6_sb369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70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they order a takeaway. '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 waste of money!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 Nonna says, laughing.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they eat Marco's food? · And you – what's the worst meal you've ever cooked?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7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7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cmd_3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7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7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4" name="pf_38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83" descr="/home/claude/lls-course/v2/cache/1a1_vox_pop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8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8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8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8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often – maybe once a month.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have! / No, never.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950" dirty="0"/>
          </a:p>
        </p:txBody>
      </p:sp>
      <p:sp>
        <p:nvSpPr>
          <p:cNvPr id="20" name="R1_qb38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89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Chocolate – or my mum's arancine!</a:t>
            </a:r>
            <a:endParaRPr lang="en-US" sz="1100" dirty="0"/>
          </a:p>
        </p:txBody>
      </p:sp>
      <p:sp>
        <p:nvSpPr>
          <p:cNvPr id="22" name="R2_qb390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91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About once a week – usually pizza with friends.</a:t>
            </a:r>
            <a:endParaRPr lang="en-US" sz="1250" dirty="0"/>
          </a:p>
        </p:txBody>
      </p:sp>
      <p:sp>
        <p:nvSpPr>
          <p:cNvPr id="24" name="R3_qb392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93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 of the time – but my sister is SO bossy!</a:t>
            </a:r>
            <a:endParaRPr lang="en-US" sz="1100" dirty="0"/>
          </a:p>
        </p:txBody>
      </p:sp>
      <p:sp>
        <p:nvSpPr>
          <p:cNvPr id="26" name="R4_qb394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95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€20 in a raffle. I spent it on a takeaway!</a:t>
            </a:r>
            <a:endParaRPr lang="en-US" sz="1250" dirty="0"/>
          </a:p>
        </p:txBody>
      </p:sp>
      <p:sp>
        <p:nvSpPr>
          <p:cNvPr id="28" name="R5_qb396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97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never. But I'd like to do a charity run.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0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4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40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4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cmd_4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0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40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40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4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5" name="ap_41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6" name="ah_41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41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413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1" name="phx_414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r12-street-interview.jpg</a:t>
            </a:r>
            <a:endParaRPr lang="en-US" sz="900" dirty="0"/>
          </a:p>
        </p:txBody>
      </p:sp>
      <p:sp>
        <p:nvSpPr>
          <p:cNvPr id="22" name="cd_41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41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41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418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419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850" dirty="0"/>
          </a:p>
        </p:txBody>
      </p:sp>
      <p:sp>
        <p:nvSpPr>
          <p:cNvPr id="27" name="R1_chip420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8" name="gq_421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150" dirty="0"/>
          </a:p>
        </p:txBody>
      </p:sp>
      <p:sp>
        <p:nvSpPr>
          <p:cNvPr id="29" name="R2_chip422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30" name="gq_423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850" dirty="0"/>
          </a:p>
        </p:txBody>
      </p:sp>
      <p:sp>
        <p:nvSpPr>
          <p:cNvPr id="31" name="R3_chip424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32" name="gq_425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850" dirty="0"/>
          </a:p>
        </p:txBody>
      </p:sp>
      <p:sp>
        <p:nvSpPr>
          <p:cNvPr id="33" name="R4_chip426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34" name="gq_427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050" dirty="0"/>
          </a:p>
        </p:txBody>
      </p:sp>
      <p:sp>
        <p:nvSpPr>
          <p:cNvPr id="35" name="R5_chip428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3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4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3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4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cmd_4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43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3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950" dirty="0"/>
          </a:p>
        </p:txBody>
      </p:sp>
      <p:sp>
        <p:nvSpPr>
          <p:cNvPr id="12" name="tag_43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4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5" name="pf_44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6" name="phx_442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r12-dice.jpg</a:t>
            </a:r>
            <a:endParaRPr lang="en-US" sz="900" dirty="0"/>
          </a:p>
        </p:txBody>
      </p:sp>
      <p:sp>
        <p:nvSpPr>
          <p:cNvPr id="17" name="cd_44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44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44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44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think…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thing is…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Follow-up: Why? When? How long…?</a:t>
            </a:r>
            <a:endParaRPr lang="en-US" sz="900" dirty="0"/>
          </a:p>
        </p:txBody>
      </p:sp>
      <p:sp>
        <p:nvSpPr>
          <p:cNvPr id="21" name="R1_qb44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44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Pasta alla Norma – the aubergines are fried, and there's lots of fresh tomato.</a:t>
            </a:r>
            <a:endParaRPr lang="en-US" sz="1100" dirty="0"/>
          </a:p>
        </p:txBody>
      </p:sp>
      <p:sp>
        <p:nvSpPr>
          <p:cNvPr id="23" name="R2_qb44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45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learning to drive at the moment – it's terrifying!</a:t>
            </a:r>
            <a:endParaRPr lang="en-US" sz="1250" dirty="0"/>
          </a:p>
        </p:txBody>
      </p:sp>
      <p:sp>
        <p:nvSpPr>
          <p:cNvPr id="25" name="R3_qb45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45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the beach on Saturday, and on Sunday I'm having lunch at my nonna's.</a:t>
            </a:r>
            <a:endParaRPr lang="en-US" sz="1000" dirty="0"/>
          </a:p>
        </p:txBody>
      </p:sp>
      <p:sp>
        <p:nvSpPr>
          <p:cNvPr id="27" name="R4_qb45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45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brother is really competitive – and a bit moody!</a:t>
            </a:r>
            <a:endParaRPr lang="en-US" sz="1250" dirty="0"/>
          </a:p>
        </p:txBody>
      </p:sp>
      <p:sp>
        <p:nvSpPr>
          <p:cNvPr id="29" name="R5_qb45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5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Last summer I bought some expensive trainers. I've only worn them twice!</a:t>
            </a:r>
            <a:endParaRPr lang="en-US" sz="1050" dirty="0"/>
          </a:p>
        </p:txBody>
      </p:sp>
      <p:sp>
        <p:nvSpPr>
          <p:cNvPr id="31" name="R6_qb45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5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playing volleyball for six years – since I was ten.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6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4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63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cmd_4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6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6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4" name="cd_47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7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= I can do it well · ? = I need practice</a:t>
            </a:r>
            <a:endParaRPr lang="en-US" sz="1050" dirty="0"/>
          </a:p>
        </p:txBody>
      </p:sp>
      <p:sp>
        <p:nvSpPr>
          <p:cNvPr id="18" name="pf_47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75" descr="/home/claude/lls-course/v2/cache/spare_future_aim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7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7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1150" dirty="0"/>
          </a:p>
        </p:txBody>
      </p:sp>
      <p:sp>
        <p:nvSpPr>
          <p:cNvPr id="22" name="R1_chip47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3" name="bd_47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8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1150" dirty="0"/>
          </a:p>
        </p:txBody>
      </p:sp>
      <p:sp>
        <p:nvSpPr>
          <p:cNvPr id="25" name="R2_chip48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6" name="bd_48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8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1150" dirty="0"/>
          </a:p>
        </p:txBody>
      </p:sp>
      <p:sp>
        <p:nvSpPr>
          <p:cNvPr id="28" name="R3_chip48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9" name="bd_48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8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850" dirty="0"/>
          </a:p>
        </p:txBody>
      </p:sp>
      <p:sp>
        <p:nvSpPr>
          <p:cNvPr id="31" name="R4_chip48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2" name="bd_48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8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850" dirty="0"/>
          </a:p>
        </p:txBody>
      </p:sp>
      <p:sp>
        <p:nvSpPr>
          <p:cNvPr id="34" name="R5_chip49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9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9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4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meta_497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0" name="tag_498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4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3" name="bd_50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0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 can do well now – from Files 1 and 2</a:t>
            </a:r>
            <a:endParaRPr lang="en-US" sz="1400" dirty="0"/>
          </a:p>
        </p:txBody>
      </p:sp>
      <p:sp>
        <p:nvSpPr>
          <p:cNvPr id="15" name="bd_50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0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mistakes from today – and the correct sentence</a:t>
            </a:r>
            <a:endParaRPr lang="en-US" sz="1400" dirty="0"/>
          </a:p>
        </p:txBody>
      </p:sp>
      <p:sp>
        <p:nvSpPr>
          <p:cNvPr id="17" name="bd_50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0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target: what will you revise this week?</a:t>
            </a:r>
            <a:endParaRPr lang="en-US" sz="1400" dirty="0"/>
          </a:p>
        </p:txBody>
      </p:sp>
      <p:sp>
        <p:nvSpPr>
          <p:cNvPr id="19" name="cd_507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0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0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10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 p.25: Can you understand this text? a, 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Online Practice: Check your progress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3" name="st_511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1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1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1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1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2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Review · what did you do today?</a:t>
            </a:r>
            <a:endParaRPr lang="en-US" sz="800" dirty="0"/>
          </a:p>
        </p:txBody>
      </p:sp>
      <p:sp>
        <p:nvSpPr>
          <p:cNvPr id="14" name="cd_523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24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🎲</a:t>
            </a:r>
            <a:endParaRPr lang="en-US" sz="1800" dirty="0"/>
          </a:p>
        </p:txBody>
      </p:sp>
      <p:sp>
        <p:nvSpPr>
          <p:cNvPr id="16" name="tt_525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four review games in teams</a:t>
            </a:r>
            <a:endParaRPr lang="en-US" sz="1350" dirty="0"/>
          </a:p>
        </p:txBody>
      </p:sp>
      <p:sp>
        <p:nvSpPr>
          <p:cNvPr id="17" name="R1_tk526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27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28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529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the book's grammar test – against the clock</a:t>
            </a:r>
            <a:endParaRPr lang="en-US" sz="1350" dirty="0"/>
          </a:p>
        </p:txBody>
      </p:sp>
      <p:sp>
        <p:nvSpPr>
          <p:cNvPr id="21" name="R2_tk530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31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32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24" name="tt_533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five people in the street</a:t>
            </a:r>
            <a:endParaRPr lang="en-US" sz="1350" dirty="0"/>
          </a:p>
        </p:txBody>
      </p:sp>
      <p:sp>
        <p:nvSpPr>
          <p:cNvPr id="25" name="R3_tk534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35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36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8" name="tt_537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food, family, money and you</a:t>
            </a:r>
            <a:endParaRPr lang="en-US" sz="1350" dirty="0"/>
          </a:p>
        </p:txBody>
      </p:sp>
      <p:sp>
        <p:nvSpPr>
          <p:cNvPr id="29" name="R4_tk538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39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40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2" name="tt_541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3" name="R5_tk542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cd_543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te_544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6" name="tt_545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 your own revision target</a:t>
            </a:r>
            <a:endParaRPr lang="en-US" sz="1350" dirty="0"/>
          </a:p>
        </p:txBody>
      </p:sp>
      <p:sp>
        <p:nvSpPr>
          <p:cNvPr id="37" name="R6_tk546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8" name="st_547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55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5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5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5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cmd_5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5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5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2" name="tag_55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5" name="st_56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56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8" name="ih_5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9" name="il_56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prawns, mussels, duck, squid → duck (not seafood)</a:t>
            </a:r>
            <a:endParaRPr lang="en-US" sz="1050" dirty="0"/>
          </a:p>
        </p:txBody>
      </p:sp>
      <p:sp>
        <p:nvSpPr>
          <p:cNvPr id="20" name="pf_56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66" descr="/home/claude/lls-course/v2/cache/1a1_fruit_ve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2" name="bd_567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568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4" name="R1_chip569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00" dirty="0"/>
          </a:p>
        </p:txBody>
      </p:sp>
      <p:sp>
        <p:nvSpPr>
          <p:cNvPr id="25" name="bd_570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571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7" name="R2_chip572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00" dirty="0"/>
          </a:p>
        </p:txBody>
      </p:sp>
      <p:sp>
        <p:nvSpPr>
          <p:cNvPr id="28" name="bd_573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574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30" name="R3_chip575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00" dirty="0"/>
          </a:p>
        </p:txBody>
      </p:sp>
      <p:sp>
        <p:nvSpPr>
          <p:cNvPr id="31" name="bd_576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577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3" name="R4_chip578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00" dirty="0"/>
          </a:p>
        </p:txBody>
      </p:sp>
      <p:sp>
        <p:nvSpPr>
          <p:cNvPr id="34" name="bd_579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580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6" name="R5_chip581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00" dirty="0"/>
          </a:p>
        </p:txBody>
      </p:sp>
      <p:sp>
        <p:nvSpPr>
          <p:cNvPr id="37" name="bd_582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583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9" name="R6_chip584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00" dirty="0"/>
          </a:p>
        </p:txBody>
      </p:sp>
      <p:sp>
        <p:nvSpPr>
          <p:cNvPr id="40" name="bd_585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q_586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42" name="R7_chip587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cmd_5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9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9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4" name="st_5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0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0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a word from Files 1–2 + its topic.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una parola dei File 1–2 + l'argomento.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team: 10 seconds, a word that starts with the LAST letter.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 dopo: 10 secondi, una parola che inizia con l'ULTIMA lettera.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word or repeated word = point to the other team.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Nessuna parola o parola ripetuta = punto all'altra squadra.</a:t>
            </a:r>
            <a:endParaRPr lang="en-US" sz="800" dirty="0"/>
          </a:p>
        </p:txBody>
      </p:sp>
      <p:sp>
        <p:nvSpPr>
          <p:cNvPr id="19" name="st_60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0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0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100" dirty="0"/>
          </a:p>
        </p:txBody>
      </p:sp>
      <p:sp>
        <p:nvSpPr>
          <p:cNvPr id="22" name="R1_chip60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100" dirty="0"/>
          </a:p>
        </p:txBody>
      </p:sp>
      <p:sp>
        <p:nvSpPr>
          <p:cNvPr id="23" name="bd_60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0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100" dirty="0"/>
          </a:p>
        </p:txBody>
      </p:sp>
      <p:sp>
        <p:nvSpPr>
          <p:cNvPr id="25" name="R2_chip61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100" dirty="0"/>
          </a:p>
        </p:txBody>
      </p:sp>
      <p:sp>
        <p:nvSpPr>
          <p:cNvPr id="26" name="bd_61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61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100" dirty="0"/>
          </a:p>
        </p:txBody>
      </p:sp>
      <p:sp>
        <p:nvSpPr>
          <p:cNvPr id="28" name="R3_chip61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100" dirty="0"/>
          </a:p>
        </p:txBody>
      </p:sp>
      <p:sp>
        <p:nvSpPr>
          <p:cNvPr id="29" name="bd_61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61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100" dirty="0"/>
          </a:p>
        </p:txBody>
      </p:sp>
      <p:sp>
        <p:nvSpPr>
          <p:cNvPr id="31" name="R4_chip61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100" dirty="0"/>
          </a:p>
        </p:txBody>
      </p:sp>
      <p:sp>
        <p:nvSpPr>
          <p:cNvPr id="32" name="bd_61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61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100" dirty="0"/>
          </a:p>
        </p:txBody>
      </p:sp>
      <p:sp>
        <p:nvSpPr>
          <p:cNvPr id="34" name="R5_chip61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100" dirty="0"/>
          </a:p>
        </p:txBody>
      </p:sp>
      <p:sp>
        <p:nvSpPr>
          <p:cNvPr id="35" name="bd_62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62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100" dirty="0"/>
          </a:p>
        </p:txBody>
      </p:sp>
      <p:sp>
        <p:nvSpPr>
          <p:cNvPr id="37" name="R6_chip62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2026-10-12T17:13:02Z</dcterms:created>
  <dcterms:modified xsi:type="dcterms:W3CDTF">2026-10-12T17:13:02Z</dcterms:modified>
</cp:coreProperties>
</file>