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Show the photo. Ask the THINK question: 'Files 1 and 2 – how much can you remember? Give me one word from File 1 and one from File 2.' Take 4–5 words quickly (no corrections). Read the 'Today you're going to…' list: it's a game and test lesson, so put students in 2–3 TEAMS now and draw a score table on the board. Teams keep the same names all lesson (points from every game add up).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(2 min)
REVISION (2 min) before the warmer game. Left: last lesson's strong adjectives – elicit the normal adjective for each (very tired, very cold, very funny) and check 'Can you say very exhausted?' (no). Right: the four key grammar points of Files 1–2 that today's exam practice tests (present simple / continuous, future forms, present perfect / past simple, How long…? + for / since) – one example each, just to activate them. Then play 'Make it stronger!'.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Warmer · last lesson: strong adjectives (3 min)
RETRIEVAL WARMER (4 min) · books closed, no notes. Read each 'very' sentence aloud with a bored voice; the first team to shout the strong version (with lots of stress: 'I'm EXhausted!') gets the point. Click once per line to show the model answer. Bonus point for adding 'absolutely' or 'really' – but NOT 'very' (✗ very exhausted → ✓ absolutely / really exhausted): Italian speakers say 'molto stanchissimo' logic, so check it every time. ICQ: 'Can you say very exhausted?' (no). Answers: exhausted · freezing · starving · filthy · furious · hilarious (other correct strong adjectives accepted, e.g. boiling is wrong for cold!).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Game · pronunciation · vowel sounds (4 min)
GAME 2 (4 min) · beat the clock. Say the sound word and the sound (fish – /ɪ/ – fish) and drill it once chorally. Teams have 30 seconds to write as many words from Files 1–2 with that sound as they can. Then click: the model words appear (all from 1A Vocabulary Bank Food, 1A pronunciation 1.6 and 2A audio 2.5–2.7). Teams read their lists aloud: 1 point per word with the right sound; 0 if the sound is wrong (trap: 'money' is /ʌ/, not /ɒ/; 'worth' is /ɜː/, not /ɔː/). Do 3–4 sounds if time is short. Remind them: the Sound Bank on pp.166–167 shows the typical spellings.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Exam practice · SB p.24 Grammar 1–8 (6 min)
EXAM TASK UNDER REAL CONDITIONS (6 min). Books open at p.24. Students do ALL of Grammar 1–15 ALONE, in silence, in 4 minutes (exam conditions; set a visible timer). ICQs: 'Alone or in pairs?' (alone) · 'How many minutes?' (4). Then swap books with a partner to mark. Click once per gap: the right answer appears IN the sentence. TG key: 1 a doesn't like · 2 c I'm usually · 3 a never watch · 4 b I'm studying · 5 c Do you have · 6 c are you going to do · 7 a I'm meeting · 8 c I'll have. (Item 8 is shortened on the slide: book = 'Would you like something to drink?') Don't explain yet – just mark; the WHY comes on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Exam practice · SB p.24 Grammar 9–15 (2 min)
CHECK (2 min). Click once per gap. TG key: 9 a Shall I · 10 b did you buy · 11 a I've never been · 12 b haven't spent it yet · 13 a for about three years · 14 c has he been living · 15 b I've been going to. Partners write the score (/15) at the top of the page. Quick hands-up: 'Who got 13 or more?' Ask each student to circle the numbers they got wrong – they use them on the exit slide (their target).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Exam strategy · multiple choice (3 min)
STRATEGY FOCUS (3 min). Click once per card. For each card, point back to a test item: card 1 → items 10 (Where did you buy it?) and 13 (for about three years) · card 2 → item 1 (like = no -ing) · card 3 → items 7 (arrangement), 8 (decide now), 9 (offer) · card 4 → items 1, 4, 6 (one distractor is just a spelling or form mistake). Last click = the exam routine. CCQ: 'last March – finished or not finished?' (finished → past simple, BUT 'Since last March' → present perfect!). Elicit: why is 14c right? (How long + since → present perfect continuous).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Exam practice · second attempt (3 min)
SECOND ATTEMPT (3 min). Pairs, 90 seconds, then click once per sentence (the letter appears). Ask for the CLUE each time (students as teachers): 1 b tastes (taste = non-action verb) · 2 b I'm visiting (arrangement) · 3 b lost (yesterday = finished time) · 4 a 've had (for + non-action verb have = possess) · 5 a Shall I (offer, question) · 6 b have you been waiting (How long + action verb). ICQ: 'Do you just choose, or say the clue too?' (say the clue). The sentences are ours, built only from Files 1–2 grammar.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Game · grammar auction (7 min)
GAME 3 (7 min) · risk. Teach 'auction' (asta) and 'bid' (offerta) with the picture. Teams of 3–4, €1,000 each; teams have 2 minutes to decide which sentences are correct (no clicking yet!). The teacher is the auctioneer: read sentence 1 – 'Who will give me €50?' – minimum bid €50, the highest bid buys it. Write the purchases on the board. When all 8 are sold, click once per sentence to reveal. Teams LOSE the money spent on wrong sentences; the team with the most CORRECT sentences wins (money left = tie-break). Then teams correct the wrong ones aloud. Rules: 1 like = non-action · 2 present continuous for arrangements · 3 going to + evidence · 4 offers = will / shall (typical Italian mistake) · 5 last year = finished time → past simple · 6 present perfect for experiences · 7 How long…? + present perfect · 8 present perfect continuous: a recent action with a visible result. ICQ: 'Do you want to buy the wrong sentences?' (no!).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Game · vocabulary · noughts and crosses (6 min)
GAME 4 (6 min) · choice + strategy. Draw a 3 × 3 grid numbered 1–9 on the board (two teams: X and O; with three teams, play winner-stays-on). Team X chooses a square; the teacher reads the prompt from the slide, the team has 15 seconds: correct = X in the square; wrong = team O can steal it. The answers on the slide come one per click IN ORDER, so DON'T click during the game – use these notes; click through all 9 at the end as a quick check. Answers: 1 any 3 of crab, lobster, mussels, prawns, squid (salmon and tuna are fish) · 2 any 3 of fried, grilled, steamed, roast, boiled, baked · 3 impatient, immature, dishonest · 4 borrow · 5 money a bank lends you to buy a house · 6 stepmother · 7 competitive · 8 out, down · 9 nephew. Game 2 if time: teams must give DIFFERENT answers from game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Speaking · before you listen (3 min)
PREDICTION + PERSONALISATION (3 min). These are the five questions the interviewer asks in 2.21 – students answer them first, so they know what to listen for. Questions appear ONE PER CLICK (about 30 seconds each). A interviews B with a pretend microphone (a pen!), then swap for the last two. Polite refusal is on the card – nobody has to talk about family or money. Monitor and note 3–4 errors for the delayed correction at the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Exam practice · listening · 2.21 (5 min)
EXAM-STYLE LISTENING (5 min). Like the B1 Preliminary listening: read the options first (30 seconds), listen twice. Play 2.21 (or the video EF_INT_REVISE_AND_CHECK_1_2.mp4) ONCE; students choose; play AGAIN to check; pairs compare; click once per item. TG key: 1 a · 2 b · 3 b · 4 c · 5 b. Evidence (audio script): 1 'I love roast potatoes, baked potatoes' · 2 'usually pizza, Mexican, or Asian' → pizza = Italian · 3 'we didn't grow up together, but we're now all adults and we get on really well' · 4 'an unplanned long weekend break in the Malverns' (a long WEEKEND = a short holiday – the distractor trap!) · 5 'About six and a half thousand pounds'. Strategy point: in 4 you HEAR 'long' but the answer is 'short' – the exam often uses words from the wrong option. ICQ: 'How many times will you hear it?' (twice).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Speaking · roll and talk (7 min)
SPEAKING (7 min) · chance + challenge. Click 6 times to show all six topics before you start. Groups of 3–4 with a dice (or a dice app / the teacher rolls for the class). The speaker talks about the topic for 45 seconds without stopping; then the group asks two follow-up questions. Same number again = choose any topic. Each topic recycles one grammar point: 1 present simple + cooking (1A) · 2 present continuous for now / temporary (1A) · 3 future forms (1B) · 4 personality (1B) · 5 past simple / present perfect + money (2A) · 6 present perfect continuous + for / since (2B). Topic 4 can be about a friend or a famous person. ICQs: 'How long do you talk?' (45 seconds) · 'What do the others do?' (ask two questions). Monitor and note errors for the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Self-assessment · Can you say this in English? (4 min)
SELF-ASSESSMENT (4 min). Students write ✓ or ? for each line in the book (p.25) or on paper: be honest! Then in pairs they PROVE each ✓ to their partner (30 seconds each). Click once per line to show a model answer for students who need support. Partner decides: 'Yes, you can!' or 'Not yet'. Any '?' becomes the target on the next slide. ICQ: 'Do you tick everything?' (no – only what you can do well).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Exit · what can you remember? (3 min)
RETRIEVAL EXIT + SELF-ASSESSMENT (3 min). Books closed. Students write 3·2·1 on a slip: the '2 mistakes' come from the test, the auction or your delayed correction (write 3–4 errors you noted during the speaking on the board first; students correct them). The '1' is their personal target (e.g. 'I'll revise for / since – Grammar Bank 2B p.135'). Collect the slips: they tell you what to recycle in File 3. Announce the winning team. Homework: SB p.25 reading (TG key: a is now doing · b 1 giving · 2 proud · 3 benefit · 4 might · 5 wasted · 6 improvement · 7 closing), Online Practice Check your progress, homework sheet R1-2 (easier version available). Teacher's Resource Centre: Quick Test 2 / File 2 Test if you want a formal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Extra · SB p.24 Vocabulary + Pronunciation (8 min)
EXTRA (8 min, or homework). Pairs do Vocabulary a–e and Pronunciation c–d on p.24 (6 min), then click once per section. TG key: a 1 duck (the others are seafood) · 2 crab (the others are meat) · 3 beetroot (the others are fruits) · 4 raspberry (the others are vegetables) · 5 chicken (the others are ways of cooking) · b 1 dishonest · 2 unfriendly · 3 irresponsible · 4 immature · 5 insensitive · c 1 waste · 2 inherit · 3 earn · 4 borrow · 5 save · d 1 exhausted · 2 starving · 3 freezing · 4 filthy · 5 furious · e 1 out · 2 out · 3 on · 4 back · 5 out · Pronunciation c 1 chicken /ɪ/ · 2 charge /ɑː/ · 3 inherit /h/ · 4 salary /æ/ · 5 steamed /iː/ · d: the stress shown is standard dictionary stress (the TG prints the words without marking it). Score: grammar 15 + vocabulary 25 + pronunciation 10 =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Extra game · word snake (5 min)
EXTRA GAME (5 min) · constraint challenge. Click through the example snake first (one link per click) so everyone sees how it works, then play: write the snake on the board as it grows. Topics: FOOD / COOKING, FAMILY, PERSONALITY, MONEY, STRONG ADJECTIVES. Bonus point for a correct sentence with the word in a Files 1–2 tense (e.g. 'My nephew is going to start school.').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audio" Target="../media/media-12-5.mp3"/><Relationship Id="rId6" Type="http://schemas.microsoft.com/office/2007/relationships/media" Target="../media/media-12-5.mp3"/><Relationship Id="rId7" Type="http://schemas.openxmlformats.org/officeDocument/2006/relationships/image" Target="../media/image-12-7.png"/><Relationship Id="rId8" Type="http://schemas.openxmlformats.org/officeDocument/2006/relationships/audio" Target="../media/media-12-8.mp3"/><Relationship Id="rId9" Type="http://schemas.microsoft.com/office/2007/relationships/media" Target="../media/media-12-8.mp3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B1 · SB pp.24–25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R1-2</a:t>
            </a:r>
            <a:endParaRPr lang="en-US" sz="16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Revise and Check 1&amp;2</a:t>
            </a:r>
            <a:endParaRPr lang="en-US" sz="19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Play, test and talk!</a:t>
            </a:r>
            <a:endParaRPr lang="en-US" sz="12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24328"/>
            <a:ext cx="3547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🎲  play four review games in teams</a:t>
            </a:r>
            <a:endParaRPr lang="en-US" sz="10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✏️  do the book's grammar test – against the clock</a:t>
            </a:r>
            <a:endParaRPr lang="en-US" sz="10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🎧  listen to five people in the street</a:t>
            </a:r>
            <a:endParaRPr lang="en-US" sz="10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talk about food, family, money and you</a:t>
            </a:r>
            <a:endParaRPr lang="en-US" sz="10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choose your own revision target</a:t>
            </a:r>
            <a:endParaRPr lang="en-US" sz="100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19050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can remember lots of food words and the future forms!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sp>
        <p:nvSpPr>
          <p:cNvPr id="15" name="phx_13"/>
          <p:cNvSpPr/>
          <p:nvPr/>
        </p:nvSpPr>
        <p:spPr>
          <a:xfrm>
            <a:off x="4892040" y="822960"/>
            <a:ext cx="3886200" cy="3108960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r12-cover.jpg</a:t>
            </a:r>
            <a:endParaRPr lang="en-US" sz="900" dirty="0"/>
          </a:p>
        </p:txBody>
      </p:sp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Files 1 and 2: how much can you remember?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945636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36896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did we learn? Read the examples.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Cosa abbiamo imparato? Leggi gli esempi.</a:t>
            </a:r>
            <a:endParaRPr lang="en-US" sz="950" dirty="0"/>
          </a:p>
        </p:txBody>
      </p:sp>
      <p:sp>
        <p:nvSpPr>
          <p:cNvPr id="9" name="cmd_2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24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🙋 whole class</a:t>
            </a:r>
            <a:endParaRPr lang="en-US" sz="950" dirty="0"/>
          </a:p>
        </p:txBody>
      </p:sp>
      <p:sp>
        <p:nvSpPr>
          <p:cNvPr id="11" name="tag_25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Retrieval</a:t>
            </a:r>
            <a:endParaRPr lang="en-US" sz="850" dirty="0"/>
          </a:p>
        </p:txBody>
      </p:sp>
      <p:pic>
        <p:nvPicPr>
          <p:cNvPr id="12" name="logo_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R1-2 · Revision · last lesson</a:t>
            </a:r>
            <a:endParaRPr lang="en-US" sz="800" dirty="0"/>
          </a:p>
        </p:txBody>
      </p:sp>
      <p:sp>
        <p:nvSpPr>
          <p:cNvPr id="14" name="pf_28"/>
          <p:cNvSpPr/>
          <p:nvPr/>
        </p:nvSpPr>
        <p:spPr>
          <a:xfrm rot="-120000">
            <a:off x="365760" y="1371600"/>
            <a:ext cx="2651760" cy="182880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29" descr="/home/claude/lls-course/v2/cache/2b2_freezing_jpg_616x418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417320"/>
            <a:ext cx="2560320" cy="1737360"/>
          </a:xfrm>
          <a:prstGeom prst="rect">
            <a:avLst/>
          </a:prstGeom>
        </p:spPr>
      </p:pic>
      <p:sp>
        <p:nvSpPr>
          <p:cNvPr id="16" name="cd_30"/>
          <p:cNvSpPr/>
          <p:nvPr/>
        </p:nvSpPr>
        <p:spPr>
          <a:xfrm>
            <a:off x="320040" y="3383280"/>
            <a:ext cx="2743200" cy="1325880"/>
          </a:xfrm>
          <a:prstGeom prst="roundRect">
            <a:avLst>
              <a:gd name="adj" fmla="val 9655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31"/>
          <p:cNvSpPr/>
          <p:nvPr/>
        </p:nvSpPr>
        <p:spPr>
          <a:xfrm>
            <a:off x="4114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ih_32"/>
          <p:cNvSpPr/>
          <p:nvPr/>
        </p:nvSpPr>
        <p:spPr>
          <a:xfrm>
            <a:off x="886968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9" name="il_33"/>
          <p:cNvSpPr/>
          <p:nvPr/>
        </p:nvSpPr>
        <p:spPr>
          <a:xfrm>
            <a:off x="886968" y="385876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2B: charity challenges, strong adjectives</a:t>
            </a:r>
            <a:endParaRPr lang="en-US" sz="11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today: review of Files 1–2</a:t>
            </a:r>
            <a:endParaRPr lang="en-US" sz="1100" dirty="0"/>
          </a:p>
        </p:txBody>
      </p:sp>
      <p:sp>
        <p:nvSpPr>
          <p:cNvPr id="20" name="cd_34"/>
          <p:cNvSpPr/>
          <p:nvPr/>
        </p:nvSpPr>
        <p:spPr>
          <a:xfrm>
            <a:off x="3246120" y="1417320"/>
            <a:ext cx="2788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2540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h_35"/>
          <p:cNvSpPr/>
          <p:nvPr/>
        </p:nvSpPr>
        <p:spPr>
          <a:xfrm>
            <a:off x="3355848" y="1508760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Strong adjectives (last lesson)</a:t>
            </a:r>
            <a:endParaRPr lang="en-US" sz="1200" dirty="0"/>
          </a:p>
        </p:txBody>
      </p:sp>
      <p:sp>
        <p:nvSpPr>
          <p:cNvPr id="22" name="rl_36"/>
          <p:cNvSpPr/>
          <p:nvPr/>
        </p:nvSpPr>
        <p:spPr>
          <a:xfrm>
            <a:off x="338328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ran 10 km. I'm exhausted!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–30°C. It's freezing!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That comedy is hilarious!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absolutely / really – NOT very</a:t>
            </a:r>
            <a:endParaRPr lang="en-US" sz="1150" dirty="0"/>
          </a:p>
        </p:txBody>
      </p:sp>
      <p:sp>
        <p:nvSpPr>
          <p:cNvPr id="23" name="cd_37"/>
          <p:cNvSpPr/>
          <p:nvPr/>
        </p:nvSpPr>
        <p:spPr>
          <a:xfrm>
            <a:off x="6126480" y="1417320"/>
            <a:ext cx="2788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2540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4" name="rh_38"/>
          <p:cNvSpPr/>
          <p:nvPr/>
        </p:nvSpPr>
        <p:spPr>
          <a:xfrm>
            <a:off x="6236208" y="1508760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Files 1–2: key grammar</a:t>
            </a:r>
            <a:endParaRPr lang="en-US" sz="1200" dirty="0"/>
          </a:p>
        </p:txBody>
      </p:sp>
      <p:sp>
        <p:nvSpPr>
          <p:cNvPr id="25" name="rl_39"/>
          <p:cNvSpPr/>
          <p:nvPr/>
        </p:nvSpPr>
        <p:spPr>
          <a:xfrm>
            <a:off x="626364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usually cook, but today I'm eating out.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seeing Nonna on Sunday.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I've been to Rome. I went in 2020.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How long have you been…? + for / since</a:t>
            </a:r>
            <a:endParaRPr lang="en-US" sz="1150" dirty="0"/>
          </a:p>
        </p:txBody>
      </p:sp>
      <p:sp>
        <p:nvSpPr>
          <p:cNvPr id="26" name="kw_40"/>
          <p:cNvSpPr/>
          <p:nvPr/>
        </p:nvSpPr>
        <p:spPr>
          <a:xfrm>
            <a:off x="3246120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KEY WORDS</a:t>
            </a:r>
            <a:endParaRPr lang="en-US" sz="1100" dirty="0"/>
          </a:p>
        </p:txBody>
      </p:sp>
      <p:sp>
        <p:nvSpPr>
          <p:cNvPr id="27" name="w_41"/>
          <p:cNvSpPr/>
          <p:nvPr/>
        </p:nvSpPr>
        <p:spPr>
          <a:xfrm>
            <a:off x="3246120" y="4178808"/>
            <a:ext cx="1019556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exhausted</a:t>
            </a:r>
            <a:endParaRPr lang="en-US" sz="1050" dirty="0"/>
          </a:p>
        </p:txBody>
      </p:sp>
      <p:sp>
        <p:nvSpPr>
          <p:cNvPr id="28" name="w_42"/>
          <p:cNvSpPr/>
          <p:nvPr/>
        </p:nvSpPr>
        <p:spPr>
          <a:xfrm>
            <a:off x="4338828" y="4178808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freezing</a:t>
            </a:r>
            <a:endParaRPr lang="en-US" sz="1050" dirty="0"/>
          </a:p>
        </p:txBody>
      </p:sp>
      <p:sp>
        <p:nvSpPr>
          <p:cNvPr id="29" name="w_43"/>
          <p:cNvSpPr/>
          <p:nvPr/>
        </p:nvSpPr>
        <p:spPr>
          <a:xfrm>
            <a:off x="5353812" y="4178808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starving</a:t>
            </a:r>
            <a:endParaRPr lang="en-US" sz="1050" dirty="0"/>
          </a:p>
        </p:txBody>
      </p:sp>
      <p:sp>
        <p:nvSpPr>
          <p:cNvPr id="30" name="w_44"/>
          <p:cNvSpPr/>
          <p:nvPr/>
        </p:nvSpPr>
        <p:spPr>
          <a:xfrm>
            <a:off x="6368796" y="4178808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filthy</a:t>
            </a:r>
            <a:endParaRPr lang="en-US" sz="1050" dirty="0"/>
          </a:p>
        </p:txBody>
      </p:sp>
      <p:sp>
        <p:nvSpPr>
          <p:cNvPr id="31" name="w_45"/>
          <p:cNvSpPr/>
          <p:nvPr/>
        </p:nvSpPr>
        <p:spPr>
          <a:xfrm>
            <a:off x="7228332" y="4178808"/>
            <a:ext cx="864108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furious</a:t>
            </a:r>
            <a:endParaRPr lang="en-US" sz="1050" dirty="0"/>
          </a:p>
        </p:txBody>
      </p:sp>
      <p:sp>
        <p:nvSpPr>
          <p:cNvPr id="32" name="w_46"/>
          <p:cNvSpPr/>
          <p:nvPr/>
        </p:nvSpPr>
        <p:spPr>
          <a:xfrm>
            <a:off x="3246120" y="4544568"/>
            <a:ext cx="1019556" cy="31089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hilarious</a:t>
            </a:r>
            <a:endParaRPr lang="en-US" sz="1050" dirty="0"/>
          </a:p>
        </p:txBody>
      </p:sp>
      <p:sp>
        <p:nvSpPr>
          <p:cNvPr id="33" name="w_47"/>
          <p:cNvSpPr/>
          <p:nvPr/>
        </p:nvSpPr>
        <p:spPr>
          <a:xfrm>
            <a:off x="4338828" y="4544568"/>
            <a:ext cx="1019556" cy="310896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terrified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50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Make it stronger!</a:t>
            </a:r>
            <a:endParaRPr lang="en-US" sz="2500" dirty="0"/>
          </a:p>
        </p:txBody>
      </p:sp>
      <p:pic>
        <p:nvPicPr>
          <p:cNvPr id="6" name="brP_5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032504" cy="402336"/>
          </a:xfrm>
          <a:prstGeom prst="rect">
            <a:avLst/>
          </a:prstGeom>
        </p:spPr>
      </p:pic>
      <p:sp>
        <p:nvSpPr>
          <p:cNvPr id="7" name="ins_52"/>
          <p:cNvSpPr/>
          <p:nvPr/>
        </p:nvSpPr>
        <p:spPr>
          <a:xfrm>
            <a:off x="1353312" y="731520"/>
            <a:ext cx="3776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stronger! Use ONE strong word.</a:t>
            </a:r>
            <a:endParaRPr lang="en-US" sz="1250" dirty="0"/>
          </a:p>
        </p:txBody>
      </p:sp>
      <p:sp>
        <p:nvSpPr>
          <p:cNvPr id="8" name="insIT_53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Rendila più forte! Usa UNA parola forte.</a:t>
            </a:r>
            <a:endParaRPr lang="en-US" sz="950" dirty="0"/>
          </a:p>
        </p:txBody>
      </p:sp>
      <p:sp>
        <p:nvSpPr>
          <p:cNvPr id="9" name="cmd_54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55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🏆 teams</a:t>
            </a:r>
            <a:endParaRPr lang="en-US" sz="950" dirty="0"/>
          </a:p>
        </p:txBody>
      </p:sp>
      <p:sp>
        <p:nvSpPr>
          <p:cNvPr id="11" name="tag_56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2" name="logo_5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R1-2 · Warmer · last lesson: strong adjectives   ·   📖 Recycles 2B part 2: strong adjectives (SB p.22–23, audio 2.20)</a:t>
            </a:r>
            <a:endParaRPr lang="en-US" sz="800" dirty="0"/>
          </a:p>
        </p:txBody>
      </p:sp>
      <p:sp>
        <p:nvSpPr>
          <p:cNvPr id="14" name="cd_59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6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6" name="ih_61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7" name="il_62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sentence with 'very'.</a:t>
            </a:r>
            <a:endParaRPr lang="en-US" sz="11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la frase con 'very'.</a:t>
            </a:r>
            <a:endParaRPr lang="en-US" sz="11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 it again with a STRONG adjective.</a:t>
            </a:r>
            <a:endParaRPr lang="en-US" sz="11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Ridilla con un aggettivo FORTE.</a:t>
            </a:r>
            <a:endParaRPr lang="en-US" sz="11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team to say it = 1 point.</a:t>
            </a:r>
            <a:endParaRPr lang="en-US" sz="11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prima squadra che la dice = 1 punto.</a:t>
            </a:r>
            <a:endParaRPr lang="en-US" sz="1100" dirty="0"/>
          </a:p>
        </p:txBody>
      </p:sp>
      <p:sp>
        <p:nvSpPr>
          <p:cNvPr id="18" name="pf_63"/>
          <p:cNvSpPr/>
          <p:nvPr/>
        </p:nvSpPr>
        <p:spPr>
          <a:xfrm rot="-120000">
            <a:off x="411480" y="3611880"/>
            <a:ext cx="2468880" cy="1143000"/>
          </a:xfrm>
          <a:prstGeom prst="roundRect">
            <a:avLst>
              <a:gd name="adj" fmla="val 1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64" descr="/home/claude/lls-course/v2/cache/spare_future_stress_jpg_572x25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57200" y="3657600"/>
            <a:ext cx="2377440" cy="1051560"/>
          </a:xfrm>
          <a:prstGeom prst="rect">
            <a:avLst/>
          </a:prstGeom>
        </p:spPr>
      </p:pic>
      <p:sp>
        <p:nvSpPr>
          <p:cNvPr id="20" name="bd_65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66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"I ran 10 km. I'm very tired."</a:t>
            </a:r>
            <a:endParaRPr lang="en-US" sz="1100" dirty="0"/>
          </a:p>
        </p:txBody>
      </p:sp>
      <p:sp>
        <p:nvSpPr>
          <p:cNvPr id="22" name="R1_chip67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I'm exhausted!</a:t>
            </a:r>
            <a:endParaRPr lang="en-US" sz="1100" dirty="0"/>
          </a:p>
        </p:txBody>
      </p:sp>
      <p:sp>
        <p:nvSpPr>
          <p:cNvPr id="23" name="bd_68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69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"It's –30°C. It's very cold!"</a:t>
            </a:r>
            <a:endParaRPr lang="en-US" sz="1100" dirty="0"/>
          </a:p>
        </p:txBody>
      </p:sp>
      <p:sp>
        <p:nvSpPr>
          <p:cNvPr id="25" name="R2_chip70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It's freezing!</a:t>
            </a:r>
            <a:endParaRPr lang="en-US" sz="1100" dirty="0"/>
          </a:p>
        </p:txBody>
      </p:sp>
      <p:sp>
        <p:nvSpPr>
          <p:cNvPr id="26" name="bd_71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72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"I haven't eaten all day. I'm very hungry."</a:t>
            </a:r>
            <a:endParaRPr lang="en-US" sz="1100" dirty="0"/>
          </a:p>
        </p:txBody>
      </p:sp>
      <p:sp>
        <p:nvSpPr>
          <p:cNvPr id="28" name="R3_chip73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I'm starving!</a:t>
            </a:r>
            <a:endParaRPr lang="en-US" sz="1100" dirty="0"/>
          </a:p>
        </p:txBody>
      </p:sp>
      <p:sp>
        <p:nvSpPr>
          <p:cNvPr id="29" name="bd_74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75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"Your football boots are very dirty!"</a:t>
            </a:r>
            <a:endParaRPr lang="en-US" sz="1100" dirty="0"/>
          </a:p>
        </p:txBody>
      </p:sp>
      <p:sp>
        <p:nvSpPr>
          <p:cNvPr id="31" name="R4_chip76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They're filthy!</a:t>
            </a:r>
            <a:endParaRPr lang="en-US" sz="1100" dirty="0"/>
          </a:p>
        </p:txBody>
      </p:sp>
      <p:sp>
        <p:nvSpPr>
          <p:cNvPr id="32" name="bd_77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78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"Mum saw the phone bill. She was very angry."</a:t>
            </a:r>
            <a:endParaRPr lang="en-US" sz="1100" dirty="0"/>
          </a:p>
        </p:txBody>
      </p:sp>
      <p:sp>
        <p:nvSpPr>
          <p:cNvPr id="34" name="R5_chip79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She was furious!</a:t>
            </a:r>
            <a:endParaRPr lang="en-US" sz="1100" dirty="0"/>
          </a:p>
        </p:txBody>
      </p:sp>
      <p:sp>
        <p:nvSpPr>
          <p:cNvPr id="35" name="bd_80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gq_81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"That comedy is very funny."</a:t>
            </a:r>
            <a:endParaRPr lang="en-US" sz="1100" dirty="0"/>
          </a:p>
        </p:txBody>
      </p:sp>
      <p:sp>
        <p:nvSpPr>
          <p:cNvPr id="37" name="R6_chip82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It's hilarious!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8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8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85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Sound race!</a:t>
            </a:r>
            <a:endParaRPr lang="en-US" sz="2500" dirty="0"/>
          </a:p>
        </p:txBody>
      </p:sp>
      <p:pic>
        <p:nvPicPr>
          <p:cNvPr id="6" name="brP_8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06240" cy="402336"/>
          </a:xfrm>
          <a:prstGeom prst="rect">
            <a:avLst/>
          </a:prstGeom>
        </p:spPr>
      </p:pic>
      <p:sp>
        <p:nvSpPr>
          <p:cNvPr id="7" name="ins_87"/>
          <p:cNvSpPr/>
          <p:nvPr/>
        </p:nvSpPr>
        <p:spPr>
          <a:xfrm>
            <a:off x="1353312" y="73152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 seconds: write words with this sound!</a:t>
            </a:r>
            <a:endParaRPr lang="en-US" sz="1250" dirty="0"/>
          </a:p>
        </p:txBody>
      </p:sp>
      <p:sp>
        <p:nvSpPr>
          <p:cNvPr id="8" name="insIT_88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secondi: scrivete parole con questo suono!</a:t>
            </a:r>
            <a:endParaRPr lang="en-US" sz="950" dirty="0"/>
          </a:p>
        </p:txBody>
      </p:sp>
      <p:sp>
        <p:nvSpPr>
          <p:cNvPr id="9" name="cmd_89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cmd_90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🔊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PRONUNCIA</a:t>
            </a:r>
            <a:endParaRPr lang="en-US" sz="1100" dirty="0"/>
          </a:p>
        </p:txBody>
      </p:sp>
      <p:sp>
        <p:nvSpPr>
          <p:cNvPr id="11" name="meta_91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🏆 teams</a:t>
            </a:r>
            <a:endParaRPr lang="en-US" sz="950" dirty="0"/>
          </a:p>
        </p:txBody>
      </p:sp>
      <p:sp>
        <p:nvSpPr>
          <p:cNvPr id="12" name="tag_92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Pronunciation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3" name="logo_9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9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R1-2 · Game · pronunciation · vowel sounds   ·   📖 SB p.24 · Pronunciation a, b · Sound Bank pp.166–167 · recycles 1A (vowels) and 2A (o and or)</a:t>
            </a:r>
            <a:endParaRPr lang="en-US" sz="750" dirty="0"/>
          </a:p>
        </p:txBody>
      </p:sp>
      <p:sp>
        <p:nvSpPr>
          <p:cNvPr id="15" name="cd_95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96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7" name="ih_97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8" name="il_98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the sound picture.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 l'immagine del suono.</a:t>
            </a:r>
            <a:endParaRPr lang="en-US" sz="10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seconds: write words from Files 1–2 with that sound.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secondi: scrivete parole dei File 1–2 con quel suono.</a:t>
            </a:r>
            <a:endParaRPr lang="en-US" sz="10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 sound = 1 point per word.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Suono giusto = 1 punto a parola.</a:t>
            </a:r>
            <a:endParaRPr lang="en-US" sz="1000" dirty="0"/>
          </a:p>
        </p:txBody>
      </p:sp>
      <p:sp>
        <p:nvSpPr>
          <p:cNvPr id="19" name="pf_99"/>
          <p:cNvSpPr/>
          <p:nvPr/>
        </p:nvSpPr>
        <p:spPr>
          <a:xfrm rot="-120000">
            <a:off x="411480" y="3611880"/>
            <a:ext cx="2468880" cy="1143000"/>
          </a:xfrm>
          <a:prstGeom prst="roundRect">
            <a:avLst>
              <a:gd name="adj" fmla="val 1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100" descr="/home/claude/lls-course/v2/cache/1a1_first_day_jpg_572x25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57200" y="3657600"/>
            <a:ext cx="2377440" cy="1051560"/>
          </a:xfrm>
          <a:prstGeom prst="rect">
            <a:avLst/>
          </a:prstGeom>
        </p:spPr>
      </p:pic>
      <p:sp>
        <p:nvSpPr>
          <p:cNvPr id="21" name="bd_101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gq_102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🐟 fish /ɪ/</a:t>
            </a:r>
            <a:endParaRPr lang="en-US" sz="1100" dirty="0"/>
          </a:p>
        </p:txBody>
      </p:sp>
      <p:sp>
        <p:nvSpPr>
          <p:cNvPr id="23" name="R1_chip103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chicken · grilled · squid · inherit</a:t>
            </a:r>
            <a:endParaRPr lang="en-US" sz="1100" dirty="0"/>
          </a:p>
        </p:txBody>
      </p:sp>
      <p:sp>
        <p:nvSpPr>
          <p:cNvPr id="24" name="bd_104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gq_105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🌳 tree /iː/</a:t>
            </a:r>
            <a:endParaRPr lang="en-US" sz="1100" dirty="0"/>
          </a:p>
        </p:txBody>
      </p:sp>
      <p:sp>
        <p:nvSpPr>
          <p:cNvPr id="26" name="R2_chip106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steamed · green beans · beef · peach</a:t>
            </a:r>
            <a:endParaRPr lang="en-US" sz="1100" dirty="0"/>
          </a:p>
        </p:txBody>
      </p:sp>
      <p:sp>
        <p:nvSpPr>
          <p:cNvPr id="27" name="bd_107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gq_108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🐱 cat /æ/</a:t>
            </a:r>
            <a:endParaRPr lang="en-US" sz="1100" dirty="0"/>
          </a:p>
        </p:txBody>
      </p:sp>
      <p:sp>
        <p:nvSpPr>
          <p:cNvPr id="29" name="R3_chip109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crab · lamb · jam · salary</a:t>
            </a:r>
            <a:endParaRPr lang="en-US" sz="1100" dirty="0"/>
          </a:p>
        </p:txBody>
      </p:sp>
      <p:sp>
        <p:nvSpPr>
          <p:cNvPr id="30" name="bd_110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gq_111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☝️ up /ʌ/</a:t>
            </a:r>
            <a:endParaRPr lang="en-US" sz="1100" dirty="0"/>
          </a:p>
        </p:txBody>
      </p:sp>
      <p:sp>
        <p:nvSpPr>
          <p:cNvPr id="32" name="R4_chip112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money · nothing · worry · done</a:t>
            </a:r>
            <a:endParaRPr lang="en-US" sz="1100" dirty="0"/>
          </a:p>
        </p:txBody>
      </p:sp>
      <p:sp>
        <p:nvSpPr>
          <p:cNvPr id="33" name="bd_113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gq_114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🐴 horse /ɔː/</a:t>
            </a:r>
            <a:endParaRPr lang="en-US" sz="1100" dirty="0"/>
          </a:p>
        </p:txBody>
      </p:sp>
      <p:sp>
        <p:nvSpPr>
          <p:cNvPr id="35" name="R5_chip115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pork · prawns · afford · mortgage</a:t>
            </a:r>
            <a:endParaRPr lang="en-US" sz="1100" dirty="0"/>
          </a:p>
        </p:txBody>
      </p:sp>
      <p:sp>
        <p:nvSpPr>
          <p:cNvPr id="36" name="bd_116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gq_117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📱 phone /əʊ/</a:t>
            </a:r>
            <a:endParaRPr lang="en-US" sz="1100" dirty="0"/>
          </a:p>
        </p:txBody>
      </p:sp>
      <p:sp>
        <p:nvSpPr>
          <p:cNvPr id="38" name="R6_chip118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owe · loan · clothes · won't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1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2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121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 task: grammar</a:t>
            </a:r>
            <a:endParaRPr lang="en-US" sz="2400" dirty="0"/>
          </a:p>
        </p:txBody>
      </p:sp>
      <p:pic>
        <p:nvPicPr>
          <p:cNvPr id="6" name="brP_12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685032" cy="402336"/>
          </a:xfrm>
          <a:prstGeom prst="rect">
            <a:avLst/>
          </a:prstGeom>
        </p:spPr>
      </p:pic>
      <p:sp>
        <p:nvSpPr>
          <p:cNvPr id="7" name="ins_123"/>
          <p:cNvSpPr/>
          <p:nvPr/>
        </p:nvSpPr>
        <p:spPr>
          <a:xfrm>
            <a:off x="1353312" y="7315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Test! Choose a, b or c. 4 minutes.</a:t>
            </a:r>
            <a:endParaRPr lang="en-US" sz="1250" dirty="0"/>
          </a:p>
        </p:txBody>
      </p:sp>
      <p:sp>
        <p:nvSpPr>
          <p:cNvPr id="8" name="insIT_124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Test! Scegli a, b o c. 4 minuti.</a:t>
            </a:r>
            <a:endParaRPr lang="en-US" sz="950" dirty="0"/>
          </a:p>
        </p:txBody>
      </p:sp>
      <p:sp>
        <p:nvSpPr>
          <p:cNvPr id="9" name="cmd_125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✏️ </a:t>
            </a:r>
            <a:pPr indent="0" marL="0">
              <a:buNone/>
            </a:pPr>
            <a:r>
              <a:rPr lang="en-US" sz="9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FILL THE GAPS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COMPLETA</a:t>
            </a:r>
            <a:endParaRPr lang="en-US" sz="800" dirty="0"/>
          </a:p>
        </p:txBody>
      </p:sp>
      <p:sp>
        <p:nvSpPr>
          <p:cNvPr id="10" name="cmd_126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CONTROLLA</a:t>
            </a:r>
            <a:endParaRPr lang="en-US" sz="1100" dirty="0"/>
          </a:p>
        </p:txBody>
      </p:sp>
      <p:sp>
        <p:nvSpPr>
          <p:cNvPr id="11" name="meta_127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👤 alone</a:t>
            </a:r>
            <a:endParaRPr lang="en-US" sz="950" dirty="0"/>
          </a:p>
        </p:txBody>
      </p:sp>
      <p:sp>
        <p:nvSpPr>
          <p:cNvPr id="12" name="tag_128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TPRS · reading</a:t>
            </a:r>
            <a:endParaRPr lang="en-US" sz="850" dirty="0"/>
          </a:p>
        </p:txBody>
      </p:sp>
      <p:pic>
        <p:nvPicPr>
          <p:cNvPr id="13" name="logo_12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13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R1-2 · Exam practice · SB p.24 Grammar 1–8   ·   📖 SB p.24 · Revise and Check · GRAMMAR 1–8 (TG key)</a:t>
            </a:r>
            <a:endParaRPr lang="en-US" sz="800" dirty="0"/>
          </a:p>
        </p:txBody>
      </p:sp>
      <p:sp>
        <p:nvSpPr>
          <p:cNvPr id="15" name="cd_131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sh_132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Circle a, b or c  (SB p.24)</a:t>
            </a:r>
            <a:endParaRPr lang="en-US" sz="1700" dirty="0"/>
          </a:p>
        </p:txBody>
      </p:sp>
      <p:sp>
        <p:nvSpPr>
          <p:cNvPr id="17" name="ln_133"/>
          <p:cNvSpPr/>
          <p:nvPr/>
        </p:nvSpPr>
        <p:spPr>
          <a:xfrm>
            <a:off x="548640" y="1920240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My sister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fish or seafood.</a:t>
            </a:r>
            <a:endParaRPr lang="en-US" sz="1150" dirty="0"/>
          </a:p>
        </p:txBody>
      </p:sp>
      <p:sp>
        <p:nvSpPr>
          <p:cNvPr id="18" name="R1_lnA134"/>
          <p:cNvSpPr/>
          <p:nvPr/>
        </p:nvSpPr>
        <p:spPr>
          <a:xfrm>
            <a:off x="548640" y="1920240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My sister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  doesn't like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fish or seafood.</a:t>
            </a:r>
            <a:endParaRPr lang="en-US" sz="1150" dirty="0"/>
          </a:p>
        </p:txBody>
      </p:sp>
      <p:sp>
        <p:nvSpPr>
          <p:cNvPr id="19" name="ln_135"/>
          <p:cNvSpPr/>
          <p:nvPr/>
        </p:nvSpPr>
        <p:spPr>
          <a:xfrm>
            <a:off x="548640" y="2268855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I have a quick breakfast because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a hurry.</a:t>
            </a:r>
            <a:endParaRPr lang="en-US" sz="1150" dirty="0"/>
          </a:p>
        </p:txBody>
      </p:sp>
      <p:sp>
        <p:nvSpPr>
          <p:cNvPr id="20" name="R2_lnA136"/>
          <p:cNvSpPr/>
          <p:nvPr/>
        </p:nvSpPr>
        <p:spPr>
          <a:xfrm>
            <a:off x="548640" y="2268855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I have a quick breakfast because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I'm usually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a hurry.</a:t>
            </a:r>
            <a:endParaRPr lang="en-US" sz="1150" dirty="0"/>
          </a:p>
        </p:txBody>
      </p:sp>
      <p:sp>
        <p:nvSpPr>
          <p:cNvPr id="21" name="ln_137"/>
          <p:cNvSpPr/>
          <p:nvPr/>
        </p:nvSpPr>
        <p:spPr>
          <a:xfrm>
            <a:off x="548640" y="2617470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I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TV when I'm having a meal.</a:t>
            </a:r>
            <a:endParaRPr lang="en-US" sz="1150" dirty="0"/>
          </a:p>
        </p:txBody>
      </p:sp>
      <p:sp>
        <p:nvSpPr>
          <p:cNvPr id="22" name="R3_lnA138"/>
          <p:cNvSpPr/>
          <p:nvPr/>
        </p:nvSpPr>
        <p:spPr>
          <a:xfrm>
            <a:off x="548640" y="2617470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I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  never watch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TV when I'm having a meal.</a:t>
            </a:r>
            <a:endParaRPr lang="en-US" sz="1150" dirty="0"/>
          </a:p>
        </p:txBody>
      </p:sp>
      <p:sp>
        <p:nvSpPr>
          <p:cNvPr id="23" name="ln_139"/>
          <p:cNvSpPr/>
          <p:nvPr/>
        </p:nvSpPr>
        <p:spPr>
          <a:xfrm>
            <a:off x="548640" y="2966085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hard for my exams at the moment.</a:t>
            </a:r>
            <a:endParaRPr lang="en-US" sz="1150" dirty="0"/>
          </a:p>
        </p:txBody>
      </p:sp>
      <p:sp>
        <p:nvSpPr>
          <p:cNvPr id="24" name="R4_lnA140"/>
          <p:cNvSpPr/>
          <p:nvPr/>
        </p:nvSpPr>
        <p:spPr>
          <a:xfrm>
            <a:off x="548640" y="2966085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  I'm studying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hard for my exams at the moment.</a:t>
            </a:r>
            <a:endParaRPr lang="en-US" sz="1150" dirty="0"/>
          </a:p>
        </p:txBody>
      </p:sp>
      <p:sp>
        <p:nvSpPr>
          <p:cNvPr id="25" name="ln_141"/>
          <p:cNvSpPr/>
          <p:nvPr/>
        </p:nvSpPr>
        <p:spPr>
          <a:xfrm>
            <a:off x="548640" y="3314700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any brothers or sisters?</a:t>
            </a:r>
            <a:endParaRPr lang="en-US" sz="1150" dirty="0"/>
          </a:p>
        </p:txBody>
      </p:sp>
      <p:sp>
        <p:nvSpPr>
          <p:cNvPr id="26" name="R5_lnA142"/>
          <p:cNvSpPr/>
          <p:nvPr/>
        </p:nvSpPr>
        <p:spPr>
          <a:xfrm>
            <a:off x="548640" y="3314700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Do you have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any brothers or sisters?</a:t>
            </a:r>
            <a:endParaRPr lang="en-US" sz="1150" dirty="0"/>
          </a:p>
        </p:txBody>
      </p:sp>
      <p:sp>
        <p:nvSpPr>
          <p:cNvPr id="27" name="ln_143"/>
          <p:cNvSpPr/>
          <p:nvPr/>
        </p:nvSpPr>
        <p:spPr>
          <a:xfrm>
            <a:off x="548640" y="3663315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What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when you leave school?</a:t>
            </a:r>
            <a:endParaRPr lang="en-US" sz="1150" dirty="0"/>
          </a:p>
        </p:txBody>
      </p:sp>
      <p:sp>
        <p:nvSpPr>
          <p:cNvPr id="28" name="R6_lnA144"/>
          <p:cNvSpPr/>
          <p:nvPr/>
        </p:nvSpPr>
        <p:spPr>
          <a:xfrm>
            <a:off x="548640" y="3663315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What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are you going to do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when you leave school?</a:t>
            </a:r>
            <a:endParaRPr lang="en-US" sz="1150" dirty="0"/>
          </a:p>
        </p:txBody>
      </p:sp>
      <p:sp>
        <p:nvSpPr>
          <p:cNvPr id="29" name="ln_145"/>
          <p:cNvSpPr/>
          <p:nvPr/>
        </p:nvSpPr>
        <p:spPr>
          <a:xfrm>
            <a:off x="548640" y="4011930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I can't see you this evening because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some friends.</a:t>
            </a:r>
            <a:endParaRPr lang="en-US" sz="1150" dirty="0"/>
          </a:p>
        </p:txBody>
      </p:sp>
      <p:sp>
        <p:nvSpPr>
          <p:cNvPr id="30" name="R7_lnA146"/>
          <p:cNvSpPr/>
          <p:nvPr/>
        </p:nvSpPr>
        <p:spPr>
          <a:xfrm>
            <a:off x="548640" y="4011930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I can't see you this evening because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  I'm meeting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some friends.</a:t>
            </a:r>
            <a:endParaRPr lang="en-US" sz="1150" dirty="0"/>
          </a:p>
        </p:txBody>
      </p:sp>
      <p:sp>
        <p:nvSpPr>
          <p:cNvPr id="31" name="ln_147"/>
          <p:cNvSpPr/>
          <p:nvPr/>
        </p:nvSpPr>
        <p:spPr>
          <a:xfrm>
            <a:off x="548640" y="4360545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A Something to drink?  B Yes,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 orange juice, please.</a:t>
            </a:r>
            <a:endParaRPr lang="en-US" sz="1150" dirty="0"/>
          </a:p>
        </p:txBody>
      </p:sp>
      <p:sp>
        <p:nvSpPr>
          <p:cNvPr id="32" name="R8_lnA148"/>
          <p:cNvSpPr/>
          <p:nvPr/>
        </p:nvSpPr>
        <p:spPr>
          <a:xfrm>
            <a:off x="548640" y="4360545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A Something to drink?  B Yes,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I'll have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 orange juice, please.</a:t>
            </a:r>
            <a:endParaRPr lang="en-US" sz="1150" dirty="0"/>
          </a:p>
        </p:txBody>
      </p:sp>
      <p:sp>
        <p:nvSpPr>
          <p:cNvPr id="33" name="pf_149"/>
          <p:cNvSpPr/>
          <p:nvPr/>
        </p:nvSpPr>
        <p:spPr>
          <a:xfrm rot="120000">
            <a:off x="6309360" y="2194560"/>
            <a:ext cx="256032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4" name="ph_150" descr="/home/claude/lls-course/v2/cache/spare_work_training_jpg_594x352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2240280"/>
            <a:ext cx="2468880" cy="1463040"/>
          </a:xfrm>
          <a:prstGeom prst="rect">
            <a:avLst/>
          </a:prstGeom>
        </p:spPr>
      </p:pic>
      <p:sp>
        <p:nvSpPr>
          <p:cNvPr id="35" name="cd_151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6" name="ii_152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7" name="ih_153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8" name="il_154"/>
          <p:cNvSpPr/>
          <p:nvPr/>
        </p:nvSpPr>
        <p:spPr>
          <a:xfrm>
            <a:off x="6830568" y="42702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Alone · no talking · 4 minutes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point each · ___ / 15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5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5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157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 task: grammar</a:t>
            </a:r>
            <a:endParaRPr lang="en-US" sz="2400" dirty="0"/>
          </a:p>
        </p:txBody>
      </p:sp>
      <p:pic>
        <p:nvPicPr>
          <p:cNvPr id="6" name="brP_15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250692" cy="402336"/>
          </a:xfrm>
          <a:prstGeom prst="rect">
            <a:avLst/>
          </a:prstGeom>
        </p:spPr>
      </p:pic>
      <p:sp>
        <p:nvSpPr>
          <p:cNvPr id="7" name="ins_159"/>
          <p:cNvSpPr/>
          <p:nvPr/>
        </p:nvSpPr>
        <p:spPr>
          <a:xfrm>
            <a:off x="1353312" y="731520"/>
            <a:ext cx="29946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 9–15. Count your score!</a:t>
            </a:r>
            <a:endParaRPr lang="en-US" sz="1250" dirty="0"/>
          </a:p>
        </p:txBody>
      </p:sp>
      <p:sp>
        <p:nvSpPr>
          <p:cNvPr id="8" name="insIT_160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Controlla 9–15. Conta i punti!</a:t>
            </a:r>
            <a:endParaRPr lang="en-US" sz="950" dirty="0"/>
          </a:p>
        </p:txBody>
      </p:sp>
      <p:sp>
        <p:nvSpPr>
          <p:cNvPr id="9" name="cmd_161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CONTROLLA</a:t>
            </a:r>
            <a:endParaRPr lang="en-US" sz="1100" dirty="0"/>
          </a:p>
        </p:txBody>
      </p:sp>
      <p:sp>
        <p:nvSpPr>
          <p:cNvPr id="10" name="meta_162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1" name="tag_163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TPRS · reading</a:t>
            </a:r>
            <a:endParaRPr lang="en-US" sz="850" dirty="0"/>
          </a:p>
        </p:txBody>
      </p:sp>
      <p:pic>
        <p:nvPicPr>
          <p:cNvPr id="12" name="logo_16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6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R1-2 · Exam practice · SB p.24 Grammar 9–15   ·   📖 SB p.24 · Revise and Check · GRAMMAR 9–15 (TG key)</a:t>
            </a:r>
            <a:endParaRPr lang="en-US" sz="800" dirty="0"/>
          </a:p>
        </p:txBody>
      </p:sp>
      <p:sp>
        <p:nvSpPr>
          <p:cNvPr id="14" name="cd_166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sh_167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Circle a, b or c  (SB p.24)</a:t>
            </a:r>
            <a:endParaRPr lang="en-US" sz="1700" dirty="0"/>
          </a:p>
        </p:txBody>
      </p:sp>
      <p:sp>
        <p:nvSpPr>
          <p:cNvPr id="16" name="ln_168"/>
          <p:cNvSpPr/>
          <p:nvPr/>
        </p:nvSpPr>
        <p:spPr>
          <a:xfrm>
            <a:off x="548640" y="1920240"/>
            <a:ext cx="5349240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 A I can't open this jar.  B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help you?</a:t>
            </a:r>
            <a:endParaRPr lang="en-US" sz="1150" dirty="0"/>
          </a:p>
        </p:txBody>
      </p:sp>
      <p:sp>
        <p:nvSpPr>
          <p:cNvPr id="17" name="R1_lnA169"/>
          <p:cNvSpPr/>
          <p:nvPr/>
        </p:nvSpPr>
        <p:spPr>
          <a:xfrm>
            <a:off x="548640" y="1920240"/>
            <a:ext cx="5349240" cy="3984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 A I can't open this jar.  B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  Shall I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help you?</a:t>
            </a:r>
            <a:endParaRPr lang="en-US" sz="1150" dirty="0"/>
          </a:p>
        </p:txBody>
      </p:sp>
      <p:sp>
        <p:nvSpPr>
          <p:cNvPr id="18" name="ln_170"/>
          <p:cNvSpPr/>
          <p:nvPr/>
        </p:nvSpPr>
        <p:spPr>
          <a:xfrm>
            <a:off x="548640" y="2318657"/>
            <a:ext cx="5349240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That's a lovely dress. Where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it?</a:t>
            </a:r>
            <a:endParaRPr lang="en-US" sz="1150" dirty="0"/>
          </a:p>
        </p:txBody>
      </p:sp>
      <p:sp>
        <p:nvSpPr>
          <p:cNvPr id="19" name="R2_lnA171"/>
          <p:cNvSpPr/>
          <p:nvPr/>
        </p:nvSpPr>
        <p:spPr>
          <a:xfrm>
            <a:off x="548640" y="2318657"/>
            <a:ext cx="5349240" cy="3984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That's a lovely dress. Where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  did you buy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it?</a:t>
            </a:r>
            <a:endParaRPr lang="en-US" sz="1150" dirty="0"/>
          </a:p>
        </p:txBody>
      </p:sp>
      <p:sp>
        <p:nvSpPr>
          <p:cNvPr id="20" name="ln_172"/>
          <p:cNvSpPr/>
          <p:nvPr/>
        </p:nvSpPr>
        <p:spPr>
          <a:xfrm>
            <a:off x="548640" y="2717074"/>
            <a:ext cx="5349240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good at saving money.</a:t>
            </a:r>
            <a:endParaRPr lang="en-US" sz="1150" dirty="0"/>
          </a:p>
        </p:txBody>
      </p:sp>
      <p:sp>
        <p:nvSpPr>
          <p:cNvPr id="21" name="R3_lnA173"/>
          <p:cNvSpPr/>
          <p:nvPr/>
        </p:nvSpPr>
        <p:spPr>
          <a:xfrm>
            <a:off x="548640" y="2717074"/>
            <a:ext cx="5349240" cy="3984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  I've never been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good at saving money.</a:t>
            </a:r>
            <a:endParaRPr lang="en-US" sz="1150" dirty="0"/>
          </a:p>
        </p:txBody>
      </p:sp>
      <p:sp>
        <p:nvSpPr>
          <p:cNvPr id="22" name="ln_174"/>
          <p:cNvSpPr/>
          <p:nvPr/>
        </p:nvSpPr>
        <p:spPr>
          <a:xfrm>
            <a:off x="548640" y="3115491"/>
            <a:ext cx="5349240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 I got £50 for my birthday, but I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50" dirty="0"/>
          </a:p>
        </p:txBody>
      </p:sp>
      <p:sp>
        <p:nvSpPr>
          <p:cNvPr id="23" name="R4_lnA175"/>
          <p:cNvSpPr/>
          <p:nvPr/>
        </p:nvSpPr>
        <p:spPr>
          <a:xfrm>
            <a:off x="548640" y="3115491"/>
            <a:ext cx="5349240" cy="3984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 I got £50 for my birthday, but I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  haven't spent it yet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50" dirty="0"/>
          </a:p>
        </p:txBody>
      </p:sp>
      <p:sp>
        <p:nvSpPr>
          <p:cNvPr id="24" name="ln_176"/>
          <p:cNvSpPr/>
          <p:nvPr/>
        </p:nvSpPr>
        <p:spPr>
          <a:xfrm>
            <a:off x="548640" y="3513909"/>
            <a:ext cx="5349240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 I've had this phone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(13) 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50" dirty="0"/>
          </a:p>
        </p:txBody>
      </p:sp>
      <p:sp>
        <p:nvSpPr>
          <p:cNvPr id="25" name="R5_lnA177"/>
          <p:cNvSpPr/>
          <p:nvPr/>
        </p:nvSpPr>
        <p:spPr>
          <a:xfrm>
            <a:off x="548640" y="3513909"/>
            <a:ext cx="5349240" cy="3984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 I've had this phone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  for about three years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50" dirty="0"/>
          </a:p>
        </p:txBody>
      </p:sp>
      <p:sp>
        <p:nvSpPr>
          <p:cNvPr id="26" name="ln_178"/>
          <p:cNvSpPr/>
          <p:nvPr/>
        </p:nvSpPr>
        <p:spPr>
          <a:xfrm>
            <a:off x="548640" y="3912326"/>
            <a:ext cx="5349240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 A How long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(14) 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Paris?  B Since last March.</a:t>
            </a:r>
            <a:endParaRPr lang="en-US" sz="1150" dirty="0"/>
          </a:p>
        </p:txBody>
      </p:sp>
      <p:sp>
        <p:nvSpPr>
          <p:cNvPr id="27" name="R6_lnA179"/>
          <p:cNvSpPr/>
          <p:nvPr/>
        </p:nvSpPr>
        <p:spPr>
          <a:xfrm>
            <a:off x="548640" y="3912326"/>
            <a:ext cx="5349240" cy="3984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 A How long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  has he been living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Paris?  B Since last March.</a:t>
            </a:r>
            <a:endParaRPr lang="en-US" sz="1150" dirty="0"/>
          </a:p>
        </p:txBody>
      </p:sp>
      <p:sp>
        <p:nvSpPr>
          <p:cNvPr id="28" name="ln_180"/>
          <p:cNvSpPr/>
          <p:nvPr/>
        </p:nvSpPr>
        <p:spPr>
          <a:xfrm>
            <a:off x="548640" y="4310743"/>
            <a:ext cx="5349240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(15) 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same gym for five years.</a:t>
            </a:r>
            <a:endParaRPr lang="en-US" sz="1150" dirty="0"/>
          </a:p>
        </p:txBody>
      </p:sp>
      <p:sp>
        <p:nvSpPr>
          <p:cNvPr id="29" name="R7_lnA181"/>
          <p:cNvSpPr/>
          <p:nvPr/>
        </p:nvSpPr>
        <p:spPr>
          <a:xfrm>
            <a:off x="548640" y="4310743"/>
            <a:ext cx="5349240" cy="3984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  I've been going to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same gym for five years.</a:t>
            </a:r>
            <a:endParaRPr lang="en-US" sz="1150" dirty="0"/>
          </a:p>
        </p:txBody>
      </p:sp>
      <p:sp>
        <p:nvSpPr>
          <p:cNvPr id="30" name="pf_182"/>
          <p:cNvSpPr/>
          <p:nvPr/>
        </p:nvSpPr>
        <p:spPr>
          <a:xfrm rot="120000">
            <a:off x="6309360" y="2194560"/>
            <a:ext cx="256032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1" name="ph_183" descr="/home/claude/lls-course/v2/cache/spare_future_university_jpg_594x352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2240280"/>
            <a:ext cx="2468880" cy="1463040"/>
          </a:xfrm>
          <a:prstGeom prst="rect">
            <a:avLst/>
          </a:prstGeom>
        </p:spPr>
      </p:pic>
      <p:sp>
        <p:nvSpPr>
          <p:cNvPr id="32" name="cd_184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3" name="ii_185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4" name="ih_186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5" name="il_187"/>
          <p:cNvSpPr/>
          <p:nvPr/>
        </p:nvSpPr>
        <p:spPr>
          <a:xfrm>
            <a:off x="6830568" y="42702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Score: ___ / 15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ones did you get wrong?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8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8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506163" cy="621792"/>
          </a:xfrm>
          <a:prstGeom prst="rect">
            <a:avLst/>
          </a:prstGeom>
        </p:spPr>
      </p:pic>
      <p:sp>
        <p:nvSpPr>
          <p:cNvPr id="5" name="title_190"/>
          <p:cNvSpPr/>
          <p:nvPr/>
        </p:nvSpPr>
        <p:spPr>
          <a:xfrm>
            <a:off x="1261872" y="164592"/>
            <a:ext cx="4231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 tips: find the clue</a:t>
            </a:r>
            <a:endParaRPr lang="en-US" sz="2500" dirty="0"/>
          </a:p>
        </p:txBody>
      </p:sp>
      <p:pic>
        <p:nvPicPr>
          <p:cNvPr id="6" name="brP_19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424428" cy="402336"/>
          </a:xfrm>
          <a:prstGeom prst="rect">
            <a:avLst/>
          </a:prstGeom>
        </p:spPr>
      </p:pic>
      <p:sp>
        <p:nvSpPr>
          <p:cNvPr id="7" name="ins_192"/>
          <p:cNvSpPr/>
          <p:nvPr/>
        </p:nvSpPr>
        <p:spPr>
          <a:xfrm>
            <a:off x="1353312" y="731520"/>
            <a:ext cx="31683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is it right? Find the clue.</a:t>
            </a:r>
            <a:endParaRPr lang="en-US" sz="1250" dirty="0"/>
          </a:p>
        </p:txBody>
      </p:sp>
      <p:sp>
        <p:nvSpPr>
          <p:cNvPr id="8" name="insIT_193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Perché è giusta? Trova l'indizio.</a:t>
            </a:r>
            <a:endParaRPr lang="en-US" sz="950" dirty="0"/>
          </a:p>
        </p:txBody>
      </p:sp>
      <p:sp>
        <p:nvSpPr>
          <p:cNvPr id="9" name="cmd_194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GUARDA</a:t>
            </a:r>
            <a:endParaRPr lang="en-US" sz="1100" dirty="0"/>
          </a:p>
        </p:txBody>
      </p:sp>
      <p:sp>
        <p:nvSpPr>
          <p:cNvPr id="10" name="meta_195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🙋 whole class</a:t>
            </a:r>
            <a:endParaRPr lang="en-US" sz="950" dirty="0"/>
          </a:p>
        </p:txBody>
      </p:sp>
      <p:pic>
        <p:nvPicPr>
          <p:cNvPr id="11" name="logo_19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2" name="foot_19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R1-2 · Exam strategy · multiple choice   ·   📖 Strategy for SB p.24 Grammar · Grammar Banks 1A, 1B, 2A, 2B</a:t>
            </a:r>
            <a:endParaRPr lang="en-US" sz="800" dirty="0"/>
          </a:p>
        </p:txBody>
      </p:sp>
      <p:sp>
        <p:nvSpPr>
          <p:cNvPr id="13" name="cd_198"/>
          <p:cNvSpPr/>
          <p:nvPr/>
        </p:nvSpPr>
        <p:spPr>
          <a:xfrm>
            <a:off x="3200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540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4" name="rh_199"/>
          <p:cNvSpPr/>
          <p:nvPr/>
        </p:nvSpPr>
        <p:spPr>
          <a:xfrm>
            <a:off x="4297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time words</a:t>
            </a:r>
            <a:endParaRPr lang="en-US" sz="1250" dirty="0"/>
          </a:p>
        </p:txBody>
      </p:sp>
      <p:sp>
        <p:nvSpPr>
          <p:cNvPr id="15" name="pf_200"/>
          <p:cNvSpPr/>
          <p:nvPr/>
        </p:nvSpPr>
        <p:spPr>
          <a:xfrm>
            <a:off x="429768" y="1938528"/>
            <a:ext cx="18150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6" name="ph_201" descr="/home/claude/lls-course/v2/cache/1b1_diary_jpg_415x20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1984248"/>
            <a:ext cx="1723644" cy="868680"/>
          </a:xfrm>
          <a:prstGeom prst="rect">
            <a:avLst/>
          </a:prstGeom>
        </p:spPr>
      </p:pic>
      <p:sp>
        <p:nvSpPr>
          <p:cNvPr id="17" name="ru_202"/>
          <p:cNvSpPr/>
          <p:nvPr/>
        </p:nvSpPr>
        <p:spPr>
          <a:xfrm>
            <a:off x="4114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last…, ago → past simple · for / since → present perfect</a:t>
            </a:r>
            <a:endParaRPr lang="en-US" sz="950" dirty="0"/>
          </a:p>
        </p:txBody>
      </p:sp>
      <p:sp>
        <p:nvSpPr>
          <p:cNvPr id="18" name="R1_rx203"/>
          <p:cNvSpPr/>
          <p:nvPr/>
        </p:nvSpPr>
        <p:spPr>
          <a:xfrm>
            <a:off x="4114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did you buy it? (finished)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I've had this phone for three years.</a:t>
            </a:r>
            <a:endParaRPr lang="en-US" sz="1050" dirty="0"/>
          </a:p>
        </p:txBody>
      </p:sp>
      <p:sp>
        <p:nvSpPr>
          <p:cNvPr id="19" name="R1_ri204"/>
          <p:cNvSpPr/>
          <p:nvPr/>
        </p:nvSpPr>
        <p:spPr>
          <a:xfrm>
            <a:off x="4114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parole di tempo sono indizi</a:t>
            </a:r>
            <a:endParaRPr lang="en-US" sz="900" dirty="0"/>
          </a:p>
        </p:txBody>
      </p:sp>
      <p:sp>
        <p:nvSpPr>
          <p:cNvPr id="20" name="cd_205"/>
          <p:cNvSpPr/>
          <p:nvPr/>
        </p:nvSpPr>
        <p:spPr>
          <a:xfrm>
            <a:off x="24917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540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h_206"/>
          <p:cNvSpPr/>
          <p:nvPr/>
        </p:nvSpPr>
        <p:spPr>
          <a:xfrm>
            <a:off x="26014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 -ing verbs</a:t>
            </a:r>
            <a:endParaRPr lang="en-US" sz="1250" dirty="0"/>
          </a:p>
        </p:txBody>
      </p:sp>
      <p:sp>
        <p:nvSpPr>
          <p:cNvPr id="22" name="pf_207"/>
          <p:cNvSpPr/>
          <p:nvPr/>
        </p:nvSpPr>
        <p:spPr>
          <a:xfrm>
            <a:off x="2601468" y="1938528"/>
            <a:ext cx="18150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3" name="ph_208" descr="/home/claude/lls-course/v2/cache/spare_1a2_food_preferences_jpg_415x209_3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7188" y="1984248"/>
            <a:ext cx="1723644" cy="868680"/>
          </a:xfrm>
          <a:prstGeom prst="rect">
            <a:avLst/>
          </a:prstGeom>
        </p:spPr>
      </p:pic>
      <p:sp>
        <p:nvSpPr>
          <p:cNvPr id="24" name="ru_209"/>
          <p:cNvSpPr/>
          <p:nvPr/>
        </p:nvSpPr>
        <p:spPr>
          <a:xfrm>
            <a:off x="25831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like, need, know, have (= possess) → simple</a:t>
            </a:r>
            <a:endParaRPr lang="en-US" sz="1050" dirty="0"/>
          </a:p>
        </p:txBody>
      </p:sp>
      <p:sp>
        <p:nvSpPr>
          <p:cNvPr id="25" name="R2_rx210"/>
          <p:cNvSpPr/>
          <p:nvPr/>
        </p:nvSpPr>
        <p:spPr>
          <a:xfrm>
            <a:off x="25831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sister doesn't like fish. ✓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 isn't liking</a:t>
            </a:r>
            <a:endParaRPr lang="en-US" sz="1050" dirty="0"/>
          </a:p>
        </p:txBody>
      </p:sp>
      <p:sp>
        <p:nvSpPr>
          <p:cNvPr id="26" name="R2_ri211"/>
          <p:cNvSpPr/>
          <p:nvPr/>
        </p:nvSpPr>
        <p:spPr>
          <a:xfrm>
            <a:off x="25831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verbi di stato: niente -ing</a:t>
            </a:r>
            <a:endParaRPr lang="en-US" sz="900" dirty="0"/>
          </a:p>
        </p:txBody>
      </p:sp>
      <p:sp>
        <p:nvSpPr>
          <p:cNvPr id="27" name="cd_212"/>
          <p:cNvSpPr/>
          <p:nvPr/>
        </p:nvSpPr>
        <p:spPr>
          <a:xfrm>
            <a:off x="46634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540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8" name="rh_213"/>
          <p:cNvSpPr/>
          <p:nvPr/>
        </p:nvSpPr>
        <p:spPr>
          <a:xfrm>
            <a:off x="47731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2EB87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future: why?</a:t>
            </a:r>
            <a:endParaRPr lang="en-US" sz="1250" dirty="0"/>
          </a:p>
        </p:txBody>
      </p:sp>
      <p:sp>
        <p:nvSpPr>
          <p:cNvPr id="29" name="pf_214"/>
          <p:cNvSpPr/>
          <p:nvPr/>
        </p:nvSpPr>
        <p:spPr>
          <a:xfrm>
            <a:off x="4773168" y="1938528"/>
            <a:ext cx="18150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0" name="ph_215" descr="/home/claude/lls-course/v2/cache/1b1_bags_jpg_415x209_3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1984248"/>
            <a:ext cx="1723644" cy="868680"/>
          </a:xfrm>
          <a:prstGeom prst="rect">
            <a:avLst/>
          </a:prstGeom>
        </p:spPr>
      </p:pic>
      <p:sp>
        <p:nvSpPr>
          <p:cNvPr id="31" name="ru_216"/>
          <p:cNvSpPr/>
          <p:nvPr/>
        </p:nvSpPr>
        <p:spPr>
          <a:xfrm>
            <a:off x="47548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arrangement · plan · offer · decide now</a:t>
            </a:r>
            <a:endParaRPr lang="en-US" sz="1050" dirty="0"/>
          </a:p>
        </p:txBody>
      </p:sp>
      <p:sp>
        <p:nvSpPr>
          <p:cNvPr id="32" name="R3_rx217"/>
          <p:cNvSpPr/>
          <p:nvPr/>
        </p:nvSpPr>
        <p:spPr>
          <a:xfrm>
            <a:off x="47548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meeting some friends.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Shall I help you?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I'll have an orange juice.</a:t>
            </a:r>
            <a:endParaRPr lang="en-US" sz="1050" dirty="0"/>
          </a:p>
        </p:txBody>
      </p:sp>
      <p:sp>
        <p:nvSpPr>
          <p:cNvPr id="33" name="R3_ri218"/>
          <p:cNvSpPr/>
          <p:nvPr/>
        </p:nvSpPr>
        <p:spPr>
          <a:xfrm>
            <a:off x="47548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organizzato · offerta · decisione ora</a:t>
            </a:r>
            <a:endParaRPr lang="en-US" sz="850" dirty="0"/>
          </a:p>
        </p:txBody>
      </p:sp>
      <p:sp>
        <p:nvSpPr>
          <p:cNvPr id="34" name="cd_219"/>
          <p:cNvSpPr/>
          <p:nvPr/>
        </p:nvSpPr>
        <p:spPr>
          <a:xfrm>
            <a:off x="68351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540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5" name="rh_220"/>
          <p:cNvSpPr/>
          <p:nvPr/>
        </p:nvSpPr>
        <p:spPr>
          <a:xfrm>
            <a:off x="69448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 the form</a:t>
            </a:r>
            <a:endParaRPr lang="en-US" sz="1250" dirty="0"/>
          </a:p>
        </p:txBody>
      </p:sp>
      <p:sp>
        <p:nvSpPr>
          <p:cNvPr id="36" name="pf_221"/>
          <p:cNvSpPr/>
          <p:nvPr/>
        </p:nvSpPr>
        <p:spPr>
          <a:xfrm>
            <a:off x="6944868" y="1938528"/>
            <a:ext cx="18150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7" name="ph_222" descr="/home/claude/lls-course/v2/cache/spare_1b2_homework_jpg_415x209_3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0588" y="1984248"/>
            <a:ext cx="1723644" cy="868680"/>
          </a:xfrm>
          <a:prstGeom prst="rect">
            <a:avLst/>
          </a:prstGeom>
        </p:spPr>
      </p:pic>
      <p:sp>
        <p:nvSpPr>
          <p:cNvPr id="38" name="ru_223"/>
          <p:cNvSpPr/>
          <p:nvPr/>
        </p:nvSpPr>
        <p:spPr>
          <a:xfrm>
            <a:off x="69265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answers look right? Check every letter!</a:t>
            </a:r>
            <a:endParaRPr lang="en-US" sz="1050" dirty="0"/>
          </a:p>
        </p:txBody>
      </p:sp>
      <p:sp>
        <p:nvSpPr>
          <p:cNvPr id="39" name="R4_rx224"/>
          <p:cNvSpPr/>
          <p:nvPr/>
        </p:nvSpPr>
        <p:spPr>
          <a:xfrm>
            <a:off x="69265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 doesn't likes  ✗ I'm studing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 are you going do</a:t>
            </a:r>
            <a:endParaRPr lang="en-US" sz="1050" dirty="0"/>
          </a:p>
        </p:txBody>
      </p:sp>
      <p:sp>
        <p:nvSpPr>
          <p:cNvPr id="40" name="R4_ri225"/>
          <p:cNvSpPr/>
          <p:nvPr/>
        </p:nvSpPr>
        <p:spPr>
          <a:xfrm>
            <a:off x="69265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attenzione a forma e ortografia</a:t>
            </a:r>
            <a:endParaRPr lang="en-US" sz="900" dirty="0"/>
          </a:p>
        </p:txBody>
      </p:sp>
      <p:sp>
        <p:nvSpPr>
          <p:cNvPr id="41" name="R5_wc226"/>
          <p:cNvSpPr/>
          <p:nvPr/>
        </p:nvSpPr>
        <p:spPr>
          <a:xfrm>
            <a:off x="320040" y="4544568"/>
            <a:ext cx="8549640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2" name="R5_w227"/>
          <p:cNvSpPr/>
          <p:nvPr/>
        </p:nvSpPr>
        <p:spPr>
          <a:xfrm>
            <a:off x="457200" y="4544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Exam tip: read the WHOLE sentence first → find the clue → cross out the two wrong answers → then choose.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2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2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230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a, b or c?</a:t>
            </a:r>
            <a:endParaRPr lang="en-US" sz="2500" dirty="0"/>
          </a:p>
        </p:txBody>
      </p:sp>
      <p:pic>
        <p:nvPicPr>
          <p:cNvPr id="6" name="brP_23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424428" cy="402336"/>
          </a:xfrm>
          <a:prstGeom prst="rect">
            <a:avLst/>
          </a:prstGeom>
        </p:spPr>
      </p:pic>
      <p:sp>
        <p:nvSpPr>
          <p:cNvPr id="7" name="ins_232"/>
          <p:cNvSpPr/>
          <p:nvPr/>
        </p:nvSpPr>
        <p:spPr>
          <a:xfrm>
            <a:off x="1353312" y="731520"/>
            <a:ext cx="31683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the tips! Choose a, b or c.</a:t>
            </a:r>
            <a:endParaRPr lang="en-US" sz="1250" dirty="0"/>
          </a:p>
        </p:txBody>
      </p:sp>
      <p:sp>
        <p:nvSpPr>
          <p:cNvPr id="8" name="insIT_233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 i consigli! Scegli a, b o c.</a:t>
            </a:r>
            <a:endParaRPr lang="en-US" sz="950" dirty="0"/>
          </a:p>
        </p:txBody>
      </p:sp>
      <p:sp>
        <p:nvSpPr>
          <p:cNvPr id="9" name="cmd_234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CONTROLLA</a:t>
            </a:r>
            <a:endParaRPr lang="en-US" sz="1100" dirty="0"/>
          </a:p>
        </p:txBody>
      </p:sp>
      <p:sp>
        <p:nvSpPr>
          <p:cNvPr id="10" name="meta_235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pic>
        <p:nvPicPr>
          <p:cNvPr id="11" name="logo_23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2" name="foot_23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R1-2 · Exam practice · second attempt   ·   📖 New items in the SB p.24 format (written for LLS)</a:t>
            </a:r>
            <a:endParaRPr lang="en-US" sz="800" dirty="0"/>
          </a:p>
        </p:txBody>
      </p:sp>
      <p:sp>
        <p:nvSpPr>
          <p:cNvPr id="13" name="cd_238"/>
          <p:cNvSpPr/>
          <p:nvPr/>
        </p:nvSpPr>
        <p:spPr>
          <a:xfrm>
            <a:off x="320040" y="1417320"/>
            <a:ext cx="2697480" cy="1911096"/>
          </a:xfrm>
          <a:prstGeom prst="roundRect">
            <a:avLst>
              <a:gd name="adj" fmla="val 6699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4" name="ii_23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5" name="ih_240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colours</a:t>
            </a:r>
            <a:endParaRPr lang="en-US" sz="1300" dirty="0"/>
          </a:p>
        </p:txBody>
      </p:sp>
      <p:sp>
        <p:nvSpPr>
          <p:cNvPr id="16" name="il_241"/>
          <p:cNvSpPr/>
          <p:nvPr/>
        </p:nvSpPr>
        <p:spPr>
          <a:xfrm>
            <a:off x="886968" y="1892808"/>
            <a:ext cx="203911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17" name="lg_242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1050" dirty="0"/>
          </a:p>
        </p:txBody>
      </p:sp>
      <p:sp>
        <p:nvSpPr>
          <p:cNvPr id="18" name="lg_243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</a:t>
            </a:r>
            <a:endParaRPr lang="en-US" sz="1050" dirty="0"/>
          </a:p>
        </p:txBody>
      </p:sp>
      <p:sp>
        <p:nvSpPr>
          <p:cNvPr id="19" name="lg_244"/>
          <p:cNvSpPr/>
          <p:nvPr/>
        </p:nvSpPr>
        <p:spPr>
          <a:xfrm>
            <a:off x="457200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</a:t>
            </a:r>
            <a:endParaRPr lang="en-US" sz="1050" dirty="0"/>
          </a:p>
        </p:txBody>
      </p:sp>
      <p:sp>
        <p:nvSpPr>
          <p:cNvPr id="20" name="sq_245"/>
          <p:cNvSpPr/>
          <p:nvPr/>
        </p:nvSpPr>
        <p:spPr>
          <a:xfrm>
            <a:off x="3246120" y="1417320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This soup ___ amazing!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is tasting · b tastes · c taste</a:t>
            </a:r>
            <a:endParaRPr lang="en-US" sz="1200" dirty="0"/>
          </a:p>
        </p:txBody>
      </p:sp>
      <p:sp>
        <p:nvSpPr>
          <p:cNvPr id="21" name="R1_tag246"/>
          <p:cNvSpPr/>
          <p:nvPr/>
        </p:nvSpPr>
        <p:spPr>
          <a:xfrm>
            <a:off x="7178040" y="1417320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</a:t>
            </a:r>
            <a:endParaRPr lang="en-US" sz="1150" dirty="0"/>
          </a:p>
        </p:txBody>
      </p:sp>
      <p:sp>
        <p:nvSpPr>
          <p:cNvPr id="22" name="sq_247"/>
          <p:cNvSpPr/>
          <p:nvPr/>
        </p:nvSpPr>
        <p:spPr>
          <a:xfrm>
            <a:off x="3246120" y="1956816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Free on Friday? – No, ___ my nonna.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I visit · b I'm visiting · c I'll visit</a:t>
            </a:r>
            <a:endParaRPr lang="en-US" sz="1200" dirty="0"/>
          </a:p>
        </p:txBody>
      </p:sp>
      <p:sp>
        <p:nvSpPr>
          <p:cNvPr id="23" name="R2_tag248"/>
          <p:cNvSpPr/>
          <p:nvPr/>
        </p:nvSpPr>
        <p:spPr>
          <a:xfrm>
            <a:off x="7178040" y="1956816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</a:t>
            </a:r>
            <a:endParaRPr lang="en-US" sz="1150" dirty="0"/>
          </a:p>
        </p:txBody>
      </p:sp>
      <p:sp>
        <p:nvSpPr>
          <p:cNvPr id="24" name="sq_249"/>
          <p:cNvSpPr/>
          <p:nvPr/>
        </p:nvSpPr>
        <p:spPr>
          <a:xfrm>
            <a:off x="3246120" y="2496312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I ___ my keys yesterday.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've lost · b lost · c lose</a:t>
            </a:r>
            <a:endParaRPr lang="en-US" sz="1200" dirty="0"/>
          </a:p>
        </p:txBody>
      </p:sp>
      <p:sp>
        <p:nvSpPr>
          <p:cNvPr id="25" name="R3_tag250"/>
          <p:cNvSpPr/>
          <p:nvPr/>
        </p:nvSpPr>
        <p:spPr>
          <a:xfrm>
            <a:off x="7178040" y="2496312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</a:t>
            </a:r>
            <a:endParaRPr lang="en-US" sz="1150" dirty="0"/>
          </a:p>
        </p:txBody>
      </p:sp>
      <p:sp>
        <p:nvSpPr>
          <p:cNvPr id="26" name="sq_251"/>
          <p:cNvSpPr/>
          <p:nvPr/>
        </p:nvSpPr>
        <p:spPr>
          <a:xfrm>
            <a:off x="3246120" y="3035808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 We ___ this car for ten years.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've had · b have · c 're having</a:t>
            </a:r>
            <a:endParaRPr lang="en-US" sz="1200" dirty="0"/>
          </a:p>
        </p:txBody>
      </p:sp>
      <p:sp>
        <p:nvSpPr>
          <p:cNvPr id="27" name="R4_tag252"/>
          <p:cNvSpPr/>
          <p:nvPr/>
        </p:nvSpPr>
        <p:spPr>
          <a:xfrm>
            <a:off x="7178040" y="3035808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1150" dirty="0"/>
          </a:p>
        </p:txBody>
      </p:sp>
      <p:sp>
        <p:nvSpPr>
          <p:cNvPr id="28" name="sq_253"/>
          <p:cNvSpPr/>
          <p:nvPr/>
        </p:nvSpPr>
        <p:spPr>
          <a:xfrm>
            <a:off x="3246120" y="3575304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 It's hot in here. ___ open the window?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Shall I · b Will I · c Do I</a:t>
            </a:r>
            <a:endParaRPr lang="en-US" sz="1200" dirty="0"/>
          </a:p>
        </p:txBody>
      </p:sp>
      <p:sp>
        <p:nvSpPr>
          <p:cNvPr id="29" name="R5_tag254"/>
          <p:cNvSpPr/>
          <p:nvPr/>
        </p:nvSpPr>
        <p:spPr>
          <a:xfrm>
            <a:off x="7178040" y="3575304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1150" dirty="0"/>
          </a:p>
        </p:txBody>
      </p:sp>
      <p:sp>
        <p:nvSpPr>
          <p:cNvPr id="30" name="sq_255"/>
          <p:cNvSpPr/>
          <p:nvPr/>
        </p:nvSpPr>
        <p:spPr>
          <a:xfrm>
            <a:off x="3246120" y="4114800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 How long ___ for the bus? – 20 minutes!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are you waiting · b have you been waiting · c do you wait</a:t>
            </a:r>
            <a:endParaRPr lang="en-US" sz="900" dirty="0"/>
          </a:p>
        </p:txBody>
      </p:sp>
      <p:sp>
        <p:nvSpPr>
          <p:cNvPr id="31" name="R6_tag256"/>
          <p:cNvSpPr/>
          <p:nvPr/>
        </p:nvSpPr>
        <p:spPr>
          <a:xfrm>
            <a:off x="7178040" y="4114800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</a:t>
            </a:r>
            <a:endParaRPr lang="en-US" sz="1150" dirty="0"/>
          </a:p>
        </p:txBody>
      </p:sp>
      <p:sp>
        <p:nvSpPr>
          <p:cNvPr id="32" name="pf_257"/>
          <p:cNvSpPr/>
          <p:nvPr/>
        </p:nvSpPr>
        <p:spPr>
          <a:xfrm rot="-120000">
            <a:off x="411480" y="3703320"/>
            <a:ext cx="2514600" cy="1051560"/>
          </a:xfrm>
          <a:prstGeom prst="roundRect">
            <a:avLst>
              <a:gd name="adj" fmla="val 147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3" name="ph_258" descr="/home/claude/lls-course/v2/cache/spare_work_teamwork_jpg_583x23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57200" y="3749040"/>
            <a:ext cx="2423160" cy="9601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5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6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261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Grammar auction</a:t>
            </a:r>
            <a:endParaRPr lang="en-US" sz="2400" dirty="0"/>
          </a:p>
        </p:txBody>
      </p:sp>
      <p:pic>
        <p:nvPicPr>
          <p:cNvPr id="6" name="brP_26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032504" cy="402336"/>
          </a:xfrm>
          <a:prstGeom prst="rect">
            <a:avLst/>
          </a:prstGeom>
        </p:spPr>
      </p:pic>
      <p:sp>
        <p:nvSpPr>
          <p:cNvPr id="7" name="ins_263"/>
          <p:cNvSpPr/>
          <p:nvPr/>
        </p:nvSpPr>
        <p:spPr>
          <a:xfrm>
            <a:off x="1353312" y="731520"/>
            <a:ext cx="3776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have €1,000. Buy the CORRECT ones!</a:t>
            </a:r>
            <a:endParaRPr lang="en-US" sz="1250" dirty="0"/>
          </a:p>
        </p:txBody>
      </p:sp>
      <p:sp>
        <p:nvSpPr>
          <p:cNvPr id="8" name="insIT_264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Avete 1.000 €. Comprate quelle GIUSTE!</a:t>
            </a:r>
            <a:endParaRPr lang="en-US" sz="950" dirty="0"/>
          </a:p>
        </p:txBody>
      </p:sp>
      <p:sp>
        <p:nvSpPr>
          <p:cNvPr id="9" name="cmd_265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266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7 min   🏆 teams</a:t>
            </a:r>
            <a:endParaRPr lang="en-US" sz="950" dirty="0"/>
          </a:p>
        </p:txBody>
      </p:sp>
      <p:sp>
        <p:nvSpPr>
          <p:cNvPr id="11" name="tag_267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2" name="logo_26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6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R1-2 · Game · grammar auction   ·   📖 Review of Grammar Banks 1A, 1B, 2A, 2B · items 3, 6, 8 close to Grammar Bank examples</a:t>
            </a:r>
            <a:endParaRPr lang="en-US" sz="800" dirty="0"/>
          </a:p>
        </p:txBody>
      </p:sp>
      <p:sp>
        <p:nvSpPr>
          <p:cNvPr id="14" name="cd_270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71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6" name="ih_272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7" name="il_273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team has €1,000.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Ogni squadra ha 1.000 €.</a:t>
            </a:r>
            <a:endParaRPr lang="en-US" sz="10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 to buy the sentences you think are CORRECT.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Fate offerte per comprare le frasi che pensate siano GIUSTE.</a:t>
            </a:r>
            <a:endParaRPr lang="en-US" sz="10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team with the most correct sentences wins!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Vince chi ha più frasi giuste!</a:t>
            </a:r>
            <a:endParaRPr lang="en-US" sz="1000" dirty="0"/>
          </a:p>
        </p:txBody>
      </p:sp>
      <p:sp>
        <p:nvSpPr>
          <p:cNvPr id="18" name="pf_274"/>
          <p:cNvSpPr/>
          <p:nvPr/>
        </p:nvSpPr>
        <p:spPr>
          <a:xfrm rot="-120000">
            <a:off x="411480" y="3611880"/>
            <a:ext cx="2468880" cy="1143000"/>
          </a:xfrm>
          <a:prstGeom prst="roundRect">
            <a:avLst>
              <a:gd name="adj" fmla="val 1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sp>
        <p:nvSpPr>
          <p:cNvPr id="19" name="phx_275"/>
          <p:cNvSpPr/>
          <p:nvPr/>
        </p:nvSpPr>
        <p:spPr>
          <a:xfrm>
            <a:off x="457200" y="3657600"/>
            <a:ext cx="2377440" cy="1051560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r12-auction.jpg</a:t>
            </a:r>
            <a:endParaRPr lang="en-US" sz="900" dirty="0"/>
          </a:p>
        </p:txBody>
      </p:sp>
      <p:sp>
        <p:nvSpPr>
          <p:cNvPr id="20" name="bd_276"/>
          <p:cNvSpPr/>
          <p:nvPr/>
        </p:nvSpPr>
        <p:spPr>
          <a:xfrm>
            <a:off x="3246120" y="1423607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277"/>
          <p:cNvSpPr/>
          <p:nvPr/>
        </p:nvSpPr>
        <p:spPr>
          <a:xfrm>
            <a:off x="3657600" y="141732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not liking this soup – it's too salty.</a:t>
            </a:r>
            <a:endParaRPr lang="en-US" sz="950" dirty="0"/>
          </a:p>
        </p:txBody>
      </p:sp>
      <p:sp>
        <p:nvSpPr>
          <p:cNvPr id="22" name="R1_chip278"/>
          <p:cNvSpPr/>
          <p:nvPr/>
        </p:nvSpPr>
        <p:spPr>
          <a:xfrm>
            <a:off x="6263640" y="141732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✗ I don't like this soup.</a:t>
            </a:r>
            <a:endParaRPr lang="en-US" sz="1100" dirty="0"/>
          </a:p>
        </p:txBody>
      </p:sp>
      <p:sp>
        <p:nvSpPr>
          <p:cNvPr id="23" name="bd_279"/>
          <p:cNvSpPr/>
          <p:nvPr/>
        </p:nvSpPr>
        <p:spPr>
          <a:xfrm>
            <a:off x="3246120" y="1829372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280"/>
          <p:cNvSpPr/>
          <p:nvPr/>
        </p:nvSpPr>
        <p:spPr>
          <a:xfrm>
            <a:off x="3657600" y="182308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We're having dinner with my in-laws on Saturday.</a:t>
            </a:r>
            <a:endParaRPr lang="en-US" sz="950" dirty="0"/>
          </a:p>
        </p:txBody>
      </p:sp>
      <p:sp>
        <p:nvSpPr>
          <p:cNvPr id="25" name="R2_chip281"/>
          <p:cNvSpPr/>
          <p:nvPr/>
        </p:nvSpPr>
        <p:spPr>
          <a:xfrm>
            <a:off x="6263640" y="182308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✓ arrangement</a:t>
            </a:r>
            <a:endParaRPr lang="en-US" sz="1100" dirty="0"/>
          </a:p>
        </p:txBody>
      </p:sp>
      <p:sp>
        <p:nvSpPr>
          <p:cNvPr id="26" name="bd_282"/>
          <p:cNvSpPr/>
          <p:nvPr/>
        </p:nvSpPr>
        <p:spPr>
          <a:xfrm>
            <a:off x="3246120" y="2235137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283"/>
          <p:cNvSpPr/>
          <p:nvPr/>
        </p:nvSpPr>
        <p:spPr>
          <a:xfrm>
            <a:off x="3657600" y="222885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the sky! It's going to rain.</a:t>
            </a:r>
            <a:endParaRPr lang="en-US" sz="1000" dirty="0"/>
          </a:p>
        </p:txBody>
      </p:sp>
      <p:sp>
        <p:nvSpPr>
          <p:cNvPr id="28" name="R3_chip284"/>
          <p:cNvSpPr/>
          <p:nvPr/>
        </p:nvSpPr>
        <p:spPr>
          <a:xfrm>
            <a:off x="6263640" y="222885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✓ prediction – you can see it</a:t>
            </a:r>
            <a:endParaRPr lang="en-US" sz="1050" dirty="0"/>
          </a:p>
        </p:txBody>
      </p:sp>
      <p:sp>
        <p:nvSpPr>
          <p:cNvPr id="29" name="bd_285"/>
          <p:cNvSpPr/>
          <p:nvPr/>
        </p:nvSpPr>
        <p:spPr>
          <a:xfrm>
            <a:off x="3246120" y="2640901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286"/>
          <p:cNvSpPr/>
          <p:nvPr/>
        </p:nvSpPr>
        <p:spPr>
          <a:xfrm>
            <a:off x="3657600" y="263461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carry your bag for you.</a:t>
            </a:r>
            <a:endParaRPr lang="en-US" sz="1100" dirty="0"/>
          </a:p>
        </p:txBody>
      </p:sp>
      <p:sp>
        <p:nvSpPr>
          <p:cNvPr id="31" name="R4_chip287"/>
          <p:cNvSpPr/>
          <p:nvPr/>
        </p:nvSpPr>
        <p:spPr>
          <a:xfrm>
            <a:off x="6263640" y="263461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✗ I'll carry your bag. (offer)</a:t>
            </a:r>
            <a:endParaRPr lang="en-US" sz="1100" dirty="0"/>
          </a:p>
        </p:txBody>
      </p:sp>
      <p:sp>
        <p:nvSpPr>
          <p:cNvPr id="32" name="bd_288"/>
          <p:cNvSpPr/>
          <p:nvPr/>
        </p:nvSpPr>
        <p:spPr>
          <a:xfrm>
            <a:off x="3246120" y="3046667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289"/>
          <p:cNvSpPr/>
          <p:nvPr/>
        </p:nvSpPr>
        <p:spPr>
          <a:xfrm>
            <a:off x="3657600" y="304038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I've been to London last year.</a:t>
            </a:r>
            <a:endParaRPr lang="en-US" sz="1100" dirty="0"/>
          </a:p>
        </p:txBody>
      </p:sp>
      <p:sp>
        <p:nvSpPr>
          <p:cNvPr id="34" name="R5_chip290"/>
          <p:cNvSpPr/>
          <p:nvPr/>
        </p:nvSpPr>
        <p:spPr>
          <a:xfrm>
            <a:off x="6263640" y="304038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✗ I went to London last year.</a:t>
            </a:r>
            <a:endParaRPr lang="en-US" sz="1050" dirty="0"/>
          </a:p>
        </p:txBody>
      </p:sp>
      <p:sp>
        <p:nvSpPr>
          <p:cNvPr id="35" name="bd_291"/>
          <p:cNvSpPr/>
          <p:nvPr/>
        </p:nvSpPr>
        <p:spPr>
          <a:xfrm>
            <a:off x="3246120" y="3452432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gq_292"/>
          <p:cNvSpPr/>
          <p:nvPr/>
        </p:nvSpPr>
        <p:spPr>
          <a:xfrm>
            <a:off x="3657600" y="344614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lost your credit card?</a:t>
            </a:r>
            <a:endParaRPr lang="en-US" sz="950" dirty="0"/>
          </a:p>
        </p:txBody>
      </p:sp>
      <p:sp>
        <p:nvSpPr>
          <p:cNvPr id="37" name="R6_chip293"/>
          <p:cNvSpPr/>
          <p:nvPr/>
        </p:nvSpPr>
        <p:spPr>
          <a:xfrm>
            <a:off x="6263640" y="344614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✓ experience – no time</a:t>
            </a:r>
            <a:endParaRPr lang="en-US" sz="1100" dirty="0"/>
          </a:p>
        </p:txBody>
      </p:sp>
      <p:sp>
        <p:nvSpPr>
          <p:cNvPr id="38" name="bd_294"/>
          <p:cNvSpPr/>
          <p:nvPr/>
        </p:nvSpPr>
        <p:spPr>
          <a:xfrm>
            <a:off x="3246120" y="3858196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gq_295"/>
          <p:cNvSpPr/>
          <p:nvPr/>
        </p:nvSpPr>
        <p:spPr>
          <a:xfrm>
            <a:off x="3657600" y="385191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long do you live in Bagheria?</a:t>
            </a:r>
            <a:endParaRPr lang="en-US" sz="950" dirty="0"/>
          </a:p>
        </p:txBody>
      </p:sp>
      <p:sp>
        <p:nvSpPr>
          <p:cNvPr id="40" name="R7_chip296"/>
          <p:cNvSpPr/>
          <p:nvPr/>
        </p:nvSpPr>
        <p:spPr>
          <a:xfrm>
            <a:off x="6263640" y="385191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✗ How long have you lived / been living…?</a:t>
            </a:r>
            <a:endParaRPr lang="en-US" sz="950" dirty="0"/>
          </a:p>
        </p:txBody>
      </p:sp>
      <p:sp>
        <p:nvSpPr>
          <p:cNvPr id="41" name="bd_297"/>
          <p:cNvSpPr/>
          <p:nvPr/>
        </p:nvSpPr>
        <p:spPr>
          <a:xfrm>
            <a:off x="3246120" y="4263962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100" dirty="0"/>
          </a:p>
        </p:txBody>
      </p:sp>
      <p:sp>
        <p:nvSpPr>
          <p:cNvPr id="42" name="gq_298"/>
          <p:cNvSpPr/>
          <p:nvPr/>
        </p:nvSpPr>
        <p:spPr>
          <a:xfrm>
            <a:off x="3657600" y="425767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eyes are red. Have you been crying?</a:t>
            </a:r>
            <a:endParaRPr lang="en-US" sz="950" dirty="0"/>
          </a:p>
        </p:txBody>
      </p:sp>
      <p:sp>
        <p:nvSpPr>
          <p:cNvPr id="43" name="R8_chip299"/>
          <p:cNvSpPr/>
          <p:nvPr/>
        </p:nvSpPr>
        <p:spPr>
          <a:xfrm>
            <a:off x="6263640" y="425767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✓ recent action, you can see it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0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30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302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Noughts and crosses</a:t>
            </a:r>
            <a:endParaRPr lang="en-US" sz="2400" dirty="0"/>
          </a:p>
        </p:txBody>
      </p:sp>
      <p:pic>
        <p:nvPicPr>
          <p:cNvPr id="6" name="brP_30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685032" cy="402336"/>
          </a:xfrm>
          <a:prstGeom prst="rect">
            <a:avLst/>
          </a:prstGeom>
        </p:spPr>
      </p:pic>
      <p:sp>
        <p:nvSpPr>
          <p:cNvPr id="7" name="ins_304"/>
          <p:cNvSpPr/>
          <p:nvPr/>
        </p:nvSpPr>
        <p:spPr>
          <a:xfrm>
            <a:off x="1353312" y="7315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Choose a square. Answer to win it!</a:t>
            </a:r>
            <a:endParaRPr lang="en-US" sz="1250" dirty="0"/>
          </a:p>
        </p:txBody>
      </p:sp>
      <p:sp>
        <p:nvSpPr>
          <p:cNvPr id="8" name="insIT_305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Scegliete un quadrato. Rispondete per vincerlo!</a:t>
            </a:r>
            <a:endParaRPr lang="en-US" sz="950" dirty="0"/>
          </a:p>
        </p:txBody>
      </p:sp>
      <p:sp>
        <p:nvSpPr>
          <p:cNvPr id="9" name="cmd_306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307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🏆 teams</a:t>
            </a:r>
            <a:endParaRPr lang="en-US" sz="950" dirty="0"/>
          </a:p>
        </p:txBody>
      </p:sp>
      <p:sp>
        <p:nvSpPr>
          <p:cNvPr id="11" name="tag_308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2" name="logo_30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31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R1-2 · Game · vocabulary · noughts and crosses   ·   📖 Review of Vocabulary Banks Food and cooking p.152, Personality p.153, Money p.154 · family (1B)</a:t>
            </a:r>
            <a:endParaRPr lang="en-US" sz="700" dirty="0"/>
          </a:p>
        </p:txBody>
      </p:sp>
      <p:sp>
        <p:nvSpPr>
          <p:cNvPr id="14" name="cd_311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12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6" name="ih_313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7" name="il_314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X or O chooses a square 1–9.</a:t>
            </a:r>
            <a:endParaRPr lang="en-US" sz="9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squadra X o O sceglie un quadrato 1–9.</a:t>
            </a:r>
            <a:endParaRPr lang="en-US" sz="9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in 15 seconds = your square.</a:t>
            </a:r>
            <a:endParaRPr lang="en-US" sz="9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Risposta in 15 secondi = il quadrato è vostro.</a:t>
            </a:r>
            <a:endParaRPr lang="en-US" sz="9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in a row wins!</a:t>
            </a:r>
            <a:endParaRPr lang="en-US" sz="9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 in fila vince!</a:t>
            </a:r>
            <a:endParaRPr lang="en-US" sz="900" dirty="0"/>
          </a:p>
        </p:txBody>
      </p:sp>
      <p:sp>
        <p:nvSpPr>
          <p:cNvPr id="18" name="st_315"/>
          <p:cNvSpPr/>
          <p:nvPr/>
        </p:nvSpPr>
        <p:spPr>
          <a:xfrm rot="-180000">
            <a:off x="502920" y="3703320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9" name="bd_316"/>
          <p:cNvSpPr/>
          <p:nvPr/>
        </p:nvSpPr>
        <p:spPr>
          <a:xfrm>
            <a:off x="3246120" y="140106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gq_317"/>
          <p:cNvSpPr/>
          <p:nvPr/>
        </p:nvSpPr>
        <p:spPr>
          <a:xfrm>
            <a:off x="3657600" y="141732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kinds of seafood</a:t>
            </a:r>
            <a:endParaRPr lang="en-US" sz="1100" dirty="0"/>
          </a:p>
        </p:txBody>
      </p:sp>
      <p:sp>
        <p:nvSpPr>
          <p:cNvPr id="21" name="R1_chip318"/>
          <p:cNvSpPr/>
          <p:nvPr/>
        </p:nvSpPr>
        <p:spPr>
          <a:xfrm>
            <a:off x="6263640" y="141732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e.g. crab · mussels · prawns · squid</a:t>
            </a:r>
            <a:endParaRPr lang="en-US" sz="900" dirty="0"/>
          </a:p>
        </p:txBody>
      </p:sp>
      <p:sp>
        <p:nvSpPr>
          <p:cNvPr id="22" name="bd_319"/>
          <p:cNvSpPr/>
          <p:nvPr/>
        </p:nvSpPr>
        <p:spPr>
          <a:xfrm>
            <a:off x="3246120" y="176174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gq_320"/>
          <p:cNvSpPr/>
          <p:nvPr/>
        </p:nvSpPr>
        <p:spPr>
          <a:xfrm>
            <a:off x="3657600" y="177800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ways of cooking</a:t>
            </a:r>
            <a:endParaRPr lang="en-US" sz="1100" dirty="0"/>
          </a:p>
        </p:txBody>
      </p:sp>
      <p:sp>
        <p:nvSpPr>
          <p:cNvPr id="24" name="R2_chip321"/>
          <p:cNvSpPr/>
          <p:nvPr/>
        </p:nvSpPr>
        <p:spPr>
          <a:xfrm>
            <a:off x="6263640" y="177800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e.g. fried · grilled · steamed · roast · boiled · baked</a:t>
            </a:r>
            <a:endParaRPr lang="en-US" sz="800" dirty="0"/>
          </a:p>
        </p:txBody>
      </p:sp>
      <p:sp>
        <p:nvSpPr>
          <p:cNvPr id="25" name="bd_322"/>
          <p:cNvSpPr/>
          <p:nvPr/>
        </p:nvSpPr>
        <p:spPr>
          <a:xfrm>
            <a:off x="3246120" y="212242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gq_323"/>
          <p:cNvSpPr/>
          <p:nvPr/>
        </p:nvSpPr>
        <p:spPr>
          <a:xfrm>
            <a:off x="3657600" y="213868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Opposites: patient · mature · honest</a:t>
            </a:r>
            <a:endParaRPr lang="en-US" sz="900" dirty="0"/>
          </a:p>
        </p:txBody>
      </p:sp>
      <p:sp>
        <p:nvSpPr>
          <p:cNvPr id="27" name="R3_chip324"/>
          <p:cNvSpPr/>
          <p:nvPr/>
        </p:nvSpPr>
        <p:spPr>
          <a:xfrm>
            <a:off x="6263640" y="213868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impatient · immature · dishonest</a:t>
            </a:r>
            <a:endParaRPr lang="en-US" sz="950" dirty="0"/>
          </a:p>
        </p:txBody>
      </p:sp>
      <p:sp>
        <p:nvSpPr>
          <p:cNvPr id="28" name="bd_325"/>
          <p:cNvSpPr/>
          <p:nvPr/>
        </p:nvSpPr>
        <p:spPr>
          <a:xfrm>
            <a:off x="3246120" y="2483104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gq_326"/>
          <p:cNvSpPr/>
          <p:nvPr/>
        </p:nvSpPr>
        <p:spPr>
          <a:xfrm>
            <a:off x="3657600" y="249936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I ___ your pen? (lend or borrow?)</a:t>
            </a:r>
            <a:endParaRPr lang="en-US" sz="900" dirty="0"/>
          </a:p>
        </p:txBody>
      </p:sp>
      <p:sp>
        <p:nvSpPr>
          <p:cNvPr id="30" name="R4_chip327"/>
          <p:cNvSpPr/>
          <p:nvPr/>
        </p:nvSpPr>
        <p:spPr>
          <a:xfrm>
            <a:off x="6263640" y="249936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borrow</a:t>
            </a:r>
            <a:endParaRPr lang="en-US" sz="1100" dirty="0"/>
          </a:p>
        </p:txBody>
      </p:sp>
      <p:sp>
        <p:nvSpPr>
          <p:cNvPr id="31" name="bd_328"/>
          <p:cNvSpPr/>
          <p:nvPr/>
        </p:nvSpPr>
        <p:spPr>
          <a:xfrm>
            <a:off x="3246120" y="284378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gq_329"/>
          <p:cNvSpPr/>
          <p:nvPr/>
        </p:nvSpPr>
        <p:spPr>
          <a:xfrm>
            <a:off x="3657600" y="286004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a mortgage?</a:t>
            </a:r>
            <a:endParaRPr lang="en-US" sz="1100" dirty="0"/>
          </a:p>
        </p:txBody>
      </p:sp>
      <p:sp>
        <p:nvSpPr>
          <p:cNvPr id="33" name="R5_chip330"/>
          <p:cNvSpPr/>
          <p:nvPr/>
        </p:nvSpPr>
        <p:spPr>
          <a:xfrm>
            <a:off x="6263640" y="286004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 bank loan to buy a house or flat</a:t>
            </a:r>
            <a:endParaRPr lang="en-US" sz="950" dirty="0"/>
          </a:p>
        </p:txBody>
      </p:sp>
      <p:sp>
        <p:nvSpPr>
          <p:cNvPr id="34" name="bd_331"/>
          <p:cNvSpPr/>
          <p:nvPr/>
        </p:nvSpPr>
        <p:spPr>
          <a:xfrm>
            <a:off x="3246120" y="320446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gq_332"/>
          <p:cNvSpPr/>
          <p:nvPr/>
        </p:nvSpPr>
        <p:spPr>
          <a:xfrm>
            <a:off x="3657600" y="322072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dad's new wife is your…</a:t>
            </a:r>
            <a:endParaRPr lang="en-US" sz="1100" dirty="0"/>
          </a:p>
        </p:txBody>
      </p:sp>
      <p:sp>
        <p:nvSpPr>
          <p:cNvPr id="36" name="R6_chip333"/>
          <p:cNvSpPr/>
          <p:nvPr/>
        </p:nvSpPr>
        <p:spPr>
          <a:xfrm>
            <a:off x="6263640" y="322072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stepmother</a:t>
            </a:r>
            <a:endParaRPr lang="en-US" sz="1100" dirty="0"/>
          </a:p>
        </p:txBody>
      </p:sp>
      <p:sp>
        <p:nvSpPr>
          <p:cNvPr id="37" name="bd_334"/>
          <p:cNvSpPr/>
          <p:nvPr/>
        </p:nvSpPr>
        <p:spPr>
          <a:xfrm>
            <a:off x="3246120" y="356514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gq_335"/>
          <p:cNvSpPr/>
          <p:nvPr/>
        </p:nvSpPr>
        <p:spPr>
          <a:xfrm>
            <a:off x="3657600" y="358140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person who always wants to win is…</a:t>
            </a:r>
            <a:endParaRPr lang="en-US" sz="850" dirty="0"/>
          </a:p>
        </p:txBody>
      </p:sp>
      <p:sp>
        <p:nvSpPr>
          <p:cNvPr id="39" name="R7_chip336"/>
          <p:cNvSpPr/>
          <p:nvPr/>
        </p:nvSpPr>
        <p:spPr>
          <a:xfrm>
            <a:off x="6263640" y="358140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competitive</a:t>
            </a:r>
            <a:endParaRPr lang="en-US" sz="1100" dirty="0"/>
          </a:p>
        </p:txBody>
      </p:sp>
      <p:sp>
        <p:nvSpPr>
          <p:cNvPr id="40" name="bd_337"/>
          <p:cNvSpPr/>
          <p:nvPr/>
        </p:nvSpPr>
        <p:spPr>
          <a:xfrm>
            <a:off x="3246120" y="3925824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gq_338"/>
          <p:cNvSpPr/>
          <p:nvPr/>
        </p:nvSpPr>
        <p:spPr>
          <a:xfrm>
            <a:off x="3657600" y="394208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Phrasal verbs: eat ___ · cut ___ on</a:t>
            </a:r>
            <a:endParaRPr lang="en-US" sz="950" dirty="0"/>
          </a:p>
        </p:txBody>
      </p:sp>
      <p:sp>
        <p:nvSpPr>
          <p:cNvPr id="42" name="R8_chip339"/>
          <p:cNvSpPr/>
          <p:nvPr/>
        </p:nvSpPr>
        <p:spPr>
          <a:xfrm>
            <a:off x="6263640" y="394208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out (restaurant) · down (eat less)</a:t>
            </a:r>
            <a:endParaRPr lang="en-US" sz="950" dirty="0"/>
          </a:p>
        </p:txBody>
      </p:sp>
      <p:sp>
        <p:nvSpPr>
          <p:cNvPr id="43" name="bd_340"/>
          <p:cNvSpPr/>
          <p:nvPr/>
        </p:nvSpPr>
        <p:spPr>
          <a:xfrm>
            <a:off x="3246120" y="428650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1100" dirty="0"/>
          </a:p>
        </p:txBody>
      </p:sp>
      <p:sp>
        <p:nvSpPr>
          <p:cNvPr id="44" name="gq_341"/>
          <p:cNvSpPr/>
          <p:nvPr/>
        </p:nvSpPr>
        <p:spPr>
          <a:xfrm>
            <a:off x="3657600" y="430276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brother's son is your…</a:t>
            </a:r>
            <a:endParaRPr lang="en-US" sz="1100" dirty="0"/>
          </a:p>
        </p:txBody>
      </p:sp>
      <p:sp>
        <p:nvSpPr>
          <p:cNvPr id="45" name="R9_chip342"/>
          <p:cNvSpPr/>
          <p:nvPr/>
        </p:nvSpPr>
        <p:spPr>
          <a:xfrm>
            <a:off x="6263640" y="430276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nephew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4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34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345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Street interview: you!</a:t>
            </a:r>
            <a:endParaRPr lang="en-US" sz="2500" dirty="0"/>
          </a:p>
        </p:txBody>
      </p:sp>
      <p:pic>
        <p:nvPicPr>
          <p:cNvPr id="6" name="brP_34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163824" cy="402336"/>
          </a:xfrm>
          <a:prstGeom prst="rect">
            <a:avLst/>
          </a:prstGeom>
        </p:spPr>
      </p:pic>
      <p:sp>
        <p:nvSpPr>
          <p:cNvPr id="7" name="ins_347"/>
          <p:cNvSpPr/>
          <p:nvPr/>
        </p:nvSpPr>
        <p:spPr>
          <a:xfrm>
            <a:off x="1353312" y="731520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your partner. Then swap.</a:t>
            </a:r>
            <a:endParaRPr lang="en-US" sz="1250" dirty="0"/>
          </a:p>
        </p:txBody>
      </p:sp>
      <p:sp>
        <p:nvSpPr>
          <p:cNvPr id="8" name="insIT_348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 le domande al compagno. Poi scambiatevi.</a:t>
            </a:r>
            <a:endParaRPr lang="en-US" sz="950" dirty="0"/>
          </a:p>
        </p:txBody>
      </p:sp>
      <p:sp>
        <p:nvSpPr>
          <p:cNvPr id="9" name="cmd_349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0" name="meta_350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1" name="tag_351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</a:t>
            </a:r>
            <a:endParaRPr lang="en-US" sz="850" dirty="0"/>
          </a:p>
        </p:txBody>
      </p:sp>
      <p:pic>
        <p:nvPicPr>
          <p:cNvPr id="12" name="logo_35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35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R1-2 · Speaking · before you listen   ·   📖 SB p.25 · the interviewer's questions from 2.21</a:t>
            </a:r>
            <a:endParaRPr lang="en-US" sz="800" dirty="0"/>
          </a:p>
        </p:txBody>
      </p:sp>
      <p:sp>
        <p:nvSpPr>
          <p:cNvPr id="14" name="pf_354"/>
          <p:cNvSpPr/>
          <p:nvPr/>
        </p:nvSpPr>
        <p:spPr>
          <a:xfrm rot="-120000">
            <a:off x="320040" y="1371600"/>
            <a:ext cx="2788920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355" descr="/home/claude/lls-course/v2/cache/1a1_vox_pop_jpg_649x42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783080"/>
          </a:xfrm>
          <a:prstGeom prst="rect">
            <a:avLst/>
          </a:prstGeom>
        </p:spPr>
      </p:pic>
      <p:sp>
        <p:nvSpPr>
          <p:cNvPr id="16" name="cd_356"/>
          <p:cNvSpPr/>
          <p:nvPr/>
        </p:nvSpPr>
        <p:spPr>
          <a:xfrm>
            <a:off x="320040" y="3429000"/>
            <a:ext cx="2788920" cy="1325880"/>
          </a:xfrm>
          <a:prstGeom prst="roundRect">
            <a:avLst>
              <a:gd name="adj" fmla="val 9655"/>
            </a:avLst>
          </a:prstGeom>
          <a:solidFill>
            <a:srgbClr val="EEE8FB"/>
          </a:solidFill>
          <a:ln w="19050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357"/>
          <p:cNvSpPr/>
          <p:nvPr/>
        </p:nvSpPr>
        <p:spPr>
          <a:xfrm>
            <a:off x="411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ih_358"/>
          <p:cNvSpPr/>
          <p:nvPr/>
        </p:nvSpPr>
        <p:spPr>
          <a:xfrm>
            <a:off x="88696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9" name="il_359"/>
          <p:cNvSpPr/>
          <p:nvPr/>
        </p:nvSpPr>
        <p:spPr>
          <a:xfrm>
            <a:off x="886968" y="3904488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often – maybe once a month.</a:t>
            </a:r>
            <a:endParaRPr lang="en-US" sz="10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Yes, I have! / No, never.</a:t>
            </a:r>
            <a:endParaRPr lang="en-US" sz="10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I'd rather not say.</a:t>
            </a:r>
            <a:endParaRPr lang="en-US" sz="1050" dirty="0"/>
          </a:p>
        </p:txBody>
      </p:sp>
      <p:sp>
        <p:nvSpPr>
          <p:cNvPr id="20" name="R1_qb360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R1_sq361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eat to cheer yourself up when you're feeling sad?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Chocolate – or my mum's arancine!</a:t>
            </a:r>
            <a:endParaRPr lang="en-US" sz="1100" dirty="0"/>
          </a:p>
        </p:txBody>
      </p:sp>
      <p:sp>
        <p:nvSpPr>
          <p:cNvPr id="22" name="R2_qb362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R2_sq363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often do you eat out? Where do you go?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About once a week – usually pizza with friends.</a:t>
            </a:r>
            <a:endParaRPr lang="en-US" sz="1250" dirty="0"/>
          </a:p>
        </p:txBody>
      </p:sp>
      <p:sp>
        <p:nvSpPr>
          <p:cNvPr id="24" name="R3_qb364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R3_sq365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get on well with your brothers and sisters (or cousins)?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Yes, most of the time – but my sister is SO bossy!</a:t>
            </a:r>
            <a:endParaRPr lang="en-US" sz="1100" dirty="0"/>
          </a:p>
        </p:txBody>
      </p:sp>
      <p:sp>
        <p:nvSpPr>
          <p:cNvPr id="26" name="R4_qb366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R4_sq367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won any money? What did you do with it?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Yes, €20 in a raffle. I spent it on a takeaway!</a:t>
            </a:r>
            <a:endParaRPr lang="en-US" sz="1250" dirty="0"/>
          </a:p>
        </p:txBody>
      </p:sp>
      <p:sp>
        <p:nvSpPr>
          <p:cNvPr id="28" name="R5_qb368"/>
          <p:cNvSpPr/>
          <p:nvPr/>
        </p:nvSpPr>
        <p:spPr>
          <a:xfrm>
            <a:off x="3273552" y="3867912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R5_sq369"/>
          <p:cNvSpPr/>
          <p:nvPr/>
        </p:nvSpPr>
        <p:spPr>
          <a:xfrm>
            <a:off x="3675888" y="3831336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taken part in a charity event?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No, never. But I'd like to do a charity run.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7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7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372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Street interviews</a:t>
            </a:r>
            <a:endParaRPr lang="en-US" sz="2500" dirty="0"/>
          </a:p>
        </p:txBody>
      </p:sp>
      <p:pic>
        <p:nvPicPr>
          <p:cNvPr id="6" name="brP_37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424428" cy="402336"/>
          </a:xfrm>
          <a:prstGeom prst="rect">
            <a:avLst/>
          </a:prstGeom>
        </p:spPr>
      </p:pic>
      <p:sp>
        <p:nvSpPr>
          <p:cNvPr id="7" name="ins_374"/>
          <p:cNvSpPr/>
          <p:nvPr/>
        </p:nvSpPr>
        <p:spPr>
          <a:xfrm>
            <a:off x="1353312" y="731520"/>
            <a:ext cx="31683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twice. Choose a, b or c.</a:t>
            </a:r>
            <a:endParaRPr lang="en-US" sz="1250" dirty="0"/>
          </a:p>
        </p:txBody>
      </p:sp>
      <p:sp>
        <p:nvSpPr>
          <p:cNvPr id="8" name="insIT_375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Ascolta due volte. Scegli a, b o c.</a:t>
            </a:r>
            <a:endParaRPr lang="en-US" sz="950" dirty="0"/>
          </a:p>
        </p:txBody>
      </p:sp>
      <p:sp>
        <p:nvSpPr>
          <p:cNvPr id="9" name="cmd_376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cmd_377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CONTROLLA</a:t>
            </a:r>
            <a:endParaRPr lang="en-US" sz="1100" dirty="0"/>
          </a:p>
        </p:txBody>
      </p:sp>
      <p:sp>
        <p:nvSpPr>
          <p:cNvPr id="11" name="meta_378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950" dirty="0"/>
          </a:p>
        </p:txBody>
      </p:sp>
      <p:sp>
        <p:nvSpPr>
          <p:cNvPr id="12" name="tag_379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Listening for detail</a:t>
            </a:r>
            <a:endParaRPr lang="en-US" sz="850" dirty="0"/>
          </a:p>
        </p:txBody>
      </p:sp>
      <p:pic>
        <p:nvPicPr>
          <p:cNvPr id="13" name="logo_38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38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R1-2 · Exam practice · listening · 2.21   ·   📖 SB p.25 · Can you understand these people? · audio / video 2.21 (2'42")</a:t>
            </a:r>
            <a:endParaRPr lang="en-US" sz="800" dirty="0"/>
          </a:p>
        </p:txBody>
      </p:sp>
      <p:sp>
        <p:nvSpPr>
          <p:cNvPr id="15" name="ap_382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2.21  ·  play twice</a:t>
            </a:r>
            <a:endParaRPr lang="en-US" sz="1100" dirty="0"/>
          </a:p>
        </p:txBody>
      </p:sp>
      <p:sp>
        <p:nvSpPr>
          <p:cNvPr id="16" name="ah_383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17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19" name="pf_384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sp>
        <p:nvSpPr>
          <p:cNvPr id="20" name="phx_385"/>
          <p:cNvSpPr/>
          <p:nvPr/>
        </p:nvSpPr>
        <p:spPr>
          <a:xfrm>
            <a:off x="457200" y="2103120"/>
            <a:ext cx="2606040" cy="1691640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r12-street-interview.jpg</a:t>
            </a:r>
            <a:endParaRPr lang="en-US" sz="900" dirty="0"/>
          </a:p>
        </p:txBody>
      </p:sp>
      <p:sp>
        <p:nvSpPr>
          <p:cNvPr id="21" name="cd_386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2" name="ii_387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3" name="ih_388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first, then listen!</a:t>
            </a:r>
            <a:endParaRPr lang="en-US" sz="1200" dirty="0"/>
          </a:p>
        </p:txBody>
      </p:sp>
      <p:sp>
        <p:nvSpPr>
          <p:cNvPr id="24" name="il_389"/>
          <p:cNvSpPr/>
          <p:nvPr/>
        </p:nvSpPr>
        <p:spPr>
          <a:xfrm>
            <a:off x="886968" y="449884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25" name="gq_390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Philomena: ___ potatoes cheer her up.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(a roast or baked · b fried or roast · c boiled or baked)</a:t>
            </a:r>
            <a:endParaRPr lang="en-US" sz="850" dirty="0"/>
          </a:p>
        </p:txBody>
      </p:sp>
      <p:sp>
        <p:nvSpPr>
          <p:cNvPr id="26" name="R1_chip391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 roast or baked</a:t>
            </a:r>
            <a:endParaRPr lang="en-US" sz="1200" dirty="0"/>
          </a:p>
        </p:txBody>
      </p:sp>
      <p:sp>
        <p:nvSpPr>
          <p:cNvPr id="27" name="gq_392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Mark likes ___ food when he eats out.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(a Spanish · b Italian · c French)</a:t>
            </a:r>
            <a:endParaRPr lang="en-US" sz="1150" dirty="0"/>
          </a:p>
        </p:txBody>
      </p:sp>
      <p:sp>
        <p:nvSpPr>
          <p:cNvPr id="28" name="R2_chip393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 Italian (pizza)</a:t>
            </a:r>
            <a:endParaRPr lang="en-US" sz="1200" dirty="0"/>
          </a:p>
        </p:txBody>
      </p:sp>
      <p:sp>
        <p:nvSpPr>
          <p:cNvPr id="29" name="gq_394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Ross gets on with his step-siblings ___.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(a all his life · b since they grew up · c since teenage years)</a:t>
            </a:r>
            <a:endParaRPr lang="en-US" sz="850" dirty="0"/>
          </a:p>
        </p:txBody>
      </p:sp>
      <p:sp>
        <p:nvSpPr>
          <p:cNvPr id="30" name="R3_chip395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 since they grew up</a:t>
            </a:r>
            <a:endParaRPr lang="en-US" sz="1200" dirty="0"/>
          </a:p>
        </p:txBody>
      </p:sp>
      <p:sp>
        <p:nvSpPr>
          <p:cNvPr id="31" name="gq_396"/>
          <p:cNvSpPr/>
          <p:nvPr/>
        </p:nvSpPr>
        <p:spPr>
          <a:xfrm>
            <a:off x="3383280" y="298094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 Coleen won some money. She spent it on ___.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(a a long holiday · b a holiday abroad · c a short holiday)</a:t>
            </a:r>
            <a:endParaRPr lang="en-US" sz="850" dirty="0"/>
          </a:p>
        </p:txBody>
      </p:sp>
      <p:sp>
        <p:nvSpPr>
          <p:cNvPr id="32" name="R4_chip397"/>
          <p:cNvSpPr/>
          <p:nvPr/>
        </p:nvSpPr>
        <p:spPr>
          <a:xfrm>
            <a:off x="6812280" y="2980944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  a short holiday</a:t>
            </a:r>
            <a:endParaRPr lang="en-US" sz="1200" dirty="0"/>
          </a:p>
        </p:txBody>
      </p:sp>
      <p:sp>
        <p:nvSpPr>
          <p:cNvPr id="33" name="gq_398"/>
          <p:cNvSpPr/>
          <p:nvPr/>
        </p:nvSpPr>
        <p:spPr>
          <a:xfrm>
            <a:off x="3383280" y="3502152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 Richard raised ___ for Cancer Research.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(a £6,000 · b £6,500 · c £6,050)</a:t>
            </a:r>
            <a:endParaRPr lang="en-US" sz="1050" dirty="0"/>
          </a:p>
        </p:txBody>
      </p:sp>
      <p:sp>
        <p:nvSpPr>
          <p:cNvPr id="34" name="R5_chip399"/>
          <p:cNvSpPr/>
          <p:nvPr/>
        </p:nvSpPr>
        <p:spPr>
          <a:xfrm>
            <a:off x="6812280" y="350215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 £6,500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0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40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402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Roll and talk!</a:t>
            </a:r>
            <a:endParaRPr lang="en-US" sz="2500" dirty="0"/>
          </a:p>
        </p:txBody>
      </p:sp>
      <p:pic>
        <p:nvPicPr>
          <p:cNvPr id="6" name="brP_40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771900" cy="402336"/>
          </a:xfrm>
          <a:prstGeom prst="rect">
            <a:avLst/>
          </a:prstGeom>
        </p:spPr>
      </p:pic>
      <p:sp>
        <p:nvSpPr>
          <p:cNvPr id="7" name="ins_404"/>
          <p:cNvSpPr/>
          <p:nvPr/>
        </p:nvSpPr>
        <p:spPr>
          <a:xfrm>
            <a:off x="1353312" y="731520"/>
            <a:ext cx="3515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Roll the dice. Talk for 45 seconds!</a:t>
            </a:r>
            <a:endParaRPr lang="en-US" sz="1250" dirty="0"/>
          </a:p>
        </p:txBody>
      </p:sp>
      <p:sp>
        <p:nvSpPr>
          <p:cNvPr id="8" name="insIT_405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Tira il dado. Parla per 45 secondi!</a:t>
            </a:r>
            <a:endParaRPr lang="en-US" sz="950" dirty="0"/>
          </a:p>
        </p:txBody>
      </p:sp>
      <p:sp>
        <p:nvSpPr>
          <p:cNvPr id="9" name="cmd_406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cmd_407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1" name="meta_408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7 min   👨‍👩‍👧 groups</a:t>
            </a:r>
            <a:endParaRPr lang="en-US" sz="950" dirty="0"/>
          </a:p>
        </p:txBody>
      </p:sp>
      <p:sp>
        <p:nvSpPr>
          <p:cNvPr id="12" name="tag_409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</a:t>
            </a:r>
            <a:endParaRPr lang="en-US" sz="850" dirty="0"/>
          </a:p>
        </p:txBody>
      </p:sp>
      <p:pic>
        <p:nvPicPr>
          <p:cNvPr id="13" name="logo_41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41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R1-2 · Speaking · roll and talk   ·   📖 SB p.25 · Can you say this in English? (speaking challenge)</a:t>
            </a:r>
            <a:endParaRPr lang="en-US" sz="800" dirty="0"/>
          </a:p>
        </p:txBody>
      </p:sp>
      <p:sp>
        <p:nvSpPr>
          <p:cNvPr id="15" name="pf_412"/>
          <p:cNvSpPr/>
          <p:nvPr/>
        </p:nvSpPr>
        <p:spPr>
          <a:xfrm rot="-120000">
            <a:off x="320040" y="1371600"/>
            <a:ext cx="2788920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sp>
        <p:nvSpPr>
          <p:cNvPr id="16" name="phx_413"/>
          <p:cNvSpPr/>
          <p:nvPr/>
        </p:nvSpPr>
        <p:spPr>
          <a:xfrm>
            <a:off x="365760" y="1417320"/>
            <a:ext cx="2697480" cy="1783080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r12-dice.jpg</a:t>
            </a:r>
            <a:endParaRPr lang="en-US" sz="900" dirty="0"/>
          </a:p>
        </p:txBody>
      </p:sp>
      <p:sp>
        <p:nvSpPr>
          <p:cNvPr id="17" name="cd_414"/>
          <p:cNvSpPr/>
          <p:nvPr/>
        </p:nvSpPr>
        <p:spPr>
          <a:xfrm>
            <a:off x="320040" y="3429000"/>
            <a:ext cx="2788920" cy="1325880"/>
          </a:xfrm>
          <a:prstGeom prst="roundRect">
            <a:avLst>
              <a:gd name="adj" fmla="val 9655"/>
            </a:avLst>
          </a:prstGeom>
          <a:solidFill>
            <a:srgbClr val="EEE8FB"/>
          </a:solidFill>
          <a:ln w="19050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8" name="ii_415"/>
          <p:cNvSpPr/>
          <p:nvPr/>
        </p:nvSpPr>
        <p:spPr>
          <a:xfrm>
            <a:off x="411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9" name="ih_416"/>
          <p:cNvSpPr/>
          <p:nvPr/>
        </p:nvSpPr>
        <p:spPr>
          <a:xfrm>
            <a:off x="88696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20" name="il_417"/>
          <p:cNvSpPr/>
          <p:nvPr/>
        </p:nvSpPr>
        <p:spPr>
          <a:xfrm>
            <a:off x="886968" y="3904488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me think…</a:t>
            </a:r>
            <a:endParaRPr lang="en-US" sz="9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thing is…</a:t>
            </a:r>
            <a:endParaRPr lang="en-US" sz="9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Follow-up: Why? When? How long…?</a:t>
            </a:r>
            <a:endParaRPr lang="en-US" sz="900" dirty="0"/>
          </a:p>
        </p:txBody>
      </p:sp>
      <p:sp>
        <p:nvSpPr>
          <p:cNvPr id="21" name="R1_qb418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R1_sq419"/>
          <p:cNvSpPr/>
          <p:nvPr/>
        </p:nvSpPr>
        <p:spPr>
          <a:xfrm>
            <a:off x="3675888" y="14173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favourite dish – how is it cooked?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Pasta alla Norma – the aubergines are fried, and there's lots of fresh tomato.</a:t>
            </a:r>
            <a:endParaRPr lang="en-US" sz="1250" dirty="0"/>
          </a:p>
        </p:txBody>
      </p:sp>
      <p:sp>
        <p:nvSpPr>
          <p:cNvPr id="23" name="R2_qb420"/>
          <p:cNvSpPr/>
          <p:nvPr/>
        </p:nvSpPr>
        <p:spPr>
          <a:xfrm>
            <a:off x="3273552" y="2010156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R2_sq421"/>
          <p:cNvSpPr/>
          <p:nvPr/>
        </p:nvSpPr>
        <p:spPr>
          <a:xfrm>
            <a:off x="3675888" y="197358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Something you're doing these days (not usually!)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I'm learning to drive at the moment – it's terrifying!</a:t>
            </a:r>
            <a:endParaRPr lang="en-US" sz="1250" dirty="0"/>
          </a:p>
        </p:txBody>
      </p:sp>
      <p:sp>
        <p:nvSpPr>
          <p:cNvPr id="25" name="R3_qb422"/>
          <p:cNvSpPr/>
          <p:nvPr/>
        </p:nvSpPr>
        <p:spPr>
          <a:xfrm>
            <a:off x="3273552" y="2566416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R3_sq423"/>
          <p:cNvSpPr/>
          <p:nvPr/>
        </p:nvSpPr>
        <p:spPr>
          <a:xfrm>
            <a:off x="3675888" y="252984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plans for next weekend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I'm going to the beach on Saturday, and on Sunday I'm having lunch at my nonna's.</a:t>
            </a:r>
            <a:endParaRPr lang="en-US" sz="1100" dirty="0"/>
          </a:p>
        </p:txBody>
      </p:sp>
      <p:sp>
        <p:nvSpPr>
          <p:cNvPr id="27" name="R4_qb424"/>
          <p:cNvSpPr/>
          <p:nvPr/>
        </p:nvSpPr>
        <p:spPr>
          <a:xfrm>
            <a:off x="3273552" y="3122676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R4_sq425"/>
          <p:cNvSpPr/>
          <p:nvPr/>
        </p:nvSpPr>
        <p:spPr>
          <a:xfrm>
            <a:off x="3675888" y="308610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Someone in your family: what are they like?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My brother is really competitive – and a bit moody!</a:t>
            </a:r>
            <a:endParaRPr lang="en-US" sz="1250" dirty="0"/>
          </a:p>
        </p:txBody>
      </p:sp>
      <p:sp>
        <p:nvSpPr>
          <p:cNvPr id="29" name="R5_qb426"/>
          <p:cNvSpPr/>
          <p:nvPr/>
        </p:nvSpPr>
        <p:spPr>
          <a:xfrm>
            <a:off x="3273552" y="367893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R5_sq427"/>
          <p:cNvSpPr/>
          <p:nvPr/>
        </p:nvSpPr>
        <p:spPr>
          <a:xfrm>
            <a:off x="3675888" y="364236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Something you bought and then thought: what a waste of money!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Last summer I bought some expensive trainers. I've only worn them twice!</a:t>
            </a:r>
            <a:endParaRPr lang="en-US" sz="1050" dirty="0"/>
          </a:p>
        </p:txBody>
      </p:sp>
      <p:sp>
        <p:nvSpPr>
          <p:cNvPr id="31" name="R6_qb428"/>
          <p:cNvSpPr/>
          <p:nvPr/>
        </p:nvSpPr>
        <p:spPr>
          <a:xfrm>
            <a:off x="3273552" y="4235196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R6_sq429"/>
          <p:cNvSpPr/>
          <p:nvPr/>
        </p:nvSpPr>
        <p:spPr>
          <a:xfrm>
            <a:off x="3675888" y="41986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Something you've been doing for a long time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I've been playing volleyball for six years – since I was ten.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3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43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432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you…?</a:t>
            </a:r>
            <a:endParaRPr lang="en-US" sz="2400" dirty="0"/>
          </a:p>
        </p:txBody>
      </p:sp>
      <p:pic>
        <p:nvPicPr>
          <p:cNvPr id="6" name="brP_43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98164" cy="402336"/>
          </a:xfrm>
          <a:prstGeom prst="rect">
            <a:avLst/>
          </a:prstGeom>
        </p:spPr>
      </p:pic>
      <p:sp>
        <p:nvSpPr>
          <p:cNvPr id="7" name="ins_434"/>
          <p:cNvSpPr/>
          <p:nvPr/>
        </p:nvSpPr>
        <p:spPr>
          <a:xfrm>
            <a:off x="1353312" y="731520"/>
            <a:ext cx="3342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it? Show your partner!</a:t>
            </a:r>
            <a:endParaRPr lang="en-US" sz="1250" dirty="0"/>
          </a:p>
        </p:txBody>
      </p:sp>
      <p:sp>
        <p:nvSpPr>
          <p:cNvPr id="8" name="insIT_435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Sai farlo? Dimostralo al compagno!</a:t>
            </a:r>
            <a:endParaRPr lang="en-US" sz="950" dirty="0"/>
          </a:p>
        </p:txBody>
      </p:sp>
      <p:sp>
        <p:nvSpPr>
          <p:cNvPr id="9" name="cmd_436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cmd_437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1" name="meta_438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pic>
        <p:nvPicPr>
          <p:cNvPr id="12" name="logo_43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44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R1-2 · Self-assessment · Can you say this in English?   ·   📖 SB p.25 · Can you say this in English? 1–4</a:t>
            </a:r>
            <a:endParaRPr lang="en-US" sz="800" dirty="0"/>
          </a:p>
        </p:txBody>
      </p:sp>
      <p:sp>
        <p:nvSpPr>
          <p:cNvPr id="14" name="cd_441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442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443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444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Tick ✓ = I can do it well · ? = I need practice</a:t>
            </a:r>
            <a:endParaRPr lang="en-US" sz="1050" dirty="0"/>
          </a:p>
        </p:txBody>
      </p:sp>
      <p:sp>
        <p:nvSpPr>
          <p:cNvPr id="18" name="pf_445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446" descr="/home/claude/lls-course/v2/cache/spare_future_aims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0" name="bd_447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q_448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describe your diet – and how it's changing?</a:t>
            </a:r>
            <a:endParaRPr lang="en-US" sz="1150" dirty="0"/>
          </a:p>
        </p:txBody>
      </p:sp>
      <p:sp>
        <p:nvSpPr>
          <p:cNvPr id="22" name="R1_chip449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eat a lot of fish, but people here are eating more fast food now.</a:t>
            </a:r>
            <a:endParaRPr lang="en-US" sz="1000" dirty="0"/>
          </a:p>
        </p:txBody>
      </p:sp>
      <p:sp>
        <p:nvSpPr>
          <p:cNvPr id="23" name="bd_450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q_451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describe your family – what they're like?</a:t>
            </a:r>
            <a:endParaRPr lang="en-US" sz="1150" dirty="0"/>
          </a:p>
        </p:txBody>
      </p:sp>
      <p:sp>
        <p:nvSpPr>
          <p:cNvPr id="25" name="R2_chip452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My dad is very patient, but my sister is a bit stubborn.</a:t>
            </a:r>
            <a:endParaRPr lang="en-US" sz="1000" dirty="0"/>
          </a:p>
        </p:txBody>
      </p:sp>
      <p:sp>
        <p:nvSpPr>
          <p:cNvPr id="26" name="bd_453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q_454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talk about plans and predictions?</a:t>
            </a:r>
            <a:endParaRPr lang="en-US" sz="1150" dirty="0"/>
          </a:p>
        </p:txBody>
      </p:sp>
      <p:sp>
        <p:nvSpPr>
          <p:cNvPr id="28" name="R3_chip455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I'm going to study in Palermo. I think I'll live at home.</a:t>
            </a:r>
            <a:endParaRPr lang="en-US" sz="1000" dirty="0"/>
          </a:p>
        </p:txBody>
      </p:sp>
      <p:sp>
        <p:nvSpPr>
          <p:cNvPr id="29" name="bd_456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_457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won any money? How much? What did you do with it?</a:t>
            </a:r>
            <a:endParaRPr lang="en-US" sz="850" dirty="0"/>
          </a:p>
        </p:txBody>
      </p:sp>
      <p:sp>
        <p:nvSpPr>
          <p:cNvPr id="31" name="R4_chip458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No, I haven't. / Yes, I won €50 and I bought a jacket.</a:t>
            </a:r>
            <a:endParaRPr lang="en-US" sz="1000" dirty="0"/>
          </a:p>
        </p:txBody>
      </p:sp>
      <p:sp>
        <p:nvSpPr>
          <p:cNvPr id="32" name="bd_459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q_460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long have you been learning English? Where did you start?</a:t>
            </a:r>
            <a:endParaRPr lang="en-US" sz="850" dirty="0"/>
          </a:p>
        </p:txBody>
      </p:sp>
      <p:sp>
        <p:nvSpPr>
          <p:cNvPr id="34" name="R5_chip461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I've been learning it for eight years. I started at primary school.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6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46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464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46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771900" cy="402336"/>
          </a:xfrm>
          <a:prstGeom prst="rect">
            <a:avLst/>
          </a:prstGeom>
        </p:spPr>
      </p:pic>
      <p:sp>
        <p:nvSpPr>
          <p:cNvPr id="7" name="ins_466"/>
          <p:cNvSpPr/>
          <p:nvPr/>
        </p:nvSpPr>
        <p:spPr>
          <a:xfrm>
            <a:off x="1353312" y="731520"/>
            <a:ext cx="3515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looking! Then write your target.</a:t>
            </a:r>
            <a:endParaRPr lang="en-US" sz="1250" dirty="0"/>
          </a:p>
        </p:txBody>
      </p:sp>
      <p:sp>
        <p:nvSpPr>
          <p:cNvPr id="8" name="insIT_467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Senza guardare! Poi scrivi il tuo obiettivo.</a:t>
            </a:r>
            <a:endParaRPr lang="en-US" sz="950" dirty="0"/>
          </a:p>
        </p:txBody>
      </p:sp>
      <p:sp>
        <p:nvSpPr>
          <p:cNvPr id="9" name="meta_468"/>
          <p:cNvSpPr/>
          <p:nvPr/>
        </p:nvSpPr>
        <p:spPr>
          <a:xfrm>
            <a:off x="6583680" y="182880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👤 alone</a:t>
            </a:r>
            <a:endParaRPr lang="en-US" sz="950" dirty="0"/>
          </a:p>
        </p:txBody>
      </p:sp>
      <p:sp>
        <p:nvSpPr>
          <p:cNvPr id="10" name="tag_469"/>
          <p:cNvSpPr/>
          <p:nvPr/>
        </p:nvSpPr>
        <p:spPr>
          <a:xfrm>
            <a:off x="6510528" y="420624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Retrieval</a:t>
            </a:r>
            <a:endParaRPr lang="en-US" sz="850" dirty="0"/>
          </a:p>
        </p:txBody>
      </p:sp>
      <p:pic>
        <p:nvPicPr>
          <p:cNvPr id="11" name="logo_47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2" name="foot_47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R1-2 · Exit · what can you remember?</a:t>
            </a:r>
            <a:endParaRPr lang="en-US" sz="800" dirty="0"/>
          </a:p>
        </p:txBody>
      </p:sp>
      <p:sp>
        <p:nvSpPr>
          <p:cNvPr id="13" name="bd_472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rt_473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things you can do well now – from Files 1 and 2</a:t>
            </a:r>
            <a:endParaRPr lang="en-US" sz="1400" dirty="0"/>
          </a:p>
        </p:txBody>
      </p:sp>
      <p:sp>
        <p:nvSpPr>
          <p:cNvPr id="15" name="bd_474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rt_475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mistakes from today – and the correct sentence</a:t>
            </a:r>
            <a:endParaRPr lang="en-US" sz="1400" dirty="0"/>
          </a:p>
        </p:txBody>
      </p:sp>
      <p:sp>
        <p:nvSpPr>
          <p:cNvPr id="17" name="bd_476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rt_477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target: what will you revise this week?</a:t>
            </a:r>
            <a:endParaRPr lang="en-US" sz="1400" dirty="0"/>
          </a:p>
        </p:txBody>
      </p:sp>
      <p:sp>
        <p:nvSpPr>
          <p:cNvPr id="19" name="cd_478"/>
          <p:cNvSpPr/>
          <p:nvPr/>
        </p:nvSpPr>
        <p:spPr>
          <a:xfrm>
            <a:off x="5669280" y="1417320"/>
            <a:ext cx="3200400" cy="2286000"/>
          </a:xfrm>
          <a:prstGeom prst="roundRect">
            <a:avLst>
              <a:gd name="adj" fmla="val 56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479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1" name="ih_480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2" name="il_481"/>
          <p:cNvSpPr/>
          <p:nvPr/>
        </p:nvSpPr>
        <p:spPr>
          <a:xfrm>
            <a:off x="6236208" y="1892808"/>
            <a:ext cx="2542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SB p.25: Can you understand this text? a, b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Practice: Check your progress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Homework sheet R1-2</a:t>
            </a:r>
            <a:endParaRPr lang="en-US" sz="1150" dirty="0"/>
          </a:p>
        </p:txBody>
      </p:sp>
      <p:sp>
        <p:nvSpPr>
          <p:cNvPr id="23" name="st_482"/>
          <p:cNvSpPr/>
          <p:nvPr/>
        </p:nvSpPr>
        <p:spPr>
          <a:xfrm rot="-180000">
            <a:off x="5806440" y="3931920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3A · Survive the drive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8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48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485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Book test: words</a:t>
            </a:r>
            <a:endParaRPr lang="en-US" sz="2500" dirty="0"/>
          </a:p>
        </p:txBody>
      </p:sp>
      <p:pic>
        <p:nvPicPr>
          <p:cNvPr id="6" name="brP_48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424428" cy="402336"/>
          </a:xfrm>
          <a:prstGeom prst="rect">
            <a:avLst/>
          </a:prstGeom>
        </p:spPr>
      </p:pic>
      <p:sp>
        <p:nvSpPr>
          <p:cNvPr id="7" name="ins_487"/>
          <p:cNvSpPr/>
          <p:nvPr/>
        </p:nvSpPr>
        <p:spPr>
          <a:xfrm>
            <a:off x="1353312" y="731520"/>
            <a:ext cx="31683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p.24 Vocabulary. Then check!</a:t>
            </a:r>
            <a:endParaRPr lang="en-US" sz="1250" dirty="0"/>
          </a:p>
        </p:txBody>
      </p:sp>
      <p:sp>
        <p:nvSpPr>
          <p:cNvPr id="8" name="insIT_488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 p.24 Vocabulary. Poi controlla!</a:t>
            </a:r>
            <a:endParaRPr lang="en-US" sz="950" dirty="0"/>
          </a:p>
        </p:txBody>
      </p:sp>
      <p:sp>
        <p:nvSpPr>
          <p:cNvPr id="9" name="cmd_489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✍️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SCRIVI</a:t>
            </a:r>
            <a:endParaRPr lang="en-US" sz="1100" dirty="0"/>
          </a:p>
        </p:txBody>
      </p:sp>
      <p:sp>
        <p:nvSpPr>
          <p:cNvPr id="10" name="cmd_490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CONTROLLA</a:t>
            </a:r>
            <a:endParaRPr lang="en-US" sz="1100" dirty="0"/>
          </a:p>
        </p:txBody>
      </p:sp>
      <p:sp>
        <p:nvSpPr>
          <p:cNvPr id="11" name="meta_491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8 min   👥 pairs</a:t>
            </a:r>
            <a:endParaRPr lang="en-US" sz="950" dirty="0"/>
          </a:p>
        </p:txBody>
      </p:sp>
      <p:sp>
        <p:nvSpPr>
          <p:cNvPr id="12" name="tag_492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Controlled practice</a:t>
            </a:r>
            <a:endParaRPr lang="en-US" sz="850" dirty="0"/>
          </a:p>
        </p:txBody>
      </p:sp>
      <p:pic>
        <p:nvPicPr>
          <p:cNvPr id="13" name="logo_49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49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R1-2 · Extra · SB p.24 Vocabulary + Pronunciation   ·   📖 SB p.24 · VOCABULARY a–e, PRONUNCIATION c, d (TG key)</a:t>
            </a:r>
            <a:endParaRPr lang="en-US" sz="800" dirty="0"/>
          </a:p>
        </p:txBody>
      </p:sp>
      <p:sp>
        <p:nvSpPr>
          <p:cNvPr id="15" name="st_495"/>
          <p:cNvSpPr/>
          <p:nvPr/>
        </p:nvSpPr>
        <p:spPr>
          <a:xfrm rot="-180000">
            <a:off x="7315200" y="4773168"/>
            <a:ext cx="1600200" cy="292608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EXTRA · if there's time</a:t>
            </a:r>
            <a:endParaRPr lang="en-US" sz="900" dirty="0"/>
          </a:p>
        </p:txBody>
      </p:sp>
      <p:sp>
        <p:nvSpPr>
          <p:cNvPr id="16" name="cd_496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49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8" name="ih_49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9" name="il_499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a: prawns, mussels, duck, squid → duck (not seafood)</a:t>
            </a:r>
            <a:endParaRPr lang="en-US" sz="1050" dirty="0"/>
          </a:p>
        </p:txBody>
      </p:sp>
      <p:sp>
        <p:nvSpPr>
          <p:cNvPr id="20" name="pf_500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1" name="ph_501" descr="/home/claude/lls-course/v2/cache/1a1_fruit_veg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2" name="bd_502"/>
          <p:cNvSpPr/>
          <p:nvPr/>
        </p:nvSpPr>
        <p:spPr>
          <a:xfrm>
            <a:off x="3246120" y="1474143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q_503"/>
          <p:cNvSpPr/>
          <p:nvPr/>
        </p:nvSpPr>
        <p:spPr>
          <a:xfrm>
            <a:off x="3630168" y="1417320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 odd one out</a:t>
            </a:r>
            <a:endParaRPr lang="en-US" sz="1150" dirty="0"/>
          </a:p>
        </p:txBody>
      </p:sp>
      <p:sp>
        <p:nvSpPr>
          <p:cNvPr id="24" name="R1_chip504"/>
          <p:cNvSpPr/>
          <p:nvPr/>
        </p:nvSpPr>
        <p:spPr>
          <a:xfrm>
            <a:off x="5806440" y="1417320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duck · 2 crab · 3 beetroot · 4 raspberry · 5 chicken</a:t>
            </a:r>
            <a:endParaRPr lang="en-US" sz="1000" dirty="0"/>
          </a:p>
        </p:txBody>
      </p:sp>
      <p:sp>
        <p:nvSpPr>
          <p:cNvPr id="25" name="bd_505"/>
          <p:cNvSpPr/>
          <p:nvPr/>
        </p:nvSpPr>
        <p:spPr>
          <a:xfrm>
            <a:off x="3246120" y="1944406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q_506"/>
          <p:cNvSpPr/>
          <p:nvPr/>
        </p:nvSpPr>
        <p:spPr>
          <a:xfrm>
            <a:off x="3630168" y="1887583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 opposites (prefix)</a:t>
            </a:r>
            <a:endParaRPr lang="en-US" sz="1150" dirty="0"/>
          </a:p>
        </p:txBody>
      </p:sp>
      <p:sp>
        <p:nvSpPr>
          <p:cNvPr id="27" name="R2_chip507"/>
          <p:cNvSpPr/>
          <p:nvPr/>
        </p:nvSpPr>
        <p:spPr>
          <a:xfrm>
            <a:off x="5806440" y="1887583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dishonest · unfriendly · irresponsible · immature · insensitive</a:t>
            </a:r>
            <a:endParaRPr lang="en-US" sz="1000" dirty="0"/>
          </a:p>
        </p:txBody>
      </p:sp>
      <p:sp>
        <p:nvSpPr>
          <p:cNvPr id="28" name="bd_508"/>
          <p:cNvSpPr/>
          <p:nvPr/>
        </p:nvSpPr>
        <p:spPr>
          <a:xfrm>
            <a:off x="3246120" y="2414669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q_509"/>
          <p:cNvSpPr/>
          <p:nvPr/>
        </p:nvSpPr>
        <p:spPr>
          <a:xfrm>
            <a:off x="3630168" y="2357846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  money verbs</a:t>
            </a:r>
            <a:endParaRPr lang="en-US" sz="1150" dirty="0"/>
          </a:p>
        </p:txBody>
      </p:sp>
      <p:sp>
        <p:nvSpPr>
          <p:cNvPr id="30" name="R3_chip510"/>
          <p:cNvSpPr/>
          <p:nvPr/>
        </p:nvSpPr>
        <p:spPr>
          <a:xfrm>
            <a:off x="5806440" y="2357846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waste · 2 inherit · 3 earn · 4 borrow · 5 save</a:t>
            </a:r>
            <a:endParaRPr lang="en-US" sz="1000" dirty="0"/>
          </a:p>
        </p:txBody>
      </p:sp>
      <p:sp>
        <p:nvSpPr>
          <p:cNvPr id="31" name="bd_511"/>
          <p:cNvSpPr/>
          <p:nvPr/>
        </p:nvSpPr>
        <p:spPr>
          <a:xfrm>
            <a:off x="3246120" y="28849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q_512"/>
          <p:cNvSpPr/>
          <p:nvPr/>
        </p:nvSpPr>
        <p:spPr>
          <a:xfrm>
            <a:off x="3630168" y="2828109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 strong adjectives</a:t>
            </a:r>
            <a:endParaRPr lang="en-US" sz="1150" dirty="0"/>
          </a:p>
        </p:txBody>
      </p:sp>
      <p:sp>
        <p:nvSpPr>
          <p:cNvPr id="33" name="R4_chip513"/>
          <p:cNvSpPr/>
          <p:nvPr/>
        </p:nvSpPr>
        <p:spPr>
          <a:xfrm>
            <a:off x="5806440" y="2828109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exhausted · starving · freezing · filthy · furious</a:t>
            </a:r>
            <a:endParaRPr lang="en-US" sz="1000" dirty="0"/>
          </a:p>
        </p:txBody>
      </p:sp>
      <p:sp>
        <p:nvSpPr>
          <p:cNvPr id="34" name="bd_514"/>
          <p:cNvSpPr/>
          <p:nvPr/>
        </p:nvSpPr>
        <p:spPr>
          <a:xfrm>
            <a:off x="3246120" y="3355195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q_515"/>
          <p:cNvSpPr/>
          <p:nvPr/>
        </p:nvSpPr>
        <p:spPr>
          <a:xfrm>
            <a:off x="3630168" y="3298371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  phrasal verbs</a:t>
            </a:r>
            <a:endParaRPr lang="en-US" sz="1150" dirty="0"/>
          </a:p>
        </p:txBody>
      </p:sp>
      <p:sp>
        <p:nvSpPr>
          <p:cNvPr id="36" name="R5_chip516"/>
          <p:cNvSpPr/>
          <p:nvPr/>
        </p:nvSpPr>
        <p:spPr>
          <a:xfrm>
            <a:off x="5806440" y="3298371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out · 2 out · 3 on · 4 back · 5 out</a:t>
            </a:r>
            <a:endParaRPr lang="en-US" sz="1000" dirty="0"/>
          </a:p>
        </p:txBody>
      </p:sp>
      <p:sp>
        <p:nvSpPr>
          <p:cNvPr id="37" name="bd_517"/>
          <p:cNvSpPr/>
          <p:nvPr/>
        </p:nvSpPr>
        <p:spPr>
          <a:xfrm>
            <a:off x="3246120" y="3825458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q_518"/>
          <p:cNvSpPr/>
          <p:nvPr/>
        </p:nvSpPr>
        <p:spPr>
          <a:xfrm>
            <a:off x="3630168" y="3768634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Pron. c  sounds</a:t>
            </a:r>
            <a:endParaRPr lang="en-US" sz="1150" dirty="0"/>
          </a:p>
        </p:txBody>
      </p:sp>
      <p:sp>
        <p:nvSpPr>
          <p:cNvPr id="39" name="R6_chip519"/>
          <p:cNvSpPr/>
          <p:nvPr/>
        </p:nvSpPr>
        <p:spPr>
          <a:xfrm>
            <a:off x="5806440" y="3768634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chicken /ɪ/ · charge /ɑː/ · inherit /h/ · salary /æ/ · steamed /iː/</a:t>
            </a:r>
            <a:endParaRPr lang="en-US" sz="1000" dirty="0"/>
          </a:p>
        </p:txBody>
      </p:sp>
      <p:sp>
        <p:nvSpPr>
          <p:cNvPr id="40" name="bd_520"/>
          <p:cNvSpPr/>
          <p:nvPr/>
        </p:nvSpPr>
        <p:spPr>
          <a:xfrm>
            <a:off x="3246120" y="4295721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q_521"/>
          <p:cNvSpPr/>
          <p:nvPr/>
        </p:nvSpPr>
        <p:spPr>
          <a:xfrm>
            <a:off x="3630168" y="4238897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Pron. d  stress</a:t>
            </a:r>
            <a:endParaRPr lang="en-US" sz="1150" dirty="0"/>
          </a:p>
        </p:txBody>
      </p:sp>
      <p:sp>
        <p:nvSpPr>
          <p:cNvPr id="42" name="R7_chip522"/>
          <p:cNvSpPr/>
          <p:nvPr/>
        </p:nvSpPr>
        <p:spPr>
          <a:xfrm>
            <a:off x="5806440" y="4238897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SENsible · TERrified · unSELfish · MORTgage · exHAUSted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2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52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525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Word snake</a:t>
            </a:r>
            <a:endParaRPr lang="en-US" sz="2500" dirty="0"/>
          </a:p>
        </p:txBody>
      </p:sp>
      <p:pic>
        <p:nvPicPr>
          <p:cNvPr id="6" name="brP_52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424428" cy="402336"/>
          </a:xfrm>
          <a:prstGeom prst="rect">
            <a:avLst/>
          </a:prstGeom>
        </p:spPr>
      </p:pic>
      <p:sp>
        <p:nvSpPr>
          <p:cNvPr id="7" name="ins_527"/>
          <p:cNvSpPr/>
          <p:nvPr/>
        </p:nvSpPr>
        <p:spPr>
          <a:xfrm>
            <a:off x="1353312" y="731520"/>
            <a:ext cx="31683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Last letter = first letter. Go!</a:t>
            </a:r>
            <a:endParaRPr lang="en-US" sz="1250" dirty="0"/>
          </a:p>
        </p:txBody>
      </p:sp>
      <p:sp>
        <p:nvSpPr>
          <p:cNvPr id="8" name="insIT_528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Ultima lettera = prima lettera. Via!</a:t>
            </a:r>
            <a:endParaRPr lang="en-US" sz="950" dirty="0"/>
          </a:p>
        </p:txBody>
      </p:sp>
      <p:sp>
        <p:nvSpPr>
          <p:cNvPr id="9" name="cmd_529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530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🏆 teams</a:t>
            </a:r>
            <a:endParaRPr lang="en-US" sz="950" dirty="0"/>
          </a:p>
        </p:txBody>
      </p:sp>
      <p:sp>
        <p:nvSpPr>
          <p:cNvPr id="11" name="tag_531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2" name="logo_53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3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R1-2 · Extra game · word snake   ·   📖 Topics: food &amp; cooking · family · personality · money · strong adjectives</a:t>
            </a:r>
            <a:endParaRPr lang="en-US" sz="800" dirty="0"/>
          </a:p>
        </p:txBody>
      </p:sp>
      <p:sp>
        <p:nvSpPr>
          <p:cNvPr id="14" name="st_534"/>
          <p:cNvSpPr/>
          <p:nvPr/>
        </p:nvSpPr>
        <p:spPr>
          <a:xfrm rot="-180000">
            <a:off x="7315200" y="4773168"/>
            <a:ext cx="1600200" cy="292608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EXTRA · if there's time</a:t>
            </a:r>
            <a:endParaRPr lang="en-US" sz="900" dirty="0"/>
          </a:p>
        </p:txBody>
      </p:sp>
      <p:sp>
        <p:nvSpPr>
          <p:cNvPr id="15" name="cd_535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536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7" name="ih_537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8" name="il_538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 a word from Files 1–2 + its topic.</a:t>
            </a:r>
            <a:endParaRPr lang="en-US" sz="9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Di' una parola dei File 1–2 + l'argomento.</a:t>
            </a:r>
            <a:endParaRPr lang="en-US" sz="9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team: 10 seconds, a word that starts with the LAST letter.</a:t>
            </a:r>
            <a:endParaRPr lang="en-US" sz="9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Squadra dopo: 10 secondi, una parola che inizia con l'ULTIMA lettera.</a:t>
            </a:r>
            <a:endParaRPr lang="en-US" sz="9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word or repeated word = point to the other team.</a:t>
            </a:r>
            <a:endParaRPr lang="en-US" sz="9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Nessuna parola o parola ripetuta = punto all'altra squadra.</a:t>
            </a:r>
            <a:endParaRPr lang="en-US" sz="900" dirty="0"/>
          </a:p>
        </p:txBody>
      </p:sp>
      <p:sp>
        <p:nvSpPr>
          <p:cNvPr id="19" name="st_539"/>
          <p:cNvSpPr/>
          <p:nvPr/>
        </p:nvSpPr>
        <p:spPr>
          <a:xfrm rot="-180000">
            <a:off x="502920" y="3703320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20" name="bd_540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541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salmon – FOOD</a:t>
            </a:r>
            <a:endParaRPr lang="en-US" sz="1100" dirty="0"/>
          </a:p>
        </p:txBody>
      </p:sp>
      <p:sp>
        <p:nvSpPr>
          <p:cNvPr id="22" name="R1_chip542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n: nephew – FAMILY</a:t>
            </a:r>
            <a:endParaRPr lang="en-US" sz="1100" dirty="0"/>
          </a:p>
        </p:txBody>
      </p:sp>
      <p:sp>
        <p:nvSpPr>
          <p:cNvPr id="23" name="bd_543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544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nephew – FAMILY</a:t>
            </a:r>
            <a:endParaRPr lang="en-US" sz="1100" dirty="0"/>
          </a:p>
        </p:txBody>
      </p:sp>
      <p:sp>
        <p:nvSpPr>
          <p:cNvPr id="25" name="R2_chip545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w: waste – MONEY</a:t>
            </a:r>
            <a:endParaRPr lang="en-US" sz="1100" dirty="0"/>
          </a:p>
        </p:txBody>
      </p:sp>
      <p:sp>
        <p:nvSpPr>
          <p:cNvPr id="26" name="bd_546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547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waste – MONEY</a:t>
            </a:r>
            <a:endParaRPr lang="en-US" sz="1100" dirty="0"/>
          </a:p>
        </p:txBody>
      </p:sp>
      <p:sp>
        <p:nvSpPr>
          <p:cNvPr id="28" name="R3_chip548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e: exhausted – STRONG ADJ.</a:t>
            </a:r>
            <a:endParaRPr lang="en-US" sz="1100" dirty="0"/>
          </a:p>
        </p:txBody>
      </p:sp>
      <p:sp>
        <p:nvSpPr>
          <p:cNvPr id="29" name="bd_549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550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exhausted – STRONG ADJ.</a:t>
            </a:r>
            <a:endParaRPr lang="en-US" sz="1100" dirty="0"/>
          </a:p>
        </p:txBody>
      </p:sp>
      <p:sp>
        <p:nvSpPr>
          <p:cNvPr id="31" name="R4_chip551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d: duck – FOOD</a:t>
            </a:r>
            <a:endParaRPr lang="en-US" sz="1100" dirty="0"/>
          </a:p>
        </p:txBody>
      </p:sp>
      <p:sp>
        <p:nvSpPr>
          <p:cNvPr id="32" name="bd_552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553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duck – FOOD</a:t>
            </a:r>
            <a:endParaRPr lang="en-US" sz="1100" dirty="0"/>
          </a:p>
        </p:txBody>
      </p:sp>
      <p:sp>
        <p:nvSpPr>
          <p:cNvPr id="34" name="R5_chip554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k: kind – PERSONALITY</a:t>
            </a:r>
            <a:endParaRPr lang="en-US" sz="1100" dirty="0"/>
          </a:p>
        </p:txBody>
      </p:sp>
      <p:sp>
        <p:nvSpPr>
          <p:cNvPr id="35" name="bd_555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gq_556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Bonus point!</a:t>
            </a:r>
            <a:endParaRPr lang="en-US" sz="1100" dirty="0"/>
          </a:p>
        </p:txBody>
      </p:sp>
      <p:sp>
        <p:nvSpPr>
          <p:cNvPr id="37" name="R6_chip557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 sentence with your word: 'I've never eaten duck.'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R1-2 Revise and Check 1&amp;2</dc:title>
  <dc:subject>PptxGenJS Presentation</dc:subject>
  <dc:creator>PptxGenJS</dc:creator>
  <cp:lastModifiedBy>PptxGenJS</cp:lastModifiedBy>
  <cp:revision>1</cp:revision>
  <dcterms:created xsi:type="dcterms:W3CDTF">2026-10-12T09:15:51Z</dcterms:created>
  <dcterms:modified xsi:type="dcterms:W3CDTF">2026-10-12T09:15:51Z</dcterms:modified>
</cp:coreProperties>
</file>