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(4 min)
TPRS CLASS STORY (4 min) – after the test, the strategy and the two games, and just before the street-interview speaking and the 2.21 listening: one funny story that puts the whole of Files 1–2 together in context – present simple / continuous (is saving, is still cooking), future plans (going to), present perfect continuous + for (has been practising for three weeks), present perfect for experience (has never cooked), money (afford, borrow, a waste of money), family (stepbrother, nonna), food (fried arancine, prawns, takeaway) and strong adjectives (starving, filthy, furious). Click once per line. For each line: 1) say it, 2) ask the questions round the class (yes/no → either/or → who/what), 3) let the CLASS change details: 'Is it Nonna's birthday? No? Whose birthday is it?' – accept their idea and use it in later lines. Students answer with one word or a short phrase – that's fine, but award a team point for a full correct sentence ('He's been practising for three weeks!'). Finish: 'What happens next?' – one or two ideas, then move on to 'Street interview: you!'.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🎲  play four review games in teams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do the book's grammar test – against the clock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five people in the street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food, family, money and you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 choose your own revision target</a:t>
            </a:r>
            <a:endParaRPr lang="en-US" sz="7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2" name="pf_26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27" descr="/home/claude/lls-course/v2/cache/2b2_freezing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4" name="cd_28"/>
          <p:cNvSpPr/>
          <p:nvPr/>
        </p:nvSpPr>
        <p:spPr>
          <a:xfrm>
            <a:off x="320040" y="3200400"/>
            <a:ext cx="2743200" cy="1402080"/>
          </a:xfrm>
          <a:prstGeom prst="roundRect">
            <a:avLst>
              <a:gd name="adj" fmla="val 913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6" name="ih_30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7" name="il_31"/>
          <p:cNvSpPr/>
          <p:nvPr/>
        </p:nvSpPr>
        <p:spPr>
          <a:xfrm>
            <a:off x="886968" y="3694176"/>
            <a:ext cx="208483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2B: charity challenges, strong adjectives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18" name="kw_32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19" name="w_33"/>
          <p:cNvSpPr/>
          <p:nvPr/>
        </p:nvSpPr>
        <p:spPr>
          <a:xfrm>
            <a:off x="3246120" y="1783080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200" dirty="0"/>
          </a:p>
        </p:txBody>
      </p:sp>
      <p:sp>
        <p:nvSpPr>
          <p:cNvPr id="20" name="w_34"/>
          <p:cNvSpPr/>
          <p:nvPr/>
        </p:nvSpPr>
        <p:spPr>
          <a:xfrm>
            <a:off x="4530852" y="1783080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5728716" y="1783080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6926580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3246120" y="2185416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4357116" y="2185416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5641848" y="2185416"/>
            <a:ext cx="119329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200" dirty="0"/>
          </a:p>
        </p:txBody>
      </p:sp>
      <p:sp>
        <p:nvSpPr>
          <p:cNvPr id="26" name="lv_40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7" name="lv_41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29" name="cd_43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44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950" dirty="0"/>
          </a:p>
        </p:txBody>
      </p:sp>
      <p:sp>
        <p:nvSpPr>
          <p:cNvPr id="31" name="rf_45"/>
          <p:cNvSpPr/>
          <p:nvPr/>
        </p:nvSpPr>
        <p:spPr>
          <a:xfrm>
            <a:off x="3383280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an absolutely / really – NOT very</a:t>
            </a:r>
            <a:endParaRPr lang="en-US" sz="950" dirty="0"/>
          </a:p>
        </p:txBody>
      </p:sp>
      <p:sp>
        <p:nvSpPr>
          <p:cNvPr id="32" name="R1_rl46"/>
          <p:cNvSpPr/>
          <p:nvPr/>
        </p:nvSpPr>
        <p:spPr>
          <a:xfrm>
            <a:off x="3383280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00" dirty="0"/>
          </a:p>
        </p:txBody>
      </p:sp>
      <p:sp>
        <p:nvSpPr>
          <p:cNvPr id="33" name="cd_47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48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100" dirty="0"/>
          </a:p>
        </p:txBody>
      </p:sp>
      <p:sp>
        <p:nvSpPr>
          <p:cNvPr id="35" name="rf_49"/>
          <p:cNvSpPr/>
          <p:nvPr/>
        </p:nvSpPr>
        <p:spPr>
          <a:xfrm>
            <a:off x="6249924" y="3593592"/>
            <a:ext cx="2482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a How long have you been…? + for / since</a:t>
            </a:r>
            <a:endParaRPr lang="en-US" sz="850" dirty="0"/>
          </a:p>
        </p:txBody>
      </p:sp>
      <p:sp>
        <p:nvSpPr>
          <p:cNvPr id="36" name="R2_rl50"/>
          <p:cNvSpPr/>
          <p:nvPr/>
        </p:nvSpPr>
        <p:spPr>
          <a:xfrm>
            <a:off x="6249924" y="3922776"/>
            <a:ext cx="2482596" cy="7589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5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note_5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 game</a:t>
            </a:r>
            <a:endParaRPr lang="en-US" sz="1250" dirty="0"/>
          </a:p>
        </p:txBody>
      </p:sp>
      <p:pic>
        <p:nvPicPr>
          <p:cNvPr id="10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2" name="cd_60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63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 with 'very'.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 con 'very'.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again with a STRONG adjective.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Ridilla con un aggettivo FORTE.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team to say it = 1 point.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prima squadra che la dice = 1 punto.</a:t>
            </a:r>
            <a:endParaRPr lang="en-US" sz="1000" dirty="0"/>
          </a:p>
        </p:txBody>
      </p:sp>
      <p:sp>
        <p:nvSpPr>
          <p:cNvPr id="16" name="pf_64"/>
          <p:cNvSpPr/>
          <p:nvPr/>
        </p:nvSpPr>
        <p:spPr>
          <a:xfrm rot="-120000">
            <a:off x="1004977" y="4069080"/>
            <a:ext cx="1281885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65" descr="/home/claude/lls-course/v2/cache/spare_future_stress_jpg_286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50697" y="4114800"/>
            <a:ext cx="1190445" cy="1051560"/>
          </a:xfrm>
          <a:prstGeom prst="rect">
            <a:avLst/>
          </a:prstGeom>
        </p:spPr>
      </p:pic>
      <p:sp>
        <p:nvSpPr>
          <p:cNvPr id="18" name="bd_6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6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250" dirty="0"/>
          </a:p>
        </p:txBody>
      </p:sp>
      <p:sp>
        <p:nvSpPr>
          <p:cNvPr id="20" name="chip_6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200" dirty="0"/>
          </a:p>
        </p:txBody>
      </p:sp>
      <p:sp>
        <p:nvSpPr>
          <p:cNvPr id="21" name="bd_6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7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250" dirty="0"/>
          </a:p>
        </p:txBody>
      </p:sp>
      <p:sp>
        <p:nvSpPr>
          <p:cNvPr id="23" name="R1_chip7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200" dirty="0"/>
          </a:p>
        </p:txBody>
      </p:sp>
      <p:sp>
        <p:nvSpPr>
          <p:cNvPr id="24" name="bd_7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250" dirty="0"/>
          </a:p>
        </p:txBody>
      </p:sp>
      <p:sp>
        <p:nvSpPr>
          <p:cNvPr id="26" name="R2_chip7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200" dirty="0"/>
          </a:p>
        </p:txBody>
      </p:sp>
      <p:sp>
        <p:nvSpPr>
          <p:cNvPr id="27" name="bd_7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250" dirty="0"/>
          </a:p>
        </p:txBody>
      </p:sp>
      <p:sp>
        <p:nvSpPr>
          <p:cNvPr id="29" name="R3_chip7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200" dirty="0"/>
          </a:p>
        </p:txBody>
      </p:sp>
      <p:sp>
        <p:nvSpPr>
          <p:cNvPr id="30" name="bd_7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250" dirty="0"/>
          </a:p>
        </p:txBody>
      </p:sp>
      <p:sp>
        <p:nvSpPr>
          <p:cNvPr id="32" name="R4_chip8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200" dirty="0"/>
          </a:p>
        </p:txBody>
      </p:sp>
      <p:sp>
        <p:nvSpPr>
          <p:cNvPr id="33" name="bd_8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250" dirty="0"/>
          </a:p>
        </p:txBody>
      </p:sp>
      <p:sp>
        <p:nvSpPr>
          <p:cNvPr id="35" name="R5_chip8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6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8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note_9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🔊 SAY IT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Communicative game</a:t>
            </a:r>
            <a:endParaRPr lang="en-US" sz="1150" dirty="0"/>
          </a:p>
        </p:txBody>
      </p:sp>
      <p:pic>
        <p:nvPicPr>
          <p:cNvPr id="10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700" dirty="0"/>
          </a:p>
        </p:txBody>
      </p:sp>
      <p:sp>
        <p:nvSpPr>
          <p:cNvPr id="12" name="cd_93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9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9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96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 the sound picture.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l'immagine del suono.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from Files 1–2 with that sound.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secondi: scrivete parole dei File 1–2 con quel suono.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sound = 1 point per word.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Suono giusto = 1 punto a parola.</a:t>
            </a:r>
            <a:endParaRPr lang="en-US" sz="950" dirty="0"/>
          </a:p>
        </p:txBody>
      </p:sp>
      <p:sp>
        <p:nvSpPr>
          <p:cNvPr id="16" name="pf_97"/>
          <p:cNvSpPr/>
          <p:nvPr/>
        </p:nvSpPr>
        <p:spPr>
          <a:xfrm rot="-120000">
            <a:off x="689435" y="4069080"/>
            <a:ext cx="1912971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98" descr="/home/claude/lls-course/v2/cache/1a1_first_day_jpg_438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35155" y="4114800"/>
            <a:ext cx="1821531" cy="1051560"/>
          </a:xfrm>
          <a:prstGeom prst="rect">
            <a:avLst/>
          </a:prstGeom>
        </p:spPr>
      </p:pic>
      <p:sp>
        <p:nvSpPr>
          <p:cNvPr id="18" name="bd_99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100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250" dirty="0"/>
          </a:p>
        </p:txBody>
      </p:sp>
      <p:sp>
        <p:nvSpPr>
          <p:cNvPr id="20" name="chip_101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200" dirty="0"/>
          </a:p>
        </p:txBody>
      </p:sp>
      <p:sp>
        <p:nvSpPr>
          <p:cNvPr id="21" name="bd_102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3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250" dirty="0"/>
          </a:p>
        </p:txBody>
      </p:sp>
      <p:sp>
        <p:nvSpPr>
          <p:cNvPr id="23" name="R1_chip104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200" dirty="0"/>
          </a:p>
        </p:txBody>
      </p:sp>
      <p:sp>
        <p:nvSpPr>
          <p:cNvPr id="24" name="bd_105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6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250" dirty="0"/>
          </a:p>
        </p:txBody>
      </p:sp>
      <p:sp>
        <p:nvSpPr>
          <p:cNvPr id="26" name="R2_chip107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200" dirty="0"/>
          </a:p>
        </p:txBody>
      </p:sp>
      <p:sp>
        <p:nvSpPr>
          <p:cNvPr id="27" name="bd_108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9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250" dirty="0"/>
          </a:p>
        </p:txBody>
      </p:sp>
      <p:sp>
        <p:nvSpPr>
          <p:cNvPr id="29" name="R3_chip110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200" dirty="0"/>
          </a:p>
        </p:txBody>
      </p:sp>
      <p:sp>
        <p:nvSpPr>
          <p:cNvPr id="30" name="bd_111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2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250" dirty="0"/>
          </a:p>
        </p:txBody>
      </p:sp>
      <p:sp>
        <p:nvSpPr>
          <p:cNvPr id="32" name="R4_chip113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200" dirty="0"/>
          </a:p>
        </p:txBody>
      </p:sp>
      <p:sp>
        <p:nvSpPr>
          <p:cNvPr id="33" name="bd_114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5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250" dirty="0"/>
          </a:p>
        </p:txBody>
      </p:sp>
      <p:sp>
        <p:nvSpPr>
          <p:cNvPr id="35" name="R5_chip116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1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note_1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✏️ FILL THE GAPS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150" dirty="0"/>
          </a:p>
        </p:txBody>
      </p:sp>
      <p:pic>
        <p:nvPicPr>
          <p:cNvPr id="10" name="logo_1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2" name="cd_12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2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4" name="ln_128"/>
          <p:cNvSpPr/>
          <p:nvPr/>
        </p:nvSpPr>
        <p:spPr>
          <a:xfrm>
            <a:off x="548640" y="1920240"/>
            <a:ext cx="5349240" cy="293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200" dirty="0"/>
          </a:p>
        </p:txBody>
      </p:sp>
      <p:sp>
        <p:nvSpPr>
          <p:cNvPr id="15" name="R1_lnA129"/>
          <p:cNvSpPr/>
          <p:nvPr/>
        </p:nvSpPr>
        <p:spPr>
          <a:xfrm>
            <a:off x="548640" y="1920240"/>
            <a:ext cx="5349240" cy="2932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200" dirty="0"/>
          </a:p>
        </p:txBody>
      </p:sp>
      <p:sp>
        <p:nvSpPr>
          <p:cNvPr id="16" name="ln_130"/>
          <p:cNvSpPr/>
          <p:nvPr/>
        </p:nvSpPr>
        <p:spPr>
          <a:xfrm>
            <a:off x="548640" y="2213508"/>
            <a:ext cx="5349240" cy="39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200" dirty="0"/>
          </a:p>
        </p:txBody>
      </p:sp>
      <p:sp>
        <p:nvSpPr>
          <p:cNvPr id="17" name="R2_lnA131"/>
          <p:cNvSpPr/>
          <p:nvPr/>
        </p:nvSpPr>
        <p:spPr>
          <a:xfrm>
            <a:off x="548640" y="2213508"/>
            <a:ext cx="5349240" cy="3910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200" dirty="0"/>
          </a:p>
        </p:txBody>
      </p:sp>
      <p:sp>
        <p:nvSpPr>
          <p:cNvPr id="18" name="ln_132"/>
          <p:cNvSpPr/>
          <p:nvPr/>
        </p:nvSpPr>
        <p:spPr>
          <a:xfrm>
            <a:off x="548640" y="2604532"/>
            <a:ext cx="5349240" cy="29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200" dirty="0"/>
          </a:p>
        </p:txBody>
      </p:sp>
      <p:sp>
        <p:nvSpPr>
          <p:cNvPr id="19" name="R3_lnA133"/>
          <p:cNvSpPr/>
          <p:nvPr/>
        </p:nvSpPr>
        <p:spPr>
          <a:xfrm>
            <a:off x="548640" y="2604532"/>
            <a:ext cx="5349240" cy="29901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200" dirty="0"/>
          </a:p>
        </p:txBody>
      </p:sp>
      <p:sp>
        <p:nvSpPr>
          <p:cNvPr id="20" name="ln_134"/>
          <p:cNvSpPr/>
          <p:nvPr/>
        </p:nvSpPr>
        <p:spPr>
          <a:xfrm>
            <a:off x="548640" y="2903550"/>
            <a:ext cx="5349240" cy="327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200" dirty="0"/>
          </a:p>
        </p:txBody>
      </p:sp>
      <p:sp>
        <p:nvSpPr>
          <p:cNvPr id="21" name="R4_lnA135"/>
          <p:cNvSpPr/>
          <p:nvPr/>
        </p:nvSpPr>
        <p:spPr>
          <a:xfrm>
            <a:off x="548640" y="2903550"/>
            <a:ext cx="5349240" cy="32777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200" dirty="0"/>
          </a:p>
        </p:txBody>
      </p:sp>
      <p:sp>
        <p:nvSpPr>
          <p:cNvPr id="22" name="ln_136"/>
          <p:cNvSpPr/>
          <p:nvPr/>
        </p:nvSpPr>
        <p:spPr>
          <a:xfrm>
            <a:off x="548640" y="3231320"/>
            <a:ext cx="5349240" cy="276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200" dirty="0"/>
          </a:p>
        </p:txBody>
      </p:sp>
      <p:sp>
        <p:nvSpPr>
          <p:cNvPr id="23" name="R5_lnA137"/>
          <p:cNvSpPr/>
          <p:nvPr/>
        </p:nvSpPr>
        <p:spPr>
          <a:xfrm>
            <a:off x="548640" y="3231320"/>
            <a:ext cx="5349240" cy="2760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200" dirty="0"/>
          </a:p>
        </p:txBody>
      </p:sp>
      <p:sp>
        <p:nvSpPr>
          <p:cNvPr id="24" name="ln_138"/>
          <p:cNvSpPr/>
          <p:nvPr/>
        </p:nvSpPr>
        <p:spPr>
          <a:xfrm>
            <a:off x="548640" y="3507337"/>
            <a:ext cx="5349240" cy="33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200" dirty="0"/>
          </a:p>
        </p:txBody>
      </p:sp>
      <p:sp>
        <p:nvSpPr>
          <p:cNvPr id="25" name="R6_lnA139"/>
          <p:cNvSpPr/>
          <p:nvPr/>
        </p:nvSpPr>
        <p:spPr>
          <a:xfrm>
            <a:off x="548640" y="3507337"/>
            <a:ext cx="5349240" cy="33927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200" dirty="0"/>
          </a:p>
        </p:txBody>
      </p:sp>
      <p:sp>
        <p:nvSpPr>
          <p:cNvPr id="26" name="ln_140"/>
          <p:cNvSpPr/>
          <p:nvPr/>
        </p:nvSpPr>
        <p:spPr>
          <a:xfrm>
            <a:off x="548640" y="3846607"/>
            <a:ext cx="5349240" cy="42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200" dirty="0"/>
          </a:p>
        </p:txBody>
      </p:sp>
      <p:sp>
        <p:nvSpPr>
          <p:cNvPr id="27" name="R7_lnA141"/>
          <p:cNvSpPr/>
          <p:nvPr/>
        </p:nvSpPr>
        <p:spPr>
          <a:xfrm>
            <a:off x="548640" y="3846607"/>
            <a:ext cx="5349240" cy="42552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200" dirty="0"/>
          </a:p>
        </p:txBody>
      </p:sp>
      <p:sp>
        <p:nvSpPr>
          <p:cNvPr id="28" name="ln_142"/>
          <p:cNvSpPr/>
          <p:nvPr/>
        </p:nvSpPr>
        <p:spPr>
          <a:xfrm>
            <a:off x="548640" y="4272133"/>
            <a:ext cx="5349240" cy="437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200" dirty="0"/>
          </a:p>
        </p:txBody>
      </p:sp>
      <p:sp>
        <p:nvSpPr>
          <p:cNvPr id="29" name="R8_lnA143"/>
          <p:cNvSpPr/>
          <p:nvPr/>
        </p:nvSpPr>
        <p:spPr>
          <a:xfrm>
            <a:off x="548640" y="4272133"/>
            <a:ext cx="5349240" cy="4370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200" dirty="0"/>
          </a:p>
        </p:txBody>
      </p:sp>
      <p:sp>
        <p:nvSpPr>
          <p:cNvPr id="30" name="pf_144"/>
          <p:cNvSpPr/>
          <p:nvPr/>
        </p:nvSpPr>
        <p:spPr>
          <a:xfrm rot="120000">
            <a:off x="6766313" y="1417320"/>
            <a:ext cx="1646413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45" descr="/home/claude/lls-course/v2/cache/spare_work_training_jpg_37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12033" y="1463040"/>
            <a:ext cx="1554973" cy="1417320"/>
          </a:xfrm>
          <a:prstGeom prst="rect">
            <a:avLst/>
          </a:prstGeom>
        </p:spPr>
      </p:pic>
      <p:sp>
        <p:nvSpPr>
          <p:cNvPr id="32" name="cd_14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14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14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149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Alone · no talking · 4 minutes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point each · ___ / 15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2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4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note_15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TPRS · reading</a:t>
            </a:r>
            <a:endParaRPr lang="en-US" sz="1250" dirty="0"/>
          </a:p>
        </p:txBody>
      </p:sp>
      <p:pic>
        <p:nvPicPr>
          <p:cNvPr id="10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2" name="cd_159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sh_160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4" name="ln_161"/>
          <p:cNvSpPr/>
          <p:nvPr/>
        </p:nvSpPr>
        <p:spPr>
          <a:xfrm>
            <a:off x="548640" y="1920240"/>
            <a:ext cx="5349240" cy="374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300" dirty="0"/>
          </a:p>
        </p:txBody>
      </p:sp>
      <p:sp>
        <p:nvSpPr>
          <p:cNvPr id="15" name="R1_lnA162"/>
          <p:cNvSpPr/>
          <p:nvPr/>
        </p:nvSpPr>
        <p:spPr>
          <a:xfrm>
            <a:off x="548640" y="1920240"/>
            <a:ext cx="5349240" cy="37404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300" dirty="0"/>
          </a:p>
        </p:txBody>
      </p:sp>
      <p:sp>
        <p:nvSpPr>
          <p:cNvPr id="16" name="ln_163"/>
          <p:cNvSpPr/>
          <p:nvPr/>
        </p:nvSpPr>
        <p:spPr>
          <a:xfrm>
            <a:off x="548640" y="2294283"/>
            <a:ext cx="5349240" cy="38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300" dirty="0"/>
          </a:p>
        </p:txBody>
      </p:sp>
      <p:sp>
        <p:nvSpPr>
          <p:cNvPr id="17" name="R2_lnA164"/>
          <p:cNvSpPr/>
          <p:nvPr/>
        </p:nvSpPr>
        <p:spPr>
          <a:xfrm>
            <a:off x="548640" y="2294283"/>
            <a:ext cx="5349240" cy="3806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300" dirty="0"/>
          </a:p>
        </p:txBody>
      </p:sp>
      <p:sp>
        <p:nvSpPr>
          <p:cNvPr id="18" name="ln_165"/>
          <p:cNvSpPr/>
          <p:nvPr/>
        </p:nvSpPr>
        <p:spPr>
          <a:xfrm>
            <a:off x="548640" y="2674889"/>
            <a:ext cx="5349240" cy="334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300" dirty="0"/>
          </a:p>
        </p:txBody>
      </p:sp>
      <p:sp>
        <p:nvSpPr>
          <p:cNvPr id="19" name="R3_lnA166"/>
          <p:cNvSpPr/>
          <p:nvPr/>
        </p:nvSpPr>
        <p:spPr>
          <a:xfrm>
            <a:off x="548640" y="2674889"/>
            <a:ext cx="5349240" cy="33467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300" dirty="0"/>
          </a:p>
        </p:txBody>
      </p:sp>
      <p:sp>
        <p:nvSpPr>
          <p:cNvPr id="20" name="ln_167"/>
          <p:cNvSpPr/>
          <p:nvPr/>
        </p:nvSpPr>
        <p:spPr>
          <a:xfrm>
            <a:off x="548640" y="3009559"/>
            <a:ext cx="5349240" cy="446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1" name="R4_lnA168"/>
          <p:cNvSpPr/>
          <p:nvPr/>
        </p:nvSpPr>
        <p:spPr>
          <a:xfrm>
            <a:off x="548640" y="3009559"/>
            <a:ext cx="5349240" cy="4462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ln_169"/>
          <p:cNvSpPr/>
          <p:nvPr/>
        </p:nvSpPr>
        <p:spPr>
          <a:xfrm>
            <a:off x="548640" y="3455787"/>
            <a:ext cx="5349240" cy="367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3" name="R5_lnA170"/>
          <p:cNvSpPr/>
          <p:nvPr/>
        </p:nvSpPr>
        <p:spPr>
          <a:xfrm>
            <a:off x="548640" y="3455787"/>
            <a:ext cx="5349240" cy="3674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24" name="ln_171"/>
          <p:cNvSpPr/>
          <p:nvPr/>
        </p:nvSpPr>
        <p:spPr>
          <a:xfrm>
            <a:off x="548640" y="3823268"/>
            <a:ext cx="5349240" cy="48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300" dirty="0"/>
          </a:p>
        </p:txBody>
      </p:sp>
      <p:sp>
        <p:nvSpPr>
          <p:cNvPr id="25" name="R6_lnA172"/>
          <p:cNvSpPr/>
          <p:nvPr/>
        </p:nvSpPr>
        <p:spPr>
          <a:xfrm>
            <a:off x="548640" y="3823268"/>
            <a:ext cx="5349240" cy="485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300" dirty="0"/>
          </a:p>
        </p:txBody>
      </p:sp>
      <p:sp>
        <p:nvSpPr>
          <p:cNvPr id="26" name="ln_173"/>
          <p:cNvSpPr/>
          <p:nvPr/>
        </p:nvSpPr>
        <p:spPr>
          <a:xfrm>
            <a:off x="548640" y="4308868"/>
            <a:ext cx="5349240" cy="400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3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________ 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300" dirty="0"/>
          </a:p>
        </p:txBody>
      </p:sp>
      <p:sp>
        <p:nvSpPr>
          <p:cNvPr id="27" name="R7_lnA174"/>
          <p:cNvSpPr/>
          <p:nvPr/>
        </p:nvSpPr>
        <p:spPr>
          <a:xfrm>
            <a:off x="548640" y="4308868"/>
            <a:ext cx="5349240" cy="4002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300" dirty="0"/>
          </a:p>
        </p:txBody>
      </p:sp>
      <p:sp>
        <p:nvSpPr>
          <p:cNvPr id="28" name="pf_175"/>
          <p:cNvSpPr/>
          <p:nvPr/>
        </p:nvSpPr>
        <p:spPr>
          <a:xfrm rot="120000">
            <a:off x="6781608" y="1417320"/>
            <a:ext cx="1615824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176" descr="/home/claude/lls-course/v2/cache/spare_future_university_jpg_367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827328" y="1463040"/>
            <a:ext cx="1524384" cy="1417320"/>
          </a:xfrm>
          <a:prstGeom prst="rect">
            <a:avLst/>
          </a:prstGeom>
        </p:spPr>
      </p:pic>
      <p:sp>
        <p:nvSpPr>
          <p:cNvPr id="30" name="cd_17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ii_17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2" name="ih_17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3" name="il_18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Score: ___ / 15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ones did you get wrong?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83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85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note_187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LOOK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1250" dirty="0"/>
          </a:p>
        </p:txBody>
      </p:sp>
      <p:pic>
        <p:nvPicPr>
          <p:cNvPr id="10" name="logo_1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2" name="cd_190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191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4" name="pf_192"/>
          <p:cNvSpPr/>
          <p:nvPr/>
        </p:nvSpPr>
        <p:spPr>
          <a:xfrm>
            <a:off x="909237" y="1938528"/>
            <a:ext cx="856147" cy="960120"/>
          </a:xfrm>
          <a:prstGeom prst="roundRect">
            <a:avLst>
              <a:gd name="adj" fmla="val 181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93" descr="/home/claude/lls-course/v2/cache/1b1_diary_jpg_184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957" y="1984248"/>
            <a:ext cx="764707" cy="868680"/>
          </a:xfrm>
          <a:prstGeom prst="rect">
            <a:avLst/>
          </a:prstGeom>
        </p:spPr>
      </p:pic>
      <p:sp>
        <p:nvSpPr>
          <p:cNvPr id="16" name="ru_194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950" dirty="0"/>
          </a:p>
        </p:txBody>
      </p:sp>
      <p:sp>
        <p:nvSpPr>
          <p:cNvPr id="17" name="R1_rx195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8" name="R1_ri196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19" name="cd_197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198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1" name="pf_199"/>
          <p:cNvSpPr/>
          <p:nvPr/>
        </p:nvSpPr>
        <p:spPr>
          <a:xfrm>
            <a:off x="3013783" y="1938528"/>
            <a:ext cx="990455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200" descr="/home/claude/lls-course/v2/cache/spare_1a2_food_preferences_jpg_216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503" y="1984248"/>
            <a:ext cx="899015" cy="868680"/>
          </a:xfrm>
          <a:prstGeom prst="rect">
            <a:avLst/>
          </a:prstGeom>
        </p:spPr>
      </p:pic>
      <p:sp>
        <p:nvSpPr>
          <p:cNvPr id="23" name="ru_201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4" name="R2_rx202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5" name="R2_ri203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6" name="cd_204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rh_205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8" name="pf_206"/>
          <p:cNvSpPr/>
          <p:nvPr/>
        </p:nvSpPr>
        <p:spPr>
          <a:xfrm>
            <a:off x="5264376" y="1938528"/>
            <a:ext cx="832669" cy="960120"/>
          </a:xfrm>
          <a:prstGeom prst="roundRect">
            <a:avLst>
              <a:gd name="adj" fmla="val 186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207" descr="/home/claude/lls-course/v2/cache/1b1_bags_jpg_178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0096" y="1984248"/>
            <a:ext cx="741229" cy="868680"/>
          </a:xfrm>
          <a:prstGeom prst="rect">
            <a:avLst/>
          </a:prstGeom>
        </p:spPr>
      </p:pic>
      <p:sp>
        <p:nvSpPr>
          <p:cNvPr id="30" name="ru_208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1" name="R3_rx209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2" name="R3_ri210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organizzato · offerta · decisione ora</a:t>
            </a:r>
            <a:endParaRPr lang="en-US" sz="750" dirty="0"/>
          </a:p>
        </p:txBody>
      </p:sp>
      <p:sp>
        <p:nvSpPr>
          <p:cNvPr id="33" name="cd_211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212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5" name="pf_213"/>
          <p:cNvSpPr/>
          <p:nvPr/>
        </p:nvSpPr>
        <p:spPr>
          <a:xfrm>
            <a:off x="7399840" y="1938528"/>
            <a:ext cx="905140" cy="960120"/>
          </a:xfrm>
          <a:prstGeom prst="roundRect">
            <a:avLst>
              <a:gd name="adj" fmla="val 17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6" name="ph_214" descr="/home/claude/lls-course/v2/cache/spare_1b2_homework_jpg_196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45560" y="1984248"/>
            <a:ext cx="813700" cy="868680"/>
          </a:xfrm>
          <a:prstGeom prst="rect">
            <a:avLst/>
          </a:prstGeom>
        </p:spPr>
      </p:pic>
      <p:sp>
        <p:nvSpPr>
          <p:cNvPr id="37" name="ru_215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8" name="R4_rx216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39" name="R4_ri217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attenzione a forma e ortografia</a:t>
            </a:r>
            <a:endParaRPr lang="en-US" sz="850" dirty="0"/>
          </a:p>
        </p:txBody>
      </p:sp>
      <p:sp>
        <p:nvSpPr>
          <p:cNvPr id="40" name="R5_wc218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R5_w219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22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24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note_226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CONTROLLA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</p:txBody>
      </p:sp>
      <p:pic>
        <p:nvPicPr>
          <p:cNvPr id="10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2" name="cd_229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4" name="ih_2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5" name="lg_23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lg_23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7" name="lg_23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18" name="sq_23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000" dirty="0"/>
          </a:p>
        </p:txBody>
      </p:sp>
      <p:sp>
        <p:nvSpPr>
          <p:cNvPr id="19" name="R1_tag23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0" name="sq_23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000" dirty="0"/>
          </a:p>
        </p:txBody>
      </p:sp>
      <p:sp>
        <p:nvSpPr>
          <p:cNvPr id="21" name="R2_tag23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3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000" dirty="0"/>
          </a:p>
        </p:txBody>
      </p:sp>
      <p:sp>
        <p:nvSpPr>
          <p:cNvPr id="23" name="R3_tag24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4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000" dirty="0"/>
          </a:p>
        </p:txBody>
      </p:sp>
      <p:sp>
        <p:nvSpPr>
          <p:cNvPr id="25" name="R4_tag24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sq_24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000" dirty="0"/>
          </a:p>
        </p:txBody>
      </p:sp>
      <p:sp>
        <p:nvSpPr>
          <p:cNvPr id="27" name="R5_tag24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4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900" dirty="0"/>
          </a:p>
        </p:txBody>
      </p:sp>
      <p:sp>
        <p:nvSpPr>
          <p:cNvPr id="29" name="R6_tag24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0" name="pf_247"/>
          <p:cNvSpPr/>
          <p:nvPr/>
        </p:nvSpPr>
        <p:spPr>
          <a:xfrm rot="-120000">
            <a:off x="1052307" y="3703320"/>
            <a:ext cx="1232946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48" descr="/home/claude/lls-course/v2/cache/spare_work_teamwork_jpg_275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098027" y="3749040"/>
            <a:ext cx="1141506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5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400" dirty="0"/>
          </a:p>
        </p:txBody>
      </p:sp>
      <p:pic>
        <p:nvPicPr>
          <p:cNvPr id="6" name="brP_2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5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note_25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Communicative game</a:t>
            </a:r>
            <a:endParaRPr lang="en-US" sz="1250" dirty="0"/>
          </a:p>
        </p:txBody>
      </p:sp>
      <p:pic>
        <p:nvPicPr>
          <p:cNvPr id="10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grammar auction   ·   📖 Review of Grammar Banks 1A, 1B, 2A, 2B · items 3, 6, 8 close to Grammar Bank examples</a:t>
            </a:r>
            <a:endParaRPr lang="en-US" sz="750" dirty="0"/>
          </a:p>
        </p:txBody>
      </p:sp>
      <p:sp>
        <p:nvSpPr>
          <p:cNvPr id="12" name="cd_258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261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team has €1,000.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Ogni squadra ha 1.000 €.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Bid to buy the sentences you think are CORRECT.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Fate offerte per comprare le frasi che pensate siano GIUSTE.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 with the most correct sentences wins!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Vince chi ha più frasi giuste!</a:t>
            </a:r>
            <a:endParaRPr lang="en-US" sz="1000" dirty="0"/>
          </a:p>
        </p:txBody>
      </p:sp>
      <p:sp>
        <p:nvSpPr>
          <p:cNvPr id="16" name="pf_262"/>
          <p:cNvSpPr/>
          <p:nvPr/>
        </p:nvSpPr>
        <p:spPr>
          <a:xfrm rot="-120000">
            <a:off x="411480" y="40690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7" name="phx_263"/>
          <p:cNvSpPr/>
          <p:nvPr/>
        </p:nvSpPr>
        <p:spPr>
          <a:xfrm>
            <a:off x="457200" y="4114800"/>
            <a:ext cx="2377440" cy="10515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r12-auction.jpg</a:t>
            </a:r>
            <a:endParaRPr lang="en-US" sz="900" dirty="0"/>
          </a:p>
        </p:txBody>
      </p:sp>
      <p:sp>
        <p:nvSpPr>
          <p:cNvPr id="18" name="bd_264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265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900" dirty="0"/>
          </a:p>
        </p:txBody>
      </p:sp>
      <p:sp>
        <p:nvSpPr>
          <p:cNvPr id="20" name="chip_266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900" dirty="0"/>
          </a:p>
        </p:txBody>
      </p:sp>
      <p:sp>
        <p:nvSpPr>
          <p:cNvPr id="21" name="bd_267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268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900" dirty="0"/>
          </a:p>
        </p:txBody>
      </p:sp>
      <p:sp>
        <p:nvSpPr>
          <p:cNvPr id="23" name="R1_chip269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900" dirty="0"/>
          </a:p>
        </p:txBody>
      </p:sp>
      <p:sp>
        <p:nvSpPr>
          <p:cNvPr id="24" name="bd_270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271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900" dirty="0"/>
          </a:p>
        </p:txBody>
      </p:sp>
      <p:sp>
        <p:nvSpPr>
          <p:cNvPr id="26" name="R2_chip272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900" dirty="0"/>
          </a:p>
        </p:txBody>
      </p:sp>
      <p:sp>
        <p:nvSpPr>
          <p:cNvPr id="27" name="bd_273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274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900" dirty="0"/>
          </a:p>
        </p:txBody>
      </p:sp>
      <p:sp>
        <p:nvSpPr>
          <p:cNvPr id="29" name="R3_chip275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900" dirty="0"/>
          </a:p>
        </p:txBody>
      </p:sp>
      <p:sp>
        <p:nvSpPr>
          <p:cNvPr id="30" name="bd_276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277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900" dirty="0"/>
          </a:p>
        </p:txBody>
      </p:sp>
      <p:sp>
        <p:nvSpPr>
          <p:cNvPr id="32" name="R4_chip278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900" dirty="0"/>
          </a:p>
        </p:txBody>
      </p:sp>
      <p:sp>
        <p:nvSpPr>
          <p:cNvPr id="33" name="bd_279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280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900" dirty="0"/>
          </a:p>
        </p:txBody>
      </p:sp>
      <p:sp>
        <p:nvSpPr>
          <p:cNvPr id="35" name="R5_chip281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900" dirty="0"/>
          </a:p>
        </p:txBody>
      </p:sp>
      <p:sp>
        <p:nvSpPr>
          <p:cNvPr id="36" name="bd_282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283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900" dirty="0"/>
          </a:p>
        </p:txBody>
      </p:sp>
      <p:sp>
        <p:nvSpPr>
          <p:cNvPr id="38" name="R6_chip284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900" dirty="0"/>
          </a:p>
        </p:txBody>
      </p:sp>
      <p:sp>
        <p:nvSpPr>
          <p:cNvPr id="39" name="bd_285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40" name="gq_286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900" dirty="0"/>
          </a:p>
        </p:txBody>
      </p:sp>
      <p:sp>
        <p:nvSpPr>
          <p:cNvPr id="41" name="R7_chip287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9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400" dirty="0"/>
          </a:p>
        </p:txBody>
      </p:sp>
      <p:pic>
        <p:nvPicPr>
          <p:cNvPr id="6" name="brP_2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92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2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note_29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Communicative game</a:t>
            </a:r>
            <a:endParaRPr lang="en-US" sz="1250" dirty="0"/>
          </a:p>
        </p:txBody>
      </p:sp>
      <p:pic>
        <p:nvPicPr>
          <p:cNvPr id="10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700" dirty="0"/>
          </a:p>
        </p:txBody>
      </p:sp>
      <p:sp>
        <p:nvSpPr>
          <p:cNvPr id="12" name="cd_297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4" name="ih_2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5" name="il_300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X or O chooses a square 1–9.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squadra X o O sceglie un quadrato 1–9.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in 15 seconds = your square.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Risposta in 15 secondi = il quadrato è vostro.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in a row wins!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Tre in fila vince!</a:t>
            </a:r>
            <a:endParaRPr lang="en-US" sz="1000" dirty="0"/>
          </a:p>
        </p:txBody>
      </p:sp>
      <p:sp>
        <p:nvSpPr>
          <p:cNvPr id="16" name="st_301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7" name="bd_302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8" name="gq_303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900" dirty="0"/>
          </a:p>
        </p:txBody>
      </p:sp>
      <p:sp>
        <p:nvSpPr>
          <p:cNvPr id="19" name="chip_304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900" dirty="0"/>
          </a:p>
        </p:txBody>
      </p:sp>
      <p:sp>
        <p:nvSpPr>
          <p:cNvPr id="20" name="bd_305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06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900" dirty="0"/>
          </a:p>
        </p:txBody>
      </p:sp>
      <p:sp>
        <p:nvSpPr>
          <p:cNvPr id="22" name="R1_chip307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800" dirty="0"/>
          </a:p>
        </p:txBody>
      </p:sp>
      <p:sp>
        <p:nvSpPr>
          <p:cNvPr id="23" name="bd_308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09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900" dirty="0"/>
          </a:p>
        </p:txBody>
      </p:sp>
      <p:sp>
        <p:nvSpPr>
          <p:cNvPr id="25" name="R2_chip310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900" dirty="0"/>
          </a:p>
        </p:txBody>
      </p:sp>
      <p:sp>
        <p:nvSpPr>
          <p:cNvPr id="26" name="bd_311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12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900" dirty="0"/>
          </a:p>
        </p:txBody>
      </p:sp>
      <p:sp>
        <p:nvSpPr>
          <p:cNvPr id="28" name="R3_chip313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900" dirty="0"/>
          </a:p>
        </p:txBody>
      </p:sp>
      <p:sp>
        <p:nvSpPr>
          <p:cNvPr id="29" name="bd_314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15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900" dirty="0"/>
          </a:p>
        </p:txBody>
      </p:sp>
      <p:sp>
        <p:nvSpPr>
          <p:cNvPr id="31" name="R4_chip316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900" dirty="0"/>
          </a:p>
        </p:txBody>
      </p:sp>
      <p:sp>
        <p:nvSpPr>
          <p:cNvPr id="32" name="bd_317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18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900" dirty="0"/>
          </a:p>
        </p:txBody>
      </p:sp>
      <p:sp>
        <p:nvSpPr>
          <p:cNvPr id="34" name="R5_chip319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900" dirty="0"/>
          </a:p>
        </p:txBody>
      </p:sp>
      <p:sp>
        <p:nvSpPr>
          <p:cNvPr id="35" name="bd_320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21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850" dirty="0"/>
          </a:p>
        </p:txBody>
      </p:sp>
      <p:sp>
        <p:nvSpPr>
          <p:cNvPr id="37" name="R6_chip322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900" dirty="0"/>
          </a:p>
        </p:txBody>
      </p:sp>
      <p:sp>
        <p:nvSpPr>
          <p:cNvPr id="38" name="bd_323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24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900" dirty="0"/>
          </a:p>
        </p:txBody>
      </p:sp>
      <p:sp>
        <p:nvSpPr>
          <p:cNvPr id="40" name="R7_chip325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900" dirty="0"/>
          </a:p>
        </p:txBody>
      </p:sp>
      <p:sp>
        <p:nvSpPr>
          <p:cNvPr id="41" name="bd_326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327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900" dirty="0"/>
          </a:p>
        </p:txBody>
      </p:sp>
      <p:sp>
        <p:nvSpPr>
          <p:cNvPr id="43" name="R8_chip328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31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Marco's birthday dinner</a:t>
            </a:r>
            <a:endParaRPr lang="en-US" sz="2500" dirty="0"/>
          </a:p>
        </p:txBody>
      </p:sp>
      <p:pic>
        <p:nvPicPr>
          <p:cNvPr id="6" name="brP_3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3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note_33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TPRS · story</a:t>
            </a:r>
            <a:endParaRPr lang="en-US" sz="1150" dirty="0"/>
          </a:p>
        </p:txBody>
      </p:sp>
      <p:pic>
        <p:nvPicPr>
          <p:cNvPr id="10" name="logo_3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class story (TPRS)</a:t>
            </a:r>
            <a:endParaRPr lang="en-US" sz="800" dirty="0"/>
          </a:p>
        </p:txBody>
      </p:sp>
      <p:sp>
        <p:nvSpPr>
          <p:cNvPr id="12" name="pf_338"/>
          <p:cNvSpPr/>
          <p:nvPr/>
        </p:nvSpPr>
        <p:spPr>
          <a:xfrm rot="-90000">
            <a:off x="754032" y="1417320"/>
            <a:ext cx="1875217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39" descr="/home/claude/lls-course/v2/cache/1a2_nonna_pasta_jpg_429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99752" y="1463040"/>
            <a:ext cx="1783777" cy="1188720"/>
          </a:xfrm>
          <a:prstGeom prst="rect">
            <a:avLst/>
          </a:prstGeom>
        </p:spPr>
      </p:pic>
      <p:sp>
        <p:nvSpPr>
          <p:cNvPr id="14" name="cd_340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41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42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43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going to…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ho intenzione di…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been practising for…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si esercita da…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 / borrow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può permettersi / prendere in prestito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 · filthy · furious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affamatissimo · sudicio · furioso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never cooked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non ha mai cucinato</a:t>
            </a:r>
            <a:endParaRPr lang="en-US" sz="7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</a:t>
            </a:r>
            <a:pPr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uno spreco di soldi</a:t>
            </a:r>
            <a:endParaRPr lang="en-US" sz="700" dirty="0"/>
          </a:p>
        </p:txBody>
      </p:sp>
      <p:sp>
        <p:nvSpPr>
          <p:cNvPr id="18" name="R1_sb344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45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Marco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saving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money because he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going to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cook for his nonna's 80th birthday.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Marco saving or spending? · Why? · How old is Nonna?</a:t>
            </a:r>
            <a:endParaRPr lang="en-US" sz="900" dirty="0"/>
          </a:p>
        </p:txBody>
      </p:sp>
      <p:sp>
        <p:nvSpPr>
          <p:cNvPr id="20" name="R2_sb346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47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been practising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fried arancine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three weeks, but they're always horrible.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has he been practising? · For three weeks or three days?</a:t>
            </a:r>
            <a:endParaRPr lang="en-US" sz="900" dirty="0"/>
          </a:p>
        </p:txBody>
      </p:sp>
      <p:sp>
        <p:nvSpPr>
          <p:cNvPr id="22" name="R3_sb348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49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afford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prawns, so he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€50 from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stepbrother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Can he afford prawns? · Who does he borrow money from?</a:t>
            </a:r>
            <a:endParaRPr lang="en-US" sz="1150" dirty="0"/>
          </a:p>
        </p:txBody>
      </p:sp>
      <p:sp>
        <p:nvSpPr>
          <p:cNvPr id="24" name="R4_sb350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51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Sunday the family arrives. Everyone is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and Marco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still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they hungry or starving? · What is Marco doing?</a:t>
            </a:r>
            <a:endParaRPr lang="en-US" sz="900" dirty="0"/>
          </a:p>
        </p:txBody>
      </p:sp>
      <p:sp>
        <p:nvSpPr>
          <p:cNvPr id="26" name="R5_sb352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53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's never cooked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prawns! The kitchen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Nonna 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Has he ever cooked prawns? · Is the kitchen clean? · Who is furious?</a:t>
            </a:r>
            <a:endParaRPr lang="en-US" sz="1050" dirty="0"/>
          </a:p>
        </p:txBody>
      </p:sp>
      <p:sp>
        <p:nvSpPr>
          <p:cNvPr id="28" name="R6_sb354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55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end they order a takeaway. '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 waste of money!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 Nonna says, laughing.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they eat Marco's food? · And you – what's the worst meal you've ever cooked?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5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60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note_36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</a:t>
            </a:r>
            <a:endParaRPr lang="en-US" sz="1250" dirty="0"/>
          </a:p>
        </p:txBody>
      </p:sp>
      <p:pic>
        <p:nvPicPr>
          <p:cNvPr id="10" name="logo_3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2" name="pf_365"/>
          <p:cNvSpPr/>
          <p:nvPr/>
        </p:nvSpPr>
        <p:spPr>
          <a:xfrm rot="-120000">
            <a:off x="691515" y="1371600"/>
            <a:ext cx="204597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3" name="ph_366" descr="/home/claude/lls-course/v2/cache/1a1_vox_pop_jpg_470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37235" y="1417320"/>
            <a:ext cx="1954530" cy="1234440"/>
          </a:xfrm>
          <a:prstGeom prst="rect">
            <a:avLst/>
          </a:prstGeom>
        </p:spPr>
      </p:pic>
      <p:sp>
        <p:nvSpPr>
          <p:cNvPr id="14" name="cd_367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68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369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370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often – maybe once a month.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have! / No, never.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rather not say.</a:t>
            </a:r>
            <a:endParaRPr lang="en-US" sz="1150" dirty="0"/>
          </a:p>
        </p:txBody>
      </p:sp>
      <p:sp>
        <p:nvSpPr>
          <p:cNvPr id="18" name="R1_qb371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372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Chocolate – or my mum's arancine!</a:t>
            </a:r>
            <a:endParaRPr lang="en-US" sz="1000" dirty="0"/>
          </a:p>
        </p:txBody>
      </p:sp>
      <p:sp>
        <p:nvSpPr>
          <p:cNvPr id="20" name="R2_qb373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374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About once a week – usually pizza with friends.</a:t>
            </a:r>
            <a:endParaRPr lang="en-US" sz="1000" dirty="0"/>
          </a:p>
        </p:txBody>
      </p:sp>
      <p:sp>
        <p:nvSpPr>
          <p:cNvPr id="22" name="R3_qb375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376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 of the time – but my sister is SO bossy!</a:t>
            </a:r>
            <a:endParaRPr lang="en-US" sz="1000" dirty="0"/>
          </a:p>
        </p:txBody>
      </p:sp>
      <p:sp>
        <p:nvSpPr>
          <p:cNvPr id="24" name="R4_qb377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378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€20 in a raffle. I spent it on a takeaway!</a:t>
            </a:r>
            <a:endParaRPr lang="en-US" sz="1000" dirty="0"/>
          </a:p>
        </p:txBody>
      </p:sp>
      <p:sp>
        <p:nvSpPr>
          <p:cNvPr id="26" name="R5_qb379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380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never. But I'd like to do a charity run.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8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3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385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3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note_38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LISTEN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for detail</a:t>
            </a:r>
            <a:endParaRPr lang="en-US" sz="1150" dirty="0"/>
          </a:p>
        </p:txBody>
      </p:sp>
      <p:pic>
        <p:nvPicPr>
          <p:cNvPr id="10" name="logo_3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2" name="ap_39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3" name="ah_39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4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5" name="ah_39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7" name="pf_393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394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r12-street-interview.jpg</a:t>
            </a:r>
            <a:endParaRPr lang="en-US" sz="900" dirty="0"/>
          </a:p>
        </p:txBody>
      </p:sp>
      <p:sp>
        <p:nvSpPr>
          <p:cNvPr id="19" name="cd_39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9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9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gq_39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850" dirty="0"/>
          </a:p>
        </p:txBody>
      </p:sp>
      <p:sp>
        <p:nvSpPr>
          <p:cNvPr id="23" name="R1_chip39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4" name="gq_40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150" dirty="0"/>
          </a:p>
        </p:txBody>
      </p:sp>
      <p:sp>
        <p:nvSpPr>
          <p:cNvPr id="25" name="R2_chip40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26" name="gq_40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850" dirty="0"/>
          </a:p>
        </p:txBody>
      </p:sp>
      <p:sp>
        <p:nvSpPr>
          <p:cNvPr id="27" name="R3_chip40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28" name="gq_404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850" dirty="0"/>
          </a:p>
        </p:txBody>
      </p:sp>
      <p:sp>
        <p:nvSpPr>
          <p:cNvPr id="29" name="R4_chip405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30" name="gq_406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050" dirty="0"/>
          </a:p>
        </p:txBody>
      </p:sp>
      <p:sp>
        <p:nvSpPr>
          <p:cNvPr id="31" name="R5_chip407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10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1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41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note_41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150" dirty="0"/>
          </a:p>
        </p:txBody>
      </p:sp>
      <p:pic>
        <p:nvPicPr>
          <p:cNvPr id="10" name="logo_4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2" name="pf_417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3" name="phx_418"/>
          <p:cNvSpPr/>
          <p:nvPr/>
        </p:nvSpPr>
        <p:spPr>
          <a:xfrm>
            <a:off x="365760" y="1417320"/>
            <a:ext cx="2697480" cy="12344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r12-dice.jpg</a:t>
            </a:r>
            <a:endParaRPr lang="en-US" sz="900" dirty="0"/>
          </a:p>
        </p:txBody>
      </p:sp>
      <p:sp>
        <p:nvSpPr>
          <p:cNvPr id="14" name="cd_419"/>
          <p:cNvSpPr/>
          <p:nvPr/>
        </p:nvSpPr>
        <p:spPr>
          <a:xfrm>
            <a:off x="320040" y="288036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20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421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422"/>
          <p:cNvSpPr/>
          <p:nvPr/>
        </p:nvSpPr>
        <p:spPr>
          <a:xfrm>
            <a:off x="886968" y="337413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me think…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thing is…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Follow-up: Why? When? How long…?</a:t>
            </a:r>
            <a:endParaRPr lang="en-US" sz="1150" dirty="0"/>
          </a:p>
        </p:txBody>
      </p:sp>
      <p:sp>
        <p:nvSpPr>
          <p:cNvPr id="18" name="R1_qb42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424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Pasta alla Norma – the aubergines are fried, and there's lots of fresh tomato.</a:t>
            </a:r>
            <a:endParaRPr lang="en-US" sz="900" dirty="0"/>
          </a:p>
        </p:txBody>
      </p:sp>
      <p:sp>
        <p:nvSpPr>
          <p:cNvPr id="20" name="R2_qb425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426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learning to drive at the moment – it's terrifying!</a:t>
            </a:r>
            <a:endParaRPr lang="en-US" sz="900" dirty="0"/>
          </a:p>
        </p:txBody>
      </p:sp>
      <p:sp>
        <p:nvSpPr>
          <p:cNvPr id="22" name="R3_qb427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R3_sq428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8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the beach on Saturday, and on Sunday I'm having lunch at my nonna's.</a:t>
            </a:r>
            <a:endParaRPr lang="en-US" sz="850" dirty="0"/>
          </a:p>
        </p:txBody>
      </p:sp>
      <p:sp>
        <p:nvSpPr>
          <p:cNvPr id="24" name="R4_qb429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R4_sq430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brother is really competitive – and a bit moody!</a:t>
            </a:r>
            <a:endParaRPr lang="en-US" sz="900" dirty="0"/>
          </a:p>
        </p:txBody>
      </p:sp>
      <p:sp>
        <p:nvSpPr>
          <p:cNvPr id="26" name="R5_qb431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R5_sq432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Last summer I bought some expensive trainers. I've only worn them twice!</a:t>
            </a:r>
            <a:endParaRPr lang="en-US" sz="900" dirty="0"/>
          </a:p>
        </p:txBody>
      </p:sp>
      <p:sp>
        <p:nvSpPr>
          <p:cNvPr id="28" name="R6_qb433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R6_sq434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9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playing volleyball for six years – since I was ten.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37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4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3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4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note_441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1150" dirty="0"/>
          </a:p>
        </p:txBody>
      </p:sp>
      <p:pic>
        <p:nvPicPr>
          <p:cNvPr id="10" name="logo_4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2" name="cd_444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44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4" name="ih_44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5" name="il_447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= I can do it well · ? = I need practice</a:t>
            </a:r>
            <a:endParaRPr lang="en-US" sz="1050" dirty="0"/>
          </a:p>
        </p:txBody>
      </p:sp>
      <p:sp>
        <p:nvSpPr>
          <p:cNvPr id="16" name="pf_448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449" descr="/home/claude/lls-course/v2/cache/spare_future_aims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18" name="bd_45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45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900" dirty="0"/>
          </a:p>
        </p:txBody>
      </p:sp>
      <p:sp>
        <p:nvSpPr>
          <p:cNvPr id="20" name="R1_chip45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1" name="bd_45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45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900" dirty="0"/>
          </a:p>
        </p:txBody>
      </p:sp>
      <p:sp>
        <p:nvSpPr>
          <p:cNvPr id="23" name="R2_chip45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4" name="bd_45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45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900" dirty="0"/>
          </a:p>
        </p:txBody>
      </p:sp>
      <p:sp>
        <p:nvSpPr>
          <p:cNvPr id="26" name="R3_chip45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7" name="bd_45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46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900" dirty="0"/>
          </a:p>
        </p:txBody>
      </p:sp>
      <p:sp>
        <p:nvSpPr>
          <p:cNvPr id="29" name="R4_chip46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0" name="bd_46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46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900" dirty="0"/>
          </a:p>
        </p:txBody>
      </p:sp>
      <p:sp>
        <p:nvSpPr>
          <p:cNvPr id="32" name="R5_chip46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67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69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4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note_471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4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2" name="bd_474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75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things you can do well now – from Files 1 and 2</a:t>
            </a:r>
            <a:endParaRPr lang="en-US" sz="1400" dirty="0"/>
          </a:p>
        </p:txBody>
      </p:sp>
      <p:sp>
        <p:nvSpPr>
          <p:cNvPr id="14" name="bd_476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77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mistakes from today – and the correct sentence</a:t>
            </a:r>
            <a:endParaRPr lang="en-US" sz="1400" dirty="0"/>
          </a:p>
        </p:txBody>
      </p:sp>
      <p:sp>
        <p:nvSpPr>
          <p:cNvPr id="16" name="bd_478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79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target: what will you revise this week?</a:t>
            </a:r>
            <a:endParaRPr lang="en-US" sz="1400" dirty="0"/>
          </a:p>
        </p:txBody>
      </p:sp>
      <p:sp>
        <p:nvSpPr>
          <p:cNvPr id="18" name="cd_480"/>
          <p:cNvSpPr/>
          <p:nvPr/>
        </p:nvSpPr>
        <p:spPr>
          <a:xfrm>
            <a:off x="5669280" y="1417320"/>
            <a:ext cx="3200400" cy="1837944"/>
          </a:xfrm>
          <a:prstGeom prst="roundRect">
            <a:avLst>
              <a:gd name="adj" fmla="val 69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81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82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83"/>
          <p:cNvSpPr/>
          <p:nvPr/>
        </p:nvSpPr>
        <p:spPr>
          <a:xfrm>
            <a:off x="6236208" y="1911096"/>
            <a:ext cx="25420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 p.25: Can you understand this text? a, b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Online Practice: Check your progress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2" name="st_484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89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491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4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Review · what did you do today?</a:t>
            </a:r>
            <a:endParaRPr lang="en-US" sz="800" dirty="0"/>
          </a:p>
        </p:txBody>
      </p:sp>
      <p:sp>
        <p:nvSpPr>
          <p:cNvPr id="12" name="cd_494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495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🎲</a:t>
            </a:r>
            <a:endParaRPr lang="en-US" sz="1800" dirty="0"/>
          </a:p>
        </p:txBody>
      </p:sp>
      <p:sp>
        <p:nvSpPr>
          <p:cNvPr id="14" name="tt_496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four review games in teams</a:t>
            </a:r>
            <a:endParaRPr lang="en-US" sz="1350" dirty="0"/>
          </a:p>
        </p:txBody>
      </p:sp>
      <p:sp>
        <p:nvSpPr>
          <p:cNvPr id="15" name="R1_tk497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498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499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18" name="tt_500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the book's grammar test – against the clock</a:t>
            </a:r>
            <a:endParaRPr lang="en-US" sz="1350" dirty="0"/>
          </a:p>
        </p:txBody>
      </p:sp>
      <p:sp>
        <p:nvSpPr>
          <p:cNvPr id="19" name="R2_tk501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502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503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22" name="tt_504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five people in the street</a:t>
            </a:r>
            <a:endParaRPr lang="en-US" sz="1350" dirty="0"/>
          </a:p>
        </p:txBody>
      </p:sp>
      <p:sp>
        <p:nvSpPr>
          <p:cNvPr id="23" name="R3_tk505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cd_506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te_507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6" name="tt_508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food, family, money and you</a:t>
            </a:r>
            <a:endParaRPr lang="en-US" sz="1350" dirty="0"/>
          </a:p>
        </p:txBody>
      </p:sp>
      <p:sp>
        <p:nvSpPr>
          <p:cNvPr id="27" name="R4_tk509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8" name="cd_510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te_511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0" name="tt_512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1" name="R5_tk513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2" name="cd_514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te_515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t_516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Chose your own revision target</a:t>
            </a:r>
            <a:endParaRPr lang="en-US" sz="1350" dirty="0"/>
          </a:p>
        </p:txBody>
      </p:sp>
      <p:sp>
        <p:nvSpPr>
          <p:cNvPr id="35" name="R6_tk517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6" name="st_51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19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20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21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22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52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5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27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5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note_52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00" dirty="0">
                <a:solidFill>
                  <a:srgbClr val="5B6785"/>
                </a:solidFill>
              </a:rPr>
              <a:t> → </a:t>
            </a:r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✅ CHECK</a:t>
            </a:r>
            <a:endParaRPr lang="en-US" sz="11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Controlled practice</a:t>
            </a:r>
            <a:endParaRPr lang="en-US" sz="1150" dirty="0"/>
          </a:p>
        </p:txBody>
      </p:sp>
      <p:pic>
        <p:nvPicPr>
          <p:cNvPr id="10" name="logo_5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2" name="ext_532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33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5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536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a: prawns, mussels, duck, squid → duck (not seafood)</a:t>
            </a:r>
            <a:endParaRPr lang="en-US" sz="1050" dirty="0"/>
          </a:p>
        </p:txBody>
      </p:sp>
      <p:sp>
        <p:nvSpPr>
          <p:cNvPr id="17" name="pf_537"/>
          <p:cNvSpPr/>
          <p:nvPr/>
        </p:nvSpPr>
        <p:spPr>
          <a:xfrm rot="-90000">
            <a:off x="365760" y="3110934"/>
            <a:ext cx="2606040" cy="1011035"/>
          </a:xfrm>
          <a:prstGeom prst="roundRect">
            <a:avLst>
              <a:gd name="adj" fmla="val 15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538" descr="/home/claude/lls-course/v2/cache/1a1_fruit_veg_jpg_605x22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3156654"/>
            <a:ext cx="2514600" cy="919595"/>
          </a:xfrm>
          <a:prstGeom prst="rect">
            <a:avLst/>
          </a:prstGeom>
        </p:spPr>
      </p:pic>
      <p:sp>
        <p:nvSpPr>
          <p:cNvPr id="19" name="bd_539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540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1" name="R1_chip541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50" dirty="0"/>
          </a:p>
        </p:txBody>
      </p:sp>
      <p:sp>
        <p:nvSpPr>
          <p:cNvPr id="22" name="bd_542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543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4" name="R2_chip544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50" dirty="0"/>
          </a:p>
        </p:txBody>
      </p:sp>
      <p:sp>
        <p:nvSpPr>
          <p:cNvPr id="25" name="bd_545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546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27" name="R3_chip547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50" dirty="0"/>
          </a:p>
        </p:txBody>
      </p:sp>
      <p:sp>
        <p:nvSpPr>
          <p:cNvPr id="28" name="bd_548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549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0" name="R4_chip550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50" dirty="0"/>
          </a:p>
        </p:txBody>
      </p:sp>
      <p:sp>
        <p:nvSpPr>
          <p:cNvPr id="31" name="bd_551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552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3" name="R5_chip553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50" dirty="0"/>
          </a:p>
        </p:txBody>
      </p:sp>
      <p:sp>
        <p:nvSpPr>
          <p:cNvPr id="34" name="bd_554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555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6" name="R6_chip556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50" dirty="0"/>
          </a:p>
        </p:txBody>
      </p:sp>
      <p:sp>
        <p:nvSpPr>
          <p:cNvPr id="37" name="bd_557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558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39" name="R7_chip559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6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64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6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note_56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 game</a:t>
            </a:r>
            <a:endParaRPr lang="en-US" sz="1250" dirty="0"/>
          </a:p>
        </p:txBody>
      </p:sp>
      <p:pic>
        <p:nvPicPr>
          <p:cNvPr id="10" name="logo_5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5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2" name="ext_569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cd_570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6" name="il_573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a word from Files 1–2 + its topic.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una parola dei File 1–2 + l'argomento.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team: 10 seconds, a word that starts with the LAST letter.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 dopo: 10 secondi, una parola che inizia con l'ULTIMA lettera.</a:t>
            </a:r>
            <a:endParaRPr lang="en-US" sz="8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word or repeated word = point to the other team.</a:t>
            </a:r>
            <a:endParaRPr lang="en-US" sz="8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Nessuna parola o parola ripetuta = punto all'altra squadra.</a:t>
            </a:r>
            <a:endParaRPr lang="en-US" sz="800" dirty="0"/>
          </a:p>
        </p:txBody>
      </p:sp>
      <p:sp>
        <p:nvSpPr>
          <p:cNvPr id="17" name="st_574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8" name="bd_57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19" name="gq_57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250" dirty="0"/>
          </a:p>
        </p:txBody>
      </p:sp>
      <p:sp>
        <p:nvSpPr>
          <p:cNvPr id="20" name="chip_57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200" dirty="0"/>
          </a:p>
        </p:txBody>
      </p:sp>
      <p:sp>
        <p:nvSpPr>
          <p:cNvPr id="21" name="bd_57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57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250" dirty="0"/>
          </a:p>
        </p:txBody>
      </p:sp>
      <p:sp>
        <p:nvSpPr>
          <p:cNvPr id="23" name="R1_chip58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200" dirty="0"/>
          </a:p>
        </p:txBody>
      </p:sp>
      <p:sp>
        <p:nvSpPr>
          <p:cNvPr id="24" name="bd_58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58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250" dirty="0"/>
          </a:p>
        </p:txBody>
      </p:sp>
      <p:sp>
        <p:nvSpPr>
          <p:cNvPr id="26" name="R2_chip58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200" dirty="0"/>
          </a:p>
        </p:txBody>
      </p:sp>
      <p:sp>
        <p:nvSpPr>
          <p:cNvPr id="27" name="bd_58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58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250" dirty="0"/>
          </a:p>
        </p:txBody>
      </p:sp>
      <p:sp>
        <p:nvSpPr>
          <p:cNvPr id="29" name="R3_chip58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200" dirty="0"/>
          </a:p>
        </p:txBody>
      </p:sp>
      <p:sp>
        <p:nvSpPr>
          <p:cNvPr id="30" name="bd_58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58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250" dirty="0"/>
          </a:p>
        </p:txBody>
      </p:sp>
      <p:sp>
        <p:nvSpPr>
          <p:cNvPr id="32" name="R4_chip58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200" dirty="0"/>
          </a:p>
        </p:txBody>
      </p:sp>
      <p:sp>
        <p:nvSpPr>
          <p:cNvPr id="33" name="bd_59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59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250" dirty="0"/>
          </a:p>
        </p:txBody>
      </p:sp>
      <p:sp>
        <p:nvSpPr>
          <p:cNvPr id="35" name="R5_chip59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2026-10-21T09:56:13Z</dcterms:created>
  <dcterms:modified xsi:type="dcterms:W3CDTF">2026-10-21T09:56:13Z</dcterms:modified>
</cp:coreProperties>
</file>