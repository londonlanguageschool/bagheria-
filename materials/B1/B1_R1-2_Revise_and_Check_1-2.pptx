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OPENING (2 min). Show the photo. Ask the THINK question: 'Files 1 and 2 – how much can you remember? Give me one word from File 1 and one from File 2.' Take 4–5 words quickly (no corrections). Read the 'Today you're going to…' list: it's a game and test lesson, so put students in 2–3 TEAMS now and draw a score table on the board. Teams keep the same names all lesson (points from every game add up).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(2 min)
REVISION (2 min) before the warmer game. Left: last lesson's strong adjectives – elicit the normal adjective for each (very tired, very cold, very funny) and check 'Can you say very exhausted?' (no). Right: the four key grammar points of Files 1–2 that today's exam practice tests (present simple / continuous, future forms, present perfect / past simple, How long…? + for / since) – one example each, just to activate them. Then play 'Make it stronger!'.
HOW TO RUN IT (active recap): pairs. Words: A points at a word, B says what it means (⭐); then a sentence with it (⭐⭐); strong students make it negative or a question (⭐⭐⭐). Grammar: pairs make their own example for each use (offer, plan…) BEFORE you click – then click to show the model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Warmer · last lesson: strong adjectives (3 min)
RETRIEVAL WARMER (4 min) · books closed, no notes. Read each 'very' sentence aloud with a bored voice; the first team to shout the strong version (with lots of stress: 'I'm EXhausted!') gets the point. Click once per line to show the model answer. Bonus point for adding 'absolutely' or 'really' – but NOT 'very' (✗ very exhausted → ✓ absolutely / really exhausted): Italian speakers say 'molto stanchissimo' logic, so check it every time. ICQ: 'Can you say very exhausted?' (no). Answers: exhausted · freezing · starving · filthy · furious · hilarious (other correct strong adjectives accepted, e.g. boiling is wrong for cold!).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Game · pronunciation · vowel sounds (4 min)
GAME 2 (4 min) · beat the clock. Say the sound word and the sound (fish – /ɪ/ – fish) and drill it once chorally. Teams have 30 seconds to write as many words from Files 1–2 with that sound as they can. Then click: the model words appear (all from 1A Vocabulary Bank Food, 1A pronunciation 1.6 and 2A audio 2.5–2.7). Teams read their lists aloud: 1 point per word with the right sound; 0 if the sound is wrong (trap: 'money' is /ʌ/, not /ɒ/; 'worth' is /ɜː/, not /ɔː/). Do 3–4 sounds if time is short. Remind them: the Sound Bank on pp.166–167 shows the typical spellings.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Exam practice · SB p.24 Grammar 1–8 (6 min)
EXAM TASK UNDER REAL CONDITIONS (6 min). Books open at p.24. Students do ALL of Grammar 1–15 ALONE, in silence, in 4 minutes (exam conditions; set a visible timer). ICQs: 'Alone or in pairs?' (alone) · 'How many minutes?' (4). Then swap books with a partner to mark. Click once per gap: the right answer appears IN the sentence. TG key: 1 a doesn't like · 2 c I'm usually · 3 a never watch · 4 b I'm studying · 5 c Do you have · 6 c are you going to do · 7 a I'm meeting · 8 c I'll have. (Item 8 is shortened on the slide: book = 'Would you like something to drink?') Don't explain yet – just mark; the WHY comes on slide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Exam practice · SB p.24 Grammar 9–15 (2 min)
CHECK (2 min). Click once per gap. TG key: 9 a Shall I · 10 b did you buy · 11 a I've never been · 12 b haven't spent it yet · 13 a for about three years · 14 c has he been living · 15 b I've been going to. Partners write the score (/15) at the top of the page. Quick hands-up: 'Who got 13 or more?' Ask each student to circle the numbers they got wrong – they use them on the exit slide (their target).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Exam strategy · multiple choice (3 min)
STRATEGY FOCUS (3 min). Click once per card. For each card, point back to a test item: card 1 → items 10 (Where did you buy it?) and 13 (for about three years) · card 2 → item 1 (like = no -ing) · card 3 → items 7 (arrangement), 8 (decide now), 9 (offer) · card 4 → items 1, 4, 6 (one distractor is just a spelling or form mistake). Last click = the exam routine. CCQ: 'last March – finished or not finished?' (finished → past simple, BUT 'Since last March' → present perfect!). Elicit: why is 14c right? (How long + since → present perfect continuous).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Exam practice · second attempt (3 min)
SECOND ATTEMPT (3 min). Pairs, 90 seconds, then click once per sentence (the letter appears). Ask for the CLUE each time (students as teachers): 1 b tastes (taste = non-action verb) · 2 b I'm visiting (arrangement) · 3 b lost (yesterday = finished time) · 4 a 've had (for + non-action verb have = possess) · 5 a Shall I (offer, question) · 6 b have you been waiting (How long + action verb). ICQ: 'Do you just choose, or say the clue too?' (say the clue). The sentences are ours, built only from Files 1–2 grammar.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Game · grammar auction (7 min)
GAME 3 (7 min) · risk. Teach 'auction' (asta) and 'bid' (offerta) with the picture. Teams of 3–4, €1,000 each; teams have 2 minutes to decide which sentences are correct (no clicking yet!). The teacher is the auctioneer: read sentence 1 – 'Who will give me €50?' – minimum bid €50, the highest bid buys it. Write the purchases on the board. When all 8 are sold, click once per sentence to reveal. Teams LOSE the money spent on wrong sentences; the team with the most CORRECT sentences wins (money left = tie-break). Then teams correct the wrong ones aloud. Rules: 1 like = non-action · 2 present continuous for arrangements · 3 going to + evidence · 4 offers = will / shall (typical Italian mistake) · 5 last year = finished time → past simple · 6 present perfect for experiences · 7 How long…? + present perfect · 8 present perfect continuous: a recent action with a visible result. ICQ: 'Do you want to buy the wrong sentences?' (no!).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Game · vocabulary · noughts and crosses (6 min)
GAME 4 (6 min) · choice + strategy. Draw a 3 × 3 grid numbered 1–9 on the board (two teams: X and O; with three teams, play winner-stays-on). Team X chooses a square; the teacher reads the prompt from the slide, the team has 15 seconds: correct = X in the square; wrong = team O can steal it. The answers on the slide come one per click IN ORDER, so DON'T click during the game – use these notes; click through all 9 at the end as a quick check. Answers: 1 any 3 of crab, lobster, mussels, prawns, squid (salmon and tuna are fish) · 2 any 3 of fried, grilled, steamed, roast, boiled, baked · 3 impatient, immature, dishonest · 4 borrow · 5 money a bank lends you to buy a house · 6 stepmother · 7 competitive · 8 out, down · 9 nephew. Game 2 if time: teams must give DIFFERENT answers from game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Speaking · class story (TPRS) (4 min)
TPRS CLASS STORY (4 min) – after the test, the strategy and the two games, and just before the street-interview speaking and the 2.21 listening: one funny story that puts the whole of Files 1–2 together in context – present simple / continuous (is saving, is still cooking), future plans (going to), present perfect continuous + for (has been practising for three weeks), present perfect for experience (has never cooked), money (afford, borrow, a waste of money), family (stepbrother, nonna), food (fried arancine, prawns, takeaway) and strong adjectives (starving, filthy, furious). Click once per line. For each line: 1) say it, 2) ask the questions round the class (yes/no → either/or → who/what), 3) let the CLASS change details: 'Is it Nonna's birthday? No? Whose birthday is it?' – accept their idea and use it in later lines. Students answer with one word or a short phrase – that's fine, but award a team point for a full correct sentence ('He's been practising for three weeks!'). Finish: 'What happens next?' – one or two ideas, then move on to 'Street interview: you!'.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Speaking · before you listen (3 min)
PREDICTION + PERSONALISATION (3 min). These are the five questions the interviewer asks in 2.21 – students answer them first, so they know what to listen for. Questions appear ONE PER CLICK (about 30 seconds each). A interviews B with a pretend microphone (a pen!), then swap for the last two. Polite refusal is on the card – nobody has to talk about family or money. Monitor and note 3–4 errors for the delayed correction at the exit.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Exam practice · listening · 2.21 (5 min)
EXAM-STYLE LISTENING (5 min). Like the B1 Preliminary listening: read the options first (30 seconds), listen twice. Play 2.21 (or the video EF_INT_REVISE_AND_CHECK_1_2.mp4) ONCE; students choose; play AGAIN to check; pairs compare; click once per item. TG key: 1 a · 2 b · 3 b · 4 c · 5 b. Evidence (audio script): 1 'I love roast potatoes, baked potatoes' · 2 'usually pizza, Mexican, or Asian' → pizza = Italian · 3 'we didn't grow up together, but we're now all adults and we get on really well' · 4 'an unplanned long weekend break in the Malverns' (a long WEEKEND = a short holiday – the distractor trap!) · 5 'About six and a half thousand pounds'. Strategy point: in 4 you HEAR 'long' but the answer is 'short' – the exam often uses words from the wrong option. ICQ: 'How many times will you hear it?' (twice).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Speaking · roll and talk (7 min)
SPEAKING (7 min) · chance + challenge. Click 6 times to show all six topics before you start. Groups of 3–4 with a dice (or a dice app / the teacher rolls for the class). The speaker talks about the topic for 45 seconds without stopping; then the group asks two follow-up questions. Same number again = choose any topic. Each topic recycles one grammar point: 1 present simple + cooking (1A) · 2 present continuous for now / temporary (1A) · 3 future forms (1B) · 4 personality (1B) · 5 past simple / present perfect + money (2A) · 6 present perfect continuous + for / since (2B). Topic 4 can be about a friend or a famous person. ICQs: 'How long do you talk?' (45 seconds) · 'What do the others do?' (ask two questions). Monitor and note errors for the exit.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Self-assessment · Can you say this in English? (4 min)
SELF-ASSESSMENT (4 min). Students write ✓ or ? for each line in the book (p.25) or on paper: be honest! Then in pairs they PROVE each ✓ to their partner (30 seconds each). Click once per line to show a model answer for students who need support. Partner decides: 'Yes, you can!' or 'Not yet'. Any '?' becomes the target on the next slide. ICQ: 'Do you tick everything?' (no – only what you can do well).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Exit · what can you remember? (3 min)
RETRIEVAL EXIT + SELF-ASSESSMENT (3 min). Books closed. Students write 3·2·1 on a slip: the '2 mistakes' come from the test, the auction or your delayed correction (write 3–4 errors you noted during the speaking on the board first; students correct them). The '1' is their personal target (e.g. 'I'll revise for / since – Grammar Bank 2B p.135'). Collect the slips: they tell you what to recycle in File 3. Announce the winning team. Homework: SB p.25 reading (TG key: a is now doing · b 1 giving · 2 proud · 3 benefit · 4 might · 5 wasted · 6 improvement · 7 closing), Online Practice Check your progress, homework sheet R1-2 (easier version available). Teacher's Resource Centre: Quick Test 2 / File 2 Test if you want a formal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OPTIONAL EXTENSIONS
The lesson ended on the previous slide ("Today you…"). Use the next slides only if there is time left, or keep them for a quick start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Extra · SB p.24 Vocabulary + Pronunciation (8 min)
EXTRA (8 min, or homework). Pairs do Vocabulary a–e and Pronunciation c–d on p.24 (6 min), then click once per section. TG key: a 1 duck (the others are seafood) · 2 crab (the others are meat) · 3 beetroot (the others are fruits) · 4 raspberry (the others are vegetables) · 5 chicken (the others are ways of cooking) · b 1 dishonest · 2 unfriendly · 3 irresponsible · 4 immature · 5 insensitive · c 1 waste · 2 inherit · 3 earn · 4 borrow · 5 save · d 1 exhausted · 2 starving · 3 freezing · 4 filthy · 5 furious · e 1 out · 2 out · 3 on · 4 back · 5 out · Pronunciation c 1 chicken /ɪ/ · 2 charge /ɑː/ · 3 inherit /h/ · 4 salary /æ/ · 5 steamed /iː/ · d: the stress shown is standard dictionary stress (the TG prints the words without marking it). Score: grammar 15 + vocabulary 25 + pronunciation 10 = 50.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Extra game · word snake (5 min)
EXTRA GAME (5 min) · constraint challenge. Click through the example snake first (one link per click) so everyone sees how it works, then play: write the snake on the board as it grows. Topics: FOOD / COOKING, FAMILY, PERSONALITY, MONEY, STRONG ADJECTIVES. Bonus point for a correct sentence with the word in a Files 1–2 tense (e.g. 'My nephew is going to start school.').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audio" Target="../media/media-13-5.mp3"/><Relationship Id="rId6" Type="http://schemas.microsoft.com/office/2007/relationships/media" Target="../media/media-13-5.mp3"/><Relationship Id="rId7" Type="http://schemas.openxmlformats.org/officeDocument/2006/relationships/image" Target="../media/image-13-7.png"/><Relationship Id="rId8" Type="http://schemas.openxmlformats.org/officeDocument/2006/relationships/audio" Target="../media/media-13-8.mp3"/><Relationship Id="rId9" Type="http://schemas.microsoft.com/office/2007/relationships/media" Target="../media/media-13-8.mp3"/><Relationship Id="rId10" Type="http://schemas.openxmlformats.org/officeDocument/2006/relationships/image" Target="../media/image-13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B1 · SB pp.24–25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R1-2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Revise and Check 1&amp;2</a:t>
            </a:r>
            <a:endParaRPr lang="en-US" sz="19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Play, test and talk!</a:t>
            </a:r>
            <a:endParaRPr lang="en-US" sz="12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42616"/>
            <a:ext cx="354787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🎲  play four review games in teams</a:t>
            </a:r>
            <a:endParaRPr lang="en-US" sz="7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✏️  do the book's grammar test – against the clock</a:t>
            </a:r>
            <a:endParaRPr lang="en-US" sz="7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 listen to five people in the street</a:t>
            </a:r>
            <a:endParaRPr lang="en-US" sz="7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 talk about food, family, money and you</a:t>
            </a:r>
            <a:endParaRPr lang="en-US" sz="7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📖  listen to a class story and answer questions</a:t>
            </a:r>
            <a:endParaRPr lang="en-US" sz="7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 choose your own revision target</a:t>
            </a:r>
            <a:endParaRPr lang="en-US" sz="70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can remember lots of food words and the future forms!</a:t>
            </a:r>
            <a:endParaRPr lang="en-US" sz="1000" dirty="0"/>
          </a:p>
        </p:txBody>
      </p:sp>
      <p:sp>
        <p:nvSpPr>
          <p:cNvPr id="14" name="bb_12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Files 1 and 2: how much can you remember?</a:t>
            </a:r>
            <a:endParaRPr lang="en-US" sz="1600" dirty="0"/>
          </a:p>
        </p:txBody>
      </p:sp>
      <p:sp>
        <p:nvSpPr>
          <p:cNvPr id="15" name="st_13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6" name="logo_1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7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1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19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remember? Say it – then use it in a sentence!</a:t>
            </a:r>
            <a:endParaRPr lang="en-US" sz="1250" dirty="0"/>
          </a:p>
        </p:txBody>
      </p:sp>
      <p:sp>
        <p:nvSpPr>
          <p:cNvPr id="8" name="insIT_2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 ricordi? Dillo – poi usalo in una frase!</a:t>
            </a:r>
            <a:endParaRPr lang="en-US" sz="950" dirty="0"/>
          </a:p>
        </p:txBody>
      </p:sp>
      <p:sp>
        <p:nvSpPr>
          <p:cNvPr id="9" name="note_21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Retrieval</a:t>
            </a:r>
            <a:endParaRPr lang="en-US" sz="1150" dirty="0"/>
          </a:p>
        </p:txBody>
      </p:sp>
      <p:pic>
        <p:nvPicPr>
          <p:cNvPr id="10" name="logo_2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Revision · last lesson</a:t>
            </a:r>
            <a:endParaRPr lang="en-US" sz="800" dirty="0"/>
          </a:p>
        </p:txBody>
      </p:sp>
      <p:sp>
        <p:nvSpPr>
          <p:cNvPr id="12" name="pf_24"/>
          <p:cNvSpPr/>
          <p:nvPr/>
        </p:nvSpPr>
        <p:spPr>
          <a:xfrm rot="-120000">
            <a:off x="365760" y="1371600"/>
            <a:ext cx="2651760" cy="1645920"/>
          </a:xfrm>
          <a:prstGeom prst="roundRect">
            <a:avLst>
              <a:gd name="adj" fmla="val 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3" name="ph_25" descr="/home/claude/lls-course/v2/cache/2b2_freezing_jpg_616x374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554480"/>
          </a:xfrm>
          <a:prstGeom prst="rect">
            <a:avLst/>
          </a:prstGeom>
        </p:spPr>
      </p:pic>
      <p:sp>
        <p:nvSpPr>
          <p:cNvPr id="14" name="cd_26"/>
          <p:cNvSpPr/>
          <p:nvPr/>
        </p:nvSpPr>
        <p:spPr>
          <a:xfrm>
            <a:off x="320040" y="3200400"/>
            <a:ext cx="2743200" cy="1402080"/>
          </a:xfrm>
          <a:prstGeom prst="roundRect">
            <a:avLst>
              <a:gd name="adj" fmla="val 9130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7"/>
          <p:cNvSpPr/>
          <p:nvPr/>
        </p:nvSpPr>
        <p:spPr>
          <a:xfrm>
            <a:off x="411480" y="3273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6" name="ih_28"/>
          <p:cNvSpPr/>
          <p:nvPr/>
        </p:nvSpPr>
        <p:spPr>
          <a:xfrm>
            <a:off x="886968" y="32918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7" name="il_29"/>
          <p:cNvSpPr/>
          <p:nvPr/>
        </p:nvSpPr>
        <p:spPr>
          <a:xfrm>
            <a:off x="886968" y="3694176"/>
            <a:ext cx="2084832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2B: charity challenges, strong adjectives</a:t>
            </a:r>
            <a:endParaRPr lang="en-US" sz="11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today: review of Files 1–2</a:t>
            </a:r>
            <a:endParaRPr lang="en-US" sz="1100" dirty="0"/>
          </a:p>
        </p:txBody>
      </p:sp>
      <p:sp>
        <p:nvSpPr>
          <p:cNvPr id="18" name="kw_30"/>
          <p:cNvSpPr/>
          <p:nvPr/>
        </p:nvSpPr>
        <p:spPr>
          <a:xfrm>
            <a:off x="3246120" y="1417320"/>
            <a:ext cx="5623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Can you remember these words? What do they mean?</a:t>
            </a:r>
            <a:endParaRPr lang="en-US" sz="1200" dirty="0"/>
          </a:p>
        </p:txBody>
      </p:sp>
      <p:sp>
        <p:nvSpPr>
          <p:cNvPr id="19" name="w_31"/>
          <p:cNvSpPr/>
          <p:nvPr/>
        </p:nvSpPr>
        <p:spPr>
          <a:xfrm>
            <a:off x="3246120" y="1783080"/>
            <a:ext cx="1193292" cy="347472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exhausted</a:t>
            </a:r>
            <a:endParaRPr lang="en-US" sz="1200" dirty="0"/>
          </a:p>
        </p:txBody>
      </p:sp>
      <p:sp>
        <p:nvSpPr>
          <p:cNvPr id="20" name="w_32"/>
          <p:cNvSpPr/>
          <p:nvPr/>
        </p:nvSpPr>
        <p:spPr>
          <a:xfrm>
            <a:off x="4530852" y="1783080"/>
            <a:ext cx="1106424" cy="347472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freezing</a:t>
            </a:r>
            <a:endParaRPr lang="en-US" sz="1200" dirty="0"/>
          </a:p>
        </p:txBody>
      </p:sp>
      <p:sp>
        <p:nvSpPr>
          <p:cNvPr id="21" name="w_33"/>
          <p:cNvSpPr/>
          <p:nvPr/>
        </p:nvSpPr>
        <p:spPr>
          <a:xfrm>
            <a:off x="5728716" y="1783080"/>
            <a:ext cx="1106424" cy="347472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starving</a:t>
            </a:r>
            <a:endParaRPr lang="en-US" sz="1200" dirty="0"/>
          </a:p>
        </p:txBody>
      </p:sp>
      <p:sp>
        <p:nvSpPr>
          <p:cNvPr id="22" name="w_34"/>
          <p:cNvSpPr/>
          <p:nvPr/>
        </p:nvSpPr>
        <p:spPr>
          <a:xfrm>
            <a:off x="6926580" y="1783080"/>
            <a:ext cx="932688" cy="347472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filthy</a:t>
            </a:r>
            <a:endParaRPr lang="en-US" sz="1200" dirty="0"/>
          </a:p>
        </p:txBody>
      </p:sp>
      <p:sp>
        <p:nvSpPr>
          <p:cNvPr id="23" name="w_35"/>
          <p:cNvSpPr/>
          <p:nvPr/>
        </p:nvSpPr>
        <p:spPr>
          <a:xfrm>
            <a:off x="3246120" y="2185416"/>
            <a:ext cx="1019556" cy="347472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furious</a:t>
            </a:r>
            <a:endParaRPr lang="en-US" sz="1200" dirty="0"/>
          </a:p>
        </p:txBody>
      </p:sp>
      <p:sp>
        <p:nvSpPr>
          <p:cNvPr id="24" name="w_36"/>
          <p:cNvSpPr/>
          <p:nvPr/>
        </p:nvSpPr>
        <p:spPr>
          <a:xfrm>
            <a:off x="4357116" y="2185416"/>
            <a:ext cx="1193292" cy="347472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hilarious</a:t>
            </a:r>
            <a:endParaRPr lang="en-US" sz="1200" dirty="0"/>
          </a:p>
        </p:txBody>
      </p:sp>
      <p:sp>
        <p:nvSpPr>
          <p:cNvPr id="25" name="w_37"/>
          <p:cNvSpPr/>
          <p:nvPr/>
        </p:nvSpPr>
        <p:spPr>
          <a:xfrm>
            <a:off x="5641848" y="2185416"/>
            <a:ext cx="1193292" cy="347472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terrified</a:t>
            </a:r>
            <a:endParaRPr lang="en-US" sz="1200" dirty="0"/>
          </a:p>
        </p:txBody>
      </p:sp>
      <p:sp>
        <p:nvSpPr>
          <p:cNvPr id="26" name="lv_38"/>
          <p:cNvSpPr/>
          <p:nvPr/>
        </p:nvSpPr>
        <p:spPr>
          <a:xfrm>
            <a:off x="3246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⭐ </a:t>
            </a:r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does it mean?</a:t>
            </a:r>
            <a:endParaRPr lang="en-US" sz="1000" dirty="0"/>
          </a:p>
        </p:txBody>
      </p:sp>
      <p:sp>
        <p:nvSpPr>
          <p:cNvPr id="27" name="lv_39"/>
          <p:cNvSpPr/>
          <p:nvPr/>
        </p:nvSpPr>
        <p:spPr>
          <a:xfrm>
            <a:off x="5151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⭐⭐ </a:t>
            </a:r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 it in a sentence.</a:t>
            </a:r>
            <a:endParaRPr lang="en-US" sz="1000" dirty="0"/>
          </a:p>
        </p:txBody>
      </p:sp>
      <p:sp>
        <p:nvSpPr>
          <p:cNvPr id="28" name="lv_40"/>
          <p:cNvSpPr/>
          <p:nvPr/>
        </p:nvSpPr>
        <p:spPr>
          <a:xfrm>
            <a:off x="7056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⭐⭐⭐ 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it negative or a question!</a:t>
            </a:r>
            <a:endParaRPr lang="en-US" sz="950" dirty="0"/>
          </a:p>
        </p:txBody>
      </p:sp>
      <p:sp>
        <p:nvSpPr>
          <p:cNvPr id="29" name="cd_41"/>
          <p:cNvSpPr/>
          <p:nvPr/>
        </p:nvSpPr>
        <p:spPr>
          <a:xfrm>
            <a:off x="3246120" y="3172968"/>
            <a:ext cx="2756916" cy="1581912"/>
          </a:xfrm>
          <a:prstGeom prst="roundRect">
            <a:avLst>
              <a:gd name="adj" fmla="val 8092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0" name="rh_42"/>
          <p:cNvSpPr/>
          <p:nvPr/>
        </p:nvSpPr>
        <p:spPr>
          <a:xfrm>
            <a:off x="3337560" y="3246120"/>
            <a:ext cx="2574036" cy="310896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turn: </a:t>
            </a:r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Strong adjectives (last lesson)</a:t>
            </a:r>
            <a:endParaRPr lang="en-US" sz="950" dirty="0"/>
          </a:p>
        </p:txBody>
      </p:sp>
      <p:sp>
        <p:nvSpPr>
          <p:cNvPr id="31" name="rf_43"/>
          <p:cNvSpPr/>
          <p:nvPr/>
        </p:nvSpPr>
        <p:spPr>
          <a:xfrm>
            <a:off x="3383280" y="3593592"/>
            <a:ext cx="24825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an absolutely / really – NOT very</a:t>
            </a:r>
            <a:endParaRPr lang="en-US" sz="950" dirty="0"/>
          </a:p>
        </p:txBody>
      </p:sp>
      <p:sp>
        <p:nvSpPr>
          <p:cNvPr id="32" name="R1_rl44"/>
          <p:cNvSpPr/>
          <p:nvPr/>
        </p:nvSpPr>
        <p:spPr>
          <a:xfrm>
            <a:off x="3383280" y="3922776"/>
            <a:ext cx="2482596" cy="7589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ran 10 km. I'm exhausted!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–30°C. It's freezing!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That comedy is hilarious!</a:t>
            </a:r>
            <a:endParaRPr lang="en-US" sz="1100" dirty="0"/>
          </a:p>
        </p:txBody>
      </p:sp>
      <p:sp>
        <p:nvSpPr>
          <p:cNvPr id="33" name="cd_45"/>
          <p:cNvSpPr/>
          <p:nvPr/>
        </p:nvSpPr>
        <p:spPr>
          <a:xfrm>
            <a:off x="6112764" y="3172968"/>
            <a:ext cx="2756916" cy="1581912"/>
          </a:xfrm>
          <a:prstGeom prst="roundRect">
            <a:avLst>
              <a:gd name="adj" fmla="val 8092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4" name="rh_46"/>
          <p:cNvSpPr/>
          <p:nvPr/>
        </p:nvSpPr>
        <p:spPr>
          <a:xfrm>
            <a:off x="6204204" y="3246120"/>
            <a:ext cx="2574036" cy="310896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turn: 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Files 1–2: key grammar</a:t>
            </a:r>
            <a:endParaRPr lang="en-US" sz="1100" dirty="0"/>
          </a:p>
        </p:txBody>
      </p:sp>
      <p:sp>
        <p:nvSpPr>
          <p:cNvPr id="35" name="rf_47"/>
          <p:cNvSpPr/>
          <p:nvPr/>
        </p:nvSpPr>
        <p:spPr>
          <a:xfrm>
            <a:off x="6249924" y="3593592"/>
            <a:ext cx="24825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a How long have you been…? + for / since</a:t>
            </a:r>
            <a:endParaRPr lang="en-US" sz="850" dirty="0"/>
          </a:p>
        </p:txBody>
      </p:sp>
      <p:sp>
        <p:nvSpPr>
          <p:cNvPr id="36" name="R2_rl48"/>
          <p:cNvSpPr/>
          <p:nvPr/>
        </p:nvSpPr>
        <p:spPr>
          <a:xfrm>
            <a:off x="6249924" y="3922776"/>
            <a:ext cx="2482596" cy="7589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usually cook, but today I'm eating out.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seeing Nonna on Sunday.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I've been to Rome. I went in 2020.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5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51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Make it stronger!</a:t>
            </a:r>
            <a:endParaRPr lang="en-US" sz="2500" dirty="0"/>
          </a:p>
        </p:txBody>
      </p:sp>
      <p:pic>
        <p:nvPicPr>
          <p:cNvPr id="6" name="brP_5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53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it stronger! Use ONE strong word.</a:t>
            </a:r>
            <a:endParaRPr lang="en-US" sz="1250" dirty="0"/>
          </a:p>
        </p:txBody>
      </p:sp>
      <p:sp>
        <p:nvSpPr>
          <p:cNvPr id="8" name="insIT_5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Rendila più forte! Usa UNA parola forte.</a:t>
            </a:r>
            <a:endParaRPr lang="en-US" sz="950" dirty="0"/>
          </a:p>
        </p:txBody>
      </p:sp>
      <p:sp>
        <p:nvSpPr>
          <p:cNvPr id="9" name="note_55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GIOCA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Communicative game</a:t>
            </a:r>
            <a:endParaRPr lang="en-US" sz="1250" dirty="0"/>
          </a:p>
        </p:txBody>
      </p:sp>
      <p:pic>
        <p:nvPicPr>
          <p:cNvPr id="10" name="logo_5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5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Warmer · last lesson: strong adjectives   ·   📖 Recycles 2B part 2: strong adjectives (SB p.22–23, audio 2.20)</a:t>
            </a:r>
            <a:endParaRPr lang="en-US" sz="800" dirty="0"/>
          </a:p>
        </p:txBody>
      </p:sp>
      <p:sp>
        <p:nvSpPr>
          <p:cNvPr id="12" name="cd_58"/>
          <p:cNvSpPr/>
          <p:nvPr/>
        </p:nvSpPr>
        <p:spPr>
          <a:xfrm>
            <a:off x="320040" y="1417320"/>
            <a:ext cx="2697480" cy="2514600"/>
          </a:xfrm>
          <a:prstGeom prst="roundRect">
            <a:avLst>
              <a:gd name="adj" fmla="val 5091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5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4" name="ih_6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5" name="il_61"/>
          <p:cNvSpPr/>
          <p:nvPr/>
        </p:nvSpPr>
        <p:spPr>
          <a:xfrm>
            <a:off x="886968" y="1911096"/>
            <a:ext cx="2039112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sentence with 'very'.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0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la frase con 'very'.</a:t>
            </a:r>
            <a:endParaRPr lang="en-US" sz="10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it again with a STRONG adjective.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0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Ridilla con un aggettivo FORTE.</a:t>
            </a:r>
            <a:endParaRPr lang="en-US" sz="10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First team to say it = 1 point.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0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 prima squadra che la dice = 1 punto.</a:t>
            </a:r>
            <a:endParaRPr lang="en-US" sz="1000" dirty="0"/>
          </a:p>
        </p:txBody>
      </p:sp>
      <p:sp>
        <p:nvSpPr>
          <p:cNvPr id="16" name="pf_62"/>
          <p:cNvSpPr/>
          <p:nvPr/>
        </p:nvSpPr>
        <p:spPr>
          <a:xfrm rot="-120000">
            <a:off x="1004977" y="4069080"/>
            <a:ext cx="1281885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63" descr="/home/claude/lls-course/v2/cache/spare_future_stress_jpg_286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1050697" y="4114800"/>
            <a:ext cx="1190445" cy="1051560"/>
          </a:xfrm>
          <a:prstGeom prst="rect">
            <a:avLst/>
          </a:prstGeom>
        </p:spPr>
      </p:pic>
      <p:sp>
        <p:nvSpPr>
          <p:cNvPr id="18" name="bd_64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19" name="gq_65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 ran 10 km. I'm very tired."</a:t>
            </a:r>
            <a:endParaRPr lang="en-US" sz="1250" dirty="0"/>
          </a:p>
        </p:txBody>
      </p:sp>
      <p:sp>
        <p:nvSpPr>
          <p:cNvPr id="20" name="chip_66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I'm exhausted!</a:t>
            </a:r>
            <a:endParaRPr lang="en-US" sz="1200" dirty="0"/>
          </a:p>
        </p:txBody>
      </p:sp>
      <p:sp>
        <p:nvSpPr>
          <p:cNvPr id="21" name="bd_67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gq_68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"It's –30°C. It's very cold!"</a:t>
            </a:r>
            <a:endParaRPr lang="en-US" sz="1250" dirty="0"/>
          </a:p>
        </p:txBody>
      </p:sp>
      <p:sp>
        <p:nvSpPr>
          <p:cNvPr id="23" name="R1_chip69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It's freezing!</a:t>
            </a:r>
            <a:endParaRPr lang="en-US" sz="1200" dirty="0"/>
          </a:p>
        </p:txBody>
      </p:sp>
      <p:sp>
        <p:nvSpPr>
          <p:cNvPr id="24" name="bd_70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gq_71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 haven't eaten all day. I'm very hungry."</a:t>
            </a:r>
            <a:endParaRPr lang="en-US" sz="1250" dirty="0"/>
          </a:p>
        </p:txBody>
      </p:sp>
      <p:sp>
        <p:nvSpPr>
          <p:cNvPr id="26" name="R2_chip72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I'm starving!</a:t>
            </a:r>
            <a:endParaRPr lang="en-US" sz="1200" dirty="0"/>
          </a:p>
        </p:txBody>
      </p:sp>
      <p:sp>
        <p:nvSpPr>
          <p:cNvPr id="27" name="bd_73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gq_74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"Your football boots are very dirty!"</a:t>
            </a:r>
            <a:endParaRPr lang="en-US" sz="1250" dirty="0"/>
          </a:p>
        </p:txBody>
      </p:sp>
      <p:sp>
        <p:nvSpPr>
          <p:cNvPr id="29" name="R3_chip75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They're filthy!</a:t>
            </a:r>
            <a:endParaRPr lang="en-US" sz="1200" dirty="0"/>
          </a:p>
        </p:txBody>
      </p:sp>
      <p:sp>
        <p:nvSpPr>
          <p:cNvPr id="30" name="bd_76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gq_77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"Mum saw the phone bill. She was very angry."</a:t>
            </a:r>
            <a:endParaRPr lang="en-US" sz="1250" dirty="0"/>
          </a:p>
        </p:txBody>
      </p:sp>
      <p:sp>
        <p:nvSpPr>
          <p:cNvPr id="32" name="R4_chip78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was furious!</a:t>
            </a:r>
            <a:endParaRPr lang="en-US" sz="1200" dirty="0"/>
          </a:p>
        </p:txBody>
      </p:sp>
      <p:sp>
        <p:nvSpPr>
          <p:cNvPr id="33" name="bd_79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4" name="gq_80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"That comedy is very funny."</a:t>
            </a:r>
            <a:endParaRPr lang="en-US" sz="1250" dirty="0"/>
          </a:p>
        </p:txBody>
      </p:sp>
      <p:sp>
        <p:nvSpPr>
          <p:cNvPr id="35" name="R5_chip81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It's hilarious!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8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8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461565" cy="621792"/>
          </a:xfrm>
          <a:prstGeom prst="rect">
            <a:avLst/>
          </a:prstGeom>
        </p:spPr>
      </p:pic>
      <p:sp>
        <p:nvSpPr>
          <p:cNvPr id="5" name="title_84"/>
          <p:cNvSpPr/>
          <p:nvPr/>
        </p:nvSpPr>
        <p:spPr>
          <a:xfrm>
            <a:off x="1261872" y="164592"/>
            <a:ext cx="218724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Sound race!</a:t>
            </a:r>
            <a:endParaRPr lang="en-US" sz="2500" dirty="0"/>
          </a:p>
        </p:txBody>
      </p:sp>
      <p:pic>
        <p:nvPicPr>
          <p:cNvPr id="6" name="brP_8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86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30 seconds: write words with this sound!</a:t>
            </a:r>
            <a:endParaRPr lang="en-US" sz="1250" dirty="0"/>
          </a:p>
        </p:txBody>
      </p:sp>
      <p:sp>
        <p:nvSpPr>
          <p:cNvPr id="8" name="insIT_8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30 secondi: scrivete parole con questo suono!</a:t>
            </a:r>
            <a:endParaRPr lang="en-US" sz="950" dirty="0"/>
          </a:p>
        </p:txBody>
      </p:sp>
      <p:sp>
        <p:nvSpPr>
          <p:cNvPr id="9" name="note_88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🔊 SAY IT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🏆 teams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 · Communicative game</a:t>
            </a:r>
            <a:endParaRPr lang="en-US" sz="1150" dirty="0"/>
          </a:p>
        </p:txBody>
      </p:sp>
      <p:pic>
        <p:nvPicPr>
          <p:cNvPr id="10" name="logo_8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9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Game · pronunciation · vowel sounds   ·   📖 SB p.24 · Pronunciation a, b · Sound Bank pp.166–167 · recycles 1A (vowels) and 2A (o and or)</a:t>
            </a:r>
            <a:endParaRPr lang="en-US" sz="700" dirty="0"/>
          </a:p>
        </p:txBody>
      </p:sp>
      <p:sp>
        <p:nvSpPr>
          <p:cNvPr id="12" name="cd_91"/>
          <p:cNvSpPr/>
          <p:nvPr/>
        </p:nvSpPr>
        <p:spPr>
          <a:xfrm>
            <a:off x="320040" y="1417320"/>
            <a:ext cx="2697480" cy="2514600"/>
          </a:xfrm>
          <a:prstGeom prst="roundRect">
            <a:avLst>
              <a:gd name="adj" fmla="val 5091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9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4" name="ih_9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5" name="il_94"/>
          <p:cNvSpPr/>
          <p:nvPr/>
        </p:nvSpPr>
        <p:spPr>
          <a:xfrm>
            <a:off x="886968" y="1911096"/>
            <a:ext cx="2039112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See the sound picture.</a:t>
            </a:r>
            <a:endParaRPr lang="en-US" sz="9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Guarda l'immagine del suono.</a:t>
            </a:r>
            <a:endParaRPr lang="en-US" sz="9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30 seconds: write words from Files 1–2 with that sound.</a:t>
            </a:r>
            <a:endParaRPr lang="en-US" sz="9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30 secondi: scrivete parole dei File 1–2 con quel suono.</a:t>
            </a:r>
            <a:endParaRPr lang="en-US" sz="9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Right sound = 1 point per word.</a:t>
            </a:r>
            <a:endParaRPr lang="en-US" sz="9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Suono giusto = 1 punto a parola.</a:t>
            </a:r>
            <a:endParaRPr lang="en-US" sz="950" dirty="0"/>
          </a:p>
        </p:txBody>
      </p:sp>
      <p:sp>
        <p:nvSpPr>
          <p:cNvPr id="16" name="pf_95"/>
          <p:cNvSpPr/>
          <p:nvPr/>
        </p:nvSpPr>
        <p:spPr>
          <a:xfrm rot="-120000">
            <a:off x="689435" y="4069080"/>
            <a:ext cx="1912971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96" descr="/home/claude/lls-course/v2/cache/1a1_first_day_jpg_438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735155" y="4114800"/>
            <a:ext cx="1821531" cy="1051560"/>
          </a:xfrm>
          <a:prstGeom prst="rect">
            <a:avLst/>
          </a:prstGeom>
        </p:spPr>
      </p:pic>
      <p:sp>
        <p:nvSpPr>
          <p:cNvPr id="18" name="bd_97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19" name="gq_98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🐟 fish /ɪ/</a:t>
            </a:r>
            <a:endParaRPr lang="en-US" sz="1250" dirty="0"/>
          </a:p>
        </p:txBody>
      </p:sp>
      <p:sp>
        <p:nvSpPr>
          <p:cNvPr id="20" name="chip_99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chicken · grilled · squid · inherit</a:t>
            </a:r>
            <a:endParaRPr lang="en-US" sz="1200" dirty="0"/>
          </a:p>
        </p:txBody>
      </p:sp>
      <p:sp>
        <p:nvSpPr>
          <p:cNvPr id="21" name="bd_100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gq_101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🌳 tree /iː/</a:t>
            </a:r>
            <a:endParaRPr lang="en-US" sz="1250" dirty="0"/>
          </a:p>
        </p:txBody>
      </p:sp>
      <p:sp>
        <p:nvSpPr>
          <p:cNvPr id="23" name="R1_chip102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steamed · green beans · beef · peach</a:t>
            </a:r>
            <a:endParaRPr lang="en-US" sz="1200" dirty="0"/>
          </a:p>
        </p:txBody>
      </p:sp>
      <p:sp>
        <p:nvSpPr>
          <p:cNvPr id="24" name="bd_103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gq_104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🐱 cat /æ/</a:t>
            </a:r>
            <a:endParaRPr lang="en-US" sz="1250" dirty="0"/>
          </a:p>
        </p:txBody>
      </p:sp>
      <p:sp>
        <p:nvSpPr>
          <p:cNvPr id="26" name="R2_chip105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crab · lamb · jam · salary</a:t>
            </a:r>
            <a:endParaRPr lang="en-US" sz="1200" dirty="0"/>
          </a:p>
        </p:txBody>
      </p:sp>
      <p:sp>
        <p:nvSpPr>
          <p:cNvPr id="27" name="bd_106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gq_107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☝️ up /ʌ/</a:t>
            </a:r>
            <a:endParaRPr lang="en-US" sz="1250" dirty="0"/>
          </a:p>
        </p:txBody>
      </p:sp>
      <p:sp>
        <p:nvSpPr>
          <p:cNvPr id="29" name="R3_chip108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money · nothing · worry · done</a:t>
            </a:r>
            <a:endParaRPr lang="en-US" sz="1200" dirty="0"/>
          </a:p>
        </p:txBody>
      </p:sp>
      <p:sp>
        <p:nvSpPr>
          <p:cNvPr id="30" name="bd_109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gq_110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🐴 horse /ɔː/</a:t>
            </a:r>
            <a:endParaRPr lang="en-US" sz="1250" dirty="0"/>
          </a:p>
        </p:txBody>
      </p:sp>
      <p:sp>
        <p:nvSpPr>
          <p:cNvPr id="32" name="R4_chip111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pork · prawns · afford · mortgage</a:t>
            </a:r>
            <a:endParaRPr lang="en-US" sz="1200" dirty="0"/>
          </a:p>
        </p:txBody>
      </p:sp>
      <p:sp>
        <p:nvSpPr>
          <p:cNvPr id="33" name="bd_112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4" name="gq_113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📱 phone /əʊ/</a:t>
            </a:r>
            <a:endParaRPr lang="en-US" sz="1250" dirty="0"/>
          </a:p>
        </p:txBody>
      </p:sp>
      <p:sp>
        <p:nvSpPr>
          <p:cNvPr id="35" name="R5_chip114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owe · loan · clothes · won't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1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1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117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 task: grammar</a:t>
            </a:r>
            <a:endParaRPr lang="en-US" sz="2400" dirty="0"/>
          </a:p>
        </p:txBody>
      </p:sp>
      <p:pic>
        <p:nvPicPr>
          <p:cNvPr id="6" name="brP_11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685032" cy="402336"/>
          </a:xfrm>
          <a:prstGeom prst="rect">
            <a:avLst/>
          </a:prstGeom>
        </p:spPr>
      </p:pic>
      <p:sp>
        <p:nvSpPr>
          <p:cNvPr id="7" name="ins_119"/>
          <p:cNvSpPr/>
          <p:nvPr/>
        </p:nvSpPr>
        <p:spPr>
          <a:xfrm>
            <a:off x="1353312" y="731520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Test! Choose a, b or c. 4 minutes.</a:t>
            </a:r>
            <a:endParaRPr lang="en-US" sz="1250" dirty="0"/>
          </a:p>
        </p:txBody>
      </p:sp>
      <p:sp>
        <p:nvSpPr>
          <p:cNvPr id="8" name="insIT_12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Test! Scegli a, b o c. 4 minuti.</a:t>
            </a:r>
            <a:endParaRPr lang="en-US" sz="950" dirty="0"/>
          </a:p>
        </p:txBody>
      </p:sp>
      <p:sp>
        <p:nvSpPr>
          <p:cNvPr id="9" name="note_121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✏️ FILL THE GAPS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✅ CHECK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👤 alone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TPRS · reading</a:t>
            </a:r>
            <a:endParaRPr lang="en-US" sz="1150" dirty="0"/>
          </a:p>
        </p:txBody>
      </p:sp>
      <p:pic>
        <p:nvPicPr>
          <p:cNvPr id="10" name="logo_12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2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Exam practice · SB p.24 Grammar 1–8   ·   📖 SB p.24 · Revise and Check · GRAMMAR 1–8 (TG key)</a:t>
            </a:r>
            <a:endParaRPr lang="en-US" sz="800" dirty="0"/>
          </a:p>
        </p:txBody>
      </p:sp>
      <p:sp>
        <p:nvSpPr>
          <p:cNvPr id="12" name="cd_124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sh_125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Circle a, b or c  (SB p.24)</a:t>
            </a:r>
            <a:endParaRPr lang="en-US" sz="1700" dirty="0"/>
          </a:p>
        </p:txBody>
      </p:sp>
      <p:sp>
        <p:nvSpPr>
          <p:cNvPr id="14" name="ln_126"/>
          <p:cNvSpPr/>
          <p:nvPr/>
        </p:nvSpPr>
        <p:spPr>
          <a:xfrm>
            <a:off x="548640" y="1920240"/>
            <a:ext cx="5349240" cy="293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 My sister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(1) ________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fish or seafood.</a:t>
            </a:r>
            <a:endParaRPr lang="en-US" sz="1200" dirty="0"/>
          </a:p>
        </p:txBody>
      </p:sp>
      <p:sp>
        <p:nvSpPr>
          <p:cNvPr id="15" name="R1_lnA127"/>
          <p:cNvSpPr/>
          <p:nvPr/>
        </p:nvSpPr>
        <p:spPr>
          <a:xfrm>
            <a:off x="548640" y="1920240"/>
            <a:ext cx="5349240" cy="29326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 My sister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  doesn't like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fish or seafood.</a:t>
            </a:r>
            <a:endParaRPr lang="en-US" sz="1200" dirty="0"/>
          </a:p>
        </p:txBody>
      </p:sp>
      <p:sp>
        <p:nvSpPr>
          <p:cNvPr id="16" name="ln_128"/>
          <p:cNvSpPr/>
          <p:nvPr/>
        </p:nvSpPr>
        <p:spPr>
          <a:xfrm>
            <a:off x="548640" y="2213508"/>
            <a:ext cx="5349240" cy="39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 I have a quick breakfast because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(2) ________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a hurry.</a:t>
            </a:r>
            <a:endParaRPr lang="en-US" sz="1200" dirty="0"/>
          </a:p>
        </p:txBody>
      </p:sp>
      <p:sp>
        <p:nvSpPr>
          <p:cNvPr id="17" name="R2_lnA129"/>
          <p:cNvSpPr/>
          <p:nvPr/>
        </p:nvSpPr>
        <p:spPr>
          <a:xfrm>
            <a:off x="548640" y="2213508"/>
            <a:ext cx="5349240" cy="39102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 I have a quick breakfast because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c  I'm usually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a hurry.</a:t>
            </a:r>
            <a:endParaRPr lang="en-US" sz="1200" dirty="0"/>
          </a:p>
        </p:txBody>
      </p:sp>
      <p:sp>
        <p:nvSpPr>
          <p:cNvPr id="18" name="ln_130"/>
          <p:cNvSpPr/>
          <p:nvPr/>
        </p:nvSpPr>
        <p:spPr>
          <a:xfrm>
            <a:off x="548640" y="2604532"/>
            <a:ext cx="5349240" cy="2990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 I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(3) ________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TV when I'm having a meal.</a:t>
            </a:r>
            <a:endParaRPr lang="en-US" sz="1200" dirty="0"/>
          </a:p>
        </p:txBody>
      </p:sp>
      <p:sp>
        <p:nvSpPr>
          <p:cNvPr id="19" name="R3_lnA131"/>
          <p:cNvSpPr/>
          <p:nvPr/>
        </p:nvSpPr>
        <p:spPr>
          <a:xfrm>
            <a:off x="548640" y="2604532"/>
            <a:ext cx="5349240" cy="29901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 I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  never watch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TV when I'm having a meal.</a:t>
            </a:r>
            <a:endParaRPr lang="en-US" sz="1200" dirty="0"/>
          </a:p>
        </p:txBody>
      </p:sp>
      <p:sp>
        <p:nvSpPr>
          <p:cNvPr id="20" name="ln_132"/>
          <p:cNvSpPr/>
          <p:nvPr/>
        </p:nvSpPr>
        <p:spPr>
          <a:xfrm>
            <a:off x="548640" y="2903550"/>
            <a:ext cx="5349240" cy="327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(4) ________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hard for my exams at the moment.</a:t>
            </a:r>
            <a:endParaRPr lang="en-US" sz="1200" dirty="0"/>
          </a:p>
        </p:txBody>
      </p:sp>
      <p:sp>
        <p:nvSpPr>
          <p:cNvPr id="21" name="R4_lnA133"/>
          <p:cNvSpPr/>
          <p:nvPr/>
        </p:nvSpPr>
        <p:spPr>
          <a:xfrm>
            <a:off x="548640" y="2903550"/>
            <a:ext cx="5349240" cy="32777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b  I'm studying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hard for my exams at the moment.</a:t>
            </a:r>
            <a:endParaRPr lang="en-US" sz="1200" dirty="0"/>
          </a:p>
        </p:txBody>
      </p:sp>
      <p:sp>
        <p:nvSpPr>
          <p:cNvPr id="22" name="ln_134"/>
          <p:cNvSpPr/>
          <p:nvPr/>
        </p:nvSpPr>
        <p:spPr>
          <a:xfrm>
            <a:off x="548640" y="3231320"/>
            <a:ext cx="5349240" cy="276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(5) ________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any brothers or sisters?</a:t>
            </a:r>
            <a:endParaRPr lang="en-US" sz="1200" dirty="0"/>
          </a:p>
        </p:txBody>
      </p:sp>
      <p:sp>
        <p:nvSpPr>
          <p:cNvPr id="23" name="R5_lnA135"/>
          <p:cNvSpPr/>
          <p:nvPr/>
        </p:nvSpPr>
        <p:spPr>
          <a:xfrm>
            <a:off x="548640" y="3231320"/>
            <a:ext cx="5349240" cy="27601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c  Do you have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any brothers or sisters?</a:t>
            </a:r>
            <a:endParaRPr lang="en-US" sz="1200" dirty="0"/>
          </a:p>
        </p:txBody>
      </p:sp>
      <p:sp>
        <p:nvSpPr>
          <p:cNvPr id="24" name="ln_136"/>
          <p:cNvSpPr/>
          <p:nvPr/>
        </p:nvSpPr>
        <p:spPr>
          <a:xfrm>
            <a:off x="548640" y="3507337"/>
            <a:ext cx="5349240" cy="339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 What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(6) ________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when you leave school?</a:t>
            </a:r>
            <a:endParaRPr lang="en-US" sz="1200" dirty="0"/>
          </a:p>
        </p:txBody>
      </p:sp>
      <p:sp>
        <p:nvSpPr>
          <p:cNvPr id="25" name="R6_lnA137"/>
          <p:cNvSpPr/>
          <p:nvPr/>
        </p:nvSpPr>
        <p:spPr>
          <a:xfrm>
            <a:off x="548640" y="3507337"/>
            <a:ext cx="5349240" cy="33927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 What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c  are you going to do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when you leave school?</a:t>
            </a:r>
            <a:endParaRPr lang="en-US" sz="1200" dirty="0"/>
          </a:p>
        </p:txBody>
      </p:sp>
      <p:sp>
        <p:nvSpPr>
          <p:cNvPr id="26" name="ln_138"/>
          <p:cNvSpPr/>
          <p:nvPr/>
        </p:nvSpPr>
        <p:spPr>
          <a:xfrm>
            <a:off x="548640" y="3846607"/>
            <a:ext cx="5349240" cy="425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 I can't see you this evening because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(7) ________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some friends.</a:t>
            </a:r>
            <a:endParaRPr lang="en-US" sz="1200" dirty="0"/>
          </a:p>
        </p:txBody>
      </p:sp>
      <p:sp>
        <p:nvSpPr>
          <p:cNvPr id="27" name="R7_lnA139"/>
          <p:cNvSpPr/>
          <p:nvPr/>
        </p:nvSpPr>
        <p:spPr>
          <a:xfrm>
            <a:off x="548640" y="3846607"/>
            <a:ext cx="5349240" cy="42552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 I can't see you this evening because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  I'm meeting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some friends.</a:t>
            </a:r>
            <a:endParaRPr lang="en-US" sz="1200" dirty="0"/>
          </a:p>
        </p:txBody>
      </p:sp>
      <p:sp>
        <p:nvSpPr>
          <p:cNvPr id="28" name="ln_140"/>
          <p:cNvSpPr/>
          <p:nvPr/>
        </p:nvSpPr>
        <p:spPr>
          <a:xfrm>
            <a:off x="548640" y="4272133"/>
            <a:ext cx="5349240" cy="437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 A Something to drink?  B Yes,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(8) ________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 orange juice, please.</a:t>
            </a:r>
            <a:endParaRPr lang="en-US" sz="1200" dirty="0"/>
          </a:p>
        </p:txBody>
      </p:sp>
      <p:sp>
        <p:nvSpPr>
          <p:cNvPr id="29" name="R8_lnA141"/>
          <p:cNvSpPr/>
          <p:nvPr/>
        </p:nvSpPr>
        <p:spPr>
          <a:xfrm>
            <a:off x="548640" y="4272133"/>
            <a:ext cx="5349240" cy="43702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 A Something to drink?  B Yes,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c  I'll have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 orange juice, please.</a:t>
            </a:r>
            <a:endParaRPr lang="en-US" sz="1200" dirty="0"/>
          </a:p>
        </p:txBody>
      </p:sp>
      <p:sp>
        <p:nvSpPr>
          <p:cNvPr id="30" name="pf_142"/>
          <p:cNvSpPr/>
          <p:nvPr/>
        </p:nvSpPr>
        <p:spPr>
          <a:xfrm rot="120000">
            <a:off x="6766313" y="1417320"/>
            <a:ext cx="1646413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1" name="ph_143" descr="/home/claude/lls-course/v2/cache/spare_work_training_jpg_374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812033" y="1463040"/>
            <a:ext cx="1554973" cy="1417320"/>
          </a:xfrm>
          <a:prstGeom prst="rect">
            <a:avLst/>
          </a:prstGeom>
        </p:spPr>
      </p:pic>
      <p:sp>
        <p:nvSpPr>
          <p:cNvPr id="32" name="cd_144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3" name="ii_145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34" name="ih_146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35" name="il_147"/>
          <p:cNvSpPr/>
          <p:nvPr/>
        </p:nvSpPr>
        <p:spPr>
          <a:xfrm>
            <a:off x="6830568" y="4288536"/>
            <a:ext cx="1993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Alone · no talking · 4 minutes</a:t>
            </a:r>
            <a:endParaRPr lang="en-US" sz="9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point each · ___ / 15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4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4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150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 task: grammar</a:t>
            </a:r>
            <a:endParaRPr lang="en-US" sz="2400" dirty="0"/>
          </a:p>
        </p:txBody>
      </p:sp>
      <p:pic>
        <p:nvPicPr>
          <p:cNvPr id="6" name="brP_15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250692" cy="402336"/>
          </a:xfrm>
          <a:prstGeom prst="rect">
            <a:avLst/>
          </a:prstGeom>
        </p:spPr>
      </p:pic>
      <p:sp>
        <p:nvSpPr>
          <p:cNvPr id="7" name="ins_152"/>
          <p:cNvSpPr/>
          <p:nvPr/>
        </p:nvSpPr>
        <p:spPr>
          <a:xfrm>
            <a:off x="1353312" y="731520"/>
            <a:ext cx="29946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Check 9–15. Count your score!</a:t>
            </a:r>
            <a:endParaRPr lang="en-US" sz="1250" dirty="0"/>
          </a:p>
        </p:txBody>
      </p:sp>
      <p:sp>
        <p:nvSpPr>
          <p:cNvPr id="8" name="insIT_15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Controlla 9–15. Conta i punti!</a:t>
            </a:r>
            <a:endParaRPr lang="en-US" sz="950" dirty="0"/>
          </a:p>
        </p:txBody>
      </p:sp>
      <p:sp>
        <p:nvSpPr>
          <p:cNvPr id="9" name="note_154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✅ CHECK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CONTROLLA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TPRS · reading</a:t>
            </a:r>
            <a:endParaRPr lang="en-US" sz="1250" dirty="0"/>
          </a:p>
        </p:txBody>
      </p:sp>
      <p:pic>
        <p:nvPicPr>
          <p:cNvPr id="10" name="logo_15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5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Exam practice · SB p.24 Grammar 9–15   ·   📖 SB p.24 · Revise and Check · GRAMMAR 9–15 (TG key)</a:t>
            </a:r>
            <a:endParaRPr lang="en-US" sz="800" dirty="0"/>
          </a:p>
        </p:txBody>
      </p:sp>
      <p:sp>
        <p:nvSpPr>
          <p:cNvPr id="12" name="cd_157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sh_158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Circle a, b or c  (SB p.24)</a:t>
            </a:r>
            <a:endParaRPr lang="en-US" sz="1700" dirty="0"/>
          </a:p>
        </p:txBody>
      </p:sp>
      <p:sp>
        <p:nvSpPr>
          <p:cNvPr id="14" name="ln_159"/>
          <p:cNvSpPr/>
          <p:nvPr/>
        </p:nvSpPr>
        <p:spPr>
          <a:xfrm>
            <a:off x="548640" y="1920240"/>
            <a:ext cx="5349240" cy="3740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  A I can't open this jar.  B </a:t>
            </a:r>
            <a:pPr indent="0" marL="0">
              <a:buNone/>
            </a:pPr>
            <a:r>
              <a:rPr lang="en-US" sz="13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(9) ________ 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help you?</a:t>
            </a:r>
            <a:endParaRPr lang="en-US" sz="1300" dirty="0"/>
          </a:p>
        </p:txBody>
      </p:sp>
      <p:sp>
        <p:nvSpPr>
          <p:cNvPr id="15" name="R1_lnA160"/>
          <p:cNvSpPr/>
          <p:nvPr/>
        </p:nvSpPr>
        <p:spPr>
          <a:xfrm>
            <a:off x="548640" y="1920240"/>
            <a:ext cx="5349240" cy="374043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  A I can't open this jar.  B </a:t>
            </a:r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  Shall I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help you?</a:t>
            </a:r>
            <a:endParaRPr lang="en-US" sz="1300" dirty="0"/>
          </a:p>
        </p:txBody>
      </p:sp>
      <p:sp>
        <p:nvSpPr>
          <p:cNvPr id="16" name="ln_161"/>
          <p:cNvSpPr/>
          <p:nvPr/>
        </p:nvSpPr>
        <p:spPr>
          <a:xfrm>
            <a:off x="548640" y="2294283"/>
            <a:ext cx="5349240" cy="380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 That's a lovely dress. Where </a:t>
            </a:r>
            <a:pPr indent="0" marL="0">
              <a:buNone/>
            </a:pPr>
            <a:r>
              <a:rPr lang="en-US" sz="13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(10) ________ 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it?</a:t>
            </a:r>
            <a:endParaRPr lang="en-US" sz="1300" dirty="0"/>
          </a:p>
        </p:txBody>
      </p:sp>
      <p:sp>
        <p:nvSpPr>
          <p:cNvPr id="17" name="R2_lnA162"/>
          <p:cNvSpPr/>
          <p:nvPr/>
        </p:nvSpPr>
        <p:spPr>
          <a:xfrm>
            <a:off x="548640" y="2294283"/>
            <a:ext cx="5349240" cy="38060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 That's a lovely dress. Where </a:t>
            </a:r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b  did you buy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it?</a:t>
            </a:r>
            <a:endParaRPr lang="en-US" sz="1300" dirty="0"/>
          </a:p>
        </p:txBody>
      </p:sp>
      <p:sp>
        <p:nvSpPr>
          <p:cNvPr id="18" name="ln_163"/>
          <p:cNvSpPr/>
          <p:nvPr/>
        </p:nvSpPr>
        <p:spPr>
          <a:xfrm>
            <a:off x="548640" y="2674889"/>
            <a:ext cx="5349240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  </a:t>
            </a:r>
            <a:pPr indent="0" marL="0">
              <a:buNone/>
            </a:pPr>
            <a:r>
              <a:rPr lang="en-US" sz="13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(11) ________ 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good at saving money.</a:t>
            </a:r>
            <a:endParaRPr lang="en-US" sz="1300" dirty="0"/>
          </a:p>
        </p:txBody>
      </p:sp>
      <p:sp>
        <p:nvSpPr>
          <p:cNvPr id="19" name="R3_lnA164"/>
          <p:cNvSpPr/>
          <p:nvPr/>
        </p:nvSpPr>
        <p:spPr>
          <a:xfrm>
            <a:off x="548640" y="2674889"/>
            <a:ext cx="5349240" cy="33467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  </a:t>
            </a:r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  I've never been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good at saving money.</a:t>
            </a:r>
            <a:endParaRPr lang="en-US" sz="1300" dirty="0"/>
          </a:p>
        </p:txBody>
      </p:sp>
      <p:sp>
        <p:nvSpPr>
          <p:cNvPr id="20" name="ln_165"/>
          <p:cNvSpPr/>
          <p:nvPr/>
        </p:nvSpPr>
        <p:spPr>
          <a:xfrm>
            <a:off x="548640" y="3009559"/>
            <a:ext cx="5349240" cy="4462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 I got £50 for my birthday, but I </a:t>
            </a:r>
            <a:pPr indent="0" marL="0">
              <a:buNone/>
            </a:pPr>
            <a:r>
              <a:rPr lang="en-US" sz="13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(12) ________ 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21" name="R4_lnA166"/>
          <p:cNvSpPr/>
          <p:nvPr/>
        </p:nvSpPr>
        <p:spPr>
          <a:xfrm>
            <a:off x="548640" y="3009559"/>
            <a:ext cx="5349240" cy="44622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 I got £50 for my birthday, but I </a:t>
            </a:r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b  haven't spent it yet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22" name="ln_167"/>
          <p:cNvSpPr/>
          <p:nvPr/>
        </p:nvSpPr>
        <p:spPr>
          <a:xfrm>
            <a:off x="548640" y="3455787"/>
            <a:ext cx="5349240" cy="367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  I've had this phone </a:t>
            </a:r>
            <a:pPr indent="0" marL="0">
              <a:buNone/>
            </a:pPr>
            <a:r>
              <a:rPr lang="en-US" sz="13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(13) ________ 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23" name="R5_lnA168"/>
          <p:cNvSpPr/>
          <p:nvPr/>
        </p:nvSpPr>
        <p:spPr>
          <a:xfrm>
            <a:off x="548640" y="3455787"/>
            <a:ext cx="5349240" cy="36748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  I've had this phone </a:t>
            </a:r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  for about three years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24" name="ln_169"/>
          <p:cNvSpPr/>
          <p:nvPr/>
        </p:nvSpPr>
        <p:spPr>
          <a:xfrm>
            <a:off x="548640" y="3823268"/>
            <a:ext cx="5349240" cy="48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  A How long </a:t>
            </a:r>
            <a:pPr indent="0" marL="0">
              <a:buNone/>
            </a:pPr>
            <a:r>
              <a:rPr lang="en-US" sz="13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(14) ________ 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Paris?  B Since last March.</a:t>
            </a:r>
            <a:endParaRPr lang="en-US" sz="1300" dirty="0"/>
          </a:p>
        </p:txBody>
      </p:sp>
      <p:sp>
        <p:nvSpPr>
          <p:cNvPr id="25" name="R6_lnA170"/>
          <p:cNvSpPr/>
          <p:nvPr/>
        </p:nvSpPr>
        <p:spPr>
          <a:xfrm>
            <a:off x="548640" y="3823268"/>
            <a:ext cx="5349240" cy="4856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  A How long </a:t>
            </a:r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c  has he been living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Paris?  B Since last March.</a:t>
            </a:r>
            <a:endParaRPr lang="en-US" sz="1300" dirty="0"/>
          </a:p>
        </p:txBody>
      </p:sp>
      <p:sp>
        <p:nvSpPr>
          <p:cNvPr id="26" name="ln_171"/>
          <p:cNvSpPr/>
          <p:nvPr/>
        </p:nvSpPr>
        <p:spPr>
          <a:xfrm>
            <a:off x="548640" y="4308868"/>
            <a:ext cx="5349240" cy="4002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 </a:t>
            </a:r>
            <a:pPr indent="0" marL="0">
              <a:buNone/>
            </a:pPr>
            <a:r>
              <a:rPr lang="en-US" sz="13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(15) ________ 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same gym for five years.</a:t>
            </a:r>
            <a:endParaRPr lang="en-US" sz="1300" dirty="0"/>
          </a:p>
        </p:txBody>
      </p:sp>
      <p:sp>
        <p:nvSpPr>
          <p:cNvPr id="27" name="R7_lnA172"/>
          <p:cNvSpPr/>
          <p:nvPr/>
        </p:nvSpPr>
        <p:spPr>
          <a:xfrm>
            <a:off x="548640" y="4308868"/>
            <a:ext cx="5349240" cy="40029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 </a:t>
            </a:r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b  I've been going to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same gym for five years.</a:t>
            </a:r>
            <a:endParaRPr lang="en-US" sz="1300" dirty="0"/>
          </a:p>
        </p:txBody>
      </p:sp>
      <p:sp>
        <p:nvSpPr>
          <p:cNvPr id="28" name="pf_173"/>
          <p:cNvSpPr/>
          <p:nvPr/>
        </p:nvSpPr>
        <p:spPr>
          <a:xfrm rot="120000">
            <a:off x="6781608" y="1417320"/>
            <a:ext cx="1615824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9" name="ph_174" descr="/home/claude/lls-course/v2/cache/spare_future_university_jpg_367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827328" y="1463040"/>
            <a:ext cx="1524384" cy="1417320"/>
          </a:xfrm>
          <a:prstGeom prst="rect">
            <a:avLst/>
          </a:prstGeom>
        </p:spPr>
      </p:pic>
      <p:sp>
        <p:nvSpPr>
          <p:cNvPr id="30" name="cd_175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ii_176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32" name="ih_177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33" name="il_178"/>
          <p:cNvSpPr/>
          <p:nvPr/>
        </p:nvSpPr>
        <p:spPr>
          <a:xfrm>
            <a:off x="6830568" y="4288536"/>
            <a:ext cx="1993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Score: ___ / 15</a:t>
            </a:r>
            <a:endParaRPr lang="en-US" sz="9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ones did you get wrong?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18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506163" cy="621792"/>
          </a:xfrm>
          <a:prstGeom prst="rect">
            <a:avLst/>
          </a:prstGeom>
        </p:spPr>
      </p:pic>
      <p:sp>
        <p:nvSpPr>
          <p:cNvPr id="5" name="title_181"/>
          <p:cNvSpPr/>
          <p:nvPr/>
        </p:nvSpPr>
        <p:spPr>
          <a:xfrm>
            <a:off x="1261872" y="164592"/>
            <a:ext cx="42318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 tips: find the clue</a:t>
            </a:r>
            <a:endParaRPr lang="en-US" sz="2500" dirty="0"/>
          </a:p>
        </p:txBody>
      </p:sp>
      <p:pic>
        <p:nvPicPr>
          <p:cNvPr id="6" name="brP_18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183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is it right? Find the clue.</a:t>
            </a:r>
            <a:endParaRPr lang="en-US" sz="1250" dirty="0"/>
          </a:p>
        </p:txBody>
      </p:sp>
      <p:sp>
        <p:nvSpPr>
          <p:cNvPr id="8" name="insIT_18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Perché è giusta? Trova l'indizio.</a:t>
            </a:r>
            <a:endParaRPr lang="en-US" sz="950" dirty="0"/>
          </a:p>
        </p:txBody>
      </p:sp>
      <p:sp>
        <p:nvSpPr>
          <p:cNvPr id="9" name="note_185"/>
          <p:cNvSpPr/>
          <p:nvPr/>
        </p:nvSpPr>
        <p:spPr>
          <a:xfrm rot="180000">
            <a:off x="6382512" y="128016"/>
            <a:ext cx="2029968" cy="74980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LOOK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GUARDA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🙋 whole class</a:t>
            </a:r>
            <a:endParaRPr lang="en-US" sz="1250" dirty="0"/>
          </a:p>
        </p:txBody>
      </p:sp>
      <p:pic>
        <p:nvPicPr>
          <p:cNvPr id="10" name="logo_18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8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Exam strategy · multiple choice   ·   📖 Strategy for SB p.24 Grammar · Grammar Banks 1A, 1B, 2A, 2B</a:t>
            </a:r>
            <a:endParaRPr lang="en-US" sz="800" dirty="0"/>
          </a:p>
        </p:txBody>
      </p:sp>
      <p:sp>
        <p:nvSpPr>
          <p:cNvPr id="12" name="cd_188"/>
          <p:cNvSpPr/>
          <p:nvPr/>
        </p:nvSpPr>
        <p:spPr>
          <a:xfrm>
            <a:off x="3200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rh_189"/>
          <p:cNvSpPr/>
          <p:nvPr/>
        </p:nvSpPr>
        <p:spPr>
          <a:xfrm>
            <a:off x="4297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time words</a:t>
            </a:r>
            <a:endParaRPr lang="en-US" sz="1250" dirty="0"/>
          </a:p>
        </p:txBody>
      </p:sp>
      <p:sp>
        <p:nvSpPr>
          <p:cNvPr id="14" name="pf_190"/>
          <p:cNvSpPr/>
          <p:nvPr/>
        </p:nvSpPr>
        <p:spPr>
          <a:xfrm>
            <a:off x="909237" y="1938528"/>
            <a:ext cx="856147" cy="960120"/>
          </a:xfrm>
          <a:prstGeom prst="roundRect">
            <a:avLst>
              <a:gd name="adj" fmla="val 181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91" descr="/home/claude/lls-course/v2/cache/1b1_diary_jpg_184x20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957" y="1984248"/>
            <a:ext cx="764707" cy="868680"/>
          </a:xfrm>
          <a:prstGeom prst="rect">
            <a:avLst/>
          </a:prstGeom>
        </p:spPr>
      </p:pic>
      <p:sp>
        <p:nvSpPr>
          <p:cNvPr id="16" name="ru_192"/>
          <p:cNvSpPr/>
          <p:nvPr/>
        </p:nvSpPr>
        <p:spPr>
          <a:xfrm>
            <a:off x="4114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last…, ago → past simple · for / since → present perfect</a:t>
            </a:r>
            <a:endParaRPr lang="en-US" sz="950" dirty="0"/>
          </a:p>
        </p:txBody>
      </p:sp>
      <p:sp>
        <p:nvSpPr>
          <p:cNvPr id="17" name="R1_rx193"/>
          <p:cNvSpPr/>
          <p:nvPr/>
        </p:nvSpPr>
        <p:spPr>
          <a:xfrm>
            <a:off x="4114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did you buy it? (finished)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I've had this phone for three years.</a:t>
            </a:r>
            <a:endParaRPr lang="en-US" sz="1050" dirty="0"/>
          </a:p>
        </p:txBody>
      </p:sp>
      <p:sp>
        <p:nvSpPr>
          <p:cNvPr id="18" name="R1_ri194"/>
          <p:cNvSpPr/>
          <p:nvPr/>
        </p:nvSpPr>
        <p:spPr>
          <a:xfrm>
            <a:off x="4114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 parole di tempo sono indizi</a:t>
            </a:r>
            <a:endParaRPr lang="en-US" sz="900" dirty="0"/>
          </a:p>
        </p:txBody>
      </p:sp>
      <p:sp>
        <p:nvSpPr>
          <p:cNvPr id="19" name="cd_195"/>
          <p:cNvSpPr/>
          <p:nvPr/>
        </p:nvSpPr>
        <p:spPr>
          <a:xfrm>
            <a:off x="24917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rh_196"/>
          <p:cNvSpPr/>
          <p:nvPr/>
        </p:nvSpPr>
        <p:spPr>
          <a:xfrm>
            <a:off x="26014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no -ing verbs</a:t>
            </a:r>
            <a:endParaRPr lang="en-US" sz="1250" dirty="0"/>
          </a:p>
        </p:txBody>
      </p:sp>
      <p:sp>
        <p:nvSpPr>
          <p:cNvPr id="21" name="pf_197"/>
          <p:cNvSpPr/>
          <p:nvPr/>
        </p:nvSpPr>
        <p:spPr>
          <a:xfrm>
            <a:off x="3013783" y="1938528"/>
            <a:ext cx="990455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2" name="ph_198" descr="/home/claude/lls-course/v2/cache/spare_1a2_food_preferences_jpg_216x209_3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9503" y="1984248"/>
            <a:ext cx="899015" cy="868680"/>
          </a:xfrm>
          <a:prstGeom prst="rect">
            <a:avLst/>
          </a:prstGeom>
        </p:spPr>
      </p:pic>
      <p:sp>
        <p:nvSpPr>
          <p:cNvPr id="23" name="ru_199"/>
          <p:cNvSpPr/>
          <p:nvPr/>
        </p:nvSpPr>
        <p:spPr>
          <a:xfrm>
            <a:off x="25831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like, need, know, have (= possess) → simple</a:t>
            </a:r>
            <a:endParaRPr lang="en-US" sz="1050" dirty="0"/>
          </a:p>
        </p:txBody>
      </p:sp>
      <p:sp>
        <p:nvSpPr>
          <p:cNvPr id="24" name="R2_rx200"/>
          <p:cNvSpPr/>
          <p:nvPr/>
        </p:nvSpPr>
        <p:spPr>
          <a:xfrm>
            <a:off x="25831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sister doesn't like fish. ✓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✗ isn't liking</a:t>
            </a:r>
            <a:endParaRPr lang="en-US" sz="1050" dirty="0"/>
          </a:p>
        </p:txBody>
      </p:sp>
      <p:sp>
        <p:nvSpPr>
          <p:cNvPr id="25" name="R2_ri201"/>
          <p:cNvSpPr/>
          <p:nvPr/>
        </p:nvSpPr>
        <p:spPr>
          <a:xfrm>
            <a:off x="25831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verbi di stato: niente -ing</a:t>
            </a:r>
            <a:endParaRPr lang="en-US" sz="900" dirty="0"/>
          </a:p>
        </p:txBody>
      </p:sp>
      <p:sp>
        <p:nvSpPr>
          <p:cNvPr id="26" name="cd_202"/>
          <p:cNvSpPr/>
          <p:nvPr/>
        </p:nvSpPr>
        <p:spPr>
          <a:xfrm>
            <a:off x="46634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rh_203"/>
          <p:cNvSpPr/>
          <p:nvPr/>
        </p:nvSpPr>
        <p:spPr>
          <a:xfrm>
            <a:off x="47731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future: why?</a:t>
            </a:r>
            <a:endParaRPr lang="en-US" sz="1250" dirty="0"/>
          </a:p>
        </p:txBody>
      </p:sp>
      <p:sp>
        <p:nvSpPr>
          <p:cNvPr id="28" name="pf_204"/>
          <p:cNvSpPr/>
          <p:nvPr/>
        </p:nvSpPr>
        <p:spPr>
          <a:xfrm>
            <a:off x="5264376" y="1938528"/>
            <a:ext cx="832669" cy="960120"/>
          </a:xfrm>
          <a:prstGeom prst="roundRect">
            <a:avLst>
              <a:gd name="adj" fmla="val 1866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9" name="ph_205" descr="/home/claude/lls-course/v2/cache/1b1_bags_jpg_178x209_3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10096" y="1984248"/>
            <a:ext cx="741229" cy="868680"/>
          </a:xfrm>
          <a:prstGeom prst="rect">
            <a:avLst/>
          </a:prstGeom>
        </p:spPr>
      </p:pic>
      <p:sp>
        <p:nvSpPr>
          <p:cNvPr id="30" name="ru_206"/>
          <p:cNvSpPr/>
          <p:nvPr/>
        </p:nvSpPr>
        <p:spPr>
          <a:xfrm>
            <a:off x="47548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arrangement · plan · offer · decide now</a:t>
            </a:r>
            <a:endParaRPr lang="en-US" sz="1050" dirty="0"/>
          </a:p>
        </p:txBody>
      </p:sp>
      <p:sp>
        <p:nvSpPr>
          <p:cNvPr id="31" name="R3_rx207"/>
          <p:cNvSpPr/>
          <p:nvPr/>
        </p:nvSpPr>
        <p:spPr>
          <a:xfrm>
            <a:off x="47548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meeting some friends.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Shall I help you?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I'll have an orange juice.</a:t>
            </a:r>
            <a:endParaRPr lang="en-US" sz="1050" dirty="0"/>
          </a:p>
        </p:txBody>
      </p:sp>
      <p:sp>
        <p:nvSpPr>
          <p:cNvPr id="32" name="R3_ri208"/>
          <p:cNvSpPr/>
          <p:nvPr/>
        </p:nvSpPr>
        <p:spPr>
          <a:xfrm>
            <a:off x="47548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organizzato · offerta · decisione ora</a:t>
            </a:r>
            <a:endParaRPr lang="en-US" sz="750" dirty="0"/>
          </a:p>
        </p:txBody>
      </p:sp>
      <p:sp>
        <p:nvSpPr>
          <p:cNvPr id="33" name="cd_209"/>
          <p:cNvSpPr/>
          <p:nvPr/>
        </p:nvSpPr>
        <p:spPr>
          <a:xfrm>
            <a:off x="68351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4" name="rh_210"/>
          <p:cNvSpPr/>
          <p:nvPr/>
        </p:nvSpPr>
        <p:spPr>
          <a:xfrm>
            <a:off x="69448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 the form</a:t>
            </a:r>
            <a:endParaRPr lang="en-US" sz="1250" dirty="0"/>
          </a:p>
        </p:txBody>
      </p:sp>
      <p:sp>
        <p:nvSpPr>
          <p:cNvPr id="35" name="pf_211"/>
          <p:cNvSpPr/>
          <p:nvPr/>
        </p:nvSpPr>
        <p:spPr>
          <a:xfrm>
            <a:off x="7399840" y="1938528"/>
            <a:ext cx="905140" cy="960120"/>
          </a:xfrm>
          <a:prstGeom prst="roundRect">
            <a:avLst>
              <a:gd name="adj" fmla="val 17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6" name="ph_212" descr="/home/claude/lls-course/v2/cache/spare_1b2_homework_jpg_196x209_3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45560" y="1984248"/>
            <a:ext cx="813700" cy="868680"/>
          </a:xfrm>
          <a:prstGeom prst="rect">
            <a:avLst/>
          </a:prstGeom>
        </p:spPr>
      </p:pic>
      <p:sp>
        <p:nvSpPr>
          <p:cNvPr id="37" name="ru_213"/>
          <p:cNvSpPr/>
          <p:nvPr/>
        </p:nvSpPr>
        <p:spPr>
          <a:xfrm>
            <a:off x="69265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two answers look right? Check every letter!</a:t>
            </a:r>
            <a:endParaRPr lang="en-US" sz="1050" dirty="0"/>
          </a:p>
        </p:txBody>
      </p:sp>
      <p:sp>
        <p:nvSpPr>
          <p:cNvPr id="38" name="R4_rx214"/>
          <p:cNvSpPr/>
          <p:nvPr/>
        </p:nvSpPr>
        <p:spPr>
          <a:xfrm>
            <a:off x="69265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✗ doesn't likes  ✗ I'm studing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✗ are you going do</a:t>
            </a:r>
            <a:endParaRPr lang="en-US" sz="1050" dirty="0"/>
          </a:p>
        </p:txBody>
      </p:sp>
      <p:sp>
        <p:nvSpPr>
          <p:cNvPr id="39" name="R4_ri215"/>
          <p:cNvSpPr/>
          <p:nvPr/>
        </p:nvSpPr>
        <p:spPr>
          <a:xfrm>
            <a:off x="69265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attenzione a forma e ortografia</a:t>
            </a:r>
            <a:endParaRPr lang="en-US" sz="850" dirty="0"/>
          </a:p>
        </p:txBody>
      </p:sp>
      <p:sp>
        <p:nvSpPr>
          <p:cNvPr id="40" name="R5_wc216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1" name="R5_w217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Exam tip: read the WHOLE sentence first → find the clue → cross out the two wrong answers → then choose.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1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1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220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turn: a, b or c?</a:t>
            </a:r>
            <a:endParaRPr lang="en-US" sz="2500" dirty="0"/>
          </a:p>
        </p:txBody>
      </p:sp>
      <p:pic>
        <p:nvPicPr>
          <p:cNvPr id="6" name="brP_22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222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 the tips! Choose a, b or c.</a:t>
            </a:r>
            <a:endParaRPr lang="en-US" sz="1250" dirty="0"/>
          </a:p>
        </p:txBody>
      </p:sp>
      <p:sp>
        <p:nvSpPr>
          <p:cNvPr id="8" name="insIT_22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Usa i consigli! Scegli a, b o c.</a:t>
            </a:r>
            <a:endParaRPr lang="en-US" sz="950" dirty="0"/>
          </a:p>
        </p:txBody>
      </p:sp>
      <p:sp>
        <p:nvSpPr>
          <p:cNvPr id="9" name="note_224"/>
          <p:cNvSpPr/>
          <p:nvPr/>
        </p:nvSpPr>
        <p:spPr>
          <a:xfrm rot="180000">
            <a:off x="6382512" y="128016"/>
            <a:ext cx="2029968" cy="74980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✅ CHECK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CONTROLLA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250" dirty="0"/>
          </a:p>
        </p:txBody>
      </p:sp>
      <p:pic>
        <p:nvPicPr>
          <p:cNvPr id="10" name="logo_22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2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Exam practice · second attempt   ·   📖 New items in the SB p.24 format (written for LLS)</a:t>
            </a:r>
            <a:endParaRPr lang="en-US" sz="800" dirty="0"/>
          </a:p>
        </p:txBody>
      </p:sp>
      <p:sp>
        <p:nvSpPr>
          <p:cNvPr id="12" name="cd_227"/>
          <p:cNvSpPr/>
          <p:nvPr/>
        </p:nvSpPr>
        <p:spPr>
          <a:xfrm>
            <a:off x="320040" y="1417320"/>
            <a:ext cx="2697480" cy="1911096"/>
          </a:xfrm>
          <a:prstGeom prst="roundRect">
            <a:avLst>
              <a:gd name="adj" fmla="val 6699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228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4" name="ih_229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colours</a:t>
            </a:r>
            <a:endParaRPr lang="en-US" sz="1300" dirty="0"/>
          </a:p>
        </p:txBody>
      </p:sp>
      <p:sp>
        <p:nvSpPr>
          <p:cNvPr id="15" name="lg_230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</a:t>
            </a:r>
            <a:endParaRPr lang="en-US" sz="1050" dirty="0"/>
          </a:p>
        </p:txBody>
      </p:sp>
      <p:sp>
        <p:nvSpPr>
          <p:cNvPr id="16" name="lg_231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050" dirty="0"/>
          </a:p>
        </p:txBody>
      </p:sp>
      <p:sp>
        <p:nvSpPr>
          <p:cNvPr id="17" name="lg_232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</a:t>
            </a:r>
            <a:endParaRPr lang="en-US" sz="1050" dirty="0"/>
          </a:p>
        </p:txBody>
      </p:sp>
      <p:sp>
        <p:nvSpPr>
          <p:cNvPr id="18" name="sq_233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This soup ___ amazing!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is tasting · b tastes · c taste</a:t>
            </a:r>
            <a:endParaRPr lang="en-US" sz="1000" dirty="0"/>
          </a:p>
        </p:txBody>
      </p:sp>
      <p:sp>
        <p:nvSpPr>
          <p:cNvPr id="19" name="R1_tag234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150" dirty="0"/>
          </a:p>
        </p:txBody>
      </p:sp>
      <p:sp>
        <p:nvSpPr>
          <p:cNvPr id="20" name="sq_235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Free on Friday? – No, ___ my nonna.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I visit · b I'm visiting · c I'll visit</a:t>
            </a:r>
            <a:endParaRPr lang="en-US" sz="1000" dirty="0"/>
          </a:p>
        </p:txBody>
      </p:sp>
      <p:sp>
        <p:nvSpPr>
          <p:cNvPr id="21" name="R2_tag236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150" dirty="0"/>
          </a:p>
        </p:txBody>
      </p:sp>
      <p:sp>
        <p:nvSpPr>
          <p:cNvPr id="22" name="sq_237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I ___ my keys yesterday.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've lost · b lost · c lose</a:t>
            </a:r>
            <a:endParaRPr lang="en-US" sz="1000" dirty="0"/>
          </a:p>
        </p:txBody>
      </p:sp>
      <p:sp>
        <p:nvSpPr>
          <p:cNvPr id="23" name="R3_tag238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150" dirty="0"/>
          </a:p>
        </p:txBody>
      </p:sp>
      <p:sp>
        <p:nvSpPr>
          <p:cNvPr id="24" name="sq_239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We ___ this car for ten years.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've had · b have · c 're having</a:t>
            </a:r>
            <a:endParaRPr lang="en-US" sz="1000" dirty="0"/>
          </a:p>
        </p:txBody>
      </p:sp>
      <p:sp>
        <p:nvSpPr>
          <p:cNvPr id="25" name="R4_tag240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</a:t>
            </a:r>
            <a:endParaRPr lang="en-US" sz="1150" dirty="0"/>
          </a:p>
        </p:txBody>
      </p:sp>
      <p:sp>
        <p:nvSpPr>
          <p:cNvPr id="26" name="sq_241"/>
          <p:cNvSpPr/>
          <p:nvPr/>
        </p:nvSpPr>
        <p:spPr>
          <a:xfrm>
            <a:off x="3246120" y="3575304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 It's hot in here. ___ open the window?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Shall I · b Will I · c Do I</a:t>
            </a:r>
            <a:endParaRPr lang="en-US" sz="1000" dirty="0"/>
          </a:p>
        </p:txBody>
      </p:sp>
      <p:sp>
        <p:nvSpPr>
          <p:cNvPr id="27" name="R5_tag242"/>
          <p:cNvSpPr/>
          <p:nvPr/>
        </p:nvSpPr>
        <p:spPr>
          <a:xfrm>
            <a:off x="7178040" y="3575304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</a:t>
            </a:r>
            <a:endParaRPr lang="en-US" sz="1150" dirty="0"/>
          </a:p>
        </p:txBody>
      </p:sp>
      <p:sp>
        <p:nvSpPr>
          <p:cNvPr id="28" name="sq_243"/>
          <p:cNvSpPr/>
          <p:nvPr/>
        </p:nvSpPr>
        <p:spPr>
          <a:xfrm>
            <a:off x="3246120" y="411480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 How long ___ for the bus? – 20 minutes!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are you waiting · b have you been waiting · c do you wait</a:t>
            </a:r>
            <a:endParaRPr lang="en-US" sz="900" dirty="0"/>
          </a:p>
        </p:txBody>
      </p:sp>
      <p:sp>
        <p:nvSpPr>
          <p:cNvPr id="29" name="R6_tag244"/>
          <p:cNvSpPr/>
          <p:nvPr/>
        </p:nvSpPr>
        <p:spPr>
          <a:xfrm>
            <a:off x="7178040" y="411480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150" dirty="0"/>
          </a:p>
        </p:txBody>
      </p:sp>
      <p:sp>
        <p:nvSpPr>
          <p:cNvPr id="30" name="pf_245"/>
          <p:cNvSpPr/>
          <p:nvPr/>
        </p:nvSpPr>
        <p:spPr>
          <a:xfrm rot="-120000">
            <a:off x="1052307" y="3703320"/>
            <a:ext cx="1232946" cy="1005840"/>
          </a:xfrm>
          <a:prstGeom prst="roundRect">
            <a:avLst>
              <a:gd name="adj" fmla="val 154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1" name="ph_246" descr="/home/claude/lls-course/v2/cache/spare_work_teamwork_jpg_275x220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1098027" y="3749040"/>
            <a:ext cx="1141506" cy="9144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4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4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249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Grammar auction</a:t>
            </a:r>
            <a:endParaRPr lang="en-US" sz="2400" dirty="0"/>
          </a:p>
        </p:txBody>
      </p:sp>
      <p:pic>
        <p:nvPicPr>
          <p:cNvPr id="6" name="brP_25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251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have €1,000. Buy the CORRECT ones!</a:t>
            </a:r>
            <a:endParaRPr lang="en-US" sz="1250" dirty="0"/>
          </a:p>
        </p:txBody>
      </p:sp>
      <p:sp>
        <p:nvSpPr>
          <p:cNvPr id="8" name="insIT_25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Avete 1.000 €. Comprate quelle GIUSTE!</a:t>
            </a:r>
            <a:endParaRPr lang="en-US" sz="950" dirty="0"/>
          </a:p>
        </p:txBody>
      </p:sp>
      <p:sp>
        <p:nvSpPr>
          <p:cNvPr id="9" name="note_25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GIOCA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🏆 teams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Communicative game</a:t>
            </a:r>
            <a:endParaRPr lang="en-US" sz="1250" dirty="0"/>
          </a:p>
        </p:txBody>
      </p:sp>
      <p:pic>
        <p:nvPicPr>
          <p:cNvPr id="10" name="logo_25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5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Game · grammar auction   ·   📖 Review of Grammar Banks 1A, 1B, 2A, 2B · items 3, 6, 8 close to Grammar Bank examples</a:t>
            </a:r>
            <a:endParaRPr lang="en-US" sz="750" dirty="0"/>
          </a:p>
        </p:txBody>
      </p:sp>
      <p:sp>
        <p:nvSpPr>
          <p:cNvPr id="12" name="cd_256"/>
          <p:cNvSpPr/>
          <p:nvPr/>
        </p:nvSpPr>
        <p:spPr>
          <a:xfrm>
            <a:off x="320040" y="1417320"/>
            <a:ext cx="2697480" cy="2514600"/>
          </a:xfrm>
          <a:prstGeom prst="roundRect">
            <a:avLst>
              <a:gd name="adj" fmla="val 5091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25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4" name="ih_25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5" name="il_259"/>
          <p:cNvSpPr/>
          <p:nvPr/>
        </p:nvSpPr>
        <p:spPr>
          <a:xfrm>
            <a:off x="886968" y="1911096"/>
            <a:ext cx="2039112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Each team has €1,000.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0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Ogni squadra ha 1.000 €.</a:t>
            </a:r>
            <a:endParaRPr lang="en-US" sz="10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Bid to buy the sentences you think are CORRECT.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0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Fate offerte per comprare le frasi che pensate siano GIUSTE.</a:t>
            </a:r>
            <a:endParaRPr lang="en-US" sz="10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team with the most correct sentences wins!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0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Vince chi ha più frasi giuste!</a:t>
            </a:r>
            <a:endParaRPr lang="en-US" sz="1000" dirty="0"/>
          </a:p>
        </p:txBody>
      </p:sp>
      <p:sp>
        <p:nvSpPr>
          <p:cNvPr id="16" name="bd_260"/>
          <p:cNvSpPr/>
          <p:nvPr/>
        </p:nvSpPr>
        <p:spPr>
          <a:xfrm>
            <a:off x="3246120" y="1423607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17" name="gq_261"/>
          <p:cNvSpPr/>
          <p:nvPr/>
        </p:nvSpPr>
        <p:spPr>
          <a:xfrm>
            <a:off x="3657600" y="141732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not liking this soup – it's too salty.</a:t>
            </a:r>
            <a:endParaRPr lang="en-US" sz="900" dirty="0"/>
          </a:p>
        </p:txBody>
      </p:sp>
      <p:sp>
        <p:nvSpPr>
          <p:cNvPr id="18" name="chip_262"/>
          <p:cNvSpPr/>
          <p:nvPr/>
        </p:nvSpPr>
        <p:spPr>
          <a:xfrm>
            <a:off x="6263640" y="141732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✗ I don't like this soup.</a:t>
            </a:r>
            <a:endParaRPr lang="en-US" sz="900" dirty="0"/>
          </a:p>
        </p:txBody>
      </p:sp>
      <p:sp>
        <p:nvSpPr>
          <p:cNvPr id="19" name="bd_263"/>
          <p:cNvSpPr/>
          <p:nvPr/>
        </p:nvSpPr>
        <p:spPr>
          <a:xfrm>
            <a:off x="3246120" y="1829372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264"/>
          <p:cNvSpPr/>
          <p:nvPr/>
        </p:nvSpPr>
        <p:spPr>
          <a:xfrm>
            <a:off x="3657600" y="182308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We're having dinner with my in-laws on Saturday.</a:t>
            </a:r>
            <a:endParaRPr lang="en-US" sz="900" dirty="0"/>
          </a:p>
        </p:txBody>
      </p:sp>
      <p:sp>
        <p:nvSpPr>
          <p:cNvPr id="21" name="R1_chip265"/>
          <p:cNvSpPr/>
          <p:nvPr/>
        </p:nvSpPr>
        <p:spPr>
          <a:xfrm>
            <a:off x="6263640" y="182308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✓ arrangement</a:t>
            </a:r>
            <a:endParaRPr lang="en-US" sz="900" dirty="0"/>
          </a:p>
        </p:txBody>
      </p:sp>
      <p:sp>
        <p:nvSpPr>
          <p:cNvPr id="22" name="bd_266"/>
          <p:cNvSpPr/>
          <p:nvPr/>
        </p:nvSpPr>
        <p:spPr>
          <a:xfrm>
            <a:off x="3246120" y="2235137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267"/>
          <p:cNvSpPr/>
          <p:nvPr/>
        </p:nvSpPr>
        <p:spPr>
          <a:xfrm>
            <a:off x="3657600" y="222885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 at the sky! It's going to rain.</a:t>
            </a:r>
            <a:endParaRPr lang="en-US" sz="900" dirty="0"/>
          </a:p>
        </p:txBody>
      </p:sp>
      <p:sp>
        <p:nvSpPr>
          <p:cNvPr id="24" name="R2_chip268"/>
          <p:cNvSpPr/>
          <p:nvPr/>
        </p:nvSpPr>
        <p:spPr>
          <a:xfrm>
            <a:off x="6263640" y="222885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✓ prediction – you can see it</a:t>
            </a:r>
            <a:endParaRPr lang="en-US" sz="900" dirty="0"/>
          </a:p>
        </p:txBody>
      </p:sp>
      <p:sp>
        <p:nvSpPr>
          <p:cNvPr id="25" name="bd_269"/>
          <p:cNvSpPr/>
          <p:nvPr/>
        </p:nvSpPr>
        <p:spPr>
          <a:xfrm>
            <a:off x="3246120" y="2640901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270"/>
          <p:cNvSpPr/>
          <p:nvPr/>
        </p:nvSpPr>
        <p:spPr>
          <a:xfrm>
            <a:off x="3657600" y="263461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carry your bag for you.</a:t>
            </a:r>
            <a:endParaRPr lang="en-US" sz="900" dirty="0"/>
          </a:p>
        </p:txBody>
      </p:sp>
      <p:sp>
        <p:nvSpPr>
          <p:cNvPr id="27" name="R3_chip271"/>
          <p:cNvSpPr/>
          <p:nvPr/>
        </p:nvSpPr>
        <p:spPr>
          <a:xfrm>
            <a:off x="6263640" y="263461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✗ I'll carry your bag. (offer)</a:t>
            </a:r>
            <a:endParaRPr lang="en-US" sz="900" dirty="0"/>
          </a:p>
        </p:txBody>
      </p:sp>
      <p:sp>
        <p:nvSpPr>
          <p:cNvPr id="28" name="bd_272"/>
          <p:cNvSpPr/>
          <p:nvPr/>
        </p:nvSpPr>
        <p:spPr>
          <a:xfrm>
            <a:off x="3246120" y="3046667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273"/>
          <p:cNvSpPr/>
          <p:nvPr/>
        </p:nvSpPr>
        <p:spPr>
          <a:xfrm>
            <a:off x="3657600" y="304038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I've been to London last year.</a:t>
            </a:r>
            <a:endParaRPr lang="en-US" sz="900" dirty="0"/>
          </a:p>
        </p:txBody>
      </p:sp>
      <p:sp>
        <p:nvSpPr>
          <p:cNvPr id="30" name="R4_chip274"/>
          <p:cNvSpPr/>
          <p:nvPr/>
        </p:nvSpPr>
        <p:spPr>
          <a:xfrm>
            <a:off x="6263640" y="304038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✗ I went to London last year.</a:t>
            </a:r>
            <a:endParaRPr lang="en-US" sz="900" dirty="0"/>
          </a:p>
        </p:txBody>
      </p:sp>
      <p:sp>
        <p:nvSpPr>
          <p:cNvPr id="31" name="bd_275"/>
          <p:cNvSpPr/>
          <p:nvPr/>
        </p:nvSpPr>
        <p:spPr>
          <a:xfrm>
            <a:off x="3246120" y="3452432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276"/>
          <p:cNvSpPr/>
          <p:nvPr/>
        </p:nvSpPr>
        <p:spPr>
          <a:xfrm>
            <a:off x="3657600" y="344614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lost your credit card?</a:t>
            </a:r>
            <a:endParaRPr lang="en-US" sz="900" dirty="0"/>
          </a:p>
        </p:txBody>
      </p:sp>
      <p:sp>
        <p:nvSpPr>
          <p:cNvPr id="33" name="R5_chip277"/>
          <p:cNvSpPr/>
          <p:nvPr/>
        </p:nvSpPr>
        <p:spPr>
          <a:xfrm>
            <a:off x="6263640" y="344614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✓ experience – no time</a:t>
            </a:r>
            <a:endParaRPr lang="en-US" sz="900" dirty="0"/>
          </a:p>
        </p:txBody>
      </p:sp>
      <p:sp>
        <p:nvSpPr>
          <p:cNvPr id="34" name="bd_278"/>
          <p:cNvSpPr/>
          <p:nvPr/>
        </p:nvSpPr>
        <p:spPr>
          <a:xfrm>
            <a:off x="3246120" y="3858196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gq_279"/>
          <p:cNvSpPr/>
          <p:nvPr/>
        </p:nvSpPr>
        <p:spPr>
          <a:xfrm>
            <a:off x="3657600" y="385191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long do you live in Bagheria?</a:t>
            </a:r>
            <a:endParaRPr lang="en-US" sz="900" dirty="0"/>
          </a:p>
        </p:txBody>
      </p:sp>
      <p:sp>
        <p:nvSpPr>
          <p:cNvPr id="36" name="R6_chip280"/>
          <p:cNvSpPr/>
          <p:nvPr/>
        </p:nvSpPr>
        <p:spPr>
          <a:xfrm>
            <a:off x="6263640" y="385191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✗ How long have you lived / been living…?</a:t>
            </a:r>
            <a:endParaRPr lang="en-US" sz="900" dirty="0"/>
          </a:p>
        </p:txBody>
      </p:sp>
      <p:sp>
        <p:nvSpPr>
          <p:cNvPr id="37" name="bd_281"/>
          <p:cNvSpPr/>
          <p:nvPr/>
        </p:nvSpPr>
        <p:spPr>
          <a:xfrm>
            <a:off x="3246120" y="4263962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100" dirty="0"/>
          </a:p>
        </p:txBody>
      </p:sp>
      <p:sp>
        <p:nvSpPr>
          <p:cNvPr id="38" name="gq_282"/>
          <p:cNvSpPr/>
          <p:nvPr/>
        </p:nvSpPr>
        <p:spPr>
          <a:xfrm>
            <a:off x="3657600" y="425767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eyes are red. Have you been crying?</a:t>
            </a:r>
            <a:endParaRPr lang="en-US" sz="900" dirty="0"/>
          </a:p>
        </p:txBody>
      </p:sp>
      <p:sp>
        <p:nvSpPr>
          <p:cNvPr id="39" name="R7_chip283"/>
          <p:cNvSpPr/>
          <p:nvPr/>
        </p:nvSpPr>
        <p:spPr>
          <a:xfrm>
            <a:off x="6263640" y="425767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✓ recent action, you can see it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8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28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86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Noughts and crosses</a:t>
            </a:r>
            <a:endParaRPr lang="en-US" sz="2400" dirty="0"/>
          </a:p>
        </p:txBody>
      </p:sp>
      <p:pic>
        <p:nvPicPr>
          <p:cNvPr id="6" name="brP_28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685032" cy="402336"/>
          </a:xfrm>
          <a:prstGeom prst="rect">
            <a:avLst/>
          </a:prstGeom>
        </p:spPr>
      </p:pic>
      <p:sp>
        <p:nvSpPr>
          <p:cNvPr id="7" name="ins_288"/>
          <p:cNvSpPr/>
          <p:nvPr/>
        </p:nvSpPr>
        <p:spPr>
          <a:xfrm>
            <a:off x="1353312" y="731520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Choose a square. Answer to win it!</a:t>
            </a:r>
            <a:endParaRPr lang="en-US" sz="1250" dirty="0"/>
          </a:p>
        </p:txBody>
      </p:sp>
      <p:sp>
        <p:nvSpPr>
          <p:cNvPr id="8" name="insIT_28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Scegliete un quadrato. Rispondete per vincerlo!</a:t>
            </a:r>
            <a:endParaRPr lang="en-US" sz="950" dirty="0"/>
          </a:p>
        </p:txBody>
      </p:sp>
      <p:sp>
        <p:nvSpPr>
          <p:cNvPr id="9" name="note_290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GIOCA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🏆 teams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 · Communicative game</a:t>
            </a:r>
            <a:endParaRPr lang="en-US" sz="1250" dirty="0"/>
          </a:p>
        </p:txBody>
      </p:sp>
      <p:pic>
        <p:nvPicPr>
          <p:cNvPr id="10" name="logo_29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9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Game · vocabulary · noughts and crosses   ·   📖 Review of Vocabulary Banks Food and cooking p.152, Personality p.153, Money p.154 · family (1B)</a:t>
            </a:r>
            <a:endParaRPr lang="en-US" sz="700" dirty="0"/>
          </a:p>
        </p:txBody>
      </p:sp>
      <p:sp>
        <p:nvSpPr>
          <p:cNvPr id="12" name="cd_293"/>
          <p:cNvSpPr/>
          <p:nvPr/>
        </p:nvSpPr>
        <p:spPr>
          <a:xfrm>
            <a:off x="320040" y="1417320"/>
            <a:ext cx="2697480" cy="2514600"/>
          </a:xfrm>
          <a:prstGeom prst="roundRect">
            <a:avLst>
              <a:gd name="adj" fmla="val 5091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29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4" name="ih_29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5" name="il_296"/>
          <p:cNvSpPr/>
          <p:nvPr/>
        </p:nvSpPr>
        <p:spPr>
          <a:xfrm>
            <a:off x="886968" y="1911096"/>
            <a:ext cx="2039112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 X or O chooses a square 1–9.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0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 squadra X o O sceglie un quadrato 1–9.</a:t>
            </a:r>
            <a:endParaRPr lang="en-US" sz="10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Answer in 15 seconds = your square.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0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Risposta in 15 secondi = il quadrato è vostro.</a:t>
            </a:r>
            <a:endParaRPr lang="en-US" sz="10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in a row wins!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0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Tre in fila vince!</a:t>
            </a:r>
            <a:endParaRPr lang="en-US" sz="1000" dirty="0"/>
          </a:p>
        </p:txBody>
      </p:sp>
      <p:sp>
        <p:nvSpPr>
          <p:cNvPr id="16" name="st_297"/>
          <p:cNvSpPr/>
          <p:nvPr/>
        </p:nvSpPr>
        <p:spPr>
          <a:xfrm rot="-180000">
            <a:off x="502920" y="4114800"/>
            <a:ext cx="2286000" cy="59436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7" name="bd_298"/>
          <p:cNvSpPr/>
          <p:nvPr/>
        </p:nvSpPr>
        <p:spPr>
          <a:xfrm>
            <a:off x="3246120" y="1401064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18" name="gq_299"/>
          <p:cNvSpPr/>
          <p:nvPr/>
        </p:nvSpPr>
        <p:spPr>
          <a:xfrm>
            <a:off x="3657600" y="141732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kinds of seafood</a:t>
            </a:r>
            <a:endParaRPr lang="en-US" sz="900" dirty="0"/>
          </a:p>
        </p:txBody>
      </p:sp>
      <p:sp>
        <p:nvSpPr>
          <p:cNvPr id="19" name="chip_300"/>
          <p:cNvSpPr/>
          <p:nvPr/>
        </p:nvSpPr>
        <p:spPr>
          <a:xfrm>
            <a:off x="6263640" y="141732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e.g. crab · mussels · prawns · squid</a:t>
            </a:r>
            <a:endParaRPr lang="en-US" sz="900" dirty="0"/>
          </a:p>
        </p:txBody>
      </p:sp>
      <p:sp>
        <p:nvSpPr>
          <p:cNvPr id="20" name="bd_301"/>
          <p:cNvSpPr/>
          <p:nvPr/>
        </p:nvSpPr>
        <p:spPr>
          <a:xfrm>
            <a:off x="3246120" y="176174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302"/>
          <p:cNvSpPr/>
          <p:nvPr/>
        </p:nvSpPr>
        <p:spPr>
          <a:xfrm>
            <a:off x="3657600" y="177800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ways of cooking</a:t>
            </a:r>
            <a:endParaRPr lang="en-US" sz="900" dirty="0"/>
          </a:p>
        </p:txBody>
      </p:sp>
      <p:sp>
        <p:nvSpPr>
          <p:cNvPr id="22" name="R1_chip303"/>
          <p:cNvSpPr/>
          <p:nvPr/>
        </p:nvSpPr>
        <p:spPr>
          <a:xfrm>
            <a:off x="6263640" y="177800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e.g. fried · grilled · steamed · roast · boiled · baked</a:t>
            </a:r>
            <a:endParaRPr lang="en-US" sz="800" dirty="0"/>
          </a:p>
        </p:txBody>
      </p:sp>
      <p:sp>
        <p:nvSpPr>
          <p:cNvPr id="23" name="bd_304"/>
          <p:cNvSpPr/>
          <p:nvPr/>
        </p:nvSpPr>
        <p:spPr>
          <a:xfrm>
            <a:off x="3246120" y="212242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305"/>
          <p:cNvSpPr/>
          <p:nvPr/>
        </p:nvSpPr>
        <p:spPr>
          <a:xfrm>
            <a:off x="3657600" y="213868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Opposites: patient · mature · honest</a:t>
            </a:r>
            <a:endParaRPr lang="en-US" sz="900" dirty="0"/>
          </a:p>
        </p:txBody>
      </p:sp>
      <p:sp>
        <p:nvSpPr>
          <p:cNvPr id="25" name="R2_chip306"/>
          <p:cNvSpPr/>
          <p:nvPr/>
        </p:nvSpPr>
        <p:spPr>
          <a:xfrm>
            <a:off x="6263640" y="213868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impatient · immature · dishonest</a:t>
            </a:r>
            <a:endParaRPr lang="en-US" sz="900" dirty="0"/>
          </a:p>
        </p:txBody>
      </p:sp>
      <p:sp>
        <p:nvSpPr>
          <p:cNvPr id="26" name="bd_307"/>
          <p:cNvSpPr/>
          <p:nvPr/>
        </p:nvSpPr>
        <p:spPr>
          <a:xfrm>
            <a:off x="3246120" y="24831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308"/>
          <p:cNvSpPr/>
          <p:nvPr/>
        </p:nvSpPr>
        <p:spPr>
          <a:xfrm>
            <a:off x="3657600" y="249936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I ___ your pen? (lend or borrow?)</a:t>
            </a:r>
            <a:endParaRPr lang="en-US" sz="900" dirty="0"/>
          </a:p>
        </p:txBody>
      </p:sp>
      <p:sp>
        <p:nvSpPr>
          <p:cNvPr id="28" name="R3_chip309"/>
          <p:cNvSpPr/>
          <p:nvPr/>
        </p:nvSpPr>
        <p:spPr>
          <a:xfrm>
            <a:off x="6263640" y="249936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borrow</a:t>
            </a:r>
            <a:endParaRPr lang="en-US" sz="900" dirty="0"/>
          </a:p>
        </p:txBody>
      </p:sp>
      <p:sp>
        <p:nvSpPr>
          <p:cNvPr id="29" name="bd_310"/>
          <p:cNvSpPr/>
          <p:nvPr/>
        </p:nvSpPr>
        <p:spPr>
          <a:xfrm>
            <a:off x="3246120" y="2843784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311"/>
          <p:cNvSpPr/>
          <p:nvPr/>
        </p:nvSpPr>
        <p:spPr>
          <a:xfrm>
            <a:off x="3657600" y="286004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a mortgage?</a:t>
            </a:r>
            <a:endParaRPr lang="en-US" sz="900" dirty="0"/>
          </a:p>
        </p:txBody>
      </p:sp>
      <p:sp>
        <p:nvSpPr>
          <p:cNvPr id="31" name="R4_chip312"/>
          <p:cNvSpPr/>
          <p:nvPr/>
        </p:nvSpPr>
        <p:spPr>
          <a:xfrm>
            <a:off x="6263640" y="286004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 bank loan to buy a house or flat</a:t>
            </a:r>
            <a:endParaRPr lang="en-US" sz="900" dirty="0"/>
          </a:p>
        </p:txBody>
      </p:sp>
      <p:sp>
        <p:nvSpPr>
          <p:cNvPr id="32" name="bd_313"/>
          <p:cNvSpPr/>
          <p:nvPr/>
        </p:nvSpPr>
        <p:spPr>
          <a:xfrm>
            <a:off x="3246120" y="320446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314"/>
          <p:cNvSpPr/>
          <p:nvPr/>
        </p:nvSpPr>
        <p:spPr>
          <a:xfrm>
            <a:off x="3657600" y="322072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dad's new wife is your…</a:t>
            </a:r>
            <a:endParaRPr lang="en-US" sz="900" dirty="0"/>
          </a:p>
        </p:txBody>
      </p:sp>
      <p:sp>
        <p:nvSpPr>
          <p:cNvPr id="34" name="R5_chip315"/>
          <p:cNvSpPr/>
          <p:nvPr/>
        </p:nvSpPr>
        <p:spPr>
          <a:xfrm>
            <a:off x="6263640" y="322072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stepmother</a:t>
            </a:r>
            <a:endParaRPr lang="en-US" sz="900" dirty="0"/>
          </a:p>
        </p:txBody>
      </p:sp>
      <p:sp>
        <p:nvSpPr>
          <p:cNvPr id="35" name="bd_316"/>
          <p:cNvSpPr/>
          <p:nvPr/>
        </p:nvSpPr>
        <p:spPr>
          <a:xfrm>
            <a:off x="3246120" y="356514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gq_317"/>
          <p:cNvSpPr/>
          <p:nvPr/>
        </p:nvSpPr>
        <p:spPr>
          <a:xfrm>
            <a:off x="3657600" y="358140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person who always wants to win is…</a:t>
            </a:r>
            <a:endParaRPr lang="en-US" sz="850" dirty="0"/>
          </a:p>
        </p:txBody>
      </p:sp>
      <p:sp>
        <p:nvSpPr>
          <p:cNvPr id="37" name="R6_chip318"/>
          <p:cNvSpPr/>
          <p:nvPr/>
        </p:nvSpPr>
        <p:spPr>
          <a:xfrm>
            <a:off x="6263640" y="358140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competitive</a:t>
            </a:r>
            <a:endParaRPr lang="en-US" sz="900" dirty="0"/>
          </a:p>
        </p:txBody>
      </p:sp>
      <p:sp>
        <p:nvSpPr>
          <p:cNvPr id="38" name="bd_319"/>
          <p:cNvSpPr/>
          <p:nvPr/>
        </p:nvSpPr>
        <p:spPr>
          <a:xfrm>
            <a:off x="3246120" y="392582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100" dirty="0"/>
          </a:p>
        </p:txBody>
      </p:sp>
      <p:sp>
        <p:nvSpPr>
          <p:cNvPr id="39" name="gq_320"/>
          <p:cNvSpPr/>
          <p:nvPr/>
        </p:nvSpPr>
        <p:spPr>
          <a:xfrm>
            <a:off x="3657600" y="394208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Phrasal verbs: eat ___ · cut ___ on</a:t>
            </a:r>
            <a:endParaRPr lang="en-US" sz="900" dirty="0"/>
          </a:p>
        </p:txBody>
      </p:sp>
      <p:sp>
        <p:nvSpPr>
          <p:cNvPr id="40" name="R7_chip321"/>
          <p:cNvSpPr/>
          <p:nvPr/>
        </p:nvSpPr>
        <p:spPr>
          <a:xfrm>
            <a:off x="6263640" y="394208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out (restaurant) · down (eat less)</a:t>
            </a:r>
            <a:endParaRPr lang="en-US" sz="900" dirty="0"/>
          </a:p>
        </p:txBody>
      </p:sp>
      <p:sp>
        <p:nvSpPr>
          <p:cNvPr id="41" name="bd_322"/>
          <p:cNvSpPr/>
          <p:nvPr/>
        </p:nvSpPr>
        <p:spPr>
          <a:xfrm>
            <a:off x="3246120" y="4286504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100" dirty="0"/>
          </a:p>
        </p:txBody>
      </p:sp>
      <p:sp>
        <p:nvSpPr>
          <p:cNvPr id="42" name="gq_323"/>
          <p:cNvSpPr/>
          <p:nvPr/>
        </p:nvSpPr>
        <p:spPr>
          <a:xfrm>
            <a:off x="3657600" y="430276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brother's son is your…</a:t>
            </a:r>
            <a:endParaRPr lang="en-US" sz="900" dirty="0"/>
          </a:p>
        </p:txBody>
      </p:sp>
      <p:sp>
        <p:nvSpPr>
          <p:cNvPr id="43" name="R8_chip324"/>
          <p:cNvSpPr/>
          <p:nvPr/>
        </p:nvSpPr>
        <p:spPr>
          <a:xfrm>
            <a:off x="6263640" y="430276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nephew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2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2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327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Marco's birthday dinner</a:t>
            </a:r>
            <a:endParaRPr lang="en-US" sz="2500" dirty="0"/>
          </a:p>
        </p:txBody>
      </p:sp>
      <p:pic>
        <p:nvPicPr>
          <p:cNvPr id="6" name="brP_32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329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story. Answer the questions!</a:t>
            </a:r>
            <a:endParaRPr lang="en-US" sz="1250" dirty="0"/>
          </a:p>
        </p:txBody>
      </p:sp>
      <p:sp>
        <p:nvSpPr>
          <p:cNvPr id="8" name="insIT_33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la storia. Rispondi alle domande!</a:t>
            </a:r>
            <a:endParaRPr lang="en-US" sz="950" dirty="0"/>
          </a:p>
        </p:txBody>
      </p:sp>
      <p:sp>
        <p:nvSpPr>
          <p:cNvPr id="9" name="note_331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TPRS · story</a:t>
            </a:r>
            <a:endParaRPr lang="en-US" sz="1150" dirty="0"/>
          </a:p>
        </p:txBody>
      </p:sp>
      <p:pic>
        <p:nvPicPr>
          <p:cNvPr id="10" name="logo_33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3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Speaking · class story (TPRS)</a:t>
            </a:r>
            <a:endParaRPr lang="en-US" sz="800" dirty="0"/>
          </a:p>
        </p:txBody>
      </p:sp>
      <p:sp>
        <p:nvSpPr>
          <p:cNvPr id="12" name="pf_334"/>
          <p:cNvSpPr/>
          <p:nvPr/>
        </p:nvSpPr>
        <p:spPr>
          <a:xfrm rot="-90000">
            <a:off x="754032" y="1417320"/>
            <a:ext cx="1875217" cy="1280160"/>
          </a:xfrm>
          <a:prstGeom prst="roundRect">
            <a:avLst>
              <a:gd name="adj" fmla="val 12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3" name="ph_335" descr="/home/claude/lls-course/v2/cache/1a2_nonna_pasta_jpg_429x286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799752" y="1463040"/>
            <a:ext cx="1783777" cy="1188720"/>
          </a:xfrm>
          <a:prstGeom prst="rect">
            <a:avLst/>
          </a:prstGeom>
        </p:spPr>
      </p:pic>
      <p:sp>
        <p:nvSpPr>
          <p:cNvPr id="14" name="cd_336"/>
          <p:cNvSpPr/>
          <p:nvPr/>
        </p:nvSpPr>
        <p:spPr>
          <a:xfrm>
            <a:off x="320040" y="2834640"/>
            <a:ext cx="2697480" cy="1920240"/>
          </a:xfrm>
          <a:prstGeom prst="roundRect">
            <a:avLst>
              <a:gd name="adj" fmla="val 666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337"/>
          <p:cNvSpPr/>
          <p:nvPr/>
        </p:nvSpPr>
        <p:spPr>
          <a:xfrm>
            <a:off x="411480" y="2907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16" name="ih_338"/>
          <p:cNvSpPr/>
          <p:nvPr/>
        </p:nvSpPr>
        <p:spPr>
          <a:xfrm>
            <a:off x="886968" y="29260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Story phrases</a:t>
            </a:r>
            <a:endParaRPr lang="en-US" sz="1300" dirty="0"/>
          </a:p>
        </p:txBody>
      </p:sp>
      <p:sp>
        <p:nvSpPr>
          <p:cNvPr id="17" name="il_339"/>
          <p:cNvSpPr/>
          <p:nvPr/>
        </p:nvSpPr>
        <p:spPr>
          <a:xfrm>
            <a:off x="886968" y="3328416"/>
            <a:ext cx="203911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going to…</a:t>
            </a:r>
            <a:pPr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ho intenzione di…</a:t>
            </a:r>
            <a:endParaRPr lang="en-US" sz="7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has been practising for…</a:t>
            </a:r>
            <a:pPr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si esercita da…</a:t>
            </a:r>
            <a:endParaRPr lang="en-US" sz="7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 afford / borrow</a:t>
            </a:r>
            <a:pPr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non può permettersi / prendere in prestito</a:t>
            </a:r>
            <a:endParaRPr lang="en-US" sz="7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starving · filthy · furious</a:t>
            </a:r>
            <a:pPr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affamatissimo · sudicio · furioso</a:t>
            </a:r>
            <a:endParaRPr lang="en-US" sz="7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has never cooked</a:t>
            </a:r>
            <a:pPr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non ha mai cucinato</a:t>
            </a:r>
            <a:endParaRPr lang="en-US" sz="7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waste of money</a:t>
            </a:r>
            <a:pPr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uno spreco di soldi</a:t>
            </a:r>
            <a:endParaRPr lang="en-US" sz="700" dirty="0"/>
          </a:p>
        </p:txBody>
      </p:sp>
      <p:sp>
        <p:nvSpPr>
          <p:cNvPr id="18" name="R1_sb340"/>
          <p:cNvSpPr/>
          <p:nvPr/>
        </p:nvSpPr>
        <p:spPr>
          <a:xfrm>
            <a:off x="3200400" y="145389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R1_sl341"/>
          <p:cNvSpPr/>
          <p:nvPr/>
        </p:nvSpPr>
        <p:spPr>
          <a:xfrm>
            <a:off x="3584448" y="14173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Marco 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saving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money because he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's going to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cook for his nonna's 80th birthday.</a:t>
            </a:r>
            <a:endParaRPr lang="en-US" sz="90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Is Marco saving or spending? · Why? · How old is Nonna?</a:t>
            </a:r>
            <a:endParaRPr lang="en-US" sz="900" dirty="0"/>
          </a:p>
        </p:txBody>
      </p:sp>
      <p:sp>
        <p:nvSpPr>
          <p:cNvPr id="20" name="R2_sb342"/>
          <p:cNvSpPr/>
          <p:nvPr/>
        </p:nvSpPr>
        <p:spPr>
          <a:xfrm>
            <a:off x="3200400" y="201777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R2_sl343"/>
          <p:cNvSpPr/>
          <p:nvPr/>
        </p:nvSpPr>
        <p:spPr>
          <a:xfrm>
            <a:off x="3584448" y="198120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's been practising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fried arancine 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three weeks, but they're always horrible.</a:t>
            </a:r>
            <a:endParaRPr lang="en-US" sz="90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What has he been practising? · For three weeks or three days?</a:t>
            </a:r>
            <a:endParaRPr lang="en-US" sz="900" dirty="0"/>
          </a:p>
        </p:txBody>
      </p:sp>
      <p:sp>
        <p:nvSpPr>
          <p:cNvPr id="22" name="R3_sb344"/>
          <p:cNvSpPr/>
          <p:nvPr/>
        </p:nvSpPr>
        <p:spPr>
          <a:xfrm>
            <a:off x="3200400" y="2581656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R3_sl345"/>
          <p:cNvSpPr/>
          <p:nvPr/>
        </p:nvSpPr>
        <p:spPr>
          <a:xfrm>
            <a:off x="3584448" y="254508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 afford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prawns, so he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borrows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€50 from his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stepbrother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Can he afford prawns? · Who does he borrow money from?</a:t>
            </a:r>
            <a:endParaRPr lang="en-US" sz="1150" dirty="0"/>
          </a:p>
        </p:txBody>
      </p:sp>
      <p:sp>
        <p:nvSpPr>
          <p:cNvPr id="24" name="R4_sb346"/>
          <p:cNvSpPr/>
          <p:nvPr/>
        </p:nvSpPr>
        <p:spPr>
          <a:xfrm>
            <a:off x="3200400" y="3145536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R4_sl347"/>
          <p:cNvSpPr/>
          <p:nvPr/>
        </p:nvSpPr>
        <p:spPr>
          <a:xfrm>
            <a:off x="3584448" y="310896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Sunday the family arrives. Everyone is 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starving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, and Marco 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still 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cooking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!</a:t>
            </a:r>
            <a:endParaRPr lang="en-US" sz="90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Are they hungry or starving? · What is Marco doing?</a:t>
            </a:r>
            <a:endParaRPr lang="en-US" sz="900" dirty="0"/>
          </a:p>
        </p:txBody>
      </p:sp>
      <p:sp>
        <p:nvSpPr>
          <p:cNvPr id="26" name="R5_sb348"/>
          <p:cNvSpPr/>
          <p:nvPr/>
        </p:nvSpPr>
        <p:spPr>
          <a:xfrm>
            <a:off x="3200400" y="370941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R5_sl349"/>
          <p:cNvSpPr/>
          <p:nvPr/>
        </p:nvSpPr>
        <p:spPr>
          <a:xfrm>
            <a:off x="3584448" y="367284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's never cooked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prawns! The kitchen is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filthy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and Nonna is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furious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!</a:t>
            </a:r>
            <a:endParaRPr lang="en-US" sz="105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Has he ever cooked prawns? · Is the kitchen clean? · Who is furious?</a:t>
            </a:r>
            <a:endParaRPr lang="en-US" sz="1050" dirty="0"/>
          </a:p>
        </p:txBody>
      </p:sp>
      <p:sp>
        <p:nvSpPr>
          <p:cNvPr id="28" name="R6_sb350"/>
          <p:cNvSpPr/>
          <p:nvPr/>
        </p:nvSpPr>
        <p:spPr>
          <a:xfrm>
            <a:off x="3200400" y="427329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29" name="R6_sl351"/>
          <p:cNvSpPr/>
          <p:nvPr/>
        </p:nvSpPr>
        <p:spPr>
          <a:xfrm>
            <a:off x="3584448" y="42367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 the end they order a takeaway. '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a waste of money!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 Nonna says, laughing.</a:t>
            </a:r>
            <a:endParaRPr lang="en-US" sz="90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Do they eat Marco's food? · And you – what's the worst meal you've ever cooked?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5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5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354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Street interview: you!</a:t>
            </a:r>
            <a:endParaRPr lang="en-US" sz="2500" dirty="0"/>
          </a:p>
        </p:txBody>
      </p:sp>
      <p:pic>
        <p:nvPicPr>
          <p:cNvPr id="6" name="brP_35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163824" cy="402336"/>
          </a:xfrm>
          <a:prstGeom prst="rect">
            <a:avLst/>
          </a:prstGeom>
        </p:spPr>
      </p:pic>
      <p:sp>
        <p:nvSpPr>
          <p:cNvPr id="7" name="ins_356"/>
          <p:cNvSpPr/>
          <p:nvPr/>
        </p:nvSpPr>
        <p:spPr>
          <a:xfrm>
            <a:off x="1353312" y="731520"/>
            <a:ext cx="29077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your partner. Then swap.</a:t>
            </a:r>
            <a:endParaRPr lang="en-US" sz="1250" dirty="0"/>
          </a:p>
        </p:txBody>
      </p:sp>
      <p:sp>
        <p:nvSpPr>
          <p:cNvPr id="8" name="insIT_35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 le domande al compagno. Poi scambiatevi.</a:t>
            </a:r>
            <a:endParaRPr lang="en-US" sz="950" dirty="0"/>
          </a:p>
        </p:txBody>
      </p:sp>
      <p:sp>
        <p:nvSpPr>
          <p:cNvPr id="9" name="note_358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PARLA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 · Communicative</a:t>
            </a:r>
            <a:endParaRPr lang="en-US" sz="1250" dirty="0"/>
          </a:p>
        </p:txBody>
      </p:sp>
      <p:pic>
        <p:nvPicPr>
          <p:cNvPr id="10" name="logo_35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6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Speaking · before you listen   ·   📖 SB p.25 · the interviewer's questions from 2.21</a:t>
            </a:r>
            <a:endParaRPr lang="en-US" sz="800" dirty="0"/>
          </a:p>
        </p:txBody>
      </p:sp>
      <p:sp>
        <p:nvSpPr>
          <p:cNvPr id="12" name="pf_361"/>
          <p:cNvSpPr/>
          <p:nvPr/>
        </p:nvSpPr>
        <p:spPr>
          <a:xfrm rot="-120000">
            <a:off x="691515" y="1371600"/>
            <a:ext cx="204597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3" name="ph_362" descr="/home/claude/lls-course/v2/cache/1a1_vox_pop_jpg_470x297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737235" y="1417320"/>
            <a:ext cx="1954530" cy="1234440"/>
          </a:xfrm>
          <a:prstGeom prst="rect">
            <a:avLst/>
          </a:prstGeom>
        </p:spPr>
      </p:pic>
      <p:sp>
        <p:nvSpPr>
          <p:cNvPr id="14" name="cd_363"/>
          <p:cNvSpPr/>
          <p:nvPr/>
        </p:nvSpPr>
        <p:spPr>
          <a:xfrm>
            <a:off x="320040" y="2880360"/>
            <a:ext cx="2788920" cy="1689608"/>
          </a:xfrm>
          <a:prstGeom prst="roundRect">
            <a:avLst>
              <a:gd name="adj" fmla="val 757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364"/>
          <p:cNvSpPr/>
          <p:nvPr/>
        </p:nvSpPr>
        <p:spPr>
          <a:xfrm>
            <a:off x="411480" y="2953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6" name="ih_365"/>
          <p:cNvSpPr/>
          <p:nvPr/>
        </p:nvSpPr>
        <p:spPr>
          <a:xfrm>
            <a:off x="886968" y="2971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7" name="il_366"/>
          <p:cNvSpPr/>
          <p:nvPr/>
        </p:nvSpPr>
        <p:spPr>
          <a:xfrm>
            <a:off x="886968" y="3374136"/>
            <a:ext cx="2130552" cy="1122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Not often – maybe once a month.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Yes, I have! / No, never.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I'd rather not say.</a:t>
            </a:r>
            <a:endParaRPr lang="en-US" sz="1150" dirty="0"/>
          </a:p>
        </p:txBody>
      </p:sp>
      <p:sp>
        <p:nvSpPr>
          <p:cNvPr id="18" name="R1_qb367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R1_sq368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 you eat to cheer yourself up when you're feeling sad?</a:t>
            </a:r>
            <a:endParaRPr lang="en-US" sz="10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Chocolate – or my mum's arancine!</a:t>
            </a:r>
            <a:endParaRPr lang="en-US" sz="1000" dirty="0"/>
          </a:p>
        </p:txBody>
      </p:sp>
      <p:sp>
        <p:nvSpPr>
          <p:cNvPr id="20" name="R2_qb369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R2_sq370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often do you eat out? Where do you go?</a:t>
            </a:r>
            <a:endParaRPr lang="en-US" sz="10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About once a week – usually pizza with friends.</a:t>
            </a:r>
            <a:endParaRPr lang="en-US" sz="1000" dirty="0"/>
          </a:p>
        </p:txBody>
      </p:sp>
      <p:sp>
        <p:nvSpPr>
          <p:cNvPr id="22" name="R3_qb371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R3_sq372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get on well with your brothers and sisters (or cousins)?</a:t>
            </a:r>
            <a:endParaRPr lang="en-US" sz="10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Yes, most of the time – but my sister is SO bossy!</a:t>
            </a:r>
            <a:endParaRPr lang="en-US" sz="1000" dirty="0"/>
          </a:p>
        </p:txBody>
      </p:sp>
      <p:sp>
        <p:nvSpPr>
          <p:cNvPr id="24" name="R4_qb373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R4_sq374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won any money? What did you do with it?</a:t>
            </a:r>
            <a:endParaRPr lang="en-US" sz="10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Yes, €20 in a raffle. I spent it on a takeaway!</a:t>
            </a:r>
            <a:endParaRPr lang="en-US" sz="1000" dirty="0"/>
          </a:p>
        </p:txBody>
      </p:sp>
      <p:sp>
        <p:nvSpPr>
          <p:cNvPr id="26" name="R5_qb375"/>
          <p:cNvSpPr/>
          <p:nvPr/>
        </p:nvSpPr>
        <p:spPr>
          <a:xfrm>
            <a:off x="3273552" y="3867912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R5_sq376"/>
          <p:cNvSpPr/>
          <p:nvPr/>
        </p:nvSpPr>
        <p:spPr>
          <a:xfrm>
            <a:off x="3675888" y="3831336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taken part in a charity event?</a:t>
            </a:r>
            <a:endParaRPr lang="en-US" sz="10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No, never. But I'd like to do a charity run.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7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37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379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Street interviews</a:t>
            </a:r>
            <a:endParaRPr lang="en-US" sz="2500" dirty="0"/>
          </a:p>
        </p:txBody>
      </p:sp>
      <p:pic>
        <p:nvPicPr>
          <p:cNvPr id="6" name="brP_38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381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twice. Choose a, b or c.</a:t>
            </a:r>
            <a:endParaRPr lang="en-US" sz="1250" dirty="0"/>
          </a:p>
        </p:txBody>
      </p:sp>
      <p:sp>
        <p:nvSpPr>
          <p:cNvPr id="8" name="insIT_38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due volte. Scegli a, b o c.</a:t>
            </a:r>
            <a:endParaRPr lang="en-US" sz="950" dirty="0"/>
          </a:p>
        </p:txBody>
      </p:sp>
      <p:sp>
        <p:nvSpPr>
          <p:cNvPr id="9" name="note_38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🎧 LISTEN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✅ CHECK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👤 alone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 · for detail</a:t>
            </a:r>
            <a:endParaRPr lang="en-US" sz="1150" dirty="0"/>
          </a:p>
        </p:txBody>
      </p:sp>
      <p:pic>
        <p:nvPicPr>
          <p:cNvPr id="10" name="logo_38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8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Exam practice · listening · 2.21   ·   📖 SB p.25 · Can you understand these people? · audio / video 2.21 (2'42")</a:t>
            </a:r>
            <a:endParaRPr lang="en-US" sz="800" dirty="0"/>
          </a:p>
        </p:txBody>
      </p:sp>
      <p:sp>
        <p:nvSpPr>
          <p:cNvPr id="12" name="ap_386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2.21  ·  play twice</a:t>
            </a:r>
            <a:endParaRPr lang="en-US" sz="1100" dirty="0"/>
          </a:p>
        </p:txBody>
      </p:sp>
      <p:sp>
        <p:nvSpPr>
          <p:cNvPr id="13" name="ah_387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4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5" name="ah_388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6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17" name="cd_389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8" name="ii_390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19" name="ih_391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0" name="gq_392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Philomena: ___ potatoes cheer her up.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(a roast or baked · b fried or roast · c boiled or baked)</a:t>
            </a:r>
            <a:endParaRPr lang="en-US" sz="850" dirty="0"/>
          </a:p>
        </p:txBody>
      </p:sp>
      <p:sp>
        <p:nvSpPr>
          <p:cNvPr id="21" name="R1_chip393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 roast or baked</a:t>
            </a:r>
            <a:endParaRPr lang="en-US" sz="1200" dirty="0"/>
          </a:p>
        </p:txBody>
      </p:sp>
      <p:sp>
        <p:nvSpPr>
          <p:cNvPr id="22" name="gq_394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Mark likes ___ food when he eats out.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(a Spanish · b Italian · c French)</a:t>
            </a:r>
            <a:endParaRPr lang="en-US" sz="1150" dirty="0"/>
          </a:p>
        </p:txBody>
      </p:sp>
      <p:sp>
        <p:nvSpPr>
          <p:cNvPr id="23" name="R2_chip395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 Italian (pizza)</a:t>
            </a:r>
            <a:endParaRPr lang="en-US" sz="1200" dirty="0"/>
          </a:p>
        </p:txBody>
      </p:sp>
      <p:sp>
        <p:nvSpPr>
          <p:cNvPr id="24" name="gq_396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Ross gets on with his step-siblings ___.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(a all his life · b since they grew up · c since teenage years)</a:t>
            </a:r>
            <a:endParaRPr lang="en-US" sz="850" dirty="0"/>
          </a:p>
        </p:txBody>
      </p:sp>
      <p:sp>
        <p:nvSpPr>
          <p:cNvPr id="25" name="R3_chip397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 since they grew up</a:t>
            </a:r>
            <a:endParaRPr lang="en-US" sz="1200" dirty="0"/>
          </a:p>
        </p:txBody>
      </p:sp>
      <p:sp>
        <p:nvSpPr>
          <p:cNvPr id="26" name="gq_398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Coleen won some money. She spent it on ___.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(a a long holiday · b a holiday abroad · c a short holiday)</a:t>
            </a:r>
            <a:endParaRPr lang="en-US" sz="850" dirty="0"/>
          </a:p>
        </p:txBody>
      </p:sp>
      <p:sp>
        <p:nvSpPr>
          <p:cNvPr id="27" name="R4_chip399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  a short holiday</a:t>
            </a:r>
            <a:endParaRPr lang="en-US" sz="1200" dirty="0"/>
          </a:p>
        </p:txBody>
      </p:sp>
      <p:sp>
        <p:nvSpPr>
          <p:cNvPr id="28" name="gq_400"/>
          <p:cNvSpPr/>
          <p:nvPr/>
        </p:nvSpPr>
        <p:spPr>
          <a:xfrm>
            <a:off x="3383280" y="3502152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 Richard raised ___ for Cancer Research.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(a £6,000 · b £6,500 · c £6,050)</a:t>
            </a:r>
            <a:endParaRPr lang="en-US" sz="1050" dirty="0"/>
          </a:p>
        </p:txBody>
      </p:sp>
      <p:sp>
        <p:nvSpPr>
          <p:cNvPr id="29" name="R5_chip401"/>
          <p:cNvSpPr/>
          <p:nvPr/>
        </p:nvSpPr>
        <p:spPr>
          <a:xfrm>
            <a:off x="6812280" y="3502152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 £6,500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2" dur="1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audio>
              <p:cMediaNode vol="80000">
                <p:cTn id="3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4"/>
                </p:tgtEl>
              </p:cMediaNode>
            </p:audio>
            <p:audio>
              <p:cMediaNode vol="80000">
                <p:cTn id="3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0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0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404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Roll and talk!</a:t>
            </a:r>
            <a:endParaRPr lang="en-US" sz="2500" dirty="0"/>
          </a:p>
        </p:txBody>
      </p:sp>
      <p:pic>
        <p:nvPicPr>
          <p:cNvPr id="6" name="brP_40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406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Roll the dice. Talk for 45 seconds!</a:t>
            </a:r>
            <a:endParaRPr lang="en-US" sz="1250" dirty="0"/>
          </a:p>
        </p:txBody>
      </p:sp>
      <p:sp>
        <p:nvSpPr>
          <p:cNvPr id="8" name="insIT_40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Tira il dado. Parla per 45 secondi!</a:t>
            </a:r>
            <a:endParaRPr lang="en-US" sz="950" dirty="0"/>
          </a:p>
        </p:txBody>
      </p:sp>
      <p:sp>
        <p:nvSpPr>
          <p:cNvPr id="9" name="note_408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👨‍👩‍👧 groups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</a:t>
            </a:r>
            <a:endParaRPr lang="en-US" sz="1150" dirty="0"/>
          </a:p>
        </p:txBody>
      </p:sp>
      <p:pic>
        <p:nvPicPr>
          <p:cNvPr id="10" name="logo_40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1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Speaking · roll and talk   ·   📖 SB p.25 · Can you say this in English? (speaking challenge)</a:t>
            </a:r>
            <a:endParaRPr lang="en-US" sz="800" dirty="0"/>
          </a:p>
        </p:txBody>
      </p:sp>
      <p:sp>
        <p:nvSpPr>
          <p:cNvPr id="12" name="cd_411"/>
          <p:cNvSpPr/>
          <p:nvPr/>
        </p:nvSpPr>
        <p:spPr>
          <a:xfrm>
            <a:off x="320040" y="2880360"/>
            <a:ext cx="2788920" cy="1689608"/>
          </a:xfrm>
          <a:prstGeom prst="roundRect">
            <a:avLst>
              <a:gd name="adj" fmla="val 757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412"/>
          <p:cNvSpPr/>
          <p:nvPr/>
        </p:nvSpPr>
        <p:spPr>
          <a:xfrm>
            <a:off x="411480" y="2953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4" name="ih_413"/>
          <p:cNvSpPr/>
          <p:nvPr/>
        </p:nvSpPr>
        <p:spPr>
          <a:xfrm>
            <a:off x="886968" y="2971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5" name="il_414"/>
          <p:cNvSpPr/>
          <p:nvPr/>
        </p:nvSpPr>
        <p:spPr>
          <a:xfrm>
            <a:off x="886968" y="3374136"/>
            <a:ext cx="2130552" cy="1122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Let me think…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thing is…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Follow-up: Why? When? How long…?</a:t>
            </a:r>
            <a:endParaRPr lang="en-US" sz="1150" dirty="0"/>
          </a:p>
        </p:txBody>
      </p:sp>
      <p:sp>
        <p:nvSpPr>
          <p:cNvPr id="16" name="R1_qb415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R1_sq416"/>
          <p:cNvSpPr/>
          <p:nvPr/>
        </p:nvSpPr>
        <p:spPr>
          <a:xfrm>
            <a:off x="3675888" y="14173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favourite dish – how is it cooked?</a:t>
            </a:r>
            <a:endParaRPr lang="en-US" sz="9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Pasta alla Norma – the aubergines are fried, and there's lots of fresh tomato.</a:t>
            </a:r>
            <a:endParaRPr lang="en-US" sz="900" dirty="0"/>
          </a:p>
        </p:txBody>
      </p:sp>
      <p:sp>
        <p:nvSpPr>
          <p:cNvPr id="18" name="R2_qb417"/>
          <p:cNvSpPr/>
          <p:nvPr/>
        </p:nvSpPr>
        <p:spPr>
          <a:xfrm>
            <a:off x="3273552" y="2010156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R2_sq418"/>
          <p:cNvSpPr/>
          <p:nvPr/>
        </p:nvSpPr>
        <p:spPr>
          <a:xfrm>
            <a:off x="3675888" y="197358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Something you're doing these days (not usually!)</a:t>
            </a:r>
            <a:endParaRPr lang="en-US" sz="9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I'm learning to drive at the moment – it's terrifying!</a:t>
            </a:r>
            <a:endParaRPr lang="en-US" sz="900" dirty="0"/>
          </a:p>
        </p:txBody>
      </p:sp>
      <p:sp>
        <p:nvSpPr>
          <p:cNvPr id="20" name="R3_qb419"/>
          <p:cNvSpPr/>
          <p:nvPr/>
        </p:nvSpPr>
        <p:spPr>
          <a:xfrm>
            <a:off x="3273552" y="2566416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R3_sq420"/>
          <p:cNvSpPr/>
          <p:nvPr/>
        </p:nvSpPr>
        <p:spPr>
          <a:xfrm>
            <a:off x="3675888" y="252984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plans for next weekend</a:t>
            </a:r>
            <a:endParaRPr lang="en-US" sz="85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I'm going to the beach on Saturday, and on Sunday I'm having lunch at my nonna's.</a:t>
            </a:r>
            <a:endParaRPr lang="en-US" sz="850" dirty="0"/>
          </a:p>
        </p:txBody>
      </p:sp>
      <p:sp>
        <p:nvSpPr>
          <p:cNvPr id="22" name="R4_qb421"/>
          <p:cNvSpPr/>
          <p:nvPr/>
        </p:nvSpPr>
        <p:spPr>
          <a:xfrm>
            <a:off x="3273552" y="3122676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R4_sq422"/>
          <p:cNvSpPr/>
          <p:nvPr/>
        </p:nvSpPr>
        <p:spPr>
          <a:xfrm>
            <a:off x="3675888" y="308610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Someone in your family: what are they like?</a:t>
            </a:r>
            <a:endParaRPr lang="en-US" sz="9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My brother is really competitive – and a bit moody!</a:t>
            </a:r>
            <a:endParaRPr lang="en-US" sz="900" dirty="0"/>
          </a:p>
        </p:txBody>
      </p:sp>
      <p:sp>
        <p:nvSpPr>
          <p:cNvPr id="24" name="R5_qb423"/>
          <p:cNvSpPr/>
          <p:nvPr/>
        </p:nvSpPr>
        <p:spPr>
          <a:xfrm>
            <a:off x="3273552" y="367893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R5_sq424"/>
          <p:cNvSpPr/>
          <p:nvPr/>
        </p:nvSpPr>
        <p:spPr>
          <a:xfrm>
            <a:off x="3675888" y="364236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Something you bought and then thought: what a waste of money!</a:t>
            </a:r>
            <a:endParaRPr lang="en-US" sz="9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Last summer I bought some expensive trainers. I've only worn them twice!</a:t>
            </a:r>
            <a:endParaRPr lang="en-US" sz="900" dirty="0"/>
          </a:p>
        </p:txBody>
      </p:sp>
      <p:sp>
        <p:nvSpPr>
          <p:cNvPr id="26" name="R6_qb425"/>
          <p:cNvSpPr/>
          <p:nvPr/>
        </p:nvSpPr>
        <p:spPr>
          <a:xfrm>
            <a:off x="3273552" y="4235196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27" name="R6_sq426"/>
          <p:cNvSpPr/>
          <p:nvPr/>
        </p:nvSpPr>
        <p:spPr>
          <a:xfrm>
            <a:off x="3675888" y="41986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Something you've been doing for a long time</a:t>
            </a:r>
            <a:endParaRPr lang="en-US" sz="9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I've been playing volleyball for six years – since I was ten.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2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2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429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you…?</a:t>
            </a:r>
            <a:endParaRPr lang="en-US" sz="2400" dirty="0"/>
          </a:p>
        </p:txBody>
      </p:sp>
      <p:pic>
        <p:nvPicPr>
          <p:cNvPr id="6" name="brP_43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98164" cy="402336"/>
          </a:xfrm>
          <a:prstGeom prst="rect">
            <a:avLst/>
          </a:prstGeom>
        </p:spPr>
      </p:pic>
      <p:sp>
        <p:nvSpPr>
          <p:cNvPr id="7" name="ins_431"/>
          <p:cNvSpPr/>
          <p:nvPr/>
        </p:nvSpPr>
        <p:spPr>
          <a:xfrm>
            <a:off x="1353312" y="731520"/>
            <a:ext cx="33421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it? Show your partner!</a:t>
            </a:r>
            <a:endParaRPr lang="en-US" sz="1250" dirty="0"/>
          </a:p>
        </p:txBody>
      </p:sp>
      <p:sp>
        <p:nvSpPr>
          <p:cNvPr id="8" name="insIT_43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Sai farlo? Dimostralo al compagno!</a:t>
            </a:r>
            <a:endParaRPr lang="en-US" sz="950" dirty="0"/>
          </a:p>
        </p:txBody>
      </p:sp>
      <p:sp>
        <p:nvSpPr>
          <p:cNvPr id="9" name="note_433"/>
          <p:cNvSpPr/>
          <p:nvPr/>
        </p:nvSpPr>
        <p:spPr>
          <a:xfrm rot="180000">
            <a:off x="6382512" y="128016"/>
            <a:ext cx="2029968" cy="74980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1150" dirty="0"/>
          </a:p>
        </p:txBody>
      </p:sp>
      <p:pic>
        <p:nvPicPr>
          <p:cNvPr id="10" name="logo_43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3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Self-assessment · Can you say this in English?   ·   📖 SB p.25 · Can you say this in English? 1–4</a:t>
            </a:r>
            <a:endParaRPr lang="en-US" sz="800" dirty="0"/>
          </a:p>
        </p:txBody>
      </p:sp>
      <p:sp>
        <p:nvSpPr>
          <p:cNvPr id="12" name="cd_436"/>
          <p:cNvSpPr/>
          <p:nvPr/>
        </p:nvSpPr>
        <p:spPr>
          <a:xfrm>
            <a:off x="320040" y="1417320"/>
            <a:ext cx="2697480" cy="969264"/>
          </a:xfrm>
          <a:prstGeom prst="roundRect">
            <a:avLst>
              <a:gd name="adj" fmla="val 1320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43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4" name="ih_43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5" name="il_439"/>
          <p:cNvSpPr/>
          <p:nvPr/>
        </p:nvSpPr>
        <p:spPr>
          <a:xfrm>
            <a:off x="886968" y="1911096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Tick ✓ = I can do it well · ? = I need practice</a:t>
            </a:r>
            <a:endParaRPr lang="en-US" sz="1050" dirty="0"/>
          </a:p>
        </p:txBody>
      </p:sp>
      <p:sp>
        <p:nvSpPr>
          <p:cNvPr id="16" name="pf_440"/>
          <p:cNvSpPr/>
          <p:nvPr/>
        </p:nvSpPr>
        <p:spPr>
          <a:xfrm rot="-90000">
            <a:off x="365760" y="2569464"/>
            <a:ext cx="2606040" cy="2093976"/>
          </a:xfrm>
          <a:prstGeom prst="roundRect">
            <a:avLst>
              <a:gd name="adj" fmla="val 74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441" descr="/home/claude/lls-course/v2/cache/spare_future_aims_jpg_605x48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615184"/>
            <a:ext cx="2514600" cy="2002536"/>
          </a:xfrm>
          <a:prstGeom prst="rect">
            <a:avLst/>
          </a:prstGeom>
        </p:spPr>
      </p:pic>
      <p:sp>
        <p:nvSpPr>
          <p:cNvPr id="18" name="bd_442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q_443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describe your diet – and how it's changing?</a:t>
            </a:r>
            <a:endParaRPr lang="en-US" sz="900" dirty="0"/>
          </a:p>
        </p:txBody>
      </p:sp>
      <p:sp>
        <p:nvSpPr>
          <p:cNvPr id="20" name="R1_chip444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eat a lot of fish, but people here are eating more fast food now.</a:t>
            </a:r>
            <a:endParaRPr lang="en-US" sz="1000" dirty="0"/>
          </a:p>
        </p:txBody>
      </p:sp>
      <p:sp>
        <p:nvSpPr>
          <p:cNvPr id="21" name="bd_445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q_446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describe your family – what they're like?</a:t>
            </a:r>
            <a:endParaRPr lang="en-US" sz="900" dirty="0"/>
          </a:p>
        </p:txBody>
      </p:sp>
      <p:sp>
        <p:nvSpPr>
          <p:cNvPr id="23" name="R2_chip447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My dad is very patient, but my sister is a bit stubborn.</a:t>
            </a:r>
            <a:endParaRPr lang="en-US" sz="1000" dirty="0"/>
          </a:p>
        </p:txBody>
      </p:sp>
      <p:sp>
        <p:nvSpPr>
          <p:cNvPr id="24" name="bd_448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q_449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talk about plans and predictions?</a:t>
            </a:r>
            <a:endParaRPr lang="en-US" sz="900" dirty="0"/>
          </a:p>
        </p:txBody>
      </p:sp>
      <p:sp>
        <p:nvSpPr>
          <p:cNvPr id="26" name="R3_chip450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I'm going to study in Palermo. I think I'll live at home.</a:t>
            </a:r>
            <a:endParaRPr lang="en-US" sz="1000" dirty="0"/>
          </a:p>
        </p:txBody>
      </p:sp>
      <p:sp>
        <p:nvSpPr>
          <p:cNvPr id="27" name="bd_451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q_452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won any money? How much? What did you do with it?</a:t>
            </a:r>
            <a:endParaRPr lang="en-US" sz="900" dirty="0"/>
          </a:p>
        </p:txBody>
      </p:sp>
      <p:sp>
        <p:nvSpPr>
          <p:cNvPr id="29" name="R4_chip453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No, I haven't. / Yes, I won €50 and I bought a jacket.</a:t>
            </a:r>
            <a:endParaRPr lang="en-US" sz="1000" dirty="0"/>
          </a:p>
        </p:txBody>
      </p:sp>
      <p:sp>
        <p:nvSpPr>
          <p:cNvPr id="30" name="bd_454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q_455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long have you been learning English? Where did you start?</a:t>
            </a:r>
            <a:endParaRPr lang="en-US" sz="900" dirty="0"/>
          </a:p>
        </p:txBody>
      </p:sp>
      <p:sp>
        <p:nvSpPr>
          <p:cNvPr id="32" name="R5_chip456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I've been learning it for eight years. I started at primary school.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5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45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459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46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461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looking! Then write your target.</a:t>
            </a:r>
            <a:endParaRPr lang="en-US" sz="1250" dirty="0"/>
          </a:p>
        </p:txBody>
      </p:sp>
      <p:sp>
        <p:nvSpPr>
          <p:cNvPr id="8" name="insIT_46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Senza guardare! Poi scrivi il tuo obiettivo.</a:t>
            </a:r>
            <a:endParaRPr lang="en-US" sz="950" dirty="0"/>
          </a:p>
        </p:txBody>
      </p:sp>
      <p:sp>
        <p:nvSpPr>
          <p:cNvPr id="9" name="note_463"/>
          <p:cNvSpPr/>
          <p:nvPr/>
        </p:nvSpPr>
        <p:spPr>
          <a:xfrm rot="180000">
            <a:off x="6382512" y="128016"/>
            <a:ext cx="2029968" cy="74980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👤 alone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Retrieval</a:t>
            </a:r>
            <a:endParaRPr lang="en-US" sz="1100" dirty="0"/>
          </a:p>
        </p:txBody>
      </p:sp>
      <p:pic>
        <p:nvPicPr>
          <p:cNvPr id="10" name="logo_46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6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Exit · what can you remember?</a:t>
            </a:r>
            <a:endParaRPr lang="en-US" sz="800" dirty="0"/>
          </a:p>
        </p:txBody>
      </p:sp>
      <p:sp>
        <p:nvSpPr>
          <p:cNvPr id="12" name="bd_466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rt_467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3 things you can do well now – from Files 1 and 2</a:t>
            </a:r>
            <a:endParaRPr lang="en-US" sz="1400" dirty="0"/>
          </a:p>
        </p:txBody>
      </p:sp>
      <p:sp>
        <p:nvSpPr>
          <p:cNvPr id="14" name="bd_468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rt_469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2 mistakes from today – and the correct sentence</a:t>
            </a:r>
            <a:endParaRPr lang="en-US" sz="1400" dirty="0"/>
          </a:p>
        </p:txBody>
      </p:sp>
      <p:sp>
        <p:nvSpPr>
          <p:cNvPr id="16" name="bd_470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7" name="rt_471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1 target: what will you revise this week?</a:t>
            </a:r>
            <a:endParaRPr lang="en-US" sz="1400" dirty="0"/>
          </a:p>
        </p:txBody>
      </p:sp>
      <p:sp>
        <p:nvSpPr>
          <p:cNvPr id="18" name="cd_472"/>
          <p:cNvSpPr/>
          <p:nvPr/>
        </p:nvSpPr>
        <p:spPr>
          <a:xfrm>
            <a:off x="5669280" y="1417320"/>
            <a:ext cx="3200400" cy="1837944"/>
          </a:xfrm>
          <a:prstGeom prst="roundRect">
            <a:avLst>
              <a:gd name="adj" fmla="val 6965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ii_473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0" name="ih_474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1" name="il_475"/>
          <p:cNvSpPr/>
          <p:nvPr/>
        </p:nvSpPr>
        <p:spPr>
          <a:xfrm>
            <a:off x="6236208" y="1911096"/>
            <a:ext cx="2542032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SB p.25: Can you understand this text? a, b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Online Practice: Check your progress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Homework sheet R1-2</a:t>
            </a:r>
            <a:endParaRPr lang="en-US" sz="1150" dirty="0"/>
          </a:p>
        </p:txBody>
      </p:sp>
      <p:sp>
        <p:nvSpPr>
          <p:cNvPr id="22" name="st_476"/>
          <p:cNvSpPr/>
          <p:nvPr/>
        </p:nvSpPr>
        <p:spPr>
          <a:xfrm rot="-180000">
            <a:off x="5806440" y="3483864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3A · Survive the drive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7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47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479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48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481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48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note_48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PENSA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Reflection</a:t>
            </a:r>
            <a:endParaRPr lang="en-US" sz="1250" dirty="0"/>
          </a:p>
        </p:txBody>
      </p:sp>
      <p:pic>
        <p:nvPicPr>
          <p:cNvPr id="10" name="logo_48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8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Review · what did you do today?</a:t>
            </a:r>
            <a:endParaRPr lang="en-US" sz="800" dirty="0"/>
          </a:p>
        </p:txBody>
      </p:sp>
      <p:sp>
        <p:nvSpPr>
          <p:cNvPr id="12" name="cd_486"/>
          <p:cNvSpPr/>
          <p:nvPr/>
        </p:nvSpPr>
        <p:spPr>
          <a:xfrm>
            <a:off x="548640" y="1417320"/>
            <a:ext cx="603504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te_487"/>
          <p:cNvSpPr/>
          <p:nvPr/>
        </p:nvSpPr>
        <p:spPr>
          <a:xfrm>
            <a:off x="640080" y="145389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🎲</a:t>
            </a:r>
            <a:endParaRPr lang="en-US" sz="1800" dirty="0"/>
          </a:p>
        </p:txBody>
      </p:sp>
      <p:sp>
        <p:nvSpPr>
          <p:cNvPr id="14" name="tt_488"/>
          <p:cNvSpPr/>
          <p:nvPr/>
        </p:nvSpPr>
        <p:spPr>
          <a:xfrm>
            <a:off x="1188720" y="141732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Played four review games in teams</a:t>
            </a:r>
            <a:endParaRPr lang="en-US" sz="1350" dirty="0"/>
          </a:p>
        </p:txBody>
      </p:sp>
      <p:sp>
        <p:nvSpPr>
          <p:cNvPr id="15" name="R1_tk489"/>
          <p:cNvSpPr/>
          <p:nvPr/>
        </p:nvSpPr>
        <p:spPr>
          <a:xfrm>
            <a:off x="5989320" y="145389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6" name="cd_490"/>
          <p:cNvSpPr/>
          <p:nvPr/>
        </p:nvSpPr>
        <p:spPr>
          <a:xfrm>
            <a:off x="548640" y="1965960"/>
            <a:ext cx="603504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te_491"/>
          <p:cNvSpPr/>
          <p:nvPr/>
        </p:nvSpPr>
        <p:spPr>
          <a:xfrm>
            <a:off x="640080" y="200253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✏️</a:t>
            </a:r>
            <a:endParaRPr lang="en-US" sz="1800" dirty="0"/>
          </a:p>
        </p:txBody>
      </p:sp>
      <p:sp>
        <p:nvSpPr>
          <p:cNvPr id="18" name="tt_492"/>
          <p:cNvSpPr/>
          <p:nvPr/>
        </p:nvSpPr>
        <p:spPr>
          <a:xfrm>
            <a:off x="1188720" y="196596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 the book's grammar test – against the clock</a:t>
            </a:r>
            <a:endParaRPr lang="en-US" sz="1350" dirty="0"/>
          </a:p>
        </p:txBody>
      </p:sp>
      <p:sp>
        <p:nvSpPr>
          <p:cNvPr id="19" name="R2_tk493"/>
          <p:cNvSpPr/>
          <p:nvPr/>
        </p:nvSpPr>
        <p:spPr>
          <a:xfrm>
            <a:off x="5989320" y="200253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0" name="cd_494"/>
          <p:cNvSpPr/>
          <p:nvPr/>
        </p:nvSpPr>
        <p:spPr>
          <a:xfrm>
            <a:off x="548640" y="2514600"/>
            <a:ext cx="603504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te_495"/>
          <p:cNvSpPr/>
          <p:nvPr/>
        </p:nvSpPr>
        <p:spPr>
          <a:xfrm>
            <a:off x="640080" y="255117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🎧</a:t>
            </a:r>
            <a:endParaRPr lang="en-US" sz="1800" dirty="0"/>
          </a:p>
        </p:txBody>
      </p:sp>
      <p:sp>
        <p:nvSpPr>
          <p:cNvPr id="22" name="tt_496"/>
          <p:cNvSpPr/>
          <p:nvPr/>
        </p:nvSpPr>
        <p:spPr>
          <a:xfrm>
            <a:off x="1188720" y="251460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five people in the street</a:t>
            </a:r>
            <a:endParaRPr lang="en-US" sz="1350" dirty="0"/>
          </a:p>
        </p:txBody>
      </p:sp>
      <p:sp>
        <p:nvSpPr>
          <p:cNvPr id="23" name="R3_tk497"/>
          <p:cNvSpPr/>
          <p:nvPr/>
        </p:nvSpPr>
        <p:spPr>
          <a:xfrm>
            <a:off x="5989320" y="255117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cd_498"/>
          <p:cNvSpPr/>
          <p:nvPr/>
        </p:nvSpPr>
        <p:spPr>
          <a:xfrm>
            <a:off x="548640" y="3063240"/>
            <a:ext cx="603504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te_499"/>
          <p:cNvSpPr/>
          <p:nvPr/>
        </p:nvSpPr>
        <p:spPr>
          <a:xfrm>
            <a:off x="640080" y="309981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26" name="tt_500"/>
          <p:cNvSpPr/>
          <p:nvPr/>
        </p:nvSpPr>
        <p:spPr>
          <a:xfrm>
            <a:off x="1188720" y="306324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Talked about food, family, money and you</a:t>
            </a:r>
            <a:endParaRPr lang="en-US" sz="1350" dirty="0"/>
          </a:p>
        </p:txBody>
      </p:sp>
      <p:sp>
        <p:nvSpPr>
          <p:cNvPr id="27" name="R4_tk501"/>
          <p:cNvSpPr/>
          <p:nvPr/>
        </p:nvSpPr>
        <p:spPr>
          <a:xfrm>
            <a:off x="5989320" y="309981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8" name="cd_502"/>
          <p:cNvSpPr/>
          <p:nvPr/>
        </p:nvSpPr>
        <p:spPr>
          <a:xfrm>
            <a:off x="548640" y="3611880"/>
            <a:ext cx="603504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te_503"/>
          <p:cNvSpPr/>
          <p:nvPr/>
        </p:nvSpPr>
        <p:spPr>
          <a:xfrm>
            <a:off x="640080" y="364845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30" name="tt_504"/>
          <p:cNvSpPr/>
          <p:nvPr/>
        </p:nvSpPr>
        <p:spPr>
          <a:xfrm>
            <a:off x="1188720" y="361188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a class story and answered questions</a:t>
            </a:r>
            <a:endParaRPr lang="en-US" sz="1350" dirty="0"/>
          </a:p>
        </p:txBody>
      </p:sp>
      <p:sp>
        <p:nvSpPr>
          <p:cNvPr id="31" name="R5_tk505"/>
          <p:cNvSpPr/>
          <p:nvPr/>
        </p:nvSpPr>
        <p:spPr>
          <a:xfrm>
            <a:off x="5989320" y="364845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2" name="cd_506"/>
          <p:cNvSpPr/>
          <p:nvPr/>
        </p:nvSpPr>
        <p:spPr>
          <a:xfrm>
            <a:off x="548640" y="4160520"/>
            <a:ext cx="603504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3" name="te_507"/>
          <p:cNvSpPr/>
          <p:nvPr/>
        </p:nvSpPr>
        <p:spPr>
          <a:xfrm>
            <a:off x="640080" y="419709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34" name="tt_508"/>
          <p:cNvSpPr/>
          <p:nvPr/>
        </p:nvSpPr>
        <p:spPr>
          <a:xfrm>
            <a:off x="1188720" y="416052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Chose your own revision target</a:t>
            </a:r>
            <a:endParaRPr lang="en-US" sz="1350" dirty="0"/>
          </a:p>
        </p:txBody>
      </p:sp>
      <p:sp>
        <p:nvSpPr>
          <p:cNvPr id="35" name="R6_tk509"/>
          <p:cNvSpPr/>
          <p:nvPr/>
        </p:nvSpPr>
        <p:spPr>
          <a:xfrm>
            <a:off x="5989320" y="419709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6" name="st_510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v_511"/>
          <p:cNvSpPr/>
          <p:nvPr/>
        </p:nvSpPr>
        <p:spPr>
          <a:xfrm>
            <a:off x="4023360" y="9144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⭐</a:t>
            </a:r>
            <a:endParaRPr lang="en-US" sz="5400" dirty="0"/>
          </a:p>
        </p:txBody>
      </p:sp>
      <p:sp>
        <p:nvSpPr>
          <p:cNvPr id="4" name="dvt_512"/>
          <p:cNvSpPr/>
          <p:nvPr/>
        </p:nvSpPr>
        <p:spPr>
          <a:xfrm>
            <a:off x="914400" y="18288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Optional extensions</a:t>
            </a:r>
            <a:endParaRPr lang="en-US" sz="3400" dirty="0"/>
          </a:p>
        </p:txBody>
      </p:sp>
      <p:sp>
        <p:nvSpPr>
          <p:cNvPr id="5" name="dvs_513"/>
          <p:cNvSpPr/>
          <p:nvPr/>
        </p:nvSpPr>
        <p:spPr>
          <a:xfrm>
            <a:off x="914400" y="2606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if there's time – the lesson is finished. · Solo se c'è tempo – la lezione è finita.</a:t>
            </a:r>
            <a:endParaRPr lang="en-US" sz="1250" dirty="0"/>
          </a:p>
        </p:txBody>
      </p:sp>
      <p:pic>
        <p:nvPicPr>
          <p:cNvPr id="6" name="logo_514" descr="/home/claude/lls-course/v2/img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1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19</a:t>
            </a:r>
            <a:endParaRPr lang="en-US" sz="2200" dirty="0"/>
          </a:p>
        </p:txBody>
      </p:sp>
      <p:pic>
        <p:nvPicPr>
          <p:cNvPr id="4" name="brY_51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517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Book test: words</a:t>
            </a:r>
            <a:endParaRPr lang="en-US" sz="2500" dirty="0"/>
          </a:p>
        </p:txBody>
      </p:sp>
      <p:pic>
        <p:nvPicPr>
          <p:cNvPr id="6" name="brP_51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519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p.24 Vocabulary. Then check!</a:t>
            </a:r>
            <a:endParaRPr lang="en-US" sz="1250" dirty="0"/>
          </a:p>
        </p:txBody>
      </p:sp>
      <p:sp>
        <p:nvSpPr>
          <p:cNvPr id="8" name="insIT_52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 p.24 Vocabulary. Poi controlla!</a:t>
            </a:r>
            <a:endParaRPr lang="en-US" sz="950" dirty="0"/>
          </a:p>
        </p:txBody>
      </p:sp>
      <p:sp>
        <p:nvSpPr>
          <p:cNvPr id="9" name="note_521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✍️ WRITE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✅ CHECK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 · Controlled practice</a:t>
            </a:r>
            <a:endParaRPr lang="en-US" sz="1150" dirty="0"/>
          </a:p>
        </p:txBody>
      </p:sp>
      <p:pic>
        <p:nvPicPr>
          <p:cNvPr id="10" name="logo_52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52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Extra · SB p.24 Vocabulary + Pronunciation   ·   📖 SB p.24 · VOCABULARY a–e, PRONUNCIATION c, d (TG key)</a:t>
            </a:r>
            <a:endParaRPr lang="en-US" sz="800" dirty="0"/>
          </a:p>
        </p:txBody>
      </p:sp>
      <p:sp>
        <p:nvSpPr>
          <p:cNvPr id="12" name="ext_524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sp>
        <p:nvSpPr>
          <p:cNvPr id="13" name="cd_525"/>
          <p:cNvSpPr/>
          <p:nvPr/>
        </p:nvSpPr>
        <p:spPr>
          <a:xfrm>
            <a:off x="320040" y="1417320"/>
            <a:ext cx="2697480" cy="969264"/>
          </a:xfrm>
          <a:prstGeom prst="roundRect">
            <a:avLst>
              <a:gd name="adj" fmla="val 1320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526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5" name="ih_527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6" name="il_528"/>
          <p:cNvSpPr/>
          <p:nvPr/>
        </p:nvSpPr>
        <p:spPr>
          <a:xfrm>
            <a:off x="886968" y="1911096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a: prawns, mussels, duck, squid → duck (not seafood)</a:t>
            </a:r>
            <a:endParaRPr lang="en-US" sz="1050" dirty="0"/>
          </a:p>
        </p:txBody>
      </p:sp>
      <p:sp>
        <p:nvSpPr>
          <p:cNvPr id="17" name="pf_529"/>
          <p:cNvSpPr/>
          <p:nvPr/>
        </p:nvSpPr>
        <p:spPr>
          <a:xfrm rot="-90000">
            <a:off x="365760" y="3110934"/>
            <a:ext cx="2606040" cy="1011035"/>
          </a:xfrm>
          <a:prstGeom prst="roundRect">
            <a:avLst>
              <a:gd name="adj" fmla="val 1537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530" descr="/home/claude/lls-course/v2/cache/1a1_fruit_veg_jpg_605x22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3156654"/>
            <a:ext cx="2514600" cy="919595"/>
          </a:xfrm>
          <a:prstGeom prst="rect">
            <a:avLst/>
          </a:prstGeom>
        </p:spPr>
      </p:pic>
      <p:sp>
        <p:nvSpPr>
          <p:cNvPr id="19" name="bd_531"/>
          <p:cNvSpPr/>
          <p:nvPr/>
        </p:nvSpPr>
        <p:spPr>
          <a:xfrm>
            <a:off x="3246120" y="1474143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q_532"/>
          <p:cNvSpPr/>
          <p:nvPr/>
        </p:nvSpPr>
        <p:spPr>
          <a:xfrm>
            <a:off x="3630168" y="1417320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 odd one out</a:t>
            </a:r>
            <a:endParaRPr lang="en-US" sz="1150" dirty="0"/>
          </a:p>
        </p:txBody>
      </p:sp>
      <p:sp>
        <p:nvSpPr>
          <p:cNvPr id="21" name="R1_chip533"/>
          <p:cNvSpPr/>
          <p:nvPr/>
        </p:nvSpPr>
        <p:spPr>
          <a:xfrm>
            <a:off x="5806440" y="1417320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duck · 2 crab · 3 beetroot · 4 raspberry · 5 chicken</a:t>
            </a:r>
            <a:endParaRPr lang="en-US" sz="1050" dirty="0"/>
          </a:p>
        </p:txBody>
      </p:sp>
      <p:sp>
        <p:nvSpPr>
          <p:cNvPr id="22" name="bd_534"/>
          <p:cNvSpPr/>
          <p:nvPr/>
        </p:nvSpPr>
        <p:spPr>
          <a:xfrm>
            <a:off x="3246120" y="194440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q_535"/>
          <p:cNvSpPr/>
          <p:nvPr/>
        </p:nvSpPr>
        <p:spPr>
          <a:xfrm>
            <a:off x="3630168" y="1887583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 opposites (prefix)</a:t>
            </a:r>
            <a:endParaRPr lang="en-US" sz="1150" dirty="0"/>
          </a:p>
        </p:txBody>
      </p:sp>
      <p:sp>
        <p:nvSpPr>
          <p:cNvPr id="24" name="R2_chip536"/>
          <p:cNvSpPr/>
          <p:nvPr/>
        </p:nvSpPr>
        <p:spPr>
          <a:xfrm>
            <a:off x="5806440" y="1887583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dishonest · unfriendly · irresponsible · immature · insensitive</a:t>
            </a:r>
            <a:endParaRPr lang="en-US" sz="1050" dirty="0"/>
          </a:p>
        </p:txBody>
      </p:sp>
      <p:sp>
        <p:nvSpPr>
          <p:cNvPr id="25" name="bd_537"/>
          <p:cNvSpPr/>
          <p:nvPr/>
        </p:nvSpPr>
        <p:spPr>
          <a:xfrm>
            <a:off x="3246120" y="2414669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q_538"/>
          <p:cNvSpPr/>
          <p:nvPr/>
        </p:nvSpPr>
        <p:spPr>
          <a:xfrm>
            <a:off x="3630168" y="2357846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  money verbs</a:t>
            </a:r>
            <a:endParaRPr lang="en-US" sz="1150" dirty="0"/>
          </a:p>
        </p:txBody>
      </p:sp>
      <p:sp>
        <p:nvSpPr>
          <p:cNvPr id="27" name="R3_chip539"/>
          <p:cNvSpPr/>
          <p:nvPr/>
        </p:nvSpPr>
        <p:spPr>
          <a:xfrm>
            <a:off x="5806440" y="2357846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waste · 2 inherit · 3 earn · 4 borrow · 5 save</a:t>
            </a:r>
            <a:endParaRPr lang="en-US" sz="1050" dirty="0"/>
          </a:p>
        </p:txBody>
      </p:sp>
      <p:sp>
        <p:nvSpPr>
          <p:cNvPr id="28" name="bd_540"/>
          <p:cNvSpPr/>
          <p:nvPr/>
        </p:nvSpPr>
        <p:spPr>
          <a:xfrm>
            <a:off x="3246120" y="28849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q_541"/>
          <p:cNvSpPr/>
          <p:nvPr/>
        </p:nvSpPr>
        <p:spPr>
          <a:xfrm>
            <a:off x="3630168" y="2828109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  strong adjectives</a:t>
            </a:r>
            <a:endParaRPr lang="en-US" sz="1150" dirty="0"/>
          </a:p>
        </p:txBody>
      </p:sp>
      <p:sp>
        <p:nvSpPr>
          <p:cNvPr id="30" name="R4_chip542"/>
          <p:cNvSpPr/>
          <p:nvPr/>
        </p:nvSpPr>
        <p:spPr>
          <a:xfrm>
            <a:off x="5806440" y="2828109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exhausted · starving · freezing · filthy · furious</a:t>
            </a:r>
            <a:endParaRPr lang="en-US" sz="1050" dirty="0"/>
          </a:p>
        </p:txBody>
      </p:sp>
      <p:sp>
        <p:nvSpPr>
          <p:cNvPr id="31" name="bd_543"/>
          <p:cNvSpPr/>
          <p:nvPr/>
        </p:nvSpPr>
        <p:spPr>
          <a:xfrm>
            <a:off x="3246120" y="3355195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q_544"/>
          <p:cNvSpPr/>
          <p:nvPr/>
        </p:nvSpPr>
        <p:spPr>
          <a:xfrm>
            <a:off x="3630168" y="3298371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  phrasal verbs</a:t>
            </a:r>
            <a:endParaRPr lang="en-US" sz="1150" dirty="0"/>
          </a:p>
        </p:txBody>
      </p:sp>
      <p:sp>
        <p:nvSpPr>
          <p:cNvPr id="33" name="R5_chip545"/>
          <p:cNvSpPr/>
          <p:nvPr/>
        </p:nvSpPr>
        <p:spPr>
          <a:xfrm>
            <a:off x="5806440" y="3298371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out · 2 out · 3 on · 4 back · 5 out</a:t>
            </a:r>
            <a:endParaRPr lang="en-US" sz="1050" dirty="0"/>
          </a:p>
        </p:txBody>
      </p:sp>
      <p:sp>
        <p:nvSpPr>
          <p:cNvPr id="34" name="bd_546"/>
          <p:cNvSpPr/>
          <p:nvPr/>
        </p:nvSpPr>
        <p:spPr>
          <a:xfrm>
            <a:off x="3246120" y="3825458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q_547"/>
          <p:cNvSpPr/>
          <p:nvPr/>
        </p:nvSpPr>
        <p:spPr>
          <a:xfrm>
            <a:off x="3630168" y="3768634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Pron. c  sounds</a:t>
            </a:r>
            <a:endParaRPr lang="en-US" sz="1150" dirty="0"/>
          </a:p>
        </p:txBody>
      </p:sp>
      <p:sp>
        <p:nvSpPr>
          <p:cNvPr id="36" name="R6_chip548"/>
          <p:cNvSpPr/>
          <p:nvPr/>
        </p:nvSpPr>
        <p:spPr>
          <a:xfrm>
            <a:off x="5806440" y="3768634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chicken /ɪ/ · charge /ɑː/ · inherit /h/ · salary /æ/ · steamed /iː/</a:t>
            </a:r>
            <a:endParaRPr lang="en-US" sz="1050" dirty="0"/>
          </a:p>
        </p:txBody>
      </p:sp>
      <p:sp>
        <p:nvSpPr>
          <p:cNvPr id="37" name="bd_549"/>
          <p:cNvSpPr/>
          <p:nvPr/>
        </p:nvSpPr>
        <p:spPr>
          <a:xfrm>
            <a:off x="3246120" y="4295721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8" name="q_550"/>
          <p:cNvSpPr/>
          <p:nvPr/>
        </p:nvSpPr>
        <p:spPr>
          <a:xfrm>
            <a:off x="3630168" y="4238897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Pron. d  stress</a:t>
            </a:r>
            <a:endParaRPr lang="en-US" sz="1150" dirty="0"/>
          </a:p>
        </p:txBody>
      </p:sp>
      <p:sp>
        <p:nvSpPr>
          <p:cNvPr id="39" name="R7_chip551"/>
          <p:cNvSpPr/>
          <p:nvPr/>
        </p:nvSpPr>
        <p:spPr>
          <a:xfrm>
            <a:off x="5806440" y="4238897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SENsible · TERrified · unSELfish · MORTgage · exHAUSted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5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20</a:t>
            </a:r>
            <a:endParaRPr lang="en-US" sz="2200" dirty="0"/>
          </a:p>
        </p:txBody>
      </p:sp>
      <p:pic>
        <p:nvPicPr>
          <p:cNvPr id="4" name="brY_55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554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Word snake</a:t>
            </a:r>
            <a:endParaRPr lang="en-US" sz="2500" dirty="0"/>
          </a:p>
        </p:txBody>
      </p:sp>
      <p:pic>
        <p:nvPicPr>
          <p:cNvPr id="6" name="brP_55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556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Last letter = first letter. Go!</a:t>
            </a:r>
            <a:endParaRPr lang="en-US" sz="1250" dirty="0"/>
          </a:p>
        </p:txBody>
      </p:sp>
      <p:sp>
        <p:nvSpPr>
          <p:cNvPr id="8" name="insIT_55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Ultima lettera = prima lettera. Via!</a:t>
            </a:r>
            <a:endParaRPr lang="en-US" sz="950" dirty="0"/>
          </a:p>
        </p:txBody>
      </p:sp>
      <p:sp>
        <p:nvSpPr>
          <p:cNvPr id="9" name="note_558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GIOCA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🏆 teams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 game</a:t>
            </a:r>
            <a:endParaRPr lang="en-US" sz="1250" dirty="0"/>
          </a:p>
        </p:txBody>
      </p:sp>
      <p:pic>
        <p:nvPicPr>
          <p:cNvPr id="10" name="logo_55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56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Extra game · word snake   ·   📖 Topics: food &amp; cooking · family · personality · money · strong adjectives</a:t>
            </a:r>
            <a:endParaRPr lang="en-US" sz="800" dirty="0"/>
          </a:p>
        </p:txBody>
      </p:sp>
      <p:sp>
        <p:nvSpPr>
          <p:cNvPr id="12" name="ext_561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sp>
        <p:nvSpPr>
          <p:cNvPr id="13" name="cd_562"/>
          <p:cNvSpPr/>
          <p:nvPr/>
        </p:nvSpPr>
        <p:spPr>
          <a:xfrm>
            <a:off x="320040" y="1417320"/>
            <a:ext cx="2697480" cy="2514600"/>
          </a:xfrm>
          <a:prstGeom prst="roundRect">
            <a:avLst>
              <a:gd name="adj" fmla="val 5091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56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5" name="ih_56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6" name="il_565"/>
          <p:cNvSpPr/>
          <p:nvPr/>
        </p:nvSpPr>
        <p:spPr>
          <a:xfrm>
            <a:off x="886968" y="1911096"/>
            <a:ext cx="2039112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a word from Files 1–2 + its topic.</a:t>
            </a:r>
            <a:endParaRPr lang="en-US" sz="8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una parola dei File 1–2 + l'argomento.</a:t>
            </a:r>
            <a:endParaRPr lang="en-US" sz="8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Next team: 10 seconds, a word that starts with the LAST letter.</a:t>
            </a:r>
            <a:endParaRPr lang="en-US" sz="8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Squadra dopo: 10 secondi, una parola che inizia con l'ULTIMA lettera.</a:t>
            </a:r>
            <a:endParaRPr lang="en-US" sz="8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word or repeated word = point to the other team.</a:t>
            </a:r>
            <a:endParaRPr lang="en-US" sz="8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Nessuna parola o parola ripetuta = punto all'altra squadra.</a:t>
            </a:r>
            <a:endParaRPr lang="en-US" sz="800" dirty="0"/>
          </a:p>
        </p:txBody>
      </p:sp>
      <p:sp>
        <p:nvSpPr>
          <p:cNvPr id="17" name="st_566"/>
          <p:cNvSpPr/>
          <p:nvPr/>
        </p:nvSpPr>
        <p:spPr>
          <a:xfrm rot="-180000">
            <a:off x="502920" y="4114800"/>
            <a:ext cx="2286000" cy="59436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8" name="bd_567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19" name="gq_568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salmon – FOOD</a:t>
            </a:r>
            <a:endParaRPr lang="en-US" sz="1250" dirty="0"/>
          </a:p>
        </p:txBody>
      </p:sp>
      <p:sp>
        <p:nvSpPr>
          <p:cNvPr id="20" name="chip_569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n: nephew – FAMILY</a:t>
            </a:r>
            <a:endParaRPr lang="en-US" sz="1200" dirty="0"/>
          </a:p>
        </p:txBody>
      </p:sp>
      <p:sp>
        <p:nvSpPr>
          <p:cNvPr id="21" name="bd_570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gq_571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nephew – FAMILY</a:t>
            </a:r>
            <a:endParaRPr lang="en-US" sz="1250" dirty="0"/>
          </a:p>
        </p:txBody>
      </p:sp>
      <p:sp>
        <p:nvSpPr>
          <p:cNvPr id="23" name="R1_chip572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w: waste – MONEY</a:t>
            </a:r>
            <a:endParaRPr lang="en-US" sz="1200" dirty="0"/>
          </a:p>
        </p:txBody>
      </p:sp>
      <p:sp>
        <p:nvSpPr>
          <p:cNvPr id="24" name="bd_573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gq_574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waste – MONEY</a:t>
            </a:r>
            <a:endParaRPr lang="en-US" sz="1250" dirty="0"/>
          </a:p>
        </p:txBody>
      </p:sp>
      <p:sp>
        <p:nvSpPr>
          <p:cNvPr id="26" name="R2_chip575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e: exhausted – STRONG ADJ.</a:t>
            </a:r>
            <a:endParaRPr lang="en-US" sz="1200" dirty="0"/>
          </a:p>
        </p:txBody>
      </p:sp>
      <p:sp>
        <p:nvSpPr>
          <p:cNvPr id="27" name="bd_576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gq_577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exhausted – STRONG ADJ.</a:t>
            </a:r>
            <a:endParaRPr lang="en-US" sz="1250" dirty="0"/>
          </a:p>
        </p:txBody>
      </p:sp>
      <p:sp>
        <p:nvSpPr>
          <p:cNvPr id="29" name="R3_chip578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d: duck – FOOD</a:t>
            </a:r>
            <a:endParaRPr lang="en-US" sz="1200" dirty="0"/>
          </a:p>
        </p:txBody>
      </p:sp>
      <p:sp>
        <p:nvSpPr>
          <p:cNvPr id="30" name="bd_579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gq_580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duck – FOOD</a:t>
            </a:r>
            <a:endParaRPr lang="en-US" sz="1250" dirty="0"/>
          </a:p>
        </p:txBody>
      </p:sp>
      <p:sp>
        <p:nvSpPr>
          <p:cNvPr id="32" name="R4_chip581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k: kind – PERSONALITY</a:t>
            </a:r>
            <a:endParaRPr lang="en-US" sz="1200" dirty="0"/>
          </a:p>
        </p:txBody>
      </p:sp>
      <p:sp>
        <p:nvSpPr>
          <p:cNvPr id="33" name="bd_582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4" name="gq_583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Bonus point!</a:t>
            </a:r>
            <a:endParaRPr lang="en-US" sz="1250" dirty="0"/>
          </a:p>
        </p:txBody>
      </p:sp>
      <p:sp>
        <p:nvSpPr>
          <p:cNvPr id="35" name="R5_chip584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 sentence with your word: 'I've never eaten duck.'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R1-2 Revise and Check 1&amp;2</dc:title>
  <dc:subject>PptxGenJS Presentation</dc:subject>
  <dc:creator>PptxGenJS</dc:creator>
  <cp:lastModifiedBy>PptxGenJS</cp:lastModifiedBy>
  <cp:revision>1</cp:revision>
  <dcterms:created xsi:type="dcterms:W3CDTF">2026-10-21T10:14:51Z</dcterms:created>
  <dcterms:modified xsi:type="dcterms:W3CDTF">2026-10-21T10:14:51Z</dcterms:modified>
</cp:coreProperties>
</file>