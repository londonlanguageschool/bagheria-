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PRACTICAL ENGLISH EPISODE 2 (60 min) · video lesson · SB pp.34–35 (after 3B). PLANNING CARD — Class: B1 teens / young adults and adults. Last lesson: 3B part 2 (toys, 'pink and blue' radio programme, dependent prepositions). Lesson type: functional language + video (listening) lesson, with speaking. MAIN AIM: by the end, students can give their opinion, agree and disagree politely (Personally, I think… / In my opinion… / If you ask me… / To be honest… / OK, I agree. / I don't think that's right. / Don't you agree? / What do you think?). Secondary aims: watch for gist, then detail; Social English phrases (Hang on a minute, It's just that…, That was so kind of him!); role-play a difficult interview. Anticipated problems: ✗ I am agree → I agree · ✗ According to me → In my opinion · 'Oh sure' is ironic in the video · strong phrases (You can't be serious!) only with friends · flat intonation. VIDEO: all six Episode 2 clips are in /home/claude/lls-course/b1/video/ (EF4e_Int_PE_Ep2_…mp4); this deck can't embed video, so play them from the video files / Online Practice, or use the audio 3.28–3.33 (3.28 and 3.29 are embedded on their slides). Kerri, Rob, Jenny and Don are fictional characters from the English File video. Timing: 2+2+3+2+3+4+3+3+2+2+2+3+2+2+3+5+4+3+3+5+2 = 60 min. If short of time, cut slide 15 (Hot takes!) to 2 min and slide 19 (Which phrase?) to 2 min. OPENING (2 min): show the photo. Ask the THINK question: 'Is it easy to interview a famous singer?' Take 2–3 ideas, then click for the example answer. Ask: 'What questions would you ask?' Read the 'Today you're going to…' list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(2 min)
REVISION (2 min) before the warmer game. All examples are from 3B part 2 (Vocabulary Bank p.156, audio 3.25–3.26). Read the examples with the class. Quick checks: 'It depends ___ the weather – from or on?' (on – NOT 'dipendere da'!) · 'I'm interested ___ music?' (in) · 'I'm tired ___ walk / walking?' (of walking – -ing after a preposition). Then play 'Preposition ping-pong' – every word in the game is from this slide or last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Warmer · last lesson: prepositions (3 min)
RETRIEVAL WARMER (3 min) – recycles 3B part 2 (dependent prepositions). Format: ping-pong rally in pairs (different from 3B-2's warmer 'Bet on it!'). Demo with a strong student: you 'serve' a word ('afraid!'), they 'return' the preposition AND a short sentence ('of – I'm afraid of spiders!'), then serve a new word back. 1-minute rallies; a wrong or slow return (3 seconds) = 1 point to the server. Students can use the 8 words on the slide or the key words from the recap. Then whole class: click once per word to check (answers from Vocabulary Bank p.156 / audio 3.25–3.26): depend on · look forward to · laugh at · apologise to sb for sth · afraid of · good at · interested in · fed up with. ICQs: 'Do you say only the preposition?' (no – a sentence too) · 'Who gets the point if B is wrong?'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 before the video (2 min)
PRE-TEACH (2 min) – the blocking words for Rob's interview (TG extra support: solo, lead guitarist, break-up, gig). Do 0 with the class. Pairs read each clue and say the word; click once per item. Drill: solo /ˈsəʊləʊ/, guitarist /ɡɪˈtɑːrɪst/ (stress on TAR), album /ˈælbəm/, gig /ɡɪɡ/. CCQs: 'A solo singer – with a band or alone?' (alone) · 'Is a gig in a stadium?' (no – usually a small club). These words come back on the Italian slide (9) and in the role-play. ICQ: 'Are you guessing the word or the singer?' (the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Video · Rob's interview · gist (3 min)
VIDEO 1 · GIST (3 min). WHERE IS THE VIDEO: EF4e_Int_PE_Ep2_Rob's_interview.mp4 (2'47") in lls-course/b1/video/ (or Online Practice; audio version 3.28 is embedded on this slide). LEAD-IN (30 seconds, TG optional): 'What do you remember about Episode 1?' (Jenny and Rob work for New York 24seven; Rob is British; they had dinner with Jenny's parents, Harry and Sally; Don Taylor is the new boss). Then look at photos A and B: 'Who is she? What's her job?' (prediction). Play the video ONCE. Pairs compare, then click once per question. Answers (TG + script 3.28): Kerri is a British singer · she is happy to talk about her new album and what she's been doing recently · NOT happy to talk about what happened with the band or her private life ('No comment. I never talk about my private life.') · Don suggests they have some lunch and asks Rob to call a taxi. Jenny: 'She isn't the easiest person to interview.' ICQ: 'Do you need every word?' (no – just the 4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Video · Rob's interview · detail (4 min)
VIDEO 1 · DETAIL (4 min). Book 1b sentences 1–8 (slightly shortened on the slide: 3 = 'She used to go out with a member of the band', 6 = 'Her new album is very different from the previous ones', 7 = 'She's been recording and touring recently', 8 = 'She's going to give a big concert in New York'). Pairs read and guess T / F from memory first. Play the video again (EF4e_Int_PE_Ep2_Rob's_interview.mp4 / audio 3.28). Pairs must CORRECT the false sentences before you click. Click once per sentence. Answers (TG): 1 F (the song is about money – 'chasing those dollars and cents') · 2 F (she used to play in a band, but she now plays solo) · 3 T (Rob asks about her relationship with the band's lead guitarist – 'No comment') · 4 F (her father was in a famous punk band and her mother is a classical pianist) · 5 F (she started playing the guitar when she was about four) · 6 T ('a lot quieter and more experimental than your earlier albums') · 7 T (writing and recording new songs, playing at summer festivals in the UK) · 8 F (she is going to play at some clubs in New York). EXTRA SUPPORT: watch again with subtitles. ICQ: 'For F, is it enough to say F?' (no – correct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Video · Giving opinions · gist (3 min)
VIDEO 2 · GIST (3 min). WHERE IS THE VIDEO: EF4e_Int_PE_Ep2_Giving_opinions.mp4 (2'46"), audio version 3.29 (embedded). Photos: A = the lunch in a New York restaurant (Don, Kerri, Rob, Jenny) · B = a friendly New York waiter · C = a London taxi ('London or New York?'). Ask: 'Who are the people? Where are they?' (Don and Kerri, at a restaurant). Play ONCE. Click once per question. Answers (TG + script): they disagree about which city is better, New York or London · they're at a restaurant in New York (lunch with Kerri) · the taxi driver phones Rob (detail on the next slide). Kerri is not very polite – ask: 'Is she a difficult celebrity?'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Video · Giving opinions · detail (3 min)
VIDEO 2 · DETAIL (3 min). Book 2b: 1 What does Kerri think about a the waiters in New York compared to London, b people in New York compared to London? 2 Who agrees with Kerri? Who disagrees? What do they think? 3 Who phones Rob? What about? (split into 5 short questions on the slide). Pairs read first. Play the video again. Click once per line. Answers (TG + script 3.29): 1 New York waiters never leave the customer alone; London waiters are friendly, but not too friendly – they don't bother you all the time · 2 people in London are a lot more easy-going; London isn't as hectic as New York · 3 Rob agrees: London is more relaxed, it's got great parks and you can cycle everywhere · 4 Don and Jenny disagree: Don – New York is the greatest city in the world, 'the whole world is here'; Jenny – New Yorkers are very friendly · 5 the taxi driver phones Rob: Kerri left her cell phone in his taxi. British and American English: cell phone (US) = mobile phone (UK).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Vocabulary · in Italian (2 min)
CONSOLIDATION for slower students (2 min). The class says the Italian for each word, then click once per word to show its Italian. All words are from the videos (script 3.28, 3.29, 3.32; homesick = 3.33 'you seemed so homesick'). CCQs: 'Is Bagheria hectic in August?' · 'An easy-going person – relaxed or stressed?' (relaxed). British and American English box (SB p.35): cell phone = mobile phone, cab = taxi, ma'am = madam.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Function · giving opinions · 1/2 (2 min)
ELICIT FIRST (2 min). SB 2c conversation 1 on the slide (script 3.30, Don's line shortened: 'New York is possibly… well, no, is definitely the greatest city' → 'is the greatest city'). Pairs try to remember the missing words (1 min). Play the 'listen and check' clip: EF4e_Int_PE_Ep2_Giving_opinions_listen_and_check.mp4 (1'08") / audio 3.30 (first half). Click once per gap: the answer appears highlighted IN the text. Answers (TG): 1 Personally · 2 opinion · 3 agree · 4 honest · 5 think. ICQ: 'Guess first or listen first?' (guess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Function · giving opinions · 2/2 (2 min)
ELICIT FIRST (2 min). SB 2c conversation 2 (script 3.30; Kerri's long line shortened – full version: 'But that's the problem. It's too big. There are too many people. Everybody's so stressed out. And nobody has any time for you.'). Pairs guess, then play the second half of the listen-and-check clip / 3.30. Click once per gap. Answers (TG): 1 agree · 2 ask · 3 right · 4 sure. Point out: 'Oh sure' here is ironic – Kerri does NOT agree (tone of voice!). 'peculiar charm' = un fascino particolare. 2e (TG): pairs / groups of 3 practise both conversations, swapping roles (do it after the pronunciation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Function · the opinions chart (3 min)
GUIDED DISCOVERY (3 min). Pairs decide what each phrase from the lunch does: give an opinion, ask for someone's opinion, agree, or disagree. Click once per phrase. Answers: giving – Personally, I think… · In my opinion… · If you ask me… · To be honest… · asking – Don't you agree? · What do you think? · agreeing – OK, I agree. · disagreeing – I don't think that's right. · You can't be serious! (Kerri to Don, script 3.29). Also from the video: Sure, we all like peace and quiet (= agreeing, then 'But…') · Oh sure… (ironic = disagreeing) · You've got to be kidding me! (Don – strong disagreeing). CCQs: 'Is You can't be serious! polite with your teacher?' (no – only with friends) · 'Which is more polite: I don't think that's right or You can't be serious!?' (I don't think that's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Pronunciation · rhythm and intonation (2 min)
PRONUNCIATION (2 min) – one feature: rhythm and intonation of the opinion phrases. HEAR: play EF4e_Int_PE_Ep2_Giving_opinions_listen_and_repeat.mp4 (1'30") / audio 3.31; click 1 = the stressed syllable(s), click 2 = the full phrase. DISCRIMINATE: say 'Don't you agree?' twice – once flat and aggressive, once friendly with big up-and-down music: 'Which one invites your friend to answer?' REPEAT: pause after each phrase, chorally then individually (the clip has: Personally, I think… · But in my opinion… · Don't you agree? · To be honest… · What do you think? · OK, I agree. · But if you ask me… · I don't think that's right. · Oh sure.). Make 'Oh sure' slow and ironic – students love it. PRODUCE (2e): groups of 3 (Kerri, Don, Jenny) read slides 10–11 aloud with the right music, swapping roles (1 min) – if time, change the feeling: angry, bored, whispering. Italian speakers often stress every syllable the same: exaggerate the big syllable.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Function · say what you think (2 min)
RULE / CONSOLIDATION (2 min). All phrases are from the episode (3.29–3.31) except 'How about you?' and 'I agree, but…' (common, simple additions). Click once per column (examples, then the Italian), then the warning. Students say the Italian before you click. Italian traps: ✗ I am agree (sono d'accordo) → I agree · ✗ according to me (secondo me) → in my opinion / personally, I think · don't use In my opinion AND I think together. Register: 'You can't be serious!' and 'You've got to be kidding me!' are strong and informal (Kerri and Don are almost rude!); 'I don't think that's right' is more polite. Quick drill: say a provocative opinion ('Pineapple on pizza is delicious!') – students respond with a phrase from each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Function game (3 min)
GAME 2 (3 min) – controlled practice of the opinion phrases. Two teams. Read each 'hot take' with drama. Teams have 10 seconds to agree or disagree with a phrase from slide 14 AND give a reason. Click to show a model answer – accept any correct phrase. 1 point for a correct phrase + reason; +1 if the team uses a phrase nobody has used yet. ✗ I am agree = 0 points! (the class shouts 'I AGREE!'). 'Arancina vs arancino' = the Palermo / Catania debate – keep it fun. ICQs: 'Is OK, I agree enough?' (no – a reason too) · 'Can you use the same phrase every time?' (yes, but you lose the bonus).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Speaking game · discussion (5 min)
GAME 3 / FREER PRACTICE (5 min). SB 2f as a game. Groups of 4: two BOXERS, a REFEREE (keeps time: 1 minute, reads the statement) and a JUDGE (counts the different opinion phrases each boxer uses). Boxer A agrees, boxer B disagrees – even if they don't believe it! Every turn must start with a phrase from today. Same phrase twice = no point. Click once per statement to show it with a model exchange; give 1 minute of thinking time for statement 1 (TG: students think of ideas first), then GO. Swap jobs for each round (4 rounds). Statements 1–4 = the book's 2f statements; 5 = local extra linked to Kerri. Feedback: each judge reports the winner and the best phrase they heard. Monitor and note 4–5 errors (✗ I am agree, ✗ according to me) for delayed correction at the end of the role-play. ICQs: 'Does B agree or disagree?' (disagree) · 'Who counts the phrases?' (the judge).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Video · A surprise for Kerri (4 min)
VIDEO 3 · GIST + DETAIL (4 min). WHERE IS THE VIDEO: EF4e_Int_PE_Ep2_A_surprise_for_Kerri.mp4 (1'36"), audio version 3.32. 3a: look at photo A – prediction ('What's happening?'). Play ONCE. Click 1 (TG): Kerri is surprised because the taxi driver came back to the restaurant to give her back the phone she had left in his taxi. 3b: play again; students complete 1–3 (book: 1 Kerri thinks the waitress is friendly when they leave because Don… · 2 Jenny is worried because she thinks Rob… · 3 Kerri thinks that the taxi driver is very…). Clicks 2–4 (TG): 1 left a big tip · 2 misses London · 3 kind. Follow-up: 'Did Rob mean what he said? Is he homesick?' ('Sure, I miss it… but hey, not that much!') · Don: 'See? New Yorkers are really friendly people.' – Kerri has to change her opinion! British and American English: cab = taxi, ma'am = madam.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Social English · phrases (3 min)
ELICIT FIRST (3 min). 3c: pairs try to remember the missing words (TG extra challenge). 3d: play EF4e_Int_PE_Ep2_Social_English_phrases.mp4 (0'58") / audio 3.33 to check. Click once per phrase. Answers (TG / script): 1 mean · 2 just · 3 hang · 4 back · 5 kind. Meaning in Italian: Did you mean what you said? = Dicevi sul serio? · It's just that… = È solo che… · Hang on a minute! = Aspetta un attimo! · …come back = è tornato · That was so kind of him! = È stato gentilissimo! Play again: watch and repeat (hang ON a MINute, so KIND of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Social English game (3 min)
GAME 4 (3 min). The conversations are SB 3e A–E, shortened to fit the slide – read the full book versions aloud: A Are you ready? The taxi's waiting. – I think so. Oh, ___. I've left my charger upstairs. · B Are you sure you don't want to come on holiday with us? – I'd like to come. ___ I'm not sure if I can afford it. · C Did Mark drive you all the way home? – Yes, it was ___. · D How long are you going to be in Prague? – Just three days. I ___ on Sunday night. · E ___ about paying for the tickets? – Yes, absolutely. It's my birthday present to you! Two teams. Read each conversation aloud with a 'beep' for the gap. The first team to say the right Social English phrase wins a point. Click once per conversation. Answers (TG): A 3 hang on a minute · B 2 It's just that · C 5 so kind of him · D 4 come back · E 1 Did you mean what you said. Then pairs practise A–E quickly, swapping roles (book 3e). ICQ: 'One word or a phrase?' (a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Speaking · role play (5 min)
ROLE PLAY · PRODUCTION (5 min) – covers all three 'Can you…?' points (interview someone or be interviewed · give your opinion · agree or disagree). Pairs: B invents a FICTIONAL celebrity (singer, footballer, chef, influencer…) – no real people, no real private lives. The 5 question ideas appear ONE PER CLICK (read each with a strong student as a model), then A interviews B for 2 minutes. B answers like Kerri: happy to talk about work, opinions about cities, but 'No comment!' for private questions; A must stay polite and use at least 2 opinion phrases (What do you think of…? Don't you agree?) and agree / disagree with B's answers. Swap. Feedback: one pair performs; the class votes for the most difficult celebrity. Then 1 minute of delayed error correction: write 4–5 errors from slides 15–16 and this role-play on the board (e.g. ✗ I am agree ✗ According to me, …); students correct them. ('What have you been doing recently?' recycles the present perfect continuous from 2B.)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Exit · what can you remember? (2 min)
RETRIEVAL EXIT (2 min). Books closed. Pairs: 3 phrases to give an opinion (Personally, I think… / In my opinion… / If you ask me… / To be honest…), 2 ways to agree or disagree (OK, I agree / I don't think that's right / You can't be serious!), 1 Social English phrase (Hang on a minute / It's just that… / That was so kind of him! / Did you mean what you said?). A few pairs share. CAN YOU…? (SB p.35): interview someone or be interviewed · give your opinion about something · agree or disagree with other people's opinions. Homework: Workbook Practical English 2 (1a, 1b, 2) + Can you remember? 1–3 (revision of Files 1–3) + the PE2 homework sheet in the app (easier version available). Students can watch the episode again on Online Practice. The TG lists Quick Test 3 and the File 3 Test if you want to test File 3 before starting 4A.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Extra game · episode words (4 min)
EXTRA GAME (4 min, if there's time) – a variation of 'Describe it!' with the episode words (slides 4 and 9). Round 1: A explains the 4 words (click to show each) while B faces away; B guesses. Round 2: swap. Explanations must be in English and can use opinions: 'Personally, I think New York is very… it's busy and fast' (hectic). homesick = when you're far from home and you miss it (Rob!). ICQ: 'Can you say the word?'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Extra · debate (6 min)
EXTRA (6 min, if there's time). Mild controversy + forced choice. Topics appear ONE PER CLICK. Two teams; 1 minute to prepare 3 reasons, then 2 minutes of 'face-off', alternating. Each turn must start with a phrase from the language box; the other team must answer with an agreeing / disagreeing phrase first. The class votes at the end – keep it friendly (local rivalries can be strong!).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audio" Target="../media/media-5-5.mp3"/><Relationship Id="rId6" Type="http://schemas.microsoft.com/office/2007/relationships/media" Target="../media/media-5-5.mp3"/><Relationship Id="rId7" Type="http://schemas.openxmlformats.org/officeDocument/2006/relationships/image" Target="../media/image-5-7.png"/><Relationship Id="rId8" Type="http://schemas.openxmlformats.org/officeDocument/2006/relationships/audio" Target="../media/media-5-8.mp3"/><Relationship Id="rId9" Type="http://schemas.microsoft.com/office/2007/relationships/media" Target="../media/media-5-8.mp3"/><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audio" Target="../media/media-6-5.mp3"/><Relationship Id="rId6" Type="http://schemas.microsoft.com/office/2007/relationships/media" Target="../media/media-6-5.mp3"/><Relationship Id="rId7" Type="http://schemas.openxmlformats.org/officeDocument/2006/relationships/image" Target="../media/image-6-7.png"/><Relationship Id="rId8" Type="http://schemas.openxmlformats.org/officeDocument/2006/relationships/audio" Target="../media/media-6-8.mp3"/><Relationship Id="rId9" Type="http://schemas.microsoft.com/office/2007/relationships/media" Target="../media/media-6-8.mp3"/><Relationship Id="rId10" Type="http://schemas.openxmlformats.org/officeDocument/2006/relationships/image" Target="../media/image-6-10.png"/><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audio" Target="../media/media-7-5.mp3"/><Relationship Id="rId6" Type="http://schemas.microsoft.com/office/2007/relationships/media" Target="../media/media-7-5.mp3"/><Relationship Id="rId7" Type="http://schemas.openxmlformats.org/officeDocument/2006/relationships/image" Target="../media/image-7-7.png"/><Relationship Id="rId8" Type="http://schemas.openxmlformats.org/officeDocument/2006/relationships/audio" Target="../media/media-7-8.mp3"/><Relationship Id="rId9" Type="http://schemas.microsoft.com/office/2007/relationships/media" Target="../media/media-7-8.mp3"/><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1.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audio" Target="../media/media-8-5.mp3"/><Relationship Id="rId6" Type="http://schemas.microsoft.com/office/2007/relationships/media" Target="../media/media-8-5.mp3"/><Relationship Id="rId7" Type="http://schemas.openxmlformats.org/officeDocument/2006/relationships/image" Target="../media/image-8-7.png"/><Relationship Id="rId8" Type="http://schemas.openxmlformats.org/officeDocument/2006/relationships/audio" Target="../media/media-8-8.mp3"/><Relationship Id="rId9" Type="http://schemas.microsoft.com/office/2007/relationships/media" Target="../media/media-8-8.mp3"/><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slideLayout" Target="../slideLayouts/slideLayout1.xml"/><Relationship Id="rId1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slideLayout" Target="../slideLayouts/slideLayout1.xml"/><Relationship Id="rId10"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1.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B1 · SB pp.34–35</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000" dirty="0">
                <a:solidFill>
                  <a:srgbClr val="FFFFFF"/>
                </a:solidFill>
                <a:latin typeface="Arial Rounded MT Bold" pitchFamily="34" charset="0"/>
                <a:ea typeface="Arial Rounded MT Bold" pitchFamily="34" charset="-122"/>
                <a:cs typeface="Arial Rounded MT Bold" pitchFamily="34" charset="-120"/>
              </a:rPr>
              <a:t>PE2</a:t>
            </a:r>
            <a:endParaRPr lang="en-US" sz="20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A difficult celebrity</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Giving opinions · Social English</a:t>
            </a:r>
            <a:endParaRPr lang="en-US" sz="125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1000" dirty="0">
                <a:solidFill>
                  <a:srgbClr val="1B2559"/>
                </a:solidFill>
                <a:latin typeface="Segoe UI" pitchFamily="34" charset="0"/>
                <a:ea typeface="Segoe UI" pitchFamily="34" charset="-122"/>
                <a:cs typeface="Segoe UI" pitchFamily="34" charset="-120"/>
              </a:rPr>
              <a:t>🎬  watch Rob interview a difficult singer</a:t>
            </a:r>
            <a:endParaRPr lang="en-US" sz="1000" dirty="0"/>
          </a:p>
          <a:p>
            <a:pPr indent="0" marL="0">
              <a:spcBef>
                <a:spcPts val="500"/>
              </a:spcBef>
              <a:spcAft>
                <a:spcPts val="200"/>
              </a:spcAft>
              <a:buNone/>
            </a:pPr>
            <a:r>
              <a:rPr lang="en-US" sz="1000" dirty="0">
                <a:solidFill>
                  <a:srgbClr val="1B2559"/>
                </a:solidFill>
                <a:latin typeface="Segoe UI" pitchFamily="34" charset="0"/>
                <a:ea typeface="Segoe UI" pitchFamily="34" charset="-122"/>
                <a:cs typeface="Segoe UI" pitchFamily="34" charset="-120"/>
              </a:rPr>
              <a:t>💬  give your opinion: Personally, I think…</a:t>
            </a:r>
            <a:endParaRPr lang="en-US" sz="1000" dirty="0"/>
          </a:p>
          <a:p>
            <a:pPr indent="0" marL="0">
              <a:spcBef>
                <a:spcPts val="500"/>
              </a:spcBef>
              <a:spcAft>
                <a:spcPts val="200"/>
              </a:spcAft>
              <a:buNone/>
            </a:pPr>
            <a:r>
              <a:rPr lang="en-US" sz="1000" dirty="0">
                <a:solidFill>
                  <a:srgbClr val="1B2559"/>
                </a:solidFill>
                <a:latin typeface="Segoe UI" pitchFamily="34" charset="0"/>
                <a:ea typeface="Segoe UI" pitchFamily="34" charset="-122"/>
                <a:cs typeface="Segoe UI" pitchFamily="34" charset="-120"/>
              </a:rPr>
              <a:t>👍  agree and disagree politely</a:t>
            </a:r>
            <a:endParaRPr lang="en-US" sz="1000" dirty="0"/>
          </a:p>
          <a:p>
            <a:pPr indent="0" marL="0">
              <a:spcBef>
                <a:spcPts val="500"/>
              </a:spcBef>
              <a:spcAft>
                <a:spcPts val="200"/>
              </a:spcAft>
              <a:buNone/>
            </a:pPr>
            <a:r>
              <a:rPr lang="en-US" sz="1000" dirty="0">
                <a:solidFill>
                  <a:srgbClr val="1B2559"/>
                </a:solidFill>
                <a:latin typeface="Segoe UI" pitchFamily="34" charset="0"/>
                <a:ea typeface="Segoe UI" pitchFamily="34" charset="-122"/>
                <a:cs typeface="Segoe UI" pitchFamily="34" charset="-120"/>
              </a:rPr>
              <a:t>🥊  play "Opinion boxing"</a:t>
            </a:r>
            <a:endParaRPr lang="en-US" sz="1000" dirty="0"/>
          </a:p>
          <a:p>
            <a:pPr indent="0" marL="0">
              <a:spcBef>
                <a:spcPts val="500"/>
              </a:spcBef>
              <a:spcAft>
                <a:spcPts val="200"/>
              </a:spcAft>
              <a:buNone/>
            </a:pPr>
            <a:r>
              <a:rPr lang="en-US" sz="1000" dirty="0">
                <a:solidFill>
                  <a:srgbClr val="1B2559"/>
                </a:solidFill>
                <a:latin typeface="Segoe UI" pitchFamily="34" charset="0"/>
                <a:ea typeface="Segoe UI" pitchFamily="34" charset="-122"/>
                <a:cs typeface="Segoe UI" pitchFamily="34" charset="-120"/>
              </a:rPr>
              <a:t>🎭  role-play a difficult interview</a:t>
            </a:r>
            <a:endParaRPr lang="en-US" sz="100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No! Some celebrities don't want to talk about their private life.</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5" name="phx_13"/>
          <p:cNvSpPr/>
          <p:nvPr/>
        </p:nvSpPr>
        <p:spPr>
          <a:xfrm>
            <a:off x="4892040" y="822960"/>
            <a:ext cx="3886200" cy="31089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pe2-cover.jpg</a:t>
            </a:r>
            <a:endParaRPr lang="en-US" sz="900" dirty="0"/>
          </a:p>
        </p:txBody>
      </p:sp>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Is it easy to interview a famous singer?</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4"/>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21"/>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What did we learn? Read the examples.</a:t>
            </a:r>
            <a:endParaRPr lang="en-US" sz="1250" dirty="0"/>
          </a:p>
        </p:txBody>
      </p:sp>
      <p:sp>
        <p:nvSpPr>
          <p:cNvPr id="8" name="insIT_2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Cosa abbiamo imparato? Leggi gli esempi.</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Revision · last lesson</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3b2_fed_up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3B: pink and blue · toys</a:t>
            </a:r>
            <a:endParaRPr lang="en-US" sz="1100" dirty="0"/>
          </a:p>
          <a:p>
            <a:pPr marL="152400" indent="-152400">
              <a:spcBef>
                <a:spcPts val="500"/>
              </a:spcBef>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verbs and adjectives + preposition</a:t>
            </a:r>
            <a:endParaRPr lang="en-US" sz="110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Verb + preposition</a:t>
            </a:r>
            <a:endParaRPr lang="en-US" sz="12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It depends on the weather.</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I'm really looking forward to the party.</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Don't laugh at me!</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argue with sb about sth · apologise to sb for · pay for</a:t>
            </a:r>
            <a:endParaRPr lang="en-US" sz="115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Adjective + preposition</a:t>
            </a:r>
            <a:endParaRPr lang="en-US" sz="120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My brother is afraid of bats.</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I've never been good at sport.</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I'm tired of walking. Let's stop.</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preposition + -ing: tired of walking</a:t>
            </a:r>
            <a:endParaRPr lang="en-US" sz="115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1019556"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depend on</a:t>
            </a:r>
            <a:endParaRPr lang="en-US" sz="1050" dirty="0"/>
          </a:p>
        </p:txBody>
      </p:sp>
      <p:sp>
        <p:nvSpPr>
          <p:cNvPr id="28" name="w_42"/>
          <p:cNvSpPr/>
          <p:nvPr/>
        </p:nvSpPr>
        <p:spPr>
          <a:xfrm>
            <a:off x="4338828" y="4178808"/>
            <a:ext cx="1485900"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look forward to</a:t>
            </a:r>
            <a:endParaRPr lang="en-US" sz="1050" dirty="0"/>
          </a:p>
        </p:txBody>
      </p:sp>
      <p:sp>
        <p:nvSpPr>
          <p:cNvPr id="29" name="w_43"/>
          <p:cNvSpPr/>
          <p:nvPr/>
        </p:nvSpPr>
        <p:spPr>
          <a:xfrm>
            <a:off x="5897880" y="4178808"/>
            <a:ext cx="941832"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laugh at</a:t>
            </a:r>
            <a:endParaRPr lang="en-US" sz="1050" dirty="0"/>
          </a:p>
        </p:txBody>
      </p:sp>
      <p:sp>
        <p:nvSpPr>
          <p:cNvPr id="30" name="w_44"/>
          <p:cNvSpPr/>
          <p:nvPr/>
        </p:nvSpPr>
        <p:spPr>
          <a:xfrm>
            <a:off x="6912864" y="4178808"/>
            <a:ext cx="1019556"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afraid of</a:t>
            </a:r>
            <a:endParaRPr lang="en-US" sz="1050" dirty="0"/>
          </a:p>
        </p:txBody>
      </p:sp>
      <p:sp>
        <p:nvSpPr>
          <p:cNvPr id="31" name="w_45"/>
          <p:cNvSpPr/>
          <p:nvPr/>
        </p:nvSpPr>
        <p:spPr>
          <a:xfrm>
            <a:off x="3246120" y="4544568"/>
            <a:ext cx="864108"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good at</a:t>
            </a:r>
            <a:endParaRPr lang="en-US" sz="1050" dirty="0"/>
          </a:p>
        </p:txBody>
      </p:sp>
      <p:sp>
        <p:nvSpPr>
          <p:cNvPr id="32" name="w_46"/>
          <p:cNvSpPr/>
          <p:nvPr/>
        </p:nvSpPr>
        <p:spPr>
          <a:xfrm>
            <a:off x="4183380" y="4544568"/>
            <a:ext cx="1330452"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interested in</a:t>
            </a:r>
            <a:endParaRPr lang="en-US" sz="1050" dirty="0"/>
          </a:p>
        </p:txBody>
      </p:sp>
      <p:sp>
        <p:nvSpPr>
          <p:cNvPr id="33" name="w_47"/>
          <p:cNvSpPr/>
          <p:nvPr/>
        </p:nvSpPr>
        <p:spPr>
          <a:xfrm>
            <a:off x="5586984" y="4544568"/>
            <a:ext cx="1175004"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fed up with</a:t>
            </a:r>
            <a:endParaRPr lang="en-US" sz="1050" dirty="0"/>
          </a:p>
        </p:txBody>
      </p:sp>
      <p:sp>
        <p:nvSpPr>
          <p:cNvPr id="34" name="w_48"/>
          <p:cNvSpPr/>
          <p:nvPr/>
        </p:nvSpPr>
        <p:spPr>
          <a:xfrm>
            <a:off x="6835140" y="4544568"/>
            <a:ext cx="1097280"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famous for</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50"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51"/>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Preposition ping-pong</a:t>
            </a:r>
            <a:endParaRPr lang="en-US" sz="2500" dirty="0"/>
          </a:p>
        </p:txBody>
      </p:sp>
      <p:pic>
        <p:nvPicPr>
          <p:cNvPr id="6" name="brP_52" descr="/home/claude/lls-course/v2/assets/brush-pink.png">    </p:cNvPr>
          <p:cNvPicPr>
            <a:picLocks noChangeAspect="1"/>
          </p:cNvPicPr>
          <p:nvPr/>
        </p:nvPicPr>
        <p:blipFill>
          <a:blip r:embed="rId3"/>
          <a:stretch>
            <a:fillRect/>
          </a:stretch>
        </p:blipFill>
        <p:spPr>
          <a:xfrm>
            <a:off x="1207008" y="731520"/>
            <a:ext cx="3945636" cy="402336"/>
          </a:xfrm>
          <a:prstGeom prst="rect">
            <a:avLst/>
          </a:prstGeom>
        </p:spPr>
      </p:pic>
      <p:sp>
        <p:nvSpPr>
          <p:cNvPr id="7" name="ins_53"/>
          <p:cNvSpPr/>
          <p:nvPr/>
        </p:nvSpPr>
        <p:spPr>
          <a:xfrm>
            <a:off x="1353312" y="731520"/>
            <a:ext cx="368960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Serve a word. Return the preposition!</a:t>
            </a:r>
            <a:endParaRPr lang="en-US" sz="1250" dirty="0"/>
          </a:p>
        </p:txBody>
      </p:sp>
      <p:sp>
        <p:nvSpPr>
          <p:cNvPr id="8" name="insIT_5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Lancia una parola. Rispondi con la preposizione!</a:t>
            </a:r>
            <a:endParaRPr lang="en-US" sz="950" dirty="0"/>
          </a:p>
        </p:txBody>
      </p:sp>
      <p:sp>
        <p:nvSpPr>
          <p:cNvPr id="9" name="cmd_5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56"/>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1" name="tag_57"/>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5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Warmer · last lesson: prepositions   ·   📖 Recycles 3B part 2 · Vocabulary Bank Dependent prepositions p.156</a:t>
            </a:r>
            <a:endParaRPr lang="en-US" sz="800" dirty="0"/>
          </a:p>
        </p:txBody>
      </p:sp>
      <p:sp>
        <p:nvSpPr>
          <p:cNvPr id="14" name="cd_60"/>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6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2"/>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63"/>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950" dirty="0">
                <a:solidFill>
                  <a:srgbClr val="1B2559"/>
                </a:solidFill>
                <a:latin typeface="Segoe UI" pitchFamily="34" charset="0"/>
                <a:ea typeface="Segoe UI" pitchFamily="34" charset="-122"/>
                <a:cs typeface="Segoe UI" pitchFamily="34" charset="-120"/>
              </a:rPr>
              <a:t>A serves a word: "afraid!"</a:t>
            </a:r>
            <a:endParaRPr lang="en-US" sz="950" dirty="0"/>
          </a:p>
          <a:p>
            <a:pPr marL="190500" indent="-1905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A 'serve' una parola: "afraid!"</a:t>
            </a:r>
            <a:endParaRPr lang="en-US" sz="950" dirty="0"/>
          </a:p>
          <a:p>
            <a:pPr marL="190500" indent="-190500">
              <a:spcBef>
                <a:spcPts val="500"/>
              </a:spcBef>
              <a:spcAft>
                <a:spcPts val="200"/>
              </a:spcAft>
              <a:buSzPct val="100000"/>
              <a:buChar char="2"/>
            </a:pPr>
            <a:r>
              <a:rPr lang="en-US" sz="950" dirty="0">
                <a:solidFill>
                  <a:srgbClr val="1B2559"/>
                </a:solidFill>
                <a:latin typeface="Segoe UI" pitchFamily="34" charset="0"/>
                <a:ea typeface="Segoe UI" pitchFamily="34" charset="-122"/>
                <a:cs typeface="Segoe UI" pitchFamily="34" charset="-120"/>
              </a:rPr>
              <a:t>B returns it: "of – I'm afraid of spiders!"</a:t>
            </a:r>
            <a:endParaRPr lang="en-US" sz="950" dirty="0"/>
          </a:p>
          <a:p>
            <a:pPr marL="190500" indent="-1905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B risponde: "of – I'm afraid of spiders!"</a:t>
            </a:r>
            <a:endParaRPr lang="en-US" sz="950" dirty="0"/>
          </a:p>
          <a:p>
            <a:pPr marL="190500" indent="-190500">
              <a:spcBef>
                <a:spcPts val="500"/>
              </a:spcBef>
              <a:spcAft>
                <a:spcPts val="200"/>
              </a:spcAft>
              <a:buSzPct val="100000"/>
              <a:buChar char="3"/>
            </a:pPr>
            <a:r>
              <a:rPr lang="en-US" sz="950" dirty="0">
                <a:solidFill>
                  <a:srgbClr val="1B2559"/>
                </a:solidFill>
                <a:latin typeface="Segoe UI" pitchFamily="34" charset="0"/>
                <a:ea typeface="Segoe UI" pitchFamily="34" charset="-122"/>
                <a:cs typeface="Segoe UI" pitchFamily="34" charset="-120"/>
              </a:rPr>
              <a:t>Wrong or slow? 1 point to A. Swap!</a:t>
            </a:r>
            <a:endParaRPr lang="en-US" sz="950" dirty="0"/>
          </a:p>
          <a:p>
            <a:pPr marL="190500" indent="-190500">
              <a:spcAft>
                <a:spcPts val="200"/>
              </a:spcAft>
              <a:buSzPct val="100000"/>
              <a:buChar char="​"/>
            </a:pPr>
            <a:r>
              <a:rPr lang="en-US" sz="850" i="1" dirty="0">
                <a:solidFill>
                  <a:srgbClr val="5B6785"/>
                </a:solidFill>
                <a:latin typeface="Segoe UI" pitchFamily="34" charset="0"/>
                <a:ea typeface="Segoe UI" pitchFamily="34" charset="-122"/>
                <a:cs typeface="Segoe UI" pitchFamily="34" charset="-120"/>
              </a:rPr>
              <a:t>Sbagliata o lenta? 1 punto ad A. Scambiatevi!</a:t>
            </a:r>
            <a:endParaRPr lang="en-US" sz="950" dirty="0"/>
          </a:p>
        </p:txBody>
      </p:sp>
      <p:sp>
        <p:nvSpPr>
          <p:cNvPr id="18" name="pf_64"/>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65" descr="/home/claude/lls-course/v2/cache/3b2_fed_up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66"/>
          <p:cNvSpPr/>
          <p:nvPr/>
        </p:nvSpPr>
        <p:spPr>
          <a:xfrm>
            <a:off x="3246120" y="1423607"/>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7"/>
          <p:cNvSpPr/>
          <p:nvPr/>
        </p:nvSpPr>
        <p:spPr>
          <a:xfrm>
            <a:off x="3657600" y="1417320"/>
            <a:ext cx="2514600" cy="341757"/>
          </a:xfrm>
          <a:prstGeom prst="roundRect">
            <a:avLst>
              <a:gd name="adj" fmla="val 2675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depend</a:t>
            </a:r>
            <a:endParaRPr lang="en-US" sz="1100" dirty="0"/>
          </a:p>
        </p:txBody>
      </p:sp>
      <p:sp>
        <p:nvSpPr>
          <p:cNvPr id="22" name="R1_chip68"/>
          <p:cNvSpPr/>
          <p:nvPr/>
        </p:nvSpPr>
        <p:spPr>
          <a:xfrm>
            <a:off x="6263640" y="141732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 on – It depends on the weather.</a:t>
            </a:r>
            <a:endParaRPr lang="en-US" sz="1000" dirty="0"/>
          </a:p>
        </p:txBody>
      </p:sp>
      <p:sp>
        <p:nvSpPr>
          <p:cNvPr id="23" name="bd_69"/>
          <p:cNvSpPr/>
          <p:nvPr/>
        </p:nvSpPr>
        <p:spPr>
          <a:xfrm>
            <a:off x="3246120" y="182937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70"/>
          <p:cNvSpPr/>
          <p:nvPr/>
        </p:nvSpPr>
        <p:spPr>
          <a:xfrm>
            <a:off x="3657600" y="1823085"/>
            <a:ext cx="2514600" cy="341757"/>
          </a:xfrm>
          <a:prstGeom prst="roundRect">
            <a:avLst>
              <a:gd name="adj" fmla="val 2675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look forward</a:t>
            </a:r>
            <a:endParaRPr lang="en-US" sz="1100" dirty="0"/>
          </a:p>
        </p:txBody>
      </p:sp>
      <p:sp>
        <p:nvSpPr>
          <p:cNvPr id="25" name="R2_chip71"/>
          <p:cNvSpPr/>
          <p:nvPr/>
        </p:nvSpPr>
        <p:spPr>
          <a:xfrm>
            <a:off x="6263640" y="182308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 to – I'm looking forward to Friday!</a:t>
            </a:r>
            <a:endParaRPr lang="en-US" sz="950" dirty="0"/>
          </a:p>
        </p:txBody>
      </p:sp>
      <p:sp>
        <p:nvSpPr>
          <p:cNvPr id="26" name="bd_72"/>
          <p:cNvSpPr/>
          <p:nvPr/>
        </p:nvSpPr>
        <p:spPr>
          <a:xfrm>
            <a:off x="3246120" y="2235137"/>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73"/>
          <p:cNvSpPr/>
          <p:nvPr/>
        </p:nvSpPr>
        <p:spPr>
          <a:xfrm>
            <a:off x="3657600" y="2228850"/>
            <a:ext cx="2514600" cy="341757"/>
          </a:xfrm>
          <a:prstGeom prst="roundRect">
            <a:avLst>
              <a:gd name="adj" fmla="val 2675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laugh</a:t>
            </a:r>
            <a:endParaRPr lang="en-US" sz="1100" dirty="0"/>
          </a:p>
        </p:txBody>
      </p:sp>
      <p:sp>
        <p:nvSpPr>
          <p:cNvPr id="28" name="R3_chip74"/>
          <p:cNvSpPr/>
          <p:nvPr/>
        </p:nvSpPr>
        <p:spPr>
          <a:xfrm>
            <a:off x="6263640" y="222885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at – Don't laugh at me!</a:t>
            </a:r>
            <a:endParaRPr lang="en-US" sz="1100" dirty="0"/>
          </a:p>
        </p:txBody>
      </p:sp>
      <p:sp>
        <p:nvSpPr>
          <p:cNvPr id="29" name="bd_75"/>
          <p:cNvSpPr/>
          <p:nvPr/>
        </p:nvSpPr>
        <p:spPr>
          <a:xfrm>
            <a:off x="3246120" y="2640901"/>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76"/>
          <p:cNvSpPr/>
          <p:nvPr/>
        </p:nvSpPr>
        <p:spPr>
          <a:xfrm>
            <a:off x="3657600" y="2634615"/>
            <a:ext cx="2514600" cy="341757"/>
          </a:xfrm>
          <a:prstGeom prst="roundRect">
            <a:avLst>
              <a:gd name="adj" fmla="val 2675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apologize</a:t>
            </a:r>
            <a:endParaRPr lang="en-US" sz="1100" dirty="0"/>
          </a:p>
        </p:txBody>
      </p:sp>
      <p:sp>
        <p:nvSpPr>
          <p:cNvPr id="31" name="R4_chip77"/>
          <p:cNvSpPr/>
          <p:nvPr/>
        </p:nvSpPr>
        <p:spPr>
          <a:xfrm>
            <a:off x="6263640" y="263461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 to sb for sth – I apologised for being late.</a:t>
            </a:r>
            <a:endParaRPr lang="en-US" sz="950" dirty="0"/>
          </a:p>
        </p:txBody>
      </p:sp>
      <p:sp>
        <p:nvSpPr>
          <p:cNvPr id="32" name="bd_78"/>
          <p:cNvSpPr/>
          <p:nvPr/>
        </p:nvSpPr>
        <p:spPr>
          <a:xfrm>
            <a:off x="3246120" y="3046667"/>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79"/>
          <p:cNvSpPr/>
          <p:nvPr/>
        </p:nvSpPr>
        <p:spPr>
          <a:xfrm>
            <a:off x="3657600" y="3040380"/>
            <a:ext cx="2514600" cy="341757"/>
          </a:xfrm>
          <a:prstGeom prst="roundRect">
            <a:avLst>
              <a:gd name="adj" fmla="val 2675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afraid</a:t>
            </a:r>
            <a:endParaRPr lang="en-US" sz="1100" dirty="0"/>
          </a:p>
        </p:txBody>
      </p:sp>
      <p:sp>
        <p:nvSpPr>
          <p:cNvPr id="34" name="R5_chip80"/>
          <p:cNvSpPr/>
          <p:nvPr/>
        </p:nvSpPr>
        <p:spPr>
          <a:xfrm>
            <a:off x="6263640" y="304038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of – I'm afraid of the dark.</a:t>
            </a:r>
            <a:endParaRPr lang="en-US" sz="1100" dirty="0"/>
          </a:p>
        </p:txBody>
      </p:sp>
      <p:sp>
        <p:nvSpPr>
          <p:cNvPr id="35" name="bd_81"/>
          <p:cNvSpPr/>
          <p:nvPr/>
        </p:nvSpPr>
        <p:spPr>
          <a:xfrm>
            <a:off x="3246120" y="345243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6" name="gq_82"/>
          <p:cNvSpPr/>
          <p:nvPr/>
        </p:nvSpPr>
        <p:spPr>
          <a:xfrm>
            <a:off x="3657600" y="3446145"/>
            <a:ext cx="2514600" cy="341757"/>
          </a:xfrm>
          <a:prstGeom prst="roundRect">
            <a:avLst>
              <a:gd name="adj" fmla="val 2675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good</a:t>
            </a:r>
            <a:endParaRPr lang="en-US" sz="1100" dirty="0"/>
          </a:p>
        </p:txBody>
      </p:sp>
      <p:sp>
        <p:nvSpPr>
          <p:cNvPr id="37" name="R6_chip83"/>
          <p:cNvSpPr/>
          <p:nvPr/>
        </p:nvSpPr>
        <p:spPr>
          <a:xfrm>
            <a:off x="6263640" y="344614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at – She's good at maths.</a:t>
            </a:r>
            <a:endParaRPr lang="en-US" sz="1100" dirty="0"/>
          </a:p>
        </p:txBody>
      </p:sp>
      <p:sp>
        <p:nvSpPr>
          <p:cNvPr id="38" name="bd_84"/>
          <p:cNvSpPr/>
          <p:nvPr/>
        </p:nvSpPr>
        <p:spPr>
          <a:xfrm>
            <a:off x="3246120" y="385819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7</a:t>
            </a:r>
            <a:endParaRPr lang="en-US" sz="1100" dirty="0"/>
          </a:p>
        </p:txBody>
      </p:sp>
      <p:sp>
        <p:nvSpPr>
          <p:cNvPr id="39" name="gq_85"/>
          <p:cNvSpPr/>
          <p:nvPr/>
        </p:nvSpPr>
        <p:spPr>
          <a:xfrm>
            <a:off x="3657600" y="3851910"/>
            <a:ext cx="2514600" cy="341757"/>
          </a:xfrm>
          <a:prstGeom prst="roundRect">
            <a:avLst>
              <a:gd name="adj" fmla="val 2675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interested</a:t>
            </a:r>
            <a:endParaRPr lang="en-US" sz="1100" dirty="0"/>
          </a:p>
        </p:txBody>
      </p:sp>
      <p:sp>
        <p:nvSpPr>
          <p:cNvPr id="40" name="R7_chip86"/>
          <p:cNvSpPr/>
          <p:nvPr/>
        </p:nvSpPr>
        <p:spPr>
          <a:xfrm>
            <a:off x="6263640" y="3851910"/>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in – Are you interested in art?</a:t>
            </a:r>
            <a:endParaRPr lang="en-US" sz="1050" dirty="0"/>
          </a:p>
        </p:txBody>
      </p:sp>
      <p:sp>
        <p:nvSpPr>
          <p:cNvPr id="41" name="bd_87"/>
          <p:cNvSpPr/>
          <p:nvPr/>
        </p:nvSpPr>
        <p:spPr>
          <a:xfrm>
            <a:off x="3246120" y="4263962"/>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8</a:t>
            </a:r>
            <a:endParaRPr lang="en-US" sz="1100" dirty="0"/>
          </a:p>
        </p:txBody>
      </p:sp>
      <p:sp>
        <p:nvSpPr>
          <p:cNvPr id="42" name="gq_88"/>
          <p:cNvSpPr/>
          <p:nvPr/>
        </p:nvSpPr>
        <p:spPr>
          <a:xfrm>
            <a:off x="3657600" y="4257675"/>
            <a:ext cx="2514600" cy="341757"/>
          </a:xfrm>
          <a:prstGeom prst="roundRect">
            <a:avLst>
              <a:gd name="adj" fmla="val 2675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fed up</a:t>
            </a:r>
            <a:endParaRPr lang="en-US" sz="1100" dirty="0"/>
          </a:p>
        </p:txBody>
      </p:sp>
      <p:sp>
        <p:nvSpPr>
          <p:cNvPr id="43" name="R8_chip89"/>
          <p:cNvSpPr/>
          <p:nvPr/>
        </p:nvSpPr>
        <p:spPr>
          <a:xfrm>
            <a:off x="6263640" y="4257675"/>
            <a:ext cx="2560320" cy="341757"/>
          </a:xfrm>
          <a:prstGeom prst="roundRect">
            <a:avLst>
              <a:gd name="adj" fmla="val 26756"/>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 with – I'm fed up with homework!</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90"/>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91"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92"/>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Music words</a:t>
            </a:r>
            <a:endParaRPr lang="en-US" sz="2500" dirty="0"/>
          </a:p>
        </p:txBody>
      </p:sp>
      <p:pic>
        <p:nvPicPr>
          <p:cNvPr id="6" name="brP_93"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94"/>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clue. Say the music word!</a:t>
            </a:r>
            <a:endParaRPr lang="en-US" sz="1250" dirty="0"/>
          </a:p>
        </p:txBody>
      </p:sp>
      <p:sp>
        <p:nvSpPr>
          <p:cNvPr id="8" name="insIT_9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l'indizio. Di' la parola!</a:t>
            </a:r>
            <a:endParaRPr lang="en-US" sz="950" dirty="0"/>
          </a:p>
        </p:txBody>
      </p:sp>
      <p:sp>
        <p:nvSpPr>
          <p:cNvPr id="9" name="cmd_96"/>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9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9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2" name="logo_9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0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Vocabulary · before the video   ·   📖 SB p.34 · 1a · TG extra support: check lexis before watching</a:t>
            </a:r>
            <a:endParaRPr lang="en-US" sz="800" dirty="0"/>
          </a:p>
        </p:txBody>
      </p:sp>
      <p:sp>
        <p:nvSpPr>
          <p:cNvPr id="14" name="cd_101"/>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10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103"/>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104"/>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A group of musicians → a band</a:t>
            </a:r>
            <a:endParaRPr lang="en-US" sz="1050" dirty="0"/>
          </a:p>
        </p:txBody>
      </p:sp>
      <p:sp>
        <p:nvSpPr>
          <p:cNvPr id="18" name="pf_105"/>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9" name="phx_106"/>
          <p:cNvSpPr/>
          <p:nvPr/>
        </p:nvSpPr>
        <p:spPr>
          <a:xfrm>
            <a:off x="411480" y="2743200"/>
            <a:ext cx="2514600" cy="187452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pe2-solo-singer.jpg</a:t>
            </a:r>
            <a:endParaRPr lang="en-US" sz="900" dirty="0"/>
          </a:p>
        </p:txBody>
      </p:sp>
      <p:sp>
        <p:nvSpPr>
          <p:cNvPr id="20" name="bd_107"/>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108"/>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singer with no band</a:t>
            </a:r>
            <a:endParaRPr lang="en-US" sz="1150" dirty="0"/>
          </a:p>
        </p:txBody>
      </p:sp>
      <p:sp>
        <p:nvSpPr>
          <p:cNvPr id="22" name="R1_chip109"/>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solo – she plays solo</a:t>
            </a:r>
            <a:endParaRPr lang="en-US" sz="1000" dirty="0"/>
          </a:p>
        </p:txBody>
      </p:sp>
      <p:sp>
        <p:nvSpPr>
          <p:cNvPr id="23" name="bd_110"/>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111"/>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end of a band (or a couple)</a:t>
            </a:r>
            <a:endParaRPr lang="en-US" sz="1150" dirty="0"/>
          </a:p>
        </p:txBody>
      </p:sp>
      <p:sp>
        <p:nvSpPr>
          <p:cNvPr id="25" name="R2_chip112"/>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break-up</a:t>
            </a:r>
            <a:endParaRPr lang="en-US" sz="1000" dirty="0"/>
          </a:p>
        </p:txBody>
      </p:sp>
      <p:sp>
        <p:nvSpPr>
          <p:cNvPr id="26" name="bd_113"/>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114"/>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The main guitar player in a band</a:t>
            </a:r>
            <a:endParaRPr lang="en-US" sz="1150" dirty="0"/>
          </a:p>
        </p:txBody>
      </p:sp>
      <p:sp>
        <p:nvSpPr>
          <p:cNvPr id="28" name="R3_chip115"/>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 lead guitarist</a:t>
            </a:r>
            <a:endParaRPr lang="en-US" sz="1000" dirty="0"/>
          </a:p>
        </p:txBody>
      </p:sp>
      <p:sp>
        <p:nvSpPr>
          <p:cNvPr id="29" name="bd_116"/>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117"/>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About 10–12 songs, you buy or stream it</a:t>
            </a:r>
            <a:endParaRPr lang="en-US" sz="1150" dirty="0"/>
          </a:p>
        </p:txBody>
      </p:sp>
      <p:sp>
        <p:nvSpPr>
          <p:cNvPr id="31" name="R4_chip118"/>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an album</a:t>
            </a:r>
            <a:endParaRPr lang="en-US" sz="1000" dirty="0"/>
          </a:p>
        </p:txBody>
      </p:sp>
      <p:sp>
        <p:nvSpPr>
          <p:cNvPr id="32" name="bd_119"/>
          <p:cNvSpPr/>
          <p:nvPr/>
        </p:nvSpPr>
        <p:spPr>
          <a:xfrm>
            <a:off x="3246120" y="35021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120"/>
          <p:cNvSpPr/>
          <p:nvPr/>
        </p:nvSpPr>
        <p:spPr>
          <a:xfrm>
            <a:off x="3630168" y="342900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 small concert in a club</a:t>
            </a:r>
            <a:endParaRPr lang="en-US" sz="1150" dirty="0"/>
          </a:p>
        </p:txBody>
      </p:sp>
      <p:sp>
        <p:nvSpPr>
          <p:cNvPr id="34" name="R5_chip121"/>
          <p:cNvSpPr/>
          <p:nvPr/>
        </p:nvSpPr>
        <p:spPr>
          <a:xfrm>
            <a:off x="5806440" y="342900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gig</a:t>
            </a:r>
            <a:endParaRPr lang="en-US" sz="1000" dirty="0"/>
          </a:p>
        </p:txBody>
      </p:sp>
      <p:sp>
        <p:nvSpPr>
          <p:cNvPr id="35" name="bd_122"/>
          <p:cNvSpPr/>
          <p:nvPr/>
        </p:nvSpPr>
        <p:spPr>
          <a:xfrm>
            <a:off x="3246120" y="400507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6" name="q_123"/>
          <p:cNvSpPr/>
          <p:nvPr/>
        </p:nvSpPr>
        <p:spPr>
          <a:xfrm>
            <a:off x="3630168" y="393192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Your family, your boyfriend…</a:t>
            </a:r>
            <a:endParaRPr lang="en-US" sz="1150" dirty="0"/>
          </a:p>
        </p:txBody>
      </p:sp>
      <p:sp>
        <p:nvSpPr>
          <p:cNvPr id="37" name="R6_chip124"/>
          <p:cNvSpPr/>
          <p:nvPr/>
        </p:nvSpPr>
        <p:spPr>
          <a:xfrm>
            <a:off x="5806440" y="39319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your private life</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25"/>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26"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127"/>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Rob's interview</a:t>
            </a:r>
            <a:endParaRPr lang="en-US" sz="2500" dirty="0"/>
          </a:p>
        </p:txBody>
      </p:sp>
      <p:pic>
        <p:nvPicPr>
          <p:cNvPr id="6" name="brP_128"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129"/>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Watch. What does Kerri talk about?</a:t>
            </a:r>
            <a:endParaRPr lang="en-US" sz="1250" dirty="0"/>
          </a:p>
        </p:txBody>
      </p:sp>
      <p:sp>
        <p:nvSpPr>
          <p:cNvPr id="8" name="insIT_13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Guarda. Di cosa parla Kerri?</a:t>
            </a:r>
            <a:endParaRPr lang="en-US" sz="950" dirty="0"/>
          </a:p>
        </p:txBody>
      </p:sp>
      <p:sp>
        <p:nvSpPr>
          <p:cNvPr id="9" name="cmd_131"/>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13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13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13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3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Video · Rob's interview · gist   ·   📖 SB p.34 · 1a · video Rob's interview / audio 3.28</a:t>
            </a:r>
            <a:endParaRPr lang="en-US" sz="800" dirty="0"/>
          </a:p>
        </p:txBody>
      </p:sp>
      <p:sp>
        <p:nvSpPr>
          <p:cNvPr id="14" name="ap_136"/>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3.28  ·  🎬 video: Rob's interview · once</a:t>
            </a:r>
            <a:endParaRPr lang="en-US" sz="1100" dirty="0"/>
          </a:p>
        </p:txBody>
      </p:sp>
      <p:sp>
        <p:nvSpPr>
          <p:cNvPr id="15" name="ah_137"/>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138"/>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139"/>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140"/>
          <p:cNvSpPr/>
          <p:nvPr/>
        </p:nvSpPr>
        <p:spPr>
          <a:xfrm>
            <a:off x="45720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pe2-interview.jpg</a:t>
            </a:r>
            <a:endParaRPr lang="en-US" sz="900" dirty="0"/>
          </a:p>
        </p:txBody>
      </p:sp>
      <p:sp>
        <p:nvSpPr>
          <p:cNvPr id="21" name="bd_141"/>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pf_142"/>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3" name="phx_143"/>
          <p:cNvSpPr/>
          <p:nvPr/>
        </p:nvSpPr>
        <p:spPr>
          <a:xfrm>
            <a:off x="233172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pe2-cover.jpg</a:t>
            </a:r>
            <a:endParaRPr lang="en-US" sz="900" dirty="0"/>
          </a:p>
        </p:txBody>
      </p:sp>
      <p:sp>
        <p:nvSpPr>
          <p:cNvPr id="24" name="bd_144"/>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5" name="cd_145"/>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6" name="ii_146"/>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7" name="ih_147"/>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28" name="il_148"/>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Look at A and B. Who is she? What's her job?</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Guarda A e B. Chi è? Che lavoro fa?</a:t>
            </a:r>
            <a:endParaRPr lang="en-US" sz="700" dirty="0"/>
          </a:p>
          <a:p>
            <a:pPr marL="152400" indent="-152400">
              <a:spcBef>
                <a:spcPts val="500"/>
              </a:spcBef>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Watch once. Answer the 4 questions.</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Guarda una volta. Rispondi alle 4 domande.</a:t>
            </a:r>
            <a:endParaRPr lang="en-US" sz="700" dirty="0"/>
          </a:p>
        </p:txBody>
      </p:sp>
      <p:sp>
        <p:nvSpPr>
          <p:cNvPr id="29" name="lq_149"/>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Who is Kerri?</a:t>
            </a:r>
            <a:endParaRPr lang="en-US" sz="1100" dirty="0"/>
          </a:p>
        </p:txBody>
      </p:sp>
      <p:sp>
        <p:nvSpPr>
          <p:cNvPr id="30" name="R1_chip150"/>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 British singer</a:t>
            </a:r>
            <a:endParaRPr lang="en-US" sz="1050" dirty="0"/>
          </a:p>
        </p:txBody>
      </p:sp>
      <p:sp>
        <p:nvSpPr>
          <p:cNvPr id="31" name="lq_151"/>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HAPPY to talk about…</a:t>
            </a:r>
            <a:endParaRPr lang="en-US" sz="1100" dirty="0"/>
          </a:p>
        </p:txBody>
      </p:sp>
      <p:sp>
        <p:nvSpPr>
          <p:cNvPr id="32" name="R2_chip152"/>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her new album, recent work</a:t>
            </a:r>
            <a:endParaRPr lang="en-US" sz="1050" dirty="0"/>
          </a:p>
        </p:txBody>
      </p:sp>
      <p:sp>
        <p:nvSpPr>
          <p:cNvPr id="33" name="lq_153"/>
          <p:cNvSpPr/>
          <p:nvPr/>
        </p:nvSpPr>
        <p:spPr>
          <a:xfrm>
            <a:off x="6035040" y="3419856"/>
            <a:ext cx="1234440" cy="566928"/>
          </a:xfrm>
          <a:prstGeom prst="roundRect">
            <a:avLst>
              <a:gd name="adj" fmla="val 16129"/>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NOT happy to talk about…</a:t>
            </a:r>
            <a:endParaRPr lang="en-US" sz="1100" dirty="0"/>
          </a:p>
        </p:txBody>
      </p:sp>
      <p:sp>
        <p:nvSpPr>
          <p:cNvPr id="34" name="R3_chip154"/>
          <p:cNvSpPr/>
          <p:nvPr/>
        </p:nvSpPr>
        <p:spPr>
          <a:xfrm>
            <a:off x="7315200" y="3419856"/>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the band, her private life</a:t>
            </a:r>
            <a:endParaRPr lang="en-US" sz="1050" dirty="0"/>
          </a:p>
        </p:txBody>
      </p:sp>
      <p:sp>
        <p:nvSpPr>
          <p:cNvPr id="35" name="lq_155"/>
          <p:cNvSpPr/>
          <p:nvPr/>
        </p:nvSpPr>
        <p:spPr>
          <a:xfrm>
            <a:off x="6035040" y="4078224"/>
            <a:ext cx="1234440" cy="566928"/>
          </a:xfrm>
          <a:prstGeom prst="roundRect">
            <a:avLst>
              <a:gd name="adj" fmla="val 16129"/>
            </a:avLst>
          </a:prstGeom>
          <a:solidFill>
            <a:srgbClr val="FFFFFF"/>
          </a:solidFill>
          <a:ln w="19050">
            <a:solidFill>
              <a:srgbClr val="FFE07A"/>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Don suggests…</a:t>
            </a:r>
            <a:endParaRPr lang="en-US" sz="1100" dirty="0"/>
          </a:p>
        </p:txBody>
      </p:sp>
      <p:sp>
        <p:nvSpPr>
          <p:cNvPr id="36" name="R4_chip156"/>
          <p:cNvSpPr/>
          <p:nvPr/>
        </p:nvSpPr>
        <p:spPr>
          <a:xfrm>
            <a:off x="7315200" y="4078224"/>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lunch! (Rob calls a taxi)</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4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4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fade">
                                      <p:cBhvr>
                                        <p:cTn id="17" dur="4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23" restart="whenNotActive" fill="hold" evtFilter="cancelBubble" nodeType="interactiveSeq">
                <p:stCondLst>
                  <p:cond evt="onClick" delay="0">
                    <p:tgtEl>
                      <p:spTgt spid="16"/>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6"/>
                                        </p:tgtEl>
                                      </p:cBhvr>
                                    </p:cmd>
                                  </p:childTnLst>
                                </p:cTn>
                              </p:par>
                            </p:childTnLst>
                          </p:cTn>
                        </p:par>
                      </p:childTnLst>
                    </p:cTn>
                  </p:par>
                </p:childTnLst>
              </p:cTn>
              <p:nextCondLst>
                <p:cond evt="onClick" delay="0">
                  <p:tgtEl>
                    <p:spTgt spid="16"/>
                  </p:tgtEl>
                </p:cond>
              </p:nextCondLst>
            </p:seq>
            <p:seq concurrent="1" nextAc="seek">
              <p:cTn id="28" restart="whenNotActive" fill="hold" evtFilter="cancelBubble" nodeType="interactiveSeq">
                <p:stCondLst>
                  <p:cond evt="onClick" delay="0">
                    <p:tgtEl>
                      <p:spTgt spid="17"/>
                    </p:tgtEl>
                  </p:cond>
                </p:stCondLst>
                <p:endSync evt="end" delay="0">
                  <p:rtn val="all"/>
                </p:endSync>
                <p:childTnLst>
                  <p:par>
                    <p:cTn id="29" fill="hold">
                      <p:stCondLst>
                        <p:cond delay="0"/>
                      </p:stCondLst>
                      <p:childTnLst>
                        <p:par>
                          <p:cTn id="30" fill="hold">
                            <p:stCondLst>
                              <p:cond delay="0"/>
                            </p:stCondLst>
                            <p:childTnLst>
                              <p:par>
                                <p:cTn id="31" presetID="2" presetClass="mediacall" presetSubtype="0" fill="hold" nodeType="clickEffect">
                                  <p:stCondLst>
                                    <p:cond delay="0"/>
                                  </p:stCondLst>
                                  <p:childTnLst>
                                    <p:cmd type="call" cmd="togglePause">
                                      <p:cBhvr>
                                        <p:cTn id="32" dur="1" fill="hold"/>
                                        <p:tgtEl>
                                          <p:spTgt spid="17"/>
                                        </p:tgtEl>
                                      </p:cBhvr>
                                    </p:cmd>
                                  </p:childTnLst>
                                </p:cTn>
                              </p:par>
                            </p:childTnLst>
                          </p:cTn>
                        </p:par>
                      </p:childTnLst>
                    </p:cTn>
                  </p:par>
                </p:childTnLst>
              </p:cTn>
              <p:nextCondLst>
                <p:cond evt="onClick" delay="0">
                  <p:tgtEl>
                    <p:spTgt spid="17"/>
                  </p:tgtEl>
                </p:cond>
              </p:nextCondLst>
            </p:seq>
            <p:audio>
              <p:cMediaNode vol="80000">
                <p:cTn id="33" fill="hold" display="0">
                  <p:stCondLst>
                    <p:cond delay="indefinite"/>
                  </p:stCondLst>
                  <p:endCondLst>
                    <p:cond evt="onStopAudio" delay="0">
                      <p:tgtEl>
                        <p:sldTgt/>
                      </p:tgtEl>
                    </p:cond>
                  </p:endCondLst>
                </p:cTn>
                <p:tgtEl>
                  <p:spTgt spid="16"/>
                </p:tgtEl>
              </p:cMediaNode>
            </p:audio>
            <p:audio>
              <p:cMediaNode vol="80000">
                <p:cTn id="34" fill="hold" display="0">
                  <p:stCondLst>
                    <p:cond delay="indefinite"/>
                  </p:stCondLst>
                  <p:endCondLst>
                    <p:cond evt="onStopAudio" delay="0">
                      <p:tgtEl>
                        <p:sldTgt/>
                      </p:tgtEl>
                    </p:cond>
                  </p:endCondLst>
                </p:cTn>
                <p:tgtEl>
                  <p:spTgt spid="17"/>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5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58"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159"/>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True or false?</a:t>
            </a:r>
            <a:endParaRPr lang="en-US" sz="2500" dirty="0"/>
          </a:p>
        </p:txBody>
      </p:sp>
      <p:pic>
        <p:nvPicPr>
          <p:cNvPr id="6" name="brP_160"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161"/>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True or false? Correct the false ones.</a:t>
            </a:r>
            <a:endParaRPr lang="en-US" sz="1250" dirty="0"/>
          </a:p>
        </p:txBody>
      </p:sp>
      <p:sp>
        <p:nvSpPr>
          <p:cNvPr id="8" name="insIT_16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Vero o falso? Correggi quelle false.</a:t>
            </a:r>
            <a:endParaRPr lang="en-US" sz="950" dirty="0"/>
          </a:p>
        </p:txBody>
      </p:sp>
      <p:sp>
        <p:nvSpPr>
          <p:cNvPr id="9" name="cmd_16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164"/>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1" name="meta_165"/>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166"/>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16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6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Video · Rob's interview · detail   ·   📖 SB p.34 · 1b · video Rob's interview / audio 3.28</a:t>
            </a:r>
            <a:endParaRPr lang="en-US" sz="800" dirty="0"/>
          </a:p>
        </p:txBody>
      </p:sp>
      <p:sp>
        <p:nvSpPr>
          <p:cNvPr id="15" name="ap_169"/>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3.28  ·  🎬 watch again</a:t>
            </a:r>
            <a:endParaRPr lang="en-US" sz="1100" dirty="0"/>
          </a:p>
        </p:txBody>
      </p:sp>
      <p:sp>
        <p:nvSpPr>
          <p:cNvPr id="16" name="ah_170"/>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171"/>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172"/>
          <p:cNvSpPr/>
          <p:nvPr/>
        </p:nvSpPr>
        <p:spPr>
          <a:xfrm>
            <a:off x="457200" y="2103120"/>
            <a:ext cx="2606040" cy="16916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pe2-solo-singer.jpg</a:t>
            </a:r>
            <a:endParaRPr lang="en-US" sz="900" dirty="0"/>
          </a:p>
        </p:txBody>
      </p:sp>
      <p:sp>
        <p:nvSpPr>
          <p:cNvPr id="21" name="cd_173"/>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174"/>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175"/>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176"/>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177"/>
          <p:cNvSpPr/>
          <p:nvPr/>
        </p:nvSpPr>
        <p:spPr>
          <a:xfrm>
            <a:off x="3383280" y="1417320"/>
            <a:ext cx="333756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Kerri's song is about love.</a:t>
            </a:r>
            <a:endParaRPr lang="en-US" sz="1200" dirty="0"/>
          </a:p>
        </p:txBody>
      </p:sp>
      <p:sp>
        <p:nvSpPr>
          <p:cNvPr id="26" name="R1_chip178"/>
          <p:cNvSpPr/>
          <p:nvPr/>
        </p:nvSpPr>
        <p:spPr>
          <a:xfrm>
            <a:off x="6812280" y="141732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 – about money</a:t>
            </a:r>
            <a:endParaRPr lang="en-US" sz="1200" dirty="0"/>
          </a:p>
        </p:txBody>
      </p:sp>
      <p:sp>
        <p:nvSpPr>
          <p:cNvPr id="27" name="gq_179"/>
          <p:cNvSpPr/>
          <p:nvPr/>
        </p:nvSpPr>
        <p:spPr>
          <a:xfrm>
            <a:off x="3383280" y="1828800"/>
            <a:ext cx="333756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Kerri plays in a band.</a:t>
            </a:r>
            <a:endParaRPr lang="en-US" sz="1200" dirty="0"/>
          </a:p>
        </p:txBody>
      </p:sp>
      <p:sp>
        <p:nvSpPr>
          <p:cNvPr id="28" name="R2_chip180"/>
          <p:cNvSpPr/>
          <p:nvPr/>
        </p:nvSpPr>
        <p:spPr>
          <a:xfrm>
            <a:off x="6812280" y="182880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 – used to; now solo</a:t>
            </a:r>
            <a:endParaRPr lang="en-US" sz="1200" dirty="0"/>
          </a:p>
        </p:txBody>
      </p:sp>
      <p:sp>
        <p:nvSpPr>
          <p:cNvPr id="29" name="gq_181"/>
          <p:cNvSpPr/>
          <p:nvPr/>
        </p:nvSpPr>
        <p:spPr>
          <a:xfrm>
            <a:off x="3383280" y="2240280"/>
            <a:ext cx="333756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3  She used to go out with a band member.</a:t>
            </a:r>
            <a:endParaRPr lang="en-US" sz="1050" dirty="0"/>
          </a:p>
        </p:txBody>
      </p:sp>
      <p:sp>
        <p:nvSpPr>
          <p:cNvPr id="30" name="R3_chip182"/>
          <p:cNvSpPr/>
          <p:nvPr/>
        </p:nvSpPr>
        <p:spPr>
          <a:xfrm>
            <a:off x="6812280" y="224028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a:t>
            </a:r>
            <a:endParaRPr lang="en-US" sz="1200" dirty="0"/>
          </a:p>
        </p:txBody>
      </p:sp>
      <p:sp>
        <p:nvSpPr>
          <p:cNvPr id="31" name="gq_183"/>
          <p:cNvSpPr/>
          <p:nvPr/>
        </p:nvSpPr>
        <p:spPr>
          <a:xfrm>
            <a:off x="3383280" y="2651760"/>
            <a:ext cx="333756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050" dirty="0">
                <a:solidFill>
                  <a:srgbClr val="1B2559"/>
                </a:solidFill>
                <a:latin typeface="Segoe UI Semibold" pitchFamily="34" charset="0"/>
                <a:ea typeface="Segoe UI Semibold" pitchFamily="34" charset="-122"/>
                <a:cs typeface="Segoe UI Semibold" pitchFamily="34" charset="-120"/>
              </a:rPr>
              <a:t>4  Only one of her parents was a musician.</a:t>
            </a:r>
            <a:endParaRPr lang="en-US" sz="1050" dirty="0"/>
          </a:p>
        </p:txBody>
      </p:sp>
      <p:sp>
        <p:nvSpPr>
          <p:cNvPr id="32" name="R4_chip184"/>
          <p:cNvSpPr/>
          <p:nvPr/>
        </p:nvSpPr>
        <p:spPr>
          <a:xfrm>
            <a:off x="6812280" y="265176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F – both: punk dad, pianist mum</a:t>
            </a:r>
            <a:endParaRPr lang="en-US" sz="950" dirty="0"/>
          </a:p>
        </p:txBody>
      </p:sp>
      <p:sp>
        <p:nvSpPr>
          <p:cNvPr id="33" name="gq_185"/>
          <p:cNvSpPr/>
          <p:nvPr/>
        </p:nvSpPr>
        <p:spPr>
          <a:xfrm>
            <a:off x="3383280" y="3063240"/>
            <a:ext cx="333756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She started playing the guitar at six.</a:t>
            </a:r>
            <a:endParaRPr lang="en-US" sz="1200" dirty="0"/>
          </a:p>
        </p:txBody>
      </p:sp>
      <p:sp>
        <p:nvSpPr>
          <p:cNvPr id="34" name="R5_chip186"/>
          <p:cNvSpPr/>
          <p:nvPr/>
        </p:nvSpPr>
        <p:spPr>
          <a:xfrm>
            <a:off x="6812280" y="306324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 – at about four</a:t>
            </a:r>
            <a:endParaRPr lang="en-US" sz="1200" dirty="0"/>
          </a:p>
        </p:txBody>
      </p:sp>
      <p:sp>
        <p:nvSpPr>
          <p:cNvPr id="35" name="gq_187"/>
          <p:cNvSpPr/>
          <p:nvPr/>
        </p:nvSpPr>
        <p:spPr>
          <a:xfrm>
            <a:off x="3383280" y="3474720"/>
            <a:ext cx="333756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6  Her new album is very different.</a:t>
            </a:r>
            <a:endParaRPr lang="en-US" sz="1200" dirty="0"/>
          </a:p>
        </p:txBody>
      </p:sp>
      <p:sp>
        <p:nvSpPr>
          <p:cNvPr id="36" name="R6_chip188"/>
          <p:cNvSpPr/>
          <p:nvPr/>
        </p:nvSpPr>
        <p:spPr>
          <a:xfrm>
            <a:off x="6812280" y="347472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T – quieter, more experimental</a:t>
            </a:r>
            <a:endParaRPr lang="en-US" sz="950" dirty="0"/>
          </a:p>
        </p:txBody>
      </p:sp>
      <p:sp>
        <p:nvSpPr>
          <p:cNvPr id="37" name="gq_189"/>
          <p:cNvSpPr/>
          <p:nvPr/>
        </p:nvSpPr>
        <p:spPr>
          <a:xfrm>
            <a:off x="3383280" y="3886200"/>
            <a:ext cx="333756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7  She's been recording and touring.</a:t>
            </a:r>
            <a:endParaRPr lang="en-US" sz="1200" dirty="0"/>
          </a:p>
        </p:txBody>
      </p:sp>
      <p:sp>
        <p:nvSpPr>
          <p:cNvPr id="38" name="R7_chip190"/>
          <p:cNvSpPr/>
          <p:nvPr/>
        </p:nvSpPr>
        <p:spPr>
          <a:xfrm>
            <a:off x="6812280" y="388620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T</a:t>
            </a:r>
            <a:endParaRPr lang="en-US" sz="1200" dirty="0"/>
          </a:p>
        </p:txBody>
      </p:sp>
      <p:sp>
        <p:nvSpPr>
          <p:cNvPr id="39" name="gq_191"/>
          <p:cNvSpPr/>
          <p:nvPr/>
        </p:nvSpPr>
        <p:spPr>
          <a:xfrm>
            <a:off x="3383280" y="4297680"/>
            <a:ext cx="333756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8  She's going to give a big concert in NY.</a:t>
            </a:r>
            <a:endParaRPr lang="en-US" sz="1100" dirty="0"/>
          </a:p>
        </p:txBody>
      </p:sp>
      <p:sp>
        <p:nvSpPr>
          <p:cNvPr id="40" name="R8_chip192"/>
          <p:cNvSpPr/>
          <p:nvPr/>
        </p:nvSpPr>
        <p:spPr>
          <a:xfrm>
            <a:off x="6812280" y="4297680"/>
            <a:ext cx="2057400" cy="347472"/>
          </a:xfrm>
          <a:prstGeom prst="roundRect">
            <a:avLst>
              <a:gd name="adj" fmla="val 26316"/>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 – play at some clubs</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400"/>
                                        <p:tgtEl>
                                          <p:spTgt spid="3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17"/>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7"/>
                                        </p:tgtEl>
                                      </p:cBhvr>
                                    </p:cmd>
                                  </p:childTnLst>
                                </p:cTn>
                              </p:par>
                            </p:childTnLst>
                          </p:cTn>
                        </p:par>
                      </p:childTnLst>
                    </p:cTn>
                  </p:par>
                </p:childTnLst>
              </p:cTn>
              <p:nextCondLst>
                <p:cond evt="onClick" delay="0">
                  <p:tgtEl>
                    <p:spTgt spid="17"/>
                  </p:tgtEl>
                </p:cond>
              </p:nextCondLst>
            </p:seq>
            <p:seq concurrent="1" nextAc="seek">
              <p:cTn id="48" restart="whenNotActive" fill="hold" evtFilter="cancelBubble" nodeType="interactiveSeq">
                <p:stCondLst>
                  <p:cond evt="onClick" delay="0">
                    <p:tgtEl>
                      <p:spTgt spid="18"/>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18"/>
                                        </p:tgtEl>
                                      </p:cBhvr>
                                    </p:cmd>
                                  </p:childTnLst>
                                </p:cTn>
                              </p:par>
                            </p:childTnLst>
                          </p:cTn>
                        </p:par>
                      </p:childTnLst>
                    </p:cTn>
                  </p:par>
                </p:childTnLst>
              </p:cTn>
              <p:nextCondLst>
                <p:cond evt="onClick" delay="0">
                  <p:tgtEl>
                    <p:spTgt spid="18"/>
                  </p:tgtEl>
                </p:cond>
              </p:nextCondLst>
            </p:seq>
            <p:audio>
              <p:cMediaNode vol="80000">
                <p:cTn id="53" fill="hold" display="0">
                  <p:stCondLst>
                    <p:cond delay="indefinite"/>
                  </p:stCondLst>
                  <p:endCondLst>
                    <p:cond evt="onStopAudio" delay="0">
                      <p:tgtEl>
                        <p:sldTgt/>
                      </p:tgtEl>
                    </p:cond>
                  </p:endCondLst>
                </p:cTn>
                <p:tgtEl>
                  <p:spTgt spid="17"/>
                </p:tgtEl>
              </p:cMediaNode>
            </p:audio>
            <p:audio>
              <p:cMediaNode vol="80000">
                <p:cTn id="54" fill="hold" display="0">
                  <p:stCondLst>
                    <p:cond delay="indefinite"/>
                  </p:stCondLst>
                  <p:endCondLst>
                    <p:cond evt="onStopAudio" delay="0">
                      <p:tgtEl>
                        <p:sldTgt/>
                      </p:tgtEl>
                    </p:cond>
                  </p:endCondLst>
                </p:cTn>
                <p:tgtEl>
                  <p:spTgt spid="18"/>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93"/>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94"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195"/>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300" dirty="0">
                <a:solidFill>
                  <a:srgbClr val="1B2559"/>
                </a:solidFill>
                <a:latin typeface="Arial Rounded MT Bold" pitchFamily="34" charset="0"/>
                <a:ea typeface="Arial Rounded MT Bold" pitchFamily="34" charset="-122"/>
                <a:cs typeface="Arial Rounded MT Bold" pitchFamily="34" charset="-120"/>
              </a:rPr>
              <a:t>Lunch: London or New York?</a:t>
            </a:r>
            <a:endParaRPr lang="en-US" sz="2300" dirty="0"/>
          </a:p>
        </p:txBody>
      </p:sp>
      <p:pic>
        <p:nvPicPr>
          <p:cNvPr id="6" name="brP_196" descr="/home/claude/lls-course/v2/assets/brush-pink.png">    </p:cNvPr>
          <p:cNvPicPr>
            <a:picLocks noChangeAspect="1"/>
          </p:cNvPicPr>
          <p:nvPr/>
        </p:nvPicPr>
        <p:blipFill>
          <a:blip r:embed="rId3"/>
          <a:stretch>
            <a:fillRect/>
          </a:stretch>
        </p:blipFill>
        <p:spPr>
          <a:xfrm>
            <a:off x="1207008" y="731520"/>
            <a:ext cx="4640580" cy="402336"/>
          </a:xfrm>
          <a:prstGeom prst="rect">
            <a:avLst/>
          </a:prstGeom>
        </p:spPr>
      </p:pic>
      <p:sp>
        <p:nvSpPr>
          <p:cNvPr id="7" name="ins_197"/>
          <p:cNvSpPr/>
          <p:nvPr/>
        </p:nvSpPr>
        <p:spPr>
          <a:xfrm>
            <a:off x="1353312" y="731520"/>
            <a:ext cx="438454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Watch the lunch. What do they disagree about?</a:t>
            </a:r>
            <a:endParaRPr lang="en-US" sz="1250" dirty="0"/>
          </a:p>
        </p:txBody>
      </p:sp>
      <p:sp>
        <p:nvSpPr>
          <p:cNvPr id="8" name="insIT_19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Guarda il pranzo. Su cosa non sono d'accordo?</a:t>
            </a:r>
            <a:endParaRPr lang="en-US" sz="950" dirty="0"/>
          </a:p>
        </p:txBody>
      </p:sp>
      <p:sp>
        <p:nvSpPr>
          <p:cNvPr id="9" name="cmd_199"/>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20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201"/>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20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0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Video · Giving opinions · gist   ·   📖 SB p.34 · 2a · video Giving opinions / audio 3.29</a:t>
            </a:r>
            <a:endParaRPr lang="en-US" sz="800" dirty="0"/>
          </a:p>
        </p:txBody>
      </p:sp>
      <p:sp>
        <p:nvSpPr>
          <p:cNvPr id="14" name="ap_204"/>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3.29  ·  🎬 video: Giving opinions · once</a:t>
            </a:r>
            <a:endParaRPr lang="en-US" sz="1100" dirty="0"/>
          </a:p>
        </p:txBody>
      </p:sp>
      <p:sp>
        <p:nvSpPr>
          <p:cNvPr id="15" name="ah_205"/>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206"/>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207"/>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208"/>
          <p:cNvSpPr/>
          <p:nvPr/>
        </p:nvSpPr>
        <p:spPr>
          <a:xfrm>
            <a:off x="45720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pe2-lunch.jpg</a:t>
            </a:r>
            <a:endParaRPr lang="en-US" sz="900" dirty="0"/>
          </a:p>
        </p:txBody>
      </p:sp>
      <p:sp>
        <p:nvSpPr>
          <p:cNvPr id="21" name="bd_209"/>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pf_210"/>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3" name="phx_211"/>
          <p:cNvSpPr/>
          <p:nvPr/>
        </p:nvSpPr>
        <p:spPr>
          <a:xfrm>
            <a:off x="233172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pe2-ny-waiter.jpg</a:t>
            </a:r>
            <a:endParaRPr lang="en-US" sz="900" dirty="0"/>
          </a:p>
        </p:txBody>
      </p:sp>
      <p:sp>
        <p:nvSpPr>
          <p:cNvPr id="24" name="bd_212"/>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5" name="pf_213"/>
          <p:cNvSpPr/>
          <p:nvPr/>
        </p:nvSpPr>
        <p:spPr>
          <a:xfrm rot="-90000">
            <a:off x="416052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6" name="ph_214" descr="/home/claude/lls-course/v2/cache/3a2_black_cab_jpg_407x297_31.png">    </p:cNvPr>
          <p:cNvPicPr>
            <a:picLocks noChangeAspect="1"/>
          </p:cNvPicPr>
          <p:nvPr/>
        </p:nvPicPr>
        <p:blipFill>
          <a:blip r:embed="rId11"/>
          <a:stretch>
            <a:fillRect/>
          </a:stretch>
        </p:blipFill>
        <p:spPr>
          <a:xfrm rot="-90000">
            <a:off x="4206240" y="2103120"/>
            <a:ext cx="1691640" cy="1234440"/>
          </a:xfrm>
          <a:prstGeom prst="rect">
            <a:avLst/>
          </a:prstGeom>
        </p:spPr>
      </p:pic>
      <p:sp>
        <p:nvSpPr>
          <p:cNvPr id="27" name="bd_215"/>
          <p:cNvSpPr/>
          <p:nvPr/>
        </p:nvSpPr>
        <p:spPr>
          <a:xfrm>
            <a:off x="4059936" y="1956816"/>
            <a:ext cx="420624" cy="42062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C</a:t>
            </a:r>
            <a:endParaRPr lang="en-US" sz="1400" dirty="0"/>
          </a:p>
        </p:txBody>
      </p:sp>
      <p:sp>
        <p:nvSpPr>
          <p:cNvPr id="28" name="cd_216"/>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9" name="ii_217"/>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ih_218"/>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31" name="il_219"/>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Look at A–C. Where are they? Who's there?</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Guarda A–C. Dove sono? Chi c'è?</a:t>
            </a:r>
            <a:endParaRPr lang="en-US" sz="700" dirty="0"/>
          </a:p>
          <a:p>
            <a:pPr marL="152400" indent="-152400">
              <a:spcBef>
                <a:spcPts val="500"/>
              </a:spcBef>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Watch once. Answer the 3 questions.</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Guarda una volta. Rispondi alle 3 domande.</a:t>
            </a:r>
            <a:endParaRPr lang="en-US" sz="700" dirty="0"/>
          </a:p>
        </p:txBody>
      </p:sp>
      <p:sp>
        <p:nvSpPr>
          <p:cNvPr id="32" name="lq_220"/>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They disagree about…</a:t>
            </a:r>
            <a:endParaRPr lang="en-US" sz="1100" dirty="0"/>
          </a:p>
        </p:txBody>
      </p:sp>
      <p:sp>
        <p:nvSpPr>
          <p:cNvPr id="33" name="R1_chip221"/>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London or New York: which is better?</a:t>
            </a:r>
            <a:endParaRPr lang="en-US" sz="1050" dirty="0"/>
          </a:p>
        </p:txBody>
      </p:sp>
      <p:sp>
        <p:nvSpPr>
          <p:cNvPr id="34" name="lq_222"/>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Where are they?</a:t>
            </a:r>
            <a:endParaRPr lang="en-US" sz="1100" dirty="0"/>
          </a:p>
        </p:txBody>
      </p:sp>
      <p:sp>
        <p:nvSpPr>
          <p:cNvPr id="35" name="R2_chip223"/>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a restaurant in New York</a:t>
            </a:r>
            <a:endParaRPr lang="en-US" sz="1050" dirty="0"/>
          </a:p>
        </p:txBody>
      </p:sp>
      <p:sp>
        <p:nvSpPr>
          <p:cNvPr id="36" name="lq_224"/>
          <p:cNvSpPr/>
          <p:nvPr/>
        </p:nvSpPr>
        <p:spPr>
          <a:xfrm>
            <a:off x="6035040" y="3419856"/>
            <a:ext cx="1234440" cy="566928"/>
          </a:xfrm>
          <a:prstGeom prst="roundRect">
            <a:avLst>
              <a:gd name="adj" fmla="val 16129"/>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Who phones Rob?</a:t>
            </a:r>
            <a:endParaRPr lang="en-US" sz="1100" dirty="0"/>
          </a:p>
        </p:txBody>
      </p:sp>
      <p:sp>
        <p:nvSpPr>
          <p:cNvPr id="37" name="R3_chip225"/>
          <p:cNvSpPr/>
          <p:nvPr/>
        </p:nvSpPr>
        <p:spPr>
          <a:xfrm>
            <a:off x="7315200" y="3419856"/>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the taxi driver</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4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7"/>
                                        </p:tgtEl>
                                        <p:attrNameLst>
                                          <p:attrName>style.visibility</p:attrName>
                                        </p:attrNameLst>
                                      </p:cBhvr>
                                      <p:to>
                                        <p:strVal val="visible"/>
                                      </p:to>
                                    </p:set>
                                    <p:animEffect transition="in" filter="fade">
                                      <p:cBhvr>
                                        <p:cTn id="17"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8" restart="whenNotActive" fill="hold" evtFilter="cancelBubble" nodeType="interactiveSeq">
                <p:stCondLst>
                  <p:cond evt="onClick" delay="0">
                    <p:tgtEl>
                      <p:spTgt spid="1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6"/>
                                        </p:tgtEl>
                                      </p:cBhvr>
                                    </p:cmd>
                                  </p:childTnLst>
                                </p:cTn>
                              </p:par>
                            </p:childTnLst>
                          </p:cTn>
                        </p:par>
                      </p:childTnLst>
                    </p:cTn>
                  </p:par>
                </p:childTnLst>
              </p:cTn>
              <p:nextCondLst>
                <p:cond evt="onClick" delay="0">
                  <p:tgtEl>
                    <p:spTgt spid="16"/>
                  </p:tgtEl>
                </p:cond>
              </p:nextCondLst>
            </p:seq>
            <p:seq concurrent="1" nextAc="seek">
              <p:cTn id="23" restart="whenNotActive" fill="hold" evtFilter="cancelBubble" nodeType="interactiveSeq">
                <p:stCondLst>
                  <p:cond evt="onClick" delay="0">
                    <p:tgtEl>
                      <p:spTgt spid="17"/>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7"/>
                                        </p:tgtEl>
                                      </p:cBhvr>
                                    </p:cmd>
                                  </p:childTnLst>
                                </p:cTn>
                              </p:par>
                            </p:childTnLst>
                          </p:cTn>
                        </p:par>
                      </p:childTnLst>
                    </p:cTn>
                  </p:par>
                </p:childTnLst>
              </p:cTn>
              <p:nextCondLst>
                <p:cond evt="onClick" delay="0">
                  <p:tgtEl>
                    <p:spTgt spid="17"/>
                  </p:tgtEl>
                </p:cond>
              </p:nextCondLst>
            </p:seq>
            <p:audio>
              <p:cMediaNode vol="80000">
                <p:cTn id="28" fill="hold" display="0">
                  <p:stCondLst>
                    <p:cond delay="indefinite"/>
                  </p:stCondLst>
                  <p:endCondLst>
                    <p:cond evt="onStopAudio" delay="0">
                      <p:tgtEl>
                        <p:sldTgt/>
                      </p:tgtEl>
                    </p:cond>
                  </p:endCondLst>
                </p:cTn>
                <p:tgtEl>
                  <p:spTgt spid="16"/>
                </p:tgtEl>
              </p:cMediaNode>
            </p:audio>
            <p:audio>
              <p:cMediaNode vol="80000">
                <p:cTn id="29"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26"/>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27"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228"/>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Who thinks what?</a:t>
            </a:r>
            <a:endParaRPr lang="en-US" sz="2500" dirty="0"/>
          </a:p>
        </p:txBody>
      </p:sp>
      <p:pic>
        <p:nvPicPr>
          <p:cNvPr id="6" name="brP_229" descr="/home/claude/lls-course/v2/assets/brush-pink.png">    </p:cNvPr>
          <p:cNvPicPr>
            <a:picLocks noChangeAspect="1"/>
          </p:cNvPicPr>
          <p:nvPr/>
        </p:nvPicPr>
        <p:blipFill>
          <a:blip r:embed="rId3"/>
          <a:stretch>
            <a:fillRect/>
          </a:stretch>
        </p:blipFill>
        <p:spPr>
          <a:xfrm>
            <a:off x="1207008" y="731520"/>
            <a:ext cx="2816352" cy="402336"/>
          </a:xfrm>
          <a:prstGeom prst="rect">
            <a:avLst/>
          </a:prstGeom>
        </p:spPr>
      </p:pic>
      <p:sp>
        <p:nvSpPr>
          <p:cNvPr id="7" name="ins_230"/>
          <p:cNvSpPr/>
          <p:nvPr/>
        </p:nvSpPr>
        <p:spPr>
          <a:xfrm>
            <a:off x="1353312" y="731520"/>
            <a:ext cx="256032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Watch again. Answer 1–5.</a:t>
            </a:r>
            <a:endParaRPr lang="en-US" sz="1250" dirty="0"/>
          </a:p>
        </p:txBody>
      </p:sp>
      <p:sp>
        <p:nvSpPr>
          <p:cNvPr id="8" name="insIT_23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Guarda di nuovo. Rispondi 1–5.</a:t>
            </a:r>
            <a:endParaRPr lang="en-US" sz="950" dirty="0"/>
          </a:p>
        </p:txBody>
      </p:sp>
      <p:sp>
        <p:nvSpPr>
          <p:cNvPr id="9" name="cmd_232"/>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233"/>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1" name="meta_234"/>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235"/>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23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23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Video · Giving opinions · detail   ·   📖 SB p.34 · 2b · video Giving opinions / audio 3.29</a:t>
            </a:r>
            <a:endParaRPr lang="en-US" sz="800" dirty="0"/>
          </a:p>
        </p:txBody>
      </p:sp>
      <p:sp>
        <p:nvSpPr>
          <p:cNvPr id="15" name="ap_238"/>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3.29  ·  🎬 watch again</a:t>
            </a:r>
            <a:endParaRPr lang="en-US" sz="1100" dirty="0"/>
          </a:p>
        </p:txBody>
      </p:sp>
      <p:sp>
        <p:nvSpPr>
          <p:cNvPr id="16" name="ah_239"/>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240"/>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241" descr="/home/claude/lls-course/v2/cache/spare_1a2_cafe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242"/>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243"/>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244"/>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245"/>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246"/>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Kerri: New York waiters…?</a:t>
            </a:r>
            <a:endParaRPr lang="en-US" sz="1200" dirty="0"/>
          </a:p>
        </p:txBody>
      </p:sp>
      <p:sp>
        <p:nvSpPr>
          <p:cNvPr id="26" name="R1_chip247"/>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never leave you alone</a:t>
            </a:r>
            <a:endParaRPr lang="en-US" sz="1200" dirty="0"/>
          </a:p>
        </p:txBody>
      </p:sp>
      <p:sp>
        <p:nvSpPr>
          <p:cNvPr id="27" name="gq_248"/>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   …and London waiters?</a:t>
            </a:r>
            <a:endParaRPr lang="en-US" sz="1200" dirty="0"/>
          </a:p>
        </p:txBody>
      </p:sp>
      <p:sp>
        <p:nvSpPr>
          <p:cNvPr id="28" name="R2_chip249"/>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friendly, not too friendly</a:t>
            </a:r>
            <a:endParaRPr lang="en-US" sz="1200" dirty="0"/>
          </a:p>
        </p:txBody>
      </p:sp>
      <p:sp>
        <p:nvSpPr>
          <p:cNvPr id="29" name="gq_250"/>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Kerri: people in London are…?</a:t>
            </a:r>
            <a:endParaRPr lang="en-US" sz="1200" dirty="0"/>
          </a:p>
        </p:txBody>
      </p:sp>
      <p:sp>
        <p:nvSpPr>
          <p:cNvPr id="30" name="R3_chip251"/>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more easy-going</a:t>
            </a:r>
            <a:endParaRPr lang="en-US" sz="1200" dirty="0"/>
          </a:p>
        </p:txBody>
      </p:sp>
      <p:sp>
        <p:nvSpPr>
          <p:cNvPr id="31" name="gq_252"/>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Who agrees with Kerri?</a:t>
            </a:r>
            <a:endParaRPr lang="en-US" sz="1200" dirty="0"/>
          </a:p>
        </p:txBody>
      </p:sp>
      <p:sp>
        <p:nvSpPr>
          <p:cNvPr id="32" name="R4_chip253"/>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Rob: parks, cycling</a:t>
            </a:r>
            <a:endParaRPr lang="en-US" sz="1200" dirty="0"/>
          </a:p>
        </p:txBody>
      </p:sp>
      <p:sp>
        <p:nvSpPr>
          <p:cNvPr id="33" name="gq_254"/>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Who disagrees?</a:t>
            </a:r>
            <a:endParaRPr lang="en-US" sz="1200" dirty="0"/>
          </a:p>
        </p:txBody>
      </p:sp>
      <p:sp>
        <p:nvSpPr>
          <p:cNvPr id="34" name="R5_chip255"/>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Don and Jenny</a:t>
            </a:r>
            <a:endParaRPr lang="en-US" sz="1200" dirty="0"/>
          </a:p>
        </p:txBody>
      </p:sp>
      <p:sp>
        <p:nvSpPr>
          <p:cNvPr id="35" name="gq_256"/>
          <p:cNvSpPr/>
          <p:nvPr/>
        </p:nvSpPr>
        <p:spPr>
          <a:xfrm>
            <a:off x="3383280" y="4023360"/>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The taxi driver phones. Why?</a:t>
            </a:r>
            <a:endParaRPr lang="en-US" sz="1200" dirty="0"/>
          </a:p>
        </p:txBody>
      </p:sp>
      <p:sp>
        <p:nvSpPr>
          <p:cNvPr id="36" name="R6_chip257"/>
          <p:cNvSpPr/>
          <p:nvPr/>
        </p:nvSpPr>
        <p:spPr>
          <a:xfrm>
            <a:off x="6812280" y="402336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Kerri left her phone in the taxi</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3" restart="whenNotActive" fill="hold" evtFilter="cancelBubble" nodeType="interactiveSeq">
                <p:stCondLst>
                  <p:cond evt="onClick" delay="0">
                    <p:tgtEl>
                      <p:spTgt spid="17"/>
                    </p:tgtEl>
                  </p:cond>
                </p:stCondLst>
                <p:endSync evt="end" delay="0">
                  <p:rtn val="all"/>
                </p:endSync>
                <p:childTnLst>
                  <p:par>
                    <p:cTn id="34" fill="hold">
                      <p:stCondLst>
                        <p:cond delay="0"/>
                      </p:stCondLst>
                      <p:childTnLst>
                        <p:par>
                          <p:cTn id="35" fill="hold">
                            <p:stCondLst>
                              <p:cond delay="0"/>
                            </p:stCondLst>
                            <p:childTnLst>
                              <p:par>
                                <p:cTn id="36" presetID="2" presetClass="mediacall" presetSubtype="0" fill="hold" nodeType="clickEffect">
                                  <p:stCondLst>
                                    <p:cond delay="0"/>
                                  </p:stCondLst>
                                  <p:childTnLst>
                                    <p:cmd type="call" cmd="togglePause">
                                      <p:cBhvr>
                                        <p:cTn id="37" dur="1" fill="hold"/>
                                        <p:tgtEl>
                                          <p:spTgt spid="17"/>
                                        </p:tgtEl>
                                      </p:cBhvr>
                                    </p:cmd>
                                  </p:childTnLst>
                                </p:cTn>
                              </p:par>
                            </p:childTnLst>
                          </p:cTn>
                        </p:par>
                      </p:childTnLst>
                    </p:cTn>
                  </p:par>
                </p:childTnLst>
              </p:cTn>
              <p:nextCondLst>
                <p:cond evt="onClick" delay="0">
                  <p:tgtEl>
                    <p:spTgt spid="17"/>
                  </p:tgtEl>
                </p:cond>
              </p:nextCondLst>
            </p:seq>
            <p:seq concurrent="1" nextAc="seek">
              <p:cTn id="38" restart="whenNotActive" fill="hold" evtFilter="cancelBubble" nodeType="interactiveSeq">
                <p:stCondLst>
                  <p:cond evt="onClick" delay="0">
                    <p:tgtEl>
                      <p:spTgt spid="18"/>
                    </p:tgtEl>
                  </p:cond>
                </p:stCondLst>
                <p:endSync evt="end" delay="0">
                  <p:rtn val="all"/>
                </p:endSync>
                <p:childTnLst>
                  <p:par>
                    <p:cTn id="39" fill="hold">
                      <p:stCondLst>
                        <p:cond delay="0"/>
                      </p:stCondLst>
                      <p:childTnLst>
                        <p:par>
                          <p:cTn id="40" fill="hold">
                            <p:stCondLst>
                              <p:cond delay="0"/>
                            </p:stCondLst>
                            <p:childTnLst>
                              <p:par>
                                <p:cTn id="41" presetID="2" presetClass="mediacall" presetSubtype="0" fill="hold" nodeType="clickEffect">
                                  <p:stCondLst>
                                    <p:cond delay="0"/>
                                  </p:stCondLst>
                                  <p:childTnLst>
                                    <p:cmd type="call" cmd="togglePause">
                                      <p:cBhvr>
                                        <p:cTn id="42" dur="1" fill="hold"/>
                                        <p:tgtEl>
                                          <p:spTgt spid="18"/>
                                        </p:tgtEl>
                                      </p:cBhvr>
                                    </p:cmd>
                                  </p:childTnLst>
                                </p:cTn>
                              </p:par>
                            </p:childTnLst>
                          </p:cTn>
                        </p:par>
                      </p:childTnLst>
                    </p:cTn>
                  </p:par>
                </p:childTnLst>
              </p:cTn>
              <p:nextCondLst>
                <p:cond evt="onClick" delay="0">
                  <p:tgtEl>
                    <p:spTgt spid="18"/>
                  </p:tgtEl>
                </p:cond>
              </p:nextCondLst>
            </p:seq>
            <p:audio>
              <p:cMediaNode vol="80000">
                <p:cTn id="43" fill="hold" display="0">
                  <p:stCondLst>
                    <p:cond delay="indefinite"/>
                  </p:stCondLst>
                  <p:endCondLst>
                    <p:cond evt="onStopAudio" delay="0">
                      <p:tgtEl>
                        <p:sldTgt/>
                      </p:tgtEl>
                    </p:cond>
                  </p:endCondLst>
                </p:cTn>
                <p:tgtEl>
                  <p:spTgt spid="17"/>
                </p:tgtEl>
              </p:cMediaNode>
            </p:audio>
            <p:audio>
              <p:cMediaNode vol="80000">
                <p:cTn id="44" fill="hold" display="0">
                  <p:stCondLst>
                    <p:cond delay="indefinite"/>
                  </p:stCondLst>
                  <p:endCondLst>
                    <p:cond evt="onStopAudio" delay="0">
                      <p:tgtEl>
                        <p:sldTgt/>
                      </p:tgtEl>
                    </p:cond>
                  </p:endCondLst>
                </p:cTn>
                <p:tgtEl>
                  <p:spTgt spid="18"/>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58"/>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59" descr="/home/claude/lls-course/v2/assets/brush-yellow.png">    </p:cNvPr>
          <p:cNvPicPr>
            <a:picLocks noChangeAspect="1"/>
          </p:cNvPicPr>
          <p:nvPr/>
        </p:nvPicPr>
        <p:blipFill>
          <a:blip r:embed="rId2"/>
          <a:stretch>
            <a:fillRect/>
          </a:stretch>
        </p:blipFill>
        <p:spPr>
          <a:xfrm>
            <a:off x="1097280" y="146304"/>
            <a:ext cx="4191610" cy="621792"/>
          </a:xfrm>
          <a:prstGeom prst="rect">
            <a:avLst/>
          </a:prstGeom>
        </p:spPr>
      </p:pic>
      <p:sp>
        <p:nvSpPr>
          <p:cNvPr id="5" name="title_260"/>
          <p:cNvSpPr/>
          <p:nvPr/>
        </p:nvSpPr>
        <p:spPr>
          <a:xfrm>
            <a:off x="1261872" y="164592"/>
            <a:ext cx="391729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Video words in Italian</a:t>
            </a:r>
            <a:endParaRPr lang="en-US" sz="2500" dirty="0"/>
          </a:p>
        </p:txBody>
      </p:sp>
      <p:pic>
        <p:nvPicPr>
          <p:cNvPr id="6" name="brP_261"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262"/>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it in Italian. Then click!</a:t>
            </a:r>
            <a:endParaRPr lang="en-US" sz="1250" dirty="0"/>
          </a:p>
        </p:txBody>
      </p:sp>
      <p:sp>
        <p:nvSpPr>
          <p:cNvPr id="8" name="insIT_26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Dillo in italiano. Poi clicca!</a:t>
            </a:r>
            <a:endParaRPr lang="en-US" sz="950" dirty="0"/>
          </a:p>
        </p:txBody>
      </p:sp>
      <p:sp>
        <p:nvSpPr>
          <p:cNvPr id="9" name="cmd_264"/>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0" name="meta_265"/>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1" name="tag_266"/>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meaning</a:t>
            </a:r>
            <a:endParaRPr lang="en-US" sz="850" dirty="0"/>
          </a:p>
        </p:txBody>
      </p:sp>
      <p:pic>
        <p:nvPicPr>
          <p:cNvPr id="12" name="logo_26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6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Vocabulary · in Italian</a:t>
            </a:r>
            <a:endParaRPr lang="en-US" sz="800" dirty="0"/>
          </a:p>
        </p:txBody>
      </p:sp>
      <p:sp>
        <p:nvSpPr>
          <p:cNvPr id="14" name="cd_269"/>
          <p:cNvSpPr/>
          <p:nvPr/>
        </p:nvSpPr>
        <p:spPr>
          <a:xfrm>
            <a:off x="320040" y="141732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270"/>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271"/>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solo</a:t>
            </a:r>
            <a:endParaRPr lang="en-US" sz="1200" dirty="0"/>
          </a:p>
        </p:txBody>
      </p:sp>
      <p:sp>
        <p:nvSpPr>
          <p:cNvPr id="17" name="R1_it272"/>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da solista</a:t>
            </a:r>
            <a:endParaRPr lang="en-US" sz="1000" dirty="0"/>
          </a:p>
        </p:txBody>
      </p:sp>
      <p:sp>
        <p:nvSpPr>
          <p:cNvPr id="18" name="cd_273"/>
          <p:cNvSpPr/>
          <p:nvPr/>
        </p:nvSpPr>
        <p:spPr>
          <a:xfrm>
            <a:off x="2487168" y="141732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e_274"/>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0" name="en_275"/>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break-up</a:t>
            </a:r>
            <a:endParaRPr lang="en-US" sz="1200" dirty="0"/>
          </a:p>
        </p:txBody>
      </p:sp>
      <p:sp>
        <p:nvSpPr>
          <p:cNvPr id="21" name="R2_it276"/>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una rottura, lo scioglimento</a:t>
            </a:r>
            <a:endParaRPr lang="en-US" sz="800" dirty="0"/>
          </a:p>
        </p:txBody>
      </p:sp>
      <p:sp>
        <p:nvSpPr>
          <p:cNvPr id="22" name="cd_277"/>
          <p:cNvSpPr/>
          <p:nvPr/>
        </p:nvSpPr>
        <p:spPr>
          <a:xfrm>
            <a:off x="4654296" y="141732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e_278"/>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4" name="en_279"/>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gig</a:t>
            </a:r>
            <a:endParaRPr lang="en-US" sz="1200" dirty="0"/>
          </a:p>
        </p:txBody>
      </p:sp>
      <p:sp>
        <p:nvSpPr>
          <p:cNvPr id="25" name="R3_it280"/>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un concerto (piccolo)</a:t>
            </a:r>
            <a:endParaRPr lang="en-US" sz="900" dirty="0"/>
          </a:p>
        </p:txBody>
      </p:sp>
      <p:sp>
        <p:nvSpPr>
          <p:cNvPr id="26" name="cd_281"/>
          <p:cNvSpPr/>
          <p:nvPr/>
        </p:nvSpPr>
        <p:spPr>
          <a:xfrm>
            <a:off x="6821424" y="141732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e_282"/>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8" name="en_283"/>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private life</a:t>
            </a:r>
            <a:endParaRPr lang="en-US" sz="1200" dirty="0"/>
          </a:p>
        </p:txBody>
      </p:sp>
      <p:sp>
        <p:nvSpPr>
          <p:cNvPr id="29" name="R4_it284"/>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vita privata</a:t>
            </a:r>
            <a:endParaRPr lang="en-US" sz="1000" dirty="0"/>
          </a:p>
        </p:txBody>
      </p:sp>
      <p:sp>
        <p:nvSpPr>
          <p:cNvPr id="30" name="cd_285"/>
          <p:cNvSpPr/>
          <p:nvPr/>
        </p:nvSpPr>
        <p:spPr>
          <a:xfrm>
            <a:off x="320040" y="224028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1" name="e_286"/>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2" name="en_287"/>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easy-going</a:t>
            </a:r>
            <a:endParaRPr lang="en-US" sz="1200" dirty="0"/>
          </a:p>
        </p:txBody>
      </p:sp>
      <p:sp>
        <p:nvSpPr>
          <p:cNvPr id="33" name="R5_it288"/>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950" i="1" dirty="0">
                <a:solidFill>
                  <a:srgbClr val="2EB872"/>
                </a:solidFill>
                <a:latin typeface="Segoe UI Semibold" pitchFamily="34" charset="0"/>
                <a:ea typeface="Segoe UI Semibold" pitchFamily="34" charset="-122"/>
                <a:cs typeface="Segoe UI Semibold" pitchFamily="34" charset="-120"/>
              </a:rPr>
              <a:t>tranquillo, alla mano</a:t>
            </a:r>
            <a:endParaRPr lang="en-US" sz="950" dirty="0"/>
          </a:p>
        </p:txBody>
      </p:sp>
      <p:sp>
        <p:nvSpPr>
          <p:cNvPr id="34" name="cd_289"/>
          <p:cNvSpPr/>
          <p:nvPr/>
        </p:nvSpPr>
        <p:spPr>
          <a:xfrm>
            <a:off x="2487168" y="224028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35" name="e_290"/>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291"/>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hectic</a:t>
            </a:r>
            <a:endParaRPr lang="en-US" sz="1200" dirty="0"/>
          </a:p>
        </p:txBody>
      </p:sp>
      <p:sp>
        <p:nvSpPr>
          <p:cNvPr id="37" name="R6_it292"/>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frenetico</a:t>
            </a:r>
            <a:endParaRPr lang="en-US" sz="1000" dirty="0"/>
          </a:p>
        </p:txBody>
      </p:sp>
      <p:sp>
        <p:nvSpPr>
          <p:cNvPr id="38" name="cd_293"/>
          <p:cNvSpPr/>
          <p:nvPr/>
        </p:nvSpPr>
        <p:spPr>
          <a:xfrm>
            <a:off x="4654296" y="224028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39" name="e_294"/>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0" name="en_295"/>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bother (sb)</a:t>
            </a:r>
            <a:endParaRPr lang="en-US" sz="1200" dirty="0"/>
          </a:p>
        </p:txBody>
      </p:sp>
      <p:sp>
        <p:nvSpPr>
          <p:cNvPr id="41" name="R7_it296"/>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disturbare, dare fastidio</a:t>
            </a:r>
            <a:endParaRPr lang="en-US" sz="800" dirty="0"/>
          </a:p>
        </p:txBody>
      </p:sp>
      <p:sp>
        <p:nvSpPr>
          <p:cNvPr id="42" name="cd_297"/>
          <p:cNvSpPr/>
          <p:nvPr/>
        </p:nvSpPr>
        <p:spPr>
          <a:xfrm>
            <a:off x="6821424" y="224028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43" name="e_298"/>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4" name="en_299"/>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homesick</a:t>
            </a:r>
            <a:endParaRPr lang="en-US" sz="1200" dirty="0"/>
          </a:p>
        </p:txBody>
      </p:sp>
      <p:sp>
        <p:nvSpPr>
          <p:cNvPr id="45" name="R8_it300"/>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nostalgico di casa</a:t>
            </a:r>
            <a:endParaRPr lang="en-US" sz="1000" dirty="0"/>
          </a:p>
        </p:txBody>
      </p:sp>
      <p:sp>
        <p:nvSpPr>
          <p:cNvPr id="46" name="cd_301"/>
          <p:cNvSpPr/>
          <p:nvPr/>
        </p:nvSpPr>
        <p:spPr>
          <a:xfrm>
            <a:off x="320040" y="3063240"/>
            <a:ext cx="2075688" cy="731520"/>
          </a:xfrm>
          <a:prstGeom prst="roundRect">
            <a:avLst>
              <a:gd name="adj" fmla="val 175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e_302"/>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8" name="en_303"/>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fake</a:t>
            </a:r>
            <a:endParaRPr lang="en-US" sz="1200" dirty="0"/>
          </a:p>
        </p:txBody>
      </p:sp>
      <p:sp>
        <p:nvSpPr>
          <p:cNvPr id="49" name="R9_it304"/>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falso, finto</a:t>
            </a:r>
            <a:endParaRPr lang="en-US" sz="1000" dirty="0"/>
          </a:p>
        </p:txBody>
      </p:sp>
      <p:sp>
        <p:nvSpPr>
          <p:cNvPr id="50" name="cd_305"/>
          <p:cNvSpPr/>
          <p:nvPr/>
        </p:nvSpPr>
        <p:spPr>
          <a:xfrm>
            <a:off x="2487168" y="3063240"/>
            <a:ext cx="2075688" cy="731520"/>
          </a:xfrm>
          <a:prstGeom prst="roundRect">
            <a:avLst>
              <a:gd name="adj" fmla="val 175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51" name="e_306"/>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2" name="en_307"/>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big tip</a:t>
            </a:r>
            <a:endParaRPr lang="en-US" sz="1200" dirty="0"/>
          </a:p>
        </p:txBody>
      </p:sp>
      <p:sp>
        <p:nvSpPr>
          <p:cNvPr id="53" name="R10_it308"/>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una bella mancia</a:t>
            </a:r>
            <a:endParaRPr lang="en-US" sz="1000" dirty="0"/>
          </a:p>
        </p:txBody>
      </p:sp>
      <p:sp>
        <p:nvSpPr>
          <p:cNvPr id="54" name="cd_309"/>
          <p:cNvSpPr/>
          <p:nvPr/>
        </p:nvSpPr>
        <p:spPr>
          <a:xfrm>
            <a:off x="4654296" y="3063240"/>
            <a:ext cx="2075688" cy="731520"/>
          </a:xfrm>
          <a:prstGeom prst="roundRect">
            <a:avLst>
              <a:gd name="adj" fmla="val 175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55" name="e_310"/>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6" name="en_311"/>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cell phone (US)</a:t>
            </a:r>
            <a:endParaRPr lang="en-US" sz="1200" dirty="0"/>
          </a:p>
        </p:txBody>
      </p:sp>
      <p:sp>
        <p:nvSpPr>
          <p:cNvPr id="57" name="R11_it312"/>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950" i="1" dirty="0">
                <a:solidFill>
                  <a:srgbClr val="2EB872"/>
                </a:solidFill>
                <a:latin typeface="Segoe UI Semibold" pitchFamily="34" charset="0"/>
                <a:ea typeface="Segoe UI Semibold" pitchFamily="34" charset="-122"/>
                <a:cs typeface="Segoe UI Semibold" pitchFamily="34" charset="-120"/>
              </a:rPr>
              <a:t>= mobile phone (UK)</a:t>
            </a:r>
            <a:endParaRPr lang="en-US" sz="950" dirty="0"/>
          </a:p>
        </p:txBody>
      </p:sp>
      <p:sp>
        <p:nvSpPr>
          <p:cNvPr id="58" name="cd_313"/>
          <p:cNvSpPr/>
          <p:nvPr/>
        </p:nvSpPr>
        <p:spPr>
          <a:xfrm>
            <a:off x="6821424" y="3063240"/>
            <a:ext cx="2075688" cy="731520"/>
          </a:xfrm>
          <a:prstGeom prst="roundRect">
            <a:avLst>
              <a:gd name="adj" fmla="val 175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59" name="e_314"/>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60" name="en_315"/>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cab (US)</a:t>
            </a:r>
            <a:endParaRPr lang="en-US" sz="1200" dirty="0"/>
          </a:p>
        </p:txBody>
      </p:sp>
      <p:sp>
        <p:nvSpPr>
          <p:cNvPr id="61" name="R12_it316"/>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 taxi (UK)</a:t>
            </a:r>
            <a:endParaRPr lang="en-US" sz="1000" dirty="0"/>
          </a:p>
        </p:txBody>
      </p:sp>
      <p:sp>
        <p:nvSpPr>
          <p:cNvPr id="62" name="R13_wc317"/>
          <p:cNvSpPr/>
          <p:nvPr/>
        </p:nvSpPr>
        <p:spPr>
          <a:xfrm>
            <a:off x="320040" y="39319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63" name="R13_w318"/>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hectic ≠ eccitante  ·  bother = disturbare: they don't bother you  ·  homesick = Rob misses London</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animEffect transition="in" filter="fade">
                                      <p:cBhvr>
                                        <p:cTn id="37" dur="400"/>
                                        <p:tgtEl>
                                          <p:spTgt spid="4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5"/>
                                        </p:tgtEl>
                                        <p:attrNameLst>
                                          <p:attrName>style.visibility</p:attrName>
                                        </p:attrNameLst>
                                      </p:cBhvr>
                                      <p:to>
                                        <p:strVal val="visible"/>
                                      </p:to>
                                    </p:set>
                                    <p:animEffect transition="in" filter="fade">
                                      <p:cBhvr>
                                        <p:cTn id="42" dur="400"/>
                                        <p:tgtEl>
                                          <p:spTgt spid="4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9"/>
                                        </p:tgtEl>
                                        <p:attrNameLst>
                                          <p:attrName>style.visibility</p:attrName>
                                        </p:attrNameLst>
                                      </p:cBhvr>
                                      <p:to>
                                        <p:strVal val="visible"/>
                                      </p:to>
                                    </p:set>
                                    <p:animEffect transition="in" filter="fade">
                                      <p:cBhvr>
                                        <p:cTn id="47" dur="400"/>
                                        <p:tgtEl>
                                          <p:spTgt spid="49"/>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400"/>
                                        <p:tgtEl>
                                          <p:spTgt spid="5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fade">
                                      <p:cBhvr>
                                        <p:cTn id="57" dur="400"/>
                                        <p:tgtEl>
                                          <p:spTgt spid="57"/>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400"/>
                                        <p:tgtEl>
                                          <p:spTgt spid="6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2"/>
                                        </p:tgtEl>
                                        <p:attrNameLst>
                                          <p:attrName>style.visibility</p:attrName>
                                        </p:attrNameLst>
                                      </p:cBhvr>
                                      <p:to>
                                        <p:strVal val="visible"/>
                                      </p:to>
                                    </p:set>
                                    <p:animEffect transition="in" filter="fade">
                                      <p:cBhvr>
                                        <p:cTn id="67" dur="400"/>
                                        <p:tgtEl>
                                          <p:spTgt spid="62"/>
                                        </p:tgtEl>
                                      </p:cBhvr>
                                    </p:animEffect>
                                  </p:childTnLst>
                                </p:cTn>
                              </p:par>
                              <p:par>
                                <p:cTn id="68" presetID="10" presetClass="entr" presetSubtype="0" fill="hold" nodeType="withEffect">
                                  <p:stCondLst>
                                    <p:cond delay="0"/>
                                  </p:stCondLst>
                                  <p:childTnLst>
                                    <p:set>
                                      <p:cBhvr>
                                        <p:cTn id="69" dur="1" fill="hold">
                                          <p:stCondLst>
                                            <p:cond delay="0"/>
                                          </p:stCondLst>
                                        </p:cTn>
                                        <p:tgtEl>
                                          <p:spTgt spid="63"/>
                                        </p:tgtEl>
                                        <p:attrNameLst>
                                          <p:attrName>style.visibility</p:attrName>
                                        </p:attrNameLst>
                                      </p:cBhvr>
                                      <p:to>
                                        <p:strVal val="visible"/>
                                      </p:to>
                                    </p:set>
                                    <p:animEffect transition="in" filter="fade">
                                      <p:cBhvr>
                                        <p:cTn id="70" dur="4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19"/>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320"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321"/>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Complete the phrases 1/2</a:t>
            </a:r>
            <a:endParaRPr lang="en-US" sz="2500" dirty="0"/>
          </a:p>
        </p:txBody>
      </p:sp>
      <p:pic>
        <p:nvPicPr>
          <p:cNvPr id="6" name="brP_322" descr="/home/claude/lls-course/v2/assets/brush-pink.png">    </p:cNvPr>
          <p:cNvPicPr>
            <a:picLocks noChangeAspect="1"/>
          </p:cNvPicPr>
          <p:nvPr/>
        </p:nvPicPr>
        <p:blipFill>
          <a:blip r:embed="rId3"/>
          <a:stretch>
            <a:fillRect/>
          </a:stretch>
        </p:blipFill>
        <p:spPr>
          <a:xfrm>
            <a:off x="1207008" y="731520"/>
            <a:ext cx="3250692" cy="402336"/>
          </a:xfrm>
          <a:prstGeom prst="rect">
            <a:avLst/>
          </a:prstGeom>
        </p:spPr>
      </p:pic>
      <p:sp>
        <p:nvSpPr>
          <p:cNvPr id="7" name="ins_323"/>
          <p:cNvSpPr/>
          <p:nvPr/>
        </p:nvSpPr>
        <p:spPr>
          <a:xfrm>
            <a:off x="1353312" y="731520"/>
            <a:ext cx="299466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words. Then listen.</a:t>
            </a:r>
            <a:endParaRPr lang="en-US" sz="1250" dirty="0"/>
          </a:p>
        </p:txBody>
      </p:sp>
      <p:sp>
        <p:nvSpPr>
          <p:cNvPr id="8" name="insIT_324"/>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le parole. Poi ascolta.</a:t>
            </a:r>
            <a:endParaRPr lang="en-US" sz="950" dirty="0"/>
          </a:p>
        </p:txBody>
      </p:sp>
      <p:sp>
        <p:nvSpPr>
          <p:cNvPr id="9" name="cmd_325"/>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0" name="cmd_326"/>
          <p:cNvSpPr/>
          <p:nvPr/>
        </p:nvSpPr>
        <p:spPr>
          <a:xfrm>
            <a:off x="6510528" y="566928"/>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1" name="meta_327"/>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pic>
        <p:nvPicPr>
          <p:cNvPr id="12" name="logo_32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2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Function · giving opinions · 1/2   ·   📖 SB p.35 · 2c conversation 1 · video listen and check / audio 3.30</a:t>
            </a:r>
            <a:endParaRPr lang="en-US" sz="800" dirty="0"/>
          </a:p>
        </p:txBody>
      </p:sp>
      <p:sp>
        <p:nvSpPr>
          <p:cNvPr id="14" name="cd_330"/>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331"/>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At lunch · conversation 1</a:t>
            </a:r>
            <a:endParaRPr lang="en-US" sz="1700" dirty="0"/>
          </a:p>
        </p:txBody>
      </p:sp>
      <p:sp>
        <p:nvSpPr>
          <p:cNvPr id="16" name="ln_332"/>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Kerri: </a:t>
            </a:r>
            <a:pPr indent="0" marL="0">
              <a:buNone/>
            </a:pPr>
            <a:r>
              <a:rPr lang="en-US" sz="1200" b="1" dirty="0">
                <a:solidFill>
                  <a:srgbClr val="2EB872"/>
                </a:solidFill>
                <a:latin typeface="Georgia" pitchFamily="34" charset="0"/>
                <a:ea typeface="Georgia" pitchFamily="34" charset="-122"/>
                <a:cs typeface="Georgia" pitchFamily="34" charset="-120"/>
              </a:rPr>
              <a:t> (1) _____ </a:t>
            </a:r>
            <a:pPr indent="0" marL="0">
              <a:buNone/>
            </a:pPr>
            <a:r>
              <a:rPr lang="en-US" sz="1200" dirty="0">
                <a:solidFill>
                  <a:srgbClr val="1B2559"/>
                </a:solidFill>
                <a:latin typeface="Georgia" pitchFamily="34" charset="0"/>
                <a:ea typeface="Georgia" pitchFamily="34" charset="-122"/>
                <a:cs typeface="Georgia" pitchFamily="34" charset="-120"/>
              </a:rPr>
              <a:t>, I think people in London are a lot more easy-going.</a:t>
            </a:r>
            <a:endParaRPr lang="en-US" sz="1200" dirty="0"/>
          </a:p>
        </p:txBody>
      </p:sp>
      <p:sp>
        <p:nvSpPr>
          <p:cNvPr id="17" name="R1_lnA333"/>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Kerri: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Personally</a:t>
            </a:r>
            <a:pPr indent="0" marL="0">
              <a:buNone/>
            </a:pPr>
            <a:r>
              <a:rPr lang="en-US" sz="1200" dirty="0">
                <a:solidFill>
                  <a:srgbClr val="1B2559"/>
                </a:solidFill>
                <a:latin typeface="Georgia" pitchFamily="34" charset="0"/>
                <a:ea typeface="Georgia" pitchFamily="34" charset="-122"/>
                <a:cs typeface="Georgia" pitchFamily="34" charset="-120"/>
              </a:rPr>
              <a:t>, I think people in London are a lot more easy-going.</a:t>
            </a:r>
            <a:endParaRPr lang="en-US" sz="1200" dirty="0"/>
          </a:p>
        </p:txBody>
      </p:sp>
      <p:sp>
        <p:nvSpPr>
          <p:cNvPr id="18" name="ln_334"/>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Don: Sure, we all like peace and quiet. But in my </a:t>
            </a:r>
            <a:pPr indent="0" marL="0">
              <a:buNone/>
            </a:pPr>
            <a:r>
              <a:rPr lang="en-US" sz="1200" b="1" dirty="0">
                <a:solidFill>
                  <a:srgbClr val="2EB872"/>
                </a:solidFill>
                <a:latin typeface="Georgia" pitchFamily="34" charset="0"/>
                <a:ea typeface="Georgia" pitchFamily="34" charset="-122"/>
                <a:cs typeface="Georgia" pitchFamily="34" charset="-120"/>
              </a:rPr>
              <a:t> (2) _____ </a:t>
            </a:r>
            <a:pPr indent="0" marL="0">
              <a:buNone/>
            </a:pPr>
            <a:r>
              <a:rPr lang="en-US" sz="1200" dirty="0">
                <a:solidFill>
                  <a:srgbClr val="1B2559"/>
                </a:solidFill>
                <a:latin typeface="Georgia" pitchFamily="34" charset="0"/>
                <a:ea typeface="Georgia" pitchFamily="34" charset="-122"/>
                <a:cs typeface="Georgia" pitchFamily="34" charset="-120"/>
              </a:rPr>
              <a:t>,</a:t>
            </a:r>
            <a:endParaRPr lang="en-US" sz="1200" dirty="0"/>
          </a:p>
        </p:txBody>
      </p:sp>
      <p:sp>
        <p:nvSpPr>
          <p:cNvPr id="19" name="R2_lnA335"/>
          <p:cNvSpPr/>
          <p:nvPr/>
        </p:nvSpPr>
        <p:spPr>
          <a:xfrm>
            <a:off x="548640" y="246888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Don: Sure, we all like peace and quiet. But in my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opinion</a:t>
            </a:r>
            <a:pPr indent="0" marL="0">
              <a:buNone/>
            </a:pPr>
            <a:r>
              <a:rPr lang="en-US" sz="1200" dirty="0">
                <a:solidFill>
                  <a:srgbClr val="1B2559"/>
                </a:solidFill>
                <a:latin typeface="Georgia" pitchFamily="34" charset="0"/>
                <a:ea typeface="Georgia" pitchFamily="34" charset="-122"/>
                <a:cs typeface="Georgia" pitchFamily="34" charset="-120"/>
              </a:rPr>
              <a:t>,</a:t>
            </a:r>
            <a:endParaRPr lang="en-US" sz="1200" dirty="0"/>
          </a:p>
        </p:txBody>
      </p:sp>
      <p:sp>
        <p:nvSpPr>
          <p:cNvPr id="20" name="ln_336"/>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New York is the greatest city in the world. Don't you </a:t>
            </a:r>
            <a:pPr indent="0" marL="0">
              <a:buNone/>
            </a:pPr>
            <a:r>
              <a:rPr lang="en-US" sz="1200" b="1" dirty="0">
                <a:solidFill>
                  <a:srgbClr val="2EB872"/>
                </a:solidFill>
                <a:latin typeface="Georgia" pitchFamily="34" charset="0"/>
                <a:ea typeface="Georgia" pitchFamily="34" charset="-122"/>
                <a:cs typeface="Georgia" pitchFamily="34" charset="-120"/>
              </a:rPr>
              <a:t> (3) _____ </a:t>
            </a:r>
            <a:pPr indent="0" marL="0">
              <a:buNone/>
            </a:pPr>
            <a:r>
              <a:rPr lang="en-US" sz="1200" dirty="0">
                <a:solidFill>
                  <a:srgbClr val="1B2559"/>
                </a:solidFill>
                <a:latin typeface="Georgia" pitchFamily="34" charset="0"/>
                <a:ea typeface="Georgia" pitchFamily="34" charset="-122"/>
                <a:cs typeface="Georgia" pitchFamily="34" charset="-120"/>
              </a:rPr>
              <a:t>?</a:t>
            </a:r>
            <a:endParaRPr lang="en-US" sz="1200" dirty="0"/>
          </a:p>
        </p:txBody>
      </p:sp>
      <p:sp>
        <p:nvSpPr>
          <p:cNvPr id="21" name="R3_lnA337"/>
          <p:cNvSpPr/>
          <p:nvPr/>
        </p:nvSpPr>
        <p:spPr>
          <a:xfrm>
            <a:off x="548640" y="301752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New York is the greatest city in the world. Don't you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agree</a:t>
            </a:r>
            <a:pPr indent="0" marL="0">
              <a:buNone/>
            </a:pPr>
            <a:r>
              <a:rPr lang="en-US" sz="1200" dirty="0">
                <a:solidFill>
                  <a:srgbClr val="1B2559"/>
                </a:solidFill>
                <a:latin typeface="Georgia" pitchFamily="34" charset="0"/>
                <a:ea typeface="Georgia" pitchFamily="34" charset="-122"/>
                <a:cs typeface="Georgia" pitchFamily="34" charset="-120"/>
              </a:rPr>
              <a:t>?</a:t>
            </a:r>
            <a:endParaRPr lang="en-US" sz="1200" dirty="0"/>
          </a:p>
        </p:txBody>
      </p:sp>
      <p:sp>
        <p:nvSpPr>
          <p:cNvPr id="22" name="ln_338"/>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Kerri: To be </a:t>
            </a:r>
            <a:pPr indent="0" marL="0">
              <a:buNone/>
            </a:pPr>
            <a:r>
              <a:rPr lang="en-US" sz="1200" b="1" dirty="0">
                <a:solidFill>
                  <a:srgbClr val="2EB872"/>
                </a:solidFill>
                <a:latin typeface="Georgia" pitchFamily="34" charset="0"/>
                <a:ea typeface="Georgia" pitchFamily="34" charset="-122"/>
                <a:cs typeface="Georgia" pitchFamily="34" charset="-120"/>
              </a:rPr>
              <a:t> (4) _____ </a:t>
            </a:r>
            <a:pPr indent="0" marL="0">
              <a:buNone/>
            </a:pPr>
            <a:r>
              <a:rPr lang="en-US" sz="1200" dirty="0">
                <a:solidFill>
                  <a:srgbClr val="1B2559"/>
                </a:solidFill>
                <a:latin typeface="Georgia" pitchFamily="34" charset="0"/>
                <a:ea typeface="Georgia" pitchFamily="34" charset="-122"/>
                <a:cs typeface="Georgia" pitchFamily="34" charset="-120"/>
              </a:rPr>
              <a:t>, I definitely prefer London.</a:t>
            </a:r>
            <a:endParaRPr lang="en-US" sz="1200" dirty="0"/>
          </a:p>
        </p:txBody>
      </p:sp>
      <p:sp>
        <p:nvSpPr>
          <p:cNvPr id="23" name="R4_lnA339"/>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Kerri: To be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honest</a:t>
            </a:r>
            <a:pPr indent="0" marL="0">
              <a:buNone/>
            </a:pPr>
            <a:r>
              <a:rPr lang="en-US" sz="1200" dirty="0">
                <a:solidFill>
                  <a:srgbClr val="1B2559"/>
                </a:solidFill>
                <a:latin typeface="Georgia" pitchFamily="34" charset="0"/>
                <a:ea typeface="Georgia" pitchFamily="34" charset="-122"/>
                <a:cs typeface="Georgia" pitchFamily="34" charset="-120"/>
              </a:rPr>
              <a:t>, I definitely prefer London.</a:t>
            </a:r>
            <a:endParaRPr lang="en-US" sz="1200" dirty="0"/>
          </a:p>
        </p:txBody>
      </p:sp>
      <p:sp>
        <p:nvSpPr>
          <p:cNvPr id="24" name="ln_340"/>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Don: Come on, Rob. You've lived in both. What do you </a:t>
            </a:r>
            <a:pPr indent="0" marL="0">
              <a:buNone/>
            </a:pPr>
            <a:r>
              <a:rPr lang="en-US" sz="1200" b="1" dirty="0">
                <a:solidFill>
                  <a:srgbClr val="2EB872"/>
                </a:solidFill>
                <a:latin typeface="Georgia" pitchFamily="34" charset="0"/>
                <a:ea typeface="Georgia" pitchFamily="34" charset="-122"/>
                <a:cs typeface="Georgia" pitchFamily="34" charset="-120"/>
              </a:rPr>
              <a:t> (5) _____ </a:t>
            </a:r>
            <a:pPr indent="0" marL="0">
              <a:buNone/>
            </a:pPr>
            <a:r>
              <a:rPr lang="en-US" sz="1200" dirty="0">
                <a:solidFill>
                  <a:srgbClr val="1B2559"/>
                </a:solidFill>
                <a:latin typeface="Georgia" pitchFamily="34" charset="0"/>
                <a:ea typeface="Georgia" pitchFamily="34" charset="-122"/>
                <a:cs typeface="Georgia" pitchFamily="34" charset="-120"/>
              </a:rPr>
              <a:t>?</a:t>
            </a:r>
            <a:endParaRPr lang="en-US" sz="1200" dirty="0"/>
          </a:p>
        </p:txBody>
      </p:sp>
      <p:sp>
        <p:nvSpPr>
          <p:cNvPr id="25" name="R5_lnA341"/>
          <p:cNvSpPr/>
          <p:nvPr/>
        </p:nvSpPr>
        <p:spPr>
          <a:xfrm>
            <a:off x="548640" y="411480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Don: Come on, Rob. You've lived in both. What do you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think</a:t>
            </a:r>
            <a:pPr indent="0" marL="0">
              <a:buNone/>
            </a:pPr>
            <a:r>
              <a:rPr lang="en-US" sz="1200" dirty="0">
                <a:solidFill>
                  <a:srgbClr val="1B2559"/>
                </a:solidFill>
                <a:latin typeface="Georgia" pitchFamily="34" charset="0"/>
                <a:ea typeface="Georgia" pitchFamily="34" charset="-122"/>
                <a:cs typeface="Georgia" pitchFamily="34" charset="-120"/>
              </a:rPr>
              <a:t>?</a:t>
            </a:r>
            <a:endParaRPr lang="en-US" sz="1200" dirty="0"/>
          </a:p>
        </p:txBody>
      </p:sp>
      <p:sp>
        <p:nvSpPr>
          <p:cNvPr id="26" name="ap_342"/>
          <p:cNvSpPr/>
          <p:nvPr/>
        </p:nvSpPr>
        <p:spPr>
          <a:xfrm>
            <a:off x="6263640" y="1417320"/>
            <a:ext cx="201168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3.30</a:t>
            </a:r>
            <a:endParaRPr lang="en-US" sz="1100" dirty="0"/>
          </a:p>
        </p:txBody>
      </p:sp>
      <p:sp>
        <p:nvSpPr>
          <p:cNvPr id="27" name="aw_343"/>
          <p:cNvSpPr/>
          <p:nvPr/>
        </p:nvSpPr>
        <p:spPr>
          <a:xfrm>
            <a:off x="6263640" y="1837944"/>
            <a:ext cx="219456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Play it from the book audio</a:t>
            </a:r>
            <a:endParaRPr lang="en-US" sz="900" dirty="0"/>
          </a:p>
        </p:txBody>
      </p:sp>
      <p:sp>
        <p:nvSpPr>
          <p:cNvPr id="28" name="pf_344"/>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9" name="phx_345"/>
          <p:cNvSpPr/>
          <p:nvPr/>
        </p:nvSpPr>
        <p:spPr>
          <a:xfrm>
            <a:off x="6355080" y="2240280"/>
            <a:ext cx="2468880" cy="14630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pe2-lunch.jpg</a:t>
            </a:r>
            <a:endParaRPr lang="en-US" sz="900" dirty="0"/>
          </a:p>
        </p:txBody>
      </p:sp>
      <p:sp>
        <p:nvSpPr>
          <p:cNvPr id="30" name="cd_346"/>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31" name="ii_347"/>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2" name="ih_348"/>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3" name="il_349"/>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The yellow words = phrases to give your opinion!</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40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50"/>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51"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352"/>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Complete the phrases 2/2</a:t>
            </a:r>
            <a:endParaRPr lang="en-US" sz="2500" dirty="0"/>
          </a:p>
        </p:txBody>
      </p:sp>
      <p:pic>
        <p:nvPicPr>
          <p:cNvPr id="6" name="brP_353" descr="/home/claude/lls-course/v2/assets/brush-pink.png">    </p:cNvPr>
          <p:cNvPicPr>
            <a:picLocks noChangeAspect="1"/>
          </p:cNvPicPr>
          <p:nvPr/>
        </p:nvPicPr>
        <p:blipFill>
          <a:blip r:embed="rId3"/>
          <a:stretch>
            <a:fillRect/>
          </a:stretch>
        </p:blipFill>
        <p:spPr>
          <a:xfrm>
            <a:off x="1207008" y="731520"/>
            <a:ext cx="3250692" cy="402336"/>
          </a:xfrm>
          <a:prstGeom prst="rect">
            <a:avLst/>
          </a:prstGeom>
        </p:spPr>
      </p:pic>
      <p:sp>
        <p:nvSpPr>
          <p:cNvPr id="7" name="ins_354"/>
          <p:cNvSpPr/>
          <p:nvPr/>
        </p:nvSpPr>
        <p:spPr>
          <a:xfrm>
            <a:off x="1353312" y="731520"/>
            <a:ext cx="299466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Guess the words. Then listen.</a:t>
            </a:r>
            <a:endParaRPr lang="en-US" sz="1250" dirty="0"/>
          </a:p>
        </p:txBody>
      </p:sp>
      <p:sp>
        <p:nvSpPr>
          <p:cNvPr id="8" name="insIT_35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Indovina le parole. Poi ascolta.</a:t>
            </a:r>
            <a:endParaRPr lang="en-US" sz="950" dirty="0"/>
          </a:p>
        </p:txBody>
      </p:sp>
      <p:sp>
        <p:nvSpPr>
          <p:cNvPr id="9" name="cmd_356"/>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0" name="cmd_357"/>
          <p:cNvSpPr/>
          <p:nvPr/>
        </p:nvSpPr>
        <p:spPr>
          <a:xfrm>
            <a:off x="6510528" y="566928"/>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1" name="meta_358"/>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pic>
        <p:nvPicPr>
          <p:cNvPr id="12" name="logo_35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6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Function · giving opinions · 2/2   ·   📖 SB p.35 · 2c conversation 2 · video listen and check / audio 3.30</a:t>
            </a:r>
            <a:endParaRPr lang="en-US" sz="800" dirty="0"/>
          </a:p>
        </p:txBody>
      </p:sp>
      <p:sp>
        <p:nvSpPr>
          <p:cNvPr id="14" name="cd_361"/>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362"/>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At lunch · conversation 2</a:t>
            </a:r>
            <a:endParaRPr lang="en-US" sz="1700" dirty="0"/>
          </a:p>
        </p:txBody>
      </p:sp>
      <p:sp>
        <p:nvSpPr>
          <p:cNvPr id="16" name="ln_363"/>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Don: OK, I </a:t>
            </a:r>
            <a:pPr indent="0" marL="0">
              <a:buNone/>
            </a:pPr>
            <a:r>
              <a:rPr lang="en-US" sz="1200" b="1" dirty="0">
                <a:solidFill>
                  <a:srgbClr val="2EB872"/>
                </a:solidFill>
                <a:latin typeface="Georgia" pitchFamily="34" charset="0"/>
                <a:ea typeface="Georgia" pitchFamily="34" charset="-122"/>
                <a:cs typeface="Georgia" pitchFamily="34" charset="-120"/>
              </a:rPr>
              <a:t> (1) _____ </a:t>
            </a:r>
            <a:pPr indent="0" marL="0">
              <a:buNone/>
            </a:pPr>
            <a:r>
              <a:rPr lang="en-US" sz="1200" dirty="0">
                <a:solidFill>
                  <a:srgbClr val="1B2559"/>
                </a:solidFill>
                <a:latin typeface="Georgia" pitchFamily="34" charset="0"/>
                <a:ea typeface="Georgia" pitchFamily="34" charset="-122"/>
                <a:cs typeface="Georgia" pitchFamily="34" charset="-120"/>
              </a:rPr>
              <a:t>. London has its own peculiar charm.</a:t>
            </a:r>
            <a:endParaRPr lang="en-US" sz="1200" dirty="0"/>
          </a:p>
        </p:txBody>
      </p:sp>
      <p:sp>
        <p:nvSpPr>
          <p:cNvPr id="17" name="R1_lnA364"/>
          <p:cNvSpPr/>
          <p:nvPr/>
        </p:nvSpPr>
        <p:spPr>
          <a:xfrm>
            <a:off x="548640" y="192024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Don: OK, I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agree</a:t>
            </a:r>
            <a:pPr indent="0" marL="0">
              <a:buNone/>
            </a:pPr>
            <a:r>
              <a:rPr lang="en-US" sz="1200" dirty="0">
                <a:solidFill>
                  <a:srgbClr val="1B2559"/>
                </a:solidFill>
                <a:latin typeface="Georgia" pitchFamily="34" charset="0"/>
                <a:ea typeface="Georgia" pitchFamily="34" charset="-122"/>
                <a:cs typeface="Georgia" pitchFamily="34" charset="-120"/>
              </a:rPr>
              <a:t>. London has its own peculiar charm.</a:t>
            </a:r>
            <a:endParaRPr lang="en-US" sz="1200" dirty="0"/>
          </a:p>
        </p:txBody>
      </p:sp>
      <p:sp>
        <p:nvSpPr>
          <p:cNvPr id="18" name="ln_365"/>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But if you </a:t>
            </a:r>
            <a:pPr indent="0" marL="0">
              <a:buNone/>
            </a:pPr>
            <a:r>
              <a:rPr lang="en-US" sz="1200" b="1" dirty="0">
                <a:solidFill>
                  <a:srgbClr val="2EB872"/>
                </a:solidFill>
                <a:latin typeface="Georgia" pitchFamily="34" charset="0"/>
                <a:ea typeface="Georgia" pitchFamily="34" charset="-122"/>
                <a:cs typeface="Georgia" pitchFamily="34" charset="-120"/>
              </a:rPr>
              <a:t> (2) _____ </a:t>
            </a:r>
            <a:pPr indent="0" marL="0">
              <a:buNone/>
            </a:pPr>
            <a:r>
              <a:rPr lang="en-US" sz="1200" dirty="0">
                <a:solidFill>
                  <a:srgbClr val="1B2559"/>
                </a:solidFill>
                <a:latin typeface="Georgia" pitchFamily="34" charset="0"/>
                <a:ea typeface="Georgia" pitchFamily="34" charset="-122"/>
                <a:cs typeface="Georgia" pitchFamily="34" charset="-120"/>
              </a:rPr>
              <a:t> me, nothing compares with a city like New York.</a:t>
            </a:r>
            <a:endParaRPr lang="en-US" sz="1200" dirty="0"/>
          </a:p>
        </p:txBody>
      </p:sp>
      <p:sp>
        <p:nvSpPr>
          <p:cNvPr id="19" name="R2_lnA366"/>
          <p:cNvSpPr/>
          <p:nvPr/>
        </p:nvSpPr>
        <p:spPr>
          <a:xfrm>
            <a:off x="548640" y="246888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But if you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ask</a:t>
            </a:r>
            <a:pPr indent="0" marL="0">
              <a:buNone/>
            </a:pPr>
            <a:r>
              <a:rPr lang="en-US" sz="1200" dirty="0">
                <a:solidFill>
                  <a:srgbClr val="1B2559"/>
                </a:solidFill>
                <a:latin typeface="Georgia" pitchFamily="34" charset="0"/>
                <a:ea typeface="Georgia" pitchFamily="34" charset="-122"/>
                <a:cs typeface="Georgia" pitchFamily="34" charset="-120"/>
              </a:rPr>
              <a:t> me, nothing compares with a city like New York.</a:t>
            </a:r>
            <a:endParaRPr lang="en-US" sz="1200" dirty="0"/>
          </a:p>
        </p:txBody>
      </p:sp>
      <p:sp>
        <p:nvSpPr>
          <p:cNvPr id="20" name="ln_367"/>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Kerri: But that's the problem. It's too big.</a:t>
            </a:r>
            <a:endParaRPr lang="en-US" sz="1200" dirty="0"/>
          </a:p>
        </p:txBody>
      </p:sp>
      <p:sp>
        <p:nvSpPr>
          <p:cNvPr id="21" name="ln_368"/>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Jenny: I don't think that's </a:t>
            </a:r>
            <a:pPr indent="0" marL="0">
              <a:buNone/>
            </a:pPr>
            <a:r>
              <a:rPr lang="en-US" sz="1200" b="1" dirty="0">
                <a:solidFill>
                  <a:srgbClr val="2EB872"/>
                </a:solidFill>
                <a:latin typeface="Georgia" pitchFamily="34" charset="0"/>
                <a:ea typeface="Georgia" pitchFamily="34" charset="-122"/>
                <a:cs typeface="Georgia" pitchFamily="34" charset="-120"/>
              </a:rPr>
              <a:t> (3) _____ </a:t>
            </a:r>
            <a:pPr indent="0" marL="0">
              <a:buNone/>
            </a:pPr>
            <a:r>
              <a:rPr lang="en-US" sz="1200" dirty="0">
                <a:solidFill>
                  <a:srgbClr val="1B2559"/>
                </a:solidFill>
                <a:latin typeface="Georgia" pitchFamily="34" charset="0"/>
                <a:ea typeface="Georgia" pitchFamily="34" charset="-122"/>
                <a:cs typeface="Georgia" pitchFamily="34" charset="-120"/>
              </a:rPr>
              <a:t>, Kerri. New Yorkers are very friendly.</a:t>
            </a:r>
            <a:endParaRPr lang="en-US" sz="1200" dirty="0"/>
          </a:p>
        </p:txBody>
      </p:sp>
      <p:sp>
        <p:nvSpPr>
          <p:cNvPr id="22" name="R3_lnA369"/>
          <p:cNvSpPr/>
          <p:nvPr/>
        </p:nvSpPr>
        <p:spPr>
          <a:xfrm>
            <a:off x="548640" y="356616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Jenny: I don't think that's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right</a:t>
            </a:r>
            <a:pPr indent="0" marL="0">
              <a:buNone/>
            </a:pPr>
            <a:r>
              <a:rPr lang="en-US" sz="1200" dirty="0">
                <a:solidFill>
                  <a:srgbClr val="1B2559"/>
                </a:solidFill>
                <a:latin typeface="Georgia" pitchFamily="34" charset="0"/>
                <a:ea typeface="Georgia" pitchFamily="34" charset="-122"/>
                <a:cs typeface="Georgia" pitchFamily="34" charset="-120"/>
              </a:rPr>
              <a:t>, Kerri. New Yorkers are very friendly.</a:t>
            </a:r>
            <a:endParaRPr lang="en-US" sz="1200" dirty="0"/>
          </a:p>
        </p:txBody>
      </p:sp>
      <p:sp>
        <p:nvSpPr>
          <p:cNvPr id="23" name="ln_370"/>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Kerri: Oh </a:t>
            </a:r>
            <a:pPr indent="0" marL="0">
              <a:buNone/>
            </a:pPr>
            <a:r>
              <a:rPr lang="en-US" sz="1200" b="1" dirty="0">
                <a:solidFill>
                  <a:srgbClr val="2EB872"/>
                </a:solidFill>
                <a:latin typeface="Georgia" pitchFamily="34" charset="0"/>
                <a:ea typeface="Georgia" pitchFamily="34" charset="-122"/>
                <a:cs typeface="Georgia" pitchFamily="34" charset="-120"/>
              </a:rPr>
              <a:t> (4) _____ </a:t>
            </a:r>
            <a:pPr indent="0" marL="0">
              <a:buNone/>
            </a:pPr>
            <a:r>
              <a:rPr lang="en-US" sz="1200" dirty="0">
                <a:solidFill>
                  <a:srgbClr val="1B2559"/>
                </a:solidFill>
                <a:latin typeface="Georgia" pitchFamily="34" charset="0"/>
                <a:ea typeface="Georgia" pitchFamily="34" charset="-122"/>
                <a:cs typeface="Georgia" pitchFamily="34" charset="-120"/>
              </a:rPr>
              <a:t>, they can sound friendly with all that 'Have a nice day' stuff.</a:t>
            </a:r>
            <a:endParaRPr lang="en-US" sz="1200" dirty="0"/>
          </a:p>
        </p:txBody>
      </p:sp>
      <p:sp>
        <p:nvSpPr>
          <p:cNvPr id="24" name="R4_lnA371"/>
          <p:cNvSpPr/>
          <p:nvPr/>
        </p:nvSpPr>
        <p:spPr>
          <a:xfrm>
            <a:off x="548640" y="4114800"/>
            <a:ext cx="5349240" cy="548640"/>
          </a:xfrm>
          <a:prstGeom prst="rect">
            <a:avLst/>
          </a:prstGeom>
          <a:solidFill>
            <a:srgbClr val="FFFFFF"/>
          </a:solidFill>
          <a:ln/>
        </p:spPr>
        <p:txBody>
          <a:bodyPr wrap="square" lIns="0" tIns="0" rIns="0" bIns="0" rtlCol="0" anchor="ctr">
            <a:normAutofit/>
          </a:bodyPr>
          <a:lstStyle/>
          <a:p>
            <a:pPr indent="0" marL="0">
              <a:buNone/>
            </a:pPr>
            <a:r>
              <a:rPr lang="en-US" sz="1200" dirty="0">
                <a:solidFill>
                  <a:srgbClr val="1B2559"/>
                </a:solidFill>
                <a:latin typeface="Georgia" pitchFamily="34" charset="0"/>
                <a:ea typeface="Georgia" pitchFamily="34" charset="-122"/>
                <a:cs typeface="Georgia" pitchFamily="34" charset="-120"/>
              </a:rPr>
              <a:t>Kerri: Oh </a:t>
            </a:r>
            <a:pPr indent="0" marL="0">
              <a:buNone/>
            </a:pPr>
            <a:r>
              <a:rPr lang="en-US" sz="1200" b="1" dirty="0">
                <a:solidFill>
                  <a:srgbClr val="1B2559"/>
                </a:solidFill>
                <a:highlight>
                  <a:srgbClr val="FFE066"/>
                </a:highlight>
                <a:latin typeface="Georgia" pitchFamily="34" charset="0"/>
                <a:ea typeface="Georgia" pitchFamily="34" charset="-122"/>
                <a:cs typeface="Georgia" pitchFamily="34" charset="-120"/>
              </a:rPr>
              <a:t>sure</a:t>
            </a:r>
            <a:pPr indent="0" marL="0">
              <a:buNone/>
            </a:pPr>
            <a:r>
              <a:rPr lang="en-US" sz="1200" dirty="0">
                <a:solidFill>
                  <a:srgbClr val="1B2559"/>
                </a:solidFill>
                <a:latin typeface="Georgia" pitchFamily="34" charset="0"/>
                <a:ea typeface="Georgia" pitchFamily="34" charset="-122"/>
                <a:cs typeface="Georgia" pitchFamily="34" charset="-120"/>
              </a:rPr>
              <a:t>, they can sound friendly with all that 'Have a nice day' stuff.</a:t>
            </a:r>
            <a:endParaRPr lang="en-US" sz="1200" dirty="0"/>
          </a:p>
        </p:txBody>
      </p:sp>
      <p:sp>
        <p:nvSpPr>
          <p:cNvPr id="25" name="ap_372"/>
          <p:cNvSpPr/>
          <p:nvPr/>
        </p:nvSpPr>
        <p:spPr>
          <a:xfrm>
            <a:off x="6263640" y="1417320"/>
            <a:ext cx="201168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3.30</a:t>
            </a:r>
            <a:endParaRPr lang="en-US" sz="1100" dirty="0"/>
          </a:p>
        </p:txBody>
      </p:sp>
      <p:sp>
        <p:nvSpPr>
          <p:cNvPr id="26" name="aw_373"/>
          <p:cNvSpPr/>
          <p:nvPr/>
        </p:nvSpPr>
        <p:spPr>
          <a:xfrm>
            <a:off x="6263640" y="1837944"/>
            <a:ext cx="219456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Play it from the book audio</a:t>
            </a:r>
            <a:endParaRPr lang="en-US" sz="900" dirty="0"/>
          </a:p>
        </p:txBody>
      </p:sp>
      <p:sp>
        <p:nvSpPr>
          <p:cNvPr id="27" name="pf_374"/>
          <p:cNvSpPr/>
          <p:nvPr/>
        </p:nvSpPr>
        <p:spPr>
          <a:xfrm rot="120000">
            <a:off x="6309360" y="2194560"/>
            <a:ext cx="2560320" cy="1554480"/>
          </a:xfrm>
          <a:prstGeom prst="roundRect">
            <a:avLst>
              <a:gd name="adj" fmla="val 100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8" name="phx_375"/>
          <p:cNvSpPr/>
          <p:nvPr/>
        </p:nvSpPr>
        <p:spPr>
          <a:xfrm>
            <a:off x="6355080" y="2240280"/>
            <a:ext cx="2468880" cy="14630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pe2-ny-waiter.jpg</a:t>
            </a:r>
            <a:endParaRPr lang="en-US" sz="900" dirty="0"/>
          </a:p>
        </p:txBody>
      </p:sp>
      <p:sp>
        <p:nvSpPr>
          <p:cNvPr id="29" name="cd_376"/>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30" name="ii_377"/>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1" name="ih_378"/>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32" name="il_379"/>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Oh sure… = ironic here!</a:t>
            </a:r>
            <a:endParaRPr lang="en-US" sz="1000" dirty="0"/>
          </a:p>
          <a:p>
            <a:pPr marL="152400" indent="-152400">
              <a:spcBef>
                <a:spcPts val="500"/>
              </a:spcBef>
              <a:spcAft>
                <a:spcPts val="200"/>
              </a:spcAft>
              <a:buSzPct val="100000"/>
              <a:buChar char="•"/>
            </a:pPr>
            <a:r>
              <a:rPr lang="en-US" sz="1000" dirty="0">
                <a:solidFill>
                  <a:srgbClr val="1B2559"/>
                </a:solidFill>
                <a:latin typeface="Segoe UI" pitchFamily="34" charset="0"/>
                <a:ea typeface="Segoe UI" pitchFamily="34" charset="-122"/>
                <a:cs typeface="Segoe UI" pitchFamily="34" charset="-120"/>
              </a:rPr>
              <a:t>= I DON'T agree</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8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81"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382"/>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What's the job?</a:t>
            </a:r>
            <a:endParaRPr lang="en-US" sz="2500" dirty="0"/>
          </a:p>
        </p:txBody>
      </p:sp>
      <p:pic>
        <p:nvPicPr>
          <p:cNvPr id="6" name="brP_383"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384"/>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Giving, agreeing or disagreeing? Match.</a:t>
            </a:r>
            <a:endParaRPr lang="en-US" sz="1250" dirty="0"/>
          </a:p>
        </p:txBody>
      </p:sp>
      <p:sp>
        <p:nvSpPr>
          <p:cNvPr id="8" name="insIT_38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Dare un'opinione, essere d'accordo o no? Abbina.</a:t>
            </a:r>
            <a:endParaRPr lang="en-US" sz="950" dirty="0"/>
          </a:p>
        </p:txBody>
      </p:sp>
      <p:sp>
        <p:nvSpPr>
          <p:cNvPr id="9" name="cmd_386"/>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MATCH</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ABBINA</a:t>
            </a:r>
            <a:endParaRPr lang="en-US" sz="1100" dirty="0"/>
          </a:p>
        </p:txBody>
      </p:sp>
      <p:sp>
        <p:nvSpPr>
          <p:cNvPr id="10" name="meta_38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pic>
        <p:nvPicPr>
          <p:cNvPr id="11" name="logo_38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38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Function · the opinions chart   ·   📖 SB p.35 · 2c highlighted phrases · script 3.29</a:t>
            </a:r>
            <a:endParaRPr lang="en-US" sz="800" dirty="0"/>
          </a:p>
        </p:txBody>
      </p:sp>
      <p:sp>
        <p:nvSpPr>
          <p:cNvPr id="13" name="cd_390"/>
          <p:cNvSpPr/>
          <p:nvPr/>
        </p:nvSpPr>
        <p:spPr>
          <a:xfrm>
            <a:off x="320040" y="1417320"/>
            <a:ext cx="2697480" cy="1911096"/>
          </a:xfrm>
          <a:prstGeom prst="roundRect">
            <a:avLst>
              <a:gd name="adj" fmla="val 6699"/>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4" name="ii_39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5" name="ih_392"/>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What does it do?</a:t>
            </a:r>
            <a:endParaRPr lang="en-US" sz="1300" dirty="0"/>
          </a:p>
        </p:txBody>
      </p:sp>
      <p:sp>
        <p:nvSpPr>
          <p:cNvPr id="16" name="il_393"/>
          <p:cNvSpPr/>
          <p:nvPr/>
        </p:nvSpPr>
        <p:spPr>
          <a:xfrm>
            <a:off x="886968" y="1892808"/>
            <a:ext cx="2039112" cy="1362456"/>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7" name="lg_394"/>
          <p:cNvSpPr/>
          <p:nvPr/>
        </p:nvSpPr>
        <p:spPr>
          <a:xfrm>
            <a:off x="457200" y="1984248"/>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giving</a:t>
            </a:r>
            <a:endParaRPr lang="en-US" sz="1050" dirty="0"/>
          </a:p>
        </p:txBody>
      </p:sp>
      <p:sp>
        <p:nvSpPr>
          <p:cNvPr id="18" name="lg_395"/>
          <p:cNvSpPr/>
          <p:nvPr/>
        </p:nvSpPr>
        <p:spPr>
          <a:xfrm>
            <a:off x="1719072"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asking</a:t>
            </a:r>
            <a:endParaRPr lang="en-US" sz="1050" dirty="0"/>
          </a:p>
        </p:txBody>
      </p:sp>
      <p:sp>
        <p:nvSpPr>
          <p:cNvPr id="19" name="lg_396"/>
          <p:cNvSpPr/>
          <p:nvPr/>
        </p:nvSpPr>
        <p:spPr>
          <a:xfrm>
            <a:off x="457200" y="2368296"/>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agreeing</a:t>
            </a:r>
            <a:endParaRPr lang="en-US" sz="1050" dirty="0"/>
          </a:p>
        </p:txBody>
      </p:sp>
      <p:sp>
        <p:nvSpPr>
          <p:cNvPr id="20" name="lg_397"/>
          <p:cNvSpPr/>
          <p:nvPr/>
        </p:nvSpPr>
        <p:spPr>
          <a:xfrm>
            <a:off x="1719072" y="2368296"/>
            <a:ext cx="1188720" cy="310896"/>
          </a:xfrm>
          <a:prstGeom prst="roundRect">
            <a:avLst>
              <a:gd name="adj" fmla="val 50000"/>
            </a:avLst>
          </a:prstGeom>
          <a:solidFill>
            <a:srgbClr val="FFD966"/>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disagreeing</a:t>
            </a:r>
            <a:endParaRPr lang="en-US" sz="1050" dirty="0"/>
          </a:p>
        </p:txBody>
      </p:sp>
      <p:sp>
        <p:nvSpPr>
          <p:cNvPr id="21" name="sq_398"/>
          <p:cNvSpPr/>
          <p:nvPr/>
        </p:nvSpPr>
        <p:spPr>
          <a:xfrm>
            <a:off x="3246120" y="1417320"/>
            <a:ext cx="3840480" cy="301752"/>
          </a:xfrm>
          <a:prstGeom prst="roundRect">
            <a:avLst>
              <a:gd name="adj" fmla="val 3030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Personally, I think…</a:t>
            </a:r>
            <a:endParaRPr lang="en-US" sz="1200" dirty="0"/>
          </a:p>
        </p:txBody>
      </p:sp>
      <p:sp>
        <p:nvSpPr>
          <p:cNvPr id="22" name="R1_tag399"/>
          <p:cNvSpPr/>
          <p:nvPr/>
        </p:nvSpPr>
        <p:spPr>
          <a:xfrm>
            <a:off x="7178040" y="1417320"/>
            <a:ext cx="1691640" cy="301752"/>
          </a:xfrm>
          <a:prstGeom prst="roundRect">
            <a:avLst>
              <a:gd name="adj" fmla="val 75758"/>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giving</a:t>
            </a:r>
            <a:endParaRPr lang="en-US" sz="1150" dirty="0"/>
          </a:p>
        </p:txBody>
      </p:sp>
      <p:sp>
        <p:nvSpPr>
          <p:cNvPr id="23" name="sq_400"/>
          <p:cNvSpPr/>
          <p:nvPr/>
        </p:nvSpPr>
        <p:spPr>
          <a:xfrm>
            <a:off x="3246120" y="1783080"/>
            <a:ext cx="3840480" cy="301752"/>
          </a:xfrm>
          <a:prstGeom prst="roundRect">
            <a:avLst>
              <a:gd name="adj" fmla="val 30303"/>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In my opinion…</a:t>
            </a:r>
            <a:endParaRPr lang="en-US" sz="1200" dirty="0"/>
          </a:p>
        </p:txBody>
      </p:sp>
      <p:sp>
        <p:nvSpPr>
          <p:cNvPr id="24" name="R2_tag401"/>
          <p:cNvSpPr/>
          <p:nvPr/>
        </p:nvSpPr>
        <p:spPr>
          <a:xfrm>
            <a:off x="7178040" y="1783080"/>
            <a:ext cx="1691640" cy="301752"/>
          </a:xfrm>
          <a:prstGeom prst="roundRect">
            <a:avLst>
              <a:gd name="adj" fmla="val 75758"/>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giving</a:t>
            </a:r>
            <a:endParaRPr lang="en-US" sz="1150" dirty="0"/>
          </a:p>
        </p:txBody>
      </p:sp>
      <p:sp>
        <p:nvSpPr>
          <p:cNvPr id="25" name="sq_402"/>
          <p:cNvSpPr/>
          <p:nvPr/>
        </p:nvSpPr>
        <p:spPr>
          <a:xfrm>
            <a:off x="3246120" y="2148840"/>
            <a:ext cx="3840480" cy="301752"/>
          </a:xfrm>
          <a:prstGeom prst="roundRect">
            <a:avLst>
              <a:gd name="adj" fmla="val 30303"/>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If you ask me…</a:t>
            </a:r>
            <a:endParaRPr lang="en-US" sz="1200" dirty="0"/>
          </a:p>
        </p:txBody>
      </p:sp>
      <p:sp>
        <p:nvSpPr>
          <p:cNvPr id="26" name="R3_tag403"/>
          <p:cNvSpPr/>
          <p:nvPr/>
        </p:nvSpPr>
        <p:spPr>
          <a:xfrm>
            <a:off x="7178040" y="2148840"/>
            <a:ext cx="1691640" cy="301752"/>
          </a:xfrm>
          <a:prstGeom prst="roundRect">
            <a:avLst>
              <a:gd name="adj" fmla="val 75758"/>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giving</a:t>
            </a:r>
            <a:endParaRPr lang="en-US" sz="1150" dirty="0"/>
          </a:p>
        </p:txBody>
      </p:sp>
      <p:sp>
        <p:nvSpPr>
          <p:cNvPr id="27" name="sq_404"/>
          <p:cNvSpPr/>
          <p:nvPr/>
        </p:nvSpPr>
        <p:spPr>
          <a:xfrm>
            <a:off x="3246120" y="2514600"/>
            <a:ext cx="3840480" cy="301752"/>
          </a:xfrm>
          <a:prstGeom prst="roundRect">
            <a:avLst>
              <a:gd name="adj" fmla="val 30303"/>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To be honest…</a:t>
            </a:r>
            <a:endParaRPr lang="en-US" sz="1200" dirty="0"/>
          </a:p>
        </p:txBody>
      </p:sp>
      <p:sp>
        <p:nvSpPr>
          <p:cNvPr id="28" name="R4_tag405"/>
          <p:cNvSpPr/>
          <p:nvPr/>
        </p:nvSpPr>
        <p:spPr>
          <a:xfrm>
            <a:off x="7178040" y="2514600"/>
            <a:ext cx="1691640" cy="301752"/>
          </a:xfrm>
          <a:prstGeom prst="roundRect">
            <a:avLst>
              <a:gd name="adj" fmla="val 75758"/>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giving</a:t>
            </a:r>
            <a:endParaRPr lang="en-US" sz="1150" dirty="0"/>
          </a:p>
        </p:txBody>
      </p:sp>
      <p:sp>
        <p:nvSpPr>
          <p:cNvPr id="29" name="sq_406"/>
          <p:cNvSpPr/>
          <p:nvPr/>
        </p:nvSpPr>
        <p:spPr>
          <a:xfrm>
            <a:off x="3246120" y="2880360"/>
            <a:ext cx="3840480" cy="301752"/>
          </a:xfrm>
          <a:prstGeom prst="roundRect">
            <a:avLst>
              <a:gd name="adj" fmla="val 3030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Don't you agree?</a:t>
            </a:r>
            <a:endParaRPr lang="en-US" sz="1200" dirty="0"/>
          </a:p>
        </p:txBody>
      </p:sp>
      <p:sp>
        <p:nvSpPr>
          <p:cNvPr id="30" name="R5_tag407"/>
          <p:cNvSpPr/>
          <p:nvPr/>
        </p:nvSpPr>
        <p:spPr>
          <a:xfrm>
            <a:off x="7178040" y="2880360"/>
            <a:ext cx="1691640" cy="301752"/>
          </a:xfrm>
          <a:prstGeom prst="roundRect">
            <a:avLst>
              <a:gd name="adj" fmla="val 75758"/>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asking</a:t>
            </a:r>
            <a:endParaRPr lang="en-US" sz="1150" dirty="0"/>
          </a:p>
        </p:txBody>
      </p:sp>
      <p:sp>
        <p:nvSpPr>
          <p:cNvPr id="31" name="sq_408"/>
          <p:cNvSpPr/>
          <p:nvPr/>
        </p:nvSpPr>
        <p:spPr>
          <a:xfrm>
            <a:off x="3246120" y="3246120"/>
            <a:ext cx="3840480" cy="301752"/>
          </a:xfrm>
          <a:prstGeom prst="roundRect">
            <a:avLst>
              <a:gd name="adj" fmla="val 30303"/>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What do you think?</a:t>
            </a:r>
            <a:endParaRPr lang="en-US" sz="1200" dirty="0"/>
          </a:p>
        </p:txBody>
      </p:sp>
      <p:sp>
        <p:nvSpPr>
          <p:cNvPr id="32" name="R6_tag409"/>
          <p:cNvSpPr/>
          <p:nvPr/>
        </p:nvSpPr>
        <p:spPr>
          <a:xfrm>
            <a:off x="7178040" y="3246120"/>
            <a:ext cx="1691640" cy="301752"/>
          </a:xfrm>
          <a:prstGeom prst="roundRect">
            <a:avLst>
              <a:gd name="adj" fmla="val 75758"/>
            </a:avLst>
          </a:prstGeom>
          <a:solidFill>
            <a:srgbClr val="8FC9F2"/>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asking</a:t>
            </a:r>
            <a:endParaRPr lang="en-US" sz="1150" dirty="0"/>
          </a:p>
        </p:txBody>
      </p:sp>
      <p:sp>
        <p:nvSpPr>
          <p:cNvPr id="33" name="sq_410"/>
          <p:cNvSpPr/>
          <p:nvPr/>
        </p:nvSpPr>
        <p:spPr>
          <a:xfrm>
            <a:off x="3246120" y="3611880"/>
            <a:ext cx="3840480" cy="301752"/>
          </a:xfrm>
          <a:prstGeom prst="roundRect">
            <a:avLst>
              <a:gd name="adj" fmla="val 30303"/>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OK, I agree.</a:t>
            </a:r>
            <a:endParaRPr lang="en-US" sz="1200" dirty="0"/>
          </a:p>
        </p:txBody>
      </p:sp>
      <p:sp>
        <p:nvSpPr>
          <p:cNvPr id="34" name="R7_tag411"/>
          <p:cNvSpPr/>
          <p:nvPr/>
        </p:nvSpPr>
        <p:spPr>
          <a:xfrm>
            <a:off x="7178040" y="3611880"/>
            <a:ext cx="1691640" cy="301752"/>
          </a:xfrm>
          <a:prstGeom prst="roundRect">
            <a:avLst>
              <a:gd name="adj" fmla="val 75758"/>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agreeing</a:t>
            </a:r>
            <a:endParaRPr lang="en-US" sz="1150" dirty="0"/>
          </a:p>
        </p:txBody>
      </p:sp>
      <p:sp>
        <p:nvSpPr>
          <p:cNvPr id="35" name="sq_412"/>
          <p:cNvSpPr/>
          <p:nvPr/>
        </p:nvSpPr>
        <p:spPr>
          <a:xfrm>
            <a:off x="3246120" y="3977640"/>
            <a:ext cx="3840480" cy="301752"/>
          </a:xfrm>
          <a:prstGeom prst="roundRect">
            <a:avLst>
              <a:gd name="adj" fmla="val 30303"/>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I don't think that's right.</a:t>
            </a:r>
            <a:endParaRPr lang="en-US" sz="1200" dirty="0"/>
          </a:p>
        </p:txBody>
      </p:sp>
      <p:sp>
        <p:nvSpPr>
          <p:cNvPr id="36" name="R8_tag413"/>
          <p:cNvSpPr/>
          <p:nvPr/>
        </p:nvSpPr>
        <p:spPr>
          <a:xfrm>
            <a:off x="7178040" y="3977640"/>
            <a:ext cx="1691640" cy="301752"/>
          </a:xfrm>
          <a:prstGeom prst="roundRect">
            <a:avLst>
              <a:gd name="adj" fmla="val 75758"/>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disagreeing</a:t>
            </a:r>
            <a:endParaRPr lang="en-US" sz="1150" dirty="0"/>
          </a:p>
        </p:txBody>
      </p:sp>
      <p:sp>
        <p:nvSpPr>
          <p:cNvPr id="37" name="sq_414"/>
          <p:cNvSpPr/>
          <p:nvPr/>
        </p:nvSpPr>
        <p:spPr>
          <a:xfrm>
            <a:off x="3246120" y="4343400"/>
            <a:ext cx="3840480" cy="301752"/>
          </a:xfrm>
          <a:prstGeom prst="roundRect">
            <a:avLst>
              <a:gd name="adj" fmla="val 30303"/>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You can't be serious!</a:t>
            </a:r>
            <a:endParaRPr lang="en-US" sz="1200" dirty="0"/>
          </a:p>
        </p:txBody>
      </p:sp>
      <p:sp>
        <p:nvSpPr>
          <p:cNvPr id="38" name="R9_tag415"/>
          <p:cNvSpPr/>
          <p:nvPr/>
        </p:nvSpPr>
        <p:spPr>
          <a:xfrm>
            <a:off x="7178040" y="4343400"/>
            <a:ext cx="1691640" cy="301752"/>
          </a:xfrm>
          <a:prstGeom prst="roundRect">
            <a:avLst>
              <a:gd name="adj" fmla="val 75758"/>
            </a:avLst>
          </a:prstGeom>
          <a:solidFill>
            <a:srgbClr val="FFD966"/>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disagreeing</a:t>
            </a:r>
            <a:endParaRPr lang="en-US" sz="1150" dirty="0"/>
          </a:p>
        </p:txBody>
      </p:sp>
      <p:sp>
        <p:nvSpPr>
          <p:cNvPr id="39" name="pf_416"/>
          <p:cNvSpPr/>
          <p:nvPr/>
        </p:nvSpPr>
        <p:spPr>
          <a:xfrm rot="-120000">
            <a:off x="411480" y="3703320"/>
            <a:ext cx="2514600" cy="1051560"/>
          </a:xfrm>
          <a:prstGeom prst="roundRect">
            <a:avLst>
              <a:gd name="adj" fmla="val 1478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40" name="phx_417"/>
          <p:cNvSpPr/>
          <p:nvPr/>
        </p:nvSpPr>
        <p:spPr>
          <a:xfrm>
            <a:off x="457200" y="3749040"/>
            <a:ext cx="2423160" cy="96012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pe2-lunch.jpg</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4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fade">
                                      <p:cBhvr>
                                        <p:cTn id="32" dur="4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4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6"/>
                                        </p:tgtEl>
                                        <p:attrNameLst>
                                          <p:attrName>style.visibility</p:attrName>
                                        </p:attrNameLst>
                                      </p:cBhvr>
                                      <p:to>
                                        <p:strVal val="visible"/>
                                      </p:to>
                                    </p:set>
                                    <p:animEffect transition="in" filter="fade">
                                      <p:cBhvr>
                                        <p:cTn id="42" dur="400"/>
                                        <p:tgtEl>
                                          <p:spTgt spid="3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8"/>
                                        </p:tgtEl>
                                        <p:attrNameLst>
                                          <p:attrName>style.visibility</p:attrName>
                                        </p:attrNameLst>
                                      </p:cBhvr>
                                      <p:to>
                                        <p:strVal val="visible"/>
                                      </p:to>
                                    </p:set>
                                    <p:animEffect transition="in" filter="fade">
                                      <p:cBhvr>
                                        <p:cTn id="47"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18"/>
          <p:cNvSpPr/>
          <p:nvPr/>
        </p:nvSpPr>
        <p:spPr>
          <a:xfrm>
            <a:off x="201168" y="164592"/>
            <a:ext cx="841248" cy="841248"/>
          </a:xfrm>
          <a:prstGeom prst="ellipse">
            <a:avLst/>
          </a:prstGeom>
          <a:solidFill>
            <a:srgbClr val="7B5CD6"/>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419"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420"/>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Copy the music!</a:t>
            </a:r>
            <a:endParaRPr lang="en-US" sz="2500" dirty="0"/>
          </a:p>
        </p:txBody>
      </p:sp>
      <p:pic>
        <p:nvPicPr>
          <p:cNvPr id="6" name="brP_421"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422"/>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Copy the rhythm and the music!</a:t>
            </a:r>
            <a:endParaRPr lang="en-US" sz="1250" dirty="0"/>
          </a:p>
        </p:txBody>
      </p:sp>
      <p:sp>
        <p:nvSpPr>
          <p:cNvPr id="8" name="insIT_42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Copia il ritmo e la musica!</a:t>
            </a:r>
            <a:endParaRPr lang="en-US" sz="950" dirty="0"/>
          </a:p>
        </p:txBody>
      </p:sp>
      <p:sp>
        <p:nvSpPr>
          <p:cNvPr id="9" name="cmd_424"/>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425"/>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1" name="meta_426"/>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sp>
        <p:nvSpPr>
          <p:cNvPr id="12" name="tag_427"/>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Pronunciation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Drilling</a:t>
            </a:r>
            <a:endParaRPr lang="en-US" sz="850" dirty="0"/>
          </a:p>
        </p:txBody>
      </p:sp>
      <p:pic>
        <p:nvPicPr>
          <p:cNvPr id="13" name="logo_42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42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Pronunciation · rhythm and intonation   ·   📖 SB p.35 · 2d, 2e · video listen and repeat / audio 3.31</a:t>
            </a:r>
            <a:endParaRPr lang="en-US" sz="800" dirty="0"/>
          </a:p>
        </p:txBody>
      </p:sp>
      <p:sp>
        <p:nvSpPr>
          <p:cNvPr id="15" name="ap_430"/>
          <p:cNvSpPr/>
          <p:nvPr/>
        </p:nvSpPr>
        <p:spPr>
          <a:xfrm>
            <a:off x="365760" y="1417320"/>
            <a:ext cx="233172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3.31  ·  pause after each phrase</a:t>
            </a:r>
            <a:endParaRPr lang="en-US" sz="1100" dirty="0"/>
          </a:p>
        </p:txBody>
      </p:sp>
      <p:sp>
        <p:nvSpPr>
          <p:cNvPr id="16" name="aw_431"/>
          <p:cNvSpPr/>
          <p:nvPr/>
        </p:nvSpPr>
        <p:spPr>
          <a:xfrm>
            <a:off x="365760" y="1837944"/>
            <a:ext cx="233172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Play it from the book audio</a:t>
            </a:r>
            <a:endParaRPr lang="en-US" sz="900" dirty="0"/>
          </a:p>
        </p:txBody>
      </p:sp>
      <p:sp>
        <p:nvSpPr>
          <p:cNvPr id="17" name="cd_432"/>
          <p:cNvSpPr/>
          <p:nvPr/>
        </p:nvSpPr>
        <p:spPr>
          <a:xfrm>
            <a:off x="320040" y="2011680"/>
            <a:ext cx="2743200" cy="1463040"/>
          </a:xfrm>
          <a:prstGeom prst="roundRect">
            <a:avLst>
              <a:gd name="adj" fmla="val 8750"/>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8" name="ii_433"/>
          <p:cNvSpPr/>
          <p:nvPr/>
        </p:nvSpPr>
        <p:spPr>
          <a:xfrm>
            <a:off x="411480" y="20848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434"/>
          <p:cNvSpPr/>
          <p:nvPr/>
        </p:nvSpPr>
        <p:spPr>
          <a:xfrm>
            <a:off x="886968" y="2103120"/>
            <a:ext cx="210312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Sound sure – and friendly!</a:t>
            </a:r>
            <a:endParaRPr lang="en-US" sz="1200" dirty="0"/>
          </a:p>
        </p:txBody>
      </p:sp>
      <p:sp>
        <p:nvSpPr>
          <p:cNvPr id="20" name="il_435"/>
          <p:cNvSpPr/>
          <p:nvPr/>
        </p:nvSpPr>
        <p:spPr>
          <a:xfrm>
            <a:off x="886968" y="2487168"/>
            <a:ext cx="2084832" cy="91440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Stress the big syllable: PERsonally</a:t>
            </a:r>
            <a:endParaRPr lang="en-US" sz="950" dirty="0"/>
          </a:p>
          <a:p>
            <a:pPr marL="152400" indent="-152400">
              <a:spcBef>
                <a:spcPts val="500"/>
              </a:spcBef>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Questions: sound friendly, not angry!</a:t>
            </a:r>
            <a:endParaRPr lang="en-US" sz="950" dirty="0"/>
          </a:p>
          <a:p>
            <a:pPr marL="152400" indent="-152400">
              <a:spcBef>
                <a:spcPts val="500"/>
              </a:spcBef>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Oh SURE… = slow and ironic</a:t>
            </a:r>
            <a:endParaRPr lang="en-US" sz="950" dirty="0"/>
          </a:p>
        </p:txBody>
      </p:sp>
      <p:sp>
        <p:nvSpPr>
          <p:cNvPr id="21" name="pf_436"/>
          <p:cNvSpPr/>
          <p:nvPr/>
        </p:nvSpPr>
        <p:spPr>
          <a:xfrm rot="-120000">
            <a:off x="777240" y="3611880"/>
            <a:ext cx="182880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2" name="phx_437"/>
          <p:cNvSpPr/>
          <p:nvPr/>
        </p:nvSpPr>
        <p:spPr>
          <a:xfrm>
            <a:off x="822960" y="3657600"/>
            <a:ext cx="1737360" cy="10515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pe2-cover.jpg</a:t>
            </a:r>
            <a:endParaRPr lang="en-US" sz="900" dirty="0"/>
          </a:p>
        </p:txBody>
      </p:sp>
      <p:sp>
        <p:nvSpPr>
          <p:cNvPr id="23" name="bd_438"/>
          <p:cNvSpPr/>
          <p:nvPr/>
        </p:nvSpPr>
        <p:spPr>
          <a:xfrm>
            <a:off x="3291840" y="144475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4" name="R1_sw439"/>
          <p:cNvSpPr/>
          <p:nvPr/>
        </p:nvSpPr>
        <p:spPr>
          <a:xfrm>
            <a:off x="3749040" y="141732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PERsonally</a:t>
            </a:r>
            <a:endParaRPr lang="en-US" sz="1150" dirty="0"/>
          </a:p>
        </p:txBody>
      </p:sp>
      <p:sp>
        <p:nvSpPr>
          <p:cNvPr id="25" name="R1_sw440"/>
          <p:cNvSpPr/>
          <p:nvPr/>
        </p:nvSpPr>
        <p:spPr>
          <a:xfrm>
            <a:off x="4773168" y="1417320"/>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THINK</a:t>
            </a:r>
            <a:endParaRPr lang="en-US" sz="1150" dirty="0"/>
          </a:p>
        </p:txBody>
      </p:sp>
      <p:sp>
        <p:nvSpPr>
          <p:cNvPr id="26" name="R2_sf441"/>
          <p:cNvSpPr/>
          <p:nvPr/>
        </p:nvSpPr>
        <p:spPr>
          <a:xfrm>
            <a:off x="3749040" y="1810512"/>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Personally, I think…</a:t>
            </a:r>
            <a:endParaRPr lang="en-US" sz="1100" dirty="0"/>
          </a:p>
        </p:txBody>
      </p:sp>
      <p:sp>
        <p:nvSpPr>
          <p:cNvPr id="27" name="bd_442"/>
          <p:cNvSpPr/>
          <p:nvPr/>
        </p:nvSpPr>
        <p:spPr>
          <a:xfrm>
            <a:off x="3291840" y="211226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8" name="R3_sw443"/>
          <p:cNvSpPr/>
          <p:nvPr/>
        </p:nvSpPr>
        <p:spPr>
          <a:xfrm>
            <a:off x="3749040" y="2084832"/>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oPINion</a:t>
            </a:r>
            <a:endParaRPr lang="en-US" sz="1150" dirty="0"/>
          </a:p>
        </p:txBody>
      </p:sp>
      <p:sp>
        <p:nvSpPr>
          <p:cNvPr id="29" name="R4_sf444"/>
          <p:cNvSpPr/>
          <p:nvPr/>
        </p:nvSpPr>
        <p:spPr>
          <a:xfrm>
            <a:off x="3749040" y="2478024"/>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But in my opinion…</a:t>
            </a:r>
            <a:endParaRPr lang="en-US" sz="1100" dirty="0"/>
          </a:p>
        </p:txBody>
      </p:sp>
      <p:sp>
        <p:nvSpPr>
          <p:cNvPr id="30" name="bd_445"/>
          <p:cNvSpPr/>
          <p:nvPr/>
        </p:nvSpPr>
        <p:spPr>
          <a:xfrm>
            <a:off x="3291840" y="2779776"/>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31" name="R5_sw446"/>
          <p:cNvSpPr/>
          <p:nvPr/>
        </p:nvSpPr>
        <p:spPr>
          <a:xfrm>
            <a:off x="3749040" y="2752344"/>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HOnest</a:t>
            </a:r>
            <a:endParaRPr lang="en-US" sz="1150" dirty="0"/>
          </a:p>
        </p:txBody>
      </p:sp>
      <p:sp>
        <p:nvSpPr>
          <p:cNvPr id="32" name="R6_sf447"/>
          <p:cNvSpPr/>
          <p:nvPr/>
        </p:nvSpPr>
        <p:spPr>
          <a:xfrm>
            <a:off x="3749040" y="3145536"/>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To be honest…</a:t>
            </a:r>
            <a:endParaRPr lang="en-US" sz="1100" dirty="0"/>
          </a:p>
        </p:txBody>
      </p:sp>
      <p:sp>
        <p:nvSpPr>
          <p:cNvPr id="33" name="bd_448"/>
          <p:cNvSpPr/>
          <p:nvPr/>
        </p:nvSpPr>
        <p:spPr>
          <a:xfrm>
            <a:off x="3291840" y="344728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4" name="R7_sw449"/>
          <p:cNvSpPr/>
          <p:nvPr/>
        </p:nvSpPr>
        <p:spPr>
          <a:xfrm>
            <a:off x="3749040" y="3419856"/>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aGREE</a:t>
            </a:r>
            <a:endParaRPr lang="en-US" sz="1150" dirty="0"/>
          </a:p>
        </p:txBody>
      </p:sp>
      <p:sp>
        <p:nvSpPr>
          <p:cNvPr id="35" name="R7_sw450"/>
          <p:cNvSpPr/>
          <p:nvPr/>
        </p:nvSpPr>
        <p:spPr>
          <a:xfrm>
            <a:off x="4773168" y="3419856"/>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THINK</a:t>
            </a:r>
            <a:endParaRPr lang="en-US" sz="1150" dirty="0"/>
          </a:p>
        </p:txBody>
      </p:sp>
      <p:sp>
        <p:nvSpPr>
          <p:cNvPr id="36" name="R8_sf451"/>
          <p:cNvSpPr/>
          <p:nvPr/>
        </p:nvSpPr>
        <p:spPr>
          <a:xfrm>
            <a:off x="3749040" y="3813048"/>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Don't you agree? · What do you think?</a:t>
            </a:r>
            <a:endParaRPr lang="en-US" sz="1100" dirty="0"/>
          </a:p>
        </p:txBody>
      </p:sp>
      <p:sp>
        <p:nvSpPr>
          <p:cNvPr id="37" name="bd_452"/>
          <p:cNvSpPr/>
          <p:nvPr/>
        </p:nvSpPr>
        <p:spPr>
          <a:xfrm>
            <a:off x="3291840" y="4114800"/>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8" name="R9_sw453"/>
          <p:cNvSpPr/>
          <p:nvPr/>
        </p:nvSpPr>
        <p:spPr>
          <a:xfrm>
            <a:off x="3749040" y="4087368"/>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RIGHT</a:t>
            </a:r>
            <a:endParaRPr lang="en-US" sz="1150" dirty="0"/>
          </a:p>
        </p:txBody>
      </p:sp>
      <p:sp>
        <p:nvSpPr>
          <p:cNvPr id="39" name="R9_sw454"/>
          <p:cNvSpPr/>
          <p:nvPr/>
        </p:nvSpPr>
        <p:spPr>
          <a:xfrm>
            <a:off x="4773168" y="4087368"/>
            <a:ext cx="960120" cy="365760"/>
          </a:xfrm>
          <a:prstGeom prst="roundRect">
            <a:avLst>
              <a:gd name="adj" fmla="val 25000"/>
            </a:avLst>
          </a:prstGeom>
          <a:solidFill>
            <a:srgbClr val="FFE3EE"/>
          </a:solidFill>
          <a:ln w="19050">
            <a:solidFill>
              <a:srgbClr val="E8508F"/>
            </a:solidFill>
          </a:ln>
        </p:spPr>
        <p:txBody>
          <a:bodyPr wrap="square" lIns="0" tIns="0" rIns="0" bIns="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ASK</a:t>
            </a:r>
            <a:endParaRPr lang="en-US" sz="1150" dirty="0"/>
          </a:p>
        </p:txBody>
      </p:sp>
      <p:sp>
        <p:nvSpPr>
          <p:cNvPr id="40" name="R10_sf455"/>
          <p:cNvSpPr/>
          <p:nvPr/>
        </p:nvSpPr>
        <p:spPr>
          <a:xfrm>
            <a:off x="3749040" y="4480560"/>
            <a:ext cx="5120640" cy="274320"/>
          </a:xfrm>
          <a:prstGeom prst="rect">
            <a:avLst/>
          </a:prstGeom>
          <a:noFill/>
          <a:ln/>
        </p:spPr>
        <p:txBody>
          <a:bodyPr wrap="square" lIns="0" tIns="0" rIns="0" bIns="0" rtlCol="0" anchor="ctr"/>
          <a:lstStyle/>
          <a:p>
            <a:pPr indent="0" marL="0">
              <a:buNone/>
            </a:pPr>
            <a:r>
              <a:rPr lang="en-US" sz="1100" i="1" dirty="0">
                <a:solidFill>
                  <a:srgbClr val="7B5CD6"/>
                </a:solidFill>
                <a:latin typeface="Segoe UI Semibold" pitchFamily="34" charset="0"/>
                <a:ea typeface="Segoe UI Semibold" pitchFamily="34" charset="-122"/>
                <a:cs typeface="Segoe UI Semibold" pitchFamily="34" charset="-120"/>
              </a:rPr>
              <a:t>I don't think that's right. · But if you ask me…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400"/>
                                        <p:tgtEl>
                                          <p:spTgt spid="2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4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400"/>
                                        <p:tgtEl>
                                          <p:spTgt spid="2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4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400"/>
                                        <p:tgtEl>
                                          <p:spTgt spid="3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fade">
                                      <p:cBhvr>
                                        <p:cTn id="35" dur="400"/>
                                        <p:tgtEl>
                                          <p:spTgt spid="3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400"/>
                                        <p:tgtEl>
                                          <p:spTgt spid="34"/>
                                        </p:tgtEl>
                                      </p:cBhvr>
                                    </p:animEffect>
                                  </p:childTnLst>
                                </p:cTn>
                              </p:par>
                              <p:par>
                                <p:cTn id="41" presetID="10" presetClass="entr" presetSubtype="0" fill="hold" nodeType="with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4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400"/>
                                        <p:tgtEl>
                                          <p:spTgt spid="36"/>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400"/>
                                        <p:tgtEl>
                                          <p:spTgt spid="38"/>
                                        </p:tgtEl>
                                      </p:cBhvr>
                                    </p:animEffect>
                                  </p:childTnLst>
                                </p:cTn>
                              </p:par>
                              <p:par>
                                <p:cTn id="54" presetID="10" presetClass="entr" presetSubtype="0" fill="hold" nodeType="with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fade">
                                      <p:cBhvr>
                                        <p:cTn id="56" dur="400"/>
                                        <p:tgtEl>
                                          <p:spTgt spid="3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40"/>
                                        </p:tgtEl>
                                        <p:attrNameLst>
                                          <p:attrName>style.visibility</p:attrName>
                                        </p:attrNameLst>
                                      </p:cBhvr>
                                      <p:to>
                                        <p:strVal val="visible"/>
                                      </p:to>
                                    </p:set>
                                    <p:animEffect transition="in" filter="fade">
                                      <p:cBhvr>
                                        <p:cTn id="61"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56"/>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457"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458"/>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Say what you think</a:t>
            </a:r>
            <a:endParaRPr lang="en-US" sz="2500" dirty="0"/>
          </a:p>
        </p:txBody>
      </p:sp>
      <p:pic>
        <p:nvPicPr>
          <p:cNvPr id="6" name="brP_459"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460"/>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phrases. Say them in Italian.</a:t>
            </a:r>
            <a:endParaRPr lang="en-US" sz="1250" dirty="0"/>
          </a:p>
        </p:txBody>
      </p:sp>
      <p:sp>
        <p:nvSpPr>
          <p:cNvPr id="8" name="insIT_46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Leggi le frasi. Dille in italiano.</a:t>
            </a:r>
            <a:endParaRPr lang="en-US" sz="950" dirty="0"/>
          </a:p>
        </p:txBody>
      </p:sp>
      <p:sp>
        <p:nvSpPr>
          <p:cNvPr id="9" name="cmd_462"/>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meta_463"/>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whole class</a:t>
            </a:r>
            <a:endParaRPr lang="en-US" sz="950" dirty="0"/>
          </a:p>
        </p:txBody>
      </p:sp>
      <p:pic>
        <p:nvPicPr>
          <p:cNvPr id="11" name="logo_46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46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Function · say what you think   ·   📖 SB p.35 · highlighted phrases · audio 3.30–3.31</a:t>
            </a:r>
            <a:endParaRPr lang="en-US" sz="800" dirty="0"/>
          </a:p>
        </p:txBody>
      </p:sp>
      <p:sp>
        <p:nvSpPr>
          <p:cNvPr id="13" name="cd_466"/>
          <p:cNvSpPr/>
          <p:nvPr/>
        </p:nvSpPr>
        <p:spPr>
          <a:xfrm>
            <a:off x="320040" y="1417320"/>
            <a:ext cx="2034540" cy="3017520"/>
          </a:xfrm>
          <a:prstGeom prst="roundRect">
            <a:avLst>
              <a:gd name="adj" fmla="val 6292"/>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14" name="rh_467"/>
          <p:cNvSpPr/>
          <p:nvPr/>
        </p:nvSpPr>
        <p:spPr>
          <a:xfrm>
            <a:off x="429768" y="1508760"/>
            <a:ext cx="18150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Giving an opinion</a:t>
            </a:r>
            <a:endParaRPr lang="en-US" sz="1250" dirty="0"/>
          </a:p>
        </p:txBody>
      </p:sp>
      <p:sp>
        <p:nvSpPr>
          <p:cNvPr id="15" name="pf_468"/>
          <p:cNvSpPr/>
          <p:nvPr/>
        </p:nvSpPr>
        <p:spPr>
          <a:xfrm>
            <a:off x="4297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6" name="ph_469" descr="/home/claude/lls-course/v2/cache/spare_work_job_interview_jpg_415x209_31.png">    </p:cNvPr>
          <p:cNvPicPr>
            <a:picLocks noChangeAspect="1"/>
          </p:cNvPicPr>
          <p:nvPr/>
        </p:nvPicPr>
        <p:blipFill>
          <a:blip r:embed="rId5"/>
          <a:stretch>
            <a:fillRect/>
          </a:stretch>
        </p:blipFill>
        <p:spPr>
          <a:xfrm>
            <a:off x="475488" y="1984248"/>
            <a:ext cx="1723644" cy="868680"/>
          </a:xfrm>
          <a:prstGeom prst="rect">
            <a:avLst/>
          </a:prstGeom>
        </p:spPr>
      </p:pic>
      <p:sp>
        <p:nvSpPr>
          <p:cNvPr id="17" name="ru_470"/>
          <p:cNvSpPr/>
          <p:nvPr/>
        </p:nvSpPr>
        <p:spPr>
          <a:xfrm>
            <a:off x="4114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start your sentence</a:t>
            </a:r>
            <a:endParaRPr lang="en-US" sz="1050" dirty="0"/>
          </a:p>
        </p:txBody>
      </p:sp>
      <p:sp>
        <p:nvSpPr>
          <p:cNvPr id="18" name="R1_rx471"/>
          <p:cNvSpPr/>
          <p:nvPr/>
        </p:nvSpPr>
        <p:spPr>
          <a:xfrm>
            <a:off x="4114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Personally, I think…</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In my opinion… · If you ask me…</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To be honest…</a:t>
            </a:r>
            <a:endParaRPr lang="en-US" sz="1050" dirty="0"/>
          </a:p>
        </p:txBody>
      </p:sp>
      <p:sp>
        <p:nvSpPr>
          <p:cNvPr id="19" name="R1_ri472"/>
          <p:cNvSpPr/>
          <p:nvPr/>
        </p:nvSpPr>
        <p:spPr>
          <a:xfrm>
            <a:off x="4114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secondo me… · a dire il vero…</a:t>
            </a:r>
            <a:endParaRPr lang="en-US" sz="900" dirty="0"/>
          </a:p>
        </p:txBody>
      </p:sp>
      <p:sp>
        <p:nvSpPr>
          <p:cNvPr id="20" name="cd_473"/>
          <p:cNvSpPr/>
          <p:nvPr/>
        </p:nvSpPr>
        <p:spPr>
          <a:xfrm>
            <a:off x="2491740" y="1417320"/>
            <a:ext cx="2034540" cy="3017520"/>
          </a:xfrm>
          <a:prstGeom prst="roundRect">
            <a:avLst>
              <a:gd name="adj" fmla="val 6292"/>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1" name="rh_474"/>
          <p:cNvSpPr/>
          <p:nvPr/>
        </p:nvSpPr>
        <p:spPr>
          <a:xfrm>
            <a:off x="2601468" y="1508760"/>
            <a:ext cx="18150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Asking</a:t>
            </a:r>
            <a:endParaRPr lang="en-US" sz="1250" dirty="0"/>
          </a:p>
        </p:txBody>
      </p:sp>
      <p:sp>
        <p:nvSpPr>
          <p:cNvPr id="22" name="pf_475"/>
          <p:cNvSpPr/>
          <p:nvPr/>
        </p:nvSpPr>
        <p:spPr>
          <a:xfrm>
            <a:off x="26014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476" descr="/home/claude/lls-course/v2/cache/spare_1a2_restaurant_jpg_415x209_31.png">    </p:cNvPr>
          <p:cNvPicPr>
            <a:picLocks noChangeAspect="1"/>
          </p:cNvPicPr>
          <p:nvPr/>
        </p:nvPicPr>
        <p:blipFill>
          <a:blip r:embed="rId6"/>
          <a:stretch>
            <a:fillRect/>
          </a:stretch>
        </p:blipFill>
        <p:spPr>
          <a:xfrm>
            <a:off x="2647188" y="1984248"/>
            <a:ext cx="1723644" cy="868680"/>
          </a:xfrm>
          <a:prstGeom prst="rect">
            <a:avLst/>
          </a:prstGeom>
        </p:spPr>
      </p:pic>
      <p:sp>
        <p:nvSpPr>
          <p:cNvPr id="24" name="ru_477"/>
          <p:cNvSpPr/>
          <p:nvPr/>
        </p:nvSpPr>
        <p:spPr>
          <a:xfrm>
            <a:off x="25831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invite your friend to talk</a:t>
            </a:r>
            <a:endParaRPr lang="en-US" sz="1050" dirty="0"/>
          </a:p>
        </p:txBody>
      </p:sp>
      <p:sp>
        <p:nvSpPr>
          <p:cNvPr id="25" name="R2_rx478"/>
          <p:cNvSpPr/>
          <p:nvPr/>
        </p:nvSpPr>
        <p:spPr>
          <a:xfrm>
            <a:off x="25831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What do you think?</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Don't you agree?</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How about you?</a:t>
            </a:r>
            <a:endParaRPr lang="en-US" sz="1050" dirty="0"/>
          </a:p>
        </p:txBody>
      </p:sp>
      <p:sp>
        <p:nvSpPr>
          <p:cNvPr id="26" name="R2_ri479"/>
          <p:cNvSpPr/>
          <p:nvPr/>
        </p:nvSpPr>
        <p:spPr>
          <a:xfrm>
            <a:off x="25831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e tu cosa ne pensi?</a:t>
            </a:r>
            <a:endParaRPr lang="en-US" sz="900" dirty="0"/>
          </a:p>
        </p:txBody>
      </p:sp>
      <p:sp>
        <p:nvSpPr>
          <p:cNvPr id="27" name="cd_480"/>
          <p:cNvSpPr/>
          <p:nvPr/>
        </p:nvSpPr>
        <p:spPr>
          <a:xfrm>
            <a:off x="4663440" y="1417320"/>
            <a:ext cx="2034540" cy="3017520"/>
          </a:xfrm>
          <a:prstGeom prst="roundRect">
            <a:avLst>
              <a:gd name="adj" fmla="val 6292"/>
            </a:avLst>
          </a:prstGeom>
          <a:solidFill>
            <a:srgbClr val="FFFFFF"/>
          </a:solidFill>
          <a:ln w="25400">
            <a:solidFill>
              <a:srgbClr val="A8E5BE"/>
            </a:solidFill>
            <a:prstDash val="solid"/>
          </a:ln>
          <a:effectLst>
            <a:outerShdw sx="100000" sy="100000" kx="0" ky="0" algn="bl" rotWithShape="0" blurRad="88900" dist="31750" dir="5400000">
              <a:srgbClr val="1B2559">
                <a:alpha val="12000"/>
              </a:srgbClr>
            </a:outerShdw>
          </a:effectLst>
        </p:spPr>
      </p:sp>
      <p:sp>
        <p:nvSpPr>
          <p:cNvPr id="28" name="rh_481"/>
          <p:cNvSpPr/>
          <p:nvPr/>
        </p:nvSpPr>
        <p:spPr>
          <a:xfrm>
            <a:off x="4773168" y="1508760"/>
            <a:ext cx="18150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Agreeing</a:t>
            </a:r>
            <a:endParaRPr lang="en-US" sz="1250" dirty="0"/>
          </a:p>
        </p:txBody>
      </p:sp>
      <p:sp>
        <p:nvSpPr>
          <p:cNvPr id="29" name="pf_482"/>
          <p:cNvSpPr/>
          <p:nvPr/>
        </p:nvSpPr>
        <p:spPr>
          <a:xfrm>
            <a:off x="47731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0" name="ph_483" descr="/home/claude/lls-course/v2/cache/spare_work_teamwork_jpg_415x209_31.png">    </p:cNvPr>
          <p:cNvPicPr>
            <a:picLocks noChangeAspect="1"/>
          </p:cNvPicPr>
          <p:nvPr/>
        </p:nvPicPr>
        <p:blipFill>
          <a:blip r:embed="rId7"/>
          <a:stretch>
            <a:fillRect/>
          </a:stretch>
        </p:blipFill>
        <p:spPr>
          <a:xfrm>
            <a:off x="4818888" y="1984248"/>
            <a:ext cx="1723644" cy="868680"/>
          </a:xfrm>
          <a:prstGeom prst="rect">
            <a:avLst/>
          </a:prstGeom>
        </p:spPr>
      </p:pic>
      <p:sp>
        <p:nvSpPr>
          <p:cNvPr id="31" name="ru_484"/>
          <p:cNvSpPr/>
          <p:nvPr/>
        </p:nvSpPr>
        <p:spPr>
          <a:xfrm>
            <a:off x="47548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same opinion (+ but…)</a:t>
            </a:r>
            <a:endParaRPr lang="en-US" sz="1050" dirty="0"/>
          </a:p>
        </p:txBody>
      </p:sp>
      <p:sp>
        <p:nvSpPr>
          <p:cNvPr id="32" name="R3_rx485"/>
          <p:cNvSpPr/>
          <p:nvPr/>
        </p:nvSpPr>
        <p:spPr>
          <a:xfrm>
            <a:off x="47548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OK, I agree.</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agree, but…</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Sure, (we all like…), but…</a:t>
            </a:r>
            <a:endParaRPr lang="en-US" sz="1050" dirty="0"/>
          </a:p>
        </p:txBody>
      </p:sp>
      <p:sp>
        <p:nvSpPr>
          <p:cNvPr id="33" name="R3_ri486"/>
          <p:cNvSpPr/>
          <p:nvPr/>
        </p:nvSpPr>
        <p:spPr>
          <a:xfrm>
            <a:off x="47548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sono d'accordo</a:t>
            </a:r>
            <a:endParaRPr lang="en-US" sz="900" dirty="0"/>
          </a:p>
        </p:txBody>
      </p:sp>
      <p:sp>
        <p:nvSpPr>
          <p:cNvPr id="34" name="cd_487"/>
          <p:cNvSpPr/>
          <p:nvPr/>
        </p:nvSpPr>
        <p:spPr>
          <a:xfrm>
            <a:off x="6835140" y="1417320"/>
            <a:ext cx="2034540" cy="3017520"/>
          </a:xfrm>
          <a:prstGeom prst="roundRect">
            <a:avLst>
              <a:gd name="adj" fmla="val 6292"/>
            </a:avLst>
          </a:prstGeom>
          <a:solidFill>
            <a:srgbClr val="FFFFFF"/>
          </a:solidFill>
          <a:ln w="25400">
            <a:solidFill>
              <a:srgbClr val="FFE07A"/>
            </a:solidFill>
            <a:prstDash val="solid"/>
          </a:ln>
          <a:effectLst>
            <a:outerShdw sx="100000" sy="100000" kx="0" ky="0" algn="bl" rotWithShape="0" blurRad="88900" dist="31750" dir="5400000">
              <a:srgbClr val="1B2559">
                <a:alpha val="12000"/>
              </a:srgbClr>
            </a:outerShdw>
          </a:effectLst>
        </p:spPr>
      </p:sp>
      <p:sp>
        <p:nvSpPr>
          <p:cNvPr id="35" name="rh_488"/>
          <p:cNvSpPr/>
          <p:nvPr/>
        </p:nvSpPr>
        <p:spPr>
          <a:xfrm>
            <a:off x="6944868" y="1508760"/>
            <a:ext cx="1815084" cy="365760"/>
          </a:xfrm>
          <a:prstGeom prst="roundRect">
            <a:avLst>
              <a:gd name="adj" fmla="val 50000"/>
            </a:avLst>
          </a:prstGeom>
          <a:solidFill>
            <a:srgbClr val="F2B705"/>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Disagreeing</a:t>
            </a:r>
            <a:endParaRPr lang="en-US" sz="1250" dirty="0"/>
          </a:p>
        </p:txBody>
      </p:sp>
      <p:sp>
        <p:nvSpPr>
          <p:cNvPr id="36" name="pf_489"/>
          <p:cNvSpPr/>
          <p:nvPr/>
        </p:nvSpPr>
        <p:spPr>
          <a:xfrm>
            <a:off x="69448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7" name="ph_490" descr="/home/claude/lls-course/v2/cache/spare_1b2_arguments_jpg_415x209_31.png">    </p:cNvPr>
          <p:cNvPicPr>
            <a:picLocks noChangeAspect="1"/>
          </p:cNvPicPr>
          <p:nvPr/>
        </p:nvPicPr>
        <p:blipFill>
          <a:blip r:embed="rId8"/>
          <a:stretch>
            <a:fillRect/>
          </a:stretch>
        </p:blipFill>
        <p:spPr>
          <a:xfrm>
            <a:off x="6990588" y="1984248"/>
            <a:ext cx="1723644" cy="868680"/>
          </a:xfrm>
          <a:prstGeom prst="rect">
            <a:avLst/>
          </a:prstGeom>
        </p:spPr>
      </p:pic>
      <p:sp>
        <p:nvSpPr>
          <p:cNvPr id="38" name="ru_491"/>
          <p:cNvSpPr/>
          <p:nvPr/>
        </p:nvSpPr>
        <p:spPr>
          <a:xfrm>
            <a:off x="69265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F2B705"/>
                </a:solidFill>
                <a:latin typeface="Arial Rounded MT Bold" pitchFamily="34" charset="0"/>
                <a:ea typeface="Arial Rounded MT Bold" pitchFamily="34" charset="-122"/>
                <a:cs typeface="Arial Rounded MT Bold" pitchFamily="34" charset="-120"/>
              </a:rPr>
              <a:t>polite → strong!</a:t>
            </a:r>
            <a:endParaRPr lang="en-US" sz="1050" dirty="0"/>
          </a:p>
        </p:txBody>
      </p:sp>
      <p:sp>
        <p:nvSpPr>
          <p:cNvPr id="39" name="R4_rx492"/>
          <p:cNvSpPr/>
          <p:nvPr/>
        </p:nvSpPr>
        <p:spPr>
          <a:xfrm>
            <a:off x="69265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I don't think that's right.</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Oh sure… (ironic)</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You can't be serious! (friends)</a:t>
            </a:r>
            <a:endParaRPr lang="en-US" sz="1050" dirty="0"/>
          </a:p>
        </p:txBody>
      </p:sp>
      <p:sp>
        <p:nvSpPr>
          <p:cNvPr id="40" name="R4_ri493"/>
          <p:cNvSpPr/>
          <p:nvPr/>
        </p:nvSpPr>
        <p:spPr>
          <a:xfrm>
            <a:off x="69265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non sono d'accordo</a:t>
            </a:r>
            <a:endParaRPr lang="en-US" sz="900" dirty="0"/>
          </a:p>
        </p:txBody>
      </p:sp>
      <p:sp>
        <p:nvSpPr>
          <p:cNvPr id="41" name="R5_wc494"/>
          <p:cNvSpPr/>
          <p:nvPr/>
        </p:nvSpPr>
        <p:spPr>
          <a:xfrm>
            <a:off x="320040" y="4544568"/>
            <a:ext cx="8549640" cy="329184"/>
          </a:xfrm>
          <a:prstGeom prst="roundRect">
            <a:avLst>
              <a:gd name="adj" fmla="val 38889"/>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2" name="R5_w495"/>
          <p:cNvSpPr/>
          <p:nvPr/>
        </p:nvSpPr>
        <p:spPr>
          <a:xfrm>
            <a:off x="457200" y="4544568"/>
            <a:ext cx="8321040" cy="329184"/>
          </a:xfrm>
          <a:prstGeom prst="rect">
            <a:avLst/>
          </a:prstGeom>
          <a:noFill/>
          <a:ln/>
        </p:spPr>
        <p:txBody>
          <a:bodyPr wrap="square" lIns="0" tIns="0" rIns="0" bIns="0" rtlCol="0" anchor="ctr">
            <a:normAutofit/>
          </a:bodyPr>
          <a:lstStyle/>
          <a:p>
            <a:pPr indent="0" marL="0">
              <a:buNone/>
            </a:pPr>
            <a:r>
              <a:rPr lang="en-US" sz="900" dirty="0">
                <a:solidFill>
                  <a:srgbClr val="1B2559"/>
                </a:solidFill>
                <a:latin typeface="Segoe UI Semibold" pitchFamily="34" charset="0"/>
                <a:ea typeface="Segoe UI Semibold" pitchFamily="34" charset="-122"/>
                <a:cs typeface="Segoe UI Semibold" pitchFamily="34" charset="-120"/>
              </a:rPr>
              <a:t>⚠ ✗ I am agree → ✓ I agree    ✗ According to me → ✓ In my opinion    ✗ In my opinion, I think… → ✓ In my opinion, London is…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400"/>
                                        <p:tgtEl>
                                          <p:spTgt spid="25"/>
                                        </p:tgtEl>
                                      </p:cBhvr>
                                    </p:animEffect>
                                  </p:childTnLst>
                                </p:cTn>
                              </p:par>
                              <p:par>
                                <p:cTn id="16" presetID="10" presetClass="entr" presetSubtype="0" fill="hold" nodeType="with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fade">
                                      <p:cBhvr>
                                        <p:cTn id="18" dur="400"/>
                                        <p:tgtEl>
                                          <p:spTgt spid="2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400"/>
                                        <p:tgtEl>
                                          <p:spTgt spid="32"/>
                                        </p:tgtEl>
                                      </p:cBhvr>
                                    </p:animEffect>
                                  </p:childTnLst>
                                </p:cTn>
                              </p:par>
                              <p:par>
                                <p:cTn id="24" presetID="10" presetClass="entr" presetSubtype="0" fill="hold" nodeType="with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400"/>
                                        <p:tgtEl>
                                          <p:spTgt spid="3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9"/>
                                        </p:tgtEl>
                                        <p:attrNameLst>
                                          <p:attrName>style.visibility</p:attrName>
                                        </p:attrNameLst>
                                      </p:cBhvr>
                                      <p:to>
                                        <p:strVal val="visible"/>
                                      </p:to>
                                    </p:set>
                                    <p:animEffect transition="in" filter="fade">
                                      <p:cBhvr>
                                        <p:cTn id="31" dur="400"/>
                                        <p:tgtEl>
                                          <p:spTgt spid="39"/>
                                        </p:tgtEl>
                                      </p:cBhvr>
                                    </p:animEffect>
                                  </p:childTnLst>
                                </p:cTn>
                              </p:par>
                              <p:par>
                                <p:cTn id="32" presetID="10" presetClass="entr" presetSubtype="0" fill="hold" nodeType="withEffect">
                                  <p:stCondLst>
                                    <p:cond delay="0"/>
                                  </p:stCondLst>
                                  <p:childTnLst>
                                    <p:set>
                                      <p:cBhvr>
                                        <p:cTn id="33" dur="1" fill="hold">
                                          <p:stCondLst>
                                            <p:cond delay="0"/>
                                          </p:stCondLst>
                                        </p:cTn>
                                        <p:tgtEl>
                                          <p:spTgt spid="40"/>
                                        </p:tgtEl>
                                        <p:attrNameLst>
                                          <p:attrName>style.visibility</p:attrName>
                                        </p:attrNameLst>
                                      </p:cBhvr>
                                      <p:to>
                                        <p:strVal val="visible"/>
                                      </p:to>
                                    </p:set>
                                    <p:animEffect transition="in" filter="fade">
                                      <p:cBhvr>
                                        <p:cTn id="34" dur="400"/>
                                        <p:tgtEl>
                                          <p:spTgt spid="40"/>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1"/>
                                        </p:tgtEl>
                                        <p:attrNameLst>
                                          <p:attrName>style.visibility</p:attrName>
                                        </p:attrNameLst>
                                      </p:cBhvr>
                                      <p:to>
                                        <p:strVal val="visible"/>
                                      </p:to>
                                    </p:set>
                                    <p:animEffect transition="in" filter="fade">
                                      <p:cBhvr>
                                        <p:cTn id="39" dur="400"/>
                                        <p:tgtEl>
                                          <p:spTgt spid="41"/>
                                        </p:tgtEl>
                                      </p:cBhvr>
                                    </p:animEffect>
                                  </p:childTnLst>
                                </p:cTn>
                              </p:par>
                              <p:par>
                                <p:cTn id="40" presetID="10" presetClass="entr" presetSubtype="0"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6"/>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97"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498"/>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Hot takes!</a:t>
            </a:r>
            <a:endParaRPr lang="en-US" sz="2500" dirty="0"/>
          </a:p>
        </p:txBody>
      </p:sp>
      <p:pic>
        <p:nvPicPr>
          <p:cNvPr id="6" name="brP_499" descr="/home/claude/lls-course/v2/assets/brush-pink.png">    </p:cNvPr>
          <p:cNvPicPr>
            <a:picLocks noChangeAspect="1"/>
          </p:cNvPicPr>
          <p:nvPr/>
        </p:nvPicPr>
        <p:blipFill>
          <a:blip r:embed="rId3"/>
          <a:stretch>
            <a:fillRect/>
          </a:stretch>
        </p:blipFill>
        <p:spPr>
          <a:xfrm>
            <a:off x="1207008" y="731520"/>
            <a:ext cx="4032504" cy="402336"/>
          </a:xfrm>
          <a:prstGeom prst="rect">
            <a:avLst/>
          </a:prstGeom>
        </p:spPr>
      </p:pic>
      <p:sp>
        <p:nvSpPr>
          <p:cNvPr id="7" name="ins_500"/>
          <p:cNvSpPr/>
          <p:nvPr/>
        </p:nvSpPr>
        <p:spPr>
          <a:xfrm>
            <a:off x="1353312" y="731520"/>
            <a:ext cx="377647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Agree or disagree? Say a phrase + why!</a:t>
            </a:r>
            <a:endParaRPr lang="en-US" sz="1250" dirty="0"/>
          </a:p>
        </p:txBody>
      </p:sp>
      <p:sp>
        <p:nvSpPr>
          <p:cNvPr id="8" name="insIT_50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D'accordo o no? Di' una frase + perché!</a:t>
            </a:r>
            <a:endParaRPr lang="en-US" sz="950" dirty="0"/>
          </a:p>
        </p:txBody>
      </p:sp>
      <p:sp>
        <p:nvSpPr>
          <p:cNvPr id="9" name="cmd_502"/>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503"/>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504"/>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2" name="tag_505"/>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50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0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Function game</a:t>
            </a:r>
            <a:endParaRPr lang="en-US" sz="800" dirty="0"/>
          </a:p>
        </p:txBody>
      </p:sp>
      <p:sp>
        <p:nvSpPr>
          <p:cNvPr id="15" name="cd_508"/>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509"/>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510"/>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511"/>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900" dirty="0">
                <a:solidFill>
                  <a:srgbClr val="1B2559"/>
                </a:solidFill>
                <a:latin typeface="Segoe UI" pitchFamily="34" charset="0"/>
                <a:ea typeface="Segoe UI" pitchFamily="34" charset="-122"/>
                <a:cs typeface="Segoe UI" pitchFamily="34" charset="-120"/>
              </a:rPr>
              <a:t>Read the hot take.</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Leggi l'opinione 'scottante'.</a:t>
            </a:r>
            <a:endParaRPr lang="en-US" sz="900" dirty="0"/>
          </a:p>
          <a:p>
            <a:pPr marL="190500" indent="-190500">
              <a:spcBef>
                <a:spcPts val="500"/>
              </a:spcBef>
              <a:spcAft>
                <a:spcPts val="200"/>
              </a:spcAft>
              <a:buSzPct val="100000"/>
              <a:buChar char="2"/>
            </a:pPr>
            <a:r>
              <a:rPr lang="en-US" sz="900" dirty="0">
                <a:solidFill>
                  <a:srgbClr val="1B2559"/>
                </a:solidFill>
                <a:latin typeface="Segoe UI" pitchFamily="34" charset="0"/>
                <a:ea typeface="Segoe UI" pitchFamily="34" charset="-122"/>
                <a:cs typeface="Segoe UI" pitchFamily="34" charset="-120"/>
              </a:rPr>
              <a:t>Teams: agree or disagree + a reason – 10 seconds!</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Squadre: d'accordo o no + un motivo – 10 secondi!</a:t>
            </a:r>
            <a:endParaRPr lang="en-US" sz="900" dirty="0"/>
          </a:p>
          <a:p>
            <a:pPr marL="190500" indent="-190500">
              <a:spcBef>
                <a:spcPts val="500"/>
              </a:spcBef>
              <a:spcAft>
                <a:spcPts val="200"/>
              </a:spcAft>
              <a:buSzPct val="100000"/>
              <a:buChar char="3"/>
            </a:pPr>
            <a:r>
              <a:rPr lang="en-US" sz="900" dirty="0">
                <a:solidFill>
                  <a:srgbClr val="1B2559"/>
                </a:solidFill>
                <a:latin typeface="Segoe UI" pitchFamily="34" charset="0"/>
                <a:ea typeface="Segoe UI" pitchFamily="34" charset="-122"/>
                <a:cs typeface="Segoe UI" pitchFamily="34" charset="-120"/>
              </a:rPr>
              <a:t>Right phrase = 1 point. New phrase = +1.</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Frase giusta = 1 punto. Frase nuova = +1.</a:t>
            </a:r>
            <a:endParaRPr lang="en-US" sz="900" dirty="0"/>
          </a:p>
        </p:txBody>
      </p:sp>
      <p:sp>
        <p:nvSpPr>
          <p:cNvPr id="19" name="pf_512"/>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513" descr="/home/claude/lls-course/v2/cache/spare_1a2_cafe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1" name="bd_514"/>
          <p:cNvSpPr/>
          <p:nvPr/>
        </p:nvSpPr>
        <p:spPr>
          <a:xfrm>
            <a:off x="3246120" y="149123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515"/>
          <p:cNvSpPr/>
          <p:nvPr/>
        </p:nvSpPr>
        <p:spPr>
          <a:xfrm>
            <a:off x="3657600" y="141732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Pineapple on pizza is delicious.</a:t>
            </a:r>
            <a:endParaRPr lang="en-US" sz="1100" dirty="0"/>
          </a:p>
        </p:txBody>
      </p:sp>
      <p:sp>
        <p:nvSpPr>
          <p:cNvPr id="23" name="R1_chip516"/>
          <p:cNvSpPr/>
          <p:nvPr/>
        </p:nvSpPr>
        <p:spPr>
          <a:xfrm>
            <a:off x="6263640" y="14173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You can't be serious! Pizza is Italian!</a:t>
            </a:r>
            <a:endParaRPr lang="en-US" sz="1100" dirty="0"/>
          </a:p>
        </p:txBody>
      </p:sp>
      <p:sp>
        <p:nvSpPr>
          <p:cNvPr id="24" name="bd_517"/>
          <p:cNvSpPr/>
          <p:nvPr/>
        </p:nvSpPr>
        <p:spPr>
          <a:xfrm>
            <a:off x="3246120" y="203225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518"/>
          <p:cNvSpPr/>
          <p:nvPr/>
        </p:nvSpPr>
        <p:spPr>
          <a:xfrm>
            <a:off x="3657600" y="195834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Summer in Sicily is too hot.</a:t>
            </a:r>
            <a:endParaRPr lang="en-US" sz="1100" dirty="0"/>
          </a:p>
        </p:txBody>
      </p:sp>
      <p:sp>
        <p:nvSpPr>
          <p:cNvPr id="26" name="R2_chip519"/>
          <p:cNvSpPr/>
          <p:nvPr/>
        </p:nvSpPr>
        <p:spPr>
          <a:xfrm>
            <a:off x="6263640" y="195834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OK, I agree. August is terrible!</a:t>
            </a:r>
            <a:endParaRPr lang="en-US" sz="1100" dirty="0"/>
          </a:p>
        </p:txBody>
      </p:sp>
      <p:sp>
        <p:nvSpPr>
          <p:cNvPr id="27" name="bd_520"/>
          <p:cNvSpPr/>
          <p:nvPr/>
        </p:nvSpPr>
        <p:spPr>
          <a:xfrm>
            <a:off x="3246120" y="257327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521"/>
          <p:cNvSpPr/>
          <p:nvPr/>
        </p:nvSpPr>
        <p:spPr>
          <a:xfrm>
            <a:off x="3657600" y="2499360"/>
            <a:ext cx="2514600" cy="477012"/>
          </a:xfrm>
          <a:prstGeom prst="roundRect">
            <a:avLst>
              <a:gd name="adj" fmla="val 19169"/>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Waiters should leave you alone.</a:t>
            </a:r>
            <a:endParaRPr lang="en-US" sz="1100" dirty="0"/>
          </a:p>
        </p:txBody>
      </p:sp>
      <p:sp>
        <p:nvSpPr>
          <p:cNvPr id="29" name="R3_chip522"/>
          <p:cNvSpPr/>
          <p:nvPr/>
        </p:nvSpPr>
        <p:spPr>
          <a:xfrm>
            <a:off x="6263640" y="249936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Personally, I think friendly waiters are nice.</a:t>
            </a:r>
            <a:endParaRPr lang="en-US" sz="1100" dirty="0"/>
          </a:p>
        </p:txBody>
      </p:sp>
      <p:sp>
        <p:nvSpPr>
          <p:cNvPr id="30" name="bd_523"/>
          <p:cNvSpPr/>
          <p:nvPr/>
        </p:nvSpPr>
        <p:spPr>
          <a:xfrm>
            <a:off x="3246120" y="3114294"/>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524"/>
          <p:cNvSpPr/>
          <p:nvPr/>
        </p:nvSpPr>
        <p:spPr>
          <a:xfrm>
            <a:off x="3657600" y="3040380"/>
            <a:ext cx="2514600" cy="477012"/>
          </a:xfrm>
          <a:prstGeom prst="roundRect">
            <a:avLst>
              <a:gd name="adj" fmla="val 19169"/>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Smartphones should be banned at school.</a:t>
            </a:r>
            <a:endParaRPr lang="en-US" sz="1100" dirty="0"/>
          </a:p>
        </p:txBody>
      </p:sp>
      <p:sp>
        <p:nvSpPr>
          <p:cNvPr id="32" name="R4_chip525"/>
          <p:cNvSpPr/>
          <p:nvPr/>
        </p:nvSpPr>
        <p:spPr>
          <a:xfrm>
            <a:off x="6263640" y="304038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 don't think that's right. We need them!</a:t>
            </a:r>
            <a:endParaRPr lang="en-US" sz="1100" dirty="0"/>
          </a:p>
        </p:txBody>
      </p:sp>
      <p:sp>
        <p:nvSpPr>
          <p:cNvPr id="33" name="bd_526"/>
          <p:cNvSpPr/>
          <p:nvPr/>
        </p:nvSpPr>
        <p:spPr>
          <a:xfrm>
            <a:off x="3246120" y="3655314"/>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527"/>
          <p:cNvSpPr/>
          <p:nvPr/>
        </p:nvSpPr>
        <p:spPr>
          <a:xfrm>
            <a:off x="3657600" y="3581400"/>
            <a:ext cx="2514600" cy="477012"/>
          </a:xfrm>
          <a:prstGeom prst="roundRect">
            <a:avLst>
              <a:gd name="adj" fmla="val 19169"/>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It's arancina, not arancino!</a:t>
            </a:r>
            <a:endParaRPr lang="en-US" sz="1100" dirty="0"/>
          </a:p>
        </p:txBody>
      </p:sp>
      <p:sp>
        <p:nvSpPr>
          <p:cNvPr id="35" name="R5_chip528"/>
          <p:cNvSpPr/>
          <p:nvPr/>
        </p:nvSpPr>
        <p:spPr>
          <a:xfrm>
            <a:off x="6263640" y="358140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If you ask me, it's arancina. Don't you agree?</a:t>
            </a:r>
            <a:endParaRPr lang="en-US" sz="1100" dirty="0"/>
          </a:p>
        </p:txBody>
      </p:sp>
      <p:sp>
        <p:nvSpPr>
          <p:cNvPr id="36" name="bd_529"/>
          <p:cNvSpPr/>
          <p:nvPr/>
        </p:nvSpPr>
        <p:spPr>
          <a:xfrm>
            <a:off x="3246120" y="4196334"/>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6</a:t>
            </a:r>
            <a:endParaRPr lang="en-US" sz="1100" dirty="0"/>
          </a:p>
        </p:txBody>
      </p:sp>
      <p:sp>
        <p:nvSpPr>
          <p:cNvPr id="37" name="gq_530"/>
          <p:cNvSpPr/>
          <p:nvPr/>
        </p:nvSpPr>
        <p:spPr>
          <a:xfrm>
            <a:off x="3657600" y="4122420"/>
            <a:ext cx="2514600" cy="477012"/>
          </a:xfrm>
          <a:prstGeom prst="roundRect">
            <a:avLst>
              <a:gd name="adj" fmla="val 19169"/>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Living in a big city is better.</a:t>
            </a:r>
            <a:endParaRPr lang="en-US" sz="1100" dirty="0"/>
          </a:p>
        </p:txBody>
      </p:sp>
      <p:sp>
        <p:nvSpPr>
          <p:cNvPr id="38" name="R6_chip531"/>
          <p:cNvSpPr/>
          <p:nvPr/>
        </p:nvSpPr>
        <p:spPr>
          <a:xfrm>
            <a:off x="6263640" y="4122420"/>
            <a:ext cx="2560320" cy="477012"/>
          </a:xfrm>
          <a:prstGeom prst="roundRect">
            <a:avLst>
              <a:gd name="adj" fmla="val 19169"/>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To be honest, I prefer Bagheria – it's easy-going.</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32"/>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533"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534"/>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Opinion boxing</a:t>
            </a:r>
            <a:endParaRPr lang="en-US" sz="2500" dirty="0"/>
          </a:p>
        </p:txBody>
      </p:sp>
      <p:pic>
        <p:nvPicPr>
          <p:cNvPr id="6" name="brP_535"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536"/>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Groups of 4: argue for 1 minute!</a:t>
            </a:r>
            <a:endParaRPr lang="en-US" sz="1250" dirty="0"/>
          </a:p>
        </p:txBody>
      </p:sp>
      <p:sp>
        <p:nvSpPr>
          <p:cNvPr id="8" name="insIT_53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Gruppi di 4: discutete per 1 minuto!</a:t>
            </a:r>
            <a:endParaRPr lang="en-US" sz="950" dirty="0"/>
          </a:p>
        </p:txBody>
      </p:sp>
      <p:sp>
        <p:nvSpPr>
          <p:cNvPr id="9" name="cmd_538"/>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cmd_539"/>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540"/>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groups</a:t>
            </a:r>
            <a:endParaRPr lang="en-US" sz="950" dirty="0"/>
          </a:p>
        </p:txBody>
      </p:sp>
      <p:sp>
        <p:nvSpPr>
          <p:cNvPr id="12" name="tag_541"/>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3" name="logo_54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54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Speaking game · discussion   ·   📖 SB p.35 · 2f</a:t>
            </a:r>
            <a:endParaRPr lang="en-US" sz="800" dirty="0"/>
          </a:p>
        </p:txBody>
      </p:sp>
      <p:sp>
        <p:nvSpPr>
          <p:cNvPr id="15" name="cd_544"/>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545"/>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546"/>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547"/>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900" dirty="0">
                <a:solidFill>
                  <a:srgbClr val="1B2559"/>
                </a:solidFill>
                <a:latin typeface="Segoe UI" pitchFamily="34" charset="0"/>
                <a:ea typeface="Segoe UI" pitchFamily="34" charset="-122"/>
                <a:cs typeface="Segoe UI" pitchFamily="34" charset="-120"/>
              </a:rPr>
              <a:t>Groups of 4: 2 boxers, a referee, a judge.</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Gruppi di 4: 2 pugili, un arbitro, un giudice.</a:t>
            </a:r>
            <a:endParaRPr lang="en-US" sz="900" dirty="0"/>
          </a:p>
          <a:p>
            <a:pPr marL="190500" indent="-190500">
              <a:spcBef>
                <a:spcPts val="500"/>
              </a:spcBef>
              <a:spcAft>
                <a:spcPts val="200"/>
              </a:spcAft>
              <a:buSzPct val="100000"/>
              <a:buChar char="2"/>
            </a:pPr>
            <a:r>
              <a:rPr lang="en-US" sz="900" dirty="0">
                <a:solidFill>
                  <a:srgbClr val="1B2559"/>
                </a:solidFill>
                <a:latin typeface="Segoe UI" pitchFamily="34" charset="0"/>
                <a:ea typeface="Segoe UI" pitchFamily="34" charset="-122"/>
                <a:cs typeface="Segoe UI" pitchFamily="34" charset="-120"/>
              </a:rPr>
              <a:t>A agrees, B disagrees – 1 minute!</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A è d'accordo, B no – 1 minuto!</a:t>
            </a:r>
            <a:endParaRPr lang="en-US" sz="900" dirty="0"/>
          </a:p>
          <a:p>
            <a:pPr marL="190500" indent="-190500">
              <a:spcBef>
                <a:spcPts val="500"/>
              </a:spcBef>
              <a:spcAft>
                <a:spcPts val="200"/>
              </a:spcAft>
              <a:buSzPct val="100000"/>
              <a:buChar char="3"/>
            </a:pPr>
            <a:r>
              <a:rPr lang="en-US" sz="900" dirty="0">
                <a:solidFill>
                  <a:srgbClr val="1B2559"/>
                </a:solidFill>
                <a:latin typeface="Segoe UI" pitchFamily="34" charset="0"/>
                <a:ea typeface="Segoe UI" pitchFamily="34" charset="-122"/>
                <a:cs typeface="Segoe UI" pitchFamily="34" charset="-120"/>
              </a:rPr>
              <a:t>Judge: 1 point per phrase. Swap jobs!</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Giudice: 1 punto per frase. Cambiate ruoli!</a:t>
            </a:r>
            <a:endParaRPr lang="en-US" sz="900" dirty="0"/>
          </a:p>
        </p:txBody>
      </p:sp>
      <p:sp>
        <p:nvSpPr>
          <p:cNvPr id="19" name="pf_548"/>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549"/>
          <p:cNvSpPr/>
          <p:nvPr/>
        </p:nvSpPr>
        <p:spPr>
          <a:xfrm>
            <a:off x="457200" y="3657600"/>
            <a:ext cx="2377440" cy="10515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pe2-opinion-boxing.jpg</a:t>
            </a:r>
            <a:endParaRPr lang="en-US" sz="900" dirty="0"/>
          </a:p>
        </p:txBody>
      </p:sp>
      <p:sp>
        <p:nvSpPr>
          <p:cNvPr id="21" name="bd_550"/>
          <p:cNvSpPr/>
          <p:nvPr/>
        </p:nvSpPr>
        <p:spPr>
          <a:xfrm>
            <a:off x="3246120" y="1508760"/>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gq_551"/>
          <p:cNvSpPr/>
          <p:nvPr/>
        </p:nvSpPr>
        <p:spPr>
          <a:xfrm>
            <a:off x="3657600" y="1417320"/>
            <a:ext cx="2514600" cy="512064"/>
          </a:xfrm>
          <a:prstGeom prst="roundRect">
            <a:avLst>
              <a:gd name="adj" fmla="val 17857"/>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The best place to live is in a big city.</a:t>
            </a:r>
            <a:endParaRPr lang="en-US" sz="1100" dirty="0"/>
          </a:p>
        </p:txBody>
      </p:sp>
      <p:sp>
        <p:nvSpPr>
          <p:cNvPr id="23" name="R1_chip552"/>
          <p:cNvSpPr/>
          <p:nvPr/>
        </p:nvSpPr>
        <p:spPr>
          <a:xfrm>
            <a:off x="6263640" y="1417320"/>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 If you ask me, they're exciting. – You can't be serious!</a:t>
            </a:r>
            <a:endParaRPr lang="en-US" sz="1050" dirty="0"/>
          </a:p>
        </p:txBody>
      </p:sp>
      <p:sp>
        <p:nvSpPr>
          <p:cNvPr id="24" name="bd_553"/>
          <p:cNvSpPr/>
          <p:nvPr/>
        </p:nvSpPr>
        <p:spPr>
          <a:xfrm>
            <a:off x="3246120" y="208483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5" name="gq_554"/>
          <p:cNvSpPr/>
          <p:nvPr/>
        </p:nvSpPr>
        <p:spPr>
          <a:xfrm>
            <a:off x="3657600" y="1993392"/>
            <a:ext cx="2514600" cy="512064"/>
          </a:xfrm>
          <a:prstGeom prst="roundRect">
            <a:avLst>
              <a:gd name="adj" fmla="val 17857"/>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Cycling is the most practical way to get around big cities.</a:t>
            </a:r>
            <a:endParaRPr lang="en-US" sz="1100" dirty="0"/>
          </a:p>
        </p:txBody>
      </p:sp>
      <p:sp>
        <p:nvSpPr>
          <p:cNvPr id="26" name="R2_chip555"/>
          <p:cNvSpPr/>
          <p:nvPr/>
        </p:nvSpPr>
        <p:spPr>
          <a:xfrm>
            <a:off x="6263640" y="1993392"/>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Personally, I think it's fast. – No, it's dangerous!</a:t>
            </a:r>
            <a:endParaRPr lang="en-US" sz="1100" dirty="0"/>
          </a:p>
        </p:txBody>
      </p:sp>
      <p:sp>
        <p:nvSpPr>
          <p:cNvPr id="27" name="bd_556"/>
          <p:cNvSpPr/>
          <p:nvPr/>
        </p:nvSpPr>
        <p:spPr>
          <a:xfrm>
            <a:off x="3246120"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8" name="gq_557"/>
          <p:cNvSpPr/>
          <p:nvPr/>
        </p:nvSpPr>
        <p:spPr>
          <a:xfrm>
            <a:off x="3657600" y="2569464"/>
            <a:ext cx="2514600" cy="512064"/>
          </a:xfrm>
          <a:prstGeom prst="roundRect">
            <a:avLst>
              <a:gd name="adj" fmla="val 17857"/>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You only get good service in expensive restaurants.</a:t>
            </a:r>
            <a:endParaRPr lang="en-US" sz="1100" dirty="0"/>
          </a:p>
        </p:txBody>
      </p:sp>
      <p:sp>
        <p:nvSpPr>
          <p:cNvPr id="29" name="R3_chip558"/>
          <p:cNvSpPr/>
          <p:nvPr/>
        </p:nvSpPr>
        <p:spPr>
          <a:xfrm>
            <a:off x="6263640" y="2569464"/>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In my opinion, that's true. – I don't think that's right.</a:t>
            </a:r>
            <a:endParaRPr lang="en-US" sz="1100" dirty="0"/>
          </a:p>
        </p:txBody>
      </p:sp>
      <p:sp>
        <p:nvSpPr>
          <p:cNvPr id="30" name="bd_559"/>
          <p:cNvSpPr/>
          <p:nvPr/>
        </p:nvSpPr>
        <p:spPr>
          <a:xfrm>
            <a:off x="3246120" y="32369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1" name="gq_560"/>
          <p:cNvSpPr/>
          <p:nvPr/>
        </p:nvSpPr>
        <p:spPr>
          <a:xfrm>
            <a:off x="3657600" y="3145536"/>
            <a:ext cx="2514600" cy="512064"/>
          </a:xfrm>
          <a:prstGeom prst="roundRect">
            <a:avLst>
              <a:gd name="adj" fmla="val 17857"/>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It's irritating when people in shops say 'Have a nice day!'</a:t>
            </a:r>
            <a:endParaRPr lang="en-US" sz="1100" dirty="0"/>
          </a:p>
        </p:txBody>
      </p:sp>
      <p:sp>
        <p:nvSpPr>
          <p:cNvPr id="32" name="R4_chip561"/>
          <p:cNvSpPr/>
          <p:nvPr/>
        </p:nvSpPr>
        <p:spPr>
          <a:xfrm>
            <a:off x="6263640" y="3145536"/>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To be honest, it's fake. – It's nice! Don't you agree?</a:t>
            </a:r>
            <a:endParaRPr lang="en-US" sz="1100" dirty="0"/>
          </a:p>
        </p:txBody>
      </p:sp>
      <p:sp>
        <p:nvSpPr>
          <p:cNvPr id="33" name="bd_562"/>
          <p:cNvSpPr/>
          <p:nvPr/>
        </p:nvSpPr>
        <p:spPr>
          <a:xfrm>
            <a:off x="3246120" y="3813048"/>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4" name="gq_563"/>
          <p:cNvSpPr/>
          <p:nvPr/>
        </p:nvSpPr>
        <p:spPr>
          <a:xfrm>
            <a:off x="3657600" y="3721608"/>
            <a:ext cx="2514600" cy="512064"/>
          </a:xfrm>
          <a:prstGeom prst="roundRect">
            <a:avLst>
              <a:gd name="adj" fmla="val 17857"/>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Celebrities should answer questions about their private life.</a:t>
            </a:r>
            <a:endParaRPr lang="en-US" sz="1000" dirty="0"/>
          </a:p>
        </p:txBody>
      </p:sp>
      <p:sp>
        <p:nvSpPr>
          <p:cNvPr id="35" name="R5_chip564"/>
          <p:cNvSpPr/>
          <p:nvPr/>
        </p:nvSpPr>
        <p:spPr>
          <a:xfrm>
            <a:off x="6263640" y="3721608"/>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OK, they're famous, so… – No! It's private!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65"/>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566"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567"/>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A surprise for Kerri</a:t>
            </a:r>
            <a:endParaRPr lang="en-US" sz="2500" dirty="0"/>
          </a:p>
        </p:txBody>
      </p:sp>
      <p:pic>
        <p:nvPicPr>
          <p:cNvPr id="6" name="brP_568" descr="/home/claude/lls-course/v2/assets/brush-pink.png">    </p:cNvPr>
          <p:cNvPicPr>
            <a:picLocks noChangeAspect="1"/>
          </p:cNvPicPr>
          <p:nvPr/>
        </p:nvPicPr>
        <p:blipFill>
          <a:blip r:embed="rId3"/>
          <a:stretch>
            <a:fillRect/>
          </a:stretch>
        </p:blipFill>
        <p:spPr>
          <a:xfrm>
            <a:off x="1207008" y="731520"/>
            <a:ext cx="3337560" cy="402336"/>
          </a:xfrm>
          <a:prstGeom prst="rect">
            <a:avLst/>
          </a:prstGeom>
        </p:spPr>
      </p:pic>
      <p:sp>
        <p:nvSpPr>
          <p:cNvPr id="7" name="ins_569"/>
          <p:cNvSpPr/>
          <p:nvPr/>
        </p:nvSpPr>
        <p:spPr>
          <a:xfrm>
            <a:off x="1353312" y="731520"/>
            <a:ext cx="308152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Watch. Why is Kerri surprised?</a:t>
            </a:r>
            <a:endParaRPr lang="en-US" sz="1250" dirty="0"/>
          </a:p>
        </p:txBody>
      </p:sp>
      <p:sp>
        <p:nvSpPr>
          <p:cNvPr id="8" name="insIT_57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Guarda. Perché Kerri è sorpresa?</a:t>
            </a:r>
            <a:endParaRPr lang="en-US" sz="950" dirty="0"/>
          </a:p>
        </p:txBody>
      </p:sp>
      <p:sp>
        <p:nvSpPr>
          <p:cNvPr id="9" name="cmd_571"/>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57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alone</a:t>
            </a:r>
            <a:endParaRPr lang="en-US" sz="950" dirty="0"/>
          </a:p>
        </p:txBody>
      </p:sp>
      <p:sp>
        <p:nvSpPr>
          <p:cNvPr id="11" name="tag_57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57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7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Video · A surprise for Kerri   ·   📖 SB p.35 · 3a, 3b · video A surprise for Kerri / audio 3.32</a:t>
            </a:r>
            <a:endParaRPr lang="en-US" sz="800" dirty="0"/>
          </a:p>
        </p:txBody>
      </p:sp>
      <p:sp>
        <p:nvSpPr>
          <p:cNvPr id="14" name="ap_576"/>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3.32  ·  🎬 video: A surprise for Kerri</a:t>
            </a:r>
            <a:endParaRPr lang="en-US" sz="1100" dirty="0"/>
          </a:p>
        </p:txBody>
      </p:sp>
      <p:sp>
        <p:nvSpPr>
          <p:cNvPr id="15" name="aw_577"/>
          <p:cNvSpPr/>
          <p:nvPr/>
        </p:nvSpPr>
        <p:spPr>
          <a:xfrm>
            <a:off x="365760" y="1837944"/>
            <a:ext cx="265176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Play it from the book audio</a:t>
            </a:r>
            <a:endParaRPr lang="en-US" sz="900" dirty="0"/>
          </a:p>
        </p:txBody>
      </p:sp>
      <p:sp>
        <p:nvSpPr>
          <p:cNvPr id="16" name="pf_578"/>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7" name="phx_579"/>
          <p:cNvSpPr/>
          <p:nvPr/>
        </p:nvSpPr>
        <p:spPr>
          <a:xfrm>
            <a:off x="45720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pe2-lost-phone.jpg</a:t>
            </a:r>
            <a:endParaRPr lang="en-US" sz="900" dirty="0"/>
          </a:p>
        </p:txBody>
      </p:sp>
      <p:sp>
        <p:nvSpPr>
          <p:cNvPr id="18" name="bd_580"/>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19" name="pf_581"/>
          <p:cNvSpPr/>
          <p:nvPr/>
        </p:nvSpPr>
        <p:spPr>
          <a:xfrm rot="90000">
            <a:off x="228600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582"/>
          <p:cNvSpPr/>
          <p:nvPr/>
        </p:nvSpPr>
        <p:spPr>
          <a:xfrm>
            <a:off x="2331720" y="2103120"/>
            <a:ext cx="1691640" cy="12344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pe2-lunch.jpg</a:t>
            </a:r>
            <a:endParaRPr lang="en-US" sz="900" dirty="0"/>
          </a:p>
        </p:txBody>
      </p:sp>
      <p:sp>
        <p:nvSpPr>
          <p:cNvPr id="21" name="bd_583"/>
          <p:cNvSpPr/>
          <p:nvPr/>
        </p:nvSpPr>
        <p:spPr>
          <a:xfrm>
            <a:off x="2185416" y="1956816"/>
            <a:ext cx="420624" cy="42062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B</a:t>
            </a:r>
            <a:endParaRPr lang="en-US" sz="1400" dirty="0"/>
          </a:p>
        </p:txBody>
      </p:sp>
      <p:sp>
        <p:nvSpPr>
          <p:cNvPr id="22" name="cd_584"/>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3" name="ii_585"/>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ih_586"/>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25" name="il_587"/>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Look at A. What's happening?</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Guarda A. Cosa succede?</a:t>
            </a:r>
            <a:endParaRPr lang="en-US" sz="700" dirty="0"/>
          </a:p>
          <a:p>
            <a:pPr marL="152400" indent="-152400">
              <a:spcBef>
                <a:spcPts val="500"/>
              </a:spcBef>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Watch once: why is Kerri surprised?</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Guarda una volta: perché Kerri è sorpresa?</a:t>
            </a:r>
            <a:endParaRPr lang="en-US" sz="700" dirty="0"/>
          </a:p>
          <a:p>
            <a:pPr marL="152400" indent="-152400">
              <a:spcBef>
                <a:spcPts val="500"/>
              </a:spcBef>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Watch again: complete 1–3.</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Guarda di nuovo: completa 1–3.</a:t>
            </a:r>
            <a:endParaRPr lang="en-US" sz="700" dirty="0"/>
          </a:p>
        </p:txBody>
      </p:sp>
      <p:sp>
        <p:nvSpPr>
          <p:cNvPr id="26" name="lq_588"/>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Why is Kerri surprised?</a:t>
            </a:r>
            <a:endParaRPr lang="en-US" sz="1100" dirty="0"/>
          </a:p>
        </p:txBody>
      </p:sp>
      <p:sp>
        <p:nvSpPr>
          <p:cNvPr id="27" name="R1_chip589"/>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The taxi driver brings back her phone!</a:t>
            </a:r>
            <a:endParaRPr lang="en-US" sz="1050" dirty="0"/>
          </a:p>
        </p:txBody>
      </p:sp>
      <p:sp>
        <p:nvSpPr>
          <p:cNvPr id="28" name="lq_590"/>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1  Waitress friendly: Don…</a:t>
            </a:r>
            <a:endParaRPr lang="en-US" sz="1100" dirty="0"/>
          </a:p>
        </p:txBody>
      </p:sp>
      <p:sp>
        <p:nvSpPr>
          <p:cNvPr id="29" name="R2_chip591"/>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left a big tip</a:t>
            </a:r>
            <a:endParaRPr lang="en-US" sz="1050" dirty="0"/>
          </a:p>
        </p:txBody>
      </p:sp>
      <p:sp>
        <p:nvSpPr>
          <p:cNvPr id="30" name="lq_592"/>
          <p:cNvSpPr/>
          <p:nvPr/>
        </p:nvSpPr>
        <p:spPr>
          <a:xfrm>
            <a:off x="6035040" y="3419856"/>
            <a:ext cx="1234440" cy="566928"/>
          </a:xfrm>
          <a:prstGeom prst="roundRect">
            <a:avLst>
              <a:gd name="adj" fmla="val 16129"/>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2  Jenny's worried: Rob…</a:t>
            </a:r>
            <a:endParaRPr lang="en-US" sz="1100" dirty="0"/>
          </a:p>
        </p:txBody>
      </p:sp>
      <p:sp>
        <p:nvSpPr>
          <p:cNvPr id="31" name="R3_chip593"/>
          <p:cNvSpPr/>
          <p:nvPr/>
        </p:nvSpPr>
        <p:spPr>
          <a:xfrm>
            <a:off x="7315200" y="3419856"/>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misses London</a:t>
            </a:r>
            <a:endParaRPr lang="en-US" sz="1050" dirty="0"/>
          </a:p>
        </p:txBody>
      </p:sp>
      <p:sp>
        <p:nvSpPr>
          <p:cNvPr id="32" name="lq_594"/>
          <p:cNvSpPr/>
          <p:nvPr/>
        </p:nvSpPr>
        <p:spPr>
          <a:xfrm>
            <a:off x="6035040" y="4078224"/>
            <a:ext cx="1234440" cy="566928"/>
          </a:xfrm>
          <a:prstGeom prst="roundRect">
            <a:avLst>
              <a:gd name="adj" fmla="val 16129"/>
            </a:avLst>
          </a:prstGeom>
          <a:solidFill>
            <a:srgbClr val="FFFFFF"/>
          </a:solidFill>
          <a:ln w="19050">
            <a:solidFill>
              <a:srgbClr val="FFE07A"/>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3  The taxi driver is very…</a:t>
            </a:r>
            <a:endParaRPr lang="en-US" sz="1100" dirty="0"/>
          </a:p>
        </p:txBody>
      </p:sp>
      <p:sp>
        <p:nvSpPr>
          <p:cNvPr id="33" name="R4_chip595"/>
          <p:cNvSpPr/>
          <p:nvPr/>
        </p:nvSpPr>
        <p:spPr>
          <a:xfrm>
            <a:off x="7315200" y="4078224"/>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kind</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fade">
                                      <p:cBhvr>
                                        <p:cTn id="22"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596"/>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597"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598"/>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Social English</a:t>
            </a:r>
            <a:endParaRPr lang="en-US" sz="2500" dirty="0"/>
          </a:p>
        </p:txBody>
      </p:sp>
      <p:pic>
        <p:nvPicPr>
          <p:cNvPr id="6" name="brP_599" descr="/home/claude/lls-course/v2/assets/brush-pink.png">    </p:cNvPr>
          <p:cNvPicPr>
            <a:picLocks noChangeAspect="1"/>
          </p:cNvPicPr>
          <p:nvPr/>
        </p:nvPicPr>
        <p:blipFill>
          <a:blip r:embed="rId3"/>
          <a:stretch>
            <a:fillRect/>
          </a:stretch>
        </p:blipFill>
        <p:spPr>
          <a:xfrm>
            <a:off x="1207008" y="731520"/>
            <a:ext cx="3771900" cy="402336"/>
          </a:xfrm>
          <a:prstGeom prst="rect">
            <a:avLst/>
          </a:prstGeom>
        </p:spPr>
      </p:pic>
      <p:sp>
        <p:nvSpPr>
          <p:cNvPr id="7" name="ins_600"/>
          <p:cNvSpPr/>
          <p:nvPr/>
        </p:nvSpPr>
        <p:spPr>
          <a:xfrm>
            <a:off x="1353312" y="731520"/>
            <a:ext cx="35158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Remember the missing words? Listen.</a:t>
            </a:r>
            <a:endParaRPr lang="en-US" sz="1250" dirty="0"/>
          </a:p>
        </p:txBody>
      </p:sp>
      <p:sp>
        <p:nvSpPr>
          <p:cNvPr id="8" name="insIT_60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Ricordi le parole mancanti? Ascolta.</a:t>
            </a:r>
            <a:endParaRPr lang="en-US" sz="950" dirty="0"/>
          </a:p>
        </p:txBody>
      </p:sp>
      <p:sp>
        <p:nvSpPr>
          <p:cNvPr id="9" name="cmd_602"/>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603"/>
          <p:cNvSpPr/>
          <p:nvPr/>
        </p:nvSpPr>
        <p:spPr>
          <a:xfrm>
            <a:off x="6510528" y="566928"/>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1" name="meta_604"/>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pic>
        <p:nvPicPr>
          <p:cNvPr id="12" name="logo_60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0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Social English · phrases   ·   📖 SB p.35 · 3c, 3d · video Social English / audio 3.33</a:t>
            </a:r>
            <a:endParaRPr lang="en-US" sz="800" dirty="0"/>
          </a:p>
        </p:txBody>
      </p:sp>
      <p:sp>
        <p:nvSpPr>
          <p:cNvPr id="14" name="ap_607"/>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3.33  ·  🎬 Social English clip</a:t>
            </a:r>
            <a:endParaRPr lang="en-US" sz="1100" dirty="0"/>
          </a:p>
        </p:txBody>
      </p:sp>
      <p:sp>
        <p:nvSpPr>
          <p:cNvPr id="15" name="aw_608"/>
          <p:cNvSpPr/>
          <p:nvPr/>
        </p:nvSpPr>
        <p:spPr>
          <a:xfrm>
            <a:off x="365760" y="1837944"/>
            <a:ext cx="2194560" cy="219456"/>
          </a:xfrm>
          <a:prstGeom prst="rect">
            <a:avLst/>
          </a:prstGeom>
          <a:noFill/>
          <a:ln/>
        </p:spPr>
        <p:txBody>
          <a:bodyPr wrap="square" lIns="0" tIns="0" rIns="0" bIns="0" rtlCol="0" anchor="ctr"/>
          <a:lstStyle/>
          <a:p>
            <a:pPr indent="0" marL="0">
              <a:buNone/>
            </a:pPr>
            <a:r>
              <a:rPr lang="en-US" sz="900" dirty="0">
                <a:solidFill>
                  <a:srgbClr val="C2410C"/>
                </a:solidFill>
                <a:latin typeface="Segoe UI Semibold" pitchFamily="34" charset="0"/>
                <a:ea typeface="Segoe UI Semibold" pitchFamily="34" charset="-122"/>
                <a:cs typeface="Segoe UI Semibold" pitchFamily="34" charset="-120"/>
              </a:rPr>
              <a:t>⚠ Play it from the book audio</a:t>
            </a:r>
            <a:endParaRPr lang="en-US" sz="900" dirty="0"/>
          </a:p>
        </p:txBody>
      </p:sp>
      <p:sp>
        <p:nvSpPr>
          <p:cNvPr id="16" name="pf_609"/>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7" name="phx_610"/>
          <p:cNvSpPr/>
          <p:nvPr/>
        </p:nvSpPr>
        <p:spPr>
          <a:xfrm>
            <a:off x="457200" y="2103120"/>
            <a:ext cx="2606040" cy="169164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pe2-lost-phone.jpg</a:t>
            </a:r>
            <a:endParaRPr lang="en-US" sz="900" dirty="0"/>
          </a:p>
        </p:txBody>
      </p:sp>
      <p:sp>
        <p:nvSpPr>
          <p:cNvPr id="18" name="cd_611"/>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9" name="ii_612"/>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613"/>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1" name="il_614"/>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2" name="gq_615"/>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1  Jenny: Did you ___ what you said in the restaurant, Rob?</a:t>
            </a:r>
            <a:endParaRPr lang="en-US" sz="1200" dirty="0"/>
          </a:p>
        </p:txBody>
      </p:sp>
      <p:sp>
        <p:nvSpPr>
          <p:cNvPr id="23" name="R1_chip616"/>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mean</a:t>
            </a:r>
            <a:endParaRPr lang="en-US" sz="1200" dirty="0"/>
          </a:p>
        </p:txBody>
      </p:sp>
      <p:sp>
        <p:nvSpPr>
          <p:cNvPr id="24" name="gq_617"/>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2  Jenny: It's ___ that you seemed so homesick in there.</a:t>
            </a:r>
            <a:endParaRPr lang="en-US" sz="1200" dirty="0"/>
          </a:p>
        </p:txBody>
      </p:sp>
      <p:sp>
        <p:nvSpPr>
          <p:cNvPr id="25" name="R2_chip618"/>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just</a:t>
            </a:r>
            <a:endParaRPr lang="en-US" sz="1200" dirty="0"/>
          </a:p>
        </p:txBody>
      </p:sp>
      <p:sp>
        <p:nvSpPr>
          <p:cNvPr id="26" name="gq_619"/>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3  Rob: Oh, ___ on a minute.</a:t>
            </a:r>
            <a:endParaRPr lang="en-US" sz="1200" dirty="0"/>
          </a:p>
        </p:txBody>
      </p:sp>
      <p:sp>
        <p:nvSpPr>
          <p:cNvPr id="27" name="R3_chip620"/>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hang</a:t>
            </a:r>
            <a:endParaRPr lang="en-US" sz="1200" dirty="0"/>
          </a:p>
        </p:txBody>
      </p:sp>
      <p:sp>
        <p:nvSpPr>
          <p:cNvPr id="28" name="gq_621"/>
          <p:cNvSpPr/>
          <p:nvPr/>
        </p:nvSpPr>
        <p:spPr>
          <a:xfrm>
            <a:off x="3383280" y="2980944"/>
            <a:ext cx="333756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4  Rob: Our taxi's come ___.</a:t>
            </a:r>
            <a:endParaRPr lang="en-US" sz="1200" dirty="0"/>
          </a:p>
        </p:txBody>
      </p:sp>
      <p:sp>
        <p:nvSpPr>
          <p:cNvPr id="29" name="R4_chip622"/>
          <p:cNvSpPr/>
          <p:nvPr/>
        </p:nvSpPr>
        <p:spPr>
          <a:xfrm>
            <a:off x="6812280" y="2980944"/>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back</a:t>
            </a:r>
            <a:endParaRPr lang="en-US" sz="1200" dirty="0"/>
          </a:p>
        </p:txBody>
      </p:sp>
      <p:sp>
        <p:nvSpPr>
          <p:cNvPr id="30" name="gq_623"/>
          <p:cNvSpPr/>
          <p:nvPr/>
        </p:nvSpPr>
        <p:spPr>
          <a:xfrm>
            <a:off x="3383280" y="3502152"/>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5  Kerri: That was so ___ of him!</a:t>
            </a:r>
            <a:endParaRPr lang="en-US" sz="1200" dirty="0"/>
          </a:p>
        </p:txBody>
      </p:sp>
      <p:sp>
        <p:nvSpPr>
          <p:cNvPr id="31" name="R5_chip624"/>
          <p:cNvSpPr/>
          <p:nvPr/>
        </p:nvSpPr>
        <p:spPr>
          <a:xfrm>
            <a:off x="6812280" y="3502152"/>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kind</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2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19</a:t>
            </a:r>
            <a:endParaRPr lang="en-US" sz="2200" dirty="0"/>
          </a:p>
        </p:txBody>
      </p:sp>
      <p:pic>
        <p:nvPicPr>
          <p:cNvPr id="4" name="brY_626"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627"/>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Which phrase?</a:t>
            </a:r>
            <a:endParaRPr lang="en-US" sz="2500" dirty="0"/>
          </a:p>
        </p:txBody>
      </p:sp>
      <p:pic>
        <p:nvPicPr>
          <p:cNvPr id="6" name="brP_628" descr="/home/claude/lls-course/v2/assets/brush-pink.png">    </p:cNvPr>
          <p:cNvPicPr>
            <a:picLocks noChangeAspect="1"/>
          </p:cNvPicPr>
          <p:nvPr/>
        </p:nvPicPr>
        <p:blipFill>
          <a:blip r:embed="rId3"/>
          <a:stretch>
            <a:fillRect/>
          </a:stretch>
        </p:blipFill>
        <p:spPr>
          <a:xfrm>
            <a:off x="1207008" y="731520"/>
            <a:ext cx="3685032" cy="402336"/>
          </a:xfrm>
          <a:prstGeom prst="rect">
            <a:avLst/>
          </a:prstGeom>
        </p:spPr>
      </p:pic>
      <p:sp>
        <p:nvSpPr>
          <p:cNvPr id="7" name="ins_629"/>
          <p:cNvSpPr/>
          <p:nvPr/>
        </p:nvSpPr>
        <p:spPr>
          <a:xfrm>
            <a:off x="1353312" y="731520"/>
            <a:ext cx="34290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Which phrase is missing? Be quick!</a:t>
            </a:r>
            <a:endParaRPr lang="en-US" sz="1250" dirty="0"/>
          </a:p>
        </p:txBody>
      </p:sp>
      <p:sp>
        <p:nvSpPr>
          <p:cNvPr id="8" name="insIT_63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Quale frase manca? Veloci!</a:t>
            </a:r>
            <a:endParaRPr lang="en-US" sz="950" dirty="0"/>
          </a:p>
        </p:txBody>
      </p:sp>
      <p:sp>
        <p:nvSpPr>
          <p:cNvPr id="9" name="cmd_631"/>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63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teams</a:t>
            </a:r>
            <a:endParaRPr lang="en-US" sz="950" dirty="0"/>
          </a:p>
        </p:txBody>
      </p:sp>
      <p:sp>
        <p:nvSpPr>
          <p:cNvPr id="11" name="tag_63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63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3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Social English game   ·   📖 SB p.35 · 3e</a:t>
            </a:r>
            <a:endParaRPr lang="en-US" sz="800" dirty="0"/>
          </a:p>
        </p:txBody>
      </p:sp>
      <p:sp>
        <p:nvSpPr>
          <p:cNvPr id="14" name="cd_636"/>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63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638"/>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639"/>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150" dirty="0">
                <a:solidFill>
                  <a:srgbClr val="1B2559"/>
                </a:solidFill>
                <a:latin typeface="Segoe UI" pitchFamily="34" charset="0"/>
                <a:ea typeface="Segoe UI" pitchFamily="34" charset="-122"/>
                <a:cs typeface="Segoe UI" pitchFamily="34" charset="-120"/>
              </a:rPr>
              <a:t>Read the mini-conversation.</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Leggi il mini-dialogo.</a:t>
            </a:r>
            <a:endParaRPr lang="en-US" sz="1150" dirty="0"/>
          </a:p>
          <a:p>
            <a:pPr marL="190500" indent="-190500">
              <a:spcBef>
                <a:spcPts val="500"/>
              </a:spcBef>
              <a:spcAft>
                <a:spcPts val="200"/>
              </a:spcAft>
              <a:buSzPct val="100000"/>
              <a:buChar char="2"/>
            </a:pPr>
            <a:r>
              <a:rPr lang="en-US" sz="1150" dirty="0">
                <a:solidFill>
                  <a:srgbClr val="1B2559"/>
                </a:solidFill>
                <a:latin typeface="Segoe UI" pitchFamily="34" charset="0"/>
                <a:ea typeface="Segoe UI" pitchFamily="34" charset="-122"/>
                <a:cs typeface="Segoe UI" pitchFamily="34" charset="-120"/>
              </a:rPr>
              <a:t>Teams: say the missing phrase.</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Squadre: dite la frase mancante.</a:t>
            </a:r>
            <a:endParaRPr lang="en-US" sz="1150" dirty="0"/>
          </a:p>
          <a:p>
            <a:pPr marL="190500" indent="-190500">
              <a:spcBef>
                <a:spcPts val="500"/>
              </a:spcBef>
              <a:spcAft>
                <a:spcPts val="200"/>
              </a:spcAft>
              <a:buSzPct val="100000"/>
              <a:buChar char="3"/>
            </a:pPr>
            <a:r>
              <a:rPr lang="en-US" sz="1150" dirty="0">
                <a:solidFill>
                  <a:srgbClr val="1B2559"/>
                </a:solidFill>
                <a:latin typeface="Segoe UI" pitchFamily="34" charset="0"/>
                <a:ea typeface="Segoe UI" pitchFamily="34" charset="-122"/>
                <a:cs typeface="Segoe UI" pitchFamily="34" charset="-120"/>
              </a:rPr>
              <a:t>First right answer = 1 point.</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Prima risposta giusta = 1 punto.</a:t>
            </a:r>
            <a:endParaRPr lang="en-US" sz="1150" dirty="0"/>
          </a:p>
        </p:txBody>
      </p:sp>
      <p:sp>
        <p:nvSpPr>
          <p:cNvPr id="18" name="pf_640"/>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641" descr="/home/claude/lls-course/v2/cache/spare_life_celebrations_jpg_572x253_31.png">    </p:cNvPr>
          <p:cNvPicPr>
            <a:picLocks noChangeAspect="1"/>
          </p:cNvPicPr>
          <p:nvPr/>
        </p:nvPicPr>
        <p:blipFill>
          <a:blip r:embed="rId5"/>
          <a:stretch>
            <a:fillRect/>
          </a:stretch>
        </p:blipFill>
        <p:spPr>
          <a:xfrm rot="-120000">
            <a:off x="457200" y="3657600"/>
            <a:ext cx="2377440" cy="1051560"/>
          </a:xfrm>
          <a:prstGeom prst="rect">
            <a:avLst/>
          </a:prstGeom>
        </p:spPr>
      </p:pic>
      <p:sp>
        <p:nvSpPr>
          <p:cNvPr id="20" name="bd_642"/>
          <p:cNvSpPr/>
          <p:nvPr/>
        </p:nvSpPr>
        <p:spPr>
          <a:xfrm>
            <a:off x="3246120" y="1508760"/>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gq_643"/>
          <p:cNvSpPr/>
          <p:nvPr/>
        </p:nvSpPr>
        <p:spPr>
          <a:xfrm>
            <a:off x="3657600" y="1417320"/>
            <a:ext cx="2514600" cy="512064"/>
          </a:xfrm>
          <a:prstGeom prst="roundRect">
            <a:avLst>
              <a:gd name="adj" fmla="val 17857"/>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A  The taxi's here! – Oh, ___. My charger!</a:t>
            </a:r>
            <a:endParaRPr lang="en-US" sz="1100" dirty="0"/>
          </a:p>
        </p:txBody>
      </p:sp>
      <p:sp>
        <p:nvSpPr>
          <p:cNvPr id="22" name="R1_chip644"/>
          <p:cNvSpPr/>
          <p:nvPr/>
        </p:nvSpPr>
        <p:spPr>
          <a:xfrm>
            <a:off x="6263640" y="1417320"/>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hang on a minute</a:t>
            </a:r>
            <a:endParaRPr lang="en-US" sz="1100" dirty="0"/>
          </a:p>
        </p:txBody>
      </p:sp>
      <p:sp>
        <p:nvSpPr>
          <p:cNvPr id="23" name="bd_645"/>
          <p:cNvSpPr/>
          <p:nvPr/>
        </p:nvSpPr>
        <p:spPr>
          <a:xfrm>
            <a:off x="3246120" y="208483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gq_646"/>
          <p:cNvSpPr/>
          <p:nvPr/>
        </p:nvSpPr>
        <p:spPr>
          <a:xfrm>
            <a:off x="3657600" y="1993392"/>
            <a:ext cx="2514600" cy="512064"/>
          </a:xfrm>
          <a:prstGeom prst="roundRect">
            <a:avLst>
              <a:gd name="adj" fmla="val 17857"/>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B  Come with us! – I'd like to. ___ I can't afford it.</a:t>
            </a:r>
            <a:endParaRPr lang="en-US" sz="1100" dirty="0"/>
          </a:p>
        </p:txBody>
      </p:sp>
      <p:sp>
        <p:nvSpPr>
          <p:cNvPr id="25" name="R2_chip647"/>
          <p:cNvSpPr/>
          <p:nvPr/>
        </p:nvSpPr>
        <p:spPr>
          <a:xfrm>
            <a:off x="6263640" y="1993392"/>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It's just that</a:t>
            </a:r>
            <a:endParaRPr lang="en-US" sz="1100" dirty="0"/>
          </a:p>
        </p:txBody>
      </p:sp>
      <p:sp>
        <p:nvSpPr>
          <p:cNvPr id="26" name="bd_648"/>
          <p:cNvSpPr/>
          <p:nvPr/>
        </p:nvSpPr>
        <p:spPr>
          <a:xfrm>
            <a:off x="3246120"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7" name="gq_649"/>
          <p:cNvSpPr/>
          <p:nvPr/>
        </p:nvSpPr>
        <p:spPr>
          <a:xfrm>
            <a:off x="3657600" y="2569464"/>
            <a:ext cx="2514600" cy="512064"/>
          </a:xfrm>
          <a:prstGeom prst="roundRect">
            <a:avLst>
              <a:gd name="adj" fmla="val 17857"/>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C  Did Mark drive you home? – Yes, it was ___.</a:t>
            </a:r>
            <a:endParaRPr lang="en-US" sz="1100" dirty="0"/>
          </a:p>
        </p:txBody>
      </p:sp>
      <p:sp>
        <p:nvSpPr>
          <p:cNvPr id="28" name="R3_chip650"/>
          <p:cNvSpPr/>
          <p:nvPr/>
        </p:nvSpPr>
        <p:spPr>
          <a:xfrm>
            <a:off x="6263640" y="2569464"/>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so kind of him</a:t>
            </a:r>
            <a:endParaRPr lang="en-US" sz="1100" dirty="0"/>
          </a:p>
        </p:txBody>
      </p:sp>
      <p:sp>
        <p:nvSpPr>
          <p:cNvPr id="29" name="bd_651"/>
          <p:cNvSpPr/>
          <p:nvPr/>
        </p:nvSpPr>
        <p:spPr>
          <a:xfrm>
            <a:off x="3246120" y="32369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30" name="gq_652"/>
          <p:cNvSpPr/>
          <p:nvPr/>
        </p:nvSpPr>
        <p:spPr>
          <a:xfrm>
            <a:off x="3657600" y="3145536"/>
            <a:ext cx="2514600" cy="512064"/>
          </a:xfrm>
          <a:prstGeom prst="roundRect">
            <a:avLst>
              <a:gd name="adj" fmla="val 17857"/>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D  How long in Prague? – Three days. I ___ on Sunday.</a:t>
            </a:r>
            <a:endParaRPr lang="en-US" sz="1100" dirty="0"/>
          </a:p>
        </p:txBody>
      </p:sp>
      <p:sp>
        <p:nvSpPr>
          <p:cNvPr id="31" name="R4_chip653"/>
          <p:cNvSpPr/>
          <p:nvPr/>
        </p:nvSpPr>
        <p:spPr>
          <a:xfrm>
            <a:off x="6263640" y="3145536"/>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come back</a:t>
            </a:r>
            <a:endParaRPr lang="en-US" sz="1100" dirty="0"/>
          </a:p>
        </p:txBody>
      </p:sp>
      <p:sp>
        <p:nvSpPr>
          <p:cNvPr id="32" name="bd_654"/>
          <p:cNvSpPr/>
          <p:nvPr/>
        </p:nvSpPr>
        <p:spPr>
          <a:xfrm>
            <a:off x="3246120" y="3813048"/>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33" name="gq_655"/>
          <p:cNvSpPr/>
          <p:nvPr/>
        </p:nvSpPr>
        <p:spPr>
          <a:xfrm>
            <a:off x="3657600" y="3721608"/>
            <a:ext cx="2514600" cy="512064"/>
          </a:xfrm>
          <a:prstGeom prst="roundRect">
            <a:avLst>
              <a:gd name="adj" fmla="val 17857"/>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E  ___ about the tickets? – Yes! It's my present!</a:t>
            </a:r>
            <a:endParaRPr lang="en-US" sz="1100" dirty="0"/>
          </a:p>
        </p:txBody>
      </p:sp>
      <p:sp>
        <p:nvSpPr>
          <p:cNvPr id="34" name="R5_chip656"/>
          <p:cNvSpPr/>
          <p:nvPr/>
        </p:nvSpPr>
        <p:spPr>
          <a:xfrm>
            <a:off x="6263640" y="3721608"/>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Did you mean what you said</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57"/>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20</a:t>
            </a:r>
            <a:endParaRPr lang="en-US" sz="2200" dirty="0"/>
          </a:p>
        </p:txBody>
      </p:sp>
      <p:pic>
        <p:nvPicPr>
          <p:cNvPr id="4" name="brY_658" descr="/home/claude/lls-course/v2/assets/brush-yellow.png">    </p:cNvPr>
          <p:cNvPicPr>
            <a:picLocks noChangeAspect="1"/>
          </p:cNvPicPr>
          <p:nvPr/>
        </p:nvPicPr>
        <p:blipFill>
          <a:blip r:embed="rId2"/>
          <a:stretch>
            <a:fillRect/>
          </a:stretch>
        </p:blipFill>
        <p:spPr>
          <a:xfrm>
            <a:off x="1097280" y="146304"/>
            <a:ext cx="2461565" cy="621792"/>
          </a:xfrm>
          <a:prstGeom prst="rect">
            <a:avLst/>
          </a:prstGeom>
        </p:spPr>
      </p:pic>
      <p:sp>
        <p:nvSpPr>
          <p:cNvPr id="5" name="title_659"/>
          <p:cNvSpPr/>
          <p:nvPr/>
        </p:nvSpPr>
        <p:spPr>
          <a:xfrm>
            <a:off x="1261872" y="164592"/>
            <a:ext cx="2187245"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No comment!</a:t>
            </a:r>
            <a:endParaRPr lang="en-US" sz="2400" dirty="0"/>
          </a:p>
        </p:txBody>
      </p:sp>
      <p:pic>
        <p:nvPicPr>
          <p:cNvPr id="6" name="brP_660" descr="/home/claude/lls-course/v2/assets/brush-pink.png">    </p:cNvPr>
          <p:cNvPicPr>
            <a:picLocks noChangeAspect="1"/>
          </p:cNvPicPr>
          <p:nvPr/>
        </p:nvPicPr>
        <p:blipFill>
          <a:blip r:embed="rId3"/>
          <a:stretch>
            <a:fillRect/>
          </a:stretch>
        </p:blipFill>
        <p:spPr>
          <a:xfrm>
            <a:off x="1207008" y="731520"/>
            <a:ext cx="4206240" cy="402336"/>
          </a:xfrm>
          <a:prstGeom prst="rect">
            <a:avLst/>
          </a:prstGeom>
        </p:spPr>
      </p:pic>
      <p:sp>
        <p:nvSpPr>
          <p:cNvPr id="7" name="ins_661"/>
          <p:cNvSpPr/>
          <p:nvPr/>
        </p:nvSpPr>
        <p:spPr>
          <a:xfrm>
            <a:off x="1353312" y="731520"/>
            <a:ext cx="39502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 journalist. B: a difficult celebrity!</a:t>
            </a:r>
            <a:endParaRPr lang="en-US" sz="1250" dirty="0"/>
          </a:p>
        </p:txBody>
      </p:sp>
      <p:sp>
        <p:nvSpPr>
          <p:cNvPr id="8" name="insIT_66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 giornalista. B: una celebrità difficile!</a:t>
            </a:r>
            <a:endParaRPr lang="en-US" sz="950" dirty="0"/>
          </a:p>
        </p:txBody>
      </p:sp>
      <p:sp>
        <p:nvSpPr>
          <p:cNvPr id="9" name="cmd_663"/>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66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1" name="tag_66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66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66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Speaking · role play   ·   📖 SB pp.34–35 · Can you…? interview someone or be interviewed · role play adapted from the episode</a:t>
            </a:r>
            <a:endParaRPr lang="en-US" sz="800" dirty="0"/>
          </a:p>
        </p:txBody>
      </p:sp>
      <p:sp>
        <p:nvSpPr>
          <p:cNvPr id="14" name="pf_668"/>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5" name="phx_669"/>
          <p:cNvSpPr/>
          <p:nvPr/>
        </p:nvSpPr>
        <p:spPr>
          <a:xfrm>
            <a:off x="365760" y="1417320"/>
            <a:ext cx="2697480" cy="178308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pe2-interview.jpg</a:t>
            </a:r>
            <a:endParaRPr lang="en-US" sz="900" dirty="0"/>
          </a:p>
        </p:txBody>
      </p:sp>
      <p:sp>
        <p:nvSpPr>
          <p:cNvPr id="16" name="cd_670"/>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671"/>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672"/>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673"/>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What do you think of…?</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To be honest… · Personally…</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No comment! · Hang on!</a:t>
            </a:r>
            <a:endParaRPr lang="en-US" sz="1050" dirty="0"/>
          </a:p>
        </p:txBody>
      </p:sp>
      <p:sp>
        <p:nvSpPr>
          <p:cNvPr id="20" name="R1_qb674"/>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675"/>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Your new album / film / team: what's it like?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To be honest, I think it's my best work.</a:t>
            </a:r>
            <a:endParaRPr lang="en-US" sz="1250" dirty="0"/>
          </a:p>
        </p:txBody>
      </p:sp>
      <p:sp>
        <p:nvSpPr>
          <p:cNvPr id="22" name="R2_qb676"/>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677"/>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have you been doing recently?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Well, I've been recording some new songs.</a:t>
            </a:r>
            <a:endParaRPr lang="en-US" sz="1250" dirty="0"/>
          </a:p>
        </p:txBody>
      </p:sp>
      <p:sp>
        <p:nvSpPr>
          <p:cNvPr id="24" name="R3_qb678"/>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679"/>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 do you think of Sicily? And New York?</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Personally, I think Sicily is more easy-going.</a:t>
            </a:r>
            <a:endParaRPr lang="en-US" sz="1250" dirty="0"/>
          </a:p>
        </p:txBody>
      </p:sp>
      <p:sp>
        <p:nvSpPr>
          <p:cNvPr id="26" name="R4_qb680"/>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681"/>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Is it true you've had a break-up?</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No comment! I never talk about my private life.</a:t>
            </a:r>
            <a:endParaRPr lang="en-US" sz="1250" dirty="0"/>
          </a:p>
        </p:txBody>
      </p:sp>
      <p:sp>
        <p:nvSpPr>
          <p:cNvPr id="28" name="R5_qb682"/>
          <p:cNvSpPr/>
          <p:nvPr/>
        </p:nvSpPr>
        <p:spPr>
          <a:xfrm>
            <a:off x="3273552" y="3867912"/>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5</a:t>
            </a:r>
            <a:endParaRPr lang="en-US" sz="1100" dirty="0"/>
          </a:p>
        </p:txBody>
      </p:sp>
      <p:sp>
        <p:nvSpPr>
          <p:cNvPr id="29" name="R5_sq683"/>
          <p:cNvSpPr/>
          <p:nvPr/>
        </p:nvSpPr>
        <p:spPr>
          <a:xfrm>
            <a:off x="3675888" y="3831336"/>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Don't you agree that fans are important?</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OK, I agree. But hang on a minute – that's private!</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400"/>
                                        <p:tgtEl>
                                          <p:spTgt spid="28"/>
                                        </p:tgtEl>
                                      </p:cBhvr>
                                    </p:animEffect>
                                  </p:childTnLst>
                                </p:cTn>
                              </p:par>
                              <p:par>
                                <p:cTn id="40" presetID="10" presetClass="entr" presetSubtype="0" fill="hold" nodeType="with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684"/>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21</a:t>
            </a:r>
            <a:endParaRPr lang="en-US" sz="2200" dirty="0"/>
          </a:p>
        </p:txBody>
      </p:sp>
      <p:pic>
        <p:nvPicPr>
          <p:cNvPr id="4" name="brY_685"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686"/>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687"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688"/>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68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Libri chiusi! Cosa ricordi?</a:t>
            </a:r>
            <a:endParaRPr lang="en-US" sz="950" dirty="0"/>
          </a:p>
        </p:txBody>
      </p:sp>
      <p:sp>
        <p:nvSpPr>
          <p:cNvPr id="9" name="meta_690"/>
          <p:cNvSpPr/>
          <p:nvPr/>
        </p:nvSpPr>
        <p:spPr>
          <a:xfrm>
            <a:off x="6583680" y="182880"/>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691"/>
          <p:cNvSpPr/>
          <p:nvPr/>
        </p:nvSpPr>
        <p:spPr>
          <a:xfrm>
            <a:off x="6510528" y="420624"/>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69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69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Exit · what can you remember?</a:t>
            </a:r>
            <a:endParaRPr lang="en-US" sz="800" dirty="0"/>
          </a:p>
        </p:txBody>
      </p:sp>
      <p:sp>
        <p:nvSpPr>
          <p:cNvPr id="13" name="bd_694"/>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695"/>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phrases to give your opinion</a:t>
            </a:r>
            <a:endParaRPr lang="en-US" sz="1400" dirty="0"/>
          </a:p>
        </p:txBody>
      </p:sp>
      <p:sp>
        <p:nvSpPr>
          <p:cNvPr id="15" name="bd_696"/>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697"/>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ways to agree or disagree</a:t>
            </a:r>
            <a:endParaRPr lang="en-US" sz="1400" dirty="0"/>
          </a:p>
        </p:txBody>
      </p:sp>
      <p:sp>
        <p:nvSpPr>
          <p:cNvPr id="17" name="bd_698"/>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699"/>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Social English phrase: Hang on…</a:t>
            </a:r>
            <a:endParaRPr lang="en-US" sz="1400" dirty="0"/>
          </a:p>
        </p:txBody>
      </p:sp>
      <p:sp>
        <p:nvSpPr>
          <p:cNvPr id="19" name="cd_700"/>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701"/>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702"/>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703"/>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Workbook Practical English 2: 1a, 1b, 2</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Workbook Can you remember? 1–3 (revision)</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Homework sheet in the LLS app</a:t>
            </a:r>
            <a:endParaRPr lang="en-US" sz="1150" dirty="0"/>
          </a:p>
        </p:txBody>
      </p:sp>
      <p:sp>
        <p:nvSpPr>
          <p:cNvPr id="23" name="st_704"/>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4A part 1 · Bad manners?</a:t>
            </a:r>
            <a:endParaRPr lang="en-US" sz="1100" dirty="0"/>
          </a:p>
        </p:txBody>
      </p:sp>
    </p:spTree>
  </p:cSld>
  <p:clrMapOvr>
    <a:masterClrMapping/>
  </p:clrMapOvr>
  <p:transition spd="med">
    <p:push dir="l"/>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0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22</a:t>
            </a:r>
            <a:endParaRPr lang="en-US" sz="2200" dirty="0"/>
          </a:p>
        </p:txBody>
      </p:sp>
      <p:pic>
        <p:nvPicPr>
          <p:cNvPr id="4" name="brY_706" descr="/home/claude/lls-course/v2/assets/brush-yellow.png">    </p:cNvPr>
          <p:cNvPicPr>
            <a:picLocks noChangeAspect="1"/>
          </p:cNvPicPr>
          <p:nvPr/>
        </p:nvPicPr>
        <p:blipFill>
          <a:blip r:embed="rId2"/>
          <a:stretch>
            <a:fillRect/>
          </a:stretch>
        </p:blipFill>
        <p:spPr>
          <a:xfrm>
            <a:off x="1097280" y="146304"/>
            <a:ext cx="2618842" cy="621792"/>
          </a:xfrm>
          <a:prstGeom prst="rect">
            <a:avLst/>
          </a:prstGeom>
        </p:spPr>
      </p:pic>
      <p:sp>
        <p:nvSpPr>
          <p:cNvPr id="5" name="title_707"/>
          <p:cNvSpPr/>
          <p:nvPr/>
        </p:nvSpPr>
        <p:spPr>
          <a:xfrm>
            <a:off x="1261872" y="164592"/>
            <a:ext cx="234452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Describe it!</a:t>
            </a:r>
            <a:endParaRPr lang="en-US" sz="2500" dirty="0"/>
          </a:p>
        </p:txBody>
      </p:sp>
      <p:pic>
        <p:nvPicPr>
          <p:cNvPr id="6" name="brP_708" descr="/home/claude/lls-course/v2/assets/brush-pink.png">    </p:cNvPr>
          <p:cNvPicPr>
            <a:picLocks noChangeAspect="1"/>
          </p:cNvPicPr>
          <p:nvPr/>
        </p:nvPicPr>
        <p:blipFill>
          <a:blip r:embed="rId3"/>
          <a:stretch>
            <a:fillRect/>
          </a:stretch>
        </p:blipFill>
        <p:spPr>
          <a:xfrm>
            <a:off x="1207008" y="731520"/>
            <a:ext cx="3424428" cy="402336"/>
          </a:xfrm>
          <a:prstGeom prst="rect">
            <a:avLst/>
          </a:prstGeom>
        </p:spPr>
      </p:pic>
      <p:sp>
        <p:nvSpPr>
          <p:cNvPr id="7" name="ins_709"/>
          <p:cNvSpPr/>
          <p:nvPr/>
        </p:nvSpPr>
        <p:spPr>
          <a:xfrm>
            <a:off x="1353312" y="731520"/>
            <a:ext cx="316839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Explain the word. Don't say it!</a:t>
            </a:r>
            <a:endParaRPr lang="en-US" sz="1250" dirty="0"/>
          </a:p>
        </p:txBody>
      </p:sp>
      <p:sp>
        <p:nvSpPr>
          <p:cNvPr id="8" name="insIT_71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Spiega la parola. Non dirla!</a:t>
            </a:r>
            <a:endParaRPr lang="en-US" sz="950" dirty="0"/>
          </a:p>
        </p:txBody>
      </p:sp>
      <p:sp>
        <p:nvSpPr>
          <p:cNvPr id="9" name="cmd_711"/>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71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1" name="tag_71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71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71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Extra game · episode words</a:t>
            </a:r>
            <a:endParaRPr lang="en-US" sz="800" dirty="0"/>
          </a:p>
        </p:txBody>
      </p:sp>
      <p:sp>
        <p:nvSpPr>
          <p:cNvPr id="14" name="st_716"/>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cd_717"/>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71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719"/>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8" name="il_720"/>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1150" dirty="0">
                <a:solidFill>
                  <a:srgbClr val="1B2559"/>
                </a:solidFill>
                <a:latin typeface="Segoe UI" pitchFamily="34" charset="0"/>
                <a:ea typeface="Segoe UI" pitchFamily="34" charset="-122"/>
                <a:cs typeface="Segoe UI" pitchFamily="34" charset="-120"/>
              </a:rPr>
              <a:t>A looks at the screen. B turns around.</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A guarda lo schermo. B si gira.</a:t>
            </a:r>
            <a:endParaRPr lang="en-US" sz="1150" dirty="0"/>
          </a:p>
          <a:p>
            <a:pPr marL="190500" indent="-190500">
              <a:spcBef>
                <a:spcPts val="500"/>
              </a:spcBef>
              <a:spcAft>
                <a:spcPts val="200"/>
              </a:spcAft>
              <a:buSzPct val="100000"/>
              <a:buChar char="2"/>
            </a:pPr>
            <a:r>
              <a:rPr lang="en-US" sz="1150" dirty="0">
                <a:solidFill>
                  <a:srgbClr val="1B2559"/>
                </a:solidFill>
                <a:latin typeface="Segoe UI" pitchFamily="34" charset="0"/>
                <a:ea typeface="Segoe UI" pitchFamily="34" charset="-122"/>
                <a:cs typeface="Segoe UI" pitchFamily="34" charset="-120"/>
              </a:rPr>
              <a:t>A explains the word in English.</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A spiega la parola in inglese.</a:t>
            </a:r>
            <a:endParaRPr lang="en-US" sz="1150" dirty="0"/>
          </a:p>
          <a:p>
            <a:pPr marL="190500" indent="-190500">
              <a:spcBef>
                <a:spcPts val="500"/>
              </a:spcBef>
              <a:spcAft>
                <a:spcPts val="200"/>
              </a:spcAft>
              <a:buSzPct val="100000"/>
              <a:buChar char="3"/>
            </a:pPr>
            <a:r>
              <a:rPr lang="en-US" sz="1150" dirty="0">
                <a:solidFill>
                  <a:srgbClr val="1B2559"/>
                </a:solidFill>
                <a:latin typeface="Segoe UI" pitchFamily="34" charset="0"/>
                <a:ea typeface="Segoe UI" pitchFamily="34" charset="-122"/>
                <a:cs typeface="Segoe UI" pitchFamily="34" charset="-120"/>
              </a:rPr>
              <a:t>B guesses. Then swap!</a:t>
            </a:r>
            <a:endParaRPr lang="en-US" sz="1150" dirty="0"/>
          </a:p>
          <a:p>
            <a:pPr marL="190500" indent="-190500">
              <a:spcAft>
                <a:spcPts val="200"/>
              </a:spcAft>
              <a:buSzPct val="100000"/>
              <a:buChar char="​"/>
            </a:pPr>
            <a:r>
              <a:rPr lang="en-US" sz="1000" i="1" dirty="0">
                <a:solidFill>
                  <a:srgbClr val="5B6785"/>
                </a:solidFill>
                <a:latin typeface="Segoe UI" pitchFamily="34" charset="0"/>
                <a:ea typeface="Segoe UI" pitchFamily="34" charset="-122"/>
                <a:cs typeface="Segoe UI" pitchFamily="34" charset="-120"/>
              </a:rPr>
              <a:t>B indovina. Poi scambiatevi!</a:t>
            </a:r>
            <a:endParaRPr lang="en-US" sz="1150" dirty="0"/>
          </a:p>
        </p:txBody>
      </p:sp>
      <p:sp>
        <p:nvSpPr>
          <p:cNvPr id="19" name="pf_721"/>
          <p:cNvSpPr/>
          <p:nvPr/>
        </p:nvSpPr>
        <p:spPr>
          <a:xfrm rot="-120000">
            <a:off x="411480" y="3611880"/>
            <a:ext cx="2468880" cy="1143000"/>
          </a:xfrm>
          <a:prstGeom prst="roundRect">
            <a:avLst>
              <a:gd name="adj" fmla="val 136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20" name="phx_722"/>
          <p:cNvSpPr/>
          <p:nvPr/>
        </p:nvSpPr>
        <p:spPr>
          <a:xfrm>
            <a:off x="457200" y="3657600"/>
            <a:ext cx="2377440" cy="105156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pe2-solo-singer.jpg</a:t>
            </a:r>
            <a:endParaRPr lang="en-US" sz="900" dirty="0"/>
          </a:p>
        </p:txBody>
      </p:sp>
      <p:sp>
        <p:nvSpPr>
          <p:cNvPr id="21" name="rl_723"/>
          <p:cNvSpPr/>
          <p:nvPr/>
        </p:nvSpPr>
        <p:spPr>
          <a:xfrm>
            <a:off x="3246120" y="1417320"/>
            <a:ext cx="2651760" cy="310896"/>
          </a:xfrm>
          <a:prstGeom prst="roundRect">
            <a:avLst>
              <a:gd name="adj" fmla="val 50000"/>
            </a:avLst>
          </a:prstGeom>
          <a:solidFill>
            <a:srgbClr val="E8508F"/>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A explains</a:t>
            </a:r>
            <a:endParaRPr lang="en-US" sz="1100" dirty="0"/>
          </a:p>
        </p:txBody>
      </p:sp>
      <p:sp>
        <p:nvSpPr>
          <p:cNvPr id="22" name="R1_w724"/>
          <p:cNvSpPr/>
          <p:nvPr/>
        </p:nvSpPr>
        <p:spPr>
          <a:xfrm>
            <a:off x="3246120" y="185623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solo</a:t>
            </a:r>
            <a:endParaRPr lang="en-US" sz="1700" dirty="0"/>
          </a:p>
        </p:txBody>
      </p:sp>
      <p:sp>
        <p:nvSpPr>
          <p:cNvPr id="23" name="R3_w725"/>
          <p:cNvSpPr/>
          <p:nvPr/>
        </p:nvSpPr>
        <p:spPr>
          <a:xfrm>
            <a:off x="3246120" y="258775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 gig</a:t>
            </a:r>
            <a:endParaRPr lang="en-US" sz="1700" dirty="0"/>
          </a:p>
        </p:txBody>
      </p:sp>
      <p:sp>
        <p:nvSpPr>
          <p:cNvPr id="24" name="R5_w726"/>
          <p:cNvSpPr/>
          <p:nvPr/>
        </p:nvSpPr>
        <p:spPr>
          <a:xfrm>
            <a:off x="3246120" y="331927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private life</a:t>
            </a:r>
            <a:endParaRPr lang="en-US" sz="1700" dirty="0"/>
          </a:p>
        </p:txBody>
      </p:sp>
      <p:sp>
        <p:nvSpPr>
          <p:cNvPr id="25" name="R7_w727"/>
          <p:cNvSpPr/>
          <p:nvPr/>
        </p:nvSpPr>
        <p:spPr>
          <a:xfrm>
            <a:off x="3246120" y="4050792"/>
            <a:ext cx="2651760" cy="621792"/>
          </a:xfrm>
          <a:prstGeom prst="roundRect">
            <a:avLst>
              <a:gd name="adj" fmla="val 20588"/>
            </a:avLst>
          </a:prstGeom>
          <a:solidFill>
            <a:srgbClr val="FFFFFF"/>
          </a:solidFill>
          <a:ln w="31750">
            <a:solidFill>
              <a:srgbClr val="F7A6C4"/>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a big tip</a:t>
            </a:r>
            <a:endParaRPr lang="en-US" sz="1700" dirty="0"/>
          </a:p>
        </p:txBody>
      </p:sp>
      <p:sp>
        <p:nvSpPr>
          <p:cNvPr id="26" name="rl_728"/>
          <p:cNvSpPr/>
          <p:nvPr/>
        </p:nvSpPr>
        <p:spPr>
          <a:xfrm>
            <a:off x="6080760" y="1417320"/>
            <a:ext cx="2651760" cy="310896"/>
          </a:xfrm>
          <a:prstGeom prst="roundRect">
            <a:avLst>
              <a:gd name="adj" fmla="val 50000"/>
            </a:avLst>
          </a:prstGeom>
          <a:solidFill>
            <a:srgbClr val="2F8DE4"/>
          </a:solidFill>
          <a:ln/>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B explains</a:t>
            </a:r>
            <a:endParaRPr lang="en-US" sz="1100" dirty="0"/>
          </a:p>
        </p:txBody>
      </p:sp>
      <p:sp>
        <p:nvSpPr>
          <p:cNvPr id="27" name="R2_w729"/>
          <p:cNvSpPr/>
          <p:nvPr/>
        </p:nvSpPr>
        <p:spPr>
          <a:xfrm>
            <a:off x="6080760" y="185623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easy-going</a:t>
            </a:r>
            <a:endParaRPr lang="en-US" sz="1700" dirty="0"/>
          </a:p>
        </p:txBody>
      </p:sp>
      <p:sp>
        <p:nvSpPr>
          <p:cNvPr id="28" name="R4_w730"/>
          <p:cNvSpPr/>
          <p:nvPr/>
        </p:nvSpPr>
        <p:spPr>
          <a:xfrm>
            <a:off x="6080760" y="258775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hectic</a:t>
            </a:r>
            <a:endParaRPr lang="en-US" sz="1700" dirty="0"/>
          </a:p>
        </p:txBody>
      </p:sp>
      <p:sp>
        <p:nvSpPr>
          <p:cNvPr id="29" name="R6_w731"/>
          <p:cNvSpPr/>
          <p:nvPr/>
        </p:nvSpPr>
        <p:spPr>
          <a:xfrm>
            <a:off x="6080760" y="331927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fake</a:t>
            </a:r>
            <a:endParaRPr lang="en-US" sz="1700" dirty="0"/>
          </a:p>
        </p:txBody>
      </p:sp>
      <p:sp>
        <p:nvSpPr>
          <p:cNvPr id="30" name="R8_w732"/>
          <p:cNvSpPr/>
          <p:nvPr/>
        </p:nvSpPr>
        <p:spPr>
          <a:xfrm>
            <a:off x="6080760" y="4050792"/>
            <a:ext cx="2651760" cy="621792"/>
          </a:xfrm>
          <a:prstGeom prst="roundRect">
            <a:avLst>
              <a:gd name="adj" fmla="val 20588"/>
            </a:avLst>
          </a:prstGeom>
          <a:solidFill>
            <a:srgbClr val="FFFFFF"/>
          </a:solidFill>
          <a:ln w="31750">
            <a:solidFill>
              <a:srgbClr val="A9D3F5"/>
            </a:solidFill>
          </a:ln>
          <a:effectLst>
            <a:outerShdw sx="100000" sy="100000" kx="0" ky="0" algn="bl" rotWithShape="0" blurRad="88900" dist="31750" dir="5400000">
              <a:srgbClr val="1B2559">
                <a:alpha val="10000"/>
              </a:srgbClr>
            </a:outerShdw>
          </a:effectLst>
        </p:spPr>
        <p:txBody>
          <a:bodyPr wrap="square" rtlCol="0" anchor="ctr">
            <a:normAutofit/>
          </a:bodyPr>
          <a:lstStyle/>
          <a:p>
            <a:pPr algn="ctr" indent="0" marL="0">
              <a:buNone/>
            </a:pPr>
            <a:r>
              <a:rPr lang="en-US" sz="1700" dirty="0">
                <a:solidFill>
                  <a:srgbClr val="1B2559"/>
                </a:solidFill>
                <a:latin typeface="Arial Rounded MT Bold" pitchFamily="34" charset="0"/>
                <a:ea typeface="Arial Rounded MT Bold" pitchFamily="34" charset="-122"/>
                <a:cs typeface="Arial Rounded MT Bold" pitchFamily="34" charset="-120"/>
              </a:rPr>
              <a:t>homesick</a:t>
            </a:r>
            <a:endParaRPr lang="en-US" sz="17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fade">
                                      <p:cBhvr>
                                        <p:cTn id="12" dur="40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4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400"/>
                                        <p:tgtEl>
                                          <p:spTgt spid="2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4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33"/>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23</a:t>
            </a:r>
            <a:endParaRPr lang="en-US" sz="2200" dirty="0"/>
          </a:p>
        </p:txBody>
      </p:sp>
      <p:pic>
        <p:nvPicPr>
          <p:cNvPr id="4" name="brY_734" descr="/home/claude/lls-course/v2/assets/brush-yellow.png">    </p:cNvPr>
          <p:cNvPicPr>
            <a:picLocks noChangeAspect="1"/>
          </p:cNvPicPr>
          <p:nvPr/>
        </p:nvPicPr>
        <p:blipFill>
          <a:blip r:embed="rId2"/>
          <a:stretch>
            <a:fillRect/>
          </a:stretch>
        </p:blipFill>
        <p:spPr>
          <a:xfrm>
            <a:off x="1097280" y="146304"/>
            <a:ext cx="2776118" cy="621792"/>
          </a:xfrm>
          <a:prstGeom prst="rect">
            <a:avLst/>
          </a:prstGeom>
        </p:spPr>
      </p:pic>
      <p:sp>
        <p:nvSpPr>
          <p:cNvPr id="5" name="title_735"/>
          <p:cNvSpPr/>
          <p:nvPr/>
        </p:nvSpPr>
        <p:spPr>
          <a:xfrm>
            <a:off x="1261872" y="164592"/>
            <a:ext cx="2501798"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City face-off</a:t>
            </a:r>
            <a:endParaRPr lang="en-US" sz="2500" dirty="0"/>
          </a:p>
        </p:txBody>
      </p:sp>
      <p:pic>
        <p:nvPicPr>
          <p:cNvPr id="6" name="brP_736" descr="/home/claude/lls-course/v2/assets/brush-pink.png">    </p:cNvPr>
          <p:cNvPicPr>
            <a:picLocks noChangeAspect="1"/>
          </p:cNvPicPr>
          <p:nvPr/>
        </p:nvPicPr>
        <p:blipFill>
          <a:blip r:embed="rId3"/>
          <a:stretch>
            <a:fillRect/>
          </a:stretch>
        </p:blipFill>
        <p:spPr>
          <a:xfrm>
            <a:off x="1207008" y="731520"/>
            <a:ext cx="3163824" cy="402336"/>
          </a:xfrm>
          <a:prstGeom prst="rect">
            <a:avLst/>
          </a:prstGeom>
        </p:spPr>
      </p:pic>
      <p:sp>
        <p:nvSpPr>
          <p:cNvPr id="7" name="ins_737"/>
          <p:cNvSpPr/>
          <p:nvPr/>
        </p:nvSpPr>
        <p:spPr>
          <a:xfrm>
            <a:off x="1353312" y="731520"/>
            <a:ext cx="2907792"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Two teams: defend YOUR side!</a:t>
            </a:r>
            <a:endParaRPr lang="en-US" sz="1250" dirty="0"/>
          </a:p>
        </p:txBody>
      </p:sp>
      <p:sp>
        <p:nvSpPr>
          <p:cNvPr id="8" name="insIT_738"/>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Due squadre: difendete la VOSTRA parte!</a:t>
            </a:r>
            <a:endParaRPr lang="en-US" sz="950" dirty="0"/>
          </a:p>
        </p:txBody>
      </p:sp>
      <p:sp>
        <p:nvSpPr>
          <p:cNvPr id="9" name="cmd_739"/>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740"/>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6 min   🏆 teams</a:t>
            </a:r>
            <a:endParaRPr lang="en-US" sz="950" dirty="0"/>
          </a:p>
        </p:txBody>
      </p:sp>
      <p:sp>
        <p:nvSpPr>
          <p:cNvPr id="11" name="tag_741"/>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74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74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PE2 · Extra · debate</a:t>
            </a:r>
            <a:endParaRPr lang="en-US" sz="800" dirty="0"/>
          </a:p>
        </p:txBody>
      </p:sp>
      <p:sp>
        <p:nvSpPr>
          <p:cNvPr id="14" name="st_744"/>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5" name="pf_745"/>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sp>
        <p:nvSpPr>
          <p:cNvPr id="16" name="phx_746"/>
          <p:cNvSpPr/>
          <p:nvPr/>
        </p:nvSpPr>
        <p:spPr>
          <a:xfrm>
            <a:off x="365760" y="1417320"/>
            <a:ext cx="2697480" cy="1783080"/>
          </a:xfrm>
          <a:prstGeom prst="rect">
            <a:avLst/>
          </a:prstGeom>
          <a:solidFill>
            <a:srgbClr val="EEF2F7"/>
          </a:solidFill>
          <a:ln/>
        </p:spPr>
        <p:txBody>
          <a:bodyPr wrap="square" rtlCol="0" anchor="ctr"/>
          <a:lstStyle/>
          <a:p>
            <a:pPr algn="ctr" indent="0" marL="0">
              <a:buNone/>
            </a:pPr>
            <a:r>
              <a:rPr lang="en-US" sz="900" dirty="0">
                <a:solidFill>
                  <a:srgbClr val="5B6785"/>
                </a:solidFill>
                <a:latin typeface="Segoe UI" pitchFamily="34" charset="0"/>
                <a:ea typeface="Segoe UI" pitchFamily="34" charset="-122"/>
                <a:cs typeface="Segoe UI" pitchFamily="34" charset="-120"/>
              </a:rPr>
              <a:t>📷 pe2-palermo.jpg</a:t>
            </a:r>
            <a:endParaRPr lang="en-US" sz="900" dirty="0"/>
          </a:p>
        </p:txBody>
      </p:sp>
      <p:sp>
        <p:nvSpPr>
          <p:cNvPr id="17" name="cd_747"/>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8" name="ii_748"/>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ih_749"/>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20" name="il_750"/>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If you ask me… · Personally, I think…</a:t>
            </a:r>
            <a:endParaRPr lang="en-US" sz="900" dirty="0"/>
          </a:p>
          <a:p>
            <a:pPr marL="152400" indent="-152400">
              <a:spcBef>
                <a:spcPts val="500"/>
              </a:spcBef>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I don't think that's right.</a:t>
            </a:r>
            <a:endParaRPr lang="en-US" sz="900" dirty="0"/>
          </a:p>
          <a:p>
            <a:pPr marL="152400" indent="-152400">
              <a:spcBef>
                <a:spcPts val="500"/>
              </a:spcBef>
              <a:spcAft>
                <a:spcPts val="200"/>
              </a:spcAft>
              <a:buSzPct val="100000"/>
              <a:buChar char="•"/>
            </a:pPr>
            <a:r>
              <a:rPr lang="en-US" sz="900" dirty="0">
                <a:solidFill>
                  <a:srgbClr val="1B2559"/>
                </a:solidFill>
                <a:latin typeface="Segoe UI" pitchFamily="34" charset="0"/>
                <a:ea typeface="Segoe UI" pitchFamily="34" charset="-122"/>
                <a:cs typeface="Segoe UI" pitchFamily="34" charset="-120"/>
              </a:rPr>
              <a:t>OK, I agree, but…</a:t>
            </a:r>
            <a:endParaRPr lang="en-US" sz="900" dirty="0"/>
          </a:p>
        </p:txBody>
      </p:sp>
      <p:sp>
        <p:nvSpPr>
          <p:cNvPr id="21" name="R1_qb751"/>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2" name="R1_sq752"/>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Palermo or Catania: which is the better city?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If you ask me, Palermo – the street food is better!</a:t>
            </a:r>
            <a:endParaRPr lang="en-US" sz="1250" dirty="0"/>
          </a:p>
        </p:txBody>
      </p:sp>
      <p:sp>
        <p:nvSpPr>
          <p:cNvPr id="23" name="R2_qb753"/>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4" name="R2_sq754"/>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Bagheria or Palermo: where is it better to live?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Personally, I think Bagheria is more easy-going.</a:t>
            </a:r>
            <a:endParaRPr lang="en-US" sz="1250" dirty="0"/>
          </a:p>
        </p:txBody>
      </p:sp>
      <p:sp>
        <p:nvSpPr>
          <p:cNvPr id="25" name="R3_qb755"/>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R3_sq756"/>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London or New York: where would you rather live?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To be honest, London – you can cycle everywhere!</a:t>
            </a:r>
            <a:endParaRPr lang="en-US" sz="1250" dirty="0"/>
          </a:p>
        </p:txBody>
      </p:sp>
      <p:sp>
        <p:nvSpPr>
          <p:cNvPr id="27" name="R4_qb757"/>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R4_sq758"/>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The beach or the mountains: the best holiday?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don't think that's right – the mountains are cooler!</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40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400"/>
                                        <p:tgtEl>
                                          <p:spTgt spid="23"/>
                                        </p:tgtEl>
                                      </p:cBhvr>
                                    </p:animEffect>
                                  </p:childTnLst>
                                </p:cTn>
                              </p:par>
                              <p:par>
                                <p:cTn id="16" presetID="10" presetClass="entr" presetSubtype="0" fill="hold" nodeType="with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fade">
                                      <p:cBhvr>
                                        <p:cTn id="18" dur="400"/>
                                        <p:tgtEl>
                                          <p:spTgt spid="2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fade">
                                      <p:cBhvr>
                                        <p:cTn id="23" dur="400"/>
                                        <p:tgtEl>
                                          <p:spTgt spid="25"/>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400"/>
                                        <p:tgtEl>
                                          <p:spTgt spid="2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400"/>
                                        <p:tgtEl>
                                          <p:spTgt spid="27"/>
                                        </p:tgtEl>
                                      </p:cBhvr>
                                    </p:animEffect>
                                  </p:childTnLst>
                                </p:cTn>
                              </p:par>
                              <p:par>
                                <p:cTn id="32" presetID="10"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PE2 A difficult celebrity</dc:title>
  <dc:subject>PptxGenJS Presentation</dc:subject>
  <dc:creator>PptxGenJS</dc:creator>
  <cp:lastModifiedBy>PptxGenJS</cp:lastModifiedBy>
  <cp:revision>1</cp:revision>
  <dcterms:created xsi:type="dcterms:W3CDTF">2026-10-12T09:15:40Z</dcterms:created>
  <dcterms:modified xsi:type="dcterms:W3CDTF">2026-10-12T09:15:40Z</dcterms:modified>
</cp:coreProperties>
</file>