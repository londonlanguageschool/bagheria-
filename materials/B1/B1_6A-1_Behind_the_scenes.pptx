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3"/>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6A PART 1 (60 min) · SB pp.56–57. Aims: read an article about the world of film extras; the passive in all tenses (Grammar Bank 6A p.142); regular and irregular past participles. Part 2 (pp.58–59) = cinema vocabulary, the Dagmara / Spielberg listening, cinema interview, film review. Timing: cover 2 · revision 5 · lead-in 4 · reading 7 · memory questions 6 · tenses 5 · rule 6 · practice 6 · pronunciation 6 · game 6 · exit 3 = 56 min. Click 1: question (show any crowd scene from a film if you like); click 2 introduces the word extra.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of Practical English 3 (5 min). VARIATION: reverse the obvious / trap – with 'mind', NO means YES. Read each mini-dialogue aloud with feeling; the class shows thumbs up (yes) or thumbs down (no) before you click. Item 3 is the trap (Yes, I do = I DO mind = no!). Item 6: what does How come…? mean? (= Why…?). Then pairs ask each other two requests from the episode: 'Would you mind meeting my friend at the airport?' – 'Not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LEAD-IN + PREDICTION (4 min). 1a: focus on the definition and the photos (Bollywood film Nayak; Ripper Street); pairs think of three negative things about being an extra; write some ideas on the board. VARIATION: negative experiences + prediction. 1b: students read the article on pp.56–57 quickly to see if their ideas are mentioned. Click 1 – TG answers: days can be very long and extras spend a lot of time waiting · they have to repeat scenes many times · they have to work in all kinds of weather, often in unsuitable clothes · they can't use phones on set · they aren't well paid. Pre-teach if necessary: on set, scene, shot (= filmed), epic, crowd.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(7 min). 1c: students read the article again and complete headings 1–7 with the words from the list in the book: expensive · miming · ordinary · patient · real · secrets · weather (the sticky shows the same 7 words – the book's list has exactly these seven; headings 1–7 on the slide are the book's wording). Make sure they understand the words first (miming = acting without words). Pairs compare; click 1 for all answers (TG): 1 patient · 2 miming · 3 weather · 4 secrets · 5 expensive · 6 real · 7 ordinary. While checking, ask for the evidence in each paragraph (e.g. 5 expensive – Gandhi's funeral scene needed 300,000 extras). Deal with new vocabulary: put up with, fake, budget, inflatable, cardboard cut-outs.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(6 min). 1d: 'Work in pairs. Can you answer these questions from memory? Then quickly look back at the article to check.' (questions 1–7 on the slide = book wording; the book prints 'Jersey Girls', the film is Jersey Girl); pairs answer from memory, then check in the article. VARIATION: memory challenge. Click 1 for all answers (TG): 1 They read or play cards. 2 They had to pretend to clap and cheer, but in silence. 3 The snow is real if you can see the breath coming out of people's mouths. 4 She took a photo of the set and posted it online. She's never been employed as an extra again. 5 Because extras are paid less than in Britain. 6 Because they look more real than digital extras, and can be stored and reused. 7 They look at the extras to see who's doing things right or wrong. 1e (1 min) – book: 'Do you know anybody who's been an extra? What in? Why do you think some people enjoy being extras? Would you like to be one? Why (not)?' Finish with a forced choice: show of hands – who would like to be an extra?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PRESENTATION (5 min). SB 2a: 'Look at six extracts from the text. What tense or form of the passive are the verbs?' (the slide extracts = the book's six). Pairs, then click once per item. TG ANSWERS (in order): 1 present simple · 2 past continuous · 3 past simple · 4 present continuous · 5 infinitive · 6 present perfect. Elicit the pattern: be (in the right tense) + past participle. VARIATION: curiosity gap / student as teacher (pairs explain how they recognised each tense).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(6 min). Students open Grammar Bank 6A p.142; play 6.1 to listen and repeat (copy the rhythm) – all slide examples are from 6.1. TG grammar notes: there are two ways of saying the same thing (active and passive) with a different focus; we use the passive when the action is more important than who does it, or when we don't know who does it. Italian often uses an impersonal 'si' where English uses the passive: Rice is grown in this area (Qui si coltiva il riso). Typical mistakes (TG): using the active instead of the passive (✗ The tickets sell at a newsagent's) · leaving out be or using the wrong participle · thinking you always need by (somebody). Quick check: 'Bagheria – what is made / grown / visited here?' (elicit 2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(6 min). Students do Grammar Bank 6A a 1–5 and b 1–5 in the book, then compare. Click 1 for all answers (TG key): a 1 are being made · 2 inspired · 3 hasn't been inhabited · 4 is set · 5 will be shot. b 1 A lot of foreign films are subtitled. · 2 Love in the Time of Cholera was written by García Márquez in 1985. · 3 My laptop is being repaired at the moment. · 4 The DVD of the film hasn't been released yet. · 5 The film won't be finished until the spring. ⚠ The active prompts on the slide are our reconstruction from the key – the book's prompts may be worded differently. Homework: a 6–10, b 6–10. VARIATION: student as teacher – partner says which tense each answer is. EXTRA SUPPORT: Grammar photocopiable p.159 (⚠ not in our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PRONUNCIATION (6 min). 3a: elicit the nine sound words (dog /d/, tie /t/, horse /ɔː/…). Students find the groups where all the pink letters have the same sound and circle the intruders – the slide shows the six groups that HAVE an intruder (groups 3 horse, 6 egg and 9 fish are all the same – ✓). 3b: play 6.2 group by group; click once per group. TG ANSWERS: 1 recorded · 2 directed · 3 ✓ · 4 done · 5 forgotten · 6 ✓ · 7 fallen · 8 put · 9 ✓; sounds: recorded /ɪd/, directed /ɪd/, done /ʌ/, forgotten /ɒ/, fallen /ɔː/, put /ʊ/. TG notes: -ed = /ɪd/ only after /t/ or /d/ – the one that really matters; hand on throat to feel voiced /d/ vs unvoiced /t/. 3c: play 6.3 – students change the active sentences to passive in the pause (1 They shot the film in Poland → The film was shot in Poland … 8 They don't use this office any more → This office isn't used any more). Then elicit from individuals. VARIATION: sound intruder (odd one out by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(6 min). VARIATION: constraint challenge (only passive sentences; bonus for tense variety) + local personalisation. Teams write as many sentences as they can; then each team reads its best five. Judge the grammar; for the facts, let the class challenge ('Are you sure?') – you decide. Good verbs to elicit: made, grown, produced, built, painted, visited, eaten, sold, exported, filmed (link to part 2: films shot in Sicily!).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Students choose a face for each can-do. Homework: Workbook 6A 1a, 1b, 1c (the passive) and 2a (past participles; 2b is audio – optional at home) + Grammar Bank 6A a 6–10, b 6–10 + the 6A-1 homework sheet (easier version available). Answers are in the teacher key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(8 min). VARIATION: perspective change (from extra to film producer) + student-generated content. Recycles the article (patience, secrets, weather, pay) and the passive in different tenses.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GAME (8 min). VARIATION: change the energy + memory. Use 5 sentences from the article (e.g. A lot of that time is spent just sitting around… / When a crowd scene was being filmed for the movie Jersey Girl, the extras had to pretend to clap and cheer. / Phones aren't allowed on set, and photos are strictly forbidden. / Since then, she has never been employed as an extra again. / Nowadays, where possible, crowds are digitized.). Print them in large font. Afterwards students check against the book p.56–57.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(8 min) or HOMEWORK (a in class, b at home). Grammar photocopiable 6A 'passive (all tenses)' – print B1_6A_Photocopiables.pdf, page 1. OFFICIAL ANSWERS (TG): a 1 was played (example) · 2 is watched · 3 be shot · 4 was being interviewed · 5 Has (the thief) been caught · 6 Have (you ever) been told · 7 has been robbed · 8 had already been made · 9 is being painted · 10 wasn't offered · 11 be returned · 12 had been stolen. b 1 is based (example) · 2 is known · 3 plays · 4 was directed · 5 is hit · 6 lose · 7 lands · 8 is killed · 9 are rescued · 10 believes · 11 received · 12 was nominated. ACTIVATION: cover the column in a and read the sentences aloud with the passive. VARIATION: spot the trap – in b, some verbs must stay active (plays, lose, lands, believes, received).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audio" Target="../media/media-2-4.mp3"/><Relationship Id="rId5" Type="http://schemas.microsoft.com/office/2007/relationships/media" Target="../media/media-2-4.mp3"/><Relationship Id="rId6" Type="http://schemas.openxmlformats.org/officeDocument/2006/relationships/image" Target="../media/image-2-6.png"/><Relationship Id="rId7" Type="http://schemas.openxmlformats.org/officeDocument/2006/relationships/audio" Target="../media/media-2-7.mp3"/><Relationship Id="rId8" Type="http://schemas.microsoft.com/office/2007/relationships/media" Target="../media/media-2-7.mp3"/><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audio" Target="../media/media-7-3.mp3"/><Relationship Id="rId4" Type="http://schemas.microsoft.com/office/2007/relationships/media" Target="../media/media-7-3.mp3"/><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audio" Target="../media/media-9-3.mp3"/><Relationship Id="rId4" Type="http://schemas.microsoft.com/office/2007/relationships/media" Target="../media/media-9-3.mp3"/><Relationship Id="rId5" Type="http://schemas.openxmlformats.org/officeDocument/2006/relationships/image" Target="../media/image-9-5.png"/><Relationship Id="rId6" Type="http://schemas.openxmlformats.org/officeDocument/2006/relationships/audio" Target="../media/media-9-6.mp3"/><Relationship Id="rId7" Type="http://schemas.microsoft.com/office/2007/relationships/media" Target="../media/media-9-6.mp3"/><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
          <p:cNvSpPr/>
          <p:nvPr/>
        </p:nvSpPr>
        <p:spPr>
          <a:xfrm>
            <a:off x="54864" y="54864"/>
            <a:ext cx="9034272" cy="5033772"/>
          </a:xfrm>
          <a:prstGeom prst="rect">
            <a:avLst/>
          </a:prstGeom>
          <a:ln w="114300">
            <a:solidFill>
              <a:srgbClr val="A8E6B4"/>
            </a:solidFill>
            <a:prstDash val="solid"/>
          </a:ln>
        </p:spPr>
      </p:sp>
      <p:sp>
        <p:nvSpPr>
          <p:cNvPr id="3" name="logoBack_2"/>
          <p:cNvSpPr/>
          <p:nvPr/>
        </p:nvSpPr>
        <p:spPr>
          <a:xfrm>
            <a:off x="8229600" y="155448"/>
            <a:ext cx="676656" cy="676656"/>
          </a:xfrm>
          <a:prstGeom prst="ellipse">
            <a:avLst/>
          </a:prstGeom>
          <a:solidFill>
            <a:srgbClr val="FFFFFF"/>
          </a:solidFill>
          <a:ln w="25400">
            <a:solidFill>
              <a:srgbClr val="A8E6B4"/>
            </a:solidFill>
            <a:prstDash val="solid"/>
          </a:ln>
        </p:spPr>
      </p:sp>
      <p:pic>
        <p:nvPicPr>
          <p:cNvPr id="4"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4"/>
          <p:cNvSpPr txBox="1"/>
          <p:nvPr/>
        </p:nvSpPr>
        <p:spPr>
          <a:xfrm>
            <a:off x="7132320" y="4818888"/>
            <a:ext cx="1737360" cy="219456"/>
          </a:xfrm>
          <a:prstGeom prst="rect">
            <a:avLst/>
          </a:prstGeom>
          <a:solidFill>
            <a:srgbClr val="062F67"/>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6A · Part 1</a:t>
            </a:r>
            <a:endParaRPr lang="en-US" sz="1000" dirty="0"/>
          </a:p>
        </p:txBody>
      </p:sp>
      <p:sp>
        <p:nvSpPr>
          <p:cNvPr id="6"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5400" dirty="0">
                <a:solidFill>
                  <a:srgbClr val="FFD84D"/>
                </a:solidFill>
                <a:latin typeface="Arial Black" pitchFamily="34" charset="0"/>
                <a:ea typeface="Arial Black" pitchFamily="34" charset="-122"/>
                <a:cs typeface="Arial Black" pitchFamily="34" charset="-120"/>
              </a:rPr>
              <a:t>6A</a:t>
            </a:r>
            <a:endParaRPr lang="en-US" sz="5400" dirty="0"/>
          </a:p>
        </p:txBody>
      </p:sp>
      <p:sp>
        <p:nvSpPr>
          <p:cNvPr id="7" name="course_6"/>
          <p:cNvSpPr txBox="1"/>
          <p:nvPr/>
        </p:nvSpPr>
        <p:spPr>
          <a:xfrm>
            <a:off x="2103120" y="566928"/>
            <a:ext cx="3840480" cy="365760"/>
          </a:xfrm>
          <a:prstGeom prst="rect">
            <a:avLst/>
          </a:prstGeom>
          <a:noFill/>
          <a:ln/>
        </p:spPr>
        <p:txBody>
          <a:bodyPr wrap="square" rtlCol="0" anchor="ctr"/>
          <a:lstStyle/>
          <a:p>
            <a:pPr indent="0" marL="0">
              <a:buNone/>
            </a:pPr>
            <a:r>
              <a:rPr lang="en-US" sz="1100" dirty="0">
                <a:solidFill>
                  <a:srgbClr val="E9E2FB"/>
                </a:solidFill>
                <a:latin typeface="Arial Black" pitchFamily="34" charset="0"/>
                <a:ea typeface="Arial Black" pitchFamily="34" charset="-122"/>
                <a:cs typeface="Arial Black" pitchFamily="34" charset="-120"/>
              </a:rPr>
              <a:t>ENGLISH FILE B1 · 6A · Part 1 · SB pp.56–57</a:t>
            </a:r>
            <a:endParaRPr lang="en-US" sz="1100" dirty="0"/>
          </a:p>
        </p:txBody>
      </p:sp>
      <p:sp>
        <p:nvSpPr>
          <p:cNvPr id="8" name="title_7"/>
          <p:cNvSpPr txBox="1"/>
          <p:nvPr/>
        </p:nvSpPr>
        <p:spPr>
          <a:xfrm rot="-180000">
            <a:off x="411480" y="1325880"/>
            <a:ext cx="4837176" cy="7772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800" dirty="0">
                <a:solidFill>
                  <a:srgbClr val="111111"/>
                </a:solidFill>
                <a:latin typeface="Arial Black" pitchFamily="34" charset="0"/>
                <a:ea typeface="Arial Black" pitchFamily="34" charset="-122"/>
                <a:cs typeface="Arial Black" pitchFamily="34" charset="-120"/>
              </a:rPr>
              <a:t>BEHIND THE SCENES</a:t>
            </a:r>
            <a:endParaRPr lang="en-US" sz="2800" dirty="0"/>
          </a:p>
        </p:txBody>
      </p:sp>
      <p:sp>
        <p:nvSpPr>
          <p:cNvPr id="9" name="stamp_8"/>
          <p:cNvSpPr txBox="1"/>
          <p:nvPr/>
        </p:nvSpPr>
        <p:spPr>
          <a:xfrm>
            <a:off x="457200" y="2468880"/>
            <a:ext cx="3332988" cy="384048"/>
          </a:xfrm>
          <a:prstGeom prst="roundRect">
            <a:avLst>
              <a:gd name="adj" fmla="val 14286"/>
            </a:avLst>
          </a:prstGeom>
          <a:solidFill>
            <a:srgbClr val="062F67"/>
          </a:solidFill>
          <a:ln w="38100">
            <a:solidFill>
              <a:srgbClr val="48BDF2"/>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READING · The world of extras</a:t>
            </a:r>
            <a:endParaRPr lang="en-US" sz="1200" dirty="0"/>
          </a:p>
        </p:txBody>
      </p:sp>
      <p:sp>
        <p:nvSpPr>
          <p:cNvPr id="10" name="stamp_9"/>
          <p:cNvSpPr txBox="1"/>
          <p:nvPr/>
        </p:nvSpPr>
        <p:spPr>
          <a:xfrm>
            <a:off x="457200" y="2944368"/>
            <a:ext cx="3813048" cy="384048"/>
          </a:xfrm>
          <a:prstGeom prst="roundRect">
            <a:avLst>
              <a:gd name="adj" fmla="val 14286"/>
            </a:avLst>
          </a:prstGeom>
          <a:solidFill>
            <a:srgbClr val="062F67"/>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GRAMMAR · the passive (all tenses)</a:t>
            </a:r>
            <a:endParaRPr lang="en-US" sz="1200" dirty="0"/>
          </a:p>
        </p:txBody>
      </p:sp>
      <p:sp>
        <p:nvSpPr>
          <p:cNvPr id="11" name="stamp_10"/>
          <p:cNvSpPr txBox="1"/>
          <p:nvPr/>
        </p:nvSpPr>
        <p:spPr>
          <a:xfrm>
            <a:off x="457200" y="3419856"/>
            <a:ext cx="3621024" cy="384048"/>
          </a:xfrm>
          <a:prstGeom prst="roundRect">
            <a:avLst>
              <a:gd name="adj" fmla="val 14286"/>
            </a:avLst>
          </a:prstGeom>
          <a:solidFill>
            <a:srgbClr val="062F67"/>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PRONUNCIATION · past participles</a:t>
            </a:r>
            <a:endParaRPr lang="en-US" sz="1200" dirty="0"/>
          </a:p>
        </p:txBody>
      </p:sp>
      <p:sp>
        <p:nvSpPr>
          <p:cNvPr id="12"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2" descr="gi:GiClapperboard">    </p:cNvPr>
          <p:cNvPicPr>
            <a:picLocks noChangeAspect="1"/>
          </p:cNvPicPr>
          <p:nvPr/>
        </p:nvPicPr>
        <p:blipFill>
          <a:blip r:embed="rId3"/>
          <a:stretch>
            <a:fillRect/>
          </a:stretch>
        </p:blipFill>
        <p:spPr>
          <a:xfrm>
            <a:off x="6016752" y="1033272"/>
            <a:ext cx="1042416" cy="1042416"/>
          </a:xfrm>
          <a:prstGeom prst="rect">
            <a:avLst/>
          </a:prstGeom>
        </p:spPr>
      </p:pic>
      <p:sp>
        <p:nvSpPr>
          <p:cNvPr id="14"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4" descr="pi:PiUsersThree">    </p:cNvPr>
          <p:cNvPicPr>
            <a:picLocks noChangeAspect="1"/>
          </p:cNvPicPr>
          <p:nvPr/>
        </p:nvPicPr>
        <p:blipFill>
          <a:blip r:embed="rId4"/>
          <a:stretch>
            <a:fillRect/>
          </a:stretch>
        </p:blipFill>
        <p:spPr>
          <a:xfrm>
            <a:off x="7534656" y="1728216"/>
            <a:ext cx="658368" cy="658368"/>
          </a:xfrm>
          <a:prstGeom prst="rect">
            <a:avLst/>
          </a:prstGeom>
        </p:spPr>
      </p:pic>
      <p:sp>
        <p:nvSpPr>
          <p:cNvPr id="16" name="iconBack_15"/>
          <p:cNvSpPr/>
          <p:nvPr/>
        </p:nvSpPr>
        <p:spPr>
          <a:xfrm>
            <a:off x="5486400" y="2514600"/>
            <a:ext cx="960120" cy="960120"/>
          </a:xfrm>
          <a:prstGeom prst="ellipse">
            <a:avLst/>
          </a:prstGeom>
          <a:solidFill>
            <a:srgbClr val="A8E6B4"/>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7" name="icon_16" descr="pi:PiVideoCamera">    </p:cNvPr>
          <p:cNvPicPr>
            <a:picLocks noChangeAspect="1"/>
          </p:cNvPicPr>
          <p:nvPr/>
        </p:nvPicPr>
        <p:blipFill>
          <a:blip r:embed="rId5"/>
          <a:stretch>
            <a:fillRect/>
          </a:stretch>
        </p:blipFill>
        <p:spPr>
          <a:xfrm>
            <a:off x="5678424" y="2706624"/>
            <a:ext cx="576072" cy="576072"/>
          </a:xfrm>
          <a:prstGeom prst="rect">
            <a:avLst/>
          </a:prstGeom>
        </p:spPr>
      </p:pic>
      <p:sp>
        <p:nvSpPr>
          <p:cNvPr id="18"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Who are these people in the crowd?</a:t>
            </a:r>
            <a:endParaRPr lang="en-US" sz="1400" dirty="0"/>
          </a:p>
        </p:txBody>
      </p:sp>
      <p:sp>
        <p:nvSpPr>
          <p:cNvPr id="19"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They're extras – they're paid to be there!</a:t>
            </a:r>
            <a:endParaRPr lang="en-US" sz="1300" dirty="0"/>
          </a:p>
        </p:txBody>
      </p:sp>
      <p:sp>
        <p:nvSpPr>
          <p:cNvPr id="20" name="tnote_17"/>
          <p:cNvSpPr txBox="1"/>
          <p:nvPr/>
        </p:nvSpPr>
        <p:spPr>
          <a:xfrm>
            <a:off x="411480" y="4773168"/>
            <a:ext cx="5029200" cy="237744"/>
          </a:xfrm>
          <a:prstGeom prst="rect">
            <a:avLst/>
          </a:prstGeom>
          <a:noFill/>
          <a:ln/>
        </p:spPr>
        <p:txBody>
          <a:bodyPr wrap="square" rtlCol="0" anchor="ctr"/>
          <a:lstStyle/>
          <a:p>
            <a:pPr indent="0" marL="0">
              <a:buNone/>
            </a:pPr>
            <a:r>
              <a:rPr lang="en-US" sz="1000" dirty="0">
                <a:solidFill>
                  <a:srgbClr val="E9E2FB"/>
                </a:solidFill>
                <a:latin typeface="Calibri" pitchFamily="34" charset="0"/>
                <a:ea typeface="Calibri" pitchFamily="34" charset="-122"/>
                <a:cs typeface="Calibri" pitchFamily="34" charset="-120"/>
              </a:rPr>
              <a:t>Teacher: timings, answers and tips are in the slide notes.</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8"/>
          <p:cNvSpPr/>
          <p:nvPr/>
        </p:nvSpPr>
        <p:spPr>
          <a:xfrm>
            <a:off x="54864" y="54864"/>
            <a:ext cx="9034272" cy="5033772"/>
          </a:xfrm>
          <a:prstGeom prst="rect">
            <a:avLst/>
          </a:prstGeom>
          <a:ln w="114300">
            <a:solidFill>
              <a:srgbClr val="A8E6B4"/>
            </a:solidFill>
            <a:prstDash val="solid"/>
          </a:ln>
        </p:spPr>
      </p:sp>
      <p:pic>
        <p:nvPicPr>
          <p:cNvPr id="3"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REVISION · Practical English 3 · Requests</a:t>
            </a:r>
            <a:endParaRPr lang="en-US" sz="1100" dirty="0"/>
          </a:p>
        </p:txBody>
      </p:sp>
      <p:sp>
        <p:nvSpPr>
          <p:cNvPr id="5"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6"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7" name="title_23"/>
          <p:cNvSpPr txBox="1"/>
          <p:nvPr/>
        </p:nvSpPr>
        <p:spPr>
          <a:xfrm rot="-120000">
            <a:off x="320040" y="676656"/>
            <a:ext cx="502005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Yes or no? The 'mind' trap</a:t>
            </a:r>
            <a:endParaRPr lang="en-US" sz="2000" dirty="0"/>
          </a:p>
        </p:txBody>
      </p:sp>
      <p:sp>
        <p:nvSpPr>
          <p:cNvPr id="8" name="post_24"/>
          <p:cNvSpPr/>
          <p:nvPr/>
        </p:nvSpPr>
        <p:spPr>
          <a:xfrm>
            <a:off x="429768" y="1554480"/>
            <a:ext cx="128016" cy="2194560"/>
          </a:xfrm>
          <a:prstGeom prst="rect">
            <a:avLst/>
          </a:prstGeom>
          <a:solidFill>
            <a:srgbClr val="8B5A2B"/>
          </a:solidFill>
          <a:ln w="31750">
            <a:solidFill>
              <a:srgbClr val="111111"/>
            </a:solidFill>
            <a:prstDash val="solid"/>
          </a:ln>
        </p:spPr>
      </p:sp>
      <p:sp>
        <p:nvSpPr>
          <p:cNvPr id="9" name="signA_25"/>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0" name="signB_2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Does the answer mean YES or NO? Thumbs up or down!</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La risposta vuol dire SÌ o NO? Pollice su o giù!</a:t>
            </a:r>
            <a:endParaRPr lang="en-US" sz="1250" dirty="0"/>
          </a:p>
        </p:txBody>
      </p:sp>
      <p:sp>
        <p:nvSpPr>
          <p:cNvPr id="11" name="iconBack_27"/>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2" name="icon_28" descr="pi:PiThumbsUp">    </p:cNvPr>
          <p:cNvPicPr>
            <a:picLocks noChangeAspect="1"/>
          </p:cNvPicPr>
          <p:nvPr/>
        </p:nvPicPr>
        <p:blipFill>
          <a:blip r:embed="rId3"/>
          <a:stretch>
            <a:fillRect/>
          </a:stretch>
        </p:blipFill>
        <p:spPr>
          <a:xfrm>
            <a:off x="914400" y="3474720"/>
            <a:ext cx="685800" cy="685800"/>
          </a:xfrm>
          <a:prstGeom prst="rect">
            <a:avLst/>
          </a:prstGeom>
        </p:spPr>
      </p:pic>
      <p:sp>
        <p:nvSpPr>
          <p:cNvPr id="13" name="box_29"/>
          <p:cNvSpPr txBox="1"/>
          <p:nvPr/>
        </p:nvSpPr>
        <p:spPr>
          <a:xfrm>
            <a:off x="2788920" y="1371600"/>
            <a:ext cx="3741725"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Would you mind closing the window? – Not at all.</a:t>
            </a:r>
            <a:endParaRPr lang="en-US" sz="1250" dirty="0"/>
          </a:p>
        </p:txBody>
      </p:sp>
      <p:sp>
        <p:nvSpPr>
          <p:cNvPr id="14" name="R1_a0"/>
          <p:cNvSpPr txBox="1"/>
          <p:nvPr/>
        </p:nvSpPr>
        <p:spPr>
          <a:xfrm>
            <a:off x="6585509" y="1408176"/>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YES 👍 – I'll close it.</a:t>
            </a:r>
            <a:endParaRPr lang="en-US" sz="1250" dirty="0"/>
          </a:p>
        </p:txBody>
      </p:sp>
      <p:sp>
        <p:nvSpPr>
          <p:cNvPr id="15" name="box_30"/>
          <p:cNvSpPr txBox="1"/>
          <p:nvPr/>
        </p:nvSpPr>
        <p:spPr>
          <a:xfrm>
            <a:off x="2788920" y="1941576"/>
            <a:ext cx="3741725"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Do you mind if I sit here? – Of course not.</a:t>
            </a:r>
            <a:endParaRPr lang="en-US" sz="1250" dirty="0"/>
          </a:p>
        </p:txBody>
      </p:sp>
      <p:sp>
        <p:nvSpPr>
          <p:cNvPr id="16" name="R2_a1"/>
          <p:cNvSpPr txBox="1"/>
          <p:nvPr/>
        </p:nvSpPr>
        <p:spPr>
          <a:xfrm>
            <a:off x="6585509" y="1978152"/>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YES 👍 – sit down!</a:t>
            </a:r>
            <a:endParaRPr lang="en-US" sz="1250" dirty="0"/>
          </a:p>
        </p:txBody>
      </p:sp>
      <p:sp>
        <p:nvSpPr>
          <p:cNvPr id="17" name="box_31"/>
          <p:cNvSpPr txBox="1"/>
          <p:nvPr/>
        </p:nvSpPr>
        <p:spPr>
          <a:xfrm>
            <a:off x="2788920" y="2511552"/>
            <a:ext cx="3741725"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Do you mind if I join you? – Yes, I do, actually.</a:t>
            </a:r>
            <a:endParaRPr lang="en-US" sz="1250" dirty="0"/>
          </a:p>
        </p:txBody>
      </p:sp>
      <p:sp>
        <p:nvSpPr>
          <p:cNvPr id="18" name="R3_a2"/>
          <p:cNvSpPr txBox="1"/>
          <p:nvPr/>
        </p:nvSpPr>
        <p:spPr>
          <a:xfrm>
            <a:off x="6585509" y="2548128"/>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NO 👎 – rude, but clear!</a:t>
            </a:r>
            <a:endParaRPr lang="en-US" sz="1250" dirty="0"/>
          </a:p>
        </p:txBody>
      </p:sp>
      <p:sp>
        <p:nvSpPr>
          <p:cNvPr id="19" name="box_32"/>
          <p:cNvSpPr txBox="1"/>
          <p:nvPr/>
        </p:nvSpPr>
        <p:spPr>
          <a:xfrm>
            <a:off x="2788920" y="3081528"/>
            <a:ext cx="3741725"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Could you do me a big favour? – Sure. What's up?</a:t>
            </a:r>
            <a:endParaRPr lang="en-US" sz="1250" dirty="0"/>
          </a:p>
        </p:txBody>
      </p:sp>
      <p:sp>
        <p:nvSpPr>
          <p:cNvPr id="20" name="R4_a3"/>
          <p:cNvSpPr txBox="1"/>
          <p:nvPr/>
        </p:nvSpPr>
        <p:spPr>
          <a:xfrm>
            <a:off x="6585509" y="3118104"/>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YES 👍 (probably…)</a:t>
            </a:r>
            <a:endParaRPr lang="en-US" sz="1250" dirty="0"/>
          </a:p>
        </p:txBody>
      </p:sp>
      <p:sp>
        <p:nvSpPr>
          <p:cNvPr id="21" name="box_33"/>
          <p:cNvSpPr txBox="1"/>
          <p:nvPr/>
        </p:nvSpPr>
        <p:spPr>
          <a:xfrm>
            <a:off x="2788920" y="3651504"/>
            <a:ext cx="3741725"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Is it OK if I use your phone? – I'm sorry, the battery's dead.</a:t>
            </a:r>
            <a:endParaRPr lang="en-US" sz="1250" dirty="0"/>
          </a:p>
        </p:txBody>
      </p:sp>
      <p:sp>
        <p:nvSpPr>
          <p:cNvPr id="22" name="R5_a4"/>
          <p:cNvSpPr txBox="1"/>
          <p:nvPr/>
        </p:nvSpPr>
        <p:spPr>
          <a:xfrm>
            <a:off x="6585509" y="3688080"/>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NO 👎 – polite no + reason</a:t>
            </a:r>
            <a:endParaRPr lang="en-US" sz="1250" dirty="0"/>
          </a:p>
        </p:txBody>
      </p:sp>
      <p:sp>
        <p:nvSpPr>
          <p:cNvPr id="23" name="box_34"/>
          <p:cNvSpPr txBox="1"/>
          <p:nvPr/>
        </p:nvSpPr>
        <p:spPr>
          <a:xfrm>
            <a:off x="2788920" y="4221480"/>
            <a:ext cx="3741725"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BONUS: 'How come you're so late?' means…?</a:t>
            </a:r>
            <a:endParaRPr lang="en-US" sz="1250" dirty="0"/>
          </a:p>
        </p:txBody>
      </p:sp>
      <p:sp>
        <p:nvSpPr>
          <p:cNvPr id="24" name="R6_a5"/>
          <p:cNvSpPr txBox="1"/>
          <p:nvPr/>
        </p:nvSpPr>
        <p:spPr>
          <a:xfrm>
            <a:off x="6585509" y="4258056"/>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Why are you so late?</a:t>
            </a:r>
            <a:endParaRPr lang="en-US" sz="1250" dirty="0"/>
          </a:p>
        </p:txBody>
      </p:sp>
      <p:sp>
        <p:nvSpPr>
          <p:cNvPr id="25" name="pageTag_35"/>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Practical English 3 pp.54–55 · audio 5.25, 5.28</a:t>
            </a:r>
            <a:endParaRPr lang="en-US" sz="1050" dirty="0"/>
          </a:p>
        </p:txBody>
      </p:sp>
      <p:pic>
        <p:nvPicPr>
          <p:cNvPr id="6"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5166360" y="155448"/>
            <a:ext cx="384048" cy="384048"/>
          </a:xfrm>
          <a:prstGeom prst="rect">
            <a:avLst/>
          </a:prstGeom>
        </p:spPr>
      </p:pic>
      <p:sp>
        <p:nvSpPr>
          <p:cNvPr id="27" name="atr_36"/>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5.25</a:t>
            </a:r>
            <a:endParaRPr lang="en-US" sz="800" dirty="0"/>
          </a:p>
        </p:txBody>
      </p:sp>
      <p:pic>
        <p:nvPicPr>
          <p:cNvPr id="9" name="Media 1">
            <a:hlinkClick r:id="" action="ppaction://media"/>
          </p:cNvPr>
          <p:cNvPicPr>
            <a:picLocks noChangeAspect="1"/>
          </p:cNvPicPr>
          <p:nvPr>
            <a:videoFile r:link="rId7"/>
            <p:extLst>
              <p:ext uri="{DAA4B4D4-6D71-4841-9C94-3DE7FCFB9230}">
                <p14:media xmlns:p14="http://schemas.microsoft.com/office/powerpoint/2010/main" r:embed="rId8"/>
              </p:ext>
            </p:extLst>
          </p:nvPr>
        </p:nvPicPr>
        <p:blipFill>
          <a:blip r:embed="rId9"/>
          <a:stretch>
            <a:fillRect/>
          </a:stretch>
        </p:blipFill>
        <p:spPr>
          <a:xfrm>
            <a:off x="5641848" y="155448"/>
            <a:ext cx="384048" cy="384048"/>
          </a:xfrm>
          <a:prstGeom prst="rect">
            <a:avLst/>
          </a:prstGeom>
        </p:spPr>
      </p:pic>
      <p:sp>
        <p:nvSpPr>
          <p:cNvPr id="29" name="atr_37"/>
          <p:cNvSpPr txBox="1"/>
          <p:nvPr/>
        </p:nvSpPr>
        <p:spPr>
          <a:xfrm>
            <a:off x="5596128"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5.28</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38"/>
          <p:cNvSpPr/>
          <p:nvPr/>
        </p:nvSpPr>
        <p:spPr>
          <a:xfrm>
            <a:off x="54864" y="54864"/>
            <a:ext cx="9034272" cy="5033772"/>
          </a:xfrm>
          <a:prstGeom prst="rect">
            <a:avLst/>
          </a:prstGeom>
          <a:ln w="114300">
            <a:solidFill>
              <a:srgbClr val="A8E6B4"/>
            </a:solidFill>
            <a:prstDash val="solid"/>
          </a:ln>
        </p:spPr>
      </p:sp>
      <p:pic>
        <p:nvPicPr>
          <p:cNvPr id="3" name="logo_3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4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READING · Lead-in · Prediction</a:t>
            </a:r>
            <a:endParaRPr lang="en-US" sz="1100" dirty="0"/>
          </a:p>
        </p:txBody>
      </p:sp>
      <p:sp>
        <p:nvSpPr>
          <p:cNvPr id="5" name="timer_4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6" name="footer_4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7" name="title_43"/>
          <p:cNvSpPr txBox="1"/>
          <p:nvPr/>
        </p:nvSpPr>
        <p:spPr>
          <a:xfrm rot="-120000">
            <a:off x="320040" y="676656"/>
            <a:ext cx="328269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What's an extra?</a:t>
            </a:r>
            <a:endParaRPr lang="en-US" sz="2000" dirty="0"/>
          </a:p>
        </p:txBody>
      </p:sp>
      <p:sp>
        <p:nvSpPr>
          <p:cNvPr id="8" name="post_44"/>
          <p:cNvSpPr/>
          <p:nvPr/>
        </p:nvSpPr>
        <p:spPr>
          <a:xfrm>
            <a:off x="429768" y="1554480"/>
            <a:ext cx="128016" cy="2194560"/>
          </a:xfrm>
          <a:prstGeom prst="rect">
            <a:avLst/>
          </a:prstGeom>
          <a:solidFill>
            <a:srgbClr val="8B5A2B"/>
          </a:solidFill>
          <a:ln w="31750">
            <a:solidFill>
              <a:srgbClr val="111111"/>
            </a:solidFill>
            <a:prstDash val="solid"/>
          </a:ln>
        </p:spPr>
      </p:sp>
      <p:sp>
        <p:nvSpPr>
          <p:cNvPr id="9" name="signA_45"/>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0" name="signB_4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Pairs: think of 3 NEGATIVE things about being an extra.</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In coppia: pensate a 3 cose NEGATIVE dell'essere una comparsa.</a:t>
            </a:r>
            <a:endParaRPr lang="en-US" sz="1250" dirty="0"/>
          </a:p>
        </p:txBody>
      </p:sp>
      <p:sp>
        <p:nvSpPr>
          <p:cNvPr id="11" name="box_47"/>
          <p:cNvSpPr txBox="1"/>
          <p:nvPr/>
        </p:nvSpPr>
        <p:spPr>
          <a:xfrm>
            <a:off x="2788920" y="1371600"/>
            <a:ext cx="6035040" cy="137160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extra /ˈekstrə/ n. a person who is employed to play a very small part in a film, usually as a member of a crowd (una comparsa)</a:t>
            </a:r>
            <a:endParaRPr lang="en-US" sz="1500" dirty="0"/>
          </a:p>
        </p:txBody>
      </p:sp>
      <p:sp>
        <p:nvSpPr>
          <p:cNvPr id="12" name="box_48"/>
          <p:cNvSpPr txBox="1"/>
          <p:nvPr/>
        </p:nvSpPr>
        <p:spPr>
          <a:xfrm>
            <a:off x="2788920" y="2871216"/>
            <a:ext cx="3017520" cy="137160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3 negative things? Then read p.56 – were you right?</a:t>
            </a:r>
            <a:endParaRPr lang="en-US" sz="1500" dirty="0"/>
          </a:p>
        </p:txBody>
      </p:sp>
      <p:sp>
        <p:nvSpPr>
          <p:cNvPr id="13" name="R1_a1"/>
          <p:cNvSpPr txBox="1"/>
          <p:nvPr/>
        </p:nvSpPr>
        <p:spPr>
          <a:xfrm>
            <a:off x="5861304" y="2907792"/>
            <a:ext cx="2962656" cy="1298448"/>
          </a:xfrm>
          <a:prstGeom prst="roundRect">
            <a:avLst>
              <a:gd name="adj" fmla="val 422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long days, waiting · repeating scenes · bad weather / wrong clothes · no phones · bad pay</a:t>
            </a:r>
            <a:endParaRPr lang="en-US" sz="1400" dirty="0"/>
          </a:p>
        </p:txBody>
      </p:sp>
      <p:sp>
        <p:nvSpPr>
          <p:cNvPr id="14" name="pageTag_49"/>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p.56 · 1a, 1b</a:t>
            </a:r>
            <a:endParaRPr lang="en-US" sz="1050" dirty="0"/>
          </a:p>
        </p:txBody>
      </p:sp>
      <p:sp>
        <p:nvSpPr>
          <p:cNvPr id="15" name="pframe_50"/>
          <p:cNvSpPr/>
          <p:nvPr/>
        </p:nvSpPr>
        <p:spPr>
          <a:xfrm rot="-120000">
            <a:off x="457200" y="3429000"/>
            <a:ext cx="1965960" cy="1078992"/>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16" name="pimg_51" descr="On the set of Nayak">    </p:cNvPr>
          <p:cNvPicPr>
            <a:picLocks noChangeAspect="1"/>
          </p:cNvPicPr>
          <p:nvPr/>
        </p:nvPicPr>
        <p:blipFill>
          <a:blip r:embed="rId3"/>
          <a:srcRect l="0" r="0" t="0" b="0"/>
          <a:stretch/>
        </p:blipFill>
        <p:spPr>
          <a:xfrm rot="-120000">
            <a:off x="530352" y="3502152"/>
            <a:ext cx="1819656" cy="658368"/>
          </a:xfrm>
          <a:prstGeom prst="rect">
            <a:avLst/>
          </a:prstGeom>
        </p:spPr>
      </p:pic>
      <p:sp>
        <p:nvSpPr>
          <p:cNvPr id="17" name="pcap_52"/>
          <p:cNvSpPr txBox="1"/>
          <p:nvPr/>
        </p:nvSpPr>
        <p:spPr>
          <a:xfrm rot="-120000">
            <a:off x="457200" y="4169664"/>
            <a:ext cx="1965960" cy="274320"/>
          </a:xfrm>
          <a:prstGeom prst="rect">
            <a:avLst/>
          </a:prstGeom>
          <a:noFill/>
          <a:ln/>
        </p:spPr>
        <p:txBody>
          <a:bodyPr wrap="square" rtlCol="0" anchor="ctr"/>
          <a:lstStyle/>
          <a:p>
            <a:pPr algn="ctr" indent="0" marL="0">
              <a:buNone/>
            </a:pPr>
            <a:r>
              <a:rPr lang="en-US" sz="1100" i="1" dirty="0">
                <a:solidFill>
                  <a:srgbClr val="111111"/>
                </a:solidFill>
                <a:latin typeface="Calibri" pitchFamily="34" charset="0"/>
                <a:ea typeface="Calibri" pitchFamily="34" charset="-122"/>
                <a:cs typeface="Calibri" pitchFamily="34" charset="-120"/>
              </a:rPr>
              <a:t>On the set of Nayak</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53"/>
          <p:cNvSpPr/>
          <p:nvPr/>
        </p:nvSpPr>
        <p:spPr>
          <a:xfrm>
            <a:off x="54864" y="54864"/>
            <a:ext cx="9034272" cy="5033772"/>
          </a:xfrm>
          <a:prstGeom prst="rect">
            <a:avLst/>
          </a:prstGeom>
          <a:ln w="114300">
            <a:solidFill>
              <a:srgbClr val="A8E6B4"/>
            </a:solidFill>
            <a:prstDash val="solid"/>
          </a:ln>
        </p:spPr>
      </p:sp>
      <p:pic>
        <p:nvPicPr>
          <p:cNvPr id="3" name="logo_5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5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READING · The world of extras</a:t>
            </a:r>
            <a:endParaRPr lang="en-US" sz="1100" dirty="0"/>
          </a:p>
        </p:txBody>
      </p:sp>
      <p:sp>
        <p:nvSpPr>
          <p:cNvPr id="5" name="timer_5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6" name="footer_5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7" name="title_58"/>
          <p:cNvSpPr txBox="1"/>
          <p:nvPr/>
        </p:nvSpPr>
        <p:spPr>
          <a:xfrm rot="-120000">
            <a:off x="320040" y="676656"/>
            <a:ext cx="415137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Complete the headings</a:t>
            </a:r>
            <a:endParaRPr lang="en-US" sz="2000" dirty="0"/>
          </a:p>
        </p:txBody>
      </p:sp>
      <p:sp>
        <p:nvSpPr>
          <p:cNvPr id="8" name="post_59"/>
          <p:cNvSpPr/>
          <p:nvPr/>
        </p:nvSpPr>
        <p:spPr>
          <a:xfrm>
            <a:off x="429768" y="1554480"/>
            <a:ext cx="128016" cy="2194560"/>
          </a:xfrm>
          <a:prstGeom prst="rect">
            <a:avLst/>
          </a:prstGeom>
          <a:solidFill>
            <a:srgbClr val="8B5A2B"/>
          </a:solidFill>
          <a:ln w="31750">
            <a:solidFill>
              <a:srgbClr val="111111"/>
            </a:solidFill>
            <a:prstDash val="solid"/>
          </a:ln>
        </p:spPr>
      </p:sp>
      <p:sp>
        <p:nvSpPr>
          <p:cNvPr id="9" name="signA_60"/>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READ!</a:t>
            </a:r>
            <a:pPr indent="0" marL="0">
              <a:buNone/>
            </a:pPr>
            <a:r>
              <a:rPr lang="en-US" sz="1000" dirty="0">
                <a:solidFill>
                  <a:srgbClr val="FFF3B0"/>
                </a:solidFill>
                <a:latin typeface="Arial Black" pitchFamily="34" charset="0"/>
                <a:ea typeface="Arial Black" pitchFamily="34" charset="-122"/>
                <a:cs typeface="Arial Black" pitchFamily="34" charset="-120"/>
              </a:rPr>
              <a:t>  LEGGI!</a:t>
            </a:r>
            <a:endParaRPr lang="en-US" sz="1500" dirty="0"/>
          </a:p>
        </p:txBody>
      </p:sp>
      <p:sp>
        <p:nvSpPr>
          <p:cNvPr id="10" name="signB_6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Read again. Complete the 7 headings with a word from the list.</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Rileggi. Completa i 7 titoli con una parola della lista.</a:t>
            </a:r>
            <a:endParaRPr lang="en-US" sz="1250" dirty="0"/>
          </a:p>
        </p:txBody>
      </p:sp>
      <p:sp>
        <p:nvSpPr>
          <p:cNvPr id="11" name="box_62"/>
          <p:cNvSpPr txBox="1"/>
          <p:nvPr/>
        </p:nvSpPr>
        <p:spPr>
          <a:xfrm>
            <a:off x="2788920" y="1371600"/>
            <a:ext cx="3983126" cy="410174"/>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They have to be ___ .</a:t>
            </a:r>
            <a:endParaRPr lang="en-US" sz="1250" dirty="0"/>
          </a:p>
        </p:txBody>
      </p:sp>
      <p:sp>
        <p:nvSpPr>
          <p:cNvPr id="12" name="R1_m0"/>
          <p:cNvSpPr txBox="1"/>
          <p:nvPr/>
        </p:nvSpPr>
        <p:spPr>
          <a:xfrm>
            <a:off x="6845198" y="1389888"/>
            <a:ext cx="1978762"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patient</a:t>
            </a:r>
            <a:endParaRPr lang="en-US" sz="1300" dirty="0"/>
          </a:p>
        </p:txBody>
      </p:sp>
      <p:sp>
        <p:nvSpPr>
          <p:cNvPr id="13" name="box_63"/>
          <p:cNvSpPr txBox="1"/>
          <p:nvPr/>
        </p:nvSpPr>
        <p:spPr>
          <a:xfrm>
            <a:off x="2788920" y="1854926"/>
            <a:ext cx="3983126" cy="410174"/>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They need to be good at ___ .</a:t>
            </a:r>
            <a:endParaRPr lang="en-US" sz="1250" dirty="0"/>
          </a:p>
        </p:txBody>
      </p:sp>
      <p:sp>
        <p:nvSpPr>
          <p:cNvPr id="14" name="R1_m1"/>
          <p:cNvSpPr txBox="1"/>
          <p:nvPr/>
        </p:nvSpPr>
        <p:spPr>
          <a:xfrm>
            <a:off x="6845198" y="1873214"/>
            <a:ext cx="1978762"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miming</a:t>
            </a:r>
            <a:endParaRPr lang="en-US" sz="1300" dirty="0"/>
          </a:p>
        </p:txBody>
      </p:sp>
      <p:sp>
        <p:nvSpPr>
          <p:cNvPr id="15" name="box_64"/>
          <p:cNvSpPr txBox="1"/>
          <p:nvPr/>
        </p:nvSpPr>
        <p:spPr>
          <a:xfrm>
            <a:off x="2788920" y="2338251"/>
            <a:ext cx="3983126" cy="410174"/>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They have to put up with all kinds of ___ .</a:t>
            </a:r>
            <a:endParaRPr lang="en-US" sz="1250" dirty="0"/>
          </a:p>
        </p:txBody>
      </p:sp>
      <p:sp>
        <p:nvSpPr>
          <p:cNvPr id="16" name="R1_m2"/>
          <p:cNvSpPr txBox="1"/>
          <p:nvPr/>
        </p:nvSpPr>
        <p:spPr>
          <a:xfrm>
            <a:off x="6845198" y="2356539"/>
            <a:ext cx="1978762"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weather</a:t>
            </a:r>
            <a:endParaRPr lang="en-US" sz="1300" dirty="0"/>
          </a:p>
        </p:txBody>
      </p:sp>
      <p:sp>
        <p:nvSpPr>
          <p:cNvPr id="17" name="box_65"/>
          <p:cNvSpPr txBox="1"/>
          <p:nvPr/>
        </p:nvSpPr>
        <p:spPr>
          <a:xfrm>
            <a:off x="2788920" y="2821577"/>
            <a:ext cx="3983126" cy="410174"/>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They have to be able to keep ___ .</a:t>
            </a:r>
            <a:endParaRPr lang="en-US" sz="1250" dirty="0"/>
          </a:p>
        </p:txBody>
      </p:sp>
      <p:sp>
        <p:nvSpPr>
          <p:cNvPr id="18" name="R1_m3"/>
          <p:cNvSpPr txBox="1"/>
          <p:nvPr/>
        </p:nvSpPr>
        <p:spPr>
          <a:xfrm>
            <a:off x="6845198" y="2839865"/>
            <a:ext cx="1978762"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secrets</a:t>
            </a:r>
            <a:endParaRPr lang="en-US" sz="1300" dirty="0"/>
          </a:p>
        </p:txBody>
      </p:sp>
      <p:sp>
        <p:nvSpPr>
          <p:cNvPr id="19" name="box_66"/>
          <p:cNvSpPr txBox="1"/>
          <p:nvPr/>
        </p:nvSpPr>
        <p:spPr>
          <a:xfrm>
            <a:off x="2788920" y="3304903"/>
            <a:ext cx="3983126" cy="410174"/>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They are extremely ___ .</a:t>
            </a:r>
            <a:endParaRPr lang="en-US" sz="1250" dirty="0"/>
          </a:p>
        </p:txBody>
      </p:sp>
      <p:sp>
        <p:nvSpPr>
          <p:cNvPr id="20" name="R1_m4"/>
          <p:cNvSpPr txBox="1"/>
          <p:nvPr/>
        </p:nvSpPr>
        <p:spPr>
          <a:xfrm>
            <a:off x="6845198" y="3323191"/>
            <a:ext cx="1978762"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expensive</a:t>
            </a:r>
            <a:endParaRPr lang="en-US" sz="1300" dirty="0"/>
          </a:p>
        </p:txBody>
      </p:sp>
      <p:sp>
        <p:nvSpPr>
          <p:cNvPr id="21" name="box_67"/>
          <p:cNvSpPr txBox="1"/>
          <p:nvPr/>
        </p:nvSpPr>
        <p:spPr>
          <a:xfrm>
            <a:off x="2788920" y="3788229"/>
            <a:ext cx="3983126" cy="410174"/>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Sometimes they are not ___ .</a:t>
            </a:r>
            <a:endParaRPr lang="en-US" sz="1250" dirty="0"/>
          </a:p>
        </p:txBody>
      </p:sp>
      <p:sp>
        <p:nvSpPr>
          <p:cNvPr id="22" name="R1_m5"/>
          <p:cNvSpPr txBox="1"/>
          <p:nvPr/>
        </p:nvSpPr>
        <p:spPr>
          <a:xfrm>
            <a:off x="6845198" y="3806517"/>
            <a:ext cx="1978762"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real</a:t>
            </a:r>
            <a:endParaRPr lang="en-US" sz="1300" dirty="0"/>
          </a:p>
        </p:txBody>
      </p:sp>
      <p:sp>
        <p:nvSpPr>
          <p:cNvPr id="23" name="box_68"/>
          <p:cNvSpPr txBox="1"/>
          <p:nvPr/>
        </p:nvSpPr>
        <p:spPr>
          <a:xfrm>
            <a:off x="2788920" y="4271554"/>
            <a:ext cx="3983126" cy="410174"/>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7  They can't watch films like ___ people.</a:t>
            </a:r>
            <a:endParaRPr lang="en-US" sz="1250" dirty="0"/>
          </a:p>
        </p:txBody>
      </p:sp>
      <p:sp>
        <p:nvSpPr>
          <p:cNvPr id="24" name="R1_m6"/>
          <p:cNvSpPr txBox="1"/>
          <p:nvPr/>
        </p:nvSpPr>
        <p:spPr>
          <a:xfrm>
            <a:off x="6845198" y="4289842"/>
            <a:ext cx="1978762"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ordinary</a:t>
            </a:r>
            <a:endParaRPr lang="en-US" sz="1300" dirty="0"/>
          </a:p>
        </p:txBody>
      </p:sp>
      <p:sp>
        <p:nvSpPr>
          <p:cNvPr id="25" name="sticky_69"/>
          <p:cNvSpPr txBox="1"/>
          <p:nvPr/>
        </p:nvSpPr>
        <p:spPr>
          <a:xfrm rot="-120000">
            <a:off x="365760" y="3794760"/>
            <a:ext cx="2286000" cy="91440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expensive  ·  miming  ·  ordinary  ·  patient  ·  real  ·  secrets  ·  weather</a:t>
            </a:r>
            <a:endParaRPr lang="en-US" sz="1100" dirty="0"/>
          </a:p>
        </p:txBody>
      </p:sp>
      <p:sp>
        <p:nvSpPr>
          <p:cNvPr id="26" name="pageTag_7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pp.56–57 · 1c</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71"/>
          <p:cNvSpPr/>
          <p:nvPr/>
        </p:nvSpPr>
        <p:spPr>
          <a:xfrm>
            <a:off x="54864" y="54864"/>
            <a:ext cx="9034272" cy="5033772"/>
          </a:xfrm>
          <a:prstGeom prst="rect">
            <a:avLst/>
          </a:prstGeom>
          <a:ln w="114300">
            <a:solidFill>
              <a:srgbClr val="A8E6B4"/>
            </a:solidFill>
            <a:prstDash val="solid"/>
          </a:ln>
        </p:spPr>
      </p:sp>
      <p:pic>
        <p:nvPicPr>
          <p:cNvPr id="3" name="logo_7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7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READING · Memory challenge</a:t>
            </a:r>
            <a:endParaRPr lang="en-US" sz="1100" dirty="0"/>
          </a:p>
        </p:txBody>
      </p:sp>
      <p:sp>
        <p:nvSpPr>
          <p:cNvPr id="5" name="timer_7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6" name="footer_7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7" name="title_76"/>
          <p:cNvSpPr txBox="1"/>
          <p:nvPr/>
        </p:nvSpPr>
        <p:spPr>
          <a:xfrm rot="-120000">
            <a:off x="320040" y="676656"/>
            <a:ext cx="310896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Cover the text!</a:t>
            </a:r>
            <a:endParaRPr lang="en-US" sz="2000" dirty="0"/>
          </a:p>
        </p:txBody>
      </p:sp>
      <p:sp>
        <p:nvSpPr>
          <p:cNvPr id="8" name="post_77"/>
          <p:cNvSpPr/>
          <p:nvPr/>
        </p:nvSpPr>
        <p:spPr>
          <a:xfrm>
            <a:off x="429768" y="1554480"/>
            <a:ext cx="128016" cy="2194560"/>
          </a:xfrm>
          <a:prstGeom prst="rect">
            <a:avLst/>
          </a:prstGeom>
          <a:solidFill>
            <a:srgbClr val="8B5A2B"/>
          </a:solidFill>
          <a:ln w="31750">
            <a:solidFill>
              <a:srgbClr val="111111"/>
            </a:solidFill>
            <a:prstDash val="solid"/>
          </a:ln>
        </p:spPr>
      </p:sp>
      <p:sp>
        <p:nvSpPr>
          <p:cNvPr id="9" name="signA_78"/>
          <p:cNvSpPr txBox="1"/>
          <p:nvPr/>
        </p:nvSpPr>
        <p:spPr>
          <a:xfrm rot="-180000">
            <a:off x="320040" y="1371600"/>
            <a:ext cx="2240280" cy="457200"/>
          </a:xfrm>
          <a:prstGeom prst="homePlate">
            <a:avLst/>
          </a:prstGeom>
          <a:solidFill>
            <a:srgbClr val="B45309"/>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250" b="1" dirty="0">
                <a:solidFill>
                  <a:srgbClr val="FFFFFF"/>
                </a:solidFill>
                <a:latin typeface="Arial Black" pitchFamily="34" charset="0"/>
                <a:ea typeface="Arial Black" pitchFamily="34" charset="-122"/>
                <a:cs typeface="Arial Black" pitchFamily="34" charset="-120"/>
              </a:rPr>
              <a:t>REMEMBER!</a:t>
            </a:r>
            <a:pPr indent="0" marL="0">
              <a:buNone/>
            </a:pPr>
            <a:r>
              <a:rPr lang="en-US" sz="900" dirty="0">
                <a:solidFill>
                  <a:srgbClr val="FFF3B0"/>
                </a:solidFill>
                <a:latin typeface="Arial Black" pitchFamily="34" charset="0"/>
                <a:ea typeface="Arial Black" pitchFamily="34" charset="-122"/>
                <a:cs typeface="Arial Black" pitchFamily="34" charset="-120"/>
              </a:rPr>
              <a:t>  RICORDA!</a:t>
            </a:r>
            <a:endParaRPr lang="en-US" sz="1500" dirty="0"/>
          </a:p>
        </p:txBody>
      </p:sp>
      <p:sp>
        <p:nvSpPr>
          <p:cNvPr id="10" name="signB_7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Cover the article. Answer from memory. Then check!</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Copri l'articolo. Rispondi a memoria. Poi controlla!</a:t>
            </a:r>
            <a:endParaRPr lang="en-US" sz="1250" dirty="0"/>
          </a:p>
        </p:txBody>
      </p:sp>
      <p:sp>
        <p:nvSpPr>
          <p:cNvPr id="11" name="box_80"/>
          <p:cNvSpPr txBox="1"/>
          <p:nvPr/>
        </p:nvSpPr>
        <p:spPr>
          <a:xfrm>
            <a:off x="2788920" y="1371600"/>
            <a:ext cx="3500323"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1  What do extras often do while they're waiting?</a:t>
            </a:r>
            <a:endParaRPr lang="en-US" sz="1100" dirty="0"/>
          </a:p>
        </p:txBody>
      </p:sp>
      <p:sp>
        <p:nvSpPr>
          <p:cNvPr id="12" name="R1_a0"/>
          <p:cNvSpPr txBox="1"/>
          <p:nvPr/>
        </p:nvSpPr>
        <p:spPr>
          <a:xfrm>
            <a:off x="6344107" y="1408176"/>
            <a:ext cx="2479853"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read or play cards</a:t>
            </a:r>
            <a:endParaRPr lang="en-US" sz="1050" dirty="0"/>
          </a:p>
        </p:txBody>
      </p:sp>
      <p:sp>
        <p:nvSpPr>
          <p:cNvPr id="13" name="box_81"/>
          <p:cNvSpPr txBox="1"/>
          <p:nvPr/>
        </p:nvSpPr>
        <p:spPr>
          <a:xfrm>
            <a:off x="2788920" y="1860151"/>
            <a:ext cx="3500323" cy="36053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2  What did the extras have to do in the crowd scene in Jersey Girl?</a:t>
            </a:r>
            <a:endParaRPr lang="en-US" sz="1100" dirty="0"/>
          </a:p>
        </p:txBody>
      </p:sp>
      <p:sp>
        <p:nvSpPr>
          <p:cNvPr id="14" name="R1_a1"/>
          <p:cNvSpPr txBox="1"/>
          <p:nvPr/>
        </p:nvSpPr>
        <p:spPr>
          <a:xfrm>
            <a:off x="6344107" y="1896727"/>
            <a:ext cx="2479853"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pretend to clap and cheer – in silence</a:t>
            </a:r>
            <a:endParaRPr lang="en-US" sz="1050" dirty="0"/>
          </a:p>
        </p:txBody>
      </p:sp>
      <p:sp>
        <p:nvSpPr>
          <p:cNvPr id="15" name="box_82"/>
          <p:cNvSpPr txBox="1"/>
          <p:nvPr/>
        </p:nvSpPr>
        <p:spPr>
          <a:xfrm>
            <a:off x="2788920" y="2348702"/>
            <a:ext cx="3500323" cy="36053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3  How do you know if the snow is real or not in winter scenes?</a:t>
            </a:r>
            <a:endParaRPr lang="en-US" sz="1100" dirty="0"/>
          </a:p>
        </p:txBody>
      </p:sp>
      <p:sp>
        <p:nvSpPr>
          <p:cNvPr id="16" name="R1_a2"/>
          <p:cNvSpPr txBox="1"/>
          <p:nvPr/>
        </p:nvSpPr>
        <p:spPr>
          <a:xfrm>
            <a:off x="6344107" y="2385278"/>
            <a:ext cx="2479853"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you can see people's breath</a:t>
            </a:r>
            <a:endParaRPr lang="en-US" sz="1050" dirty="0"/>
          </a:p>
        </p:txBody>
      </p:sp>
      <p:sp>
        <p:nvSpPr>
          <p:cNvPr id="17" name="box_83"/>
          <p:cNvSpPr txBox="1"/>
          <p:nvPr/>
        </p:nvSpPr>
        <p:spPr>
          <a:xfrm>
            <a:off x="2788920" y="2837253"/>
            <a:ext cx="3500323" cy="36053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4  What did an extra do during the filming of Insurgent, and what happened as a result?</a:t>
            </a:r>
            <a:endParaRPr lang="en-US" sz="1100" dirty="0"/>
          </a:p>
        </p:txBody>
      </p:sp>
      <p:sp>
        <p:nvSpPr>
          <p:cNvPr id="18" name="R1_a3"/>
          <p:cNvSpPr txBox="1"/>
          <p:nvPr/>
        </p:nvSpPr>
        <p:spPr>
          <a:xfrm>
            <a:off x="6344107" y="2873829"/>
            <a:ext cx="2479853"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posted a set photo online → never employed again</a:t>
            </a:r>
            <a:endParaRPr lang="en-US" sz="1050" dirty="0"/>
          </a:p>
        </p:txBody>
      </p:sp>
      <p:sp>
        <p:nvSpPr>
          <p:cNvPr id="19" name="box_84"/>
          <p:cNvSpPr txBox="1"/>
          <p:nvPr/>
        </p:nvSpPr>
        <p:spPr>
          <a:xfrm>
            <a:off x="2788920" y="3325803"/>
            <a:ext cx="3500323" cy="36053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5  Why are a lot of British films made in Eastern Europe?</a:t>
            </a:r>
            <a:endParaRPr lang="en-US" sz="1100" dirty="0"/>
          </a:p>
        </p:txBody>
      </p:sp>
      <p:sp>
        <p:nvSpPr>
          <p:cNvPr id="20" name="R1_a4"/>
          <p:cNvSpPr txBox="1"/>
          <p:nvPr/>
        </p:nvSpPr>
        <p:spPr>
          <a:xfrm>
            <a:off x="6344107" y="3362379"/>
            <a:ext cx="2479853"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extras are paid less there</a:t>
            </a:r>
            <a:endParaRPr lang="en-US" sz="1050" dirty="0"/>
          </a:p>
        </p:txBody>
      </p:sp>
      <p:sp>
        <p:nvSpPr>
          <p:cNvPr id="21" name="box_85"/>
          <p:cNvSpPr txBox="1"/>
          <p:nvPr/>
        </p:nvSpPr>
        <p:spPr>
          <a:xfrm>
            <a:off x="2788920" y="3814354"/>
            <a:ext cx="3500323" cy="360535"/>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6  Why are inflatable extras popular nowadays?</a:t>
            </a:r>
            <a:endParaRPr lang="en-US" sz="1100" dirty="0"/>
          </a:p>
        </p:txBody>
      </p:sp>
      <p:sp>
        <p:nvSpPr>
          <p:cNvPr id="22" name="R1_a5"/>
          <p:cNvSpPr txBox="1"/>
          <p:nvPr/>
        </p:nvSpPr>
        <p:spPr>
          <a:xfrm>
            <a:off x="6344107" y="3850930"/>
            <a:ext cx="2479853"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look more real · can be stored and reused</a:t>
            </a:r>
            <a:endParaRPr lang="en-US" sz="1050" dirty="0"/>
          </a:p>
        </p:txBody>
      </p:sp>
      <p:sp>
        <p:nvSpPr>
          <p:cNvPr id="23" name="box_86"/>
          <p:cNvSpPr txBox="1"/>
          <p:nvPr/>
        </p:nvSpPr>
        <p:spPr>
          <a:xfrm>
            <a:off x="2788920" y="4302905"/>
            <a:ext cx="3500323"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7  What happens when extras watch TV?</a:t>
            </a:r>
            <a:endParaRPr lang="en-US" sz="1100" dirty="0"/>
          </a:p>
        </p:txBody>
      </p:sp>
      <p:sp>
        <p:nvSpPr>
          <p:cNvPr id="24" name="R1_a6"/>
          <p:cNvSpPr txBox="1"/>
          <p:nvPr/>
        </p:nvSpPr>
        <p:spPr>
          <a:xfrm>
            <a:off x="6344107" y="4339481"/>
            <a:ext cx="2479853"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they watch the extras: right or wrong?</a:t>
            </a:r>
            <a:endParaRPr lang="en-US" sz="1050" dirty="0"/>
          </a:p>
        </p:txBody>
      </p:sp>
      <p:sp>
        <p:nvSpPr>
          <p:cNvPr id="25" name="pageTag_8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pp.56–57 · 1d, 1e</a:t>
            </a:r>
            <a:endParaRPr lang="en-US" sz="1050" dirty="0"/>
          </a:p>
        </p:txBody>
      </p:sp>
      <p:sp>
        <p:nvSpPr>
          <p:cNvPr id="26" name="pframe_88"/>
          <p:cNvSpPr/>
          <p:nvPr/>
        </p:nvSpPr>
        <p:spPr>
          <a:xfrm rot="-120000">
            <a:off x="457200" y="3429000"/>
            <a:ext cx="1920240" cy="1124712"/>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7" name="pimg_89" descr="On the set of Ripper Street">    </p:cNvPr>
          <p:cNvPicPr>
            <a:picLocks noChangeAspect="1"/>
          </p:cNvPicPr>
          <p:nvPr/>
        </p:nvPicPr>
        <p:blipFill>
          <a:blip r:embed="rId3"/>
          <a:srcRect l="0" r="0" t="0" b="0"/>
          <a:stretch/>
        </p:blipFill>
        <p:spPr>
          <a:xfrm rot="-120000">
            <a:off x="530352" y="3502152"/>
            <a:ext cx="1773936" cy="704088"/>
          </a:xfrm>
          <a:prstGeom prst="rect">
            <a:avLst/>
          </a:prstGeom>
        </p:spPr>
      </p:pic>
      <p:sp>
        <p:nvSpPr>
          <p:cNvPr id="28" name="pcap_90"/>
          <p:cNvSpPr txBox="1"/>
          <p:nvPr/>
        </p:nvSpPr>
        <p:spPr>
          <a:xfrm rot="-120000">
            <a:off x="457200" y="4215384"/>
            <a:ext cx="1920240" cy="274320"/>
          </a:xfrm>
          <a:prstGeom prst="rect">
            <a:avLst/>
          </a:prstGeom>
          <a:noFill/>
          <a:ln/>
        </p:spPr>
        <p:txBody>
          <a:bodyPr wrap="square" rtlCol="0" anchor="ctr"/>
          <a:lstStyle/>
          <a:p>
            <a:pPr algn="ctr" indent="0" marL="0">
              <a:buNone/>
            </a:pPr>
            <a:r>
              <a:rPr lang="en-US" sz="1100" i="1" dirty="0">
                <a:solidFill>
                  <a:srgbClr val="111111"/>
                </a:solidFill>
                <a:latin typeface="Calibri" pitchFamily="34" charset="0"/>
                <a:ea typeface="Calibri" pitchFamily="34" charset="-122"/>
                <a:cs typeface="Calibri" pitchFamily="34" charset="-120"/>
              </a:rPr>
              <a:t>On the set of Ripper Street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91"/>
          <p:cNvSpPr/>
          <p:nvPr/>
        </p:nvSpPr>
        <p:spPr>
          <a:xfrm>
            <a:off x="54864" y="54864"/>
            <a:ext cx="9034272" cy="5033772"/>
          </a:xfrm>
          <a:prstGeom prst="rect">
            <a:avLst/>
          </a:prstGeom>
          <a:ln w="114300">
            <a:solidFill>
              <a:srgbClr val="A8E6B4"/>
            </a:solidFill>
            <a:prstDash val="solid"/>
          </a:ln>
        </p:spPr>
      </p:sp>
      <p:pic>
        <p:nvPicPr>
          <p:cNvPr id="3" name="logo_9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9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GRAMMAR · Presentation · SB p.57</a:t>
            </a:r>
            <a:endParaRPr lang="en-US" sz="1100" dirty="0"/>
          </a:p>
        </p:txBody>
      </p:sp>
      <p:sp>
        <p:nvSpPr>
          <p:cNvPr id="5" name="timer_9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6" name="footer_9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7" name="title_96"/>
          <p:cNvSpPr txBox="1"/>
          <p:nvPr/>
        </p:nvSpPr>
        <p:spPr>
          <a:xfrm rot="-120000">
            <a:off x="320040" y="676656"/>
            <a:ext cx="258775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Which tense?</a:t>
            </a:r>
            <a:endParaRPr lang="en-US" sz="2000" dirty="0"/>
          </a:p>
        </p:txBody>
      </p:sp>
      <p:sp>
        <p:nvSpPr>
          <p:cNvPr id="8" name="post_97"/>
          <p:cNvSpPr/>
          <p:nvPr/>
        </p:nvSpPr>
        <p:spPr>
          <a:xfrm>
            <a:off x="429768" y="1554480"/>
            <a:ext cx="128016" cy="2194560"/>
          </a:xfrm>
          <a:prstGeom prst="rect">
            <a:avLst/>
          </a:prstGeom>
          <a:solidFill>
            <a:srgbClr val="8B5A2B"/>
          </a:solidFill>
          <a:ln w="31750">
            <a:solidFill>
              <a:srgbClr val="111111"/>
            </a:solidFill>
            <a:prstDash val="solid"/>
          </a:ln>
        </p:spPr>
      </p:sp>
      <p:sp>
        <p:nvSpPr>
          <p:cNvPr id="9" name="signA_98"/>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0" name="signB_9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Six extracts from the text. What tense or form of the passive?</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Sei estratti dal testo. Che tempo o forma del passivo?</a:t>
            </a:r>
            <a:endParaRPr lang="en-US" sz="1250" dirty="0"/>
          </a:p>
        </p:txBody>
      </p:sp>
      <p:sp>
        <p:nvSpPr>
          <p:cNvPr id="11" name="box_100"/>
          <p:cNvSpPr txBox="1"/>
          <p:nvPr/>
        </p:nvSpPr>
        <p:spPr>
          <a:xfrm>
            <a:off x="2788920" y="1371600"/>
            <a:ext cx="3983126"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You wait and wait, but you aren't used.</a:t>
            </a:r>
            <a:endParaRPr lang="en-US" sz="1250" dirty="0"/>
          </a:p>
        </p:txBody>
      </p:sp>
      <p:sp>
        <p:nvSpPr>
          <p:cNvPr id="12" name="R1_a0"/>
          <p:cNvSpPr txBox="1"/>
          <p:nvPr/>
        </p:nvSpPr>
        <p:spPr>
          <a:xfrm>
            <a:off x="6826910" y="1408176"/>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present simple</a:t>
            </a:r>
            <a:endParaRPr lang="en-US" sz="1250" dirty="0"/>
          </a:p>
        </p:txBody>
      </p:sp>
      <p:sp>
        <p:nvSpPr>
          <p:cNvPr id="13" name="box_101"/>
          <p:cNvSpPr txBox="1"/>
          <p:nvPr/>
        </p:nvSpPr>
        <p:spPr>
          <a:xfrm>
            <a:off x="2788920" y="1941576"/>
            <a:ext cx="3983126"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When a crowd scene was being filmed,…</a:t>
            </a:r>
            <a:endParaRPr lang="en-US" sz="1250" dirty="0"/>
          </a:p>
        </p:txBody>
      </p:sp>
      <p:sp>
        <p:nvSpPr>
          <p:cNvPr id="14" name="R2_a1"/>
          <p:cNvSpPr txBox="1"/>
          <p:nvPr/>
        </p:nvSpPr>
        <p:spPr>
          <a:xfrm>
            <a:off x="6826910" y="1978152"/>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past continuous</a:t>
            </a:r>
            <a:endParaRPr lang="en-US" sz="1250" dirty="0"/>
          </a:p>
        </p:txBody>
      </p:sp>
      <p:sp>
        <p:nvSpPr>
          <p:cNvPr id="15" name="box_102"/>
          <p:cNvSpPr txBox="1"/>
          <p:nvPr/>
        </p:nvSpPr>
        <p:spPr>
          <a:xfrm>
            <a:off x="2788920" y="2511552"/>
            <a:ext cx="3983126"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But it was all done in silence…</a:t>
            </a:r>
            <a:endParaRPr lang="en-US" sz="1250" dirty="0"/>
          </a:p>
        </p:txBody>
      </p:sp>
      <p:sp>
        <p:nvSpPr>
          <p:cNvPr id="16" name="R3_a2"/>
          <p:cNvSpPr txBox="1"/>
          <p:nvPr/>
        </p:nvSpPr>
        <p:spPr>
          <a:xfrm>
            <a:off x="6826910" y="2548128"/>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past simple</a:t>
            </a:r>
            <a:endParaRPr lang="en-US" sz="1250" dirty="0"/>
          </a:p>
        </p:txBody>
      </p:sp>
      <p:sp>
        <p:nvSpPr>
          <p:cNvPr id="17" name="box_103"/>
          <p:cNvSpPr txBox="1"/>
          <p:nvPr/>
        </p:nvSpPr>
        <p:spPr>
          <a:xfrm>
            <a:off x="2788920" y="3081528"/>
            <a:ext cx="3983126"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Sometimes, when a winter scene is being filmed,…</a:t>
            </a:r>
            <a:endParaRPr lang="en-US" sz="1250" dirty="0"/>
          </a:p>
        </p:txBody>
      </p:sp>
      <p:sp>
        <p:nvSpPr>
          <p:cNvPr id="18" name="R4_a3"/>
          <p:cNvSpPr txBox="1"/>
          <p:nvPr/>
        </p:nvSpPr>
        <p:spPr>
          <a:xfrm>
            <a:off x="6826910" y="3118104"/>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present continuous</a:t>
            </a:r>
            <a:endParaRPr lang="en-US" sz="1250" dirty="0"/>
          </a:p>
        </p:txBody>
      </p:sp>
      <p:sp>
        <p:nvSpPr>
          <p:cNvPr id="19" name="box_104"/>
          <p:cNvSpPr txBox="1"/>
          <p:nvPr/>
        </p:nvSpPr>
        <p:spPr>
          <a:xfrm>
            <a:off x="2788920" y="3651504"/>
            <a:ext cx="3983126"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…the air conditioning has to be turned off…</a:t>
            </a:r>
            <a:endParaRPr lang="en-US" sz="1250" dirty="0"/>
          </a:p>
        </p:txBody>
      </p:sp>
      <p:sp>
        <p:nvSpPr>
          <p:cNvPr id="20" name="R5_a4"/>
          <p:cNvSpPr txBox="1"/>
          <p:nvPr/>
        </p:nvSpPr>
        <p:spPr>
          <a:xfrm>
            <a:off x="6826910" y="3688080"/>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infinitive</a:t>
            </a:r>
            <a:endParaRPr lang="en-US" sz="1250" dirty="0"/>
          </a:p>
        </p:txBody>
      </p:sp>
      <p:sp>
        <p:nvSpPr>
          <p:cNvPr id="21" name="box_105"/>
          <p:cNvSpPr txBox="1"/>
          <p:nvPr/>
        </p:nvSpPr>
        <p:spPr>
          <a:xfrm>
            <a:off x="2788920" y="4221480"/>
            <a:ext cx="3983126"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Since then, she has never been employed…</a:t>
            </a:r>
            <a:endParaRPr lang="en-US" sz="1250" dirty="0"/>
          </a:p>
        </p:txBody>
      </p:sp>
      <p:sp>
        <p:nvSpPr>
          <p:cNvPr id="22" name="R6_a5"/>
          <p:cNvSpPr txBox="1"/>
          <p:nvPr/>
        </p:nvSpPr>
        <p:spPr>
          <a:xfrm>
            <a:off x="6826910" y="4258056"/>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present perfect</a:t>
            </a:r>
            <a:endParaRPr lang="en-US" sz="1250" dirty="0"/>
          </a:p>
        </p:txBody>
      </p:sp>
      <p:sp>
        <p:nvSpPr>
          <p:cNvPr id="23" name="pageTag_10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p.57 · 2a</a:t>
            </a:r>
            <a:endParaRPr lang="en-US" sz="1050" dirty="0"/>
          </a:p>
        </p:txBody>
      </p:sp>
      <p:sp>
        <p:nvSpPr>
          <p:cNvPr id="24" name="pframe_107"/>
          <p:cNvSpPr/>
          <p:nvPr/>
        </p:nvSpPr>
        <p:spPr>
          <a:xfrm rot="-120000">
            <a:off x="457200" y="3429000"/>
            <a:ext cx="1920240" cy="1143000"/>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5" name="pimg_108" descr="'Inflatable crowd' dolls">    </p:cNvPr>
          <p:cNvPicPr>
            <a:picLocks noChangeAspect="1"/>
          </p:cNvPicPr>
          <p:nvPr/>
        </p:nvPicPr>
        <p:blipFill>
          <a:blip r:embed="rId3"/>
          <a:srcRect l="0" r="0" t="0" b="0"/>
          <a:stretch/>
        </p:blipFill>
        <p:spPr>
          <a:xfrm rot="-120000">
            <a:off x="530352" y="3502152"/>
            <a:ext cx="1773936" cy="722376"/>
          </a:xfrm>
          <a:prstGeom prst="rect">
            <a:avLst/>
          </a:prstGeom>
        </p:spPr>
      </p:pic>
      <p:sp>
        <p:nvSpPr>
          <p:cNvPr id="26" name="pcap_109"/>
          <p:cNvSpPr txBox="1"/>
          <p:nvPr/>
        </p:nvSpPr>
        <p:spPr>
          <a:xfrm rot="-120000">
            <a:off x="457200" y="4233672"/>
            <a:ext cx="1920240" cy="274320"/>
          </a:xfrm>
          <a:prstGeom prst="rect">
            <a:avLst/>
          </a:prstGeom>
          <a:noFill/>
          <a:ln/>
        </p:spPr>
        <p:txBody>
          <a:bodyPr wrap="square" rtlCol="0" anchor="ctr"/>
          <a:lstStyle/>
          <a:p>
            <a:pPr algn="ctr" indent="0" marL="0">
              <a:buNone/>
            </a:pPr>
            <a:r>
              <a:rPr lang="en-US" sz="1100" i="1" dirty="0">
                <a:solidFill>
                  <a:srgbClr val="111111"/>
                </a:solidFill>
                <a:latin typeface="Calibri" pitchFamily="34" charset="0"/>
                <a:ea typeface="Calibri" pitchFamily="34" charset="-122"/>
                <a:cs typeface="Calibri" pitchFamily="34" charset="-120"/>
              </a:rPr>
              <a:t>'Inflatable crowd' dolls</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10"/>
          <p:cNvSpPr/>
          <p:nvPr/>
        </p:nvSpPr>
        <p:spPr>
          <a:xfrm>
            <a:off x="54864" y="54864"/>
            <a:ext cx="9034272" cy="5033772"/>
          </a:xfrm>
          <a:prstGeom prst="rect">
            <a:avLst/>
          </a:prstGeom>
          <a:ln w="114300">
            <a:solidFill>
              <a:srgbClr val="A8E6B4"/>
            </a:solidFill>
            <a:prstDash val="solid"/>
          </a:ln>
        </p:spPr>
      </p:sp>
      <p:pic>
        <p:nvPicPr>
          <p:cNvPr id="3" name="logo_11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11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GRAMMAR · Grammar Bank 6A p.142</a:t>
            </a:r>
            <a:endParaRPr lang="en-US" sz="1100" dirty="0"/>
          </a:p>
        </p:txBody>
      </p:sp>
      <p:sp>
        <p:nvSpPr>
          <p:cNvPr id="5" name="timer_11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6" name="footer_11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7" name="title_115"/>
          <p:cNvSpPr txBox="1"/>
          <p:nvPr/>
        </p:nvSpPr>
        <p:spPr>
          <a:xfrm rot="-120000">
            <a:off x="320040" y="676656"/>
            <a:ext cx="241401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The passive</a:t>
            </a:r>
            <a:endParaRPr lang="en-US" sz="2000" dirty="0"/>
          </a:p>
        </p:txBody>
      </p:sp>
      <p:sp>
        <p:nvSpPr>
          <p:cNvPr id="8" name="rh_116"/>
          <p:cNvSpPr txBox="1"/>
          <p:nvPr/>
        </p:nvSpPr>
        <p:spPr>
          <a:xfrm>
            <a:off x="320040" y="1371600"/>
            <a:ext cx="2749296" cy="384048"/>
          </a:xfrm>
          <a:prstGeom prst="rect">
            <a:avLst/>
          </a:prstGeom>
          <a:solidFill>
            <a:srgbClr val="48BDF2"/>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be + past participle</a:t>
            </a:r>
            <a:endParaRPr lang="en-US" sz="1300" dirty="0"/>
          </a:p>
        </p:txBody>
      </p:sp>
      <p:sp>
        <p:nvSpPr>
          <p:cNvPr id="9" name="rb_117"/>
          <p:cNvSpPr txBox="1"/>
          <p:nvPr/>
        </p:nvSpPr>
        <p:spPr>
          <a:xfrm>
            <a:off x="320040"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A lot of films are shot on location.</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When is our car being repaired?</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Andy's bike has been stolen.</a:t>
            </a:r>
            <a:endParaRPr lang="en-US" sz="130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change be for the tense; the participle stays the same</a:t>
            </a:r>
            <a:endParaRPr lang="en-US" sz="1300" dirty="0"/>
          </a:p>
        </p:txBody>
      </p:sp>
      <p:sp>
        <p:nvSpPr>
          <p:cNvPr id="10" name="rh_118"/>
          <p:cNvSpPr txBox="1"/>
          <p:nvPr/>
        </p:nvSpPr>
        <p:spPr>
          <a:xfrm>
            <a:off x="3197352" y="1371600"/>
            <a:ext cx="2749296" cy="384048"/>
          </a:xfrm>
          <a:prstGeom prst="rect">
            <a:avLst/>
          </a:prstGeom>
          <a:solidFill>
            <a:srgbClr val="EF2F2F"/>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…in every form</a:t>
            </a:r>
            <a:endParaRPr lang="en-US" sz="1300" dirty="0"/>
          </a:p>
        </p:txBody>
      </p:sp>
      <p:sp>
        <p:nvSpPr>
          <p:cNvPr id="11" name="rb_119"/>
          <p:cNvSpPr txBox="1"/>
          <p:nvPr/>
        </p:nvSpPr>
        <p:spPr>
          <a:xfrm>
            <a:off x="3197352"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The director died when the film was being made.</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You'll be picked up at the airport.</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This bill must be paid tomorrow.</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I love being given a massage.</a:t>
            </a:r>
            <a:endParaRPr lang="en-US" sz="1300" dirty="0"/>
          </a:p>
        </p:txBody>
      </p:sp>
      <p:sp>
        <p:nvSpPr>
          <p:cNvPr id="12" name="rh_120"/>
          <p:cNvSpPr txBox="1"/>
          <p:nvPr/>
        </p:nvSpPr>
        <p:spPr>
          <a:xfrm>
            <a:off x="6074664" y="1371600"/>
            <a:ext cx="2749296" cy="384048"/>
          </a:xfrm>
          <a:prstGeom prst="rect">
            <a:avLst/>
          </a:prstGeom>
          <a:solidFill>
            <a:srgbClr val="1FA463"/>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by + person</a:t>
            </a:r>
            <a:endParaRPr lang="en-US" sz="1300" dirty="0"/>
          </a:p>
        </p:txBody>
      </p:sp>
      <p:sp>
        <p:nvSpPr>
          <p:cNvPr id="13" name="rb_121"/>
          <p:cNvSpPr txBox="1"/>
          <p:nvPr/>
        </p:nvSpPr>
        <p:spPr>
          <a:xfrm>
            <a:off x="6074664"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Gladiator was directed by Ridley Scott.</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The new concert hall will be opened by the Queen.</a:t>
            </a:r>
            <a:endParaRPr lang="en-US" sz="130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only when it's important WHO did it</a:t>
            </a:r>
            <a:endParaRPr lang="en-US" sz="1300" dirty="0"/>
          </a:p>
        </p:txBody>
      </p:sp>
      <p:sp>
        <p:nvSpPr>
          <p:cNvPr id="14" name="watch_122"/>
          <p:cNvSpPr txBox="1"/>
          <p:nvPr/>
        </p:nvSpPr>
        <p:spPr>
          <a:xfrm>
            <a:off x="320040" y="4133088"/>
            <a:ext cx="8503920" cy="530352"/>
          </a:xfrm>
          <a:prstGeom prst="rect">
            <a:avLst/>
          </a:prstGeom>
          <a:solidFill>
            <a:srgbClr val="FFE4E6"/>
          </a:solidFill>
          <a:ln w="19050">
            <a:solidFill>
              <a:srgbClr val="111111"/>
            </a:solidFill>
          </a:ln>
        </p:spPr>
        <p:txBody>
          <a:bodyPr wrap="square" lIns="101600" tIns="101600" rIns="101600" bIns="101600" rtlCol="0" anchor="ctr"/>
          <a:lstStyle/>
          <a:p>
            <a:pPr indent="0" marL="0">
              <a:buNone/>
            </a:pPr>
            <a:r>
              <a:rPr lang="en-US" sz="1250" b="1" dirty="0">
                <a:solidFill>
                  <a:srgbClr val="EF2F2F"/>
                </a:solidFill>
                <a:latin typeface="Calibri" pitchFamily="34" charset="0"/>
                <a:ea typeface="Calibri" pitchFamily="34" charset="-122"/>
                <a:cs typeface="Calibri" pitchFamily="34" charset="-120"/>
              </a:rPr>
              <a:t>Watch out!  </a:t>
            </a:r>
            <a:pPr indent="0" marL="0">
              <a:buNone/>
            </a:pPr>
            <a:r>
              <a:rPr lang="en-US" sz="1250" dirty="0">
                <a:solidFill>
                  <a:srgbClr val="111111"/>
                </a:solidFill>
                <a:latin typeface="Calibri" pitchFamily="34" charset="0"/>
                <a:ea typeface="Calibri" pitchFamily="34" charset="-122"/>
                <a:cs typeface="Calibri" pitchFamily="34" charset="-120"/>
              </a:rPr>
              <a:t>✗ The tickets sell at the box office → ✓ are sold.   ✗ The film directed by… → ✓ was directed by…   You don't always need by!</a:t>
            </a:r>
            <a:endParaRPr lang="en-US" sz="1250" dirty="0"/>
          </a:p>
        </p:txBody>
      </p:sp>
      <p:sp>
        <p:nvSpPr>
          <p:cNvPr id="15" name="pageTag_12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Grammar Bank 6A p.142 · audio 6.1</a:t>
            </a:r>
            <a:endParaRPr lang="en-US" sz="1050" dirty="0"/>
          </a:p>
        </p:txBody>
      </p:sp>
      <p:pic>
        <p:nvPicPr>
          <p:cNvPr id="5"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5166360" y="155448"/>
            <a:ext cx="384048" cy="384048"/>
          </a:xfrm>
          <a:prstGeom prst="rect">
            <a:avLst/>
          </a:prstGeom>
        </p:spPr>
      </p:pic>
      <p:sp>
        <p:nvSpPr>
          <p:cNvPr id="17" name="atr_124"/>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6.1</a:t>
            </a:r>
            <a:endParaRPr lang="en-US" sz="800" dirty="0"/>
          </a:p>
        </p:txBody>
      </p:sp>
    </p:spTree>
  </p:cSld>
  <p:clrMapOvr>
    <a:masterClrMapping/>
  </p:clrMapOvr>
  <p:transition spd="med">
    <p:push dir="l"/>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25"/>
          <p:cNvSpPr/>
          <p:nvPr/>
        </p:nvSpPr>
        <p:spPr>
          <a:xfrm>
            <a:off x="54864" y="54864"/>
            <a:ext cx="9034272" cy="5033772"/>
          </a:xfrm>
          <a:prstGeom prst="rect">
            <a:avLst/>
          </a:prstGeom>
          <a:ln w="114300">
            <a:solidFill>
              <a:srgbClr val="A8E6B4"/>
            </a:solidFill>
            <a:prstDash val="solid"/>
          </a:ln>
        </p:spPr>
      </p:sp>
      <p:pic>
        <p:nvPicPr>
          <p:cNvPr id="3" name="logo_12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12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GRAMMAR · Grammar Bank 6A · practice</a:t>
            </a:r>
            <a:endParaRPr lang="en-US" sz="1100" dirty="0"/>
          </a:p>
        </p:txBody>
      </p:sp>
      <p:sp>
        <p:nvSpPr>
          <p:cNvPr id="5" name="timer_12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6" name="footer_12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7" name="title_130"/>
          <p:cNvSpPr txBox="1"/>
          <p:nvPr/>
        </p:nvSpPr>
        <p:spPr>
          <a:xfrm rot="-120000">
            <a:off x="320040" y="676656"/>
            <a:ext cx="328269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Make it passive!</a:t>
            </a:r>
            <a:endParaRPr lang="en-US" sz="2000" dirty="0"/>
          </a:p>
        </p:txBody>
      </p:sp>
      <p:sp>
        <p:nvSpPr>
          <p:cNvPr id="8" name="post_131"/>
          <p:cNvSpPr/>
          <p:nvPr/>
        </p:nvSpPr>
        <p:spPr>
          <a:xfrm>
            <a:off x="429768" y="1554480"/>
            <a:ext cx="128016" cy="2194560"/>
          </a:xfrm>
          <a:prstGeom prst="rect">
            <a:avLst/>
          </a:prstGeom>
          <a:solidFill>
            <a:srgbClr val="8B5A2B"/>
          </a:solidFill>
          <a:ln w="31750">
            <a:solidFill>
              <a:srgbClr val="111111"/>
            </a:solidFill>
            <a:prstDash val="solid"/>
          </a:ln>
        </p:spPr>
      </p:sp>
      <p:sp>
        <p:nvSpPr>
          <p:cNvPr id="9" name="signA_132"/>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0" name="signB_13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Grammar Bank 6A: a 1–5 and b 1–5. Then check!</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Grammar Bank 6A: a 1–5 e b 1–5. Poi controlla!</a:t>
            </a:r>
            <a:endParaRPr lang="en-US" sz="1250" dirty="0"/>
          </a:p>
        </p:txBody>
      </p:sp>
      <p:sp>
        <p:nvSpPr>
          <p:cNvPr id="11" name="iconBack_134"/>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2" name="icon_135" descr="pi:PiPencilSimple">    </p:cNvPr>
          <p:cNvPicPr>
            <a:picLocks noChangeAspect="1"/>
          </p:cNvPicPr>
          <p:nvPr/>
        </p:nvPicPr>
        <p:blipFill>
          <a:blip r:embed="rId3"/>
          <a:stretch>
            <a:fillRect/>
          </a:stretch>
        </p:blipFill>
        <p:spPr>
          <a:xfrm>
            <a:off x="914400" y="3474720"/>
            <a:ext cx="685800" cy="685800"/>
          </a:xfrm>
          <a:prstGeom prst="rect">
            <a:avLst/>
          </a:prstGeom>
        </p:spPr>
      </p:pic>
      <p:sp>
        <p:nvSpPr>
          <p:cNvPr id="13" name="box_136"/>
          <p:cNvSpPr txBox="1"/>
          <p:nvPr/>
        </p:nvSpPr>
        <p:spPr>
          <a:xfrm>
            <a:off x="2788920" y="1371600"/>
            <a:ext cx="3017520"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a 1–5  (in your book, p.142)</a:t>
            </a:r>
            <a:endParaRPr lang="en-US" sz="1200" dirty="0"/>
          </a:p>
        </p:txBody>
      </p:sp>
      <p:sp>
        <p:nvSpPr>
          <p:cNvPr id="14" name="R1_a0"/>
          <p:cNvSpPr txBox="1"/>
          <p:nvPr/>
        </p:nvSpPr>
        <p:spPr>
          <a:xfrm>
            <a:off x="5861304" y="1408176"/>
            <a:ext cx="296265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1 are being made · 2 inspired · 3 hasn't been inhabited · 4 is set · 5 will be shot</a:t>
            </a:r>
            <a:endParaRPr lang="en-US" sz="1150" dirty="0"/>
          </a:p>
        </p:txBody>
      </p:sp>
      <p:sp>
        <p:nvSpPr>
          <p:cNvPr id="15" name="box_137"/>
          <p:cNvSpPr txBox="1"/>
          <p:nvPr/>
        </p:nvSpPr>
        <p:spPr>
          <a:xfrm>
            <a:off x="2788920" y="1941576"/>
            <a:ext cx="3017520"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b1  They subtitle a lot of foreign films.</a:t>
            </a:r>
            <a:endParaRPr lang="en-US" sz="1200" dirty="0"/>
          </a:p>
        </p:txBody>
      </p:sp>
      <p:sp>
        <p:nvSpPr>
          <p:cNvPr id="16" name="R1_a1"/>
          <p:cNvSpPr txBox="1"/>
          <p:nvPr/>
        </p:nvSpPr>
        <p:spPr>
          <a:xfrm>
            <a:off x="5861304" y="1978152"/>
            <a:ext cx="296265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A lot of foreign films are subtitled.</a:t>
            </a:r>
            <a:endParaRPr lang="en-US" sz="1150" dirty="0"/>
          </a:p>
        </p:txBody>
      </p:sp>
      <p:sp>
        <p:nvSpPr>
          <p:cNvPr id="17" name="box_138"/>
          <p:cNvSpPr txBox="1"/>
          <p:nvPr/>
        </p:nvSpPr>
        <p:spPr>
          <a:xfrm>
            <a:off x="2788920" y="2511552"/>
            <a:ext cx="3017520"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b2  García Márquez wrote Love in the Time of Cholera in 1985.</a:t>
            </a:r>
            <a:endParaRPr lang="en-US" sz="1200" dirty="0"/>
          </a:p>
        </p:txBody>
      </p:sp>
      <p:sp>
        <p:nvSpPr>
          <p:cNvPr id="18" name="R1_a2"/>
          <p:cNvSpPr txBox="1"/>
          <p:nvPr/>
        </p:nvSpPr>
        <p:spPr>
          <a:xfrm>
            <a:off x="5861304" y="2548128"/>
            <a:ext cx="296265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…was written by García Márquez in 1985.</a:t>
            </a:r>
            <a:endParaRPr lang="en-US" sz="1150" dirty="0"/>
          </a:p>
        </p:txBody>
      </p:sp>
      <p:sp>
        <p:nvSpPr>
          <p:cNvPr id="19" name="box_139"/>
          <p:cNvSpPr txBox="1"/>
          <p:nvPr/>
        </p:nvSpPr>
        <p:spPr>
          <a:xfrm>
            <a:off x="2788920" y="3081528"/>
            <a:ext cx="3017520"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b3  They're repairing my laptop at the moment.</a:t>
            </a:r>
            <a:endParaRPr lang="en-US" sz="1200" dirty="0"/>
          </a:p>
        </p:txBody>
      </p:sp>
      <p:sp>
        <p:nvSpPr>
          <p:cNvPr id="20" name="R1_a3"/>
          <p:cNvSpPr txBox="1"/>
          <p:nvPr/>
        </p:nvSpPr>
        <p:spPr>
          <a:xfrm>
            <a:off x="5861304" y="3118104"/>
            <a:ext cx="296265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My laptop is being repaired…</a:t>
            </a:r>
            <a:endParaRPr lang="en-US" sz="1150" dirty="0"/>
          </a:p>
        </p:txBody>
      </p:sp>
      <p:sp>
        <p:nvSpPr>
          <p:cNvPr id="21" name="box_140"/>
          <p:cNvSpPr txBox="1"/>
          <p:nvPr/>
        </p:nvSpPr>
        <p:spPr>
          <a:xfrm>
            <a:off x="2788920" y="3651504"/>
            <a:ext cx="3017520"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b4  They haven't released the DVD of the film yet.</a:t>
            </a:r>
            <a:endParaRPr lang="en-US" sz="1200" dirty="0"/>
          </a:p>
        </p:txBody>
      </p:sp>
      <p:sp>
        <p:nvSpPr>
          <p:cNvPr id="22" name="R1_a4"/>
          <p:cNvSpPr txBox="1"/>
          <p:nvPr/>
        </p:nvSpPr>
        <p:spPr>
          <a:xfrm>
            <a:off x="5861304" y="3688080"/>
            <a:ext cx="296265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The DVD… hasn't been released yet.</a:t>
            </a:r>
            <a:endParaRPr lang="en-US" sz="1150" dirty="0"/>
          </a:p>
        </p:txBody>
      </p:sp>
      <p:sp>
        <p:nvSpPr>
          <p:cNvPr id="23" name="box_141"/>
          <p:cNvSpPr txBox="1"/>
          <p:nvPr/>
        </p:nvSpPr>
        <p:spPr>
          <a:xfrm>
            <a:off x="2788920" y="4221480"/>
            <a:ext cx="3017520"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b5  They won't finish the film until the spring.</a:t>
            </a:r>
            <a:endParaRPr lang="en-US" sz="1200" dirty="0"/>
          </a:p>
        </p:txBody>
      </p:sp>
      <p:sp>
        <p:nvSpPr>
          <p:cNvPr id="24" name="R1_a5"/>
          <p:cNvSpPr txBox="1"/>
          <p:nvPr/>
        </p:nvSpPr>
        <p:spPr>
          <a:xfrm>
            <a:off x="5861304" y="4258056"/>
            <a:ext cx="296265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The film won't be finished until the spring.</a:t>
            </a:r>
            <a:endParaRPr lang="en-US" sz="1150" dirty="0"/>
          </a:p>
        </p:txBody>
      </p:sp>
      <p:sp>
        <p:nvSpPr>
          <p:cNvPr id="25" name="pageTag_142"/>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Grammar Bank 6A p.142 · a 1–5, b 1–5 (a 6–10, b 6–10 = homework)</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10"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43"/>
          <p:cNvSpPr/>
          <p:nvPr/>
        </p:nvSpPr>
        <p:spPr>
          <a:xfrm>
            <a:off x="54864" y="54864"/>
            <a:ext cx="9034272" cy="5033772"/>
          </a:xfrm>
          <a:prstGeom prst="rect">
            <a:avLst/>
          </a:prstGeom>
          <a:ln w="114300">
            <a:solidFill>
              <a:srgbClr val="A8E6B4"/>
            </a:solidFill>
            <a:prstDash val="solid"/>
          </a:ln>
        </p:spPr>
      </p:sp>
      <p:pic>
        <p:nvPicPr>
          <p:cNvPr id="3" name="logo_14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14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PRONUNCIATION · Past participles · audio 6.2, 6.3</a:t>
            </a:r>
            <a:endParaRPr lang="en-US" sz="1100" dirty="0"/>
          </a:p>
        </p:txBody>
      </p:sp>
      <p:sp>
        <p:nvSpPr>
          <p:cNvPr id="5" name="timer_14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6" name="footer_14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7" name="title_148"/>
          <p:cNvSpPr txBox="1"/>
          <p:nvPr/>
        </p:nvSpPr>
        <p:spPr>
          <a:xfrm rot="-120000">
            <a:off x="320040" y="676656"/>
            <a:ext cx="310896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Sound intruders</a:t>
            </a:r>
            <a:endParaRPr lang="en-US" sz="2000" dirty="0"/>
          </a:p>
        </p:txBody>
      </p:sp>
      <p:sp>
        <p:nvSpPr>
          <p:cNvPr id="8" name="post_149"/>
          <p:cNvSpPr/>
          <p:nvPr/>
        </p:nvSpPr>
        <p:spPr>
          <a:xfrm>
            <a:off x="429768" y="1554480"/>
            <a:ext cx="128016" cy="2194560"/>
          </a:xfrm>
          <a:prstGeom prst="rect">
            <a:avLst/>
          </a:prstGeom>
          <a:solidFill>
            <a:srgbClr val="8B5A2B"/>
          </a:solidFill>
          <a:ln w="31750">
            <a:solidFill>
              <a:srgbClr val="111111"/>
            </a:solidFill>
            <a:prstDash val="solid"/>
          </a:ln>
        </p:spPr>
      </p:sp>
      <p:sp>
        <p:nvSpPr>
          <p:cNvPr id="9" name="signA_150"/>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0" name="signB_15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Same sound? Circle the participle with a different sound.</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Stesso suono? Cerchia il participio con un suono diverso.</a:t>
            </a:r>
            <a:endParaRPr lang="en-US" sz="1250" dirty="0"/>
          </a:p>
        </p:txBody>
      </p:sp>
      <p:sp>
        <p:nvSpPr>
          <p:cNvPr id="11" name="box_152"/>
          <p:cNvSpPr txBox="1"/>
          <p:nvPr/>
        </p:nvSpPr>
        <p:spPr>
          <a:xfrm>
            <a:off x="2788920" y="1371600"/>
            <a:ext cx="3741725"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dog /d/:  filmed · used · recorded · owned</a:t>
            </a:r>
            <a:endParaRPr lang="en-US" sz="1300" dirty="0"/>
          </a:p>
        </p:txBody>
      </p:sp>
      <p:sp>
        <p:nvSpPr>
          <p:cNvPr id="12" name="R1_a0"/>
          <p:cNvSpPr txBox="1"/>
          <p:nvPr/>
        </p:nvSpPr>
        <p:spPr>
          <a:xfrm>
            <a:off x="6585509" y="1408176"/>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recorded  /ɪd/</a:t>
            </a:r>
            <a:endParaRPr lang="en-US" sz="1250" dirty="0"/>
          </a:p>
        </p:txBody>
      </p:sp>
      <p:sp>
        <p:nvSpPr>
          <p:cNvPr id="13" name="box_153"/>
          <p:cNvSpPr txBox="1"/>
          <p:nvPr/>
        </p:nvSpPr>
        <p:spPr>
          <a:xfrm>
            <a:off x="2788920" y="1941576"/>
            <a:ext cx="3741725"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tie /t/:  finished · directed · released · booked</a:t>
            </a:r>
            <a:endParaRPr lang="en-US" sz="1300" dirty="0"/>
          </a:p>
        </p:txBody>
      </p:sp>
      <p:sp>
        <p:nvSpPr>
          <p:cNvPr id="14" name="R2_a1"/>
          <p:cNvSpPr txBox="1"/>
          <p:nvPr/>
        </p:nvSpPr>
        <p:spPr>
          <a:xfrm>
            <a:off x="6585509" y="1978152"/>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directed  /ɪd/</a:t>
            </a:r>
            <a:endParaRPr lang="en-US" sz="1250" dirty="0"/>
          </a:p>
        </p:txBody>
      </p:sp>
      <p:sp>
        <p:nvSpPr>
          <p:cNvPr id="15" name="box_154"/>
          <p:cNvSpPr txBox="1"/>
          <p:nvPr/>
        </p:nvSpPr>
        <p:spPr>
          <a:xfrm>
            <a:off x="2788920" y="2511552"/>
            <a:ext cx="3741725"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clock /ɒ/:  shot · gone · lost · done</a:t>
            </a:r>
            <a:endParaRPr lang="en-US" sz="1300" dirty="0"/>
          </a:p>
        </p:txBody>
      </p:sp>
      <p:sp>
        <p:nvSpPr>
          <p:cNvPr id="16" name="R3_a2"/>
          <p:cNvSpPr txBox="1"/>
          <p:nvPr/>
        </p:nvSpPr>
        <p:spPr>
          <a:xfrm>
            <a:off x="6585509" y="2548128"/>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done  /ʌ/</a:t>
            </a:r>
            <a:endParaRPr lang="en-US" sz="1250" dirty="0"/>
          </a:p>
        </p:txBody>
      </p:sp>
      <p:sp>
        <p:nvSpPr>
          <p:cNvPr id="17" name="box_155"/>
          <p:cNvSpPr txBox="1"/>
          <p:nvPr/>
        </p:nvSpPr>
        <p:spPr>
          <a:xfrm>
            <a:off x="2788920" y="3081528"/>
            <a:ext cx="3741725"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phone /əʊ/:  forgotten · spoken · stolen · known</a:t>
            </a:r>
            <a:endParaRPr lang="en-US" sz="1300" dirty="0"/>
          </a:p>
        </p:txBody>
      </p:sp>
      <p:sp>
        <p:nvSpPr>
          <p:cNvPr id="18" name="R4_a3"/>
          <p:cNvSpPr txBox="1"/>
          <p:nvPr/>
        </p:nvSpPr>
        <p:spPr>
          <a:xfrm>
            <a:off x="6585509" y="3118104"/>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forgotten  /ɒ/</a:t>
            </a:r>
            <a:endParaRPr lang="en-US" sz="1250" dirty="0"/>
          </a:p>
        </p:txBody>
      </p:sp>
      <p:sp>
        <p:nvSpPr>
          <p:cNvPr id="19" name="box_156"/>
          <p:cNvSpPr txBox="1"/>
          <p:nvPr/>
        </p:nvSpPr>
        <p:spPr>
          <a:xfrm>
            <a:off x="2788920" y="3651504"/>
            <a:ext cx="3741725"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5  train /eɪ/:  made · paid · taken · fallen</a:t>
            </a:r>
            <a:endParaRPr lang="en-US" sz="1300" dirty="0"/>
          </a:p>
        </p:txBody>
      </p:sp>
      <p:sp>
        <p:nvSpPr>
          <p:cNvPr id="20" name="R5_a4"/>
          <p:cNvSpPr txBox="1"/>
          <p:nvPr/>
        </p:nvSpPr>
        <p:spPr>
          <a:xfrm>
            <a:off x="6585509" y="3688080"/>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fallen  /ɔː/</a:t>
            </a:r>
            <a:endParaRPr lang="en-US" sz="1250" dirty="0"/>
          </a:p>
        </p:txBody>
      </p:sp>
      <p:sp>
        <p:nvSpPr>
          <p:cNvPr id="21" name="box_157"/>
          <p:cNvSpPr txBox="1"/>
          <p:nvPr/>
        </p:nvSpPr>
        <p:spPr>
          <a:xfrm>
            <a:off x="2788920" y="4221480"/>
            <a:ext cx="3741725"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6  up /ʌ/:  won · put · sung · drunk</a:t>
            </a:r>
            <a:endParaRPr lang="en-US" sz="1300" dirty="0"/>
          </a:p>
        </p:txBody>
      </p:sp>
      <p:sp>
        <p:nvSpPr>
          <p:cNvPr id="22" name="R6_a5"/>
          <p:cNvSpPr txBox="1"/>
          <p:nvPr/>
        </p:nvSpPr>
        <p:spPr>
          <a:xfrm>
            <a:off x="6585509" y="4258056"/>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put  /ʊ/</a:t>
            </a:r>
            <a:endParaRPr lang="en-US" sz="1250" dirty="0"/>
          </a:p>
        </p:txBody>
      </p:sp>
      <p:sp>
        <p:nvSpPr>
          <p:cNvPr id="23" name="pageTag_15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p.57 · 3a, 3b, 3c · audio 6.2, 6.3</a:t>
            </a:r>
            <a:endParaRPr lang="en-US" sz="1050" dirty="0"/>
          </a:p>
        </p:txBody>
      </p:sp>
      <p:pic>
        <p:nvPicPr>
          <p:cNvPr id="5"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5166360" y="155448"/>
            <a:ext cx="384048" cy="384048"/>
          </a:xfrm>
          <a:prstGeom prst="rect">
            <a:avLst/>
          </a:prstGeom>
        </p:spPr>
      </p:pic>
      <p:sp>
        <p:nvSpPr>
          <p:cNvPr id="25" name="atr_159"/>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6.2</a:t>
            </a:r>
            <a:endParaRPr lang="en-US" sz="800" dirty="0"/>
          </a:p>
        </p:txBody>
      </p:sp>
      <p:pic>
        <p:nvPicPr>
          <p:cNvPr id="8" name="Media 1">
            <a:hlinkClick r:id="" action="ppaction://media"/>
          </p:cNvPr>
          <p:cNvPicPr>
            <a:picLocks noChangeAspect="1"/>
          </p:cNvPicPr>
          <p:nvPr>
            <a:videoFile r:link="rId6"/>
            <p:extLst>
              <p:ext uri="{DAA4B4D4-6D71-4841-9C94-3DE7FCFB9230}">
                <p14:media xmlns:p14="http://schemas.microsoft.com/office/powerpoint/2010/main" r:embed="rId7"/>
              </p:ext>
            </p:extLst>
          </p:nvPr>
        </p:nvPicPr>
        <p:blipFill>
          <a:blip r:embed="rId8"/>
          <a:stretch>
            <a:fillRect/>
          </a:stretch>
        </p:blipFill>
        <p:spPr>
          <a:xfrm>
            <a:off x="5641848" y="155448"/>
            <a:ext cx="384048" cy="384048"/>
          </a:xfrm>
          <a:prstGeom prst="rect">
            <a:avLst/>
          </a:prstGeom>
        </p:spPr>
      </p:pic>
      <p:sp>
        <p:nvSpPr>
          <p:cNvPr id="27" name="atr_160"/>
          <p:cNvSpPr txBox="1"/>
          <p:nvPr/>
        </p:nvSpPr>
        <p:spPr>
          <a:xfrm>
            <a:off x="5596128"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6.3</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61"/>
          <p:cNvSpPr/>
          <p:nvPr/>
        </p:nvSpPr>
        <p:spPr>
          <a:xfrm>
            <a:off x="54864" y="54864"/>
            <a:ext cx="9034272" cy="5033772"/>
          </a:xfrm>
          <a:prstGeom prst="rect">
            <a:avLst/>
          </a:prstGeom>
          <a:ln w="114300">
            <a:solidFill>
              <a:srgbClr val="A8E6B4"/>
            </a:solidFill>
            <a:prstDash val="solid"/>
          </a:ln>
        </p:spPr>
      </p:sp>
      <p:pic>
        <p:nvPicPr>
          <p:cNvPr id="3" name="logo_16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16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GAME · Passive challenge</a:t>
            </a:r>
            <a:endParaRPr lang="en-US" sz="1100" dirty="0"/>
          </a:p>
        </p:txBody>
      </p:sp>
      <p:sp>
        <p:nvSpPr>
          <p:cNvPr id="5" name="timer_16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6" name="footer_16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7" name="title_166"/>
          <p:cNvSpPr txBox="1"/>
          <p:nvPr/>
        </p:nvSpPr>
        <p:spPr>
          <a:xfrm rot="-120000">
            <a:off x="320040" y="676656"/>
            <a:ext cx="293522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Made in Sicily</a:t>
            </a:r>
            <a:endParaRPr lang="en-US" sz="2000" dirty="0"/>
          </a:p>
        </p:txBody>
      </p:sp>
      <p:sp>
        <p:nvSpPr>
          <p:cNvPr id="8" name="post_167"/>
          <p:cNvSpPr/>
          <p:nvPr/>
        </p:nvSpPr>
        <p:spPr>
          <a:xfrm>
            <a:off x="429768" y="1554480"/>
            <a:ext cx="128016" cy="2194560"/>
          </a:xfrm>
          <a:prstGeom prst="rect">
            <a:avLst/>
          </a:prstGeom>
          <a:solidFill>
            <a:srgbClr val="8B5A2B"/>
          </a:solidFill>
          <a:ln w="31750">
            <a:solidFill>
              <a:srgbClr val="111111"/>
            </a:solidFill>
            <a:prstDash val="solid"/>
          </a:ln>
        </p:spPr>
      </p:sp>
      <p:sp>
        <p:nvSpPr>
          <p:cNvPr id="9" name="signA_168"/>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0" name="signB_16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Teams: write passive sentences about Sicily! 3 minutes.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Squadre: scrivete frasi passive sulla Sicilia! 3 minuti.</a:t>
            </a:r>
            <a:endParaRPr lang="en-US" sz="1250" dirty="0"/>
          </a:p>
        </p:txBody>
      </p:sp>
      <p:sp>
        <p:nvSpPr>
          <p:cNvPr id="11" name="iconBack_170"/>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2" name="icon_171" descr="pi:PiMapPin">    </p:cNvPr>
          <p:cNvPicPr>
            <a:picLocks noChangeAspect="1"/>
          </p:cNvPicPr>
          <p:nvPr/>
        </p:nvPicPr>
        <p:blipFill>
          <a:blip r:embed="rId3"/>
          <a:stretch>
            <a:fillRect/>
          </a:stretch>
        </p:blipFill>
        <p:spPr>
          <a:xfrm>
            <a:off x="914400" y="3474720"/>
            <a:ext cx="685800" cy="685800"/>
          </a:xfrm>
          <a:prstGeom prst="rect">
            <a:avLst/>
          </a:prstGeom>
        </p:spPr>
      </p:pic>
      <p:sp>
        <p:nvSpPr>
          <p:cNvPr id="13" name="num_172"/>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4" name="box_173"/>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Teams of 3. You have 3 minutes.</a:t>
            </a:r>
            <a:endParaRPr lang="en-US" sz="1250" dirty="0"/>
          </a:p>
        </p:txBody>
      </p:sp>
      <p:sp>
        <p:nvSpPr>
          <p:cNvPr id="15" name="num_174"/>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6" name="box_175"/>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Write true passive sentences about Sicily or Bagheria: things that are made, grown, eaten, built, visited, sold…</a:t>
            </a:r>
            <a:endParaRPr lang="en-US" sz="1250" dirty="0"/>
          </a:p>
        </p:txBody>
      </p:sp>
      <p:sp>
        <p:nvSpPr>
          <p:cNvPr id="17" name="num_176"/>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8" name="box_177"/>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Use different tenses: is grown · was built · is being restored · has been opened · will be visited…</a:t>
            </a:r>
            <a:endParaRPr lang="en-US" sz="1250" dirty="0"/>
          </a:p>
        </p:txBody>
      </p:sp>
      <p:sp>
        <p:nvSpPr>
          <p:cNvPr id="19" name="num_178"/>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0" name="box_179"/>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Read them out. Correct passive = 1 point. A tense nobody else used = +1.</a:t>
            </a:r>
            <a:endParaRPr lang="en-US" sz="1250" dirty="0"/>
          </a:p>
        </p:txBody>
      </p:sp>
      <p:sp>
        <p:nvSpPr>
          <p:cNvPr id="21" name="num_180"/>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2" name="box_181"/>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Not sure it's true? The other teams can challenge!</a:t>
            </a:r>
            <a:endParaRPr lang="en-US" sz="1250" dirty="0"/>
          </a:p>
        </p:txBody>
      </p:sp>
      <p:sp>
        <p:nvSpPr>
          <p:cNvPr id="23" name="bubble_182"/>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Cannoli are made with ricotta. Lemons are grown near Bagheria. Our town is visited by…</a:t>
            </a:r>
            <a:endParaRPr lang="en-US" sz="1300" dirty="0"/>
          </a:p>
        </p:txBody>
      </p:sp>
      <p:sp>
        <p:nvSpPr>
          <p:cNvPr id="24" name="pageTag_18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free practice of Grammar Bank 6A (the passive)</a:t>
            </a:r>
            <a:endParaRPr lang="en-US" sz="105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84"/>
          <p:cNvSpPr/>
          <p:nvPr/>
        </p:nvSpPr>
        <p:spPr>
          <a:xfrm>
            <a:off x="54864" y="54864"/>
            <a:ext cx="9034272" cy="5033772"/>
          </a:xfrm>
          <a:prstGeom prst="rect">
            <a:avLst/>
          </a:prstGeom>
          <a:ln w="114300">
            <a:solidFill>
              <a:srgbClr val="A8E6B4"/>
            </a:solidFill>
            <a:prstDash val="solid"/>
          </a:ln>
        </p:spPr>
      </p:sp>
      <p:pic>
        <p:nvPicPr>
          <p:cNvPr id="3" name="logo_18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footer_18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5" name="title_187"/>
          <p:cNvSpPr txBox="1"/>
          <p:nvPr/>
        </p:nvSpPr>
        <p:spPr>
          <a:xfrm rot="-120000">
            <a:off x="320040" y="676656"/>
            <a:ext cx="415137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Look what you can do!</a:t>
            </a:r>
            <a:endParaRPr lang="en-US" sz="2000" dirty="0"/>
          </a:p>
        </p:txBody>
      </p:sp>
      <p:sp>
        <p:nvSpPr>
          <p:cNvPr id="6" name="sub_188"/>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7" name="box_189"/>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understand an article about film extras.</a:t>
            </a:r>
            <a:endParaRPr lang="en-US" sz="1350" dirty="0"/>
          </a:p>
        </p:txBody>
      </p:sp>
      <p:sp>
        <p:nvSpPr>
          <p:cNvPr id="8" name="faces_190"/>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9" name="box_191"/>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use the passive in different tenses.</a:t>
            </a:r>
            <a:endParaRPr lang="en-US" sz="1350" dirty="0"/>
          </a:p>
        </p:txBody>
      </p:sp>
      <p:sp>
        <p:nvSpPr>
          <p:cNvPr id="10" name="faces_192"/>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1" name="box_193"/>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pronounce regular and irregular past participles.</a:t>
            </a:r>
            <a:endParaRPr lang="en-US" sz="1350" dirty="0"/>
          </a:p>
        </p:txBody>
      </p:sp>
      <p:sp>
        <p:nvSpPr>
          <p:cNvPr id="12" name="faces_194"/>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3" name="hw_195"/>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Workbook 6A: 1a, 1b, 1c, 2a</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Grammar Bank 6A: a 6–10, b 6–10</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 6A-1</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4" name="stamp_196"/>
          <p:cNvSpPr txBox="1"/>
          <p:nvPr/>
        </p:nvSpPr>
        <p:spPr>
          <a:xfrm>
            <a:off x="365760" y="3657600"/>
            <a:ext cx="566928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6A part 2 · Cinema · Spielberg's interpreter</a:t>
            </a:r>
            <a:endParaRPr lang="en-US" sz="1200" dirty="0"/>
          </a:p>
        </p:txBody>
      </p:sp>
    </p:spTree>
  </p:cSld>
  <p:clrMapOvr>
    <a:masterClrMapping/>
  </p:clrMapOvr>
  <p:transition spd="med">
    <p:push dir="l"/>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97"/>
          <p:cNvSpPr/>
          <p:nvPr/>
        </p:nvSpPr>
        <p:spPr>
          <a:xfrm>
            <a:off x="54864" y="54864"/>
            <a:ext cx="9034272" cy="5033772"/>
          </a:xfrm>
          <a:prstGeom prst="rect">
            <a:avLst/>
          </a:prstGeom>
          <a:ln w="114300">
            <a:solidFill>
              <a:srgbClr val="A8E6B4"/>
            </a:solidFill>
            <a:prstDash val="solid"/>
          </a:ln>
        </p:spPr>
      </p:sp>
      <p:pic>
        <p:nvPicPr>
          <p:cNvPr id="3" name="logo_19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19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EXTRA · Writing · Job advert</a:t>
            </a:r>
            <a:endParaRPr lang="en-US" sz="1100" dirty="0"/>
          </a:p>
        </p:txBody>
      </p:sp>
      <p:sp>
        <p:nvSpPr>
          <p:cNvPr id="5" name="timer_20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6" name="extra_201"/>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20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8" name="title_203"/>
          <p:cNvSpPr txBox="1"/>
          <p:nvPr/>
        </p:nvSpPr>
        <p:spPr>
          <a:xfrm rot="-120000">
            <a:off x="320040" y="676656"/>
            <a:ext cx="293522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Extras wanted!</a:t>
            </a:r>
            <a:endParaRPr lang="en-US" sz="2000" dirty="0"/>
          </a:p>
        </p:txBody>
      </p:sp>
      <p:sp>
        <p:nvSpPr>
          <p:cNvPr id="9" name="post_204"/>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05"/>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1" name="signB_20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Write a job advert for extras. Use 5 passives!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Scrivi un annuncio di lavoro per comparse. Usa 5 passivi!</a:t>
            </a:r>
            <a:endParaRPr lang="en-US" sz="1250" dirty="0"/>
          </a:p>
        </p:txBody>
      </p:sp>
      <p:sp>
        <p:nvSpPr>
          <p:cNvPr id="12" name="iconBack_207"/>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208" descr="pi:PiNewspaper">    </p:cNvPr>
          <p:cNvPicPr>
            <a:picLocks noChangeAspect="1"/>
          </p:cNvPicPr>
          <p:nvPr/>
        </p:nvPicPr>
        <p:blipFill>
          <a:blip r:embed="rId3"/>
          <a:stretch>
            <a:fillRect/>
          </a:stretch>
        </p:blipFill>
        <p:spPr>
          <a:xfrm>
            <a:off x="914400" y="3474720"/>
            <a:ext cx="685800" cy="685800"/>
          </a:xfrm>
          <a:prstGeom prst="rect">
            <a:avLst/>
          </a:prstGeom>
        </p:spPr>
      </p:pic>
      <p:sp>
        <p:nvSpPr>
          <p:cNvPr id="14" name="num_209"/>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5" name="box_210"/>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Pairs: a film is going to be shot in Bagheria next month. You need 200 extras!</a:t>
            </a:r>
            <a:endParaRPr lang="en-US" sz="1300" dirty="0"/>
          </a:p>
        </p:txBody>
      </p:sp>
      <p:sp>
        <p:nvSpPr>
          <p:cNvPr id="16" name="num_211"/>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7" name="box_212"/>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Write a short advert (50–70 words) using information from the article.</a:t>
            </a:r>
            <a:endParaRPr lang="en-US" sz="1300" dirty="0"/>
          </a:p>
        </p:txBody>
      </p:sp>
      <p:sp>
        <p:nvSpPr>
          <p:cNvPr id="18" name="num_213"/>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9" name="box_214"/>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Use at least 5 passives: Lunch will be provided… Phones are not allowed… You will be paid…</a:t>
            </a:r>
            <a:endParaRPr lang="en-US" sz="1300" dirty="0"/>
          </a:p>
        </p:txBody>
      </p:sp>
      <p:sp>
        <p:nvSpPr>
          <p:cNvPr id="20" name="num_215"/>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box_216"/>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Read it out. Would the class apply?</a:t>
            </a:r>
            <a:endParaRPr lang="en-US" sz="1300" dirty="0"/>
          </a:p>
        </p:txBody>
      </p:sp>
      <p:sp>
        <p:nvSpPr>
          <p:cNvPr id="22" name="bubble_217"/>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EXTRAS WANTED! A historical film will be shot in Bagheria in May. You will be picked up at 6 a.m. …</a:t>
            </a:r>
            <a:endParaRPr lang="en-US" sz="1300" dirty="0"/>
          </a:p>
        </p:txBody>
      </p:sp>
    </p:spTree>
  </p:cSld>
  <p:clrMapOvr>
    <a:masterClrMapping/>
  </p:clrMapOvr>
  <p:transition spd="med">
    <p:push dir="l"/>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218"/>
          <p:cNvSpPr/>
          <p:nvPr/>
        </p:nvSpPr>
        <p:spPr>
          <a:xfrm>
            <a:off x="54864" y="54864"/>
            <a:ext cx="9034272" cy="5033772"/>
          </a:xfrm>
          <a:prstGeom prst="rect">
            <a:avLst/>
          </a:prstGeom>
          <a:ln w="114300">
            <a:solidFill>
              <a:srgbClr val="A8E6B4"/>
            </a:solidFill>
            <a:prstDash val="solid"/>
          </a:ln>
        </p:spPr>
      </p:sp>
      <p:pic>
        <p:nvPicPr>
          <p:cNvPr id="3" name="logo_2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2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EXTRA · Game · Running dictation</a:t>
            </a:r>
            <a:endParaRPr lang="en-US" sz="1100" dirty="0"/>
          </a:p>
        </p:txBody>
      </p:sp>
      <p:sp>
        <p:nvSpPr>
          <p:cNvPr id="5" name="timer_2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6" name="extra_222"/>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22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8" name="title_224"/>
          <p:cNvSpPr txBox="1"/>
          <p:nvPr/>
        </p:nvSpPr>
        <p:spPr>
          <a:xfrm rot="-120000">
            <a:off x="320040" y="676656"/>
            <a:ext cx="345643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Running dictation</a:t>
            </a:r>
            <a:endParaRPr lang="en-US" sz="2000" dirty="0"/>
          </a:p>
        </p:txBody>
      </p:sp>
      <p:sp>
        <p:nvSpPr>
          <p:cNvPr id="9" name="post_225"/>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26"/>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22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Runner: read, remember, run back, dictate!</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Corridore: leggi, ricorda, torna indietro, detta!</a:t>
            </a:r>
            <a:endParaRPr lang="en-US" sz="1250" dirty="0"/>
          </a:p>
        </p:txBody>
      </p:sp>
      <p:sp>
        <p:nvSpPr>
          <p:cNvPr id="12" name="iconBack_228"/>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229" descr="pi:PiPersonSimpleRun">    </p:cNvPr>
          <p:cNvPicPr>
            <a:picLocks noChangeAspect="1"/>
          </p:cNvPicPr>
          <p:nvPr/>
        </p:nvPicPr>
        <p:blipFill>
          <a:blip r:embed="rId3"/>
          <a:stretch>
            <a:fillRect/>
          </a:stretch>
        </p:blipFill>
        <p:spPr>
          <a:xfrm>
            <a:off x="914400" y="3474720"/>
            <a:ext cx="685800" cy="685800"/>
          </a:xfrm>
          <a:prstGeom prst="rect">
            <a:avLst/>
          </a:prstGeom>
        </p:spPr>
      </p:pic>
      <p:sp>
        <p:nvSpPr>
          <p:cNvPr id="14" name="num_230"/>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5" name="box_231"/>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Teacher sticks 5 passive sentences from the article on the wall outside / at the back of the room.</a:t>
            </a:r>
            <a:endParaRPr lang="en-US" sz="1300" dirty="0"/>
          </a:p>
        </p:txBody>
      </p:sp>
      <p:sp>
        <p:nvSpPr>
          <p:cNvPr id="16" name="num_232"/>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7" name="box_233"/>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Pairs: A is the runner, B is the writer. A runs to the wall, reads and remembers – no phones, no pens!</a:t>
            </a:r>
            <a:endParaRPr lang="en-US" sz="1300" dirty="0"/>
          </a:p>
        </p:txBody>
      </p:sp>
      <p:sp>
        <p:nvSpPr>
          <p:cNvPr id="18" name="num_234"/>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9" name="box_235"/>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A runs back and dictates to B. Swap roles after sentence 3.</a:t>
            </a:r>
            <a:endParaRPr lang="en-US" sz="1300" dirty="0"/>
          </a:p>
        </p:txBody>
      </p:sp>
      <p:sp>
        <p:nvSpPr>
          <p:cNvPr id="20" name="num_236"/>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box_237"/>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First pair with all 5 sentences correct (spelling too!) wins.</a:t>
            </a:r>
            <a:endParaRPr lang="en-US" sz="1300" dirty="0"/>
          </a:p>
        </p:txBody>
      </p:sp>
      <p:sp>
        <p:nvSpPr>
          <p:cNvPr id="22" name="num_238"/>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3" name="box_239"/>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Then: underline the passives and name the tense.</a:t>
            </a:r>
            <a:endParaRPr lang="en-US" sz="1300" dirty="0"/>
          </a:p>
        </p:txBody>
      </p:sp>
      <p:sp>
        <p:nvSpPr>
          <p:cNvPr id="24" name="bubble_240"/>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Phones aren't allowed on set, and photos are strictly forbidden.</a:t>
            </a:r>
            <a:endParaRPr lang="en-US" sz="1300" dirty="0"/>
          </a:p>
        </p:txBody>
      </p:sp>
    </p:spTree>
  </p:cSld>
  <p:clrMapOvr>
    <a:masterClrMapping/>
  </p:clrMapOvr>
  <p:transition spd="med">
    <p:push dir="l"/>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241"/>
          <p:cNvSpPr/>
          <p:nvPr/>
        </p:nvSpPr>
        <p:spPr>
          <a:xfrm>
            <a:off x="54864" y="54864"/>
            <a:ext cx="9034272" cy="5033772"/>
          </a:xfrm>
          <a:prstGeom prst="rect">
            <a:avLst/>
          </a:prstGeom>
          <a:ln w="114300">
            <a:solidFill>
              <a:srgbClr val="A8E6B4"/>
            </a:solidFill>
            <a:prstDash val="solid"/>
          </a:ln>
        </p:spPr>
      </p:sp>
      <p:pic>
        <p:nvPicPr>
          <p:cNvPr id="3" name="logo_24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24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EXTRA · Grammar photocopiable · the passive</a:t>
            </a:r>
            <a:endParaRPr lang="en-US" sz="1100" dirty="0"/>
          </a:p>
        </p:txBody>
      </p:sp>
      <p:sp>
        <p:nvSpPr>
          <p:cNvPr id="5" name="timer_24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6" name="extra_245"/>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24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8" name="title_247"/>
          <p:cNvSpPr txBox="1"/>
          <p:nvPr/>
        </p:nvSpPr>
        <p:spPr>
          <a:xfrm rot="-120000">
            <a:off x="320040" y="676656"/>
            <a:ext cx="380390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Passive: all tenses</a:t>
            </a:r>
            <a:endParaRPr lang="en-US" sz="2000" dirty="0"/>
          </a:p>
        </p:txBody>
      </p:sp>
      <p:sp>
        <p:nvSpPr>
          <p:cNvPr id="9" name="post_248"/>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49"/>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1" name="signB_250"/>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a Write the passive form. b Active or passive? Circle.</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 Scrivi la forma passiva. b Attivo o passivo? Cerchia.</a:t>
            </a:r>
            <a:endParaRPr lang="en-US" sz="1250" dirty="0"/>
          </a:p>
        </p:txBody>
      </p:sp>
      <p:sp>
        <p:nvSpPr>
          <p:cNvPr id="12" name="iconBack_251"/>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252" descr="pi:PiPrinter">    </p:cNvPr>
          <p:cNvPicPr>
            <a:picLocks noChangeAspect="1"/>
          </p:cNvPicPr>
          <p:nvPr/>
        </p:nvPicPr>
        <p:blipFill>
          <a:blip r:embed="rId3"/>
          <a:stretch>
            <a:fillRect/>
          </a:stretch>
        </p:blipFill>
        <p:spPr>
          <a:xfrm>
            <a:off x="914400" y="3474720"/>
            <a:ext cx="685800" cy="685800"/>
          </a:xfrm>
          <a:prstGeom prst="rect">
            <a:avLst/>
          </a:prstGeom>
        </p:spPr>
      </p:pic>
      <p:sp>
        <p:nvSpPr>
          <p:cNvPr id="14" name="num_253"/>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5" name="box_254"/>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a: complete sentences 1–12 with the right passive form (1 = was played).</a:t>
            </a:r>
            <a:endParaRPr lang="en-US" sz="1300" dirty="0"/>
          </a:p>
        </p:txBody>
      </p:sp>
      <p:sp>
        <p:nvSpPr>
          <p:cNvPr id="16" name="num_255"/>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7" name="box_256"/>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b: read 'My favourite film: Sully' and circle active or passive.</a:t>
            </a:r>
            <a:endParaRPr lang="en-US" sz="1300" dirty="0"/>
          </a:p>
        </p:txBody>
      </p:sp>
      <p:sp>
        <p:nvSpPr>
          <p:cNvPr id="18" name="num_257"/>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9" name="box_258"/>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Compare with a partner. Then check.</a:t>
            </a:r>
            <a:endParaRPr lang="en-US" sz="1300" dirty="0"/>
          </a:p>
        </p:txBody>
      </p:sp>
      <p:sp>
        <p:nvSpPr>
          <p:cNvPr id="20" name="num_259"/>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box_260"/>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Cover the answers in a: read the sentences aloud with the passive.</a:t>
            </a:r>
            <a:endParaRPr lang="en-US" sz="1300" dirty="0"/>
          </a:p>
        </p:txBody>
      </p:sp>
      <p:sp>
        <p:nvSpPr>
          <p:cNvPr id="22" name="bubble_261"/>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 Print: B1_6A_Photocopiables.pdf, page 1</a:t>
            </a:r>
            <a:endParaRPr lang="en-US" sz="1300" dirty="0"/>
          </a:p>
        </p:txBody>
      </p:sp>
      <p:sp>
        <p:nvSpPr>
          <p:cNvPr id="23" name="pageTag_262"/>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Grammar photocopiable 6A passive (all tenses) (TG p.159)</a:t>
            </a:r>
            <a:endParaRPr lang="en-US" sz="105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6A-1 Behind the scenes</dc:title>
  <dc:subject>PptxGenJS Presentation</dc:subject>
  <dc:creator>London Language School</dc:creator>
  <cp:lastModifiedBy>London Language School</cp:lastModifiedBy>
  <cp:revision>1</cp:revision>
  <dcterms:created xsi:type="dcterms:W3CDTF">2026-10-05T09:39:30Z</dcterms:created>
  <dcterms:modified xsi:type="dcterms:W3CDTF">2026-10-05T09:39:30Z</dcterms:modified>
</cp:coreProperties>
</file>