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Show the photo (two friends chatting at a café). Ask the THINK question; quick show of hands: true / myth? Click 1 = the example answer – students use it as a model: 2–3 students answer. Don't confirm – the article will tell us (paragraph 2). TG lead-in (optional, 30 sec): write 'A fixed idea about a type of person, which is often not true' and elicit STEREOTYPE /ˈsteriətaɪp/ (stereotipo). Read the 'Today you're going to…' list together. Keep the topic light: research and generalizations, never comments about a student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Ask: 'Two things or all the group?' → comparative or superlative. Point at the arrows: than / as … as / the. Elicit one more example from a student (e.g. 'A scooter is cheaper than a car'). Then play 'Remember the research!' – the answers use exactly these forms and the facts from audio 3.16 (1 feeling emotional … 6 adjusting the radio … 8 talking to a passenger).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(3 min). Two teams, books closed. Read each clue; teams have 15 seconds to say the full sentence. 1 point for the right fact (from audio 3.16: 1 feeling emotional · 2 reaching for something · 3 looking at something by the road · 4 adjusting the satnav · 5 feeling tired · 6 adjusting the radio · 7 eating or drinking · 8 talking to a passenger) + 1 point for a correct form (than / as … as / the most). Click once per clue to show a model. Item 6 is personal: any correct comparative adverb wins (more carefully, faster, more slowly). ICQ: 'One word or a full sentence?'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Speaking · generalizing (4 min)
GENERALIZING (4 min). These phrases help us talk about groups of people without sounding rude. Pairs guess the missing words first (30 sec). Play 3.17, pausing after each speaker. Click once per gap. Answers (TG / audio script): 1 speaking · 2 on (the whole) · tend (to have) · 3 (in) general · usually. Check: hypochondriac /haɪpəˈkɒndriæk/ = someone who always thinks they're ill (ipocondriaco); appearance = how you look. Quick vote after each speaker: agree or disagree? NOTICE (don't teach yet): 'women worry…', 'men worry…' – no 'the'! Speaker 2 says 'participate in sport' – the slide says 'do sport' to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Speaking · do you think it's true? (5 min)
SPEAKING (5 min). Pre-teach with gestures / the photo: navigate (= find the way: orientarsi), multitask (= do many things at the same time), caring (= kind, looks after people: premuroso). Groups of 3. Statements appear ONE PER CLICK: about 45 seconds each, then click. Every group must decide a), b) or c) and give a reason – no 'it depends' on the first turn! They MUST start with a phrase from the box. Monitor: correct 'The men…' / 'The women…' → 'Men…' / 'Women…' (preview of today's grammar – just echo the right form). DON'T give the answers: statements 1–5 are the headings of the article on the next slides. Feedback: quick vote on 2 statements. Sensitive: keep it general and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Reading · prediction (2 min)
PREDICTION (2 min). Read the introduction aloud (the slide shortens it slightly; full text SB p.30: '…But can we really believe the results of these studies? Here are five more stereotypes which researchers claim are true.'). Check: prove = show that something is true (dimostrare) · assemble IKEA furniture = put it together (montare i mobili) · claim = say something is true (sostenere). Ask: 'So, which five stereotypes do the researchers say are TRUE?' Pairs look back at slide 5 and guess. Point at the number bank: 'These numbers are in the article – you'll find them later (slide 11).' ICQ: 'Are you reading the article now?' (no, only the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paragraphs 1–2 (3 min)
GIST READING (3 min for slides 7–9 together: give 4 minutes' reading time in total, then check). Students read alone and choose the heading for each paragraph from the statements on slide 5 (show it again if needed). Pairs compare. Click once per paragraph: the heading appears IN the text. Answers (TG): 1 Men are better at navigating than women. 2 Women talk more than men. Vocabulary: virtual maze = labirinto virtuale · sense of direction = senso dell'orientamento · protein /ˈprəʊtiːn/. ICQ: 'Do you need to understand every word?' (no – just find the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paragraphs 3–4 (2 min)
GIST READING (continued). Same procedure; click once per paragraph. Answers (TG): 3 Women are more caring than men. 4 Women can multitask better than men. Note the photo: a dad caring for his baby – the research is about feelings for a PARTNER. 'it turned out' (paragraph 4) comes back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paragraph 5 (2 min)
GIST READING (end). Click 1 = heading 5. Answer (TG): 5 Men are better at telling jokes than women. Then read the last paragraph together: 'Which of OUR statements are NOT true?' – the next slide checks this. Back to the opening question: women DO talk more, according to this research (paragraph 2). Picture = placeholder until the owner supplies 3b1-jokes.jpg.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detail (3 min)
DETAIL (3 min). Pairs answer from the article (slides 7–9 – go back if they ask). Demo 0 with the class. Click once per item. Answers: items 1–4 from 'And some that aren't true…': men make worse bosses · women are no worse at mathematics · women are just as competitive and aggressive as men · men are more likely to panic in stressful conditions. Items 5–7 = SB 1d (TG): a with animals → 2 · b questionnaires → 3 · c practical experiments → 1, 4, 5 (virtual maze; three tasks in eight minutes; captions for New Yorker cartoons). Insist on 'why': students quote the words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words from the article (2 min)
SCAN RACE (2 min). Pairs race: the first pair to shout the right word wins the point. Click once per item. Answers (TG 1e): 1 show · 2 discover · 3 argue · 4 turn out. Items 5–6 = scan for detail. WARNING: argue here = sostenere (give reasons), not only 'litigare'. Next slide = the Italian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in Italian (2 min)
CONSOLIDATION for slower students (2 min). Class says the Italian aloud for each word, then click once per word to show its Italian. Spend 20 seconds on the warning line. Quick check: 'Generally speaking = in generale or nel complesso?' (both are close – fine!). 'Men tend to ___ (talk) less' → to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 react to the article (3 min)
SPEAKING · RESPONSE (3 min). Questions appear ONE PER CLICK (about 35 seconds each). Pairs answer with an example, then ask 'And you?'. Q5 = SB 1f (think of more stereotypes). Monitor: collect 3–4 article mistakes ('the men', 'is engineer') for the grammar that follows – write them on the side of the board. Feedback: one funny answer for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Grammar · four jokes (2 min)
GRAMMAR · TEST FIRST (2 min, with the next slide 4 min). Pairs write a, an, the or – (no article) in gaps 1–5. Don't explain the rules yet. Play 3.18 (jokes 1–2), then click once per line: the answer appears highlighted IN the joke. Answers (TG): 1 – · 2 – · 3 A · 4 a · 5 a. Check: – = no article · charge = far pagare. Check the jokes are understood: 'Why is the lawyer's answer funny?' (the man's question WAS his second question!). ICQ: 'What does – mean?' (no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Grammar · four jokes (2 min)
GRAMMAR · TEST FIRST (2 min). Same procedure, gaps 6–11. Play 3.18 (jokes 3–4). Click once per line. Answers (TG): 6 an · 7 the · 8 the · 9 – · 10 a · 11 –. Ask: 'Which joke is the funniest?' (SB 2b). explosives = esplosivi. Volunteers can act out a joke (fun, and they produce the articles). Picture = placeholder until the owner supplies 3b1-girl-dad.jpg (a child telling a parent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Grammar · why? (3 min)
GUIDED DISCOVERY (3 min). Pairs match a–f to the five colours. Click once per sentence. Answers: a a/an – one man, one lawyer, we mention them for the first time · b no article – girls and boys IN GENERAL · c the – we know which window (the doctor's window) · d no article – at school / at home / at work · e the – there is only one moon · f a/an – one (great) day. CCQs: 'Girls are cleverer – which girls? Our class?' (no, all girls in general) · 'the window – any window?' (no, the window of this room). Sentence e is from Grammar Bank audio 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Grammar · the rule (3 min)
RULE (3 min). Click once per column: the examples and the Italian appear. Optional: play 3.20 (embedded) and 3.19, 3.21 from the book audio (Grammar Bank: listen and repeat, copy the rhythm). an + vowel SOUND: an eye, an hour (silent h) – but a university. Rules (GB): a / an = singular countable noun mentioned for the first time, jobs, What a…!, frequency (three times a week). the = it's clear which one (mentioned before, or only one: the moon, the Earth), places in town (the cinema, the theatre), superlatives (the best). No article = plural / uncountable nouns in general (love, money, men, cats), home / work / school / bed, meals, days, next / last week. Last click = the Italian-speaker warning – the BIG one: Gli uomini amano il calcio → Men love football. CCQ: 'I love ___ pizza' (– general) vs '___ pizza in this restaurant is great' (the –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Speaking · class story (TPRS) (4 min)
TPRS CLASS STORY (4 min) – it comes straight after the rule, so the three uses are clear; now students HEAR a / an, the and no article 15–20 times in a silly story before they have to spot mistakes in 'Fix the article!' and choose articles in 'Noughts and crosses'. It recycles a / an for something new and for jobs (an engineer), the for something we know (the cat, the man) or only one (the moon), places in town (the cinema), no article for things in general (cats, films), at home / to work, and generally speaking from the start of the lesson. Click once per line. For each line: 1) say it, stressing the article a little, 2) ask the questions in grey round the class (yes/no → either/or → who/what/where), 3) let the CLASS change details: 'Is it a cat? No? What animal is it?' – accept their idea and use it in later lines (a dog → 'Generally speaking, dogs…'). Students answer with one word or a short phrase ('At the cinema!' 'An engineer!') – that's fine, but listen for the article and echo the right one ('She's lawyer' → 'A lawyer!'). Finish: 'What happens next?' – one or two ideas,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Grammar game (4 min)
GAME (4 min). Two teams. Read each sentence; teams have 15 seconds to find and fix the article mistake (every sentence has one; 6 has two). Click to show the correct sentence. Bonus point if they say WHY (general / job / only one / home / What a…! / places in town + frequency). ICQ: 'Is every sentence wrong?' (yes). Typical Italian errors – exaggerate the correction on item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Pronunciation · the (3 min)
PRONUNCIATION (3 min). First, 30 seconds of /ə/ (SB 3a, audio 3.22): computer – the o and the er are /ə/; listen and repeat: a, about, accident, future, internet, important, person, question. /ə/ is the most common sound in English (unstressed). Then 3b: model /ðə/ (the cinema) and /ðiː/ (the office). Pairs guess for each phrase. Play 3.23, pausing. Click once per phrase. Answers (TG): /ðiː/ = the office, the Underground, the internet, the accident, the evening (the noun starts with a VOWEL SOUND). Exception: the universe = /ðə/ because it starts with the sound /j/. Same rule as a / an: an office, an evening, but a university. 3c drill: the other day · the only way · the end of the world (= not a disaster) · the average person · the important thing – all /ðiː/.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Grammar game · noughts and crosses (4 min)
GAME (4 min). Draw a 3×3 grid with the numbers 1–9 on the board. Team O and team X take turns: choose a square and make a sentence with that word in 20 seconds (the team can help). The square is won only if the WHOLE sentence is correct, including the article. Three in a row wins; play 2 rounds if there's time. Click the number to show the expected article (any correct sentence wins). Traps: 3 and 9 (silent h → an), 7 (university = /juː/ → a, and /ðə/!) – they link to the pronunciation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Exit · what can you remember? (2 min)
RETRIEVAL EXIT (2 min). Books closed. Pairs: 3 research results (e.g. men are better at navigating; men make worse bosses), 2 generalizing phrases, 1 sentence like 'Generally speaking, men…' (no 'the'!). A few students share. Set homework (on the slide and in the app; an easier version of the sheet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Vocabulary game (3 min)
EXTRA GAME (3 min, if there's time). Variation of 'Describe it!' that practises articles: A must say 'It's a person who…', 'It's the thing that…', 'It's something you…'. Demo: 'There's only one. It's in the sky at night.' → the moon. Click to show each word. 20 seconds per word. ICQ: 'Can you say the word?'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Speaking · Generally speaking… (5 min)
EXTRA SPEAKING (5 min, if there's time). Statements from the Communicative photocopiable 3B (cards). One per click; groups give their opinion, then the others react. Monitor and correct 'the' with general nouns (✗ The cats make… → ✓ Cats make…). Feedback: generally speaking, does the class agree? If you have printed the photocopiable (p.3, 12 cards), groups can use the cards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audio" Target="../media/media-4-5.mp3"/><Relationship Id="rId6" Type="http://schemas.microsoft.com/office/2007/relationships/media" Target="../media/media-4-5.mp3"/><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audio" Target="../media/media-15-5.mp3"/><Relationship Id="rId6" Type="http://schemas.microsoft.com/office/2007/relationships/media" Target="../media/media-15-5.mp3"/><Relationship Id="rId7" Type="http://schemas.openxmlformats.org/officeDocument/2006/relationships/image" Target="../media/image-15-7.png"/><Relationship Id="rId8" Type="http://schemas.openxmlformats.org/officeDocument/2006/relationships/audio" Target="../media/media-15-8.mp3"/><Relationship Id="rId9" Type="http://schemas.microsoft.com/office/2007/relationships/media" Target="../media/media-15-8.mp3"/><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audio" Target="../media/media-17-5.mp3"/><Relationship Id="rId6" Type="http://schemas.microsoft.com/office/2007/relationships/media" Target="../media/media-17-5.mp3"/><Relationship Id="rId7" Type="http://schemas.openxmlformats.org/officeDocument/2006/relationships/image" Target="../media/image-17-7.png"/><Relationship Id="rId8" Type="http://schemas.openxmlformats.org/officeDocument/2006/relationships/audio" Target="../media/media-17-8.mp3"/><Relationship Id="rId9" Type="http://schemas.microsoft.com/office/2007/relationships/media" Target="../media/media-17-8.mp3"/><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audio" Target="../media/media-20-5.mp3"/><Relationship Id="rId6" Type="http://schemas.microsoft.com/office/2007/relationships/media" Target="../media/media-20-5.mp3"/><Relationship Id="rId7" Type="http://schemas.openxmlformats.org/officeDocument/2006/relationships/image" Target="../media/image-20-7.png"/><Relationship Id="rId8" Type="http://schemas.openxmlformats.org/officeDocument/2006/relationships/audio" Target="../media/media-20-8.mp3"/><Relationship Id="rId9" Type="http://schemas.microsoft.com/office/2007/relationships/media" Target="../media/media-20-8.mp3"/><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slideLayout" Target="../slideLayouts/slideLayout1.xml"/><Relationship Id="rId1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pp.30–31</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3B-1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Men, women, and children</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Stereotypes: true or not?</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say what you think about men and women</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read what scientists discovered</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use a / an, the or no article</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say "the" in two different ways</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9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I think it's partly true. My sister never stops talking – but my dad talks a lot too!</a:t>
            </a:r>
            <a:endParaRPr lang="en-US" sz="9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3b1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Women talk more than men. True or a myth?</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3a2_satnav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3A: Survive the drive</a:t>
            </a:r>
            <a:endParaRPr lang="en-US" sz="1100" dirty="0"/>
          </a:p>
          <a:p>
            <a:pPr marL="152400" indent="-152400">
              <a:spcBef>
                <a:spcPts val="5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comparing things: more, the most, as … as</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Comparing two things</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Feeling emotional is more dangerous than feeling tired.</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Talking to a passenger isn't as dangerous as adjusting the radio.</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My mum drives more carefully than my dad.</a:t>
            </a:r>
            <a:endParaRPr lang="en-US" sz="1100" dirty="0"/>
          </a:p>
          <a:p>
            <a:pPr indent="0" marL="0">
              <a:spcAft>
                <a:spcPts val="400"/>
              </a:spcAft>
              <a:buNone/>
            </a:pPr>
            <a:r>
              <a:rPr lang="en-US" sz="1100" dirty="0">
                <a:solidFill>
                  <a:srgbClr val="1B2559"/>
                </a:solidFill>
                <a:latin typeface="Segoe UI Semibold" pitchFamily="34" charset="0"/>
                <a:ea typeface="Segoe UI Semibold" pitchFamily="34" charset="-122"/>
                <a:cs typeface="Segoe UI Semibold" pitchFamily="34" charset="-120"/>
              </a:rPr>
              <a:t>→ -er / more / less … than · (not) as … as</a:t>
            </a:r>
            <a:endParaRPr lang="en-US" sz="110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The most / the least</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Feeling emotional is the most dangerous thing.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Talking to a passenger is the least dangerous.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Rush hour is the worst time to drive.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the -est · the most · the least · ever</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01955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dangerous</a:t>
            </a:r>
            <a:endParaRPr lang="en-US" sz="1050" dirty="0"/>
          </a:p>
        </p:txBody>
      </p:sp>
      <p:sp>
        <p:nvSpPr>
          <p:cNvPr id="28" name="w_42"/>
          <p:cNvSpPr/>
          <p:nvPr/>
        </p:nvSpPr>
        <p:spPr>
          <a:xfrm>
            <a:off x="4338828" y="417880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likely</a:t>
            </a:r>
            <a:endParaRPr lang="en-US" sz="1050" dirty="0"/>
          </a:p>
        </p:txBody>
      </p:sp>
      <p:sp>
        <p:nvSpPr>
          <p:cNvPr id="29" name="w_43"/>
          <p:cNvSpPr/>
          <p:nvPr/>
        </p:nvSpPr>
        <p:spPr>
          <a:xfrm>
            <a:off x="5198364" y="4178808"/>
            <a:ext cx="1485900"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twice as likely</a:t>
            </a:r>
            <a:endParaRPr lang="en-US" sz="1050" dirty="0"/>
          </a:p>
        </p:txBody>
      </p:sp>
      <p:sp>
        <p:nvSpPr>
          <p:cNvPr id="30" name="w_44"/>
          <p:cNvSpPr/>
          <p:nvPr/>
        </p:nvSpPr>
        <p:spPr>
          <a:xfrm>
            <a:off x="6757416" y="4178808"/>
            <a:ext cx="786384"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satnav</a:t>
            </a:r>
            <a:endParaRPr lang="en-US" sz="1050" dirty="0"/>
          </a:p>
        </p:txBody>
      </p:sp>
      <p:sp>
        <p:nvSpPr>
          <p:cNvPr id="31" name="w_45"/>
          <p:cNvSpPr/>
          <p:nvPr/>
        </p:nvSpPr>
        <p:spPr>
          <a:xfrm>
            <a:off x="7616952" y="4178808"/>
            <a:ext cx="101955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passenger</a:t>
            </a:r>
            <a:endParaRPr lang="en-US" sz="1050" dirty="0"/>
          </a:p>
        </p:txBody>
      </p:sp>
      <p:sp>
        <p:nvSpPr>
          <p:cNvPr id="32" name="w_46"/>
          <p:cNvSpPr/>
          <p:nvPr/>
        </p:nvSpPr>
        <p:spPr>
          <a:xfrm>
            <a:off x="3246120" y="4544568"/>
            <a:ext cx="101955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reach for</a:t>
            </a:r>
            <a:endParaRPr lang="en-US" sz="1050" dirty="0"/>
          </a:p>
        </p:txBody>
      </p:sp>
      <p:sp>
        <p:nvSpPr>
          <p:cNvPr id="33" name="w_47"/>
          <p:cNvSpPr/>
          <p:nvPr/>
        </p:nvSpPr>
        <p:spPr>
          <a:xfrm>
            <a:off x="4338828" y="4544568"/>
            <a:ext cx="78638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adjust</a:t>
            </a:r>
            <a:endParaRPr lang="en-US" sz="1050" dirty="0"/>
          </a:p>
        </p:txBody>
      </p:sp>
      <p:sp>
        <p:nvSpPr>
          <p:cNvPr id="34" name="w_48"/>
          <p:cNvSpPr/>
          <p:nvPr/>
        </p:nvSpPr>
        <p:spPr>
          <a:xfrm>
            <a:off x="5198364" y="4544568"/>
            <a:ext cx="1175004"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distracting</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51"/>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the research!</a:t>
            </a:r>
            <a:endParaRPr lang="en-US" sz="24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53"/>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Make the sentence. Use the right form!</a:t>
            </a:r>
            <a:endParaRPr lang="en-US" sz="1250" dirty="0"/>
          </a:p>
        </p:txBody>
      </p:sp>
      <p:sp>
        <p:nvSpPr>
          <p:cNvPr id="8" name="insIT_5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Fai la frase. Usa la forma giusta!</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Warmer · last lesson   ·   📖 Recycles 3A part 2: comparatives, superlatives · audio 3.16</a:t>
            </a:r>
            <a:endParaRPr lang="en-US" sz="80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Semibold" pitchFamily="34" charset="0"/>
                <a:ea typeface="Segoe UI Semibold" pitchFamily="34" charset="-122"/>
                <a:cs typeface="Segoe UI Semibold" pitchFamily="34" charset="-120"/>
              </a:rPr>
              <a:t>Read the clue.</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Leggi l'indizio.</a:t>
            </a:r>
            <a:endParaRPr lang="en-US" sz="900" dirty="0"/>
          </a:p>
          <a:p>
            <a:pPr marL="190500" indent="-190500">
              <a:spcBef>
                <a:spcPts val="500"/>
              </a:spcBef>
              <a:spcAft>
                <a:spcPts val="200"/>
              </a:spcAft>
              <a:buSzPct val="100000"/>
              <a:buChar char="2"/>
            </a:pPr>
            <a:r>
              <a:rPr lang="en-US" sz="900" dirty="0">
                <a:solidFill>
                  <a:srgbClr val="1B2559"/>
                </a:solidFill>
                <a:latin typeface="Segoe UI Semibold" pitchFamily="34" charset="0"/>
                <a:ea typeface="Segoe UI Semibold" pitchFamily="34" charset="-122"/>
                <a:cs typeface="Segoe UI Semibold" pitchFamily="34" charset="-120"/>
              </a:rPr>
              <a:t>Teams: say the full sentence in 15 seconds.</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Squadre: dite la frase completa in 15 secondi.</a:t>
            </a:r>
            <a:endParaRPr lang="en-US" sz="900" dirty="0"/>
          </a:p>
          <a:p>
            <a:pPr marL="190500" indent="-190500">
              <a:spcBef>
                <a:spcPts val="500"/>
              </a:spcBef>
              <a:spcAft>
                <a:spcPts val="200"/>
              </a:spcAft>
              <a:buSzPct val="100000"/>
              <a:buChar char="3"/>
            </a:pPr>
            <a:r>
              <a:rPr lang="en-US" sz="900" dirty="0">
                <a:solidFill>
                  <a:srgbClr val="1B2559"/>
                </a:solidFill>
                <a:latin typeface="Segoe UI Semibold" pitchFamily="34" charset="0"/>
                <a:ea typeface="Segoe UI Semibold" pitchFamily="34" charset="-122"/>
                <a:cs typeface="Segoe UI Semibold" pitchFamily="34" charset="-120"/>
              </a:rPr>
              <a:t>Right fact + right form = 2 points.</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Fatto giusto + forma giusta = 2 punti.</a:t>
            </a:r>
            <a:endParaRPr lang="en-US" sz="90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3a2_motorbik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feeling emotional ↔ feeling tired (dangerous)</a:t>
            </a:r>
            <a:endParaRPr lang="en-US" sz="1100" dirty="0"/>
          </a:p>
        </p:txBody>
      </p:sp>
      <p:sp>
        <p:nvSpPr>
          <p:cNvPr id="22" name="R1_chip68"/>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Feeling emotional is more dangerous than feeling tired.</a:t>
            </a:r>
            <a:endParaRPr lang="en-US" sz="1100" dirty="0"/>
          </a:p>
        </p:txBody>
      </p:sp>
      <p:sp>
        <p:nvSpPr>
          <p:cNvPr id="23" name="bd_69"/>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passenger ↔ the radio (not as … as)</a:t>
            </a:r>
            <a:endParaRPr lang="en-US" sz="1100" dirty="0"/>
          </a:p>
        </p:txBody>
      </p:sp>
      <p:sp>
        <p:nvSpPr>
          <p:cNvPr id="25" name="R2_chip71"/>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Talking to a passenger isn't as dangerous as adjusting the radio.</a:t>
            </a:r>
            <a:endParaRPr lang="en-US" sz="1000" dirty="0"/>
          </a:p>
        </p:txBody>
      </p:sp>
      <p:sp>
        <p:nvSpPr>
          <p:cNvPr id="26" name="bd_72"/>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1 of all 8? (the most…)</a:t>
            </a:r>
            <a:endParaRPr lang="en-US" sz="1100" dirty="0"/>
          </a:p>
        </p:txBody>
      </p:sp>
      <p:sp>
        <p:nvSpPr>
          <p:cNvPr id="28" name="R3_chip74"/>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Feeling emotional is the most dangerous thing.</a:t>
            </a:r>
            <a:endParaRPr lang="en-US" sz="1100" dirty="0"/>
          </a:p>
        </p:txBody>
      </p:sp>
      <p:sp>
        <p:nvSpPr>
          <p:cNvPr id="29" name="bd_75"/>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Number 8 of all 8? (the least…)</a:t>
            </a:r>
            <a:endParaRPr lang="en-US" sz="1100" dirty="0"/>
          </a:p>
        </p:txBody>
      </p:sp>
      <p:sp>
        <p:nvSpPr>
          <p:cNvPr id="31" name="R4_chip77"/>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Talking to a passenger is the least dangerous.</a:t>
            </a:r>
            <a:endParaRPr lang="en-US" sz="1100" dirty="0"/>
          </a:p>
        </p:txBody>
      </p:sp>
      <p:sp>
        <p:nvSpPr>
          <p:cNvPr id="32" name="bd_78"/>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Adjusting the radio: how likely?</a:t>
            </a:r>
            <a:endParaRPr lang="en-US" sz="1100" dirty="0"/>
          </a:p>
        </p:txBody>
      </p:sp>
      <p:sp>
        <p:nvSpPr>
          <p:cNvPr id="34" name="R5_chip80"/>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 makes you twice as likely to have an accident.</a:t>
            </a:r>
            <a:endParaRPr lang="en-US" sz="1100" dirty="0"/>
          </a:p>
        </p:txBody>
      </p:sp>
      <p:sp>
        <p:nvSpPr>
          <p:cNvPr id="35" name="bd_81"/>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drives more carefully: your mum or your dad?</a:t>
            </a:r>
            <a:endParaRPr lang="en-US" sz="1100" dirty="0"/>
          </a:p>
        </p:txBody>
      </p:sp>
      <p:sp>
        <p:nvSpPr>
          <p:cNvPr id="37" name="R6_chip83"/>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My mum drives more carefully than my dad.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5"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86"/>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Generally speaking…</a:t>
            </a:r>
            <a:endParaRPr lang="en-US" sz="2400" dirty="0"/>
          </a:p>
        </p:txBody>
      </p:sp>
      <p:pic>
        <p:nvPicPr>
          <p:cNvPr id="6" name="brP_87"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88"/>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listen and check.</a:t>
            </a:r>
            <a:endParaRPr lang="en-US" sz="1250" dirty="0"/>
          </a:p>
        </p:txBody>
      </p:sp>
      <p:sp>
        <p:nvSpPr>
          <p:cNvPr id="8" name="insIT_8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le parole. Poi ascolta e controlla.</a:t>
            </a:r>
            <a:endParaRPr lang="en-US" sz="950" dirty="0"/>
          </a:p>
        </p:txBody>
      </p:sp>
      <p:sp>
        <p:nvSpPr>
          <p:cNvPr id="9" name="cmd_90"/>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91"/>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92"/>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93"/>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9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9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Speaking · generalizing   ·   📖 SB p.30 · 1a · Generalizing box · audio 3.17</a:t>
            </a:r>
            <a:endParaRPr lang="en-US" sz="800" dirty="0"/>
          </a:p>
        </p:txBody>
      </p:sp>
      <p:sp>
        <p:nvSpPr>
          <p:cNvPr id="15" name="ap_96"/>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3.17  ·  pause after each speaker</a:t>
            </a:r>
            <a:endParaRPr lang="en-US" sz="1100" dirty="0"/>
          </a:p>
        </p:txBody>
      </p:sp>
      <p:sp>
        <p:nvSpPr>
          <p:cNvPr id="16" name="ah_97"/>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98"/>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9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100" descr="/home/claude/lls-course/v2/cache/3b1_mirror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10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10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10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10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10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1  Generally ___, I think it's true that women worry more about their appearance than men.</a:t>
            </a:r>
            <a:endParaRPr lang="en-US" sz="950" dirty="0"/>
          </a:p>
        </p:txBody>
      </p:sp>
      <p:sp>
        <p:nvSpPr>
          <p:cNvPr id="27" name="R1_chip10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speaking</a:t>
            </a:r>
            <a:endParaRPr lang="en-US" sz="1200" dirty="0"/>
          </a:p>
        </p:txBody>
      </p:sp>
      <p:sp>
        <p:nvSpPr>
          <p:cNvPr id="28" name="gq_10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However, ___ the whole, I think…</a:t>
            </a:r>
            <a:endParaRPr lang="en-US" sz="1200" dirty="0"/>
          </a:p>
        </p:txBody>
      </p:sp>
      <p:sp>
        <p:nvSpPr>
          <p:cNvPr id="29" name="R2_chip10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a:t>
            </a:r>
            <a:endParaRPr lang="en-US" sz="1200" dirty="0"/>
          </a:p>
        </p:txBody>
      </p:sp>
      <p:sp>
        <p:nvSpPr>
          <p:cNvPr id="30" name="gq_10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…women ___ to have fewer opportunities to do sport.</a:t>
            </a:r>
            <a:endParaRPr lang="en-US" sz="1200" dirty="0"/>
          </a:p>
        </p:txBody>
      </p:sp>
      <p:sp>
        <p:nvSpPr>
          <p:cNvPr id="31" name="R3_chip11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tend</a:t>
            </a:r>
            <a:endParaRPr lang="en-US" sz="1200" dirty="0"/>
          </a:p>
        </p:txBody>
      </p:sp>
      <p:sp>
        <p:nvSpPr>
          <p:cNvPr id="32" name="gq_11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 think that in ___, men worry about their health more than women.</a:t>
            </a:r>
            <a:endParaRPr lang="en-US" sz="1200" dirty="0"/>
          </a:p>
        </p:txBody>
      </p:sp>
      <p:sp>
        <p:nvSpPr>
          <p:cNvPr id="33" name="R4_chip11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general</a:t>
            </a:r>
            <a:endParaRPr lang="en-US" sz="1200" dirty="0"/>
          </a:p>
        </p:txBody>
      </p:sp>
      <p:sp>
        <p:nvSpPr>
          <p:cNvPr id="34" name="gq_113"/>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Hypochondriacs are ___ men, not women.</a:t>
            </a:r>
            <a:endParaRPr lang="en-US" sz="1200" dirty="0"/>
          </a:p>
        </p:txBody>
      </p:sp>
      <p:sp>
        <p:nvSpPr>
          <p:cNvPr id="35" name="R5_chip114"/>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usually</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seq concurrent="1" nextAc="seek">
              <p:cTn id="33" restart="whenNotActive" fill="hold" evtFilter="cancelBubble" nodeType="interactiveSeq">
                <p:stCondLst>
                  <p:cond evt="onClick" delay="0">
                    <p:tgtEl>
                      <p:spTgt spid="19"/>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9"/>
                                        </p:tgtEl>
                                      </p:cBhvr>
                                    </p:cmd>
                                  </p:childTnLst>
                                </p:cTn>
                              </p:par>
                            </p:childTnLst>
                          </p:cTn>
                        </p:par>
                      </p:childTnLst>
                    </p:cTn>
                  </p:par>
                </p:childTnLst>
              </p:cTn>
              <p:nextCondLst>
                <p:cond evt="onClick" delay="0">
                  <p:tgtEl>
                    <p:spTgt spid="19"/>
                  </p:tgtEl>
                </p:cond>
              </p:nextCondLst>
            </p:seq>
            <p:audio>
              <p:cMediaNode vol="80000">
                <p:cTn id="38" fill="hold" display="0">
                  <p:stCondLst>
                    <p:cond delay="indefinite"/>
                  </p:stCondLst>
                  <p:endCondLst>
                    <p:cond evt="onStopAudio" delay="0">
                      <p:tgtEl>
                        <p:sldTgt/>
                      </p:tgtEl>
                    </p:cond>
                  </p:endCondLst>
                </p:cTn>
                <p:tgtEl>
                  <p:spTgt spid="17"/>
                </p:tgtEl>
              </p:cMediaNode>
            </p:audio>
            <p:audio>
              <p:cMediaNode vol="80000">
                <p:cTn id="39" fill="hold" display="0">
                  <p:stCondLst>
                    <p:cond delay="indefinite"/>
                  </p:stCondLst>
                  <p:endCondLst>
                    <p:cond evt="onStopAudio" delay="0">
                      <p:tgtEl>
                        <p:sldTgt/>
                      </p:tgtEl>
                    </p:cond>
                  </p:endCondLst>
                </p:cTn>
                <p:tgtEl>
                  <p:spTgt spid="1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1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True or a myth?</a:t>
            </a:r>
            <a:endParaRPr lang="en-US" sz="2500" dirty="0"/>
          </a:p>
        </p:txBody>
      </p:sp>
      <p:pic>
        <p:nvPicPr>
          <p:cNvPr id="6" name="brP_118"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119"/>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True, partly true or untrue? Say why.</a:t>
            </a:r>
            <a:endParaRPr lang="en-US" sz="1250" dirty="0"/>
          </a:p>
        </p:txBody>
      </p:sp>
      <p:sp>
        <p:nvSpPr>
          <p:cNvPr id="8" name="insIT_12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Vero, in parte vero o falso? Spiega perché.</a:t>
            </a:r>
            <a:endParaRPr lang="en-US" sz="950" dirty="0"/>
          </a:p>
        </p:txBody>
      </p:sp>
      <p:sp>
        <p:nvSpPr>
          <p:cNvPr id="9" name="cmd_12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22"/>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123"/>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1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Speaking · do you think it's true?   ·   📖 SB p.30 · 1b (6 of the 10 statements – the other 4 are on slide 10)</a:t>
            </a:r>
            <a:endParaRPr lang="en-US" sz="800" dirty="0"/>
          </a:p>
        </p:txBody>
      </p:sp>
      <p:sp>
        <p:nvSpPr>
          <p:cNvPr id="14" name="pf_12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27" descr="/home/claude/lls-course/v2/cache/3b1_map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12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12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13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13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Generally speaking, … · On the whole, …</a:t>
            </a:r>
            <a:endParaRPr lang="en-US" sz="750" dirty="0"/>
          </a:p>
          <a:p>
            <a:pPr marL="152400" indent="-152400">
              <a:spcBef>
                <a:spcPts val="5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I think … tend to …</a:t>
            </a:r>
            <a:endParaRPr lang="en-US" sz="750" dirty="0"/>
          </a:p>
          <a:p>
            <a:pPr marL="152400" indent="-152400">
              <a:spcBef>
                <a:spcPts val="5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completely true · partly true · completely untrue</a:t>
            </a:r>
            <a:endParaRPr lang="en-US" sz="750" dirty="0"/>
          </a:p>
        </p:txBody>
      </p:sp>
      <p:sp>
        <p:nvSpPr>
          <p:cNvPr id="20" name="R1_qb13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133"/>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Men are better at navigating than women.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Generally speaking, I think it's true – my dad never gets lost!</a:t>
            </a:r>
            <a:endParaRPr lang="en-US" sz="1250" dirty="0"/>
          </a:p>
        </p:txBody>
      </p:sp>
      <p:sp>
        <p:nvSpPr>
          <p:cNvPr id="22" name="R2_qb134"/>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135"/>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Women talk more than 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On the whole, I think it's partly true. My sister talks all the time!</a:t>
            </a:r>
            <a:endParaRPr lang="en-US" sz="1250" dirty="0"/>
          </a:p>
        </p:txBody>
      </p:sp>
      <p:sp>
        <p:nvSpPr>
          <p:cNvPr id="24" name="R3_qb136"/>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137"/>
          <p:cNvSpPr/>
          <p:nvPr/>
        </p:nvSpPr>
        <p:spPr>
          <a:xfrm>
            <a:off x="3675888" y="2529840"/>
            <a:ext cx="45079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Women are more caring than 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think it's completely untrue. My dad is very caring.</a:t>
            </a:r>
            <a:endParaRPr lang="en-US" sz="1250" dirty="0"/>
          </a:p>
        </p:txBody>
      </p:sp>
      <p:pic>
        <p:nvPicPr>
          <p:cNvPr id="26" name="R3_th138" descr="/home/claude/lls-course/v2/cache/3b1_caring_jpg_154x107_18.png">    </p:cNvPr>
          <p:cNvPicPr>
            <a:picLocks noChangeAspect="1"/>
          </p:cNvPicPr>
          <p:nvPr/>
        </p:nvPicPr>
        <p:blipFill>
          <a:blip r:embed="rId6"/>
          <a:stretch>
            <a:fillRect/>
          </a:stretch>
        </p:blipFill>
        <p:spPr>
          <a:xfrm>
            <a:off x="8257032" y="2548128"/>
            <a:ext cx="640080" cy="446532"/>
          </a:xfrm>
          <a:prstGeom prst="rect">
            <a:avLst/>
          </a:prstGeom>
        </p:spPr>
      </p:pic>
      <p:sp>
        <p:nvSpPr>
          <p:cNvPr id="27" name="R4_qb139"/>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140"/>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Women can multitask better than 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In general, women tend to do more things at the same time.</a:t>
            </a:r>
            <a:endParaRPr lang="en-US" sz="1250" dirty="0"/>
          </a:p>
        </p:txBody>
      </p:sp>
      <p:sp>
        <p:nvSpPr>
          <p:cNvPr id="29" name="R5_qb141"/>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142"/>
          <p:cNvSpPr/>
          <p:nvPr/>
        </p:nvSpPr>
        <p:spPr>
          <a:xfrm>
            <a:off x="3675888" y="364236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Men are better at telling jokes than women.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Completely untrue! My mum's jokes are the funniest.</a:t>
            </a:r>
            <a:endParaRPr lang="en-US" sz="1250" dirty="0"/>
          </a:p>
        </p:txBody>
      </p:sp>
      <p:sp>
        <p:nvSpPr>
          <p:cNvPr id="31" name="R6_qb143"/>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2" name="R6_sq144"/>
          <p:cNvSpPr/>
          <p:nvPr/>
        </p:nvSpPr>
        <p:spPr>
          <a:xfrm>
            <a:off x="3675888" y="4198620"/>
            <a:ext cx="45079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Men make better bosses than women.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don't think it's true. My mum is a great boss!</a:t>
            </a:r>
            <a:endParaRPr lang="en-US" sz="1250" dirty="0"/>
          </a:p>
        </p:txBody>
      </p:sp>
      <p:pic>
        <p:nvPicPr>
          <p:cNvPr id="33" name="R6_th145" descr="/home/claude/lls-course/v2/cache/3b1_boss_jpg_154x107_18.png">    </p:cNvPr>
          <p:cNvPicPr>
            <a:picLocks noChangeAspect="1"/>
          </p:cNvPicPr>
          <p:nvPr/>
        </p:nvPicPr>
        <p:blipFill>
          <a:blip r:embed="rId7"/>
          <a:stretch>
            <a:fillRect/>
          </a:stretch>
        </p:blipFill>
        <p:spPr>
          <a:xfrm>
            <a:off x="8257032" y="4216908"/>
            <a:ext cx="640080" cy="446532"/>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00"/>
                                        <p:tgtEl>
                                          <p:spTgt spid="31"/>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4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4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Are they really true?</a:t>
            </a:r>
            <a:endParaRPr lang="en-US" sz="2500" dirty="0"/>
          </a:p>
        </p:txBody>
      </p:sp>
      <p:pic>
        <p:nvPicPr>
          <p:cNvPr id="6" name="brP_149"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150"/>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intro. Then guess the results!</a:t>
            </a:r>
            <a:endParaRPr lang="en-US" sz="1250" dirty="0"/>
          </a:p>
        </p:txBody>
      </p:sp>
      <p:sp>
        <p:nvSpPr>
          <p:cNvPr id="8" name="insIT_15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l'intro. Poi indovina i risultati!</a:t>
            </a:r>
            <a:endParaRPr lang="en-US" sz="950" dirty="0"/>
          </a:p>
        </p:txBody>
      </p:sp>
      <p:sp>
        <p:nvSpPr>
          <p:cNvPr id="9" name="cmd_152"/>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53"/>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54"/>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155"/>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Prediction</a:t>
            </a:r>
            <a:endParaRPr lang="en-US" sz="850" dirty="0"/>
          </a:p>
        </p:txBody>
      </p:sp>
      <p:pic>
        <p:nvPicPr>
          <p:cNvPr id="13" name="logo_1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Reading · prediction   ·   📖 SB p.30 · 1c (introduction)</a:t>
            </a:r>
            <a:endParaRPr lang="en-US" sz="800" dirty="0"/>
          </a:p>
        </p:txBody>
      </p:sp>
      <p:sp>
        <p:nvSpPr>
          <p:cNvPr id="15" name="cd_158"/>
          <p:cNvSpPr/>
          <p:nvPr/>
        </p:nvSpPr>
        <p:spPr>
          <a:xfrm>
            <a:off x="320040" y="1417320"/>
            <a:ext cx="5029200" cy="1965960"/>
          </a:xfrm>
          <a:prstGeom prst="roundRect">
            <a:avLst>
              <a:gd name="adj" fmla="val 6512"/>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hl_159"/>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Men and women</a:t>
            </a:r>
            <a:endParaRPr lang="en-US" sz="2800" dirty="0"/>
          </a:p>
        </p:txBody>
      </p:sp>
      <p:sp>
        <p:nvSpPr>
          <p:cNvPr id="17" name="nx_160"/>
          <p:cNvSpPr/>
          <p:nvPr/>
        </p:nvSpPr>
        <p:spPr>
          <a:xfrm>
            <a:off x="457200" y="2807208"/>
            <a:ext cx="4754880" cy="512064"/>
          </a:xfrm>
          <a:prstGeom prst="roundRect">
            <a:avLst>
              <a:gd name="adj" fmla="val 17857"/>
            </a:avLst>
          </a:prstGeom>
          <a:solidFill>
            <a:srgbClr val="E3F7EA"/>
          </a:solidFill>
          <a:ln>
            <a:solidFill>
              <a:srgbClr val="A8E5BE"/>
            </a:solidFill>
          </a:ln>
        </p:spPr>
        <p:txBody>
          <a:bodyPr wrap="square" lIns="127000" tIns="25400" rIns="127000" bIns="25400" rtlCol="0" anchor="ctr">
            <a:normAutofit/>
          </a:bodyPr>
          <a:lstStyle/>
          <a:p>
            <a:pPr indent="0" marL="0">
              <a:buNone/>
            </a:pPr>
            <a:r>
              <a:rPr lang="en-US" sz="750" dirty="0">
                <a:solidFill>
                  <a:srgbClr val="2EB872"/>
                </a:solidFill>
                <a:latin typeface="Segoe UI Black" pitchFamily="34" charset="0"/>
                <a:ea typeface="Segoe UI Black" pitchFamily="34" charset="-122"/>
                <a:cs typeface="Segoe UI Black" pitchFamily="34" charset="-120"/>
              </a:rPr>
              <a:t>➡ NEXT  </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The article on the next 3 slides has 5 paragraphs. Find the sentence from slide 5 that goes with each one. Then find these numbers!</a:t>
            </a:r>
            <a:endParaRPr lang="en-US" sz="750" dirty="0"/>
          </a:p>
        </p:txBody>
      </p:sp>
      <p:sp>
        <p:nvSpPr>
          <p:cNvPr id="18" name="sf_161"/>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Common stereotypes – but are they really true? Scientists say that there are certain gender stereotypes which they have proved are true, for example, a recent study found that men are better at assembling IKEA furniture than women! Here are five more…</a:t>
            </a:r>
            <a:endParaRPr lang="en-US" sz="1150" dirty="0"/>
          </a:p>
        </p:txBody>
      </p:sp>
      <p:sp>
        <p:nvSpPr>
          <p:cNvPr id="19" name="nbl_162"/>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20" name="bd_163"/>
          <p:cNvSpPr/>
          <p:nvPr/>
        </p:nvSpPr>
        <p:spPr>
          <a:xfrm>
            <a:off x="365760"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18</a:t>
            </a:r>
            <a:endParaRPr lang="en-US" sz="1400" dirty="0"/>
          </a:p>
        </p:txBody>
      </p:sp>
      <p:sp>
        <p:nvSpPr>
          <p:cNvPr id="21" name="bd_164"/>
          <p:cNvSpPr/>
          <p:nvPr/>
        </p:nvSpPr>
        <p:spPr>
          <a:xfrm>
            <a:off x="987552"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50%</a:t>
            </a:r>
            <a:endParaRPr lang="en-US" sz="1000" dirty="0"/>
          </a:p>
        </p:txBody>
      </p:sp>
      <p:sp>
        <p:nvSpPr>
          <p:cNvPr id="22" name="bd_165"/>
          <p:cNvSpPr/>
          <p:nvPr/>
        </p:nvSpPr>
        <p:spPr>
          <a:xfrm>
            <a:off x="1609344" y="3931920"/>
            <a:ext cx="548640" cy="5486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30%</a:t>
            </a:r>
            <a:endParaRPr lang="en-US" sz="1000" dirty="0"/>
          </a:p>
        </p:txBody>
      </p:sp>
      <p:sp>
        <p:nvSpPr>
          <p:cNvPr id="23" name="bd_166"/>
          <p:cNvSpPr/>
          <p:nvPr/>
        </p:nvSpPr>
        <p:spPr>
          <a:xfrm>
            <a:off x="2231136" y="3931920"/>
            <a:ext cx="548640" cy="548640"/>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20,000</a:t>
            </a:r>
            <a:endParaRPr lang="en-US" sz="800" dirty="0"/>
          </a:p>
        </p:txBody>
      </p:sp>
      <p:sp>
        <p:nvSpPr>
          <p:cNvPr id="24" name="bd_167"/>
          <p:cNvSpPr/>
          <p:nvPr/>
        </p:nvSpPr>
        <p:spPr>
          <a:xfrm>
            <a:off x="2852928" y="3931920"/>
            <a:ext cx="548640" cy="5486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8</a:t>
            </a:r>
            <a:endParaRPr lang="en-US" sz="1800" dirty="0"/>
          </a:p>
        </p:txBody>
      </p:sp>
      <p:sp>
        <p:nvSpPr>
          <p:cNvPr id="25" name="bd_168"/>
          <p:cNvSpPr/>
          <p:nvPr/>
        </p:nvSpPr>
        <p:spPr>
          <a:xfrm>
            <a:off x="3474720" y="3931920"/>
            <a:ext cx="548640" cy="5486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50</a:t>
            </a:r>
            <a:endParaRPr lang="en-US" sz="1400" dirty="0"/>
          </a:p>
        </p:txBody>
      </p:sp>
      <p:sp>
        <p:nvSpPr>
          <p:cNvPr id="26" name="pf_169"/>
          <p:cNvSpPr/>
          <p:nvPr/>
        </p:nvSpPr>
        <p:spPr>
          <a:xfrm rot="90000">
            <a:off x="5577840" y="1234440"/>
            <a:ext cx="3246120" cy="3383280"/>
          </a:xfrm>
          <a:prstGeom prst="roundRect">
            <a:avLst>
              <a:gd name="adj" fmla="val 47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7" name="ph_170" descr="/home/claude/lls-course/v2/cache/3b1_cover_jpg_759x792_31.png">    </p:cNvPr>
          <p:cNvPicPr>
            <a:picLocks noChangeAspect="1"/>
          </p:cNvPicPr>
          <p:nvPr/>
        </p:nvPicPr>
        <p:blipFill>
          <a:blip r:embed="rId5"/>
          <a:stretch>
            <a:fillRect/>
          </a:stretch>
        </p:blipFill>
        <p:spPr>
          <a:xfrm rot="90000">
            <a:off x="5623560" y="1280160"/>
            <a:ext cx="3154680" cy="3291840"/>
          </a:xfrm>
          <a:prstGeom prst="rect">
            <a:avLst/>
          </a:prstGeom>
        </p:spPr>
      </p:pic>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72"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73"/>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article 1/3</a:t>
            </a:r>
            <a:endParaRPr lang="en-US" sz="2500" dirty="0"/>
          </a:p>
        </p:txBody>
      </p:sp>
      <p:pic>
        <p:nvPicPr>
          <p:cNvPr id="6" name="brP_174"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175"/>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sentence from slide 5?</a:t>
            </a:r>
            <a:endParaRPr lang="en-US" sz="1250" dirty="0"/>
          </a:p>
        </p:txBody>
      </p:sp>
      <p:sp>
        <p:nvSpPr>
          <p:cNvPr id="8" name="insIT_17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Quale frase della slide 5?</a:t>
            </a:r>
            <a:endParaRPr lang="en-US" sz="950" dirty="0"/>
          </a:p>
        </p:txBody>
      </p:sp>
      <p:sp>
        <p:nvSpPr>
          <p:cNvPr id="9" name="cmd_17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17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17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1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Reading · paragraphs 1–2   ·   📖 SB pp.30–31 · 1c · paragraphs 1–2</a:t>
            </a:r>
            <a:endParaRPr lang="en-US" sz="800" dirty="0"/>
          </a:p>
        </p:txBody>
      </p:sp>
      <p:sp>
        <p:nvSpPr>
          <p:cNvPr id="14" name="cd_182"/>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18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Common stereotypes – are they true?</a:t>
            </a:r>
            <a:endParaRPr lang="en-US" sz="1700" dirty="0"/>
          </a:p>
        </p:txBody>
      </p:sp>
      <p:sp>
        <p:nvSpPr>
          <p:cNvPr id="16" name="ln_184"/>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00" b="1" dirty="0">
                <a:solidFill>
                  <a:srgbClr val="2EB872"/>
                </a:solidFill>
                <a:latin typeface="Georgia" pitchFamily="34" charset="0"/>
                <a:ea typeface="Georgia" pitchFamily="34" charset="-122"/>
                <a:cs typeface="Georgia" pitchFamily="34" charset="-120"/>
              </a:rPr>
              <a:t> (1) ________ </a:t>
            </a:r>
            <a:pPr indent="0" marL="0">
              <a:buNone/>
            </a:pPr>
            <a:r>
              <a:rPr lang="en-US" sz="1100" dirty="0">
                <a:solidFill>
                  <a:srgbClr val="1B2559"/>
                </a:solidFill>
                <a:latin typeface="Georgia" pitchFamily="34" charset="0"/>
                <a:ea typeface="Georgia" pitchFamily="34" charset="-122"/>
                <a:cs typeface="Georgia" pitchFamily="34" charset="-120"/>
              </a:rPr>
              <a:t> Scientists in Norway asked 18 men and 18 women to find their way through a virtual maze, completing various tasks along the way.</a:t>
            </a:r>
            <a:endParaRPr lang="en-US" sz="1100" dirty="0"/>
          </a:p>
        </p:txBody>
      </p:sp>
      <p:sp>
        <p:nvSpPr>
          <p:cNvPr id="17" name="R1_lnA185"/>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Men are better at navigating than women.</a:t>
            </a:r>
            <a:pPr indent="0" marL="0">
              <a:buNone/>
            </a:pPr>
            <a:r>
              <a:rPr lang="en-US" sz="1100" dirty="0">
                <a:solidFill>
                  <a:srgbClr val="1B2559"/>
                </a:solidFill>
                <a:latin typeface="Georgia" pitchFamily="34" charset="0"/>
                <a:ea typeface="Georgia" pitchFamily="34" charset="-122"/>
                <a:cs typeface="Georgia" pitchFamily="34" charset="-120"/>
              </a:rPr>
              <a:t> Scientists in Norway asked 18 men and 18 women to find their way through a virtual maze, completing various tasks along the way.</a:t>
            </a:r>
            <a:endParaRPr lang="en-US" sz="1100" dirty="0"/>
          </a:p>
        </p:txBody>
      </p:sp>
      <p:sp>
        <p:nvSpPr>
          <p:cNvPr id="18" name="ln_186"/>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Men were able to solve 50% more of the problems than women in the same time. 'Men's sense of direction was more effective. They simply got to their destination faster,'</a:t>
            </a:r>
            <a:endParaRPr lang="en-US" sz="1100" dirty="0"/>
          </a:p>
        </p:txBody>
      </p:sp>
      <p:sp>
        <p:nvSpPr>
          <p:cNvPr id="19" name="ln_187"/>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said Dr Carl Pintzka of the Norwegian University of Science and Technology.</a:t>
            </a:r>
            <a:endParaRPr lang="en-US" sz="1100" dirty="0"/>
          </a:p>
        </p:txBody>
      </p:sp>
      <p:sp>
        <p:nvSpPr>
          <p:cNvPr id="20" name="ln_188"/>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00" b="1" dirty="0">
                <a:solidFill>
                  <a:srgbClr val="2EB872"/>
                </a:solidFill>
                <a:latin typeface="Georgia" pitchFamily="34" charset="0"/>
                <a:ea typeface="Georgia" pitchFamily="34" charset="-122"/>
                <a:cs typeface="Georgia" pitchFamily="34" charset="-120"/>
              </a:rPr>
              <a:t> (2) ________ </a:t>
            </a:r>
            <a:pPr indent="0" marL="0">
              <a:buNone/>
            </a:pPr>
            <a:r>
              <a:rPr lang="en-US" sz="1100" dirty="0">
                <a:solidFill>
                  <a:srgbClr val="1B2559"/>
                </a:solidFill>
                <a:latin typeface="Georgia" pitchFamily="34" charset="0"/>
                <a:ea typeface="Georgia" pitchFamily="34" charset="-122"/>
                <a:cs typeface="Georgia" pitchFamily="34" charset="-120"/>
              </a:rPr>
              <a:t> Researchers from the University of Maryland separated baby rats from their mothers and discovered that baby rats with more Foxp2,</a:t>
            </a:r>
            <a:endParaRPr lang="en-US" sz="1100" dirty="0"/>
          </a:p>
        </p:txBody>
      </p:sp>
      <p:sp>
        <p:nvSpPr>
          <p:cNvPr id="21" name="R2_lnA189"/>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Women talk more than men.</a:t>
            </a:r>
            <a:pPr indent="0" marL="0">
              <a:buNone/>
            </a:pPr>
            <a:r>
              <a:rPr lang="en-US" sz="1100" dirty="0">
                <a:solidFill>
                  <a:srgbClr val="1B2559"/>
                </a:solidFill>
                <a:latin typeface="Georgia" pitchFamily="34" charset="0"/>
                <a:ea typeface="Georgia" pitchFamily="34" charset="-122"/>
                <a:cs typeface="Georgia" pitchFamily="34" charset="-120"/>
              </a:rPr>
              <a:t> Researchers from the University of Maryland separated baby rats from their mothers and discovered that baby rats with more Foxp2,</a:t>
            </a:r>
            <a:endParaRPr lang="en-US" sz="1100" dirty="0"/>
          </a:p>
        </p:txBody>
      </p:sp>
      <p:sp>
        <p:nvSpPr>
          <p:cNvPr id="22" name="ln_190"/>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a kind of protein necessary for the development of speech and language, made more noise and called to their mothers more often. Moving on to humans, scientists then discovered that women have 30% more Foxp2 than men.</a:t>
            </a:r>
            <a:endParaRPr lang="en-US" sz="1100" dirty="0"/>
          </a:p>
        </p:txBody>
      </p:sp>
      <p:sp>
        <p:nvSpPr>
          <p:cNvPr id="23" name="pf_191"/>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192" descr="/home/claude/lls-course/v2/cache/3b1_map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5" name="cd_193"/>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ii_194"/>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195"/>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196"/>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Headings = the sentences on slide 5</a:t>
            </a:r>
            <a:endParaRPr lang="en-US" sz="800" dirty="0"/>
          </a:p>
          <a:p>
            <a:pPr marL="152400" indent="-152400">
              <a:spcBef>
                <a:spcPts val="500"/>
              </a:spcBef>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maze = labirinto</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98"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99"/>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article 2/3</a:t>
            </a:r>
            <a:endParaRPr lang="en-US" sz="2500" dirty="0"/>
          </a:p>
        </p:txBody>
      </p:sp>
      <p:pic>
        <p:nvPicPr>
          <p:cNvPr id="6" name="brP_20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20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sentence from slide 5?</a:t>
            </a:r>
            <a:endParaRPr lang="en-US" sz="1250" dirty="0"/>
          </a:p>
        </p:txBody>
      </p:sp>
      <p:sp>
        <p:nvSpPr>
          <p:cNvPr id="8" name="insIT_2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Quale frase della slide 5?</a:t>
            </a:r>
            <a:endParaRPr lang="en-US" sz="950" dirty="0"/>
          </a:p>
        </p:txBody>
      </p:sp>
      <p:sp>
        <p:nvSpPr>
          <p:cNvPr id="9" name="cmd_20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20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alone</a:t>
            </a:r>
            <a:endParaRPr lang="en-US" sz="950" dirty="0"/>
          </a:p>
        </p:txBody>
      </p:sp>
      <p:sp>
        <p:nvSpPr>
          <p:cNvPr id="11" name="tag_20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20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Reading · paragraphs 3–4   ·   📖 SB p.31 · 1c · paragraphs 3–4</a:t>
            </a:r>
            <a:endParaRPr lang="en-US" sz="800" dirty="0"/>
          </a:p>
        </p:txBody>
      </p:sp>
      <p:sp>
        <p:nvSpPr>
          <p:cNvPr id="14" name="cd_208"/>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209"/>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Common stereotypes – are they true?</a:t>
            </a:r>
            <a:endParaRPr lang="en-US" sz="1700" dirty="0"/>
          </a:p>
        </p:txBody>
      </p:sp>
      <p:sp>
        <p:nvSpPr>
          <p:cNvPr id="16" name="ln_210"/>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00" b="1" dirty="0">
                <a:solidFill>
                  <a:srgbClr val="2EB872"/>
                </a:solidFill>
                <a:latin typeface="Georgia" pitchFamily="34" charset="0"/>
                <a:ea typeface="Georgia" pitchFamily="34" charset="-122"/>
                <a:cs typeface="Georgia" pitchFamily="34" charset="-120"/>
              </a:rPr>
              <a:t> (3) ________ </a:t>
            </a:r>
            <a:pPr indent="0" marL="0">
              <a:buNone/>
            </a:pPr>
            <a:r>
              <a:rPr lang="en-US" sz="1100" dirty="0">
                <a:solidFill>
                  <a:srgbClr val="1B2559"/>
                </a:solidFill>
                <a:latin typeface="Georgia" pitchFamily="34" charset="0"/>
                <a:ea typeface="Georgia" pitchFamily="34" charset="-122"/>
                <a:cs typeface="Georgia" pitchFamily="34" charset="-120"/>
              </a:rPr>
              <a:t> Australian researchers gave 20,000 men and women a list of questions to answer, to discover how they feel if their partner has a problem.</a:t>
            </a:r>
            <a:endParaRPr lang="en-US" sz="1100" dirty="0"/>
          </a:p>
        </p:txBody>
      </p:sp>
      <p:sp>
        <p:nvSpPr>
          <p:cNvPr id="17" name="R1_lnA211"/>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Women are more caring than men.</a:t>
            </a:r>
            <a:pPr indent="0" marL="0">
              <a:buNone/>
            </a:pPr>
            <a:r>
              <a:rPr lang="en-US" sz="1100" dirty="0">
                <a:solidFill>
                  <a:srgbClr val="1B2559"/>
                </a:solidFill>
                <a:latin typeface="Georgia" pitchFamily="34" charset="0"/>
                <a:ea typeface="Georgia" pitchFamily="34" charset="-122"/>
                <a:cs typeface="Georgia" pitchFamily="34" charset="-120"/>
              </a:rPr>
              <a:t> Australian researchers gave 20,000 men and women a list of questions to answer, to discover how they feel if their partner has a problem.</a:t>
            </a:r>
            <a:endParaRPr lang="en-US" sz="1100" dirty="0"/>
          </a:p>
        </p:txBody>
      </p:sp>
      <p:sp>
        <p:nvSpPr>
          <p:cNvPr id="18" name="ln_212"/>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Women said they were very affected, but men showed no change. 'It is not that men are unemotional, but they simply are not very emotional when it comes to the feelings of their partner,' said the study's author, Dr Cindy Mervin.</a:t>
            </a:r>
            <a:endParaRPr lang="en-US" sz="1100" dirty="0"/>
          </a:p>
        </p:txBody>
      </p:sp>
      <p:sp>
        <p:nvSpPr>
          <p:cNvPr id="19" name="ln_213"/>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00" b="1" dirty="0">
                <a:solidFill>
                  <a:srgbClr val="2EB872"/>
                </a:solidFill>
                <a:latin typeface="Georgia" pitchFamily="34" charset="0"/>
                <a:ea typeface="Georgia" pitchFamily="34" charset="-122"/>
                <a:cs typeface="Georgia" pitchFamily="34" charset="-120"/>
              </a:rPr>
              <a:t> (4) ________ </a:t>
            </a:r>
            <a:pPr indent="0" marL="0">
              <a:buNone/>
            </a:pPr>
            <a:r>
              <a:rPr lang="en-US" sz="1100" dirty="0">
                <a:solidFill>
                  <a:srgbClr val="1B2559"/>
                </a:solidFill>
                <a:latin typeface="Georgia" pitchFamily="34" charset="0"/>
                <a:ea typeface="Georgia" pitchFamily="34" charset="-122"/>
                <a:cs typeface="Georgia" pitchFamily="34" charset="-120"/>
              </a:rPr>
              <a:t> Psychologists at the University of Hertfordshire gave 50 male and 50 female students eight minutes to perform three tasks at the same time:</a:t>
            </a:r>
            <a:endParaRPr lang="en-US" sz="1100" dirty="0"/>
          </a:p>
        </p:txBody>
      </p:sp>
      <p:sp>
        <p:nvSpPr>
          <p:cNvPr id="20" name="R2_lnA214"/>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Women can multitask better than men.</a:t>
            </a:r>
            <a:pPr indent="0" marL="0">
              <a:buNone/>
            </a:pPr>
            <a:r>
              <a:rPr lang="en-US" sz="1100" dirty="0">
                <a:solidFill>
                  <a:srgbClr val="1B2559"/>
                </a:solidFill>
                <a:latin typeface="Georgia" pitchFamily="34" charset="0"/>
                <a:ea typeface="Georgia" pitchFamily="34" charset="-122"/>
                <a:cs typeface="Georgia" pitchFamily="34" charset="-120"/>
              </a:rPr>
              <a:t> Psychologists at the University of Hertfordshire gave 50 male and 50 female students eight minutes to perform three tasks at the same time:</a:t>
            </a:r>
            <a:endParaRPr lang="en-US" sz="1100" dirty="0"/>
          </a:p>
        </p:txBody>
      </p:sp>
      <p:sp>
        <p:nvSpPr>
          <p:cNvPr id="21" name="ln_215"/>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maths problems, finding restaurants on a map, and drawing a plan for finding a lost key in a field. To make it more difficult, they were asked some general knowledge questions while they worked.</a:t>
            </a:r>
            <a:endParaRPr lang="en-US" sz="1100" dirty="0"/>
          </a:p>
        </p:txBody>
      </p:sp>
      <p:sp>
        <p:nvSpPr>
          <p:cNvPr id="22" name="ln_216"/>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The women, it turned out, easily did all four things at once, but not the men – so it seems that this old cliché is true.</a:t>
            </a:r>
            <a:endParaRPr lang="en-US" sz="1100" dirty="0"/>
          </a:p>
        </p:txBody>
      </p:sp>
      <p:sp>
        <p:nvSpPr>
          <p:cNvPr id="23" name="pf_217"/>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218" descr="/home/claude/lls-course/v2/cache/3b1_caring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5" name="cd_219"/>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ii_22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22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222"/>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affected = colpito, toccato</a:t>
            </a:r>
            <a:endParaRPr lang="en-US" sz="950" dirty="0"/>
          </a:p>
          <a:p>
            <a:pPr marL="152400" indent="-152400">
              <a:spcBef>
                <a:spcPts val="5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cliché /ˈkliːʃeɪ/ = luogo comune</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24"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25"/>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article 3/3</a:t>
            </a:r>
            <a:endParaRPr lang="en-US" sz="2500" dirty="0"/>
          </a:p>
        </p:txBody>
      </p:sp>
      <p:pic>
        <p:nvPicPr>
          <p:cNvPr id="6" name="brP_226"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227"/>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Which sentence from slide 5?</a:t>
            </a:r>
            <a:endParaRPr lang="en-US" sz="1250" dirty="0"/>
          </a:p>
        </p:txBody>
      </p:sp>
      <p:sp>
        <p:nvSpPr>
          <p:cNvPr id="8" name="insIT_22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Quale frase della slide 5?</a:t>
            </a:r>
            <a:endParaRPr lang="en-US" sz="950" dirty="0"/>
          </a:p>
        </p:txBody>
      </p:sp>
      <p:sp>
        <p:nvSpPr>
          <p:cNvPr id="9" name="cmd_22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meta_23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alone</a:t>
            </a:r>
            <a:endParaRPr lang="en-US" sz="950" dirty="0"/>
          </a:p>
        </p:txBody>
      </p:sp>
      <p:sp>
        <p:nvSpPr>
          <p:cNvPr id="11" name="tag_23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2" name="logo_2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33"/>
          <p:cNvSpPr/>
          <p:nvPr/>
        </p:nvSpPr>
        <p:spPr>
          <a:xfrm>
            <a:off x="274320" y="4873752"/>
            <a:ext cx="6858000" cy="219456"/>
          </a:xfrm>
          <a:prstGeom prst="rect">
            <a:avLst/>
          </a:prstGeom>
          <a:noFill/>
          <a:ln/>
        </p:spPr>
        <p:txBody>
          <a:bodyPr wrap="square" lIns="0" tIns="0" rIns="0" bIns="0" rtlCol="0" anchor="ctr"/>
          <a:lstStyle/>
          <a:p>
            <a:pPr indent="0" marL="0">
              <a:buNone/>
            </a:pPr>
            <a:r>
              <a:rPr lang="en-US" sz="750" dirty="0">
                <a:solidFill>
                  <a:srgbClr val="5B6785"/>
                </a:solidFill>
                <a:latin typeface="Segoe UI Semibold" pitchFamily="34" charset="0"/>
                <a:ea typeface="Segoe UI Semibold" pitchFamily="34" charset="-122"/>
                <a:cs typeface="Segoe UI Semibold" pitchFamily="34" charset="-120"/>
              </a:rPr>
              <a:t>3B-1 · Reading · paragraph 5   ·   📖 SB p.31 · 1c · paragraph 5 + 'And some that aren't true…' · adapted from The Daily Telegraph</a:t>
            </a:r>
            <a:endParaRPr lang="en-US" sz="750" dirty="0"/>
          </a:p>
        </p:txBody>
      </p:sp>
      <p:sp>
        <p:nvSpPr>
          <p:cNvPr id="14" name="cd_23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23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Common stereotypes – are they true?</a:t>
            </a:r>
            <a:endParaRPr lang="en-US" sz="1700" dirty="0"/>
          </a:p>
        </p:txBody>
      </p:sp>
      <p:sp>
        <p:nvSpPr>
          <p:cNvPr id="16" name="ln_236"/>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100" b="1" dirty="0">
                <a:solidFill>
                  <a:srgbClr val="2EB872"/>
                </a:solidFill>
                <a:latin typeface="Georgia" pitchFamily="34" charset="0"/>
                <a:ea typeface="Georgia" pitchFamily="34" charset="-122"/>
                <a:cs typeface="Georgia" pitchFamily="34" charset="-120"/>
              </a:rPr>
              <a:t> (5) ________ </a:t>
            </a:r>
            <a:pPr indent="0" marL="0">
              <a:buNone/>
            </a:pPr>
            <a:r>
              <a:rPr lang="en-US" sz="1100" dirty="0">
                <a:solidFill>
                  <a:srgbClr val="1B2559"/>
                </a:solidFill>
                <a:latin typeface="Georgia" pitchFamily="34" charset="0"/>
                <a:ea typeface="Georgia" pitchFamily="34" charset="-122"/>
                <a:cs typeface="Georgia" pitchFamily="34" charset="-120"/>
              </a:rPr>
              <a:t> Professor Laura Mickes and a team of psychologists from the University of California asked men and women to write captions for cartoons in The New Yorker magazine.</a:t>
            </a:r>
            <a:endParaRPr lang="en-US" sz="1100" dirty="0"/>
          </a:p>
        </p:txBody>
      </p:sp>
      <p:sp>
        <p:nvSpPr>
          <p:cNvPr id="17" name="R1_lnA237"/>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Men are better at telling jokes than women.</a:t>
            </a:r>
            <a:pPr indent="0" marL="0">
              <a:buNone/>
            </a:pPr>
            <a:r>
              <a:rPr lang="en-US" sz="1100" dirty="0">
                <a:solidFill>
                  <a:srgbClr val="1B2559"/>
                </a:solidFill>
                <a:latin typeface="Georgia" pitchFamily="34" charset="0"/>
                <a:ea typeface="Georgia" pitchFamily="34" charset="-122"/>
                <a:cs typeface="Georgia" pitchFamily="34" charset="-120"/>
              </a:rPr>
              <a:t> Professor Laura Mickes and a team of psychologists from the University of California asked men and women to write captions for cartoons in The New Yorker magazine.</a:t>
            </a:r>
            <a:endParaRPr lang="en-US" sz="1100" dirty="0"/>
          </a:p>
        </p:txBody>
      </p:sp>
      <p:sp>
        <p:nvSpPr>
          <p:cNvPr id="18" name="ln_238"/>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Without knowing the author, a group of male and female judges preferred the men's jokes. The psychologists argued that men use humour to attract women, who in turn are attracted to men with a good sense of humour.</a:t>
            </a:r>
            <a:endParaRPr lang="en-US" sz="1100" dirty="0"/>
          </a:p>
        </p:txBody>
      </p:sp>
      <p:sp>
        <p:nvSpPr>
          <p:cNvPr id="19" name="ln_239"/>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AND SOME THAT AREN'T TRUE… For every stereotype verified by science, many others turn out not to be true. Recent research shows, for example, that women are just as competitive and aggressive as men,</a:t>
            </a:r>
            <a:endParaRPr lang="en-US" sz="1100" dirty="0"/>
          </a:p>
        </p:txBody>
      </p:sp>
      <p:sp>
        <p:nvSpPr>
          <p:cNvPr id="20" name="ln_240"/>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better at driving, and no worse at mathematics. Men, on the other hand, are more insecure in relationships, make worse bosses, and are more likely to panic in stressful conditions.</a:t>
            </a:r>
            <a:endParaRPr lang="en-US" sz="1100" dirty="0"/>
          </a:p>
        </p:txBody>
      </p:sp>
      <p:sp>
        <p:nvSpPr>
          <p:cNvPr id="21" name="pf_241"/>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242" descr="/home/claude/lls-course/v2/cache/3b1_jokes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3" name="cd_243"/>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4" name="ii_244"/>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245"/>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6" name="il_246"/>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caption = the words under a cartoon</a:t>
            </a:r>
            <a:endParaRPr lang="en-US" sz="800" dirty="0"/>
          </a:p>
          <a:p>
            <a:pPr marL="152400" indent="-152400">
              <a:spcBef>
                <a:spcPts val="500"/>
              </a:spcBef>
              <a:spcAft>
                <a:spcPts val="200"/>
              </a:spcAft>
              <a:buSzPct val="100000"/>
              <a:buChar char="•"/>
            </a:pPr>
            <a:r>
              <a:rPr lang="en-US" sz="800" dirty="0">
                <a:solidFill>
                  <a:srgbClr val="1B2559"/>
                </a:solidFill>
                <a:latin typeface="Segoe UI Semibold" pitchFamily="34" charset="0"/>
                <a:ea typeface="Segoe UI Semibold" pitchFamily="34" charset="-122"/>
                <a:cs typeface="Segoe UI Semibold" pitchFamily="34" charset="-120"/>
              </a:rPr>
              <a:t>judge = giudice</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48"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249"/>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does the research say?</a:t>
            </a:r>
            <a:endParaRPr lang="en-US" sz="2400" dirty="0"/>
          </a:p>
        </p:txBody>
      </p:sp>
      <p:pic>
        <p:nvPicPr>
          <p:cNvPr id="6" name="brP_25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25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again. True or not true? Why?</a:t>
            </a:r>
            <a:endParaRPr lang="en-US" sz="1250" dirty="0"/>
          </a:p>
        </p:txBody>
      </p:sp>
      <p:sp>
        <p:nvSpPr>
          <p:cNvPr id="8" name="insIT_25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Rileggi. Vero o no? Perché?</a:t>
            </a:r>
            <a:endParaRPr lang="en-US" sz="950" dirty="0"/>
          </a:p>
        </p:txBody>
      </p:sp>
      <p:sp>
        <p:nvSpPr>
          <p:cNvPr id="9" name="cmd_253"/>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254"/>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255"/>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256"/>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3" name="logo_2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Reading · detail   ·   📖 SB p.30 · 1b (statements 6–10) · 1d</a:t>
            </a:r>
            <a:endParaRPr lang="en-US" sz="800" dirty="0"/>
          </a:p>
        </p:txBody>
      </p:sp>
      <p:sp>
        <p:nvSpPr>
          <p:cNvPr id="15" name="cd_259"/>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26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26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262"/>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Men are better at assembling IKEA furniture. → TRUE: 'a recent academic study found…' (intro)</a:t>
            </a:r>
            <a:endParaRPr lang="en-US" sz="850" dirty="0"/>
          </a:p>
        </p:txBody>
      </p:sp>
      <p:sp>
        <p:nvSpPr>
          <p:cNvPr id="19" name="pf_263"/>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64" descr="/home/claude/lls-course/v2/cache/3b1_boss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265"/>
          <p:cNvSpPr/>
          <p:nvPr/>
        </p:nvSpPr>
        <p:spPr>
          <a:xfrm>
            <a:off x="3246120" y="1474143"/>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266"/>
          <p:cNvSpPr/>
          <p:nvPr/>
        </p:nvSpPr>
        <p:spPr>
          <a:xfrm>
            <a:off x="3630168" y="1417320"/>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Men make better bosses.</a:t>
            </a:r>
            <a:endParaRPr lang="en-US" sz="1150" dirty="0"/>
          </a:p>
        </p:txBody>
      </p:sp>
      <p:sp>
        <p:nvSpPr>
          <p:cNvPr id="23" name="R1_chip267"/>
          <p:cNvSpPr/>
          <p:nvPr/>
        </p:nvSpPr>
        <p:spPr>
          <a:xfrm>
            <a:off x="5806440" y="1417320"/>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NOT TRUE – men make worse bosses</a:t>
            </a:r>
            <a:endParaRPr lang="en-US" sz="1000" dirty="0"/>
          </a:p>
        </p:txBody>
      </p:sp>
      <p:sp>
        <p:nvSpPr>
          <p:cNvPr id="24" name="bd_268"/>
          <p:cNvSpPr/>
          <p:nvPr/>
        </p:nvSpPr>
        <p:spPr>
          <a:xfrm>
            <a:off x="3246120" y="194440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269"/>
          <p:cNvSpPr/>
          <p:nvPr/>
        </p:nvSpPr>
        <p:spPr>
          <a:xfrm>
            <a:off x="3630168" y="1887583"/>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Women are worse at maths.</a:t>
            </a:r>
            <a:endParaRPr lang="en-US" sz="1150" dirty="0"/>
          </a:p>
        </p:txBody>
      </p:sp>
      <p:sp>
        <p:nvSpPr>
          <p:cNvPr id="26" name="R2_chip270"/>
          <p:cNvSpPr/>
          <p:nvPr/>
        </p:nvSpPr>
        <p:spPr>
          <a:xfrm>
            <a:off x="5806440" y="1887583"/>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NOT TRUE – no worse at mathematics</a:t>
            </a:r>
            <a:endParaRPr lang="en-US" sz="1000" dirty="0"/>
          </a:p>
        </p:txBody>
      </p:sp>
      <p:sp>
        <p:nvSpPr>
          <p:cNvPr id="27" name="bd_271"/>
          <p:cNvSpPr/>
          <p:nvPr/>
        </p:nvSpPr>
        <p:spPr>
          <a:xfrm>
            <a:off x="3246120" y="2414669"/>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272"/>
          <p:cNvSpPr/>
          <p:nvPr/>
        </p:nvSpPr>
        <p:spPr>
          <a:xfrm>
            <a:off x="3630168" y="2357846"/>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Men are more competitive.</a:t>
            </a:r>
            <a:endParaRPr lang="en-US" sz="1150" dirty="0"/>
          </a:p>
        </p:txBody>
      </p:sp>
      <p:sp>
        <p:nvSpPr>
          <p:cNvPr id="29" name="R3_chip273"/>
          <p:cNvSpPr/>
          <p:nvPr/>
        </p:nvSpPr>
        <p:spPr>
          <a:xfrm>
            <a:off x="5806440" y="2357846"/>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NOT TRUE – women are just as competitive</a:t>
            </a:r>
            <a:endParaRPr lang="en-US" sz="1000" dirty="0"/>
          </a:p>
        </p:txBody>
      </p:sp>
      <p:sp>
        <p:nvSpPr>
          <p:cNvPr id="30" name="bd_274"/>
          <p:cNvSpPr/>
          <p:nvPr/>
        </p:nvSpPr>
        <p:spPr>
          <a:xfrm>
            <a:off x="3246120" y="28849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275"/>
          <p:cNvSpPr/>
          <p:nvPr/>
        </p:nvSpPr>
        <p:spPr>
          <a:xfrm>
            <a:off x="3630168" y="2828109"/>
            <a:ext cx="2103120" cy="424543"/>
          </a:xfrm>
          <a:prstGeom prst="roundRect">
            <a:avLst>
              <a:gd name="adj" fmla="val 2153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Women panic more in stressful situations.</a:t>
            </a:r>
            <a:endParaRPr lang="en-US" sz="1150" dirty="0"/>
          </a:p>
        </p:txBody>
      </p:sp>
      <p:sp>
        <p:nvSpPr>
          <p:cNvPr id="32" name="R4_chip276"/>
          <p:cNvSpPr/>
          <p:nvPr/>
        </p:nvSpPr>
        <p:spPr>
          <a:xfrm>
            <a:off x="5806440" y="2828109"/>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NOT TRUE – men are more likely to panic</a:t>
            </a:r>
            <a:endParaRPr lang="en-US" sz="1000" dirty="0"/>
          </a:p>
        </p:txBody>
      </p:sp>
      <p:sp>
        <p:nvSpPr>
          <p:cNvPr id="33" name="bd_277"/>
          <p:cNvSpPr/>
          <p:nvPr/>
        </p:nvSpPr>
        <p:spPr>
          <a:xfrm>
            <a:off x="3246120" y="3355195"/>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278"/>
          <p:cNvSpPr/>
          <p:nvPr/>
        </p:nvSpPr>
        <p:spPr>
          <a:xfrm>
            <a:off x="3630168" y="3298371"/>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Which research used animals?</a:t>
            </a:r>
            <a:endParaRPr lang="en-US" sz="1150" dirty="0"/>
          </a:p>
        </p:txBody>
      </p:sp>
      <p:sp>
        <p:nvSpPr>
          <p:cNvPr id="35" name="R5_chip279"/>
          <p:cNvSpPr/>
          <p:nvPr/>
        </p:nvSpPr>
        <p:spPr>
          <a:xfrm>
            <a:off x="5806440" y="3298371"/>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paragraph 2 – baby rats</a:t>
            </a:r>
            <a:endParaRPr lang="en-US" sz="1000" dirty="0"/>
          </a:p>
        </p:txBody>
      </p:sp>
      <p:sp>
        <p:nvSpPr>
          <p:cNvPr id="36" name="bd_280"/>
          <p:cNvSpPr/>
          <p:nvPr/>
        </p:nvSpPr>
        <p:spPr>
          <a:xfrm>
            <a:off x="3246120" y="382545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281"/>
          <p:cNvSpPr/>
          <p:nvPr/>
        </p:nvSpPr>
        <p:spPr>
          <a:xfrm>
            <a:off x="3630168" y="3768634"/>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Which research used a list of questions?</a:t>
            </a:r>
            <a:endParaRPr lang="en-US" sz="1150" dirty="0"/>
          </a:p>
        </p:txBody>
      </p:sp>
      <p:sp>
        <p:nvSpPr>
          <p:cNvPr id="38" name="R6_chip282"/>
          <p:cNvSpPr/>
          <p:nvPr/>
        </p:nvSpPr>
        <p:spPr>
          <a:xfrm>
            <a:off x="5806440" y="3768634"/>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paragraph 3 – 20,000 men and women</a:t>
            </a:r>
            <a:endParaRPr lang="en-US" sz="1000" dirty="0"/>
          </a:p>
        </p:txBody>
      </p:sp>
      <p:sp>
        <p:nvSpPr>
          <p:cNvPr id="39" name="bd_283"/>
          <p:cNvSpPr/>
          <p:nvPr/>
        </p:nvSpPr>
        <p:spPr>
          <a:xfrm>
            <a:off x="3246120" y="4295721"/>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0" name="q_284"/>
          <p:cNvSpPr/>
          <p:nvPr/>
        </p:nvSpPr>
        <p:spPr>
          <a:xfrm>
            <a:off x="3630168" y="4238897"/>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Which research used practical experiments?</a:t>
            </a:r>
            <a:endParaRPr lang="en-US" sz="1150" dirty="0"/>
          </a:p>
        </p:txBody>
      </p:sp>
      <p:sp>
        <p:nvSpPr>
          <p:cNvPr id="41" name="R7_chip285"/>
          <p:cNvSpPr/>
          <p:nvPr/>
        </p:nvSpPr>
        <p:spPr>
          <a:xfrm>
            <a:off x="5806440" y="4238897"/>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paragraphs 1, 4, 5 – maze, 3 tasks, cartoons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6"/>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87"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288"/>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word!</a:t>
            </a:r>
            <a:endParaRPr lang="en-US" sz="2500" dirty="0"/>
          </a:p>
        </p:txBody>
      </p:sp>
      <p:pic>
        <p:nvPicPr>
          <p:cNvPr id="6" name="brP_289"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90"/>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Scan race! Find the word in the text.</a:t>
            </a:r>
            <a:endParaRPr lang="en-US" sz="1250" dirty="0"/>
          </a:p>
        </p:txBody>
      </p:sp>
      <p:sp>
        <p:nvSpPr>
          <p:cNvPr id="8" name="insIT_29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Gara! Trova la parola nel testo.</a:t>
            </a:r>
            <a:endParaRPr lang="en-US" sz="950" dirty="0"/>
          </a:p>
        </p:txBody>
      </p:sp>
      <p:sp>
        <p:nvSpPr>
          <p:cNvPr id="9" name="cmd_29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meta_293"/>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294"/>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Guided discovery</a:t>
            </a:r>
            <a:endParaRPr lang="en-US" sz="750" dirty="0"/>
          </a:p>
        </p:txBody>
      </p:sp>
      <p:pic>
        <p:nvPicPr>
          <p:cNvPr id="12" name="logo_2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Reading · words from the article   ·   📖 SB p.31 · 1e</a:t>
            </a:r>
            <a:endParaRPr lang="en-US" sz="800" dirty="0"/>
          </a:p>
        </p:txBody>
      </p:sp>
      <p:sp>
        <p:nvSpPr>
          <p:cNvPr id="14" name="cd_29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9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9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300"/>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a fixed idea about a type of person → stereotype</a:t>
            </a:r>
            <a:endParaRPr lang="en-US" sz="1050" dirty="0"/>
          </a:p>
        </p:txBody>
      </p:sp>
      <p:sp>
        <p:nvSpPr>
          <p:cNvPr id="18" name="pf_30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302" descr="/home/claude/lls-course/v2/cache/3b1_mirror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303"/>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304"/>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 prove (a verb)</a:t>
            </a:r>
            <a:endParaRPr lang="en-US" sz="1150" dirty="0"/>
          </a:p>
        </p:txBody>
      </p:sp>
      <p:sp>
        <p:nvSpPr>
          <p:cNvPr id="22" name="R1_chip305"/>
          <p:cNvSpPr/>
          <p:nvPr/>
        </p:nvSpPr>
        <p:spPr>
          <a:xfrm>
            <a:off x="5806440" y="141732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show (Recent research shows…)</a:t>
            </a:r>
            <a:endParaRPr lang="en-US" sz="1000" dirty="0"/>
          </a:p>
        </p:txBody>
      </p:sp>
      <p:sp>
        <p:nvSpPr>
          <p:cNvPr id="23" name="bd_306"/>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307"/>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 find (a verb)</a:t>
            </a:r>
            <a:endParaRPr lang="en-US" sz="1150" dirty="0"/>
          </a:p>
        </p:txBody>
      </p:sp>
      <p:sp>
        <p:nvSpPr>
          <p:cNvPr id="25" name="R2_chip308"/>
          <p:cNvSpPr/>
          <p:nvPr/>
        </p:nvSpPr>
        <p:spPr>
          <a:xfrm>
            <a:off x="5806440" y="192024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discover (discovered that…)</a:t>
            </a:r>
            <a:endParaRPr lang="en-US" sz="1000" dirty="0"/>
          </a:p>
        </p:txBody>
      </p:sp>
      <p:sp>
        <p:nvSpPr>
          <p:cNvPr id="26" name="bd_309"/>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310"/>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give reasons why you think sth is true</a:t>
            </a:r>
            <a:endParaRPr lang="en-US" sz="1150" dirty="0"/>
          </a:p>
        </p:txBody>
      </p:sp>
      <p:sp>
        <p:nvSpPr>
          <p:cNvPr id="28" name="R3_chip311"/>
          <p:cNvSpPr/>
          <p:nvPr/>
        </p:nvSpPr>
        <p:spPr>
          <a:xfrm>
            <a:off x="5806440" y="242316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argue (The psychologists argued…)</a:t>
            </a:r>
            <a:endParaRPr lang="en-US" sz="1000" dirty="0"/>
          </a:p>
        </p:txBody>
      </p:sp>
      <p:sp>
        <p:nvSpPr>
          <p:cNvPr id="29" name="bd_312"/>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313"/>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become clear that…</a:t>
            </a:r>
            <a:endParaRPr lang="en-US" sz="1150" dirty="0"/>
          </a:p>
        </p:txBody>
      </p:sp>
      <p:sp>
        <p:nvSpPr>
          <p:cNvPr id="31" name="R4_chip314"/>
          <p:cNvSpPr/>
          <p:nvPr/>
        </p:nvSpPr>
        <p:spPr>
          <a:xfrm>
            <a:off x="5806440" y="292608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turn out (it turned out)</a:t>
            </a:r>
            <a:endParaRPr lang="en-US" sz="1000" dirty="0"/>
          </a:p>
        </p:txBody>
      </p:sp>
      <p:sp>
        <p:nvSpPr>
          <p:cNvPr id="32" name="bd_315"/>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316"/>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knowing where you are and the way to go</a:t>
            </a:r>
            <a:endParaRPr lang="en-US" sz="1150" dirty="0"/>
          </a:p>
        </p:txBody>
      </p:sp>
      <p:sp>
        <p:nvSpPr>
          <p:cNvPr id="34" name="R5_chip317"/>
          <p:cNvSpPr/>
          <p:nvPr/>
        </p:nvSpPr>
        <p:spPr>
          <a:xfrm>
            <a:off x="5806440" y="342900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sense of direction</a:t>
            </a:r>
            <a:endParaRPr lang="en-US" sz="1000" dirty="0"/>
          </a:p>
        </p:txBody>
      </p:sp>
      <p:sp>
        <p:nvSpPr>
          <p:cNvPr id="35" name="bd_318"/>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319"/>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men and 18 women in a maze: which country?</a:t>
            </a:r>
            <a:endParaRPr lang="en-US" sz="1150" dirty="0"/>
          </a:p>
        </p:txBody>
      </p:sp>
      <p:sp>
        <p:nvSpPr>
          <p:cNvPr id="37" name="R6_chip320"/>
          <p:cNvSpPr/>
          <p:nvPr/>
        </p:nvSpPr>
        <p:spPr>
          <a:xfrm>
            <a:off x="5806440" y="3931920"/>
            <a:ext cx="3063240" cy="457200"/>
          </a:xfrm>
          <a:prstGeom prst="roundRect">
            <a:avLst>
              <a:gd name="adj" fmla="val 20000"/>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Norway</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22"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23"/>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Today's words in Italian</a:t>
            </a:r>
            <a:endParaRPr lang="en-US" sz="2500" dirty="0"/>
          </a:p>
        </p:txBody>
      </p:sp>
      <p:pic>
        <p:nvPicPr>
          <p:cNvPr id="6" name="brP_32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2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3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cmd_32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328"/>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329"/>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TPRS · meaning</a:t>
            </a:r>
            <a:endParaRPr lang="en-US" sz="700" dirty="0"/>
          </a:p>
        </p:txBody>
      </p:sp>
      <p:pic>
        <p:nvPicPr>
          <p:cNvPr id="12" name="logo_3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Vocabulary · in Italian</a:t>
            </a:r>
            <a:endParaRPr lang="en-US" sz="800" dirty="0"/>
          </a:p>
        </p:txBody>
      </p:sp>
      <p:sp>
        <p:nvSpPr>
          <p:cNvPr id="14" name="cd_332"/>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333"/>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334"/>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stereotype</a:t>
            </a:r>
            <a:endParaRPr lang="en-US" sz="1200" dirty="0"/>
          </a:p>
        </p:txBody>
      </p:sp>
      <p:sp>
        <p:nvSpPr>
          <p:cNvPr id="17" name="R1_it335"/>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stereotipo</a:t>
            </a:r>
            <a:endParaRPr lang="en-US" sz="1000" dirty="0"/>
          </a:p>
        </p:txBody>
      </p:sp>
      <p:sp>
        <p:nvSpPr>
          <p:cNvPr id="18" name="cd_336"/>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337"/>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338"/>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generally speaking</a:t>
            </a:r>
            <a:endParaRPr lang="en-US" sz="1100" dirty="0"/>
          </a:p>
        </p:txBody>
      </p:sp>
      <p:sp>
        <p:nvSpPr>
          <p:cNvPr id="21" name="R2_it339"/>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 generale</a:t>
            </a:r>
            <a:endParaRPr lang="en-US" sz="1000" dirty="0"/>
          </a:p>
        </p:txBody>
      </p:sp>
      <p:sp>
        <p:nvSpPr>
          <p:cNvPr id="22" name="cd_340"/>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341"/>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342"/>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on the whole</a:t>
            </a:r>
            <a:endParaRPr lang="en-US" sz="1200" dirty="0"/>
          </a:p>
        </p:txBody>
      </p:sp>
      <p:sp>
        <p:nvSpPr>
          <p:cNvPr id="25" name="R3_it343"/>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nel complesso</a:t>
            </a:r>
            <a:endParaRPr lang="en-US" sz="1000" dirty="0"/>
          </a:p>
        </p:txBody>
      </p:sp>
      <p:sp>
        <p:nvSpPr>
          <p:cNvPr id="26" name="cd_344"/>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345"/>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346"/>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tend to</a:t>
            </a:r>
            <a:endParaRPr lang="en-US" sz="1200" dirty="0"/>
          </a:p>
        </p:txBody>
      </p:sp>
      <p:sp>
        <p:nvSpPr>
          <p:cNvPr id="29" name="R4_it347"/>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tendere a</a:t>
            </a:r>
            <a:endParaRPr lang="en-US" sz="1000" dirty="0"/>
          </a:p>
        </p:txBody>
      </p:sp>
      <p:sp>
        <p:nvSpPr>
          <p:cNvPr id="30" name="cd_348"/>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349"/>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350"/>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prove / show</a:t>
            </a:r>
            <a:endParaRPr lang="en-US" sz="1200" dirty="0"/>
          </a:p>
        </p:txBody>
      </p:sp>
      <p:sp>
        <p:nvSpPr>
          <p:cNvPr id="33" name="R5_it351"/>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dimostrare</a:t>
            </a:r>
            <a:endParaRPr lang="en-US" sz="1000" dirty="0"/>
          </a:p>
        </p:txBody>
      </p:sp>
      <p:sp>
        <p:nvSpPr>
          <p:cNvPr id="34" name="cd_352"/>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353"/>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354"/>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discover</a:t>
            </a:r>
            <a:endParaRPr lang="en-US" sz="1200" dirty="0"/>
          </a:p>
        </p:txBody>
      </p:sp>
      <p:sp>
        <p:nvSpPr>
          <p:cNvPr id="37" name="R6_it355"/>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scoprire</a:t>
            </a:r>
            <a:endParaRPr lang="en-US" sz="1000" dirty="0"/>
          </a:p>
        </p:txBody>
      </p:sp>
      <p:sp>
        <p:nvSpPr>
          <p:cNvPr id="38" name="cd_356"/>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357"/>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358"/>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argue (that)</a:t>
            </a:r>
            <a:endParaRPr lang="en-US" sz="1200" dirty="0"/>
          </a:p>
        </p:txBody>
      </p:sp>
      <p:sp>
        <p:nvSpPr>
          <p:cNvPr id="41" name="R7_it359"/>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sostenere (che)</a:t>
            </a:r>
            <a:endParaRPr lang="en-US" sz="1000" dirty="0"/>
          </a:p>
        </p:txBody>
      </p:sp>
      <p:sp>
        <p:nvSpPr>
          <p:cNvPr id="42" name="cd_360"/>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361"/>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362"/>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 turned out</a:t>
            </a:r>
            <a:endParaRPr lang="en-US" sz="1200" dirty="0"/>
          </a:p>
        </p:txBody>
      </p:sp>
      <p:sp>
        <p:nvSpPr>
          <p:cNvPr id="45" name="R8_it363"/>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si è scoperto che</a:t>
            </a:r>
            <a:endParaRPr lang="en-US" sz="1000" dirty="0"/>
          </a:p>
        </p:txBody>
      </p:sp>
      <p:sp>
        <p:nvSpPr>
          <p:cNvPr id="46" name="cd_364"/>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65"/>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66"/>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sense of direction</a:t>
            </a:r>
            <a:endParaRPr lang="en-US" sz="1150" dirty="0"/>
          </a:p>
        </p:txBody>
      </p:sp>
      <p:sp>
        <p:nvSpPr>
          <p:cNvPr id="49" name="R9_it367"/>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senso dell'orientamento</a:t>
            </a:r>
            <a:endParaRPr lang="en-US" sz="800" dirty="0"/>
          </a:p>
        </p:txBody>
      </p:sp>
      <p:sp>
        <p:nvSpPr>
          <p:cNvPr id="50" name="cd_368"/>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369"/>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370"/>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multitask</a:t>
            </a:r>
            <a:endParaRPr lang="en-US" sz="1200" dirty="0"/>
          </a:p>
        </p:txBody>
      </p:sp>
      <p:sp>
        <p:nvSpPr>
          <p:cNvPr id="53" name="R10_it371"/>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fare più cose insieme</a:t>
            </a:r>
            <a:endParaRPr lang="en-US" sz="900" dirty="0"/>
          </a:p>
        </p:txBody>
      </p:sp>
      <p:sp>
        <p:nvSpPr>
          <p:cNvPr id="54" name="cd_372"/>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373"/>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374"/>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caring</a:t>
            </a:r>
            <a:endParaRPr lang="en-US" sz="1200" dirty="0"/>
          </a:p>
        </p:txBody>
      </p:sp>
      <p:sp>
        <p:nvSpPr>
          <p:cNvPr id="57" name="R11_it375"/>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premuroso</a:t>
            </a:r>
            <a:endParaRPr lang="en-US" sz="1000" dirty="0"/>
          </a:p>
        </p:txBody>
      </p:sp>
      <p:sp>
        <p:nvSpPr>
          <p:cNvPr id="58" name="cd_376"/>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377"/>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378"/>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competitive</a:t>
            </a:r>
            <a:endParaRPr lang="en-US" sz="1200" dirty="0"/>
          </a:p>
        </p:txBody>
      </p:sp>
      <p:sp>
        <p:nvSpPr>
          <p:cNvPr id="61" name="R12_it379"/>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competitivo</a:t>
            </a:r>
            <a:endParaRPr lang="en-US" sz="1000" dirty="0"/>
          </a:p>
        </p:txBody>
      </p:sp>
      <p:sp>
        <p:nvSpPr>
          <p:cNvPr id="62" name="R13_wc380"/>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381"/>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argue = litigare OR sostenere (in an article)   ·   tend + to + verb: Men tend to…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8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8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Are you surprised?</a:t>
            </a:r>
            <a:endParaRPr lang="en-US" sz="2500" dirty="0"/>
          </a:p>
        </p:txBody>
      </p:sp>
      <p:pic>
        <p:nvPicPr>
          <p:cNvPr id="6" name="brP_385"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86"/>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 question. Give an example!</a:t>
            </a:r>
            <a:endParaRPr lang="en-US" sz="1250" dirty="0"/>
          </a:p>
        </p:txBody>
      </p:sp>
      <p:sp>
        <p:nvSpPr>
          <p:cNvPr id="8" name="insIT_38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alla domanda. Fai un esempio!</a:t>
            </a:r>
            <a:endParaRPr lang="en-US" sz="950" dirty="0"/>
          </a:p>
        </p:txBody>
      </p:sp>
      <p:sp>
        <p:nvSpPr>
          <p:cNvPr id="9" name="cmd_388"/>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389"/>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90"/>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39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9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Speaking · react to the article   ·   📖 SB p.30 · 1f</a:t>
            </a:r>
            <a:endParaRPr lang="en-US" sz="800" dirty="0"/>
          </a:p>
        </p:txBody>
      </p:sp>
      <p:sp>
        <p:nvSpPr>
          <p:cNvPr id="14" name="pf_393"/>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394" descr="/home/claude/lls-course/v2/cache/3b1_caring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395"/>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396"/>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97"/>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398"/>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I'm (not) surprised because…</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In my family, …</a:t>
            </a:r>
            <a:endParaRPr lang="en-US" sz="1050" dirty="0"/>
          </a:p>
          <a:p>
            <a:pPr marL="152400" indent="-152400">
              <a:spcBef>
                <a:spcPts val="5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I'm sorry, I'd rather not say.</a:t>
            </a:r>
            <a:endParaRPr lang="en-US" sz="1050" dirty="0"/>
          </a:p>
        </p:txBody>
      </p:sp>
      <p:sp>
        <p:nvSpPr>
          <p:cNvPr id="20" name="R1_qb399"/>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400"/>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Men solved 50% more problems in the maze. Are you surprised?</a:t>
            </a:r>
            <a:endParaRPr lang="en-US" sz="110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Not really. My dad never uses the satnav!</a:t>
            </a:r>
            <a:endParaRPr lang="en-US" sz="1100" dirty="0"/>
          </a:p>
        </p:txBody>
      </p:sp>
      <p:sp>
        <p:nvSpPr>
          <p:cNvPr id="22" name="R2_qb401"/>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402"/>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Women have 30% more Foxp2 – the 'language protein'. Who talks most in your family?</a:t>
            </a:r>
            <a:endParaRPr lang="en-US" sz="9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e.g. My sister! She never stops talking.</a:t>
            </a:r>
            <a:endParaRPr lang="en-US" sz="950" dirty="0"/>
          </a:p>
        </p:txBody>
      </p:sp>
      <p:sp>
        <p:nvSpPr>
          <p:cNvPr id="24" name="R3_qb403"/>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404"/>
          <p:cNvSpPr/>
          <p:nvPr/>
        </p:nvSpPr>
        <p:spPr>
          <a:xfrm>
            <a:off x="3675888" y="2624328"/>
            <a:ext cx="45079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Women did 4 things at once in 8 minutes. Can you multitask?</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Yes – I do my homework and listen to music at the same time!</a:t>
            </a:r>
            <a:endParaRPr lang="en-US" sz="1000" dirty="0"/>
          </a:p>
        </p:txBody>
      </p:sp>
      <p:pic>
        <p:nvPicPr>
          <p:cNvPr id="26" name="R3_th405" descr="/home/claude/lls-course/v2/cache/3b1_multitask_jpg_154x119_18.png">    </p:cNvPr>
          <p:cNvPicPr>
            <a:picLocks noChangeAspect="1"/>
          </p:cNvPicPr>
          <p:nvPr/>
        </p:nvPicPr>
        <p:blipFill>
          <a:blip r:embed="rId6"/>
          <a:stretch>
            <a:fillRect/>
          </a:stretch>
        </p:blipFill>
        <p:spPr>
          <a:xfrm>
            <a:off x="8257032" y="2642616"/>
            <a:ext cx="640080" cy="493776"/>
          </a:xfrm>
          <a:prstGeom prst="rect">
            <a:avLst/>
          </a:prstGeom>
        </p:spPr>
      </p:pic>
      <p:sp>
        <p:nvSpPr>
          <p:cNvPr id="27" name="R4_qb406"/>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407"/>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 judges preferred the men's jokes. Who's the funniest person you know?</a:t>
            </a:r>
            <a:endParaRPr lang="en-US" sz="9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e.g. My grandmother. Her jokes are the best!</a:t>
            </a:r>
            <a:endParaRPr lang="en-US" sz="950" dirty="0"/>
          </a:p>
        </p:txBody>
      </p:sp>
      <p:sp>
        <p:nvSpPr>
          <p:cNvPr id="29" name="R5_qb408"/>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409"/>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Think of one more stereotype about men or women. Is it true?</a:t>
            </a:r>
            <a:endParaRPr lang="en-US" sz="110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People say men can't cook. Not true – my dad is a great cook!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11"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412"/>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Four jokes 1/2</a:t>
            </a:r>
            <a:endParaRPr lang="en-US" sz="2500" dirty="0"/>
          </a:p>
        </p:txBody>
      </p:sp>
      <p:pic>
        <p:nvPicPr>
          <p:cNvPr id="6" name="brP_413"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414"/>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an, the or – ? Then listen.</a:t>
            </a:r>
            <a:endParaRPr lang="en-US" sz="1250" dirty="0"/>
          </a:p>
        </p:txBody>
      </p:sp>
      <p:sp>
        <p:nvSpPr>
          <p:cNvPr id="8" name="insIT_41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 an, the o – ? Poi ascolta.</a:t>
            </a:r>
            <a:endParaRPr lang="en-US" sz="950" dirty="0"/>
          </a:p>
        </p:txBody>
      </p:sp>
      <p:sp>
        <p:nvSpPr>
          <p:cNvPr id="9" name="cmd_41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417"/>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41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41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TPRS · reading</a:t>
            </a:r>
            <a:endParaRPr lang="en-US" sz="800" dirty="0"/>
          </a:p>
        </p:txBody>
      </p:sp>
      <p:pic>
        <p:nvPicPr>
          <p:cNvPr id="13" name="logo_4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 four jokes   ·   📖 SB p.31 · 2a, 2b · audio 3.18 (jokes 1–2)</a:t>
            </a:r>
            <a:endParaRPr lang="en-US" sz="800" dirty="0"/>
          </a:p>
        </p:txBody>
      </p:sp>
      <p:sp>
        <p:nvSpPr>
          <p:cNvPr id="15" name="cd_422"/>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42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Joke 1 · Joke 2</a:t>
            </a:r>
            <a:endParaRPr lang="en-US" sz="1700" dirty="0"/>
          </a:p>
        </p:txBody>
      </p:sp>
      <p:sp>
        <p:nvSpPr>
          <p:cNvPr id="17" name="ln_424"/>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Girl: Daddy, did you know that </a:t>
            </a:r>
            <a:pPr indent="0" marL="0">
              <a:buNone/>
            </a:pPr>
            <a:r>
              <a:rPr lang="en-US" sz="1250" b="1" dirty="0">
                <a:solidFill>
                  <a:srgbClr val="2EB872"/>
                </a:solidFill>
                <a:latin typeface="Georgia" pitchFamily="34" charset="0"/>
                <a:ea typeface="Georgia" pitchFamily="34" charset="-122"/>
                <a:cs typeface="Georgia" pitchFamily="34" charset="-120"/>
              </a:rPr>
              <a:t> (1) ________ </a:t>
            </a:r>
            <a:pPr indent="0" marL="0">
              <a:buNone/>
            </a:pPr>
            <a:r>
              <a:rPr lang="en-US" sz="1250" dirty="0">
                <a:solidFill>
                  <a:srgbClr val="1B2559"/>
                </a:solidFill>
                <a:latin typeface="Georgia" pitchFamily="34" charset="0"/>
                <a:ea typeface="Georgia" pitchFamily="34" charset="-122"/>
                <a:cs typeface="Georgia" pitchFamily="34" charset="-120"/>
              </a:rPr>
              <a:t> girls are cleverer than </a:t>
            </a:r>
            <a:pPr indent="0" marL="0">
              <a:buNone/>
            </a:pPr>
            <a:r>
              <a:rPr lang="en-US" sz="1250" b="1" dirty="0">
                <a:solidFill>
                  <a:srgbClr val="2EB872"/>
                </a:solidFill>
                <a:latin typeface="Georgia" pitchFamily="34" charset="0"/>
                <a:ea typeface="Georgia" pitchFamily="34" charset="-122"/>
                <a:cs typeface="Georgia" pitchFamily="34" charset="-120"/>
              </a:rPr>
              <a:t> (2) ________ </a:t>
            </a:r>
            <a:pPr indent="0" marL="0">
              <a:buNone/>
            </a:pPr>
            <a:r>
              <a:rPr lang="en-US" sz="1250" dirty="0">
                <a:solidFill>
                  <a:srgbClr val="1B2559"/>
                </a:solidFill>
                <a:latin typeface="Georgia" pitchFamily="34" charset="0"/>
                <a:ea typeface="Georgia" pitchFamily="34" charset="-122"/>
                <a:cs typeface="Georgia" pitchFamily="34" charset="-120"/>
              </a:rPr>
              <a:t> boys?</a:t>
            </a:r>
            <a:endParaRPr lang="en-US" sz="1250" dirty="0"/>
          </a:p>
        </p:txBody>
      </p:sp>
      <p:sp>
        <p:nvSpPr>
          <p:cNvPr id="18" name="R1_lnA425"/>
          <p:cNvSpPr/>
          <p:nvPr/>
        </p:nvSpPr>
        <p:spPr>
          <a:xfrm>
            <a:off x="548640" y="192024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Girl: Daddy, did you know that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t>
            </a:r>
            <a:pPr indent="0" marL="0">
              <a:buNone/>
            </a:pPr>
            <a:r>
              <a:rPr lang="en-US" sz="1250" dirty="0">
                <a:solidFill>
                  <a:srgbClr val="1B2559"/>
                </a:solidFill>
                <a:latin typeface="Georgia" pitchFamily="34" charset="0"/>
                <a:ea typeface="Georgia" pitchFamily="34" charset="-122"/>
                <a:cs typeface="Georgia" pitchFamily="34" charset="-120"/>
              </a:rPr>
              <a:t> girls are cleverer than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t>
            </a:r>
            <a:pPr indent="0" marL="0">
              <a:buNone/>
            </a:pPr>
            <a:r>
              <a:rPr lang="en-US" sz="1250" dirty="0">
                <a:solidFill>
                  <a:srgbClr val="1B2559"/>
                </a:solidFill>
                <a:latin typeface="Georgia" pitchFamily="34" charset="0"/>
                <a:ea typeface="Georgia" pitchFamily="34" charset="-122"/>
                <a:cs typeface="Georgia" pitchFamily="34" charset="-120"/>
              </a:rPr>
              <a:t> boys?</a:t>
            </a:r>
            <a:endParaRPr lang="en-US" sz="1250" dirty="0"/>
          </a:p>
        </p:txBody>
      </p:sp>
      <p:sp>
        <p:nvSpPr>
          <p:cNvPr id="19" name="ln_426"/>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Father: No, I didn't know that.     Girl: You see!</a:t>
            </a:r>
            <a:endParaRPr lang="en-US" sz="1250" dirty="0"/>
          </a:p>
        </p:txBody>
      </p:sp>
      <p:sp>
        <p:nvSpPr>
          <p:cNvPr id="20" name="ln_427"/>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250" b="1" dirty="0">
                <a:solidFill>
                  <a:srgbClr val="2EB872"/>
                </a:solidFill>
                <a:latin typeface="Georgia" pitchFamily="34" charset="0"/>
                <a:ea typeface="Georgia" pitchFamily="34" charset="-122"/>
                <a:cs typeface="Georgia" pitchFamily="34" charset="-120"/>
              </a:rPr>
              <a:t> (3) ________ </a:t>
            </a:r>
            <a:pPr indent="0" marL="0">
              <a:buNone/>
            </a:pPr>
            <a:r>
              <a:rPr lang="en-US" sz="1250" dirty="0">
                <a:solidFill>
                  <a:srgbClr val="1B2559"/>
                </a:solidFill>
                <a:latin typeface="Georgia" pitchFamily="34" charset="0"/>
                <a:ea typeface="Georgia" pitchFamily="34" charset="-122"/>
                <a:cs typeface="Georgia" pitchFamily="34" charset="-120"/>
              </a:rPr>
              <a:t> man goes to see </a:t>
            </a:r>
            <a:pPr indent="0" marL="0">
              <a:buNone/>
            </a:pPr>
            <a:r>
              <a:rPr lang="en-US" sz="1250" b="1" dirty="0">
                <a:solidFill>
                  <a:srgbClr val="2EB872"/>
                </a:solidFill>
                <a:latin typeface="Georgia" pitchFamily="34" charset="0"/>
                <a:ea typeface="Georgia" pitchFamily="34" charset="-122"/>
                <a:cs typeface="Georgia" pitchFamily="34" charset="-120"/>
              </a:rPr>
              <a:t> (4) ________ </a:t>
            </a:r>
            <a:pPr indent="0" marL="0">
              <a:buNone/>
            </a:pPr>
            <a:r>
              <a:rPr lang="en-US" sz="1250" dirty="0">
                <a:solidFill>
                  <a:srgbClr val="1B2559"/>
                </a:solidFill>
                <a:latin typeface="Georgia" pitchFamily="34" charset="0"/>
                <a:ea typeface="Georgia" pitchFamily="34" charset="-122"/>
                <a:cs typeface="Georgia" pitchFamily="34" charset="-120"/>
              </a:rPr>
              <a:t> lawyer.</a:t>
            </a:r>
            <a:endParaRPr lang="en-US" sz="1250" dirty="0"/>
          </a:p>
        </p:txBody>
      </p:sp>
      <p:sp>
        <p:nvSpPr>
          <p:cNvPr id="21" name="R2_lnA428"/>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a:t>
            </a:r>
            <a:pPr indent="0" marL="0">
              <a:buNone/>
            </a:pPr>
            <a:r>
              <a:rPr lang="en-US" sz="1250" dirty="0">
                <a:solidFill>
                  <a:srgbClr val="1B2559"/>
                </a:solidFill>
                <a:latin typeface="Georgia" pitchFamily="34" charset="0"/>
                <a:ea typeface="Georgia" pitchFamily="34" charset="-122"/>
                <a:cs typeface="Georgia" pitchFamily="34" charset="-120"/>
              </a:rPr>
              <a:t> man goes to see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a:t>
            </a:r>
            <a:pPr indent="0" marL="0">
              <a:buNone/>
            </a:pPr>
            <a:r>
              <a:rPr lang="en-US" sz="1250" dirty="0">
                <a:solidFill>
                  <a:srgbClr val="1B2559"/>
                </a:solidFill>
                <a:latin typeface="Georgia" pitchFamily="34" charset="0"/>
                <a:ea typeface="Georgia" pitchFamily="34" charset="-122"/>
                <a:cs typeface="Georgia" pitchFamily="34" charset="-120"/>
              </a:rPr>
              <a:t> lawyer.</a:t>
            </a:r>
            <a:endParaRPr lang="en-US" sz="1250" dirty="0"/>
          </a:p>
        </p:txBody>
      </p:sp>
      <p:sp>
        <p:nvSpPr>
          <p:cNvPr id="22" name="ln_429"/>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Man: Excuse me. What do you charge?     Lawyer: $1,000 for three questions.</a:t>
            </a:r>
            <a:endParaRPr lang="en-US" sz="1250" dirty="0"/>
          </a:p>
        </p:txBody>
      </p:sp>
      <p:sp>
        <p:nvSpPr>
          <p:cNvPr id="23" name="ln_430"/>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Man: Wow! Isn't that </a:t>
            </a:r>
            <a:pPr indent="0" marL="0">
              <a:buNone/>
            </a:pPr>
            <a:r>
              <a:rPr lang="en-US" sz="1250" b="1" dirty="0">
                <a:solidFill>
                  <a:srgbClr val="2EB872"/>
                </a:solidFill>
                <a:latin typeface="Georgia" pitchFamily="34" charset="0"/>
                <a:ea typeface="Georgia" pitchFamily="34" charset="-122"/>
                <a:cs typeface="Georgia" pitchFamily="34" charset="-120"/>
              </a:rPr>
              <a:t> (5) ________ </a:t>
            </a:r>
            <a:pPr indent="0" marL="0">
              <a:buNone/>
            </a:pPr>
            <a:r>
              <a:rPr lang="en-US" sz="1250" dirty="0">
                <a:solidFill>
                  <a:srgbClr val="1B2559"/>
                </a:solidFill>
                <a:latin typeface="Georgia" pitchFamily="34" charset="0"/>
                <a:ea typeface="Georgia" pitchFamily="34" charset="-122"/>
                <a:cs typeface="Georgia" pitchFamily="34" charset="-120"/>
              </a:rPr>
              <a:t> bit expensive?</a:t>
            </a:r>
            <a:endParaRPr lang="en-US" sz="1250" dirty="0"/>
          </a:p>
        </p:txBody>
      </p:sp>
      <p:sp>
        <p:nvSpPr>
          <p:cNvPr id="24" name="R3_lnA431"/>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Man: Wow! Isn't that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a:t>
            </a:r>
            <a:pPr indent="0" marL="0">
              <a:buNone/>
            </a:pPr>
            <a:r>
              <a:rPr lang="en-US" sz="1250" dirty="0">
                <a:solidFill>
                  <a:srgbClr val="1B2559"/>
                </a:solidFill>
                <a:latin typeface="Georgia" pitchFamily="34" charset="0"/>
                <a:ea typeface="Georgia" pitchFamily="34" charset="-122"/>
                <a:cs typeface="Georgia" pitchFamily="34" charset="-120"/>
              </a:rPr>
              <a:t> bit expensive?</a:t>
            </a:r>
            <a:endParaRPr lang="en-US" sz="1250" dirty="0"/>
          </a:p>
        </p:txBody>
      </p:sp>
      <p:sp>
        <p:nvSpPr>
          <p:cNvPr id="25" name="ln_432"/>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Lawyer: Yes. What's your third question?</a:t>
            </a:r>
            <a:endParaRPr lang="en-US" sz="1250" dirty="0"/>
          </a:p>
        </p:txBody>
      </p:sp>
      <p:sp>
        <p:nvSpPr>
          <p:cNvPr id="26" name="ap_433"/>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3.18</a:t>
            </a:r>
            <a:endParaRPr lang="en-US" sz="1100" dirty="0"/>
          </a:p>
        </p:txBody>
      </p:sp>
      <p:sp>
        <p:nvSpPr>
          <p:cNvPr id="27" name="ah_434"/>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8"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29" name="ah_435"/>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3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31" name="pf_436"/>
          <p:cNvSpPr/>
          <p:nvPr/>
        </p:nvSpPr>
        <p:spPr>
          <a:xfrm rot="120000">
            <a:off x="6309360" y="196596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2" name="ph_437" descr="/home/claude/lls-course/v2/cache/3b1_lawyer_jpg_594x341_31.png">    </p:cNvPr>
          <p:cNvPicPr>
            <a:picLocks noChangeAspect="1"/>
          </p:cNvPicPr>
          <p:nvPr/>
        </p:nvPicPr>
        <p:blipFill>
          <a:blip r:embed="rId11"/>
          <a:stretch>
            <a:fillRect/>
          </a:stretch>
        </p:blipFill>
        <p:spPr>
          <a:xfrm rot="120000">
            <a:off x="6355080" y="2011680"/>
            <a:ext cx="2468880" cy="14173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2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8"/>
                                        </p:tgtEl>
                                      </p:cBhvr>
                                    </p:cmd>
                                  </p:childTnLst>
                                </p:cTn>
                              </p:par>
                            </p:childTnLst>
                          </p:cTn>
                        </p:par>
                      </p:childTnLst>
                    </p:cTn>
                  </p:par>
                </p:childTnLst>
              </p:cTn>
              <p:nextCondLst>
                <p:cond evt="onClick" delay="0">
                  <p:tgtEl>
                    <p:spTgt spid="28"/>
                  </p:tgtEl>
                </p:cond>
              </p:nextCondLst>
            </p:seq>
            <p:seq concurrent="1" nextAc="seek">
              <p:cTn id="23" restart="whenNotActive" fill="hold" evtFilter="cancelBubble" nodeType="interactiveSeq">
                <p:stCondLst>
                  <p:cond evt="onClick" delay="0">
                    <p:tgtEl>
                      <p:spTgt spid="30"/>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30"/>
                                        </p:tgtEl>
                                      </p:cBhvr>
                                    </p:cmd>
                                  </p:childTnLst>
                                </p:cTn>
                              </p:par>
                            </p:childTnLst>
                          </p:cTn>
                        </p:par>
                      </p:childTnLst>
                    </p:cTn>
                  </p:par>
                </p:childTnLst>
              </p:cTn>
              <p:nextCondLst>
                <p:cond evt="onClick" delay="0">
                  <p:tgtEl>
                    <p:spTgt spid="30"/>
                  </p:tgtEl>
                </p:cond>
              </p:nextCondLst>
            </p:seq>
            <p:audio>
              <p:cMediaNode vol="80000">
                <p:cTn id="28" fill="hold" display="0">
                  <p:stCondLst>
                    <p:cond delay="indefinite"/>
                  </p:stCondLst>
                  <p:endCondLst>
                    <p:cond evt="onStopAudio" delay="0">
                      <p:tgtEl>
                        <p:sldTgt/>
                      </p:tgtEl>
                    </p:cond>
                  </p:endCondLst>
                </p:cTn>
                <p:tgtEl>
                  <p:spTgt spid="28"/>
                </p:tgtEl>
              </p:cMediaNode>
            </p:audio>
            <p:audio>
              <p:cMediaNode vol="80000">
                <p:cTn id="29" fill="hold" display="0">
                  <p:stCondLst>
                    <p:cond delay="indefinite"/>
                  </p:stCondLst>
                  <p:endCondLst>
                    <p:cond evt="onStopAudio" delay="0">
                      <p:tgtEl>
                        <p:sldTgt/>
                      </p:tgtEl>
                    </p:cond>
                  </p:endCondLst>
                </p:cTn>
                <p:tgtEl>
                  <p:spTgt spid="3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39"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440"/>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Four jokes 2/2</a:t>
            </a:r>
            <a:endParaRPr lang="en-US" sz="2500" dirty="0"/>
          </a:p>
        </p:txBody>
      </p:sp>
      <p:pic>
        <p:nvPicPr>
          <p:cNvPr id="6" name="brP_441"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442"/>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an, the or – ? Then listen.</a:t>
            </a:r>
            <a:endParaRPr lang="en-US" sz="1250" dirty="0"/>
          </a:p>
        </p:txBody>
      </p:sp>
      <p:sp>
        <p:nvSpPr>
          <p:cNvPr id="8" name="insIT_44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 an, the o – ? Poi ascolta.</a:t>
            </a:r>
            <a:endParaRPr lang="en-US" sz="950" dirty="0"/>
          </a:p>
        </p:txBody>
      </p:sp>
      <p:sp>
        <p:nvSpPr>
          <p:cNvPr id="9" name="cmd_44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445"/>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446"/>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447"/>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TPRS · reading</a:t>
            </a:r>
            <a:endParaRPr lang="en-US" sz="800" dirty="0"/>
          </a:p>
        </p:txBody>
      </p:sp>
      <p:pic>
        <p:nvPicPr>
          <p:cNvPr id="13" name="logo_4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 four jokes   ·   📖 SB p.31 · 2a, 2b · audio 3.18 (jokes 3–4)</a:t>
            </a:r>
            <a:endParaRPr lang="en-US" sz="800" dirty="0"/>
          </a:p>
        </p:txBody>
      </p:sp>
      <p:sp>
        <p:nvSpPr>
          <p:cNvPr id="15" name="cd_45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45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Joke 3 · Joke 4</a:t>
            </a:r>
            <a:endParaRPr lang="en-US" sz="1700" dirty="0"/>
          </a:p>
        </p:txBody>
      </p:sp>
      <p:sp>
        <p:nvSpPr>
          <p:cNvPr id="17" name="ln_452"/>
          <p:cNvSpPr/>
          <p:nvPr/>
        </p:nvSpPr>
        <p:spPr>
          <a:xfrm>
            <a:off x="548640" y="1920240"/>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Doctor: Hello, did you come to see me with </a:t>
            </a:r>
            <a:pPr indent="0" marL="0">
              <a:buNone/>
            </a:pPr>
            <a:r>
              <a:rPr lang="en-US" sz="1200" b="1" dirty="0">
                <a:solidFill>
                  <a:srgbClr val="2EB872"/>
                </a:solidFill>
                <a:latin typeface="Georgia" pitchFamily="34" charset="0"/>
                <a:ea typeface="Georgia" pitchFamily="34" charset="-122"/>
                <a:cs typeface="Georgia" pitchFamily="34" charset="-120"/>
              </a:rPr>
              <a:t> (6) ________ </a:t>
            </a:r>
            <a:pPr indent="0" marL="0">
              <a:buNone/>
            </a:pPr>
            <a:r>
              <a:rPr lang="en-US" sz="1200" dirty="0">
                <a:solidFill>
                  <a:srgbClr val="1B2559"/>
                </a:solidFill>
                <a:latin typeface="Georgia" pitchFamily="34" charset="0"/>
                <a:ea typeface="Georgia" pitchFamily="34" charset="-122"/>
                <a:cs typeface="Georgia" pitchFamily="34" charset="-120"/>
              </a:rPr>
              <a:t> eye problem?</a:t>
            </a:r>
            <a:endParaRPr lang="en-US" sz="1200" dirty="0"/>
          </a:p>
        </p:txBody>
      </p:sp>
      <p:sp>
        <p:nvSpPr>
          <p:cNvPr id="18" name="R1_lnA453"/>
          <p:cNvSpPr/>
          <p:nvPr/>
        </p:nvSpPr>
        <p:spPr>
          <a:xfrm>
            <a:off x="548640" y="1920240"/>
            <a:ext cx="5349240" cy="398417"/>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Doctor: Hello, did you come to see me with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an</a:t>
            </a:r>
            <a:pPr indent="0" marL="0">
              <a:buNone/>
            </a:pPr>
            <a:r>
              <a:rPr lang="en-US" sz="1200" dirty="0">
                <a:solidFill>
                  <a:srgbClr val="1B2559"/>
                </a:solidFill>
                <a:latin typeface="Georgia" pitchFamily="34" charset="0"/>
                <a:ea typeface="Georgia" pitchFamily="34" charset="-122"/>
                <a:cs typeface="Georgia" pitchFamily="34" charset="-120"/>
              </a:rPr>
              <a:t> eye problem?</a:t>
            </a:r>
            <a:endParaRPr lang="en-US" sz="1200" dirty="0"/>
          </a:p>
        </p:txBody>
      </p:sp>
      <p:sp>
        <p:nvSpPr>
          <p:cNvPr id="19" name="ln_454"/>
          <p:cNvSpPr/>
          <p:nvPr/>
        </p:nvSpPr>
        <p:spPr>
          <a:xfrm>
            <a:off x="548640" y="2318657"/>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Patient: Yes! How did you know?</a:t>
            </a:r>
            <a:endParaRPr lang="en-US" sz="1200" dirty="0"/>
          </a:p>
        </p:txBody>
      </p:sp>
      <p:sp>
        <p:nvSpPr>
          <p:cNvPr id="20" name="ln_455"/>
          <p:cNvSpPr/>
          <p:nvPr/>
        </p:nvSpPr>
        <p:spPr>
          <a:xfrm>
            <a:off x="548640" y="2717074"/>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Doctor: Because you came in through </a:t>
            </a:r>
            <a:pPr indent="0" marL="0">
              <a:buNone/>
            </a:pPr>
            <a:r>
              <a:rPr lang="en-US" sz="1200" b="1" dirty="0">
                <a:solidFill>
                  <a:srgbClr val="2EB872"/>
                </a:solidFill>
                <a:latin typeface="Georgia" pitchFamily="34" charset="0"/>
                <a:ea typeface="Georgia" pitchFamily="34" charset="-122"/>
                <a:cs typeface="Georgia" pitchFamily="34" charset="-120"/>
              </a:rPr>
              <a:t> (7) ________ </a:t>
            </a:r>
            <a:pPr indent="0" marL="0">
              <a:buNone/>
            </a:pPr>
            <a:r>
              <a:rPr lang="en-US" sz="1200" dirty="0">
                <a:solidFill>
                  <a:srgbClr val="1B2559"/>
                </a:solidFill>
                <a:latin typeface="Georgia" pitchFamily="34" charset="0"/>
                <a:ea typeface="Georgia" pitchFamily="34" charset="-122"/>
                <a:cs typeface="Georgia" pitchFamily="34" charset="-120"/>
              </a:rPr>
              <a:t> window instead of </a:t>
            </a:r>
            <a:pPr indent="0" marL="0">
              <a:buNone/>
            </a:pPr>
            <a:r>
              <a:rPr lang="en-US" sz="1200" b="1" dirty="0">
                <a:solidFill>
                  <a:srgbClr val="2EB872"/>
                </a:solidFill>
                <a:latin typeface="Georgia" pitchFamily="34" charset="0"/>
                <a:ea typeface="Georgia" pitchFamily="34" charset="-122"/>
                <a:cs typeface="Georgia" pitchFamily="34" charset="-120"/>
              </a:rPr>
              <a:t> (8) ________ </a:t>
            </a:r>
            <a:pPr indent="0" marL="0">
              <a:buNone/>
            </a:pPr>
            <a:r>
              <a:rPr lang="en-US" sz="1200" dirty="0">
                <a:solidFill>
                  <a:srgbClr val="1B2559"/>
                </a:solidFill>
                <a:latin typeface="Georgia" pitchFamily="34" charset="0"/>
                <a:ea typeface="Georgia" pitchFamily="34" charset="-122"/>
                <a:cs typeface="Georgia" pitchFamily="34" charset="-120"/>
              </a:rPr>
              <a:t> door.</a:t>
            </a:r>
            <a:endParaRPr lang="en-US" sz="1200" dirty="0"/>
          </a:p>
        </p:txBody>
      </p:sp>
      <p:sp>
        <p:nvSpPr>
          <p:cNvPr id="21" name="R2_lnA456"/>
          <p:cNvSpPr/>
          <p:nvPr/>
        </p:nvSpPr>
        <p:spPr>
          <a:xfrm>
            <a:off x="548640" y="2717074"/>
            <a:ext cx="5349240" cy="398417"/>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Doctor: Because you came in through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the</a:t>
            </a:r>
            <a:pPr indent="0" marL="0">
              <a:buNone/>
            </a:pPr>
            <a:r>
              <a:rPr lang="en-US" sz="1200" dirty="0">
                <a:solidFill>
                  <a:srgbClr val="1B2559"/>
                </a:solidFill>
                <a:latin typeface="Georgia" pitchFamily="34" charset="0"/>
                <a:ea typeface="Georgia" pitchFamily="34" charset="-122"/>
                <a:cs typeface="Georgia" pitchFamily="34" charset="-120"/>
              </a:rPr>
              <a:t> window instead of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the</a:t>
            </a:r>
            <a:pPr indent="0" marL="0">
              <a:buNone/>
            </a:pPr>
            <a:r>
              <a:rPr lang="en-US" sz="1200" dirty="0">
                <a:solidFill>
                  <a:srgbClr val="1B2559"/>
                </a:solidFill>
                <a:latin typeface="Georgia" pitchFamily="34" charset="0"/>
                <a:ea typeface="Georgia" pitchFamily="34" charset="-122"/>
                <a:cs typeface="Georgia" pitchFamily="34" charset="-120"/>
              </a:rPr>
              <a:t> door.</a:t>
            </a:r>
            <a:endParaRPr lang="en-US" sz="1200" dirty="0"/>
          </a:p>
        </p:txBody>
      </p:sp>
      <p:sp>
        <p:nvSpPr>
          <p:cNvPr id="22" name="ln_457"/>
          <p:cNvSpPr/>
          <p:nvPr/>
        </p:nvSpPr>
        <p:spPr>
          <a:xfrm>
            <a:off x="548640" y="3115491"/>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Mother: What did you do at </a:t>
            </a:r>
            <a:pPr indent="0" marL="0">
              <a:buNone/>
            </a:pPr>
            <a:r>
              <a:rPr lang="en-US" sz="1200" b="1" dirty="0">
                <a:solidFill>
                  <a:srgbClr val="2EB872"/>
                </a:solidFill>
                <a:latin typeface="Georgia" pitchFamily="34" charset="0"/>
                <a:ea typeface="Georgia" pitchFamily="34" charset="-122"/>
                <a:cs typeface="Georgia" pitchFamily="34" charset="-120"/>
              </a:rPr>
              <a:t> (9) ________ </a:t>
            </a:r>
            <a:pPr indent="0" marL="0">
              <a:buNone/>
            </a:pPr>
            <a:r>
              <a:rPr lang="en-US" sz="1200" dirty="0">
                <a:solidFill>
                  <a:srgbClr val="1B2559"/>
                </a:solidFill>
                <a:latin typeface="Georgia" pitchFamily="34" charset="0"/>
                <a:ea typeface="Georgia" pitchFamily="34" charset="-122"/>
                <a:cs typeface="Georgia" pitchFamily="34" charset="-120"/>
              </a:rPr>
              <a:t> school today, Patrick?</a:t>
            </a:r>
            <a:endParaRPr lang="en-US" sz="1200" dirty="0"/>
          </a:p>
        </p:txBody>
      </p:sp>
      <p:sp>
        <p:nvSpPr>
          <p:cNvPr id="23" name="R3_lnA458"/>
          <p:cNvSpPr/>
          <p:nvPr/>
        </p:nvSpPr>
        <p:spPr>
          <a:xfrm>
            <a:off x="548640" y="3115491"/>
            <a:ext cx="5349240" cy="398417"/>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Mother: What did you do at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t>
            </a:r>
            <a:pPr indent="0" marL="0">
              <a:buNone/>
            </a:pPr>
            <a:r>
              <a:rPr lang="en-US" sz="1200" dirty="0">
                <a:solidFill>
                  <a:srgbClr val="1B2559"/>
                </a:solidFill>
                <a:latin typeface="Georgia" pitchFamily="34" charset="0"/>
                <a:ea typeface="Georgia" pitchFamily="34" charset="-122"/>
                <a:cs typeface="Georgia" pitchFamily="34" charset="-120"/>
              </a:rPr>
              <a:t> school today, Patrick?</a:t>
            </a:r>
            <a:endParaRPr lang="en-US" sz="1200" dirty="0"/>
          </a:p>
        </p:txBody>
      </p:sp>
      <p:sp>
        <p:nvSpPr>
          <p:cNvPr id="24" name="ln_459"/>
          <p:cNvSpPr/>
          <p:nvPr/>
        </p:nvSpPr>
        <p:spPr>
          <a:xfrm>
            <a:off x="548640" y="3513909"/>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Patrick: It was </a:t>
            </a:r>
            <a:pPr indent="0" marL="0">
              <a:buNone/>
            </a:pPr>
            <a:r>
              <a:rPr lang="en-US" sz="1200" b="1" dirty="0">
                <a:solidFill>
                  <a:srgbClr val="2EB872"/>
                </a:solidFill>
                <a:latin typeface="Georgia" pitchFamily="34" charset="0"/>
                <a:ea typeface="Georgia" pitchFamily="34" charset="-122"/>
                <a:cs typeface="Georgia" pitchFamily="34" charset="-120"/>
              </a:rPr>
              <a:t> (10) ________ </a:t>
            </a:r>
            <a:pPr indent="0" marL="0">
              <a:buNone/>
            </a:pPr>
            <a:r>
              <a:rPr lang="en-US" sz="1200" dirty="0">
                <a:solidFill>
                  <a:srgbClr val="1B2559"/>
                </a:solidFill>
                <a:latin typeface="Georgia" pitchFamily="34" charset="0"/>
                <a:ea typeface="Georgia" pitchFamily="34" charset="-122"/>
                <a:cs typeface="Georgia" pitchFamily="34" charset="-120"/>
              </a:rPr>
              <a:t> great day! We made explosives!</a:t>
            </a:r>
            <a:endParaRPr lang="en-US" sz="1200" dirty="0"/>
          </a:p>
        </p:txBody>
      </p:sp>
      <p:sp>
        <p:nvSpPr>
          <p:cNvPr id="25" name="R4_lnA460"/>
          <p:cNvSpPr/>
          <p:nvPr/>
        </p:nvSpPr>
        <p:spPr>
          <a:xfrm>
            <a:off x="548640" y="3513909"/>
            <a:ext cx="5349240" cy="398417"/>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Patrick: It was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a:t>
            </a:r>
            <a:pPr indent="0" marL="0">
              <a:buNone/>
            </a:pPr>
            <a:r>
              <a:rPr lang="en-US" sz="1200" dirty="0">
                <a:solidFill>
                  <a:srgbClr val="1B2559"/>
                </a:solidFill>
                <a:latin typeface="Georgia" pitchFamily="34" charset="0"/>
                <a:ea typeface="Georgia" pitchFamily="34" charset="-122"/>
                <a:cs typeface="Georgia" pitchFamily="34" charset="-120"/>
              </a:rPr>
              <a:t> great day! We made explosives!</a:t>
            </a:r>
            <a:endParaRPr lang="en-US" sz="1200" dirty="0"/>
          </a:p>
        </p:txBody>
      </p:sp>
      <p:sp>
        <p:nvSpPr>
          <p:cNvPr id="26" name="ln_461"/>
          <p:cNvSpPr/>
          <p:nvPr/>
        </p:nvSpPr>
        <p:spPr>
          <a:xfrm>
            <a:off x="548640" y="3912326"/>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Mother: And what are you going to do at </a:t>
            </a:r>
            <a:pPr indent="0" marL="0">
              <a:buNone/>
            </a:pPr>
            <a:r>
              <a:rPr lang="en-US" sz="1200" b="1" dirty="0">
                <a:solidFill>
                  <a:srgbClr val="2EB872"/>
                </a:solidFill>
                <a:latin typeface="Georgia" pitchFamily="34" charset="0"/>
                <a:ea typeface="Georgia" pitchFamily="34" charset="-122"/>
                <a:cs typeface="Georgia" pitchFamily="34" charset="-120"/>
              </a:rPr>
              <a:t> (11) ________ </a:t>
            </a:r>
            <a:pPr indent="0" marL="0">
              <a:buNone/>
            </a:pPr>
            <a:r>
              <a:rPr lang="en-US" sz="1200" dirty="0">
                <a:solidFill>
                  <a:srgbClr val="1B2559"/>
                </a:solidFill>
                <a:latin typeface="Georgia" pitchFamily="34" charset="0"/>
                <a:ea typeface="Georgia" pitchFamily="34" charset="-122"/>
                <a:cs typeface="Georgia" pitchFamily="34" charset="-120"/>
              </a:rPr>
              <a:t> school tomorrow?</a:t>
            </a:r>
            <a:endParaRPr lang="en-US" sz="1200" dirty="0"/>
          </a:p>
        </p:txBody>
      </p:sp>
      <p:sp>
        <p:nvSpPr>
          <p:cNvPr id="27" name="R5_lnA462"/>
          <p:cNvSpPr/>
          <p:nvPr/>
        </p:nvSpPr>
        <p:spPr>
          <a:xfrm>
            <a:off x="548640" y="3912326"/>
            <a:ext cx="5349240" cy="398417"/>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Mother: And what are you going to do at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t>
            </a:r>
            <a:pPr indent="0" marL="0">
              <a:buNone/>
            </a:pPr>
            <a:r>
              <a:rPr lang="en-US" sz="1200" dirty="0">
                <a:solidFill>
                  <a:srgbClr val="1B2559"/>
                </a:solidFill>
                <a:latin typeface="Georgia" pitchFamily="34" charset="0"/>
                <a:ea typeface="Georgia" pitchFamily="34" charset="-122"/>
                <a:cs typeface="Georgia" pitchFamily="34" charset="-120"/>
              </a:rPr>
              <a:t> school tomorrow?</a:t>
            </a:r>
            <a:endParaRPr lang="en-US" sz="1200" dirty="0"/>
          </a:p>
        </p:txBody>
      </p:sp>
      <p:sp>
        <p:nvSpPr>
          <p:cNvPr id="28" name="ln_463"/>
          <p:cNvSpPr/>
          <p:nvPr/>
        </p:nvSpPr>
        <p:spPr>
          <a:xfrm>
            <a:off x="548640" y="4310743"/>
            <a:ext cx="5349240" cy="398417"/>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Patrick: What school?</a:t>
            </a:r>
            <a:endParaRPr lang="en-US" sz="1200" dirty="0"/>
          </a:p>
        </p:txBody>
      </p:sp>
      <p:sp>
        <p:nvSpPr>
          <p:cNvPr id="29" name="ap_464"/>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3.18</a:t>
            </a:r>
            <a:endParaRPr lang="en-US" sz="1100" dirty="0"/>
          </a:p>
        </p:txBody>
      </p:sp>
      <p:sp>
        <p:nvSpPr>
          <p:cNvPr id="30" name="ah_465"/>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31"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32" name="ah_466"/>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33"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34" name="pf_467"/>
          <p:cNvSpPr/>
          <p:nvPr/>
        </p:nvSpPr>
        <p:spPr>
          <a:xfrm rot="120000">
            <a:off x="6309360" y="196596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468" descr="/home/claude/lls-course/v2/cache/3b1_girl_dad_jpg_594x341_31.png">    </p:cNvPr>
          <p:cNvPicPr>
            <a:picLocks noChangeAspect="1"/>
          </p:cNvPicPr>
          <p:nvPr/>
        </p:nvPicPr>
        <p:blipFill>
          <a:blip r:embed="rId11"/>
          <a:stretch>
            <a:fillRect/>
          </a:stretch>
        </p:blipFill>
        <p:spPr>
          <a:xfrm rot="120000">
            <a:off x="6355080" y="2011680"/>
            <a:ext cx="2468880" cy="14173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31"/>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31"/>
                                        </p:tgtEl>
                                      </p:cBhvr>
                                    </p:cmd>
                                  </p:childTnLst>
                                </p:cTn>
                              </p:par>
                            </p:childTnLst>
                          </p:cTn>
                        </p:par>
                      </p:childTnLst>
                    </p:cTn>
                  </p:par>
                </p:childTnLst>
              </p:cTn>
              <p:nextCondLst>
                <p:cond evt="onClick" delay="0">
                  <p:tgtEl>
                    <p:spTgt spid="31"/>
                  </p:tgtEl>
                </p:cond>
              </p:nextCondLst>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33"/>
                                        </p:tgtEl>
                                      </p:cBhvr>
                                    </p:cmd>
                                  </p:childTnLst>
                                </p:cTn>
                              </p:par>
                            </p:childTnLst>
                          </p:cTn>
                        </p:par>
                      </p:childTnLst>
                    </p:cTn>
                  </p:par>
                </p:childTnLst>
              </p:cTn>
              <p:nextCondLst>
                <p:cond evt="onClick" delay="0">
                  <p:tgtEl>
                    <p:spTgt spid="33"/>
                  </p:tgtEl>
                </p:cond>
              </p:nextCondLst>
            </p:seq>
            <p:audio>
              <p:cMediaNode vol="80000">
                <p:cTn id="38" fill="hold" display="0">
                  <p:stCondLst>
                    <p:cond delay="indefinite"/>
                  </p:stCondLst>
                  <p:endCondLst>
                    <p:cond evt="onStopAudio" delay="0">
                      <p:tgtEl>
                        <p:sldTgt/>
                      </p:tgtEl>
                    </p:cond>
                  </p:endCondLst>
                </p:cTn>
                <p:tgtEl>
                  <p:spTgt spid="31"/>
                </p:tgtEl>
              </p:cMediaNode>
            </p:audio>
            <p:audio>
              <p:cMediaNode vol="80000">
                <p:cTn id="39" fill="hold" display="0">
                  <p:stCondLst>
                    <p:cond delay="indefinite"/>
                  </p:stCondLst>
                  <p:endCondLst>
                    <p:cond evt="onStopAudio" delay="0">
                      <p:tgtEl>
                        <p:sldTgt/>
                      </p:tgtEl>
                    </p:cond>
                  </p:endCondLst>
                </p:cTn>
                <p:tgtEl>
                  <p:spTgt spid="3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70"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71"/>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Why this article?</a:t>
            </a:r>
            <a:endParaRPr lang="en-US" sz="2500" dirty="0"/>
          </a:p>
        </p:txBody>
      </p:sp>
      <p:pic>
        <p:nvPicPr>
          <p:cNvPr id="6" name="brP_472"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473"/>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Why a, the or nothing? Match the colour.</a:t>
            </a:r>
            <a:endParaRPr lang="en-US" sz="1250" dirty="0"/>
          </a:p>
        </p:txBody>
      </p:sp>
      <p:sp>
        <p:nvSpPr>
          <p:cNvPr id="8" name="insIT_47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Perché a, the o niente? Abbina il colore.</a:t>
            </a:r>
            <a:endParaRPr lang="en-US" sz="950" dirty="0"/>
          </a:p>
        </p:txBody>
      </p:sp>
      <p:sp>
        <p:nvSpPr>
          <p:cNvPr id="9" name="cmd_47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47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47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2" name="logo_47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7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 why?   ·   📖 SB p.31 · 2a jokes + Grammar Bank 3B p.137 (audio 3.20)</a:t>
            </a:r>
            <a:endParaRPr lang="en-US" sz="800" dirty="0"/>
          </a:p>
        </p:txBody>
      </p:sp>
      <p:sp>
        <p:nvSpPr>
          <p:cNvPr id="14" name="cd_480"/>
          <p:cNvSpPr/>
          <p:nvPr/>
        </p:nvSpPr>
        <p:spPr>
          <a:xfrm>
            <a:off x="320040" y="1417320"/>
            <a:ext cx="2697480" cy="2295144"/>
          </a:xfrm>
          <a:prstGeom prst="roundRect">
            <a:avLst>
              <a:gd name="adj" fmla="val 55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8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8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7" name="il_483"/>
          <p:cNvSpPr/>
          <p:nvPr/>
        </p:nvSpPr>
        <p:spPr>
          <a:xfrm>
            <a:off x="886968" y="1892808"/>
            <a:ext cx="2039112" cy="1746504"/>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lg_484"/>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a/an: one, new</a:t>
            </a:r>
            <a:endParaRPr lang="en-US" sz="1050" dirty="0"/>
          </a:p>
        </p:txBody>
      </p:sp>
      <p:sp>
        <p:nvSpPr>
          <p:cNvPr id="19" name="lg_485"/>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the: we know</a:t>
            </a:r>
            <a:endParaRPr lang="en-US" sz="1050" dirty="0"/>
          </a:p>
        </p:txBody>
      </p:sp>
      <p:sp>
        <p:nvSpPr>
          <p:cNvPr id="20" name="lg_486"/>
          <p:cNvSpPr/>
          <p:nvPr/>
        </p:nvSpPr>
        <p:spPr>
          <a:xfrm>
            <a:off x="457200"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the: only one</a:t>
            </a:r>
            <a:endParaRPr lang="en-US" sz="1050" dirty="0"/>
          </a:p>
        </p:txBody>
      </p:sp>
      <p:sp>
        <p:nvSpPr>
          <p:cNvPr id="21" name="lg_487"/>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in general</a:t>
            </a:r>
            <a:endParaRPr lang="en-US" sz="1050" dirty="0"/>
          </a:p>
        </p:txBody>
      </p:sp>
      <p:sp>
        <p:nvSpPr>
          <p:cNvPr id="22" name="lg_488"/>
          <p:cNvSpPr/>
          <p:nvPr/>
        </p:nvSpPr>
        <p:spPr>
          <a:xfrm>
            <a:off x="457200" y="2752344"/>
            <a:ext cx="1188720" cy="310896"/>
          </a:xfrm>
          <a:prstGeom prst="roundRect">
            <a:avLst>
              <a:gd name="adj" fmla="val 50000"/>
            </a:avLst>
          </a:prstGeom>
          <a:solidFill>
            <a:srgbClr val="CDBFF3"/>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school, home</a:t>
            </a:r>
            <a:endParaRPr lang="en-US" sz="1050" dirty="0"/>
          </a:p>
        </p:txBody>
      </p:sp>
      <p:sp>
        <p:nvSpPr>
          <p:cNvPr id="23" name="sq_489"/>
          <p:cNvSpPr/>
          <p:nvPr/>
        </p:nvSpPr>
        <p:spPr>
          <a:xfrm>
            <a:off x="3246120" y="1417320"/>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A man goes to see a lawyer.</a:t>
            </a:r>
            <a:endParaRPr lang="en-US" sz="1200" dirty="0"/>
          </a:p>
        </p:txBody>
      </p:sp>
      <p:sp>
        <p:nvSpPr>
          <p:cNvPr id="24" name="R1_tag490"/>
          <p:cNvSpPr/>
          <p:nvPr/>
        </p:nvSpPr>
        <p:spPr>
          <a:xfrm>
            <a:off x="7178040" y="1417320"/>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a/an: one, new</a:t>
            </a:r>
            <a:endParaRPr lang="en-US" sz="1150" dirty="0"/>
          </a:p>
        </p:txBody>
      </p:sp>
      <p:sp>
        <p:nvSpPr>
          <p:cNvPr id="25" name="sq_491"/>
          <p:cNvSpPr/>
          <p:nvPr/>
        </p:nvSpPr>
        <p:spPr>
          <a:xfrm>
            <a:off x="3246120" y="1956816"/>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Girls are cleverer than boys.</a:t>
            </a:r>
            <a:endParaRPr lang="en-US" sz="1200" dirty="0"/>
          </a:p>
        </p:txBody>
      </p:sp>
      <p:sp>
        <p:nvSpPr>
          <p:cNvPr id="26" name="R2_tag492"/>
          <p:cNvSpPr/>
          <p:nvPr/>
        </p:nvSpPr>
        <p:spPr>
          <a:xfrm>
            <a:off x="7178040" y="1956816"/>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in general</a:t>
            </a:r>
            <a:endParaRPr lang="en-US" sz="1150" dirty="0"/>
          </a:p>
        </p:txBody>
      </p:sp>
      <p:sp>
        <p:nvSpPr>
          <p:cNvPr id="27" name="sq_493"/>
          <p:cNvSpPr/>
          <p:nvPr/>
        </p:nvSpPr>
        <p:spPr>
          <a:xfrm>
            <a:off x="3246120" y="2496312"/>
            <a:ext cx="3840480" cy="475488"/>
          </a:xfrm>
          <a:prstGeom prst="roundRect">
            <a:avLst>
              <a:gd name="adj" fmla="val 19231"/>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You came in through the window.</a:t>
            </a:r>
            <a:endParaRPr lang="en-US" sz="1200" dirty="0"/>
          </a:p>
        </p:txBody>
      </p:sp>
      <p:sp>
        <p:nvSpPr>
          <p:cNvPr id="28" name="R3_tag494"/>
          <p:cNvSpPr/>
          <p:nvPr/>
        </p:nvSpPr>
        <p:spPr>
          <a:xfrm>
            <a:off x="7178040" y="2496312"/>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the: we know</a:t>
            </a:r>
            <a:endParaRPr lang="en-US" sz="1150" dirty="0"/>
          </a:p>
        </p:txBody>
      </p:sp>
      <p:sp>
        <p:nvSpPr>
          <p:cNvPr id="29" name="sq_495"/>
          <p:cNvSpPr/>
          <p:nvPr/>
        </p:nvSpPr>
        <p:spPr>
          <a:xfrm>
            <a:off x="3246120" y="3035808"/>
            <a:ext cx="3840480" cy="475488"/>
          </a:xfrm>
          <a:prstGeom prst="roundRect">
            <a:avLst>
              <a:gd name="adj" fmla="val 19231"/>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What did you do at school today?</a:t>
            </a:r>
            <a:endParaRPr lang="en-US" sz="1200" dirty="0"/>
          </a:p>
        </p:txBody>
      </p:sp>
      <p:sp>
        <p:nvSpPr>
          <p:cNvPr id="30" name="R4_tag496"/>
          <p:cNvSpPr/>
          <p:nvPr/>
        </p:nvSpPr>
        <p:spPr>
          <a:xfrm>
            <a:off x="7178040" y="3035808"/>
            <a:ext cx="1691640" cy="475488"/>
          </a:xfrm>
          <a:prstGeom prst="roundRect">
            <a:avLst>
              <a:gd name="adj" fmla="val 48077"/>
            </a:avLst>
          </a:prstGeom>
          <a:solidFill>
            <a:srgbClr val="CDBFF3"/>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school, home</a:t>
            </a:r>
            <a:endParaRPr lang="en-US" sz="1150" dirty="0"/>
          </a:p>
        </p:txBody>
      </p:sp>
      <p:sp>
        <p:nvSpPr>
          <p:cNvPr id="31" name="sq_497"/>
          <p:cNvSpPr/>
          <p:nvPr/>
        </p:nvSpPr>
        <p:spPr>
          <a:xfrm>
            <a:off x="3246120" y="3575304"/>
            <a:ext cx="3840480" cy="475488"/>
          </a:xfrm>
          <a:prstGeom prst="roundRect">
            <a:avLst>
              <a:gd name="adj" fmla="val 19231"/>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The moon goes round the Earth.</a:t>
            </a:r>
            <a:endParaRPr lang="en-US" sz="1200" dirty="0"/>
          </a:p>
        </p:txBody>
      </p:sp>
      <p:sp>
        <p:nvSpPr>
          <p:cNvPr id="32" name="R5_tag498"/>
          <p:cNvSpPr/>
          <p:nvPr/>
        </p:nvSpPr>
        <p:spPr>
          <a:xfrm>
            <a:off x="7178040" y="3575304"/>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the: only one</a:t>
            </a:r>
            <a:endParaRPr lang="en-US" sz="1150" dirty="0"/>
          </a:p>
        </p:txBody>
      </p:sp>
      <p:sp>
        <p:nvSpPr>
          <p:cNvPr id="33" name="sq_499"/>
          <p:cNvSpPr/>
          <p:nvPr/>
        </p:nvSpPr>
        <p:spPr>
          <a:xfrm>
            <a:off x="3246120" y="4114800"/>
            <a:ext cx="3840480" cy="475488"/>
          </a:xfrm>
          <a:prstGeom prst="roundRect">
            <a:avLst>
              <a:gd name="adj" fmla="val 19231"/>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It was a great day!</a:t>
            </a:r>
            <a:endParaRPr lang="en-US" sz="1200" dirty="0"/>
          </a:p>
        </p:txBody>
      </p:sp>
      <p:sp>
        <p:nvSpPr>
          <p:cNvPr id="34" name="R6_tag500"/>
          <p:cNvSpPr/>
          <p:nvPr/>
        </p:nvSpPr>
        <p:spPr>
          <a:xfrm>
            <a:off x="7178040" y="4114800"/>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a/an: one, new</a:t>
            </a:r>
            <a:endParaRPr lang="en-US" sz="1150" dirty="0"/>
          </a:p>
        </p:txBody>
      </p:sp>
      <p:sp>
        <p:nvSpPr>
          <p:cNvPr id="35" name="pf_501"/>
          <p:cNvSpPr/>
          <p:nvPr/>
        </p:nvSpPr>
        <p:spPr>
          <a:xfrm rot="-120000">
            <a:off x="411480" y="3703320"/>
            <a:ext cx="2514600" cy="1005840"/>
          </a:xfrm>
          <a:prstGeom prst="roundRect">
            <a:avLst>
              <a:gd name="adj" fmla="val 1545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6" name="ph_502" descr="/home/claude/lls-course/v2/cache/3b1_moon_jpg_583x220_31.png">    </p:cNvPr>
          <p:cNvPicPr>
            <a:picLocks noChangeAspect="1"/>
          </p:cNvPicPr>
          <p:nvPr/>
        </p:nvPicPr>
        <p:blipFill>
          <a:blip r:embed="rId5"/>
          <a:stretch>
            <a:fillRect/>
          </a:stretch>
        </p:blipFill>
        <p:spPr>
          <a:xfrm rot="-120000">
            <a:off x="457200" y="3749040"/>
            <a:ext cx="2423160" cy="91440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04"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505"/>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 / an, the or no article</a:t>
            </a:r>
            <a:endParaRPr lang="en-US" sz="2500" dirty="0"/>
          </a:p>
        </p:txBody>
      </p:sp>
      <p:pic>
        <p:nvPicPr>
          <p:cNvPr id="6" name="brP_50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0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examples. Then click!</a:t>
            </a:r>
            <a:endParaRPr lang="en-US" sz="1250" dirty="0"/>
          </a:p>
        </p:txBody>
      </p:sp>
      <p:sp>
        <p:nvSpPr>
          <p:cNvPr id="8" name="insIT_50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gli esempi. Poi clicca!</a:t>
            </a:r>
            <a:endParaRPr lang="en-US" sz="950" dirty="0"/>
          </a:p>
        </p:txBody>
      </p:sp>
      <p:sp>
        <p:nvSpPr>
          <p:cNvPr id="9" name="cmd_50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51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51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2" name="logo_5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 the rule   ·   📖 Grammar Bank 3B p.137 · audio 3.19, 3.20, 3.21</a:t>
            </a:r>
            <a:endParaRPr lang="en-US" sz="800" dirty="0"/>
          </a:p>
        </p:txBody>
      </p:sp>
      <p:sp>
        <p:nvSpPr>
          <p:cNvPr id="14" name="ah_514"/>
          <p:cNvSpPr/>
          <p:nvPr/>
        </p:nvSpPr>
        <p:spPr>
          <a:xfrm>
            <a:off x="3675888" y="4572000"/>
            <a:ext cx="193852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3.20   ▶ normal</a:t>
            </a:r>
            <a:endParaRPr lang="en-US" sz="1000" dirty="0"/>
          </a:p>
        </p:txBody>
      </p:sp>
      <p:pic>
        <p:nvPicPr>
          <p:cNvPr id="15"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6" name="ah_515"/>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8" name="cd_516"/>
          <p:cNvSpPr/>
          <p:nvPr/>
        </p:nvSpPr>
        <p:spPr>
          <a:xfrm>
            <a:off x="320040" y="1417320"/>
            <a:ext cx="2758440" cy="3017520"/>
          </a:xfrm>
          <a:prstGeom prst="roundRect">
            <a:avLst>
              <a:gd name="adj" fmla="val 4641"/>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9" name="rh_517"/>
          <p:cNvSpPr/>
          <p:nvPr/>
        </p:nvSpPr>
        <p:spPr>
          <a:xfrm>
            <a:off x="4297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 / an</a:t>
            </a:r>
            <a:endParaRPr lang="en-US" sz="1250" dirty="0"/>
          </a:p>
        </p:txBody>
      </p:sp>
      <p:sp>
        <p:nvSpPr>
          <p:cNvPr id="20" name="pf_518"/>
          <p:cNvSpPr/>
          <p:nvPr/>
        </p:nvSpPr>
        <p:spPr>
          <a:xfrm>
            <a:off x="4297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519" descr="/home/claude/lls-course/v2/cache/3b1_nurse_jpg_589x209_31.png">    </p:cNvPr>
          <p:cNvPicPr>
            <a:picLocks noChangeAspect="1"/>
          </p:cNvPicPr>
          <p:nvPr/>
        </p:nvPicPr>
        <p:blipFill>
          <a:blip r:embed="rId11"/>
          <a:stretch>
            <a:fillRect/>
          </a:stretch>
        </p:blipFill>
        <p:spPr>
          <a:xfrm>
            <a:off x="475488" y="1984248"/>
            <a:ext cx="2447544" cy="868680"/>
          </a:xfrm>
          <a:prstGeom prst="rect">
            <a:avLst/>
          </a:prstGeom>
        </p:spPr>
      </p:pic>
      <p:sp>
        <p:nvSpPr>
          <p:cNvPr id="22" name="ru_520"/>
          <p:cNvSpPr/>
          <p:nvPr/>
        </p:nvSpPr>
        <p:spPr>
          <a:xfrm>
            <a:off x="4114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one thing, first time · jobs · What a…! · twice a week</a:t>
            </a:r>
            <a:endParaRPr lang="en-US" sz="1050" dirty="0"/>
          </a:p>
        </p:txBody>
      </p:sp>
      <p:sp>
        <p:nvSpPr>
          <p:cNvPr id="23" name="R1_rx521"/>
          <p:cNvSpPr/>
          <p:nvPr/>
        </p:nvSpPr>
        <p:spPr>
          <a:xfrm>
            <a:off x="4114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saw an old man with a dog.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She's a nurse.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an awful day!</a:t>
            </a:r>
            <a:endParaRPr lang="en-US" sz="1050" dirty="0"/>
          </a:p>
        </p:txBody>
      </p:sp>
      <p:sp>
        <p:nvSpPr>
          <p:cNvPr id="24" name="R1_ri522"/>
          <p:cNvSpPr/>
          <p:nvPr/>
        </p:nvSpPr>
        <p:spPr>
          <a:xfrm>
            <a:off x="4114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un / una (anche con i lavori!)</a:t>
            </a:r>
            <a:endParaRPr lang="en-US" sz="900" dirty="0"/>
          </a:p>
        </p:txBody>
      </p:sp>
      <p:sp>
        <p:nvSpPr>
          <p:cNvPr id="25" name="cd_523"/>
          <p:cNvSpPr/>
          <p:nvPr/>
        </p:nvSpPr>
        <p:spPr>
          <a:xfrm>
            <a:off x="3215640" y="1417320"/>
            <a:ext cx="2758440" cy="3017520"/>
          </a:xfrm>
          <a:prstGeom prst="roundRect">
            <a:avLst>
              <a:gd name="adj" fmla="val 4641"/>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6" name="rh_524"/>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the</a:t>
            </a:r>
            <a:endParaRPr lang="en-US" sz="1250" dirty="0"/>
          </a:p>
        </p:txBody>
      </p:sp>
      <p:sp>
        <p:nvSpPr>
          <p:cNvPr id="27" name="pf_525"/>
          <p:cNvSpPr/>
          <p:nvPr/>
        </p:nvSpPr>
        <p:spPr>
          <a:xfrm>
            <a:off x="33253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526" descr="/home/claude/lls-course/v2/cache/3b1_moon_jpg_589x209_31.png">    </p:cNvPr>
          <p:cNvPicPr>
            <a:picLocks noChangeAspect="1"/>
          </p:cNvPicPr>
          <p:nvPr/>
        </p:nvPicPr>
        <p:blipFill>
          <a:blip r:embed="rId12"/>
          <a:stretch>
            <a:fillRect/>
          </a:stretch>
        </p:blipFill>
        <p:spPr>
          <a:xfrm>
            <a:off x="3371088" y="1984248"/>
            <a:ext cx="2447544" cy="868680"/>
          </a:xfrm>
          <a:prstGeom prst="rect">
            <a:avLst/>
          </a:prstGeom>
        </p:spPr>
      </p:pic>
      <p:sp>
        <p:nvSpPr>
          <p:cNvPr id="29" name="ru_527"/>
          <p:cNvSpPr/>
          <p:nvPr/>
        </p:nvSpPr>
        <p:spPr>
          <a:xfrm>
            <a:off x="33070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we know which one · only one · the cinema · the best</a:t>
            </a:r>
            <a:endParaRPr lang="en-US" sz="1050" dirty="0"/>
          </a:p>
        </p:txBody>
      </p:sp>
      <p:sp>
        <p:nvSpPr>
          <p:cNvPr id="30" name="R2_rx528"/>
          <p:cNvSpPr/>
          <p:nvPr/>
        </p:nvSpPr>
        <p:spPr>
          <a:xfrm>
            <a:off x="33070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saw a dog. The dog was barking.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moon goes round the Earth.</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It's the best restaurant in town.</a:t>
            </a:r>
            <a:endParaRPr lang="en-US" sz="1050" dirty="0"/>
          </a:p>
        </p:txBody>
      </p:sp>
      <p:sp>
        <p:nvSpPr>
          <p:cNvPr id="31" name="R2_ri529"/>
          <p:cNvSpPr/>
          <p:nvPr/>
        </p:nvSpPr>
        <p:spPr>
          <a:xfrm>
            <a:off x="33070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il / la… quando sappiamo quale</a:t>
            </a:r>
            <a:endParaRPr lang="en-US" sz="900" dirty="0"/>
          </a:p>
        </p:txBody>
      </p:sp>
      <p:sp>
        <p:nvSpPr>
          <p:cNvPr id="32" name="cd_530"/>
          <p:cNvSpPr/>
          <p:nvPr/>
        </p:nvSpPr>
        <p:spPr>
          <a:xfrm>
            <a:off x="6111240" y="1417320"/>
            <a:ext cx="2758440" cy="3017520"/>
          </a:xfrm>
          <a:prstGeom prst="roundRect">
            <a:avLst>
              <a:gd name="adj" fmla="val 4641"/>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3" name="rh_531"/>
          <p:cNvSpPr/>
          <p:nvPr/>
        </p:nvSpPr>
        <p:spPr>
          <a:xfrm>
            <a:off x="62209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no article</a:t>
            </a:r>
            <a:endParaRPr lang="en-US" sz="1250" dirty="0"/>
          </a:p>
        </p:txBody>
      </p:sp>
      <p:sp>
        <p:nvSpPr>
          <p:cNvPr id="34" name="pf_532"/>
          <p:cNvSpPr/>
          <p:nvPr/>
        </p:nvSpPr>
        <p:spPr>
          <a:xfrm>
            <a:off x="62209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533" descr="/home/claude/lls-course/v2/cache/3b1_cats_jpg_589x209_31.png">    </p:cNvPr>
          <p:cNvPicPr>
            <a:picLocks noChangeAspect="1"/>
          </p:cNvPicPr>
          <p:nvPr/>
        </p:nvPicPr>
        <p:blipFill>
          <a:blip r:embed="rId13"/>
          <a:stretch>
            <a:fillRect/>
          </a:stretch>
        </p:blipFill>
        <p:spPr>
          <a:xfrm>
            <a:off x="6266688" y="1984248"/>
            <a:ext cx="2447544" cy="868680"/>
          </a:xfrm>
          <a:prstGeom prst="rect">
            <a:avLst/>
          </a:prstGeom>
        </p:spPr>
      </p:pic>
      <p:sp>
        <p:nvSpPr>
          <p:cNvPr id="36" name="ru_534"/>
          <p:cNvSpPr/>
          <p:nvPr/>
        </p:nvSpPr>
        <p:spPr>
          <a:xfrm>
            <a:off x="62026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things in general · home, work, school · meals, days</a:t>
            </a:r>
            <a:endParaRPr lang="en-US" sz="1050" dirty="0"/>
          </a:p>
        </p:txBody>
      </p:sp>
      <p:sp>
        <p:nvSpPr>
          <p:cNvPr id="37" name="R3_rx535"/>
          <p:cNvSpPr/>
          <p:nvPr/>
        </p:nvSpPr>
        <p:spPr>
          <a:xfrm>
            <a:off x="62026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Love is more important than money.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She's not at home today.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never have breakfast.</a:t>
            </a:r>
            <a:endParaRPr lang="en-US" sz="1050" dirty="0"/>
          </a:p>
        </p:txBody>
      </p:sp>
      <p:sp>
        <p:nvSpPr>
          <p:cNvPr id="38" name="R3_ri536"/>
          <p:cNvSpPr/>
          <p:nvPr/>
        </p:nvSpPr>
        <p:spPr>
          <a:xfrm>
            <a:off x="62026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in generale: NIENTE articolo!</a:t>
            </a:r>
            <a:endParaRPr lang="en-US" sz="900" dirty="0"/>
          </a:p>
        </p:txBody>
      </p:sp>
      <p:sp>
        <p:nvSpPr>
          <p:cNvPr id="39" name="R4_wc537"/>
          <p:cNvSpPr/>
          <p:nvPr/>
        </p:nvSpPr>
        <p:spPr>
          <a:xfrm>
            <a:off x="320040" y="4544568"/>
            <a:ext cx="3172968"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0" name="R4_w538"/>
          <p:cNvSpPr/>
          <p:nvPr/>
        </p:nvSpPr>
        <p:spPr>
          <a:xfrm>
            <a:off x="457200" y="4544568"/>
            <a:ext cx="2944368" cy="329184"/>
          </a:xfrm>
          <a:prstGeom prst="rect">
            <a:avLst/>
          </a:prstGeom>
          <a:noFill/>
          <a:ln/>
        </p:spPr>
        <p:txBody>
          <a:bodyPr wrap="square" lIns="0" tIns="0" rIns="0" bIns="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 ✗ The men love the football → ✓ Men love football   ·   ✗ She's lawyer → ✓ She's a lawyer   ·   an eye, an hour</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400"/>
                                        <p:tgtEl>
                                          <p:spTgt spid="39"/>
                                        </p:tgtEl>
                                      </p:cBhvr>
                                    </p:animEffect>
                                  </p:childTnLst>
                                </p:cTn>
                              </p:par>
                              <p:par>
                                <p:cTn id="32" presetID="10" presetClass="entr" presetSubtype="0"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15"/>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15"/>
                                        </p:tgtEl>
                                      </p:cBhvr>
                                    </p:cmd>
                                  </p:childTnLst>
                                </p:cTn>
                              </p:par>
                            </p:childTnLst>
                          </p:cTn>
                        </p:par>
                      </p:childTnLst>
                    </p:cTn>
                  </p:par>
                </p:childTnLst>
              </p:cTn>
              <p:nextCondLst>
                <p:cond evt="onClick" delay="0">
                  <p:tgtEl>
                    <p:spTgt spid="15"/>
                  </p:tgtEl>
                </p:cond>
              </p:nextCondLst>
            </p:seq>
            <p:seq concurrent="1" nextAc="seek">
              <p:cTn id="40" restart="whenNotActive" fill="hold" evtFilter="cancelBubble" nodeType="interactiveSeq">
                <p:stCondLst>
                  <p:cond evt="onClick" delay="0">
                    <p:tgtEl>
                      <p:spTgt spid="17"/>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17"/>
                                        </p:tgtEl>
                                      </p:cBhvr>
                                    </p:cmd>
                                  </p:childTnLst>
                                </p:cTn>
                              </p:par>
                            </p:childTnLst>
                          </p:cTn>
                        </p:par>
                      </p:childTnLst>
                    </p:cTn>
                  </p:par>
                </p:childTnLst>
              </p:cTn>
              <p:nextCondLst>
                <p:cond evt="onClick" delay="0">
                  <p:tgtEl>
                    <p:spTgt spid="17"/>
                  </p:tgtEl>
                </p:cond>
              </p:nextCondLst>
            </p:seq>
            <p:audio>
              <p:cMediaNode vol="80000">
                <p:cTn id="45" fill="hold" display="0">
                  <p:stCondLst>
                    <p:cond delay="indefinite"/>
                  </p:stCondLst>
                  <p:endCondLst>
                    <p:cond evt="onStopAudio" delay="0">
                      <p:tgtEl>
                        <p:sldTgt/>
                      </p:tgtEl>
                    </p:cond>
                  </p:endCondLst>
                </p:cTn>
                <p:tgtEl>
                  <p:spTgt spid="15"/>
                </p:tgtEl>
              </p:cMediaNode>
            </p:audio>
            <p:audio>
              <p:cMediaNode vol="80000">
                <p:cTn id="46" fill="hold" display="0">
                  <p:stCondLst>
                    <p:cond delay="indefinite"/>
                  </p:stCondLst>
                  <p:endCondLst>
                    <p:cond evt="onStopAudio" delay="0">
                      <p:tgtEl>
                        <p:sldTgt/>
                      </p:tgtEl>
                    </p:cond>
                  </p:endCondLst>
                </p:cTn>
                <p:tgtEl>
                  <p:spTgt spid="1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9"/>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40"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541"/>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The cat who loved the moon</a:t>
            </a:r>
            <a:endParaRPr lang="en-US" sz="2400" dirty="0"/>
          </a:p>
        </p:txBody>
      </p:sp>
      <p:pic>
        <p:nvPicPr>
          <p:cNvPr id="6" name="brP_542"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543"/>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54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cmd_54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46"/>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547"/>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548"/>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5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Speaking · class story (TPRS)</a:t>
            </a:r>
            <a:endParaRPr lang="en-US" sz="800" dirty="0"/>
          </a:p>
        </p:txBody>
      </p:sp>
      <p:sp>
        <p:nvSpPr>
          <p:cNvPr id="15" name="cd_551"/>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5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5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554"/>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 / an (one, new · jobs)</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un / una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the (we know which one)</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il / la (quello lì)</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the moon · the cinema</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la luna · il cinema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cats (in general)</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 gatti (in generale)</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at home · go to work</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a casa · andare al lavoro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generally speaking</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in generale</a:t>
            </a:r>
            <a:endParaRPr lang="en-US" sz="1000" dirty="0"/>
          </a:p>
        </p:txBody>
      </p:sp>
      <p:sp>
        <p:nvSpPr>
          <p:cNvPr id="19" name="R1_sb555"/>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556"/>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A</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man in Bagheria lives with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a</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cat. The man is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an</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engineer.</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Does he live with a cat or a dog? · What's his job? (you decide!)</a:t>
            </a:r>
            <a:endParaRPr lang="en-US" sz="1250" dirty="0"/>
          </a:p>
        </p:txBody>
      </p:sp>
      <p:sp>
        <p:nvSpPr>
          <p:cNvPr id="21" name="R2_sb557"/>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558"/>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The</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cat is very lazy. Generally speaking,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cats</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love sleeping.</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the cat lazy or active? · What do cats love?</a:t>
            </a:r>
            <a:endParaRPr lang="en-US" sz="1250" dirty="0"/>
          </a:p>
        </p:txBody>
      </p:sp>
      <p:sp>
        <p:nvSpPr>
          <p:cNvPr id="23" name="R3_sb559"/>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560"/>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But every night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the</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 cat sits on the roof and looks at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the moon</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t>
            </a:r>
            <a:endParaRPr lang="en-US" sz="12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 Where does the cat sit? · Does it look at the moon or the sea?</a:t>
            </a:r>
            <a:endParaRPr lang="en-US" sz="1200" dirty="0"/>
          </a:p>
        </p:txBody>
      </p:sp>
      <p:sp>
        <p:nvSpPr>
          <p:cNvPr id="25" name="R4_sb561"/>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562"/>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One night the cat isn't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at home</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The man is worried. He doesn't go to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work</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Is the cat at home? · Does the man go to work? · Why not?</a:t>
            </a:r>
            <a:endParaRPr lang="en-US" sz="950" dirty="0"/>
          </a:p>
        </p:txBody>
      </p:sp>
      <p:sp>
        <p:nvSpPr>
          <p:cNvPr id="27" name="R5_sb563"/>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564"/>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He finds the cat at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the cinema</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It's watching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a</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film about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the moon</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Where is the cat? · What film is it watching?</a:t>
            </a:r>
            <a:endParaRPr lang="en-US" sz="1050" dirty="0"/>
          </a:p>
        </p:txBody>
      </p:sp>
      <p:sp>
        <p:nvSpPr>
          <p:cNvPr id="29" name="R6_sb565"/>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566"/>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'Generally speaking,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cats</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don't like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films</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he says. 'But this is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a</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 special cat!'</a:t>
            </a:r>
            <a:endParaRPr lang="en-US" sz="95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Do cats like films? · And you – do you prefer cats or dogs?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68"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569"/>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Fix the article!</a:t>
            </a:r>
            <a:endParaRPr lang="en-US" sz="2500" dirty="0"/>
          </a:p>
        </p:txBody>
      </p:sp>
      <p:pic>
        <p:nvPicPr>
          <p:cNvPr id="6" name="brP_570" descr="/home/claude/lls-course/v2/assets/brush-pink.png">    </p:cNvPr>
          <p:cNvPicPr>
            <a:picLocks noChangeAspect="1"/>
          </p:cNvPicPr>
          <p:nvPr/>
        </p:nvPicPr>
        <p:blipFill>
          <a:blip r:embed="rId3"/>
          <a:stretch>
            <a:fillRect/>
          </a:stretch>
        </p:blipFill>
        <p:spPr>
          <a:xfrm>
            <a:off x="1207008" y="731520"/>
            <a:ext cx="2903220" cy="402336"/>
          </a:xfrm>
          <a:prstGeom prst="rect">
            <a:avLst/>
          </a:prstGeom>
        </p:spPr>
      </p:pic>
      <p:sp>
        <p:nvSpPr>
          <p:cNvPr id="7" name="ins_571"/>
          <p:cNvSpPr/>
          <p:nvPr/>
        </p:nvSpPr>
        <p:spPr>
          <a:xfrm>
            <a:off x="1353312" y="731520"/>
            <a:ext cx="26471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mistake. Fix it!</a:t>
            </a:r>
            <a:endParaRPr lang="en-US" sz="1250" dirty="0"/>
          </a:p>
        </p:txBody>
      </p:sp>
      <p:sp>
        <p:nvSpPr>
          <p:cNvPr id="8" name="insIT_57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l'errore. Correggilo!</a:t>
            </a:r>
            <a:endParaRPr lang="en-US" sz="950" dirty="0"/>
          </a:p>
        </p:txBody>
      </p:sp>
      <p:sp>
        <p:nvSpPr>
          <p:cNvPr id="9" name="cmd_57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7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57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5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game</a:t>
            </a:r>
            <a:endParaRPr lang="en-US" sz="800" dirty="0"/>
          </a:p>
        </p:txBody>
      </p:sp>
      <p:sp>
        <p:nvSpPr>
          <p:cNvPr id="14" name="cd_578"/>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7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8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581"/>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Semibold" pitchFamily="34" charset="0"/>
                <a:ea typeface="Segoe UI Semibold" pitchFamily="34" charset="-122"/>
                <a:cs typeface="Segoe UI Semibold" pitchFamily="34" charset="-120"/>
              </a:rPr>
              <a:t>Read the sentence.</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Leggi la frase.</a:t>
            </a:r>
            <a:endParaRPr lang="en-US" sz="1150" dirty="0"/>
          </a:p>
          <a:p>
            <a:pPr marL="190500" indent="-190500">
              <a:spcBef>
                <a:spcPts val="500"/>
              </a:spcBef>
              <a:spcAft>
                <a:spcPts val="200"/>
              </a:spcAft>
              <a:buSzPct val="100000"/>
              <a:buChar char="2"/>
            </a:pPr>
            <a:r>
              <a:rPr lang="en-US" sz="1150" dirty="0">
                <a:solidFill>
                  <a:srgbClr val="1B2559"/>
                </a:solidFill>
                <a:latin typeface="Segoe UI Semibold" pitchFamily="34" charset="0"/>
                <a:ea typeface="Segoe UI Semibold" pitchFamily="34" charset="-122"/>
                <a:cs typeface="Segoe UI Semibold" pitchFamily="34" charset="-120"/>
              </a:rPr>
              <a:t>Teams: find the article mistake.</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Squadre: trovate l'errore.</a:t>
            </a:r>
            <a:endParaRPr lang="en-US" sz="1150" dirty="0"/>
          </a:p>
          <a:p>
            <a:pPr marL="190500" indent="-190500">
              <a:spcBef>
                <a:spcPts val="500"/>
              </a:spcBef>
              <a:spcAft>
                <a:spcPts val="200"/>
              </a:spcAft>
              <a:buSzPct val="100000"/>
              <a:buChar char="3"/>
            </a:pPr>
            <a:r>
              <a:rPr lang="en-US" sz="1150" dirty="0">
                <a:solidFill>
                  <a:srgbClr val="1B2559"/>
                </a:solidFill>
                <a:latin typeface="Segoe UI Semibold" pitchFamily="34" charset="0"/>
                <a:ea typeface="Segoe UI Semibold" pitchFamily="34" charset="-122"/>
                <a:cs typeface="Segoe UI Semibold" pitchFamily="34" charset="-120"/>
              </a:rPr>
              <a:t>Say it correctly = 1 point.</a:t>
            </a:r>
            <a:endParaRPr lang="en-US" sz="1150" dirty="0"/>
          </a:p>
          <a:p>
            <a:pPr marL="190500" indent="-190500">
              <a:spcAft>
                <a:spcPts val="200"/>
              </a:spcAft>
              <a:buSzPct val="100000"/>
              <a:buChar char=" "/>
            </a:pPr>
            <a:r>
              <a:rPr lang="en-US" sz="1000" i="1" dirty="0">
                <a:solidFill>
                  <a:srgbClr val="5B6785"/>
                </a:solidFill>
                <a:latin typeface="Segoe UI Semibold" pitchFamily="34" charset="0"/>
                <a:ea typeface="Segoe UI Semibold" pitchFamily="34" charset="-122"/>
                <a:cs typeface="Segoe UI Semibold" pitchFamily="34" charset="-120"/>
              </a:rPr>
              <a:t>Dite la frase giusta = 1 punto.</a:t>
            </a:r>
            <a:endParaRPr lang="en-US" sz="1150" dirty="0"/>
          </a:p>
        </p:txBody>
      </p:sp>
      <p:sp>
        <p:nvSpPr>
          <p:cNvPr id="18" name="pf_582"/>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583" descr="/home/claude/lls-course/v2/cache/3b1_cat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584"/>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85"/>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cats are more independent than the dogs.</a:t>
            </a:r>
            <a:endParaRPr lang="en-US" sz="1100" dirty="0"/>
          </a:p>
        </p:txBody>
      </p:sp>
      <p:sp>
        <p:nvSpPr>
          <p:cNvPr id="22" name="R1_chip586"/>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Cats are more independent than dogs.</a:t>
            </a:r>
            <a:endParaRPr lang="en-US" sz="1100" dirty="0"/>
          </a:p>
        </p:txBody>
      </p:sp>
      <p:sp>
        <p:nvSpPr>
          <p:cNvPr id="23" name="bd_587"/>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88"/>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brother is nurse.</a:t>
            </a:r>
            <a:endParaRPr lang="en-US" sz="1100" dirty="0"/>
          </a:p>
        </p:txBody>
      </p:sp>
      <p:sp>
        <p:nvSpPr>
          <p:cNvPr id="25" name="R2_chip589"/>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My brother is a nurse.</a:t>
            </a:r>
            <a:endParaRPr lang="en-US" sz="1100" dirty="0"/>
          </a:p>
        </p:txBody>
      </p:sp>
      <p:sp>
        <p:nvSpPr>
          <p:cNvPr id="26" name="bd_590"/>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91"/>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Look at moon! It's beautiful.</a:t>
            </a:r>
            <a:endParaRPr lang="en-US" sz="1100" dirty="0"/>
          </a:p>
        </p:txBody>
      </p:sp>
      <p:sp>
        <p:nvSpPr>
          <p:cNvPr id="28" name="R3_chip592"/>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Look at the moon!</a:t>
            </a:r>
            <a:endParaRPr lang="en-US" sz="1100" dirty="0"/>
          </a:p>
        </p:txBody>
      </p:sp>
      <p:sp>
        <p:nvSpPr>
          <p:cNvPr id="29" name="bd_593"/>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94"/>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She's not at the home today.</a:t>
            </a:r>
            <a:endParaRPr lang="en-US" sz="1100" dirty="0"/>
          </a:p>
        </p:txBody>
      </p:sp>
      <p:sp>
        <p:nvSpPr>
          <p:cNvPr id="31" name="R4_chip595"/>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She's not at home today.</a:t>
            </a:r>
            <a:endParaRPr lang="en-US" sz="1100" dirty="0"/>
          </a:p>
        </p:txBody>
      </p:sp>
      <p:sp>
        <p:nvSpPr>
          <p:cNvPr id="32" name="bd_596"/>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97"/>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amazing joke!</a:t>
            </a:r>
            <a:endParaRPr lang="en-US" sz="1100" dirty="0"/>
          </a:p>
        </p:txBody>
      </p:sp>
      <p:sp>
        <p:nvSpPr>
          <p:cNvPr id="34" name="R5_chip598"/>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an amazing joke!</a:t>
            </a:r>
            <a:endParaRPr lang="en-US" sz="1100" dirty="0"/>
          </a:p>
        </p:txBody>
      </p:sp>
      <p:sp>
        <p:nvSpPr>
          <p:cNvPr id="35" name="bd_599"/>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600"/>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We go to cinema once the month.</a:t>
            </a:r>
            <a:endParaRPr lang="en-US" sz="1100" dirty="0"/>
          </a:p>
        </p:txBody>
      </p:sp>
      <p:sp>
        <p:nvSpPr>
          <p:cNvPr id="37" name="R6_chip601"/>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We go to the cinema once a month.</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0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03"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604"/>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/ðə/ or /ðiː/?</a:t>
            </a:r>
            <a:endParaRPr lang="en-US" sz="2500" dirty="0"/>
          </a:p>
        </p:txBody>
      </p:sp>
      <p:pic>
        <p:nvPicPr>
          <p:cNvPr id="6" name="brP_605"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606"/>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/ðə/ or /ðiː/? Then listen.</a:t>
            </a:r>
            <a:endParaRPr lang="en-US" sz="1250" dirty="0"/>
          </a:p>
        </p:txBody>
      </p:sp>
      <p:sp>
        <p:nvSpPr>
          <p:cNvPr id="8" name="insIT_60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/ðə/ o /ðiː/? Poi ascolta.</a:t>
            </a:r>
            <a:endParaRPr lang="en-US" sz="950" dirty="0"/>
          </a:p>
        </p:txBody>
      </p:sp>
      <p:sp>
        <p:nvSpPr>
          <p:cNvPr id="9" name="cmd_60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609"/>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610"/>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611"/>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Pronunciation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Listening for detail</a:t>
            </a:r>
            <a:endParaRPr lang="en-US" sz="700" dirty="0"/>
          </a:p>
        </p:txBody>
      </p:sp>
      <p:pic>
        <p:nvPicPr>
          <p:cNvPr id="13" name="logo_61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1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Pronunciation · the   ·   📖 SB p.31 · 3a, 3b, 3c · audio 3.22, 3.23</a:t>
            </a:r>
            <a:endParaRPr lang="en-US" sz="800" dirty="0"/>
          </a:p>
        </p:txBody>
      </p:sp>
      <p:sp>
        <p:nvSpPr>
          <p:cNvPr id="15" name="ap_614"/>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3.23  ·  pause after each phrase</a:t>
            </a:r>
            <a:endParaRPr lang="en-US" sz="1100" dirty="0"/>
          </a:p>
        </p:txBody>
      </p:sp>
      <p:sp>
        <p:nvSpPr>
          <p:cNvPr id="16" name="ah_615"/>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616"/>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pf_61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618" descr="/home/claude/lls-course/v2/cache/3b1_moon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2" name="cd_619"/>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3" name="ii_62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62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5" name="il_622"/>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6" name="gq_623"/>
          <p:cNvSpPr/>
          <p:nvPr/>
        </p:nvSpPr>
        <p:spPr>
          <a:xfrm>
            <a:off x="3383280" y="1417320"/>
            <a:ext cx="3337560" cy="265176"/>
          </a:xfrm>
          <a:prstGeom prst="roundRect">
            <a:avLst>
              <a:gd name="adj" fmla="val 3448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cinema</a:t>
            </a:r>
            <a:endParaRPr lang="en-US" sz="1200" dirty="0"/>
          </a:p>
        </p:txBody>
      </p:sp>
      <p:sp>
        <p:nvSpPr>
          <p:cNvPr id="27" name="R1_chip624"/>
          <p:cNvSpPr/>
          <p:nvPr/>
        </p:nvSpPr>
        <p:spPr>
          <a:xfrm>
            <a:off x="6812280" y="1417320"/>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/ðə/</a:t>
            </a:r>
            <a:endParaRPr lang="en-US" sz="1200" dirty="0"/>
          </a:p>
        </p:txBody>
      </p:sp>
      <p:sp>
        <p:nvSpPr>
          <p:cNvPr id="28" name="gq_625"/>
          <p:cNvSpPr/>
          <p:nvPr/>
        </p:nvSpPr>
        <p:spPr>
          <a:xfrm>
            <a:off x="3383280" y="1746504"/>
            <a:ext cx="3337560" cy="265176"/>
          </a:xfrm>
          <a:prstGeom prst="roundRect">
            <a:avLst>
              <a:gd name="adj" fmla="val 3448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office</a:t>
            </a:r>
            <a:endParaRPr lang="en-US" sz="1200" dirty="0"/>
          </a:p>
        </p:txBody>
      </p:sp>
      <p:sp>
        <p:nvSpPr>
          <p:cNvPr id="29" name="R2_chip626"/>
          <p:cNvSpPr/>
          <p:nvPr/>
        </p:nvSpPr>
        <p:spPr>
          <a:xfrm>
            <a:off x="6812280" y="1746504"/>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/ðiː/ – vowel sound</a:t>
            </a:r>
            <a:endParaRPr lang="en-US" sz="1200" dirty="0"/>
          </a:p>
        </p:txBody>
      </p:sp>
      <p:sp>
        <p:nvSpPr>
          <p:cNvPr id="30" name="gq_627"/>
          <p:cNvSpPr/>
          <p:nvPr/>
        </p:nvSpPr>
        <p:spPr>
          <a:xfrm>
            <a:off x="3383280" y="2075688"/>
            <a:ext cx="3337560" cy="265176"/>
          </a:xfrm>
          <a:prstGeom prst="roundRect">
            <a:avLst>
              <a:gd name="adj" fmla="val 3448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Underground</a:t>
            </a:r>
            <a:endParaRPr lang="en-US" sz="1200" dirty="0"/>
          </a:p>
        </p:txBody>
      </p:sp>
      <p:sp>
        <p:nvSpPr>
          <p:cNvPr id="31" name="R3_chip628"/>
          <p:cNvSpPr/>
          <p:nvPr/>
        </p:nvSpPr>
        <p:spPr>
          <a:xfrm>
            <a:off x="6812280" y="2075688"/>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/ðiː/ – vowel sound</a:t>
            </a:r>
            <a:endParaRPr lang="en-US" sz="1200" dirty="0"/>
          </a:p>
        </p:txBody>
      </p:sp>
      <p:sp>
        <p:nvSpPr>
          <p:cNvPr id="32" name="gq_629"/>
          <p:cNvSpPr/>
          <p:nvPr/>
        </p:nvSpPr>
        <p:spPr>
          <a:xfrm>
            <a:off x="3383280" y="2404872"/>
            <a:ext cx="3337560" cy="265176"/>
          </a:xfrm>
          <a:prstGeom prst="roundRect">
            <a:avLst>
              <a:gd name="adj" fmla="val 3448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universe</a:t>
            </a:r>
            <a:endParaRPr lang="en-US" sz="1200" dirty="0"/>
          </a:p>
        </p:txBody>
      </p:sp>
      <p:sp>
        <p:nvSpPr>
          <p:cNvPr id="33" name="R4_chip630"/>
          <p:cNvSpPr/>
          <p:nvPr/>
        </p:nvSpPr>
        <p:spPr>
          <a:xfrm>
            <a:off x="6812280" y="2404872"/>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/ðə/ – /juː/!</a:t>
            </a:r>
            <a:endParaRPr lang="en-US" sz="1200" dirty="0"/>
          </a:p>
        </p:txBody>
      </p:sp>
      <p:sp>
        <p:nvSpPr>
          <p:cNvPr id="34" name="gq_631"/>
          <p:cNvSpPr/>
          <p:nvPr/>
        </p:nvSpPr>
        <p:spPr>
          <a:xfrm>
            <a:off x="3383280" y="2734056"/>
            <a:ext cx="3337560" cy="265176"/>
          </a:xfrm>
          <a:prstGeom prst="roundRect">
            <a:avLst>
              <a:gd name="adj" fmla="val 3448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moon</a:t>
            </a:r>
            <a:endParaRPr lang="en-US" sz="1200" dirty="0"/>
          </a:p>
        </p:txBody>
      </p:sp>
      <p:sp>
        <p:nvSpPr>
          <p:cNvPr id="35" name="R5_chip632"/>
          <p:cNvSpPr/>
          <p:nvPr/>
        </p:nvSpPr>
        <p:spPr>
          <a:xfrm>
            <a:off x="6812280" y="2734056"/>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/ðə/</a:t>
            </a:r>
            <a:endParaRPr lang="en-US" sz="1200" dirty="0"/>
          </a:p>
        </p:txBody>
      </p:sp>
      <p:sp>
        <p:nvSpPr>
          <p:cNvPr id="36" name="gq_633"/>
          <p:cNvSpPr/>
          <p:nvPr/>
        </p:nvSpPr>
        <p:spPr>
          <a:xfrm>
            <a:off x="3383280" y="3063240"/>
            <a:ext cx="3337560" cy="265176"/>
          </a:xfrm>
          <a:prstGeom prst="roundRect">
            <a:avLst>
              <a:gd name="adj" fmla="val 3448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internet</a:t>
            </a:r>
            <a:endParaRPr lang="en-US" sz="1200" dirty="0"/>
          </a:p>
        </p:txBody>
      </p:sp>
      <p:sp>
        <p:nvSpPr>
          <p:cNvPr id="37" name="R6_chip634"/>
          <p:cNvSpPr/>
          <p:nvPr/>
        </p:nvSpPr>
        <p:spPr>
          <a:xfrm>
            <a:off x="6812280" y="3063240"/>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/ðiː/ – vowel sound</a:t>
            </a:r>
            <a:endParaRPr lang="en-US" sz="1200" dirty="0"/>
          </a:p>
        </p:txBody>
      </p:sp>
      <p:sp>
        <p:nvSpPr>
          <p:cNvPr id="38" name="gq_635"/>
          <p:cNvSpPr/>
          <p:nvPr/>
        </p:nvSpPr>
        <p:spPr>
          <a:xfrm>
            <a:off x="3383280" y="3392424"/>
            <a:ext cx="3337560" cy="265176"/>
          </a:xfrm>
          <a:prstGeom prst="roundRect">
            <a:avLst>
              <a:gd name="adj" fmla="val 3448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sea</a:t>
            </a:r>
            <a:endParaRPr lang="en-US" sz="1200" dirty="0"/>
          </a:p>
        </p:txBody>
      </p:sp>
      <p:sp>
        <p:nvSpPr>
          <p:cNvPr id="39" name="R7_chip636"/>
          <p:cNvSpPr/>
          <p:nvPr/>
        </p:nvSpPr>
        <p:spPr>
          <a:xfrm>
            <a:off x="6812280" y="3392424"/>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/ðə/</a:t>
            </a:r>
            <a:endParaRPr lang="en-US" sz="1200" dirty="0"/>
          </a:p>
        </p:txBody>
      </p:sp>
      <p:sp>
        <p:nvSpPr>
          <p:cNvPr id="40" name="gq_637"/>
          <p:cNvSpPr/>
          <p:nvPr/>
        </p:nvSpPr>
        <p:spPr>
          <a:xfrm>
            <a:off x="3383280" y="3721608"/>
            <a:ext cx="3337560" cy="265176"/>
          </a:xfrm>
          <a:prstGeom prst="roundRect">
            <a:avLst>
              <a:gd name="adj" fmla="val 3448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accident</a:t>
            </a:r>
            <a:endParaRPr lang="en-US" sz="1200" dirty="0"/>
          </a:p>
        </p:txBody>
      </p:sp>
      <p:sp>
        <p:nvSpPr>
          <p:cNvPr id="41" name="R8_chip638"/>
          <p:cNvSpPr/>
          <p:nvPr/>
        </p:nvSpPr>
        <p:spPr>
          <a:xfrm>
            <a:off x="6812280" y="3721608"/>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/ðiː/ – vowel sound</a:t>
            </a:r>
            <a:endParaRPr lang="en-US" sz="1200" dirty="0"/>
          </a:p>
        </p:txBody>
      </p:sp>
      <p:sp>
        <p:nvSpPr>
          <p:cNvPr id="42" name="gq_639"/>
          <p:cNvSpPr/>
          <p:nvPr/>
        </p:nvSpPr>
        <p:spPr>
          <a:xfrm>
            <a:off x="3383280" y="4050792"/>
            <a:ext cx="3337560" cy="265176"/>
          </a:xfrm>
          <a:prstGeom prst="roundRect">
            <a:avLst>
              <a:gd name="adj" fmla="val 3448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evening</a:t>
            </a:r>
            <a:endParaRPr lang="en-US" sz="1200" dirty="0"/>
          </a:p>
        </p:txBody>
      </p:sp>
      <p:sp>
        <p:nvSpPr>
          <p:cNvPr id="43" name="R9_chip640"/>
          <p:cNvSpPr/>
          <p:nvPr/>
        </p:nvSpPr>
        <p:spPr>
          <a:xfrm>
            <a:off x="6812280" y="4050792"/>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/ðiː/ – vowel sound</a:t>
            </a:r>
            <a:endParaRPr lang="en-US" sz="1200" dirty="0"/>
          </a:p>
        </p:txBody>
      </p:sp>
      <p:sp>
        <p:nvSpPr>
          <p:cNvPr id="44" name="gq_641"/>
          <p:cNvSpPr/>
          <p:nvPr/>
        </p:nvSpPr>
        <p:spPr>
          <a:xfrm>
            <a:off x="3383280" y="4379976"/>
            <a:ext cx="3337560" cy="265176"/>
          </a:xfrm>
          <a:prstGeom prst="roundRect">
            <a:avLst>
              <a:gd name="adj" fmla="val 3448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dark</a:t>
            </a:r>
            <a:endParaRPr lang="en-US" sz="1200" dirty="0"/>
          </a:p>
        </p:txBody>
      </p:sp>
      <p:sp>
        <p:nvSpPr>
          <p:cNvPr id="45" name="R10_chip642"/>
          <p:cNvSpPr/>
          <p:nvPr/>
        </p:nvSpPr>
        <p:spPr>
          <a:xfrm>
            <a:off x="6812280" y="4379976"/>
            <a:ext cx="2057400" cy="265176"/>
          </a:xfrm>
          <a:prstGeom prst="roundRect">
            <a:avLst>
              <a:gd name="adj" fmla="val 3448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/ðə/</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3" restart="whenNotActive" fill="hold" evtFilter="cancelBubble" nodeType="interactiveSeq">
                <p:stCondLst>
                  <p:cond evt="onClick" delay="0">
                    <p:tgtEl>
                      <p:spTgt spid="17"/>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17"/>
                                        </p:tgtEl>
                                      </p:cBhvr>
                                    </p:cmd>
                                  </p:childTnLst>
                                </p:cTn>
                              </p:par>
                            </p:childTnLst>
                          </p:cTn>
                        </p:par>
                      </p:childTnLst>
                    </p:cTn>
                  </p:par>
                </p:childTnLst>
              </p:cTn>
              <p:nextCondLst>
                <p:cond evt="onClick" delay="0">
                  <p:tgtEl>
                    <p:spTgt spid="17"/>
                  </p:tgtEl>
                </p:cond>
              </p:nextCondLst>
            </p:seq>
            <p:seq concurrent="1" nextAc="seek">
              <p:cTn id="58" restart="whenNotActive" fill="hold" evtFilter="cancelBubble" nodeType="interactiveSeq">
                <p:stCondLst>
                  <p:cond evt="onClick" delay="0">
                    <p:tgtEl>
                      <p:spTgt spid="19"/>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19"/>
                                        </p:tgtEl>
                                      </p:cBhvr>
                                    </p:cmd>
                                  </p:childTnLst>
                                </p:cTn>
                              </p:par>
                            </p:childTnLst>
                          </p:cTn>
                        </p:par>
                      </p:childTnLst>
                    </p:cTn>
                  </p:par>
                </p:childTnLst>
              </p:cTn>
              <p:nextCondLst>
                <p:cond evt="onClick" delay="0">
                  <p:tgtEl>
                    <p:spTgt spid="19"/>
                  </p:tgtEl>
                </p:cond>
              </p:nextCondLst>
            </p:seq>
            <p:audio>
              <p:cMediaNode vol="80000">
                <p:cTn id="63" fill="hold" display="0">
                  <p:stCondLst>
                    <p:cond delay="indefinite"/>
                  </p:stCondLst>
                  <p:endCondLst>
                    <p:cond evt="onStopAudio" delay="0">
                      <p:tgtEl>
                        <p:sldTgt/>
                      </p:tgtEl>
                    </p:cond>
                  </p:endCondLst>
                </p:cTn>
                <p:tgtEl>
                  <p:spTgt spid="17"/>
                </p:tgtEl>
              </p:cMediaNode>
            </p:audio>
            <p:audio>
              <p:cMediaNode vol="80000">
                <p:cTn id="64" fill="hold" display="0">
                  <p:stCondLst>
                    <p:cond delay="indefinite"/>
                  </p:stCondLst>
                  <p:endCondLst>
                    <p:cond evt="onStopAudio" delay="0">
                      <p:tgtEl>
                        <p:sldTgt/>
                      </p:tgtEl>
                    </p:cond>
                  </p:endCondLst>
                </p:cTn>
                <p:tgtEl>
                  <p:spTgt spid="19"/>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44"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645"/>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Noughts and crosses</a:t>
            </a:r>
            <a:endParaRPr lang="en-US" sz="2400" dirty="0"/>
          </a:p>
        </p:txBody>
      </p:sp>
      <p:pic>
        <p:nvPicPr>
          <p:cNvPr id="6" name="brP_646"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647"/>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Choose a square. Make a sentence!</a:t>
            </a:r>
            <a:endParaRPr lang="en-US" sz="1250" dirty="0"/>
          </a:p>
        </p:txBody>
      </p:sp>
      <p:sp>
        <p:nvSpPr>
          <p:cNvPr id="8" name="insIT_6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Scegli una casella. Fai una frase!</a:t>
            </a:r>
            <a:endParaRPr lang="en-US" sz="950" dirty="0"/>
          </a:p>
        </p:txBody>
      </p:sp>
      <p:sp>
        <p:nvSpPr>
          <p:cNvPr id="9" name="cmd_649"/>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5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65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6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Grammar game · noughts and crosses</a:t>
            </a:r>
            <a:endParaRPr lang="en-US" sz="800" dirty="0"/>
          </a:p>
        </p:txBody>
      </p:sp>
      <p:sp>
        <p:nvSpPr>
          <p:cNvPr id="14" name="cd_65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5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5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5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Semibold" pitchFamily="34" charset="0"/>
                <a:ea typeface="Segoe UI Semibold" pitchFamily="34" charset="-122"/>
                <a:cs typeface="Segoe UI Semibold" pitchFamily="34" charset="-120"/>
              </a:rPr>
              <a:t>Team O or X: choose a square 1–9.</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Squadra O o X: scegliete una casella 1–9.</a:t>
            </a:r>
            <a:endParaRPr lang="en-US" sz="900" dirty="0"/>
          </a:p>
          <a:p>
            <a:pPr marL="190500" indent="-190500">
              <a:spcBef>
                <a:spcPts val="500"/>
              </a:spcBef>
              <a:spcAft>
                <a:spcPts val="200"/>
              </a:spcAft>
              <a:buSzPct val="100000"/>
              <a:buChar char="2"/>
            </a:pPr>
            <a:r>
              <a:rPr lang="en-US" sz="900" dirty="0">
                <a:solidFill>
                  <a:srgbClr val="1B2559"/>
                </a:solidFill>
                <a:latin typeface="Segoe UI Semibold" pitchFamily="34" charset="0"/>
                <a:ea typeface="Segoe UI Semibold" pitchFamily="34" charset="-122"/>
                <a:cs typeface="Segoe UI Semibold" pitchFamily="34" charset="-120"/>
              </a:rPr>
              <a:t>Make a correct sentence with the word.</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Fate una frase corretta con la parola.</a:t>
            </a:r>
            <a:endParaRPr lang="en-US" sz="900" dirty="0"/>
          </a:p>
          <a:p>
            <a:pPr marL="190500" indent="-190500">
              <a:spcBef>
                <a:spcPts val="500"/>
              </a:spcBef>
              <a:spcAft>
                <a:spcPts val="200"/>
              </a:spcAft>
              <a:buSzPct val="100000"/>
              <a:buChar char="3"/>
            </a:pPr>
            <a:r>
              <a:rPr lang="en-US" sz="900" dirty="0">
                <a:solidFill>
                  <a:srgbClr val="1B2559"/>
                </a:solidFill>
                <a:latin typeface="Segoe UI Semibold" pitchFamily="34" charset="0"/>
                <a:ea typeface="Segoe UI Semibold" pitchFamily="34" charset="-122"/>
                <a:cs typeface="Segoe UI Semibold" pitchFamily="34" charset="-120"/>
              </a:rPr>
              <a:t>Correct article = win the square!</a:t>
            </a:r>
            <a:endParaRPr lang="en-US" sz="900" dirty="0"/>
          </a:p>
          <a:p>
            <a:pPr marL="190500" indent="-190500">
              <a:spcAft>
                <a:spcPts val="200"/>
              </a:spcAft>
              <a:buSzPct val="100000"/>
              <a:buChar char=" "/>
            </a:pPr>
            <a:r>
              <a:rPr lang="en-US" sz="800" i="1" dirty="0">
                <a:solidFill>
                  <a:srgbClr val="5B6785"/>
                </a:solidFill>
                <a:latin typeface="Segoe UI Semibold" pitchFamily="34" charset="0"/>
                <a:ea typeface="Segoe UI Semibold" pitchFamily="34" charset="-122"/>
                <a:cs typeface="Segoe UI Semibold" pitchFamily="34" charset="-120"/>
              </a:rPr>
              <a:t>Articolo giusto = vincete la casella!</a:t>
            </a:r>
            <a:endParaRPr lang="en-US" sz="900" dirty="0"/>
          </a:p>
        </p:txBody>
      </p:sp>
      <p:sp>
        <p:nvSpPr>
          <p:cNvPr id="18" name="pf_658"/>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9" descr="/home/claude/lls-course/v2/cache/3b1_nought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0"/>
          <p:cNvSpPr/>
          <p:nvPr/>
        </p:nvSpPr>
        <p:spPr>
          <a:xfrm>
            <a:off x="3246120" y="140106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61"/>
          <p:cNvSpPr/>
          <p:nvPr/>
        </p:nvSpPr>
        <p:spPr>
          <a:xfrm>
            <a:off x="3657600" y="1417320"/>
            <a:ext cx="2514600" cy="296672"/>
          </a:xfrm>
          <a:prstGeom prst="roundRect">
            <a:avLst>
              <a:gd name="adj" fmla="val 30822"/>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 · moon</a:t>
            </a:r>
            <a:endParaRPr lang="en-US" sz="1100" dirty="0"/>
          </a:p>
        </p:txBody>
      </p:sp>
      <p:sp>
        <p:nvSpPr>
          <p:cNvPr id="22" name="R1_chip662"/>
          <p:cNvSpPr/>
          <p:nvPr/>
        </p:nvSpPr>
        <p:spPr>
          <a:xfrm>
            <a:off x="6263640" y="141732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moon (only one)</a:t>
            </a:r>
            <a:endParaRPr lang="en-US" sz="1100" dirty="0"/>
          </a:p>
        </p:txBody>
      </p:sp>
      <p:sp>
        <p:nvSpPr>
          <p:cNvPr id="23" name="bd_663"/>
          <p:cNvSpPr/>
          <p:nvPr/>
        </p:nvSpPr>
        <p:spPr>
          <a:xfrm>
            <a:off x="3246120" y="176174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664"/>
          <p:cNvSpPr/>
          <p:nvPr/>
        </p:nvSpPr>
        <p:spPr>
          <a:xfrm>
            <a:off x="3657600" y="1778000"/>
            <a:ext cx="2514600" cy="296672"/>
          </a:xfrm>
          <a:prstGeom prst="roundRect">
            <a:avLst>
              <a:gd name="adj" fmla="val 30822"/>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 Tuesday</a:t>
            </a:r>
            <a:endParaRPr lang="en-US" sz="1100" dirty="0"/>
          </a:p>
        </p:txBody>
      </p:sp>
      <p:sp>
        <p:nvSpPr>
          <p:cNvPr id="25" name="R2_chip665"/>
          <p:cNvSpPr/>
          <p:nvPr/>
        </p:nvSpPr>
        <p:spPr>
          <a:xfrm>
            <a:off x="6263640" y="177800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on – Tuesday (days)</a:t>
            </a:r>
            <a:endParaRPr lang="en-US" sz="1100" dirty="0"/>
          </a:p>
        </p:txBody>
      </p:sp>
      <p:sp>
        <p:nvSpPr>
          <p:cNvPr id="26" name="bd_666"/>
          <p:cNvSpPr/>
          <p:nvPr/>
        </p:nvSpPr>
        <p:spPr>
          <a:xfrm>
            <a:off x="3246120" y="212242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667"/>
          <p:cNvSpPr/>
          <p:nvPr/>
        </p:nvSpPr>
        <p:spPr>
          <a:xfrm>
            <a:off x="3657600" y="2138680"/>
            <a:ext cx="2514600" cy="296672"/>
          </a:xfrm>
          <a:prstGeom prst="roundRect">
            <a:avLst>
              <a:gd name="adj" fmla="val 30822"/>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 honest man</a:t>
            </a:r>
            <a:endParaRPr lang="en-US" sz="1100" dirty="0"/>
          </a:p>
        </p:txBody>
      </p:sp>
      <p:sp>
        <p:nvSpPr>
          <p:cNvPr id="28" name="R3_chip668"/>
          <p:cNvSpPr/>
          <p:nvPr/>
        </p:nvSpPr>
        <p:spPr>
          <a:xfrm>
            <a:off x="6263640" y="213868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an honest man (h is silent!)</a:t>
            </a:r>
            <a:endParaRPr lang="en-US" sz="1100" dirty="0"/>
          </a:p>
        </p:txBody>
      </p:sp>
      <p:sp>
        <p:nvSpPr>
          <p:cNvPr id="29" name="bd_669"/>
          <p:cNvSpPr/>
          <p:nvPr/>
        </p:nvSpPr>
        <p:spPr>
          <a:xfrm>
            <a:off x="3246120" y="248310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670"/>
          <p:cNvSpPr/>
          <p:nvPr/>
        </p:nvSpPr>
        <p:spPr>
          <a:xfrm>
            <a:off x="3657600" y="2499360"/>
            <a:ext cx="2514600" cy="296672"/>
          </a:xfrm>
          <a:prstGeom prst="roundRect">
            <a:avLst>
              <a:gd name="adj" fmla="val 30822"/>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4 · breakfast</a:t>
            </a:r>
            <a:endParaRPr lang="en-US" sz="1100" dirty="0"/>
          </a:p>
        </p:txBody>
      </p:sp>
      <p:sp>
        <p:nvSpPr>
          <p:cNvPr id="31" name="R4_chip671"/>
          <p:cNvSpPr/>
          <p:nvPr/>
        </p:nvSpPr>
        <p:spPr>
          <a:xfrm>
            <a:off x="6263640" y="249936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have – breakfast (meals)</a:t>
            </a:r>
            <a:endParaRPr lang="en-US" sz="1100" dirty="0"/>
          </a:p>
        </p:txBody>
      </p:sp>
      <p:sp>
        <p:nvSpPr>
          <p:cNvPr id="32" name="bd_672"/>
          <p:cNvSpPr/>
          <p:nvPr/>
        </p:nvSpPr>
        <p:spPr>
          <a:xfrm>
            <a:off x="3246120" y="284378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673"/>
          <p:cNvSpPr/>
          <p:nvPr/>
        </p:nvSpPr>
        <p:spPr>
          <a:xfrm>
            <a:off x="3657600" y="2860040"/>
            <a:ext cx="2514600" cy="296672"/>
          </a:xfrm>
          <a:prstGeom prst="roundRect">
            <a:avLst>
              <a:gd name="adj" fmla="val 30822"/>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5 · best pizza</a:t>
            </a:r>
            <a:endParaRPr lang="en-US" sz="1100" dirty="0"/>
          </a:p>
        </p:txBody>
      </p:sp>
      <p:sp>
        <p:nvSpPr>
          <p:cNvPr id="34" name="R5_chip674"/>
          <p:cNvSpPr/>
          <p:nvPr/>
        </p:nvSpPr>
        <p:spPr>
          <a:xfrm>
            <a:off x="6263640" y="286004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the best pizza in town</a:t>
            </a:r>
            <a:endParaRPr lang="en-US" sz="1100" dirty="0"/>
          </a:p>
        </p:txBody>
      </p:sp>
      <p:sp>
        <p:nvSpPr>
          <p:cNvPr id="35" name="bd_675"/>
          <p:cNvSpPr/>
          <p:nvPr/>
        </p:nvSpPr>
        <p:spPr>
          <a:xfrm>
            <a:off x="3246120" y="320446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676"/>
          <p:cNvSpPr/>
          <p:nvPr/>
        </p:nvSpPr>
        <p:spPr>
          <a:xfrm>
            <a:off x="3657600" y="3220720"/>
            <a:ext cx="2514600" cy="296672"/>
          </a:xfrm>
          <a:prstGeom prst="roundRect">
            <a:avLst>
              <a:gd name="adj" fmla="val 30822"/>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6 · home</a:t>
            </a:r>
            <a:endParaRPr lang="en-US" sz="1100" dirty="0"/>
          </a:p>
        </p:txBody>
      </p:sp>
      <p:sp>
        <p:nvSpPr>
          <p:cNvPr id="37" name="R6_chip677"/>
          <p:cNvSpPr/>
          <p:nvPr/>
        </p:nvSpPr>
        <p:spPr>
          <a:xfrm>
            <a:off x="6263640" y="322072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at – home / go – home</a:t>
            </a:r>
            <a:endParaRPr lang="en-US" sz="1100" dirty="0"/>
          </a:p>
        </p:txBody>
      </p:sp>
      <p:sp>
        <p:nvSpPr>
          <p:cNvPr id="38" name="bd_678"/>
          <p:cNvSpPr/>
          <p:nvPr/>
        </p:nvSpPr>
        <p:spPr>
          <a:xfrm>
            <a:off x="3246120" y="356514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679"/>
          <p:cNvSpPr/>
          <p:nvPr/>
        </p:nvSpPr>
        <p:spPr>
          <a:xfrm>
            <a:off x="3657600" y="3581400"/>
            <a:ext cx="2514600" cy="296672"/>
          </a:xfrm>
          <a:prstGeom prst="roundRect">
            <a:avLst>
              <a:gd name="adj" fmla="val 30822"/>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7 · university</a:t>
            </a:r>
            <a:endParaRPr lang="en-US" sz="1100" dirty="0"/>
          </a:p>
        </p:txBody>
      </p:sp>
      <p:sp>
        <p:nvSpPr>
          <p:cNvPr id="40" name="R7_chip680"/>
          <p:cNvSpPr/>
          <p:nvPr/>
        </p:nvSpPr>
        <p:spPr>
          <a:xfrm>
            <a:off x="6263640" y="358140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a university /juː/ · go to – university</a:t>
            </a:r>
            <a:endParaRPr lang="en-US" sz="900" dirty="0"/>
          </a:p>
        </p:txBody>
      </p:sp>
      <p:sp>
        <p:nvSpPr>
          <p:cNvPr id="41" name="bd_681"/>
          <p:cNvSpPr/>
          <p:nvPr/>
        </p:nvSpPr>
        <p:spPr>
          <a:xfrm>
            <a:off x="3246120" y="392582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682"/>
          <p:cNvSpPr/>
          <p:nvPr/>
        </p:nvSpPr>
        <p:spPr>
          <a:xfrm>
            <a:off x="3657600" y="3942080"/>
            <a:ext cx="2514600" cy="296672"/>
          </a:xfrm>
          <a:prstGeom prst="roundRect">
            <a:avLst>
              <a:gd name="adj" fmla="val 30822"/>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8 · cats (in general)</a:t>
            </a:r>
            <a:endParaRPr lang="en-US" sz="1100" dirty="0"/>
          </a:p>
        </p:txBody>
      </p:sp>
      <p:sp>
        <p:nvSpPr>
          <p:cNvPr id="43" name="R8_chip683"/>
          <p:cNvSpPr/>
          <p:nvPr/>
        </p:nvSpPr>
        <p:spPr>
          <a:xfrm>
            <a:off x="6263640" y="394208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like – cats.</a:t>
            </a:r>
            <a:endParaRPr lang="en-US" sz="1100" dirty="0"/>
          </a:p>
        </p:txBody>
      </p:sp>
      <p:sp>
        <p:nvSpPr>
          <p:cNvPr id="44" name="bd_684"/>
          <p:cNvSpPr/>
          <p:nvPr/>
        </p:nvSpPr>
        <p:spPr>
          <a:xfrm>
            <a:off x="3246120" y="428650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9</a:t>
            </a:r>
            <a:endParaRPr lang="en-US" sz="1100" dirty="0"/>
          </a:p>
        </p:txBody>
      </p:sp>
      <p:sp>
        <p:nvSpPr>
          <p:cNvPr id="45" name="gq_685"/>
          <p:cNvSpPr/>
          <p:nvPr/>
        </p:nvSpPr>
        <p:spPr>
          <a:xfrm>
            <a:off x="3657600" y="4302760"/>
            <a:ext cx="2514600" cy="296672"/>
          </a:xfrm>
          <a:prstGeom prst="roundRect">
            <a:avLst>
              <a:gd name="adj" fmla="val 30822"/>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9 · hour</a:t>
            </a:r>
            <a:endParaRPr lang="en-US" sz="1100" dirty="0"/>
          </a:p>
        </p:txBody>
      </p:sp>
      <p:sp>
        <p:nvSpPr>
          <p:cNvPr id="46" name="R9_chip686"/>
          <p:cNvSpPr/>
          <p:nvPr/>
        </p:nvSpPr>
        <p:spPr>
          <a:xfrm>
            <a:off x="6263640" y="4302760"/>
            <a:ext cx="2560320" cy="296672"/>
          </a:xfrm>
          <a:prstGeom prst="roundRect">
            <a:avLst>
              <a:gd name="adj" fmla="val 30822"/>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an hour (h is silent!)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8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8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8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90"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91"/>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9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meta_693"/>
          <p:cNvSpPr/>
          <p:nvPr/>
        </p:nvSpPr>
        <p:spPr>
          <a:xfrm>
            <a:off x="6510528" y="182880"/>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94"/>
          <p:cNvSpPr/>
          <p:nvPr/>
        </p:nvSpPr>
        <p:spPr>
          <a:xfrm>
            <a:off x="6510528" y="420624"/>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Exit · what can you remember?</a:t>
            </a:r>
            <a:endParaRPr lang="en-US" sz="800" dirty="0"/>
          </a:p>
        </p:txBody>
      </p:sp>
      <p:sp>
        <p:nvSpPr>
          <p:cNvPr id="13" name="bd_697"/>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98"/>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results from the article: true or not true?</a:t>
            </a:r>
            <a:endParaRPr lang="en-US" sz="1400" dirty="0"/>
          </a:p>
        </p:txBody>
      </p:sp>
      <p:sp>
        <p:nvSpPr>
          <p:cNvPr id="15" name="bd_699"/>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700"/>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phrases for generalizing: Generally speaking…</a:t>
            </a:r>
            <a:endParaRPr lang="en-US" sz="1400" dirty="0"/>
          </a:p>
        </p:txBody>
      </p:sp>
      <p:sp>
        <p:nvSpPr>
          <p:cNvPr id="17" name="bd_701"/>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702"/>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 about men or women – with NO 'the'!</a:t>
            </a:r>
            <a:endParaRPr lang="en-US" sz="1400" dirty="0"/>
          </a:p>
        </p:txBody>
      </p:sp>
      <p:sp>
        <p:nvSpPr>
          <p:cNvPr id="19" name="cd_703"/>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04"/>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05"/>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06"/>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3B: 1a, 1b, 1c, 2a</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Grammar Bank 3B p.137: a 6–10, b 5–9</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3" name="st_707"/>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3B part 2 · Pink and blue · dependent prepositions (audio 3.24)</a:t>
            </a:r>
            <a:endParaRPr lang="en-US" sz="11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0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0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71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711"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712"/>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71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71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71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71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71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1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Review · what did you do today?</a:t>
            </a:r>
            <a:endParaRPr lang="en-US" sz="800" dirty="0"/>
          </a:p>
        </p:txBody>
      </p:sp>
      <p:sp>
        <p:nvSpPr>
          <p:cNvPr id="14" name="cd_719"/>
          <p:cNvSpPr/>
          <p:nvPr/>
        </p:nvSpPr>
        <p:spPr>
          <a:xfrm>
            <a:off x="548640" y="1417320"/>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720"/>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721"/>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what you think about men and women</a:t>
            </a:r>
            <a:endParaRPr lang="en-US" sz="1350" dirty="0"/>
          </a:p>
        </p:txBody>
      </p:sp>
      <p:sp>
        <p:nvSpPr>
          <p:cNvPr id="17" name="R1_tk722"/>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723"/>
          <p:cNvSpPr/>
          <p:nvPr/>
        </p:nvSpPr>
        <p:spPr>
          <a:xfrm>
            <a:off x="548640" y="2020824"/>
            <a:ext cx="6035040" cy="530352"/>
          </a:xfrm>
          <a:prstGeom prst="roundRect">
            <a:avLst>
              <a:gd name="adj" fmla="val 24138"/>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724"/>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725"/>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what scientists discovered</a:t>
            </a:r>
            <a:endParaRPr lang="en-US" sz="1350" dirty="0"/>
          </a:p>
        </p:txBody>
      </p:sp>
      <p:sp>
        <p:nvSpPr>
          <p:cNvPr id="21" name="R2_tk726"/>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727"/>
          <p:cNvSpPr/>
          <p:nvPr/>
        </p:nvSpPr>
        <p:spPr>
          <a:xfrm>
            <a:off x="548640" y="2624328"/>
            <a:ext cx="6035040" cy="530352"/>
          </a:xfrm>
          <a:prstGeom prst="roundRect">
            <a:avLst>
              <a:gd name="adj" fmla="val 24138"/>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728"/>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729"/>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Used a / an, the or no article</a:t>
            </a:r>
            <a:endParaRPr lang="en-US" sz="1350" dirty="0"/>
          </a:p>
        </p:txBody>
      </p:sp>
      <p:sp>
        <p:nvSpPr>
          <p:cNvPr id="25" name="R3_tk730"/>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731"/>
          <p:cNvSpPr/>
          <p:nvPr/>
        </p:nvSpPr>
        <p:spPr>
          <a:xfrm>
            <a:off x="548640" y="3227832"/>
            <a:ext cx="6035040" cy="530352"/>
          </a:xfrm>
          <a:prstGeom prst="roundRect">
            <a:avLst>
              <a:gd name="adj" fmla="val 24138"/>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732"/>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733"/>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9" name="R4_tk734"/>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735"/>
          <p:cNvSpPr/>
          <p:nvPr/>
        </p:nvSpPr>
        <p:spPr>
          <a:xfrm>
            <a:off x="548640" y="3831336"/>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736"/>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737"/>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"the" in two different ways</a:t>
            </a:r>
            <a:endParaRPr lang="en-US" sz="1350" dirty="0"/>
          </a:p>
        </p:txBody>
      </p:sp>
      <p:sp>
        <p:nvSpPr>
          <p:cNvPr id="33" name="R5_tk738"/>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739"/>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4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741"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742"/>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743"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744"/>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word. Don't say it!</a:t>
            </a:r>
            <a:endParaRPr lang="en-US" sz="1250" dirty="0"/>
          </a:p>
        </p:txBody>
      </p:sp>
      <p:sp>
        <p:nvSpPr>
          <p:cNvPr id="8" name="insIT_7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la parola. Non dirla!</a:t>
            </a:r>
            <a:endParaRPr lang="en-US" sz="950" dirty="0"/>
          </a:p>
        </p:txBody>
      </p:sp>
      <p:sp>
        <p:nvSpPr>
          <p:cNvPr id="9" name="cmd_74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747"/>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748"/>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7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3B-1 · Vocabulary game</a:t>
            </a:r>
            <a:endParaRPr lang="en-US" sz="800" dirty="0"/>
          </a:p>
        </p:txBody>
      </p:sp>
      <p:sp>
        <p:nvSpPr>
          <p:cNvPr id="14" name="st_751"/>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752"/>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75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75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755"/>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1000" dirty="0"/>
          </a:p>
          <a:p>
            <a:pPr marL="190500" indent="-190500">
              <a:spcBef>
                <a:spcPts val="500"/>
              </a:spcBef>
              <a:spcAft>
                <a:spcPts val="200"/>
              </a:spcAft>
              <a:buSzPct val="100000"/>
              <a:buChar char="2"/>
            </a:pPr>
            <a:r>
              <a:rPr lang="en-US" sz="1000" dirty="0">
                <a:solidFill>
                  <a:srgbClr val="1B2559"/>
                </a:solidFill>
                <a:latin typeface="Segoe UI Semibold" pitchFamily="34" charset="0"/>
                <a:ea typeface="Segoe UI Semibold" pitchFamily="34" charset="-122"/>
                <a:cs typeface="Segoe UI Semibold" pitchFamily="34" charset="-120"/>
              </a:rPr>
              <a:t>A explains: It's a… / It's the… Don't say it!</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A spiega: It's a… / It's the… Non dirla!</a:t>
            </a:r>
            <a:endParaRPr lang="en-US" sz="1000" dirty="0"/>
          </a:p>
          <a:p>
            <a:pPr marL="190500" indent="-190500">
              <a:spcBef>
                <a:spcPts val="500"/>
              </a:spcBef>
              <a:spcAft>
                <a:spcPts val="200"/>
              </a:spcAft>
              <a:buSzPct val="100000"/>
              <a:buChar char="3"/>
            </a:pPr>
            <a:r>
              <a:rPr lang="en-US" sz="1000" dirty="0">
                <a:solidFill>
                  <a:srgbClr val="1B2559"/>
                </a:solidFill>
                <a:latin typeface="Segoe UI Semibold" pitchFamily="34" charset="0"/>
                <a:ea typeface="Segoe UI Semibold" pitchFamily="34" charset="-122"/>
                <a:cs typeface="Segoe UI Semibold" pitchFamily="34" charset="-120"/>
              </a:rPr>
              <a:t>B guesses. Then swap.</a:t>
            </a:r>
            <a:endParaRPr lang="en-US" sz="1000" dirty="0"/>
          </a:p>
          <a:p>
            <a:pPr marL="190500" indent="-190500">
              <a:spcAft>
                <a:spcPts val="200"/>
              </a:spcAft>
              <a:buSzPct val="100000"/>
              <a:buChar char=" "/>
            </a:pPr>
            <a:r>
              <a:rPr lang="en-US" sz="900" i="1" dirty="0">
                <a:solidFill>
                  <a:srgbClr val="5B6785"/>
                </a:solidFill>
                <a:latin typeface="Segoe UI Semibold" pitchFamily="34" charset="0"/>
                <a:ea typeface="Segoe UI Semibold" pitchFamily="34" charset="-122"/>
                <a:cs typeface="Segoe UI Semibold" pitchFamily="34" charset="-120"/>
              </a:rPr>
              <a:t>B indovina. Poi scambiatevi.</a:t>
            </a:r>
            <a:endParaRPr lang="en-US" sz="1000" dirty="0"/>
          </a:p>
        </p:txBody>
      </p:sp>
      <p:sp>
        <p:nvSpPr>
          <p:cNvPr id="19" name="pf_756"/>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757" descr="/home/claude/lls-course/v2/cache/3b1_nurs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rl_758"/>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2" name="R1_w759"/>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lawyer</a:t>
            </a:r>
            <a:endParaRPr lang="en-US" sz="1700" dirty="0"/>
          </a:p>
        </p:txBody>
      </p:sp>
      <p:sp>
        <p:nvSpPr>
          <p:cNvPr id="23" name="R3_w760"/>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the moon</a:t>
            </a:r>
            <a:endParaRPr lang="en-US" sz="1700" dirty="0"/>
          </a:p>
        </p:txBody>
      </p:sp>
      <p:sp>
        <p:nvSpPr>
          <p:cNvPr id="24" name="R5_w761"/>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stereotype</a:t>
            </a:r>
            <a:endParaRPr lang="en-US" sz="1700" dirty="0"/>
          </a:p>
        </p:txBody>
      </p:sp>
      <p:sp>
        <p:nvSpPr>
          <p:cNvPr id="25" name="R7_w762"/>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breakfast</a:t>
            </a:r>
            <a:endParaRPr lang="en-US" sz="1700" dirty="0"/>
          </a:p>
        </p:txBody>
      </p:sp>
      <p:sp>
        <p:nvSpPr>
          <p:cNvPr id="26" name="rl_763"/>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7" name="R2_w764"/>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nurse</a:t>
            </a:r>
            <a:endParaRPr lang="en-US" sz="1700" dirty="0"/>
          </a:p>
        </p:txBody>
      </p:sp>
      <p:sp>
        <p:nvSpPr>
          <p:cNvPr id="28" name="R4_w765"/>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the internet</a:t>
            </a:r>
            <a:endParaRPr lang="en-US" sz="1700" dirty="0"/>
          </a:p>
        </p:txBody>
      </p:sp>
      <p:sp>
        <p:nvSpPr>
          <p:cNvPr id="29" name="R6_w766"/>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joke</a:t>
            </a:r>
            <a:endParaRPr lang="en-US" sz="1700" dirty="0"/>
          </a:p>
        </p:txBody>
      </p:sp>
      <p:sp>
        <p:nvSpPr>
          <p:cNvPr id="30" name="R8_w767"/>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sense of direction</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6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25</a:t>
            </a:r>
            <a:endParaRPr lang="en-US" sz="2200" dirty="0"/>
          </a:p>
        </p:txBody>
      </p:sp>
      <p:pic>
        <p:nvPicPr>
          <p:cNvPr id="4" name="brY_769"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770"/>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Generally speaking…</a:t>
            </a:r>
            <a:endParaRPr lang="en-US" sz="2400" dirty="0"/>
          </a:p>
        </p:txBody>
      </p:sp>
      <p:pic>
        <p:nvPicPr>
          <p:cNvPr id="6" name="brP_771"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772"/>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Agree or disagree? Give a reason!</a:t>
            </a:r>
            <a:endParaRPr lang="en-US" sz="1250" dirty="0"/>
          </a:p>
        </p:txBody>
      </p:sp>
      <p:sp>
        <p:nvSpPr>
          <p:cNvPr id="8" name="insIT_77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D'accordo o no? Dai un motivo!</a:t>
            </a:r>
            <a:endParaRPr lang="en-US" sz="950" dirty="0"/>
          </a:p>
        </p:txBody>
      </p:sp>
      <p:sp>
        <p:nvSpPr>
          <p:cNvPr id="9" name="cmd_774"/>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77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77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77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78"/>
          <p:cNvSpPr/>
          <p:nvPr/>
        </p:nvSpPr>
        <p:spPr>
          <a:xfrm>
            <a:off x="274320" y="4873752"/>
            <a:ext cx="6858000" cy="219456"/>
          </a:xfrm>
          <a:prstGeom prst="rect">
            <a:avLst/>
          </a:prstGeom>
          <a:noFill/>
          <a:ln/>
        </p:spPr>
        <p:txBody>
          <a:bodyPr wrap="square" lIns="0" tIns="0" rIns="0" bIns="0" rtlCol="0" anchor="ctr"/>
          <a:lstStyle/>
          <a:p>
            <a:pPr indent="0" marL="0">
              <a:buNone/>
            </a:pPr>
            <a:r>
              <a:rPr lang="en-US" sz="700" dirty="0">
                <a:solidFill>
                  <a:srgbClr val="5B6785"/>
                </a:solidFill>
                <a:latin typeface="Segoe UI Semibold" pitchFamily="34" charset="0"/>
                <a:ea typeface="Segoe UI Semibold" pitchFamily="34" charset="-122"/>
                <a:cs typeface="Segoe UI Semibold" pitchFamily="34" charset="-120"/>
              </a:rPr>
              <a:t>3B-1 · Speaking · Generally speaking…   ·   📖 Communicative photocopiable 3B 'Generally speaking' (5 of the 12 cards) · B1_3B_Photocopiables.pdf p.3</a:t>
            </a:r>
            <a:endParaRPr lang="en-US" sz="700" dirty="0"/>
          </a:p>
        </p:txBody>
      </p:sp>
      <p:sp>
        <p:nvSpPr>
          <p:cNvPr id="14" name="st_779"/>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780"/>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781" descr="/home/claude/lls-course/v2/cache/3b1_cat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782"/>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783"/>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784"/>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785"/>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Generally speaking, … · On the whole, …</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 agree / I don't agree because…</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Personally, I think…</a:t>
            </a:r>
            <a:endParaRPr lang="en-US" sz="900" dirty="0"/>
          </a:p>
        </p:txBody>
      </p:sp>
      <p:sp>
        <p:nvSpPr>
          <p:cNvPr id="21" name="R1_qb786"/>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787"/>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Cats make the best pets.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don't agree. Generally speaking, dogs are friendlier than cats.</a:t>
            </a:r>
            <a:endParaRPr lang="en-US" sz="1250" dirty="0"/>
          </a:p>
        </p:txBody>
      </p:sp>
      <p:sp>
        <p:nvSpPr>
          <p:cNvPr id="23" name="R2_qb788"/>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789"/>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Designer clothes are a waste of money.</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On the whole, I agree – they're too expensive.</a:t>
            </a:r>
            <a:endParaRPr lang="en-US" sz="1250" dirty="0"/>
          </a:p>
        </p:txBody>
      </p:sp>
      <p:sp>
        <p:nvSpPr>
          <p:cNvPr id="25" name="R3_qb790"/>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791"/>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Young people today have easier lives than their parents.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think it's partly true. We have phones, but school is harder!</a:t>
            </a:r>
            <a:endParaRPr lang="en-US" sz="1250" dirty="0"/>
          </a:p>
        </p:txBody>
      </p:sp>
      <p:sp>
        <p:nvSpPr>
          <p:cNvPr id="27" name="R4_qb792"/>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793"/>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Food that tastes good is usually bad for you.</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Not always – pasta with sardines is good AND healthy!</a:t>
            </a:r>
            <a:endParaRPr lang="en-US" sz="1250" dirty="0"/>
          </a:p>
        </p:txBody>
      </p:sp>
      <p:sp>
        <p:nvSpPr>
          <p:cNvPr id="29" name="R5_qb794"/>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795"/>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School friends are for life.</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I agree. My dad still sees his school friends every week.</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3B-1 Men, women, and children</dc:title>
  <dc:subject>PptxGenJS Presentation</dc:subject>
  <dc:creator>PptxGenJS</dc:creator>
  <cp:lastModifiedBy>PptxGenJS</cp:lastModifiedBy>
  <cp:revision>1</cp:revision>
  <dcterms:created xsi:type="dcterms:W3CDTF">2026-10-15T08:39:05Z</dcterms:created>
  <dcterms:modified xsi:type="dcterms:W3CDTF">2026-10-15T08:39:05Z</dcterms:modified>
</cp:coreProperties>
</file>