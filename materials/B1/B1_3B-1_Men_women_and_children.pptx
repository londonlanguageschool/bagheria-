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mp3" ContentType="audio/mpeg"/>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Lst>
  <p:notesMasterIdLst>
    <p:notesMasterId r:id="rId28"/>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notesMaster" Target="notesMasters/notesMaster1.xml"/><Relationship Id="rId29" Type="http://schemas.openxmlformats.org/officeDocument/2006/relationships/presProps" Target="presProps.xml"/><Relationship Id="rId30" Type="http://schemas.openxmlformats.org/officeDocument/2006/relationships/viewProps" Target="viewProps.xml"/><Relationship Id="rId31" Type="http://schemas.openxmlformats.org/officeDocument/2006/relationships/theme" Target="theme/theme1.xml"/><Relationship Id="rId32"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OPENING (2 min)
OPENING (2 min). Show the photo (two friends chatting at a café). Ask the THINK question; quick show of hands: true / myth? Click 1 = the example answer – students use it as a model: 2–3 students answer. Don't confirm – the article will tell us (paragraph 2). TG lead-in (optional, 30 sec): write 'A fixed idea about a type of person, which is often not true' and elicit STEREOTYPE /ˈsteriətaɪp/ (stereotipo). Read the 'Today you're going to…' list together. Keep the topic light: research and generalizations, never comments about a student in the room.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 Revision · last lesson (2 min)
REVISION (2 min) before the warmer game. Read the examples with the class. Ask: 'Two things or all the group?' → comparative or superlative. Point at the arrows: than / as … as / the. Elicit one more example from a student (e.g. 'A scooter is cheaper than a car'). Then play 'Remember the research!' – the answers use exactly these forms and the facts from audio 3.16 (1 feeling emotional … 6 adjusting the radio … 8 talking to a passenger).
HOW TO RUN IT (active recap): pairs. Words: A points at a word, B says what it means (⭐); then a sentence with it (⭐⭐); strong students make it negative or a question (⭐⭐⭐). Grammar: pairs make their own example for each use (offer, plan…) BEFORE you click – then click to show the model answers.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 Warmer · last lesson (3 min)
RETRIEVAL WARMER (3 min). Two teams, books closed. Read each clue; teams have 15 seconds to say the full sentence. 1 point for the right fact (from audio 3.16: 1 feeling emotional · 2 reaching for something · 3 looking at something by the road · 4 adjusting the satnav · 5 feeling tired · 6 adjusting the radio · 7 eating or drinking · 8 talking to a passenger) + 1 point for a correct form (than / as … as / the most). Click once per clue to show a model. Item 6 is personal: any correct comparative adverb wins (more carefully, faster, more slowly). ICQ: 'One word or a full sentence?' (full sentence).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 Speaking · generalizing (4 min)
GENERALIZING (4 min). These phrases help us talk about groups of people without sounding rude. Pairs guess the missing words first (30 sec). Play 3.17, pausing after each speaker. Click once per gap. Answers (TG / audio script): 1 speaking · 2 on (the whole) · tend (to have) · 3 (in) general · usually. Check: hypochondriac /haɪpəˈkɒndriæk/ = someone who always thinks they're ill (ipocondriaco); appearance = how you look. Quick vote after each speaker: agree or disagree? NOTICE (don't teach yet): 'women worry…', 'men worry…' – no 'the'! Speaker 2 says 'participate in sport' – the slide says 'do sport' to keep it short.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 Speaking · do you think it's true? (5 min)
SPEAKING (5 min). Pre-teach with gestures / the photo: navigate (= find the way: orientarsi), multitask (= do many things at the same time), caring (= kind, looks after people: premuroso). Groups of 3. Statements appear ONE PER CLICK: about 45 seconds each, then click. Every group must decide a), b) or c) and give a reason – no 'it depends' on the first turn! They MUST start with a phrase from the box. Monitor: correct 'The men…' / 'The women…' → 'Men…' / 'Women…' (preview of today's grammar – just echo the right form). DON'T give the answers: statements 1–5 are the headings of the article on the next slides. Feedback: quick vote on 2 statements. Sensitive: keep it general and light.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 Reading · prediction (2 min)
PREDICTION (2 min). Read the introduction aloud (the slide shortens it slightly; full text SB p.30: '…But can we really believe the results of these studies? Here are five more stereotypes which researchers claim are true.'). Check: prove = show that something is true (dimostrare) · assemble IKEA furniture = put it together (montare i mobili) · claim = say something is true (sostenere). Ask: 'So, which five stereotypes do the researchers say are TRUE?' Pairs look back at slide 5 and guess. Point at the number bank: 'These numbers are in the article – you'll find them later (slide 11).' ICQ: 'Are you reading the article now?' (no, only the introduction).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7. Reading · paragraphs 1–2 (3 min)
GIST READING (3 min for slides 7–9 together: give 4 minutes' reading time in total, then check). Students read alone and choose the heading for each paragraph from the statements on slide 5 (show it again if needed). Pairs compare. Click once per paragraph: the heading appears IN the text. Answers (TG): 1 Men are better at navigating than women. 2 Women talk more than men. Vocabulary: virtual maze = labirinto virtuale · sense of direction = senso dell'orientamento · protein /ˈprəʊtiːn/. ICQ: 'Do you need to understand every word?' (no – just find the heading).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8. Reading · paragraphs 3–4 (2 min)
GIST READING (continued). Same procedure; click once per paragraph. Answers (TG): 3 Women are more caring than men. 4 Women can multitask better than men. Note the photo: a dad caring for his baby – the research is about feelings for a PARTNER. 'it turned out' (paragraph 4) comes back on slide 11.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9. Reading · paragraph 5 (2 min)
GIST READING (end). Click 1 = heading 5. Answer (TG): 5 Men are better at telling jokes than women. Then read the last paragraph together: 'Which of OUR statements are NOT true?' – the next slide checks this. Back to the opening question: women DO talk more, according to this research (paragraph 2). Picture = placeholder until the owner supplies 3b1-jokes.jpg.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10. Reading · detail (3 min)
DETAIL (3 min). Pairs answer from the article (slides 7–9 – go back if they ask). Demo 0 with the class. Click once per item. Answers: items 1–4 from 'And some that aren't true…': men make worse bosses · women are no worse at mathematics · women are just as competitive and aggressive as men · men are more likely to panic in stressful conditions. Items 5–7 = SB 1d (TG): a with animals → 2 · b questionnaires → 3 · c practical experiments → 1, 4, 5 (virtual maze; three tasks in eight minutes; captions for New Yorker cartoons). Insist on 'why': students quote the words in the text.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11. Reading · words from the article (2 min)
SCAN RACE (2 min). Pairs race: the first pair to shout the right word wins the point. Click once per item. Answers (TG 1e): 1 show · 2 discover · 3 argue · 4 turn out. Items 5–6 = scan for detail. WARNING: argue here = sostenere (give reasons), not only 'litigare'. Next slide = the Italian for slower students.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12. Vocabulary · in Italian (2 min)
CONSOLIDATION for slower students (2 min). Class says the Italian aloud for each word, then click once per word to show its Italian. Spend 20 seconds on the warning line. Quick check: 'Generally speaking = in generale or nel complesso?' (both are close – fine!). 'Men tend to ___ (talk) less' → to talk.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13. Speaking · react to the article (3 min)
SPEAKING · RESPONSE (3 min). Questions appear ONE PER CLICK (about 35 seconds each). Pairs answer with an example, then ask 'And you?'. Q5 = SB 1f (think of more stereotypes). Monitor: collect 3–4 article mistakes ('the men', 'is engineer') for the grammar that follows – write them on the side of the board. Feedback: one funny answer for Q4.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14. Grammar · four jokes (2 min)
GRAMMAR · TEST FIRST (2 min, with the next slide 4 min). Pairs write a, an, the or – (no article) in gaps 1–5. Don't explain the rules yet. Play 3.18 (jokes 1–2), then click once per line: the answer appears highlighted IN the joke. Answers (TG): 1 – · 2 – · 3 A · 4 a · 5 a. Check: – = no article · charge = far pagare. Check the jokes are understood: 'Why is the lawyer's answer funny?' (the man's question WAS his second question!). ICQ: 'What does – mean?' (no article).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15. Grammar · four jokes (2 min)
GRAMMAR · TEST FIRST (2 min). Same procedure, gaps 6–11. Play 3.18 (jokes 3–4). Click once per line. Answers (TG): 6 an · 7 the · 8 the · 9 – · 10 a · 11 –. Ask: 'Which joke is the funniest?' (SB 2b). explosives = esplosivi. Volunteers can act out a joke (fun, and they produce the articles). Picture = placeholder until the owner supplies 3b1-girl-dad.jpg (a child telling a parent something).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16. Grammar · why? (3 min)
GUIDED DISCOVERY (3 min). Pairs match a–f to the five colours. Click once per sentence. Answers: a a/an – one man, one lawyer, we mention them for the first time · b no article – girls and boys IN GENERAL · c the – we know which window (the doctor's window) · d no article – at school / at home / at work · e the – there is only one moon · f a/an – one (great) day. CCQs: 'Girls are cleverer – which girls? Our class?' (no, all girls in general) · 'the window – any window?' (no, the window of this room). Sentence e is from Grammar Bank audio 3.20.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17. Grammar · the rule (3 min)
RULE (3 min). Click once per column: the examples and the Italian appear. Optional: play 3.20 (embedded) and 3.19, 3.21 from the book audio (Grammar Bank: listen and repeat, copy the rhythm). an + vowel SOUND: an eye, an hour (silent h) – but a university. Rules (GB): a / an = singular countable noun mentioned for the first time, jobs, What a…!, frequency (three times a week). the = it's clear which one (mentioned before, or only one: the moon, the Earth), places in town (the cinema, the theatre), superlatives (the best). No article = plural / uncountable nouns in general (love, money, men, cats), home / work / school / bed, meals, days, next / last week. Last click = the Italian-speaker warning – the BIG one: Gli uomini amano il calcio → Men love football. CCQ: 'I love ___ pizza' (– general) vs '___ pizza in this restaurant is great' (the – this 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18. Speaking · class story (TPRS) (4 min)
TPRS CLASS STORY (4 min) – it comes straight after the rule, so the three uses are clear; now students HEAR a / an, the and no article 15–20 times in a silly story before they have to spot mistakes in 'Fix the article!' and choose articles in 'Noughts and crosses'. It recycles a / an for something new and for jobs (an engineer), the for something we know (the cat, the man) or only one (the moon), places in town (the cinema), no article for things in general (cats, films), at home / to work, and generally speaking from the start of the lesson. Click once per line. For each line: 1) say it, stressing the article a little, 2) ask the questions in grey round the class (yes/no → either/or → who/what/where), 3) let the CLASS change details: 'Is it a cat? No? What animal is it?' – accept their idea and use it in later lines (a dog → 'Generally speaking, dogs…'). Students answer with one word or a short phrase ('At the cinema!' 'An engineer!') – that's fine, but listen for the article and echo the right one ('She's lawyer' → 'A lawyer!'). Finish: 'What happens next?' – one or two ideas, then move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19. Grammar game (4 min)
GAME (4 min). Two teams. Read each sentence; teams have 15 seconds to find and fix the article mistake (every sentence has one; 6 has two). Click to show the correct sentence. Bonus point if they say WHY (general / job / only one / home / What a…! / places in town + frequency). ICQ: 'Is every sentence wrong?' (yes). Typical Italian errors – exaggerate the correction on item 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20. Pronunciation · the (3 min)
PRONUNCIATION (3 min). First, 30 seconds of /ə/ (SB 3a, audio 3.22): computer – the o and the er are /ə/; listen and repeat: a, about, accident, future, internet, important, person, question. /ə/ is the most common sound in English (unstressed). Then 3b: model /ðə/ (the cinema) and /ðiː/ (the office). Pairs guess for each phrase. Play 3.23, pausing. Click once per phrase. Answers (TG): /ðiː/ = the office, the Underground, the internet, the accident, the evening (the noun starts with a VOWEL SOUND). Exception: the universe = /ðə/ because it starts with the sound /j/. Same rule as a / an: an office, an evening, but a university. 3c drill: the other day · the only way · the end of the world (= not a disaster) · the average person · the important thing – all /ðiː/.</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21. Grammar game · noughts and crosses (4 min)
GAME (4 min). Draw a 3×3 grid with the numbers 1–9 on the board. Team O and team X take turns: choose a square and make a sentence with that word in 20 seconds (the team can help). The square is won only if the WHOLE sentence is correct, including the article. Three in a row wins; play 2 rounds if there's time. Click the number to show the expected article (any correct sentence wins). Traps: 3 and 9 (silent h → an), 7 (university = /juː/ → a, and /ðə/!) – they link to the pronunciation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22. Exit · what can you remember? (2 min)
RETRIEVAL EXIT (2 min). Books closed. Pairs: 3 research results (e.g. men are better at navigating; men make worse bosses), 2 generalizing phrases, 1 sentence like 'Generally speaking, men…' (no 'the'!). A few students share. Set homework (on the slide and in the app; an easier version of the sheet is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23. Review · what did you do today? (1 min)
TODAY YOU… (1 min). Read each line (one per click: the tick appears). Students show thumbs up / middle / down: can they do it now? Note any thumbs down for the next lesson's recap.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24. OPTIONAL EXTENSIONS
The lesson ended on the previous slide ("Today you…"). Use the next slides only if there is time left, or keep them for a quick start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25. Vocabulary game (3 min)
EXTRA GAME (3 min, if there's time). Variation of 'Describe it!' that practises articles: A must say 'It's a person who…', 'It's the thing that…', 'It's something you…'. Demo: 'There's only one. It's in the sky at night.' → the moon. Click to show each word. 20 seconds per word. ICQ: 'Can you say the word?' (no).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26. Speaking · Generally speaking… (5 min)
EXTRA SPEAKING (5 min, if there's time). Statements from the Communicative photocopiable 3B (cards). One per click; groups give their opinion, then the others react. Monitor and correct 'the' with general nouns (✗ The cats make… → ✓ Cats make…). Feedback: generally speaking, does the class agree? If you have printed the photocopiable (p.3, 12 cards), groups can use the cards instead.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Slide-1-image-1.jpe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5.png"/><Relationship Id="rId6" Type="http://schemas.openxmlformats.org/officeDocument/2006/relationships/slideLayout" Target="../slideLayouts/slideLayout1.xml"/><Relationship Id="rId7"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Slide-2-image-1.jpe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image" Target="../media/image-2-5.png"/><Relationship Id="rId6" Type="http://schemas.openxmlformats.org/officeDocument/2006/relationships/slideLayout" Target="../slideLayouts/slideLayout1.xml"/><Relationship Id="rId7"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Slide-3-image-1.jpe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image" Target="../media/image-3-5.png"/><Relationship Id="rId6" Type="http://schemas.openxmlformats.org/officeDocument/2006/relationships/slideLayout" Target="../slideLayouts/slideLayout1.xml"/><Relationship Id="rId7"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Slide-4-image-1.jpe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audio" Target="../media/media-4-5.mp3"/><Relationship Id="rId6" Type="http://schemas.microsoft.com/office/2007/relationships/media" Target="../media/media-4-5.mp3"/><Relationship Id="rId7" Type="http://schemas.openxmlformats.org/officeDocument/2006/relationships/image" Target="../media/image-4-7.png"/><Relationship Id="rId8" Type="http://schemas.openxmlformats.org/officeDocument/2006/relationships/audio" Target="../media/media-4-8.mp3"/><Relationship Id="rId9" Type="http://schemas.microsoft.com/office/2007/relationships/media" Target="../media/media-4-8.mp3"/><Relationship Id="rId10" Type="http://schemas.openxmlformats.org/officeDocument/2006/relationships/image" Target="../media/image-4-10.png"/><Relationship Id="rId11" Type="http://schemas.openxmlformats.org/officeDocument/2006/relationships/image" Target="../media/image-4-11.png"/><Relationship Id="rId12" Type="http://schemas.openxmlformats.org/officeDocument/2006/relationships/slideLayout" Target="../slideLayouts/slideLayout1.xml"/><Relationship Id="rId1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Slide-5-image-1.jpe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image" Target="../media/image-5-4.png"/><Relationship Id="rId5" Type="http://schemas.openxmlformats.org/officeDocument/2006/relationships/image" Target="../media/image-5-5.png"/><Relationship Id="rId6" Type="http://schemas.openxmlformats.org/officeDocument/2006/relationships/image" Target="../media/image-5-6.png"/><Relationship Id="rId7" Type="http://schemas.openxmlformats.org/officeDocument/2006/relationships/image" Target="../media/image-5-7.png"/><Relationship Id="rId8" Type="http://schemas.openxmlformats.org/officeDocument/2006/relationships/slideLayout" Target="../slideLayouts/slideLayout1.xml"/><Relationship Id="rId9"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Slide-6-image-1.jpe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image" Target="../media/image-6-5.png"/><Relationship Id="rId6" Type="http://schemas.openxmlformats.org/officeDocument/2006/relationships/slideLayout" Target="../slideLayouts/slideLayout1.xml"/><Relationship Id="rId7"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Slide-7-image-1.jpe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image" Target="../media/image-7-4.png"/><Relationship Id="rId5" Type="http://schemas.openxmlformats.org/officeDocument/2006/relationships/image" Target="../media/image-7-5.png"/><Relationship Id="rId6" Type="http://schemas.openxmlformats.org/officeDocument/2006/relationships/slideLayout" Target="../slideLayouts/slideLayout1.xml"/><Relationship Id="rId7"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Slide-8-image-1.jpe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image" Target="../media/image-8-4.png"/><Relationship Id="rId5" Type="http://schemas.openxmlformats.org/officeDocument/2006/relationships/image" Target="../media/image-8-5.png"/><Relationship Id="rId6" Type="http://schemas.openxmlformats.org/officeDocument/2006/relationships/slideLayout" Target="../slideLayouts/slideLayout1.xml"/><Relationship Id="rId7"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Slide-9-image-1.jpe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image" Target="../media/image-9-4.png"/><Relationship Id="rId5" Type="http://schemas.openxmlformats.org/officeDocument/2006/relationships/image" Target="../media/image-9-5.png"/><Relationship Id="rId6" Type="http://schemas.openxmlformats.org/officeDocument/2006/relationships/slideLayout" Target="../slideLayouts/slideLayout1.xml"/><Relationship Id="rId7"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Slide-10-image-1.jpe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image" Target="../media/image-10-4.png"/><Relationship Id="rId5" Type="http://schemas.openxmlformats.org/officeDocument/2006/relationships/image" Target="../media/image-10-5.png"/><Relationship Id="rId6" Type="http://schemas.openxmlformats.org/officeDocument/2006/relationships/slideLayout" Target="../slideLayouts/slideLayout1.xml"/><Relationship Id="rId7"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Slide-11-image-1.jpeg"/><Relationship Id="rId2" Type="http://schemas.openxmlformats.org/officeDocument/2006/relationships/image" Target="../media/image-11-2.png"/><Relationship Id="rId3" Type="http://schemas.openxmlformats.org/officeDocument/2006/relationships/image" Target="../media/image-11-3.png"/><Relationship Id="rId4" Type="http://schemas.openxmlformats.org/officeDocument/2006/relationships/image" Target="../media/image-11-4.png"/><Relationship Id="rId5" Type="http://schemas.openxmlformats.org/officeDocument/2006/relationships/image" Target="../media/image-11-5.png"/><Relationship Id="rId6" Type="http://schemas.openxmlformats.org/officeDocument/2006/relationships/slideLayout" Target="../slideLayouts/slideLayout1.xml"/><Relationship Id="rId7"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Slide-12-image-1.jpeg"/><Relationship Id="rId2" Type="http://schemas.openxmlformats.org/officeDocument/2006/relationships/image" Target="../media/image-12-2.png"/><Relationship Id="rId3" Type="http://schemas.openxmlformats.org/officeDocument/2006/relationships/image" Target="../media/image-12-3.png"/><Relationship Id="rId4" Type="http://schemas.openxmlformats.org/officeDocument/2006/relationships/image" Target="../media/image-12-4.png"/><Relationship Id="rId5" Type="http://schemas.openxmlformats.org/officeDocument/2006/relationships/slideLayout" Target="../slideLayouts/slideLayout1.xml"/><Relationship Id="rId6"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Slide-13-image-1.jpeg"/><Relationship Id="rId2" Type="http://schemas.openxmlformats.org/officeDocument/2006/relationships/image" Target="../media/image-13-2.png"/><Relationship Id="rId3" Type="http://schemas.openxmlformats.org/officeDocument/2006/relationships/image" Target="../media/image-13-3.png"/><Relationship Id="rId4" Type="http://schemas.openxmlformats.org/officeDocument/2006/relationships/image" Target="../media/image-13-4.png"/><Relationship Id="rId5" Type="http://schemas.openxmlformats.org/officeDocument/2006/relationships/image" Target="../media/image-13-5.png"/><Relationship Id="rId6" Type="http://schemas.openxmlformats.org/officeDocument/2006/relationships/image" Target="../media/image-13-6.png"/><Relationship Id="rId7" Type="http://schemas.openxmlformats.org/officeDocument/2006/relationships/slideLayout" Target="../slideLayouts/slideLayout1.xml"/><Relationship Id="rId8"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Slide-14-image-1.jpeg"/><Relationship Id="rId2" Type="http://schemas.openxmlformats.org/officeDocument/2006/relationships/image" Target="../media/image-14-2.png"/><Relationship Id="rId3" Type="http://schemas.openxmlformats.org/officeDocument/2006/relationships/image" Target="../media/image-14-3.png"/><Relationship Id="rId4" Type="http://schemas.openxmlformats.org/officeDocument/2006/relationships/image" Target="../media/image-14-4.png"/><Relationship Id="rId5" Type="http://schemas.openxmlformats.org/officeDocument/2006/relationships/audio" Target="../media/media-14-5.mp3"/><Relationship Id="rId6" Type="http://schemas.microsoft.com/office/2007/relationships/media" Target="../media/media-14-5.mp3"/><Relationship Id="rId7" Type="http://schemas.openxmlformats.org/officeDocument/2006/relationships/image" Target="../media/image-14-7.png"/><Relationship Id="rId8" Type="http://schemas.openxmlformats.org/officeDocument/2006/relationships/audio" Target="../media/media-14-8.mp3"/><Relationship Id="rId9" Type="http://schemas.microsoft.com/office/2007/relationships/media" Target="../media/media-14-8.mp3"/><Relationship Id="rId10" Type="http://schemas.openxmlformats.org/officeDocument/2006/relationships/image" Target="../media/image-14-10.png"/><Relationship Id="rId11" Type="http://schemas.openxmlformats.org/officeDocument/2006/relationships/image" Target="../media/image-14-11.png"/><Relationship Id="rId12" Type="http://schemas.openxmlformats.org/officeDocument/2006/relationships/slideLayout" Target="../slideLayouts/slideLayout1.xml"/><Relationship Id="rId1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Slide-15-image-1.jpeg"/><Relationship Id="rId2" Type="http://schemas.openxmlformats.org/officeDocument/2006/relationships/image" Target="../media/image-15-2.png"/><Relationship Id="rId3" Type="http://schemas.openxmlformats.org/officeDocument/2006/relationships/image" Target="../media/image-15-3.png"/><Relationship Id="rId4" Type="http://schemas.openxmlformats.org/officeDocument/2006/relationships/image" Target="../media/image-15-4.png"/><Relationship Id="rId5" Type="http://schemas.openxmlformats.org/officeDocument/2006/relationships/audio" Target="../media/media-15-5.mp3"/><Relationship Id="rId6" Type="http://schemas.microsoft.com/office/2007/relationships/media" Target="../media/media-15-5.mp3"/><Relationship Id="rId7" Type="http://schemas.openxmlformats.org/officeDocument/2006/relationships/image" Target="../media/image-15-7.png"/><Relationship Id="rId8" Type="http://schemas.openxmlformats.org/officeDocument/2006/relationships/audio" Target="../media/media-15-8.mp3"/><Relationship Id="rId9" Type="http://schemas.microsoft.com/office/2007/relationships/media" Target="../media/media-15-8.mp3"/><Relationship Id="rId10" Type="http://schemas.openxmlformats.org/officeDocument/2006/relationships/image" Target="../media/image-15-10.png"/><Relationship Id="rId11" Type="http://schemas.openxmlformats.org/officeDocument/2006/relationships/image" Target="../media/image-15-11.png"/><Relationship Id="rId12" Type="http://schemas.openxmlformats.org/officeDocument/2006/relationships/slideLayout" Target="../slideLayouts/slideLayout1.xml"/><Relationship Id="rId1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Slide-16-image-1.jpeg"/><Relationship Id="rId2" Type="http://schemas.openxmlformats.org/officeDocument/2006/relationships/image" Target="../media/image-16-2.png"/><Relationship Id="rId3" Type="http://schemas.openxmlformats.org/officeDocument/2006/relationships/image" Target="../media/image-16-3.png"/><Relationship Id="rId4" Type="http://schemas.openxmlformats.org/officeDocument/2006/relationships/image" Target="../media/image-16-4.png"/><Relationship Id="rId5" Type="http://schemas.openxmlformats.org/officeDocument/2006/relationships/image" Target="../media/image-16-5.png"/><Relationship Id="rId6" Type="http://schemas.openxmlformats.org/officeDocument/2006/relationships/slideLayout" Target="../slideLayouts/slideLayout1.xml"/><Relationship Id="rId7"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Slide-17-image-1.jpeg"/><Relationship Id="rId2" Type="http://schemas.openxmlformats.org/officeDocument/2006/relationships/image" Target="../media/image-17-2.png"/><Relationship Id="rId3" Type="http://schemas.openxmlformats.org/officeDocument/2006/relationships/image" Target="../media/image-17-3.png"/><Relationship Id="rId4" Type="http://schemas.openxmlformats.org/officeDocument/2006/relationships/image" Target="../media/image-17-4.png"/><Relationship Id="rId5" Type="http://schemas.openxmlformats.org/officeDocument/2006/relationships/audio" Target="../media/media-17-5.mp3"/><Relationship Id="rId6" Type="http://schemas.microsoft.com/office/2007/relationships/media" Target="../media/media-17-5.mp3"/><Relationship Id="rId7" Type="http://schemas.openxmlformats.org/officeDocument/2006/relationships/image" Target="../media/image-17-7.png"/><Relationship Id="rId8" Type="http://schemas.openxmlformats.org/officeDocument/2006/relationships/audio" Target="../media/media-17-8.mp3"/><Relationship Id="rId9" Type="http://schemas.microsoft.com/office/2007/relationships/media" Target="../media/media-17-8.mp3"/><Relationship Id="rId10" Type="http://schemas.openxmlformats.org/officeDocument/2006/relationships/image" Target="../media/image-17-10.png"/><Relationship Id="rId11" Type="http://schemas.openxmlformats.org/officeDocument/2006/relationships/image" Target="../media/image-17-11.png"/><Relationship Id="rId12" Type="http://schemas.openxmlformats.org/officeDocument/2006/relationships/image" Target="../media/image-17-12.png"/><Relationship Id="rId13" Type="http://schemas.openxmlformats.org/officeDocument/2006/relationships/image" Target="../media/image-17-13.png"/><Relationship Id="rId14" Type="http://schemas.openxmlformats.org/officeDocument/2006/relationships/slideLayout" Target="../slideLayouts/slideLayout1.xml"/><Relationship Id="rId15"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Slide-18-image-1.jpeg"/><Relationship Id="rId2" Type="http://schemas.openxmlformats.org/officeDocument/2006/relationships/image" Target="../media/image-18-2.png"/><Relationship Id="rId3" Type="http://schemas.openxmlformats.org/officeDocument/2006/relationships/image" Target="../media/image-18-3.png"/><Relationship Id="rId4" Type="http://schemas.openxmlformats.org/officeDocument/2006/relationships/image" Target="../media/image-18-4.png"/><Relationship Id="rId5" Type="http://schemas.openxmlformats.org/officeDocument/2006/relationships/image" Target="../media/image-18-5.png"/><Relationship Id="rId6" Type="http://schemas.openxmlformats.org/officeDocument/2006/relationships/slideLayout" Target="../slideLayouts/slideLayout1.xml"/><Relationship Id="rId7"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Slide-19-image-1.jpeg"/><Relationship Id="rId2" Type="http://schemas.openxmlformats.org/officeDocument/2006/relationships/image" Target="../media/image-19-2.png"/><Relationship Id="rId3" Type="http://schemas.openxmlformats.org/officeDocument/2006/relationships/image" Target="../media/image-19-3.png"/><Relationship Id="rId4" Type="http://schemas.openxmlformats.org/officeDocument/2006/relationships/image" Target="../media/image-19-4.png"/><Relationship Id="rId5" Type="http://schemas.openxmlformats.org/officeDocument/2006/relationships/image" Target="../media/image-19-5.png"/><Relationship Id="rId6" Type="http://schemas.openxmlformats.org/officeDocument/2006/relationships/slideLayout" Target="../slideLayouts/slideLayout1.xml"/><Relationship Id="rId7"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Slide-20-image-1.jpeg"/><Relationship Id="rId2" Type="http://schemas.openxmlformats.org/officeDocument/2006/relationships/image" Target="../media/image-20-2.png"/><Relationship Id="rId3" Type="http://schemas.openxmlformats.org/officeDocument/2006/relationships/image" Target="../media/image-20-3.png"/><Relationship Id="rId4" Type="http://schemas.openxmlformats.org/officeDocument/2006/relationships/image" Target="../media/image-20-4.png"/><Relationship Id="rId5" Type="http://schemas.openxmlformats.org/officeDocument/2006/relationships/audio" Target="../media/media-20-5.mp3"/><Relationship Id="rId6" Type="http://schemas.microsoft.com/office/2007/relationships/media" Target="../media/media-20-5.mp3"/><Relationship Id="rId7" Type="http://schemas.openxmlformats.org/officeDocument/2006/relationships/image" Target="../media/image-20-7.png"/><Relationship Id="rId8" Type="http://schemas.openxmlformats.org/officeDocument/2006/relationships/audio" Target="../media/media-20-8.mp3"/><Relationship Id="rId9" Type="http://schemas.microsoft.com/office/2007/relationships/media" Target="../media/media-20-8.mp3"/><Relationship Id="rId10" Type="http://schemas.openxmlformats.org/officeDocument/2006/relationships/image" Target="../media/image-20-10.png"/><Relationship Id="rId11" Type="http://schemas.openxmlformats.org/officeDocument/2006/relationships/image" Target="../media/image-20-11.png"/><Relationship Id="rId12" Type="http://schemas.openxmlformats.org/officeDocument/2006/relationships/slideLayout" Target="../slideLayouts/slideLayout1.xml"/><Relationship Id="rId1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Slide-21-image-1.jpeg"/><Relationship Id="rId2" Type="http://schemas.openxmlformats.org/officeDocument/2006/relationships/image" Target="../media/image-21-2.png"/><Relationship Id="rId3" Type="http://schemas.openxmlformats.org/officeDocument/2006/relationships/image" Target="../media/image-21-3.png"/><Relationship Id="rId4" Type="http://schemas.openxmlformats.org/officeDocument/2006/relationships/image" Target="../media/image-21-4.png"/><Relationship Id="rId5" Type="http://schemas.openxmlformats.org/officeDocument/2006/relationships/image" Target="../media/image-21-5.png"/><Relationship Id="rId6" Type="http://schemas.openxmlformats.org/officeDocument/2006/relationships/slideLayout" Target="../slideLayouts/slideLayout1.xml"/><Relationship Id="rId7"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Slide-22-image-1.jpeg"/><Relationship Id="rId2" Type="http://schemas.openxmlformats.org/officeDocument/2006/relationships/image" Target="../media/image-22-2.png"/><Relationship Id="rId3" Type="http://schemas.openxmlformats.org/officeDocument/2006/relationships/image" Target="../media/image-22-3.png"/><Relationship Id="rId4" Type="http://schemas.openxmlformats.org/officeDocument/2006/relationships/image" Target="../media/image-22-4.png"/><Relationship Id="rId5" Type="http://schemas.openxmlformats.org/officeDocument/2006/relationships/slideLayout" Target="../slideLayouts/slideLayout1.xml"/><Relationship Id="rId6"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Slide-23-image-1.jpeg"/><Relationship Id="rId2" Type="http://schemas.openxmlformats.org/officeDocument/2006/relationships/image" Target="../media/image-23-2.png"/><Relationship Id="rId3" Type="http://schemas.openxmlformats.org/officeDocument/2006/relationships/image" Target="../media/image-23-3.png"/><Relationship Id="rId4" Type="http://schemas.openxmlformats.org/officeDocument/2006/relationships/image" Target="../media/image-23-4.png"/><Relationship Id="rId5" Type="http://schemas.openxmlformats.org/officeDocument/2006/relationships/slideLayout" Target="../slideLayouts/slideLayout1.xml"/><Relationship Id="rId6"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Slide-24-image-1.jpeg"/><Relationship Id="rId2" Type="http://schemas.openxmlformats.org/officeDocument/2006/relationships/image" Target="../media/image-24-2.png"/><Relationship Id="rId3" Type="http://schemas.openxmlformats.org/officeDocument/2006/relationships/slideLayout" Target="../slideLayouts/slideLayout1.xml"/><Relationship Id="rId4"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Slide-25-image-1.jpeg"/><Relationship Id="rId2" Type="http://schemas.openxmlformats.org/officeDocument/2006/relationships/image" Target="../media/image-25-2.png"/><Relationship Id="rId3" Type="http://schemas.openxmlformats.org/officeDocument/2006/relationships/image" Target="../media/image-25-3.png"/><Relationship Id="rId4" Type="http://schemas.openxmlformats.org/officeDocument/2006/relationships/image" Target="../media/image-25-4.png"/><Relationship Id="rId5" Type="http://schemas.openxmlformats.org/officeDocument/2006/relationships/image" Target="../media/image-25-5.png"/><Relationship Id="rId6" Type="http://schemas.openxmlformats.org/officeDocument/2006/relationships/slideLayout" Target="../slideLayouts/slideLayout1.xml"/><Relationship Id="rId7"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Slide-26-image-1.jpeg"/><Relationship Id="rId2" Type="http://schemas.openxmlformats.org/officeDocument/2006/relationships/image" Target="../media/image-26-2.png"/><Relationship Id="rId3" Type="http://schemas.openxmlformats.org/officeDocument/2006/relationships/image" Target="../media/image-26-3.png"/><Relationship Id="rId4" Type="http://schemas.openxmlformats.org/officeDocument/2006/relationships/image" Target="../media/image-26-4.png"/><Relationship Id="rId5" Type="http://schemas.openxmlformats.org/officeDocument/2006/relationships/image" Target="../media/image-26-5.png"/><Relationship Id="rId6" Type="http://schemas.openxmlformats.org/officeDocument/2006/relationships/slideLayout" Target="../slideLayouts/slideLayout1.xml"/><Relationship Id="rId7" Type="http://schemas.openxmlformats.org/officeDocument/2006/relationships/notesSlide" Target="../notesSlides/notesSlide26.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crs_1"/>
          <p:cNvSpPr/>
          <p:nvPr/>
        </p:nvSpPr>
        <p:spPr>
          <a:xfrm>
            <a:off x="411480" y="292608"/>
            <a:ext cx="4114800" cy="274320"/>
          </a:xfrm>
          <a:prstGeom prst="rect">
            <a:avLst/>
          </a:prstGeom>
          <a:noFill/>
          <a:ln/>
        </p:spPr>
        <p:txBody>
          <a:bodyPr wrap="square" lIns="0" tIns="0" rIns="0" bIns="0" rtlCol="0" anchor="ctr"/>
          <a:lstStyle/>
          <a:p>
            <a:pPr indent="0" marL="0">
              <a:buNone/>
            </a:pPr>
            <a:r>
              <a:rPr lang="en-US" sz="1000" spc="100" kern="0" dirty="0">
                <a:solidFill>
                  <a:srgbClr val="5B6785"/>
                </a:solidFill>
                <a:latin typeface="Segoe UI Semibold" pitchFamily="34" charset="0"/>
                <a:ea typeface="Segoe UI Semibold" pitchFamily="34" charset="-122"/>
                <a:cs typeface="Segoe UI Semibold" pitchFamily="34" charset="-120"/>
              </a:rPr>
              <a:t>English File B1 · SB pp.30–31</a:t>
            </a:r>
            <a:endParaRPr lang="en-US" sz="1000" dirty="0"/>
          </a:p>
        </p:txBody>
      </p:sp>
      <p:sp>
        <p:nvSpPr>
          <p:cNvPr id="4" name="bd_2"/>
          <p:cNvSpPr/>
          <p:nvPr/>
        </p:nvSpPr>
        <p:spPr>
          <a:xfrm>
            <a:off x="365760" y="640080"/>
            <a:ext cx="1051560" cy="1051560"/>
          </a:xfrm>
          <a:prstGeom prst="ellipse">
            <a:avLst/>
          </a:prstGeom>
          <a:solidFill>
            <a:srgbClr val="E8508F"/>
          </a:solidFill>
          <a:ln w="28575">
            <a:solidFill>
              <a:srgbClr val="F7A6C4"/>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600" dirty="0">
                <a:solidFill>
                  <a:srgbClr val="FFFFFF"/>
                </a:solidFill>
                <a:latin typeface="Arial Rounded MT Bold" pitchFamily="34" charset="0"/>
                <a:ea typeface="Arial Rounded MT Bold" pitchFamily="34" charset="-122"/>
                <a:cs typeface="Arial Rounded MT Bold" pitchFamily="34" charset="-120"/>
              </a:rPr>
              <a:t>3B-1</a:t>
            </a:r>
            <a:endParaRPr lang="en-US" sz="1600" dirty="0"/>
          </a:p>
        </p:txBody>
      </p:sp>
      <p:pic>
        <p:nvPicPr>
          <p:cNvPr id="5" name="bry_3" descr="/home/claude/lls-course/v2/assets/brush-yellow.png">    </p:cNvPr>
          <p:cNvPicPr>
            <a:picLocks noChangeAspect="1"/>
          </p:cNvPicPr>
          <p:nvPr/>
        </p:nvPicPr>
        <p:blipFill>
          <a:blip r:embed="rId2"/>
          <a:stretch>
            <a:fillRect/>
          </a:stretch>
        </p:blipFill>
        <p:spPr>
          <a:xfrm>
            <a:off x="1463040" y="713232"/>
            <a:ext cx="3566160" cy="868680"/>
          </a:xfrm>
          <a:prstGeom prst="rect">
            <a:avLst/>
          </a:prstGeom>
        </p:spPr>
      </p:pic>
      <p:sp>
        <p:nvSpPr>
          <p:cNvPr id="6" name="t_4"/>
          <p:cNvSpPr/>
          <p:nvPr/>
        </p:nvSpPr>
        <p:spPr>
          <a:xfrm>
            <a:off x="1645920" y="731520"/>
            <a:ext cx="3108960" cy="822960"/>
          </a:xfrm>
          <a:prstGeom prst="rect">
            <a:avLst/>
          </a:prstGeom>
          <a:noFill/>
          <a:ln/>
        </p:spPr>
        <p:txBody>
          <a:bodyPr wrap="square" lIns="0" tIns="0" rIns="0" bIns="0" rtlCol="0" anchor="ctr">
            <a:normAutofit/>
          </a:bodyPr>
          <a:lstStyle/>
          <a:p>
            <a:pPr indent="0" marL="0">
              <a:buNone/>
            </a:pPr>
            <a:r>
              <a:rPr lang="en-US" sz="1900" dirty="0">
                <a:solidFill>
                  <a:srgbClr val="1B2559"/>
                </a:solidFill>
                <a:latin typeface="Arial Rounded MT Bold" pitchFamily="34" charset="0"/>
                <a:ea typeface="Arial Rounded MT Bold" pitchFamily="34" charset="-122"/>
                <a:cs typeface="Arial Rounded MT Bold" pitchFamily="34" charset="-120"/>
              </a:rPr>
              <a:t>Men, women, and children</a:t>
            </a:r>
            <a:endParaRPr lang="en-US" sz="1900" dirty="0"/>
          </a:p>
        </p:txBody>
      </p:sp>
      <p:pic>
        <p:nvPicPr>
          <p:cNvPr id="7" name="brp_5" descr="/home/claude/lls-course/v2/assets/brush-pink.png">    </p:cNvPr>
          <p:cNvPicPr>
            <a:picLocks noChangeAspect="1"/>
          </p:cNvPicPr>
          <p:nvPr/>
        </p:nvPicPr>
        <p:blipFill>
          <a:blip r:embed="rId3"/>
          <a:stretch>
            <a:fillRect/>
          </a:stretch>
        </p:blipFill>
        <p:spPr>
          <a:xfrm>
            <a:off x="1554480" y="1517904"/>
            <a:ext cx="3017520" cy="384048"/>
          </a:xfrm>
          <a:prstGeom prst="rect">
            <a:avLst/>
          </a:prstGeom>
        </p:spPr>
      </p:pic>
      <p:sp>
        <p:nvSpPr>
          <p:cNvPr id="8" name="st_6"/>
          <p:cNvSpPr/>
          <p:nvPr/>
        </p:nvSpPr>
        <p:spPr>
          <a:xfrm>
            <a:off x="1691640" y="1517904"/>
            <a:ext cx="2834640" cy="384048"/>
          </a:xfrm>
          <a:prstGeom prst="rect">
            <a:avLst/>
          </a:prstGeom>
          <a:noFill/>
          <a:ln/>
        </p:spPr>
        <p:txBody>
          <a:bodyPr wrap="square" lIns="0" tIns="0" rIns="0" bIns="0" rtlCol="0" anchor="ct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Stereotypes: true or not?</a:t>
            </a:r>
            <a:endParaRPr lang="en-US" sz="1250" dirty="0"/>
          </a:p>
        </p:txBody>
      </p:sp>
      <p:sp>
        <p:nvSpPr>
          <p:cNvPr id="9" name="cd_7"/>
          <p:cNvSpPr/>
          <p:nvPr/>
        </p:nvSpPr>
        <p:spPr>
          <a:xfrm>
            <a:off x="365760" y="2148840"/>
            <a:ext cx="4206240" cy="1691640"/>
          </a:xfrm>
          <a:prstGeom prst="roundRect">
            <a:avLst>
              <a:gd name="adj" fmla="val 7568"/>
            </a:avLst>
          </a:prstGeom>
          <a:solidFill>
            <a:srgbClr val="E3F1FD"/>
          </a:solidFill>
          <a:ln w="28575">
            <a:solidFill>
              <a:srgbClr val="A9D3F5"/>
            </a:solidFill>
            <a:prstDash val="solid"/>
          </a:ln>
          <a:effectLst>
            <a:outerShdw sx="100000" sy="100000" kx="0" ky="0" algn="bl" rotWithShape="0" blurRad="88900" dist="31750" dir="5400000">
              <a:srgbClr val="1B2559">
                <a:alpha val="12000"/>
              </a:srgbClr>
            </a:outerShdw>
          </a:effectLst>
        </p:spPr>
      </p:sp>
      <p:sp>
        <p:nvSpPr>
          <p:cNvPr id="10" name="ii_8"/>
          <p:cNvSpPr/>
          <p:nvPr/>
        </p:nvSpPr>
        <p:spPr>
          <a:xfrm>
            <a:off x="457200" y="222199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1" name="ih_9"/>
          <p:cNvSpPr/>
          <p:nvPr/>
        </p:nvSpPr>
        <p:spPr>
          <a:xfrm>
            <a:off x="932688" y="2240280"/>
            <a:ext cx="3566160" cy="365760"/>
          </a:xfrm>
          <a:prstGeom prst="rect">
            <a:avLst/>
          </a:prstGeom>
          <a:noFill/>
          <a:ln/>
        </p:spPr>
        <p:txBody>
          <a:bodyPr wrap="square" lIns="0" tIns="0" rIns="0" bIns="0" rtlCol="0" anchor="ctr"/>
          <a:lstStyle/>
          <a:p>
            <a:pPr indent="0" marL="0">
              <a:buNone/>
            </a:pPr>
            <a:r>
              <a:rPr lang="en-US" sz="1600" dirty="0">
                <a:solidFill>
                  <a:srgbClr val="1B2559"/>
                </a:solidFill>
                <a:latin typeface="Arial Rounded MT Bold" pitchFamily="34" charset="0"/>
                <a:ea typeface="Arial Rounded MT Bold" pitchFamily="34" charset="-122"/>
                <a:cs typeface="Arial Rounded MT Bold" pitchFamily="34" charset="-120"/>
              </a:rPr>
              <a:t>Today you're going to…</a:t>
            </a:r>
            <a:endParaRPr lang="en-US" sz="1600" dirty="0"/>
          </a:p>
        </p:txBody>
      </p:sp>
      <p:sp>
        <p:nvSpPr>
          <p:cNvPr id="12" name="il_10"/>
          <p:cNvSpPr/>
          <p:nvPr/>
        </p:nvSpPr>
        <p:spPr>
          <a:xfrm>
            <a:off x="932688" y="2642616"/>
            <a:ext cx="3547872" cy="1124712"/>
          </a:xfrm>
          <a:prstGeom prst="rect">
            <a:avLst/>
          </a:prstGeom>
          <a:noFill/>
          <a:ln/>
        </p:spPr>
        <p:txBody>
          <a:bodyPr wrap="square" lIns="0" tIns="0" rIns="0" bIns="0" rtlCol="0" anchor="t">
            <a:normAutofit/>
          </a:bodyPr>
          <a:lstStyle/>
          <a:p>
            <a:pPr indent="0" marL="0">
              <a:spcAft>
                <a:spcPts val="200"/>
              </a:spcAft>
              <a:buNone/>
            </a:pPr>
            <a:r>
              <a:rPr lang="en-US" sz="850" dirty="0">
                <a:solidFill>
                  <a:srgbClr val="1B2559"/>
                </a:solidFill>
                <a:latin typeface="Segoe UI Semibold" pitchFamily="34" charset="0"/>
                <a:ea typeface="Segoe UI Semibold" pitchFamily="34" charset="-122"/>
                <a:cs typeface="Segoe UI Semibold" pitchFamily="34" charset="-120"/>
              </a:rPr>
              <a:t>💬  say what you think about men and women</a:t>
            </a:r>
            <a:endParaRPr lang="en-US" sz="850" dirty="0"/>
          </a:p>
          <a:p>
            <a:pPr indent="0" marL="0">
              <a:spcBef>
                <a:spcPts val="600"/>
              </a:spcBef>
              <a:spcAft>
                <a:spcPts val="200"/>
              </a:spcAft>
              <a:buNone/>
            </a:pPr>
            <a:r>
              <a:rPr lang="en-US" sz="850" dirty="0">
                <a:solidFill>
                  <a:srgbClr val="1B2559"/>
                </a:solidFill>
                <a:latin typeface="Segoe UI Semibold" pitchFamily="34" charset="0"/>
                <a:ea typeface="Segoe UI Semibold" pitchFamily="34" charset="-122"/>
                <a:cs typeface="Segoe UI Semibold" pitchFamily="34" charset="-120"/>
              </a:rPr>
              <a:t>👀  read what scientists discovered</a:t>
            </a:r>
            <a:endParaRPr lang="en-US" sz="850" dirty="0"/>
          </a:p>
          <a:p>
            <a:pPr indent="0" marL="0">
              <a:spcBef>
                <a:spcPts val="600"/>
              </a:spcBef>
              <a:spcAft>
                <a:spcPts val="200"/>
              </a:spcAft>
              <a:buNone/>
            </a:pPr>
            <a:r>
              <a:rPr lang="en-US" sz="850" dirty="0">
                <a:solidFill>
                  <a:srgbClr val="1B2559"/>
                </a:solidFill>
                <a:latin typeface="Segoe UI Semibold" pitchFamily="34" charset="0"/>
                <a:ea typeface="Segoe UI Semibold" pitchFamily="34" charset="-122"/>
                <a:cs typeface="Segoe UI Semibold" pitchFamily="34" charset="-120"/>
              </a:rPr>
              <a:t>✏️  use a / an, the or no article</a:t>
            </a:r>
            <a:endParaRPr lang="en-US" sz="850" dirty="0"/>
          </a:p>
          <a:p>
            <a:pPr indent="0" marL="0">
              <a:spcBef>
                <a:spcPts val="600"/>
              </a:spcBef>
              <a:spcAft>
                <a:spcPts val="200"/>
              </a:spcAft>
              <a:buNone/>
            </a:pPr>
            <a:r>
              <a:rPr lang="en-US" sz="850" dirty="0">
                <a:solidFill>
                  <a:srgbClr val="1B2559"/>
                </a:solidFill>
                <a:latin typeface="Segoe UI Semibold" pitchFamily="34" charset="0"/>
                <a:ea typeface="Segoe UI Semibold" pitchFamily="34" charset="-122"/>
                <a:cs typeface="Segoe UI Semibold" pitchFamily="34" charset="-120"/>
              </a:rPr>
              <a:t>📖  listen to a class story and answer questions</a:t>
            </a:r>
            <a:endParaRPr lang="en-US" sz="850" dirty="0"/>
          </a:p>
          <a:p>
            <a:pPr indent="0" marL="0">
              <a:spcBef>
                <a:spcPts val="600"/>
              </a:spcBef>
              <a:spcAft>
                <a:spcPts val="200"/>
              </a:spcAft>
              <a:buNone/>
            </a:pPr>
            <a:r>
              <a:rPr lang="en-US" sz="850" dirty="0">
                <a:solidFill>
                  <a:srgbClr val="1B2559"/>
                </a:solidFill>
                <a:latin typeface="Segoe UI Semibold" pitchFamily="34" charset="0"/>
                <a:ea typeface="Segoe UI Semibold" pitchFamily="34" charset="-122"/>
                <a:cs typeface="Segoe UI Semibold" pitchFamily="34" charset="-120"/>
              </a:rPr>
              <a:t>🔊  say "the" in two different ways</a:t>
            </a:r>
            <a:endParaRPr lang="en-US" sz="850" dirty="0"/>
          </a:p>
        </p:txBody>
      </p:sp>
      <p:sp>
        <p:nvSpPr>
          <p:cNvPr id="13" name="R1_ex11"/>
          <p:cNvSpPr/>
          <p:nvPr/>
        </p:nvSpPr>
        <p:spPr>
          <a:xfrm>
            <a:off x="365760" y="3950208"/>
            <a:ext cx="4206240" cy="603504"/>
          </a:xfrm>
          <a:prstGeom prst="roundRect">
            <a:avLst>
              <a:gd name="adj" fmla="val 18182"/>
            </a:avLst>
          </a:prstGeom>
          <a:solidFill>
            <a:srgbClr val="FFF6CC"/>
          </a:solidFill>
          <a:ln w="28575">
            <a:solidFill>
              <a:srgbClr val="FFE07A"/>
            </a:solidFill>
          </a:ln>
        </p:spPr>
        <p:txBody>
          <a:bodyPr wrap="square" lIns="152400" tIns="25400" rIns="152400" bIns="25400" rtlCol="0" anchor="ctr">
            <a:normAutofit/>
          </a:bodyPr>
          <a:lstStyle/>
          <a:p>
            <a:pPr indent="0" marL="0">
              <a:buNone/>
            </a:pPr>
            <a:r>
              <a:rPr lang="en-US" sz="900" dirty="0">
                <a:solidFill>
                  <a:srgbClr val="E8508F"/>
                </a:solidFill>
                <a:latin typeface="Segoe UI Black" pitchFamily="34" charset="0"/>
                <a:ea typeface="Segoe UI Black" pitchFamily="34" charset="-122"/>
                <a:cs typeface="Segoe UI Black" pitchFamily="34" charset="-120"/>
              </a:rPr>
              <a:t>EXAMPLE  </a:t>
            </a:r>
            <a:pPr indent="0" marL="0">
              <a:buNone/>
            </a:pPr>
            <a:r>
              <a:rPr lang="en-US" sz="1200" i="1" dirty="0">
                <a:solidFill>
                  <a:srgbClr val="1B2559"/>
                </a:solidFill>
                <a:latin typeface="Segoe UI Semibold" pitchFamily="34" charset="0"/>
                <a:ea typeface="Segoe UI Semibold" pitchFamily="34" charset="-122"/>
                <a:cs typeface="Segoe UI Semibold" pitchFamily="34" charset="-120"/>
              </a:rPr>
              <a:t>I think it's partly true. My sister never stops talking – but my dad talks a lot too!</a:t>
            </a:r>
            <a:endParaRPr lang="en-US" sz="900" dirty="0"/>
          </a:p>
        </p:txBody>
      </p:sp>
      <p:sp>
        <p:nvSpPr>
          <p:cNvPr id="14" name="pf_12"/>
          <p:cNvSpPr/>
          <p:nvPr/>
        </p:nvSpPr>
        <p:spPr>
          <a:xfrm rot="90000">
            <a:off x="4846320" y="777240"/>
            <a:ext cx="3977640" cy="3200400"/>
          </a:xfrm>
          <a:prstGeom prst="roundRect">
            <a:avLst>
              <a:gd name="adj" fmla="val 4857"/>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15" name="ph_13" descr="/home/claude/lls-course/v2/cache/3b1_cover_jpg_935x748_31.png">    </p:cNvPr>
          <p:cNvPicPr>
            <a:picLocks noChangeAspect="1"/>
          </p:cNvPicPr>
          <p:nvPr/>
        </p:nvPicPr>
        <p:blipFill>
          <a:blip r:embed="rId4"/>
          <a:stretch>
            <a:fillRect/>
          </a:stretch>
        </p:blipFill>
        <p:spPr>
          <a:xfrm rot="90000">
            <a:off x="4892040" y="822960"/>
            <a:ext cx="3886200" cy="3108960"/>
          </a:xfrm>
          <a:prstGeom prst="rect">
            <a:avLst/>
          </a:prstGeom>
        </p:spPr>
      </p:pic>
      <p:sp>
        <p:nvSpPr>
          <p:cNvPr id="16" name="bb_14"/>
          <p:cNvSpPr/>
          <p:nvPr/>
        </p:nvSpPr>
        <p:spPr>
          <a:xfrm>
            <a:off x="5120640" y="3611880"/>
            <a:ext cx="3566160" cy="822960"/>
          </a:xfrm>
          <a:prstGeom prst="wedgeRoundRectCallout">
            <a:avLst/>
          </a:prstGeom>
          <a:solidFill>
            <a:srgbClr val="FFFFFF"/>
          </a:solidFill>
          <a:ln w="28575">
            <a:solidFill>
              <a:srgbClr val="F7A6C4"/>
            </a:solidFill>
          </a:ln>
          <a:effectLst>
            <a:outerShdw sx="100000" sy="100000" kx="0" ky="0" algn="bl" rotWithShape="0" blurRad="88900" dist="31750" dir="5400000">
              <a:srgbClr val="1B2559">
                <a:alpha val="10000"/>
              </a:srgbClr>
            </a:outerShdw>
          </a:effectLst>
        </p:spPr>
        <p:txBody>
          <a:bodyPr wrap="square" lIns="127000" tIns="50800" rIns="127000" bIns="50800" rtlCol="0" anchor="ctr">
            <a:normAutofit/>
          </a:bodyPr>
          <a:lstStyle/>
          <a:p>
            <a:pPr algn="ctr" indent="0" marL="0">
              <a:buNone/>
            </a:pPr>
            <a:r>
              <a:rPr lang="en-US" sz="1600" dirty="0">
                <a:solidFill>
                  <a:srgbClr val="1B2559"/>
                </a:solidFill>
                <a:latin typeface="Arial Rounded MT Bold" pitchFamily="34" charset="0"/>
                <a:ea typeface="Arial Rounded MT Bold" pitchFamily="34" charset="-122"/>
                <a:cs typeface="Arial Rounded MT Bold" pitchFamily="34" charset="-120"/>
              </a:rPr>
              <a:t>Women talk more than men. True or a myth?</a:t>
            </a:r>
            <a:endParaRPr lang="en-US" sz="1600" dirty="0"/>
          </a:p>
        </p:txBody>
      </p:sp>
      <p:sp>
        <p:nvSpPr>
          <p:cNvPr id="17" name="st_15"/>
          <p:cNvSpPr/>
          <p:nvPr/>
        </p:nvSpPr>
        <p:spPr>
          <a:xfrm rot="360000">
            <a:off x="7543800" y="502920"/>
            <a:ext cx="1325880" cy="384048"/>
          </a:xfrm>
          <a:prstGeom prst="rect">
            <a:avLst/>
          </a:prstGeom>
          <a:solidFill>
            <a:srgbClr val="FFC2DA"/>
          </a:solidFill>
          <a:ln>
            <a:solidFill>
              <a:srgbClr val="FFC2DA"/>
            </a:solidFill>
          </a:ln>
          <a:effectLst>
            <a:outerShdw sx="100000" sy="100000" kx="0" ky="0" algn="bl" rotWithShape="0" blurRad="88900" dist="31750" dir="5400000">
              <a:srgbClr val="1B2559">
                <a:alpha val="15000"/>
              </a:srgbClr>
            </a:outerShdw>
          </a:effectLst>
        </p:spPr>
        <p:txBody>
          <a:bodyPr wrap="square" lIns="50800" tIns="50800" rIns="50800" bIns="50800" rtlCol="0" anchor="ctr">
            <a:normAutofit/>
          </a:bodyPr>
          <a:lstStyle/>
          <a:p>
            <a:pPr algn="ctr" indent="0" marL="0">
              <a:buNone/>
            </a:pPr>
            <a:r>
              <a:rPr lang="en-US" sz="950" dirty="0">
                <a:solidFill>
                  <a:srgbClr val="1B2559"/>
                </a:solidFill>
                <a:latin typeface="Arial Rounded MT Bold" pitchFamily="34" charset="0"/>
                <a:ea typeface="Arial Rounded MT Bold" pitchFamily="34" charset="-122"/>
                <a:cs typeface="Arial Rounded MT Bold" pitchFamily="34" charset="-120"/>
              </a:rPr>
              <a:t>💡 THINK · PENSA</a:t>
            </a:r>
            <a:endParaRPr lang="en-US" sz="950" dirty="0"/>
          </a:p>
        </p:txBody>
      </p:sp>
      <p:pic>
        <p:nvPicPr>
          <p:cNvPr id="18" name="logo_16" descr="/home/claude/lls-course/v2/img/logo.png">    </p:cNvPr>
          <p:cNvPicPr>
            <a:picLocks noChangeAspect="1"/>
          </p:cNvPicPr>
          <p:nvPr/>
        </p:nvPicPr>
        <p:blipFill>
          <a:blip r:embed="rId5"/>
          <a:stretch>
            <a:fillRect/>
          </a:stretch>
        </p:blipFill>
        <p:spPr>
          <a:xfrm>
            <a:off x="8485632" y="4526280"/>
            <a:ext cx="502920" cy="502920"/>
          </a:xfrm>
          <a:prstGeom prst="rect">
            <a:avLst/>
          </a:prstGeom>
        </p:spPr>
      </p:pic>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3"/>
                                        </p:tgtEl>
                                        <p:attrNameLst>
                                          <p:attrName>style.visibility</p:attrName>
                                        </p:attrNameLst>
                                      </p:cBhvr>
                                      <p:to>
                                        <p:strVal val="visible"/>
                                      </p:to>
                                    </p:set>
                                    <p:animEffect transition="in" filter="fade">
                                      <p:cBhvr>
                                        <p:cTn id="7" dur="400"/>
                                        <p:tgtEl>
                                          <p:spTgt spid="1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xml><?xml version="1.0" encoding="utf-8"?>
<p:sld xmlns:a="http://schemas.openxmlformats.org/drawingml/2006/main" xmlns:r="http://schemas.openxmlformats.org/officeDocument/2006/relationships" xmlns:p="http://schemas.openxmlformats.org/presentationml/2006/main">
  <p:cSld name="Slide 2">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17"/>
          <p:cNvSpPr/>
          <p:nvPr/>
        </p:nvSpPr>
        <p:spPr>
          <a:xfrm>
            <a:off x="201168" y="164592"/>
            <a:ext cx="841248" cy="841248"/>
          </a:xfrm>
          <a:prstGeom prst="ellipse">
            <a:avLst/>
          </a:prstGeom>
          <a:solidFill>
            <a:srgbClr val="2F8DE4"/>
          </a:solidFill>
          <a:ln w="28575">
            <a:solidFill>
              <a:srgbClr val="A9D3F5"/>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800" dirty="0">
                <a:solidFill>
                  <a:srgbClr val="FFFFFF"/>
                </a:solidFill>
                <a:latin typeface="Arial Rounded MT Bold" pitchFamily="34" charset="0"/>
                <a:ea typeface="Arial Rounded MT Bold" pitchFamily="34" charset="-122"/>
                <a:cs typeface="Arial Rounded MT Bold" pitchFamily="34" charset="-120"/>
              </a:rPr>
              <a:t>2</a:t>
            </a:r>
            <a:endParaRPr lang="en-US" sz="2800" dirty="0"/>
          </a:p>
        </p:txBody>
      </p:sp>
      <p:pic>
        <p:nvPicPr>
          <p:cNvPr id="4" name="brY_18" descr="/home/claude/lls-course/v2/assets/brush-yellow.png">    </p:cNvPr>
          <p:cNvPicPr>
            <a:picLocks noChangeAspect="1"/>
          </p:cNvPicPr>
          <p:nvPr/>
        </p:nvPicPr>
        <p:blipFill>
          <a:blip r:embed="rId2"/>
          <a:stretch>
            <a:fillRect/>
          </a:stretch>
        </p:blipFill>
        <p:spPr>
          <a:xfrm>
            <a:off x="1097280" y="146304"/>
            <a:ext cx="4034333" cy="621792"/>
          </a:xfrm>
          <a:prstGeom prst="rect">
            <a:avLst/>
          </a:prstGeom>
        </p:spPr>
      </p:pic>
      <p:sp>
        <p:nvSpPr>
          <p:cNvPr id="5" name="title_19"/>
          <p:cNvSpPr/>
          <p:nvPr/>
        </p:nvSpPr>
        <p:spPr>
          <a:xfrm>
            <a:off x="1261872" y="164592"/>
            <a:ext cx="3760013" cy="566928"/>
          </a:xfrm>
          <a:prstGeom prst="rect">
            <a:avLst/>
          </a:prstGeom>
          <a:noFill/>
          <a:ln/>
        </p:spPr>
        <p:txBody>
          <a:bodyPr wrap="square" lIns="0" tIns="0" rIns="0" bIns="0" rtlCol="0" anchor="ctr">
            <a:normAutofit/>
          </a:bodyPr>
          <a:lstStyle/>
          <a:p>
            <a:pPr indent="0" marL="0">
              <a:buNone/>
            </a:pPr>
            <a:r>
              <a:rPr lang="en-US" sz="2400" dirty="0">
                <a:solidFill>
                  <a:srgbClr val="1B2559"/>
                </a:solidFill>
                <a:latin typeface="Arial Rounded MT Bold" pitchFamily="34" charset="0"/>
                <a:ea typeface="Arial Rounded MT Bold" pitchFamily="34" charset="-122"/>
                <a:cs typeface="Arial Rounded MT Bold" pitchFamily="34" charset="-120"/>
              </a:rPr>
              <a:t>Remember last lesson?</a:t>
            </a:r>
            <a:endParaRPr lang="en-US" sz="2400" dirty="0"/>
          </a:p>
        </p:txBody>
      </p:sp>
      <p:pic>
        <p:nvPicPr>
          <p:cNvPr id="6" name="brP_20" descr="/home/claude/lls-course/v2/assets/brush-pink.png">    </p:cNvPr>
          <p:cNvPicPr>
            <a:picLocks noChangeAspect="1"/>
          </p:cNvPicPr>
          <p:nvPr/>
        </p:nvPicPr>
        <p:blipFill>
          <a:blip r:embed="rId3"/>
          <a:stretch>
            <a:fillRect/>
          </a:stretch>
        </p:blipFill>
        <p:spPr>
          <a:xfrm>
            <a:off x="1207008" y="731520"/>
            <a:ext cx="5257800" cy="402336"/>
          </a:xfrm>
          <a:prstGeom prst="rect">
            <a:avLst/>
          </a:prstGeom>
        </p:spPr>
      </p:pic>
      <p:sp>
        <p:nvSpPr>
          <p:cNvPr id="7" name="ins_21"/>
          <p:cNvSpPr/>
          <p:nvPr/>
        </p:nvSpPr>
        <p:spPr>
          <a:xfrm>
            <a:off x="1353312" y="731520"/>
            <a:ext cx="5001768"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Can you remember? Say it – then use it in a sentence!</a:t>
            </a:r>
            <a:endParaRPr lang="en-US" sz="1250" dirty="0"/>
          </a:p>
        </p:txBody>
      </p:sp>
      <p:sp>
        <p:nvSpPr>
          <p:cNvPr id="8" name="insIT_22"/>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Ti ricordi? Dillo – poi usalo in una frase!</a:t>
            </a:r>
            <a:endParaRPr lang="en-US" sz="950" dirty="0"/>
          </a:p>
        </p:txBody>
      </p:sp>
      <p:sp>
        <p:nvSpPr>
          <p:cNvPr id="9" name="note_23"/>
          <p:cNvSpPr/>
          <p:nvPr/>
        </p:nvSpPr>
        <p:spPr>
          <a:xfrm rot="180000">
            <a:off x="6382512" y="128016"/>
            <a:ext cx="2029968" cy="1024128"/>
          </a:xfrm>
          <a:prstGeom prst="rect">
            <a:avLst/>
          </a:prstGeom>
          <a:solidFill>
            <a:srgbClr val="FFC2DA"/>
          </a:solidFill>
          <a:ln>
            <a:solidFill>
              <a:srgbClr val="FFC2DA"/>
            </a:solidFill>
          </a:ln>
          <a:effectLst>
            <a:outerShdw sx="100000" sy="100000" kx="0" ky="0" algn="bl" rotWithShape="0" blurRad="88900" dist="31750" dir="5400000">
              <a:srgbClr val="1B2559">
                <a:alpha val="15000"/>
              </a:srgbClr>
            </a:outerShdw>
          </a:effectLst>
        </p:spPr>
        <p:txBody>
          <a:bodyPr wrap="square" lIns="50800" tIns="50800" rIns="50800" bIns="50800" rtlCol="0" anchor="ctr">
            <a:normAutofit/>
          </a:bodyP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 THINK</a:t>
            </a:r>
            <a:pPr algn="ctr" indent="0" marL="0">
              <a:buNone/>
            </a:pPr>
            <a:r>
              <a:rPr lang="en-US" sz="1200" dirty="0">
                <a:solidFill>
                  <a:srgbClr val="5B6785"/>
                </a:solidFill>
              </a:rPr>
              <a:t> → </a:t>
            </a:r>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 TALK</a:t>
            </a:r>
            <a:endParaRPr lang="en-US" sz="1150" dirty="0"/>
          </a:p>
          <a:p>
            <a:pPr algn="ctr" indent="0" marL="0">
              <a:buNone/>
            </a:pPr>
            <a:r>
              <a:rPr lang="en-US" sz="1100" dirty="0">
                <a:solidFill>
                  <a:srgbClr val="1B2559"/>
                </a:solidFill>
                <a:latin typeface="Segoe UI Semibold" pitchFamily="34" charset="0"/>
                <a:ea typeface="Segoe UI Semibold" pitchFamily="34" charset="-122"/>
                <a:cs typeface="Segoe UI Semibold" pitchFamily="34" charset="-120"/>
              </a:rPr>
              <a:t>⏱ 2 min   👥 pairs</a:t>
            </a:r>
            <a:endParaRPr lang="en-US" sz="1150" dirty="0"/>
          </a:p>
          <a:p>
            <a:pPr algn="ctr" indent="0" marL="0">
              <a:buNone/>
            </a:pPr>
            <a:r>
              <a:rPr lang="en-US" sz="900" dirty="0">
                <a:solidFill>
                  <a:srgbClr val="5B6785"/>
                </a:solidFill>
                <a:latin typeface="Segoe UI Semibold" pitchFamily="34" charset="0"/>
                <a:ea typeface="Segoe UI Semibold" pitchFamily="34" charset="-122"/>
                <a:cs typeface="Segoe UI Semibold" pitchFamily="34" charset="-120"/>
              </a:rPr>
              <a:t>🎯 Revision · Retrieval</a:t>
            </a:r>
            <a:endParaRPr lang="en-US" sz="1150" dirty="0"/>
          </a:p>
        </p:txBody>
      </p:sp>
      <p:pic>
        <p:nvPicPr>
          <p:cNvPr id="10" name="logo_24"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1" name="foot_25"/>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3B-1 · Revision · last lesson</a:t>
            </a:r>
            <a:endParaRPr lang="en-US" sz="800" dirty="0"/>
          </a:p>
        </p:txBody>
      </p:sp>
      <p:sp>
        <p:nvSpPr>
          <p:cNvPr id="12" name="pf_26"/>
          <p:cNvSpPr/>
          <p:nvPr/>
        </p:nvSpPr>
        <p:spPr>
          <a:xfrm rot="-120000">
            <a:off x="365760" y="1371600"/>
            <a:ext cx="2651760" cy="1645920"/>
          </a:xfrm>
          <a:prstGeom prst="roundRect">
            <a:avLst>
              <a:gd name="adj" fmla="val 9444"/>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13" name="ph_27" descr="/home/claude/lls-course/v2/cache/3a2_satnav_jpg_616x374_31.png">    </p:cNvPr>
          <p:cNvPicPr>
            <a:picLocks noChangeAspect="1"/>
          </p:cNvPicPr>
          <p:nvPr/>
        </p:nvPicPr>
        <p:blipFill>
          <a:blip r:embed="rId5"/>
          <a:stretch>
            <a:fillRect/>
          </a:stretch>
        </p:blipFill>
        <p:spPr>
          <a:xfrm rot="-120000">
            <a:off x="411480" y="1417320"/>
            <a:ext cx="2560320" cy="1554480"/>
          </a:xfrm>
          <a:prstGeom prst="rect">
            <a:avLst/>
          </a:prstGeom>
        </p:spPr>
      </p:pic>
      <p:sp>
        <p:nvSpPr>
          <p:cNvPr id="14" name="cd_28"/>
          <p:cNvSpPr/>
          <p:nvPr/>
        </p:nvSpPr>
        <p:spPr>
          <a:xfrm>
            <a:off x="320040" y="3200400"/>
            <a:ext cx="2743200" cy="1402080"/>
          </a:xfrm>
          <a:prstGeom prst="roundRect">
            <a:avLst>
              <a:gd name="adj" fmla="val 9130"/>
            </a:avLst>
          </a:prstGeom>
          <a:solidFill>
            <a:srgbClr val="EEE8FB"/>
          </a:solidFill>
          <a:ln w="28575">
            <a:solidFill>
              <a:srgbClr val="CDBFF3"/>
            </a:solidFill>
            <a:prstDash val="solid"/>
          </a:ln>
          <a:effectLst>
            <a:outerShdw sx="100000" sy="100000" kx="0" ky="0" algn="bl" rotWithShape="0" blurRad="88900" dist="31750" dir="5400000">
              <a:srgbClr val="1B2559">
                <a:alpha val="12000"/>
              </a:srgbClr>
            </a:outerShdw>
          </a:effectLst>
        </p:spPr>
      </p:sp>
      <p:sp>
        <p:nvSpPr>
          <p:cNvPr id="15" name="ii_29"/>
          <p:cNvSpPr/>
          <p:nvPr/>
        </p:nvSpPr>
        <p:spPr>
          <a:xfrm>
            <a:off x="411480" y="327355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6" name="ih_30"/>
          <p:cNvSpPr/>
          <p:nvPr/>
        </p:nvSpPr>
        <p:spPr>
          <a:xfrm>
            <a:off x="886968" y="3291840"/>
            <a:ext cx="2103120" cy="365760"/>
          </a:xfrm>
          <a:prstGeom prst="rect">
            <a:avLst/>
          </a:prstGeom>
          <a:noFill/>
          <a:ln/>
        </p:spPr>
        <p:txBody>
          <a:bodyPr wrap="square" lIns="0" tIns="0" rIns="0" bIns="0" rtlCol="0" anchor="ctr"/>
          <a:lstStyle/>
          <a:p>
            <a:pP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Last lesson…</a:t>
            </a:r>
            <a:endParaRPr lang="en-US" sz="1300" dirty="0"/>
          </a:p>
        </p:txBody>
      </p:sp>
      <p:sp>
        <p:nvSpPr>
          <p:cNvPr id="17" name="il_31"/>
          <p:cNvSpPr/>
          <p:nvPr/>
        </p:nvSpPr>
        <p:spPr>
          <a:xfrm>
            <a:off x="886968" y="3694176"/>
            <a:ext cx="2084832" cy="835152"/>
          </a:xfrm>
          <a:prstGeom prst="rect">
            <a:avLst/>
          </a:prstGeom>
          <a:noFill/>
          <a:ln/>
        </p:spPr>
        <p:txBody>
          <a:bodyPr wrap="square" lIns="0" tIns="0" rIns="0" bIns="0" rtlCol="0" anchor="t">
            <a:normAutofit/>
          </a:bodyPr>
          <a:lstStyle/>
          <a:p>
            <a:pPr marL="152400" indent="-152400">
              <a:spcAft>
                <a:spcPts val="200"/>
              </a:spcAft>
              <a:buSzPct val="100000"/>
              <a:buChar char="•"/>
            </a:pPr>
            <a:r>
              <a:rPr lang="en-US" sz="1100" dirty="0">
                <a:solidFill>
                  <a:srgbClr val="1B2559"/>
                </a:solidFill>
                <a:latin typeface="Segoe UI Semibold" pitchFamily="34" charset="0"/>
                <a:ea typeface="Segoe UI Semibold" pitchFamily="34" charset="-122"/>
                <a:cs typeface="Segoe UI Semibold" pitchFamily="34" charset="-120"/>
              </a:rPr>
              <a:t>3A: Survive the drive</a:t>
            </a:r>
            <a:endParaRPr lang="en-US" sz="1100" dirty="0"/>
          </a:p>
          <a:p>
            <a:pPr marL="152400" indent="-152400">
              <a:spcBef>
                <a:spcPts val="600"/>
              </a:spcBef>
              <a:spcAft>
                <a:spcPts val="200"/>
              </a:spcAft>
              <a:buSzPct val="100000"/>
              <a:buChar char="•"/>
            </a:pPr>
            <a:r>
              <a:rPr lang="en-US" sz="1100" dirty="0">
                <a:solidFill>
                  <a:srgbClr val="1B2559"/>
                </a:solidFill>
                <a:latin typeface="Segoe UI Semibold" pitchFamily="34" charset="0"/>
                <a:ea typeface="Segoe UI Semibold" pitchFamily="34" charset="-122"/>
                <a:cs typeface="Segoe UI Semibold" pitchFamily="34" charset="-120"/>
              </a:rPr>
              <a:t>comparing things: more, the most, as … as</a:t>
            </a:r>
            <a:endParaRPr lang="en-US" sz="1100" dirty="0"/>
          </a:p>
        </p:txBody>
      </p:sp>
      <p:sp>
        <p:nvSpPr>
          <p:cNvPr id="18" name="kw_32"/>
          <p:cNvSpPr/>
          <p:nvPr/>
        </p:nvSpPr>
        <p:spPr>
          <a:xfrm>
            <a:off x="3246120" y="1417320"/>
            <a:ext cx="5623560" cy="292608"/>
          </a:xfrm>
          <a:prstGeom prst="rect">
            <a:avLst/>
          </a:prstGeom>
          <a:noFill/>
          <a:ln/>
        </p:spPr>
        <p:txBody>
          <a:bodyPr wrap="square" lIns="0" tIns="0" rIns="0" bIns="0" rtlCol="0" anchor="ct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 Can you remember these words? What do they mean?</a:t>
            </a:r>
            <a:endParaRPr lang="en-US" sz="1200" dirty="0"/>
          </a:p>
        </p:txBody>
      </p:sp>
      <p:sp>
        <p:nvSpPr>
          <p:cNvPr id="19" name="w_33"/>
          <p:cNvSpPr/>
          <p:nvPr/>
        </p:nvSpPr>
        <p:spPr>
          <a:xfrm>
            <a:off x="3246120" y="1783080"/>
            <a:ext cx="1193292" cy="347472"/>
          </a:xfrm>
          <a:prstGeom prst="roundRect">
            <a:avLst>
              <a:gd name="adj" fmla="val 50000"/>
            </a:avLst>
          </a:prstGeom>
          <a:solidFill>
            <a:srgbClr val="FFE3EE"/>
          </a:solidFill>
          <a:ln w="28575">
            <a:solidFill>
              <a:srgbClr val="F7A6C4"/>
            </a:solidFill>
          </a:ln>
        </p:spPr>
        <p:txBody>
          <a:bodyPr wrap="square" lIns="0" tIns="0" rIns="0" bIns="0" rtlCol="0" anchor="ctr"/>
          <a:lstStyle/>
          <a:p>
            <a:pPr algn="ctr" indent="0" marL="0">
              <a:buNone/>
            </a:pPr>
            <a:r>
              <a:rPr lang="en-US" sz="1200" dirty="0">
                <a:solidFill>
                  <a:srgbClr val="1B2559"/>
                </a:solidFill>
                <a:latin typeface="Segoe UI Semibold" pitchFamily="34" charset="0"/>
                <a:ea typeface="Segoe UI Semibold" pitchFamily="34" charset="-122"/>
                <a:cs typeface="Segoe UI Semibold" pitchFamily="34" charset="-120"/>
              </a:rPr>
              <a:t>dangerous</a:t>
            </a:r>
            <a:endParaRPr lang="en-US" sz="1200" dirty="0"/>
          </a:p>
        </p:txBody>
      </p:sp>
      <p:sp>
        <p:nvSpPr>
          <p:cNvPr id="20" name="w_34"/>
          <p:cNvSpPr/>
          <p:nvPr/>
        </p:nvSpPr>
        <p:spPr>
          <a:xfrm>
            <a:off x="4530852" y="1783080"/>
            <a:ext cx="932688" cy="347472"/>
          </a:xfrm>
          <a:prstGeom prst="roundRect">
            <a:avLst>
              <a:gd name="adj" fmla="val 50000"/>
            </a:avLst>
          </a:prstGeom>
          <a:solidFill>
            <a:srgbClr val="E3F1FD"/>
          </a:solidFill>
          <a:ln w="28575">
            <a:solidFill>
              <a:srgbClr val="A9D3F5"/>
            </a:solidFill>
          </a:ln>
        </p:spPr>
        <p:txBody>
          <a:bodyPr wrap="square" lIns="0" tIns="0" rIns="0" bIns="0" rtlCol="0" anchor="ctr"/>
          <a:lstStyle/>
          <a:p>
            <a:pPr algn="ctr" indent="0" marL="0">
              <a:buNone/>
            </a:pPr>
            <a:r>
              <a:rPr lang="en-US" sz="1200" dirty="0">
                <a:solidFill>
                  <a:srgbClr val="1B2559"/>
                </a:solidFill>
                <a:latin typeface="Segoe UI Semibold" pitchFamily="34" charset="0"/>
                <a:ea typeface="Segoe UI Semibold" pitchFamily="34" charset="-122"/>
                <a:cs typeface="Segoe UI Semibold" pitchFamily="34" charset="-120"/>
              </a:rPr>
              <a:t>likely</a:t>
            </a:r>
            <a:endParaRPr lang="en-US" sz="1200" dirty="0"/>
          </a:p>
        </p:txBody>
      </p:sp>
      <p:sp>
        <p:nvSpPr>
          <p:cNvPr id="21" name="w_35"/>
          <p:cNvSpPr/>
          <p:nvPr/>
        </p:nvSpPr>
        <p:spPr>
          <a:xfrm>
            <a:off x="5554980" y="1783080"/>
            <a:ext cx="1714500" cy="347472"/>
          </a:xfrm>
          <a:prstGeom prst="roundRect">
            <a:avLst>
              <a:gd name="adj" fmla="val 50000"/>
            </a:avLst>
          </a:prstGeom>
          <a:solidFill>
            <a:srgbClr val="E3F7EA"/>
          </a:solidFill>
          <a:ln w="28575">
            <a:solidFill>
              <a:srgbClr val="A8E5BE"/>
            </a:solidFill>
          </a:ln>
        </p:spPr>
        <p:txBody>
          <a:bodyPr wrap="square" lIns="0" tIns="0" rIns="0" bIns="0" rtlCol="0" anchor="ctr"/>
          <a:lstStyle/>
          <a:p>
            <a:pPr algn="ctr" indent="0" marL="0">
              <a:buNone/>
            </a:pPr>
            <a:r>
              <a:rPr lang="en-US" sz="1200" dirty="0">
                <a:solidFill>
                  <a:srgbClr val="1B2559"/>
                </a:solidFill>
                <a:latin typeface="Segoe UI Semibold" pitchFamily="34" charset="0"/>
                <a:ea typeface="Segoe UI Semibold" pitchFamily="34" charset="-122"/>
                <a:cs typeface="Segoe UI Semibold" pitchFamily="34" charset="-120"/>
              </a:rPr>
              <a:t>twice as likely</a:t>
            </a:r>
            <a:endParaRPr lang="en-US" sz="1200" dirty="0"/>
          </a:p>
        </p:txBody>
      </p:sp>
      <p:sp>
        <p:nvSpPr>
          <p:cNvPr id="22" name="w_36"/>
          <p:cNvSpPr/>
          <p:nvPr/>
        </p:nvSpPr>
        <p:spPr>
          <a:xfrm>
            <a:off x="7360920" y="1783080"/>
            <a:ext cx="932688" cy="347472"/>
          </a:xfrm>
          <a:prstGeom prst="roundRect">
            <a:avLst>
              <a:gd name="adj" fmla="val 50000"/>
            </a:avLst>
          </a:prstGeom>
          <a:solidFill>
            <a:srgbClr val="FFF6CC"/>
          </a:solidFill>
          <a:ln w="28575">
            <a:solidFill>
              <a:srgbClr val="FFE07A"/>
            </a:solidFill>
          </a:ln>
        </p:spPr>
        <p:txBody>
          <a:bodyPr wrap="square" lIns="0" tIns="0" rIns="0" bIns="0" rtlCol="0" anchor="ctr"/>
          <a:lstStyle/>
          <a:p>
            <a:pPr algn="ctr" indent="0" marL="0">
              <a:buNone/>
            </a:pPr>
            <a:r>
              <a:rPr lang="en-US" sz="1200" dirty="0">
                <a:solidFill>
                  <a:srgbClr val="1B2559"/>
                </a:solidFill>
                <a:latin typeface="Segoe UI Semibold" pitchFamily="34" charset="0"/>
                <a:ea typeface="Segoe UI Semibold" pitchFamily="34" charset="-122"/>
                <a:cs typeface="Segoe UI Semibold" pitchFamily="34" charset="-120"/>
              </a:rPr>
              <a:t>satnav</a:t>
            </a:r>
            <a:endParaRPr lang="en-US" sz="1200" dirty="0"/>
          </a:p>
        </p:txBody>
      </p:sp>
      <p:sp>
        <p:nvSpPr>
          <p:cNvPr id="23" name="w_37"/>
          <p:cNvSpPr/>
          <p:nvPr/>
        </p:nvSpPr>
        <p:spPr>
          <a:xfrm>
            <a:off x="3246120" y="2185416"/>
            <a:ext cx="1193292" cy="347472"/>
          </a:xfrm>
          <a:prstGeom prst="roundRect">
            <a:avLst>
              <a:gd name="adj" fmla="val 50000"/>
            </a:avLst>
          </a:prstGeom>
          <a:solidFill>
            <a:srgbClr val="FFE3EE"/>
          </a:solidFill>
          <a:ln w="28575">
            <a:solidFill>
              <a:srgbClr val="F7A6C4"/>
            </a:solidFill>
          </a:ln>
        </p:spPr>
        <p:txBody>
          <a:bodyPr wrap="square" lIns="0" tIns="0" rIns="0" bIns="0" rtlCol="0" anchor="ctr"/>
          <a:lstStyle/>
          <a:p>
            <a:pPr algn="ctr" indent="0" marL="0">
              <a:buNone/>
            </a:pPr>
            <a:r>
              <a:rPr lang="en-US" sz="1200" dirty="0">
                <a:solidFill>
                  <a:srgbClr val="1B2559"/>
                </a:solidFill>
                <a:latin typeface="Segoe UI Semibold" pitchFamily="34" charset="0"/>
                <a:ea typeface="Segoe UI Semibold" pitchFamily="34" charset="-122"/>
                <a:cs typeface="Segoe UI Semibold" pitchFamily="34" charset="-120"/>
              </a:rPr>
              <a:t>passenger</a:t>
            </a:r>
            <a:endParaRPr lang="en-US" sz="1200" dirty="0"/>
          </a:p>
        </p:txBody>
      </p:sp>
      <p:sp>
        <p:nvSpPr>
          <p:cNvPr id="24" name="w_38"/>
          <p:cNvSpPr/>
          <p:nvPr/>
        </p:nvSpPr>
        <p:spPr>
          <a:xfrm>
            <a:off x="4530852" y="2185416"/>
            <a:ext cx="1193292" cy="347472"/>
          </a:xfrm>
          <a:prstGeom prst="roundRect">
            <a:avLst>
              <a:gd name="adj" fmla="val 50000"/>
            </a:avLst>
          </a:prstGeom>
          <a:solidFill>
            <a:srgbClr val="E3F1FD"/>
          </a:solidFill>
          <a:ln w="28575">
            <a:solidFill>
              <a:srgbClr val="A9D3F5"/>
            </a:solidFill>
          </a:ln>
        </p:spPr>
        <p:txBody>
          <a:bodyPr wrap="square" lIns="0" tIns="0" rIns="0" bIns="0" rtlCol="0" anchor="ctr"/>
          <a:lstStyle/>
          <a:p>
            <a:pPr algn="ctr" indent="0" marL="0">
              <a:buNone/>
            </a:pPr>
            <a:r>
              <a:rPr lang="en-US" sz="1200" dirty="0">
                <a:solidFill>
                  <a:srgbClr val="1B2559"/>
                </a:solidFill>
                <a:latin typeface="Segoe UI Semibold" pitchFamily="34" charset="0"/>
                <a:ea typeface="Segoe UI Semibold" pitchFamily="34" charset="-122"/>
                <a:cs typeface="Segoe UI Semibold" pitchFamily="34" charset="-120"/>
              </a:rPr>
              <a:t>reach for</a:t>
            </a:r>
            <a:endParaRPr lang="en-US" sz="1200" dirty="0"/>
          </a:p>
        </p:txBody>
      </p:sp>
      <p:sp>
        <p:nvSpPr>
          <p:cNvPr id="25" name="w_39"/>
          <p:cNvSpPr/>
          <p:nvPr/>
        </p:nvSpPr>
        <p:spPr>
          <a:xfrm>
            <a:off x="5815584" y="2185416"/>
            <a:ext cx="932688" cy="347472"/>
          </a:xfrm>
          <a:prstGeom prst="roundRect">
            <a:avLst>
              <a:gd name="adj" fmla="val 50000"/>
            </a:avLst>
          </a:prstGeom>
          <a:solidFill>
            <a:srgbClr val="E3F7EA"/>
          </a:solidFill>
          <a:ln w="28575">
            <a:solidFill>
              <a:srgbClr val="A8E5BE"/>
            </a:solidFill>
          </a:ln>
        </p:spPr>
        <p:txBody>
          <a:bodyPr wrap="square" lIns="0" tIns="0" rIns="0" bIns="0" rtlCol="0" anchor="ctr"/>
          <a:lstStyle/>
          <a:p>
            <a:pPr algn="ctr" indent="0" marL="0">
              <a:buNone/>
            </a:pPr>
            <a:r>
              <a:rPr lang="en-US" sz="1200" dirty="0">
                <a:solidFill>
                  <a:srgbClr val="1B2559"/>
                </a:solidFill>
                <a:latin typeface="Segoe UI Semibold" pitchFamily="34" charset="0"/>
                <a:ea typeface="Segoe UI Semibold" pitchFamily="34" charset="-122"/>
                <a:cs typeface="Segoe UI Semibold" pitchFamily="34" charset="-120"/>
              </a:rPr>
              <a:t>adjust</a:t>
            </a:r>
            <a:endParaRPr lang="en-US" sz="1200" dirty="0"/>
          </a:p>
        </p:txBody>
      </p:sp>
      <p:sp>
        <p:nvSpPr>
          <p:cNvPr id="26" name="w_40"/>
          <p:cNvSpPr/>
          <p:nvPr/>
        </p:nvSpPr>
        <p:spPr>
          <a:xfrm>
            <a:off x="6839712" y="2185416"/>
            <a:ext cx="1367028" cy="347472"/>
          </a:xfrm>
          <a:prstGeom prst="roundRect">
            <a:avLst>
              <a:gd name="adj" fmla="val 50000"/>
            </a:avLst>
          </a:prstGeom>
          <a:solidFill>
            <a:srgbClr val="FFF6CC"/>
          </a:solidFill>
          <a:ln w="28575">
            <a:solidFill>
              <a:srgbClr val="FFE07A"/>
            </a:solidFill>
          </a:ln>
        </p:spPr>
        <p:txBody>
          <a:bodyPr wrap="square" lIns="0" tIns="0" rIns="0" bIns="0" rtlCol="0" anchor="ctr"/>
          <a:lstStyle/>
          <a:p>
            <a:pPr algn="ctr" indent="0" marL="0">
              <a:buNone/>
            </a:pPr>
            <a:r>
              <a:rPr lang="en-US" sz="1200" dirty="0">
                <a:solidFill>
                  <a:srgbClr val="1B2559"/>
                </a:solidFill>
                <a:latin typeface="Segoe UI Semibold" pitchFamily="34" charset="0"/>
                <a:ea typeface="Segoe UI Semibold" pitchFamily="34" charset="-122"/>
                <a:cs typeface="Segoe UI Semibold" pitchFamily="34" charset="-120"/>
              </a:rPr>
              <a:t>distracting</a:t>
            </a:r>
            <a:endParaRPr lang="en-US" sz="1200" dirty="0"/>
          </a:p>
        </p:txBody>
      </p:sp>
      <p:sp>
        <p:nvSpPr>
          <p:cNvPr id="27" name="lv_41"/>
          <p:cNvSpPr/>
          <p:nvPr/>
        </p:nvSpPr>
        <p:spPr>
          <a:xfrm>
            <a:off x="3246120" y="2642616"/>
            <a:ext cx="1813560" cy="384048"/>
          </a:xfrm>
          <a:prstGeom prst="roundRect">
            <a:avLst>
              <a:gd name="adj" fmla="val 28571"/>
            </a:avLst>
          </a:prstGeom>
          <a:solidFill>
            <a:srgbClr val="FFFFFF"/>
          </a:solidFill>
          <a:ln w="28575">
            <a:solidFill>
              <a:srgbClr val="CDBFF3"/>
            </a:solidFill>
          </a:ln>
        </p:spPr>
        <p:txBody>
          <a:bodyPr wrap="square" lIns="50800" tIns="0" rIns="50800" bIns="0" rtlCol="0" anchor="ctr">
            <a:normAutofit/>
          </a:bodyPr>
          <a:lstStyle/>
          <a:p>
            <a:pPr algn="ctr" indent="0" marL="0">
              <a:buNone/>
            </a:pPr>
            <a:r>
              <a:rPr lang="en-US" sz="1000" dirty="0">
                <a:solidFill>
                  <a:srgbClr val="000000"/>
                </a:solidFill>
              </a:rPr>
              <a:t>⭐ </a:t>
            </a:r>
            <a:pPr algn="ctr" indent="0" marL="0">
              <a:buNone/>
            </a:pPr>
            <a:r>
              <a:rPr lang="en-US" sz="1100" dirty="0">
                <a:solidFill>
                  <a:srgbClr val="1B2559"/>
                </a:solidFill>
                <a:latin typeface="Segoe UI Semibold" pitchFamily="34" charset="0"/>
                <a:ea typeface="Segoe UI Semibold" pitchFamily="34" charset="-122"/>
                <a:cs typeface="Segoe UI Semibold" pitchFamily="34" charset="-120"/>
              </a:rPr>
              <a:t>What does it mean?</a:t>
            </a:r>
            <a:endParaRPr lang="en-US" sz="1000" dirty="0"/>
          </a:p>
        </p:txBody>
      </p:sp>
      <p:sp>
        <p:nvSpPr>
          <p:cNvPr id="28" name="lv_42"/>
          <p:cNvSpPr/>
          <p:nvPr/>
        </p:nvSpPr>
        <p:spPr>
          <a:xfrm>
            <a:off x="5151120" y="2642616"/>
            <a:ext cx="1813560" cy="384048"/>
          </a:xfrm>
          <a:prstGeom prst="roundRect">
            <a:avLst>
              <a:gd name="adj" fmla="val 28571"/>
            </a:avLst>
          </a:prstGeom>
          <a:solidFill>
            <a:srgbClr val="FFFFFF"/>
          </a:solidFill>
          <a:ln w="28575">
            <a:solidFill>
              <a:srgbClr val="CDBFF3"/>
            </a:solidFill>
          </a:ln>
        </p:spPr>
        <p:txBody>
          <a:bodyPr wrap="square" lIns="50800" tIns="0" rIns="50800" bIns="0" rtlCol="0" anchor="ctr">
            <a:normAutofit/>
          </a:bodyPr>
          <a:lstStyle/>
          <a:p>
            <a:pPr algn="ctr" indent="0" marL="0">
              <a:buNone/>
            </a:pPr>
            <a:r>
              <a:rPr lang="en-US" sz="1000" dirty="0">
                <a:solidFill>
                  <a:srgbClr val="000000"/>
                </a:solidFill>
              </a:rPr>
              <a:t>⭐⭐ </a:t>
            </a:r>
            <a:pPr algn="ctr" indent="0" marL="0">
              <a:buNone/>
            </a:pPr>
            <a:r>
              <a:rPr lang="en-US" sz="1100" dirty="0">
                <a:solidFill>
                  <a:srgbClr val="1B2559"/>
                </a:solidFill>
                <a:latin typeface="Segoe UI Semibold" pitchFamily="34" charset="0"/>
                <a:ea typeface="Segoe UI Semibold" pitchFamily="34" charset="-122"/>
                <a:cs typeface="Segoe UI Semibold" pitchFamily="34" charset="-120"/>
              </a:rPr>
              <a:t>Use it in a sentence.</a:t>
            </a:r>
            <a:endParaRPr lang="en-US" sz="1000" dirty="0"/>
          </a:p>
        </p:txBody>
      </p:sp>
      <p:sp>
        <p:nvSpPr>
          <p:cNvPr id="29" name="lv_43"/>
          <p:cNvSpPr/>
          <p:nvPr/>
        </p:nvSpPr>
        <p:spPr>
          <a:xfrm>
            <a:off x="7056120" y="2642616"/>
            <a:ext cx="1813560" cy="384048"/>
          </a:xfrm>
          <a:prstGeom prst="roundRect">
            <a:avLst>
              <a:gd name="adj" fmla="val 28571"/>
            </a:avLst>
          </a:prstGeom>
          <a:solidFill>
            <a:srgbClr val="FFFFFF"/>
          </a:solidFill>
          <a:ln w="28575">
            <a:solidFill>
              <a:srgbClr val="CDBFF3"/>
            </a:solidFill>
          </a:ln>
        </p:spPr>
        <p:txBody>
          <a:bodyPr wrap="square" lIns="50800" tIns="0" rIns="50800" bIns="0" rtlCol="0" anchor="ctr">
            <a:normAutofit/>
          </a:bodyPr>
          <a:lstStyle/>
          <a:p>
            <a:pPr algn="ctr" indent="0" marL="0">
              <a:buNone/>
            </a:pPr>
            <a:r>
              <a:rPr lang="en-US" sz="950" dirty="0">
                <a:solidFill>
                  <a:srgbClr val="000000"/>
                </a:solidFill>
              </a:rPr>
              <a:t>⭐⭐⭐ </a:t>
            </a:r>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Make it negative or a question!</a:t>
            </a:r>
            <a:endParaRPr lang="en-US" sz="950" dirty="0"/>
          </a:p>
        </p:txBody>
      </p:sp>
      <p:sp>
        <p:nvSpPr>
          <p:cNvPr id="30" name="cd_44"/>
          <p:cNvSpPr/>
          <p:nvPr/>
        </p:nvSpPr>
        <p:spPr>
          <a:xfrm>
            <a:off x="3246120" y="3172968"/>
            <a:ext cx="2756916" cy="1581912"/>
          </a:xfrm>
          <a:prstGeom prst="roundRect">
            <a:avLst>
              <a:gd name="adj" fmla="val 8092"/>
            </a:avLst>
          </a:prstGeom>
          <a:solidFill>
            <a:srgbClr val="FFFFFF"/>
          </a:solidFill>
          <a:ln w="28575">
            <a:solidFill>
              <a:srgbClr val="F7A6C4"/>
            </a:solidFill>
            <a:prstDash val="solid"/>
          </a:ln>
          <a:effectLst>
            <a:outerShdw sx="100000" sy="100000" kx="0" ky="0" algn="bl" rotWithShape="0" blurRad="88900" dist="31750" dir="5400000">
              <a:srgbClr val="1B2559">
                <a:alpha val="12000"/>
              </a:srgbClr>
            </a:outerShdw>
          </a:effectLst>
        </p:spPr>
      </p:sp>
      <p:sp>
        <p:nvSpPr>
          <p:cNvPr id="31" name="rh_45"/>
          <p:cNvSpPr/>
          <p:nvPr/>
        </p:nvSpPr>
        <p:spPr>
          <a:xfrm>
            <a:off x="3337560" y="3246120"/>
            <a:ext cx="2574036" cy="310896"/>
          </a:xfrm>
          <a:prstGeom prst="roundRect">
            <a:avLst>
              <a:gd name="adj" fmla="val 50000"/>
            </a:avLst>
          </a:prstGeom>
          <a:solidFill>
            <a:srgbClr val="E8508F"/>
          </a:solidFill>
          <a:ln/>
        </p:spPr>
        <p:txBody>
          <a:bodyPr wrap="square" lIns="0" tIns="0" rIns="0" bIns="0" rtlCol="0" anchor="ctr">
            <a:normAutofit/>
          </a:bodyP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Your turn: </a:t>
            </a:r>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Comparing two things</a:t>
            </a:r>
            <a:endParaRPr lang="en-US" sz="1100" dirty="0"/>
          </a:p>
        </p:txBody>
      </p:sp>
      <p:sp>
        <p:nvSpPr>
          <p:cNvPr id="32" name="rf_46"/>
          <p:cNvSpPr/>
          <p:nvPr/>
        </p:nvSpPr>
        <p:spPr>
          <a:xfrm>
            <a:off x="3383280" y="3593592"/>
            <a:ext cx="2482596" cy="292608"/>
          </a:xfrm>
          <a:prstGeom prst="rect">
            <a:avLst/>
          </a:prstGeom>
          <a:noFill/>
          <a:ln/>
        </p:spPr>
        <p:txBody>
          <a:bodyPr wrap="square" lIns="0" tIns="0" rIns="0" bIns="0" rtlCol="0" anchor="ctr">
            <a:normAutofit/>
          </a:bodyPr>
          <a:lstStyle/>
          <a:p>
            <a:pPr indent="0" marL="0">
              <a:buNone/>
            </a:pPr>
            <a:r>
              <a:rPr lang="en-US" sz="850" i="1" dirty="0">
                <a:solidFill>
                  <a:srgbClr val="5B6785"/>
                </a:solidFill>
                <a:latin typeface="Segoe UI Semibold" pitchFamily="34" charset="0"/>
                <a:ea typeface="Segoe UI Semibold" pitchFamily="34" charset="-122"/>
                <a:cs typeface="Segoe UI Semibold" pitchFamily="34" charset="-120"/>
              </a:rPr>
              <a:t>Make a -er / more / less … than · a (not) as … as</a:t>
            </a:r>
            <a:endParaRPr lang="en-US" sz="850" dirty="0"/>
          </a:p>
        </p:txBody>
      </p:sp>
      <p:sp>
        <p:nvSpPr>
          <p:cNvPr id="33" name="R1_rl47"/>
          <p:cNvSpPr/>
          <p:nvPr/>
        </p:nvSpPr>
        <p:spPr>
          <a:xfrm>
            <a:off x="3383280" y="3922776"/>
            <a:ext cx="2482596" cy="758952"/>
          </a:xfrm>
          <a:prstGeom prst="rect">
            <a:avLst/>
          </a:prstGeom>
          <a:solidFill>
            <a:srgbClr val="FFFFFF"/>
          </a:solidFill>
          <a:ln/>
        </p:spPr>
        <p:txBody>
          <a:bodyPr wrap="square" lIns="0" tIns="0" rIns="0" bIns="0" rtlCol="0" anchor="t">
            <a:normAutofit/>
          </a:bodyPr>
          <a:lstStyle/>
          <a:p>
            <a:pPr indent="0" marL="0">
              <a:spcAft>
                <a:spcPts val="300"/>
              </a:spcAft>
              <a:buNone/>
            </a:pPr>
            <a:r>
              <a:rPr lang="en-US" sz="800" dirty="0">
                <a:solidFill>
                  <a:srgbClr val="1B2559"/>
                </a:solidFill>
                <a:latin typeface="Segoe UI Semibold" pitchFamily="34" charset="0"/>
                <a:ea typeface="Segoe UI Semibold" pitchFamily="34" charset="-122"/>
                <a:cs typeface="Segoe UI Semibold" pitchFamily="34" charset="-120"/>
              </a:rPr>
              <a:t>Feeling emotional is more dangerous than feeling tired.</a:t>
            </a:r>
            <a:endParaRPr lang="en-US" sz="800" dirty="0"/>
          </a:p>
          <a:p>
            <a:pPr indent="0" marL="0">
              <a:spcAft>
                <a:spcPts val="300"/>
              </a:spcAft>
              <a:buNone/>
            </a:pPr>
            <a:r>
              <a:rPr lang="en-US" sz="800" dirty="0">
                <a:solidFill>
                  <a:srgbClr val="1B2559"/>
                </a:solidFill>
                <a:latin typeface="Segoe UI Semibold" pitchFamily="34" charset="0"/>
                <a:ea typeface="Segoe UI Semibold" pitchFamily="34" charset="-122"/>
                <a:cs typeface="Segoe UI Semibold" pitchFamily="34" charset="-120"/>
              </a:rPr>
              <a:t>Talking to a passenger isn't as dangerous as adjusting the radio.</a:t>
            </a:r>
            <a:endParaRPr lang="en-US" sz="800" dirty="0"/>
          </a:p>
          <a:p>
            <a:pPr indent="0" marL="0">
              <a:spcAft>
                <a:spcPts val="300"/>
              </a:spcAft>
              <a:buNone/>
            </a:pPr>
            <a:r>
              <a:rPr lang="en-US" sz="800" dirty="0">
                <a:solidFill>
                  <a:srgbClr val="1B2559"/>
                </a:solidFill>
                <a:latin typeface="Segoe UI Semibold" pitchFamily="34" charset="0"/>
                <a:ea typeface="Segoe UI Semibold" pitchFamily="34" charset="-122"/>
                <a:cs typeface="Segoe UI Semibold" pitchFamily="34" charset="-120"/>
              </a:rPr>
              <a:t>My mum drives more carefully than my dad.</a:t>
            </a:r>
            <a:endParaRPr lang="en-US" sz="800" dirty="0"/>
          </a:p>
        </p:txBody>
      </p:sp>
      <p:sp>
        <p:nvSpPr>
          <p:cNvPr id="34" name="cd_48"/>
          <p:cNvSpPr/>
          <p:nvPr/>
        </p:nvSpPr>
        <p:spPr>
          <a:xfrm>
            <a:off x="6112764" y="3172968"/>
            <a:ext cx="2756916" cy="1581912"/>
          </a:xfrm>
          <a:prstGeom prst="roundRect">
            <a:avLst>
              <a:gd name="adj" fmla="val 8092"/>
            </a:avLst>
          </a:prstGeom>
          <a:solidFill>
            <a:srgbClr val="FFFFFF"/>
          </a:solidFill>
          <a:ln w="28575">
            <a:solidFill>
              <a:srgbClr val="A9D3F5"/>
            </a:solidFill>
            <a:prstDash val="solid"/>
          </a:ln>
          <a:effectLst>
            <a:outerShdw sx="100000" sy="100000" kx="0" ky="0" algn="bl" rotWithShape="0" blurRad="88900" dist="31750" dir="5400000">
              <a:srgbClr val="1B2559">
                <a:alpha val="12000"/>
              </a:srgbClr>
            </a:outerShdw>
          </a:effectLst>
        </p:spPr>
      </p:sp>
      <p:sp>
        <p:nvSpPr>
          <p:cNvPr id="35" name="rh_49"/>
          <p:cNvSpPr/>
          <p:nvPr/>
        </p:nvSpPr>
        <p:spPr>
          <a:xfrm>
            <a:off x="6204204" y="3246120"/>
            <a:ext cx="2574036" cy="310896"/>
          </a:xfrm>
          <a:prstGeom prst="roundRect">
            <a:avLst>
              <a:gd name="adj" fmla="val 50000"/>
            </a:avLst>
          </a:prstGeom>
          <a:solidFill>
            <a:srgbClr val="2F8DE4"/>
          </a:solidFill>
          <a:ln/>
        </p:spPr>
        <p:txBody>
          <a:bodyPr wrap="square" lIns="0" tIns="0" rIns="0" bIns="0" rtlCol="0" anchor="ctr">
            <a:normAutofit/>
          </a:bodyP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Your turn: </a:t>
            </a:r>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The most / the least</a:t>
            </a:r>
            <a:endParaRPr lang="en-US" sz="1100" dirty="0"/>
          </a:p>
        </p:txBody>
      </p:sp>
      <p:sp>
        <p:nvSpPr>
          <p:cNvPr id="36" name="rf_50"/>
          <p:cNvSpPr/>
          <p:nvPr/>
        </p:nvSpPr>
        <p:spPr>
          <a:xfrm>
            <a:off x="6249924" y="3593592"/>
            <a:ext cx="2482596" cy="292608"/>
          </a:xfrm>
          <a:prstGeom prst="rect">
            <a:avLst/>
          </a:prstGeom>
          <a:noFill/>
          <a:ln/>
        </p:spPr>
        <p:txBody>
          <a:bodyPr wrap="square" lIns="0" tIns="0" rIns="0" bIns="0" rtlCol="0" anchor="ctr">
            <a:normAutofit/>
          </a:bodyPr>
          <a:lstStyle/>
          <a:p>
            <a:pPr indent="0" marL="0">
              <a:buNone/>
            </a:pPr>
            <a:r>
              <a:rPr lang="en-US" sz="850" i="1" dirty="0">
                <a:solidFill>
                  <a:srgbClr val="5B6785"/>
                </a:solidFill>
                <a:latin typeface="Segoe UI Semibold" pitchFamily="34" charset="0"/>
                <a:ea typeface="Segoe UI Semibold" pitchFamily="34" charset="-122"/>
                <a:cs typeface="Segoe UI Semibold" pitchFamily="34" charset="-120"/>
              </a:rPr>
              <a:t>Make a the -est · a the most · a the least · an ever</a:t>
            </a:r>
            <a:endParaRPr lang="en-US" sz="850" dirty="0"/>
          </a:p>
        </p:txBody>
      </p:sp>
      <p:sp>
        <p:nvSpPr>
          <p:cNvPr id="37" name="R2_rl51"/>
          <p:cNvSpPr/>
          <p:nvPr/>
        </p:nvSpPr>
        <p:spPr>
          <a:xfrm>
            <a:off x="6249924" y="3922776"/>
            <a:ext cx="2482596" cy="758952"/>
          </a:xfrm>
          <a:prstGeom prst="rect">
            <a:avLst/>
          </a:prstGeom>
          <a:solidFill>
            <a:srgbClr val="FFFFFF"/>
          </a:solidFill>
          <a:ln/>
        </p:spPr>
        <p:txBody>
          <a:bodyPr wrap="square" lIns="0" tIns="0" rIns="0" bIns="0" rtlCol="0" anchor="t">
            <a:normAutofit/>
          </a:bodyPr>
          <a:lstStyle/>
          <a:p>
            <a:pPr indent="0" marL="0">
              <a:spcAft>
                <a:spcPts val="300"/>
              </a:spcAft>
              <a:buNone/>
            </a:pPr>
            <a:r>
              <a:rPr lang="en-US" sz="800" dirty="0">
                <a:solidFill>
                  <a:srgbClr val="1B2559"/>
                </a:solidFill>
                <a:latin typeface="Segoe UI Semibold" pitchFamily="34" charset="0"/>
                <a:ea typeface="Segoe UI Semibold" pitchFamily="34" charset="-122"/>
                <a:cs typeface="Segoe UI Semibold" pitchFamily="34" charset="-120"/>
              </a:rPr>
              <a:t>Feeling emotional is the most dangerous thing.</a:t>
            </a:r>
            <a:endParaRPr lang="en-US" sz="800" dirty="0"/>
          </a:p>
          <a:p>
            <a:pPr indent="0" marL="0">
              <a:spcAft>
                <a:spcPts val="300"/>
              </a:spcAft>
              <a:buNone/>
            </a:pPr>
            <a:r>
              <a:rPr lang="en-US" sz="800" dirty="0">
                <a:solidFill>
                  <a:srgbClr val="1B2559"/>
                </a:solidFill>
                <a:latin typeface="Segoe UI Semibold" pitchFamily="34" charset="0"/>
                <a:ea typeface="Segoe UI Semibold" pitchFamily="34" charset="-122"/>
                <a:cs typeface="Segoe UI Semibold" pitchFamily="34" charset="-120"/>
              </a:rPr>
              <a:t>Talking to a passenger is the least dangerous.</a:t>
            </a:r>
            <a:endParaRPr lang="en-US" sz="800" dirty="0"/>
          </a:p>
          <a:p>
            <a:pPr indent="0" marL="0">
              <a:spcAft>
                <a:spcPts val="300"/>
              </a:spcAft>
              <a:buNone/>
            </a:pPr>
            <a:r>
              <a:rPr lang="en-US" sz="800" dirty="0">
                <a:solidFill>
                  <a:srgbClr val="1B2559"/>
                </a:solidFill>
                <a:latin typeface="Segoe UI Semibold" pitchFamily="34" charset="0"/>
                <a:ea typeface="Segoe UI Semibold" pitchFamily="34" charset="-122"/>
                <a:cs typeface="Segoe UI Semibold" pitchFamily="34" charset="-120"/>
              </a:rPr>
              <a:t>Rush hour is the worst time to drive.</a:t>
            </a:r>
            <a:endParaRPr lang="en-US" sz="8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33"/>
                                        </p:tgtEl>
                                        <p:attrNameLst>
                                          <p:attrName>style.visibility</p:attrName>
                                        </p:attrNameLst>
                                      </p:cBhvr>
                                      <p:to>
                                        <p:strVal val="visible"/>
                                      </p:to>
                                    </p:set>
                                    <p:animEffect transition="in" filter="fade">
                                      <p:cBhvr>
                                        <p:cTn id="7" dur="400"/>
                                        <p:tgtEl>
                                          <p:spTgt spid="33"/>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37"/>
                                        </p:tgtEl>
                                        <p:attrNameLst>
                                          <p:attrName>style.visibility</p:attrName>
                                        </p:attrNameLst>
                                      </p:cBhvr>
                                      <p:to>
                                        <p:strVal val="visible"/>
                                      </p:to>
                                    </p:set>
                                    <p:animEffect transition="in" filter="fade">
                                      <p:cBhvr>
                                        <p:cTn id="12" dur="400"/>
                                        <p:tgtEl>
                                          <p:spTgt spid="3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xml><?xml version="1.0" encoding="utf-8"?>
<p:sld xmlns:a="http://schemas.openxmlformats.org/drawingml/2006/main" xmlns:r="http://schemas.openxmlformats.org/officeDocument/2006/relationships" xmlns:p="http://schemas.openxmlformats.org/presentationml/2006/main">
  <p:cSld name="Slide 3">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52"/>
          <p:cNvSpPr/>
          <p:nvPr/>
        </p:nvSpPr>
        <p:spPr>
          <a:xfrm>
            <a:off x="201168" y="164592"/>
            <a:ext cx="841248" cy="841248"/>
          </a:xfrm>
          <a:prstGeom prst="ellipse">
            <a:avLst/>
          </a:prstGeom>
          <a:solidFill>
            <a:srgbClr val="E8508F"/>
          </a:solidFill>
          <a:ln w="28575">
            <a:solidFill>
              <a:srgbClr val="F7A6C4"/>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800" dirty="0">
                <a:solidFill>
                  <a:srgbClr val="FFFFFF"/>
                </a:solidFill>
                <a:latin typeface="Arial Rounded MT Bold" pitchFamily="34" charset="0"/>
                <a:ea typeface="Arial Rounded MT Bold" pitchFamily="34" charset="-122"/>
                <a:cs typeface="Arial Rounded MT Bold" pitchFamily="34" charset="-120"/>
              </a:rPr>
              <a:t>3</a:t>
            </a:r>
            <a:endParaRPr lang="en-US" sz="2800" dirty="0"/>
          </a:p>
        </p:txBody>
      </p:sp>
      <p:pic>
        <p:nvPicPr>
          <p:cNvPr id="4" name="brY_53" descr="/home/claude/lls-course/v2/assets/brush-yellow.png">    </p:cNvPr>
          <p:cNvPicPr>
            <a:picLocks noChangeAspect="1"/>
          </p:cNvPicPr>
          <p:nvPr/>
        </p:nvPicPr>
        <p:blipFill>
          <a:blip r:embed="rId2"/>
          <a:stretch>
            <a:fillRect/>
          </a:stretch>
        </p:blipFill>
        <p:spPr>
          <a:xfrm>
            <a:off x="1097280" y="146304"/>
            <a:ext cx="4191610" cy="621792"/>
          </a:xfrm>
          <a:prstGeom prst="rect">
            <a:avLst/>
          </a:prstGeom>
        </p:spPr>
      </p:pic>
      <p:sp>
        <p:nvSpPr>
          <p:cNvPr id="5" name="title_54"/>
          <p:cNvSpPr/>
          <p:nvPr/>
        </p:nvSpPr>
        <p:spPr>
          <a:xfrm>
            <a:off x="1261872" y="164592"/>
            <a:ext cx="3917290" cy="566928"/>
          </a:xfrm>
          <a:prstGeom prst="rect">
            <a:avLst/>
          </a:prstGeom>
          <a:noFill/>
          <a:ln/>
        </p:spPr>
        <p:txBody>
          <a:bodyPr wrap="square" lIns="0" tIns="0" rIns="0" bIns="0" rtlCol="0" anchor="ctr">
            <a:normAutofit/>
          </a:bodyPr>
          <a:lstStyle/>
          <a:p>
            <a:pPr indent="0" marL="0">
              <a:buNone/>
            </a:pPr>
            <a:r>
              <a:rPr lang="en-US" sz="2400" dirty="0">
                <a:solidFill>
                  <a:srgbClr val="1B2559"/>
                </a:solidFill>
                <a:latin typeface="Arial Rounded MT Bold" pitchFamily="34" charset="0"/>
                <a:ea typeface="Arial Rounded MT Bold" pitchFamily="34" charset="-122"/>
                <a:cs typeface="Arial Rounded MT Bold" pitchFamily="34" charset="-120"/>
              </a:rPr>
              <a:t>Remember the research!</a:t>
            </a:r>
            <a:endParaRPr lang="en-US" sz="2400" dirty="0"/>
          </a:p>
        </p:txBody>
      </p:sp>
      <p:pic>
        <p:nvPicPr>
          <p:cNvPr id="6" name="brP_55" descr="/home/claude/lls-course/v2/assets/brush-pink.png">    </p:cNvPr>
          <p:cNvPicPr>
            <a:picLocks noChangeAspect="1"/>
          </p:cNvPicPr>
          <p:nvPr/>
        </p:nvPicPr>
        <p:blipFill>
          <a:blip r:embed="rId3"/>
          <a:stretch>
            <a:fillRect/>
          </a:stretch>
        </p:blipFill>
        <p:spPr>
          <a:xfrm>
            <a:off x="1207008" y="731520"/>
            <a:ext cx="4032504" cy="402336"/>
          </a:xfrm>
          <a:prstGeom prst="rect">
            <a:avLst/>
          </a:prstGeom>
        </p:spPr>
      </p:pic>
      <p:sp>
        <p:nvSpPr>
          <p:cNvPr id="7" name="ins_56"/>
          <p:cNvSpPr/>
          <p:nvPr/>
        </p:nvSpPr>
        <p:spPr>
          <a:xfrm>
            <a:off x="1353312" y="731520"/>
            <a:ext cx="3776472"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Make the sentence. Use the right form!</a:t>
            </a:r>
            <a:endParaRPr lang="en-US" sz="1250" dirty="0"/>
          </a:p>
        </p:txBody>
      </p:sp>
      <p:sp>
        <p:nvSpPr>
          <p:cNvPr id="8" name="insIT_57"/>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Fai la frase. Usa la forma giusta!</a:t>
            </a:r>
            <a:endParaRPr lang="en-US" sz="950" dirty="0"/>
          </a:p>
        </p:txBody>
      </p:sp>
      <p:sp>
        <p:nvSpPr>
          <p:cNvPr id="9" name="note_58"/>
          <p:cNvSpPr/>
          <p:nvPr/>
        </p:nvSpPr>
        <p:spPr>
          <a:xfrm rot="180000">
            <a:off x="6382512" y="128016"/>
            <a:ext cx="2029968" cy="1024128"/>
          </a:xfrm>
          <a:prstGeom prst="rect">
            <a:avLst/>
          </a:prstGeom>
          <a:solidFill>
            <a:srgbClr val="FFC2DA"/>
          </a:solidFill>
          <a:ln>
            <a:solidFill>
              <a:srgbClr val="FFC2DA"/>
            </a:solidFill>
          </a:ln>
          <a:effectLst>
            <a:outerShdw sx="100000" sy="100000" kx="0" ky="0" algn="bl" rotWithShape="0" blurRad="88900" dist="31750" dir="5400000">
              <a:srgbClr val="1B2559">
                <a:alpha val="15000"/>
              </a:srgbClr>
            </a:outerShdw>
          </a:effectLst>
        </p:spPr>
        <p:txBody>
          <a:bodyPr wrap="square" lIns="50800" tIns="50800" rIns="50800" bIns="50800" rtlCol="0" anchor="ctr">
            <a:normAutofit/>
          </a:bodyPr>
          <a:lstStyle/>
          <a:p>
            <a:pPr algn="ctr" indent="0" marL="0">
              <a:buNone/>
            </a:pPr>
            <a:r>
              <a:rPr lang="en-US" sz="1250" dirty="0">
                <a:solidFill>
                  <a:srgbClr val="1B2559"/>
                </a:solidFill>
                <a:latin typeface="Arial Rounded MT Bold" pitchFamily="34" charset="0"/>
                <a:ea typeface="Arial Rounded MT Bold" pitchFamily="34" charset="-122"/>
                <a:cs typeface="Arial Rounded MT Bold" pitchFamily="34" charset="-120"/>
              </a:rPr>
              <a:t>🎲 PLAY</a:t>
            </a:r>
            <a:pPr algn="ctr" indent="0" marL="0">
              <a:buNone/>
            </a:pPr>
            <a:r>
              <a:rPr lang="en-US" sz="1250" dirty="0">
                <a:solidFill>
                  <a:srgbClr val="1B2559"/>
                </a:solidFill>
                <a:latin typeface="Arial Rounded MT Bold" pitchFamily="34" charset="0"/>
                <a:ea typeface="Arial Rounded MT Bold" pitchFamily="34" charset="-122"/>
                <a:cs typeface="Arial Rounded MT Bold" pitchFamily="34" charset="-120"/>
              </a:rPr>
              <a:t> · GIOCA</a:t>
            </a:r>
            <a:endParaRPr lang="en-US" sz="1250" dirty="0"/>
          </a:p>
          <a:p>
            <a:pPr algn="ctr" indent="0" marL="0">
              <a:buNone/>
            </a:pPr>
            <a:r>
              <a:rPr lang="en-US" sz="1100" dirty="0">
                <a:solidFill>
                  <a:srgbClr val="1B2559"/>
                </a:solidFill>
                <a:latin typeface="Segoe UI Semibold" pitchFamily="34" charset="0"/>
                <a:ea typeface="Segoe UI Semibold" pitchFamily="34" charset="-122"/>
                <a:cs typeface="Segoe UI Semibold" pitchFamily="34" charset="-120"/>
              </a:rPr>
              <a:t>⏱ 3 min   🏆 teams</a:t>
            </a:r>
            <a:endParaRPr lang="en-US" sz="1250" dirty="0"/>
          </a:p>
          <a:p>
            <a:pPr algn="ctr" indent="0" marL="0">
              <a:buNone/>
            </a:pPr>
            <a:r>
              <a:rPr lang="en-US" sz="900" dirty="0">
                <a:solidFill>
                  <a:srgbClr val="5B6785"/>
                </a:solidFill>
                <a:latin typeface="Segoe UI Semibold" pitchFamily="34" charset="0"/>
                <a:ea typeface="Segoe UI Semibold" pitchFamily="34" charset="-122"/>
                <a:cs typeface="Segoe UI Semibold" pitchFamily="34" charset="-120"/>
              </a:rPr>
              <a:t>🎯 Revision · Communicative game</a:t>
            </a:r>
            <a:endParaRPr lang="en-US" sz="1250" dirty="0"/>
          </a:p>
        </p:txBody>
      </p:sp>
      <p:pic>
        <p:nvPicPr>
          <p:cNvPr id="10" name="logo_59"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1" name="foot_60"/>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3B-1 · Warmer · last lesson   ·   📖 Recycles 3A part 2: comparatives, superlatives · audio 3.16</a:t>
            </a:r>
            <a:endParaRPr lang="en-US" sz="800" dirty="0"/>
          </a:p>
        </p:txBody>
      </p:sp>
      <p:sp>
        <p:nvSpPr>
          <p:cNvPr id="12" name="cd_61"/>
          <p:cNvSpPr/>
          <p:nvPr/>
        </p:nvSpPr>
        <p:spPr>
          <a:xfrm>
            <a:off x="320040" y="1417320"/>
            <a:ext cx="2697480" cy="2514600"/>
          </a:xfrm>
          <a:prstGeom prst="roundRect">
            <a:avLst>
              <a:gd name="adj" fmla="val 5091"/>
            </a:avLst>
          </a:prstGeom>
          <a:solidFill>
            <a:srgbClr val="EEE8FB"/>
          </a:solidFill>
          <a:ln w="28575">
            <a:solidFill>
              <a:srgbClr val="CDBFF3"/>
            </a:solidFill>
            <a:prstDash val="solid"/>
          </a:ln>
          <a:effectLst>
            <a:outerShdw sx="100000" sy="100000" kx="0" ky="0" algn="bl" rotWithShape="0" blurRad="88900" dist="31750" dir="5400000">
              <a:srgbClr val="1B2559">
                <a:alpha val="12000"/>
              </a:srgbClr>
            </a:outerShdw>
          </a:effectLst>
        </p:spPr>
      </p:sp>
      <p:sp>
        <p:nvSpPr>
          <p:cNvPr id="13" name="ii_62"/>
          <p:cNvSpPr/>
          <p:nvPr/>
        </p:nvSpPr>
        <p:spPr>
          <a:xfrm>
            <a:off x="411480" y="149047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4" name="ih_63"/>
          <p:cNvSpPr/>
          <p:nvPr/>
        </p:nvSpPr>
        <p:spPr>
          <a:xfrm>
            <a:off x="886968" y="1508760"/>
            <a:ext cx="2057400" cy="365760"/>
          </a:xfrm>
          <a:prstGeom prst="rect">
            <a:avLst/>
          </a:prstGeom>
          <a:noFill/>
          <a:ln/>
        </p:spPr>
        <p:txBody>
          <a:bodyPr wrap="square" lIns="0" tIns="0" rIns="0" bIns="0" rtlCol="0" anchor="ctr"/>
          <a:lstStyle/>
          <a:p>
            <a:pPr indent="0" marL="0">
              <a:buNone/>
            </a:pPr>
            <a:r>
              <a:rPr lang="en-US" sz="1400" dirty="0">
                <a:solidFill>
                  <a:srgbClr val="1B2559"/>
                </a:solidFill>
                <a:latin typeface="Arial Rounded MT Bold" pitchFamily="34" charset="0"/>
                <a:ea typeface="Arial Rounded MT Bold" pitchFamily="34" charset="-122"/>
                <a:cs typeface="Arial Rounded MT Bold" pitchFamily="34" charset="-120"/>
              </a:rPr>
              <a:t>How to play</a:t>
            </a:r>
            <a:endParaRPr lang="en-US" sz="1400" dirty="0"/>
          </a:p>
        </p:txBody>
      </p:sp>
      <p:sp>
        <p:nvSpPr>
          <p:cNvPr id="15" name="il_64"/>
          <p:cNvSpPr/>
          <p:nvPr/>
        </p:nvSpPr>
        <p:spPr>
          <a:xfrm>
            <a:off x="886968" y="1911096"/>
            <a:ext cx="2039112" cy="1947672"/>
          </a:xfrm>
          <a:prstGeom prst="rect">
            <a:avLst/>
          </a:prstGeom>
          <a:noFill/>
          <a:ln/>
        </p:spPr>
        <p:txBody>
          <a:bodyPr wrap="square" lIns="0" tIns="0" rIns="0" bIns="0" rtlCol="0" anchor="t">
            <a:normAutofit/>
          </a:bodyPr>
          <a:lstStyle/>
          <a:p>
            <a:pPr marL="152400" indent="-152400">
              <a:spcAft>
                <a:spcPts val="200"/>
              </a:spcAft>
              <a:buSzPct val="100000"/>
              <a:buChar char="•"/>
            </a:pPr>
            <a:r>
              <a:rPr lang="en-US" sz="1000" dirty="0">
                <a:solidFill>
                  <a:srgbClr val="1B2559"/>
                </a:solidFill>
                <a:latin typeface="Segoe UI Semibold" pitchFamily="34" charset="0"/>
                <a:ea typeface="Segoe UI Semibold" pitchFamily="34" charset="-122"/>
                <a:cs typeface="Segoe UI Semibold" pitchFamily="34" charset="-120"/>
              </a:rPr>
              <a:t>Read the clue.</a:t>
            </a:r>
            <a:endParaRPr lang="en-US" sz="1000" dirty="0"/>
          </a:p>
          <a:p>
            <a:pPr marL="152400" indent="-152400">
              <a:spcAft>
                <a:spcPts val="200"/>
              </a:spcAft>
              <a:buSzPct val="100000"/>
              <a:buChar char=" "/>
            </a:pPr>
            <a:r>
              <a:rPr lang="en-US" sz="1000" dirty="0">
                <a:solidFill>
                  <a:srgbClr val="5B6785"/>
                </a:solidFill>
                <a:latin typeface="Segoe UI Semibold" pitchFamily="34" charset="0"/>
                <a:ea typeface="Segoe UI Semibold" pitchFamily="34" charset="-122"/>
                <a:cs typeface="Segoe UI Semibold" pitchFamily="34" charset="-120"/>
              </a:rPr>
              <a:t>Leggi l'indizio.</a:t>
            </a:r>
            <a:endParaRPr lang="en-US" sz="1000" dirty="0"/>
          </a:p>
          <a:p>
            <a:pPr marL="152400" indent="-152400">
              <a:spcBef>
                <a:spcPts val="600"/>
              </a:spcBef>
              <a:spcAft>
                <a:spcPts val="200"/>
              </a:spcAft>
              <a:buSzPct val="100000"/>
              <a:buChar char="•"/>
            </a:pPr>
            <a:r>
              <a:rPr lang="en-US" sz="1000" dirty="0">
                <a:solidFill>
                  <a:srgbClr val="1B2559"/>
                </a:solidFill>
                <a:latin typeface="Segoe UI Semibold" pitchFamily="34" charset="0"/>
                <a:ea typeface="Segoe UI Semibold" pitchFamily="34" charset="-122"/>
                <a:cs typeface="Segoe UI Semibold" pitchFamily="34" charset="-120"/>
              </a:rPr>
              <a:t>Teams: say the full sentence in 15 seconds.</a:t>
            </a:r>
            <a:endParaRPr lang="en-US" sz="1000" dirty="0"/>
          </a:p>
          <a:p>
            <a:pPr marL="152400" indent="-152400">
              <a:spcAft>
                <a:spcPts val="200"/>
              </a:spcAft>
              <a:buSzPct val="100000"/>
              <a:buChar char=" "/>
            </a:pPr>
            <a:r>
              <a:rPr lang="en-US" sz="1000" dirty="0">
                <a:solidFill>
                  <a:srgbClr val="5B6785"/>
                </a:solidFill>
                <a:latin typeface="Segoe UI Semibold" pitchFamily="34" charset="0"/>
                <a:ea typeface="Segoe UI Semibold" pitchFamily="34" charset="-122"/>
                <a:cs typeface="Segoe UI Semibold" pitchFamily="34" charset="-120"/>
              </a:rPr>
              <a:t>Squadre: dite la frase completa in 15 secondi.</a:t>
            </a:r>
            <a:endParaRPr lang="en-US" sz="1000" dirty="0"/>
          </a:p>
          <a:p>
            <a:pPr marL="152400" indent="-152400">
              <a:spcBef>
                <a:spcPts val="600"/>
              </a:spcBef>
              <a:spcAft>
                <a:spcPts val="200"/>
              </a:spcAft>
              <a:buSzPct val="100000"/>
              <a:buChar char="•"/>
            </a:pPr>
            <a:r>
              <a:rPr lang="en-US" sz="1000" dirty="0">
                <a:solidFill>
                  <a:srgbClr val="1B2559"/>
                </a:solidFill>
                <a:latin typeface="Segoe UI Semibold" pitchFamily="34" charset="0"/>
                <a:ea typeface="Segoe UI Semibold" pitchFamily="34" charset="-122"/>
                <a:cs typeface="Segoe UI Semibold" pitchFamily="34" charset="-120"/>
              </a:rPr>
              <a:t>Right fact + right form = 2 points.</a:t>
            </a:r>
            <a:endParaRPr lang="en-US" sz="1000" dirty="0"/>
          </a:p>
          <a:p>
            <a:pPr marL="152400" indent="-152400">
              <a:spcAft>
                <a:spcPts val="200"/>
              </a:spcAft>
              <a:buSzPct val="100000"/>
              <a:buChar char=" "/>
            </a:pPr>
            <a:r>
              <a:rPr lang="en-US" sz="1000" dirty="0">
                <a:solidFill>
                  <a:srgbClr val="5B6785"/>
                </a:solidFill>
                <a:latin typeface="Segoe UI Semibold" pitchFamily="34" charset="0"/>
                <a:ea typeface="Segoe UI Semibold" pitchFamily="34" charset="-122"/>
                <a:cs typeface="Segoe UI Semibold" pitchFamily="34" charset="-120"/>
              </a:rPr>
              <a:t>Fatto giusto + forma giusta = 2 punti.</a:t>
            </a:r>
            <a:endParaRPr lang="en-US" sz="1000" dirty="0"/>
          </a:p>
        </p:txBody>
      </p:sp>
      <p:sp>
        <p:nvSpPr>
          <p:cNvPr id="16" name="pf_65"/>
          <p:cNvSpPr/>
          <p:nvPr/>
        </p:nvSpPr>
        <p:spPr>
          <a:xfrm rot="-120000">
            <a:off x="812146" y="4069080"/>
            <a:ext cx="1667549" cy="1143000"/>
          </a:xfrm>
          <a:prstGeom prst="roundRect">
            <a:avLst>
              <a:gd name="adj" fmla="val 13600"/>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17" name="ph_66" descr="/home/claude/lls-course/v2/cache/3a2_motorbike_jpg_379x253_31.png">    </p:cNvPr>
          <p:cNvPicPr>
            <a:picLocks noChangeAspect="1"/>
          </p:cNvPicPr>
          <p:nvPr/>
        </p:nvPicPr>
        <p:blipFill>
          <a:blip r:embed="rId5"/>
          <a:stretch>
            <a:fillRect/>
          </a:stretch>
        </p:blipFill>
        <p:spPr>
          <a:xfrm rot="-120000">
            <a:off x="857866" y="4114800"/>
            <a:ext cx="1576109" cy="1051560"/>
          </a:xfrm>
          <a:prstGeom prst="rect">
            <a:avLst/>
          </a:prstGeom>
        </p:spPr>
      </p:pic>
      <p:sp>
        <p:nvSpPr>
          <p:cNvPr id="18" name="bd_67"/>
          <p:cNvSpPr/>
          <p:nvPr/>
        </p:nvSpPr>
        <p:spPr>
          <a:xfrm>
            <a:off x="3246120" y="1491234"/>
            <a:ext cx="329184" cy="329184"/>
          </a:xfrm>
          <a:prstGeom prst="ellipse">
            <a:avLst/>
          </a:prstGeom>
          <a:solidFill>
            <a:srgbClr val="7B5CD6"/>
          </a:solidFill>
          <a:ln w="28575">
            <a:solidFill>
              <a:srgbClr val="CDBFF3"/>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500" dirty="0">
                <a:solidFill>
                  <a:srgbClr val="FFFFFF"/>
                </a:solidFill>
                <a:latin typeface="Arial Rounded MT Bold" pitchFamily="34" charset="0"/>
                <a:ea typeface="Arial Rounded MT Bold" pitchFamily="34" charset="-122"/>
                <a:cs typeface="Arial Rounded MT Bold" pitchFamily="34" charset="-120"/>
              </a:rPr>
              <a:t>e.g.</a:t>
            </a:r>
            <a:endParaRPr lang="en-US" sz="500" dirty="0"/>
          </a:p>
        </p:txBody>
      </p:sp>
      <p:sp>
        <p:nvSpPr>
          <p:cNvPr id="19" name="gq_68"/>
          <p:cNvSpPr/>
          <p:nvPr/>
        </p:nvSpPr>
        <p:spPr>
          <a:xfrm>
            <a:off x="3657600" y="1417320"/>
            <a:ext cx="2514600" cy="477012"/>
          </a:xfrm>
          <a:prstGeom prst="roundRect">
            <a:avLst>
              <a:gd name="adj" fmla="val 19169"/>
            </a:avLst>
          </a:prstGeom>
          <a:solidFill>
            <a:srgbClr val="EEE8FB"/>
          </a:solidFill>
          <a:ln w="28575">
            <a:solidFill>
              <a:srgbClr val="CDBFF3"/>
            </a:solidFill>
          </a:ln>
        </p:spPr>
        <p:txBody>
          <a:bodyPr wrap="square" lIns="101600" tIns="0" rIns="101600" bIns="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feeling emotional ↔ feeling tired (dangerous)</a:t>
            </a:r>
            <a:endParaRPr lang="en-US" sz="1250" dirty="0"/>
          </a:p>
        </p:txBody>
      </p:sp>
      <p:sp>
        <p:nvSpPr>
          <p:cNvPr id="20" name="chip_69"/>
          <p:cNvSpPr/>
          <p:nvPr/>
        </p:nvSpPr>
        <p:spPr>
          <a:xfrm>
            <a:off x="6263640" y="1417320"/>
            <a:ext cx="2560320" cy="477012"/>
          </a:xfrm>
          <a:prstGeom prst="roundRect">
            <a:avLst>
              <a:gd name="adj" fmla="val 19169"/>
            </a:avLst>
          </a:prstGeom>
          <a:solidFill>
            <a:srgbClr val="EEE8FB"/>
          </a:solidFill>
          <a:ln w="28575">
            <a:solidFill>
              <a:srgbClr val="CDBFF3"/>
            </a:solidFill>
          </a:ln>
        </p:spPr>
        <p:txBody>
          <a:bodyPr wrap="square" lIns="101600" tIns="0" rIns="101600" bIns="0" rtlCol="0" anchor="ctr">
            <a:normAutofit/>
          </a:bodyPr>
          <a:lstStyle/>
          <a:p>
            <a:pPr algn="l" indent="0" marL="0">
              <a:buNone/>
            </a:pPr>
            <a:r>
              <a:rPr lang="en-US" sz="950" b="1" dirty="0">
                <a:solidFill>
                  <a:srgbClr val="1B2559"/>
                </a:solidFill>
                <a:latin typeface="Segoe UI Semibold" pitchFamily="34" charset="0"/>
                <a:ea typeface="Segoe UI Semibold" pitchFamily="34" charset="-122"/>
                <a:cs typeface="Segoe UI Semibold" pitchFamily="34" charset="-120"/>
              </a:rPr>
              <a:t>→ Feeling emotional is more dangerous than feeling tired.</a:t>
            </a:r>
            <a:endParaRPr lang="en-US" sz="950" dirty="0"/>
          </a:p>
        </p:txBody>
      </p:sp>
      <p:sp>
        <p:nvSpPr>
          <p:cNvPr id="21" name="bd_70"/>
          <p:cNvSpPr/>
          <p:nvPr/>
        </p:nvSpPr>
        <p:spPr>
          <a:xfrm>
            <a:off x="3246120" y="2032254"/>
            <a:ext cx="329184" cy="329184"/>
          </a:xfrm>
          <a:prstGeom prst="ellipse">
            <a:avLst/>
          </a:prstGeom>
          <a:solidFill>
            <a:srgbClr val="E8508F"/>
          </a:solidFill>
          <a:ln w="28575">
            <a:solidFill>
              <a:srgbClr val="F7A6C4"/>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1</a:t>
            </a:r>
            <a:endParaRPr lang="en-US" sz="1100" dirty="0"/>
          </a:p>
        </p:txBody>
      </p:sp>
      <p:sp>
        <p:nvSpPr>
          <p:cNvPr id="22" name="gq_71"/>
          <p:cNvSpPr/>
          <p:nvPr/>
        </p:nvSpPr>
        <p:spPr>
          <a:xfrm>
            <a:off x="3657600" y="1958340"/>
            <a:ext cx="2514600" cy="477012"/>
          </a:xfrm>
          <a:prstGeom prst="roundRect">
            <a:avLst>
              <a:gd name="adj" fmla="val 19169"/>
            </a:avLst>
          </a:prstGeom>
          <a:solidFill>
            <a:srgbClr val="FFFFFF"/>
          </a:solidFill>
          <a:ln w="28575">
            <a:solidFill>
              <a:srgbClr val="F7A6C4"/>
            </a:solidFill>
          </a:ln>
        </p:spPr>
        <p:txBody>
          <a:bodyPr wrap="square" lIns="101600" tIns="0" rIns="101600" bIns="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a passenger ↔ the radio (not as … as)</a:t>
            </a:r>
            <a:endParaRPr lang="en-US" sz="1250" dirty="0"/>
          </a:p>
        </p:txBody>
      </p:sp>
      <p:sp>
        <p:nvSpPr>
          <p:cNvPr id="23" name="R1_chip72"/>
          <p:cNvSpPr/>
          <p:nvPr/>
        </p:nvSpPr>
        <p:spPr>
          <a:xfrm>
            <a:off x="6263640" y="1958340"/>
            <a:ext cx="2560320" cy="477012"/>
          </a:xfrm>
          <a:prstGeom prst="roundRect">
            <a:avLst>
              <a:gd name="adj" fmla="val 19169"/>
            </a:avLst>
          </a:prstGeom>
          <a:solidFill>
            <a:srgbClr val="FFE3EE"/>
          </a:solidFill>
          <a:ln w="28575">
            <a:solidFill>
              <a:srgbClr val="F7A6C4"/>
            </a:solidFill>
          </a:ln>
        </p:spPr>
        <p:txBody>
          <a:bodyPr wrap="square" lIns="101600" tIns="0" rIns="101600" bIns="0" rtlCol="0" anchor="ctr">
            <a:normAutofit/>
          </a:bodyPr>
          <a:lstStyle/>
          <a:p>
            <a:pPr algn="l" indent="0" marL="0">
              <a:buNone/>
            </a:pPr>
            <a:r>
              <a:rPr lang="en-US" sz="950" b="1" dirty="0">
                <a:solidFill>
                  <a:srgbClr val="1B2559"/>
                </a:solidFill>
                <a:latin typeface="Segoe UI Semibold" pitchFamily="34" charset="0"/>
                <a:ea typeface="Segoe UI Semibold" pitchFamily="34" charset="-122"/>
                <a:cs typeface="Segoe UI Semibold" pitchFamily="34" charset="-120"/>
              </a:rPr>
              <a:t>→ Talking to a passenger isn't as dangerous as adjusting the radio.</a:t>
            </a:r>
            <a:endParaRPr lang="en-US" sz="950" dirty="0"/>
          </a:p>
        </p:txBody>
      </p:sp>
      <p:sp>
        <p:nvSpPr>
          <p:cNvPr id="24" name="bd_73"/>
          <p:cNvSpPr/>
          <p:nvPr/>
        </p:nvSpPr>
        <p:spPr>
          <a:xfrm>
            <a:off x="3246120" y="2573274"/>
            <a:ext cx="329184" cy="329184"/>
          </a:xfrm>
          <a:prstGeom prst="ellipse">
            <a:avLst/>
          </a:prstGeom>
          <a:solidFill>
            <a:srgbClr val="2F8DE4"/>
          </a:solidFill>
          <a:ln w="28575">
            <a:solidFill>
              <a:srgbClr val="A9D3F5"/>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2</a:t>
            </a:r>
            <a:endParaRPr lang="en-US" sz="1100" dirty="0"/>
          </a:p>
        </p:txBody>
      </p:sp>
      <p:sp>
        <p:nvSpPr>
          <p:cNvPr id="25" name="gq_74"/>
          <p:cNvSpPr/>
          <p:nvPr/>
        </p:nvSpPr>
        <p:spPr>
          <a:xfrm>
            <a:off x="3657600" y="2499360"/>
            <a:ext cx="2514600" cy="477012"/>
          </a:xfrm>
          <a:prstGeom prst="roundRect">
            <a:avLst>
              <a:gd name="adj" fmla="val 19169"/>
            </a:avLst>
          </a:prstGeom>
          <a:solidFill>
            <a:srgbClr val="FFFFFF"/>
          </a:solidFill>
          <a:ln w="28575">
            <a:solidFill>
              <a:srgbClr val="A9D3F5"/>
            </a:solidFill>
          </a:ln>
        </p:spPr>
        <p:txBody>
          <a:bodyPr wrap="square" lIns="101600" tIns="0" rIns="101600" bIns="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Number 1 of all 8? (the most…)</a:t>
            </a:r>
            <a:endParaRPr lang="en-US" sz="1250" dirty="0"/>
          </a:p>
        </p:txBody>
      </p:sp>
      <p:sp>
        <p:nvSpPr>
          <p:cNvPr id="26" name="R2_chip75"/>
          <p:cNvSpPr/>
          <p:nvPr/>
        </p:nvSpPr>
        <p:spPr>
          <a:xfrm>
            <a:off x="6263640" y="2499360"/>
            <a:ext cx="2560320" cy="477012"/>
          </a:xfrm>
          <a:prstGeom prst="roundRect">
            <a:avLst>
              <a:gd name="adj" fmla="val 19169"/>
            </a:avLst>
          </a:prstGeom>
          <a:solidFill>
            <a:srgbClr val="FFE3EE"/>
          </a:solidFill>
          <a:ln w="28575">
            <a:solidFill>
              <a:srgbClr val="F7A6C4"/>
            </a:solidFill>
          </a:ln>
        </p:spPr>
        <p:txBody>
          <a:bodyPr wrap="square" lIns="101600" tIns="0" rIns="101600" bIns="0" rtlCol="0" anchor="ctr">
            <a:normAutofit/>
          </a:bodyPr>
          <a:lstStyle/>
          <a:p>
            <a:pPr algn="l" indent="0" marL="0">
              <a:buNone/>
            </a:pPr>
            <a:r>
              <a:rPr lang="en-US" sz="950" b="1" dirty="0">
                <a:solidFill>
                  <a:srgbClr val="1B2559"/>
                </a:solidFill>
                <a:latin typeface="Segoe UI Semibold" pitchFamily="34" charset="0"/>
                <a:ea typeface="Segoe UI Semibold" pitchFamily="34" charset="-122"/>
                <a:cs typeface="Segoe UI Semibold" pitchFamily="34" charset="-120"/>
              </a:rPr>
              <a:t>→ Feeling emotional is the most dangerous thing.</a:t>
            </a:r>
            <a:endParaRPr lang="en-US" sz="950" dirty="0"/>
          </a:p>
        </p:txBody>
      </p:sp>
      <p:sp>
        <p:nvSpPr>
          <p:cNvPr id="27" name="bd_76"/>
          <p:cNvSpPr/>
          <p:nvPr/>
        </p:nvSpPr>
        <p:spPr>
          <a:xfrm>
            <a:off x="3246120" y="3114294"/>
            <a:ext cx="329184" cy="329184"/>
          </a:xfrm>
          <a:prstGeom prst="ellipse">
            <a:avLst/>
          </a:prstGeom>
          <a:solidFill>
            <a:srgbClr val="2EB872"/>
          </a:solidFill>
          <a:ln w="28575">
            <a:solidFill>
              <a:srgbClr val="A8E5BE"/>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3</a:t>
            </a:r>
            <a:endParaRPr lang="en-US" sz="1100" dirty="0"/>
          </a:p>
        </p:txBody>
      </p:sp>
      <p:sp>
        <p:nvSpPr>
          <p:cNvPr id="28" name="gq_77"/>
          <p:cNvSpPr/>
          <p:nvPr/>
        </p:nvSpPr>
        <p:spPr>
          <a:xfrm>
            <a:off x="3657600" y="3040380"/>
            <a:ext cx="2514600" cy="477012"/>
          </a:xfrm>
          <a:prstGeom prst="roundRect">
            <a:avLst>
              <a:gd name="adj" fmla="val 19169"/>
            </a:avLst>
          </a:prstGeom>
          <a:solidFill>
            <a:srgbClr val="FFFFFF"/>
          </a:solidFill>
          <a:ln w="28575">
            <a:solidFill>
              <a:srgbClr val="A8E5BE"/>
            </a:solidFill>
          </a:ln>
        </p:spPr>
        <p:txBody>
          <a:bodyPr wrap="square" lIns="101600" tIns="0" rIns="101600" bIns="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Number 8 of all 8? (the least…)</a:t>
            </a:r>
            <a:endParaRPr lang="en-US" sz="1250" dirty="0"/>
          </a:p>
        </p:txBody>
      </p:sp>
      <p:sp>
        <p:nvSpPr>
          <p:cNvPr id="29" name="R3_chip78"/>
          <p:cNvSpPr/>
          <p:nvPr/>
        </p:nvSpPr>
        <p:spPr>
          <a:xfrm>
            <a:off x="6263640" y="3040380"/>
            <a:ext cx="2560320" cy="477012"/>
          </a:xfrm>
          <a:prstGeom prst="roundRect">
            <a:avLst>
              <a:gd name="adj" fmla="val 19169"/>
            </a:avLst>
          </a:prstGeom>
          <a:solidFill>
            <a:srgbClr val="FFE3EE"/>
          </a:solidFill>
          <a:ln w="28575">
            <a:solidFill>
              <a:srgbClr val="F7A6C4"/>
            </a:solidFill>
          </a:ln>
        </p:spPr>
        <p:txBody>
          <a:bodyPr wrap="square" lIns="101600" tIns="0" rIns="101600" bIns="0" rtlCol="0" anchor="ctr">
            <a:normAutofit/>
          </a:bodyPr>
          <a:lstStyle/>
          <a:p>
            <a:pPr algn="l" indent="0" marL="0">
              <a:buNone/>
            </a:pPr>
            <a:r>
              <a:rPr lang="en-US" sz="950" b="1" dirty="0">
                <a:solidFill>
                  <a:srgbClr val="1B2559"/>
                </a:solidFill>
                <a:latin typeface="Segoe UI Semibold" pitchFamily="34" charset="0"/>
                <a:ea typeface="Segoe UI Semibold" pitchFamily="34" charset="-122"/>
                <a:cs typeface="Segoe UI Semibold" pitchFamily="34" charset="-120"/>
              </a:rPr>
              <a:t>→ Talking to a passenger is the least dangerous.</a:t>
            </a:r>
            <a:endParaRPr lang="en-US" sz="950" dirty="0"/>
          </a:p>
        </p:txBody>
      </p:sp>
      <p:sp>
        <p:nvSpPr>
          <p:cNvPr id="30" name="bd_79"/>
          <p:cNvSpPr/>
          <p:nvPr/>
        </p:nvSpPr>
        <p:spPr>
          <a:xfrm>
            <a:off x="3246120" y="3655314"/>
            <a:ext cx="329184" cy="329184"/>
          </a:xfrm>
          <a:prstGeom prst="ellipse">
            <a:avLst/>
          </a:prstGeom>
          <a:solidFill>
            <a:srgbClr val="F2B705"/>
          </a:solidFill>
          <a:ln w="28575">
            <a:solidFill>
              <a:srgbClr val="FFE07A"/>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4</a:t>
            </a:r>
            <a:endParaRPr lang="en-US" sz="1100" dirty="0"/>
          </a:p>
        </p:txBody>
      </p:sp>
      <p:sp>
        <p:nvSpPr>
          <p:cNvPr id="31" name="gq_80"/>
          <p:cNvSpPr/>
          <p:nvPr/>
        </p:nvSpPr>
        <p:spPr>
          <a:xfrm>
            <a:off x="3657600" y="3581400"/>
            <a:ext cx="2514600" cy="477012"/>
          </a:xfrm>
          <a:prstGeom prst="roundRect">
            <a:avLst>
              <a:gd name="adj" fmla="val 19169"/>
            </a:avLst>
          </a:prstGeom>
          <a:solidFill>
            <a:srgbClr val="FFFFFF"/>
          </a:solidFill>
          <a:ln w="28575">
            <a:solidFill>
              <a:srgbClr val="FFE07A"/>
            </a:solidFill>
          </a:ln>
        </p:spPr>
        <p:txBody>
          <a:bodyPr wrap="square" lIns="101600" tIns="0" rIns="101600" bIns="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Adjusting the radio: how likely?</a:t>
            </a:r>
            <a:endParaRPr lang="en-US" sz="1250" dirty="0"/>
          </a:p>
        </p:txBody>
      </p:sp>
      <p:sp>
        <p:nvSpPr>
          <p:cNvPr id="32" name="R4_chip81"/>
          <p:cNvSpPr/>
          <p:nvPr/>
        </p:nvSpPr>
        <p:spPr>
          <a:xfrm>
            <a:off x="6263640" y="3581400"/>
            <a:ext cx="2560320" cy="477012"/>
          </a:xfrm>
          <a:prstGeom prst="roundRect">
            <a:avLst>
              <a:gd name="adj" fmla="val 19169"/>
            </a:avLst>
          </a:prstGeom>
          <a:solidFill>
            <a:srgbClr val="FFE3EE"/>
          </a:solidFill>
          <a:ln w="28575">
            <a:solidFill>
              <a:srgbClr val="F7A6C4"/>
            </a:solidFill>
          </a:ln>
        </p:spPr>
        <p:txBody>
          <a:bodyPr wrap="square" lIns="101600" tIns="0" rIns="101600" bIns="0" rtlCol="0" anchor="ctr">
            <a:normAutofit/>
          </a:bodyPr>
          <a:lstStyle/>
          <a:p>
            <a:pPr algn="l" indent="0" marL="0">
              <a:buNone/>
            </a:pPr>
            <a:r>
              <a:rPr lang="en-US" sz="950" b="1" dirty="0">
                <a:solidFill>
                  <a:srgbClr val="1B2559"/>
                </a:solidFill>
                <a:latin typeface="Segoe UI Semibold" pitchFamily="34" charset="0"/>
                <a:ea typeface="Segoe UI Semibold" pitchFamily="34" charset="-122"/>
                <a:cs typeface="Segoe UI Semibold" pitchFamily="34" charset="-120"/>
              </a:rPr>
              <a:t>→ It makes you twice as likely to have an accident.</a:t>
            </a:r>
            <a:endParaRPr lang="en-US" sz="950" dirty="0"/>
          </a:p>
        </p:txBody>
      </p:sp>
      <p:sp>
        <p:nvSpPr>
          <p:cNvPr id="33" name="bd_82"/>
          <p:cNvSpPr/>
          <p:nvPr/>
        </p:nvSpPr>
        <p:spPr>
          <a:xfrm>
            <a:off x="3246120" y="4196334"/>
            <a:ext cx="329184" cy="329184"/>
          </a:xfrm>
          <a:prstGeom prst="ellipse">
            <a:avLst/>
          </a:prstGeom>
          <a:solidFill>
            <a:srgbClr val="E8508F"/>
          </a:solidFill>
          <a:ln w="28575">
            <a:solidFill>
              <a:srgbClr val="F7A6C4"/>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5</a:t>
            </a:r>
            <a:endParaRPr lang="en-US" sz="1100" dirty="0"/>
          </a:p>
        </p:txBody>
      </p:sp>
      <p:sp>
        <p:nvSpPr>
          <p:cNvPr id="34" name="gq_83"/>
          <p:cNvSpPr/>
          <p:nvPr/>
        </p:nvSpPr>
        <p:spPr>
          <a:xfrm>
            <a:off x="3657600" y="4122420"/>
            <a:ext cx="2514600" cy="477012"/>
          </a:xfrm>
          <a:prstGeom prst="roundRect">
            <a:avLst>
              <a:gd name="adj" fmla="val 19169"/>
            </a:avLst>
          </a:prstGeom>
          <a:solidFill>
            <a:srgbClr val="FFFFFF"/>
          </a:solidFill>
          <a:ln w="28575">
            <a:solidFill>
              <a:srgbClr val="F7A6C4"/>
            </a:solidFill>
          </a:ln>
        </p:spPr>
        <p:txBody>
          <a:bodyPr wrap="square" lIns="101600" tIns="0" rIns="101600" bIns="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Who drives more carefully: your mum or your dad?</a:t>
            </a:r>
            <a:endParaRPr lang="en-US" sz="1250" dirty="0"/>
          </a:p>
        </p:txBody>
      </p:sp>
      <p:sp>
        <p:nvSpPr>
          <p:cNvPr id="35" name="R5_chip84"/>
          <p:cNvSpPr/>
          <p:nvPr/>
        </p:nvSpPr>
        <p:spPr>
          <a:xfrm>
            <a:off x="6263640" y="4122420"/>
            <a:ext cx="2560320" cy="477012"/>
          </a:xfrm>
          <a:prstGeom prst="roundRect">
            <a:avLst>
              <a:gd name="adj" fmla="val 19169"/>
            </a:avLst>
          </a:prstGeom>
          <a:solidFill>
            <a:srgbClr val="FFE3EE"/>
          </a:solidFill>
          <a:ln w="28575">
            <a:solidFill>
              <a:srgbClr val="F7A6C4"/>
            </a:solidFill>
          </a:ln>
        </p:spPr>
        <p:txBody>
          <a:bodyPr wrap="square" lIns="101600" tIns="0" rIns="101600" bIns="0" rtlCol="0" anchor="ctr">
            <a:normAutofit/>
          </a:bodyPr>
          <a:lstStyle/>
          <a:p>
            <a:pPr algn="l" indent="0" marL="0">
              <a:buNone/>
            </a:pPr>
            <a:r>
              <a:rPr lang="en-US" sz="950" b="1" dirty="0">
                <a:solidFill>
                  <a:srgbClr val="1B2559"/>
                </a:solidFill>
                <a:latin typeface="Segoe UI Semibold" pitchFamily="34" charset="0"/>
                <a:ea typeface="Segoe UI Semibold" pitchFamily="34" charset="-122"/>
                <a:cs typeface="Segoe UI Semibold" pitchFamily="34" charset="-120"/>
              </a:rPr>
              <a:t>→ My mum drives more carefully than my dad.</a:t>
            </a:r>
            <a:endParaRPr lang="en-US" sz="95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3"/>
                                        </p:tgtEl>
                                        <p:attrNameLst>
                                          <p:attrName>style.visibility</p:attrName>
                                        </p:attrNameLst>
                                      </p:cBhvr>
                                      <p:to>
                                        <p:strVal val="visible"/>
                                      </p:to>
                                    </p:set>
                                    <p:animEffect transition="in" filter="fade">
                                      <p:cBhvr>
                                        <p:cTn id="7" dur="400"/>
                                        <p:tgtEl>
                                          <p:spTgt spid="23"/>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6"/>
                                        </p:tgtEl>
                                        <p:attrNameLst>
                                          <p:attrName>style.visibility</p:attrName>
                                        </p:attrNameLst>
                                      </p:cBhvr>
                                      <p:to>
                                        <p:strVal val="visible"/>
                                      </p:to>
                                    </p:set>
                                    <p:animEffect transition="in" filter="fade">
                                      <p:cBhvr>
                                        <p:cTn id="12" dur="400"/>
                                        <p:tgtEl>
                                          <p:spTgt spid="26"/>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9"/>
                                        </p:tgtEl>
                                        <p:attrNameLst>
                                          <p:attrName>style.visibility</p:attrName>
                                        </p:attrNameLst>
                                      </p:cBhvr>
                                      <p:to>
                                        <p:strVal val="visible"/>
                                      </p:to>
                                    </p:set>
                                    <p:animEffect transition="in" filter="fade">
                                      <p:cBhvr>
                                        <p:cTn id="17" dur="400"/>
                                        <p:tgtEl>
                                          <p:spTgt spid="29"/>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32"/>
                                        </p:tgtEl>
                                        <p:attrNameLst>
                                          <p:attrName>style.visibility</p:attrName>
                                        </p:attrNameLst>
                                      </p:cBhvr>
                                      <p:to>
                                        <p:strVal val="visible"/>
                                      </p:to>
                                    </p:set>
                                    <p:animEffect transition="in" filter="fade">
                                      <p:cBhvr>
                                        <p:cTn id="22" dur="400"/>
                                        <p:tgtEl>
                                          <p:spTgt spid="32"/>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35"/>
                                        </p:tgtEl>
                                        <p:attrNameLst>
                                          <p:attrName>style.visibility</p:attrName>
                                        </p:attrNameLst>
                                      </p:cBhvr>
                                      <p:to>
                                        <p:strVal val="visible"/>
                                      </p:to>
                                    </p:set>
                                    <p:animEffect transition="in" filter="fade">
                                      <p:cBhvr>
                                        <p:cTn id="27" dur="400"/>
                                        <p:tgtEl>
                                          <p:spTgt spid="3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xml><?xml version="1.0" encoding="utf-8"?>
<p:sld xmlns:a="http://schemas.openxmlformats.org/drawingml/2006/main" xmlns:r="http://schemas.openxmlformats.org/officeDocument/2006/relationships" xmlns:p="http://schemas.openxmlformats.org/presentationml/2006/main">
  <p:cSld name="Slide 4">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85"/>
          <p:cNvSpPr/>
          <p:nvPr/>
        </p:nvSpPr>
        <p:spPr>
          <a:xfrm>
            <a:off x="201168" y="164592"/>
            <a:ext cx="841248" cy="841248"/>
          </a:xfrm>
          <a:prstGeom prst="ellipse">
            <a:avLst/>
          </a:prstGeom>
          <a:solidFill>
            <a:srgbClr val="2F8DE4"/>
          </a:solidFill>
          <a:ln w="28575">
            <a:solidFill>
              <a:srgbClr val="A9D3F5"/>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800" dirty="0">
                <a:solidFill>
                  <a:srgbClr val="FFFFFF"/>
                </a:solidFill>
                <a:latin typeface="Arial Rounded MT Bold" pitchFamily="34" charset="0"/>
                <a:ea typeface="Arial Rounded MT Bold" pitchFamily="34" charset="-122"/>
                <a:cs typeface="Arial Rounded MT Bold" pitchFamily="34" charset="-120"/>
              </a:rPr>
              <a:t>4</a:t>
            </a:r>
            <a:endParaRPr lang="en-US" sz="2800" dirty="0"/>
          </a:p>
        </p:txBody>
      </p:sp>
      <p:pic>
        <p:nvPicPr>
          <p:cNvPr id="4" name="brY_86" descr="/home/claude/lls-course/v2/assets/brush-yellow.png">    </p:cNvPr>
          <p:cNvPicPr>
            <a:picLocks noChangeAspect="1"/>
          </p:cNvPicPr>
          <p:nvPr/>
        </p:nvPicPr>
        <p:blipFill>
          <a:blip r:embed="rId2"/>
          <a:stretch>
            <a:fillRect/>
          </a:stretch>
        </p:blipFill>
        <p:spPr>
          <a:xfrm>
            <a:off x="1097280" y="146304"/>
            <a:ext cx="3719779" cy="621792"/>
          </a:xfrm>
          <a:prstGeom prst="rect">
            <a:avLst/>
          </a:prstGeom>
        </p:spPr>
      </p:pic>
      <p:sp>
        <p:nvSpPr>
          <p:cNvPr id="5" name="title_87"/>
          <p:cNvSpPr/>
          <p:nvPr/>
        </p:nvSpPr>
        <p:spPr>
          <a:xfrm>
            <a:off x="1261872" y="164592"/>
            <a:ext cx="3445459" cy="566928"/>
          </a:xfrm>
          <a:prstGeom prst="rect">
            <a:avLst/>
          </a:prstGeom>
          <a:noFill/>
          <a:ln/>
        </p:spPr>
        <p:txBody>
          <a:bodyPr wrap="square" lIns="0" tIns="0" rIns="0" bIns="0" rtlCol="0" anchor="ctr">
            <a:normAutofit/>
          </a:bodyPr>
          <a:lstStyle/>
          <a:p>
            <a:pPr indent="0" marL="0">
              <a:buNone/>
            </a:pPr>
            <a:r>
              <a:rPr lang="en-US" sz="2400" dirty="0">
                <a:solidFill>
                  <a:srgbClr val="1B2559"/>
                </a:solidFill>
                <a:latin typeface="Arial Rounded MT Bold" pitchFamily="34" charset="0"/>
                <a:ea typeface="Arial Rounded MT Bold" pitchFamily="34" charset="-122"/>
                <a:cs typeface="Arial Rounded MT Bold" pitchFamily="34" charset="-120"/>
              </a:rPr>
              <a:t>Generally speaking…</a:t>
            </a:r>
            <a:endParaRPr lang="en-US" sz="2400" dirty="0"/>
          </a:p>
        </p:txBody>
      </p:sp>
      <p:pic>
        <p:nvPicPr>
          <p:cNvPr id="6" name="brP_88" descr="/home/claude/lls-course/v2/assets/brush-pink.png">    </p:cNvPr>
          <p:cNvPicPr>
            <a:picLocks noChangeAspect="1"/>
          </p:cNvPicPr>
          <p:nvPr/>
        </p:nvPicPr>
        <p:blipFill>
          <a:blip r:embed="rId3"/>
          <a:stretch>
            <a:fillRect/>
          </a:stretch>
        </p:blipFill>
        <p:spPr>
          <a:xfrm>
            <a:off x="1207008" y="731520"/>
            <a:ext cx="4119372" cy="402336"/>
          </a:xfrm>
          <a:prstGeom prst="rect">
            <a:avLst/>
          </a:prstGeom>
        </p:spPr>
      </p:pic>
      <p:sp>
        <p:nvSpPr>
          <p:cNvPr id="7" name="ins_89"/>
          <p:cNvSpPr/>
          <p:nvPr/>
        </p:nvSpPr>
        <p:spPr>
          <a:xfrm>
            <a:off x="1353312" y="731520"/>
            <a:ext cx="3863340"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Guess the words. Then listen and check.</a:t>
            </a:r>
            <a:endParaRPr lang="en-US" sz="1250" dirty="0"/>
          </a:p>
        </p:txBody>
      </p:sp>
      <p:sp>
        <p:nvSpPr>
          <p:cNvPr id="8" name="insIT_90"/>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Indovina le parole. Poi ascolta e controlla.</a:t>
            </a:r>
            <a:endParaRPr lang="en-US" sz="950" dirty="0"/>
          </a:p>
        </p:txBody>
      </p:sp>
      <p:sp>
        <p:nvSpPr>
          <p:cNvPr id="9" name="note_91"/>
          <p:cNvSpPr/>
          <p:nvPr/>
        </p:nvSpPr>
        <p:spPr>
          <a:xfrm rot="180000">
            <a:off x="6382512" y="128016"/>
            <a:ext cx="2029968" cy="1024128"/>
          </a:xfrm>
          <a:prstGeom prst="rect">
            <a:avLst/>
          </a:prstGeom>
          <a:solidFill>
            <a:srgbClr val="FFC2DA"/>
          </a:solidFill>
          <a:ln>
            <a:solidFill>
              <a:srgbClr val="FFC2DA"/>
            </a:solidFill>
          </a:ln>
          <a:effectLst>
            <a:outerShdw sx="100000" sy="100000" kx="0" ky="0" algn="bl" rotWithShape="0" blurRad="88900" dist="31750" dir="5400000">
              <a:srgbClr val="1B2559">
                <a:alpha val="15000"/>
              </a:srgbClr>
            </a:outerShdw>
          </a:effectLst>
        </p:spPr>
        <p:txBody>
          <a:bodyPr wrap="square" lIns="50800" tIns="50800" rIns="50800" bIns="50800" rtlCol="0" anchor="ctr">
            <a:normAutofit/>
          </a:bodyP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 LISTEN</a:t>
            </a:r>
            <a:pPr algn="ctr" indent="0" marL="0">
              <a:buNone/>
            </a:pPr>
            <a:r>
              <a:rPr lang="en-US" sz="1200" dirty="0">
                <a:solidFill>
                  <a:srgbClr val="5B6785"/>
                </a:solidFill>
              </a:rPr>
              <a:t> → </a:t>
            </a:r>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 FILL THE GAPS</a:t>
            </a:r>
            <a:endParaRPr lang="en-US" sz="1150" dirty="0"/>
          </a:p>
          <a:p>
            <a:pPr algn="ctr" indent="0" marL="0">
              <a:buNone/>
            </a:pPr>
            <a:r>
              <a:rPr lang="en-US" sz="1100" dirty="0">
                <a:solidFill>
                  <a:srgbClr val="1B2559"/>
                </a:solidFill>
                <a:latin typeface="Segoe UI Semibold" pitchFamily="34" charset="0"/>
                <a:ea typeface="Segoe UI Semibold" pitchFamily="34" charset="-122"/>
                <a:cs typeface="Segoe UI Semibold" pitchFamily="34" charset="-120"/>
              </a:rPr>
              <a:t>⏱ 4 min   👥 pairs</a:t>
            </a:r>
            <a:endParaRPr lang="en-US" sz="1150" dirty="0"/>
          </a:p>
          <a:p>
            <a:pPr algn="ctr" indent="0" marL="0">
              <a:buNone/>
            </a:pPr>
            <a:r>
              <a:rPr lang="en-US" sz="900" dirty="0">
                <a:solidFill>
                  <a:srgbClr val="5B6785"/>
                </a:solidFill>
                <a:latin typeface="Segoe UI Semibold" pitchFamily="34" charset="0"/>
                <a:ea typeface="Segoe UI Semibold" pitchFamily="34" charset="-122"/>
                <a:cs typeface="Segoe UI Semibold" pitchFamily="34" charset="-120"/>
              </a:rPr>
              <a:t>🎯 Speaking · Listening for detail</a:t>
            </a:r>
            <a:endParaRPr lang="en-US" sz="1150" dirty="0"/>
          </a:p>
        </p:txBody>
      </p:sp>
      <p:pic>
        <p:nvPicPr>
          <p:cNvPr id="10" name="logo_92"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1" name="foot_93"/>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3B-1 · Speaking · generalizing   ·   📖 SB p.30 · 1a · Generalizing box · audio 3.17</a:t>
            </a:r>
            <a:endParaRPr lang="en-US" sz="800" dirty="0"/>
          </a:p>
        </p:txBody>
      </p:sp>
      <p:sp>
        <p:nvSpPr>
          <p:cNvPr id="12" name="ap_94"/>
          <p:cNvSpPr/>
          <p:nvPr/>
        </p:nvSpPr>
        <p:spPr>
          <a:xfrm>
            <a:off x="365760" y="1417320"/>
            <a:ext cx="2194560" cy="402336"/>
          </a:xfrm>
          <a:prstGeom prst="roundRect">
            <a:avLst>
              <a:gd name="adj" fmla="val 50000"/>
            </a:avLst>
          </a:prstGeom>
          <a:solidFill>
            <a:srgbClr val="E3F1FD"/>
          </a:solidFill>
          <a:ln w="28575">
            <a:solidFill>
              <a:srgbClr val="A9D3F5"/>
            </a:solidFill>
          </a:ln>
        </p:spPr>
        <p:txBody>
          <a:bodyPr wrap="square" lIns="127000" tIns="0" rIns="127000" bIns="0" rtlCol="0" anchor="ctr">
            <a:normAutofit/>
          </a:bodyPr>
          <a:lstStyle/>
          <a:p>
            <a:pPr indent="0" marL="0">
              <a:buNone/>
            </a:pPr>
            <a:r>
              <a:rPr lang="en-US" sz="1100" b="1" dirty="0">
                <a:solidFill>
                  <a:srgbClr val="1B2559"/>
                </a:solidFill>
                <a:latin typeface="Segoe UI Semibold" pitchFamily="34" charset="0"/>
                <a:ea typeface="Segoe UI Semibold" pitchFamily="34" charset="-122"/>
                <a:cs typeface="Segoe UI Semibold" pitchFamily="34" charset="-120"/>
              </a:rPr>
              <a:t>🎧 3.17  ·  pause after each speaker</a:t>
            </a:r>
            <a:endParaRPr lang="en-US" sz="1100" dirty="0"/>
          </a:p>
        </p:txBody>
      </p:sp>
      <p:sp>
        <p:nvSpPr>
          <p:cNvPr id="13" name="ah_95"/>
          <p:cNvSpPr/>
          <p:nvPr/>
        </p:nvSpPr>
        <p:spPr>
          <a:xfrm>
            <a:off x="4636008" y="4572000"/>
            <a:ext cx="978408" cy="365760"/>
          </a:xfrm>
          <a:prstGeom prst="rect">
            <a:avLst/>
          </a:prstGeom>
          <a:noFill/>
          <a:ln/>
        </p:spPr>
        <p:txBody>
          <a:bodyPr wrap="square" lIns="0" tIns="0" rIns="0" bIns="0" rtlCol="0" anchor="ctr"/>
          <a:lstStyle/>
          <a:p>
            <a:pPr algn="r" indent="0" marL="0">
              <a:buNone/>
            </a:pPr>
            <a:r>
              <a:rPr lang="en-US" sz="1000" b="1" dirty="0">
                <a:solidFill>
                  <a:srgbClr val="2F8DE4"/>
                </a:solidFill>
                <a:latin typeface="Segoe UI Semibold" pitchFamily="34" charset="0"/>
                <a:ea typeface="Segoe UI Semibold" pitchFamily="34" charset="-122"/>
                <a:cs typeface="Segoe UI Semibold" pitchFamily="34" charset="-120"/>
              </a:rPr>
              <a:t>▶ normal</a:t>
            </a:r>
            <a:endParaRPr lang="en-US" sz="1000" dirty="0"/>
          </a:p>
        </p:txBody>
      </p:sp>
      <p:pic>
        <p:nvPicPr>
          <p:cNvPr id="14" name="Media 0">
            <a:hlinkClick r:id="" action="ppaction://media"/>
          </p:cNvPr>
          <p:cNvPicPr>
            <a:picLocks noChangeAspect="1"/>
          </p:cNvPicPr>
          <p:nvPr>
            <a:audioFile r:link="rId5"/>
            <p:extLst>
              <p:ext uri="{DAA4B4D4-6D71-4841-9C94-3DE7FCFB9230}">
                <p14:media xmlns:p14="http://schemas.microsoft.com/office/powerpoint/2010/main" r:embed="rId6"/>
              </p:ext>
            </p:extLst>
          </p:nvPr>
        </p:nvPicPr>
        <p:blipFill>
          <a:blip r:embed="rId7"/>
          <a:stretch>
            <a:fillRect/>
          </a:stretch>
        </p:blipFill>
        <p:spPr>
          <a:xfrm>
            <a:off x="5687568" y="4553712"/>
            <a:ext cx="411480" cy="411480"/>
          </a:xfrm>
          <a:prstGeom prst="rect">
            <a:avLst/>
          </a:prstGeom>
        </p:spPr>
      </p:pic>
      <p:sp>
        <p:nvSpPr>
          <p:cNvPr id="15" name="ah_96"/>
          <p:cNvSpPr/>
          <p:nvPr/>
        </p:nvSpPr>
        <p:spPr>
          <a:xfrm>
            <a:off x="7470648" y="4572000"/>
            <a:ext cx="932688" cy="365760"/>
          </a:xfrm>
          <a:prstGeom prst="rect">
            <a:avLst/>
          </a:prstGeom>
          <a:noFill/>
          <a:ln/>
        </p:spPr>
        <p:txBody>
          <a:bodyPr wrap="square" lIns="0" tIns="0" rIns="0" bIns="0" rtlCol="0" anchor="ctr"/>
          <a:lstStyle/>
          <a:p>
            <a:pPr algn="r" indent="0" marL="0">
              <a:buNone/>
            </a:pPr>
            <a:r>
              <a:rPr lang="en-US" sz="1000" b="1" dirty="0">
                <a:solidFill>
                  <a:srgbClr val="2F8DE4"/>
                </a:solidFill>
                <a:latin typeface="Segoe UI Semibold" pitchFamily="34" charset="0"/>
                <a:ea typeface="Segoe UI Semibold" pitchFamily="34" charset="-122"/>
                <a:cs typeface="Segoe UI Semibold" pitchFamily="34" charset="-120"/>
              </a:rPr>
              <a:t>🐢 slower</a:t>
            </a:r>
            <a:endParaRPr lang="en-US" sz="1000" dirty="0"/>
          </a:p>
        </p:txBody>
      </p:sp>
      <p:pic>
        <p:nvPicPr>
          <p:cNvPr id="16" name="Media 1">
            <a:hlinkClick r:id="" action="ppaction://media"/>
          </p:cNvPr>
          <p:cNvPicPr>
            <a:picLocks noChangeAspect="1"/>
          </p:cNvPicPr>
          <p:nvPr>
            <a:audioFile r:link="rId8"/>
            <p:extLst>
              <p:ext uri="{DAA4B4D4-6D71-4841-9C94-3DE7FCFB9230}">
                <p14:media xmlns:p14="http://schemas.microsoft.com/office/powerpoint/2010/main" r:embed="rId9"/>
              </p:ext>
            </p:extLst>
          </p:nvPr>
        </p:nvPicPr>
        <p:blipFill>
          <a:blip r:embed="rId10"/>
          <a:stretch>
            <a:fillRect/>
          </a:stretch>
        </p:blipFill>
        <p:spPr>
          <a:xfrm>
            <a:off x="8476488" y="4553712"/>
            <a:ext cx="411480" cy="411480"/>
          </a:xfrm>
          <a:prstGeom prst="rect">
            <a:avLst/>
          </a:prstGeom>
        </p:spPr>
      </p:pic>
      <p:sp>
        <p:nvSpPr>
          <p:cNvPr id="17" name="pf_97"/>
          <p:cNvSpPr/>
          <p:nvPr/>
        </p:nvSpPr>
        <p:spPr>
          <a:xfrm rot="-90000">
            <a:off x="411480" y="2057400"/>
            <a:ext cx="2697480" cy="1783080"/>
          </a:xfrm>
          <a:prstGeom prst="roundRect">
            <a:avLst>
              <a:gd name="adj" fmla="val 8718"/>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18" name="ph_98" descr="/home/claude/lls-course/v2/cache/3b1_mirror_jpg_627x407_31.png">    </p:cNvPr>
          <p:cNvPicPr>
            <a:picLocks noChangeAspect="1"/>
          </p:cNvPicPr>
          <p:nvPr/>
        </p:nvPicPr>
        <p:blipFill>
          <a:blip r:embed="rId11"/>
          <a:stretch>
            <a:fillRect/>
          </a:stretch>
        </p:blipFill>
        <p:spPr>
          <a:xfrm rot="-90000">
            <a:off x="457200" y="2103120"/>
            <a:ext cx="2606040" cy="1691640"/>
          </a:xfrm>
          <a:prstGeom prst="rect">
            <a:avLst/>
          </a:prstGeom>
        </p:spPr>
      </p:pic>
      <p:sp>
        <p:nvSpPr>
          <p:cNvPr id="19" name="cd_99"/>
          <p:cNvSpPr/>
          <p:nvPr/>
        </p:nvSpPr>
        <p:spPr>
          <a:xfrm>
            <a:off x="320040" y="4023360"/>
            <a:ext cx="2788920" cy="731520"/>
          </a:xfrm>
          <a:prstGeom prst="roundRect">
            <a:avLst>
              <a:gd name="adj" fmla="val 17500"/>
            </a:avLst>
          </a:prstGeom>
          <a:solidFill>
            <a:srgbClr val="EEE8FB"/>
          </a:solidFill>
          <a:ln w="28575">
            <a:solidFill>
              <a:srgbClr val="CDBFF3"/>
            </a:solidFill>
            <a:prstDash val="solid"/>
          </a:ln>
          <a:effectLst>
            <a:outerShdw sx="100000" sy="100000" kx="0" ky="0" algn="bl" rotWithShape="0" blurRad="88900" dist="31750" dir="5400000">
              <a:srgbClr val="1B2559">
                <a:alpha val="12000"/>
              </a:srgbClr>
            </a:outerShdw>
          </a:effectLst>
        </p:spPr>
      </p:sp>
      <p:sp>
        <p:nvSpPr>
          <p:cNvPr id="20" name="ii_100"/>
          <p:cNvSpPr/>
          <p:nvPr/>
        </p:nvSpPr>
        <p:spPr>
          <a:xfrm>
            <a:off x="411480" y="409651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21" name="ih_101"/>
          <p:cNvSpPr/>
          <p:nvPr/>
        </p:nvSpPr>
        <p:spPr>
          <a:xfrm>
            <a:off x="886968" y="4114800"/>
            <a:ext cx="2148840" cy="365760"/>
          </a:xfrm>
          <a:prstGeom prst="rect">
            <a:avLst/>
          </a:prstGeom>
          <a:noFill/>
          <a:ln/>
        </p:spPr>
        <p:txBody>
          <a:bodyPr wrap="square" lIns="0" tIns="0" rIns="0" bIns="0" rtlCol="0" anchor="ct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Guess first, then listen!</a:t>
            </a:r>
            <a:endParaRPr lang="en-US" sz="1200" dirty="0"/>
          </a:p>
        </p:txBody>
      </p:sp>
      <p:sp>
        <p:nvSpPr>
          <p:cNvPr id="22" name="gq_102"/>
          <p:cNvSpPr/>
          <p:nvPr/>
        </p:nvSpPr>
        <p:spPr>
          <a:xfrm>
            <a:off x="3383280" y="1417320"/>
            <a:ext cx="3337560" cy="457200"/>
          </a:xfrm>
          <a:prstGeom prst="roundRect">
            <a:avLst>
              <a:gd name="adj" fmla="val 20000"/>
            </a:avLst>
          </a:prstGeom>
          <a:solidFill>
            <a:srgbClr val="FFFFFF"/>
          </a:solidFill>
          <a:ln w="28575">
            <a:solidFill>
              <a:srgbClr val="F7A6C4"/>
            </a:solidFill>
          </a:ln>
        </p:spPr>
        <p:txBody>
          <a:bodyPr wrap="square" lIns="101600" tIns="0" rIns="101600" bIns="0" rtlCol="0" anchor="ctr">
            <a:normAutofit/>
          </a:bodyPr>
          <a:lstStyle/>
          <a:p>
            <a:pPr indent="0" marL="0">
              <a:buNone/>
            </a:pPr>
            <a:r>
              <a:rPr lang="en-US" sz="950" dirty="0">
                <a:solidFill>
                  <a:srgbClr val="1B2559"/>
                </a:solidFill>
                <a:latin typeface="Segoe UI Semibold" pitchFamily="34" charset="0"/>
                <a:ea typeface="Segoe UI Semibold" pitchFamily="34" charset="-122"/>
                <a:cs typeface="Segoe UI Semibold" pitchFamily="34" charset="-120"/>
              </a:rPr>
              <a:t>1  Generally ___, I think it's true that women worry more about their appearance than men.</a:t>
            </a:r>
            <a:endParaRPr lang="en-US" sz="950" dirty="0"/>
          </a:p>
        </p:txBody>
      </p:sp>
      <p:sp>
        <p:nvSpPr>
          <p:cNvPr id="23" name="R1_chip103"/>
          <p:cNvSpPr/>
          <p:nvPr/>
        </p:nvSpPr>
        <p:spPr>
          <a:xfrm>
            <a:off x="6812280" y="1417320"/>
            <a:ext cx="2057400" cy="457200"/>
          </a:xfrm>
          <a:prstGeom prst="roundRect">
            <a:avLst>
              <a:gd name="adj" fmla="val 20000"/>
            </a:avLst>
          </a:prstGeom>
          <a:solidFill>
            <a:srgbClr val="FFF6CC"/>
          </a:solidFill>
          <a:ln w="28575">
            <a:solidFill>
              <a:srgbClr val="FFE07A"/>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speaking</a:t>
            </a:r>
            <a:endParaRPr lang="en-US" sz="1200" dirty="0"/>
          </a:p>
        </p:txBody>
      </p:sp>
      <p:sp>
        <p:nvSpPr>
          <p:cNvPr id="24" name="gq_104"/>
          <p:cNvSpPr/>
          <p:nvPr/>
        </p:nvSpPr>
        <p:spPr>
          <a:xfrm>
            <a:off x="3383280" y="1938528"/>
            <a:ext cx="3337560" cy="457200"/>
          </a:xfrm>
          <a:prstGeom prst="roundRect">
            <a:avLst>
              <a:gd name="adj" fmla="val 20000"/>
            </a:avLst>
          </a:prstGeom>
          <a:solidFill>
            <a:srgbClr val="FFFFFF"/>
          </a:solidFill>
          <a:ln w="28575">
            <a:solidFill>
              <a:srgbClr val="A9D3F5"/>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2  However, ___ the whole, I think…</a:t>
            </a:r>
            <a:endParaRPr lang="en-US" sz="1200" dirty="0"/>
          </a:p>
        </p:txBody>
      </p:sp>
      <p:sp>
        <p:nvSpPr>
          <p:cNvPr id="25" name="R2_chip105"/>
          <p:cNvSpPr/>
          <p:nvPr/>
        </p:nvSpPr>
        <p:spPr>
          <a:xfrm>
            <a:off x="6812280" y="1938528"/>
            <a:ext cx="2057400" cy="457200"/>
          </a:xfrm>
          <a:prstGeom prst="roundRect">
            <a:avLst>
              <a:gd name="adj" fmla="val 20000"/>
            </a:avLst>
          </a:prstGeom>
          <a:solidFill>
            <a:srgbClr val="FFF6CC"/>
          </a:solidFill>
          <a:ln w="28575">
            <a:solidFill>
              <a:srgbClr val="FFE07A"/>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on</a:t>
            </a:r>
            <a:endParaRPr lang="en-US" sz="1200" dirty="0"/>
          </a:p>
        </p:txBody>
      </p:sp>
      <p:sp>
        <p:nvSpPr>
          <p:cNvPr id="26" name="gq_106"/>
          <p:cNvSpPr/>
          <p:nvPr/>
        </p:nvSpPr>
        <p:spPr>
          <a:xfrm>
            <a:off x="3383280" y="2459736"/>
            <a:ext cx="3337560" cy="457200"/>
          </a:xfrm>
          <a:prstGeom prst="roundRect">
            <a:avLst>
              <a:gd name="adj" fmla="val 20000"/>
            </a:avLst>
          </a:prstGeom>
          <a:solidFill>
            <a:srgbClr val="FFFFFF"/>
          </a:solidFill>
          <a:ln w="28575">
            <a:solidFill>
              <a:srgbClr val="A8E5BE"/>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…women ___ to have fewer opportunities to do sport.</a:t>
            </a:r>
            <a:endParaRPr lang="en-US" sz="1200" dirty="0"/>
          </a:p>
        </p:txBody>
      </p:sp>
      <p:sp>
        <p:nvSpPr>
          <p:cNvPr id="27" name="R3_chip107"/>
          <p:cNvSpPr/>
          <p:nvPr/>
        </p:nvSpPr>
        <p:spPr>
          <a:xfrm>
            <a:off x="6812280" y="2459736"/>
            <a:ext cx="2057400" cy="457200"/>
          </a:xfrm>
          <a:prstGeom prst="roundRect">
            <a:avLst>
              <a:gd name="adj" fmla="val 20000"/>
            </a:avLst>
          </a:prstGeom>
          <a:solidFill>
            <a:srgbClr val="FFF6CC"/>
          </a:solidFill>
          <a:ln w="28575">
            <a:solidFill>
              <a:srgbClr val="FFE07A"/>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tend</a:t>
            </a:r>
            <a:endParaRPr lang="en-US" sz="1200" dirty="0"/>
          </a:p>
        </p:txBody>
      </p:sp>
      <p:sp>
        <p:nvSpPr>
          <p:cNvPr id="28" name="gq_108"/>
          <p:cNvSpPr/>
          <p:nvPr/>
        </p:nvSpPr>
        <p:spPr>
          <a:xfrm>
            <a:off x="3383280" y="2980944"/>
            <a:ext cx="3337560" cy="457200"/>
          </a:xfrm>
          <a:prstGeom prst="roundRect">
            <a:avLst>
              <a:gd name="adj" fmla="val 20000"/>
            </a:avLst>
          </a:prstGeom>
          <a:solidFill>
            <a:srgbClr val="FFFFFF"/>
          </a:solidFill>
          <a:ln w="28575">
            <a:solidFill>
              <a:srgbClr val="FFE07A"/>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3  I think that in ___, men worry about their health more than women.</a:t>
            </a:r>
            <a:endParaRPr lang="en-US" sz="1200" dirty="0"/>
          </a:p>
        </p:txBody>
      </p:sp>
      <p:sp>
        <p:nvSpPr>
          <p:cNvPr id="29" name="R4_chip109"/>
          <p:cNvSpPr/>
          <p:nvPr/>
        </p:nvSpPr>
        <p:spPr>
          <a:xfrm>
            <a:off x="6812280" y="2980944"/>
            <a:ext cx="2057400" cy="457200"/>
          </a:xfrm>
          <a:prstGeom prst="roundRect">
            <a:avLst>
              <a:gd name="adj" fmla="val 20000"/>
            </a:avLst>
          </a:prstGeom>
          <a:solidFill>
            <a:srgbClr val="FFF6CC"/>
          </a:solidFill>
          <a:ln w="28575">
            <a:solidFill>
              <a:srgbClr val="FFE07A"/>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general</a:t>
            </a:r>
            <a:endParaRPr lang="en-US" sz="1200" dirty="0"/>
          </a:p>
        </p:txBody>
      </p:sp>
      <p:sp>
        <p:nvSpPr>
          <p:cNvPr id="30" name="gq_110"/>
          <p:cNvSpPr/>
          <p:nvPr/>
        </p:nvSpPr>
        <p:spPr>
          <a:xfrm>
            <a:off x="3383280" y="3502152"/>
            <a:ext cx="3337560" cy="457200"/>
          </a:xfrm>
          <a:prstGeom prst="roundRect">
            <a:avLst>
              <a:gd name="adj" fmla="val 20000"/>
            </a:avLst>
          </a:prstGeom>
          <a:solidFill>
            <a:srgbClr val="FFFFFF"/>
          </a:solidFill>
          <a:ln w="28575">
            <a:solidFill>
              <a:srgbClr val="F7A6C4"/>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Hypochondriacs are ___ men, not women.</a:t>
            </a:r>
            <a:endParaRPr lang="en-US" sz="1200" dirty="0"/>
          </a:p>
        </p:txBody>
      </p:sp>
      <p:sp>
        <p:nvSpPr>
          <p:cNvPr id="31" name="R5_chip111"/>
          <p:cNvSpPr/>
          <p:nvPr/>
        </p:nvSpPr>
        <p:spPr>
          <a:xfrm>
            <a:off x="6812280" y="3502152"/>
            <a:ext cx="2057400" cy="457200"/>
          </a:xfrm>
          <a:prstGeom prst="roundRect">
            <a:avLst>
              <a:gd name="adj" fmla="val 20000"/>
            </a:avLst>
          </a:prstGeom>
          <a:solidFill>
            <a:srgbClr val="FFF6CC"/>
          </a:solidFill>
          <a:ln w="28575">
            <a:solidFill>
              <a:srgbClr val="FFE07A"/>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usually</a:t>
            </a:r>
            <a:endParaRPr lang="en-US" sz="12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3"/>
                                        </p:tgtEl>
                                        <p:attrNameLst>
                                          <p:attrName>style.visibility</p:attrName>
                                        </p:attrNameLst>
                                      </p:cBhvr>
                                      <p:to>
                                        <p:strVal val="visible"/>
                                      </p:to>
                                    </p:set>
                                    <p:animEffect transition="in" filter="fade">
                                      <p:cBhvr>
                                        <p:cTn id="7" dur="400"/>
                                        <p:tgtEl>
                                          <p:spTgt spid="23"/>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5"/>
                                        </p:tgtEl>
                                        <p:attrNameLst>
                                          <p:attrName>style.visibility</p:attrName>
                                        </p:attrNameLst>
                                      </p:cBhvr>
                                      <p:to>
                                        <p:strVal val="visible"/>
                                      </p:to>
                                    </p:set>
                                    <p:animEffect transition="in" filter="fade">
                                      <p:cBhvr>
                                        <p:cTn id="12" dur="400"/>
                                        <p:tgtEl>
                                          <p:spTgt spid="25"/>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7"/>
                                        </p:tgtEl>
                                        <p:attrNameLst>
                                          <p:attrName>style.visibility</p:attrName>
                                        </p:attrNameLst>
                                      </p:cBhvr>
                                      <p:to>
                                        <p:strVal val="visible"/>
                                      </p:to>
                                    </p:set>
                                    <p:animEffect transition="in" filter="fade">
                                      <p:cBhvr>
                                        <p:cTn id="17" dur="400"/>
                                        <p:tgtEl>
                                          <p:spTgt spid="27"/>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29"/>
                                        </p:tgtEl>
                                        <p:attrNameLst>
                                          <p:attrName>style.visibility</p:attrName>
                                        </p:attrNameLst>
                                      </p:cBhvr>
                                      <p:to>
                                        <p:strVal val="visible"/>
                                      </p:to>
                                    </p:set>
                                    <p:animEffect transition="in" filter="fade">
                                      <p:cBhvr>
                                        <p:cTn id="22" dur="400"/>
                                        <p:tgtEl>
                                          <p:spTgt spid="29"/>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31"/>
                                        </p:tgtEl>
                                        <p:attrNameLst>
                                          <p:attrName>style.visibility</p:attrName>
                                        </p:attrNameLst>
                                      </p:cBhvr>
                                      <p:to>
                                        <p:strVal val="visible"/>
                                      </p:to>
                                    </p:set>
                                    <p:animEffect transition="in" filter="fade">
                                      <p:cBhvr>
                                        <p:cTn id="27" dur="400"/>
                                        <p:tgtEl>
                                          <p:spTgt spid="31"/>
                                        </p:tgtEl>
                                      </p:cBhvr>
                                    </p:animEffect>
                                  </p:childTnLst>
                                </p:cTn>
                              </p:par>
                            </p:childTnLst>
                          </p:cTn>
                        </p:par>
                      </p:childTnLst>
                    </p:cTn>
                  </p:par>
                </p:childTnLst>
              </p:cTn>
              <p:prevCondLst>
                <p:cond evt="onPrev" delay="0">
                  <p:tgtEl>
                    <p:sldTgt/>
                  </p:tgtEl>
                </p:cond>
              </p:prevCondLst>
              <p:nextCondLst>
                <p:cond evt="onNext" delay="0">
                  <p:tgtEl>
                    <p:sldTgt/>
                  </p:tgtEl>
                </p:cond>
              </p:nextCondLst>
            </p:seq>
            <p:seq concurrent="1" nextAc="seek">
              <p:cTn id="28" restart="whenNotActive" fill="hold" evtFilter="cancelBubble" nodeType="interactiveSeq">
                <p:stCondLst>
                  <p:cond evt="onClick" delay="0">
                    <p:tgtEl>
                      <p:spTgt spid="14"/>
                    </p:tgtEl>
                  </p:cond>
                </p:stCondLst>
                <p:endSync evt="end" delay="0">
                  <p:rtn val="all"/>
                </p:endSync>
                <p:childTnLst>
                  <p:par>
                    <p:cTn id="29" fill="hold">
                      <p:stCondLst>
                        <p:cond delay="0"/>
                      </p:stCondLst>
                      <p:childTnLst>
                        <p:par>
                          <p:cTn id="30" fill="hold">
                            <p:stCondLst>
                              <p:cond delay="0"/>
                            </p:stCondLst>
                            <p:childTnLst>
                              <p:par>
                                <p:cTn id="31" presetID="2" presetClass="mediacall" presetSubtype="0" fill="hold" nodeType="clickEffect">
                                  <p:stCondLst>
                                    <p:cond delay="0"/>
                                  </p:stCondLst>
                                  <p:childTnLst>
                                    <p:cmd type="call" cmd="togglePause">
                                      <p:cBhvr>
                                        <p:cTn id="32" dur="1" fill="hold"/>
                                        <p:tgtEl>
                                          <p:spTgt spid="14"/>
                                        </p:tgtEl>
                                      </p:cBhvr>
                                    </p:cmd>
                                  </p:childTnLst>
                                </p:cTn>
                              </p:par>
                            </p:childTnLst>
                          </p:cTn>
                        </p:par>
                      </p:childTnLst>
                    </p:cTn>
                  </p:par>
                </p:childTnLst>
              </p:cTn>
              <p:nextCondLst>
                <p:cond evt="onClick" delay="0">
                  <p:tgtEl>
                    <p:spTgt spid="14"/>
                  </p:tgtEl>
                </p:cond>
              </p:nextCondLst>
            </p:seq>
            <p:seq concurrent="1" nextAc="seek">
              <p:cTn id="33" restart="whenNotActive" fill="hold" evtFilter="cancelBubble" nodeType="interactiveSeq">
                <p:stCondLst>
                  <p:cond evt="onClick" delay="0">
                    <p:tgtEl>
                      <p:spTgt spid="16"/>
                    </p:tgtEl>
                  </p:cond>
                </p:stCondLst>
                <p:endSync evt="end" delay="0">
                  <p:rtn val="all"/>
                </p:endSync>
                <p:childTnLst>
                  <p:par>
                    <p:cTn id="34" fill="hold">
                      <p:stCondLst>
                        <p:cond delay="0"/>
                      </p:stCondLst>
                      <p:childTnLst>
                        <p:par>
                          <p:cTn id="35" fill="hold">
                            <p:stCondLst>
                              <p:cond delay="0"/>
                            </p:stCondLst>
                            <p:childTnLst>
                              <p:par>
                                <p:cTn id="36" presetID="2" presetClass="mediacall" presetSubtype="0" fill="hold" nodeType="clickEffect">
                                  <p:stCondLst>
                                    <p:cond delay="0"/>
                                  </p:stCondLst>
                                  <p:childTnLst>
                                    <p:cmd type="call" cmd="togglePause">
                                      <p:cBhvr>
                                        <p:cTn id="37" dur="1" fill="hold"/>
                                        <p:tgtEl>
                                          <p:spTgt spid="16"/>
                                        </p:tgtEl>
                                      </p:cBhvr>
                                    </p:cmd>
                                  </p:childTnLst>
                                </p:cTn>
                              </p:par>
                            </p:childTnLst>
                          </p:cTn>
                        </p:par>
                      </p:childTnLst>
                    </p:cTn>
                  </p:par>
                </p:childTnLst>
              </p:cTn>
              <p:nextCondLst>
                <p:cond evt="onClick" delay="0">
                  <p:tgtEl>
                    <p:spTgt spid="16"/>
                  </p:tgtEl>
                </p:cond>
              </p:nextCondLst>
            </p:seq>
            <p:audio>
              <p:cMediaNode vol="80000">
                <p:cTn id="38" fill="hold" display="0">
                  <p:stCondLst>
                    <p:cond delay="indefinite"/>
                  </p:stCondLst>
                  <p:endCondLst>
                    <p:cond evt="onStopAudio" delay="0">
                      <p:tgtEl>
                        <p:sldTgt/>
                      </p:tgtEl>
                    </p:cond>
                  </p:endCondLst>
                </p:cTn>
                <p:tgtEl>
                  <p:spTgt spid="14"/>
                </p:tgtEl>
              </p:cMediaNode>
            </p:audio>
            <p:audio>
              <p:cMediaNode vol="80000">
                <p:cTn id="39" fill="hold" display="0">
                  <p:stCondLst>
                    <p:cond delay="indefinite"/>
                  </p:stCondLst>
                  <p:endCondLst>
                    <p:cond evt="onStopAudio" delay="0">
                      <p:tgtEl>
                        <p:sldTgt/>
                      </p:tgtEl>
                    </p:cond>
                  </p:endCondLst>
                </p:cTn>
                <p:tgtEl>
                  <p:spTgt spid="16"/>
                </p:tgtEl>
              </p:cMediaNode>
            </p:audio>
          </p:childTnLst>
        </p:cTn>
      </p:par>
    </p:tnLst>
  </p:timing>
</p:sld>
</file>

<file path=ppt/slides/slide5.xml><?xml version="1.0" encoding="utf-8"?>
<p:sld xmlns:a="http://schemas.openxmlformats.org/drawingml/2006/main" xmlns:r="http://schemas.openxmlformats.org/officeDocument/2006/relationships" xmlns:p="http://schemas.openxmlformats.org/presentationml/2006/main">
  <p:cSld name="Slide 5">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112"/>
          <p:cNvSpPr/>
          <p:nvPr/>
        </p:nvSpPr>
        <p:spPr>
          <a:xfrm>
            <a:off x="201168" y="164592"/>
            <a:ext cx="841248" cy="841248"/>
          </a:xfrm>
          <a:prstGeom prst="ellipse">
            <a:avLst/>
          </a:prstGeom>
          <a:solidFill>
            <a:srgbClr val="E8508F"/>
          </a:solidFill>
          <a:ln w="28575">
            <a:solidFill>
              <a:srgbClr val="F7A6C4"/>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800" dirty="0">
                <a:solidFill>
                  <a:srgbClr val="FFFFFF"/>
                </a:solidFill>
                <a:latin typeface="Arial Rounded MT Bold" pitchFamily="34" charset="0"/>
                <a:ea typeface="Arial Rounded MT Bold" pitchFamily="34" charset="-122"/>
                <a:cs typeface="Arial Rounded MT Bold" pitchFamily="34" charset="-120"/>
              </a:rPr>
              <a:t>5</a:t>
            </a:r>
            <a:endParaRPr lang="en-US" sz="2800" dirty="0"/>
          </a:p>
        </p:txBody>
      </p:sp>
      <p:pic>
        <p:nvPicPr>
          <p:cNvPr id="4" name="brY_113" descr="/home/claude/lls-course/v2/assets/brush-yellow.png">    </p:cNvPr>
          <p:cNvPicPr>
            <a:picLocks noChangeAspect="1"/>
          </p:cNvPicPr>
          <p:nvPr/>
        </p:nvPicPr>
        <p:blipFill>
          <a:blip r:embed="rId2"/>
          <a:stretch>
            <a:fillRect/>
          </a:stretch>
        </p:blipFill>
        <p:spPr>
          <a:xfrm>
            <a:off x="1097280" y="146304"/>
            <a:ext cx="3090672" cy="621792"/>
          </a:xfrm>
          <a:prstGeom prst="rect">
            <a:avLst/>
          </a:prstGeom>
        </p:spPr>
      </p:pic>
      <p:sp>
        <p:nvSpPr>
          <p:cNvPr id="5" name="title_114"/>
          <p:cNvSpPr/>
          <p:nvPr/>
        </p:nvSpPr>
        <p:spPr>
          <a:xfrm>
            <a:off x="1261872" y="164592"/>
            <a:ext cx="2816352"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True or a myth?</a:t>
            </a:r>
            <a:endParaRPr lang="en-US" sz="2500" dirty="0"/>
          </a:p>
        </p:txBody>
      </p:sp>
      <p:pic>
        <p:nvPicPr>
          <p:cNvPr id="6" name="brP_115" descr="/home/claude/lls-course/v2/assets/brush-pink.png">    </p:cNvPr>
          <p:cNvPicPr>
            <a:picLocks noChangeAspect="1"/>
          </p:cNvPicPr>
          <p:nvPr/>
        </p:nvPicPr>
        <p:blipFill>
          <a:blip r:embed="rId3"/>
          <a:stretch>
            <a:fillRect/>
          </a:stretch>
        </p:blipFill>
        <p:spPr>
          <a:xfrm>
            <a:off x="1207008" y="731520"/>
            <a:ext cx="3945636" cy="402336"/>
          </a:xfrm>
          <a:prstGeom prst="rect">
            <a:avLst/>
          </a:prstGeom>
        </p:spPr>
      </p:pic>
      <p:sp>
        <p:nvSpPr>
          <p:cNvPr id="7" name="ins_116"/>
          <p:cNvSpPr/>
          <p:nvPr/>
        </p:nvSpPr>
        <p:spPr>
          <a:xfrm>
            <a:off x="1353312" y="731520"/>
            <a:ext cx="3689604"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True, partly true or untrue? Say why.</a:t>
            </a:r>
            <a:endParaRPr lang="en-US" sz="1250" dirty="0"/>
          </a:p>
        </p:txBody>
      </p:sp>
      <p:sp>
        <p:nvSpPr>
          <p:cNvPr id="8" name="insIT_117"/>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Vero, in parte vero o falso? Spiega perché.</a:t>
            </a:r>
            <a:endParaRPr lang="en-US" sz="950" dirty="0"/>
          </a:p>
        </p:txBody>
      </p:sp>
      <p:sp>
        <p:nvSpPr>
          <p:cNvPr id="9" name="note_118"/>
          <p:cNvSpPr/>
          <p:nvPr/>
        </p:nvSpPr>
        <p:spPr>
          <a:xfrm rot="180000">
            <a:off x="6382512" y="128016"/>
            <a:ext cx="2029968" cy="1024128"/>
          </a:xfrm>
          <a:prstGeom prst="rect">
            <a:avLst/>
          </a:prstGeom>
          <a:solidFill>
            <a:srgbClr val="FFC2DA"/>
          </a:solidFill>
          <a:ln>
            <a:solidFill>
              <a:srgbClr val="FFC2DA"/>
            </a:solidFill>
          </a:ln>
          <a:effectLst>
            <a:outerShdw sx="100000" sy="100000" kx="0" ky="0" algn="bl" rotWithShape="0" blurRad="88900" dist="31750" dir="5400000">
              <a:srgbClr val="1B2559">
                <a:alpha val="15000"/>
              </a:srgbClr>
            </a:outerShdw>
          </a:effectLst>
        </p:spPr>
        <p:txBody>
          <a:bodyPr wrap="square" lIns="50800" tIns="50800" rIns="50800" bIns="50800" rtlCol="0" anchor="ctr">
            <a:normAutofit/>
          </a:bodyPr>
          <a:lstStyle/>
          <a:p>
            <a:pPr algn="ctr" indent="0" marL="0">
              <a:buNone/>
            </a:pPr>
            <a:r>
              <a:rPr lang="en-US" sz="1250" dirty="0">
                <a:solidFill>
                  <a:srgbClr val="1B2559"/>
                </a:solidFill>
                <a:latin typeface="Arial Rounded MT Bold" pitchFamily="34" charset="0"/>
                <a:ea typeface="Arial Rounded MT Bold" pitchFamily="34" charset="-122"/>
                <a:cs typeface="Arial Rounded MT Bold" pitchFamily="34" charset="-120"/>
              </a:rPr>
              <a:t>💬 TALK</a:t>
            </a:r>
            <a:pPr algn="ctr" indent="0" marL="0">
              <a:buNone/>
            </a:pPr>
            <a:r>
              <a:rPr lang="en-US" sz="1250" dirty="0">
                <a:solidFill>
                  <a:srgbClr val="1B2559"/>
                </a:solidFill>
                <a:latin typeface="Arial Rounded MT Bold" pitchFamily="34" charset="0"/>
                <a:ea typeface="Arial Rounded MT Bold" pitchFamily="34" charset="-122"/>
                <a:cs typeface="Arial Rounded MT Bold" pitchFamily="34" charset="-120"/>
              </a:rPr>
              <a:t> · PARLA</a:t>
            </a:r>
            <a:endParaRPr lang="en-US" sz="1250" dirty="0"/>
          </a:p>
          <a:p>
            <a:pPr algn="ctr" indent="0" marL="0">
              <a:buNone/>
            </a:pPr>
            <a:r>
              <a:rPr lang="en-US" sz="1100" dirty="0">
                <a:solidFill>
                  <a:srgbClr val="1B2559"/>
                </a:solidFill>
                <a:latin typeface="Segoe UI Semibold" pitchFamily="34" charset="0"/>
                <a:ea typeface="Segoe UI Semibold" pitchFamily="34" charset="-122"/>
                <a:cs typeface="Segoe UI Semibold" pitchFamily="34" charset="-120"/>
              </a:rPr>
              <a:t>⏱ 5 min   👨‍👩‍👧 groups</a:t>
            </a:r>
            <a:endParaRPr lang="en-US" sz="1250" dirty="0"/>
          </a:p>
          <a:p>
            <a:pPr algn="ctr" indent="0" marL="0">
              <a:buNone/>
            </a:pPr>
            <a:r>
              <a:rPr lang="en-US" sz="900" dirty="0">
                <a:solidFill>
                  <a:srgbClr val="5B6785"/>
                </a:solidFill>
                <a:latin typeface="Segoe UI Semibold" pitchFamily="34" charset="0"/>
                <a:ea typeface="Segoe UI Semibold" pitchFamily="34" charset="-122"/>
                <a:cs typeface="Segoe UI Semibold" pitchFamily="34" charset="-120"/>
              </a:rPr>
              <a:t>🎯 Speaking · Communicative</a:t>
            </a:r>
            <a:endParaRPr lang="en-US" sz="1250" dirty="0"/>
          </a:p>
        </p:txBody>
      </p:sp>
      <p:pic>
        <p:nvPicPr>
          <p:cNvPr id="10" name="logo_119"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1" name="foot_120"/>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3B-1 · Speaking · do you think it's true?   ·   📖 SB p.30 · 1b (6 of the 10 statements – the other 4 are on slide 10)</a:t>
            </a:r>
            <a:endParaRPr lang="en-US" sz="800" dirty="0"/>
          </a:p>
        </p:txBody>
      </p:sp>
      <p:sp>
        <p:nvSpPr>
          <p:cNvPr id="12" name="pf_121"/>
          <p:cNvSpPr/>
          <p:nvPr/>
        </p:nvSpPr>
        <p:spPr>
          <a:xfrm rot="-120000">
            <a:off x="802506" y="1371600"/>
            <a:ext cx="1823987" cy="1325880"/>
          </a:xfrm>
          <a:prstGeom prst="roundRect">
            <a:avLst>
              <a:gd name="adj" fmla="val 11724"/>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13" name="ph_122" descr="/home/claude/lls-course/v2/cache/3b1_map_jpg_417x297_31.png">    </p:cNvPr>
          <p:cNvPicPr>
            <a:picLocks noChangeAspect="1"/>
          </p:cNvPicPr>
          <p:nvPr/>
        </p:nvPicPr>
        <p:blipFill>
          <a:blip r:embed="rId5"/>
          <a:stretch>
            <a:fillRect/>
          </a:stretch>
        </p:blipFill>
        <p:spPr>
          <a:xfrm rot="-120000">
            <a:off x="848226" y="1417320"/>
            <a:ext cx="1732547" cy="1234440"/>
          </a:xfrm>
          <a:prstGeom prst="rect">
            <a:avLst/>
          </a:prstGeom>
        </p:spPr>
      </p:pic>
      <p:sp>
        <p:nvSpPr>
          <p:cNvPr id="14" name="cd_123"/>
          <p:cNvSpPr/>
          <p:nvPr/>
        </p:nvSpPr>
        <p:spPr>
          <a:xfrm>
            <a:off x="320040" y="2880360"/>
            <a:ext cx="2788920" cy="1874520"/>
          </a:xfrm>
          <a:prstGeom prst="roundRect">
            <a:avLst>
              <a:gd name="adj" fmla="val 6829"/>
            </a:avLst>
          </a:prstGeom>
          <a:solidFill>
            <a:srgbClr val="EEE8FB"/>
          </a:solidFill>
          <a:ln w="28575">
            <a:solidFill>
              <a:srgbClr val="CDBFF3"/>
            </a:solidFill>
            <a:prstDash val="solid"/>
          </a:ln>
          <a:effectLst>
            <a:outerShdw sx="100000" sy="100000" kx="0" ky="0" algn="bl" rotWithShape="0" blurRad="88900" dist="31750" dir="5400000">
              <a:srgbClr val="1B2559">
                <a:alpha val="12000"/>
              </a:srgbClr>
            </a:outerShdw>
          </a:effectLst>
        </p:spPr>
      </p:sp>
      <p:sp>
        <p:nvSpPr>
          <p:cNvPr id="15" name="ii_124"/>
          <p:cNvSpPr/>
          <p:nvPr/>
        </p:nvSpPr>
        <p:spPr>
          <a:xfrm>
            <a:off x="411480" y="295351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6" name="ih_125"/>
          <p:cNvSpPr/>
          <p:nvPr/>
        </p:nvSpPr>
        <p:spPr>
          <a:xfrm>
            <a:off x="886968" y="2971800"/>
            <a:ext cx="2148840" cy="365760"/>
          </a:xfrm>
          <a:prstGeom prst="rect">
            <a:avLst/>
          </a:prstGeom>
          <a:noFill/>
          <a:ln/>
        </p:spPr>
        <p:txBody>
          <a:bodyPr wrap="square" lIns="0" tIns="0" rIns="0" bIns="0" rtlCol="0" anchor="ctr"/>
          <a:lstStyle/>
          <a:p>
            <a:pP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Useful phrases</a:t>
            </a:r>
            <a:endParaRPr lang="en-US" sz="1300" dirty="0"/>
          </a:p>
        </p:txBody>
      </p:sp>
      <p:sp>
        <p:nvSpPr>
          <p:cNvPr id="17" name="il_126"/>
          <p:cNvSpPr/>
          <p:nvPr/>
        </p:nvSpPr>
        <p:spPr>
          <a:xfrm>
            <a:off x="886968" y="3374136"/>
            <a:ext cx="2130552" cy="1307592"/>
          </a:xfrm>
          <a:prstGeom prst="rect">
            <a:avLst/>
          </a:prstGeom>
          <a:noFill/>
          <a:ln/>
        </p:spPr>
        <p:txBody>
          <a:bodyPr wrap="square" lIns="0" tIns="0" rIns="0" bIns="0" rtlCol="0" anchor="t">
            <a:normAutofit/>
          </a:bodyPr>
          <a:lstStyle/>
          <a:p>
            <a:pPr marL="152400" indent="-152400">
              <a:spcAft>
                <a:spcPts val="200"/>
              </a:spcAft>
              <a:buSzPct val="100000"/>
              <a:buChar char="•"/>
            </a:pPr>
            <a:r>
              <a:rPr lang="en-US" sz="1150" dirty="0">
                <a:solidFill>
                  <a:srgbClr val="1B2559"/>
                </a:solidFill>
                <a:latin typeface="Segoe UI Semibold" pitchFamily="34" charset="0"/>
                <a:ea typeface="Segoe UI Semibold" pitchFamily="34" charset="-122"/>
                <a:cs typeface="Segoe UI Semibold" pitchFamily="34" charset="-120"/>
              </a:rPr>
              <a:t>Generally speaking, … · On the whole, …</a:t>
            </a:r>
            <a:endParaRPr lang="en-US" sz="1150" dirty="0"/>
          </a:p>
          <a:p>
            <a:pPr marL="152400" indent="-152400">
              <a:spcBef>
                <a:spcPts val="600"/>
              </a:spcBef>
              <a:spcAft>
                <a:spcPts val="200"/>
              </a:spcAft>
              <a:buSzPct val="100000"/>
              <a:buChar char="•"/>
            </a:pPr>
            <a:r>
              <a:rPr lang="en-US" sz="1150" dirty="0">
                <a:solidFill>
                  <a:srgbClr val="1B2559"/>
                </a:solidFill>
                <a:latin typeface="Segoe UI Semibold" pitchFamily="34" charset="0"/>
                <a:ea typeface="Segoe UI Semibold" pitchFamily="34" charset="-122"/>
                <a:cs typeface="Segoe UI Semibold" pitchFamily="34" charset="-120"/>
              </a:rPr>
              <a:t>I think … tend to …</a:t>
            </a:r>
            <a:endParaRPr lang="en-US" sz="1150" dirty="0"/>
          </a:p>
          <a:p>
            <a:pPr marL="152400" indent="-152400">
              <a:spcBef>
                <a:spcPts val="600"/>
              </a:spcBef>
              <a:spcAft>
                <a:spcPts val="200"/>
              </a:spcAft>
              <a:buSzPct val="100000"/>
              <a:buChar char="•"/>
            </a:pPr>
            <a:r>
              <a:rPr lang="en-US" sz="1150" dirty="0">
                <a:solidFill>
                  <a:srgbClr val="1B2559"/>
                </a:solidFill>
                <a:latin typeface="Segoe UI Semibold" pitchFamily="34" charset="0"/>
                <a:ea typeface="Segoe UI Semibold" pitchFamily="34" charset="-122"/>
                <a:cs typeface="Segoe UI Semibold" pitchFamily="34" charset="-120"/>
              </a:rPr>
              <a:t>completely true · partly true · completely untrue</a:t>
            </a:r>
            <a:endParaRPr lang="en-US" sz="1150" dirty="0"/>
          </a:p>
        </p:txBody>
      </p:sp>
      <p:sp>
        <p:nvSpPr>
          <p:cNvPr id="18" name="R1_qb127"/>
          <p:cNvSpPr/>
          <p:nvPr/>
        </p:nvSpPr>
        <p:spPr>
          <a:xfrm>
            <a:off x="3273552" y="1453896"/>
            <a:ext cx="329184" cy="329184"/>
          </a:xfrm>
          <a:prstGeom prst="ellipse">
            <a:avLst/>
          </a:prstGeom>
          <a:solidFill>
            <a:srgbClr val="E8508F"/>
          </a:solidFill>
          <a:ln w="28575">
            <a:solidFill>
              <a:srgbClr val="F7A6C4"/>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1</a:t>
            </a:r>
            <a:endParaRPr lang="en-US" sz="1100" dirty="0"/>
          </a:p>
        </p:txBody>
      </p:sp>
      <p:sp>
        <p:nvSpPr>
          <p:cNvPr id="19" name="R1_sq128"/>
          <p:cNvSpPr/>
          <p:nvPr/>
        </p:nvSpPr>
        <p:spPr>
          <a:xfrm>
            <a:off x="3675888" y="1417320"/>
            <a:ext cx="5193792" cy="483108"/>
          </a:xfrm>
          <a:prstGeom prst="roundRect">
            <a:avLst>
              <a:gd name="adj" fmla="val 22713"/>
            </a:avLst>
          </a:prstGeom>
          <a:solidFill>
            <a:srgbClr val="FFFFFF"/>
          </a:solidFill>
          <a:ln w="28575">
            <a:solidFill>
              <a:srgbClr val="F7A6C4"/>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Men are better at navigating than women.</a:t>
            </a:r>
            <a:endParaRPr lang="en-US" sz="1100" dirty="0"/>
          </a:p>
          <a:p>
            <a:pPr indent="0" marL="0">
              <a:buNone/>
            </a:pPr>
            <a:r>
              <a:rPr lang="en-US" sz="850" i="1" dirty="0">
                <a:solidFill>
                  <a:srgbClr val="5B6785"/>
                </a:solidFill>
                <a:latin typeface="Segoe UI Semibold" pitchFamily="34" charset="0"/>
                <a:ea typeface="Segoe UI Semibold" pitchFamily="34" charset="-122"/>
                <a:cs typeface="Segoe UI Semibold" pitchFamily="34" charset="-120"/>
              </a:rPr>
              <a:t>e.g. Generally speaking, I think it's true – my dad never gets lost!</a:t>
            </a:r>
            <a:endParaRPr lang="en-US" sz="1100" dirty="0"/>
          </a:p>
        </p:txBody>
      </p:sp>
      <p:sp>
        <p:nvSpPr>
          <p:cNvPr id="20" name="R2_qb129"/>
          <p:cNvSpPr/>
          <p:nvPr/>
        </p:nvSpPr>
        <p:spPr>
          <a:xfrm>
            <a:off x="3273552" y="2010156"/>
            <a:ext cx="329184" cy="329184"/>
          </a:xfrm>
          <a:prstGeom prst="ellipse">
            <a:avLst/>
          </a:prstGeom>
          <a:solidFill>
            <a:srgbClr val="2F8DE4"/>
          </a:solidFill>
          <a:ln w="28575">
            <a:solidFill>
              <a:srgbClr val="A9D3F5"/>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2</a:t>
            </a:r>
            <a:endParaRPr lang="en-US" sz="1100" dirty="0"/>
          </a:p>
        </p:txBody>
      </p:sp>
      <p:sp>
        <p:nvSpPr>
          <p:cNvPr id="21" name="R2_sq130"/>
          <p:cNvSpPr/>
          <p:nvPr/>
        </p:nvSpPr>
        <p:spPr>
          <a:xfrm>
            <a:off x="3675888" y="1973580"/>
            <a:ext cx="5193792" cy="483108"/>
          </a:xfrm>
          <a:prstGeom prst="roundRect">
            <a:avLst>
              <a:gd name="adj" fmla="val 22713"/>
            </a:avLst>
          </a:prstGeom>
          <a:solidFill>
            <a:srgbClr val="FFFFFF"/>
          </a:solidFill>
          <a:ln w="28575">
            <a:solidFill>
              <a:srgbClr val="A9D3F5"/>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Women talk more than men.</a:t>
            </a:r>
            <a:endParaRPr lang="en-US" sz="1100" dirty="0"/>
          </a:p>
          <a:p>
            <a:pPr indent="0" marL="0">
              <a:buNone/>
            </a:pPr>
            <a:r>
              <a:rPr lang="en-US" sz="850" i="1" dirty="0">
                <a:solidFill>
                  <a:srgbClr val="5B6785"/>
                </a:solidFill>
                <a:latin typeface="Segoe UI Semibold" pitchFamily="34" charset="0"/>
                <a:ea typeface="Segoe UI Semibold" pitchFamily="34" charset="-122"/>
                <a:cs typeface="Segoe UI Semibold" pitchFamily="34" charset="-120"/>
              </a:rPr>
              <a:t>e.g. On the whole, I think it's partly true. My sister talks all the time!</a:t>
            </a:r>
            <a:endParaRPr lang="en-US" sz="1100" dirty="0"/>
          </a:p>
        </p:txBody>
      </p:sp>
      <p:sp>
        <p:nvSpPr>
          <p:cNvPr id="22" name="R3_qb131"/>
          <p:cNvSpPr/>
          <p:nvPr/>
        </p:nvSpPr>
        <p:spPr>
          <a:xfrm>
            <a:off x="3273552" y="2566416"/>
            <a:ext cx="329184" cy="329184"/>
          </a:xfrm>
          <a:prstGeom prst="ellipse">
            <a:avLst/>
          </a:prstGeom>
          <a:solidFill>
            <a:srgbClr val="2EB872"/>
          </a:solidFill>
          <a:ln w="28575">
            <a:solidFill>
              <a:srgbClr val="A8E5BE"/>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3</a:t>
            </a:r>
            <a:endParaRPr lang="en-US" sz="1100" dirty="0"/>
          </a:p>
        </p:txBody>
      </p:sp>
      <p:sp>
        <p:nvSpPr>
          <p:cNvPr id="23" name="R3_sq132"/>
          <p:cNvSpPr/>
          <p:nvPr/>
        </p:nvSpPr>
        <p:spPr>
          <a:xfrm>
            <a:off x="3675888" y="2529840"/>
            <a:ext cx="4507992" cy="483108"/>
          </a:xfrm>
          <a:prstGeom prst="roundRect">
            <a:avLst>
              <a:gd name="adj" fmla="val 22713"/>
            </a:avLst>
          </a:prstGeom>
          <a:solidFill>
            <a:srgbClr val="FFFFFF"/>
          </a:solidFill>
          <a:ln w="28575">
            <a:solidFill>
              <a:srgbClr val="A8E5BE"/>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Women are more caring than men.</a:t>
            </a:r>
            <a:endParaRPr lang="en-US" sz="1100" dirty="0"/>
          </a:p>
          <a:p>
            <a:pPr indent="0" marL="0">
              <a:buNone/>
            </a:pPr>
            <a:r>
              <a:rPr lang="en-US" sz="850" i="1" dirty="0">
                <a:solidFill>
                  <a:srgbClr val="5B6785"/>
                </a:solidFill>
                <a:latin typeface="Segoe UI Semibold" pitchFamily="34" charset="0"/>
                <a:ea typeface="Segoe UI Semibold" pitchFamily="34" charset="-122"/>
                <a:cs typeface="Segoe UI Semibold" pitchFamily="34" charset="-120"/>
              </a:rPr>
              <a:t>e.g. I think it's completely untrue. My dad is very caring.</a:t>
            </a:r>
            <a:endParaRPr lang="en-US" sz="1100" dirty="0"/>
          </a:p>
        </p:txBody>
      </p:sp>
      <p:pic>
        <p:nvPicPr>
          <p:cNvPr id="24" name="R3_th133" descr="/home/claude/lls-course/v2/cache/3b1_caring_jpg_154x107_18.png">    </p:cNvPr>
          <p:cNvPicPr>
            <a:picLocks noChangeAspect="1"/>
          </p:cNvPicPr>
          <p:nvPr/>
        </p:nvPicPr>
        <p:blipFill>
          <a:blip r:embed="rId6"/>
          <a:stretch>
            <a:fillRect/>
          </a:stretch>
        </p:blipFill>
        <p:spPr>
          <a:xfrm>
            <a:off x="8257032" y="2548128"/>
            <a:ext cx="640080" cy="446532"/>
          </a:xfrm>
          <a:prstGeom prst="rect">
            <a:avLst/>
          </a:prstGeom>
        </p:spPr>
      </p:pic>
      <p:sp>
        <p:nvSpPr>
          <p:cNvPr id="25" name="R4_qb134"/>
          <p:cNvSpPr/>
          <p:nvPr/>
        </p:nvSpPr>
        <p:spPr>
          <a:xfrm>
            <a:off x="3273552" y="3122676"/>
            <a:ext cx="329184" cy="329184"/>
          </a:xfrm>
          <a:prstGeom prst="ellipse">
            <a:avLst/>
          </a:prstGeom>
          <a:solidFill>
            <a:srgbClr val="F2B705"/>
          </a:solidFill>
          <a:ln w="28575">
            <a:solidFill>
              <a:srgbClr val="FFE07A"/>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4</a:t>
            </a:r>
            <a:endParaRPr lang="en-US" sz="1100" dirty="0"/>
          </a:p>
        </p:txBody>
      </p:sp>
      <p:sp>
        <p:nvSpPr>
          <p:cNvPr id="26" name="R4_sq135"/>
          <p:cNvSpPr/>
          <p:nvPr/>
        </p:nvSpPr>
        <p:spPr>
          <a:xfrm>
            <a:off x="3675888" y="3086100"/>
            <a:ext cx="5193792" cy="483108"/>
          </a:xfrm>
          <a:prstGeom prst="roundRect">
            <a:avLst>
              <a:gd name="adj" fmla="val 22713"/>
            </a:avLst>
          </a:prstGeom>
          <a:solidFill>
            <a:srgbClr val="FFFFFF"/>
          </a:solidFill>
          <a:ln w="28575">
            <a:solidFill>
              <a:srgbClr val="FFE07A"/>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Women can multitask better than men.</a:t>
            </a:r>
            <a:endParaRPr lang="en-US" sz="1100" dirty="0"/>
          </a:p>
          <a:p>
            <a:pPr indent="0" marL="0">
              <a:buNone/>
            </a:pPr>
            <a:r>
              <a:rPr lang="en-US" sz="850" i="1" dirty="0">
                <a:solidFill>
                  <a:srgbClr val="5B6785"/>
                </a:solidFill>
                <a:latin typeface="Segoe UI Semibold" pitchFamily="34" charset="0"/>
                <a:ea typeface="Segoe UI Semibold" pitchFamily="34" charset="-122"/>
                <a:cs typeface="Segoe UI Semibold" pitchFamily="34" charset="-120"/>
              </a:rPr>
              <a:t>e.g. In general, women tend to do more things at the same time.</a:t>
            </a:r>
            <a:endParaRPr lang="en-US" sz="1100" dirty="0"/>
          </a:p>
        </p:txBody>
      </p:sp>
      <p:sp>
        <p:nvSpPr>
          <p:cNvPr id="27" name="R5_qb136"/>
          <p:cNvSpPr/>
          <p:nvPr/>
        </p:nvSpPr>
        <p:spPr>
          <a:xfrm>
            <a:off x="3273552" y="3678936"/>
            <a:ext cx="329184" cy="329184"/>
          </a:xfrm>
          <a:prstGeom prst="ellipse">
            <a:avLst/>
          </a:prstGeom>
          <a:solidFill>
            <a:srgbClr val="E8508F"/>
          </a:solidFill>
          <a:ln w="28575">
            <a:solidFill>
              <a:srgbClr val="F7A6C4"/>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5</a:t>
            </a:r>
            <a:endParaRPr lang="en-US" sz="1100" dirty="0"/>
          </a:p>
        </p:txBody>
      </p:sp>
      <p:sp>
        <p:nvSpPr>
          <p:cNvPr id="28" name="R5_sq137"/>
          <p:cNvSpPr/>
          <p:nvPr/>
        </p:nvSpPr>
        <p:spPr>
          <a:xfrm>
            <a:off x="3675888" y="3642360"/>
            <a:ext cx="5193792" cy="483108"/>
          </a:xfrm>
          <a:prstGeom prst="roundRect">
            <a:avLst>
              <a:gd name="adj" fmla="val 22713"/>
            </a:avLst>
          </a:prstGeom>
          <a:solidFill>
            <a:srgbClr val="FFFFFF"/>
          </a:solidFill>
          <a:ln w="28575">
            <a:solidFill>
              <a:srgbClr val="F7A6C4"/>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Men are better at telling jokes than women.</a:t>
            </a:r>
            <a:endParaRPr lang="en-US" sz="1100" dirty="0"/>
          </a:p>
          <a:p>
            <a:pPr indent="0" marL="0">
              <a:buNone/>
            </a:pPr>
            <a:r>
              <a:rPr lang="en-US" sz="850" i="1" dirty="0">
                <a:solidFill>
                  <a:srgbClr val="5B6785"/>
                </a:solidFill>
                <a:latin typeface="Segoe UI Semibold" pitchFamily="34" charset="0"/>
                <a:ea typeface="Segoe UI Semibold" pitchFamily="34" charset="-122"/>
                <a:cs typeface="Segoe UI Semibold" pitchFamily="34" charset="-120"/>
              </a:rPr>
              <a:t>e.g. Completely untrue! My mum's jokes are the funniest.</a:t>
            </a:r>
            <a:endParaRPr lang="en-US" sz="1100" dirty="0"/>
          </a:p>
        </p:txBody>
      </p:sp>
      <p:sp>
        <p:nvSpPr>
          <p:cNvPr id="29" name="R6_qb138"/>
          <p:cNvSpPr/>
          <p:nvPr/>
        </p:nvSpPr>
        <p:spPr>
          <a:xfrm>
            <a:off x="3273552" y="4235196"/>
            <a:ext cx="329184" cy="329184"/>
          </a:xfrm>
          <a:prstGeom prst="ellipse">
            <a:avLst/>
          </a:prstGeom>
          <a:solidFill>
            <a:srgbClr val="2F8DE4"/>
          </a:solidFill>
          <a:ln w="28575">
            <a:solidFill>
              <a:srgbClr val="A9D3F5"/>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6</a:t>
            </a:r>
            <a:endParaRPr lang="en-US" sz="1100" dirty="0"/>
          </a:p>
        </p:txBody>
      </p:sp>
      <p:sp>
        <p:nvSpPr>
          <p:cNvPr id="30" name="R6_sq139"/>
          <p:cNvSpPr/>
          <p:nvPr/>
        </p:nvSpPr>
        <p:spPr>
          <a:xfrm>
            <a:off x="3675888" y="4198620"/>
            <a:ext cx="4507992" cy="483108"/>
          </a:xfrm>
          <a:prstGeom prst="roundRect">
            <a:avLst>
              <a:gd name="adj" fmla="val 22713"/>
            </a:avLst>
          </a:prstGeom>
          <a:solidFill>
            <a:srgbClr val="FFFFFF"/>
          </a:solidFill>
          <a:ln w="28575">
            <a:solidFill>
              <a:srgbClr val="A9D3F5"/>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Men make better bosses than women.</a:t>
            </a:r>
            <a:endParaRPr lang="en-US" sz="1100" dirty="0"/>
          </a:p>
          <a:p>
            <a:pPr indent="0" marL="0">
              <a:buNone/>
            </a:pPr>
            <a:r>
              <a:rPr lang="en-US" sz="850" i="1" dirty="0">
                <a:solidFill>
                  <a:srgbClr val="5B6785"/>
                </a:solidFill>
                <a:latin typeface="Segoe UI Semibold" pitchFamily="34" charset="0"/>
                <a:ea typeface="Segoe UI Semibold" pitchFamily="34" charset="-122"/>
                <a:cs typeface="Segoe UI Semibold" pitchFamily="34" charset="-120"/>
              </a:rPr>
              <a:t>e.g. I don't think it's true. My mum is a great boss!</a:t>
            </a:r>
            <a:endParaRPr lang="en-US" sz="1100" dirty="0"/>
          </a:p>
        </p:txBody>
      </p:sp>
      <p:pic>
        <p:nvPicPr>
          <p:cNvPr id="31" name="R6_th140" descr="/home/claude/lls-course/v2/cache/3b1_boss_jpg_154x107_18.png">    </p:cNvPr>
          <p:cNvPicPr>
            <a:picLocks noChangeAspect="1"/>
          </p:cNvPicPr>
          <p:nvPr/>
        </p:nvPicPr>
        <p:blipFill>
          <a:blip r:embed="rId7"/>
          <a:stretch>
            <a:fillRect/>
          </a:stretch>
        </p:blipFill>
        <p:spPr>
          <a:xfrm>
            <a:off x="8257032" y="4216908"/>
            <a:ext cx="640080" cy="446532"/>
          </a:xfrm>
          <a:prstGeom prst="rect">
            <a:avLst/>
          </a:prstGeom>
        </p:spPr>
      </p:pic>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8"/>
                                        </p:tgtEl>
                                        <p:attrNameLst>
                                          <p:attrName>style.visibility</p:attrName>
                                        </p:attrNameLst>
                                      </p:cBhvr>
                                      <p:to>
                                        <p:strVal val="visible"/>
                                      </p:to>
                                    </p:set>
                                    <p:animEffect transition="in" filter="fade">
                                      <p:cBhvr>
                                        <p:cTn id="7" dur="400"/>
                                        <p:tgtEl>
                                          <p:spTgt spid="18"/>
                                        </p:tgtEl>
                                      </p:cBhvr>
                                    </p:animEffect>
                                  </p:childTnLst>
                                </p:cTn>
                              </p:par>
                              <p:par>
                                <p:cTn id="8" presetID="10" presetClass="entr" presetSubtype="0" fill="hold" nodeType="withEffect">
                                  <p:stCondLst>
                                    <p:cond delay="0"/>
                                  </p:stCondLst>
                                  <p:childTnLst>
                                    <p:set>
                                      <p:cBhvr>
                                        <p:cTn id="9" dur="1" fill="hold">
                                          <p:stCondLst>
                                            <p:cond delay="0"/>
                                          </p:stCondLst>
                                        </p:cTn>
                                        <p:tgtEl>
                                          <p:spTgt spid="19"/>
                                        </p:tgtEl>
                                        <p:attrNameLst>
                                          <p:attrName>style.visibility</p:attrName>
                                        </p:attrNameLst>
                                      </p:cBhvr>
                                      <p:to>
                                        <p:strVal val="visible"/>
                                      </p:to>
                                    </p:set>
                                    <p:animEffect transition="in" filter="fade">
                                      <p:cBhvr>
                                        <p:cTn id="10" dur="400"/>
                                        <p:tgtEl>
                                          <p:spTgt spid="19"/>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nodeType="clickEffect">
                                  <p:stCondLst>
                                    <p:cond delay="0"/>
                                  </p:stCondLst>
                                  <p:childTnLst>
                                    <p:set>
                                      <p:cBhvr>
                                        <p:cTn id="14" dur="1" fill="hold">
                                          <p:stCondLst>
                                            <p:cond delay="0"/>
                                          </p:stCondLst>
                                        </p:cTn>
                                        <p:tgtEl>
                                          <p:spTgt spid="20"/>
                                        </p:tgtEl>
                                        <p:attrNameLst>
                                          <p:attrName>style.visibility</p:attrName>
                                        </p:attrNameLst>
                                      </p:cBhvr>
                                      <p:to>
                                        <p:strVal val="visible"/>
                                      </p:to>
                                    </p:set>
                                    <p:animEffect transition="in" filter="fade">
                                      <p:cBhvr>
                                        <p:cTn id="15" dur="400"/>
                                        <p:tgtEl>
                                          <p:spTgt spid="20"/>
                                        </p:tgtEl>
                                      </p:cBhvr>
                                    </p:animEffect>
                                  </p:childTnLst>
                                </p:cTn>
                              </p:par>
                              <p:par>
                                <p:cTn id="16" presetID="10" presetClass="entr" presetSubtype="0" fill="hold" nodeType="withEffect">
                                  <p:stCondLst>
                                    <p:cond delay="0"/>
                                  </p:stCondLst>
                                  <p:childTnLst>
                                    <p:set>
                                      <p:cBhvr>
                                        <p:cTn id="17" dur="1" fill="hold">
                                          <p:stCondLst>
                                            <p:cond delay="0"/>
                                          </p:stCondLst>
                                        </p:cTn>
                                        <p:tgtEl>
                                          <p:spTgt spid="21"/>
                                        </p:tgtEl>
                                        <p:attrNameLst>
                                          <p:attrName>style.visibility</p:attrName>
                                        </p:attrNameLst>
                                      </p:cBhvr>
                                      <p:to>
                                        <p:strVal val="visible"/>
                                      </p:to>
                                    </p:set>
                                    <p:animEffect transition="in" filter="fade">
                                      <p:cBhvr>
                                        <p:cTn id="18" dur="400"/>
                                        <p:tgtEl>
                                          <p:spTgt spid="21"/>
                                        </p:tgtEl>
                                      </p:cBhvr>
                                    </p:animEffect>
                                  </p:childTnLst>
                                </p:cTn>
                              </p:par>
                            </p:childTnLst>
                          </p:cTn>
                        </p:par>
                      </p:childTnLst>
                    </p:cTn>
                  </p:par>
                  <p:par>
                    <p:cTn id="19" fill="hold">
                      <p:stCondLst>
                        <p:cond delay="indefinite"/>
                      </p:stCondLst>
                      <p:childTnLst>
                        <p:par>
                          <p:cTn id="20" fill="hold">
                            <p:stCondLst>
                              <p:cond delay="0"/>
                            </p:stCondLst>
                            <p:childTnLst>
                              <p:par>
                                <p:cTn id="21" presetID="10" presetClass="entr" presetSubtype="0" fill="hold" nodeType="clickEffect">
                                  <p:stCondLst>
                                    <p:cond delay="0"/>
                                  </p:stCondLst>
                                  <p:childTnLst>
                                    <p:set>
                                      <p:cBhvr>
                                        <p:cTn id="22" dur="1" fill="hold">
                                          <p:stCondLst>
                                            <p:cond delay="0"/>
                                          </p:stCondLst>
                                        </p:cTn>
                                        <p:tgtEl>
                                          <p:spTgt spid="22"/>
                                        </p:tgtEl>
                                        <p:attrNameLst>
                                          <p:attrName>style.visibility</p:attrName>
                                        </p:attrNameLst>
                                      </p:cBhvr>
                                      <p:to>
                                        <p:strVal val="visible"/>
                                      </p:to>
                                    </p:set>
                                    <p:animEffect transition="in" filter="fade">
                                      <p:cBhvr>
                                        <p:cTn id="23" dur="400"/>
                                        <p:tgtEl>
                                          <p:spTgt spid="22"/>
                                        </p:tgtEl>
                                      </p:cBhvr>
                                    </p:animEffect>
                                  </p:childTnLst>
                                </p:cTn>
                              </p:par>
                              <p:par>
                                <p:cTn id="24" presetID="10" presetClass="entr" presetSubtype="0" fill="hold" nodeType="withEffect">
                                  <p:stCondLst>
                                    <p:cond delay="0"/>
                                  </p:stCondLst>
                                  <p:childTnLst>
                                    <p:set>
                                      <p:cBhvr>
                                        <p:cTn id="25" dur="1" fill="hold">
                                          <p:stCondLst>
                                            <p:cond delay="0"/>
                                          </p:stCondLst>
                                        </p:cTn>
                                        <p:tgtEl>
                                          <p:spTgt spid="23"/>
                                        </p:tgtEl>
                                        <p:attrNameLst>
                                          <p:attrName>style.visibility</p:attrName>
                                        </p:attrNameLst>
                                      </p:cBhvr>
                                      <p:to>
                                        <p:strVal val="visible"/>
                                      </p:to>
                                    </p:set>
                                    <p:animEffect transition="in" filter="fade">
                                      <p:cBhvr>
                                        <p:cTn id="26" dur="400"/>
                                        <p:tgtEl>
                                          <p:spTgt spid="23"/>
                                        </p:tgtEl>
                                      </p:cBhvr>
                                    </p:animEffect>
                                  </p:childTnLst>
                                </p:cTn>
                              </p:par>
                              <p:par>
                                <p:cTn id="27" presetID="10" presetClass="entr" presetSubtype="0" fill="hold" nodeType="withEffect">
                                  <p:stCondLst>
                                    <p:cond delay="0"/>
                                  </p:stCondLst>
                                  <p:childTnLst>
                                    <p:set>
                                      <p:cBhvr>
                                        <p:cTn id="28" dur="1" fill="hold">
                                          <p:stCondLst>
                                            <p:cond delay="0"/>
                                          </p:stCondLst>
                                        </p:cTn>
                                        <p:tgtEl>
                                          <p:spTgt spid="24"/>
                                        </p:tgtEl>
                                        <p:attrNameLst>
                                          <p:attrName>style.visibility</p:attrName>
                                        </p:attrNameLst>
                                      </p:cBhvr>
                                      <p:to>
                                        <p:strVal val="visible"/>
                                      </p:to>
                                    </p:set>
                                    <p:animEffect transition="in" filter="fade">
                                      <p:cBhvr>
                                        <p:cTn id="29" dur="400"/>
                                        <p:tgtEl>
                                          <p:spTgt spid="24"/>
                                        </p:tgtEl>
                                      </p:cBhvr>
                                    </p:animEffect>
                                  </p:childTnLst>
                                </p:cTn>
                              </p:par>
                            </p:childTnLst>
                          </p:cTn>
                        </p:par>
                      </p:childTnLst>
                    </p:cTn>
                  </p:par>
                  <p:par>
                    <p:cTn id="30" fill="hold">
                      <p:stCondLst>
                        <p:cond delay="indefinite"/>
                      </p:stCondLst>
                      <p:childTnLst>
                        <p:par>
                          <p:cTn id="31" fill="hold">
                            <p:stCondLst>
                              <p:cond delay="0"/>
                            </p:stCondLst>
                            <p:childTnLst>
                              <p:par>
                                <p:cTn id="32" presetID="10" presetClass="entr" presetSubtype="0" fill="hold" nodeType="clickEffect">
                                  <p:stCondLst>
                                    <p:cond delay="0"/>
                                  </p:stCondLst>
                                  <p:childTnLst>
                                    <p:set>
                                      <p:cBhvr>
                                        <p:cTn id="33" dur="1" fill="hold">
                                          <p:stCondLst>
                                            <p:cond delay="0"/>
                                          </p:stCondLst>
                                        </p:cTn>
                                        <p:tgtEl>
                                          <p:spTgt spid="25"/>
                                        </p:tgtEl>
                                        <p:attrNameLst>
                                          <p:attrName>style.visibility</p:attrName>
                                        </p:attrNameLst>
                                      </p:cBhvr>
                                      <p:to>
                                        <p:strVal val="visible"/>
                                      </p:to>
                                    </p:set>
                                    <p:animEffect transition="in" filter="fade">
                                      <p:cBhvr>
                                        <p:cTn id="34" dur="400"/>
                                        <p:tgtEl>
                                          <p:spTgt spid="25"/>
                                        </p:tgtEl>
                                      </p:cBhvr>
                                    </p:animEffect>
                                  </p:childTnLst>
                                </p:cTn>
                              </p:par>
                              <p:par>
                                <p:cTn id="35" presetID="10" presetClass="entr" presetSubtype="0" fill="hold" nodeType="withEffect">
                                  <p:stCondLst>
                                    <p:cond delay="0"/>
                                  </p:stCondLst>
                                  <p:childTnLst>
                                    <p:set>
                                      <p:cBhvr>
                                        <p:cTn id="36" dur="1" fill="hold">
                                          <p:stCondLst>
                                            <p:cond delay="0"/>
                                          </p:stCondLst>
                                        </p:cTn>
                                        <p:tgtEl>
                                          <p:spTgt spid="26"/>
                                        </p:tgtEl>
                                        <p:attrNameLst>
                                          <p:attrName>style.visibility</p:attrName>
                                        </p:attrNameLst>
                                      </p:cBhvr>
                                      <p:to>
                                        <p:strVal val="visible"/>
                                      </p:to>
                                    </p:set>
                                    <p:animEffect transition="in" filter="fade">
                                      <p:cBhvr>
                                        <p:cTn id="37" dur="400"/>
                                        <p:tgtEl>
                                          <p:spTgt spid="26"/>
                                        </p:tgtEl>
                                      </p:cBhvr>
                                    </p:animEffect>
                                  </p:childTnLst>
                                </p:cTn>
                              </p:par>
                            </p:childTnLst>
                          </p:cTn>
                        </p:par>
                      </p:childTnLst>
                    </p:cTn>
                  </p:par>
                  <p:par>
                    <p:cTn id="38" fill="hold">
                      <p:stCondLst>
                        <p:cond delay="indefinite"/>
                      </p:stCondLst>
                      <p:childTnLst>
                        <p:par>
                          <p:cTn id="39" fill="hold">
                            <p:stCondLst>
                              <p:cond delay="0"/>
                            </p:stCondLst>
                            <p:childTnLst>
                              <p:par>
                                <p:cTn id="40" presetID="10" presetClass="entr" presetSubtype="0" fill="hold" nodeType="clickEffect">
                                  <p:stCondLst>
                                    <p:cond delay="0"/>
                                  </p:stCondLst>
                                  <p:childTnLst>
                                    <p:set>
                                      <p:cBhvr>
                                        <p:cTn id="41" dur="1" fill="hold">
                                          <p:stCondLst>
                                            <p:cond delay="0"/>
                                          </p:stCondLst>
                                        </p:cTn>
                                        <p:tgtEl>
                                          <p:spTgt spid="27"/>
                                        </p:tgtEl>
                                        <p:attrNameLst>
                                          <p:attrName>style.visibility</p:attrName>
                                        </p:attrNameLst>
                                      </p:cBhvr>
                                      <p:to>
                                        <p:strVal val="visible"/>
                                      </p:to>
                                    </p:set>
                                    <p:animEffect transition="in" filter="fade">
                                      <p:cBhvr>
                                        <p:cTn id="42" dur="400"/>
                                        <p:tgtEl>
                                          <p:spTgt spid="27"/>
                                        </p:tgtEl>
                                      </p:cBhvr>
                                    </p:animEffect>
                                  </p:childTnLst>
                                </p:cTn>
                              </p:par>
                              <p:par>
                                <p:cTn id="43" presetID="10" presetClass="entr" presetSubtype="0" fill="hold" nodeType="withEffect">
                                  <p:stCondLst>
                                    <p:cond delay="0"/>
                                  </p:stCondLst>
                                  <p:childTnLst>
                                    <p:set>
                                      <p:cBhvr>
                                        <p:cTn id="44" dur="1" fill="hold">
                                          <p:stCondLst>
                                            <p:cond delay="0"/>
                                          </p:stCondLst>
                                        </p:cTn>
                                        <p:tgtEl>
                                          <p:spTgt spid="28"/>
                                        </p:tgtEl>
                                        <p:attrNameLst>
                                          <p:attrName>style.visibility</p:attrName>
                                        </p:attrNameLst>
                                      </p:cBhvr>
                                      <p:to>
                                        <p:strVal val="visible"/>
                                      </p:to>
                                    </p:set>
                                    <p:animEffect transition="in" filter="fade">
                                      <p:cBhvr>
                                        <p:cTn id="45" dur="400"/>
                                        <p:tgtEl>
                                          <p:spTgt spid="28"/>
                                        </p:tgtEl>
                                      </p:cBhvr>
                                    </p:animEffect>
                                  </p:childTnLst>
                                </p:cTn>
                              </p:par>
                            </p:childTnLst>
                          </p:cTn>
                        </p:par>
                      </p:childTnLst>
                    </p:cTn>
                  </p:par>
                  <p:par>
                    <p:cTn id="46" fill="hold">
                      <p:stCondLst>
                        <p:cond delay="indefinite"/>
                      </p:stCondLst>
                      <p:childTnLst>
                        <p:par>
                          <p:cTn id="47" fill="hold">
                            <p:stCondLst>
                              <p:cond delay="0"/>
                            </p:stCondLst>
                            <p:childTnLst>
                              <p:par>
                                <p:cTn id="48" presetID="10" presetClass="entr" presetSubtype="0" fill="hold" nodeType="clickEffect">
                                  <p:stCondLst>
                                    <p:cond delay="0"/>
                                  </p:stCondLst>
                                  <p:childTnLst>
                                    <p:set>
                                      <p:cBhvr>
                                        <p:cTn id="49" dur="1" fill="hold">
                                          <p:stCondLst>
                                            <p:cond delay="0"/>
                                          </p:stCondLst>
                                        </p:cTn>
                                        <p:tgtEl>
                                          <p:spTgt spid="29"/>
                                        </p:tgtEl>
                                        <p:attrNameLst>
                                          <p:attrName>style.visibility</p:attrName>
                                        </p:attrNameLst>
                                      </p:cBhvr>
                                      <p:to>
                                        <p:strVal val="visible"/>
                                      </p:to>
                                    </p:set>
                                    <p:animEffect transition="in" filter="fade">
                                      <p:cBhvr>
                                        <p:cTn id="50" dur="400"/>
                                        <p:tgtEl>
                                          <p:spTgt spid="29"/>
                                        </p:tgtEl>
                                      </p:cBhvr>
                                    </p:animEffect>
                                  </p:childTnLst>
                                </p:cTn>
                              </p:par>
                              <p:par>
                                <p:cTn id="51" presetID="10" presetClass="entr" presetSubtype="0" fill="hold" nodeType="withEffect">
                                  <p:stCondLst>
                                    <p:cond delay="0"/>
                                  </p:stCondLst>
                                  <p:childTnLst>
                                    <p:set>
                                      <p:cBhvr>
                                        <p:cTn id="52" dur="1" fill="hold">
                                          <p:stCondLst>
                                            <p:cond delay="0"/>
                                          </p:stCondLst>
                                        </p:cTn>
                                        <p:tgtEl>
                                          <p:spTgt spid="30"/>
                                        </p:tgtEl>
                                        <p:attrNameLst>
                                          <p:attrName>style.visibility</p:attrName>
                                        </p:attrNameLst>
                                      </p:cBhvr>
                                      <p:to>
                                        <p:strVal val="visible"/>
                                      </p:to>
                                    </p:set>
                                    <p:animEffect transition="in" filter="fade">
                                      <p:cBhvr>
                                        <p:cTn id="53" dur="400"/>
                                        <p:tgtEl>
                                          <p:spTgt spid="30"/>
                                        </p:tgtEl>
                                      </p:cBhvr>
                                    </p:animEffect>
                                  </p:childTnLst>
                                </p:cTn>
                              </p:par>
                              <p:par>
                                <p:cTn id="54" presetID="10" presetClass="entr" presetSubtype="0" fill="hold" nodeType="withEffect">
                                  <p:stCondLst>
                                    <p:cond delay="0"/>
                                  </p:stCondLst>
                                  <p:childTnLst>
                                    <p:set>
                                      <p:cBhvr>
                                        <p:cTn id="55" dur="1" fill="hold">
                                          <p:stCondLst>
                                            <p:cond delay="0"/>
                                          </p:stCondLst>
                                        </p:cTn>
                                        <p:tgtEl>
                                          <p:spTgt spid="31"/>
                                        </p:tgtEl>
                                        <p:attrNameLst>
                                          <p:attrName>style.visibility</p:attrName>
                                        </p:attrNameLst>
                                      </p:cBhvr>
                                      <p:to>
                                        <p:strVal val="visible"/>
                                      </p:to>
                                    </p:set>
                                    <p:animEffect transition="in" filter="fade">
                                      <p:cBhvr>
                                        <p:cTn id="56" dur="400"/>
                                        <p:tgtEl>
                                          <p:spTgt spid="3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xml><?xml version="1.0" encoding="utf-8"?>
<p:sld xmlns:a="http://schemas.openxmlformats.org/drawingml/2006/main" xmlns:r="http://schemas.openxmlformats.org/officeDocument/2006/relationships" xmlns:p="http://schemas.openxmlformats.org/presentationml/2006/main">
  <p:cSld name="Slide 6">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141"/>
          <p:cNvSpPr/>
          <p:nvPr/>
        </p:nvSpPr>
        <p:spPr>
          <a:xfrm>
            <a:off x="201168" y="164592"/>
            <a:ext cx="841248" cy="841248"/>
          </a:xfrm>
          <a:prstGeom prst="ellipse">
            <a:avLst/>
          </a:prstGeom>
          <a:solidFill>
            <a:srgbClr val="2EB872"/>
          </a:solidFill>
          <a:ln w="28575">
            <a:solidFill>
              <a:srgbClr val="A8E5BE"/>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800" dirty="0">
                <a:solidFill>
                  <a:srgbClr val="FFFFFF"/>
                </a:solidFill>
                <a:latin typeface="Arial Rounded MT Bold" pitchFamily="34" charset="0"/>
                <a:ea typeface="Arial Rounded MT Bold" pitchFamily="34" charset="-122"/>
                <a:cs typeface="Arial Rounded MT Bold" pitchFamily="34" charset="-120"/>
              </a:rPr>
              <a:t>6</a:t>
            </a:r>
            <a:endParaRPr lang="en-US" sz="2800" dirty="0"/>
          </a:p>
        </p:txBody>
      </p:sp>
      <p:pic>
        <p:nvPicPr>
          <p:cNvPr id="4" name="brY_142" descr="/home/claude/lls-course/v2/assets/brush-yellow.png">    </p:cNvPr>
          <p:cNvPicPr>
            <a:picLocks noChangeAspect="1"/>
          </p:cNvPicPr>
          <p:nvPr/>
        </p:nvPicPr>
        <p:blipFill>
          <a:blip r:embed="rId2"/>
          <a:stretch>
            <a:fillRect/>
          </a:stretch>
        </p:blipFill>
        <p:spPr>
          <a:xfrm>
            <a:off x="1097280" y="146304"/>
            <a:ext cx="4034333" cy="621792"/>
          </a:xfrm>
          <a:prstGeom prst="rect">
            <a:avLst/>
          </a:prstGeom>
        </p:spPr>
      </p:pic>
      <p:sp>
        <p:nvSpPr>
          <p:cNvPr id="5" name="title_143"/>
          <p:cNvSpPr/>
          <p:nvPr/>
        </p:nvSpPr>
        <p:spPr>
          <a:xfrm>
            <a:off x="1261872" y="164592"/>
            <a:ext cx="3760013"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Are they really true?</a:t>
            </a:r>
            <a:endParaRPr lang="en-US" sz="2500" dirty="0"/>
          </a:p>
        </p:txBody>
      </p:sp>
      <p:pic>
        <p:nvPicPr>
          <p:cNvPr id="6" name="brP_144" descr="/home/claude/lls-course/v2/assets/brush-pink.png">    </p:cNvPr>
          <p:cNvPicPr>
            <a:picLocks noChangeAspect="1"/>
          </p:cNvPicPr>
          <p:nvPr/>
        </p:nvPicPr>
        <p:blipFill>
          <a:blip r:embed="rId3"/>
          <a:stretch>
            <a:fillRect/>
          </a:stretch>
        </p:blipFill>
        <p:spPr>
          <a:xfrm>
            <a:off x="1207008" y="731520"/>
            <a:ext cx="4119372" cy="402336"/>
          </a:xfrm>
          <a:prstGeom prst="rect">
            <a:avLst/>
          </a:prstGeom>
        </p:spPr>
      </p:pic>
      <p:sp>
        <p:nvSpPr>
          <p:cNvPr id="7" name="ins_145"/>
          <p:cNvSpPr/>
          <p:nvPr/>
        </p:nvSpPr>
        <p:spPr>
          <a:xfrm>
            <a:off x="1353312" y="731520"/>
            <a:ext cx="3863340"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Read the intro. Then guess the results!</a:t>
            </a:r>
            <a:endParaRPr lang="en-US" sz="1250" dirty="0"/>
          </a:p>
        </p:txBody>
      </p:sp>
      <p:sp>
        <p:nvSpPr>
          <p:cNvPr id="8" name="insIT_146"/>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Leggi l'intro. Poi indovina i risultati!</a:t>
            </a:r>
            <a:endParaRPr lang="en-US" sz="950" dirty="0"/>
          </a:p>
        </p:txBody>
      </p:sp>
      <p:sp>
        <p:nvSpPr>
          <p:cNvPr id="9" name="note_147"/>
          <p:cNvSpPr/>
          <p:nvPr/>
        </p:nvSpPr>
        <p:spPr>
          <a:xfrm rot="180000">
            <a:off x="6382512" y="128016"/>
            <a:ext cx="2029968" cy="1024128"/>
          </a:xfrm>
          <a:prstGeom prst="rect">
            <a:avLst/>
          </a:prstGeom>
          <a:solidFill>
            <a:srgbClr val="FFC2DA"/>
          </a:solidFill>
          <a:ln>
            <a:solidFill>
              <a:srgbClr val="FFC2DA"/>
            </a:solidFill>
          </a:ln>
          <a:effectLst>
            <a:outerShdw sx="100000" sy="100000" kx="0" ky="0" algn="bl" rotWithShape="0" blurRad="88900" dist="31750" dir="5400000">
              <a:srgbClr val="1B2559">
                <a:alpha val="15000"/>
              </a:srgbClr>
            </a:outerShdw>
          </a:effectLst>
        </p:spPr>
        <p:txBody>
          <a:bodyPr wrap="square" lIns="50800" tIns="50800" rIns="50800" bIns="50800" rtlCol="0" anchor="ctr">
            <a:normAutofit/>
          </a:bodyP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 READ</a:t>
            </a:r>
            <a:pPr algn="ctr" indent="0" marL="0">
              <a:buNone/>
            </a:pPr>
            <a:r>
              <a:rPr lang="en-US" sz="1200" dirty="0">
                <a:solidFill>
                  <a:srgbClr val="5B6785"/>
                </a:solidFill>
              </a:rPr>
              <a:t> → </a:t>
            </a:r>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 GUESS</a:t>
            </a:r>
            <a:endParaRPr lang="en-US" sz="1150" dirty="0"/>
          </a:p>
          <a:p>
            <a:pPr algn="ctr" indent="0" marL="0">
              <a:buNone/>
            </a:pPr>
            <a:r>
              <a:rPr lang="en-US" sz="1100" dirty="0">
                <a:solidFill>
                  <a:srgbClr val="1B2559"/>
                </a:solidFill>
                <a:latin typeface="Segoe UI Semibold" pitchFamily="34" charset="0"/>
                <a:ea typeface="Segoe UI Semibold" pitchFamily="34" charset="-122"/>
                <a:cs typeface="Segoe UI Semibold" pitchFamily="34" charset="-120"/>
              </a:rPr>
              <a:t>⏱ 2 min   👥 pairs</a:t>
            </a:r>
            <a:endParaRPr lang="en-US" sz="1150" dirty="0"/>
          </a:p>
          <a:p>
            <a:pPr algn="ctr" indent="0" marL="0">
              <a:buNone/>
            </a:pPr>
            <a:r>
              <a:rPr lang="en-US" sz="900" dirty="0">
                <a:solidFill>
                  <a:srgbClr val="5B6785"/>
                </a:solidFill>
                <a:latin typeface="Segoe UI Semibold" pitchFamily="34" charset="0"/>
                <a:ea typeface="Segoe UI Semibold" pitchFamily="34" charset="-122"/>
                <a:cs typeface="Segoe UI Semibold" pitchFamily="34" charset="-120"/>
              </a:rPr>
              <a:t>🎯 Reading · Prediction</a:t>
            </a:r>
            <a:endParaRPr lang="en-US" sz="1150" dirty="0"/>
          </a:p>
        </p:txBody>
      </p:sp>
      <p:pic>
        <p:nvPicPr>
          <p:cNvPr id="10" name="logo_148"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1" name="foot_149"/>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3B-1 · Reading · prediction   ·   📖 SB p.30 · 1c (introduction)</a:t>
            </a:r>
            <a:endParaRPr lang="en-US" sz="800" dirty="0"/>
          </a:p>
        </p:txBody>
      </p:sp>
      <p:sp>
        <p:nvSpPr>
          <p:cNvPr id="12" name="cd_150"/>
          <p:cNvSpPr/>
          <p:nvPr/>
        </p:nvSpPr>
        <p:spPr>
          <a:xfrm>
            <a:off x="320040" y="1417320"/>
            <a:ext cx="5029200" cy="1965960"/>
          </a:xfrm>
          <a:prstGeom prst="roundRect">
            <a:avLst>
              <a:gd name="adj" fmla="val 6512"/>
            </a:avLst>
          </a:prstGeom>
          <a:solidFill>
            <a:srgbClr val="FFFFFF"/>
          </a:solidFill>
          <a:ln w="28575">
            <a:solidFill>
              <a:srgbClr val="A8E5BE"/>
            </a:solidFill>
            <a:prstDash val="solid"/>
          </a:ln>
          <a:effectLst>
            <a:outerShdw sx="100000" sy="100000" kx="0" ky="0" algn="bl" rotWithShape="0" blurRad="88900" dist="31750" dir="5400000">
              <a:srgbClr val="1B2559">
                <a:alpha val="12000"/>
              </a:srgbClr>
            </a:outerShdw>
          </a:effectLst>
        </p:spPr>
      </p:sp>
      <p:sp>
        <p:nvSpPr>
          <p:cNvPr id="13" name="hl_151"/>
          <p:cNvSpPr/>
          <p:nvPr/>
        </p:nvSpPr>
        <p:spPr>
          <a:xfrm>
            <a:off x="502920" y="1508760"/>
            <a:ext cx="4663440" cy="548640"/>
          </a:xfrm>
          <a:prstGeom prst="rect">
            <a:avLst/>
          </a:prstGeom>
          <a:noFill/>
          <a:ln/>
        </p:spPr>
        <p:txBody>
          <a:bodyPr wrap="square" lIns="0" tIns="0" rIns="0" bIns="0" rtlCol="0" anchor="ctr"/>
          <a:lstStyle/>
          <a:p>
            <a:pPr indent="0" marL="0">
              <a:buNone/>
            </a:pPr>
            <a:r>
              <a:rPr lang="en-US" sz="2800" b="1" dirty="0">
                <a:solidFill>
                  <a:srgbClr val="1F6F43"/>
                </a:solidFill>
                <a:latin typeface="Georgia" pitchFamily="34" charset="0"/>
                <a:ea typeface="Georgia" pitchFamily="34" charset="-122"/>
                <a:cs typeface="Georgia" pitchFamily="34" charset="-120"/>
              </a:rPr>
              <a:t>Men and women</a:t>
            </a:r>
            <a:endParaRPr lang="en-US" sz="2800" dirty="0"/>
          </a:p>
        </p:txBody>
      </p:sp>
      <p:sp>
        <p:nvSpPr>
          <p:cNvPr id="14" name="nx_152"/>
          <p:cNvSpPr/>
          <p:nvPr/>
        </p:nvSpPr>
        <p:spPr>
          <a:xfrm>
            <a:off x="457200" y="2807208"/>
            <a:ext cx="4754880" cy="512064"/>
          </a:xfrm>
          <a:prstGeom prst="roundRect">
            <a:avLst>
              <a:gd name="adj" fmla="val 17857"/>
            </a:avLst>
          </a:prstGeom>
          <a:solidFill>
            <a:srgbClr val="E3F7EA"/>
          </a:solidFill>
          <a:ln w="28575">
            <a:solidFill>
              <a:srgbClr val="A8E5BE"/>
            </a:solidFill>
          </a:ln>
        </p:spPr>
        <p:txBody>
          <a:bodyPr wrap="square" lIns="127000" tIns="25400" rIns="127000" bIns="25400" rtlCol="0" anchor="ctr">
            <a:normAutofit/>
          </a:bodyPr>
          <a:lstStyle/>
          <a:p>
            <a:pPr indent="0" marL="0">
              <a:buNone/>
            </a:pPr>
            <a:r>
              <a:rPr lang="en-US" sz="750" dirty="0">
                <a:solidFill>
                  <a:srgbClr val="2EB872"/>
                </a:solidFill>
                <a:latin typeface="Segoe UI Black" pitchFamily="34" charset="0"/>
                <a:ea typeface="Segoe UI Black" pitchFamily="34" charset="-122"/>
                <a:cs typeface="Segoe UI Black" pitchFamily="34" charset="-120"/>
              </a:rPr>
              <a:t>➡ NEXT  </a:t>
            </a:r>
            <a:pPr indent="0" marL="0">
              <a:buNone/>
            </a:pPr>
            <a:r>
              <a:rPr lang="en-US" sz="900" dirty="0">
                <a:solidFill>
                  <a:srgbClr val="1B2559"/>
                </a:solidFill>
                <a:latin typeface="Segoe UI Semibold" pitchFamily="34" charset="0"/>
                <a:ea typeface="Segoe UI Semibold" pitchFamily="34" charset="-122"/>
                <a:cs typeface="Segoe UI Semibold" pitchFamily="34" charset="-120"/>
              </a:rPr>
              <a:t>The article on the next 3 slides has 5 paragraphs. Find the sentence from slide 5 that goes with each one. Then find these numbers!</a:t>
            </a:r>
            <a:endParaRPr lang="en-US" sz="750" dirty="0"/>
          </a:p>
        </p:txBody>
      </p:sp>
      <p:sp>
        <p:nvSpPr>
          <p:cNvPr id="15" name="sf_153"/>
          <p:cNvSpPr/>
          <p:nvPr/>
        </p:nvSpPr>
        <p:spPr>
          <a:xfrm>
            <a:off x="521208" y="2039112"/>
            <a:ext cx="4663440" cy="731520"/>
          </a:xfrm>
          <a:prstGeom prst="rect">
            <a:avLst/>
          </a:prstGeom>
          <a:noFill/>
          <a:ln/>
        </p:spPr>
        <p:txBody>
          <a:bodyPr wrap="square" lIns="0" tIns="0" rIns="0" bIns="0" rtlCol="0" anchor="t">
            <a:normAutofit/>
          </a:bodyPr>
          <a:lstStyle/>
          <a:p>
            <a:pPr indent="0" marL="0">
              <a:buNone/>
            </a:pPr>
            <a:r>
              <a:rPr lang="en-US" sz="1150" i="1" dirty="0">
                <a:solidFill>
                  <a:srgbClr val="1B2559"/>
                </a:solidFill>
                <a:latin typeface="Georgia" pitchFamily="34" charset="0"/>
                <a:ea typeface="Georgia" pitchFamily="34" charset="-122"/>
                <a:cs typeface="Georgia" pitchFamily="34" charset="-120"/>
              </a:rPr>
              <a:t>Common stereotypes – but are they really true? Scientists say that there are certain gender stereotypes which they have proved are true, for example, a recent study found that men are better at assembling IKEA furniture than women! Here are five more…</a:t>
            </a:r>
            <a:endParaRPr lang="en-US" sz="1150" dirty="0"/>
          </a:p>
        </p:txBody>
      </p:sp>
      <p:sp>
        <p:nvSpPr>
          <p:cNvPr id="16" name="nbl_154"/>
          <p:cNvSpPr/>
          <p:nvPr/>
        </p:nvSpPr>
        <p:spPr>
          <a:xfrm>
            <a:off x="365760" y="3566160"/>
            <a:ext cx="4937760" cy="274320"/>
          </a:xfrm>
          <a:prstGeom prst="rect">
            <a:avLst/>
          </a:prstGeom>
          <a:noFill/>
          <a:ln/>
        </p:spPr>
        <p:txBody>
          <a:bodyPr wrap="square" lIns="0" tIns="0" rIns="0" bIns="0" rtlCol="0" anchor="ctr"/>
          <a:lstStyle/>
          <a:p>
            <a:pPr indent="0" marL="0">
              <a:buNone/>
            </a:pPr>
            <a:r>
              <a:rPr lang="en-US" sz="1100" dirty="0">
                <a:solidFill>
                  <a:srgbClr val="1B2559"/>
                </a:solidFill>
                <a:latin typeface="Arial Rounded MT Bold" pitchFamily="34" charset="0"/>
                <a:ea typeface="Arial Rounded MT Bold" pitchFamily="34" charset="-122"/>
                <a:cs typeface="Arial Rounded MT Bold" pitchFamily="34" charset="-120"/>
              </a:rPr>
              <a:t>🔢 NUMBER BANK · guess where they go!</a:t>
            </a:r>
            <a:endParaRPr lang="en-US" sz="1100" dirty="0"/>
          </a:p>
        </p:txBody>
      </p:sp>
      <p:sp>
        <p:nvSpPr>
          <p:cNvPr id="17" name="bd_155"/>
          <p:cNvSpPr/>
          <p:nvPr/>
        </p:nvSpPr>
        <p:spPr>
          <a:xfrm>
            <a:off x="365760" y="3931920"/>
            <a:ext cx="548640" cy="548640"/>
          </a:xfrm>
          <a:prstGeom prst="ellipse">
            <a:avLst/>
          </a:prstGeom>
          <a:solidFill>
            <a:srgbClr val="E8508F"/>
          </a:solidFill>
          <a:ln w="28575">
            <a:solidFill>
              <a:srgbClr val="F7A6C4"/>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400" dirty="0">
                <a:solidFill>
                  <a:srgbClr val="FFFFFF"/>
                </a:solidFill>
                <a:latin typeface="Arial Rounded MT Bold" pitchFamily="34" charset="0"/>
                <a:ea typeface="Arial Rounded MT Bold" pitchFamily="34" charset="-122"/>
                <a:cs typeface="Arial Rounded MT Bold" pitchFamily="34" charset="-120"/>
              </a:rPr>
              <a:t>18</a:t>
            </a:r>
            <a:endParaRPr lang="en-US" sz="1400" dirty="0"/>
          </a:p>
        </p:txBody>
      </p:sp>
      <p:sp>
        <p:nvSpPr>
          <p:cNvPr id="18" name="bd_156"/>
          <p:cNvSpPr/>
          <p:nvPr/>
        </p:nvSpPr>
        <p:spPr>
          <a:xfrm>
            <a:off x="987552" y="3931920"/>
            <a:ext cx="548640" cy="548640"/>
          </a:xfrm>
          <a:prstGeom prst="ellipse">
            <a:avLst/>
          </a:prstGeom>
          <a:solidFill>
            <a:srgbClr val="2F8DE4"/>
          </a:solidFill>
          <a:ln w="28575">
            <a:solidFill>
              <a:srgbClr val="A9D3F5"/>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50%</a:t>
            </a:r>
            <a:endParaRPr lang="en-US" sz="1000" dirty="0"/>
          </a:p>
        </p:txBody>
      </p:sp>
      <p:sp>
        <p:nvSpPr>
          <p:cNvPr id="19" name="bd_157"/>
          <p:cNvSpPr/>
          <p:nvPr/>
        </p:nvSpPr>
        <p:spPr>
          <a:xfrm>
            <a:off x="1609344" y="3931920"/>
            <a:ext cx="548640" cy="548640"/>
          </a:xfrm>
          <a:prstGeom prst="ellipse">
            <a:avLst/>
          </a:prstGeom>
          <a:solidFill>
            <a:srgbClr val="2EB872"/>
          </a:solidFill>
          <a:ln w="28575">
            <a:solidFill>
              <a:srgbClr val="A8E5BE"/>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30%</a:t>
            </a:r>
            <a:endParaRPr lang="en-US" sz="1000" dirty="0"/>
          </a:p>
        </p:txBody>
      </p:sp>
      <p:sp>
        <p:nvSpPr>
          <p:cNvPr id="20" name="bd_158"/>
          <p:cNvSpPr/>
          <p:nvPr/>
        </p:nvSpPr>
        <p:spPr>
          <a:xfrm>
            <a:off x="2231136" y="3931920"/>
            <a:ext cx="548640" cy="548640"/>
          </a:xfrm>
          <a:prstGeom prst="ellipse">
            <a:avLst/>
          </a:prstGeom>
          <a:solidFill>
            <a:srgbClr val="F2B705"/>
          </a:solidFill>
          <a:ln w="28575">
            <a:solidFill>
              <a:srgbClr val="FFE07A"/>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800" dirty="0">
                <a:solidFill>
                  <a:srgbClr val="FFFFFF"/>
                </a:solidFill>
                <a:latin typeface="Arial Rounded MT Bold" pitchFamily="34" charset="0"/>
                <a:ea typeface="Arial Rounded MT Bold" pitchFamily="34" charset="-122"/>
                <a:cs typeface="Arial Rounded MT Bold" pitchFamily="34" charset="-120"/>
              </a:rPr>
              <a:t>20,000</a:t>
            </a:r>
            <a:endParaRPr lang="en-US" sz="800" dirty="0"/>
          </a:p>
        </p:txBody>
      </p:sp>
      <p:sp>
        <p:nvSpPr>
          <p:cNvPr id="21" name="bd_159"/>
          <p:cNvSpPr/>
          <p:nvPr/>
        </p:nvSpPr>
        <p:spPr>
          <a:xfrm>
            <a:off x="2852928" y="3931920"/>
            <a:ext cx="548640" cy="548640"/>
          </a:xfrm>
          <a:prstGeom prst="ellipse">
            <a:avLst/>
          </a:prstGeom>
          <a:solidFill>
            <a:srgbClr val="E8508F"/>
          </a:solidFill>
          <a:ln w="28575">
            <a:solidFill>
              <a:srgbClr val="F7A6C4"/>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800" dirty="0">
                <a:solidFill>
                  <a:srgbClr val="FFFFFF"/>
                </a:solidFill>
                <a:latin typeface="Arial Rounded MT Bold" pitchFamily="34" charset="0"/>
                <a:ea typeface="Arial Rounded MT Bold" pitchFamily="34" charset="-122"/>
                <a:cs typeface="Arial Rounded MT Bold" pitchFamily="34" charset="-120"/>
              </a:rPr>
              <a:t>8</a:t>
            </a:r>
            <a:endParaRPr lang="en-US" sz="1800" dirty="0"/>
          </a:p>
        </p:txBody>
      </p:sp>
      <p:sp>
        <p:nvSpPr>
          <p:cNvPr id="22" name="bd_160"/>
          <p:cNvSpPr/>
          <p:nvPr/>
        </p:nvSpPr>
        <p:spPr>
          <a:xfrm>
            <a:off x="3474720" y="3931920"/>
            <a:ext cx="548640" cy="548640"/>
          </a:xfrm>
          <a:prstGeom prst="ellipse">
            <a:avLst/>
          </a:prstGeom>
          <a:solidFill>
            <a:srgbClr val="2F8DE4"/>
          </a:solidFill>
          <a:ln w="28575">
            <a:solidFill>
              <a:srgbClr val="A9D3F5"/>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400" dirty="0">
                <a:solidFill>
                  <a:srgbClr val="FFFFFF"/>
                </a:solidFill>
                <a:latin typeface="Arial Rounded MT Bold" pitchFamily="34" charset="0"/>
                <a:ea typeface="Arial Rounded MT Bold" pitchFamily="34" charset="-122"/>
                <a:cs typeface="Arial Rounded MT Bold" pitchFamily="34" charset="-120"/>
              </a:rPr>
              <a:t>50</a:t>
            </a:r>
            <a:endParaRPr lang="en-US" sz="1400" dirty="0"/>
          </a:p>
        </p:txBody>
      </p:sp>
      <p:sp>
        <p:nvSpPr>
          <p:cNvPr id="23" name="pf_161"/>
          <p:cNvSpPr/>
          <p:nvPr/>
        </p:nvSpPr>
        <p:spPr>
          <a:xfrm rot="90000">
            <a:off x="5577840" y="1742950"/>
            <a:ext cx="3246120" cy="2366260"/>
          </a:xfrm>
          <a:prstGeom prst="roundRect">
            <a:avLst>
              <a:gd name="adj" fmla="val 6569"/>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24" name="ph_162" descr="/home/claude/lls-course/v2/cache/3b1_cover_jpg_759x547_31.png">    </p:cNvPr>
          <p:cNvPicPr>
            <a:picLocks noChangeAspect="1"/>
          </p:cNvPicPr>
          <p:nvPr/>
        </p:nvPicPr>
        <p:blipFill>
          <a:blip r:embed="rId5"/>
          <a:stretch>
            <a:fillRect/>
          </a:stretch>
        </p:blipFill>
        <p:spPr>
          <a:xfrm rot="90000">
            <a:off x="5623560" y="1788670"/>
            <a:ext cx="3154680" cy="2274820"/>
          </a:xfrm>
          <a:prstGeom prst="rect">
            <a:avLst/>
          </a:prstGeom>
        </p:spPr>
      </p:pic>
    </p:spTree>
  </p:cSld>
  <p:clrMapOvr>
    <a:masterClrMapping/>
  </p:clrMapOvr>
  <p:transition spd="med">
    <p:push dir="l"/>
  </p:transition>
</p:sld>
</file>

<file path=ppt/slides/slide7.xml><?xml version="1.0" encoding="utf-8"?>
<p:sld xmlns:a="http://schemas.openxmlformats.org/drawingml/2006/main" xmlns:r="http://schemas.openxmlformats.org/officeDocument/2006/relationships" xmlns:p="http://schemas.openxmlformats.org/presentationml/2006/main">
  <p:cSld name="Slide 7">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163"/>
          <p:cNvSpPr/>
          <p:nvPr/>
        </p:nvSpPr>
        <p:spPr>
          <a:xfrm>
            <a:off x="201168" y="164592"/>
            <a:ext cx="841248" cy="841248"/>
          </a:xfrm>
          <a:prstGeom prst="ellipse">
            <a:avLst/>
          </a:prstGeom>
          <a:solidFill>
            <a:srgbClr val="2EB872"/>
          </a:solidFill>
          <a:ln w="28575">
            <a:solidFill>
              <a:srgbClr val="A8E5BE"/>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800" dirty="0">
                <a:solidFill>
                  <a:srgbClr val="FFFFFF"/>
                </a:solidFill>
                <a:latin typeface="Arial Rounded MT Bold" pitchFamily="34" charset="0"/>
                <a:ea typeface="Arial Rounded MT Bold" pitchFamily="34" charset="-122"/>
                <a:cs typeface="Arial Rounded MT Bold" pitchFamily="34" charset="-120"/>
              </a:rPr>
              <a:t>7</a:t>
            </a:r>
            <a:endParaRPr lang="en-US" sz="2800" dirty="0"/>
          </a:p>
        </p:txBody>
      </p:sp>
      <p:pic>
        <p:nvPicPr>
          <p:cNvPr id="4" name="brY_164" descr="/home/claude/lls-course/v2/assets/brush-yellow.png">    </p:cNvPr>
          <p:cNvPicPr>
            <a:picLocks noChangeAspect="1"/>
          </p:cNvPicPr>
          <p:nvPr/>
        </p:nvPicPr>
        <p:blipFill>
          <a:blip r:embed="rId2"/>
          <a:stretch>
            <a:fillRect/>
          </a:stretch>
        </p:blipFill>
        <p:spPr>
          <a:xfrm>
            <a:off x="1097280" y="146304"/>
            <a:ext cx="3090672" cy="621792"/>
          </a:xfrm>
          <a:prstGeom prst="rect">
            <a:avLst/>
          </a:prstGeom>
        </p:spPr>
      </p:pic>
      <p:sp>
        <p:nvSpPr>
          <p:cNvPr id="5" name="title_165"/>
          <p:cNvSpPr/>
          <p:nvPr/>
        </p:nvSpPr>
        <p:spPr>
          <a:xfrm>
            <a:off x="1261872" y="164592"/>
            <a:ext cx="2816352"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The article 1/3</a:t>
            </a:r>
            <a:endParaRPr lang="en-US" sz="2500" dirty="0"/>
          </a:p>
        </p:txBody>
      </p:sp>
      <p:pic>
        <p:nvPicPr>
          <p:cNvPr id="6" name="brP_166" descr="/home/claude/lls-course/v2/assets/brush-pink.png">    </p:cNvPr>
          <p:cNvPicPr>
            <a:picLocks noChangeAspect="1"/>
          </p:cNvPicPr>
          <p:nvPr/>
        </p:nvPicPr>
        <p:blipFill>
          <a:blip r:embed="rId3"/>
          <a:stretch>
            <a:fillRect/>
          </a:stretch>
        </p:blipFill>
        <p:spPr>
          <a:xfrm>
            <a:off x="1207008" y="731520"/>
            <a:ext cx="3685032" cy="402336"/>
          </a:xfrm>
          <a:prstGeom prst="rect">
            <a:avLst/>
          </a:prstGeom>
        </p:spPr>
      </p:pic>
      <p:sp>
        <p:nvSpPr>
          <p:cNvPr id="7" name="ins_167"/>
          <p:cNvSpPr/>
          <p:nvPr/>
        </p:nvSpPr>
        <p:spPr>
          <a:xfrm>
            <a:off x="1353312" y="731520"/>
            <a:ext cx="3429000"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Read. Which sentence from slide 5?</a:t>
            </a:r>
            <a:endParaRPr lang="en-US" sz="1250" dirty="0"/>
          </a:p>
        </p:txBody>
      </p:sp>
      <p:sp>
        <p:nvSpPr>
          <p:cNvPr id="8" name="insIT_168"/>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Leggi. Quale frase della slide 5?</a:t>
            </a:r>
            <a:endParaRPr lang="en-US" sz="950" dirty="0"/>
          </a:p>
        </p:txBody>
      </p:sp>
      <p:sp>
        <p:nvSpPr>
          <p:cNvPr id="9" name="note_169"/>
          <p:cNvSpPr/>
          <p:nvPr/>
        </p:nvSpPr>
        <p:spPr>
          <a:xfrm rot="180000">
            <a:off x="6382512" y="128016"/>
            <a:ext cx="2029968" cy="1024128"/>
          </a:xfrm>
          <a:prstGeom prst="rect">
            <a:avLst/>
          </a:prstGeom>
          <a:solidFill>
            <a:srgbClr val="FFC2DA"/>
          </a:solidFill>
          <a:ln>
            <a:solidFill>
              <a:srgbClr val="FFC2DA"/>
            </a:solidFill>
          </a:ln>
          <a:effectLst>
            <a:outerShdw sx="100000" sy="100000" kx="0" ky="0" algn="bl" rotWithShape="0" blurRad="88900" dist="31750" dir="5400000">
              <a:srgbClr val="1B2559">
                <a:alpha val="15000"/>
              </a:srgbClr>
            </a:outerShdw>
          </a:effectLst>
        </p:spPr>
        <p:txBody>
          <a:bodyPr wrap="square" lIns="50800" tIns="50800" rIns="50800" bIns="50800" rtlCol="0" anchor="ctr">
            <a:normAutofit/>
          </a:bodyPr>
          <a:lstStyle/>
          <a:p>
            <a:pPr algn="ctr" indent="0" marL="0">
              <a:buNone/>
            </a:pPr>
            <a:r>
              <a:rPr lang="en-US" sz="1250" dirty="0">
                <a:solidFill>
                  <a:srgbClr val="1B2559"/>
                </a:solidFill>
                <a:latin typeface="Arial Rounded MT Bold" pitchFamily="34" charset="0"/>
                <a:ea typeface="Arial Rounded MT Bold" pitchFamily="34" charset="-122"/>
                <a:cs typeface="Arial Rounded MT Bold" pitchFamily="34" charset="-120"/>
              </a:rPr>
              <a:t>👀 READ</a:t>
            </a:r>
            <a:pPr algn="ctr" indent="0" marL="0">
              <a:buNone/>
            </a:pPr>
            <a:r>
              <a:rPr lang="en-US" sz="1250" dirty="0">
                <a:solidFill>
                  <a:srgbClr val="1B2559"/>
                </a:solidFill>
                <a:latin typeface="Arial Rounded MT Bold" pitchFamily="34" charset="0"/>
                <a:ea typeface="Arial Rounded MT Bold" pitchFamily="34" charset="-122"/>
                <a:cs typeface="Arial Rounded MT Bold" pitchFamily="34" charset="-120"/>
              </a:rPr>
              <a:t> · LEGGI</a:t>
            </a:r>
            <a:endParaRPr lang="en-US" sz="1250" dirty="0"/>
          </a:p>
          <a:p>
            <a:pPr algn="ctr" indent="0" marL="0">
              <a:buNone/>
            </a:pPr>
            <a:r>
              <a:rPr lang="en-US" sz="1100" dirty="0">
                <a:solidFill>
                  <a:srgbClr val="1B2559"/>
                </a:solidFill>
                <a:latin typeface="Segoe UI Semibold" pitchFamily="34" charset="0"/>
                <a:ea typeface="Segoe UI Semibold" pitchFamily="34" charset="-122"/>
                <a:cs typeface="Segoe UI Semibold" pitchFamily="34" charset="-120"/>
              </a:rPr>
              <a:t>⏱ 3 min   👤 alone</a:t>
            </a:r>
            <a:endParaRPr lang="en-US" sz="1250" dirty="0"/>
          </a:p>
          <a:p>
            <a:pPr algn="ctr" indent="0" marL="0">
              <a:buNone/>
            </a:pPr>
            <a:r>
              <a:rPr lang="en-US" sz="900" dirty="0">
                <a:solidFill>
                  <a:srgbClr val="5B6785"/>
                </a:solidFill>
                <a:latin typeface="Segoe UI Semibold" pitchFamily="34" charset="0"/>
                <a:ea typeface="Segoe UI Semibold" pitchFamily="34" charset="-122"/>
                <a:cs typeface="Segoe UI Semibold" pitchFamily="34" charset="-120"/>
              </a:rPr>
              <a:t>🎯 Reading · TPRS · reading</a:t>
            </a:r>
            <a:endParaRPr lang="en-US" sz="1250" dirty="0"/>
          </a:p>
        </p:txBody>
      </p:sp>
      <p:pic>
        <p:nvPicPr>
          <p:cNvPr id="10" name="logo_170"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1" name="foot_171"/>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3B-1 · Reading · paragraphs 1–2   ·   📖 SB pp.30–31 · 1c · paragraphs 1–2</a:t>
            </a:r>
            <a:endParaRPr lang="en-US" sz="800" dirty="0"/>
          </a:p>
        </p:txBody>
      </p:sp>
      <p:sp>
        <p:nvSpPr>
          <p:cNvPr id="12" name="cd_172"/>
          <p:cNvSpPr/>
          <p:nvPr/>
        </p:nvSpPr>
        <p:spPr>
          <a:xfrm>
            <a:off x="320040" y="1417320"/>
            <a:ext cx="5715000" cy="3337560"/>
          </a:xfrm>
          <a:prstGeom prst="roundRect">
            <a:avLst>
              <a:gd name="adj" fmla="val 3836"/>
            </a:avLst>
          </a:prstGeom>
          <a:solidFill>
            <a:srgbClr val="FFFFFF"/>
          </a:solidFill>
          <a:ln w="28575">
            <a:solidFill>
              <a:srgbClr val="A8E5BE"/>
            </a:solidFill>
            <a:prstDash val="solid"/>
          </a:ln>
          <a:effectLst>
            <a:outerShdw sx="100000" sy="100000" kx="0" ky="0" algn="bl" rotWithShape="0" blurRad="88900" dist="31750" dir="5400000">
              <a:srgbClr val="1B2559">
                <a:alpha val="12000"/>
              </a:srgbClr>
            </a:outerShdw>
          </a:effectLst>
        </p:spPr>
      </p:sp>
      <p:sp>
        <p:nvSpPr>
          <p:cNvPr id="13" name="sh_173"/>
          <p:cNvSpPr/>
          <p:nvPr/>
        </p:nvSpPr>
        <p:spPr>
          <a:xfrm>
            <a:off x="320040" y="1417320"/>
            <a:ext cx="5715000" cy="438912"/>
          </a:xfrm>
          <a:prstGeom prst="rect">
            <a:avLst/>
          </a:prstGeom>
          <a:solidFill>
            <a:srgbClr val="E3F7EA"/>
          </a:solidFill>
          <a:ln/>
        </p:spPr>
        <p:txBody>
          <a:bodyPr wrap="square" lIns="203200" tIns="0" rIns="203200" bIns="0" rtlCol="0" anchor="ctr"/>
          <a:lstStyle/>
          <a:p>
            <a:pPr indent="0" marL="0">
              <a:buNone/>
            </a:pPr>
            <a:r>
              <a:rPr lang="en-US" sz="1700" b="1" dirty="0">
                <a:solidFill>
                  <a:srgbClr val="1F6F43"/>
                </a:solidFill>
                <a:latin typeface="Georgia" pitchFamily="34" charset="0"/>
                <a:ea typeface="Georgia" pitchFamily="34" charset="-122"/>
                <a:cs typeface="Georgia" pitchFamily="34" charset="-120"/>
              </a:rPr>
              <a:t>Common stereotypes – are they true?</a:t>
            </a:r>
            <a:endParaRPr lang="en-US" sz="1700" dirty="0"/>
          </a:p>
        </p:txBody>
      </p:sp>
      <p:sp>
        <p:nvSpPr>
          <p:cNvPr id="14" name="ln_174"/>
          <p:cNvSpPr/>
          <p:nvPr/>
        </p:nvSpPr>
        <p:spPr>
          <a:xfrm>
            <a:off x="548640" y="1920240"/>
            <a:ext cx="5349240" cy="613913"/>
          </a:xfrm>
          <a:prstGeom prst="rect">
            <a:avLst/>
          </a:prstGeom>
          <a:noFill/>
          <a:ln/>
        </p:spPr>
        <p:txBody>
          <a:bodyPr wrap="square" lIns="0" tIns="0" rIns="0" bIns="0" rtlCol="0" anchor="t"/>
          <a:lstStyle/>
          <a:p>
            <a:pPr indent="0" marL="0">
              <a:buNone/>
            </a:pPr>
            <a:r>
              <a:rPr lang="en-US" sz="1050" b="1" dirty="0">
                <a:solidFill>
                  <a:srgbClr val="2EB872"/>
                </a:solidFill>
                <a:latin typeface="Georgia" pitchFamily="34" charset="0"/>
                <a:ea typeface="Georgia" pitchFamily="34" charset="-122"/>
                <a:cs typeface="Georgia" pitchFamily="34" charset="-120"/>
              </a:rPr>
              <a:t> (1) ________ </a:t>
            </a:r>
            <a:pPr indent="0" marL="0">
              <a:buNone/>
            </a:pPr>
            <a:r>
              <a:rPr lang="en-US" sz="1050" dirty="0">
                <a:solidFill>
                  <a:srgbClr val="1B2559"/>
                </a:solidFill>
                <a:latin typeface="Georgia" pitchFamily="34" charset="0"/>
                <a:ea typeface="Georgia" pitchFamily="34" charset="-122"/>
                <a:cs typeface="Georgia" pitchFamily="34" charset="-120"/>
              </a:rPr>
              <a:t> Scientists in Norway asked 18 men and 18 women to find their way through a virtual maze, completing various tasks along the way.</a:t>
            </a:r>
            <a:endParaRPr lang="en-US" sz="1050" dirty="0"/>
          </a:p>
        </p:txBody>
      </p:sp>
      <p:sp>
        <p:nvSpPr>
          <p:cNvPr id="15" name="R1_lnA175"/>
          <p:cNvSpPr/>
          <p:nvPr/>
        </p:nvSpPr>
        <p:spPr>
          <a:xfrm>
            <a:off x="548640" y="1920240"/>
            <a:ext cx="5349240" cy="613913"/>
          </a:xfrm>
          <a:prstGeom prst="rect">
            <a:avLst/>
          </a:prstGeom>
          <a:solidFill>
            <a:srgbClr val="FFFFFF"/>
          </a:solidFill>
          <a:ln/>
        </p:spPr>
        <p:txBody>
          <a:bodyPr wrap="square" lIns="0" tIns="0" rIns="0" bIns="0" rtlCol="0" anchor="t"/>
          <a:lstStyle/>
          <a:p>
            <a:pPr indent="0" marL="0">
              <a:buNone/>
            </a:pPr>
            <a:r>
              <a:rPr lang="en-US" sz="1050" b="1" dirty="0">
                <a:solidFill>
                  <a:srgbClr val="1B2559"/>
                </a:solidFill>
                <a:highlight>
                  <a:srgbClr val="FFE066"/>
                </a:highlight>
                <a:latin typeface="Georgia" pitchFamily="34" charset="0"/>
                <a:ea typeface="Georgia" pitchFamily="34" charset="-122"/>
                <a:cs typeface="Georgia" pitchFamily="34" charset="-120"/>
              </a:rPr>
              <a:t>Men are better at navigating than women.</a:t>
            </a:r>
            <a:pPr indent="0" marL="0">
              <a:buNone/>
            </a:pPr>
            <a:r>
              <a:rPr lang="en-US" sz="1050" dirty="0">
                <a:solidFill>
                  <a:srgbClr val="1B2559"/>
                </a:solidFill>
                <a:latin typeface="Georgia" pitchFamily="34" charset="0"/>
                <a:ea typeface="Georgia" pitchFamily="34" charset="-122"/>
                <a:cs typeface="Georgia" pitchFamily="34" charset="-120"/>
              </a:rPr>
              <a:t> Scientists in Norway asked 18 men and 18 women to find their way through a virtual maze, completing various tasks along the way.</a:t>
            </a:r>
            <a:endParaRPr lang="en-US" sz="1050" dirty="0"/>
          </a:p>
        </p:txBody>
      </p:sp>
      <p:sp>
        <p:nvSpPr>
          <p:cNvPr id="16" name="ln_176"/>
          <p:cNvSpPr/>
          <p:nvPr/>
        </p:nvSpPr>
        <p:spPr>
          <a:xfrm>
            <a:off x="548640" y="2534153"/>
            <a:ext cx="5349240" cy="589357"/>
          </a:xfrm>
          <a:prstGeom prst="rect">
            <a:avLst/>
          </a:prstGeom>
          <a:noFill/>
          <a:ln/>
        </p:spPr>
        <p:txBody>
          <a:bodyPr wrap="square" lIns="0" tIns="0" rIns="0" bIns="0" rtlCol="0" anchor="t"/>
          <a:lstStyle/>
          <a:p>
            <a:pPr indent="0" marL="0">
              <a:buNone/>
            </a:pPr>
            <a:r>
              <a:rPr lang="en-US" sz="1050" dirty="0">
                <a:solidFill>
                  <a:srgbClr val="1B2559"/>
                </a:solidFill>
                <a:latin typeface="Georgia" pitchFamily="34" charset="0"/>
                <a:ea typeface="Georgia" pitchFamily="34" charset="-122"/>
                <a:cs typeface="Georgia" pitchFamily="34" charset="-120"/>
              </a:rPr>
              <a:t>Men were able to solve 50% more of the problems than women in the same time. 'Men's sense of direction was more effective. They simply got to their destination faster,'</a:t>
            </a:r>
            <a:endParaRPr lang="en-US" sz="1050" dirty="0"/>
          </a:p>
        </p:txBody>
      </p:sp>
      <p:sp>
        <p:nvSpPr>
          <p:cNvPr id="17" name="ln_177"/>
          <p:cNvSpPr/>
          <p:nvPr/>
        </p:nvSpPr>
        <p:spPr>
          <a:xfrm>
            <a:off x="548640" y="3123510"/>
            <a:ext cx="5349240" cy="263106"/>
          </a:xfrm>
          <a:prstGeom prst="rect">
            <a:avLst/>
          </a:prstGeom>
          <a:noFill/>
          <a:ln/>
        </p:spPr>
        <p:txBody>
          <a:bodyPr wrap="square" lIns="0" tIns="0" rIns="0" bIns="0" rtlCol="0" anchor="t"/>
          <a:lstStyle/>
          <a:p>
            <a:pPr indent="0" marL="0">
              <a:buNone/>
            </a:pPr>
            <a:r>
              <a:rPr lang="en-US" sz="1050" dirty="0">
                <a:solidFill>
                  <a:srgbClr val="1B2559"/>
                </a:solidFill>
                <a:latin typeface="Georgia" pitchFamily="34" charset="0"/>
                <a:ea typeface="Georgia" pitchFamily="34" charset="-122"/>
                <a:cs typeface="Georgia" pitchFamily="34" charset="-120"/>
              </a:rPr>
              <a:t>said Dr Carl Pintzka of the Norwegian University of Science and Technology.</a:t>
            </a:r>
            <a:endParaRPr lang="en-US" sz="1050" dirty="0"/>
          </a:p>
        </p:txBody>
      </p:sp>
      <p:sp>
        <p:nvSpPr>
          <p:cNvPr id="18" name="ln_178"/>
          <p:cNvSpPr/>
          <p:nvPr/>
        </p:nvSpPr>
        <p:spPr>
          <a:xfrm>
            <a:off x="548640" y="3386616"/>
            <a:ext cx="5349240" cy="564800"/>
          </a:xfrm>
          <a:prstGeom prst="rect">
            <a:avLst/>
          </a:prstGeom>
          <a:noFill/>
          <a:ln/>
        </p:spPr>
        <p:txBody>
          <a:bodyPr wrap="square" lIns="0" tIns="0" rIns="0" bIns="0" rtlCol="0" anchor="t"/>
          <a:lstStyle/>
          <a:p>
            <a:pPr indent="0" marL="0">
              <a:buNone/>
            </a:pPr>
            <a:r>
              <a:rPr lang="en-US" sz="1050" b="1" dirty="0">
                <a:solidFill>
                  <a:srgbClr val="2EB872"/>
                </a:solidFill>
                <a:latin typeface="Georgia" pitchFamily="34" charset="0"/>
                <a:ea typeface="Georgia" pitchFamily="34" charset="-122"/>
                <a:cs typeface="Georgia" pitchFamily="34" charset="-120"/>
              </a:rPr>
              <a:t> (2) ________ </a:t>
            </a:r>
            <a:pPr indent="0" marL="0">
              <a:buNone/>
            </a:pPr>
            <a:r>
              <a:rPr lang="en-US" sz="1050" dirty="0">
                <a:solidFill>
                  <a:srgbClr val="1B2559"/>
                </a:solidFill>
                <a:latin typeface="Georgia" pitchFamily="34" charset="0"/>
                <a:ea typeface="Georgia" pitchFamily="34" charset="-122"/>
                <a:cs typeface="Georgia" pitchFamily="34" charset="-120"/>
              </a:rPr>
              <a:t> Researchers from the University of Maryland separated baby rats from their mothers and discovered that baby rats with more Foxp2,</a:t>
            </a:r>
            <a:endParaRPr lang="en-US" sz="1050" dirty="0"/>
          </a:p>
        </p:txBody>
      </p:sp>
      <p:sp>
        <p:nvSpPr>
          <p:cNvPr id="19" name="R2_lnA179"/>
          <p:cNvSpPr/>
          <p:nvPr/>
        </p:nvSpPr>
        <p:spPr>
          <a:xfrm>
            <a:off x="548640" y="3386616"/>
            <a:ext cx="5349240" cy="564800"/>
          </a:xfrm>
          <a:prstGeom prst="rect">
            <a:avLst/>
          </a:prstGeom>
          <a:solidFill>
            <a:srgbClr val="FFFFFF"/>
          </a:solidFill>
          <a:ln/>
        </p:spPr>
        <p:txBody>
          <a:bodyPr wrap="square" lIns="0" tIns="0" rIns="0" bIns="0" rtlCol="0" anchor="t"/>
          <a:lstStyle/>
          <a:p>
            <a:pPr indent="0" marL="0">
              <a:buNone/>
            </a:pPr>
            <a:r>
              <a:rPr lang="en-US" sz="1050" b="1" dirty="0">
                <a:solidFill>
                  <a:srgbClr val="1B2559"/>
                </a:solidFill>
                <a:highlight>
                  <a:srgbClr val="FFE066"/>
                </a:highlight>
                <a:latin typeface="Georgia" pitchFamily="34" charset="0"/>
                <a:ea typeface="Georgia" pitchFamily="34" charset="-122"/>
                <a:cs typeface="Georgia" pitchFamily="34" charset="-120"/>
              </a:rPr>
              <a:t>Women talk more than men.</a:t>
            </a:r>
            <a:pPr indent="0" marL="0">
              <a:buNone/>
            </a:pPr>
            <a:r>
              <a:rPr lang="en-US" sz="1050" dirty="0">
                <a:solidFill>
                  <a:srgbClr val="1B2559"/>
                </a:solidFill>
                <a:latin typeface="Georgia" pitchFamily="34" charset="0"/>
                <a:ea typeface="Georgia" pitchFamily="34" charset="-122"/>
                <a:cs typeface="Georgia" pitchFamily="34" charset="-120"/>
              </a:rPr>
              <a:t> Researchers from the University of Maryland separated baby rats from their mothers and discovered that baby rats with more Foxp2,</a:t>
            </a:r>
            <a:endParaRPr lang="en-US" sz="1050" dirty="0"/>
          </a:p>
        </p:txBody>
      </p:sp>
      <p:sp>
        <p:nvSpPr>
          <p:cNvPr id="20" name="ln_180"/>
          <p:cNvSpPr/>
          <p:nvPr/>
        </p:nvSpPr>
        <p:spPr>
          <a:xfrm>
            <a:off x="548640" y="3951416"/>
            <a:ext cx="5349240" cy="757744"/>
          </a:xfrm>
          <a:prstGeom prst="rect">
            <a:avLst/>
          </a:prstGeom>
          <a:noFill/>
          <a:ln/>
        </p:spPr>
        <p:txBody>
          <a:bodyPr wrap="square" lIns="0" tIns="0" rIns="0" bIns="0" rtlCol="0" anchor="t"/>
          <a:lstStyle/>
          <a:p>
            <a:pPr indent="0" marL="0">
              <a:buNone/>
            </a:pPr>
            <a:r>
              <a:rPr lang="en-US" sz="1050" dirty="0">
                <a:solidFill>
                  <a:srgbClr val="1B2559"/>
                </a:solidFill>
                <a:latin typeface="Georgia" pitchFamily="34" charset="0"/>
                <a:ea typeface="Georgia" pitchFamily="34" charset="-122"/>
                <a:cs typeface="Georgia" pitchFamily="34" charset="-120"/>
              </a:rPr>
              <a:t>a kind of protein necessary for the development of speech and language, made more noise and called to their mothers more often. Moving on to humans, scientists then discovered that women have 30% more Foxp2 than men.</a:t>
            </a:r>
            <a:endParaRPr lang="en-US" sz="1050" dirty="0"/>
          </a:p>
        </p:txBody>
      </p:sp>
      <p:sp>
        <p:nvSpPr>
          <p:cNvPr id="21" name="pf_181"/>
          <p:cNvSpPr/>
          <p:nvPr/>
        </p:nvSpPr>
        <p:spPr>
          <a:xfrm rot="120000">
            <a:off x="6309360" y="1417320"/>
            <a:ext cx="2560320" cy="1508760"/>
          </a:xfrm>
          <a:prstGeom prst="roundRect">
            <a:avLst>
              <a:gd name="adj" fmla="val 10303"/>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22" name="ph_182" descr="/home/claude/lls-course/v2/cache/3b1_map_jpg_594x341_31.png">    </p:cNvPr>
          <p:cNvPicPr>
            <a:picLocks noChangeAspect="1"/>
          </p:cNvPicPr>
          <p:nvPr/>
        </p:nvPicPr>
        <p:blipFill>
          <a:blip r:embed="rId5"/>
          <a:stretch>
            <a:fillRect/>
          </a:stretch>
        </p:blipFill>
        <p:spPr>
          <a:xfrm rot="120000">
            <a:off x="6355080" y="1463040"/>
            <a:ext cx="2468880" cy="1417320"/>
          </a:xfrm>
          <a:prstGeom prst="rect">
            <a:avLst/>
          </a:prstGeom>
        </p:spPr>
      </p:pic>
      <p:sp>
        <p:nvSpPr>
          <p:cNvPr id="23" name="cd_183"/>
          <p:cNvSpPr/>
          <p:nvPr/>
        </p:nvSpPr>
        <p:spPr>
          <a:xfrm>
            <a:off x="6263640" y="3794760"/>
            <a:ext cx="2651760" cy="960120"/>
          </a:xfrm>
          <a:prstGeom prst="roundRect">
            <a:avLst>
              <a:gd name="adj" fmla="val 13333"/>
            </a:avLst>
          </a:prstGeom>
          <a:solidFill>
            <a:srgbClr val="EEE8FB"/>
          </a:solidFill>
          <a:ln w="28575">
            <a:solidFill>
              <a:srgbClr val="CDBFF3"/>
            </a:solidFill>
            <a:prstDash val="solid"/>
          </a:ln>
          <a:effectLst>
            <a:outerShdw sx="100000" sy="100000" kx="0" ky="0" algn="bl" rotWithShape="0" blurRad="88900" dist="31750" dir="5400000">
              <a:srgbClr val="1B2559">
                <a:alpha val="12000"/>
              </a:srgbClr>
            </a:outerShdw>
          </a:effectLst>
        </p:spPr>
      </p:sp>
      <p:sp>
        <p:nvSpPr>
          <p:cNvPr id="24" name="ii_184"/>
          <p:cNvSpPr/>
          <p:nvPr/>
        </p:nvSpPr>
        <p:spPr>
          <a:xfrm>
            <a:off x="6355080" y="386791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25" name="ih_185"/>
          <p:cNvSpPr/>
          <p:nvPr/>
        </p:nvSpPr>
        <p:spPr>
          <a:xfrm>
            <a:off x="6830568" y="3886200"/>
            <a:ext cx="2011680" cy="365760"/>
          </a:xfrm>
          <a:prstGeom prst="rect">
            <a:avLst/>
          </a:prstGeom>
          <a:noFill/>
          <a:ln/>
        </p:spPr>
        <p:txBody>
          <a:bodyPr wrap="square" lIns="0" tIns="0" rIns="0" bIns="0" rtlCol="0" anchor="ct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Remember</a:t>
            </a:r>
            <a:endParaRPr lang="en-US" sz="1200" dirty="0"/>
          </a:p>
        </p:txBody>
      </p:sp>
      <p:sp>
        <p:nvSpPr>
          <p:cNvPr id="26" name="il_186"/>
          <p:cNvSpPr/>
          <p:nvPr/>
        </p:nvSpPr>
        <p:spPr>
          <a:xfrm>
            <a:off x="6830568" y="4288536"/>
            <a:ext cx="1993392" cy="393192"/>
          </a:xfrm>
          <a:prstGeom prst="rect">
            <a:avLst/>
          </a:prstGeom>
          <a:noFill/>
          <a:ln/>
        </p:spPr>
        <p:txBody>
          <a:bodyPr wrap="square" lIns="0" tIns="0" rIns="0" bIns="0" rtlCol="0" anchor="t">
            <a:normAutofit/>
          </a:bodyPr>
          <a:lstStyle/>
          <a:p>
            <a:pPr marL="152400" indent="-152400">
              <a:spcAft>
                <a:spcPts val="200"/>
              </a:spcAft>
              <a:buSzPct val="100000"/>
              <a:buChar char="•"/>
            </a:pPr>
            <a:r>
              <a:rPr lang="en-US" sz="800" dirty="0">
                <a:solidFill>
                  <a:srgbClr val="1B2559"/>
                </a:solidFill>
                <a:latin typeface="Segoe UI Semibold" pitchFamily="34" charset="0"/>
                <a:ea typeface="Segoe UI Semibold" pitchFamily="34" charset="-122"/>
                <a:cs typeface="Segoe UI Semibold" pitchFamily="34" charset="-120"/>
              </a:rPr>
              <a:t>Headings = the sentences on slide 5</a:t>
            </a:r>
            <a:endParaRPr lang="en-US" sz="800" dirty="0"/>
          </a:p>
          <a:p>
            <a:pPr marL="152400" indent="-152400">
              <a:spcBef>
                <a:spcPts val="600"/>
              </a:spcBef>
              <a:spcAft>
                <a:spcPts val="200"/>
              </a:spcAft>
              <a:buSzPct val="100000"/>
              <a:buChar char="•"/>
            </a:pPr>
            <a:r>
              <a:rPr lang="en-US" sz="800" dirty="0">
                <a:solidFill>
                  <a:srgbClr val="1B2559"/>
                </a:solidFill>
                <a:latin typeface="Segoe UI Semibold" pitchFamily="34" charset="0"/>
                <a:ea typeface="Segoe UI Semibold" pitchFamily="34" charset="-122"/>
                <a:cs typeface="Segoe UI Semibold" pitchFamily="34" charset="-120"/>
              </a:rPr>
              <a:t>maze = labirinto</a:t>
            </a:r>
            <a:endParaRPr lang="en-US" sz="8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5"/>
                                        </p:tgtEl>
                                        <p:attrNameLst>
                                          <p:attrName>style.visibility</p:attrName>
                                        </p:attrNameLst>
                                      </p:cBhvr>
                                      <p:to>
                                        <p:strVal val="visible"/>
                                      </p:to>
                                    </p:set>
                                    <p:animEffect transition="in" filter="fade">
                                      <p:cBhvr>
                                        <p:cTn id="7" dur="400"/>
                                        <p:tgtEl>
                                          <p:spTgt spid="15"/>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19"/>
                                        </p:tgtEl>
                                        <p:attrNameLst>
                                          <p:attrName>style.visibility</p:attrName>
                                        </p:attrNameLst>
                                      </p:cBhvr>
                                      <p:to>
                                        <p:strVal val="visible"/>
                                      </p:to>
                                    </p:set>
                                    <p:animEffect transition="in" filter="fade">
                                      <p:cBhvr>
                                        <p:cTn id="12" dur="400"/>
                                        <p:tgtEl>
                                          <p:spTgt spid="1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xml><?xml version="1.0" encoding="utf-8"?>
<p:sld xmlns:a="http://schemas.openxmlformats.org/drawingml/2006/main" xmlns:r="http://schemas.openxmlformats.org/officeDocument/2006/relationships" xmlns:p="http://schemas.openxmlformats.org/presentationml/2006/main">
  <p:cSld name="Slide 8">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187"/>
          <p:cNvSpPr/>
          <p:nvPr/>
        </p:nvSpPr>
        <p:spPr>
          <a:xfrm>
            <a:off x="201168" y="164592"/>
            <a:ext cx="841248" cy="841248"/>
          </a:xfrm>
          <a:prstGeom prst="ellipse">
            <a:avLst/>
          </a:prstGeom>
          <a:solidFill>
            <a:srgbClr val="2EB872"/>
          </a:solidFill>
          <a:ln w="28575">
            <a:solidFill>
              <a:srgbClr val="A8E5BE"/>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800" dirty="0">
                <a:solidFill>
                  <a:srgbClr val="FFFFFF"/>
                </a:solidFill>
                <a:latin typeface="Arial Rounded MT Bold" pitchFamily="34" charset="0"/>
                <a:ea typeface="Arial Rounded MT Bold" pitchFamily="34" charset="-122"/>
                <a:cs typeface="Arial Rounded MT Bold" pitchFamily="34" charset="-120"/>
              </a:rPr>
              <a:t>8</a:t>
            </a:r>
            <a:endParaRPr lang="en-US" sz="2800" dirty="0"/>
          </a:p>
        </p:txBody>
      </p:sp>
      <p:pic>
        <p:nvPicPr>
          <p:cNvPr id="4" name="brY_188" descr="/home/claude/lls-course/v2/assets/brush-yellow.png">    </p:cNvPr>
          <p:cNvPicPr>
            <a:picLocks noChangeAspect="1"/>
          </p:cNvPicPr>
          <p:nvPr/>
        </p:nvPicPr>
        <p:blipFill>
          <a:blip r:embed="rId2"/>
          <a:stretch>
            <a:fillRect/>
          </a:stretch>
        </p:blipFill>
        <p:spPr>
          <a:xfrm>
            <a:off x="1097280" y="146304"/>
            <a:ext cx="3090672" cy="621792"/>
          </a:xfrm>
          <a:prstGeom prst="rect">
            <a:avLst/>
          </a:prstGeom>
        </p:spPr>
      </p:pic>
      <p:sp>
        <p:nvSpPr>
          <p:cNvPr id="5" name="title_189"/>
          <p:cNvSpPr/>
          <p:nvPr/>
        </p:nvSpPr>
        <p:spPr>
          <a:xfrm>
            <a:off x="1261872" y="164592"/>
            <a:ext cx="2816352"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The article 2/3</a:t>
            </a:r>
            <a:endParaRPr lang="en-US" sz="2500" dirty="0"/>
          </a:p>
        </p:txBody>
      </p:sp>
      <p:pic>
        <p:nvPicPr>
          <p:cNvPr id="6" name="brP_190" descr="/home/claude/lls-course/v2/assets/brush-pink.png">    </p:cNvPr>
          <p:cNvPicPr>
            <a:picLocks noChangeAspect="1"/>
          </p:cNvPicPr>
          <p:nvPr/>
        </p:nvPicPr>
        <p:blipFill>
          <a:blip r:embed="rId3"/>
          <a:stretch>
            <a:fillRect/>
          </a:stretch>
        </p:blipFill>
        <p:spPr>
          <a:xfrm>
            <a:off x="1207008" y="731520"/>
            <a:ext cx="3685032" cy="402336"/>
          </a:xfrm>
          <a:prstGeom prst="rect">
            <a:avLst/>
          </a:prstGeom>
        </p:spPr>
      </p:pic>
      <p:sp>
        <p:nvSpPr>
          <p:cNvPr id="7" name="ins_191"/>
          <p:cNvSpPr/>
          <p:nvPr/>
        </p:nvSpPr>
        <p:spPr>
          <a:xfrm>
            <a:off x="1353312" y="731520"/>
            <a:ext cx="3429000"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Read. Which sentence from slide 5?</a:t>
            </a:r>
            <a:endParaRPr lang="en-US" sz="1250" dirty="0"/>
          </a:p>
        </p:txBody>
      </p:sp>
      <p:sp>
        <p:nvSpPr>
          <p:cNvPr id="8" name="insIT_192"/>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Leggi. Quale frase della slide 5?</a:t>
            </a:r>
            <a:endParaRPr lang="en-US" sz="950" dirty="0"/>
          </a:p>
        </p:txBody>
      </p:sp>
      <p:sp>
        <p:nvSpPr>
          <p:cNvPr id="9" name="note_193"/>
          <p:cNvSpPr/>
          <p:nvPr/>
        </p:nvSpPr>
        <p:spPr>
          <a:xfrm rot="180000">
            <a:off x="6382512" y="128016"/>
            <a:ext cx="2029968" cy="1024128"/>
          </a:xfrm>
          <a:prstGeom prst="rect">
            <a:avLst/>
          </a:prstGeom>
          <a:solidFill>
            <a:srgbClr val="FFC2DA"/>
          </a:solidFill>
          <a:ln>
            <a:solidFill>
              <a:srgbClr val="FFC2DA"/>
            </a:solidFill>
          </a:ln>
          <a:effectLst>
            <a:outerShdw sx="100000" sy="100000" kx="0" ky="0" algn="bl" rotWithShape="0" blurRad="88900" dist="31750" dir="5400000">
              <a:srgbClr val="1B2559">
                <a:alpha val="15000"/>
              </a:srgbClr>
            </a:outerShdw>
          </a:effectLst>
        </p:spPr>
        <p:txBody>
          <a:bodyPr wrap="square" lIns="50800" tIns="50800" rIns="50800" bIns="50800" rtlCol="0" anchor="ctr">
            <a:normAutofit/>
          </a:bodyPr>
          <a:lstStyle/>
          <a:p>
            <a:pPr algn="ctr" indent="0" marL="0">
              <a:buNone/>
            </a:pPr>
            <a:r>
              <a:rPr lang="en-US" sz="1250" dirty="0">
                <a:solidFill>
                  <a:srgbClr val="1B2559"/>
                </a:solidFill>
                <a:latin typeface="Arial Rounded MT Bold" pitchFamily="34" charset="0"/>
                <a:ea typeface="Arial Rounded MT Bold" pitchFamily="34" charset="-122"/>
                <a:cs typeface="Arial Rounded MT Bold" pitchFamily="34" charset="-120"/>
              </a:rPr>
              <a:t>👀 READ</a:t>
            </a:r>
            <a:pPr algn="ctr" indent="0" marL="0">
              <a:buNone/>
            </a:pPr>
            <a:r>
              <a:rPr lang="en-US" sz="1250" dirty="0">
                <a:solidFill>
                  <a:srgbClr val="1B2559"/>
                </a:solidFill>
                <a:latin typeface="Arial Rounded MT Bold" pitchFamily="34" charset="0"/>
                <a:ea typeface="Arial Rounded MT Bold" pitchFamily="34" charset="-122"/>
                <a:cs typeface="Arial Rounded MT Bold" pitchFamily="34" charset="-120"/>
              </a:rPr>
              <a:t> · LEGGI</a:t>
            </a:r>
            <a:endParaRPr lang="en-US" sz="1250" dirty="0"/>
          </a:p>
          <a:p>
            <a:pPr algn="ctr" indent="0" marL="0">
              <a:buNone/>
            </a:pPr>
            <a:r>
              <a:rPr lang="en-US" sz="1100" dirty="0">
                <a:solidFill>
                  <a:srgbClr val="1B2559"/>
                </a:solidFill>
                <a:latin typeface="Segoe UI Semibold" pitchFamily="34" charset="0"/>
                <a:ea typeface="Segoe UI Semibold" pitchFamily="34" charset="-122"/>
                <a:cs typeface="Segoe UI Semibold" pitchFamily="34" charset="-120"/>
              </a:rPr>
              <a:t>⏱ 2 min   👤 alone</a:t>
            </a:r>
            <a:endParaRPr lang="en-US" sz="1250" dirty="0"/>
          </a:p>
          <a:p>
            <a:pPr algn="ctr" indent="0" marL="0">
              <a:buNone/>
            </a:pPr>
            <a:r>
              <a:rPr lang="en-US" sz="900" dirty="0">
                <a:solidFill>
                  <a:srgbClr val="5B6785"/>
                </a:solidFill>
                <a:latin typeface="Segoe UI Semibold" pitchFamily="34" charset="0"/>
                <a:ea typeface="Segoe UI Semibold" pitchFamily="34" charset="-122"/>
                <a:cs typeface="Segoe UI Semibold" pitchFamily="34" charset="-120"/>
              </a:rPr>
              <a:t>🎯 Reading · TPRS · reading</a:t>
            </a:r>
            <a:endParaRPr lang="en-US" sz="1250" dirty="0"/>
          </a:p>
        </p:txBody>
      </p:sp>
      <p:pic>
        <p:nvPicPr>
          <p:cNvPr id="10" name="logo_194"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1" name="foot_195"/>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3B-1 · Reading · paragraphs 3–4   ·   📖 SB p.31 · 1c · paragraphs 3–4</a:t>
            </a:r>
            <a:endParaRPr lang="en-US" sz="800" dirty="0"/>
          </a:p>
        </p:txBody>
      </p:sp>
      <p:sp>
        <p:nvSpPr>
          <p:cNvPr id="12" name="cd_196"/>
          <p:cNvSpPr/>
          <p:nvPr/>
        </p:nvSpPr>
        <p:spPr>
          <a:xfrm>
            <a:off x="320040" y="1417320"/>
            <a:ext cx="5715000" cy="3337560"/>
          </a:xfrm>
          <a:prstGeom prst="roundRect">
            <a:avLst>
              <a:gd name="adj" fmla="val 3836"/>
            </a:avLst>
          </a:prstGeom>
          <a:solidFill>
            <a:srgbClr val="FFFFFF"/>
          </a:solidFill>
          <a:ln w="28575">
            <a:solidFill>
              <a:srgbClr val="A8E5BE"/>
            </a:solidFill>
            <a:prstDash val="solid"/>
          </a:ln>
          <a:effectLst>
            <a:outerShdw sx="100000" sy="100000" kx="0" ky="0" algn="bl" rotWithShape="0" blurRad="88900" dist="31750" dir="5400000">
              <a:srgbClr val="1B2559">
                <a:alpha val="12000"/>
              </a:srgbClr>
            </a:outerShdw>
          </a:effectLst>
        </p:spPr>
      </p:sp>
      <p:sp>
        <p:nvSpPr>
          <p:cNvPr id="13" name="sh_197"/>
          <p:cNvSpPr/>
          <p:nvPr/>
        </p:nvSpPr>
        <p:spPr>
          <a:xfrm>
            <a:off x="320040" y="1417320"/>
            <a:ext cx="5715000" cy="438912"/>
          </a:xfrm>
          <a:prstGeom prst="rect">
            <a:avLst/>
          </a:prstGeom>
          <a:solidFill>
            <a:srgbClr val="E3F7EA"/>
          </a:solidFill>
          <a:ln/>
        </p:spPr>
        <p:txBody>
          <a:bodyPr wrap="square" lIns="203200" tIns="0" rIns="203200" bIns="0" rtlCol="0" anchor="ctr"/>
          <a:lstStyle/>
          <a:p>
            <a:pPr indent="0" marL="0">
              <a:buNone/>
            </a:pPr>
            <a:r>
              <a:rPr lang="en-US" sz="1700" b="1" dirty="0">
                <a:solidFill>
                  <a:srgbClr val="1F6F43"/>
                </a:solidFill>
                <a:latin typeface="Georgia" pitchFamily="34" charset="0"/>
                <a:ea typeface="Georgia" pitchFamily="34" charset="-122"/>
                <a:cs typeface="Georgia" pitchFamily="34" charset="-120"/>
              </a:rPr>
              <a:t>Common stereotypes – are they true?</a:t>
            </a:r>
            <a:endParaRPr lang="en-US" sz="1700" dirty="0"/>
          </a:p>
        </p:txBody>
      </p:sp>
      <p:sp>
        <p:nvSpPr>
          <p:cNvPr id="14" name="ln_198"/>
          <p:cNvSpPr/>
          <p:nvPr/>
        </p:nvSpPr>
        <p:spPr>
          <a:xfrm>
            <a:off x="548640" y="1920240"/>
            <a:ext cx="5349240" cy="542290"/>
          </a:xfrm>
          <a:prstGeom prst="rect">
            <a:avLst/>
          </a:prstGeom>
          <a:noFill/>
          <a:ln/>
        </p:spPr>
        <p:txBody>
          <a:bodyPr wrap="square" lIns="0" tIns="0" rIns="0" bIns="0" rtlCol="0" anchor="t"/>
          <a:lstStyle/>
          <a:p>
            <a:pPr indent="0" marL="0">
              <a:buNone/>
            </a:pPr>
            <a:r>
              <a:rPr lang="en-US" sz="1100" b="1" dirty="0">
                <a:solidFill>
                  <a:srgbClr val="2EB872"/>
                </a:solidFill>
                <a:latin typeface="Georgia" pitchFamily="34" charset="0"/>
                <a:ea typeface="Georgia" pitchFamily="34" charset="-122"/>
                <a:cs typeface="Georgia" pitchFamily="34" charset="-120"/>
              </a:rPr>
              <a:t> (3) ________ </a:t>
            </a:r>
            <a:pPr indent="0" marL="0">
              <a:buNone/>
            </a:pPr>
            <a:r>
              <a:rPr lang="en-US" sz="1100" dirty="0">
                <a:solidFill>
                  <a:srgbClr val="1B2559"/>
                </a:solidFill>
                <a:latin typeface="Georgia" pitchFamily="34" charset="0"/>
                <a:ea typeface="Georgia" pitchFamily="34" charset="-122"/>
                <a:cs typeface="Georgia" pitchFamily="34" charset="-120"/>
              </a:rPr>
              <a:t> Australian researchers gave 20,000 men and women a list of questions to answer, to discover how they feel if their partner has a problem.</a:t>
            </a:r>
            <a:endParaRPr lang="en-US" sz="1100" dirty="0"/>
          </a:p>
        </p:txBody>
      </p:sp>
      <p:sp>
        <p:nvSpPr>
          <p:cNvPr id="15" name="R1_lnA199"/>
          <p:cNvSpPr/>
          <p:nvPr/>
        </p:nvSpPr>
        <p:spPr>
          <a:xfrm>
            <a:off x="548640" y="1920240"/>
            <a:ext cx="5349240" cy="542290"/>
          </a:xfrm>
          <a:prstGeom prst="rect">
            <a:avLst/>
          </a:prstGeom>
          <a:solidFill>
            <a:srgbClr val="FFFFFF"/>
          </a:solidFill>
          <a:ln/>
        </p:spPr>
        <p:txBody>
          <a:bodyPr wrap="square" lIns="0" tIns="0" rIns="0" bIns="0" rtlCol="0" anchor="t"/>
          <a:lstStyle/>
          <a:p>
            <a:pPr indent="0" marL="0">
              <a:buNone/>
            </a:pPr>
            <a:r>
              <a:rPr lang="en-US" sz="1100" b="1" dirty="0">
                <a:solidFill>
                  <a:srgbClr val="1B2559"/>
                </a:solidFill>
                <a:highlight>
                  <a:srgbClr val="FFE066"/>
                </a:highlight>
                <a:latin typeface="Georgia" pitchFamily="34" charset="0"/>
                <a:ea typeface="Georgia" pitchFamily="34" charset="-122"/>
                <a:cs typeface="Georgia" pitchFamily="34" charset="-120"/>
              </a:rPr>
              <a:t>Women are more caring than men.</a:t>
            </a:r>
            <a:pPr indent="0" marL="0">
              <a:buNone/>
            </a:pPr>
            <a:r>
              <a:rPr lang="en-US" sz="1100" dirty="0">
                <a:solidFill>
                  <a:srgbClr val="1B2559"/>
                </a:solidFill>
                <a:latin typeface="Georgia" pitchFamily="34" charset="0"/>
                <a:ea typeface="Georgia" pitchFamily="34" charset="-122"/>
                <a:cs typeface="Georgia" pitchFamily="34" charset="-120"/>
              </a:rPr>
              <a:t> Australian researchers gave 20,000 men and women a list of questions to answer, to discover how they feel if their partner has a problem.</a:t>
            </a:r>
            <a:endParaRPr lang="en-US" sz="1100" dirty="0"/>
          </a:p>
        </p:txBody>
      </p:sp>
      <p:sp>
        <p:nvSpPr>
          <p:cNvPr id="16" name="ln_200"/>
          <p:cNvSpPr/>
          <p:nvPr/>
        </p:nvSpPr>
        <p:spPr>
          <a:xfrm>
            <a:off x="548640" y="2462530"/>
            <a:ext cx="5349240" cy="706526"/>
          </a:xfrm>
          <a:prstGeom prst="rect">
            <a:avLst/>
          </a:prstGeom>
          <a:noFill/>
          <a:ln/>
        </p:spPr>
        <p:txBody>
          <a:bodyPr wrap="square" lIns="0" tIns="0" rIns="0" bIns="0" rtlCol="0" anchor="t"/>
          <a:lstStyle/>
          <a:p>
            <a:pPr indent="0" marL="0">
              <a:buNone/>
            </a:pPr>
            <a:r>
              <a:rPr lang="en-US" sz="1100" dirty="0">
                <a:solidFill>
                  <a:srgbClr val="1B2559"/>
                </a:solidFill>
                <a:latin typeface="Georgia" pitchFamily="34" charset="0"/>
                <a:ea typeface="Georgia" pitchFamily="34" charset="-122"/>
                <a:cs typeface="Georgia" pitchFamily="34" charset="-120"/>
              </a:rPr>
              <a:t>Women said they were very affected, but men showed no change. 'It is not that men are unemotional, but they simply are not very emotional when it comes to the feelings of their partner,' said the study's author, Dr Cindy Mervin.</a:t>
            </a:r>
            <a:endParaRPr lang="en-US" sz="1100" dirty="0"/>
          </a:p>
        </p:txBody>
      </p:sp>
      <p:sp>
        <p:nvSpPr>
          <p:cNvPr id="17" name="ln_201"/>
          <p:cNvSpPr/>
          <p:nvPr/>
        </p:nvSpPr>
        <p:spPr>
          <a:xfrm>
            <a:off x="548640" y="3169056"/>
            <a:ext cx="5349240" cy="563982"/>
          </a:xfrm>
          <a:prstGeom prst="rect">
            <a:avLst/>
          </a:prstGeom>
          <a:noFill/>
          <a:ln/>
        </p:spPr>
        <p:txBody>
          <a:bodyPr wrap="square" lIns="0" tIns="0" rIns="0" bIns="0" rtlCol="0" anchor="t"/>
          <a:lstStyle/>
          <a:p>
            <a:pPr indent="0" marL="0">
              <a:buNone/>
            </a:pPr>
            <a:r>
              <a:rPr lang="en-US" sz="1100" b="1" dirty="0">
                <a:solidFill>
                  <a:srgbClr val="2EB872"/>
                </a:solidFill>
                <a:latin typeface="Georgia" pitchFamily="34" charset="0"/>
                <a:ea typeface="Georgia" pitchFamily="34" charset="-122"/>
                <a:cs typeface="Georgia" pitchFamily="34" charset="-120"/>
              </a:rPr>
              <a:t> (4) ________ </a:t>
            </a:r>
            <a:pPr indent="0" marL="0">
              <a:buNone/>
            </a:pPr>
            <a:r>
              <a:rPr lang="en-US" sz="1100" dirty="0">
                <a:solidFill>
                  <a:srgbClr val="1B2559"/>
                </a:solidFill>
                <a:latin typeface="Georgia" pitchFamily="34" charset="0"/>
                <a:ea typeface="Georgia" pitchFamily="34" charset="-122"/>
                <a:cs typeface="Georgia" pitchFamily="34" charset="-120"/>
              </a:rPr>
              <a:t> Psychologists at the University of Hertfordshire gave 50 male and 50 female students eight minutes to perform three tasks at the same time:</a:t>
            </a:r>
            <a:endParaRPr lang="en-US" sz="1100" dirty="0"/>
          </a:p>
        </p:txBody>
      </p:sp>
      <p:sp>
        <p:nvSpPr>
          <p:cNvPr id="18" name="R2_lnA202"/>
          <p:cNvSpPr/>
          <p:nvPr/>
        </p:nvSpPr>
        <p:spPr>
          <a:xfrm>
            <a:off x="548640" y="3169056"/>
            <a:ext cx="5349240" cy="563982"/>
          </a:xfrm>
          <a:prstGeom prst="rect">
            <a:avLst/>
          </a:prstGeom>
          <a:solidFill>
            <a:srgbClr val="FFFFFF"/>
          </a:solidFill>
          <a:ln/>
        </p:spPr>
        <p:txBody>
          <a:bodyPr wrap="square" lIns="0" tIns="0" rIns="0" bIns="0" rtlCol="0" anchor="t"/>
          <a:lstStyle/>
          <a:p>
            <a:pPr indent="0" marL="0">
              <a:buNone/>
            </a:pPr>
            <a:r>
              <a:rPr lang="en-US" sz="1100" b="1" dirty="0">
                <a:solidFill>
                  <a:srgbClr val="1B2559"/>
                </a:solidFill>
                <a:highlight>
                  <a:srgbClr val="FFE066"/>
                </a:highlight>
                <a:latin typeface="Georgia" pitchFamily="34" charset="0"/>
                <a:ea typeface="Georgia" pitchFamily="34" charset="-122"/>
                <a:cs typeface="Georgia" pitchFamily="34" charset="-120"/>
              </a:rPr>
              <a:t>Women can multitask better than men.</a:t>
            </a:r>
            <a:pPr indent="0" marL="0">
              <a:buNone/>
            </a:pPr>
            <a:r>
              <a:rPr lang="en-US" sz="1100" dirty="0">
                <a:solidFill>
                  <a:srgbClr val="1B2559"/>
                </a:solidFill>
                <a:latin typeface="Georgia" pitchFamily="34" charset="0"/>
                <a:ea typeface="Georgia" pitchFamily="34" charset="-122"/>
                <a:cs typeface="Georgia" pitchFamily="34" charset="-120"/>
              </a:rPr>
              <a:t> Psychologists at the University of Hertfordshire gave 50 male and 50 female students eight minutes to perform three tasks at the same time:</a:t>
            </a:r>
            <a:endParaRPr lang="en-US" sz="1100" dirty="0"/>
          </a:p>
        </p:txBody>
      </p:sp>
      <p:sp>
        <p:nvSpPr>
          <p:cNvPr id="19" name="ln_203"/>
          <p:cNvSpPr/>
          <p:nvPr/>
        </p:nvSpPr>
        <p:spPr>
          <a:xfrm>
            <a:off x="548640" y="3733038"/>
            <a:ext cx="5349240" cy="601167"/>
          </a:xfrm>
          <a:prstGeom prst="rect">
            <a:avLst/>
          </a:prstGeom>
          <a:noFill/>
          <a:ln/>
        </p:spPr>
        <p:txBody>
          <a:bodyPr wrap="square" lIns="0" tIns="0" rIns="0" bIns="0" rtlCol="0" anchor="t"/>
          <a:lstStyle/>
          <a:p>
            <a:pPr indent="0" marL="0">
              <a:buNone/>
            </a:pPr>
            <a:r>
              <a:rPr lang="en-US" sz="1100" dirty="0">
                <a:solidFill>
                  <a:srgbClr val="1B2559"/>
                </a:solidFill>
                <a:latin typeface="Georgia" pitchFamily="34" charset="0"/>
                <a:ea typeface="Georgia" pitchFamily="34" charset="-122"/>
                <a:cs typeface="Georgia" pitchFamily="34" charset="-120"/>
              </a:rPr>
              <a:t>maths problems, finding restaurants on a map, and drawing a plan for finding a lost key in a field. To make it more difficult, they were asked some general knowledge questions while they worked.</a:t>
            </a:r>
            <a:endParaRPr lang="en-US" sz="1100" dirty="0"/>
          </a:p>
        </p:txBody>
      </p:sp>
      <p:sp>
        <p:nvSpPr>
          <p:cNvPr id="20" name="ln_204"/>
          <p:cNvSpPr/>
          <p:nvPr/>
        </p:nvSpPr>
        <p:spPr>
          <a:xfrm>
            <a:off x="548640" y="4334205"/>
            <a:ext cx="5349240" cy="374955"/>
          </a:xfrm>
          <a:prstGeom prst="rect">
            <a:avLst/>
          </a:prstGeom>
          <a:noFill/>
          <a:ln/>
        </p:spPr>
        <p:txBody>
          <a:bodyPr wrap="square" lIns="0" tIns="0" rIns="0" bIns="0" rtlCol="0" anchor="t"/>
          <a:lstStyle/>
          <a:p>
            <a:pPr indent="0" marL="0">
              <a:buNone/>
            </a:pPr>
            <a:r>
              <a:rPr lang="en-US" sz="1100" dirty="0">
                <a:solidFill>
                  <a:srgbClr val="1B2559"/>
                </a:solidFill>
                <a:latin typeface="Georgia" pitchFamily="34" charset="0"/>
                <a:ea typeface="Georgia" pitchFamily="34" charset="-122"/>
                <a:cs typeface="Georgia" pitchFamily="34" charset="-120"/>
              </a:rPr>
              <a:t>The women, it turned out, easily did all four things at once, but not the men – so it seems that this old cliché is true.</a:t>
            </a:r>
            <a:endParaRPr lang="en-US" sz="1100" dirty="0"/>
          </a:p>
        </p:txBody>
      </p:sp>
      <p:sp>
        <p:nvSpPr>
          <p:cNvPr id="21" name="pf_205"/>
          <p:cNvSpPr/>
          <p:nvPr/>
        </p:nvSpPr>
        <p:spPr>
          <a:xfrm rot="120000">
            <a:off x="6309360" y="1417320"/>
            <a:ext cx="2560320" cy="1508760"/>
          </a:xfrm>
          <a:prstGeom prst="roundRect">
            <a:avLst>
              <a:gd name="adj" fmla="val 10303"/>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22" name="ph_206" descr="/home/claude/lls-course/v2/cache/3b1_caring_jpg_594x341_31.png">    </p:cNvPr>
          <p:cNvPicPr>
            <a:picLocks noChangeAspect="1"/>
          </p:cNvPicPr>
          <p:nvPr/>
        </p:nvPicPr>
        <p:blipFill>
          <a:blip r:embed="rId5"/>
          <a:stretch>
            <a:fillRect/>
          </a:stretch>
        </p:blipFill>
        <p:spPr>
          <a:xfrm rot="120000">
            <a:off x="6355080" y="1463040"/>
            <a:ext cx="2468880" cy="1417320"/>
          </a:xfrm>
          <a:prstGeom prst="rect">
            <a:avLst/>
          </a:prstGeom>
        </p:spPr>
      </p:pic>
      <p:sp>
        <p:nvSpPr>
          <p:cNvPr id="23" name="cd_207"/>
          <p:cNvSpPr/>
          <p:nvPr/>
        </p:nvSpPr>
        <p:spPr>
          <a:xfrm>
            <a:off x="6263640" y="3794760"/>
            <a:ext cx="2651760" cy="960120"/>
          </a:xfrm>
          <a:prstGeom prst="roundRect">
            <a:avLst>
              <a:gd name="adj" fmla="val 13333"/>
            </a:avLst>
          </a:prstGeom>
          <a:solidFill>
            <a:srgbClr val="EEE8FB"/>
          </a:solidFill>
          <a:ln w="28575">
            <a:solidFill>
              <a:srgbClr val="CDBFF3"/>
            </a:solidFill>
            <a:prstDash val="solid"/>
          </a:ln>
          <a:effectLst>
            <a:outerShdw sx="100000" sy="100000" kx="0" ky="0" algn="bl" rotWithShape="0" blurRad="88900" dist="31750" dir="5400000">
              <a:srgbClr val="1B2559">
                <a:alpha val="12000"/>
              </a:srgbClr>
            </a:outerShdw>
          </a:effectLst>
        </p:spPr>
      </p:sp>
      <p:sp>
        <p:nvSpPr>
          <p:cNvPr id="24" name="ii_208"/>
          <p:cNvSpPr/>
          <p:nvPr/>
        </p:nvSpPr>
        <p:spPr>
          <a:xfrm>
            <a:off x="6355080" y="386791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25" name="ih_209"/>
          <p:cNvSpPr/>
          <p:nvPr/>
        </p:nvSpPr>
        <p:spPr>
          <a:xfrm>
            <a:off x="6830568" y="3886200"/>
            <a:ext cx="2011680" cy="365760"/>
          </a:xfrm>
          <a:prstGeom prst="rect">
            <a:avLst/>
          </a:prstGeom>
          <a:noFill/>
          <a:ln/>
        </p:spPr>
        <p:txBody>
          <a:bodyPr wrap="square" lIns="0" tIns="0" rIns="0" bIns="0" rtlCol="0" anchor="ct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Remember</a:t>
            </a:r>
            <a:endParaRPr lang="en-US" sz="1200" dirty="0"/>
          </a:p>
        </p:txBody>
      </p:sp>
      <p:sp>
        <p:nvSpPr>
          <p:cNvPr id="26" name="il_210"/>
          <p:cNvSpPr/>
          <p:nvPr/>
        </p:nvSpPr>
        <p:spPr>
          <a:xfrm>
            <a:off x="6830568" y="4288536"/>
            <a:ext cx="1993392" cy="393192"/>
          </a:xfrm>
          <a:prstGeom prst="rect">
            <a:avLst/>
          </a:prstGeom>
          <a:noFill/>
          <a:ln/>
        </p:spPr>
        <p:txBody>
          <a:bodyPr wrap="square" lIns="0" tIns="0" rIns="0" bIns="0" rtlCol="0" anchor="t">
            <a:normAutofit/>
          </a:bodyPr>
          <a:lstStyle/>
          <a:p>
            <a:pPr marL="152400" indent="-152400">
              <a:spcAft>
                <a:spcPts val="200"/>
              </a:spcAft>
              <a:buSzPct val="100000"/>
              <a:buChar char="•"/>
            </a:pPr>
            <a:r>
              <a:rPr lang="en-US" sz="900" dirty="0">
                <a:solidFill>
                  <a:srgbClr val="1B2559"/>
                </a:solidFill>
                <a:latin typeface="Segoe UI Semibold" pitchFamily="34" charset="0"/>
                <a:ea typeface="Segoe UI Semibold" pitchFamily="34" charset="-122"/>
                <a:cs typeface="Segoe UI Semibold" pitchFamily="34" charset="-120"/>
              </a:rPr>
              <a:t>affected = colpito, toccato</a:t>
            </a:r>
            <a:endParaRPr lang="en-US" sz="900" dirty="0"/>
          </a:p>
          <a:p>
            <a:pPr marL="152400" indent="-152400">
              <a:spcBef>
                <a:spcPts val="600"/>
              </a:spcBef>
              <a:spcAft>
                <a:spcPts val="200"/>
              </a:spcAft>
              <a:buSzPct val="100000"/>
              <a:buChar char="•"/>
            </a:pPr>
            <a:r>
              <a:rPr lang="en-US" sz="900" dirty="0">
                <a:solidFill>
                  <a:srgbClr val="1B2559"/>
                </a:solidFill>
                <a:latin typeface="Segoe UI Semibold" pitchFamily="34" charset="0"/>
                <a:ea typeface="Segoe UI Semibold" pitchFamily="34" charset="-122"/>
                <a:cs typeface="Segoe UI Semibold" pitchFamily="34" charset="-120"/>
              </a:rPr>
              <a:t>cliché /ˈkliːʃeɪ/ = luogo comune</a:t>
            </a:r>
            <a:endParaRPr lang="en-US" sz="9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5"/>
                                        </p:tgtEl>
                                        <p:attrNameLst>
                                          <p:attrName>style.visibility</p:attrName>
                                        </p:attrNameLst>
                                      </p:cBhvr>
                                      <p:to>
                                        <p:strVal val="visible"/>
                                      </p:to>
                                    </p:set>
                                    <p:animEffect transition="in" filter="fade">
                                      <p:cBhvr>
                                        <p:cTn id="7" dur="400"/>
                                        <p:tgtEl>
                                          <p:spTgt spid="15"/>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18"/>
                                        </p:tgtEl>
                                        <p:attrNameLst>
                                          <p:attrName>style.visibility</p:attrName>
                                        </p:attrNameLst>
                                      </p:cBhvr>
                                      <p:to>
                                        <p:strVal val="visible"/>
                                      </p:to>
                                    </p:set>
                                    <p:animEffect transition="in" filter="fade">
                                      <p:cBhvr>
                                        <p:cTn id="12" dur="400"/>
                                        <p:tgtEl>
                                          <p:spTgt spid="1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xml><?xml version="1.0" encoding="utf-8"?>
<p:sld xmlns:a="http://schemas.openxmlformats.org/drawingml/2006/main" xmlns:r="http://schemas.openxmlformats.org/officeDocument/2006/relationships" xmlns:p="http://schemas.openxmlformats.org/presentationml/2006/main">
  <p:cSld name="Slide 9">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211"/>
          <p:cNvSpPr/>
          <p:nvPr/>
        </p:nvSpPr>
        <p:spPr>
          <a:xfrm>
            <a:off x="201168" y="164592"/>
            <a:ext cx="841248" cy="841248"/>
          </a:xfrm>
          <a:prstGeom prst="ellipse">
            <a:avLst/>
          </a:prstGeom>
          <a:solidFill>
            <a:srgbClr val="2EB872"/>
          </a:solidFill>
          <a:ln w="28575">
            <a:solidFill>
              <a:srgbClr val="A8E5BE"/>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800" dirty="0">
                <a:solidFill>
                  <a:srgbClr val="FFFFFF"/>
                </a:solidFill>
                <a:latin typeface="Arial Rounded MT Bold" pitchFamily="34" charset="0"/>
                <a:ea typeface="Arial Rounded MT Bold" pitchFamily="34" charset="-122"/>
                <a:cs typeface="Arial Rounded MT Bold" pitchFamily="34" charset="-120"/>
              </a:rPr>
              <a:t>9</a:t>
            </a:r>
            <a:endParaRPr lang="en-US" sz="2800" dirty="0"/>
          </a:p>
        </p:txBody>
      </p:sp>
      <p:pic>
        <p:nvPicPr>
          <p:cNvPr id="4" name="brY_212" descr="/home/claude/lls-course/v2/assets/brush-yellow.png">    </p:cNvPr>
          <p:cNvPicPr>
            <a:picLocks noChangeAspect="1"/>
          </p:cNvPicPr>
          <p:nvPr/>
        </p:nvPicPr>
        <p:blipFill>
          <a:blip r:embed="rId2"/>
          <a:stretch>
            <a:fillRect/>
          </a:stretch>
        </p:blipFill>
        <p:spPr>
          <a:xfrm>
            <a:off x="1097280" y="146304"/>
            <a:ext cx="3090672" cy="621792"/>
          </a:xfrm>
          <a:prstGeom prst="rect">
            <a:avLst/>
          </a:prstGeom>
        </p:spPr>
      </p:pic>
      <p:sp>
        <p:nvSpPr>
          <p:cNvPr id="5" name="title_213"/>
          <p:cNvSpPr/>
          <p:nvPr/>
        </p:nvSpPr>
        <p:spPr>
          <a:xfrm>
            <a:off x="1261872" y="164592"/>
            <a:ext cx="2816352"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The article 3/3</a:t>
            </a:r>
            <a:endParaRPr lang="en-US" sz="2500" dirty="0"/>
          </a:p>
        </p:txBody>
      </p:sp>
      <p:pic>
        <p:nvPicPr>
          <p:cNvPr id="6" name="brP_214" descr="/home/claude/lls-course/v2/assets/brush-pink.png">    </p:cNvPr>
          <p:cNvPicPr>
            <a:picLocks noChangeAspect="1"/>
          </p:cNvPicPr>
          <p:nvPr/>
        </p:nvPicPr>
        <p:blipFill>
          <a:blip r:embed="rId3"/>
          <a:stretch>
            <a:fillRect/>
          </a:stretch>
        </p:blipFill>
        <p:spPr>
          <a:xfrm>
            <a:off x="1207008" y="731520"/>
            <a:ext cx="3685032" cy="402336"/>
          </a:xfrm>
          <a:prstGeom prst="rect">
            <a:avLst/>
          </a:prstGeom>
        </p:spPr>
      </p:pic>
      <p:sp>
        <p:nvSpPr>
          <p:cNvPr id="7" name="ins_215"/>
          <p:cNvSpPr/>
          <p:nvPr/>
        </p:nvSpPr>
        <p:spPr>
          <a:xfrm>
            <a:off x="1353312" y="731520"/>
            <a:ext cx="3429000"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Read. Which sentence from slide 5?</a:t>
            </a:r>
            <a:endParaRPr lang="en-US" sz="1250" dirty="0"/>
          </a:p>
        </p:txBody>
      </p:sp>
      <p:sp>
        <p:nvSpPr>
          <p:cNvPr id="8" name="insIT_216"/>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Leggi. Quale frase della slide 5?</a:t>
            </a:r>
            <a:endParaRPr lang="en-US" sz="950" dirty="0"/>
          </a:p>
        </p:txBody>
      </p:sp>
      <p:sp>
        <p:nvSpPr>
          <p:cNvPr id="9" name="note_217"/>
          <p:cNvSpPr/>
          <p:nvPr/>
        </p:nvSpPr>
        <p:spPr>
          <a:xfrm rot="180000">
            <a:off x="6382512" y="128016"/>
            <a:ext cx="2029968" cy="1024128"/>
          </a:xfrm>
          <a:prstGeom prst="rect">
            <a:avLst/>
          </a:prstGeom>
          <a:solidFill>
            <a:srgbClr val="FFC2DA"/>
          </a:solidFill>
          <a:ln>
            <a:solidFill>
              <a:srgbClr val="FFC2DA"/>
            </a:solidFill>
          </a:ln>
          <a:effectLst>
            <a:outerShdw sx="100000" sy="100000" kx="0" ky="0" algn="bl" rotWithShape="0" blurRad="88900" dist="31750" dir="5400000">
              <a:srgbClr val="1B2559">
                <a:alpha val="15000"/>
              </a:srgbClr>
            </a:outerShdw>
          </a:effectLst>
        </p:spPr>
        <p:txBody>
          <a:bodyPr wrap="square" lIns="50800" tIns="50800" rIns="50800" bIns="50800" rtlCol="0" anchor="ctr">
            <a:normAutofit/>
          </a:bodyPr>
          <a:lstStyle/>
          <a:p>
            <a:pPr algn="ctr" indent="0" marL="0">
              <a:buNone/>
            </a:pPr>
            <a:r>
              <a:rPr lang="en-US" sz="1250" dirty="0">
                <a:solidFill>
                  <a:srgbClr val="1B2559"/>
                </a:solidFill>
                <a:latin typeface="Arial Rounded MT Bold" pitchFamily="34" charset="0"/>
                <a:ea typeface="Arial Rounded MT Bold" pitchFamily="34" charset="-122"/>
                <a:cs typeface="Arial Rounded MT Bold" pitchFamily="34" charset="-120"/>
              </a:rPr>
              <a:t>👀 READ</a:t>
            </a:r>
            <a:pPr algn="ctr" indent="0" marL="0">
              <a:buNone/>
            </a:pPr>
            <a:r>
              <a:rPr lang="en-US" sz="1250" dirty="0">
                <a:solidFill>
                  <a:srgbClr val="1B2559"/>
                </a:solidFill>
                <a:latin typeface="Arial Rounded MT Bold" pitchFamily="34" charset="0"/>
                <a:ea typeface="Arial Rounded MT Bold" pitchFamily="34" charset="-122"/>
                <a:cs typeface="Arial Rounded MT Bold" pitchFamily="34" charset="-120"/>
              </a:rPr>
              <a:t> · LEGGI</a:t>
            </a:r>
            <a:endParaRPr lang="en-US" sz="1250" dirty="0"/>
          </a:p>
          <a:p>
            <a:pPr algn="ctr" indent="0" marL="0">
              <a:buNone/>
            </a:pPr>
            <a:r>
              <a:rPr lang="en-US" sz="1100" dirty="0">
                <a:solidFill>
                  <a:srgbClr val="1B2559"/>
                </a:solidFill>
                <a:latin typeface="Segoe UI Semibold" pitchFamily="34" charset="0"/>
                <a:ea typeface="Segoe UI Semibold" pitchFamily="34" charset="-122"/>
                <a:cs typeface="Segoe UI Semibold" pitchFamily="34" charset="-120"/>
              </a:rPr>
              <a:t>⏱ 2 min   👤 alone</a:t>
            </a:r>
            <a:endParaRPr lang="en-US" sz="1250" dirty="0"/>
          </a:p>
          <a:p>
            <a:pPr algn="ctr" indent="0" marL="0">
              <a:buNone/>
            </a:pPr>
            <a:r>
              <a:rPr lang="en-US" sz="900" dirty="0">
                <a:solidFill>
                  <a:srgbClr val="5B6785"/>
                </a:solidFill>
                <a:latin typeface="Segoe UI Semibold" pitchFamily="34" charset="0"/>
                <a:ea typeface="Segoe UI Semibold" pitchFamily="34" charset="-122"/>
                <a:cs typeface="Segoe UI Semibold" pitchFamily="34" charset="-120"/>
              </a:rPr>
              <a:t>🎯 Reading · TPRS · reading</a:t>
            </a:r>
            <a:endParaRPr lang="en-US" sz="1250" dirty="0"/>
          </a:p>
        </p:txBody>
      </p:sp>
      <p:pic>
        <p:nvPicPr>
          <p:cNvPr id="10" name="logo_218"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1" name="foot_219"/>
          <p:cNvSpPr/>
          <p:nvPr/>
        </p:nvSpPr>
        <p:spPr>
          <a:xfrm>
            <a:off x="274320" y="4873752"/>
            <a:ext cx="6858000" cy="219456"/>
          </a:xfrm>
          <a:prstGeom prst="rect">
            <a:avLst/>
          </a:prstGeom>
          <a:noFill/>
          <a:ln/>
        </p:spPr>
        <p:txBody>
          <a:bodyPr wrap="square" lIns="0" tIns="0" rIns="0" bIns="0" rtlCol="0" anchor="ctr"/>
          <a:lstStyle/>
          <a:p>
            <a:pPr indent="0" marL="0">
              <a:buNone/>
            </a:pPr>
            <a:r>
              <a:rPr lang="en-US" sz="750" dirty="0">
                <a:solidFill>
                  <a:srgbClr val="5B6785"/>
                </a:solidFill>
                <a:latin typeface="Segoe UI Semibold" pitchFamily="34" charset="0"/>
                <a:ea typeface="Segoe UI Semibold" pitchFamily="34" charset="-122"/>
                <a:cs typeface="Segoe UI Semibold" pitchFamily="34" charset="-120"/>
              </a:rPr>
              <a:t>3B-1 · Reading · paragraph 5   ·   📖 SB p.31 · 1c · paragraph 5 + 'And some that aren't true…' · adapted from The Daily Telegraph</a:t>
            </a:r>
            <a:endParaRPr lang="en-US" sz="750" dirty="0"/>
          </a:p>
        </p:txBody>
      </p:sp>
      <p:sp>
        <p:nvSpPr>
          <p:cNvPr id="12" name="cd_220"/>
          <p:cNvSpPr/>
          <p:nvPr/>
        </p:nvSpPr>
        <p:spPr>
          <a:xfrm>
            <a:off x="320040" y="1417320"/>
            <a:ext cx="5715000" cy="3337560"/>
          </a:xfrm>
          <a:prstGeom prst="roundRect">
            <a:avLst>
              <a:gd name="adj" fmla="val 3836"/>
            </a:avLst>
          </a:prstGeom>
          <a:solidFill>
            <a:srgbClr val="FFFFFF"/>
          </a:solidFill>
          <a:ln w="28575">
            <a:solidFill>
              <a:srgbClr val="A8E5BE"/>
            </a:solidFill>
            <a:prstDash val="solid"/>
          </a:ln>
          <a:effectLst>
            <a:outerShdw sx="100000" sy="100000" kx="0" ky="0" algn="bl" rotWithShape="0" blurRad="88900" dist="31750" dir="5400000">
              <a:srgbClr val="1B2559">
                <a:alpha val="12000"/>
              </a:srgbClr>
            </a:outerShdw>
          </a:effectLst>
        </p:spPr>
      </p:sp>
      <p:sp>
        <p:nvSpPr>
          <p:cNvPr id="13" name="sh_221"/>
          <p:cNvSpPr/>
          <p:nvPr/>
        </p:nvSpPr>
        <p:spPr>
          <a:xfrm>
            <a:off x="320040" y="1417320"/>
            <a:ext cx="5715000" cy="438912"/>
          </a:xfrm>
          <a:prstGeom prst="rect">
            <a:avLst/>
          </a:prstGeom>
          <a:solidFill>
            <a:srgbClr val="E3F7EA"/>
          </a:solidFill>
          <a:ln/>
        </p:spPr>
        <p:txBody>
          <a:bodyPr wrap="square" lIns="203200" tIns="0" rIns="203200" bIns="0" rtlCol="0" anchor="ctr"/>
          <a:lstStyle/>
          <a:p>
            <a:pPr indent="0" marL="0">
              <a:buNone/>
            </a:pPr>
            <a:r>
              <a:rPr lang="en-US" sz="1700" b="1" dirty="0">
                <a:solidFill>
                  <a:srgbClr val="1F6F43"/>
                </a:solidFill>
                <a:latin typeface="Georgia" pitchFamily="34" charset="0"/>
                <a:ea typeface="Georgia" pitchFamily="34" charset="-122"/>
                <a:cs typeface="Georgia" pitchFamily="34" charset="-120"/>
              </a:rPr>
              <a:t>Common stereotypes – are they true?</a:t>
            </a:r>
            <a:endParaRPr lang="en-US" sz="1700" dirty="0"/>
          </a:p>
        </p:txBody>
      </p:sp>
      <p:sp>
        <p:nvSpPr>
          <p:cNvPr id="14" name="ln_222"/>
          <p:cNvSpPr/>
          <p:nvPr/>
        </p:nvSpPr>
        <p:spPr>
          <a:xfrm>
            <a:off x="548640" y="1920240"/>
            <a:ext cx="5349240" cy="737938"/>
          </a:xfrm>
          <a:prstGeom prst="rect">
            <a:avLst/>
          </a:prstGeom>
          <a:noFill/>
          <a:ln/>
        </p:spPr>
        <p:txBody>
          <a:bodyPr wrap="square" lIns="0" tIns="0" rIns="0" bIns="0" rtlCol="0" anchor="t"/>
          <a:lstStyle/>
          <a:p>
            <a:pPr indent="0" marL="0">
              <a:buNone/>
            </a:pPr>
            <a:r>
              <a:rPr lang="en-US" sz="1150" b="1" dirty="0">
                <a:solidFill>
                  <a:srgbClr val="2EB872"/>
                </a:solidFill>
                <a:latin typeface="Georgia" pitchFamily="34" charset="0"/>
                <a:ea typeface="Georgia" pitchFamily="34" charset="-122"/>
                <a:cs typeface="Georgia" pitchFamily="34" charset="-120"/>
              </a:rPr>
              <a:t> (5) ________ </a:t>
            </a:r>
            <a:pPr indent="0" marL="0">
              <a:buNone/>
            </a:pPr>
            <a:r>
              <a:rPr lang="en-US" sz="1150" dirty="0">
                <a:solidFill>
                  <a:srgbClr val="1B2559"/>
                </a:solidFill>
                <a:latin typeface="Georgia" pitchFamily="34" charset="0"/>
                <a:ea typeface="Georgia" pitchFamily="34" charset="-122"/>
                <a:cs typeface="Georgia" pitchFamily="34" charset="-120"/>
              </a:rPr>
              <a:t> Professor Laura Mickes and a team of psychologists from the University of California asked men and women to write captions for cartoons in The New Yorker magazine.</a:t>
            </a:r>
            <a:endParaRPr lang="en-US" sz="1150" dirty="0"/>
          </a:p>
        </p:txBody>
      </p:sp>
      <p:sp>
        <p:nvSpPr>
          <p:cNvPr id="15" name="R1_lnA223"/>
          <p:cNvSpPr/>
          <p:nvPr/>
        </p:nvSpPr>
        <p:spPr>
          <a:xfrm>
            <a:off x="548640" y="1920240"/>
            <a:ext cx="5349240" cy="737938"/>
          </a:xfrm>
          <a:prstGeom prst="rect">
            <a:avLst/>
          </a:prstGeom>
          <a:solidFill>
            <a:srgbClr val="FFFFFF"/>
          </a:solidFill>
          <a:ln/>
        </p:spPr>
        <p:txBody>
          <a:bodyPr wrap="square" lIns="0" tIns="0" rIns="0" bIns="0" rtlCol="0" anchor="t"/>
          <a:lstStyle/>
          <a:p>
            <a:pPr indent="0" marL="0">
              <a:buNone/>
            </a:pPr>
            <a:r>
              <a:rPr lang="en-US" sz="1150" b="1" dirty="0">
                <a:solidFill>
                  <a:srgbClr val="1B2559"/>
                </a:solidFill>
                <a:highlight>
                  <a:srgbClr val="FFE066"/>
                </a:highlight>
                <a:latin typeface="Georgia" pitchFamily="34" charset="0"/>
                <a:ea typeface="Georgia" pitchFamily="34" charset="-122"/>
                <a:cs typeface="Georgia" pitchFamily="34" charset="-120"/>
              </a:rPr>
              <a:t>Men are better at telling jokes than women.</a:t>
            </a:r>
            <a:pPr indent="0" marL="0">
              <a:buNone/>
            </a:pPr>
            <a:r>
              <a:rPr lang="en-US" sz="1150" dirty="0">
                <a:solidFill>
                  <a:srgbClr val="1B2559"/>
                </a:solidFill>
                <a:latin typeface="Georgia" pitchFamily="34" charset="0"/>
                <a:ea typeface="Georgia" pitchFamily="34" charset="-122"/>
                <a:cs typeface="Georgia" pitchFamily="34" charset="-120"/>
              </a:rPr>
              <a:t> Professor Laura Mickes and a team of psychologists from the University of California asked men and women to write captions for cartoons in The New Yorker magazine.</a:t>
            </a:r>
            <a:endParaRPr lang="en-US" sz="1150" dirty="0"/>
          </a:p>
        </p:txBody>
      </p:sp>
      <p:sp>
        <p:nvSpPr>
          <p:cNvPr id="16" name="ln_224"/>
          <p:cNvSpPr/>
          <p:nvPr/>
        </p:nvSpPr>
        <p:spPr>
          <a:xfrm>
            <a:off x="548640" y="2658178"/>
            <a:ext cx="5349240" cy="737938"/>
          </a:xfrm>
          <a:prstGeom prst="rect">
            <a:avLst/>
          </a:prstGeom>
          <a:noFill/>
          <a:ln/>
        </p:spPr>
        <p:txBody>
          <a:bodyPr wrap="square" lIns="0" tIns="0" rIns="0" bIns="0" rtlCol="0" anchor="t"/>
          <a:lstStyle/>
          <a:p>
            <a:pPr indent="0" marL="0">
              <a:buNone/>
            </a:pPr>
            <a:r>
              <a:rPr lang="en-US" sz="1150" dirty="0">
                <a:solidFill>
                  <a:srgbClr val="1B2559"/>
                </a:solidFill>
                <a:latin typeface="Georgia" pitchFamily="34" charset="0"/>
                <a:ea typeface="Georgia" pitchFamily="34" charset="-122"/>
                <a:cs typeface="Georgia" pitchFamily="34" charset="-120"/>
              </a:rPr>
              <a:t>Without knowing the author, a group of male and female judges preferred the men's jokes. The psychologists argued that men use humour to attract women, who in turn are attracted to men with a good sense of humour.</a:t>
            </a:r>
            <a:endParaRPr lang="en-US" sz="1150" dirty="0"/>
          </a:p>
        </p:txBody>
      </p:sp>
      <p:sp>
        <p:nvSpPr>
          <p:cNvPr id="17" name="ln_225"/>
          <p:cNvSpPr/>
          <p:nvPr/>
        </p:nvSpPr>
        <p:spPr>
          <a:xfrm>
            <a:off x="548640" y="3396116"/>
            <a:ext cx="5349240" cy="689435"/>
          </a:xfrm>
          <a:prstGeom prst="rect">
            <a:avLst/>
          </a:prstGeom>
          <a:noFill/>
          <a:ln/>
        </p:spPr>
        <p:txBody>
          <a:bodyPr wrap="square" lIns="0" tIns="0" rIns="0" bIns="0" rtlCol="0" anchor="t"/>
          <a:lstStyle/>
          <a:p>
            <a:pPr indent="0" marL="0">
              <a:buNone/>
            </a:pPr>
            <a:r>
              <a:rPr lang="en-US" sz="1150" dirty="0">
                <a:solidFill>
                  <a:srgbClr val="1B2559"/>
                </a:solidFill>
                <a:latin typeface="Georgia" pitchFamily="34" charset="0"/>
                <a:ea typeface="Georgia" pitchFamily="34" charset="-122"/>
                <a:cs typeface="Georgia" pitchFamily="34" charset="-120"/>
              </a:rPr>
              <a:t>AND SOME THAT AREN'T TRUE… For every stereotype verified by science, many others turn out not to be true. Recent research shows, for example, that women are just as competitive and aggressive as men,</a:t>
            </a:r>
            <a:endParaRPr lang="en-US" sz="1150" dirty="0"/>
          </a:p>
        </p:txBody>
      </p:sp>
      <p:sp>
        <p:nvSpPr>
          <p:cNvPr id="18" name="ln_226"/>
          <p:cNvSpPr/>
          <p:nvPr/>
        </p:nvSpPr>
        <p:spPr>
          <a:xfrm>
            <a:off x="548640" y="4085551"/>
            <a:ext cx="5349240" cy="623609"/>
          </a:xfrm>
          <a:prstGeom prst="rect">
            <a:avLst/>
          </a:prstGeom>
          <a:noFill/>
          <a:ln/>
        </p:spPr>
        <p:txBody>
          <a:bodyPr wrap="square" lIns="0" tIns="0" rIns="0" bIns="0" rtlCol="0" anchor="t"/>
          <a:lstStyle/>
          <a:p>
            <a:pPr indent="0" marL="0">
              <a:buNone/>
            </a:pPr>
            <a:r>
              <a:rPr lang="en-US" sz="1150" dirty="0">
                <a:solidFill>
                  <a:srgbClr val="1B2559"/>
                </a:solidFill>
                <a:latin typeface="Georgia" pitchFamily="34" charset="0"/>
                <a:ea typeface="Georgia" pitchFamily="34" charset="-122"/>
                <a:cs typeface="Georgia" pitchFamily="34" charset="-120"/>
              </a:rPr>
              <a:t>better at driving, and no worse at mathematics. Men, on the other hand, are more insecure in relationships, make worse bosses, and are more likely to panic in stressful conditions.</a:t>
            </a:r>
            <a:endParaRPr lang="en-US" sz="1150" dirty="0"/>
          </a:p>
        </p:txBody>
      </p:sp>
      <p:sp>
        <p:nvSpPr>
          <p:cNvPr id="19" name="pf_227"/>
          <p:cNvSpPr/>
          <p:nvPr/>
        </p:nvSpPr>
        <p:spPr>
          <a:xfrm rot="120000">
            <a:off x="6309360" y="1417320"/>
            <a:ext cx="2560320" cy="1508760"/>
          </a:xfrm>
          <a:prstGeom prst="roundRect">
            <a:avLst>
              <a:gd name="adj" fmla="val 10303"/>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20" name="ph_228" descr="/home/claude/lls-course/v2/cache/3b1_jokes_jpg_594x341_31.png">    </p:cNvPr>
          <p:cNvPicPr>
            <a:picLocks noChangeAspect="1"/>
          </p:cNvPicPr>
          <p:nvPr/>
        </p:nvPicPr>
        <p:blipFill>
          <a:blip r:embed="rId5"/>
          <a:stretch>
            <a:fillRect/>
          </a:stretch>
        </p:blipFill>
        <p:spPr>
          <a:xfrm rot="120000">
            <a:off x="6355080" y="1463040"/>
            <a:ext cx="2468880" cy="1417320"/>
          </a:xfrm>
          <a:prstGeom prst="rect">
            <a:avLst/>
          </a:prstGeom>
        </p:spPr>
      </p:pic>
      <p:sp>
        <p:nvSpPr>
          <p:cNvPr id="21" name="cd_229"/>
          <p:cNvSpPr/>
          <p:nvPr/>
        </p:nvSpPr>
        <p:spPr>
          <a:xfrm>
            <a:off x="6263640" y="3794760"/>
            <a:ext cx="2651760" cy="960120"/>
          </a:xfrm>
          <a:prstGeom prst="roundRect">
            <a:avLst>
              <a:gd name="adj" fmla="val 13333"/>
            </a:avLst>
          </a:prstGeom>
          <a:solidFill>
            <a:srgbClr val="EEE8FB"/>
          </a:solidFill>
          <a:ln w="28575">
            <a:solidFill>
              <a:srgbClr val="CDBFF3"/>
            </a:solidFill>
            <a:prstDash val="solid"/>
          </a:ln>
          <a:effectLst>
            <a:outerShdw sx="100000" sy="100000" kx="0" ky="0" algn="bl" rotWithShape="0" blurRad="88900" dist="31750" dir="5400000">
              <a:srgbClr val="1B2559">
                <a:alpha val="12000"/>
              </a:srgbClr>
            </a:outerShdw>
          </a:effectLst>
        </p:spPr>
      </p:sp>
      <p:sp>
        <p:nvSpPr>
          <p:cNvPr id="22" name="ii_230"/>
          <p:cNvSpPr/>
          <p:nvPr/>
        </p:nvSpPr>
        <p:spPr>
          <a:xfrm>
            <a:off x="6355080" y="386791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23" name="ih_231"/>
          <p:cNvSpPr/>
          <p:nvPr/>
        </p:nvSpPr>
        <p:spPr>
          <a:xfrm>
            <a:off x="6830568" y="3886200"/>
            <a:ext cx="2011680" cy="365760"/>
          </a:xfrm>
          <a:prstGeom prst="rect">
            <a:avLst/>
          </a:prstGeom>
          <a:noFill/>
          <a:ln/>
        </p:spPr>
        <p:txBody>
          <a:bodyPr wrap="square" lIns="0" tIns="0" rIns="0" bIns="0" rtlCol="0" anchor="ct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Remember</a:t>
            </a:r>
            <a:endParaRPr lang="en-US" sz="1200" dirty="0"/>
          </a:p>
        </p:txBody>
      </p:sp>
      <p:sp>
        <p:nvSpPr>
          <p:cNvPr id="24" name="il_232"/>
          <p:cNvSpPr/>
          <p:nvPr/>
        </p:nvSpPr>
        <p:spPr>
          <a:xfrm>
            <a:off x="6830568" y="4288536"/>
            <a:ext cx="1993392" cy="393192"/>
          </a:xfrm>
          <a:prstGeom prst="rect">
            <a:avLst/>
          </a:prstGeom>
          <a:noFill/>
          <a:ln/>
        </p:spPr>
        <p:txBody>
          <a:bodyPr wrap="square" lIns="0" tIns="0" rIns="0" bIns="0" rtlCol="0" anchor="t">
            <a:normAutofit/>
          </a:bodyPr>
          <a:lstStyle/>
          <a:p>
            <a:pPr marL="152400" indent="-152400">
              <a:spcAft>
                <a:spcPts val="200"/>
              </a:spcAft>
              <a:buSzPct val="100000"/>
              <a:buChar char="•"/>
            </a:pPr>
            <a:r>
              <a:rPr lang="en-US" sz="800" dirty="0">
                <a:solidFill>
                  <a:srgbClr val="1B2559"/>
                </a:solidFill>
                <a:latin typeface="Segoe UI Semibold" pitchFamily="34" charset="0"/>
                <a:ea typeface="Segoe UI Semibold" pitchFamily="34" charset="-122"/>
                <a:cs typeface="Segoe UI Semibold" pitchFamily="34" charset="-120"/>
              </a:rPr>
              <a:t>caption = the words under a cartoon</a:t>
            </a:r>
            <a:endParaRPr lang="en-US" sz="800" dirty="0"/>
          </a:p>
          <a:p>
            <a:pPr marL="152400" indent="-152400">
              <a:spcBef>
                <a:spcPts val="600"/>
              </a:spcBef>
              <a:spcAft>
                <a:spcPts val="200"/>
              </a:spcAft>
              <a:buSzPct val="100000"/>
              <a:buChar char="•"/>
            </a:pPr>
            <a:r>
              <a:rPr lang="en-US" sz="800" dirty="0">
                <a:solidFill>
                  <a:srgbClr val="1B2559"/>
                </a:solidFill>
                <a:latin typeface="Segoe UI Semibold" pitchFamily="34" charset="0"/>
                <a:ea typeface="Segoe UI Semibold" pitchFamily="34" charset="-122"/>
                <a:cs typeface="Segoe UI Semibold" pitchFamily="34" charset="-120"/>
              </a:rPr>
              <a:t>judge = giudice</a:t>
            </a:r>
            <a:endParaRPr lang="en-US" sz="8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5"/>
                                        </p:tgtEl>
                                        <p:attrNameLst>
                                          <p:attrName>style.visibility</p:attrName>
                                        </p:attrNameLst>
                                      </p:cBhvr>
                                      <p:to>
                                        <p:strVal val="visible"/>
                                      </p:to>
                                    </p:set>
                                    <p:animEffect transition="in" filter="fade">
                                      <p:cBhvr>
                                        <p:cTn id="7" dur="400"/>
                                        <p:tgtEl>
                                          <p:spTgt spid="1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0.xml><?xml version="1.0" encoding="utf-8"?>
<p:sld xmlns:a="http://schemas.openxmlformats.org/drawingml/2006/main" xmlns:r="http://schemas.openxmlformats.org/officeDocument/2006/relationships" xmlns:p="http://schemas.openxmlformats.org/presentationml/2006/main">
  <p:cSld name="Slide 10">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233"/>
          <p:cNvSpPr/>
          <p:nvPr/>
        </p:nvSpPr>
        <p:spPr>
          <a:xfrm>
            <a:off x="201168" y="164592"/>
            <a:ext cx="841248" cy="841248"/>
          </a:xfrm>
          <a:prstGeom prst="ellipse">
            <a:avLst/>
          </a:prstGeom>
          <a:solidFill>
            <a:srgbClr val="2F8DE4"/>
          </a:solidFill>
          <a:ln w="28575">
            <a:solidFill>
              <a:srgbClr val="A9D3F5"/>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10</a:t>
            </a:r>
            <a:endParaRPr lang="en-US" sz="2200" dirty="0"/>
          </a:p>
        </p:txBody>
      </p:sp>
      <p:pic>
        <p:nvPicPr>
          <p:cNvPr id="4" name="brY_234" descr="/home/claude/lls-course/v2/assets/brush-yellow.png">    </p:cNvPr>
          <p:cNvPicPr>
            <a:picLocks noChangeAspect="1"/>
          </p:cNvPicPr>
          <p:nvPr/>
        </p:nvPicPr>
        <p:blipFill>
          <a:blip r:embed="rId2"/>
          <a:stretch>
            <a:fillRect/>
          </a:stretch>
        </p:blipFill>
        <p:spPr>
          <a:xfrm>
            <a:off x="1097280" y="146304"/>
            <a:ext cx="4977994" cy="621792"/>
          </a:xfrm>
          <a:prstGeom prst="rect">
            <a:avLst/>
          </a:prstGeom>
        </p:spPr>
      </p:pic>
      <p:sp>
        <p:nvSpPr>
          <p:cNvPr id="5" name="title_235"/>
          <p:cNvSpPr/>
          <p:nvPr/>
        </p:nvSpPr>
        <p:spPr>
          <a:xfrm>
            <a:off x="1261872" y="164592"/>
            <a:ext cx="4703674" cy="566928"/>
          </a:xfrm>
          <a:prstGeom prst="rect">
            <a:avLst/>
          </a:prstGeom>
          <a:noFill/>
          <a:ln/>
        </p:spPr>
        <p:txBody>
          <a:bodyPr wrap="square" lIns="0" tIns="0" rIns="0" bIns="0" rtlCol="0" anchor="ctr">
            <a:normAutofit/>
          </a:bodyPr>
          <a:lstStyle/>
          <a:p>
            <a:pPr indent="0" marL="0">
              <a:buNone/>
            </a:pPr>
            <a:r>
              <a:rPr lang="en-US" sz="2400" dirty="0">
                <a:solidFill>
                  <a:srgbClr val="1B2559"/>
                </a:solidFill>
                <a:latin typeface="Arial Rounded MT Bold" pitchFamily="34" charset="0"/>
                <a:ea typeface="Arial Rounded MT Bold" pitchFamily="34" charset="-122"/>
                <a:cs typeface="Arial Rounded MT Bold" pitchFamily="34" charset="-120"/>
              </a:rPr>
              <a:t>What does the research say?</a:t>
            </a:r>
            <a:endParaRPr lang="en-US" sz="2400" dirty="0"/>
          </a:p>
        </p:txBody>
      </p:sp>
      <p:pic>
        <p:nvPicPr>
          <p:cNvPr id="6" name="brP_236" descr="/home/claude/lls-course/v2/assets/brush-pink.png">    </p:cNvPr>
          <p:cNvPicPr>
            <a:picLocks noChangeAspect="1"/>
          </p:cNvPicPr>
          <p:nvPr/>
        </p:nvPicPr>
        <p:blipFill>
          <a:blip r:embed="rId3"/>
          <a:stretch>
            <a:fillRect/>
          </a:stretch>
        </p:blipFill>
        <p:spPr>
          <a:xfrm>
            <a:off x="1207008" y="731520"/>
            <a:ext cx="3685032" cy="402336"/>
          </a:xfrm>
          <a:prstGeom prst="rect">
            <a:avLst/>
          </a:prstGeom>
        </p:spPr>
      </p:pic>
      <p:sp>
        <p:nvSpPr>
          <p:cNvPr id="7" name="ins_237"/>
          <p:cNvSpPr/>
          <p:nvPr/>
        </p:nvSpPr>
        <p:spPr>
          <a:xfrm>
            <a:off x="1353312" y="731520"/>
            <a:ext cx="3429000"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Read again. True or not true? Why?</a:t>
            </a:r>
            <a:endParaRPr lang="en-US" sz="1250" dirty="0"/>
          </a:p>
        </p:txBody>
      </p:sp>
      <p:sp>
        <p:nvSpPr>
          <p:cNvPr id="8" name="insIT_238"/>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Rileggi. Vero o no? Perché?</a:t>
            </a:r>
            <a:endParaRPr lang="en-US" sz="950" dirty="0"/>
          </a:p>
        </p:txBody>
      </p:sp>
      <p:sp>
        <p:nvSpPr>
          <p:cNvPr id="9" name="note_239"/>
          <p:cNvSpPr/>
          <p:nvPr/>
        </p:nvSpPr>
        <p:spPr>
          <a:xfrm rot="180000">
            <a:off x="6382512" y="128016"/>
            <a:ext cx="2029968" cy="1024128"/>
          </a:xfrm>
          <a:prstGeom prst="rect">
            <a:avLst/>
          </a:prstGeom>
          <a:solidFill>
            <a:srgbClr val="FFC2DA"/>
          </a:solidFill>
          <a:ln>
            <a:solidFill>
              <a:srgbClr val="FFC2DA"/>
            </a:solidFill>
          </a:ln>
          <a:effectLst>
            <a:outerShdw sx="100000" sy="100000" kx="0" ky="0" algn="bl" rotWithShape="0" blurRad="88900" dist="31750" dir="5400000">
              <a:srgbClr val="1B2559">
                <a:alpha val="15000"/>
              </a:srgbClr>
            </a:outerShdw>
          </a:effectLst>
        </p:spPr>
        <p:txBody>
          <a:bodyPr wrap="square" lIns="50800" tIns="50800" rIns="50800" bIns="50800" rtlCol="0" anchor="ctr">
            <a:normAutofit/>
          </a:bodyP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 READ</a:t>
            </a:r>
            <a:pPr algn="ctr" indent="0" marL="0">
              <a:buNone/>
            </a:pPr>
            <a:r>
              <a:rPr lang="en-US" sz="1200" dirty="0">
                <a:solidFill>
                  <a:srgbClr val="5B6785"/>
                </a:solidFill>
              </a:rPr>
              <a:t> → </a:t>
            </a:r>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 CHECK</a:t>
            </a:r>
            <a:endParaRPr lang="en-US" sz="1150" dirty="0"/>
          </a:p>
          <a:p>
            <a:pPr algn="ctr" indent="0" marL="0">
              <a:buNone/>
            </a:pPr>
            <a:r>
              <a:rPr lang="en-US" sz="1100" dirty="0">
                <a:solidFill>
                  <a:srgbClr val="1B2559"/>
                </a:solidFill>
                <a:latin typeface="Segoe UI Semibold" pitchFamily="34" charset="0"/>
                <a:ea typeface="Segoe UI Semibold" pitchFamily="34" charset="-122"/>
                <a:cs typeface="Segoe UI Semibold" pitchFamily="34" charset="-120"/>
              </a:rPr>
              <a:t>⏱ 3 min   👥 pairs</a:t>
            </a:r>
            <a:endParaRPr lang="en-US" sz="1150" dirty="0"/>
          </a:p>
          <a:p>
            <a:pPr algn="ctr" indent="0" marL="0">
              <a:buNone/>
            </a:pPr>
            <a:r>
              <a:rPr lang="en-US" sz="900" dirty="0">
                <a:solidFill>
                  <a:srgbClr val="5B6785"/>
                </a:solidFill>
                <a:latin typeface="Segoe UI Semibold" pitchFamily="34" charset="0"/>
                <a:ea typeface="Segoe UI Semibold" pitchFamily="34" charset="-122"/>
                <a:cs typeface="Segoe UI Semibold" pitchFamily="34" charset="-120"/>
              </a:rPr>
              <a:t>🎯 Reading · Controlled practice</a:t>
            </a:r>
            <a:endParaRPr lang="en-US" sz="1150" dirty="0"/>
          </a:p>
        </p:txBody>
      </p:sp>
      <p:pic>
        <p:nvPicPr>
          <p:cNvPr id="10" name="logo_240"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1" name="foot_241"/>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3B-1 · Reading · detail   ·   📖 SB p.30 · 1b (statements 6–10) · 1d</a:t>
            </a:r>
            <a:endParaRPr lang="en-US" sz="800" dirty="0"/>
          </a:p>
        </p:txBody>
      </p:sp>
      <p:sp>
        <p:nvSpPr>
          <p:cNvPr id="12" name="cd_242"/>
          <p:cNvSpPr/>
          <p:nvPr/>
        </p:nvSpPr>
        <p:spPr>
          <a:xfrm>
            <a:off x="320040" y="1417320"/>
            <a:ext cx="2697480" cy="1170432"/>
          </a:xfrm>
          <a:prstGeom prst="roundRect">
            <a:avLst>
              <a:gd name="adj" fmla="val 10938"/>
            </a:avLst>
          </a:prstGeom>
          <a:solidFill>
            <a:srgbClr val="EEE8FB"/>
          </a:solidFill>
          <a:ln w="28575">
            <a:solidFill>
              <a:srgbClr val="CDBFF3"/>
            </a:solidFill>
            <a:prstDash val="solid"/>
          </a:ln>
          <a:effectLst>
            <a:outerShdw sx="100000" sy="100000" kx="0" ky="0" algn="bl" rotWithShape="0" blurRad="88900" dist="31750" dir="5400000">
              <a:srgbClr val="1B2559">
                <a:alpha val="12000"/>
              </a:srgbClr>
            </a:outerShdw>
          </a:effectLst>
        </p:spPr>
      </p:sp>
      <p:sp>
        <p:nvSpPr>
          <p:cNvPr id="13" name="ii_243"/>
          <p:cNvSpPr/>
          <p:nvPr/>
        </p:nvSpPr>
        <p:spPr>
          <a:xfrm>
            <a:off x="411480" y="149047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4" name="ih_244"/>
          <p:cNvSpPr/>
          <p:nvPr/>
        </p:nvSpPr>
        <p:spPr>
          <a:xfrm>
            <a:off x="886968" y="1508760"/>
            <a:ext cx="2057400" cy="365760"/>
          </a:xfrm>
          <a:prstGeom prst="rect">
            <a:avLst/>
          </a:prstGeom>
          <a:noFill/>
          <a:ln/>
        </p:spPr>
        <p:txBody>
          <a:bodyPr wrap="square" lIns="0" tIns="0" rIns="0" bIns="0" rtlCol="0" anchor="ctr"/>
          <a:lstStyle/>
          <a:p>
            <a:pP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Example</a:t>
            </a:r>
            <a:endParaRPr lang="en-US" sz="1300" dirty="0"/>
          </a:p>
        </p:txBody>
      </p:sp>
      <p:sp>
        <p:nvSpPr>
          <p:cNvPr id="15" name="il_245"/>
          <p:cNvSpPr/>
          <p:nvPr/>
        </p:nvSpPr>
        <p:spPr>
          <a:xfrm>
            <a:off x="886968" y="1911096"/>
            <a:ext cx="2039112" cy="603504"/>
          </a:xfrm>
          <a:prstGeom prst="rect">
            <a:avLst/>
          </a:prstGeom>
          <a:noFill/>
          <a:ln/>
        </p:spPr>
        <p:txBody>
          <a:bodyPr wrap="square" lIns="0" tIns="0" rIns="0" bIns="0" rtlCol="0" anchor="t">
            <a:normAutofit/>
          </a:bodyPr>
          <a:lstStyle/>
          <a:p>
            <a:pPr indent="0" marL="0">
              <a:spcAft>
                <a:spcPts val="200"/>
              </a:spcAft>
              <a:buNone/>
            </a:pPr>
            <a:r>
              <a:rPr lang="en-US" sz="850" dirty="0">
                <a:solidFill>
                  <a:srgbClr val="1B2559"/>
                </a:solidFill>
                <a:latin typeface="Segoe UI Semibold" pitchFamily="34" charset="0"/>
                <a:ea typeface="Segoe UI Semibold" pitchFamily="34" charset="-122"/>
                <a:cs typeface="Segoe UI Semibold" pitchFamily="34" charset="-120"/>
              </a:rPr>
              <a:t>Men are better at assembling IKEA furniture. → TRUE: 'a recent academic study found…' (intro)</a:t>
            </a:r>
            <a:endParaRPr lang="en-US" sz="850" dirty="0"/>
          </a:p>
        </p:txBody>
      </p:sp>
      <p:sp>
        <p:nvSpPr>
          <p:cNvPr id="16" name="pf_246"/>
          <p:cNvSpPr/>
          <p:nvPr/>
        </p:nvSpPr>
        <p:spPr>
          <a:xfrm rot="-90000">
            <a:off x="365760" y="2770632"/>
            <a:ext cx="2606040" cy="1892808"/>
          </a:xfrm>
          <a:prstGeom prst="roundRect">
            <a:avLst>
              <a:gd name="adj" fmla="val 8213"/>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17" name="ph_247" descr="/home/claude/lls-course/v2/cache/3b1_boss_jpg_605x433_31.png">    </p:cNvPr>
          <p:cNvPicPr>
            <a:picLocks noChangeAspect="1"/>
          </p:cNvPicPr>
          <p:nvPr/>
        </p:nvPicPr>
        <p:blipFill>
          <a:blip r:embed="rId5"/>
          <a:stretch>
            <a:fillRect/>
          </a:stretch>
        </p:blipFill>
        <p:spPr>
          <a:xfrm rot="-90000">
            <a:off x="411480" y="2816352"/>
            <a:ext cx="2514600" cy="1801368"/>
          </a:xfrm>
          <a:prstGeom prst="rect">
            <a:avLst/>
          </a:prstGeom>
        </p:spPr>
      </p:pic>
      <p:sp>
        <p:nvSpPr>
          <p:cNvPr id="18" name="bd_248"/>
          <p:cNvSpPr/>
          <p:nvPr/>
        </p:nvSpPr>
        <p:spPr>
          <a:xfrm>
            <a:off x="3246120" y="1474143"/>
            <a:ext cx="310896" cy="310896"/>
          </a:xfrm>
          <a:prstGeom prst="ellipse">
            <a:avLst/>
          </a:prstGeom>
          <a:solidFill>
            <a:srgbClr val="E8508F"/>
          </a:solidFill>
          <a:ln w="28575">
            <a:solidFill>
              <a:srgbClr val="F7A6C4"/>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1</a:t>
            </a:r>
            <a:endParaRPr lang="en-US" sz="1000" dirty="0"/>
          </a:p>
        </p:txBody>
      </p:sp>
      <p:sp>
        <p:nvSpPr>
          <p:cNvPr id="19" name="q_249"/>
          <p:cNvSpPr/>
          <p:nvPr/>
        </p:nvSpPr>
        <p:spPr>
          <a:xfrm>
            <a:off x="3630168" y="1417320"/>
            <a:ext cx="2103120" cy="424543"/>
          </a:xfrm>
          <a:prstGeom prst="roundRect">
            <a:avLst>
              <a:gd name="adj" fmla="val 21538"/>
            </a:avLst>
          </a:prstGeom>
          <a:solidFill>
            <a:srgbClr val="FFFFFF"/>
          </a:solidFill>
          <a:ln w="28575">
            <a:solidFill>
              <a:srgbClr val="F7A6C4"/>
            </a:solidFill>
          </a:ln>
        </p:spPr>
        <p:txBody>
          <a:bodyPr wrap="square" lIns="101600" tIns="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Men make better bosses.</a:t>
            </a:r>
            <a:endParaRPr lang="en-US" sz="1150" dirty="0"/>
          </a:p>
        </p:txBody>
      </p:sp>
      <p:sp>
        <p:nvSpPr>
          <p:cNvPr id="20" name="R1_chip250"/>
          <p:cNvSpPr/>
          <p:nvPr/>
        </p:nvSpPr>
        <p:spPr>
          <a:xfrm>
            <a:off x="5806440" y="1417320"/>
            <a:ext cx="3063240" cy="424543"/>
          </a:xfrm>
          <a:prstGeom prst="roundRect">
            <a:avLst>
              <a:gd name="adj" fmla="val 21538"/>
            </a:avLst>
          </a:prstGeom>
          <a:solidFill>
            <a:srgbClr val="E3F7EA"/>
          </a:solidFill>
          <a:ln w="28575">
            <a:solidFill>
              <a:srgbClr val="A8E5BE"/>
            </a:solidFill>
          </a:ln>
        </p:spPr>
        <p:txBody>
          <a:bodyPr wrap="square" lIns="101600" tIns="0" rIns="101600" bIns="0" rtlCol="0" anchor="ctr">
            <a:normAutofit/>
          </a:bodyPr>
          <a:lstStyle/>
          <a:p>
            <a:pPr algn="l" indent="0" marL="0">
              <a:buNone/>
            </a:pPr>
            <a:r>
              <a:rPr lang="en-US" sz="1050" b="1" dirty="0">
                <a:solidFill>
                  <a:srgbClr val="1B2559"/>
                </a:solidFill>
                <a:latin typeface="Segoe UI Semibold" pitchFamily="34" charset="0"/>
                <a:ea typeface="Segoe UI Semibold" pitchFamily="34" charset="-122"/>
                <a:cs typeface="Segoe UI Semibold" pitchFamily="34" charset="-120"/>
              </a:rPr>
              <a:t>✗ NOT TRUE – men make worse bosses</a:t>
            </a:r>
            <a:endParaRPr lang="en-US" sz="1050" dirty="0"/>
          </a:p>
        </p:txBody>
      </p:sp>
      <p:sp>
        <p:nvSpPr>
          <p:cNvPr id="21" name="bd_251"/>
          <p:cNvSpPr/>
          <p:nvPr/>
        </p:nvSpPr>
        <p:spPr>
          <a:xfrm>
            <a:off x="3246120" y="1944406"/>
            <a:ext cx="310896" cy="310896"/>
          </a:xfrm>
          <a:prstGeom prst="ellipse">
            <a:avLst/>
          </a:prstGeom>
          <a:solidFill>
            <a:srgbClr val="2F8DE4"/>
          </a:solidFill>
          <a:ln w="28575">
            <a:solidFill>
              <a:srgbClr val="A9D3F5"/>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2</a:t>
            </a:r>
            <a:endParaRPr lang="en-US" sz="1000" dirty="0"/>
          </a:p>
        </p:txBody>
      </p:sp>
      <p:sp>
        <p:nvSpPr>
          <p:cNvPr id="22" name="q_252"/>
          <p:cNvSpPr/>
          <p:nvPr/>
        </p:nvSpPr>
        <p:spPr>
          <a:xfrm>
            <a:off x="3630168" y="1887583"/>
            <a:ext cx="2103120" cy="424543"/>
          </a:xfrm>
          <a:prstGeom prst="roundRect">
            <a:avLst>
              <a:gd name="adj" fmla="val 21538"/>
            </a:avLst>
          </a:prstGeom>
          <a:solidFill>
            <a:srgbClr val="FFFFFF"/>
          </a:solidFill>
          <a:ln w="28575">
            <a:solidFill>
              <a:srgbClr val="A9D3F5"/>
            </a:solidFill>
          </a:ln>
        </p:spPr>
        <p:txBody>
          <a:bodyPr wrap="square" lIns="101600" tIns="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Women are worse at maths.</a:t>
            </a:r>
            <a:endParaRPr lang="en-US" sz="1150" dirty="0"/>
          </a:p>
        </p:txBody>
      </p:sp>
      <p:sp>
        <p:nvSpPr>
          <p:cNvPr id="23" name="R2_chip253"/>
          <p:cNvSpPr/>
          <p:nvPr/>
        </p:nvSpPr>
        <p:spPr>
          <a:xfrm>
            <a:off x="5806440" y="1887583"/>
            <a:ext cx="3063240" cy="424543"/>
          </a:xfrm>
          <a:prstGeom prst="roundRect">
            <a:avLst>
              <a:gd name="adj" fmla="val 21538"/>
            </a:avLst>
          </a:prstGeom>
          <a:solidFill>
            <a:srgbClr val="E3F7EA"/>
          </a:solidFill>
          <a:ln w="28575">
            <a:solidFill>
              <a:srgbClr val="A8E5BE"/>
            </a:solidFill>
          </a:ln>
        </p:spPr>
        <p:txBody>
          <a:bodyPr wrap="square" lIns="101600" tIns="0" rIns="101600" bIns="0" rtlCol="0" anchor="ctr">
            <a:normAutofit/>
          </a:bodyPr>
          <a:lstStyle/>
          <a:p>
            <a:pPr algn="l" indent="0" marL="0">
              <a:buNone/>
            </a:pPr>
            <a:r>
              <a:rPr lang="en-US" sz="1050" b="1" dirty="0">
                <a:solidFill>
                  <a:srgbClr val="1B2559"/>
                </a:solidFill>
                <a:latin typeface="Segoe UI Semibold" pitchFamily="34" charset="0"/>
                <a:ea typeface="Segoe UI Semibold" pitchFamily="34" charset="-122"/>
                <a:cs typeface="Segoe UI Semibold" pitchFamily="34" charset="-120"/>
              </a:rPr>
              <a:t>✗ NOT TRUE – no worse at mathematics</a:t>
            </a:r>
            <a:endParaRPr lang="en-US" sz="1050" dirty="0"/>
          </a:p>
        </p:txBody>
      </p:sp>
      <p:sp>
        <p:nvSpPr>
          <p:cNvPr id="24" name="bd_254"/>
          <p:cNvSpPr/>
          <p:nvPr/>
        </p:nvSpPr>
        <p:spPr>
          <a:xfrm>
            <a:off x="3246120" y="2414669"/>
            <a:ext cx="310896" cy="310896"/>
          </a:xfrm>
          <a:prstGeom prst="ellipse">
            <a:avLst/>
          </a:prstGeom>
          <a:solidFill>
            <a:srgbClr val="2EB872"/>
          </a:solidFill>
          <a:ln w="28575">
            <a:solidFill>
              <a:srgbClr val="A8E5BE"/>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3</a:t>
            </a:r>
            <a:endParaRPr lang="en-US" sz="1000" dirty="0"/>
          </a:p>
        </p:txBody>
      </p:sp>
      <p:sp>
        <p:nvSpPr>
          <p:cNvPr id="25" name="q_255"/>
          <p:cNvSpPr/>
          <p:nvPr/>
        </p:nvSpPr>
        <p:spPr>
          <a:xfrm>
            <a:off x="3630168" y="2357846"/>
            <a:ext cx="2103120" cy="424543"/>
          </a:xfrm>
          <a:prstGeom prst="roundRect">
            <a:avLst>
              <a:gd name="adj" fmla="val 21538"/>
            </a:avLst>
          </a:prstGeom>
          <a:solidFill>
            <a:srgbClr val="FFFFFF"/>
          </a:solidFill>
          <a:ln w="28575">
            <a:solidFill>
              <a:srgbClr val="A8E5BE"/>
            </a:solidFill>
          </a:ln>
        </p:spPr>
        <p:txBody>
          <a:bodyPr wrap="square" lIns="101600" tIns="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Men are more competitive.</a:t>
            </a:r>
            <a:endParaRPr lang="en-US" sz="1150" dirty="0"/>
          </a:p>
        </p:txBody>
      </p:sp>
      <p:sp>
        <p:nvSpPr>
          <p:cNvPr id="26" name="R3_chip256"/>
          <p:cNvSpPr/>
          <p:nvPr/>
        </p:nvSpPr>
        <p:spPr>
          <a:xfrm>
            <a:off x="5806440" y="2357846"/>
            <a:ext cx="3063240" cy="424543"/>
          </a:xfrm>
          <a:prstGeom prst="roundRect">
            <a:avLst>
              <a:gd name="adj" fmla="val 21538"/>
            </a:avLst>
          </a:prstGeom>
          <a:solidFill>
            <a:srgbClr val="E3F7EA"/>
          </a:solidFill>
          <a:ln w="28575">
            <a:solidFill>
              <a:srgbClr val="A8E5BE"/>
            </a:solidFill>
          </a:ln>
        </p:spPr>
        <p:txBody>
          <a:bodyPr wrap="square" lIns="101600" tIns="0" rIns="101600" bIns="0" rtlCol="0" anchor="ctr">
            <a:normAutofit/>
          </a:bodyPr>
          <a:lstStyle/>
          <a:p>
            <a:pPr algn="l" indent="0" marL="0">
              <a:buNone/>
            </a:pPr>
            <a:r>
              <a:rPr lang="en-US" sz="1050" b="1" dirty="0">
                <a:solidFill>
                  <a:srgbClr val="1B2559"/>
                </a:solidFill>
                <a:latin typeface="Segoe UI Semibold" pitchFamily="34" charset="0"/>
                <a:ea typeface="Segoe UI Semibold" pitchFamily="34" charset="-122"/>
                <a:cs typeface="Segoe UI Semibold" pitchFamily="34" charset="-120"/>
              </a:rPr>
              <a:t>✗ NOT TRUE – women are just as competitive</a:t>
            </a:r>
            <a:endParaRPr lang="en-US" sz="1050" dirty="0"/>
          </a:p>
        </p:txBody>
      </p:sp>
      <p:sp>
        <p:nvSpPr>
          <p:cNvPr id="27" name="bd_257"/>
          <p:cNvSpPr/>
          <p:nvPr/>
        </p:nvSpPr>
        <p:spPr>
          <a:xfrm>
            <a:off x="3246120" y="2884932"/>
            <a:ext cx="310896" cy="310896"/>
          </a:xfrm>
          <a:prstGeom prst="ellipse">
            <a:avLst/>
          </a:prstGeom>
          <a:solidFill>
            <a:srgbClr val="F2B705"/>
          </a:solidFill>
          <a:ln w="28575">
            <a:solidFill>
              <a:srgbClr val="FFE07A"/>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4</a:t>
            </a:r>
            <a:endParaRPr lang="en-US" sz="1000" dirty="0"/>
          </a:p>
        </p:txBody>
      </p:sp>
      <p:sp>
        <p:nvSpPr>
          <p:cNvPr id="28" name="q_258"/>
          <p:cNvSpPr/>
          <p:nvPr/>
        </p:nvSpPr>
        <p:spPr>
          <a:xfrm>
            <a:off x="3630168" y="2828109"/>
            <a:ext cx="2103120" cy="424543"/>
          </a:xfrm>
          <a:prstGeom prst="roundRect">
            <a:avLst>
              <a:gd name="adj" fmla="val 21538"/>
            </a:avLst>
          </a:prstGeom>
          <a:solidFill>
            <a:srgbClr val="FFFFFF"/>
          </a:solidFill>
          <a:ln w="28575">
            <a:solidFill>
              <a:srgbClr val="FFE07A"/>
            </a:solidFill>
          </a:ln>
        </p:spPr>
        <p:txBody>
          <a:bodyPr wrap="square" lIns="101600" tIns="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Women panic more in stressful situations.</a:t>
            </a:r>
            <a:endParaRPr lang="en-US" sz="1150" dirty="0"/>
          </a:p>
        </p:txBody>
      </p:sp>
      <p:sp>
        <p:nvSpPr>
          <p:cNvPr id="29" name="R4_chip259"/>
          <p:cNvSpPr/>
          <p:nvPr/>
        </p:nvSpPr>
        <p:spPr>
          <a:xfrm>
            <a:off x="5806440" y="2828109"/>
            <a:ext cx="3063240" cy="424543"/>
          </a:xfrm>
          <a:prstGeom prst="roundRect">
            <a:avLst>
              <a:gd name="adj" fmla="val 21538"/>
            </a:avLst>
          </a:prstGeom>
          <a:solidFill>
            <a:srgbClr val="E3F7EA"/>
          </a:solidFill>
          <a:ln w="28575">
            <a:solidFill>
              <a:srgbClr val="A8E5BE"/>
            </a:solidFill>
          </a:ln>
        </p:spPr>
        <p:txBody>
          <a:bodyPr wrap="square" lIns="101600" tIns="0" rIns="101600" bIns="0" rtlCol="0" anchor="ctr">
            <a:normAutofit/>
          </a:bodyPr>
          <a:lstStyle/>
          <a:p>
            <a:pPr algn="l" indent="0" marL="0">
              <a:buNone/>
            </a:pPr>
            <a:r>
              <a:rPr lang="en-US" sz="1050" b="1" dirty="0">
                <a:solidFill>
                  <a:srgbClr val="1B2559"/>
                </a:solidFill>
                <a:latin typeface="Segoe UI Semibold" pitchFamily="34" charset="0"/>
                <a:ea typeface="Segoe UI Semibold" pitchFamily="34" charset="-122"/>
                <a:cs typeface="Segoe UI Semibold" pitchFamily="34" charset="-120"/>
              </a:rPr>
              <a:t>✗ NOT TRUE – men are more likely to panic</a:t>
            </a:r>
            <a:endParaRPr lang="en-US" sz="1050" dirty="0"/>
          </a:p>
        </p:txBody>
      </p:sp>
      <p:sp>
        <p:nvSpPr>
          <p:cNvPr id="30" name="bd_260"/>
          <p:cNvSpPr/>
          <p:nvPr/>
        </p:nvSpPr>
        <p:spPr>
          <a:xfrm>
            <a:off x="3246120" y="3355195"/>
            <a:ext cx="310896" cy="310896"/>
          </a:xfrm>
          <a:prstGeom prst="ellipse">
            <a:avLst/>
          </a:prstGeom>
          <a:solidFill>
            <a:srgbClr val="E8508F"/>
          </a:solidFill>
          <a:ln w="28575">
            <a:solidFill>
              <a:srgbClr val="F7A6C4"/>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5</a:t>
            </a:r>
            <a:endParaRPr lang="en-US" sz="1000" dirty="0"/>
          </a:p>
        </p:txBody>
      </p:sp>
      <p:sp>
        <p:nvSpPr>
          <p:cNvPr id="31" name="q_261"/>
          <p:cNvSpPr/>
          <p:nvPr/>
        </p:nvSpPr>
        <p:spPr>
          <a:xfrm>
            <a:off x="3630168" y="3298371"/>
            <a:ext cx="2103120" cy="424543"/>
          </a:xfrm>
          <a:prstGeom prst="roundRect">
            <a:avLst>
              <a:gd name="adj" fmla="val 21538"/>
            </a:avLst>
          </a:prstGeom>
          <a:solidFill>
            <a:srgbClr val="FFFFFF"/>
          </a:solidFill>
          <a:ln w="28575">
            <a:solidFill>
              <a:srgbClr val="F7A6C4"/>
            </a:solidFill>
          </a:ln>
        </p:spPr>
        <p:txBody>
          <a:bodyPr wrap="square" lIns="101600" tIns="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Which research used animals?</a:t>
            </a:r>
            <a:endParaRPr lang="en-US" sz="1150" dirty="0"/>
          </a:p>
        </p:txBody>
      </p:sp>
      <p:sp>
        <p:nvSpPr>
          <p:cNvPr id="32" name="R5_chip262"/>
          <p:cNvSpPr/>
          <p:nvPr/>
        </p:nvSpPr>
        <p:spPr>
          <a:xfrm>
            <a:off x="5806440" y="3298371"/>
            <a:ext cx="3063240" cy="424543"/>
          </a:xfrm>
          <a:prstGeom prst="roundRect">
            <a:avLst>
              <a:gd name="adj" fmla="val 21538"/>
            </a:avLst>
          </a:prstGeom>
          <a:solidFill>
            <a:srgbClr val="E3F7EA"/>
          </a:solidFill>
          <a:ln w="28575">
            <a:solidFill>
              <a:srgbClr val="A8E5BE"/>
            </a:solidFill>
          </a:ln>
        </p:spPr>
        <p:txBody>
          <a:bodyPr wrap="square" lIns="101600" tIns="0" rIns="101600" bIns="0" rtlCol="0" anchor="ctr">
            <a:normAutofit/>
          </a:bodyPr>
          <a:lstStyle/>
          <a:p>
            <a:pPr algn="l" indent="0" marL="0">
              <a:buNone/>
            </a:pPr>
            <a:r>
              <a:rPr lang="en-US" sz="1050" b="1" dirty="0">
                <a:solidFill>
                  <a:srgbClr val="1B2559"/>
                </a:solidFill>
                <a:latin typeface="Segoe UI Semibold" pitchFamily="34" charset="0"/>
                <a:ea typeface="Segoe UI Semibold" pitchFamily="34" charset="-122"/>
                <a:cs typeface="Segoe UI Semibold" pitchFamily="34" charset="-120"/>
              </a:rPr>
              <a:t>paragraph 2 – baby rats</a:t>
            </a:r>
            <a:endParaRPr lang="en-US" sz="1050" dirty="0"/>
          </a:p>
        </p:txBody>
      </p:sp>
      <p:sp>
        <p:nvSpPr>
          <p:cNvPr id="33" name="bd_263"/>
          <p:cNvSpPr/>
          <p:nvPr/>
        </p:nvSpPr>
        <p:spPr>
          <a:xfrm>
            <a:off x="3246120" y="3825458"/>
            <a:ext cx="310896" cy="310896"/>
          </a:xfrm>
          <a:prstGeom prst="ellipse">
            <a:avLst/>
          </a:prstGeom>
          <a:solidFill>
            <a:srgbClr val="2F8DE4"/>
          </a:solidFill>
          <a:ln w="28575">
            <a:solidFill>
              <a:srgbClr val="A9D3F5"/>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6</a:t>
            </a:r>
            <a:endParaRPr lang="en-US" sz="1000" dirty="0"/>
          </a:p>
        </p:txBody>
      </p:sp>
      <p:sp>
        <p:nvSpPr>
          <p:cNvPr id="34" name="q_264"/>
          <p:cNvSpPr/>
          <p:nvPr/>
        </p:nvSpPr>
        <p:spPr>
          <a:xfrm>
            <a:off x="3630168" y="3768634"/>
            <a:ext cx="2103120" cy="424543"/>
          </a:xfrm>
          <a:prstGeom prst="roundRect">
            <a:avLst>
              <a:gd name="adj" fmla="val 21538"/>
            </a:avLst>
          </a:prstGeom>
          <a:solidFill>
            <a:srgbClr val="FFFFFF"/>
          </a:solidFill>
          <a:ln w="28575">
            <a:solidFill>
              <a:srgbClr val="A9D3F5"/>
            </a:solidFill>
          </a:ln>
        </p:spPr>
        <p:txBody>
          <a:bodyPr wrap="square" lIns="101600" tIns="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Which research used a list of questions?</a:t>
            </a:r>
            <a:endParaRPr lang="en-US" sz="1150" dirty="0"/>
          </a:p>
        </p:txBody>
      </p:sp>
      <p:sp>
        <p:nvSpPr>
          <p:cNvPr id="35" name="R6_chip265"/>
          <p:cNvSpPr/>
          <p:nvPr/>
        </p:nvSpPr>
        <p:spPr>
          <a:xfrm>
            <a:off x="5806440" y="3768634"/>
            <a:ext cx="3063240" cy="424543"/>
          </a:xfrm>
          <a:prstGeom prst="roundRect">
            <a:avLst>
              <a:gd name="adj" fmla="val 21538"/>
            </a:avLst>
          </a:prstGeom>
          <a:solidFill>
            <a:srgbClr val="E3F7EA"/>
          </a:solidFill>
          <a:ln w="28575">
            <a:solidFill>
              <a:srgbClr val="A8E5BE"/>
            </a:solidFill>
          </a:ln>
        </p:spPr>
        <p:txBody>
          <a:bodyPr wrap="square" lIns="101600" tIns="0" rIns="101600" bIns="0" rtlCol="0" anchor="ctr">
            <a:normAutofit/>
          </a:bodyPr>
          <a:lstStyle/>
          <a:p>
            <a:pPr algn="l" indent="0" marL="0">
              <a:buNone/>
            </a:pPr>
            <a:r>
              <a:rPr lang="en-US" sz="1050" b="1" dirty="0">
                <a:solidFill>
                  <a:srgbClr val="1B2559"/>
                </a:solidFill>
                <a:latin typeface="Segoe UI Semibold" pitchFamily="34" charset="0"/>
                <a:ea typeface="Segoe UI Semibold" pitchFamily="34" charset="-122"/>
                <a:cs typeface="Segoe UI Semibold" pitchFamily="34" charset="-120"/>
              </a:rPr>
              <a:t>paragraph 3 – 20,000 men and women</a:t>
            </a:r>
            <a:endParaRPr lang="en-US" sz="1050" dirty="0"/>
          </a:p>
        </p:txBody>
      </p:sp>
      <p:sp>
        <p:nvSpPr>
          <p:cNvPr id="36" name="bd_266"/>
          <p:cNvSpPr/>
          <p:nvPr/>
        </p:nvSpPr>
        <p:spPr>
          <a:xfrm>
            <a:off x="3246120" y="4295721"/>
            <a:ext cx="310896" cy="310896"/>
          </a:xfrm>
          <a:prstGeom prst="ellipse">
            <a:avLst/>
          </a:prstGeom>
          <a:solidFill>
            <a:srgbClr val="2EB872"/>
          </a:solidFill>
          <a:ln w="28575">
            <a:solidFill>
              <a:srgbClr val="A8E5BE"/>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7</a:t>
            </a:r>
            <a:endParaRPr lang="en-US" sz="1000" dirty="0"/>
          </a:p>
        </p:txBody>
      </p:sp>
      <p:sp>
        <p:nvSpPr>
          <p:cNvPr id="37" name="q_267"/>
          <p:cNvSpPr/>
          <p:nvPr/>
        </p:nvSpPr>
        <p:spPr>
          <a:xfrm>
            <a:off x="3630168" y="4238897"/>
            <a:ext cx="2103120" cy="424543"/>
          </a:xfrm>
          <a:prstGeom prst="roundRect">
            <a:avLst>
              <a:gd name="adj" fmla="val 21538"/>
            </a:avLst>
          </a:prstGeom>
          <a:solidFill>
            <a:srgbClr val="FFFFFF"/>
          </a:solidFill>
          <a:ln w="28575">
            <a:solidFill>
              <a:srgbClr val="A8E5BE"/>
            </a:solidFill>
          </a:ln>
        </p:spPr>
        <p:txBody>
          <a:bodyPr wrap="square" lIns="101600" tIns="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Which research used practical experiments?</a:t>
            </a:r>
            <a:endParaRPr lang="en-US" sz="1150" dirty="0"/>
          </a:p>
        </p:txBody>
      </p:sp>
      <p:sp>
        <p:nvSpPr>
          <p:cNvPr id="38" name="R7_chip268"/>
          <p:cNvSpPr/>
          <p:nvPr/>
        </p:nvSpPr>
        <p:spPr>
          <a:xfrm>
            <a:off x="5806440" y="4238897"/>
            <a:ext cx="3063240" cy="424543"/>
          </a:xfrm>
          <a:prstGeom prst="roundRect">
            <a:avLst>
              <a:gd name="adj" fmla="val 21538"/>
            </a:avLst>
          </a:prstGeom>
          <a:solidFill>
            <a:srgbClr val="E3F7EA"/>
          </a:solidFill>
          <a:ln w="28575">
            <a:solidFill>
              <a:srgbClr val="A8E5BE"/>
            </a:solidFill>
          </a:ln>
        </p:spPr>
        <p:txBody>
          <a:bodyPr wrap="square" lIns="101600" tIns="0" rIns="101600" bIns="0" rtlCol="0" anchor="ctr">
            <a:normAutofit/>
          </a:bodyPr>
          <a:lstStyle/>
          <a:p>
            <a:pPr algn="l" indent="0" marL="0">
              <a:buNone/>
            </a:pPr>
            <a:r>
              <a:rPr lang="en-US" sz="1050" b="1" dirty="0">
                <a:solidFill>
                  <a:srgbClr val="1B2559"/>
                </a:solidFill>
                <a:latin typeface="Segoe UI Semibold" pitchFamily="34" charset="0"/>
                <a:ea typeface="Segoe UI Semibold" pitchFamily="34" charset="-122"/>
                <a:cs typeface="Segoe UI Semibold" pitchFamily="34" charset="-120"/>
              </a:rPr>
              <a:t>paragraphs 1, 4, 5 – maze, 3 tasks, cartoons</a:t>
            </a:r>
            <a:endParaRPr lang="en-US" sz="105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0"/>
                                        </p:tgtEl>
                                        <p:attrNameLst>
                                          <p:attrName>style.visibility</p:attrName>
                                        </p:attrNameLst>
                                      </p:cBhvr>
                                      <p:to>
                                        <p:strVal val="visible"/>
                                      </p:to>
                                    </p:set>
                                    <p:animEffect transition="in" filter="fade">
                                      <p:cBhvr>
                                        <p:cTn id="7" dur="400"/>
                                        <p:tgtEl>
                                          <p:spTgt spid="20"/>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3"/>
                                        </p:tgtEl>
                                        <p:attrNameLst>
                                          <p:attrName>style.visibility</p:attrName>
                                        </p:attrNameLst>
                                      </p:cBhvr>
                                      <p:to>
                                        <p:strVal val="visible"/>
                                      </p:to>
                                    </p:set>
                                    <p:animEffect transition="in" filter="fade">
                                      <p:cBhvr>
                                        <p:cTn id="12" dur="400"/>
                                        <p:tgtEl>
                                          <p:spTgt spid="23"/>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6"/>
                                        </p:tgtEl>
                                        <p:attrNameLst>
                                          <p:attrName>style.visibility</p:attrName>
                                        </p:attrNameLst>
                                      </p:cBhvr>
                                      <p:to>
                                        <p:strVal val="visible"/>
                                      </p:to>
                                    </p:set>
                                    <p:animEffect transition="in" filter="fade">
                                      <p:cBhvr>
                                        <p:cTn id="17" dur="400"/>
                                        <p:tgtEl>
                                          <p:spTgt spid="26"/>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29"/>
                                        </p:tgtEl>
                                        <p:attrNameLst>
                                          <p:attrName>style.visibility</p:attrName>
                                        </p:attrNameLst>
                                      </p:cBhvr>
                                      <p:to>
                                        <p:strVal val="visible"/>
                                      </p:to>
                                    </p:set>
                                    <p:animEffect transition="in" filter="fade">
                                      <p:cBhvr>
                                        <p:cTn id="22" dur="400"/>
                                        <p:tgtEl>
                                          <p:spTgt spid="29"/>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32"/>
                                        </p:tgtEl>
                                        <p:attrNameLst>
                                          <p:attrName>style.visibility</p:attrName>
                                        </p:attrNameLst>
                                      </p:cBhvr>
                                      <p:to>
                                        <p:strVal val="visible"/>
                                      </p:to>
                                    </p:set>
                                    <p:animEffect transition="in" filter="fade">
                                      <p:cBhvr>
                                        <p:cTn id="27" dur="400"/>
                                        <p:tgtEl>
                                          <p:spTgt spid="32"/>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35"/>
                                        </p:tgtEl>
                                        <p:attrNameLst>
                                          <p:attrName>style.visibility</p:attrName>
                                        </p:attrNameLst>
                                      </p:cBhvr>
                                      <p:to>
                                        <p:strVal val="visible"/>
                                      </p:to>
                                    </p:set>
                                    <p:animEffect transition="in" filter="fade">
                                      <p:cBhvr>
                                        <p:cTn id="32" dur="400"/>
                                        <p:tgtEl>
                                          <p:spTgt spid="35"/>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nodeType="clickEffect">
                                  <p:stCondLst>
                                    <p:cond delay="0"/>
                                  </p:stCondLst>
                                  <p:childTnLst>
                                    <p:set>
                                      <p:cBhvr>
                                        <p:cTn id="36" dur="1" fill="hold">
                                          <p:stCondLst>
                                            <p:cond delay="0"/>
                                          </p:stCondLst>
                                        </p:cTn>
                                        <p:tgtEl>
                                          <p:spTgt spid="38"/>
                                        </p:tgtEl>
                                        <p:attrNameLst>
                                          <p:attrName>style.visibility</p:attrName>
                                        </p:attrNameLst>
                                      </p:cBhvr>
                                      <p:to>
                                        <p:strVal val="visible"/>
                                      </p:to>
                                    </p:set>
                                    <p:animEffect transition="in" filter="fade">
                                      <p:cBhvr>
                                        <p:cTn id="37" dur="400"/>
                                        <p:tgtEl>
                                          <p:spTgt spid="3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1.xml><?xml version="1.0" encoding="utf-8"?>
<p:sld xmlns:a="http://schemas.openxmlformats.org/drawingml/2006/main" xmlns:r="http://schemas.openxmlformats.org/officeDocument/2006/relationships" xmlns:p="http://schemas.openxmlformats.org/presentationml/2006/main">
  <p:cSld name="Slide 11">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269"/>
          <p:cNvSpPr/>
          <p:nvPr/>
        </p:nvSpPr>
        <p:spPr>
          <a:xfrm>
            <a:off x="201168" y="164592"/>
            <a:ext cx="841248" cy="841248"/>
          </a:xfrm>
          <a:prstGeom prst="ellipse">
            <a:avLst/>
          </a:prstGeom>
          <a:solidFill>
            <a:srgbClr val="2EB872"/>
          </a:solidFill>
          <a:ln w="28575">
            <a:solidFill>
              <a:srgbClr val="A8E5BE"/>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11</a:t>
            </a:r>
            <a:endParaRPr lang="en-US" sz="2200" dirty="0"/>
          </a:p>
        </p:txBody>
      </p:sp>
      <p:pic>
        <p:nvPicPr>
          <p:cNvPr id="4" name="brY_270" descr="/home/claude/lls-course/v2/assets/brush-yellow.png">    </p:cNvPr>
          <p:cNvPicPr>
            <a:picLocks noChangeAspect="1"/>
          </p:cNvPicPr>
          <p:nvPr/>
        </p:nvPicPr>
        <p:blipFill>
          <a:blip r:embed="rId2"/>
          <a:stretch>
            <a:fillRect/>
          </a:stretch>
        </p:blipFill>
        <p:spPr>
          <a:xfrm>
            <a:off x="1097280" y="146304"/>
            <a:ext cx="2933395" cy="621792"/>
          </a:xfrm>
          <a:prstGeom prst="rect">
            <a:avLst/>
          </a:prstGeom>
        </p:spPr>
      </p:pic>
      <p:sp>
        <p:nvSpPr>
          <p:cNvPr id="5" name="title_271"/>
          <p:cNvSpPr/>
          <p:nvPr/>
        </p:nvSpPr>
        <p:spPr>
          <a:xfrm>
            <a:off x="1261872" y="164592"/>
            <a:ext cx="2659075"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Find the word!</a:t>
            </a:r>
            <a:endParaRPr lang="en-US" sz="2500" dirty="0"/>
          </a:p>
        </p:txBody>
      </p:sp>
      <p:pic>
        <p:nvPicPr>
          <p:cNvPr id="6" name="brP_272" descr="/home/claude/lls-course/v2/assets/brush-pink.png">    </p:cNvPr>
          <p:cNvPicPr>
            <a:picLocks noChangeAspect="1"/>
          </p:cNvPicPr>
          <p:nvPr/>
        </p:nvPicPr>
        <p:blipFill>
          <a:blip r:embed="rId3"/>
          <a:stretch>
            <a:fillRect/>
          </a:stretch>
        </p:blipFill>
        <p:spPr>
          <a:xfrm>
            <a:off x="1207008" y="731520"/>
            <a:ext cx="3945636" cy="402336"/>
          </a:xfrm>
          <a:prstGeom prst="rect">
            <a:avLst/>
          </a:prstGeom>
        </p:spPr>
      </p:pic>
      <p:sp>
        <p:nvSpPr>
          <p:cNvPr id="7" name="ins_273"/>
          <p:cNvSpPr/>
          <p:nvPr/>
        </p:nvSpPr>
        <p:spPr>
          <a:xfrm>
            <a:off x="1353312" y="731520"/>
            <a:ext cx="3689604"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Scan race! Find the word in the text.</a:t>
            </a:r>
            <a:endParaRPr lang="en-US" sz="1250" dirty="0"/>
          </a:p>
        </p:txBody>
      </p:sp>
      <p:sp>
        <p:nvSpPr>
          <p:cNvPr id="8" name="insIT_274"/>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Gara! Trova la parola nel testo.</a:t>
            </a:r>
            <a:endParaRPr lang="en-US" sz="950" dirty="0"/>
          </a:p>
        </p:txBody>
      </p:sp>
      <p:sp>
        <p:nvSpPr>
          <p:cNvPr id="9" name="note_275"/>
          <p:cNvSpPr/>
          <p:nvPr/>
        </p:nvSpPr>
        <p:spPr>
          <a:xfrm rot="180000">
            <a:off x="6382512" y="128016"/>
            <a:ext cx="2029968" cy="1024128"/>
          </a:xfrm>
          <a:prstGeom prst="rect">
            <a:avLst/>
          </a:prstGeom>
          <a:solidFill>
            <a:srgbClr val="FFC2DA"/>
          </a:solidFill>
          <a:ln>
            <a:solidFill>
              <a:srgbClr val="FFC2DA"/>
            </a:solidFill>
          </a:ln>
          <a:effectLst>
            <a:outerShdw sx="100000" sy="100000" kx="0" ky="0" algn="bl" rotWithShape="0" blurRad="88900" dist="31750" dir="5400000">
              <a:srgbClr val="1B2559">
                <a:alpha val="15000"/>
              </a:srgbClr>
            </a:outerShdw>
          </a:effectLst>
        </p:spPr>
        <p:txBody>
          <a:bodyPr wrap="square" lIns="50800" tIns="50800" rIns="50800" bIns="50800" rtlCol="0" anchor="ctr">
            <a:normAutofit/>
          </a:bodyPr>
          <a:lstStyle/>
          <a:p>
            <a:pPr algn="ctr" indent="0" marL="0">
              <a:buNone/>
            </a:pPr>
            <a:r>
              <a:rPr lang="en-US" sz="1250" dirty="0">
                <a:solidFill>
                  <a:srgbClr val="1B2559"/>
                </a:solidFill>
                <a:latin typeface="Arial Rounded MT Bold" pitchFamily="34" charset="0"/>
                <a:ea typeface="Arial Rounded MT Bold" pitchFamily="34" charset="-122"/>
                <a:cs typeface="Arial Rounded MT Bold" pitchFamily="34" charset="-120"/>
              </a:rPr>
              <a:t>🔍 FIND</a:t>
            </a:r>
            <a:pPr algn="ctr" indent="0" marL="0">
              <a:buNone/>
            </a:pPr>
            <a:r>
              <a:rPr lang="en-US" sz="1250" dirty="0">
                <a:solidFill>
                  <a:srgbClr val="1B2559"/>
                </a:solidFill>
                <a:latin typeface="Arial Rounded MT Bold" pitchFamily="34" charset="0"/>
                <a:ea typeface="Arial Rounded MT Bold" pitchFamily="34" charset="-122"/>
                <a:cs typeface="Arial Rounded MT Bold" pitchFamily="34" charset="-120"/>
              </a:rPr>
              <a:t> · TROVA</a:t>
            </a:r>
            <a:endParaRPr lang="en-US" sz="1250" dirty="0"/>
          </a:p>
          <a:p>
            <a:pPr algn="ctr" indent="0" marL="0">
              <a:buNone/>
            </a:pPr>
            <a:r>
              <a:rPr lang="en-US" sz="1100" dirty="0">
                <a:solidFill>
                  <a:srgbClr val="1B2559"/>
                </a:solidFill>
                <a:latin typeface="Segoe UI Semibold" pitchFamily="34" charset="0"/>
                <a:ea typeface="Segoe UI Semibold" pitchFamily="34" charset="-122"/>
                <a:cs typeface="Segoe UI Semibold" pitchFamily="34" charset="-120"/>
              </a:rPr>
              <a:t>⏱ 2 min   👥 pairs</a:t>
            </a:r>
            <a:endParaRPr lang="en-US" sz="1250" dirty="0"/>
          </a:p>
          <a:p>
            <a:pPr algn="ctr" indent="0" marL="0">
              <a:buNone/>
            </a:pPr>
            <a:r>
              <a:rPr lang="en-US" sz="900" dirty="0">
                <a:solidFill>
                  <a:srgbClr val="5B6785"/>
                </a:solidFill>
                <a:latin typeface="Segoe UI Semibold" pitchFamily="34" charset="0"/>
                <a:ea typeface="Segoe UI Semibold" pitchFamily="34" charset="-122"/>
                <a:cs typeface="Segoe UI Semibold" pitchFamily="34" charset="-120"/>
              </a:rPr>
              <a:t>🎯 Reading · Guided discovery</a:t>
            </a:r>
            <a:endParaRPr lang="en-US" sz="1250" dirty="0"/>
          </a:p>
        </p:txBody>
      </p:sp>
      <p:pic>
        <p:nvPicPr>
          <p:cNvPr id="10" name="logo_276"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1" name="foot_277"/>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3B-1 · Reading · words from the article   ·   📖 SB p.31 · 1e</a:t>
            </a:r>
            <a:endParaRPr lang="en-US" sz="800" dirty="0"/>
          </a:p>
        </p:txBody>
      </p:sp>
      <p:sp>
        <p:nvSpPr>
          <p:cNvPr id="12" name="cd_278"/>
          <p:cNvSpPr/>
          <p:nvPr/>
        </p:nvSpPr>
        <p:spPr>
          <a:xfrm>
            <a:off x="320040" y="1417320"/>
            <a:ext cx="2697480" cy="969264"/>
          </a:xfrm>
          <a:prstGeom prst="roundRect">
            <a:avLst>
              <a:gd name="adj" fmla="val 13208"/>
            </a:avLst>
          </a:prstGeom>
          <a:solidFill>
            <a:srgbClr val="EEE8FB"/>
          </a:solidFill>
          <a:ln w="28575">
            <a:solidFill>
              <a:srgbClr val="CDBFF3"/>
            </a:solidFill>
            <a:prstDash val="solid"/>
          </a:ln>
          <a:effectLst>
            <a:outerShdw sx="100000" sy="100000" kx="0" ky="0" algn="bl" rotWithShape="0" blurRad="88900" dist="31750" dir="5400000">
              <a:srgbClr val="1B2559">
                <a:alpha val="12000"/>
              </a:srgbClr>
            </a:outerShdw>
          </a:effectLst>
        </p:spPr>
      </p:sp>
      <p:sp>
        <p:nvSpPr>
          <p:cNvPr id="13" name="ii_279"/>
          <p:cNvSpPr/>
          <p:nvPr/>
        </p:nvSpPr>
        <p:spPr>
          <a:xfrm>
            <a:off x="411480" y="149047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4" name="ih_280"/>
          <p:cNvSpPr/>
          <p:nvPr/>
        </p:nvSpPr>
        <p:spPr>
          <a:xfrm>
            <a:off x="886968" y="1508760"/>
            <a:ext cx="2057400" cy="365760"/>
          </a:xfrm>
          <a:prstGeom prst="rect">
            <a:avLst/>
          </a:prstGeom>
          <a:noFill/>
          <a:ln/>
        </p:spPr>
        <p:txBody>
          <a:bodyPr wrap="square" lIns="0" tIns="0" rIns="0" bIns="0" rtlCol="0" anchor="ctr"/>
          <a:lstStyle/>
          <a:p>
            <a:pP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Example</a:t>
            </a:r>
            <a:endParaRPr lang="en-US" sz="1300" dirty="0"/>
          </a:p>
        </p:txBody>
      </p:sp>
      <p:sp>
        <p:nvSpPr>
          <p:cNvPr id="15" name="il_281"/>
          <p:cNvSpPr/>
          <p:nvPr/>
        </p:nvSpPr>
        <p:spPr>
          <a:xfrm>
            <a:off x="886968" y="1911096"/>
            <a:ext cx="2039112" cy="402336"/>
          </a:xfrm>
          <a:prstGeom prst="rect">
            <a:avLst/>
          </a:prstGeom>
          <a:noFill/>
          <a:ln/>
        </p:spPr>
        <p:txBody>
          <a:bodyPr wrap="square" lIns="0" tIns="0" rIns="0" bIns="0" rtlCol="0" anchor="t">
            <a:normAutofit/>
          </a:bodyPr>
          <a:lstStyle/>
          <a:p>
            <a:pPr indent="0" marL="0">
              <a:spcAft>
                <a:spcPts val="200"/>
              </a:spcAft>
              <a:buNone/>
            </a:pPr>
            <a:r>
              <a:rPr lang="en-US" sz="1050" dirty="0">
                <a:solidFill>
                  <a:srgbClr val="1B2559"/>
                </a:solidFill>
                <a:latin typeface="Segoe UI Semibold" pitchFamily="34" charset="0"/>
                <a:ea typeface="Segoe UI Semibold" pitchFamily="34" charset="-122"/>
                <a:cs typeface="Segoe UI Semibold" pitchFamily="34" charset="-120"/>
              </a:rPr>
              <a:t>a fixed idea about a type of person → stereotype</a:t>
            </a:r>
            <a:endParaRPr lang="en-US" sz="1050" dirty="0"/>
          </a:p>
        </p:txBody>
      </p:sp>
      <p:sp>
        <p:nvSpPr>
          <p:cNvPr id="16" name="pf_282"/>
          <p:cNvSpPr/>
          <p:nvPr/>
        </p:nvSpPr>
        <p:spPr>
          <a:xfrm rot="-90000">
            <a:off x="365760" y="2569464"/>
            <a:ext cx="2606040" cy="2093976"/>
          </a:xfrm>
          <a:prstGeom prst="roundRect">
            <a:avLst>
              <a:gd name="adj" fmla="val 7424"/>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17" name="ph_283" descr="/home/claude/lls-course/v2/cache/3b1_mirror_jpg_605x482_31.png">    </p:cNvPr>
          <p:cNvPicPr>
            <a:picLocks noChangeAspect="1"/>
          </p:cNvPicPr>
          <p:nvPr/>
        </p:nvPicPr>
        <p:blipFill>
          <a:blip r:embed="rId5"/>
          <a:stretch>
            <a:fillRect/>
          </a:stretch>
        </p:blipFill>
        <p:spPr>
          <a:xfrm rot="-90000">
            <a:off x="411480" y="2615184"/>
            <a:ext cx="2514600" cy="2002536"/>
          </a:xfrm>
          <a:prstGeom prst="rect">
            <a:avLst/>
          </a:prstGeom>
        </p:spPr>
      </p:pic>
      <p:sp>
        <p:nvSpPr>
          <p:cNvPr id="18" name="bd_284"/>
          <p:cNvSpPr/>
          <p:nvPr/>
        </p:nvSpPr>
        <p:spPr>
          <a:xfrm>
            <a:off x="3246120" y="1490472"/>
            <a:ext cx="310896" cy="310896"/>
          </a:xfrm>
          <a:prstGeom prst="ellipse">
            <a:avLst/>
          </a:prstGeom>
          <a:solidFill>
            <a:srgbClr val="E8508F"/>
          </a:solidFill>
          <a:ln w="28575">
            <a:solidFill>
              <a:srgbClr val="F7A6C4"/>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1</a:t>
            </a:r>
            <a:endParaRPr lang="en-US" sz="1000" dirty="0"/>
          </a:p>
        </p:txBody>
      </p:sp>
      <p:sp>
        <p:nvSpPr>
          <p:cNvPr id="19" name="q_285"/>
          <p:cNvSpPr/>
          <p:nvPr/>
        </p:nvSpPr>
        <p:spPr>
          <a:xfrm>
            <a:off x="3630168" y="1417320"/>
            <a:ext cx="2103120" cy="457200"/>
          </a:xfrm>
          <a:prstGeom prst="roundRect">
            <a:avLst>
              <a:gd name="adj" fmla="val 20000"/>
            </a:avLst>
          </a:prstGeom>
          <a:solidFill>
            <a:srgbClr val="FFFFFF"/>
          </a:solidFill>
          <a:ln w="28575">
            <a:solidFill>
              <a:srgbClr val="F7A6C4"/>
            </a:solidFill>
          </a:ln>
        </p:spPr>
        <p:txBody>
          <a:bodyPr wrap="square" lIns="101600" tIns="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 prove (a verb)</a:t>
            </a:r>
            <a:endParaRPr lang="en-US" sz="1150" dirty="0"/>
          </a:p>
        </p:txBody>
      </p:sp>
      <p:sp>
        <p:nvSpPr>
          <p:cNvPr id="20" name="R1_chip286"/>
          <p:cNvSpPr/>
          <p:nvPr/>
        </p:nvSpPr>
        <p:spPr>
          <a:xfrm>
            <a:off x="5806440" y="1417320"/>
            <a:ext cx="3063240" cy="457200"/>
          </a:xfrm>
          <a:prstGeom prst="roundRect">
            <a:avLst>
              <a:gd name="adj" fmla="val 20000"/>
            </a:avLst>
          </a:prstGeom>
          <a:solidFill>
            <a:srgbClr val="FFE3EE"/>
          </a:solidFill>
          <a:ln w="28575">
            <a:solidFill>
              <a:srgbClr val="F7A6C4"/>
            </a:solidFill>
          </a:ln>
        </p:spPr>
        <p:txBody>
          <a:bodyPr wrap="square" lIns="101600" tIns="0" rIns="101600" bIns="0" rtlCol="0" anchor="ctr">
            <a:normAutofit/>
          </a:bodyPr>
          <a:lstStyle/>
          <a:p>
            <a:pPr algn="l" indent="0" marL="0">
              <a:buNone/>
            </a:pPr>
            <a:r>
              <a:rPr lang="en-US" sz="1050" b="1" dirty="0">
                <a:solidFill>
                  <a:srgbClr val="1B2559"/>
                </a:solidFill>
                <a:latin typeface="Segoe UI Semibold" pitchFamily="34" charset="0"/>
                <a:ea typeface="Segoe UI Semibold" pitchFamily="34" charset="-122"/>
                <a:cs typeface="Segoe UI Semibold" pitchFamily="34" charset="-120"/>
              </a:rPr>
              <a:t>show (Recent research shows…)</a:t>
            </a:r>
            <a:endParaRPr lang="en-US" sz="1050" dirty="0"/>
          </a:p>
        </p:txBody>
      </p:sp>
      <p:sp>
        <p:nvSpPr>
          <p:cNvPr id="21" name="bd_287"/>
          <p:cNvSpPr/>
          <p:nvPr/>
        </p:nvSpPr>
        <p:spPr>
          <a:xfrm>
            <a:off x="3246120" y="1993392"/>
            <a:ext cx="310896" cy="310896"/>
          </a:xfrm>
          <a:prstGeom prst="ellipse">
            <a:avLst/>
          </a:prstGeom>
          <a:solidFill>
            <a:srgbClr val="2F8DE4"/>
          </a:solidFill>
          <a:ln w="28575">
            <a:solidFill>
              <a:srgbClr val="A9D3F5"/>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2</a:t>
            </a:r>
            <a:endParaRPr lang="en-US" sz="1000" dirty="0"/>
          </a:p>
        </p:txBody>
      </p:sp>
      <p:sp>
        <p:nvSpPr>
          <p:cNvPr id="22" name="q_288"/>
          <p:cNvSpPr/>
          <p:nvPr/>
        </p:nvSpPr>
        <p:spPr>
          <a:xfrm>
            <a:off x="3630168" y="1920240"/>
            <a:ext cx="2103120" cy="457200"/>
          </a:xfrm>
          <a:prstGeom prst="roundRect">
            <a:avLst>
              <a:gd name="adj" fmla="val 20000"/>
            </a:avLst>
          </a:prstGeom>
          <a:solidFill>
            <a:srgbClr val="FFFFFF"/>
          </a:solidFill>
          <a:ln w="28575">
            <a:solidFill>
              <a:srgbClr val="A9D3F5"/>
            </a:solidFill>
          </a:ln>
        </p:spPr>
        <p:txBody>
          <a:bodyPr wrap="square" lIns="101600" tIns="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 find (a verb)</a:t>
            </a:r>
            <a:endParaRPr lang="en-US" sz="1150" dirty="0"/>
          </a:p>
        </p:txBody>
      </p:sp>
      <p:sp>
        <p:nvSpPr>
          <p:cNvPr id="23" name="R2_chip289"/>
          <p:cNvSpPr/>
          <p:nvPr/>
        </p:nvSpPr>
        <p:spPr>
          <a:xfrm>
            <a:off x="5806440" y="1920240"/>
            <a:ext cx="3063240" cy="457200"/>
          </a:xfrm>
          <a:prstGeom prst="roundRect">
            <a:avLst>
              <a:gd name="adj" fmla="val 20000"/>
            </a:avLst>
          </a:prstGeom>
          <a:solidFill>
            <a:srgbClr val="FFE3EE"/>
          </a:solidFill>
          <a:ln w="28575">
            <a:solidFill>
              <a:srgbClr val="F7A6C4"/>
            </a:solidFill>
          </a:ln>
        </p:spPr>
        <p:txBody>
          <a:bodyPr wrap="square" lIns="101600" tIns="0" rIns="101600" bIns="0" rtlCol="0" anchor="ctr">
            <a:normAutofit/>
          </a:bodyPr>
          <a:lstStyle/>
          <a:p>
            <a:pPr algn="l" indent="0" marL="0">
              <a:buNone/>
            </a:pPr>
            <a:r>
              <a:rPr lang="en-US" sz="1050" b="1" dirty="0">
                <a:solidFill>
                  <a:srgbClr val="1B2559"/>
                </a:solidFill>
                <a:latin typeface="Segoe UI Semibold" pitchFamily="34" charset="0"/>
                <a:ea typeface="Segoe UI Semibold" pitchFamily="34" charset="-122"/>
                <a:cs typeface="Segoe UI Semibold" pitchFamily="34" charset="-120"/>
              </a:rPr>
              <a:t>discover (discovered that…)</a:t>
            </a:r>
            <a:endParaRPr lang="en-US" sz="1050" dirty="0"/>
          </a:p>
        </p:txBody>
      </p:sp>
      <p:sp>
        <p:nvSpPr>
          <p:cNvPr id="24" name="bd_290"/>
          <p:cNvSpPr/>
          <p:nvPr/>
        </p:nvSpPr>
        <p:spPr>
          <a:xfrm>
            <a:off x="3246120" y="2496312"/>
            <a:ext cx="310896" cy="310896"/>
          </a:xfrm>
          <a:prstGeom prst="ellipse">
            <a:avLst/>
          </a:prstGeom>
          <a:solidFill>
            <a:srgbClr val="2EB872"/>
          </a:solidFill>
          <a:ln w="28575">
            <a:solidFill>
              <a:srgbClr val="A8E5BE"/>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3</a:t>
            </a:r>
            <a:endParaRPr lang="en-US" sz="1000" dirty="0"/>
          </a:p>
        </p:txBody>
      </p:sp>
      <p:sp>
        <p:nvSpPr>
          <p:cNvPr id="25" name="q_291"/>
          <p:cNvSpPr/>
          <p:nvPr/>
        </p:nvSpPr>
        <p:spPr>
          <a:xfrm>
            <a:off x="3630168" y="2423160"/>
            <a:ext cx="2103120" cy="457200"/>
          </a:xfrm>
          <a:prstGeom prst="roundRect">
            <a:avLst>
              <a:gd name="adj" fmla="val 20000"/>
            </a:avLst>
          </a:prstGeom>
          <a:solidFill>
            <a:srgbClr val="FFFFFF"/>
          </a:solidFill>
          <a:ln w="28575">
            <a:solidFill>
              <a:srgbClr val="A8E5BE"/>
            </a:solidFill>
          </a:ln>
        </p:spPr>
        <p:txBody>
          <a:bodyPr wrap="square" lIns="101600" tIns="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give reasons why you think sth is true</a:t>
            </a:r>
            <a:endParaRPr lang="en-US" sz="1150" dirty="0"/>
          </a:p>
        </p:txBody>
      </p:sp>
      <p:sp>
        <p:nvSpPr>
          <p:cNvPr id="26" name="R3_chip292"/>
          <p:cNvSpPr/>
          <p:nvPr/>
        </p:nvSpPr>
        <p:spPr>
          <a:xfrm>
            <a:off x="5806440" y="2423160"/>
            <a:ext cx="3063240" cy="457200"/>
          </a:xfrm>
          <a:prstGeom prst="roundRect">
            <a:avLst>
              <a:gd name="adj" fmla="val 20000"/>
            </a:avLst>
          </a:prstGeom>
          <a:solidFill>
            <a:srgbClr val="FFE3EE"/>
          </a:solidFill>
          <a:ln w="28575">
            <a:solidFill>
              <a:srgbClr val="F7A6C4"/>
            </a:solidFill>
          </a:ln>
        </p:spPr>
        <p:txBody>
          <a:bodyPr wrap="square" lIns="101600" tIns="0" rIns="101600" bIns="0" rtlCol="0" anchor="ctr">
            <a:normAutofit/>
          </a:bodyPr>
          <a:lstStyle/>
          <a:p>
            <a:pPr algn="l" indent="0" marL="0">
              <a:buNone/>
            </a:pPr>
            <a:r>
              <a:rPr lang="en-US" sz="1050" b="1" dirty="0">
                <a:solidFill>
                  <a:srgbClr val="1B2559"/>
                </a:solidFill>
                <a:latin typeface="Segoe UI Semibold" pitchFamily="34" charset="0"/>
                <a:ea typeface="Segoe UI Semibold" pitchFamily="34" charset="-122"/>
                <a:cs typeface="Segoe UI Semibold" pitchFamily="34" charset="-120"/>
              </a:rPr>
              <a:t>argue (The psychologists argued…)</a:t>
            </a:r>
            <a:endParaRPr lang="en-US" sz="1050" dirty="0"/>
          </a:p>
        </p:txBody>
      </p:sp>
      <p:sp>
        <p:nvSpPr>
          <p:cNvPr id="27" name="bd_293"/>
          <p:cNvSpPr/>
          <p:nvPr/>
        </p:nvSpPr>
        <p:spPr>
          <a:xfrm>
            <a:off x="3246120" y="2999232"/>
            <a:ext cx="310896" cy="310896"/>
          </a:xfrm>
          <a:prstGeom prst="ellipse">
            <a:avLst/>
          </a:prstGeom>
          <a:solidFill>
            <a:srgbClr val="F2B705"/>
          </a:solidFill>
          <a:ln w="28575">
            <a:solidFill>
              <a:srgbClr val="FFE07A"/>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4</a:t>
            </a:r>
            <a:endParaRPr lang="en-US" sz="1000" dirty="0"/>
          </a:p>
        </p:txBody>
      </p:sp>
      <p:sp>
        <p:nvSpPr>
          <p:cNvPr id="28" name="q_294"/>
          <p:cNvSpPr/>
          <p:nvPr/>
        </p:nvSpPr>
        <p:spPr>
          <a:xfrm>
            <a:off x="3630168" y="2926080"/>
            <a:ext cx="2103120" cy="457200"/>
          </a:xfrm>
          <a:prstGeom prst="roundRect">
            <a:avLst>
              <a:gd name="adj" fmla="val 20000"/>
            </a:avLst>
          </a:prstGeom>
          <a:solidFill>
            <a:srgbClr val="FFFFFF"/>
          </a:solidFill>
          <a:ln w="28575">
            <a:solidFill>
              <a:srgbClr val="FFE07A"/>
            </a:solidFill>
          </a:ln>
        </p:spPr>
        <p:txBody>
          <a:bodyPr wrap="square" lIns="101600" tIns="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become clear that…</a:t>
            </a:r>
            <a:endParaRPr lang="en-US" sz="1150" dirty="0"/>
          </a:p>
        </p:txBody>
      </p:sp>
      <p:sp>
        <p:nvSpPr>
          <p:cNvPr id="29" name="R4_chip295"/>
          <p:cNvSpPr/>
          <p:nvPr/>
        </p:nvSpPr>
        <p:spPr>
          <a:xfrm>
            <a:off x="5806440" y="2926080"/>
            <a:ext cx="3063240" cy="457200"/>
          </a:xfrm>
          <a:prstGeom prst="roundRect">
            <a:avLst>
              <a:gd name="adj" fmla="val 20000"/>
            </a:avLst>
          </a:prstGeom>
          <a:solidFill>
            <a:srgbClr val="FFE3EE"/>
          </a:solidFill>
          <a:ln w="28575">
            <a:solidFill>
              <a:srgbClr val="F7A6C4"/>
            </a:solidFill>
          </a:ln>
        </p:spPr>
        <p:txBody>
          <a:bodyPr wrap="square" lIns="101600" tIns="0" rIns="101600" bIns="0" rtlCol="0" anchor="ctr">
            <a:normAutofit/>
          </a:bodyPr>
          <a:lstStyle/>
          <a:p>
            <a:pPr algn="l" indent="0" marL="0">
              <a:buNone/>
            </a:pPr>
            <a:r>
              <a:rPr lang="en-US" sz="1050" b="1" dirty="0">
                <a:solidFill>
                  <a:srgbClr val="1B2559"/>
                </a:solidFill>
                <a:latin typeface="Segoe UI Semibold" pitchFamily="34" charset="0"/>
                <a:ea typeface="Segoe UI Semibold" pitchFamily="34" charset="-122"/>
                <a:cs typeface="Segoe UI Semibold" pitchFamily="34" charset="-120"/>
              </a:rPr>
              <a:t>turn out (it turned out)</a:t>
            </a:r>
            <a:endParaRPr lang="en-US" sz="1050" dirty="0"/>
          </a:p>
        </p:txBody>
      </p:sp>
      <p:sp>
        <p:nvSpPr>
          <p:cNvPr id="30" name="bd_296"/>
          <p:cNvSpPr/>
          <p:nvPr/>
        </p:nvSpPr>
        <p:spPr>
          <a:xfrm>
            <a:off x="3246120" y="3502152"/>
            <a:ext cx="310896" cy="310896"/>
          </a:xfrm>
          <a:prstGeom prst="ellipse">
            <a:avLst/>
          </a:prstGeom>
          <a:solidFill>
            <a:srgbClr val="E8508F"/>
          </a:solidFill>
          <a:ln w="28575">
            <a:solidFill>
              <a:srgbClr val="F7A6C4"/>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5</a:t>
            </a:r>
            <a:endParaRPr lang="en-US" sz="1000" dirty="0"/>
          </a:p>
        </p:txBody>
      </p:sp>
      <p:sp>
        <p:nvSpPr>
          <p:cNvPr id="31" name="q_297"/>
          <p:cNvSpPr/>
          <p:nvPr/>
        </p:nvSpPr>
        <p:spPr>
          <a:xfrm>
            <a:off x="3630168" y="3429000"/>
            <a:ext cx="2103120" cy="457200"/>
          </a:xfrm>
          <a:prstGeom prst="roundRect">
            <a:avLst>
              <a:gd name="adj" fmla="val 20000"/>
            </a:avLst>
          </a:prstGeom>
          <a:solidFill>
            <a:srgbClr val="FFFFFF"/>
          </a:solidFill>
          <a:ln w="28575">
            <a:solidFill>
              <a:srgbClr val="F7A6C4"/>
            </a:solidFill>
          </a:ln>
        </p:spPr>
        <p:txBody>
          <a:bodyPr wrap="square" lIns="101600" tIns="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knowing where you are and the way to go</a:t>
            </a:r>
            <a:endParaRPr lang="en-US" sz="1150" dirty="0"/>
          </a:p>
        </p:txBody>
      </p:sp>
      <p:sp>
        <p:nvSpPr>
          <p:cNvPr id="32" name="R5_chip298"/>
          <p:cNvSpPr/>
          <p:nvPr/>
        </p:nvSpPr>
        <p:spPr>
          <a:xfrm>
            <a:off x="5806440" y="3429000"/>
            <a:ext cx="3063240" cy="457200"/>
          </a:xfrm>
          <a:prstGeom prst="roundRect">
            <a:avLst>
              <a:gd name="adj" fmla="val 20000"/>
            </a:avLst>
          </a:prstGeom>
          <a:solidFill>
            <a:srgbClr val="FFE3EE"/>
          </a:solidFill>
          <a:ln w="28575">
            <a:solidFill>
              <a:srgbClr val="F7A6C4"/>
            </a:solidFill>
          </a:ln>
        </p:spPr>
        <p:txBody>
          <a:bodyPr wrap="square" lIns="101600" tIns="0" rIns="101600" bIns="0" rtlCol="0" anchor="ctr">
            <a:normAutofit/>
          </a:bodyPr>
          <a:lstStyle/>
          <a:p>
            <a:pPr algn="l" indent="0" marL="0">
              <a:buNone/>
            </a:pPr>
            <a:r>
              <a:rPr lang="en-US" sz="1050" b="1" dirty="0">
                <a:solidFill>
                  <a:srgbClr val="1B2559"/>
                </a:solidFill>
                <a:latin typeface="Segoe UI Semibold" pitchFamily="34" charset="0"/>
                <a:ea typeface="Segoe UI Semibold" pitchFamily="34" charset="-122"/>
                <a:cs typeface="Segoe UI Semibold" pitchFamily="34" charset="-120"/>
              </a:rPr>
              <a:t>sense of direction</a:t>
            </a:r>
            <a:endParaRPr lang="en-US" sz="1050" dirty="0"/>
          </a:p>
        </p:txBody>
      </p:sp>
      <p:sp>
        <p:nvSpPr>
          <p:cNvPr id="33" name="bd_299"/>
          <p:cNvSpPr/>
          <p:nvPr/>
        </p:nvSpPr>
        <p:spPr>
          <a:xfrm>
            <a:off x="3246120" y="4005072"/>
            <a:ext cx="310896" cy="310896"/>
          </a:xfrm>
          <a:prstGeom prst="ellipse">
            <a:avLst/>
          </a:prstGeom>
          <a:solidFill>
            <a:srgbClr val="2F8DE4"/>
          </a:solidFill>
          <a:ln w="28575">
            <a:solidFill>
              <a:srgbClr val="A9D3F5"/>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6</a:t>
            </a:r>
            <a:endParaRPr lang="en-US" sz="1000" dirty="0"/>
          </a:p>
        </p:txBody>
      </p:sp>
      <p:sp>
        <p:nvSpPr>
          <p:cNvPr id="34" name="q_300"/>
          <p:cNvSpPr/>
          <p:nvPr/>
        </p:nvSpPr>
        <p:spPr>
          <a:xfrm>
            <a:off x="3630168" y="3931920"/>
            <a:ext cx="2103120" cy="457200"/>
          </a:xfrm>
          <a:prstGeom prst="roundRect">
            <a:avLst>
              <a:gd name="adj" fmla="val 20000"/>
            </a:avLst>
          </a:prstGeom>
          <a:solidFill>
            <a:srgbClr val="FFFFFF"/>
          </a:solidFill>
          <a:ln w="28575">
            <a:solidFill>
              <a:srgbClr val="A9D3F5"/>
            </a:solidFill>
          </a:ln>
        </p:spPr>
        <p:txBody>
          <a:bodyPr wrap="square" lIns="101600" tIns="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men and 18 women in a maze: which country?</a:t>
            </a:r>
            <a:endParaRPr lang="en-US" sz="1150" dirty="0"/>
          </a:p>
        </p:txBody>
      </p:sp>
      <p:sp>
        <p:nvSpPr>
          <p:cNvPr id="35" name="R6_chip301"/>
          <p:cNvSpPr/>
          <p:nvPr/>
        </p:nvSpPr>
        <p:spPr>
          <a:xfrm>
            <a:off x="5806440" y="3931920"/>
            <a:ext cx="3063240" cy="457200"/>
          </a:xfrm>
          <a:prstGeom prst="roundRect">
            <a:avLst>
              <a:gd name="adj" fmla="val 20000"/>
            </a:avLst>
          </a:prstGeom>
          <a:solidFill>
            <a:srgbClr val="FFE3EE"/>
          </a:solidFill>
          <a:ln w="28575">
            <a:solidFill>
              <a:srgbClr val="F7A6C4"/>
            </a:solidFill>
          </a:ln>
        </p:spPr>
        <p:txBody>
          <a:bodyPr wrap="square" lIns="101600" tIns="0" rIns="101600" bIns="0" rtlCol="0" anchor="ctr">
            <a:normAutofit/>
          </a:bodyPr>
          <a:lstStyle/>
          <a:p>
            <a:pPr algn="l" indent="0" marL="0">
              <a:buNone/>
            </a:pPr>
            <a:r>
              <a:rPr lang="en-US" sz="1050" b="1" dirty="0">
                <a:solidFill>
                  <a:srgbClr val="1B2559"/>
                </a:solidFill>
                <a:latin typeface="Segoe UI Semibold" pitchFamily="34" charset="0"/>
                <a:ea typeface="Segoe UI Semibold" pitchFamily="34" charset="-122"/>
                <a:cs typeface="Segoe UI Semibold" pitchFamily="34" charset="-120"/>
              </a:rPr>
              <a:t>Norway</a:t>
            </a:r>
            <a:endParaRPr lang="en-US" sz="105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0"/>
                                        </p:tgtEl>
                                        <p:attrNameLst>
                                          <p:attrName>style.visibility</p:attrName>
                                        </p:attrNameLst>
                                      </p:cBhvr>
                                      <p:to>
                                        <p:strVal val="visible"/>
                                      </p:to>
                                    </p:set>
                                    <p:animEffect transition="in" filter="fade">
                                      <p:cBhvr>
                                        <p:cTn id="7" dur="400"/>
                                        <p:tgtEl>
                                          <p:spTgt spid="20"/>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3"/>
                                        </p:tgtEl>
                                        <p:attrNameLst>
                                          <p:attrName>style.visibility</p:attrName>
                                        </p:attrNameLst>
                                      </p:cBhvr>
                                      <p:to>
                                        <p:strVal val="visible"/>
                                      </p:to>
                                    </p:set>
                                    <p:animEffect transition="in" filter="fade">
                                      <p:cBhvr>
                                        <p:cTn id="12" dur="400"/>
                                        <p:tgtEl>
                                          <p:spTgt spid="23"/>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6"/>
                                        </p:tgtEl>
                                        <p:attrNameLst>
                                          <p:attrName>style.visibility</p:attrName>
                                        </p:attrNameLst>
                                      </p:cBhvr>
                                      <p:to>
                                        <p:strVal val="visible"/>
                                      </p:to>
                                    </p:set>
                                    <p:animEffect transition="in" filter="fade">
                                      <p:cBhvr>
                                        <p:cTn id="17" dur="400"/>
                                        <p:tgtEl>
                                          <p:spTgt spid="26"/>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29"/>
                                        </p:tgtEl>
                                        <p:attrNameLst>
                                          <p:attrName>style.visibility</p:attrName>
                                        </p:attrNameLst>
                                      </p:cBhvr>
                                      <p:to>
                                        <p:strVal val="visible"/>
                                      </p:to>
                                    </p:set>
                                    <p:animEffect transition="in" filter="fade">
                                      <p:cBhvr>
                                        <p:cTn id="22" dur="400"/>
                                        <p:tgtEl>
                                          <p:spTgt spid="29"/>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32"/>
                                        </p:tgtEl>
                                        <p:attrNameLst>
                                          <p:attrName>style.visibility</p:attrName>
                                        </p:attrNameLst>
                                      </p:cBhvr>
                                      <p:to>
                                        <p:strVal val="visible"/>
                                      </p:to>
                                    </p:set>
                                    <p:animEffect transition="in" filter="fade">
                                      <p:cBhvr>
                                        <p:cTn id="27" dur="400"/>
                                        <p:tgtEl>
                                          <p:spTgt spid="32"/>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35"/>
                                        </p:tgtEl>
                                        <p:attrNameLst>
                                          <p:attrName>style.visibility</p:attrName>
                                        </p:attrNameLst>
                                      </p:cBhvr>
                                      <p:to>
                                        <p:strVal val="visible"/>
                                      </p:to>
                                    </p:set>
                                    <p:animEffect transition="in" filter="fade">
                                      <p:cBhvr>
                                        <p:cTn id="32" dur="400"/>
                                        <p:tgtEl>
                                          <p:spTgt spid="3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2.xml><?xml version="1.0" encoding="utf-8"?>
<p:sld xmlns:a="http://schemas.openxmlformats.org/drawingml/2006/main" xmlns:r="http://schemas.openxmlformats.org/officeDocument/2006/relationships" xmlns:p="http://schemas.openxmlformats.org/presentationml/2006/main">
  <p:cSld name="Slide 12">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302"/>
          <p:cNvSpPr/>
          <p:nvPr/>
        </p:nvSpPr>
        <p:spPr>
          <a:xfrm>
            <a:off x="201168" y="164592"/>
            <a:ext cx="841248" cy="841248"/>
          </a:xfrm>
          <a:prstGeom prst="ellipse">
            <a:avLst/>
          </a:prstGeom>
          <a:solidFill>
            <a:srgbClr val="2EB872"/>
          </a:solidFill>
          <a:ln w="28575">
            <a:solidFill>
              <a:srgbClr val="A8E5BE"/>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12</a:t>
            </a:r>
            <a:endParaRPr lang="en-US" sz="2200" dirty="0"/>
          </a:p>
        </p:txBody>
      </p:sp>
      <p:pic>
        <p:nvPicPr>
          <p:cNvPr id="4" name="brY_303" descr="/home/claude/lls-course/v2/assets/brush-yellow.png">    </p:cNvPr>
          <p:cNvPicPr>
            <a:picLocks noChangeAspect="1"/>
          </p:cNvPicPr>
          <p:nvPr/>
        </p:nvPicPr>
        <p:blipFill>
          <a:blip r:embed="rId2"/>
          <a:stretch>
            <a:fillRect/>
          </a:stretch>
        </p:blipFill>
        <p:spPr>
          <a:xfrm>
            <a:off x="1097280" y="146304"/>
            <a:ext cx="4506163" cy="621792"/>
          </a:xfrm>
          <a:prstGeom prst="rect">
            <a:avLst/>
          </a:prstGeom>
        </p:spPr>
      </p:pic>
      <p:sp>
        <p:nvSpPr>
          <p:cNvPr id="5" name="title_304"/>
          <p:cNvSpPr/>
          <p:nvPr/>
        </p:nvSpPr>
        <p:spPr>
          <a:xfrm>
            <a:off x="1261872" y="164592"/>
            <a:ext cx="4231843"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Today's words in Italian</a:t>
            </a:r>
            <a:endParaRPr lang="en-US" sz="2500" dirty="0"/>
          </a:p>
        </p:txBody>
      </p:sp>
      <p:pic>
        <p:nvPicPr>
          <p:cNvPr id="6" name="brP_305" descr="/home/claude/lls-course/v2/assets/brush-pink.png">    </p:cNvPr>
          <p:cNvPicPr>
            <a:picLocks noChangeAspect="1"/>
          </p:cNvPicPr>
          <p:nvPr/>
        </p:nvPicPr>
        <p:blipFill>
          <a:blip r:embed="rId3"/>
          <a:stretch>
            <a:fillRect/>
          </a:stretch>
        </p:blipFill>
        <p:spPr>
          <a:xfrm>
            <a:off x="1207008" y="731520"/>
            <a:ext cx="3337560" cy="402336"/>
          </a:xfrm>
          <a:prstGeom prst="rect">
            <a:avLst/>
          </a:prstGeom>
        </p:spPr>
      </p:pic>
      <p:sp>
        <p:nvSpPr>
          <p:cNvPr id="7" name="ins_306"/>
          <p:cNvSpPr/>
          <p:nvPr/>
        </p:nvSpPr>
        <p:spPr>
          <a:xfrm>
            <a:off x="1353312" y="731520"/>
            <a:ext cx="3081528"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Say it in Italian. Then click!</a:t>
            </a:r>
            <a:endParaRPr lang="en-US" sz="1250" dirty="0"/>
          </a:p>
        </p:txBody>
      </p:sp>
      <p:sp>
        <p:nvSpPr>
          <p:cNvPr id="8" name="insIT_307"/>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Dillo in italiano. Poi clicca!</a:t>
            </a:r>
            <a:endParaRPr lang="en-US" sz="950" dirty="0"/>
          </a:p>
        </p:txBody>
      </p:sp>
      <p:sp>
        <p:nvSpPr>
          <p:cNvPr id="9" name="note_308"/>
          <p:cNvSpPr/>
          <p:nvPr/>
        </p:nvSpPr>
        <p:spPr>
          <a:xfrm rot="180000">
            <a:off x="6382512" y="128016"/>
            <a:ext cx="2029968" cy="1024128"/>
          </a:xfrm>
          <a:prstGeom prst="rect">
            <a:avLst/>
          </a:prstGeom>
          <a:solidFill>
            <a:srgbClr val="FFC2DA"/>
          </a:solidFill>
          <a:ln>
            <a:solidFill>
              <a:srgbClr val="FFC2DA"/>
            </a:solidFill>
          </a:ln>
          <a:effectLst>
            <a:outerShdw sx="100000" sy="100000" kx="0" ky="0" algn="bl" rotWithShape="0" blurRad="88900" dist="31750" dir="5400000">
              <a:srgbClr val="1B2559">
                <a:alpha val="15000"/>
              </a:srgbClr>
            </a:outerShdw>
          </a:effectLst>
        </p:spPr>
        <p:txBody>
          <a:bodyPr wrap="square" lIns="50800" tIns="50800" rIns="50800" bIns="50800" rtlCol="0" anchor="ctr">
            <a:normAutofit/>
          </a:bodyPr>
          <a:lstStyle/>
          <a:p>
            <a:pPr algn="ctr" indent="0" marL="0">
              <a:buNone/>
            </a:pPr>
            <a:r>
              <a:rPr lang="en-US" sz="1250" dirty="0">
                <a:solidFill>
                  <a:srgbClr val="1B2559"/>
                </a:solidFill>
                <a:latin typeface="Arial Rounded MT Bold" pitchFamily="34" charset="0"/>
                <a:ea typeface="Arial Rounded MT Bold" pitchFamily="34" charset="-122"/>
                <a:cs typeface="Arial Rounded MT Bold" pitchFamily="34" charset="-120"/>
              </a:rPr>
              <a:t>✅ CHECK</a:t>
            </a:r>
            <a:pPr algn="ctr" indent="0" marL="0">
              <a:buNone/>
            </a:pPr>
            <a:r>
              <a:rPr lang="en-US" sz="1250" dirty="0">
                <a:solidFill>
                  <a:srgbClr val="1B2559"/>
                </a:solidFill>
                <a:latin typeface="Arial Rounded MT Bold" pitchFamily="34" charset="0"/>
                <a:ea typeface="Arial Rounded MT Bold" pitchFamily="34" charset="-122"/>
                <a:cs typeface="Arial Rounded MT Bold" pitchFamily="34" charset="-120"/>
              </a:rPr>
              <a:t> · CONTROLLA</a:t>
            </a:r>
            <a:endParaRPr lang="en-US" sz="1250" dirty="0"/>
          </a:p>
          <a:p>
            <a:pPr algn="ctr" indent="0" marL="0">
              <a:buNone/>
            </a:pPr>
            <a:r>
              <a:rPr lang="en-US" sz="1100" dirty="0">
                <a:solidFill>
                  <a:srgbClr val="1B2559"/>
                </a:solidFill>
                <a:latin typeface="Segoe UI Semibold" pitchFamily="34" charset="0"/>
                <a:ea typeface="Segoe UI Semibold" pitchFamily="34" charset="-122"/>
                <a:cs typeface="Segoe UI Semibold" pitchFamily="34" charset="-120"/>
              </a:rPr>
              <a:t>⏱ 2 min   🙋 whole class</a:t>
            </a:r>
            <a:endParaRPr lang="en-US" sz="1250" dirty="0"/>
          </a:p>
          <a:p>
            <a:pPr algn="ctr" indent="0" marL="0">
              <a:buNone/>
            </a:pPr>
            <a:r>
              <a:rPr lang="en-US" sz="900" dirty="0">
                <a:solidFill>
                  <a:srgbClr val="5B6785"/>
                </a:solidFill>
                <a:latin typeface="Segoe UI Semibold" pitchFamily="34" charset="0"/>
                <a:ea typeface="Segoe UI Semibold" pitchFamily="34" charset="-122"/>
                <a:cs typeface="Segoe UI Semibold" pitchFamily="34" charset="-120"/>
              </a:rPr>
              <a:t>🎯 Vocabulary · TPRS · meaning</a:t>
            </a:r>
            <a:endParaRPr lang="en-US" sz="1250" dirty="0"/>
          </a:p>
        </p:txBody>
      </p:sp>
      <p:pic>
        <p:nvPicPr>
          <p:cNvPr id="10" name="logo_309"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1" name="foot_310"/>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3B-1 · Vocabulary · in Italian</a:t>
            </a:r>
            <a:endParaRPr lang="en-US" sz="800" dirty="0"/>
          </a:p>
        </p:txBody>
      </p:sp>
      <p:sp>
        <p:nvSpPr>
          <p:cNvPr id="12" name="cd_311"/>
          <p:cNvSpPr/>
          <p:nvPr/>
        </p:nvSpPr>
        <p:spPr>
          <a:xfrm>
            <a:off x="320040" y="1417320"/>
            <a:ext cx="2075688" cy="731520"/>
          </a:xfrm>
          <a:prstGeom prst="roundRect">
            <a:avLst>
              <a:gd name="adj" fmla="val 17500"/>
            </a:avLst>
          </a:prstGeom>
          <a:solidFill>
            <a:srgbClr val="FFFFFF"/>
          </a:solidFill>
          <a:ln w="28575">
            <a:solidFill>
              <a:srgbClr val="F7A6C4"/>
            </a:solidFill>
            <a:prstDash val="solid"/>
          </a:ln>
          <a:effectLst>
            <a:outerShdw sx="100000" sy="100000" kx="0" ky="0" algn="bl" rotWithShape="0" blurRad="88900" dist="31750" dir="5400000">
              <a:srgbClr val="1B2559">
                <a:alpha val="12000"/>
              </a:srgbClr>
            </a:outerShdw>
          </a:effectLst>
        </p:spPr>
      </p:sp>
      <p:sp>
        <p:nvSpPr>
          <p:cNvPr id="13" name="e_312"/>
          <p:cNvSpPr/>
          <p:nvPr/>
        </p:nvSpPr>
        <p:spPr>
          <a:xfrm>
            <a:off x="393192" y="1527048"/>
            <a:ext cx="512064" cy="512064"/>
          </a:xfrm>
          <a:prstGeom prst="ellipse">
            <a:avLst/>
          </a:prstGeom>
          <a:solidFill>
            <a:srgbClr val="FFE3EE"/>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14" name="en_313"/>
          <p:cNvSpPr/>
          <p:nvPr/>
        </p:nvSpPr>
        <p:spPr>
          <a:xfrm>
            <a:off x="978408" y="147218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stereotype</a:t>
            </a:r>
            <a:endParaRPr lang="en-US" sz="1200" dirty="0"/>
          </a:p>
        </p:txBody>
      </p:sp>
      <p:sp>
        <p:nvSpPr>
          <p:cNvPr id="15" name="R1_it314"/>
          <p:cNvSpPr/>
          <p:nvPr/>
        </p:nvSpPr>
        <p:spPr>
          <a:xfrm>
            <a:off x="978408" y="1801368"/>
            <a:ext cx="1362456" cy="292608"/>
          </a:xfrm>
          <a:prstGeom prst="rect">
            <a:avLst/>
          </a:prstGeom>
          <a:noFill/>
          <a:ln/>
        </p:spPr>
        <p:txBody>
          <a:bodyPr wrap="square" lIns="0" tIns="0" rIns="0" bIns="0" rtlCol="0" anchor="ctr">
            <a:normAutofit/>
          </a:bodyPr>
          <a:lstStyle/>
          <a:p>
            <a:pPr indent="0" marL="0">
              <a:buNone/>
            </a:pPr>
            <a:r>
              <a:rPr lang="en-US" sz="1000" i="1" dirty="0">
                <a:solidFill>
                  <a:srgbClr val="2EB872"/>
                </a:solidFill>
                <a:latin typeface="Segoe UI Semibold" pitchFamily="34" charset="0"/>
                <a:ea typeface="Segoe UI Semibold" pitchFamily="34" charset="-122"/>
                <a:cs typeface="Segoe UI Semibold" pitchFamily="34" charset="-120"/>
              </a:rPr>
              <a:t>stereotipo</a:t>
            </a:r>
            <a:endParaRPr lang="en-US" sz="1000" dirty="0"/>
          </a:p>
        </p:txBody>
      </p:sp>
      <p:sp>
        <p:nvSpPr>
          <p:cNvPr id="16" name="cd_315"/>
          <p:cNvSpPr/>
          <p:nvPr/>
        </p:nvSpPr>
        <p:spPr>
          <a:xfrm>
            <a:off x="2487168" y="1417320"/>
            <a:ext cx="2075688" cy="731520"/>
          </a:xfrm>
          <a:prstGeom prst="roundRect">
            <a:avLst>
              <a:gd name="adj" fmla="val 17500"/>
            </a:avLst>
          </a:prstGeom>
          <a:solidFill>
            <a:srgbClr val="FFFFFF"/>
          </a:solidFill>
          <a:ln w="28575">
            <a:solidFill>
              <a:srgbClr val="A9D3F5"/>
            </a:solidFill>
            <a:prstDash val="solid"/>
          </a:ln>
          <a:effectLst>
            <a:outerShdw sx="100000" sy="100000" kx="0" ky="0" algn="bl" rotWithShape="0" blurRad="88900" dist="31750" dir="5400000">
              <a:srgbClr val="1B2559">
                <a:alpha val="12000"/>
              </a:srgbClr>
            </a:outerShdw>
          </a:effectLst>
        </p:spPr>
      </p:sp>
      <p:sp>
        <p:nvSpPr>
          <p:cNvPr id="17" name="e_316"/>
          <p:cNvSpPr/>
          <p:nvPr/>
        </p:nvSpPr>
        <p:spPr>
          <a:xfrm>
            <a:off x="2560320" y="1527048"/>
            <a:ext cx="512064" cy="512064"/>
          </a:xfrm>
          <a:prstGeom prst="ellipse">
            <a:avLst/>
          </a:prstGeom>
          <a:solidFill>
            <a:srgbClr val="E3F1FD"/>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18" name="en_317"/>
          <p:cNvSpPr/>
          <p:nvPr/>
        </p:nvSpPr>
        <p:spPr>
          <a:xfrm>
            <a:off x="3145536" y="1472184"/>
            <a:ext cx="1362456" cy="329184"/>
          </a:xfrm>
          <a:prstGeom prst="rect">
            <a:avLst/>
          </a:prstGeom>
          <a:noFill/>
          <a:ln/>
        </p:spPr>
        <p:txBody>
          <a:bodyPr wrap="square" lIns="0" tIns="0" rIns="0" bIns="0" rtlCol="0" anchor="ctr">
            <a:normAutofit/>
          </a:bodyPr>
          <a:lstStyle/>
          <a:p>
            <a:pPr indent="0" marL="0">
              <a:buNone/>
            </a:pPr>
            <a:r>
              <a:rPr lang="en-US" sz="1100" dirty="0">
                <a:solidFill>
                  <a:srgbClr val="1B2559"/>
                </a:solidFill>
                <a:latin typeface="Arial Rounded MT Bold" pitchFamily="34" charset="0"/>
                <a:ea typeface="Arial Rounded MT Bold" pitchFamily="34" charset="-122"/>
                <a:cs typeface="Arial Rounded MT Bold" pitchFamily="34" charset="-120"/>
              </a:rPr>
              <a:t>generally speaking</a:t>
            </a:r>
            <a:endParaRPr lang="en-US" sz="1100" dirty="0"/>
          </a:p>
        </p:txBody>
      </p:sp>
      <p:sp>
        <p:nvSpPr>
          <p:cNvPr id="19" name="R2_it318"/>
          <p:cNvSpPr/>
          <p:nvPr/>
        </p:nvSpPr>
        <p:spPr>
          <a:xfrm>
            <a:off x="3145536" y="1801368"/>
            <a:ext cx="1362456" cy="292608"/>
          </a:xfrm>
          <a:prstGeom prst="rect">
            <a:avLst/>
          </a:prstGeom>
          <a:noFill/>
          <a:ln/>
        </p:spPr>
        <p:txBody>
          <a:bodyPr wrap="square" lIns="0" tIns="0" rIns="0" bIns="0" rtlCol="0" anchor="ctr">
            <a:normAutofit/>
          </a:bodyPr>
          <a:lstStyle/>
          <a:p>
            <a:pPr indent="0" marL="0">
              <a:buNone/>
            </a:pPr>
            <a:r>
              <a:rPr lang="en-US" sz="1000" i="1" dirty="0">
                <a:solidFill>
                  <a:srgbClr val="2EB872"/>
                </a:solidFill>
                <a:latin typeface="Segoe UI Semibold" pitchFamily="34" charset="0"/>
                <a:ea typeface="Segoe UI Semibold" pitchFamily="34" charset="-122"/>
                <a:cs typeface="Segoe UI Semibold" pitchFamily="34" charset="-120"/>
              </a:rPr>
              <a:t>in generale</a:t>
            </a:r>
            <a:endParaRPr lang="en-US" sz="1000" dirty="0"/>
          </a:p>
        </p:txBody>
      </p:sp>
      <p:sp>
        <p:nvSpPr>
          <p:cNvPr id="20" name="cd_319"/>
          <p:cNvSpPr/>
          <p:nvPr/>
        </p:nvSpPr>
        <p:spPr>
          <a:xfrm>
            <a:off x="4654296" y="1417320"/>
            <a:ext cx="2075688" cy="731520"/>
          </a:xfrm>
          <a:prstGeom prst="roundRect">
            <a:avLst>
              <a:gd name="adj" fmla="val 17500"/>
            </a:avLst>
          </a:prstGeom>
          <a:solidFill>
            <a:srgbClr val="FFFFFF"/>
          </a:solidFill>
          <a:ln w="28575">
            <a:solidFill>
              <a:srgbClr val="A8E5BE"/>
            </a:solidFill>
            <a:prstDash val="solid"/>
          </a:ln>
          <a:effectLst>
            <a:outerShdw sx="100000" sy="100000" kx="0" ky="0" algn="bl" rotWithShape="0" blurRad="88900" dist="31750" dir="5400000">
              <a:srgbClr val="1B2559">
                <a:alpha val="12000"/>
              </a:srgbClr>
            </a:outerShdw>
          </a:effectLst>
        </p:spPr>
      </p:sp>
      <p:sp>
        <p:nvSpPr>
          <p:cNvPr id="21" name="e_320"/>
          <p:cNvSpPr/>
          <p:nvPr/>
        </p:nvSpPr>
        <p:spPr>
          <a:xfrm>
            <a:off x="4727448" y="1527048"/>
            <a:ext cx="512064" cy="512064"/>
          </a:xfrm>
          <a:prstGeom prst="ellipse">
            <a:avLst/>
          </a:prstGeom>
          <a:solidFill>
            <a:srgbClr val="E3F7EA"/>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22" name="en_321"/>
          <p:cNvSpPr/>
          <p:nvPr/>
        </p:nvSpPr>
        <p:spPr>
          <a:xfrm>
            <a:off x="5312664" y="147218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on the whole</a:t>
            </a:r>
            <a:endParaRPr lang="en-US" sz="1200" dirty="0"/>
          </a:p>
        </p:txBody>
      </p:sp>
      <p:sp>
        <p:nvSpPr>
          <p:cNvPr id="23" name="R3_it322"/>
          <p:cNvSpPr/>
          <p:nvPr/>
        </p:nvSpPr>
        <p:spPr>
          <a:xfrm>
            <a:off x="5312664" y="1801368"/>
            <a:ext cx="1362456" cy="292608"/>
          </a:xfrm>
          <a:prstGeom prst="rect">
            <a:avLst/>
          </a:prstGeom>
          <a:noFill/>
          <a:ln/>
        </p:spPr>
        <p:txBody>
          <a:bodyPr wrap="square" lIns="0" tIns="0" rIns="0" bIns="0" rtlCol="0" anchor="ctr">
            <a:normAutofit/>
          </a:bodyPr>
          <a:lstStyle/>
          <a:p>
            <a:pPr indent="0" marL="0">
              <a:buNone/>
            </a:pPr>
            <a:r>
              <a:rPr lang="en-US" sz="1000" i="1" dirty="0">
                <a:solidFill>
                  <a:srgbClr val="2EB872"/>
                </a:solidFill>
                <a:latin typeface="Segoe UI Semibold" pitchFamily="34" charset="0"/>
                <a:ea typeface="Segoe UI Semibold" pitchFamily="34" charset="-122"/>
                <a:cs typeface="Segoe UI Semibold" pitchFamily="34" charset="-120"/>
              </a:rPr>
              <a:t>nel complesso</a:t>
            </a:r>
            <a:endParaRPr lang="en-US" sz="1000" dirty="0"/>
          </a:p>
        </p:txBody>
      </p:sp>
      <p:sp>
        <p:nvSpPr>
          <p:cNvPr id="24" name="cd_323"/>
          <p:cNvSpPr/>
          <p:nvPr/>
        </p:nvSpPr>
        <p:spPr>
          <a:xfrm>
            <a:off x="6821424" y="1417320"/>
            <a:ext cx="2075688" cy="731520"/>
          </a:xfrm>
          <a:prstGeom prst="roundRect">
            <a:avLst>
              <a:gd name="adj" fmla="val 17500"/>
            </a:avLst>
          </a:prstGeom>
          <a:solidFill>
            <a:srgbClr val="FFFFFF"/>
          </a:solidFill>
          <a:ln w="28575">
            <a:solidFill>
              <a:srgbClr val="FFE07A"/>
            </a:solidFill>
            <a:prstDash val="solid"/>
          </a:ln>
          <a:effectLst>
            <a:outerShdw sx="100000" sy="100000" kx="0" ky="0" algn="bl" rotWithShape="0" blurRad="88900" dist="31750" dir="5400000">
              <a:srgbClr val="1B2559">
                <a:alpha val="12000"/>
              </a:srgbClr>
            </a:outerShdw>
          </a:effectLst>
        </p:spPr>
      </p:sp>
      <p:sp>
        <p:nvSpPr>
          <p:cNvPr id="25" name="e_324"/>
          <p:cNvSpPr/>
          <p:nvPr/>
        </p:nvSpPr>
        <p:spPr>
          <a:xfrm>
            <a:off x="6894576" y="1527048"/>
            <a:ext cx="512064" cy="512064"/>
          </a:xfrm>
          <a:prstGeom prst="ellipse">
            <a:avLst/>
          </a:prstGeom>
          <a:solidFill>
            <a:srgbClr val="FFF6CC"/>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26" name="en_325"/>
          <p:cNvSpPr/>
          <p:nvPr/>
        </p:nvSpPr>
        <p:spPr>
          <a:xfrm>
            <a:off x="7479792" y="147218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tend to</a:t>
            </a:r>
            <a:endParaRPr lang="en-US" sz="1200" dirty="0"/>
          </a:p>
        </p:txBody>
      </p:sp>
      <p:sp>
        <p:nvSpPr>
          <p:cNvPr id="27" name="R4_it326"/>
          <p:cNvSpPr/>
          <p:nvPr/>
        </p:nvSpPr>
        <p:spPr>
          <a:xfrm>
            <a:off x="7479792" y="1801368"/>
            <a:ext cx="1362456" cy="292608"/>
          </a:xfrm>
          <a:prstGeom prst="rect">
            <a:avLst/>
          </a:prstGeom>
          <a:noFill/>
          <a:ln/>
        </p:spPr>
        <p:txBody>
          <a:bodyPr wrap="square" lIns="0" tIns="0" rIns="0" bIns="0" rtlCol="0" anchor="ctr">
            <a:normAutofit/>
          </a:bodyPr>
          <a:lstStyle/>
          <a:p>
            <a:pPr indent="0" marL="0">
              <a:buNone/>
            </a:pPr>
            <a:r>
              <a:rPr lang="en-US" sz="1000" i="1" dirty="0">
                <a:solidFill>
                  <a:srgbClr val="2EB872"/>
                </a:solidFill>
                <a:latin typeface="Segoe UI Semibold" pitchFamily="34" charset="0"/>
                <a:ea typeface="Segoe UI Semibold" pitchFamily="34" charset="-122"/>
                <a:cs typeface="Segoe UI Semibold" pitchFamily="34" charset="-120"/>
              </a:rPr>
              <a:t>tendere a</a:t>
            </a:r>
            <a:endParaRPr lang="en-US" sz="1000" dirty="0"/>
          </a:p>
        </p:txBody>
      </p:sp>
      <p:sp>
        <p:nvSpPr>
          <p:cNvPr id="28" name="cd_327"/>
          <p:cNvSpPr/>
          <p:nvPr/>
        </p:nvSpPr>
        <p:spPr>
          <a:xfrm>
            <a:off x="320040" y="2240280"/>
            <a:ext cx="2075688" cy="731520"/>
          </a:xfrm>
          <a:prstGeom prst="roundRect">
            <a:avLst>
              <a:gd name="adj" fmla="val 17500"/>
            </a:avLst>
          </a:prstGeom>
          <a:solidFill>
            <a:srgbClr val="FFFFFF"/>
          </a:solidFill>
          <a:ln w="28575">
            <a:solidFill>
              <a:srgbClr val="F7A6C4"/>
            </a:solidFill>
            <a:prstDash val="solid"/>
          </a:ln>
          <a:effectLst>
            <a:outerShdw sx="100000" sy="100000" kx="0" ky="0" algn="bl" rotWithShape="0" blurRad="88900" dist="31750" dir="5400000">
              <a:srgbClr val="1B2559">
                <a:alpha val="12000"/>
              </a:srgbClr>
            </a:outerShdw>
          </a:effectLst>
        </p:spPr>
      </p:sp>
      <p:sp>
        <p:nvSpPr>
          <p:cNvPr id="29" name="e_328"/>
          <p:cNvSpPr/>
          <p:nvPr/>
        </p:nvSpPr>
        <p:spPr>
          <a:xfrm>
            <a:off x="393192" y="2350008"/>
            <a:ext cx="512064" cy="512064"/>
          </a:xfrm>
          <a:prstGeom prst="ellipse">
            <a:avLst/>
          </a:prstGeom>
          <a:solidFill>
            <a:srgbClr val="FFE3EE"/>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30" name="en_329"/>
          <p:cNvSpPr/>
          <p:nvPr/>
        </p:nvSpPr>
        <p:spPr>
          <a:xfrm>
            <a:off x="978408" y="229514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prove / show</a:t>
            </a:r>
            <a:endParaRPr lang="en-US" sz="1200" dirty="0"/>
          </a:p>
        </p:txBody>
      </p:sp>
      <p:sp>
        <p:nvSpPr>
          <p:cNvPr id="31" name="R5_it330"/>
          <p:cNvSpPr/>
          <p:nvPr/>
        </p:nvSpPr>
        <p:spPr>
          <a:xfrm>
            <a:off x="978408" y="2624328"/>
            <a:ext cx="1362456" cy="292608"/>
          </a:xfrm>
          <a:prstGeom prst="rect">
            <a:avLst/>
          </a:prstGeom>
          <a:noFill/>
          <a:ln/>
        </p:spPr>
        <p:txBody>
          <a:bodyPr wrap="square" lIns="0" tIns="0" rIns="0" bIns="0" rtlCol="0" anchor="ctr">
            <a:normAutofit/>
          </a:bodyPr>
          <a:lstStyle/>
          <a:p>
            <a:pPr indent="0" marL="0">
              <a:buNone/>
            </a:pPr>
            <a:r>
              <a:rPr lang="en-US" sz="1000" i="1" dirty="0">
                <a:solidFill>
                  <a:srgbClr val="2EB872"/>
                </a:solidFill>
                <a:latin typeface="Segoe UI Semibold" pitchFamily="34" charset="0"/>
                <a:ea typeface="Segoe UI Semibold" pitchFamily="34" charset="-122"/>
                <a:cs typeface="Segoe UI Semibold" pitchFamily="34" charset="-120"/>
              </a:rPr>
              <a:t>dimostrare</a:t>
            </a:r>
            <a:endParaRPr lang="en-US" sz="1000" dirty="0"/>
          </a:p>
        </p:txBody>
      </p:sp>
      <p:sp>
        <p:nvSpPr>
          <p:cNvPr id="32" name="cd_331"/>
          <p:cNvSpPr/>
          <p:nvPr/>
        </p:nvSpPr>
        <p:spPr>
          <a:xfrm>
            <a:off x="2487168" y="2240280"/>
            <a:ext cx="2075688" cy="731520"/>
          </a:xfrm>
          <a:prstGeom prst="roundRect">
            <a:avLst>
              <a:gd name="adj" fmla="val 17500"/>
            </a:avLst>
          </a:prstGeom>
          <a:solidFill>
            <a:srgbClr val="FFFFFF"/>
          </a:solidFill>
          <a:ln w="28575">
            <a:solidFill>
              <a:srgbClr val="A9D3F5"/>
            </a:solidFill>
            <a:prstDash val="solid"/>
          </a:ln>
          <a:effectLst>
            <a:outerShdw sx="100000" sy="100000" kx="0" ky="0" algn="bl" rotWithShape="0" blurRad="88900" dist="31750" dir="5400000">
              <a:srgbClr val="1B2559">
                <a:alpha val="12000"/>
              </a:srgbClr>
            </a:outerShdw>
          </a:effectLst>
        </p:spPr>
      </p:sp>
      <p:sp>
        <p:nvSpPr>
          <p:cNvPr id="33" name="e_332"/>
          <p:cNvSpPr/>
          <p:nvPr/>
        </p:nvSpPr>
        <p:spPr>
          <a:xfrm>
            <a:off x="2560320" y="2350008"/>
            <a:ext cx="512064" cy="512064"/>
          </a:xfrm>
          <a:prstGeom prst="ellipse">
            <a:avLst/>
          </a:prstGeom>
          <a:solidFill>
            <a:srgbClr val="E3F1FD"/>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34" name="en_333"/>
          <p:cNvSpPr/>
          <p:nvPr/>
        </p:nvSpPr>
        <p:spPr>
          <a:xfrm>
            <a:off x="3145536" y="229514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discover</a:t>
            </a:r>
            <a:endParaRPr lang="en-US" sz="1200" dirty="0"/>
          </a:p>
        </p:txBody>
      </p:sp>
      <p:sp>
        <p:nvSpPr>
          <p:cNvPr id="35" name="R6_it334"/>
          <p:cNvSpPr/>
          <p:nvPr/>
        </p:nvSpPr>
        <p:spPr>
          <a:xfrm>
            <a:off x="3145536" y="2624328"/>
            <a:ext cx="1362456" cy="292608"/>
          </a:xfrm>
          <a:prstGeom prst="rect">
            <a:avLst/>
          </a:prstGeom>
          <a:noFill/>
          <a:ln/>
        </p:spPr>
        <p:txBody>
          <a:bodyPr wrap="square" lIns="0" tIns="0" rIns="0" bIns="0" rtlCol="0" anchor="ctr">
            <a:normAutofit/>
          </a:bodyPr>
          <a:lstStyle/>
          <a:p>
            <a:pPr indent="0" marL="0">
              <a:buNone/>
            </a:pPr>
            <a:r>
              <a:rPr lang="en-US" sz="1000" i="1" dirty="0">
                <a:solidFill>
                  <a:srgbClr val="2EB872"/>
                </a:solidFill>
                <a:latin typeface="Segoe UI Semibold" pitchFamily="34" charset="0"/>
                <a:ea typeface="Segoe UI Semibold" pitchFamily="34" charset="-122"/>
                <a:cs typeface="Segoe UI Semibold" pitchFamily="34" charset="-120"/>
              </a:rPr>
              <a:t>scoprire</a:t>
            </a:r>
            <a:endParaRPr lang="en-US" sz="1000" dirty="0"/>
          </a:p>
        </p:txBody>
      </p:sp>
      <p:sp>
        <p:nvSpPr>
          <p:cNvPr id="36" name="cd_335"/>
          <p:cNvSpPr/>
          <p:nvPr/>
        </p:nvSpPr>
        <p:spPr>
          <a:xfrm>
            <a:off x="4654296" y="2240280"/>
            <a:ext cx="2075688" cy="731520"/>
          </a:xfrm>
          <a:prstGeom prst="roundRect">
            <a:avLst>
              <a:gd name="adj" fmla="val 17500"/>
            </a:avLst>
          </a:prstGeom>
          <a:solidFill>
            <a:srgbClr val="FFFFFF"/>
          </a:solidFill>
          <a:ln w="28575">
            <a:solidFill>
              <a:srgbClr val="A8E5BE"/>
            </a:solidFill>
            <a:prstDash val="solid"/>
          </a:ln>
          <a:effectLst>
            <a:outerShdw sx="100000" sy="100000" kx="0" ky="0" algn="bl" rotWithShape="0" blurRad="88900" dist="31750" dir="5400000">
              <a:srgbClr val="1B2559">
                <a:alpha val="12000"/>
              </a:srgbClr>
            </a:outerShdw>
          </a:effectLst>
        </p:spPr>
      </p:sp>
      <p:sp>
        <p:nvSpPr>
          <p:cNvPr id="37" name="e_336"/>
          <p:cNvSpPr/>
          <p:nvPr/>
        </p:nvSpPr>
        <p:spPr>
          <a:xfrm>
            <a:off x="4727448" y="2350008"/>
            <a:ext cx="512064" cy="512064"/>
          </a:xfrm>
          <a:prstGeom prst="ellipse">
            <a:avLst/>
          </a:prstGeom>
          <a:solidFill>
            <a:srgbClr val="E3F7EA"/>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38" name="en_337"/>
          <p:cNvSpPr/>
          <p:nvPr/>
        </p:nvSpPr>
        <p:spPr>
          <a:xfrm>
            <a:off x="5312664" y="229514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argue (that)</a:t>
            </a:r>
            <a:endParaRPr lang="en-US" sz="1200" dirty="0"/>
          </a:p>
        </p:txBody>
      </p:sp>
      <p:sp>
        <p:nvSpPr>
          <p:cNvPr id="39" name="R7_it338"/>
          <p:cNvSpPr/>
          <p:nvPr/>
        </p:nvSpPr>
        <p:spPr>
          <a:xfrm>
            <a:off x="5312664" y="2624328"/>
            <a:ext cx="1362456" cy="292608"/>
          </a:xfrm>
          <a:prstGeom prst="rect">
            <a:avLst/>
          </a:prstGeom>
          <a:noFill/>
          <a:ln/>
        </p:spPr>
        <p:txBody>
          <a:bodyPr wrap="square" lIns="0" tIns="0" rIns="0" bIns="0" rtlCol="0" anchor="ctr">
            <a:normAutofit/>
          </a:bodyPr>
          <a:lstStyle/>
          <a:p>
            <a:pPr indent="0" marL="0">
              <a:buNone/>
            </a:pPr>
            <a:r>
              <a:rPr lang="en-US" sz="1000" i="1" dirty="0">
                <a:solidFill>
                  <a:srgbClr val="2EB872"/>
                </a:solidFill>
                <a:latin typeface="Segoe UI Semibold" pitchFamily="34" charset="0"/>
                <a:ea typeface="Segoe UI Semibold" pitchFamily="34" charset="-122"/>
                <a:cs typeface="Segoe UI Semibold" pitchFamily="34" charset="-120"/>
              </a:rPr>
              <a:t>sostenere (che)</a:t>
            </a:r>
            <a:endParaRPr lang="en-US" sz="1000" dirty="0"/>
          </a:p>
        </p:txBody>
      </p:sp>
      <p:sp>
        <p:nvSpPr>
          <p:cNvPr id="40" name="cd_339"/>
          <p:cNvSpPr/>
          <p:nvPr/>
        </p:nvSpPr>
        <p:spPr>
          <a:xfrm>
            <a:off x="6821424" y="2240280"/>
            <a:ext cx="2075688" cy="731520"/>
          </a:xfrm>
          <a:prstGeom prst="roundRect">
            <a:avLst>
              <a:gd name="adj" fmla="val 17500"/>
            </a:avLst>
          </a:prstGeom>
          <a:solidFill>
            <a:srgbClr val="FFFFFF"/>
          </a:solidFill>
          <a:ln w="28575">
            <a:solidFill>
              <a:srgbClr val="FFE07A"/>
            </a:solidFill>
            <a:prstDash val="solid"/>
          </a:ln>
          <a:effectLst>
            <a:outerShdw sx="100000" sy="100000" kx="0" ky="0" algn="bl" rotWithShape="0" blurRad="88900" dist="31750" dir="5400000">
              <a:srgbClr val="1B2559">
                <a:alpha val="12000"/>
              </a:srgbClr>
            </a:outerShdw>
          </a:effectLst>
        </p:spPr>
      </p:sp>
      <p:sp>
        <p:nvSpPr>
          <p:cNvPr id="41" name="e_340"/>
          <p:cNvSpPr/>
          <p:nvPr/>
        </p:nvSpPr>
        <p:spPr>
          <a:xfrm>
            <a:off x="6894576" y="2350008"/>
            <a:ext cx="512064" cy="512064"/>
          </a:xfrm>
          <a:prstGeom prst="ellipse">
            <a:avLst/>
          </a:prstGeom>
          <a:solidFill>
            <a:srgbClr val="FFF6CC"/>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42" name="en_341"/>
          <p:cNvSpPr/>
          <p:nvPr/>
        </p:nvSpPr>
        <p:spPr>
          <a:xfrm>
            <a:off x="7479792" y="229514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it turned out</a:t>
            </a:r>
            <a:endParaRPr lang="en-US" sz="1200" dirty="0"/>
          </a:p>
        </p:txBody>
      </p:sp>
      <p:sp>
        <p:nvSpPr>
          <p:cNvPr id="43" name="R8_it342"/>
          <p:cNvSpPr/>
          <p:nvPr/>
        </p:nvSpPr>
        <p:spPr>
          <a:xfrm>
            <a:off x="7479792" y="2624328"/>
            <a:ext cx="1362456" cy="292608"/>
          </a:xfrm>
          <a:prstGeom prst="rect">
            <a:avLst/>
          </a:prstGeom>
          <a:noFill/>
          <a:ln/>
        </p:spPr>
        <p:txBody>
          <a:bodyPr wrap="square" lIns="0" tIns="0" rIns="0" bIns="0" rtlCol="0" anchor="ctr">
            <a:normAutofit/>
          </a:bodyPr>
          <a:lstStyle/>
          <a:p>
            <a:pPr indent="0" marL="0">
              <a:buNone/>
            </a:pPr>
            <a:r>
              <a:rPr lang="en-US" sz="1000" i="1" dirty="0">
                <a:solidFill>
                  <a:srgbClr val="2EB872"/>
                </a:solidFill>
                <a:latin typeface="Segoe UI Semibold" pitchFamily="34" charset="0"/>
                <a:ea typeface="Segoe UI Semibold" pitchFamily="34" charset="-122"/>
                <a:cs typeface="Segoe UI Semibold" pitchFamily="34" charset="-120"/>
              </a:rPr>
              <a:t>si è scoperto che</a:t>
            </a:r>
            <a:endParaRPr lang="en-US" sz="1000" dirty="0"/>
          </a:p>
        </p:txBody>
      </p:sp>
      <p:sp>
        <p:nvSpPr>
          <p:cNvPr id="44" name="cd_343"/>
          <p:cNvSpPr/>
          <p:nvPr/>
        </p:nvSpPr>
        <p:spPr>
          <a:xfrm>
            <a:off x="320040" y="3063240"/>
            <a:ext cx="2075688" cy="731520"/>
          </a:xfrm>
          <a:prstGeom prst="roundRect">
            <a:avLst>
              <a:gd name="adj" fmla="val 17500"/>
            </a:avLst>
          </a:prstGeom>
          <a:solidFill>
            <a:srgbClr val="FFFFFF"/>
          </a:solidFill>
          <a:ln w="28575">
            <a:solidFill>
              <a:srgbClr val="F7A6C4"/>
            </a:solidFill>
            <a:prstDash val="solid"/>
          </a:ln>
          <a:effectLst>
            <a:outerShdw sx="100000" sy="100000" kx="0" ky="0" algn="bl" rotWithShape="0" blurRad="88900" dist="31750" dir="5400000">
              <a:srgbClr val="1B2559">
                <a:alpha val="12000"/>
              </a:srgbClr>
            </a:outerShdw>
          </a:effectLst>
        </p:spPr>
      </p:sp>
      <p:sp>
        <p:nvSpPr>
          <p:cNvPr id="45" name="e_344"/>
          <p:cNvSpPr/>
          <p:nvPr/>
        </p:nvSpPr>
        <p:spPr>
          <a:xfrm>
            <a:off x="393192" y="3172968"/>
            <a:ext cx="512064" cy="512064"/>
          </a:xfrm>
          <a:prstGeom prst="ellipse">
            <a:avLst/>
          </a:prstGeom>
          <a:solidFill>
            <a:srgbClr val="FFE3EE"/>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46" name="en_345"/>
          <p:cNvSpPr/>
          <p:nvPr/>
        </p:nvSpPr>
        <p:spPr>
          <a:xfrm>
            <a:off x="978408" y="3118104"/>
            <a:ext cx="1362456" cy="329184"/>
          </a:xfrm>
          <a:prstGeom prst="rect">
            <a:avLst/>
          </a:prstGeom>
          <a:noFill/>
          <a:ln/>
        </p:spPr>
        <p:txBody>
          <a:bodyPr wrap="square" lIns="0" tIns="0" rIns="0" bIns="0" rtlCol="0" anchor="ctr">
            <a:normAutofit/>
          </a:bodyPr>
          <a:lstStyle/>
          <a:p>
            <a:pP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sense of direction</a:t>
            </a:r>
            <a:endParaRPr lang="en-US" sz="1150" dirty="0"/>
          </a:p>
        </p:txBody>
      </p:sp>
      <p:sp>
        <p:nvSpPr>
          <p:cNvPr id="47" name="R9_it346"/>
          <p:cNvSpPr/>
          <p:nvPr/>
        </p:nvSpPr>
        <p:spPr>
          <a:xfrm>
            <a:off x="978408" y="3447288"/>
            <a:ext cx="1362456" cy="292608"/>
          </a:xfrm>
          <a:prstGeom prst="rect">
            <a:avLst/>
          </a:prstGeom>
          <a:noFill/>
          <a:ln/>
        </p:spPr>
        <p:txBody>
          <a:bodyPr wrap="square" lIns="0" tIns="0" rIns="0" bIns="0" rtlCol="0" anchor="ctr">
            <a:normAutofit/>
          </a:bodyPr>
          <a:lstStyle/>
          <a:p>
            <a:pPr indent="0" marL="0">
              <a:buNone/>
            </a:pPr>
            <a:r>
              <a:rPr lang="en-US" sz="800" i="1" dirty="0">
                <a:solidFill>
                  <a:srgbClr val="2EB872"/>
                </a:solidFill>
                <a:latin typeface="Segoe UI Semibold" pitchFamily="34" charset="0"/>
                <a:ea typeface="Segoe UI Semibold" pitchFamily="34" charset="-122"/>
                <a:cs typeface="Segoe UI Semibold" pitchFamily="34" charset="-120"/>
              </a:rPr>
              <a:t>senso dell'orientamento</a:t>
            </a:r>
            <a:endParaRPr lang="en-US" sz="800" dirty="0"/>
          </a:p>
        </p:txBody>
      </p:sp>
      <p:sp>
        <p:nvSpPr>
          <p:cNvPr id="48" name="cd_347"/>
          <p:cNvSpPr/>
          <p:nvPr/>
        </p:nvSpPr>
        <p:spPr>
          <a:xfrm>
            <a:off x="2487168" y="3063240"/>
            <a:ext cx="2075688" cy="731520"/>
          </a:xfrm>
          <a:prstGeom prst="roundRect">
            <a:avLst>
              <a:gd name="adj" fmla="val 17500"/>
            </a:avLst>
          </a:prstGeom>
          <a:solidFill>
            <a:srgbClr val="FFFFFF"/>
          </a:solidFill>
          <a:ln w="28575">
            <a:solidFill>
              <a:srgbClr val="A9D3F5"/>
            </a:solidFill>
            <a:prstDash val="solid"/>
          </a:ln>
          <a:effectLst>
            <a:outerShdw sx="100000" sy="100000" kx="0" ky="0" algn="bl" rotWithShape="0" blurRad="88900" dist="31750" dir="5400000">
              <a:srgbClr val="1B2559">
                <a:alpha val="12000"/>
              </a:srgbClr>
            </a:outerShdw>
          </a:effectLst>
        </p:spPr>
      </p:sp>
      <p:sp>
        <p:nvSpPr>
          <p:cNvPr id="49" name="e_348"/>
          <p:cNvSpPr/>
          <p:nvPr/>
        </p:nvSpPr>
        <p:spPr>
          <a:xfrm>
            <a:off x="2560320" y="3172968"/>
            <a:ext cx="512064" cy="512064"/>
          </a:xfrm>
          <a:prstGeom prst="ellipse">
            <a:avLst/>
          </a:prstGeom>
          <a:solidFill>
            <a:srgbClr val="E3F1FD"/>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50" name="en_349"/>
          <p:cNvSpPr/>
          <p:nvPr/>
        </p:nvSpPr>
        <p:spPr>
          <a:xfrm>
            <a:off x="3145536" y="311810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multitask</a:t>
            </a:r>
            <a:endParaRPr lang="en-US" sz="1200" dirty="0"/>
          </a:p>
        </p:txBody>
      </p:sp>
      <p:sp>
        <p:nvSpPr>
          <p:cNvPr id="51" name="R10_it350"/>
          <p:cNvSpPr/>
          <p:nvPr/>
        </p:nvSpPr>
        <p:spPr>
          <a:xfrm>
            <a:off x="3145536" y="3447288"/>
            <a:ext cx="1362456" cy="292608"/>
          </a:xfrm>
          <a:prstGeom prst="rect">
            <a:avLst/>
          </a:prstGeom>
          <a:noFill/>
          <a:ln/>
        </p:spPr>
        <p:txBody>
          <a:bodyPr wrap="square" lIns="0" tIns="0" rIns="0" bIns="0" rtlCol="0" anchor="ctr">
            <a:normAutofit/>
          </a:bodyPr>
          <a:lstStyle/>
          <a:p>
            <a:pPr indent="0" marL="0">
              <a:buNone/>
            </a:pPr>
            <a:r>
              <a:rPr lang="en-US" sz="900" i="1" dirty="0">
                <a:solidFill>
                  <a:srgbClr val="2EB872"/>
                </a:solidFill>
                <a:latin typeface="Segoe UI Semibold" pitchFamily="34" charset="0"/>
                <a:ea typeface="Segoe UI Semibold" pitchFamily="34" charset="-122"/>
                <a:cs typeface="Segoe UI Semibold" pitchFamily="34" charset="-120"/>
              </a:rPr>
              <a:t>fare più cose insieme</a:t>
            </a:r>
            <a:endParaRPr lang="en-US" sz="900" dirty="0"/>
          </a:p>
        </p:txBody>
      </p:sp>
      <p:sp>
        <p:nvSpPr>
          <p:cNvPr id="52" name="cd_351"/>
          <p:cNvSpPr/>
          <p:nvPr/>
        </p:nvSpPr>
        <p:spPr>
          <a:xfrm>
            <a:off x="4654296" y="3063240"/>
            <a:ext cx="2075688" cy="731520"/>
          </a:xfrm>
          <a:prstGeom prst="roundRect">
            <a:avLst>
              <a:gd name="adj" fmla="val 17500"/>
            </a:avLst>
          </a:prstGeom>
          <a:solidFill>
            <a:srgbClr val="FFFFFF"/>
          </a:solidFill>
          <a:ln w="28575">
            <a:solidFill>
              <a:srgbClr val="A8E5BE"/>
            </a:solidFill>
            <a:prstDash val="solid"/>
          </a:ln>
          <a:effectLst>
            <a:outerShdw sx="100000" sy="100000" kx="0" ky="0" algn="bl" rotWithShape="0" blurRad="88900" dist="31750" dir="5400000">
              <a:srgbClr val="1B2559">
                <a:alpha val="12000"/>
              </a:srgbClr>
            </a:outerShdw>
          </a:effectLst>
        </p:spPr>
      </p:sp>
      <p:sp>
        <p:nvSpPr>
          <p:cNvPr id="53" name="e_352"/>
          <p:cNvSpPr/>
          <p:nvPr/>
        </p:nvSpPr>
        <p:spPr>
          <a:xfrm>
            <a:off x="4727448" y="3172968"/>
            <a:ext cx="512064" cy="512064"/>
          </a:xfrm>
          <a:prstGeom prst="ellipse">
            <a:avLst/>
          </a:prstGeom>
          <a:solidFill>
            <a:srgbClr val="E3F7EA"/>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54" name="en_353"/>
          <p:cNvSpPr/>
          <p:nvPr/>
        </p:nvSpPr>
        <p:spPr>
          <a:xfrm>
            <a:off x="5312664" y="311810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caring</a:t>
            </a:r>
            <a:endParaRPr lang="en-US" sz="1200" dirty="0"/>
          </a:p>
        </p:txBody>
      </p:sp>
      <p:sp>
        <p:nvSpPr>
          <p:cNvPr id="55" name="R11_it354"/>
          <p:cNvSpPr/>
          <p:nvPr/>
        </p:nvSpPr>
        <p:spPr>
          <a:xfrm>
            <a:off x="5312664" y="3447288"/>
            <a:ext cx="1362456" cy="292608"/>
          </a:xfrm>
          <a:prstGeom prst="rect">
            <a:avLst/>
          </a:prstGeom>
          <a:noFill/>
          <a:ln/>
        </p:spPr>
        <p:txBody>
          <a:bodyPr wrap="square" lIns="0" tIns="0" rIns="0" bIns="0" rtlCol="0" anchor="ctr">
            <a:normAutofit/>
          </a:bodyPr>
          <a:lstStyle/>
          <a:p>
            <a:pPr indent="0" marL="0">
              <a:buNone/>
            </a:pPr>
            <a:r>
              <a:rPr lang="en-US" sz="1000" i="1" dirty="0">
                <a:solidFill>
                  <a:srgbClr val="2EB872"/>
                </a:solidFill>
                <a:latin typeface="Segoe UI Semibold" pitchFamily="34" charset="0"/>
                <a:ea typeface="Segoe UI Semibold" pitchFamily="34" charset="-122"/>
                <a:cs typeface="Segoe UI Semibold" pitchFamily="34" charset="-120"/>
              </a:rPr>
              <a:t>premuroso</a:t>
            </a:r>
            <a:endParaRPr lang="en-US" sz="1000" dirty="0"/>
          </a:p>
        </p:txBody>
      </p:sp>
      <p:sp>
        <p:nvSpPr>
          <p:cNvPr id="56" name="cd_355"/>
          <p:cNvSpPr/>
          <p:nvPr/>
        </p:nvSpPr>
        <p:spPr>
          <a:xfrm>
            <a:off x="6821424" y="3063240"/>
            <a:ext cx="2075688" cy="731520"/>
          </a:xfrm>
          <a:prstGeom prst="roundRect">
            <a:avLst>
              <a:gd name="adj" fmla="val 17500"/>
            </a:avLst>
          </a:prstGeom>
          <a:solidFill>
            <a:srgbClr val="FFFFFF"/>
          </a:solidFill>
          <a:ln w="28575">
            <a:solidFill>
              <a:srgbClr val="FFE07A"/>
            </a:solidFill>
            <a:prstDash val="solid"/>
          </a:ln>
          <a:effectLst>
            <a:outerShdw sx="100000" sy="100000" kx="0" ky="0" algn="bl" rotWithShape="0" blurRad="88900" dist="31750" dir="5400000">
              <a:srgbClr val="1B2559">
                <a:alpha val="12000"/>
              </a:srgbClr>
            </a:outerShdw>
          </a:effectLst>
        </p:spPr>
      </p:sp>
      <p:sp>
        <p:nvSpPr>
          <p:cNvPr id="57" name="e_356"/>
          <p:cNvSpPr/>
          <p:nvPr/>
        </p:nvSpPr>
        <p:spPr>
          <a:xfrm>
            <a:off x="6894576" y="3172968"/>
            <a:ext cx="512064" cy="512064"/>
          </a:xfrm>
          <a:prstGeom prst="ellipse">
            <a:avLst/>
          </a:prstGeom>
          <a:solidFill>
            <a:srgbClr val="FFF6CC"/>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58" name="en_357"/>
          <p:cNvSpPr/>
          <p:nvPr/>
        </p:nvSpPr>
        <p:spPr>
          <a:xfrm>
            <a:off x="7479792" y="311810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competitive</a:t>
            </a:r>
            <a:endParaRPr lang="en-US" sz="1200" dirty="0"/>
          </a:p>
        </p:txBody>
      </p:sp>
      <p:sp>
        <p:nvSpPr>
          <p:cNvPr id="59" name="R12_it358"/>
          <p:cNvSpPr/>
          <p:nvPr/>
        </p:nvSpPr>
        <p:spPr>
          <a:xfrm>
            <a:off x="7479792" y="3447288"/>
            <a:ext cx="1362456" cy="292608"/>
          </a:xfrm>
          <a:prstGeom prst="rect">
            <a:avLst/>
          </a:prstGeom>
          <a:noFill/>
          <a:ln/>
        </p:spPr>
        <p:txBody>
          <a:bodyPr wrap="square" lIns="0" tIns="0" rIns="0" bIns="0" rtlCol="0" anchor="ctr">
            <a:normAutofit/>
          </a:bodyPr>
          <a:lstStyle/>
          <a:p>
            <a:pPr indent="0" marL="0">
              <a:buNone/>
            </a:pPr>
            <a:r>
              <a:rPr lang="en-US" sz="1000" i="1" dirty="0">
                <a:solidFill>
                  <a:srgbClr val="2EB872"/>
                </a:solidFill>
                <a:latin typeface="Segoe UI Semibold" pitchFamily="34" charset="0"/>
                <a:ea typeface="Segoe UI Semibold" pitchFamily="34" charset="-122"/>
                <a:cs typeface="Segoe UI Semibold" pitchFamily="34" charset="-120"/>
              </a:rPr>
              <a:t>competitivo</a:t>
            </a:r>
            <a:endParaRPr lang="en-US" sz="1000" dirty="0"/>
          </a:p>
        </p:txBody>
      </p:sp>
      <p:sp>
        <p:nvSpPr>
          <p:cNvPr id="60" name="R13_wc359"/>
          <p:cNvSpPr/>
          <p:nvPr/>
        </p:nvSpPr>
        <p:spPr>
          <a:xfrm>
            <a:off x="320040" y="3931920"/>
            <a:ext cx="8549640" cy="457200"/>
          </a:xfrm>
          <a:prstGeom prst="roundRect">
            <a:avLst>
              <a:gd name="adj" fmla="val 28000"/>
            </a:avLst>
          </a:prstGeom>
          <a:solidFill>
            <a:srgbClr val="FFE3EE"/>
          </a:solidFill>
          <a:ln w="28575">
            <a:solidFill>
              <a:srgbClr val="F7A6C4"/>
            </a:solidFill>
            <a:prstDash val="solid"/>
          </a:ln>
          <a:effectLst>
            <a:outerShdw sx="100000" sy="100000" kx="0" ky="0" algn="bl" rotWithShape="0" blurRad="88900" dist="31750" dir="5400000">
              <a:srgbClr val="1B2559">
                <a:alpha val="12000"/>
              </a:srgbClr>
            </a:outerShdw>
          </a:effectLst>
        </p:spPr>
      </p:sp>
      <p:sp>
        <p:nvSpPr>
          <p:cNvPr id="61" name="R13_w360"/>
          <p:cNvSpPr/>
          <p:nvPr/>
        </p:nvSpPr>
        <p:spPr>
          <a:xfrm>
            <a:off x="457200" y="3931920"/>
            <a:ext cx="8321040" cy="457200"/>
          </a:xfrm>
          <a:prstGeom prst="rect">
            <a:avLst/>
          </a:prstGeom>
          <a:noFill/>
          <a:ln/>
        </p:spPr>
        <p:txBody>
          <a:bodyPr wrap="square" lIns="0" tIns="0" rIns="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 Watch out!  argue = litigare OR sostenere (in an article)   ·   tend + to + verb: Men tend to…</a:t>
            </a:r>
            <a:endParaRPr lang="en-US" sz="11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5"/>
                                        </p:tgtEl>
                                        <p:attrNameLst>
                                          <p:attrName>style.visibility</p:attrName>
                                        </p:attrNameLst>
                                      </p:cBhvr>
                                      <p:to>
                                        <p:strVal val="visible"/>
                                      </p:to>
                                    </p:set>
                                    <p:animEffect transition="in" filter="fade">
                                      <p:cBhvr>
                                        <p:cTn id="7" dur="400"/>
                                        <p:tgtEl>
                                          <p:spTgt spid="15"/>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19"/>
                                        </p:tgtEl>
                                        <p:attrNameLst>
                                          <p:attrName>style.visibility</p:attrName>
                                        </p:attrNameLst>
                                      </p:cBhvr>
                                      <p:to>
                                        <p:strVal val="visible"/>
                                      </p:to>
                                    </p:set>
                                    <p:animEffect transition="in" filter="fade">
                                      <p:cBhvr>
                                        <p:cTn id="12" dur="400"/>
                                        <p:tgtEl>
                                          <p:spTgt spid="19"/>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3"/>
                                        </p:tgtEl>
                                        <p:attrNameLst>
                                          <p:attrName>style.visibility</p:attrName>
                                        </p:attrNameLst>
                                      </p:cBhvr>
                                      <p:to>
                                        <p:strVal val="visible"/>
                                      </p:to>
                                    </p:set>
                                    <p:animEffect transition="in" filter="fade">
                                      <p:cBhvr>
                                        <p:cTn id="17" dur="400"/>
                                        <p:tgtEl>
                                          <p:spTgt spid="23"/>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27"/>
                                        </p:tgtEl>
                                        <p:attrNameLst>
                                          <p:attrName>style.visibility</p:attrName>
                                        </p:attrNameLst>
                                      </p:cBhvr>
                                      <p:to>
                                        <p:strVal val="visible"/>
                                      </p:to>
                                    </p:set>
                                    <p:animEffect transition="in" filter="fade">
                                      <p:cBhvr>
                                        <p:cTn id="22" dur="400"/>
                                        <p:tgtEl>
                                          <p:spTgt spid="27"/>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31"/>
                                        </p:tgtEl>
                                        <p:attrNameLst>
                                          <p:attrName>style.visibility</p:attrName>
                                        </p:attrNameLst>
                                      </p:cBhvr>
                                      <p:to>
                                        <p:strVal val="visible"/>
                                      </p:to>
                                    </p:set>
                                    <p:animEffect transition="in" filter="fade">
                                      <p:cBhvr>
                                        <p:cTn id="27" dur="400"/>
                                        <p:tgtEl>
                                          <p:spTgt spid="31"/>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35"/>
                                        </p:tgtEl>
                                        <p:attrNameLst>
                                          <p:attrName>style.visibility</p:attrName>
                                        </p:attrNameLst>
                                      </p:cBhvr>
                                      <p:to>
                                        <p:strVal val="visible"/>
                                      </p:to>
                                    </p:set>
                                    <p:animEffect transition="in" filter="fade">
                                      <p:cBhvr>
                                        <p:cTn id="32" dur="400"/>
                                        <p:tgtEl>
                                          <p:spTgt spid="35"/>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nodeType="clickEffect">
                                  <p:stCondLst>
                                    <p:cond delay="0"/>
                                  </p:stCondLst>
                                  <p:childTnLst>
                                    <p:set>
                                      <p:cBhvr>
                                        <p:cTn id="36" dur="1" fill="hold">
                                          <p:stCondLst>
                                            <p:cond delay="0"/>
                                          </p:stCondLst>
                                        </p:cTn>
                                        <p:tgtEl>
                                          <p:spTgt spid="39"/>
                                        </p:tgtEl>
                                        <p:attrNameLst>
                                          <p:attrName>style.visibility</p:attrName>
                                        </p:attrNameLst>
                                      </p:cBhvr>
                                      <p:to>
                                        <p:strVal val="visible"/>
                                      </p:to>
                                    </p:set>
                                    <p:animEffect transition="in" filter="fade">
                                      <p:cBhvr>
                                        <p:cTn id="37" dur="400"/>
                                        <p:tgtEl>
                                          <p:spTgt spid="39"/>
                                        </p:tgtEl>
                                      </p:cBhvr>
                                    </p:animEffect>
                                  </p:childTnLst>
                                </p:cTn>
                              </p:par>
                            </p:childTnLst>
                          </p:cTn>
                        </p:par>
                      </p:childTnLst>
                    </p:cTn>
                  </p:par>
                  <p:par>
                    <p:cTn id="38" fill="hold">
                      <p:stCondLst>
                        <p:cond delay="indefinite"/>
                      </p:stCondLst>
                      <p:childTnLst>
                        <p:par>
                          <p:cTn id="39" fill="hold">
                            <p:stCondLst>
                              <p:cond delay="0"/>
                            </p:stCondLst>
                            <p:childTnLst>
                              <p:par>
                                <p:cTn id="40" presetID="10" presetClass="entr" presetSubtype="0" fill="hold" nodeType="clickEffect">
                                  <p:stCondLst>
                                    <p:cond delay="0"/>
                                  </p:stCondLst>
                                  <p:childTnLst>
                                    <p:set>
                                      <p:cBhvr>
                                        <p:cTn id="41" dur="1" fill="hold">
                                          <p:stCondLst>
                                            <p:cond delay="0"/>
                                          </p:stCondLst>
                                        </p:cTn>
                                        <p:tgtEl>
                                          <p:spTgt spid="43"/>
                                        </p:tgtEl>
                                        <p:attrNameLst>
                                          <p:attrName>style.visibility</p:attrName>
                                        </p:attrNameLst>
                                      </p:cBhvr>
                                      <p:to>
                                        <p:strVal val="visible"/>
                                      </p:to>
                                    </p:set>
                                    <p:animEffect transition="in" filter="fade">
                                      <p:cBhvr>
                                        <p:cTn id="42" dur="400"/>
                                        <p:tgtEl>
                                          <p:spTgt spid="43"/>
                                        </p:tgtEl>
                                      </p:cBhvr>
                                    </p:animEffect>
                                  </p:childTnLst>
                                </p:cTn>
                              </p:par>
                            </p:childTnLst>
                          </p:cTn>
                        </p:par>
                      </p:childTnLst>
                    </p:cTn>
                  </p:par>
                  <p:par>
                    <p:cTn id="43" fill="hold">
                      <p:stCondLst>
                        <p:cond delay="indefinite"/>
                      </p:stCondLst>
                      <p:childTnLst>
                        <p:par>
                          <p:cTn id="44" fill="hold">
                            <p:stCondLst>
                              <p:cond delay="0"/>
                            </p:stCondLst>
                            <p:childTnLst>
                              <p:par>
                                <p:cTn id="45" presetID="10" presetClass="entr" presetSubtype="0" fill="hold" nodeType="clickEffect">
                                  <p:stCondLst>
                                    <p:cond delay="0"/>
                                  </p:stCondLst>
                                  <p:childTnLst>
                                    <p:set>
                                      <p:cBhvr>
                                        <p:cTn id="46" dur="1" fill="hold">
                                          <p:stCondLst>
                                            <p:cond delay="0"/>
                                          </p:stCondLst>
                                        </p:cTn>
                                        <p:tgtEl>
                                          <p:spTgt spid="47"/>
                                        </p:tgtEl>
                                        <p:attrNameLst>
                                          <p:attrName>style.visibility</p:attrName>
                                        </p:attrNameLst>
                                      </p:cBhvr>
                                      <p:to>
                                        <p:strVal val="visible"/>
                                      </p:to>
                                    </p:set>
                                    <p:animEffect transition="in" filter="fade">
                                      <p:cBhvr>
                                        <p:cTn id="47" dur="400"/>
                                        <p:tgtEl>
                                          <p:spTgt spid="47"/>
                                        </p:tgtEl>
                                      </p:cBhvr>
                                    </p:animEffect>
                                  </p:childTnLst>
                                </p:cTn>
                              </p:par>
                            </p:childTnLst>
                          </p:cTn>
                        </p:par>
                      </p:childTnLst>
                    </p:cTn>
                  </p:par>
                  <p:par>
                    <p:cTn id="48" fill="hold">
                      <p:stCondLst>
                        <p:cond delay="indefinite"/>
                      </p:stCondLst>
                      <p:childTnLst>
                        <p:par>
                          <p:cTn id="49" fill="hold">
                            <p:stCondLst>
                              <p:cond delay="0"/>
                            </p:stCondLst>
                            <p:childTnLst>
                              <p:par>
                                <p:cTn id="50" presetID="10" presetClass="entr" presetSubtype="0" fill="hold" nodeType="clickEffect">
                                  <p:stCondLst>
                                    <p:cond delay="0"/>
                                  </p:stCondLst>
                                  <p:childTnLst>
                                    <p:set>
                                      <p:cBhvr>
                                        <p:cTn id="51" dur="1" fill="hold">
                                          <p:stCondLst>
                                            <p:cond delay="0"/>
                                          </p:stCondLst>
                                        </p:cTn>
                                        <p:tgtEl>
                                          <p:spTgt spid="51"/>
                                        </p:tgtEl>
                                        <p:attrNameLst>
                                          <p:attrName>style.visibility</p:attrName>
                                        </p:attrNameLst>
                                      </p:cBhvr>
                                      <p:to>
                                        <p:strVal val="visible"/>
                                      </p:to>
                                    </p:set>
                                    <p:animEffect transition="in" filter="fade">
                                      <p:cBhvr>
                                        <p:cTn id="52" dur="400"/>
                                        <p:tgtEl>
                                          <p:spTgt spid="51"/>
                                        </p:tgtEl>
                                      </p:cBhvr>
                                    </p:animEffect>
                                  </p:childTnLst>
                                </p:cTn>
                              </p:par>
                            </p:childTnLst>
                          </p:cTn>
                        </p:par>
                      </p:childTnLst>
                    </p:cTn>
                  </p:par>
                  <p:par>
                    <p:cTn id="53" fill="hold">
                      <p:stCondLst>
                        <p:cond delay="indefinite"/>
                      </p:stCondLst>
                      <p:childTnLst>
                        <p:par>
                          <p:cTn id="54" fill="hold">
                            <p:stCondLst>
                              <p:cond delay="0"/>
                            </p:stCondLst>
                            <p:childTnLst>
                              <p:par>
                                <p:cTn id="55" presetID="10" presetClass="entr" presetSubtype="0" fill="hold" nodeType="clickEffect">
                                  <p:stCondLst>
                                    <p:cond delay="0"/>
                                  </p:stCondLst>
                                  <p:childTnLst>
                                    <p:set>
                                      <p:cBhvr>
                                        <p:cTn id="56" dur="1" fill="hold">
                                          <p:stCondLst>
                                            <p:cond delay="0"/>
                                          </p:stCondLst>
                                        </p:cTn>
                                        <p:tgtEl>
                                          <p:spTgt spid="55"/>
                                        </p:tgtEl>
                                        <p:attrNameLst>
                                          <p:attrName>style.visibility</p:attrName>
                                        </p:attrNameLst>
                                      </p:cBhvr>
                                      <p:to>
                                        <p:strVal val="visible"/>
                                      </p:to>
                                    </p:set>
                                    <p:animEffect transition="in" filter="fade">
                                      <p:cBhvr>
                                        <p:cTn id="57" dur="400"/>
                                        <p:tgtEl>
                                          <p:spTgt spid="55"/>
                                        </p:tgtEl>
                                      </p:cBhvr>
                                    </p:animEffect>
                                  </p:childTnLst>
                                </p:cTn>
                              </p:par>
                            </p:childTnLst>
                          </p:cTn>
                        </p:par>
                      </p:childTnLst>
                    </p:cTn>
                  </p:par>
                  <p:par>
                    <p:cTn id="58" fill="hold">
                      <p:stCondLst>
                        <p:cond delay="indefinite"/>
                      </p:stCondLst>
                      <p:childTnLst>
                        <p:par>
                          <p:cTn id="59" fill="hold">
                            <p:stCondLst>
                              <p:cond delay="0"/>
                            </p:stCondLst>
                            <p:childTnLst>
                              <p:par>
                                <p:cTn id="60" presetID="10" presetClass="entr" presetSubtype="0" fill="hold" nodeType="clickEffect">
                                  <p:stCondLst>
                                    <p:cond delay="0"/>
                                  </p:stCondLst>
                                  <p:childTnLst>
                                    <p:set>
                                      <p:cBhvr>
                                        <p:cTn id="61" dur="1" fill="hold">
                                          <p:stCondLst>
                                            <p:cond delay="0"/>
                                          </p:stCondLst>
                                        </p:cTn>
                                        <p:tgtEl>
                                          <p:spTgt spid="59"/>
                                        </p:tgtEl>
                                        <p:attrNameLst>
                                          <p:attrName>style.visibility</p:attrName>
                                        </p:attrNameLst>
                                      </p:cBhvr>
                                      <p:to>
                                        <p:strVal val="visible"/>
                                      </p:to>
                                    </p:set>
                                    <p:animEffect transition="in" filter="fade">
                                      <p:cBhvr>
                                        <p:cTn id="62" dur="400"/>
                                        <p:tgtEl>
                                          <p:spTgt spid="59"/>
                                        </p:tgtEl>
                                      </p:cBhvr>
                                    </p:animEffect>
                                  </p:childTnLst>
                                </p:cTn>
                              </p:par>
                            </p:childTnLst>
                          </p:cTn>
                        </p:par>
                      </p:childTnLst>
                    </p:cTn>
                  </p:par>
                  <p:par>
                    <p:cTn id="63" fill="hold">
                      <p:stCondLst>
                        <p:cond delay="indefinite"/>
                      </p:stCondLst>
                      <p:childTnLst>
                        <p:par>
                          <p:cTn id="64" fill="hold">
                            <p:stCondLst>
                              <p:cond delay="0"/>
                            </p:stCondLst>
                            <p:childTnLst>
                              <p:par>
                                <p:cTn id="65" presetID="10" presetClass="entr" presetSubtype="0" fill="hold" nodeType="clickEffect">
                                  <p:stCondLst>
                                    <p:cond delay="0"/>
                                  </p:stCondLst>
                                  <p:childTnLst>
                                    <p:set>
                                      <p:cBhvr>
                                        <p:cTn id="66" dur="1" fill="hold">
                                          <p:stCondLst>
                                            <p:cond delay="0"/>
                                          </p:stCondLst>
                                        </p:cTn>
                                        <p:tgtEl>
                                          <p:spTgt spid="60"/>
                                        </p:tgtEl>
                                        <p:attrNameLst>
                                          <p:attrName>style.visibility</p:attrName>
                                        </p:attrNameLst>
                                      </p:cBhvr>
                                      <p:to>
                                        <p:strVal val="visible"/>
                                      </p:to>
                                    </p:set>
                                    <p:animEffect transition="in" filter="fade">
                                      <p:cBhvr>
                                        <p:cTn id="67" dur="400"/>
                                        <p:tgtEl>
                                          <p:spTgt spid="60"/>
                                        </p:tgtEl>
                                      </p:cBhvr>
                                    </p:animEffect>
                                  </p:childTnLst>
                                </p:cTn>
                              </p:par>
                              <p:par>
                                <p:cTn id="68" presetID="10" presetClass="entr" presetSubtype="0" fill="hold" nodeType="withEffect">
                                  <p:stCondLst>
                                    <p:cond delay="0"/>
                                  </p:stCondLst>
                                  <p:childTnLst>
                                    <p:set>
                                      <p:cBhvr>
                                        <p:cTn id="69" dur="1" fill="hold">
                                          <p:stCondLst>
                                            <p:cond delay="0"/>
                                          </p:stCondLst>
                                        </p:cTn>
                                        <p:tgtEl>
                                          <p:spTgt spid="61"/>
                                        </p:tgtEl>
                                        <p:attrNameLst>
                                          <p:attrName>style.visibility</p:attrName>
                                        </p:attrNameLst>
                                      </p:cBhvr>
                                      <p:to>
                                        <p:strVal val="visible"/>
                                      </p:to>
                                    </p:set>
                                    <p:animEffect transition="in" filter="fade">
                                      <p:cBhvr>
                                        <p:cTn id="70" dur="400"/>
                                        <p:tgtEl>
                                          <p:spTgt spid="6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3.xml><?xml version="1.0" encoding="utf-8"?>
<p:sld xmlns:a="http://schemas.openxmlformats.org/drawingml/2006/main" xmlns:r="http://schemas.openxmlformats.org/officeDocument/2006/relationships" xmlns:p="http://schemas.openxmlformats.org/presentationml/2006/main">
  <p:cSld name="Slide 13">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361"/>
          <p:cNvSpPr/>
          <p:nvPr/>
        </p:nvSpPr>
        <p:spPr>
          <a:xfrm>
            <a:off x="201168" y="164592"/>
            <a:ext cx="841248" cy="841248"/>
          </a:xfrm>
          <a:prstGeom prst="ellipse">
            <a:avLst/>
          </a:prstGeom>
          <a:solidFill>
            <a:srgbClr val="E8508F"/>
          </a:solidFill>
          <a:ln w="28575">
            <a:solidFill>
              <a:srgbClr val="F7A6C4"/>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13</a:t>
            </a:r>
            <a:endParaRPr lang="en-US" sz="2200" dirty="0"/>
          </a:p>
        </p:txBody>
      </p:sp>
      <p:pic>
        <p:nvPicPr>
          <p:cNvPr id="4" name="brY_362" descr="/home/claude/lls-course/v2/assets/brush-yellow.png">    </p:cNvPr>
          <p:cNvPicPr>
            <a:picLocks noChangeAspect="1"/>
          </p:cNvPicPr>
          <p:nvPr/>
        </p:nvPicPr>
        <p:blipFill>
          <a:blip r:embed="rId2"/>
          <a:stretch>
            <a:fillRect/>
          </a:stretch>
        </p:blipFill>
        <p:spPr>
          <a:xfrm>
            <a:off x="1097280" y="146304"/>
            <a:ext cx="3562502" cy="621792"/>
          </a:xfrm>
          <a:prstGeom prst="rect">
            <a:avLst/>
          </a:prstGeom>
        </p:spPr>
      </p:pic>
      <p:sp>
        <p:nvSpPr>
          <p:cNvPr id="5" name="title_363"/>
          <p:cNvSpPr/>
          <p:nvPr/>
        </p:nvSpPr>
        <p:spPr>
          <a:xfrm>
            <a:off x="1261872" y="164592"/>
            <a:ext cx="3288182"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Are you surprised?</a:t>
            </a:r>
            <a:endParaRPr lang="en-US" sz="2500" dirty="0"/>
          </a:p>
        </p:txBody>
      </p:sp>
      <p:pic>
        <p:nvPicPr>
          <p:cNvPr id="6" name="brP_364" descr="/home/claude/lls-course/v2/assets/brush-pink.png">    </p:cNvPr>
          <p:cNvPicPr>
            <a:picLocks noChangeAspect="1"/>
          </p:cNvPicPr>
          <p:nvPr/>
        </p:nvPicPr>
        <p:blipFill>
          <a:blip r:embed="rId3"/>
          <a:stretch>
            <a:fillRect/>
          </a:stretch>
        </p:blipFill>
        <p:spPr>
          <a:xfrm>
            <a:off x="1207008" y="731520"/>
            <a:ext cx="3945636" cy="402336"/>
          </a:xfrm>
          <a:prstGeom prst="rect">
            <a:avLst/>
          </a:prstGeom>
        </p:spPr>
      </p:pic>
      <p:sp>
        <p:nvSpPr>
          <p:cNvPr id="7" name="ins_365"/>
          <p:cNvSpPr/>
          <p:nvPr/>
        </p:nvSpPr>
        <p:spPr>
          <a:xfrm>
            <a:off x="1353312" y="731520"/>
            <a:ext cx="3689604"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Answer the question. Give an example!</a:t>
            </a:r>
            <a:endParaRPr lang="en-US" sz="1250" dirty="0"/>
          </a:p>
        </p:txBody>
      </p:sp>
      <p:sp>
        <p:nvSpPr>
          <p:cNvPr id="8" name="insIT_366"/>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Rispondi alla domanda. Fai un esempio!</a:t>
            </a:r>
            <a:endParaRPr lang="en-US" sz="950" dirty="0"/>
          </a:p>
        </p:txBody>
      </p:sp>
      <p:sp>
        <p:nvSpPr>
          <p:cNvPr id="9" name="note_367"/>
          <p:cNvSpPr/>
          <p:nvPr/>
        </p:nvSpPr>
        <p:spPr>
          <a:xfrm rot="180000">
            <a:off x="6382512" y="128016"/>
            <a:ext cx="2029968" cy="1024128"/>
          </a:xfrm>
          <a:prstGeom prst="rect">
            <a:avLst/>
          </a:prstGeom>
          <a:solidFill>
            <a:srgbClr val="FFC2DA"/>
          </a:solidFill>
          <a:ln>
            <a:solidFill>
              <a:srgbClr val="FFC2DA"/>
            </a:solidFill>
          </a:ln>
          <a:effectLst>
            <a:outerShdw sx="100000" sy="100000" kx="0" ky="0" algn="bl" rotWithShape="0" blurRad="88900" dist="31750" dir="5400000">
              <a:srgbClr val="1B2559">
                <a:alpha val="15000"/>
              </a:srgbClr>
            </a:outerShdw>
          </a:effectLst>
        </p:spPr>
        <p:txBody>
          <a:bodyPr wrap="square" lIns="50800" tIns="50800" rIns="50800" bIns="50800" rtlCol="0" anchor="ctr">
            <a:normAutofit/>
          </a:bodyPr>
          <a:lstStyle/>
          <a:p>
            <a:pPr algn="ctr" indent="0" marL="0">
              <a:buNone/>
            </a:pPr>
            <a:r>
              <a:rPr lang="en-US" sz="1250" dirty="0">
                <a:solidFill>
                  <a:srgbClr val="1B2559"/>
                </a:solidFill>
                <a:latin typeface="Arial Rounded MT Bold" pitchFamily="34" charset="0"/>
                <a:ea typeface="Arial Rounded MT Bold" pitchFamily="34" charset="-122"/>
                <a:cs typeface="Arial Rounded MT Bold" pitchFamily="34" charset="-120"/>
              </a:rPr>
              <a:t>💬 TALK</a:t>
            </a:r>
            <a:pPr algn="ctr" indent="0" marL="0">
              <a:buNone/>
            </a:pPr>
            <a:r>
              <a:rPr lang="en-US" sz="1250" dirty="0">
                <a:solidFill>
                  <a:srgbClr val="1B2559"/>
                </a:solidFill>
                <a:latin typeface="Arial Rounded MT Bold" pitchFamily="34" charset="0"/>
                <a:ea typeface="Arial Rounded MT Bold" pitchFamily="34" charset="-122"/>
                <a:cs typeface="Arial Rounded MT Bold" pitchFamily="34" charset="-120"/>
              </a:rPr>
              <a:t> · PARLA</a:t>
            </a:r>
            <a:endParaRPr lang="en-US" sz="1250" dirty="0"/>
          </a:p>
          <a:p>
            <a:pPr algn="ctr" indent="0" marL="0">
              <a:buNone/>
            </a:pPr>
            <a:r>
              <a:rPr lang="en-US" sz="1100" dirty="0">
                <a:solidFill>
                  <a:srgbClr val="1B2559"/>
                </a:solidFill>
                <a:latin typeface="Segoe UI Semibold" pitchFamily="34" charset="0"/>
                <a:ea typeface="Segoe UI Semibold" pitchFamily="34" charset="-122"/>
                <a:cs typeface="Segoe UI Semibold" pitchFamily="34" charset="-120"/>
              </a:rPr>
              <a:t>⏱ 3 min   👥 pairs</a:t>
            </a:r>
            <a:endParaRPr lang="en-US" sz="1250" dirty="0"/>
          </a:p>
          <a:p>
            <a:pPr algn="ctr" indent="0" marL="0">
              <a:buNone/>
            </a:pPr>
            <a:r>
              <a:rPr lang="en-US" sz="900" dirty="0">
                <a:solidFill>
                  <a:srgbClr val="5B6785"/>
                </a:solidFill>
                <a:latin typeface="Segoe UI Semibold" pitchFamily="34" charset="0"/>
                <a:ea typeface="Segoe UI Semibold" pitchFamily="34" charset="-122"/>
                <a:cs typeface="Segoe UI Semibold" pitchFamily="34" charset="-120"/>
              </a:rPr>
              <a:t>🎯 Speaking · Communicative</a:t>
            </a:r>
            <a:endParaRPr lang="en-US" sz="1250" dirty="0"/>
          </a:p>
        </p:txBody>
      </p:sp>
      <p:pic>
        <p:nvPicPr>
          <p:cNvPr id="10" name="logo_368"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1" name="foot_369"/>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3B-1 · Speaking · react to the article   ·   📖 SB p.30 · 1f</a:t>
            </a:r>
            <a:endParaRPr lang="en-US" sz="800" dirty="0"/>
          </a:p>
        </p:txBody>
      </p:sp>
      <p:sp>
        <p:nvSpPr>
          <p:cNvPr id="12" name="pf_370"/>
          <p:cNvSpPr/>
          <p:nvPr/>
        </p:nvSpPr>
        <p:spPr>
          <a:xfrm rot="-120000">
            <a:off x="742588" y="1371600"/>
            <a:ext cx="1943824" cy="1325880"/>
          </a:xfrm>
          <a:prstGeom prst="roundRect">
            <a:avLst>
              <a:gd name="adj" fmla="val 11724"/>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13" name="ph_371" descr="/home/claude/lls-course/v2/cache/3b1_caring_jpg_446x297_31.png">    </p:cNvPr>
          <p:cNvPicPr>
            <a:picLocks noChangeAspect="1"/>
          </p:cNvPicPr>
          <p:nvPr/>
        </p:nvPicPr>
        <p:blipFill>
          <a:blip r:embed="rId5"/>
          <a:stretch>
            <a:fillRect/>
          </a:stretch>
        </p:blipFill>
        <p:spPr>
          <a:xfrm rot="-120000">
            <a:off x="788308" y="1417320"/>
            <a:ext cx="1852384" cy="1234440"/>
          </a:xfrm>
          <a:prstGeom prst="rect">
            <a:avLst/>
          </a:prstGeom>
        </p:spPr>
      </p:pic>
      <p:sp>
        <p:nvSpPr>
          <p:cNvPr id="14" name="cd_372"/>
          <p:cNvSpPr/>
          <p:nvPr/>
        </p:nvSpPr>
        <p:spPr>
          <a:xfrm>
            <a:off x="320040" y="2880360"/>
            <a:ext cx="2788920" cy="1874520"/>
          </a:xfrm>
          <a:prstGeom prst="roundRect">
            <a:avLst>
              <a:gd name="adj" fmla="val 6829"/>
            </a:avLst>
          </a:prstGeom>
          <a:solidFill>
            <a:srgbClr val="EEE8FB"/>
          </a:solidFill>
          <a:ln w="28575">
            <a:solidFill>
              <a:srgbClr val="CDBFF3"/>
            </a:solidFill>
            <a:prstDash val="solid"/>
          </a:ln>
          <a:effectLst>
            <a:outerShdw sx="100000" sy="100000" kx="0" ky="0" algn="bl" rotWithShape="0" blurRad="88900" dist="31750" dir="5400000">
              <a:srgbClr val="1B2559">
                <a:alpha val="12000"/>
              </a:srgbClr>
            </a:outerShdw>
          </a:effectLst>
        </p:spPr>
      </p:sp>
      <p:sp>
        <p:nvSpPr>
          <p:cNvPr id="15" name="ii_373"/>
          <p:cNvSpPr/>
          <p:nvPr/>
        </p:nvSpPr>
        <p:spPr>
          <a:xfrm>
            <a:off x="411480" y="295351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6" name="ih_374"/>
          <p:cNvSpPr/>
          <p:nvPr/>
        </p:nvSpPr>
        <p:spPr>
          <a:xfrm>
            <a:off x="886968" y="2971800"/>
            <a:ext cx="2148840" cy="365760"/>
          </a:xfrm>
          <a:prstGeom prst="rect">
            <a:avLst/>
          </a:prstGeom>
          <a:noFill/>
          <a:ln/>
        </p:spPr>
        <p:txBody>
          <a:bodyPr wrap="square" lIns="0" tIns="0" rIns="0" bIns="0" rtlCol="0" anchor="ctr"/>
          <a:lstStyle/>
          <a:p>
            <a:pP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Useful phrases</a:t>
            </a:r>
            <a:endParaRPr lang="en-US" sz="1300" dirty="0"/>
          </a:p>
        </p:txBody>
      </p:sp>
      <p:sp>
        <p:nvSpPr>
          <p:cNvPr id="17" name="il_375"/>
          <p:cNvSpPr/>
          <p:nvPr/>
        </p:nvSpPr>
        <p:spPr>
          <a:xfrm>
            <a:off x="886968" y="3374136"/>
            <a:ext cx="2130552" cy="1307592"/>
          </a:xfrm>
          <a:prstGeom prst="rect">
            <a:avLst/>
          </a:prstGeom>
          <a:noFill/>
          <a:ln/>
        </p:spPr>
        <p:txBody>
          <a:bodyPr wrap="square" lIns="0" tIns="0" rIns="0" bIns="0" rtlCol="0" anchor="t">
            <a:normAutofit/>
          </a:bodyPr>
          <a:lstStyle/>
          <a:p>
            <a:pPr marL="152400" indent="-152400">
              <a:spcAft>
                <a:spcPts val="200"/>
              </a:spcAft>
              <a:buSzPct val="100000"/>
              <a:buChar char="•"/>
            </a:pPr>
            <a:r>
              <a:rPr lang="en-US" sz="1150" dirty="0">
                <a:solidFill>
                  <a:srgbClr val="1B2559"/>
                </a:solidFill>
                <a:latin typeface="Segoe UI Semibold" pitchFamily="34" charset="0"/>
                <a:ea typeface="Segoe UI Semibold" pitchFamily="34" charset="-122"/>
                <a:cs typeface="Segoe UI Semibold" pitchFamily="34" charset="-120"/>
              </a:rPr>
              <a:t>I'm (not) surprised because…</a:t>
            </a:r>
            <a:endParaRPr lang="en-US" sz="1150" dirty="0"/>
          </a:p>
          <a:p>
            <a:pPr marL="152400" indent="-152400">
              <a:spcBef>
                <a:spcPts val="600"/>
              </a:spcBef>
              <a:spcAft>
                <a:spcPts val="200"/>
              </a:spcAft>
              <a:buSzPct val="100000"/>
              <a:buChar char="•"/>
            </a:pPr>
            <a:r>
              <a:rPr lang="en-US" sz="1150" dirty="0">
                <a:solidFill>
                  <a:srgbClr val="1B2559"/>
                </a:solidFill>
                <a:latin typeface="Segoe UI Semibold" pitchFamily="34" charset="0"/>
                <a:ea typeface="Segoe UI Semibold" pitchFamily="34" charset="-122"/>
                <a:cs typeface="Segoe UI Semibold" pitchFamily="34" charset="-120"/>
              </a:rPr>
              <a:t>In my family, …</a:t>
            </a:r>
            <a:endParaRPr lang="en-US" sz="1150" dirty="0"/>
          </a:p>
          <a:p>
            <a:pPr marL="152400" indent="-152400">
              <a:spcBef>
                <a:spcPts val="600"/>
              </a:spcBef>
              <a:spcAft>
                <a:spcPts val="200"/>
              </a:spcAft>
              <a:buSzPct val="100000"/>
              <a:buChar char="•"/>
            </a:pPr>
            <a:r>
              <a:rPr lang="en-US" sz="1150" dirty="0">
                <a:solidFill>
                  <a:srgbClr val="1B2559"/>
                </a:solidFill>
                <a:latin typeface="Segoe UI Semibold" pitchFamily="34" charset="0"/>
                <a:ea typeface="Segoe UI Semibold" pitchFamily="34" charset="-122"/>
                <a:cs typeface="Segoe UI Semibold" pitchFamily="34" charset="-120"/>
              </a:rPr>
              <a:t>I'm sorry, I'd rather not say.</a:t>
            </a:r>
            <a:endParaRPr lang="en-US" sz="1150" dirty="0"/>
          </a:p>
        </p:txBody>
      </p:sp>
      <p:sp>
        <p:nvSpPr>
          <p:cNvPr id="18" name="R1_qb376"/>
          <p:cNvSpPr/>
          <p:nvPr/>
        </p:nvSpPr>
        <p:spPr>
          <a:xfrm>
            <a:off x="3273552" y="1453896"/>
            <a:ext cx="329184" cy="329184"/>
          </a:xfrm>
          <a:prstGeom prst="ellipse">
            <a:avLst/>
          </a:prstGeom>
          <a:solidFill>
            <a:srgbClr val="E8508F"/>
          </a:solidFill>
          <a:ln w="28575">
            <a:solidFill>
              <a:srgbClr val="F7A6C4"/>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1</a:t>
            </a:r>
            <a:endParaRPr lang="en-US" sz="1100" dirty="0"/>
          </a:p>
        </p:txBody>
      </p:sp>
      <p:sp>
        <p:nvSpPr>
          <p:cNvPr id="19" name="R1_sq377"/>
          <p:cNvSpPr/>
          <p:nvPr/>
        </p:nvSpPr>
        <p:spPr>
          <a:xfrm>
            <a:off x="3675888" y="1417320"/>
            <a:ext cx="5193792" cy="530352"/>
          </a:xfrm>
          <a:prstGeom prst="roundRect">
            <a:avLst>
              <a:gd name="adj" fmla="val 20690"/>
            </a:avLst>
          </a:prstGeom>
          <a:solidFill>
            <a:srgbClr val="FFFFFF"/>
          </a:solidFill>
          <a:ln w="28575">
            <a:solidFill>
              <a:srgbClr val="F7A6C4"/>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950" dirty="0">
                <a:solidFill>
                  <a:srgbClr val="1B2559"/>
                </a:solidFill>
                <a:latin typeface="Segoe UI Semibold" pitchFamily="34" charset="0"/>
                <a:ea typeface="Segoe UI Semibold" pitchFamily="34" charset="-122"/>
                <a:cs typeface="Segoe UI Semibold" pitchFamily="34" charset="-120"/>
              </a:rPr>
              <a:t>Men solved 50% more problems in the maze. Are you surprised?</a:t>
            </a:r>
            <a:endParaRPr lang="en-US" sz="950" dirty="0"/>
          </a:p>
          <a:p>
            <a:pPr indent="0" marL="0">
              <a:buNone/>
            </a:pPr>
            <a:r>
              <a:rPr lang="en-US" sz="850" i="1" dirty="0">
                <a:solidFill>
                  <a:srgbClr val="5B6785"/>
                </a:solidFill>
                <a:latin typeface="Segoe UI Semibold" pitchFamily="34" charset="0"/>
                <a:ea typeface="Segoe UI Semibold" pitchFamily="34" charset="-122"/>
                <a:cs typeface="Segoe UI Semibold" pitchFamily="34" charset="-120"/>
              </a:rPr>
              <a:t>e.g. Not really. My dad never uses the satnav!</a:t>
            </a:r>
            <a:endParaRPr lang="en-US" sz="950" dirty="0"/>
          </a:p>
        </p:txBody>
      </p:sp>
      <p:sp>
        <p:nvSpPr>
          <p:cNvPr id="20" name="R2_qb378"/>
          <p:cNvSpPr/>
          <p:nvPr/>
        </p:nvSpPr>
        <p:spPr>
          <a:xfrm>
            <a:off x="3273552" y="2057400"/>
            <a:ext cx="329184" cy="329184"/>
          </a:xfrm>
          <a:prstGeom prst="ellipse">
            <a:avLst/>
          </a:prstGeom>
          <a:solidFill>
            <a:srgbClr val="2F8DE4"/>
          </a:solidFill>
          <a:ln w="28575">
            <a:solidFill>
              <a:srgbClr val="A9D3F5"/>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2</a:t>
            </a:r>
            <a:endParaRPr lang="en-US" sz="1100" dirty="0"/>
          </a:p>
        </p:txBody>
      </p:sp>
      <p:sp>
        <p:nvSpPr>
          <p:cNvPr id="21" name="R2_sq379"/>
          <p:cNvSpPr/>
          <p:nvPr/>
        </p:nvSpPr>
        <p:spPr>
          <a:xfrm>
            <a:off x="3675888" y="2020824"/>
            <a:ext cx="5193792" cy="530352"/>
          </a:xfrm>
          <a:prstGeom prst="roundRect">
            <a:avLst>
              <a:gd name="adj" fmla="val 20690"/>
            </a:avLst>
          </a:prstGeom>
          <a:solidFill>
            <a:srgbClr val="FFFFFF"/>
          </a:solidFill>
          <a:ln w="28575">
            <a:solidFill>
              <a:srgbClr val="A9D3F5"/>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950" dirty="0">
                <a:solidFill>
                  <a:srgbClr val="1B2559"/>
                </a:solidFill>
                <a:latin typeface="Segoe UI Semibold" pitchFamily="34" charset="0"/>
                <a:ea typeface="Segoe UI Semibold" pitchFamily="34" charset="-122"/>
                <a:cs typeface="Segoe UI Semibold" pitchFamily="34" charset="-120"/>
              </a:rPr>
              <a:t>Women have 30% more Foxp2 – the 'language protein'. Who talks most in your family?</a:t>
            </a:r>
            <a:endParaRPr lang="en-US" sz="950" dirty="0"/>
          </a:p>
          <a:p>
            <a:pPr indent="0" marL="0">
              <a:buNone/>
            </a:pPr>
            <a:r>
              <a:rPr lang="en-US" sz="850" i="1" dirty="0">
                <a:solidFill>
                  <a:srgbClr val="5B6785"/>
                </a:solidFill>
                <a:latin typeface="Segoe UI Semibold" pitchFamily="34" charset="0"/>
                <a:ea typeface="Segoe UI Semibold" pitchFamily="34" charset="-122"/>
                <a:cs typeface="Segoe UI Semibold" pitchFamily="34" charset="-120"/>
              </a:rPr>
              <a:t>e.g. My sister! She never stops talking.</a:t>
            </a:r>
            <a:endParaRPr lang="en-US" sz="950" dirty="0"/>
          </a:p>
        </p:txBody>
      </p:sp>
      <p:sp>
        <p:nvSpPr>
          <p:cNvPr id="22" name="R3_qb380"/>
          <p:cNvSpPr/>
          <p:nvPr/>
        </p:nvSpPr>
        <p:spPr>
          <a:xfrm>
            <a:off x="3273552" y="2660904"/>
            <a:ext cx="329184" cy="329184"/>
          </a:xfrm>
          <a:prstGeom prst="ellipse">
            <a:avLst/>
          </a:prstGeom>
          <a:solidFill>
            <a:srgbClr val="2EB872"/>
          </a:solidFill>
          <a:ln w="28575">
            <a:solidFill>
              <a:srgbClr val="A8E5BE"/>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3</a:t>
            </a:r>
            <a:endParaRPr lang="en-US" sz="1100" dirty="0"/>
          </a:p>
        </p:txBody>
      </p:sp>
      <p:sp>
        <p:nvSpPr>
          <p:cNvPr id="23" name="R3_sq381"/>
          <p:cNvSpPr/>
          <p:nvPr/>
        </p:nvSpPr>
        <p:spPr>
          <a:xfrm>
            <a:off x="3675888" y="2624328"/>
            <a:ext cx="4507992" cy="530352"/>
          </a:xfrm>
          <a:prstGeom prst="roundRect">
            <a:avLst>
              <a:gd name="adj" fmla="val 20690"/>
            </a:avLst>
          </a:prstGeom>
          <a:solidFill>
            <a:srgbClr val="FFFFFF"/>
          </a:solidFill>
          <a:ln w="28575">
            <a:solidFill>
              <a:srgbClr val="A8E5BE"/>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950" dirty="0">
                <a:solidFill>
                  <a:srgbClr val="1B2559"/>
                </a:solidFill>
                <a:latin typeface="Segoe UI Semibold" pitchFamily="34" charset="0"/>
                <a:ea typeface="Segoe UI Semibold" pitchFamily="34" charset="-122"/>
                <a:cs typeface="Segoe UI Semibold" pitchFamily="34" charset="-120"/>
              </a:rPr>
              <a:t>Women did 4 things at once in 8 minutes. Can you multitask?</a:t>
            </a:r>
            <a:endParaRPr lang="en-US" sz="950" dirty="0"/>
          </a:p>
          <a:p>
            <a:pPr indent="0" marL="0">
              <a:buNone/>
            </a:pPr>
            <a:r>
              <a:rPr lang="en-US" sz="850" i="1" dirty="0">
                <a:solidFill>
                  <a:srgbClr val="5B6785"/>
                </a:solidFill>
                <a:latin typeface="Segoe UI Semibold" pitchFamily="34" charset="0"/>
                <a:ea typeface="Segoe UI Semibold" pitchFamily="34" charset="-122"/>
                <a:cs typeface="Segoe UI Semibold" pitchFamily="34" charset="-120"/>
              </a:rPr>
              <a:t>e.g. Yes – I do my homework and listen to music at the same time!</a:t>
            </a:r>
            <a:endParaRPr lang="en-US" sz="950" dirty="0"/>
          </a:p>
        </p:txBody>
      </p:sp>
      <p:pic>
        <p:nvPicPr>
          <p:cNvPr id="24" name="R3_th382" descr="/home/claude/lls-course/v2/cache/3b1_multitask_jpg_154x119_18.png">    </p:cNvPr>
          <p:cNvPicPr>
            <a:picLocks noChangeAspect="1"/>
          </p:cNvPicPr>
          <p:nvPr/>
        </p:nvPicPr>
        <p:blipFill>
          <a:blip r:embed="rId6"/>
          <a:stretch>
            <a:fillRect/>
          </a:stretch>
        </p:blipFill>
        <p:spPr>
          <a:xfrm>
            <a:off x="8257032" y="2642616"/>
            <a:ext cx="640080" cy="493776"/>
          </a:xfrm>
          <a:prstGeom prst="rect">
            <a:avLst/>
          </a:prstGeom>
        </p:spPr>
      </p:pic>
      <p:sp>
        <p:nvSpPr>
          <p:cNvPr id="25" name="R4_qb383"/>
          <p:cNvSpPr/>
          <p:nvPr/>
        </p:nvSpPr>
        <p:spPr>
          <a:xfrm>
            <a:off x="3273552" y="3264408"/>
            <a:ext cx="329184" cy="329184"/>
          </a:xfrm>
          <a:prstGeom prst="ellipse">
            <a:avLst/>
          </a:prstGeom>
          <a:solidFill>
            <a:srgbClr val="F2B705"/>
          </a:solidFill>
          <a:ln w="28575">
            <a:solidFill>
              <a:srgbClr val="FFE07A"/>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4</a:t>
            </a:r>
            <a:endParaRPr lang="en-US" sz="1100" dirty="0"/>
          </a:p>
        </p:txBody>
      </p:sp>
      <p:sp>
        <p:nvSpPr>
          <p:cNvPr id="26" name="R4_sq384"/>
          <p:cNvSpPr/>
          <p:nvPr/>
        </p:nvSpPr>
        <p:spPr>
          <a:xfrm>
            <a:off x="3675888" y="3227832"/>
            <a:ext cx="5193792" cy="530352"/>
          </a:xfrm>
          <a:prstGeom prst="roundRect">
            <a:avLst>
              <a:gd name="adj" fmla="val 20690"/>
            </a:avLst>
          </a:prstGeom>
          <a:solidFill>
            <a:srgbClr val="FFFFFF"/>
          </a:solidFill>
          <a:ln w="28575">
            <a:solidFill>
              <a:srgbClr val="FFE07A"/>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950" dirty="0">
                <a:solidFill>
                  <a:srgbClr val="1B2559"/>
                </a:solidFill>
                <a:latin typeface="Segoe UI Semibold" pitchFamily="34" charset="0"/>
                <a:ea typeface="Segoe UI Semibold" pitchFamily="34" charset="-122"/>
                <a:cs typeface="Segoe UI Semibold" pitchFamily="34" charset="-120"/>
              </a:rPr>
              <a:t>The judges preferred the men's jokes. Who's the funniest person you know?</a:t>
            </a:r>
            <a:endParaRPr lang="en-US" sz="950" dirty="0"/>
          </a:p>
          <a:p>
            <a:pPr indent="0" marL="0">
              <a:buNone/>
            </a:pPr>
            <a:r>
              <a:rPr lang="en-US" sz="850" i="1" dirty="0">
                <a:solidFill>
                  <a:srgbClr val="5B6785"/>
                </a:solidFill>
                <a:latin typeface="Segoe UI Semibold" pitchFamily="34" charset="0"/>
                <a:ea typeface="Segoe UI Semibold" pitchFamily="34" charset="-122"/>
                <a:cs typeface="Segoe UI Semibold" pitchFamily="34" charset="-120"/>
              </a:rPr>
              <a:t>e.g. My grandmother. Her jokes are the best!</a:t>
            </a:r>
            <a:endParaRPr lang="en-US" sz="950" dirty="0"/>
          </a:p>
        </p:txBody>
      </p:sp>
      <p:sp>
        <p:nvSpPr>
          <p:cNvPr id="27" name="R5_qb385"/>
          <p:cNvSpPr/>
          <p:nvPr/>
        </p:nvSpPr>
        <p:spPr>
          <a:xfrm>
            <a:off x="3273552" y="3867912"/>
            <a:ext cx="329184" cy="329184"/>
          </a:xfrm>
          <a:prstGeom prst="ellipse">
            <a:avLst/>
          </a:prstGeom>
          <a:solidFill>
            <a:srgbClr val="E8508F"/>
          </a:solidFill>
          <a:ln w="28575">
            <a:solidFill>
              <a:srgbClr val="F7A6C4"/>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5</a:t>
            </a:r>
            <a:endParaRPr lang="en-US" sz="1100" dirty="0"/>
          </a:p>
        </p:txBody>
      </p:sp>
      <p:sp>
        <p:nvSpPr>
          <p:cNvPr id="28" name="R5_sq386"/>
          <p:cNvSpPr/>
          <p:nvPr/>
        </p:nvSpPr>
        <p:spPr>
          <a:xfrm>
            <a:off x="3675888" y="3831336"/>
            <a:ext cx="5193792" cy="530352"/>
          </a:xfrm>
          <a:prstGeom prst="roundRect">
            <a:avLst>
              <a:gd name="adj" fmla="val 20690"/>
            </a:avLst>
          </a:prstGeom>
          <a:solidFill>
            <a:srgbClr val="FFFFFF"/>
          </a:solidFill>
          <a:ln w="28575">
            <a:solidFill>
              <a:srgbClr val="F7A6C4"/>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950" dirty="0">
                <a:solidFill>
                  <a:srgbClr val="1B2559"/>
                </a:solidFill>
                <a:latin typeface="Segoe UI Semibold" pitchFamily="34" charset="0"/>
                <a:ea typeface="Segoe UI Semibold" pitchFamily="34" charset="-122"/>
                <a:cs typeface="Segoe UI Semibold" pitchFamily="34" charset="-120"/>
              </a:rPr>
              <a:t>Think of one more stereotype about men or women. Is it true?</a:t>
            </a:r>
            <a:endParaRPr lang="en-US" sz="950" dirty="0"/>
          </a:p>
          <a:p>
            <a:pPr indent="0" marL="0">
              <a:buNone/>
            </a:pPr>
            <a:r>
              <a:rPr lang="en-US" sz="850" i="1" dirty="0">
                <a:solidFill>
                  <a:srgbClr val="5B6785"/>
                </a:solidFill>
                <a:latin typeface="Segoe UI Semibold" pitchFamily="34" charset="0"/>
                <a:ea typeface="Segoe UI Semibold" pitchFamily="34" charset="-122"/>
                <a:cs typeface="Segoe UI Semibold" pitchFamily="34" charset="-120"/>
              </a:rPr>
              <a:t>e.g. People say men can't cook. Not true – my dad is a great cook!</a:t>
            </a:r>
            <a:endParaRPr lang="en-US" sz="95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8"/>
                                        </p:tgtEl>
                                        <p:attrNameLst>
                                          <p:attrName>style.visibility</p:attrName>
                                        </p:attrNameLst>
                                      </p:cBhvr>
                                      <p:to>
                                        <p:strVal val="visible"/>
                                      </p:to>
                                    </p:set>
                                    <p:animEffect transition="in" filter="fade">
                                      <p:cBhvr>
                                        <p:cTn id="7" dur="400"/>
                                        <p:tgtEl>
                                          <p:spTgt spid="18"/>
                                        </p:tgtEl>
                                      </p:cBhvr>
                                    </p:animEffect>
                                  </p:childTnLst>
                                </p:cTn>
                              </p:par>
                              <p:par>
                                <p:cTn id="8" presetID="10" presetClass="entr" presetSubtype="0" fill="hold" nodeType="withEffect">
                                  <p:stCondLst>
                                    <p:cond delay="0"/>
                                  </p:stCondLst>
                                  <p:childTnLst>
                                    <p:set>
                                      <p:cBhvr>
                                        <p:cTn id="9" dur="1" fill="hold">
                                          <p:stCondLst>
                                            <p:cond delay="0"/>
                                          </p:stCondLst>
                                        </p:cTn>
                                        <p:tgtEl>
                                          <p:spTgt spid="19"/>
                                        </p:tgtEl>
                                        <p:attrNameLst>
                                          <p:attrName>style.visibility</p:attrName>
                                        </p:attrNameLst>
                                      </p:cBhvr>
                                      <p:to>
                                        <p:strVal val="visible"/>
                                      </p:to>
                                    </p:set>
                                    <p:animEffect transition="in" filter="fade">
                                      <p:cBhvr>
                                        <p:cTn id="10" dur="400"/>
                                        <p:tgtEl>
                                          <p:spTgt spid="19"/>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nodeType="clickEffect">
                                  <p:stCondLst>
                                    <p:cond delay="0"/>
                                  </p:stCondLst>
                                  <p:childTnLst>
                                    <p:set>
                                      <p:cBhvr>
                                        <p:cTn id="14" dur="1" fill="hold">
                                          <p:stCondLst>
                                            <p:cond delay="0"/>
                                          </p:stCondLst>
                                        </p:cTn>
                                        <p:tgtEl>
                                          <p:spTgt spid="20"/>
                                        </p:tgtEl>
                                        <p:attrNameLst>
                                          <p:attrName>style.visibility</p:attrName>
                                        </p:attrNameLst>
                                      </p:cBhvr>
                                      <p:to>
                                        <p:strVal val="visible"/>
                                      </p:to>
                                    </p:set>
                                    <p:animEffect transition="in" filter="fade">
                                      <p:cBhvr>
                                        <p:cTn id="15" dur="400"/>
                                        <p:tgtEl>
                                          <p:spTgt spid="20"/>
                                        </p:tgtEl>
                                      </p:cBhvr>
                                    </p:animEffect>
                                  </p:childTnLst>
                                </p:cTn>
                              </p:par>
                              <p:par>
                                <p:cTn id="16" presetID="10" presetClass="entr" presetSubtype="0" fill="hold" nodeType="withEffect">
                                  <p:stCondLst>
                                    <p:cond delay="0"/>
                                  </p:stCondLst>
                                  <p:childTnLst>
                                    <p:set>
                                      <p:cBhvr>
                                        <p:cTn id="17" dur="1" fill="hold">
                                          <p:stCondLst>
                                            <p:cond delay="0"/>
                                          </p:stCondLst>
                                        </p:cTn>
                                        <p:tgtEl>
                                          <p:spTgt spid="21"/>
                                        </p:tgtEl>
                                        <p:attrNameLst>
                                          <p:attrName>style.visibility</p:attrName>
                                        </p:attrNameLst>
                                      </p:cBhvr>
                                      <p:to>
                                        <p:strVal val="visible"/>
                                      </p:to>
                                    </p:set>
                                    <p:animEffect transition="in" filter="fade">
                                      <p:cBhvr>
                                        <p:cTn id="18" dur="400"/>
                                        <p:tgtEl>
                                          <p:spTgt spid="21"/>
                                        </p:tgtEl>
                                      </p:cBhvr>
                                    </p:animEffect>
                                  </p:childTnLst>
                                </p:cTn>
                              </p:par>
                            </p:childTnLst>
                          </p:cTn>
                        </p:par>
                      </p:childTnLst>
                    </p:cTn>
                  </p:par>
                  <p:par>
                    <p:cTn id="19" fill="hold">
                      <p:stCondLst>
                        <p:cond delay="indefinite"/>
                      </p:stCondLst>
                      <p:childTnLst>
                        <p:par>
                          <p:cTn id="20" fill="hold">
                            <p:stCondLst>
                              <p:cond delay="0"/>
                            </p:stCondLst>
                            <p:childTnLst>
                              <p:par>
                                <p:cTn id="21" presetID="10" presetClass="entr" presetSubtype="0" fill="hold" nodeType="clickEffect">
                                  <p:stCondLst>
                                    <p:cond delay="0"/>
                                  </p:stCondLst>
                                  <p:childTnLst>
                                    <p:set>
                                      <p:cBhvr>
                                        <p:cTn id="22" dur="1" fill="hold">
                                          <p:stCondLst>
                                            <p:cond delay="0"/>
                                          </p:stCondLst>
                                        </p:cTn>
                                        <p:tgtEl>
                                          <p:spTgt spid="22"/>
                                        </p:tgtEl>
                                        <p:attrNameLst>
                                          <p:attrName>style.visibility</p:attrName>
                                        </p:attrNameLst>
                                      </p:cBhvr>
                                      <p:to>
                                        <p:strVal val="visible"/>
                                      </p:to>
                                    </p:set>
                                    <p:animEffect transition="in" filter="fade">
                                      <p:cBhvr>
                                        <p:cTn id="23" dur="400"/>
                                        <p:tgtEl>
                                          <p:spTgt spid="22"/>
                                        </p:tgtEl>
                                      </p:cBhvr>
                                    </p:animEffect>
                                  </p:childTnLst>
                                </p:cTn>
                              </p:par>
                              <p:par>
                                <p:cTn id="24" presetID="10" presetClass="entr" presetSubtype="0" fill="hold" nodeType="withEffect">
                                  <p:stCondLst>
                                    <p:cond delay="0"/>
                                  </p:stCondLst>
                                  <p:childTnLst>
                                    <p:set>
                                      <p:cBhvr>
                                        <p:cTn id="25" dur="1" fill="hold">
                                          <p:stCondLst>
                                            <p:cond delay="0"/>
                                          </p:stCondLst>
                                        </p:cTn>
                                        <p:tgtEl>
                                          <p:spTgt spid="23"/>
                                        </p:tgtEl>
                                        <p:attrNameLst>
                                          <p:attrName>style.visibility</p:attrName>
                                        </p:attrNameLst>
                                      </p:cBhvr>
                                      <p:to>
                                        <p:strVal val="visible"/>
                                      </p:to>
                                    </p:set>
                                    <p:animEffect transition="in" filter="fade">
                                      <p:cBhvr>
                                        <p:cTn id="26" dur="400"/>
                                        <p:tgtEl>
                                          <p:spTgt spid="23"/>
                                        </p:tgtEl>
                                      </p:cBhvr>
                                    </p:animEffect>
                                  </p:childTnLst>
                                </p:cTn>
                              </p:par>
                              <p:par>
                                <p:cTn id="27" presetID="10" presetClass="entr" presetSubtype="0" fill="hold" nodeType="withEffect">
                                  <p:stCondLst>
                                    <p:cond delay="0"/>
                                  </p:stCondLst>
                                  <p:childTnLst>
                                    <p:set>
                                      <p:cBhvr>
                                        <p:cTn id="28" dur="1" fill="hold">
                                          <p:stCondLst>
                                            <p:cond delay="0"/>
                                          </p:stCondLst>
                                        </p:cTn>
                                        <p:tgtEl>
                                          <p:spTgt spid="24"/>
                                        </p:tgtEl>
                                        <p:attrNameLst>
                                          <p:attrName>style.visibility</p:attrName>
                                        </p:attrNameLst>
                                      </p:cBhvr>
                                      <p:to>
                                        <p:strVal val="visible"/>
                                      </p:to>
                                    </p:set>
                                    <p:animEffect transition="in" filter="fade">
                                      <p:cBhvr>
                                        <p:cTn id="29" dur="400"/>
                                        <p:tgtEl>
                                          <p:spTgt spid="24"/>
                                        </p:tgtEl>
                                      </p:cBhvr>
                                    </p:animEffect>
                                  </p:childTnLst>
                                </p:cTn>
                              </p:par>
                            </p:childTnLst>
                          </p:cTn>
                        </p:par>
                      </p:childTnLst>
                    </p:cTn>
                  </p:par>
                  <p:par>
                    <p:cTn id="30" fill="hold">
                      <p:stCondLst>
                        <p:cond delay="indefinite"/>
                      </p:stCondLst>
                      <p:childTnLst>
                        <p:par>
                          <p:cTn id="31" fill="hold">
                            <p:stCondLst>
                              <p:cond delay="0"/>
                            </p:stCondLst>
                            <p:childTnLst>
                              <p:par>
                                <p:cTn id="32" presetID="10" presetClass="entr" presetSubtype="0" fill="hold" nodeType="clickEffect">
                                  <p:stCondLst>
                                    <p:cond delay="0"/>
                                  </p:stCondLst>
                                  <p:childTnLst>
                                    <p:set>
                                      <p:cBhvr>
                                        <p:cTn id="33" dur="1" fill="hold">
                                          <p:stCondLst>
                                            <p:cond delay="0"/>
                                          </p:stCondLst>
                                        </p:cTn>
                                        <p:tgtEl>
                                          <p:spTgt spid="25"/>
                                        </p:tgtEl>
                                        <p:attrNameLst>
                                          <p:attrName>style.visibility</p:attrName>
                                        </p:attrNameLst>
                                      </p:cBhvr>
                                      <p:to>
                                        <p:strVal val="visible"/>
                                      </p:to>
                                    </p:set>
                                    <p:animEffect transition="in" filter="fade">
                                      <p:cBhvr>
                                        <p:cTn id="34" dur="400"/>
                                        <p:tgtEl>
                                          <p:spTgt spid="25"/>
                                        </p:tgtEl>
                                      </p:cBhvr>
                                    </p:animEffect>
                                  </p:childTnLst>
                                </p:cTn>
                              </p:par>
                              <p:par>
                                <p:cTn id="35" presetID="10" presetClass="entr" presetSubtype="0" fill="hold" nodeType="withEffect">
                                  <p:stCondLst>
                                    <p:cond delay="0"/>
                                  </p:stCondLst>
                                  <p:childTnLst>
                                    <p:set>
                                      <p:cBhvr>
                                        <p:cTn id="36" dur="1" fill="hold">
                                          <p:stCondLst>
                                            <p:cond delay="0"/>
                                          </p:stCondLst>
                                        </p:cTn>
                                        <p:tgtEl>
                                          <p:spTgt spid="26"/>
                                        </p:tgtEl>
                                        <p:attrNameLst>
                                          <p:attrName>style.visibility</p:attrName>
                                        </p:attrNameLst>
                                      </p:cBhvr>
                                      <p:to>
                                        <p:strVal val="visible"/>
                                      </p:to>
                                    </p:set>
                                    <p:animEffect transition="in" filter="fade">
                                      <p:cBhvr>
                                        <p:cTn id="37" dur="400"/>
                                        <p:tgtEl>
                                          <p:spTgt spid="26"/>
                                        </p:tgtEl>
                                      </p:cBhvr>
                                    </p:animEffect>
                                  </p:childTnLst>
                                </p:cTn>
                              </p:par>
                            </p:childTnLst>
                          </p:cTn>
                        </p:par>
                      </p:childTnLst>
                    </p:cTn>
                  </p:par>
                  <p:par>
                    <p:cTn id="38" fill="hold">
                      <p:stCondLst>
                        <p:cond delay="indefinite"/>
                      </p:stCondLst>
                      <p:childTnLst>
                        <p:par>
                          <p:cTn id="39" fill="hold">
                            <p:stCondLst>
                              <p:cond delay="0"/>
                            </p:stCondLst>
                            <p:childTnLst>
                              <p:par>
                                <p:cTn id="40" presetID="10" presetClass="entr" presetSubtype="0" fill="hold" nodeType="clickEffect">
                                  <p:stCondLst>
                                    <p:cond delay="0"/>
                                  </p:stCondLst>
                                  <p:childTnLst>
                                    <p:set>
                                      <p:cBhvr>
                                        <p:cTn id="41" dur="1" fill="hold">
                                          <p:stCondLst>
                                            <p:cond delay="0"/>
                                          </p:stCondLst>
                                        </p:cTn>
                                        <p:tgtEl>
                                          <p:spTgt spid="27"/>
                                        </p:tgtEl>
                                        <p:attrNameLst>
                                          <p:attrName>style.visibility</p:attrName>
                                        </p:attrNameLst>
                                      </p:cBhvr>
                                      <p:to>
                                        <p:strVal val="visible"/>
                                      </p:to>
                                    </p:set>
                                    <p:animEffect transition="in" filter="fade">
                                      <p:cBhvr>
                                        <p:cTn id="42" dur="400"/>
                                        <p:tgtEl>
                                          <p:spTgt spid="27"/>
                                        </p:tgtEl>
                                      </p:cBhvr>
                                    </p:animEffect>
                                  </p:childTnLst>
                                </p:cTn>
                              </p:par>
                              <p:par>
                                <p:cTn id="43" presetID="10" presetClass="entr" presetSubtype="0" fill="hold" nodeType="withEffect">
                                  <p:stCondLst>
                                    <p:cond delay="0"/>
                                  </p:stCondLst>
                                  <p:childTnLst>
                                    <p:set>
                                      <p:cBhvr>
                                        <p:cTn id="44" dur="1" fill="hold">
                                          <p:stCondLst>
                                            <p:cond delay="0"/>
                                          </p:stCondLst>
                                        </p:cTn>
                                        <p:tgtEl>
                                          <p:spTgt spid="28"/>
                                        </p:tgtEl>
                                        <p:attrNameLst>
                                          <p:attrName>style.visibility</p:attrName>
                                        </p:attrNameLst>
                                      </p:cBhvr>
                                      <p:to>
                                        <p:strVal val="visible"/>
                                      </p:to>
                                    </p:set>
                                    <p:animEffect transition="in" filter="fade">
                                      <p:cBhvr>
                                        <p:cTn id="45" dur="400"/>
                                        <p:tgtEl>
                                          <p:spTgt spid="2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4.xml><?xml version="1.0" encoding="utf-8"?>
<p:sld xmlns:a="http://schemas.openxmlformats.org/drawingml/2006/main" xmlns:r="http://schemas.openxmlformats.org/officeDocument/2006/relationships" xmlns:p="http://schemas.openxmlformats.org/presentationml/2006/main">
  <p:cSld name="Slide 14">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387"/>
          <p:cNvSpPr/>
          <p:nvPr/>
        </p:nvSpPr>
        <p:spPr>
          <a:xfrm>
            <a:off x="201168" y="164592"/>
            <a:ext cx="841248" cy="841248"/>
          </a:xfrm>
          <a:prstGeom prst="ellipse">
            <a:avLst/>
          </a:prstGeom>
          <a:solidFill>
            <a:srgbClr val="2EB872"/>
          </a:solidFill>
          <a:ln w="28575">
            <a:solidFill>
              <a:srgbClr val="A8E5BE"/>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14</a:t>
            </a:r>
            <a:endParaRPr lang="en-US" sz="2200" dirty="0"/>
          </a:p>
        </p:txBody>
      </p:sp>
      <p:pic>
        <p:nvPicPr>
          <p:cNvPr id="4" name="brY_388" descr="/home/claude/lls-course/v2/assets/brush-yellow.png">    </p:cNvPr>
          <p:cNvPicPr>
            <a:picLocks noChangeAspect="1"/>
          </p:cNvPicPr>
          <p:nvPr/>
        </p:nvPicPr>
        <p:blipFill>
          <a:blip r:embed="rId2"/>
          <a:stretch>
            <a:fillRect/>
          </a:stretch>
        </p:blipFill>
        <p:spPr>
          <a:xfrm>
            <a:off x="1097280" y="146304"/>
            <a:ext cx="2933395" cy="621792"/>
          </a:xfrm>
          <a:prstGeom prst="rect">
            <a:avLst/>
          </a:prstGeom>
        </p:spPr>
      </p:pic>
      <p:sp>
        <p:nvSpPr>
          <p:cNvPr id="5" name="title_389"/>
          <p:cNvSpPr/>
          <p:nvPr/>
        </p:nvSpPr>
        <p:spPr>
          <a:xfrm>
            <a:off x="1261872" y="164592"/>
            <a:ext cx="2659075"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Four jokes 1/2</a:t>
            </a:r>
            <a:endParaRPr lang="en-US" sz="2500" dirty="0"/>
          </a:p>
        </p:txBody>
      </p:sp>
      <p:pic>
        <p:nvPicPr>
          <p:cNvPr id="6" name="brP_390" descr="/home/claude/lls-course/v2/assets/brush-pink.png">    </p:cNvPr>
          <p:cNvPicPr>
            <a:picLocks noChangeAspect="1"/>
          </p:cNvPicPr>
          <p:nvPr/>
        </p:nvPicPr>
        <p:blipFill>
          <a:blip r:embed="rId3"/>
          <a:stretch>
            <a:fillRect/>
          </a:stretch>
        </p:blipFill>
        <p:spPr>
          <a:xfrm>
            <a:off x="1207008" y="731520"/>
            <a:ext cx="3337560" cy="402336"/>
          </a:xfrm>
          <a:prstGeom prst="rect">
            <a:avLst/>
          </a:prstGeom>
        </p:spPr>
      </p:pic>
      <p:sp>
        <p:nvSpPr>
          <p:cNvPr id="7" name="ins_391"/>
          <p:cNvSpPr/>
          <p:nvPr/>
        </p:nvSpPr>
        <p:spPr>
          <a:xfrm>
            <a:off x="1353312" y="731520"/>
            <a:ext cx="3081528"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a, an, the or – ? Then listen.</a:t>
            </a:r>
            <a:endParaRPr lang="en-US" sz="1250" dirty="0"/>
          </a:p>
        </p:txBody>
      </p:sp>
      <p:sp>
        <p:nvSpPr>
          <p:cNvPr id="8" name="insIT_392"/>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a, an, the o – ? Poi ascolta.</a:t>
            </a:r>
            <a:endParaRPr lang="en-US" sz="950" dirty="0"/>
          </a:p>
        </p:txBody>
      </p:sp>
      <p:sp>
        <p:nvSpPr>
          <p:cNvPr id="9" name="note_393"/>
          <p:cNvSpPr/>
          <p:nvPr/>
        </p:nvSpPr>
        <p:spPr>
          <a:xfrm rot="180000">
            <a:off x="6382512" y="128016"/>
            <a:ext cx="2029968" cy="1024128"/>
          </a:xfrm>
          <a:prstGeom prst="rect">
            <a:avLst/>
          </a:prstGeom>
          <a:solidFill>
            <a:srgbClr val="FFC2DA"/>
          </a:solidFill>
          <a:ln>
            <a:solidFill>
              <a:srgbClr val="FFC2DA"/>
            </a:solidFill>
          </a:ln>
          <a:effectLst>
            <a:outerShdw sx="100000" sy="100000" kx="0" ky="0" algn="bl" rotWithShape="0" blurRad="88900" dist="31750" dir="5400000">
              <a:srgbClr val="1B2559">
                <a:alpha val="15000"/>
              </a:srgbClr>
            </a:outerShdw>
          </a:effectLst>
        </p:spPr>
        <p:txBody>
          <a:bodyPr wrap="square" lIns="50800" tIns="50800" rIns="50800" bIns="50800" rtlCol="0" anchor="ctr">
            <a:normAutofit/>
          </a:bodyP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 FILL THE GAPS</a:t>
            </a:r>
            <a:pPr algn="ctr" indent="0" marL="0">
              <a:buNone/>
            </a:pPr>
            <a:r>
              <a:rPr lang="en-US" sz="1200" dirty="0">
                <a:solidFill>
                  <a:srgbClr val="5B6785"/>
                </a:solidFill>
              </a:rPr>
              <a:t> → </a:t>
            </a:r>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 LISTEN</a:t>
            </a:r>
            <a:endParaRPr lang="en-US" sz="1150" dirty="0"/>
          </a:p>
          <a:p>
            <a:pPr algn="ctr" indent="0" marL="0">
              <a:buNone/>
            </a:pPr>
            <a:r>
              <a:rPr lang="en-US" sz="1100" dirty="0">
                <a:solidFill>
                  <a:srgbClr val="1B2559"/>
                </a:solidFill>
                <a:latin typeface="Segoe UI Semibold" pitchFamily="34" charset="0"/>
                <a:ea typeface="Segoe UI Semibold" pitchFamily="34" charset="-122"/>
                <a:cs typeface="Segoe UI Semibold" pitchFamily="34" charset="-120"/>
              </a:rPr>
              <a:t>⏱ 2 min   👥 pairs</a:t>
            </a:r>
            <a:endParaRPr lang="en-US" sz="1150" dirty="0"/>
          </a:p>
          <a:p>
            <a:pPr algn="ctr" indent="0" marL="0">
              <a:buNone/>
            </a:pPr>
            <a:r>
              <a:rPr lang="en-US" sz="900" dirty="0">
                <a:solidFill>
                  <a:srgbClr val="5B6785"/>
                </a:solidFill>
                <a:latin typeface="Segoe UI Semibold" pitchFamily="34" charset="0"/>
                <a:ea typeface="Segoe UI Semibold" pitchFamily="34" charset="-122"/>
                <a:cs typeface="Segoe UI Semibold" pitchFamily="34" charset="-120"/>
              </a:rPr>
              <a:t>🎯 Grammar · TPRS · reading</a:t>
            </a:r>
            <a:endParaRPr lang="en-US" sz="1150" dirty="0"/>
          </a:p>
        </p:txBody>
      </p:sp>
      <p:pic>
        <p:nvPicPr>
          <p:cNvPr id="10" name="logo_394"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1" name="foot_395"/>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3B-1 · Grammar · four jokes   ·   📖 SB p.31 · 2a, 2b · audio 3.18 (jokes 1–2)</a:t>
            </a:r>
            <a:endParaRPr lang="en-US" sz="800" dirty="0"/>
          </a:p>
        </p:txBody>
      </p:sp>
      <p:sp>
        <p:nvSpPr>
          <p:cNvPr id="12" name="cd_396"/>
          <p:cNvSpPr/>
          <p:nvPr/>
        </p:nvSpPr>
        <p:spPr>
          <a:xfrm>
            <a:off x="320040" y="1417320"/>
            <a:ext cx="5715000" cy="3337560"/>
          </a:xfrm>
          <a:prstGeom prst="roundRect">
            <a:avLst>
              <a:gd name="adj" fmla="val 3836"/>
            </a:avLst>
          </a:prstGeom>
          <a:solidFill>
            <a:srgbClr val="FFFFFF"/>
          </a:solidFill>
          <a:ln w="28575">
            <a:solidFill>
              <a:srgbClr val="A8E5BE"/>
            </a:solidFill>
            <a:prstDash val="solid"/>
          </a:ln>
          <a:effectLst>
            <a:outerShdw sx="100000" sy="100000" kx="0" ky="0" algn="bl" rotWithShape="0" blurRad="88900" dist="31750" dir="5400000">
              <a:srgbClr val="1B2559">
                <a:alpha val="12000"/>
              </a:srgbClr>
            </a:outerShdw>
          </a:effectLst>
        </p:spPr>
      </p:sp>
      <p:sp>
        <p:nvSpPr>
          <p:cNvPr id="13" name="sh_397"/>
          <p:cNvSpPr/>
          <p:nvPr/>
        </p:nvSpPr>
        <p:spPr>
          <a:xfrm>
            <a:off x="320040" y="1417320"/>
            <a:ext cx="5715000" cy="438912"/>
          </a:xfrm>
          <a:prstGeom prst="rect">
            <a:avLst/>
          </a:prstGeom>
          <a:solidFill>
            <a:srgbClr val="E3F7EA"/>
          </a:solidFill>
          <a:ln/>
        </p:spPr>
        <p:txBody>
          <a:bodyPr wrap="square" lIns="203200" tIns="0" rIns="203200" bIns="0" rtlCol="0" anchor="ctr"/>
          <a:lstStyle/>
          <a:p>
            <a:pPr indent="0" marL="0">
              <a:buNone/>
            </a:pPr>
            <a:r>
              <a:rPr lang="en-US" sz="1700" b="1" dirty="0">
                <a:solidFill>
                  <a:srgbClr val="1F6F43"/>
                </a:solidFill>
                <a:latin typeface="Georgia" pitchFamily="34" charset="0"/>
                <a:ea typeface="Georgia" pitchFamily="34" charset="-122"/>
                <a:cs typeface="Georgia" pitchFamily="34" charset="-120"/>
              </a:rPr>
              <a:t>Joke 1 · Joke 2</a:t>
            </a:r>
            <a:endParaRPr lang="en-US" sz="1700" dirty="0"/>
          </a:p>
        </p:txBody>
      </p:sp>
      <p:sp>
        <p:nvSpPr>
          <p:cNvPr id="14" name="ln_398"/>
          <p:cNvSpPr/>
          <p:nvPr/>
        </p:nvSpPr>
        <p:spPr>
          <a:xfrm>
            <a:off x="548640" y="1920240"/>
            <a:ext cx="5349240" cy="654191"/>
          </a:xfrm>
          <a:prstGeom prst="rect">
            <a:avLst/>
          </a:prstGeom>
          <a:noFill/>
          <a:ln/>
        </p:spPr>
        <p:txBody>
          <a:bodyPr wrap="square" lIns="0" tIns="0" rIns="0" bIns="0" rtlCol="0" anchor="t"/>
          <a:lstStyle/>
          <a:p>
            <a:pPr indent="0" marL="0">
              <a:buNone/>
            </a:pPr>
            <a:r>
              <a:rPr lang="en-US" sz="1300" dirty="0">
                <a:solidFill>
                  <a:srgbClr val="1B2559"/>
                </a:solidFill>
                <a:latin typeface="Georgia" pitchFamily="34" charset="0"/>
                <a:ea typeface="Georgia" pitchFamily="34" charset="-122"/>
                <a:cs typeface="Georgia" pitchFamily="34" charset="-120"/>
              </a:rPr>
              <a:t>Girl: Daddy, did you know that </a:t>
            </a:r>
            <a:pPr indent="0" marL="0">
              <a:buNone/>
            </a:pPr>
            <a:r>
              <a:rPr lang="en-US" sz="1300" b="1" dirty="0">
                <a:solidFill>
                  <a:srgbClr val="2EB872"/>
                </a:solidFill>
                <a:latin typeface="Georgia" pitchFamily="34" charset="0"/>
                <a:ea typeface="Georgia" pitchFamily="34" charset="-122"/>
                <a:cs typeface="Georgia" pitchFamily="34" charset="-120"/>
              </a:rPr>
              <a:t> (1) ________ </a:t>
            </a:r>
            <a:pPr indent="0" marL="0">
              <a:buNone/>
            </a:pPr>
            <a:r>
              <a:rPr lang="en-US" sz="1300" dirty="0">
                <a:solidFill>
                  <a:srgbClr val="1B2559"/>
                </a:solidFill>
                <a:latin typeface="Georgia" pitchFamily="34" charset="0"/>
                <a:ea typeface="Georgia" pitchFamily="34" charset="-122"/>
                <a:cs typeface="Georgia" pitchFamily="34" charset="-120"/>
              </a:rPr>
              <a:t> girls are cleverer than </a:t>
            </a:r>
            <a:pPr indent="0" marL="0">
              <a:buNone/>
            </a:pPr>
            <a:r>
              <a:rPr lang="en-US" sz="1300" b="1" dirty="0">
                <a:solidFill>
                  <a:srgbClr val="2EB872"/>
                </a:solidFill>
                <a:latin typeface="Georgia" pitchFamily="34" charset="0"/>
                <a:ea typeface="Georgia" pitchFamily="34" charset="-122"/>
                <a:cs typeface="Georgia" pitchFamily="34" charset="-120"/>
              </a:rPr>
              <a:t> (2) ________ </a:t>
            </a:r>
            <a:pPr indent="0" marL="0">
              <a:buNone/>
            </a:pPr>
            <a:r>
              <a:rPr lang="en-US" sz="1300" dirty="0">
                <a:solidFill>
                  <a:srgbClr val="1B2559"/>
                </a:solidFill>
                <a:latin typeface="Georgia" pitchFamily="34" charset="0"/>
                <a:ea typeface="Georgia" pitchFamily="34" charset="-122"/>
                <a:cs typeface="Georgia" pitchFamily="34" charset="-120"/>
              </a:rPr>
              <a:t> boys?</a:t>
            </a:r>
            <a:endParaRPr lang="en-US" sz="1300" dirty="0"/>
          </a:p>
        </p:txBody>
      </p:sp>
      <p:sp>
        <p:nvSpPr>
          <p:cNvPr id="15" name="R1_lnA399"/>
          <p:cNvSpPr/>
          <p:nvPr/>
        </p:nvSpPr>
        <p:spPr>
          <a:xfrm>
            <a:off x="548640" y="1920240"/>
            <a:ext cx="5349240" cy="654191"/>
          </a:xfrm>
          <a:prstGeom prst="rect">
            <a:avLst/>
          </a:prstGeom>
          <a:solidFill>
            <a:srgbClr val="FFFFFF"/>
          </a:solidFill>
          <a:ln/>
        </p:spPr>
        <p:txBody>
          <a:bodyPr wrap="square" lIns="0" tIns="0" rIns="0" bIns="0" rtlCol="0" anchor="t"/>
          <a:lstStyle/>
          <a:p>
            <a:pPr indent="0" marL="0">
              <a:buNone/>
            </a:pPr>
            <a:r>
              <a:rPr lang="en-US" sz="1300" dirty="0">
                <a:solidFill>
                  <a:srgbClr val="1B2559"/>
                </a:solidFill>
                <a:latin typeface="Georgia" pitchFamily="34" charset="0"/>
                <a:ea typeface="Georgia" pitchFamily="34" charset="-122"/>
                <a:cs typeface="Georgia" pitchFamily="34" charset="-120"/>
              </a:rPr>
              <a:t>Girl: Daddy, did you know that </a:t>
            </a:r>
            <a:pPr indent="0" marL="0">
              <a:buNone/>
            </a:pPr>
            <a:r>
              <a:rPr lang="en-US" sz="1300" b="1" dirty="0">
                <a:solidFill>
                  <a:srgbClr val="1B2559"/>
                </a:solidFill>
                <a:highlight>
                  <a:srgbClr val="FFE066"/>
                </a:highlight>
                <a:latin typeface="Georgia" pitchFamily="34" charset="0"/>
                <a:ea typeface="Georgia" pitchFamily="34" charset="-122"/>
                <a:cs typeface="Georgia" pitchFamily="34" charset="-120"/>
              </a:rPr>
              <a:t>–</a:t>
            </a:r>
            <a:pPr indent="0" marL="0">
              <a:buNone/>
            </a:pPr>
            <a:r>
              <a:rPr lang="en-US" sz="1300" dirty="0">
                <a:solidFill>
                  <a:srgbClr val="1B2559"/>
                </a:solidFill>
                <a:latin typeface="Georgia" pitchFamily="34" charset="0"/>
                <a:ea typeface="Georgia" pitchFamily="34" charset="-122"/>
                <a:cs typeface="Georgia" pitchFamily="34" charset="-120"/>
              </a:rPr>
              <a:t> girls are cleverer than </a:t>
            </a:r>
            <a:pPr indent="0" marL="0">
              <a:buNone/>
            </a:pPr>
            <a:r>
              <a:rPr lang="en-US" sz="1300" b="1" dirty="0">
                <a:solidFill>
                  <a:srgbClr val="1B2559"/>
                </a:solidFill>
                <a:highlight>
                  <a:srgbClr val="FFE066"/>
                </a:highlight>
                <a:latin typeface="Georgia" pitchFamily="34" charset="0"/>
                <a:ea typeface="Georgia" pitchFamily="34" charset="-122"/>
                <a:cs typeface="Georgia" pitchFamily="34" charset="-120"/>
              </a:rPr>
              <a:t>–</a:t>
            </a:r>
            <a:pPr indent="0" marL="0">
              <a:buNone/>
            </a:pPr>
            <a:r>
              <a:rPr lang="en-US" sz="1300" dirty="0">
                <a:solidFill>
                  <a:srgbClr val="1B2559"/>
                </a:solidFill>
                <a:latin typeface="Georgia" pitchFamily="34" charset="0"/>
                <a:ea typeface="Georgia" pitchFamily="34" charset="-122"/>
                <a:cs typeface="Georgia" pitchFamily="34" charset="-120"/>
              </a:rPr>
              <a:t> boys?</a:t>
            </a:r>
            <a:endParaRPr lang="en-US" sz="1300" dirty="0"/>
          </a:p>
        </p:txBody>
      </p:sp>
      <p:sp>
        <p:nvSpPr>
          <p:cNvPr id="16" name="ln_400"/>
          <p:cNvSpPr/>
          <p:nvPr/>
        </p:nvSpPr>
        <p:spPr>
          <a:xfrm>
            <a:off x="548640" y="2574431"/>
            <a:ext cx="5349240" cy="430389"/>
          </a:xfrm>
          <a:prstGeom prst="rect">
            <a:avLst/>
          </a:prstGeom>
          <a:noFill/>
          <a:ln/>
        </p:spPr>
        <p:txBody>
          <a:bodyPr wrap="square" lIns="0" tIns="0" rIns="0" bIns="0" rtlCol="0" anchor="t"/>
          <a:lstStyle/>
          <a:p>
            <a:pPr indent="0" marL="0">
              <a:buNone/>
            </a:pPr>
            <a:r>
              <a:rPr lang="en-US" sz="1300" dirty="0">
                <a:solidFill>
                  <a:srgbClr val="1B2559"/>
                </a:solidFill>
                <a:latin typeface="Georgia" pitchFamily="34" charset="0"/>
                <a:ea typeface="Georgia" pitchFamily="34" charset="-122"/>
                <a:cs typeface="Georgia" pitchFamily="34" charset="-120"/>
              </a:rPr>
              <a:t>Father: No, I didn't know that.     Girl: You see!</a:t>
            </a:r>
            <a:endParaRPr lang="en-US" sz="1300" dirty="0"/>
          </a:p>
        </p:txBody>
      </p:sp>
      <p:sp>
        <p:nvSpPr>
          <p:cNvPr id="17" name="ln_401"/>
          <p:cNvSpPr/>
          <p:nvPr/>
        </p:nvSpPr>
        <p:spPr>
          <a:xfrm>
            <a:off x="548640" y="3004820"/>
            <a:ext cx="5349240" cy="344311"/>
          </a:xfrm>
          <a:prstGeom prst="rect">
            <a:avLst/>
          </a:prstGeom>
          <a:noFill/>
          <a:ln/>
        </p:spPr>
        <p:txBody>
          <a:bodyPr wrap="square" lIns="0" tIns="0" rIns="0" bIns="0" rtlCol="0" anchor="t"/>
          <a:lstStyle/>
          <a:p>
            <a:pPr indent="0" marL="0">
              <a:buNone/>
            </a:pPr>
            <a:r>
              <a:rPr lang="en-US" sz="1300" b="1" dirty="0">
                <a:solidFill>
                  <a:srgbClr val="2EB872"/>
                </a:solidFill>
                <a:latin typeface="Georgia" pitchFamily="34" charset="0"/>
                <a:ea typeface="Georgia" pitchFamily="34" charset="-122"/>
                <a:cs typeface="Georgia" pitchFamily="34" charset="-120"/>
              </a:rPr>
              <a:t> (3) ________ </a:t>
            </a:r>
            <a:pPr indent="0" marL="0">
              <a:buNone/>
            </a:pPr>
            <a:r>
              <a:rPr lang="en-US" sz="1300" dirty="0">
                <a:solidFill>
                  <a:srgbClr val="1B2559"/>
                </a:solidFill>
                <a:latin typeface="Georgia" pitchFamily="34" charset="0"/>
                <a:ea typeface="Georgia" pitchFamily="34" charset="-122"/>
                <a:cs typeface="Georgia" pitchFamily="34" charset="-120"/>
              </a:rPr>
              <a:t> man goes to see </a:t>
            </a:r>
            <a:pPr indent="0" marL="0">
              <a:buNone/>
            </a:pPr>
            <a:r>
              <a:rPr lang="en-US" sz="1300" b="1" dirty="0">
                <a:solidFill>
                  <a:srgbClr val="2EB872"/>
                </a:solidFill>
                <a:latin typeface="Georgia" pitchFamily="34" charset="0"/>
                <a:ea typeface="Georgia" pitchFamily="34" charset="-122"/>
                <a:cs typeface="Georgia" pitchFamily="34" charset="-120"/>
              </a:rPr>
              <a:t> (4) ________ </a:t>
            </a:r>
            <a:pPr indent="0" marL="0">
              <a:buNone/>
            </a:pPr>
            <a:r>
              <a:rPr lang="en-US" sz="1300" dirty="0">
                <a:solidFill>
                  <a:srgbClr val="1B2559"/>
                </a:solidFill>
                <a:latin typeface="Georgia" pitchFamily="34" charset="0"/>
                <a:ea typeface="Georgia" pitchFamily="34" charset="-122"/>
                <a:cs typeface="Georgia" pitchFamily="34" charset="-120"/>
              </a:rPr>
              <a:t> lawyer.</a:t>
            </a:r>
            <a:endParaRPr lang="en-US" sz="1300" dirty="0"/>
          </a:p>
        </p:txBody>
      </p:sp>
      <p:sp>
        <p:nvSpPr>
          <p:cNvPr id="18" name="R2_lnA402"/>
          <p:cNvSpPr/>
          <p:nvPr/>
        </p:nvSpPr>
        <p:spPr>
          <a:xfrm>
            <a:off x="548640" y="3004820"/>
            <a:ext cx="5349240" cy="344311"/>
          </a:xfrm>
          <a:prstGeom prst="rect">
            <a:avLst/>
          </a:prstGeom>
          <a:solidFill>
            <a:srgbClr val="FFFFFF"/>
          </a:solidFill>
          <a:ln/>
        </p:spPr>
        <p:txBody>
          <a:bodyPr wrap="square" lIns="0" tIns="0" rIns="0" bIns="0" rtlCol="0" anchor="t"/>
          <a:lstStyle/>
          <a:p>
            <a:pPr indent="0" marL="0">
              <a:buNone/>
            </a:pPr>
            <a:r>
              <a:rPr lang="en-US" sz="1300" b="1" dirty="0">
                <a:solidFill>
                  <a:srgbClr val="1B2559"/>
                </a:solidFill>
                <a:highlight>
                  <a:srgbClr val="FFE066"/>
                </a:highlight>
                <a:latin typeface="Georgia" pitchFamily="34" charset="0"/>
                <a:ea typeface="Georgia" pitchFamily="34" charset="-122"/>
                <a:cs typeface="Georgia" pitchFamily="34" charset="-120"/>
              </a:rPr>
              <a:t>A</a:t>
            </a:r>
            <a:pPr indent="0" marL="0">
              <a:buNone/>
            </a:pPr>
            <a:r>
              <a:rPr lang="en-US" sz="1300" dirty="0">
                <a:solidFill>
                  <a:srgbClr val="1B2559"/>
                </a:solidFill>
                <a:latin typeface="Georgia" pitchFamily="34" charset="0"/>
                <a:ea typeface="Georgia" pitchFamily="34" charset="-122"/>
                <a:cs typeface="Georgia" pitchFamily="34" charset="-120"/>
              </a:rPr>
              <a:t> man goes to see </a:t>
            </a:r>
            <a:pPr indent="0" marL="0">
              <a:buNone/>
            </a:pPr>
            <a:r>
              <a:rPr lang="en-US" sz="1300" b="1" dirty="0">
                <a:solidFill>
                  <a:srgbClr val="1B2559"/>
                </a:solidFill>
                <a:highlight>
                  <a:srgbClr val="FFE066"/>
                </a:highlight>
                <a:latin typeface="Georgia" pitchFamily="34" charset="0"/>
                <a:ea typeface="Georgia" pitchFamily="34" charset="-122"/>
                <a:cs typeface="Georgia" pitchFamily="34" charset="-120"/>
              </a:rPr>
              <a:t>a</a:t>
            </a:r>
            <a:pPr indent="0" marL="0">
              <a:buNone/>
            </a:pPr>
            <a:r>
              <a:rPr lang="en-US" sz="1300" dirty="0">
                <a:solidFill>
                  <a:srgbClr val="1B2559"/>
                </a:solidFill>
                <a:latin typeface="Georgia" pitchFamily="34" charset="0"/>
                <a:ea typeface="Georgia" pitchFamily="34" charset="-122"/>
                <a:cs typeface="Georgia" pitchFamily="34" charset="-120"/>
              </a:rPr>
              <a:t> lawyer.</a:t>
            </a:r>
            <a:endParaRPr lang="en-US" sz="1300" dirty="0"/>
          </a:p>
        </p:txBody>
      </p:sp>
      <p:sp>
        <p:nvSpPr>
          <p:cNvPr id="19" name="ln_403"/>
          <p:cNvSpPr/>
          <p:nvPr/>
        </p:nvSpPr>
        <p:spPr>
          <a:xfrm>
            <a:off x="548640" y="3349131"/>
            <a:ext cx="5349240" cy="645583"/>
          </a:xfrm>
          <a:prstGeom prst="rect">
            <a:avLst/>
          </a:prstGeom>
          <a:noFill/>
          <a:ln/>
        </p:spPr>
        <p:txBody>
          <a:bodyPr wrap="square" lIns="0" tIns="0" rIns="0" bIns="0" rtlCol="0" anchor="t"/>
          <a:lstStyle/>
          <a:p>
            <a:pPr indent="0" marL="0">
              <a:buNone/>
            </a:pPr>
            <a:r>
              <a:rPr lang="en-US" sz="1300" dirty="0">
                <a:solidFill>
                  <a:srgbClr val="1B2559"/>
                </a:solidFill>
                <a:latin typeface="Georgia" pitchFamily="34" charset="0"/>
                <a:ea typeface="Georgia" pitchFamily="34" charset="-122"/>
                <a:cs typeface="Georgia" pitchFamily="34" charset="-120"/>
              </a:rPr>
              <a:t>Man: Excuse me. What do you charge?     Lawyer: $1,000 for three questions.</a:t>
            </a:r>
            <a:endParaRPr lang="en-US" sz="1300" dirty="0"/>
          </a:p>
        </p:txBody>
      </p:sp>
      <p:sp>
        <p:nvSpPr>
          <p:cNvPr id="20" name="ln_404"/>
          <p:cNvSpPr/>
          <p:nvPr/>
        </p:nvSpPr>
        <p:spPr>
          <a:xfrm>
            <a:off x="548640" y="3994714"/>
            <a:ext cx="5349240" cy="370134"/>
          </a:xfrm>
          <a:prstGeom prst="rect">
            <a:avLst/>
          </a:prstGeom>
          <a:noFill/>
          <a:ln/>
        </p:spPr>
        <p:txBody>
          <a:bodyPr wrap="square" lIns="0" tIns="0" rIns="0" bIns="0" rtlCol="0" anchor="t"/>
          <a:lstStyle/>
          <a:p>
            <a:pPr indent="0" marL="0">
              <a:buNone/>
            </a:pPr>
            <a:r>
              <a:rPr lang="en-US" sz="1300" dirty="0">
                <a:solidFill>
                  <a:srgbClr val="1B2559"/>
                </a:solidFill>
                <a:latin typeface="Georgia" pitchFamily="34" charset="0"/>
                <a:ea typeface="Georgia" pitchFamily="34" charset="-122"/>
                <a:cs typeface="Georgia" pitchFamily="34" charset="-120"/>
              </a:rPr>
              <a:t>Man: Wow! Isn't that </a:t>
            </a:r>
            <a:pPr indent="0" marL="0">
              <a:buNone/>
            </a:pPr>
            <a:r>
              <a:rPr lang="en-US" sz="1300" b="1" dirty="0">
                <a:solidFill>
                  <a:srgbClr val="2EB872"/>
                </a:solidFill>
                <a:latin typeface="Georgia" pitchFamily="34" charset="0"/>
                <a:ea typeface="Georgia" pitchFamily="34" charset="-122"/>
                <a:cs typeface="Georgia" pitchFamily="34" charset="-120"/>
              </a:rPr>
              <a:t> (5) ________ </a:t>
            </a:r>
            <a:pPr indent="0" marL="0">
              <a:buNone/>
            </a:pPr>
            <a:r>
              <a:rPr lang="en-US" sz="1300" dirty="0">
                <a:solidFill>
                  <a:srgbClr val="1B2559"/>
                </a:solidFill>
                <a:latin typeface="Georgia" pitchFamily="34" charset="0"/>
                <a:ea typeface="Georgia" pitchFamily="34" charset="-122"/>
                <a:cs typeface="Georgia" pitchFamily="34" charset="-120"/>
              </a:rPr>
              <a:t> bit expensive?</a:t>
            </a:r>
            <a:endParaRPr lang="en-US" sz="1300" dirty="0"/>
          </a:p>
        </p:txBody>
      </p:sp>
      <p:sp>
        <p:nvSpPr>
          <p:cNvPr id="21" name="R3_lnA405"/>
          <p:cNvSpPr/>
          <p:nvPr/>
        </p:nvSpPr>
        <p:spPr>
          <a:xfrm>
            <a:off x="548640" y="3994714"/>
            <a:ext cx="5349240" cy="370134"/>
          </a:xfrm>
          <a:prstGeom prst="rect">
            <a:avLst/>
          </a:prstGeom>
          <a:solidFill>
            <a:srgbClr val="FFFFFF"/>
          </a:solidFill>
          <a:ln/>
        </p:spPr>
        <p:txBody>
          <a:bodyPr wrap="square" lIns="0" tIns="0" rIns="0" bIns="0" rtlCol="0" anchor="t"/>
          <a:lstStyle/>
          <a:p>
            <a:pPr indent="0" marL="0">
              <a:buNone/>
            </a:pPr>
            <a:r>
              <a:rPr lang="en-US" sz="1300" dirty="0">
                <a:solidFill>
                  <a:srgbClr val="1B2559"/>
                </a:solidFill>
                <a:latin typeface="Georgia" pitchFamily="34" charset="0"/>
                <a:ea typeface="Georgia" pitchFamily="34" charset="-122"/>
                <a:cs typeface="Georgia" pitchFamily="34" charset="-120"/>
              </a:rPr>
              <a:t>Man: Wow! Isn't that </a:t>
            </a:r>
            <a:pPr indent="0" marL="0">
              <a:buNone/>
            </a:pPr>
            <a:r>
              <a:rPr lang="en-US" sz="1300" b="1" dirty="0">
                <a:solidFill>
                  <a:srgbClr val="1B2559"/>
                </a:solidFill>
                <a:highlight>
                  <a:srgbClr val="FFE066"/>
                </a:highlight>
                <a:latin typeface="Georgia" pitchFamily="34" charset="0"/>
                <a:ea typeface="Georgia" pitchFamily="34" charset="-122"/>
                <a:cs typeface="Georgia" pitchFamily="34" charset="-120"/>
              </a:rPr>
              <a:t>a</a:t>
            </a:r>
            <a:pPr indent="0" marL="0">
              <a:buNone/>
            </a:pPr>
            <a:r>
              <a:rPr lang="en-US" sz="1300" dirty="0">
                <a:solidFill>
                  <a:srgbClr val="1B2559"/>
                </a:solidFill>
                <a:latin typeface="Georgia" pitchFamily="34" charset="0"/>
                <a:ea typeface="Georgia" pitchFamily="34" charset="-122"/>
                <a:cs typeface="Georgia" pitchFamily="34" charset="-120"/>
              </a:rPr>
              <a:t> bit expensive?</a:t>
            </a:r>
            <a:endParaRPr lang="en-US" sz="1300" dirty="0"/>
          </a:p>
        </p:txBody>
      </p:sp>
      <p:sp>
        <p:nvSpPr>
          <p:cNvPr id="22" name="ln_406"/>
          <p:cNvSpPr/>
          <p:nvPr/>
        </p:nvSpPr>
        <p:spPr>
          <a:xfrm>
            <a:off x="548640" y="4364849"/>
            <a:ext cx="5349240" cy="344311"/>
          </a:xfrm>
          <a:prstGeom prst="rect">
            <a:avLst/>
          </a:prstGeom>
          <a:noFill/>
          <a:ln/>
        </p:spPr>
        <p:txBody>
          <a:bodyPr wrap="square" lIns="0" tIns="0" rIns="0" bIns="0" rtlCol="0" anchor="t"/>
          <a:lstStyle/>
          <a:p>
            <a:pPr indent="0" marL="0">
              <a:buNone/>
            </a:pPr>
            <a:r>
              <a:rPr lang="en-US" sz="1300" dirty="0">
                <a:solidFill>
                  <a:srgbClr val="1B2559"/>
                </a:solidFill>
                <a:latin typeface="Georgia" pitchFamily="34" charset="0"/>
                <a:ea typeface="Georgia" pitchFamily="34" charset="-122"/>
                <a:cs typeface="Georgia" pitchFamily="34" charset="-120"/>
              </a:rPr>
              <a:t>Lawyer: Yes. What's your third question?</a:t>
            </a:r>
            <a:endParaRPr lang="en-US" sz="1300" dirty="0"/>
          </a:p>
        </p:txBody>
      </p:sp>
      <p:sp>
        <p:nvSpPr>
          <p:cNvPr id="23" name="ap_407"/>
          <p:cNvSpPr/>
          <p:nvPr/>
        </p:nvSpPr>
        <p:spPr>
          <a:xfrm>
            <a:off x="6263640" y="1417320"/>
            <a:ext cx="2011680" cy="402336"/>
          </a:xfrm>
          <a:prstGeom prst="roundRect">
            <a:avLst>
              <a:gd name="adj" fmla="val 50000"/>
            </a:avLst>
          </a:prstGeom>
          <a:solidFill>
            <a:srgbClr val="E3F1FD"/>
          </a:solidFill>
          <a:ln w="28575">
            <a:solidFill>
              <a:srgbClr val="A9D3F5"/>
            </a:solidFill>
          </a:ln>
        </p:spPr>
        <p:txBody>
          <a:bodyPr wrap="square" lIns="127000" tIns="0" rIns="127000" bIns="0" rtlCol="0" anchor="ctr">
            <a:normAutofit/>
          </a:bodyPr>
          <a:lstStyle/>
          <a:p>
            <a:pPr indent="0" marL="0">
              <a:buNone/>
            </a:pPr>
            <a:r>
              <a:rPr lang="en-US" sz="1100" b="1" dirty="0">
                <a:solidFill>
                  <a:srgbClr val="1B2559"/>
                </a:solidFill>
                <a:latin typeface="Segoe UI Semibold" pitchFamily="34" charset="0"/>
                <a:ea typeface="Segoe UI Semibold" pitchFamily="34" charset="-122"/>
                <a:cs typeface="Segoe UI Semibold" pitchFamily="34" charset="-120"/>
              </a:rPr>
              <a:t>🎧 3.18</a:t>
            </a:r>
            <a:endParaRPr lang="en-US" sz="1100" dirty="0"/>
          </a:p>
        </p:txBody>
      </p:sp>
      <p:sp>
        <p:nvSpPr>
          <p:cNvPr id="24" name="ah_408"/>
          <p:cNvSpPr/>
          <p:nvPr/>
        </p:nvSpPr>
        <p:spPr>
          <a:xfrm>
            <a:off x="4636008" y="4572000"/>
            <a:ext cx="978408" cy="365760"/>
          </a:xfrm>
          <a:prstGeom prst="rect">
            <a:avLst/>
          </a:prstGeom>
          <a:noFill/>
          <a:ln/>
        </p:spPr>
        <p:txBody>
          <a:bodyPr wrap="square" lIns="0" tIns="0" rIns="0" bIns="0" rtlCol="0" anchor="ctr"/>
          <a:lstStyle/>
          <a:p>
            <a:pPr algn="r" indent="0" marL="0">
              <a:buNone/>
            </a:pPr>
            <a:r>
              <a:rPr lang="en-US" sz="1000" b="1" dirty="0">
                <a:solidFill>
                  <a:srgbClr val="2F8DE4"/>
                </a:solidFill>
                <a:latin typeface="Segoe UI Semibold" pitchFamily="34" charset="0"/>
                <a:ea typeface="Segoe UI Semibold" pitchFamily="34" charset="-122"/>
                <a:cs typeface="Segoe UI Semibold" pitchFamily="34" charset="-120"/>
              </a:rPr>
              <a:t>▶ normal</a:t>
            </a:r>
            <a:endParaRPr lang="en-US" sz="1000" dirty="0"/>
          </a:p>
        </p:txBody>
      </p:sp>
      <p:pic>
        <p:nvPicPr>
          <p:cNvPr id="25" name="Media 0">
            <a:hlinkClick r:id="" action="ppaction://media"/>
          </p:cNvPr>
          <p:cNvPicPr>
            <a:picLocks noChangeAspect="1"/>
          </p:cNvPicPr>
          <p:nvPr>
            <a:audioFile r:link="rId5"/>
            <p:extLst>
              <p:ext uri="{DAA4B4D4-6D71-4841-9C94-3DE7FCFB9230}">
                <p14:media xmlns:p14="http://schemas.microsoft.com/office/powerpoint/2010/main" r:embed="rId6"/>
              </p:ext>
            </p:extLst>
          </p:nvPr>
        </p:nvPicPr>
        <p:blipFill>
          <a:blip r:embed="rId7"/>
          <a:stretch>
            <a:fillRect/>
          </a:stretch>
        </p:blipFill>
        <p:spPr>
          <a:xfrm>
            <a:off x="5687568" y="4553712"/>
            <a:ext cx="411480" cy="411480"/>
          </a:xfrm>
          <a:prstGeom prst="rect">
            <a:avLst/>
          </a:prstGeom>
        </p:spPr>
      </p:pic>
      <p:sp>
        <p:nvSpPr>
          <p:cNvPr id="26" name="ah_409"/>
          <p:cNvSpPr/>
          <p:nvPr/>
        </p:nvSpPr>
        <p:spPr>
          <a:xfrm>
            <a:off x="7470648" y="4572000"/>
            <a:ext cx="932688" cy="365760"/>
          </a:xfrm>
          <a:prstGeom prst="rect">
            <a:avLst/>
          </a:prstGeom>
          <a:noFill/>
          <a:ln/>
        </p:spPr>
        <p:txBody>
          <a:bodyPr wrap="square" lIns="0" tIns="0" rIns="0" bIns="0" rtlCol="0" anchor="ctr"/>
          <a:lstStyle/>
          <a:p>
            <a:pPr algn="r" indent="0" marL="0">
              <a:buNone/>
            </a:pPr>
            <a:r>
              <a:rPr lang="en-US" sz="1000" b="1" dirty="0">
                <a:solidFill>
                  <a:srgbClr val="2F8DE4"/>
                </a:solidFill>
                <a:latin typeface="Segoe UI Semibold" pitchFamily="34" charset="0"/>
                <a:ea typeface="Segoe UI Semibold" pitchFamily="34" charset="-122"/>
                <a:cs typeface="Segoe UI Semibold" pitchFamily="34" charset="-120"/>
              </a:rPr>
              <a:t>🐢 slower</a:t>
            </a:r>
            <a:endParaRPr lang="en-US" sz="1000" dirty="0"/>
          </a:p>
        </p:txBody>
      </p:sp>
      <p:pic>
        <p:nvPicPr>
          <p:cNvPr id="27" name="Media 1">
            <a:hlinkClick r:id="" action="ppaction://media"/>
          </p:cNvPr>
          <p:cNvPicPr>
            <a:picLocks noChangeAspect="1"/>
          </p:cNvPicPr>
          <p:nvPr>
            <a:audioFile r:link="rId8"/>
            <p:extLst>
              <p:ext uri="{DAA4B4D4-6D71-4841-9C94-3DE7FCFB9230}">
                <p14:media xmlns:p14="http://schemas.microsoft.com/office/powerpoint/2010/main" r:embed="rId9"/>
              </p:ext>
            </p:extLst>
          </p:nvPr>
        </p:nvPicPr>
        <p:blipFill>
          <a:blip r:embed="rId10"/>
          <a:stretch>
            <a:fillRect/>
          </a:stretch>
        </p:blipFill>
        <p:spPr>
          <a:xfrm>
            <a:off x="8476488" y="4553712"/>
            <a:ext cx="411480" cy="411480"/>
          </a:xfrm>
          <a:prstGeom prst="rect">
            <a:avLst/>
          </a:prstGeom>
        </p:spPr>
      </p:pic>
      <p:sp>
        <p:nvSpPr>
          <p:cNvPr id="28" name="pf_410"/>
          <p:cNvSpPr/>
          <p:nvPr/>
        </p:nvSpPr>
        <p:spPr>
          <a:xfrm rot="120000">
            <a:off x="6309360" y="1965960"/>
            <a:ext cx="2560320" cy="1508760"/>
          </a:xfrm>
          <a:prstGeom prst="roundRect">
            <a:avLst>
              <a:gd name="adj" fmla="val 10303"/>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29" name="ph_411" descr="/home/claude/lls-course/v2/cache/3b1_lawyer_jpg_594x341_31.png">    </p:cNvPr>
          <p:cNvPicPr>
            <a:picLocks noChangeAspect="1"/>
          </p:cNvPicPr>
          <p:nvPr/>
        </p:nvPicPr>
        <p:blipFill>
          <a:blip r:embed="rId11"/>
          <a:stretch>
            <a:fillRect/>
          </a:stretch>
        </p:blipFill>
        <p:spPr>
          <a:xfrm rot="120000">
            <a:off x="6355080" y="2011680"/>
            <a:ext cx="2468880" cy="1417320"/>
          </a:xfrm>
          <a:prstGeom prst="rect">
            <a:avLst/>
          </a:prstGeom>
        </p:spPr>
      </p:pic>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5"/>
                                        </p:tgtEl>
                                        <p:attrNameLst>
                                          <p:attrName>style.visibility</p:attrName>
                                        </p:attrNameLst>
                                      </p:cBhvr>
                                      <p:to>
                                        <p:strVal val="visible"/>
                                      </p:to>
                                    </p:set>
                                    <p:animEffect transition="in" filter="fade">
                                      <p:cBhvr>
                                        <p:cTn id="7" dur="400"/>
                                        <p:tgtEl>
                                          <p:spTgt spid="15"/>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18"/>
                                        </p:tgtEl>
                                        <p:attrNameLst>
                                          <p:attrName>style.visibility</p:attrName>
                                        </p:attrNameLst>
                                      </p:cBhvr>
                                      <p:to>
                                        <p:strVal val="visible"/>
                                      </p:to>
                                    </p:set>
                                    <p:animEffect transition="in" filter="fade">
                                      <p:cBhvr>
                                        <p:cTn id="12" dur="400"/>
                                        <p:tgtEl>
                                          <p:spTgt spid="18"/>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1"/>
                                        </p:tgtEl>
                                        <p:attrNameLst>
                                          <p:attrName>style.visibility</p:attrName>
                                        </p:attrNameLst>
                                      </p:cBhvr>
                                      <p:to>
                                        <p:strVal val="visible"/>
                                      </p:to>
                                    </p:set>
                                    <p:animEffect transition="in" filter="fade">
                                      <p:cBhvr>
                                        <p:cTn id="17" dur="400"/>
                                        <p:tgtEl>
                                          <p:spTgt spid="21"/>
                                        </p:tgtEl>
                                      </p:cBhvr>
                                    </p:animEffect>
                                  </p:childTnLst>
                                </p:cTn>
                              </p:par>
                            </p:childTnLst>
                          </p:cTn>
                        </p:par>
                      </p:childTnLst>
                    </p:cTn>
                  </p:par>
                </p:childTnLst>
              </p:cTn>
              <p:prevCondLst>
                <p:cond evt="onPrev" delay="0">
                  <p:tgtEl>
                    <p:sldTgt/>
                  </p:tgtEl>
                </p:cond>
              </p:prevCondLst>
              <p:nextCondLst>
                <p:cond evt="onNext" delay="0">
                  <p:tgtEl>
                    <p:sldTgt/>
                  </p:tgtEl>
                </p:cond>
              </p:nextCondLst>
            </p:seq>
            <p:seq concurrent="1" nextAc="seek">
              <p:cTn id="18" restart="whenNotActive" fill="hold" evtFilter="cancelBubble" nodeType="interactiveSeq">
                <p:stCondLst>
                  <p:cond evt="onClick" delay="0">
                    <p:tgtEl>
                      <p:spTgt spid="25"/>
                    </p:tgtEl>
                  </p:cond>
                </p:stCondLst>
                <p:endSync evt="end" delay="0">
                  <p:rtn val="all"/>
                </p:endSync>
                <p:childTnLst>
                  <p:par>
                    <p:cTn id="19" fill="hold">
                      <p:stCondLst>
                        <p:cond delay="0"/>
                      </p:stCondLst>
                      <p:childTnLst>
                        <p:par>
                          <p:cTn id="20" fill="hold">
                            <p:stCondLst>
                              <p:cond delay="0"/>
                            </p:stCondLst>
                            <p:childTnLst>
                              <p:par>
                                <p:cTn id="21" presetID="2" presetClass="mediacall" presetSubtype="0" fill="hold" nodeType="clickEffect">
                                  <p:stCondLst>
                                    <p:cond delay="0"/>
                                  </p:stCondLst>
                                  <p:childTnLst>
                                    <p:cmd type="call" cmd="togglePause">
                                      <p:cBhvr>
                                        <p:cTn id="22" dur="1" fill="hold"/>
                                        <p:tgtEl>
                                          <p:spTgt spid="25"/>
                                        </p:tgtEl>
                                      </p:cBhvr>
                                    </p:cmd>
                                  </p:childTnLst>
                                </p:cTn>
                              </p:par>
                            </p:childTnLst>
                          </p:cTn>
                        </p:par>
                      </p:childTnLst>
                    </p:cTn>
                  </p:par>
                </p:childTnLst>
              </p:cTn>
              <p:nextCondLst>
                <p:cond evt="onClick" delay="0">
                  <p:tgtEl>
                    <p:spTgt spid="25"/>
                  </p:tgtEl>
                </p:cond>
              </p:nextCondLst>
            </p:seq>
            <p:seq concurrent="1" nextAc="seek">
              <p:cTn id="23" restart="whenNotActive" fill="hold" evtFilter="cancelBubble" nodeType="interactiveSeq">
                <p:stCondLst>
                  <p:cond evt="onClick" delay="0">
                    <p:tgtEl>
                      <p:spTgt spid="27"/>
                    </p:tgtEl>
                  </p:cond>
                </p:stCondLst>
                <p:endSync evt="end" delay="0">
                  <p:rtn val="all"/>
                </p:endSync>
                <p:childTnLst>
                  <p:par>
                    <p:cTn id="24" fill="hold">
                      <p:stCondLst>
                        <p:cond delay="0"/>
                      </p:stCondLst>
                      <p:childTnLst>
                        <p:par>
                          <p:cTn id="25" fill="hold">
                            <p:stCondLst>
                              <p:cond delay="0"/>
                            </p:stCondLst>
                            <p:childTnLst>
                              <p:par>
                                <p:cTn id="26" presetID="2" presetClass="mediacall" presetSubtype="0" fill="hold" nodeType="clickEffect">
                                  <p:stCondLst>
                                    <p:cond delay="0"/>
                                  </p:stCondLst>
                                  <p:childTnLst>
                                    <p:cmd type="call" cmd="togglePause">
                                      <p:cBhvr>
                                        <p:cTn id="27" dur="1" fill="hold"/>
                                        <p:tgtEl>
                                          <p:spTgt spid="27"/>
                                        </p:tgtEl>
                                      </p:cBhvr>
                                    </p:cmd>
                                  </p:childTnLst>
                                </p:cTn>
                              </p:par>
                            </p:childTnLst>
                          </p:cTn>
                        </p:par>
                      </p:childTnLst>
                    </p:cTn>
                  </p:par>
                </p:childTnLst>
              </p:cTn>
              <p:nextCondLst>
                <p:cond evt="onClick" delay="0">
                  <p:tgtEl>
                    <p:spTgt spid="27"/>
                  </p:tgtEl>
                </p:cond>
              </p:nextCondLst>
            </p:seq>
            <p:audio>
              <p:cMediaNode vol="80000">
                <p:cTn id="28" fill="hold" display="0">
                  <p:stCondLst>
                    <p:cond delay="indefinite"/>
                  </p:stCondLst>
                  <p:endCondLst>
                    <p:cond evt="onStopAudio" delay="0">
                      <p:tgtEl>
                        <p:sldTgt/>
                      </p:tgtEl>
                    </p:cond>
                  </p:endCondLst>
                </p:cTn>
                <p:tgtEl>
                  <p:spTgt spid="25"/>
                </p:tgtEl>
              </p:cMediaNode>
            </p:audio>
            <p:audio>
              <p:cMediaNode vol="80000">
                <p:cTn id="29" fill="hold" display="0">
                  <p:stCondLst>
                    <p:cond delay="indefinite"/>
                  </p:stCondLst>
                  <p:endCondLst>
                    <p:cond evt="onStopAudio" delay="0">
                      <p:tgtEl>
                        <p:sldTgt/>
                      </p:tgtEl>
                    </p:cond>
                  </p:endCondLst>
                </p:cTn>
                <p:tgtEl>
                  <p:spTgt spid="27"/>
                </p:tgtEl>
              </p:cMediaNode>
            </p:audio>
          </p:childTnLst>
        </p:cTn>
      </p:par>
    </p:tnLst>
  </p:timing>
</p:sld>
</file>

<file path=ppt/slides/slide15.xml><?xml version="1.0" encoding="utf-8"?>
<p:sld xmlns:a="http://schemas.openxmlformats.org/drawingml/2006/main" xmlns:r="http://schemas.openxmlformats.org/officeDocument/2006/relationships" xmlns:p="http://schemas.openxmlformats.org/presentationml/2006/main">
  <p:cSld name="Slide 15">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412"/>
          <p:cNvSpPr/>
          <p:nvPr/>
        </p:nvSpPr>
        <p:spPr>
          <a:xfrm>
            <a:off x="201168" y="164592"/>
            <a:ext cx="841248" cy="841248"/>
          </a:xfrm>
          <a:prstGeom prst="ellipse">
            <a:avLst/>
          </a:prstGeom>
          <a:solidFill>
            <a:srgbClr val="2EB872"/>
          </a:solidFill>
          <a:ln w="28575">
            <a:solidFill>
              <a:srgbClr val="A8E5BE"/>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15</a:t>
            </a:r>
            <a:endParaRPr lang="en-US" sz="2200" dirty="0"/>
          </a:p>
        </p:txBody>
      </p:sp>
      <p:pic>
        <p:nvPicPr>
          <p:cNvPr id="4" name="brY_413" descr="/home/claude/lls-course/v2/assets/brush-yellow.png">    </p:cNvPr>
          <p:cNvPicPr>
            <a:picLocks noChangeAspect="1"/>
          </p:cNvPicPr>
          <p:nvPr/>
        </p:nvPicPr>
        <p:blipFill>
          <a:blip r:embed="rId2"/>
          <a:stretch>
            <a:fillRect/>
          </a:stretch>
        </p:blipFill>
        <p:spPr>
          <a:xfrm>
            <a:off x="1097280" y="146304"/>
            <a:ext cx="2933395" cy="621792"/>
          </a:xfrm>
          <a:prstGeom prst="rect">
            <a:avLst/>
          </a:prstGeom>
        </p:spPr>
      </p:pic>
      <p:sp>
        <p:nvSpPr>
          <p:cNvPr id="5" name="title_414"/>
          <p:cNvSpPr/>
          <p:nvPr/>
        </p:nvSpPr>
        <p:spPr>
          <a:xfrm>
            <a:off x="1261872" y="164592"/>
            <a:ext cx="2659075"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Four jokes 2/2</a:t>
            </a:r>
            <a:endParaRPr lang="en-US" sz="2500" dirty="0"/>
          </a:p>
        </p:txBody>
      </p:sp>
      <p:pic>
        <p:nvPicPr>
          <p:cNvPr id="6" name="brP_415" descr="/home/claude/lls-course/v2/assets/brush-pink.png">    </p:cNvPr>
          <p:cNvPicPr>
            <a:picLocks noChangeAspect="1"/>
          </p:cNvPicPr>
          <p:nvPr/>
        </p:nvPicPr>
        <p:blipFill>
          <a:blip r:embed="rId3"/>
          <a:stretch>
            <a:fillRect/>
          </a:stretch>
        </p:blipFill>
        <p:spPr>
          <a:xfrm>
            <a:off x="1207008" y="731520"/>
            <a:ext cx="3337560" cy="402336"/>
          </a:xfrm>
          <a:prstGeom prst="rect">
            <a:avLst/>
          </a:prstGeom>
        </p:spPr>
      </p:pic>
      <p:sp>
        <p:nvSpPr>
          <p:cNvPr id="7" name="ins_416"/>
          <p:cNvSpPr/>
          <p:nvPr/>
        </p:nvSpPr>
        <p:spPr>
          <a:xfrm>
            <a:off x="1353312" y="731520"/>
            <a:ext cx="3081528"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a, an, the or – ? Then listen.</a:t>
            </a:r>
            <a:endParaRPr lang="en-US" sz="1250" dirty="0"/>
          </a:p>
        </p:txBody>
      </p:sp>
      <p:sp>
        <p:nvSpPr>
          <p:cNvPr id="8" name="insIT_417"/>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a, an, the o – ? Poi ascolta.</a:t>
            </a:r>
            <a:endParaRPr lang="en-US" sz="950" dirty="0"/>
          </a:p>
        </p:txBody>
      </p:sp>
      <p:sp>
        <p:nvSpPr>
          <p:cNvPr id="9" name="note_418"/>
          <p:cNvSpPr/>
          <p:nvPr/>
        </p:nvSpPr>
        <p:spPr>
          <a:xfrm rot="180000">
            <a:off x="6382512" y="128016"/>
            <a:ext cx="2029968" cy="1024128"/>
          </a:xfrm>
          <a:prstGeom prst="rect">
            <a:avLst/>
          </a:prstGeom>
          <a:solidFill>
            <a:srgbClr val="FFC2DA"/>
          </a:solidFill>
          <a:ln>
            <a:solidFill>
              <a:srgbClr val="FFC2DA"/>
            </a:solidFill>
          </a:ln>
          <a:effectLst>
            <a:outerShdw sx="100000" sy="100000" kx="0" ky="0" algn="bl" rotWithShape="0" blurRad="88900" dist="31750" dir="5400000">
              <a:srgbClr val="1B2559">
                <a:alpha val="15000"/>
              </a:srgbClr>
            </a:outerShdw>
          </a:effectLst>
        </p:spPr>
        <p:txBody>
          <a:bodyPr wrap="square" lIns="50800" tIns="50800" rIns="50800" bIns="50800" rtlCol="0" anchor="ctr">
            <a:normAutofit/>
          </a:bodyP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 FILL THE GAPS</a:t>
            </a:r>
            <a:pPr algn="ctr" indent="0" marL="0">
              <a:buNone/>
            </a:pPr>
            <a:r>
              <a:rPr lang="en-US" sz="1200" dirty="0">
                <a:solidFill>
                  <a:srgbClr val="5B6785"/>
                </a:solidFill>
              </a:rPr>
              <a:t> → </a:t>
            </a:r>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 LISTEN</a:t>
            </a:r>
            <a:endParaRPr lang="en-US" sz="1150" dirty="0"/>
          </a:p>
          <a:p>
            <a:pPr algn="ctr" indent="0" marL="0">
              <a:buNone/>
            </a:pPr>
            <a:r>
              <a:rPr lang="en-US" sz="1100" dirty="0">
                <a:solidFill>
                  <a:srgbClr val="1B2559"/>
                </a:solidFill>
                <a:latin typeface="Segoe UI Semibold" pitchFamily="34" charset="0"/>
                <a:ea typeface="Segoe UI Semibold" pitchFamily="34" charset="-122"/>
                <a:cs typeface="Segoe UI Semibold" pitchFamily="34" charset="-120"/>
              </a:rPr>
              <a:t>⏱ 2 min   👥 pairs</a:t>
            </a:r>
            <a:endParaRPr lang="en-US" sz="1150" dirty="0"/>
          </a:p>
          <a:p>
            <a:pPr algn="ctr" indent="0" marL="0">
              <a:buNone/>
            </a:pPr>
            <a:r>
              <a:rPr lang="en-US" sz="900" dirty="0">
                <a:solidFill>
                  <a:srgbClr val="5B6785"/>
                </a:solidFill>
                <a:latin typeface="Segoe UI Semibold" pitchFamily="34" charset="0"/>
                <a:ea typeface="Segoe UI Semibold" pitchFamily="34" charset="-122"/>
                <a:cs typeface="Segoe UI Semibold" pitchFamily="34" charset="-120"/>
              </a:rPr>
              <a:t>🎯 Grammar · TPRS · reading</a:t>
            </a:r>
            <a:endParaRPr lang="en-US" sz="1150" dirty="0"/>
          </a:p>
        </p:txBody>
      </p:sp>
      <p:pic>
        <p:nvPicPr>
          <p:cNvPr id="10" name="logo_419"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1" name="foot_420"/>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3B-1 · Grammar · four jokes   ·   📖 SB p.31 · 2a, 2b · audio 3.18 (jokes 3–4)</a:t>
            </a:r>
            <a:endParaRPr lang="en-US" sz="800" dirty="0"/>
          </a:p>
        </p:txBody>
      </p:sp>
      <p:sp>
        <p:nvSpPr>
          <p:cNvPr id="12" name="cd_421"/>
          <p:cNvSpPr/>
          <p:nvPr/>
        </p:nvSpPr>
        <p:spPr>
          <a:xfrm>
            <a:off x="320040" y="1417320"/>
            <a:ext cx="5715000" cy="3337560"/>
          </a:xfrm>
          <a:prstGeom prst="roundRect">
            <a:avLst>
              <a:gd name="adj" fmla="val 3836"/>
            </a:avLst>
          </a:prstGeom>
          <a:solidFill>
            <a:srgbClr val="FFFFFF"/>
          </a:solidFill>
          <a:ln w="28575">
            <a:solidFill>
              <a:srgbClr val="A8E5BE"/>
            </a:solidFill>
            <a:prstDash val="solid"/>
          </a:ln>
          <a:effectLst>
            <a:outerShdw sx="100000" sy="100000" kx="0" ky="0" algn="bl" rotWithShape="0" blurRad="88900" dist="31750" dir="5400000">
              <a:srgbClr val="1B2559">
                <a:alpha val="12000"/>
              </a:srgbClr>
            </a:outerShdw>
          </a:effectLst>
        </p:spPr>
      </p:sp>
      <p:sp>
        <p:nvSpPr>
          <p:cNvPr id="13" name="sh_422"/>
          <p:cNvSpPr/>
          <p:nvPr/>
        </p:nvSpPr>
        <p:spPr>
          <a:xfrm>
            <a:off x="320040" y="1417320"/>
            <a:ext cx="5715000" cy="438912"/>
          </a:xfrm>
          <a:prstGeom prst="rect">
            <a:avLst/>
          </a:prstGeom>
          <a:solidFill>
            <a:srgbClr val="E3F7EA"/>
          </a:solidFill>
          <a:ln/>
        </p:spPr>
        <p:txBody>
          <a:bodyPr wrap="square" lIns="203200" tIns="0" rIns="203200" bIns="0" rtlCol="0" anchor="ctr"/>
          <a:lstStyle/>
          <a:p>
            <a:pPr indent="0" marL="0">
              <a:buNone/>
            </a:pPr>
            <a:r>
              <a:rPr lang="en-US" sz="1700" b="1" dirty="0">
                <a:solidFill>
                  <a:srgbClr val="1F6F43"/>
                </a:solidFill>
                <a:latin typeface="Georgia" pitchFamily="34" charset="0"/>
                <a:ea typeface="Georgia" pitchFamily="34" charset="-122"/>
                <a:cs typeface="Georgia" pitchFamily="34" charset="-120"/>
              </a:rPr>
              <a:t>Joke 3 · Joke 4</a:t>
            </a:r>
            <a:endParaRPr lang="en-US" sz="1700" dirty="0"/>
          </a:p>
        </p:txBody>
      </p:sp>
      <p:sp>
        <p:nvSpPr>
          <p:cNvPr id="14" name="ln_423"/>
          <p:cNvSpPr/>
          <p:nvPr/>
        </p:nvSpPr>
        <p:spPr>
          <a:xfrm>
            <a:off x="548640" y="1920240"/>
            <a:ext cx="5349240" cy="446227"/>
          </a:xfrm>
          <a:prstGeom prst="rect">
            <a:avLst/>
          </a:prstGeom>
          <a:noFill/>
          <a:ln/>
        </p:spPr>
        <p:txBody>
          <a:bodyPr wrap="square" lIns="0" tIns="0" rIns="0" bIns="0" rtlCol="0" anchor="t"/>
          <a:lstStyle/>
          <a:p>
            <a:pPr indent="0" marL="0">
              <a:buNone/>
            </a:pPr>
            <a:r>
              <a:rPr lang="en-US" sz="1300" dirty="0">
                <a:solidFill>
                  <a:srgbClr val="1B2559"/>
                </a:solidFill>
                <a:latin typeface="Georgia" pitchFamily="34" charset="0"/>
                <a:ea typeface="Georgia" pitchFamily="34" charset="-122"/>
                <a:cs typeface="Georgia" pitchFamily="34" charset="-120"/>
              </a:rPr>
              <a:t>Doctor: Hello, did you come to see me with </a:t>
            </a:r>
            <a:pPr indent="0" marL="0">
              <a:buNone/>
            </a:pPr>
            <a:r>
              <a:rPr lang="en-US" sz="1300" b="1" dirty="0">
                <a:solidFill>
                  <a:srgbClr val="2EB872"/>
                </a:solidFill>
                <a:latin typeface="Georgia" pitchFamily="34" charset="0"/>
                <a:ea typeface="Georgia" pitchFamily="34" charset="-122"/>
                <a:cs typeface="Georgia" pitchFamily="34" charset="-120"/>
              </a:rPr>
              <a:t> (6) ________ </a:t>
            </a:r>
            <a:pPr indent="0" marL="0">
              <a:buNone/>
            </a:pPr>
            <a:r>
              <a:rPr lang="en-US" sz="1300" dirty="0">
                <a:solidFill>
                  <a:srgbClr val="1B2559"/>
                </a:solidFill>
                <a:latin typeface="Georgia" pitchFamily="34" charset="0"/>
                <a:ea typeface="Georgia" pitchFamily="34" charset="-122"/>
                <a:cs typeface="Georgia" pitchFamily="34" charset="-120"/>
              </a:rPr>
              <a:t> eye problem?</a:t>
            </a:r>
            <a:endParaRPr lang="en-US" sz="1300" dirty="0"/>
          </a:p>
        </p:txBody>
      </p:sp>
      <p:sp>
        <p:nvSpPr>
          <p:cNvPr id="15" name="R1_lnA424"/>
          <p:cNvSpPr/>
          <p:nvPr/>
        </p:nvSpPr>
        <p:spPr>
          <a:xfrm>
            <a:off x="548640" y="1920240"/>
            <a:ext cx="5349240" cy="446227"/>
          </a:xfrm>
          <a:prstGeom prst="rect">
            <a:avLst/>
          </a:prstGeom>
          <a:solidFill>
            <a:srgbClr val="FFFFFF"/>
          </a:solidFill>
          <a:ln/>
        </p:spPr>
        <p:txBody>
          <a:bodyPr wrap="square" lIns="0" tIns="0" rIns="0" bIns="0" rtlCol="0" anchor="t"/>
          <a:lstStyle/>
          <a:p>
            <a:pPr indent="0" marL="0">
              <a:buNone/>
            </a:pPr>
            <a:r>
              <a:rPr lang="en-US" sz="1300" dirty="0">
                <a:solidFill>
                  <a:srgbClr val="1B2559"/>
                </a:solidFill>
                <a:latin typeface="Georgia" pitchFamily="34" charset="0"/>
                <a:ea typeface="Georgia" pitchFamily="34" charset="-122"/>
                <a:cs typeface="Georgia" pitchFamily="34" charset="-120"/>
              </a:rPr>
              <a:t>Doctor: Hello, did you come to see me with </a:t>
            </a:r>
            <a:pPr indent="0" marL="0">
              <a:buNone/>
            </a:pPr>
            <a:r>
              <a:rPr lang="en-US" sz="1300" b="1" dirty="0">
                <a:solidFill>
                  <a:srgbClr val="1B2559"/>
                </a:solidFill>
                <a:highlight>
                  <a:srgbClr val="FFE066"/>
                </a:highlight>
                <a:latin typeface="Georgia" pitchFamily="34" charset="0"/>
                <a:ea typeface="Georgia" pitchFamily="34" charset="-122"/>
                <a:cs typeface="Georgia" pitchFamily="34" charset="-120"/>
              </a:rPr>
              <a:t>an</a:t>
            </a:r>
            <a:pPr indent="0" marL="0">
              <a:buNone/>
            </a:pPr>
            <a:r>
              <a:rPr lang="en-US" sz="1300" dirty="0">
                <a:solidFill>
                  <a:srgbClr val="1B2559"/>
                </a:solidFill>
                <a:latin typeface="Georgia" pitchFamily="34" charset="0"/>
                <a:ea typeface="Georgia" pitchFamily="34" charset="-122"/>
                <a:cs typeface="Georgia" pitchFamily="34" charset="-120"/>
              </a:rPr>
              <a:t> eye problem?</a:t>
            </a:r>
            <a:endParaRPr lang="en-US" sz="1300" dirty="0"/>
          </a:p>
        </p:txBody>
      </p:sp>
      <p:sp>
        <p:nvSpPr>
          <p:cNvPr id="16" name="ln_425"/>
          <p:cNvSpPr/>
          <p:nvPr/>
        </p:nvSpPr>
        <p:spPr>
          <a:xfrm>
            <a:off x="548640" y="2366467"/>
            <a:ext cx="5349240" cy="278892"/>
          </a:xfrm>
          <a:prstGeom prst="rect">
            <a:avLst/>
          </a:prstGeom>
          <a:noFill/>
          <a:ln/>
        </p:spPr>
        <p:txBody>
          <a:bodyPr wrap="square" lIns="0" tIns="0" rIns="0" bIns="0" rtlCol="0" anchor="t"/>
          <a:lstStyle/>
          <a:p>
            <a:pPr indent="0" marL="0">
              <a:buNone/>
            </a:pPr>
            <a:r>
              <a:rPr lang="en-US" sz="1300" dirty="0">
                <a:solidFill>
                  <a:srgbClr val="1B2559"/>
                </a:solidFill>
                <a:latin typeface="Georgia" pitchFamily="34" charset="0"/>
                <a:ea typeface="Georgia" pitchFamily="34" charset="-122"/>
                <a:cs typeface="Georgia" pitchFamily="34" charset="-120"/>
              </a:rPr>
              <a:t>Patient: Yes! How did you know?</a:t>
            </a:r>
            <a:endParaRPr lang="en-US" sz="1300" dirty="0"/>
          </a:p>
        </p:txBody>
      </p:sp>
      <p:sp>
        <p:nvSpPr>
          <p:cNvPr id="17" name="ln_426"/>
          <p:cNvSpPr/>
          <p:nvPr/>
        </p:nvSpPr>
        <p:spPr>
          <a:xfrm>
            <a:off x="548640" y="2645359"/>
            <a:ext cx="5349240" cy="550812"/>
          </a:xfrm>
          <a:prstGeom prst="rect">
            <a:avLst/>
          </a:prstGeom>
          <a:noFill/>
          <a:ln/>
        </p:spPr>
        <p:txBody>
          <a:bodyPr wrap="square" lIns="0" tIns="0" rIns="0" bIns="0" rtlCol="0" anchor="t"/>
          <a:lstStyle/>
          <a:p>
            <a:pPr indent="0" marL="0">
              <a:buNone/>
            </a:pPr>
            <a:r>
              <a:rPr lang="en-US" sz="1300" dirty="0">
                <a:solidFill>
                  <a:srgbClr val="1B2559"/>
                </a:solidFill>
                <a:latin typeface="Georgia" pitchFamily="34" charset="0"/>
                <a:ea typeface="Georgia" pitchFamily="34" charset="-122"/>
                <a:cs typeface="Georgia" pitchFamily="34" charset="-120"/>
              </a:rPr>
              <a:t>Doctor: Because you came in through </a:t>
            </a:r>
            <a:pPr indent="0" marL="0">
              <a:buNone/>
            </a:pPr>
            <a:r>
              <a:rPr lang="en-US" sz="1300" b="1" dirty="0">
                <a:solidFill>
                  <a:srgbClr val="2EB872"/>
                </a:solidFill>
                <a:latin typeface="Georgia" pitchFamily="34" charset="0"/>
                <a:ea typeface="Georgia" pitchFamily="34" charset="-122"/>
                <a:cs typeface="Georgia" pitchFamily="34" charset="-120"/>
              </a:rPr>
              <a:t> (7) ________ </a:t>
            </a:r>
            <a:pPr indent="0" marL="0">
              <a:buNone/>
            </a:pPr>
            <a:r>
              <a:rPr lang="en-US" sz="1300" dirty="0">
                <a:solidFill>
                  <a:srgbClr val="1B2559"/>
                </a:solidFill>
                <a:latin typeface="Georgia" pitchFamily="34" charset="0"/>
                <a:ea typeface="Georgia" pitchFamily="34" charset="-122"/>
                <a:cs typeface="Georgia" pitchFamily="34" charset="-120"/>
              </a:rPr>
              <a:t> window instead of </a:t>
            </a:r>
            <a:pPr indent="0" marL="0">
              <a:buNone/>
            </a:pPr>
            <a:r>
              <a:rPr lang="en-US" sz="1300" b="1" dirty="0">
                <a:solidFill>
                  <a:srgbClr val="2EB872"/>
                </a:solidFill>
                <a:latin typeface="Georgia" pitchFamily="34" charset="0"/>
                <a:ea typeface="Georgia" pitchFamily="34" charset="-122"/>
                <a:cs typeface="Georgia" pitchFamily="34" charset="-120"/>
              </a:rPr>
              <a:t> (8) ________ </a:t>
            </a:r>
            <a:pPr indent="0" marL="0">
              <a:buNone/>
            </a:pPr>
            <a:r>
              <a:rPr lang="en-US" sz="1300" dirty="0">
                <a:solidFill>
                  <a:srgbClr val="1B2559"/>
                </a:solidFill>
                <a:latin typeface="Georgia" pitchFamily="34" charset="0"/>
                <a:ea typeface="Georgia" pitchFamily="34" charset="-122"/>
                <a:cs typeface="Georgia" pitchFamily="34" charset="-120"/>
              </a:rPr>
              <a:t> door.</a:t>
            </a:r>
            <a:endParaRPr lang="en-US" sz="1300" dirty="0"/>
          </a:p>
        </p:txBody>
      </p:sp>
      <p:sp>
        <p:nvSpPr>
          <p:cNvPr id="18" name="R2_lnA427"/>
          <p:cNvSpPr/>
          <p:nvPr/>
        </p:nvSpPr>
        <p:spPr>
          <a:xfrm>
            <a:off x="548640" y="2645359"/>
            <a:ext cx="5349240" cy="550812"/>
          </a:xfrm>
          <a:prstGeom prst="rect">
            <a:avLst/>
          </a:prstGeom>
          <a:solidFill>
            <a:srgbClr val="FFFFFF"/>
          </a:solidFill>
          <a:ln/>
        </p:spPr>
        <p:txBody>
          <a:bodyPr wrap="square" lIns="0" tIns="0" rIns="0" bIns="0" rtlCol="0" anchor="t"/>
          <a:lstStyle/>
          <a:p>
            <a:pPr indent="0" marL="0">
              <a:buNone/>
            </a:pPr>
            <a:r>
              <a:rPr lang="en-US" sz="1300" dirty="0">
                <a:solidFill>
                  <a:srgbClr val="1B2559"/>
                </a:solidFill>
                <a:latin typeface="Georgia" pitchFamily="34" charset="0"/>
                <a:ea typeface="Georgia" pitchFamily="34" charset="-122"/>
                <a:cs typeface="Georgia" pitchFamily="34" charset="-120"/>
              </a:rPr>
              <a:t>Doctor: Because you came in through </a:t>
            </a:r>
            <a:pPr indent="0" marL="0">
              <a:buNone/>
            </a:pPr>
            <a:r>
              <a:rPr lang="en-US" sz="1300" b="1" dirty="0">
                <a:solidFill>
                  <a:srgbClr val="1B2559"/>
                </a:solidFill>
                <a:highlight>
                  <a:srgbClr val="FFE066"/>
                </a:highlight>
                <a:latin typeface="Georgia" pitchFamily="34" charset="0"/>
                <a:ea typeface="Georgia" pitchFamily="34" charset="-122"/>
                <a:cs typeface="Georgia" pitchFamily="34" charset="-120"/>
              </a:rPr>
              <a:t>the</a:t>
            </a:r>
            <a:pPr indent="0" marL="0">
              <a:buNone/>
            </a:pPr>
            <a:r>
              <a:rPr lang="en-US" sz="1300" dirty="0">
                <a:solidFill>
                  <a:srgbClr val="1B2559"/>
                </a:solidFill>
                <a:latin typeface="Georgia" pitchFamily="34" charset="0"/>
                <a:ea typeface="Georgia" pitchFamily="34" charset="-122"/>
                <a:cs typeface="Georgia" pitchFamily="34" charset="-120"/>
              </a:rPr>
              <a:t> window instead of </a:t>
            </a:r>
            <a:pPr indent="0" marL="0">
              <a:buNone/>
            </a:pPr>
            <a:r>
              <a:rPr lang="en-US" sz="1300" b="1" dirty="0">
                <a:solidFill>
                  <a:srgbClr val="1B2559"/>
                </a:solidFill>
                <a:highlight>
                  <a:srgbClr val="FFE066"/>
                </a:highlight>
                <a:latin typeface="Georgia" pitchFamily="34" charset="0"/>
                <a:ea typeface="Georgia" pitchFamily="34" charset="-122"/>
                <a:cs typeface="Georgia" pitchFamily="34" charset="-120"/>
              </a:rPr>
              <a:t>the</a:t>
            </a:r>
            <a:pPr indent="0" marL="0">
              <a:buNone/>
            </a:pPr>
            <a:r>
              <a:rPr lang="en-US" sz="1300" dirty="0">
                <a:solidFill>
                  <a:srgbClr val="1B2559"/>
                </a:solidFill>
                <a:latin typeface="Georgia" pitchFamily="34" charset="0"/>
                <a:ea typeface="Georgia" pitchFamily="34" charset="-122"/>
                <a:cs typeface="Georgia" pitchFamily="34" charset="-120"/>
              </a:rPr>
              <a:t> door.</a:t>
            </a:r>
            <a:endParaRPr lang="en-US" sz="1300" dirty="0"/>
          </a:p>
        </p:txBody>
      </p:sp>
      <p:sp>
        <p:nvSpPr>
          <p:cNvPr id="19" name="ln_428"/>
          <p:cNvSpPr/>
          <p:nvPr/>
        </p:nvSpPr>
        <p:spPr>
          <a:xfrm>
            <a:off x="548640" y="3196171"/>
            <a:ext cx="5349240" cy="397421"/>
          </a:xfrm>
          <a:prstGeom prst="rect">
            <a:avLst/>
          </a:prstGeom>
          <a:noFill/>
          <a:ln/>
        </p:spPr>
        <p:txBody>
          <a:bodyPr wrap="square" lIns="0" tIns="0" rIns="0" bIns="0" rtlCol="0" anchor="t"/>
          <a:lstStyle/>
          <a:p>
            <a:pPr indent="0" marL="0">
              <a:buNone/>
            </a:pPr>
            <a:r>
              <a:rPr lang="en-US" sz="1300" dirty="0">
                <a:solidFill>
                  <a:srgbClr val="1B2559"/>
                </a:solidFill>
                <a:latin typeface="Georgia" pitchFamily="34" charset="0"/>
                <a:ea typeface="Georgia" pitchFamily="34" charset="-122"/>
                <a:cs typeface="Georgia" pitchFamily="34" charset="-120"/>
              </a:rPr>
              <a:t>Mother: What did you do at </a:t>
            </a:r>
            <a:pPr indent="0" marL="0">
              <a:buNone/>
            </a:pPr>
            <a:r>
              <a:rPr lang="en-US" sz="1300" b="1" dirty="0">
                <a:solidFill>
                  <a:srgbClr val="2EB872"/>
                </a:solidFill>
                <a:latin typeface="Georgia" pitchFamily="34" charset="0"/>
                <a:ea typeface="Georgia" pitchFamily="34" charset="-122"/>
                <a:cs typeface="Georgia" pitchFamily="34" charset="-120"/>
              </a:rPr>
              <a:t> (9) ________ </a:t>
            </a:r>
            <a:pPr indent="0" marL="0">
              <a:buNone/>
            </a:pPr>
            <a:r>
              <a:rPr lang="en-US" sz="1300" dirty="0">
                <a:solidFill>
                  <a:srgbClr val="1B2559"/>
                </a:solidFill>
                <a:latin typeface="Georgia" pitchFamily="34" charset="0"/>
                <a:ea typeface="Georgia" pitchFamily="34" charset="-122"/>
                <a:cs typeface="Georgia" pitchFamily="34" charset="-120"/>
              </a:rPr>
              <a:t> school today, Patrick?</a:t>
            </a:r>
            <a:endParaRPr lang="en-US" sz="1300" dirty="0"/>
          </a:p>
        </p:txBody>
      </p:sp>
      <p:sp>
        <p:nvSpPr>
          <p:cNvPr id="20" name="R3_lnA429"/>
          <p:cNvSpPr/>
          <p:nvPr/>
        </p:nvSpPr>
        <p:spPr>
          <a:xfrm>
            <a:off x="548640" y="3196171"/>
            <a:ext cx="5349240" cy="397421"/>
          </a:xfrm>
          <a:prstGeom prst="rect">
            <a:avLst/>
          </a:prstGeom>
          <a:solidFill>
            <a:srgbClr val="FFFFFF"/>
          </a:solidFill>
          <a:ln/>
        </p:spPr>
        <p:txBody>
          <a:bodyPr wrap="square" lIns="0" tIns="0" rIns="0" bIns="0" rtlCol="0" anchor="t"/>
          <a:lstStyle/>
          <a:p>
            <a:pPr indent="0" marL="0">
              <a:buNone/>
            </a:pPr>
            <a:r>
              <a:rPr lang="en-US" sz="1300" dirty="0">
                <a:solidFill>
                  <a:srgbClr val="1B2559"/>
                </a:solidFill>
                <a:latin typeface="Georgia" pitchFamily="34" charset="0"/>
                <a:ea typeface="Georgia" pitchFamily="34" charset="-122"/>
                <a:cs typeface="Georgia" pitchFamily="34" charset="-120"/>
              </a:rPr>
              <a:t>Mother: What did you do at </a:t>
            </a:r>
            <a:pPr indent="0" marL="0">
              <a:buNone/>
            </a:pPr>
            <a:r>
              <a:rPr lang="en-US" sz="1300" b="1" dirty="0">
                <a:solidFill>
                  <a:srgbClr val="1B2559"/>
                </a:solidFill>
                <a:highlight>
                  <a:srgbClr val="FFE066"/>
                </a:highlight>
                <a:latin typeface="Georgia" pitchFamily="34" charset="0"/>
                <a:ea typeface="Georgia" pitchFamily="34" charset="-122"/>
                <a:cs typeface="Georgia" pitchFamily="34" charset="-120"/>
              </a:rPr>
              <a:t>–</a:t>
            </a:r>
            <a:pPr indent="0" marL="0">
              <a:buNone/>
            </a:pPr>
            <a:r>
              <a:rPr lang="en-US" sz="1300" dirty="0">
                <a:solidFill>
                  <a:srgbClr val="1B2559"/>
                </a:solidFill>
                <a:latin typeface="Georgia" pitchFamily="34" charset="0"/>
                <a:ea typeface="Georgia" pitchFamily="34" charset="-122"/>
                <a:cs typeface="Georgia" pitchFamily="34" charset="-120"/>
              </a:rPr>
              <a:t> school today, Patrick?</a:t>
            </a:r>
            <a:endParaRPr lang="en-US" sz="1300" dirty="0"/>
          </a:p>
        </p:txBody>
      </p:sp>
      <p:sp>
        <p:nvSpPr>
          <p:cNvPr id="21" name="ln_430"/>
          <p:cNvSpPr/>
          <p:nvPr/>
        </p:nvSpPr>
        <p:spPr>
          <a:xfrm>
            <a:off x="548640" y="3593592"/>
            <a:ext cx="5349240" cy="383477"/>
          </a:xfrm>
          <a:prstGeom prst="rect">
            <a:avLst/>
          </a:prstGeom>
          <a:noFill/>
          <a:ln/>
        </p:spPr>
        <p:txBody>
          <a:bodyPr wrap="square" lIns="0" tIns="0" rIns="0" bIns="0" rtlCol="0" anchor="t"/>
          <a:lstStyle/>
          <a:p>
            <a:pPr indent="0" marL="0">
              <a:buNone/>
            </a:pPr>
            <a:r>
              <a:rPr lang="en-US" sz="1300" dirty="0">
                <a:solidFill>
                  <a:srgbClr val="1B2559"/>
                </a:solidFill>
                <a:latin typeface="Georgia" pitchFamily="34" charset="0"/>
                <a:ea typeface="Georgia" pitchFamily="34" charset="-122"/>
                <a:cs typeface="Georgia" pitchFamily="34" charset="-120"/>
              </a:rPr>
              <a:t>Patrick: It was </a:t>
            </a:r>
            <a:pPr indent="0" marL="0">
              <a:buNone/>
            </a:pPr>
            <a:r>
              <a:rPr lang="en-US" sz="1300" b="1" dirty="0">
                <a:solidFill>
                  <a:srgbClr val="2EB872"/>
                </a:solidFill>
                <a:latin typeface="Georgia" pitchFamily="34" charset="0"/>
                <a:ea typeface="Georgia" pitchFamily="34" charset="-122"/>
                <a:cs typeface="Georgia" pitchFamily="34" charset="-120"/>
              </a:rPr>
              <a:t> (10) ________ </a:t>
            </a:r>
            <a:pPr indent="0" marL="0">
              <a:buNone/>
            </a:pPr>
            <a:r>
              <a:rPr lang="en-US" sz="1300" dirty="0">
                <a:solidFill>
                  <a:srgbClr val="1B2559"/>
                </a:solidFill>
                <a:latin typeface="Georgia" pitchFamily="34" charset="0"/>
                <a:ea typeface="Georgia" pitchFamily="34" charset="-122"/>
                <a:cs typeface="Georgia" pitchFamily="34" charset="-120"/>
              </a:rPr>
              <a:t> great day! We made explosives!</a:t>
            </a:r>
            <a:endParaRPr lang="en-US" sz="1300" dirty="0"/>
          </a:p>
        </p:txBody>
      </p:sp>
      <p:sp>
        <p:nvSpPr>
          <p:cNvPr id="22" name="R4_lnA431"/>
          <p:cNvSpPr/>
          <p:nvPr/>
        </p:nvSpPr>
        <p:spPr>
          <a:xfrm>
            <a:off x="548640" y="3593592"/>
            <a:ext cx="5349240" cy="383477"/>
          </a:xfrm>
          <a:prstGeom prst="rect">
            <a:avLst/>
          </a:prstGeom>
          <a:solidFill>
            <a:srgbClr val="FFFFFF"/>
          </a:solidFill>
          <a:ln/>
        </p:spPr>
        <p:txBody>
          <a:bodyPr wrap="square" lIns="0" tIns="0" rIns="0" bIns="0" rtlCol="0" anchor="t"/>
          <a:lstStyle/>
          <a:p>
            <a:pPr indent="0" marL="0">
              <a:buNone/>
            </a:pPr>
            <a:r>
              <a:rPr lang="en-US" sz="1300" dirty="0">
                <a:solidFill>
                  <a:srgbClr val="1B2559"/>
                </a:solidFill>
                <a:latin typeface="Georgia" pitchFamily="34" charset="0"/>
                <a:ea typeface="Georgia" pitchFamily="34" charset="-122"/>
                <a:cs typeface="Georgia" pitchFamily="34" charset="-120"/>
              </a:rPr>
              <a:t>Patrick: It was </a:t>
            </a:r>
            <a:pPr indent="0" marL="0">
              <a:buNone/>
            </a:pPr>
            <a:r>
              <a:rPr lang="en-US" sz="1300" b="1" dirty="0">
                <a:solidFill>
                  <a:srgbClr val="1B2559"/>
                </a:solidFill>
                <a:highlight>
                  <a:srgbClr val="FFE066"/>
                </a:highlight>
                <a:latin typeface="Georgia" pitchFamily="34" charset="0"/>
                <a:ea typeface="Georgia" pitchFamily="34" charset="-122"/>
                <a:cs typeface="Georgia" pitchFamily="34" charset="-120"/>
              </a:rPr>
              <a:t>a</a:t>
            </a:r>
            <a:pPr indent="0" marL="0">
              <a:buNone/>
            </a:pPr>
            <a:r>
              <a:rPr lang="en-US" sz="1300" dirty="0">
                <a:solidFill>
                  <a:srgbClr val="1B2559"/>
                </a:solidFill>
                <a:latin typeface="Georgia" pitchFamily="34" charset="0"/>
                <a:ea typeface="Georgia" pitchFamily="34" charset="-122"/>
                <a:cs typeface="Georgia" pitchFamily="34" charset="-120"/>
              </a:rPr>
              <a:t> great day! We made explosives!</a:t>
            </a:r>
            <a:endParaRPr lang="en-US" sz="1300" dirty="0"/>
          </a:p>
        </p:txBody>
      </p:sp>
      <p:sp>
        <p:nvSpPr>
          <p:cNvPr id="23" name="ln_432"/>
          <p:cNvSpPr/>
          <p:nvPr/>
        </p:nvSpPr>
        <p:spPr>
          <a:xfrm>
            <a:off x="548640" y="3977069"/>
            <a:ext cx="5349240" cy="453200"/>
          </a:xfrm>
          <a:prstGeom prst="rect">
            <a:avLst/>
          </a:prstGeom>
          <a:noFill/>
          <a:ln/>
        </p:spPr>
        <p:txBody>
          <a:bodyPr wrap="square" lIns="0" tIns="0" rIns="0" bIns="0" rtlCol="0" anchor="t"/>
          <a:lstStyle/>
          <a:p>
            <a:pPr indent="0" marL="0">
              <a:buNone/>
            </a:pPr>
            <a:r>
              <a:rPr lang="en-US" sz="1300" dirty="0">
                <a:solidFill>
                  <a:srgbClr val="1B2559"/>
                </a:solidFill>
                <a:latin typeface="Georgia" pitchFamily="34" charset="0"/>
                <a:ea typeface="Georgia" pitchFamily="34" charset="-122"/>
                <a:cs typeface="Georgia" pitchFamily="34" charset="-120"/>
              </a:rPr>
              <a:t>Mother: And what are you going to do at </a:t>
            </a:r>
            <a:pPr indent="0" marL="0">
              <a:buNone/>
            </a:pPr>
            <a:r>
              <a:rPr lang="en-US" sz="1300" b="1" dirty="0">
                <a:solidFill>
                  <a:srgbClr val="2EB872"/>
                </a:solidFill>
                <a:latin typeface="Georgia" pitchFamily="34" charset="0"/>
                <a:ea typeface="Georgia" pitchFamily="34" charset="-122"/>
                <a:cs typeface="Georgia" pitchFamily="34" charset="-120"/>
              </a:rPr>
              <a:t> (11) ________ </a:t>
            </a:r>
            <a:pPr indent="0" marL="0">
              <a:buNone/>
            </a:pPr>
            <a:r>
              <a:rPr lang="en-US" sz="1300" dirty="0">
                <a:solidFill>
                  <a:srgbClr val="1B2559"/>
                </a:solidFill>
                <a:latin typeface="Georgia" pitchFamily="34" charset="0"/>
                <a:ea typeface="Georgia" pitchFamily="34" charset="-122"/>
                <a:cs typeface="Georgia" pitchFamily="34" charset="-120"/>
              </a:rPr>
              <a:t> school tomorrow?</a:t>
            </a:r>
            <a:endParaRPr lang="en-US" sz="1300" dirty="0"/>
          </a:p>
        </p:txBody>
      </p:sp>
      <p:sp>
        <p:nvSpPr>
          <p:cNvPr id="24" name="R5_lnA433"/>
          <p:cNvSpPr/>
          <p:nvPr/>
        </p:nvSpPr>
        <p:spPr>
          <a:xfrm>
            <a:off x="548640" y="3977069"/>
            <a:ext cx="5349240" cy="453200"/>
          </a:xfrm>
          <a:prstGeom prst="rect">
            <a:avLst/>
          </a:prstGeom>
          <a:solidFill>
            <a:srgbClr val="FFFFFF"/>
          </a:solidFill>
          <a:ln/>
        </p:spPr>
        <p:txBody>
          <a:bodyPr wrap="square" lIns="0" tIns="0" rIns="0" bIns="0" rtlCol="0" anchor="t"/>
          <a:lstStyle/>
          <a:p>
            <a:pPr indent="0" marL="0">
              <a:buNone/>
            </a:pPr>
            <a:r>
              <a:rPr lang="en-US" sz="1300" dirty="0">
                <a:solidFill>
                  <a:srgbClr val="1B2559"/>
                </a:solidFill>
                <a:latin typeface="Georgia" pitchFamily="34" charset="0"/>
                <a:ea typeface="Georgia" pitchFamily="34" charset="-122"/>
                <a:cs typeface="Georgia" pitchFamily="34" charset="-120"/>
              </a:rPr>
              <a:t>Mother: And what are you going to do at </a:t>
            </a:r>
            <a:pPr indent="0" marL="0">
              <a:buNone/>
            </a:pPr>
            <a:r>
              <a:rPr lang="en-US" sz="1300" b="1" dirty="0">
                <a:solidFill>
                  <a:srgbClr val="1B2559"/>
                </a:solidFill>
                <a:highlight>
                  <a:srgbClr val="FFE066"/>
                </a:highlight>
                <a:latin typeface="Georgia" pitchFamily="34" charset="0"/>
                <a:ea typeface="Georgia" pitchFamily="34" charset="-122"/>
                <a:cs typeface="Georgia" pitchFamily="34" charset="-120"/>
              </a:rPr>
              <a:t>–</a:t>
            </a:r>
            <a:pPr indent="0" marL="0">
              <a:buNone/>
            </a:pPr>
            <a:r>
              <a:rPr lang="en-US" sz="1300" dirty="0">
                <a:solidFill>
                  <a:srgbClr val="1B2559"/>
                </a:solidFill>
                <a:latin typeface="Georgia" pitchFamily="34" charset="0"/>
                <a:ea typeface="Georgia" pitchFamily="34" charset="-122"/>
                <a:cs typeface="Georgia" pitchFamily="34" charset="-120"/>
              </a:rPr>
              <a:t> school tomorrow?</a:t>
            </a:r>
            <a:endParaRPr lang="en-US" sz="1300" dirty="0"/>
          </a:p>
        </p:txBody>
      </p:sp>
      <p:sp>
        <p:nvSpPr>
          <p:cNvPr id="25" name="ln_434"/>
          <p:cNvSpPr/>
          <p:nvPr/>
        </p:nvSpPr>
        <p:spPr>
          <a:xfrm>
            <a:off x="548640" y="4430268"/>
            <a:ext cx="5349240" cy="278892"/>
          </a:xfrm>
          <a:prstGeom prst="rect">
            <a:avLst/>
          </a:prstGeom>
          <a:noFill/>
          <a:ln/>
        </p:spPr>
        <p:txBody>
          <a:bodyPr wrap="square" lIns="0" tIns="0" rIns="0" bIns="0" rtlCol="0" anchor="t"/>
          <a:lstStyle/>
          <a:p>
            <a:pPr indent="0" marL="0">
              <a:buNone/>
            </a:pPr>
            <a:r>
              <a:rPr lang="en-US" sz="1300" dirty="0">
                <a:solidFill>
                  <a:srgbClr val="1B2559"/>
                </a:solidFill>
                <a:latin typeface="Georgia" pitchFamily="34" charset="0"/>
                <a:ea typeface="Georgia" pitchFamily="34" charset="-122"/>
                <a:cs typeface="Georgia" pitchFamily="34" charset="-120"/>
              </a:rPr>
              <a:t>Patrick: What school?</a:t>
            </a:r>
            <a:endParaRPr lang="en-US" sz="1300" dirty="0"/>
          </a:p>
        </p:txBody>
      </p:sp>
      <p:sp>
        <p:nvSpPr>
          <p:cNvPr id="26" name="ap_435"/>
          <p:cNvSpPr/>
          <p:nvPr/>
        </p:nvSpPr>
        <p:spPr>
          <a:xfrm>
            <a:off x="6263640" y="1417320"/>
            <a:ext cx="2011680" cy="402336"/>
          </a:xfrm>
          <a:prstGeom prst="roundRect">
            <a:avLst>
              <a:gd name="adj" fmla="val 50000"/>
            </a:avLst>
          </a:prstGeom>
          <a:solidFill>
            <a:srgbClr val="E3F1FD"/>
          </a:solidFill>
          <a:ln w="28575">
            <a:solidFill>
              <a:srgbClr val="A9D3F5"/>
            </a:solidFill>
          </a:ln>
        </p:spPr>
        <p:txBody>
          <a:bodyPr wrap="square" lIns="127000" tIns="0" rIns="127000" bIns="0" rtlCol="0" anchor="ctr">
            <a:normAutofit/>
          </a:bodyPr>
          <a:lstStyle/>
          <a:p>
            <a:pPr indent="0" marL="0">
              <a:buNone/>
            </a:pPr>
            <a:r>
              <a:rPr lang="en-US" sz="1100" b="1" dirty="0">
                <a:solidFill>
                  <a:srgbClr val="1B2559"/>
                </a:solidFill>
                <a:latin typeface="Segoe UI Semibold" pitchFamily="34" charset="0"/>
                <a:ea typeface="Segoe UI Semibold" pitchFamily="34" charset="-122"/>
                <a:cs typeface="Segoe UI Semibold" pitchFamily="34" charset="-120"/>
              </a:rPr>
              <a:t>🎧 3.18</a:t>
            </a:r>
            <a:endParaRPr lang="en-US" sz="1100" dirty="0"/>
          </a:p>
        </p:txBody>
      </p:sp>
      <p:sp>
        <p:nvSpPr>
          <p:cNvPr id="27" name="ah_436"/>
          <p:cNvSpPr/>
          <p:nvPr/>
        </p:nvSpPr>
        <p:spPr>
          <a:xfrm>
            <a:off x="4636008" y="4572000"/>
            <a:ext cx="978408" cy="365760"/>
          </a:xfrm>
          <a:prstGeom prst="rect">
            <a:avLst/>
          </a:prstGeom>
          <a:noFill/>
          <a:ln/>
        </p:spPr>
        <p:txBody>
          <a:bodyPr wrap="square" lIns="0" tIns="0" rIns="0" bIns="0" rtlCol="0" anchor="ctr"/>
          <a:lstStyle/>
          <a:p>
            <a:pPr algn="r" indent="0" marL="0">
              <a:buNone/>
            </a:pPr>
            <a:r>
              <a:rPr lang="en-US" sz="1000" b="1" dirty="0">
                <a:solidFill>
                  <a:srgbClr val="2F8DE4"/>
                </a:solidFill>
                <a:latin typeface="Segoe UI Semibold" pitchFamily="34" charset="0"/>
                <a:ea typeface="Segoe UI Semibold" pitchFamily="34" charset="-122"/>
                <a:cs typeface="Segoe UI Semibold" pitchFamily="34" charset="-120"/>
              </a:rPr>
              <a:t>▶ normal</a:t>
            </a:r>
            <a:endParaRPr lang="en-US" sz="1000" dirty="0"/>
          </a:p>
        </p:txBody>
      </p:sp>
      <p:pic>
        <p:nvPicPr>
          <p:cNvPr id="28" name="Media 0">
            <a:hlinkClick r:id="" action="ppaction://media"/>
          </p:cNvPr>
          <p:cNvPicPr>
            <a:picLocks noChangeAspect="1"/>
          </p:cNvPicPr>
          <p:nvPr>
            <a:audioFile r:link="rId5"/>
            <p:extLst>
              <p:ext uri="{DAA4B4D4-6D71-4841-9C94-3DE7FCFB9230}">
                <p14:media xmlns:p14="http://schemas.microsoft.com/office/powerpoint/2010/main" r:embed="rId6"/>
              </p:ext>
            </p:extLst>
          </p:nvPr>
        </p:nvPicPr>
        <p:blipFill>
          <a:blip r:embed="rId7"/>
          <a:stretch>
            <a:fillRect/>
          </a:stretch>
        </p:blipFill>
        <p:spPr>
          <a:xfrm>
            <a:off x="5687568" y="4553712"/>
            <a:ext cx="411480" cy="411480"/>
          </a:xfrm>
          <a:prstGeom prst="rect">
            <a:avLst/>
          </a:prstGeom>
        </p:spPr>
      </p:pic>
      <p:sp>
        <p:nvSpPr>
          <p:cNvPr id="29" name="ah_437"/>
          <p:cNvSpPr/>
          <p:nvPr/>
        </p:nvSpPr>
        <p:spPr>
          <a:xfrm>
            <a:off x="7470648" y="4572000"/>
            <a:ext cx="932688" cy="365760"/>
          </a:xfrm>
          <a:prstGeom prst="rect">
            <a:avLst/>
          </a:prstGeom>
          <a:noFill/>
          <a:ln/>
        </p:spPr>
        <p:txBody>
          <a:bodyPr wrap="square" lIns="0" tIns="0" rIns="0" bIns="0" rtlCol="0" anchor="ctr"/>
          <a:lstStyle/>
          <a:p>
            <a:pPr algn="r" indent="0" marL="0">
              <a:buNone/>
            </a:pPr>
            <a:r>
              <a:rPr lang="en-US" sz="1000" b="1" dirty="0">
                <a:solidFill>
                  <a:srgbClr val="2F8DE4"/>
                </a:solidFill>
                <a:latin typeface="Segoe UI Semibold" pitchFamily="34" charset="0"/>
                <a:ea typeface="Segoe UI Semibold" pitchFamily="34" charset="-122"/>
                <a:cs typeface="Segoe UI Semibold" pitchFamily="34" charset="-120"/>
              </a:rPr>
              <a:t>🐢 slower</a:t>
            </a:r>
            <a:endParaRPr lang="en-US" sz="1000" dirty="0"/>
          </a:p>
        </p:txBody>
      </p:sp>
      <p:pic>
        <p:nvPicPr>
          <p:cNvPr id="30" name="Media 1">
            <a:hlinkClick r:id="" action="ppaction://media"/>
          </p:cNvPr>
          <p:cNvPicPr>
            <a:picLocks noChangeAspect="1"/>
          </p:cNvPicPr>
          <p:nvPr>
            <a:audioFile r:link="rId8"/>
            <p:extLst>
              <p:ext uri="{DAA4B4D4-6D71-4841-9C94-3DE7FCFB9230}">
                <p14:media xmlns:p14="http://schemas.microsoft.com/office/powerpoint/2010/main" r:embed="rId9"/>
              </p:ext>
            </p:extLst>
          </p:nvPr>
        </p:nvPicPr>
        <p:blipFill>
          <a:blip r:embed="rId10"/>
          <a:stretch>
            <a:fillRect/>
          </a:stretch>
        </p:blipFill>
        <p:spPr>
          <a:xfrm>
            <a:off x="8476488" y="4553712"/>
            <a:ext cx="411480" cy="411480"/>
          </a:xfrm>
          <a:prstGeom prst="rect">
            <a:avLst/>
          </a:prstGeom>
        </p:spPr>
      </p:pic>
      <p:sp>
        <p:nvSpPr>
          <p:cNvPr id="31" name="pf_438"/>
          <p:cNvSpPr/>
          <p:nvPr/>
        </p:nvSpPr>
        <p:spPr>
          <a:xfrm rot="120000">
            <a:off x="6309360" y="1965960"/>
            <a:ext cx="2560320" cy="1508760"/>
          </a:xfrm>
          <a:prstGeom prst="roundRect">
            <a:avLst>
              <a:gd name="adj" fmla="val 10303"/>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32" name="ph_439" descr="/home/claude/lls-course/v2/cache/3b1_girl_dad_jpg_594x341_31.png">    </p:cNvPr>
          <p:cNvPicPr>
            <a:picLocks noChangeAspect="1"/>
          </p:cNvPicPr>
          <p:nvPr/>
        </p:nvPicPr>
        <p:blipFill>
          <a:blip r:embed="rId11"/>
          <a:stretch>
            <a:fillRect/>
          </a:stretch>
        </p:blipFill>
        <p:spPr>
          <a:xfrm rot="120000">
            <a:off x="6355080" y="2011680"/>
            <a:ext cx="2468880" cy="1417320"/>
          </a:xfrm>
          <a:prstGeom prst="rect">
            <a:avLst/>
          </a:prstGeom>
        </p:spPr>
      </p:pic>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5"/>
                                        </p:tgtEl>
                                        <p:attrNameLst>
                                          <p:attrName>style.visibility</p:attrName>
                                        </p:attrNameLst>
                                      </p:cBhvr>
                                      <p:to>
                                        <p:strVal val="visible"/>
                                      </p:to>
                                    </p:set>
                                    <p:animEffect transition="in" filter="fade">
                                      <p:cBhvr>
                                        <p:cTn id="7" dur="400"/>
                                        <p:tgtEl>
                                          <p:spTgt spid="15"/>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18"/>
                                        </p:tgtEl>
                                        <p:attrNameLst>
                                          <p:attrName>style.visibility</p:attrName>
                                        </p:attrNameLst>
                                      </p:cBhvr>
                                      <p:to>
                                        <p:strVal val="visible"/>
                                      </p:to>
                                    </p:set>
                                    <p:animEffect transition="in" filter="fade">
                                      <p:cBhvr>
                                        <p:cTn id="12" dur="400"/>
                                        <p:tgtEl>
                                          <p:spTgt spid="18"/>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0"/>
                                        </p:tgtEl>
                                        <p:attrNameLst>
                                          <p:attrName>style.visibility</p:attrName>
                                        </p:attrNameLst>
                                      </p:cBhvr>
                                      <p:to>
                                        <p:strVal val="visible"/>
                                      </p:to>
                                    </p:set>
                                    <p:animEffect transition="in" filter="fade">
                                      <p:cBhvr>
                                        <p:cTn id="17" dur="400"/>
                                        <p:tgtEl>
                                          <p:spTgt spid="20"/>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22"/>
                                        </p:tgtEl>
                                        <p:attrNameLst>
                                          <p:attrName>style.visibility</p:attrName>
                                        </p:attrNameLst>
                                      </p:cBhvr>
                                      <p:to>
                                        <p:strVal val="visible"/>
                                      </p:to>
                                    </p:set>
                                    <p:animEffect transition="in" filter="fade">
                                      <p:cBhvr>
                                        <p:cTn id="22" dur="400"/>
                                        <p:tgtEl>
                                          <p:spTgt spid="22"/>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24"/>
                                        </p:tgtEl>
                                        <p:attrNameLst>
                                          <p:attrName>style.visibility</p:attrName>
                                        </p:attrNameLst>
                                      </p:cBhvr>
                                      <p:to>
                                        <p:strVal val="visible"/>
                                      </p:to>
                                    </p:set>
                                    <p:animEffect transition="in" filter="fade">
                                      <p:cBhvr>
                                        <p:cTn id="27" dur="400"/>
                                        <p:tgtEl>
                                          <p:spTgt spid="24"/>
                                        </p:tgtEl>
                                      </p:cBhvr>
                                    </p:animEffect>
                                  </p:childTnLst>
                                </p:cTn>
                              </p:par>
                            </p:childTnLst>
                          </p:cTn>
                        </p:par>
                      </p:childTnLst>
                    </p:cTn>
                  </p:par>
                </p:childTnLst>
              </p:cTn>
              <p:prevCondLst>
                <p:cond evt="onPrev" delay="0">
                  <p:tgtEl>
                    <p:sldTgt/>
                  </p:tgtEl>
                </p:cond>
              </p:prevCondLst>
              <p:nextCondLst>
                <p:cond evt="onNext" delay="0">
                  <p:tgtEl>
                    <p:sldTgt/>
                  </p:tgtEl>
                </p:cond>
              </p:nextCondLst>
            </p:seq>
            <p:seq concurrent="1" nextAc="seek">
              <p:cTn id="28" restart="whenNotActive" fill="hold" evtFilter="cancelBubble" nodeType="interactiveSeq">
                <p:stCondLst>
                  <p:cond evt="onClick" delay="0">
                    <p:tgtEl>
                      <p:spTgt spid="28"/>
                    </p:tgtEl>
                  </p:cond>
                </p:stCondLst>
                <p:endSync evt="end" delay="0">
                  <p:rtn val="all"/>
                </p:endSync>
                <p:childTnLst>
                  <p:par>
                    <p:cTn id="29" fill="hold">
                      <p:stCondLst>
                        <p:cond delay="0"/>
                      </p:stCondLst>
                      <p:childTnLst>
                        <p:par>
                          <p:cTn id="30" fill="hold">
                            <p:stCondLst>
                              <p:cond delay="0"/>
                            </p:stCondLst>
                            <p:childTnLst>
                              <p:par>
                                <p:cTn id="31" presetID="2" presetClass="mediacall" presetSubtype="0" fill="hold" nodeType="clickEffect">
                                  <p:stCondLst>
                                    <p:cond delay="0"/>
                                  </p:stCondLst>
                                  <p:childTnLst>
                                    <p:cmd type="call" cmd="togglePause">
                                      <p:cBhvr>
                                        <p:cTn id="32" dur="1" fill="hold"/>
                                        <p:tgtEl>
                                          <p:spTgt spid="28"/>
                                        </p:tgtEl>
                                      </p:cBhvr>
                                    </p:cmd>
                                  </p:childTnLst>
                                </p:cTn>
                              </p:par>
                            </p:childTnLst>
                          </p:cTn>
                        </p:par>
                      </p:childTnLst>
                    </p:cTn>
                  </p:par>
                </p:childTnLst>
              </p:cTn>
              <p:nextCondLst>
                <p:cond evt="onClick" delay="0">
                  <p:tgtEl>
                    <p:spTgt spid="28"/>
                  </p:tgtEl>
                </p:cond>
              </p:nextCondLst>
            </p:seq>
            <p:seq concurrent="1" nextAc="seek">
              <p:cTn id="33" restart="whenNotActive" fill="hold" evtFilter="cancelBubble" nodeType="interactiveSeq">
                <p:stCondLst>
                  <p:cond evt="onClick" delay="0">
                    <p:tgtEl>
                      <p:spTgt spid="30"/>
                    </p:tgtEl>
                  </p:cond>
                </p:stCondLst>
                <p:endSync evt="end" delay="0">
                  <p:rtn val="all"/>
                </p:endSync>
                <p:childTnLst>
                  <p:par>
                    <p:cTn id="34" fill="hold">
                      <p:stCondLst>
                        <p:cond delay="0"/>
                      </p:stCondLst>
                      <p:childTnLst>
                        <p:par>
                          <p:cTn id="35" fill="hold">
                            <p:stCondLst>
                              <p:cond delay="0"/>
                            </p:stCondLst>
                            <p:childTnLst>
                              <p:par>
                                <p:cTn id="36" presetID="2" presetClass="mediacall" presetSubtype="0" fill="hold" nodeType="clickEffect">
                                  <p:stCondLst>
                                    <p:cond delay="0"/>
                                  </p:stCondLst>
                                  <p:childTnLst>
                                    <p:cmd type="call" cmd="togglePause">
                                      <p:cBhvr>
                                        <p:cTn id="37" dur="1" fill="hold"/>
                                        <p:tgtEl>
                                          <p:spTgt spid="30"/>
                                        </p:tgtEl>
                                      </p:cBhvr>
                                    </p:cmd>
                                  </p:childTnLst>
                                </p:cTn>
                              </p:par>
                            </p:childTnLst>
                          </p:cTn>
                        </p:par>
                      </p:childTnLst>
                    </p:cTn>
                  </p:par>
                </p:childTnLst>
              </p:cTn>
              <p:nextCondLst>
                <p:cond evt="onClick" delay="0">
                  <p:tgtEl>
                    <p:spTgt spid="30"/>
                  </p:tgtEl>
                </p:cond>
              </p:nextCondLst>
            </p:seq>
            <p:audio>
              <p:cMediaNode vol="80000">
                <p:cTn id="38" fill="hold" display="0">
                  <p:stCondLst>
                    <p:cond delay="indefinite"/>
                  </p:stCondLst>
                  <p:endCondLst>
                    <p:cond evt="onStopAudio" delay="0">
                      <p:tgtEl>
                        <p:sldTgt/>
                      </p:tgtEl>
                    </p:cond>
                  </p:endCondLst>
                </p:cTn>
                <p:tgtEl>
                  <p:spTgt spid="28"/>
                </p:tgtEl>
              </p:cMediaNode>
            </p:audio>
            <p:audio>
              <p:cMediaNode vol="80000">
                <p:cTn id="39" fill="hold" display="0">
                  <p:stCondLst>
                    <p:cond delay="indefinite"/>
                  </p:stCondLst>
                  <p:endCondLst>
                    <p:cond evt="onStopAudio" delay="0">
                      <p:tgtEl>
                        <p:sldTgt/>
                      </p:tgtEl>
                    </p:cond>
                  </p:endCondLst>
                </p:cTn>
                <p:tgtEl>
                  <p:spTgt spid="30"/>
                </p:tgtEl>
              </p:cMediaNode>
            </p:audio>
          </p:childTnLst>
        </p:cTn>
      </p:par>
    </p:tnLst>
  </p:timing>
</p:sld>
</file>

<file path=ppt/slides/slide16.xml><?xml version="1.0" encoding="utf-8"?>
<p:sld xmlns:a="http://schemas.openxmlformats.org/drawingml/2006/main" xmlns:r="http://schemas.openxmlformats.org/officeDocument/2006/relationships" xmlns:p="http://schemas.openxmlformats.org/presentationml/2006/main">
  <p:cSld name="Slide 16">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440"/>
          <p:cNvSpPr/>
          <p:nvPr/>
        </p:nvSpPr>
        <p:spPr>
          <a:xfrm>
            <a:off x="201168" y="164592"/>
            <a:ext cx="841248" cy="841248"/>
          </a:xfrm>
          <a:prstGeom prst="ellipse">
            <a:avLst/>
          </a:prstGeom>
          <a:solidFill>
            <a:srgbClr val="E8508F"/>
          </a:solidFill>
          <a:ln w="28575">
            <a:solidFill>
              <a:srgbClr val="F7A6C4"/>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16</a:t>
            </a:r>
            <a:endParaRPr lang="en-US" sz="2200" dirty="0"/>
          </a:p>
        </p:txBody>
      </p:sp>
      <p:pic>
        <p:nvPicPr>
          <p:cNvPr id="4" name="brY_441" descr="/home/claude/lls-course/v2/assets/brush-yellow.png">    </p:cNvPr>
          <p:cNvPicPr>
            <a:picLocks noChangeAspect="1"/>
          </p:cNvPicPr>
          <p:nvPr/>
        </p:nvPicPr>
        <p:blipFill>
          <a:blip r:embed="rId2"/>
          <a:stretch>
            <a:fillRect/>
          </a:stretch>
        </p:blipFill>
        <p:spPr>
          <a:xfrm>
            <a:off x="1097280" y="146304"/>
            <a:ext cx="3405226" cy="621792"/>
          </a:xfrm>
          <a:prstGeom prst="rect">
            <a:avLst/>
          </a:prstGeom>
        </p:spPr>
      </p:pic>
      <p:sp>
        <p:nvSpPr>
          <p:cNvPr id="5" name="title_442"/>
          <p:cNvSpPr/>
          <p:nvPr/>
        </p:nvSpPr>
        <p:spPr>
          <a:xfrm>
            <a:off x="1261872" y="164592"/>
            <a:ext cx="3130906"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Why this article?</a:t>
            </a:r>
            <a:endParaRPr lang="en-US" sz="2500" dirty="0"/>
          </a:p>
        </p:txBody>
      </p:sp>
      <p:pic>
        <p:nvPicPr>
          <p:cNvPr id="6" name="brP_443" descr="/home/claude/lls-course/v2/assets/brush-pink.png">    </p:cNvPr>
          <p:cNvPicPr>
            <a:picLocks noChangeAspect="1"/>
          </p:cNvPicPr>
          <p:nvPr/>
        </p:nvPicPr>
        <p:blipFill>
          <a:blip r:embed="rId3"/>
          <a:stretch>
            <a:fillRect/>
          </a:stretch>
        </p:blipFill>
        <p:spPr>
          <a:xfrm>
            <a:off x="1207008" y="731520"/>
            <a:ext cx="4206240" cy="402336"/>
          </a:xfrm>
          <a:prstGeom prst="rect">
            <a:avLst/>
          </a:prstGeom>
        </p:spPr>
      </p:pic>
      <p:sp>
        <p:nvSpPr>
          <p:cNvPr id="7" name="ins_444"/>
          <p:cNvSpPr/>
          <p:nvPr/>
        </p:nvSpPr>
        <p:spPr>
          <a:xfrm>
            <a:off x="1353312" y="731520"/>
            <a:ext cx="3950208"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Why a, the or nothing? Match the colour.</a:t>
            </a:r>
            <a:endParaRPr lang="en-US" sz="1250" dirty="0"/>
          </a:p>
        </p:txBody>
      </p:sp>
      <p:sp>
        <p:nvSpPr>
          <p:cNvPr id="8" name="insIT_445"/>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Perché a, the o niente? Abbina il colore.</a:t>
            </a:r>
            <a:endParaRPr lang="en-US" sz="950" dirty="0"/>
          </a:p>
        </p:txBody>
      </p:sp>
      <p:sp>
        <p:nvSpPr>
          <p:cNvPr id="9" name="note_446"/>
          <p:cNvSpPr/>
          <p:nvPr/>
        </p:nvSpPr>
        <p:spPr>
          <a:xfrm rot="180000">
            <a:off x="6382512" y="128016"/>
            <a:ext cx="2029968" cy="1024128"/>
          </a:xfrm>
          <a:prstGeom prst="rect">
            <a:avLst/>
          </a:prstGeom>
          <a:solidFill>
            <a:srgbClr val="FFC2DA"/>
          </a:solidFill>
          <a:ln>
            <a:solidFill>
              <a:srgbClr val="FFC2DA"/>
            </a:solidFill>
          </a:ln>
          <a:effectLst>
            <a:outerShdw sx="100000" sy="100000" kx="0" ky="0" algn="bl" rotWithShape="0" blurRad="88900" dist="31750" dir="5400000">
              <a:srgbClr val="1B2559">
                <a:alpha val="15000"/>
              </a:srgbClr>
            </a:outerShdw>
          </a:effectLst>
        </p:spPr>
        <p:txBody>
          <a:bodyPr wrap="square" lIns="50800" tIns="50800" rIns="50800" bIns="50800" rtlCol="0" anchor="ctr">
            <a:normAutofit/>
          </a:bodyPr>
          <a:lstStyle/>
          <a:p>
            <a:pPr algn="ctr" indent="0" marL="0">
              <a:buNone/>
            </a:pPr>
            <a:r>
              <a:rPr lang="en-US" sz="1250" dirty="0">
                <a:solidFill>
                  <a:srgbClr val="1B2559"/>
                </a:solidFill>
                <a:latin typeface="Arial Rounded MT Bold" pitchFamily="34" charset="0"/>
                <a:ea typeface="Arial Rounded MT Bold" pitchFamily="34" charset="-122"/>
                <a:cs typeface="Arial Rounded MT Bold" pitchFamily="34" charset="-120"/>
              </a:rPr>
              <a:t>🔗 MATCH</a:t>
            </a:r>
            <a:pPr algn="ctr" indent="0" marL="0">
              <a:buNone/>
            </a:pPr>
            <a:r>
              <a:rPr lang="en-US" sz="1250" dirty="0">
                <a:solidFill>
                  <a:srgbClr val="1B2559"/>
                </a:solidFill>
                <a:latin typeface="Arial Rounded MT Bold" pitchFamily="34" charset="0"/>
                <a:ea typeface="Arial Rounded MT Bold" pitchFamily="34" charset="-122"/>
                <a:cs typeface="Arial Rounded MT Bold" pitchFamily="34" charset="-120"/>
              </a:rPr>
              <a:t> · ABBINA</a:t>
            </a:r>
            <a:endParaRPr lang="en-US" sz="1250" dirty="0"/>
          </a:p>
          <a:p>
            <a:pPr algn="ctr" indent="0" marL="0">
              <a:buNone/>
            </a:pPr>
            <a:r>
              <a:rPr lang="en-US" sz="1100" dirty="0">
                <a:solidFill>
                  <a:srgbClr val="1B2559"/>
                </a:solidFill>
                <a:latin typeface="Segoe UI Semibold" pitchFamily="34" charset="0"/>
                <a:ea typeface="Segoe UI Semibold" pitchFamily="34" charset="-122"/>
                <a:cs typeface="Segoe UI Semibold" pitchFamily="34" charset="-120"/>
              </a:rPr>
              <a:t>⏱ 3 min   👥 pairs</a:t>
            </a:r>
            <a:endParaRPr lang="en-US" sz="1250" dirty="0"/>
          </a:p>
          <a:p>
            <a:pPr algn="ctr" indent="0" marL="0">
              <a:buNone/>
            </a:pPr>
            <a:r>
              <a:rPr lang="en-US" sz="900" dirty="0">
                <a:solidFill>
                  <a:srgbClr val="5B6785"/>
                </a:solidFill>
                <a:latin typeface="Segoe UI Semibold" pitchFamily="34" charset="0"/>
                <a:ea typeface="Segoe UI Semibold" pitchFamily="34" charset="-122"/>
                <a:cs typeface="Segoe UI Semibold" pitchFamily="34" charset="-120"/>
              </a:rPr>
              <a:t>🎯 Grammar · Guided discovery</a:t>
            </a:r>
            <a:endParaRPr lang="en-US" sz="1250" dirty="0"/>
          </a:p>
        </p:txBody>
      </p:sp>
      <p:pic>
        <p:nvPicPr>
          <p:cNvPr id="10" name="logo_447"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1" name="foot_448"/>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3B-1 · Grammar · why?   ·   📖 SB p.31 · 2a jokes + Grammar Bank 3B p.137 (audio 3.20)</a:t>
            </a:r>
            <a:endParaRPr lang="en-US" sz="800" dirty="0"/>
          </a:p>
        </p:txBody>
      </p:sp>
      <p:sp>
        <p:nvSpPr>
          <p:cNvPr id="12" name="cd_449"/>
          <p:cNvSpPr/>
          <p:nvPr/>
        </p:nvSpPr>
        <p:spPr>
          <a:xfrm>
            <a:off x="320040" y="1417320"/>
            <a:ext cx="2697480" cy="2295144"/>
          </a:xfrm>
          <a:prstGeom prst="roundRect">
            <a:avLst>
              <a:gd name="adj" fmla="val 5578"/>
            </a:avLst>
          </a:prstGeom>
          <a:solidFill>
            <a:srgbClr val="EEE8FB"/>
          </a:solidFill>
          <a:ln w="28575">
            <a:solidFill>
              <a:srgbClr val="CDBFF3"/>
            </a:solidFill>
            <a:prstDash val="solid"/>
          </a:ln>
          <a:effectLst>
            <a:outerShdw sx="100000" sy="100000" kx="0" ky="0" algn="bl" rotWithShape="0" blurRad="88900" dist="31750" dir="5400000">
              <a:srgbClr val="1B2559">
                <a:alpha val="12000"/>
              </a:srgbClr>
            </a:outerShdw>
          </a:effectLst>
        </p:spPr>
      </p:sp>
      <p:sp>
        <p:nvSpPr>
          <p:cNvPr id="13" name="ii_450"/>
          <p:cNvSpPr/>
          <p:nvPr/>
        </p:nvSpPr>
        <p:spPr>
          <a:xfrm>
            <a:off x="411480" y="149047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4" name="ih_451"/>
          <p:cNvSpPr/>
          <p:nvPr/>
        </p:nvSpPr>
        <p:spPr>
          <a:xfrm>
            <a:off x="886968" y="1508760"/>
            <a:ext cx="2057400" cy="365760"/>
          </a:xfrm>
          <a:prstGeom prst="rect">
            <a:avLst/>
          </a:prstGeom>
          <a:noFill/>
          <a:ln/>
        </p:spPr>
        <p:txBody>
          <a:bodyPr wrap="square" lIns="0" tIns="0" rIns="0" bIns="0" rtlCol="0" anchor="ctr"/>
          <a:lstStyle/>
          <a:p>
            <a:pP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The colours</a:t>
            </a:r>
            <a:endParaRPr lang="en-US" sz="1300" dirty="0"/>
          </a:p>
        </p:txBody>
      </p:sp>
      <p:sp>
        <p:nvSpPr>
          <p:cNvPr id="15" name="lg_452"/>
          <p:cNvSpPr/>
          <p:nvPr/>
        </p:nvSpPr>
        <p:spPr>
          <a:xfrm>
            <a:off x="457200" y="1984248"/>
            <a:ext cx="1188720" cy="310896"/>
          </a:xfrm>
          <a:prstGeom prst="roundRect">
            <a:avLst>
              <a:gd name="adj" fmla="val 50000"/>
            </a:avLst>
          </a:prstGeom>
          <a:solidFill>
            <a:srgbClr val="F7A6C4"/>
          </a:solidFill>
          <a:ln/>
        </p:spPr>
        <p:txBody>
          <a:bodyPr wrap="square" lIns="0" tIns="0" rIns="0" bIns="0" rtlCol="0" anchor="ctr"/>
          <a:lstStyle/>
          <a:p>
            <a:pPr algn="ctr" indent="0" marL="0">
              <a:buNone/>
            </a:pPr>
            <a:r>
              <a:rPr lang="en-US" sz="1050" dirty="0">
                <a:solidFill>
                  <a:srgbClr val="1B2559"/>
                </a:solidFill>
                <a:latin typeface="Arial Rounded MT Bold" pitchFamily="34" charset="0"/>
                <a:ea typeface="Arial Rounded MT Bold" pitchFamily="34" charset="-122"/>
                <a:cs typeface="Arial Rounded MT Bold" pitchFamily="34" charset="-120"/>
              </a:rPr>
              <a:t>a/an: one, new</a:t>
            </a:r>
            <a:endParaRPr lang="en-US" sz="1050" dirty="0"/>
          </a:p>
        </p:txBody>
      </p:sp>
      <p:sp>
        <p:nvSpPr>
          <p:cNvPr id="16" name="lg_453"/>
          <p:cNvSpPr/>
          <p:nvPr/>
        </p:nvSpPr>
        <p:spPr>
          <a:xfrm>
            <a:off x="1719072" y="1984248"/>
            <a:ext cx="1188720" cy="310896"/>
          </a:xfrm>
          <a:prstGeom prst="roundRect">
            <a:avLst>
              <a:gd name="adj" fmla="val 50000"/>
            </a:avLst>
          </a:prstGeom>
          <a:solidFill>
            <a:srgbClr val="8FC9F2"/>
          </a:solidFill>
          <a:ln/>
        </p:spPr>
        <p:txBody>
          <a:bodyPr wrap="square" lIns="0" tIns="0" rIns="0" bIns="0" rtlCol="0" anchor="ctr"/>
          <a:lstStyle/>
          <a:p>
            <a:pPr algn="ctr" indent="0" marL="0">
              <a:buNone/>
            </a:pPr>
            <a:r>
              <a:rPr lang="en-US" sz="1050" dirty="0">
                <a:solidFill>
                  <a:srgbClr val="1B2559"/>
                </a:solidFill>
                <a:latin typeface="Arial Rounded MT Bold" pitchFamily="34" charset="0"/>
                <a:ea typeface="Arial Rounded MT Bold" pitchFamily="34" charset="-122"/>
                <a:cs typeface="Arial Rounded MT Bold" pitchFamily="34" charset="-120"/>
              </a:rPr>
              <a:t>the: we know</a:t>
            </a:r>
            <a:endParaRPr lang="en-US" sz="1050" dirty="0"/>
          </a:p>
        </p:txBody>
      </p:sp>
      <p:sp>
        <p:nvSpPr>
          <p:cNvPr id="17" name="lg_454"/>
          <p:cNvSpPr/>
          <p:nvPr/>
        </p:nvSpPr>
        <p:spPr>
          <a:xfrm>
            <a:off x="457200" y="2368296"/>
            <a:ext cx="1188720" cy="310896"/>
          </a:xfrm>
          <a:prstGeom prst="roundRect">
            <a:avLst>
              <a:gd name="adj" fmla="val 50000"/>
            </a:avLst>
          </a:prstGeom>
          <a:solidFill>
            <a:srgbClr val="8FD9A8"/>
          </a:solidFill>
          <a:ln/>
        </p:spPr>
        <p:txBody>
          <a:bodyPr wrap="square" lIns="0" tIns="0" rIns="0" bIns="0" rtlCol="0" anchor="ctr"/>
          <a:lstStyle/>
          <a:p>
            <a:pPr algn="ctr" indent="0" marL="0">
              <a:buNone/>
            </a:pPr>
            <a:r>
              <a:rPr lang="en-US" sz="1050" dirty="0">
                <a:solidFill>
                  <a:srgbClr val="1B2559"/>
                </a:solidFill>
                <a:latin typeface="Arial Rounded MT Bold" pitchFamily="34" charset="0"/>
                <a:ea typeface="Arial Rounded MT Bold" pitchFamily="34" charset="-122"/>
                <a:cs typeface="Arial Rounded MT Bold" pitchFamily="34" charset="-120"/>
              </a:rPr>
              <a:t>the: only one</a:t>
            </a:r>
            <a:endParaRPr lang="en-US" sz="1050" dirty="0"/>
          </a:p>
        </p:txBody>
      </p:sp>
      <p:sp>
        <p:nvSpPr>
          <p:cNvPr id="18" name="lg_455"/>
          <p:cNvSpPr/>
          <p:nvPr/>
        </p:nvSpPr>
        <p:spPr>
          <a:xfrm>
            <a:off x="1719072" y="2368296"/>
            <a:ext cx="1188720" cy="310896"/>
          </a:xfrm>
          <a:prstGeom prst="roundRect">
            <a:avLst>
              <a:gd name="adj" fmla="val 50000"/>
            </a:avLst>
          </a:prstGeom>
          <a:solidFill>
            <a:srgbClr val="FFD966"/>
          </a:solidFill>
          <a:ln/>
        </p:spPr>
        <p:txBody>
          <a:bodyPr wrap="square" lIns="0" tIns="0" rIns="0" bIns="0" rtlCol="0" anchor="ctr"/>
          <a:lstStyle/>
          <a:p>
            <a:pPr algn="ctr" indent="0" marL="0">
              <a:buNone/>
            </a:pPr>
            <a:r>
              <a:rPr lang="en-US" sz="1050" dirty="0">
                <a:solidFill>
                  <a:srgbClr val="1B2559"/>
                </a:solidFill>
                <a:latin typeface="Arial Rounded MT Bold" pitchFamily="34" charset="0"/>
                <a:ea typeface="Arial Rounded MT Bold" pitchFamily="34" charset="-122"/>
                <a:cs typeface="Arial Rounded MT Bold" pitchFamily="34" charset="-120"/>
              </a:rPr>
              <a:t>–: in general</a:t>
            </a:r>
            <a:endParaRPr lang="en-US" sz="1050" dirty="0"/>
          </a:p>
        </p:txBody>
      </p:sp>
      <p:sp>
        <p:nvSpPr>
          <p:cNvPr id="19" name="lg_456"/>
          <p:cNvSpPr/>
          <p:nvPr/>
        </p:nvSpPr>
        <p:spPr>
          <a:xfrm>
            <a:off x="457200" y="2752344"/>
            <a:ext cx="1188720" cy="310896"/>
          </a:xfrm>
          <a:prstGeom prst="roundRect">
            <a:avLst>
              <a:gd name="adj" fmla="val 50000"/>
            </a:avLst>
          </a:prstGeom>
          <a:solidFill>
            <a:srgbClr val="CDBFF3"/>
          </a:solidFill>
          <a:ln/>
        </p:spPr>
        <p:txBody>
          <a:bodyPr wrap="square" lIns="0" tIns="0" rIns="0" bIns="0" rtlCol="0" anchor="ctr"/>
          <a:lstStyle/>
          <a:p>
            <a:pPr algn="ctr" indent="0" marL="0">
              <a:buNone/>
            </a:pPr>
            <a:r>
              <a:rPr lang="en-US" sz="1050" dirty="0">
                <a:solidFill>
                  <a:srgbClr val="1B2559"/>
                </a:solidFill>
                <a:latin typeface="Arial Rounded MT Bold" pitchFamily="34" charset="0"/>
                <a:ea typeface="Arial Rounded MT Bold" pitchFamily="34" charset="-122"/>
                <a:cs typeface="Arial Rounded MT Bold" pitchFamily="34" charset="-120"/>
              </a:rPr>
              <a:t>–: school, home</a:t>
            </a:r>
            <a:endParaRPr lang="en-US" sz="1050" dirty="0"/>
          </a:p>
        </p:txBody>
      </p:sp>
      <p:sp>
        <p:nvSpPr>
          <p:cNvPr id="20" name="sq_457"/>
          <p:cNvSpPr/>
          <p:nvPr/>
        </p:nvSpPr>
        <p:spPr>
          <a:xfrm>
            <a:off x="3246120" y="1417320"/>
            <a:ext cx="3840480" cy="475488"/>
          </a:xfrm>
          <a:prstGeom prst="roundRect">
            <a:avLst>
              <a:gd name="adj" fmla="val 19231"/>
            </a:avLst>
          </a:prstGeom>
          <a:solidFill>
            <a:srgbClr val="FFFFFF"/>
          </a:solidFill>
          <a:ln w="28575">
            <a:solidFill>
              <a:srgbClr val="F7A6C4"/>
            </a:solidFill>
          </a:ln>
        </p:spPr>
        <p:txBody>
          <a:bodyPr wrap="square" lIns="101600" tIns="0" rIns="101600" bIns="0" rtlCol="0" anchor="ct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a  A man goes to see a lawyer.</a:t>
            </a:r>
            <a:endParaRPr lang="en-US" sz="1200" dirty="0"/>
          </a:p>
        </p:txBody>
      </p:sp>
      <p:sp>
        <p:nvSpPr>
          <p:cNvPr id="21" name="R1_tag458"/>
          <p:cNvSpPr/>
          <p:nvPr/>
        </p:nvSpPr>
        <p:spPr>
          <a:xfrm>
            <a:off x="7178040" y="1417320"/>
            <a:ext cx="1691640" cy="475488"/>
          </a:xfrm>
          <a:prstGeom prst="roundRect">
            <a:avLst>
              <a:gd name="adj" fmla="val 48077"/>
            </a:avLst>
          </a:prstGeom>
          <a:solidFill>
            <a:srgbClr val="F7A6C4"/>
          </a:solidFill>
          <a:ln/>
        </p:spPr>
        <p:txBody>
          <a:bodyPr wrap="square" lIns="0" tIns="0" rIns="0" bIns="0" rtlCol="0" anchor="ct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a/an: one, new</a:t>
            </a:r>
            <a:endParaRPr lang="en-US" sz="1150" dirty="0"/>
          </a:p>
        </p:txBody>
      </p:sp>
      <p:sp>
        <p:nvSpPr>
          <p:cNvPr id="22" name="sq_459"/>
          <p:cNvSpPr/>
          <p:nvPr/>
        </p:nvSpPr>
        <p:spPr>
          <a:xfrm>
            <a:off x="3246120" y="1956816"/>
            <a:ext cx="3840480" cy="475488"/>
          </a:xfrm>
          <a:prstGeom prst="roundRect">
            <a:avLst>
              <a:gd name="adj" fmla="val 19231"/>
            </a:avLst>
          </a:prstGeom>
          <a:solidFill>
            <a:srgbClr val="FFFFFF"/>
          </a:solidFill>
          <a:ln w="28575">
            <a:solidFill>
              <a:srgbClr val="A9D3F5"/>
            </a:solidFill>
          </a:ln>
        </p:spPr>
        <p:txBody>
          <a:bodyPr wrap="square" lIns="101600" tIns="0" rIns="101600" bIns="0" rtlCol="0" anchor="ct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b  Girls are cleverer than boys.</a:t>
            </a:r>
            <a:endParaRPr lang="en-US" sz="1200" dirty="0"/>
          </a:p>
        </p:txBody>
      </p:sp>
      <p:sp>
        <p:nvSpPr>
          <p:cNvPr id="23" name="R2_tag460"/>
          <p:cNvSpPr/>
          <p:nvPr/>
        </p:nvSpPr>
        <p:spPr>
          <a:xfrm>
            <a:off x="7178040" y="1956816"/>
            <a:ext cx="1691640" cy="475488"/>
          </a:xfrm>
          <a:prstGeom prst="roundRect">
            <a:avLst>
              <a:gd name="adj" fmla="val 48077"/>
            </a:avLst>
          </a:prstGeom>
          <a:solidFill>
            <a:srgbClr val="FFD966"/>
          </a:solidFill>
          <a:ln/>
        </p:spPr>
        <p:txBody>
          <a:bodyPr wrap="square" lIns="0" tIns="0" rIns="0" bIns="0" rtlCol="0" anchor="ct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 in general</a:t>
            </a:r>
            <a:endParaRPr lang="en-US" sz="1150" dirty="0"/>
          </a:p>
        </p:txBody>
      </p:sp>
      <p:sp>
        <p:nvSpPr>
          <p:cNvPr id="24" name="sq_461"/>
          <p:cNvSpPr/>
          <p:nvPr/>
        </p:nvSpPr>
        <p:spPr>
          <a:xfrm>
            <a:off x="3246120" y="2496312"/>
            <a:ext cx="3840480" cy="475488"/>
          </a:xfrm>
          <a:prstGeom prst="roundRect">
            <a:avLst>
              <a:gd name="adj" fmla="val 19231"/>
            </a:avLst>
          </a:prstGeom>
          <a:solidFill>
            <a:srgbClr val="FFFFFF"/>
          </a:solidFill>
          <a:ln w="28575">
            <a:solidFill>
              <a:srgbClr val="A8E5BE"/>
            </a:solidFill>
          </a:ln>
        </p:spPr>
        <p:txBody>
          <a:bodyPr wrap="square" lIns="101600" tIns="0" rIns="101600" bIns="0" rtlCol="0" anchor="ct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c  You came in through the window.</a:t>
            </a:r>
            <a:endParaRPr lang="en-US" sz="1200" dirty="0"/>
          </a:p>
        </p:txBody>
      </p:sp>
      <p:sp>
        <p:nvSpPr>
          <p:cNvPr id="25" name="R3_tag462"/>
          <p:cNvSpPr/>
          <p:nvPr/>
        </p:nvSpPr>
        <p:spPr>
          <a:xfrm>
            <a:off x="7178040" y="2496312"/>
            <a:ext cx="1691640" cy="475488"/>
          </a:xfrm>
          <a:prstGeom prst="roundRect">
            <a:avLst>
              <a:gd name="adj" fmla="val 48077"/>
            </a:avLst>
          </a:prstGeom>
          <a:solidFill>
            <a:srgbClr val="8FC9F2"/>
          </a:solidFill>
          <a:ln/>
        </p:spPr>
        <p:txBody>
          <a:bodyPr wrap="square" lIns="0" tIns="0" rIns="0" bIns="0" rtlCol="0" anchor="ct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the: we know</a:t>
            </a:r>
            <a:endParaRPr lang="en-US" sz="1150" dirty="0"/>
          </a:p>
        </p:txBody>
      </p:sp>
      <p:sp>
        <p:nvSpPr>
          <p:cNvPr id="26" name="sq_463"/>
          <p:cNvSpPr/>
          <p:nvPr/>
        </p:nvSpPr>
        <p:spPr>
          <a:xfrm>
            <a:off x="3246120" y="3035808"/>
            <a:ext cx="3840480" cy="475488"/>
          </a:xfrm>
          <a:prstGeom prst="roundRect">
            <a:avLst>
              <a:gd name="adj" fmla="val 19231"/>
            </a:avLst>
          </a:prstGeom>
          <a:solidFill>
            <a:srgbClr val="FFFFFF"/>
          </a:solidFill>
          <a:ln w="28575">
            <a:solidFill>
              <a:srgbClr val="FFE07A"/>
            </a:solidFill>
          </a:ln>
        </p:spPr>
        <p:txBody>
          <a:bodyPr wrap="square" lIns="101600" tIns="0" rIns="101600" bIns="0" rtlCol="0" anchor="ct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d  What did you do at school today?</a:t>
            </a:r>
            <a:endParaRPr lang="en-US" sz="1200" dirty="0"/>
          </a:p>
        </p:txBody>
      </p:sp>
      <p:sp>
        <p:nvSpPr>
          <p:cNvPr id="27" name="R4_tag464"/>
          <p:cNvSpPr/>
          <p:nvPr/>
        </p:nvSpPr>
        <p:spPr>
          <a:xfrm>
            <a:off x="7178040" y="3035808"/>
            <a:ext cx="1691640" cy="475488"/>
          </a:xfrm>
          <a:prstGeom prst="roundRect">
            <a:avLst>
              <a:gd name="adj" fmla="val 48077"/>
            </a:avLst>
          </a:prstGeom>
          <a:solidFill>
            <a:srgbClr val="CDBFF3"/>
          </a:solidFill>
          <a:ln/>
        </p:spPr>
        <p:txBody>
          <a:bodyPr wrap="square" lIns="0" tIns="0" rIns="0" bIns="0" rtlCol="0" anchor="ct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 school, home</a:t>
            </a:r>
            <a:endParaRPr lang="en-US" sz="1150" dirty="0"/>
          </a:p>
        </p:txBody>
      </p:sp>
      <p:sp>
        <p:nvSpPr>
          <p:cNvPr id="28" name="sq_465"/>
          <p:cNvSpPr/>
          <p:nvPr/>
        </p:nvSpPr>
        <p:spPr>
          <a:xfrm>
            <a:off x="3246120" y="3575304"/>
            <a:ext cx="3840480" cy="475488"/>
          </a:xfrm>
          <a:prstGeom prst="roundRect">
            <a:avLst>
              <a:gd name="adj" fmla="val 19231"/>
            </a:avLst>
          </a:prstGeom>
          <a:solidFill>
            <a:srgbClr val="FFFFFF"/>
          </a:solidFill>
          <a:ln w="28575">
            <a:solidFill>
              <a:srgbClr val="F7A6C4"/>
            </a:solidFill>
          </a:ln>
        </p:spPr>
        <p:txBody>
          <a:bodyPr wrap="square" lIns="101600" tIns="0" rIns="101600" bIns="0" rtlCol="0" anchor="ct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e  The moon goes round the Earth.</a:t>
            </a:r>
            <a:endParaRPr lang="en-US" sz="1200" dirty="0"/>
          </a:p>
        </p:txBody>
      </p:sp>
      <p:sp>
        <p:nvSpPr>
          <p:cNvPr id="29" name="R5_tag466"/>
          <p:cNvSpPr/>
          <p:nvPr/>
        </p:nvSpPr>
        <p:spPr>
          <a:xfrm>
            <a:off x="7178040" y="3575304"/>
            <a:ext cx="1691640" cy="475488"/>
          </a:xfrm>
          <a:prstGeom prst="roundRect">
            <a:avLst>
              <a:gd name="adj" fmla="val 48077"/>
            </a:avLst>
          </a:prstGeom>
          <a:solidFill>
            <a:srgbClr val="8FD9A8"/>
          </a:solidFill>
          <a:ln/>
        </p:spPr>
        <p:txBody>
          <a:bodyPr wrap="square" lIns="0" tIns="0" rIns="0" bIns="0" rtlCol="0" anchor="ct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the: only one</a:t>
            </a:r>
            <a:endParaRPr lang="en-US" sz="1150" dirty="0"/>
          </a:p>
        </p:txBody>
      </p:sp>
      <p:sp>
        <p:nvSpPr>
          <p:cNvPr id="30" name="sq_467"/>
          <p:cNvSpPr/>
          <p:nvPr/>
        </p:nvSpPr>
        <p:spPr>
          <a:xfrm>
            <a:off x="3246120" y="4114800"/>
            <a:ext cx="3840480" cy="475488"/>
          </a:xfrm>
          <a:prstGeom prst="roundRect">
            <a:avLst>
              <a:gd name="adj" fmla="val 19231"/>
            </a:avLst>
          </a:prstGeom>
          <a:solidFill>
            <a:srgbClr val="FFFFFF"/>
          </a:solidFill>
          <a:ln w="28575">
            <a:solidFill>
              <a:srgbClr val="A9D3F5"/>
            </a:solidFill>
          </a:ln>
        </p:spPr>
        <p:txBody>
          <a:bodyPr wrap="square" lIns="101600" tIns="0" rIns="101600" bIns="0" rtlCol="0" anchor="ct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f  It was a great day!</a:t>
            </a:r>
            <a:endParaRPr lang="en-US" sz="1200" dirty="0"/>
          </a:p>
        </p:txBody>
      </p:sp>
      <p:sp>
        <p:nvSpPr>
          <p:cNvPr id="31" name="R6_tag468"/>
          <p:cNvSpPr/>
          <p:nvPr/>
        </p:nvSpPr>
        <p:spPr>
          <a:xfrm>
            <a:off x="7178040" y="4114800"/>
            <a:ext cx="1691640" cy="475488"/>
          </a:xfrm>
          <a:prstGeom prst="roundRect">
            <a:avLst>
              <a:gd name="adj" fmla="val 48077"/>
            </a:avLst>
          </a:prstGeom>
          <a:solidFill>
            <a:srgbClr val="F7A6C4"/>
          </a:solidFill>
          <a:ln/>
        </p:spPr>
        <p:txBody>
          <a:bodyPr wrap="square" lIns="0" tIns="0" rIns="0" bIns="0" rtlCol="0" anchor="ct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a/an: one, new</a:t>
            </a:r>
            <a:endParaRPr lang="en-US" sz="1150" dirty="0"/>
          </a:p>
        </p:txBody>
      </p:sp>
      <p:sp>
        <p:nvSpPr>
          <p:cNvPr id="32" name="pf_469"/>
          <p:cNvSpPr/>
          <p:nvPr/>
        </p:nvSpPr>
        <p:spPr>
          <a:xfrm rot="-120000">
            <a:off x="1101942" y="3703320"/>
            <a:ext cx="1133677" cy="1005840"/>
          </a:xfrm>
          <a:prstGeom prst="roundRect">
            <a:avLst>
              <a:gd name="adj" fmla="val 15455"/>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33" name="ph_470" descr="/home/claude/lls-course/v2/cache/3b1_moon_jpg_251x220_31.png">    </p:cNvPr>
          <p:cNvPicPr>
            <a:picLocks noChangeAspect="1"/>
          </p:cNvPicPr>
          <p:nvPr/>
        </p:nvPicPr>
        <p:blipFill>
          <a:blip r:embed="rId5"/>
          <a:stretch>
            <a:fillRect/>
          </a:stretch>
        </p:blipFill>
        <p:spPr>
          <a:xfrm rot="-120000">
            <a:off x="1147662" y="3749040"/>
            <a:ext cx="1042237" cy="914400"/>
          </a:xfrm>
          <a:prstGeom prst="rect">
            <a:avLst/>
          </a:prstGeom>
        </p:spPr>
      </p:pic>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1"/>
                                        </p:tgtEl>
                                        <p:attrNameLst>
                                          <p:attrName>style.visibility</p:attrName>
                                        </p:attrNameLst>
                                      </p:cBhvr>
                                      <p:to>
                                        <p:strVal val="visible"/>
                                      </p:to>
                                    </p:set>
                                    <p:animEffect transition="in" filter="fade">
                                      <p:cBhvr>
                                        <p:cTn id="7" dur="400"/>
                                        <p:tgtEl>
                                          <p:spTgt spid="21"/>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3"/>
                                        </p:tgtEl>
                                        <p:attrNameLst>
                                          <p:attrName>style.visibility</p:attrName>
                                        </p:attrNameLst>
                                      </p:cBhvr>
                                      <p:to>
                                        <p:strVal val="visible"/>
                                      </p:to>
                                    </p:set>
                                    <p:animEffect transition="in" filter="fade">
                                      <p:cBhvr>
                                        <p:cTn id="12" dur="400"/>
                                        <p:tgtEl>
                                          <p:spTgt spid="23"/>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5"/>
                                        </p:tgtEl>
                                        <p:attrNameLst>
                                          <p:attrName>style.visibility</p:attrName>
                                        </p:attrNameLst>
                                      </p:cBhvr>
                                      <p:to>
                                        <p:strVal val="visible"/>
                                      </p:to>
                                    </p:set>
                                    <p:animEffect transition="in" filter="fade">
                                      <p:cBhvr>
                                        <p:cTn id="17" dur="400"/>
                                        <p:tgtEl>
                                          <p:spTgt spid="25"/>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27"/>
                                        </p:tgtEl>
                                        <p:attrNameLst>
                                          <p:attrName>style.visibility</p:attrName>
                                        </p:attrNameLst>
                                      </p:cBhvr>
                                      <p:to>
                                        <p:strVal val="visible"/>
                                      </p:to>
                                    </p:set>
                                    <p:animEffect transition="in" filter="fade">
                                      <p:cBhvr>
                                        <p:cTn id="22" dur="400"/>
                                        <p:tgtEl>
                                          <p:spTgt spid="27"/>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29"/>
                                        </p:tgtEl>
                                        <p:attrNameLst>
                                          <p:attrName>style.visibility</p:attrName>
                                        </p:attrNameLst>
                                      </p:cBhvr>
                                      <p:to>
                                        <p:strVal val="visible"/>
                                      </p:to>
                                    </p:set>
                                    <p:animEffect transition="in" filter="fade">
                                      <p:cBhvr>
                                        <p:cTn id="27" dur="400"/>
                                        <p:tgtEl>
                                          <p:spTgt spid="29"/>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31"/>
                                        </p:tgtEl>
                                        <p:attrNameLst>
                                          <p:attrName>style.visibility</p:attrName>
                                        </p:attrNameLst>
                                      </p:cBhvr>
                                      <p:to>
                                        <p:strVal val="visible"/>
                                      </p:to>
                                    </p:set>
                                    <p:animEffect transition="in" filter="fade">
                                      <p:cBhvr>
                                        <p:cTn id="32" dur="400"/>
                                        <p:tgtEl>
                                          <p:spTgt spid="3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7.xml><?xml version="1.0" encoding="utf-8"?>
<p:sld xmlns:a="http://schemas.openxmlformats.org/drawingml/2006/main" xmlns:r="http://schemas.openxmlformats.org/officeDocument/2006/relationships" xmlns:p="http://schemas.openxmlformats.org/presentationml/2006/main">
  <p:cSld name="Slide 17">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471"/>
          <p:cNvSpPr/>
          <p:nvPr/>
        </p:nvSpPr>
        <p:spPr>
          <a:xfrm>
            <a:off x="201168" y="164592"/>
            <a:ext cx="841248" cy="841248"/>
          </a:xfrm>
          <a:prstGeom prst="ellipse">
            <a:avLst/>
          </a:prstGeom>
          <a:solidFill>
            <a:srgbClr val="E8508F"/>
          </a:solidFill>
          <a:ln w="28575">
            <a:solidFill>
              <a:srgbClr val="F7A6C4"/>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17</a:t>
            </a:r>
            <a:endParaRPr lang="en-US" sz="2200" dirty="0"/>
          </a:p>
        </p:txBody>
      </p:sp>
      <p:pic>
        <p:nvPicPr>
          <p:cNvPr id="4" name="brY_472" descr="/home/claude/lls-course/v2/assets/brush-yellow.png">    </p:cNvPr>
          <p:cNvPicPr>
            <a:picLocks noChangeAspect="1"/>
          </p:cNvPicPr>
          <p:nvPr/>
        </p:nvPicPr>
        <p:blipFill>
          <a:blip r:embed="rId2"/>
          <a:stretch>
            <a:fillRect/>
          </a:stretch>
        </p:blipFill>
        <p:spPr>
          <a:xfrm>
            <a:off x="1097280" y="146304"/>
            <a:ext cx="4663440" cy="621792"/>
          </a:xfrm>
          <a:prstGeom prst="rect">
            <a:avLst/>
          </a:prstGeom>
        </p:spPr>
      </p:pic>
      <p:sp>
        <p:nvSpPr>
          <p:cNvPr id="5" name="title_473"/>
          <p:cNvSpPr/>
          <p:nvPr/>
        </p:nvSpPr>
        <p:spPr>
          <a:xfrm>
            <a:off x="1261872" y="164592"/>
            <a:ext cx="4389120"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a / an, the or no article</a:t>
            </a:r>
            <a:endParaRPr lang="en-US" sz="2500" dirty="0"/>
          </a:p>
        </p:txBody>
      </p:sp>
      <p:pic>
        <p:nvPicPr>
          <p:cNvPr id="6" name="brP_474" descr="/home/claude/lls-course/v2/assets/brush-pink.png">    </p:cNvPr>
          <p:cNvPicPr>
            <a:picLocks noChangeAspect="1"/>
          </p:cNvPicPr>
          <p:nvPr/>
        </p:nvPicPr>
        <p:blipFill>
          <a:blip r:embed="rId3"/>
          <a:stretch>
            <a:fillRect/>
          </a:stretch>
        </p:blipFill>
        <p:spPr>
          <a:xfrm>
            <a:off x="1207008" y="731520"/>
            <a:ext cx="3337560" cy="402336"/>
          </a:xfrm>
          <a:prstGeom prst="rect">
            <a:avLst/>
          </a:prstGeom>
        </p:spPr>
      </p:pic>
      <p:sp>
        <p:nvSpPr>
          <p:cNvPr id="7" name="ins_475"/>
          <p:cNvSpPr/>
          <p:nvPr/>
        </p:nvSpPr>
        <p:spPr>
          <a:xfrm>
            <a:off x="1353312" y="731520"/>
            <a:ext cx="3081528"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Read the examples. Then click!</a:t>
            </a:r>
            <a:endParaRPr lang="en-US" sz="1250" dirty="0"/>
          </a:p>
        </p:txBody>
      </p:sp>
      <p:sp>
        <p:nvSpPr>
          <p:cNvPr id="8" name="insIT_476"/>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Leggi gli esempi. Poi clicca!</a:t>
            </a:r>
            <a:endParaRPr lang="en-US" sz="950" dirty="0"/>
          </a:p>
        </p:txBody>
      </p:sp>
      <p:sp>
        <p:nvSpPr>
          <p:cNvPr id="9" name="note_477"/>
          <p:cNvSpPr/>
          <p:nvPr/>
        </p:nvSpPr>
        <p:spPr>
          <a:xfrm rot="180000">
            <a:off x="6382512" y="128016"/>
            <a:ext cx="2029968" cy="1024128"/>
          </a:xfrm>
          <a:prstGeom prst="rect">
            <a:avLst/>
          </a:prstGeom>
          <a:solidFill>
            <a:srgbClr val="FFC2DA"/>
          </a:solidFill>
          <a:ln>
            <a:solidFill>
              <a:srgbClr val="FFC2DA"/>
            </a:solidFill>
          </a:ln>
          <a:effectLst>
            <a:outerShdw sx="100000" sy="100000" kx="0" ky="0" algn="bl" rotWithShape="0" blurRad="88900" dist="31750" dir="5400000">
              <a:srgbClr val="1B2559">
                <a:alpha val="15000"/>
              </a:srgbClr>
            </a:outerShdw>
          </a:effectLst>
        </p:spPr>
        <p:txBody>
          <a:bodyPr wrap="square" lIns="50800" tIns="50800" rIns="50800" bIns="50800" rtlCol="0" anchor="ctr">
            <a:normAutofit/>
          </a:bodyPr>
          <a:lstStyle/>
          <a:p>
            <a:pPr algn="ctr" indent="0" marL="0">
              <a:buNone/>
            </a:pPr>
            <a:r>
              <a:rPr lang="en-US" sz="1250" dirty="0">
                <a:solidFill>
                  <a:srgbClr val="1B2559"/>
                </a:solidFill>
                <a:latin typeface="Arial Rounded MT Bold" pitchFamily="34" charset="0"/>
                <a:ea typeface="Arial Rounded MT Bold" pitchFamily="34" charset="-122"/>
                <a:cs typeface="Arial Rounded MT Bold" pitchFamily="34" charset="-120"/>
              </a:rPr>
              <a:t>👀 LOOK</a:t>
            </a:r>
            <a:pPr algn="ctr" indent="0" marL="0">
              <a:buNone/>
            </a:pPr>
            <a:r>
              <a:rPr lang="en-US" sz="1250" dirty="0">
                <a:solidFill>
                  <a:srgbClr val="1B2559"/>
                </a:solidFill>
                <a:latin typeface="Arial Rounded MT Bold" pitchFamily="34" charset="0"/>
                <a:ea typeface="Arial Rounded MT Bold" pitchFamily="34" charset="-122"/>
                <a:cs typeface="Arial Rounded MT Bold" pitchFamily="34" charset="-120"/>
              </a:rPr>
              <a:t> · GUARDA</a:t>
            </a:r>
            <a:endParaRPr lang="en-US" sz="1250" dirty="0"/>
          </a:p>
          <a:p>
            <a:pPr algn="ctr" indent="0" marL="0">
              <a:buNone/>
            </a:pPr>
            <a:r>
              <a:rPr lang="en-US" sz="1100" dirty="0">
                <a:solidFill>
                  <a:srgbClr val="1B2559"/>
                </a:solidFill>
                <a:latin typeface="Segoe UI Semibold" pitchFamily="34" charset="0"/>
                <a:ea typeface="Segoe UI Semibold" pitchFamily="34" charset="-122"/>
                <a:cs typeface="Segoe UI Semibold" pitchFamily="34" charset="-120"/>
              </a:rPr>
              <a:t>⏱ 3 min   🙋 whole class</a:t>
            </a:r>
            <a:endParaRPr lang="en-US" sz="1250" dirty="0"/>
          </a:p>
          <a:p>
            <a:pPr algn="ctr" indent="0" marL="0">
              <a:buNone/>
            </a:pPr>
            <a:r>
              <a:rPr lang="en-US" sz="900" dirty="0">
                <a:solidFill>
                  <a:srgbClr val="5B6785"/>
                </a:solidFill>
                <a:latin typeface="Segoe UI Semibold" pitchFamily="34" charset="0"/>
                <a:ea typeface="Segoe UI Semibold" pitchFamily="34" charset="-122"/>
                <a:cs typeface="Segoe UI Semibold" pitchFamily="34" charset="-120"/>
              </a:rPr>
              <a:t>🎯 Grammar · Guided discovery</a:t>
            </a:r>
            <a:endParaRPr lang="en-US" sz="1250" dirty="0"/>
          </a:p>
        </p:txBody>
      </p:sp>
      <p:pic>
        <p:nvPicPr>
          <p:cNvPr id="10" name="logo_478"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1" name="foot_479"/>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3B-1 · Grammar · the rule   ·   📖 Grammar Bank 3B p.137 · audio 3.19, 3.20, 3.21</a:t>
            </a:r>
            <a:endParaRPr lang="en-US" sz="800" dirty="0"/>
          </a:p>
        </p:txBody>
      </p:sp>
      <p:sp>
        <p:nvSpPr>
          <p:cNvPr id="12" name="ah_480"/>
          <p:cNvSpPr/>
          <p:nvPr/>
        </p:nvSpPr>
        <p:spPr>
          <a:xfrm>
            <a:off x="3675888" y="4572000"/>
            <a:ext cx="1938528" cy="365760"/>
          </a:xfrm>
          <a:prstGeom prst="rect">
            <a:avLst/>
          </a:prstGeom>
          <a:noFill/>
          <a:ln/>
        </p:spPr>
        <p:txBody>
          <a:bodyPr wrap="square" lIns="0" tIns="0" rIns="0" bIns="0" rtlCol="0" anchor="ctr"/>
          <a:lstStyle/>
          <a:p>
            <a:pPr algn="r" indent="0" marL="0">
              <a:buNone/>
            </a:pPr>
            <a:r>
              <a:rPr lang="en-US" sz="1000" b="1" dirty="0">
                <a:solidFill>
                  <a:srgbClr val="2F8DE4"/>
                </a:solidFill>
                <a:latin typeface="Segoe UI Semibold" pitchFamily="34" charset="0"/>
                <a:ea typeface="Segoe UI Semibold" pitchFamily="34" charset="-122"/>
                <a:cs typeface="Segoe UI Semibold" pitchFamily="34" charset="-120"/>
              </a:rPr>
              <a:t>🎧 3.20   ▶ normal</a:t>
            </a:r>
            <a:endParaRPr lang="en-US" sz="1000" dirty="0"/>
          </a:p>
        </p:txBody>
      </p:sp>
      <p:pic>
        <p:nvPicPr>
          <p:cNvPr id="13" name="Media 0">
            <a:hlinkClick r:id="" action="ppaction://media"/>
          </p:cNvPr>
          <p:cNvPicPr>
            <a:picLocks noChangeAspect="1"/>
          </p:cNvPicPr>
          <p:nvPr>
            <a:audioFile r:link="rId5"/>
            <p:extLst>
              <p:ext uri="{DAA4B4D4-6D71-4841-9C94-3DE7FCFB9230}">
                <p14:media xmlns:p14="http://schemas.microsoft.com/office/powerpoint/2010/main" r:embed="rId6"/>
              </p:ext>
            </p:extLst>
          </p:nvPr>
        </p:nvPicPr>
        <p:blipFill>
          <a:blip r:embed="rId7"/>
          <a:stretch>
            <a:fillRect/>
          </a:stretch>
        </p:blipFill>
        <p:spPr>
          <a:xfrm>
            <a:off x="5687568" y="4553712"/>
            <a:ext cx="411480" cy="411480"/>
          </a:xfrm>
          <a:prstGeom prst="rect">
            <a:avLst/>
          </a:prstGeom>
        </p:spPr>
      </p:pic>
      <p:sp>
        <p:nvSpPr>
          <p:cNvPr id="14" name="ah_481"/>
          <p:cNvSpPr/>
          <p:nvPr/>
        </p:nvSpPr>
        <p:spPr>
          <a:xfrm>
            <a:off x="7470648" y="4572000"/>
            <a:ext cx="932688" cy="365760"/>
          </a:xfrm>
          <a:prstGeom prst="rect">
            <a:avLst/>
          </a:prstGeom>
          <a:noFill/>
          <a:ln/>
        </p:spPr>
        <p:txBody>
          <a:bodyPr wrap="square" lIns="0" tIns="0" rIns="0" bIns="0" rtlCol="0" anchor="ctr"/>
          <a:lstStyle/>
          <a:p>
            <a:pPr algn="r" indent="0" marL="0">
              <a:buNone/>
            </a:pPr>
            <a:r>
              <a:rPr lang="en-US" sz="1000" b="1" dirty="0">
                <a:solidFill>
                  <a:srgbClr val="2F8DE4"/>
                </a:solidFill>
                <a:latin typeface="Segoe UI Semibold" pitchFamily="34" charset="0"/>
                <a:ea typeface="Segoe UI Semibold" pitchFamily="34" charset="-122"/>
                <a:cs typeface="Segoe UI Semibold" pitchFamily="34" charset="-120"/>
              </a:rPr>
              <a:t>🐢 slower</a:t>
            </a:r>
            <a:endParaRPr lang="en-US" sz="1000" dirty="0"/>
          </a:p>
        </p:txBody>
      </p:sp>
      <p:pic>
        <p:nvPicPr>
          <p:cNvPr id="15" name="Media 1">
            <a:hlinkClick r:id="" action="ppaction://media"/>
          </p:cNvPr>
          <p:cNvPicPr>
            <a:picLocks noChangeAspect="1"/>
          </p:cNvPicPr>
          <p:nvPr>
            <a:audioFile r:link="rId8"/>
            <p:extLst>
              <p:ext uri="{DAA4B4D4-6D71-4841-9C94-3DE7FCFB9230}">
                <p14:media xmlns:p14="http://schemas.microsoft.com/office/powerpoint/2010/main" r:embed="rId9"/>
              </p:ext>
            </p:extLst>
          </p:nvPr>
        </p:nvPicPr>
        <p:blipFill>
          <a:blip r:embed="rId10"/>
          <a:stretch>
            <a:fillRect/>
          </a:stretch>
        </p:blipFill>
        <p:spPr>
          <a:xfrm>
            <a:off x="8476488" y="4553712"/>
            <a:ext cx="411480" cy="411480"/>
          </a:xfrm>
          <a:prstGeom prst="rect">
            <a:avLst/>
          </a:prstGeom>
        </p:spPr>
      </p:pic>
      <p:sp>
        <p:nvSpPr>
          <p:cNvPr id="16" name="cd_482"/>
          <p:cNvSpPr/>
          <p:nvPr/>
        </p:nvSpPr>
        <p:spPr>
          <a:xfrm>
            <a:off x="320040" y="1417320"/>
            <a:ext cx="2758440" cy="3017520"/>
          </a:xfrm>
          <a:prstGeom prst="roundRect">
            <a:avLst>
              <a:gd name="adj" fmla="val 4641"/>
            </a:avLst>
          </a:prstGeom>
          <a:solidFill>
            <a:srgbClr val="FFFFFF"/>
          </a:solidFill>
          <a:ln w="28575">
            <a:solidFill>
              <a:srgbClr val="F7A6C4"/>
            </a:solidFill>
            <a:prstDash val="solid"/>
          </a:ln>
          <a:effectLst>
            <a:outerShdw sx="100000" sy="100000" kx="0" ky="0" algn="bl" rotWithShape="0" blurRad="88900" dist="31750" dir="5400000">
              <a:srgbClr val="1B2559">
                <a:alpha val="12000"/>
              </a:srgbClr>
            </a:outerShdw>
          </a:effectLst>
        </p:spPr>
      </p:sp>
      <p:sp>
        <p:nvSpPr>
          <p:cNvPr id="17" name="rh_483"/>
          <p:cNvSpPr/>
          <p:nvPr/>
        </p:nvSpPr>
        <p:spPr>
          <a:xfrm>
            <a:off x="429768" y="1508760"/>
            <a:ext cx="2538984" cy="365760"/>
          </a:xfrm>
          <a:prstGeom prst="roundRect">
            <a:avLst>
              <a:gd name="adj" fmla="val 50000"/>
            </a:avLst>
          </a:prstGeom>
          <a:solidFill>
            <a:srgbClr val="E8508F"/>
          </a:solidFill>
          <a:ln/>
        </p:spPr>
        <p:txBody>
          <a:bodyPr wrap="square" lIns="0" tIns="0" rIns="0" bIns="0" rtlCol="0" anchor="ctr">
            <a:normAutofit/>
          </a:bodyPr>
          <a:lstStyle/>
          <a:p>
            <a:pPr algn="ctr" indent="0" marL="0">
              <a:buNone/>
            </a:pPr>
            <a:r>
              <a:rPr lang="en-US" sz="1250" dirty="0">
                <a:solidFill>
                  <a:srgbClr val="FFFFFF"/>
                </a:solidFill>
                <a:latin typeface="Arial Rounded MT Bold" pitchFamily="34" charset="0"/>
                <a:ea typeface="Arial Rounded MT Bold" pitchFamily="34" charset="-122"/>
                <a:cs typeface="Arial Rounded MT Bold" pitchFamily="34" charset="-120"/>
              </a:rPr>
              <a:t>a / an</a:t>
            </a:r>
            <a:endParaRPr lang="en-US" sz="1250" dirty="0"/>
          </a:p>
        </p:txBody>
      </p:sp>
      <p:sp>
        <p:nvSpPr>
          <p:cNvPr id="18" name="pf_484"/>
          <p:cNvSpPr/>
          <p:nvPr/>
        </p:nvSpPr>
        <p:spPr>
          <a:xfrm>
            <a:off x="1071997" y="1938528"/>
            <a:ext cx="1254526" cy="960120"/>
          </a:xfrm>
          <a:prstGeom prst="roundRect">
            <a:avLst>
              <a:gd name="adj" fmla="val 16190"/>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19" name="ph_485" descr="/home/claude/lls-course/v2/cache/3b1_nurse_jpg_280x209_31.png">    </p:cNvPr>
          <p:cNvPicPr>
            <a:picLocks noChangeAspect="1"/>
          </p:cNvPicPr>
          <p:nvPr/>
        </p:nvPicPr>
        <p:blipFill>
          <a:blip r:embed="rId11"/>
          <a:stretch>
            <a:fillRect/>
          </a:stretch>
        </p:blipFill>
        <p:spPr>
          <a:xfrm>
            <a:off x="1117717" y="1984248"/>
            <a:ext cx="1163086" cy="868680"/>
          </a:xfrm>
          <a:prstGeom prst="rect">
            <a:avLst/>
          </a:prstGeom>
        </p:spPr>
      </p:pic>
      <p:sp>
        <p:nvSpPr>
          <p:cNvPr id="20" name="ru_486"/>
          <p:cNvSpPr/>
          <p:nvPr/>
        </p:nvSpPr>
        <p:spPr>
          <a:xfrm>
            <a:off x="411480" y="2926080"/>
            <a:ext cx="2575560" cy="384048"/>
          </a:xfrm>
          <a:prstGeom prst="rect">
            <a:avLst/>
          </a:prstGeom>
          <a:noFill/>
          <a:ln/>
        </p:spPr>
        <p:txBody>
          <a:bodyPr wrap="square" lIns="0" tIns="0" rIns="0" bIns="0" rtlCol="0" anchor="ctr">
            <a:normAutofit/>
          </a:bodyPr>
          <a:lstStyle/>
          <a:p>
            <a:pPr algn="ctr" indent="0" marL="0">
              <a:buNone/>
            </a:pPr>
            <a:r>
              <a:rPr lang="en-US" sz="1050" dirty="0">
                <a:solidFill>
                  <a:srgbClr val="E8508F"/>
                </a:solidFill>
                <a:latin typeface="Arial Rounded MT Bold" pitchFamily="34" charset="0"/>
                <a:ea typeface="Arial Rounded MT Bold" pitchFamily="34" charset="-122"/>
                <a:cs typeface="Arial Rounded MT Bold" pitchFamily="34" charset="-120"/>
              </a:rPr>
              <a:t>one thing, first time · jobs · What a…! · twice a week</a:t>
            </a:r>
            <a:endParaRPr lang="en-US" sz="1050" dirty="0"/>
          </a:p>
        </p:txBody>
      </p:sp>
      <p:sp>
        <p:nvSpPr>
          <p:cNvPr id="21" name="R1_rx487"/>
          <p:cNvSpPr/>
          <p:nvPr/>
        </p:nvSpPr>
        <p:spPr>
          <a:xfrm>
            <a:off x="411480" y="3319272"/>
            <a:ext cx="2575560" cy="749808"/>
          </a:xfrm>
          <a:prstGeom prst="rect">
            <a:avLst/>
          </a:prstGeom>
          <a:noFill/>
          <a:ln/>
        </p:spPr>
        <p:txBody>
          <a:bodyPr wrap="square" lIns="0" tIns="0" rIns="0" bIns="0" rtlCol="0" anchor="ctr">
            <a:normAutofit/>
          </a:bodyPr>
          <a:lstStyle/>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I saw an old man with a dog.</a:t>
            </a:r>
            <a:endParaRPr lang="en-US" sz="1050" dirty="0"/>
          </a:p>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She's a nurse.</a:t>
            </a:r>
            <a:endParaRPr lang="en-US" sz="1050" dirty="0"/>
          </a:p>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What an awful day!</a:t>
            </a:r>
            <a:endParaRPr lang="en-US" sz="1050" dirty="0"/>
          </a:p>
        </p:txBody>
      </p:sp>
      <p:sp>
        <p:nvSpPr>
          <p:cNvPr id="22" name="R1_ri488"/>
          <p:cNvSpPr/>
          <p:nvPr/>
        </p:nvSpPr>
        <p:spPr>
          <a:xfrm>
            <a:off x="411480" y="4087368"/>
            <a:ext cx="2575560" cy="274320"/>
          </a:xfrm>
          <a:prstGeom prst="rect">
            <a:avLst/>
          </a:prstGeom>
          <a:noFill/>
          <a:ln/>
        </p:spPr>
        <p:txBody>
          <a:bodyPr wrap="square" lIns="0" tIns="0" rIns="0" bIns="0" rtlCol="0" anchor="ctr">
            <a:normAutofit/>
          </a:bodyPr>
          <a:lstStyle/>
          <a:p>
            <a:pPr algn="ctr" indent="0" marL="0">
              <a:buNone/>
            </a:pPr>
            <a:r>
              <a:rPr lang="en-US" sz="900" i="1" dirty="0">
                <a:solidFill>
                  <a:srgbClr val="5B6785"/>
                </a:solidFill>
                <a:latin typeface="Segoe UI Semibold" pitchFamily="34" charset="0"/>
                <a:ea typeface="Segoe UI Semibold" pitchFamily="34" charset="-122"/>
                <a:cs typeface="Segoe UI Semibold" pitchFamily="34" charset="-120"/>
              </a:rPr>
              <a:t>un / una (anche con i lavori!)</a:t>
            </a:r>
            <a:endParaRPr lang="en-US" sz="900" dirty="0"/>
          </a:p>
        </p:txBody>
      </p:sp>
      <p:sp>
        <p:nvSpPr>
          <p:cNvPr id="23" name="cd_489"/>
          <p:cNvSpPr/>
          <p:nvPr/>
        </p:nvSpPr>
        <p:spPr>
          <a:xfrm>
            <a:off x="3215640" y="1417320"/>
            <a:ext cx="2758440" cy="3017520"/>
          </a:xfrm>
          <a:prstGeom prst="roundRect">
            <a:avLst>
              <a:gd name="adj" fmla="val 4641"/>
            </a:avLst>
          </a:prstGeom>
          <a:solidFill>
            <a:srgbClr val="FFFFFF"/>
          </a:solidFill>
          <a:ln w="28575">
            <a:solidFill>
              <a:srgbClr val="A9D3F5"/>
            </a:solidFill>
            <a:prstDash val="solid"/>
          </a:ln>
          <a:effectLst>
            <a:outerShdw sx="100000" sy="100000" kx="0" ky="0" algn="bl" rotWithShape="0" blurRad="88900" dist="31750" dir="5400000">
              <a:srgbClr val="1B2559">
                <a:alpha val="12000"/>
              </a:srgbClr>
            </a:outerShdw>
          </a:effectLst>
        </p:spPr>
      </p:sp>
      <p:sp>
        <p:nvSpPr>
          <p:cNvPr id="24" name="rh_490"/>
          <p:cNvSpPr/>
          <p:nvPr/>
        </p:nvSpPr>
        <p:spPr>
          <a:xfrm>
            <a:off x="3325368" y="1508760"/>
            <a:ext cx="2538984" cy="365760"/>
          </a:xfrm>
          <a:prstGeom prst="roundRect">
            <a:avLst>
              <a:gd name="adj" fmla="val 50000"/>
            </a:avLst>
          </a:prstGeom>
          <a:solidFill>
            <a:srgbClr val="2F8DE4"/>
          </a:solidFill>
          <a:ln/>
        </p:spPr>
        <p:txBody>
          <a:bodyPr wrap="square" lIns="0" tIns="0" rIns="0" bIns="0" rtlCol="0" anchor="ctr">
            <a:normAutofit/>
          </a:bodyPr>
          <a:lstStyle/>
          <a:p>
            <a:pPr algn="ctr" indent="0" marL="0">
              <a:buNone/>
            </a:pPr>
            <a:r>
              <a:rPr lang="en-US" sz="1250" dirty="0">
                <a:solidFill>
                  <a:srgbClr val="FFFFFF"/>
                </a:solidFill>
                <a:latin typeface="Arial Rounded MT Bold" pitchFamily="34" charset="0"/>
                <a:ea typeface="Arial Rounded MT Bold" pitchFamily="34" charset="-122"/>
                <a:cs typeface="Arial Rounded MT Bold" pitchFamily="34" charset="-120"/>
              </a:rPr>
              <a:t>the</a:t>
            </a:r>
            <a:endParaRPr lang="en-US" sz="1250" dirty="0"/>
          </a:p>
        </p:txBody>
      </p:sp>
      <p:sp>
        <p:nvSpPr>
          <p:cNvPr id="25" name="pf_491"/>
          <p:cNvSpPr/>
          <p:nvPr/>
        </p:nvSpPr>
        <p:spPr>
          <a:xfrm>
            <a:off x="4054077" y="1938528"/>
            <a:ext cx="1081565" cy="960120"/>
          </a:xfrm>
          <a:prstGeom prst="roundRect">
            <a:avLst>
              <a:gd name="adj" fmla="val 16190"/>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26" name="ph_492" descr="/home/claude/lls-course/v2/cache/3b1_moon_jpg_238x209_31.png">    </p:cNvPr>
          <p:cNvPicPr>
            <a:picLocks noChangeAspect="1"/>
          </p:cNvPicPr>
          <p:nvPr/>
        </p:nvPicPr>
        <p:blipFill>
          <a:blip r:embed="rId12"/>
          <a:stretch>
            <a:fillRect/>
          </a:stretch>
        </p:blipFill>
        <p:spPr>
          <a:xfrm>
            <a:off x="4099797" y="1984248"/>
            <a:ext cx="990125" cy="868680"/>
          </a:xfrm>
          <a:prstGeom prst="rect">
            <a:avLst/>
          </a:prstGeom>
        </p:spPr>
      </p:pic>
      <p:sp>
        <p:nvSpPr>
          <p:cNvPr id="27" name="ru_493"/>
          <p:cNvSpPr/>
          <p:nvPr/>
        </p:nvSpPr>
        <p:spPr>
          <a:xfrm>
            <a:off x="3307080" y="2926080"/>
            <a:ext cx="2575560" cy="384048"/>
          </a:xfrm>
          <a:prstGeom prst="rect">
            <a:avLst/>
          </a:prstGeom>
          <a:noFill/>
          <a:ln/>
        </p:spPr>
        <p:txBody>
          <a:bodyPr wrap="square" lIns="0" tIns="0" rIns="0" bIns="0" rtlCol="0" anchor="ctr">
            <a:normAutofit/>
          </a:bodyPr>
          <a:lstStyle/>
          <a:p>
            <a:pPr algn="ctr" indent="0" marL="0">
              <a:buNone/>
            </a:pPr>
            <a:r>
              <a:rPr lang="en-US" sz="1050" dirty="0">
                <a:solidFill>
                  <a:srgbClr val="2F8DE4"/>
                </a:solidFill>
                <a:latin typeface="Arial Rounded MT Bold" pitchFamily="34" charset="0"/>
                <a:ea typeface="Arial Rounded MT Bold" pitchFamily="34" charset="-122"/>
                <a:cs typeface="Arial Rounded MT Bold" pitchFamily="34" charset="-120"/>
              </a:rPr>
              <a:t>we know which one · only one · the cinema · the best</a:t>
            </a:r>
            <a:endParaRPr lang="en-US" sz="1050" dirty="0"/>
          </a:p>
        </p:txBody>
      </p:sp>
      <p:sp>
        <p:nvSpPr>
          <p:cNvPr id="28" name="R2_rx494"/>
          <p:cNvSpPr/>
          <p:nvPr/>
        </p:nvSpPr>
        <p:spPr>
          <a:xfrm>
            <a:off x="3307080" y="3319272"/>
            <a:ext cx="2575560" cy="749808"/>
          </a:xfrm>
          <a:prstGeom prst="rect">
            <a:avLst/>
          </a:prstGeom>
          <a:noFill/>
          <a:ln/>
        </p:spPr>
        <p:txBody>
          <a:bodyPr wrap="square" lIns="0" tIns="0" rIns="0" bIns="0" rtlCol="0" anchor="ctr">
            <a:normAutofit/>
          </a:bodyPr>
          <a:lstStyle/>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I saw a dog. The dog was barking.</a:t>
            </a:r>
            <a:endParaRPr lang="en-US" sz="1050" dirty="0"/>
          </a:p>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The moon goes round the Earth.</a:t>
            </a:r>
            <a:endParaRPr lang="en-US" sz="1050" dirty="0"/>
          </a:p>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It's the best restaurant in town.</a:t>
            </a:r>
            <a:endParaRPr lang="en-US" sz="1050" dirty="0"/>
          </a:p>
        </p:txBody>
      </p:sp>
      <p:sp>
        <p:nvSpPr>
          <p:cNvPr id="29" name="R2_ri495"/>
          <p:cNvSpPr/>
          <p:nvPr/>
        </p:nvSpPr>
        <p:spPr>
          <a:xfrm>
            <a:off x="3307080" y="4087368"/>
            <a:ext cx="2575560" cy="274320"/>
          </a:xfrm>
          <a:prstGeom prst="rect">
            <a:avLst/>
          </a:prstGeom>
          <a:noFill/>
          <a:ln/>
        </p:spPr>
        <p:txBody>
          <a:bodyPr wrap="square" lIns="0" tIns="0" rIns="0" bIns="0" rtlCol="0" anchor="ctr">
            <a:normAutofit/>
          </a:bodyPr>
          <a:lstStyle/>
          <a:p>
            <a:pPr algn="ctr" indent="0" marL="0">
              <a:buNone/>
            </a:pPr>
            <a:r>
              <a:rPr lang="en-US" sz="900" i="1" dirty="0">
                <a:solidFill>
                  <a:srgbClr val="5B6785"/>
                </a:solidFill>
                <a:latin typeface="Segoe UI Semibold" pitchFamily="34" charset="0"/>
                <a:ea typeface="Segoe UI Semibold" pitchFamily="34" charset="-122"/>
                <a:cs typeface="Segoe UI Semibold" pitchFamily="34" charset="-120"/>
              </a:rPr>
              <a:t>il / la… quando sappiamo quale</a:t>
            </a:r>
            <a:endParaRPr lang="en-US" sz="900" dirty="0"/>
          </a:p>
        </p:txBody>
      </p:sp>
      <p:sp>
        <p:nvSpPr>
          <p:cNvPr id="30" name="cd_496"/>
          <p:cNvSpPr/>
          <p:nvPr/>
        </p:nvSpPr>
        <p:spPr>
          <a:xfrm>
            <a:off x="6111240" y="1417320"/>
            <a:ext cx="2758440" cy="3017520"/>
          </a:xfrm>
          <a:prstGeom prst="roundRect">
            <a:avLst>
              <a:gd name="adj" fmla="val 4641"/>
            </a:avLst>
          </a:prstGeom>
          <a:solidFill>
            <a:srgbClr val="FFFFFF"/>
          </a:solidFill>
          <a:ln w="28575">
            <a:solidFill>
              <a:srgbClr val="A8E5BE"/>
            </a:solidFill>
            <a:prstDash val="solid"/>
          </a:ln>
          <a:effectLst>
            <a:outerShdw sx="100000" sy="100000" kx="0" ky="0" algn="bl" rotWithShape="0" blurRad="88900" dist="31750" dir="5400000">
              <a:srgbClr val="1B2559">
                <a:alpha val="12000"/>
              </a:srgbClr>
            </a:outerShdw>
          </a:effectLst>
        </p:spPr>
      </p:sp>
      <p:sp>
        <p:nvSpPr>
          <p:cNvPr id="31" name="rh_497"/>
          <p:cNvSpPr/>
          <p:nvPr/>
        </p:nvSpPr>
        <p:spPr>
          <a:xfrm>
            <a:off x="6220968" y="1508760"/>
            <a:ext cx="2538984" cy="365760"/>
          </a:xfrm>
          <a:prstGeom prst="roundRect">
            <a:avLst>
              <a:gd name="adj" fmla="val 50000"/>
            </a:avLst>
          </a:prstGeom>
          <a:solidFill>
            <a:srgbClr val="2EB872"/>
          </a:solidFill>
          <a:ln/>
        </p:spPr>
        <p:txBody>
          <a:bodyPr wrap="square" lIns="0" tIns="0" rIns="0" bIns="0" rtlCol="0" anchor="ctr">
            <a:normAutofit/>
          </a:bodyPr>
          <a:lstStyle/>
          <a:p>
            <a:pPr algn="ctr" indent="0" marL="0">
              <a:buNone/>
            </a:pPr>
            <a:r>
              <a:rPr lang="en-US" sz="1250" dirty="0">
                <a:solidFill>
                  <a:srgbClr val="FFFFFF"/>
                </a:solidFill>
                <a:latin typeface="Arial Rounded MT Bold" pitchFamily="34" charset="0"/>
                <a:ea typeface="Arial Rounded MT Bold" pitchFamily="34" charset="-122"/>
                <a:cs typeface="Arial Rounded MT Bold" pitchFamily="34" charset="-120"/>
              </a:rPr>
              <a:t>no article</a:t>
            </a:r>
            <a:endParaRPr lang="en-US" sz="1250" dirty="0"/>
          </a:p>
        </p:txBody>
      </p:sp>
      <p:sp>
        <p:nvSpPr>
          <p:cNvPr id="32" name="pf_498"/>
          <p:cNvSpPr/>
          <p:nvPr/>
        </p:nvSpPr>
        <p:spPr>
          <a:xfrm>
            <a:off x="6792210" y="1938528"/>
            <a:ext cx="1396499" cy="960120"/>
          </a:xfrm>
          <a:prstGeom prst="roundRect">
            <a:avLst>
              <a:gd name="adj" fmla="val 16190"/>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33" name="ph_499" descr="/home/claude/lls-course/v2/cache/3b1_cats_jpg_314x209_31.png">    </p:cNvPr>
          <p:cNvPicPr>
            <a:picLocks noChangeAspect="1"/>
          </p:cNvPicPr>
          <p:nvPr/>
        </p:nvPicPr>
        <p:blipFill>
          <a:blip r:embed="rId13"/>
          <a:stretch>
            <a:fillRect/>
          </a:stretch>
        </p:blipFill>
        <p:spPr>
          <a:xfrm>
            <a:off x="6837930" y="1984248"/>
            <a:ext cx="1305059" cy="868680"/>
          </a:xfrm>
          <a:prstGeom prst="rect">
            <a:avLst/>
          </a:prstGeom>
        </p:spPr>
      </p:pic>
      <p:sp>
        <p:nvSpPr>
          <p:cNvPr id="34" name="ru_500"/>
          <p:cNvSpPr/>
          <p:nvPr/>
        </p:nvSpPr>
        <p:spPr>
          <a:xfrm>
            <a:off x="6202680" y="2926080"/>
            <a:ext cx="2575560" cy="384048"/>
          </a:xfrm>
          <a:prstGeom prst="rect">
            <a:avLst/>
          </a:prstGeom>
          <a:noFill/>
          <a:ln/>
        </p:spPr>
        <p:txBody>
          <a:bodyPr wrap="square" lIns="0" tIns="0" rIns="0" bIns="0" rtlCol="0" anchor="ctr">
            <a:normAutofit/>
          </a:bodyPr>
          <a:lstStyle/>
          <a:p>
            <a:pPr algn="ctr" indent="0" marL="0">
              <a:buNone/>
            </a:pPr>
            <a:r>
              <a:rPr lang="en-US" sz="1050" dirty="0">
                <a:solidFill>
                  <a:srgbClr val="2EB872"/>
                </a:solidFill>
                <a:latin typeface="Arial Rounded MT Bold" pitchFamily="34" charset="0"/>
                <a:ea typeface="Arial Rounded MT Bold" pitchFamily="34" charset="-122"/>
                <a:cs typeface="Arial Rounded MT Bold" pitchFamily="34" charset="-120"/>
              </a:rPr>
              <a:t>things in general · home, work, school · meals, days</a:t>
            </a:r>
            <a:endParaRPr lang="en-US" sz="1050" dirty="0"/>
          </a:p>
        </p:txBody>
      </p:sp>
      <p:sp>
        <p:nvSpPr>
          <p:cNvPr id="35" name="R3_rx501"/>
          <p:cNvSpPr/>
          <p:nvPr/>
        </p:nvSpPr>
        <p:spPr>
          <a:xfrm>
            <a:off x="6202680" y="3319272"/>
            <a:ext cx="2575560" cy="749808"/>
          </a:xfrm>
          <a:prstGeom prst="rect">
            <a:avLst/>
          </a:prstGeom>
          <a:noFill/>
          <a:ln/>
        </p:spPr>
        <p:txBody>
          <a:bodyPr wrap="square" lIns="0" tIns="0" rIns="0" bIns="0" rtlCol="0" anchor="ctr">
            <a:normAutofit/>
          </a:bodyPr>
          <a:lstStyle/>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Love is more important than money.</a:t>
            </a:r>
            <a:endParaRPr lang="en-US" sz="1050" dirty="0"/>
          </a:p>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She's not at home today.</a:t>
            </a:r>
            <a:endParaRPr lang="en-US" sz="1050" dirty="0"/>
          </a:p>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I never have breakfast.</a:t>
            </a:r>
            <a:endParaRPr lang="en-US" sz="1050" dirty="0"/>
          </a:p>
        </p:txBody>
      </p:sp>
      <p:sp>
        <p:nvSpPr>
          <p:cNvPr id="36" name="R3_ri502"/>
          <p:cNvSpPr/>
          <p:nvPr/>
        </p:nvSpPr>
        <p:spPr>
          <a:xfrm>
            <a:off x="6202680" y="4087368"/>
            <a:ext cx="2575560" cy="274320"/>
          </a:xfrm>
          <a:prstGeom prst="rect">
            <a:avLst/>
          </a:prstGeom>
          <a:noFill/>
          <a:ln/>
        </p:spPr>
        <p:txBody>
          <a:bodyPr wrap="square" lIns="0" tIns="0" rIns="0" bIns="0" rtlCol="0" anchor="ctr">
            <a:normAutofit/>
          </a:bodyPr>
          <a:lstStyle/>
          <a:p>
            <a:pPr algn="ctr" indent="0" marL="0">
              <a:buNone/>
            </a:pPr>
            <a:r>
              <a:rPr lang="en-US" sz="900" i="1" dirty="0">
                <a:solidFill>
                  <a:srgbClr val="5B6785"/>
                </a:solidFill>
                <a:latin typeface="Segoe UI Semibold" pitchFamily="34" charset="0"/>
                <a:ea typeface="Segoe UI Semibold" pitchFamily="34" charset="-122"/>
                <a:cs typeface="Segoe UI Semibold" pitchFamily="34" charset="-120"/>
              </a:rPr>
              <a:t>in generale: NIENTE articolo!</a:t>
            </a:r>
            <a:endParaRPr lang="en-US" sz="900" dirty="0"/>
          </a:p>
        </p:txBody>
      </p:sp>
      <p:sp>
        <p:nvSpPr>
          <p:cNvPr id="37" name="R4_wc503"/>
          <p:cNvSpPr/>
          <p:nvPr/>
        </p:nvSpPr>
        <p:spPr>
          <a:xfrm>
            <a:off x="320040" y="4544568"/>
            <a:ext cx="3172968" cy="329184"/>
          </a:xfrm>
          <a:prstGeom prst="roundRect">
            <a:avLst>
              <a:gd name="adj" fmla="val 38889"/>
            </a:avLst>
          </a:prstGeom>
          <a:solidFill>
            <a:srgbClr val="FFE3EE"/>
          </a:solidFill>
          <a:ln w="28575">
            <a:solidFill>
              <a:srgbClr val="F7A6C4"/>
            </a:solidFill>
            <a:prstDash val="solid"/>
          </a:ln>
          <a:effectLst>
            <a:outerShdw sx="100000" sy="100000" kx="0" ky="0" algn="bl" rotWithShape="0" blurRad="88900" dist="31750" dir="5400000">
              <a:srgbClr val="1B2559">
                <a:alpha val="12000"/>
              </a:srgbClr>
            </a:outerShdw>
          </a:effectLst>
        </p:spPr>
      </p:sp>
      <p:sp>
        <p:nvSpPr>
          <p:cNvPr id="38" name="R4_w504"/>
          <p:cNvSpPr/>
          <p:nvPr/>
        </p:nvSpPr>
        <p:spPr>
          <a:xfrm>
            <a:off x="457200" y="4544568"/>
            <a:ext cx="2944368" cy="329184"/>
          </a:xfrm>
          <a:prstGeom prst="rect">
            <a:avLst/>
          </a:prstGeom>
          <a:noFill/>
          <a:ln/>
        </p:spPr>
        <p:txBody>
          <a:bodyPr wrap="square" lIns="0" tIns="0" rIns="0" bIns="0" rtlCol="0" anchor="ctr">
            <a:normAutofit/>
          </a:bodyPr>
          <a:lstStyle/>
          <a:p>
            <a:pPr indent="0" marL="0">
              <a:buNone/>
            </a:pPr>
            <a:r>
              <a:rPr lang="en-US" sz="700" dirty="0">
                <a:solidFill>
                  <a:srgbClr val="1B2559"/>
                </a:solidFill>
                <a:latin typeface="Segoe UI Semibold" pitchFamily="34" charset="0"/>
                <a:ea typeface="Segoe UI Semibold" pitchFamily="34" charset="-122"/>
                <a:cs typeface="Segoe UI Semibold" pitchFamily="34" charset="-120"/>
              </a:rPr>
              <a:t>⚠ ✗ The men love the football → ✓ Men love football   ·   ✗ She's lawyer → ✓ She's a lawyer   ·   an eye, an hour</a:t>
            </a:r>
            <a:endParaRPr lang="en-US" sz="7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1"/>
                                        </p:tgtEl>
                                        <p:attrNameLst>
                                          <p:attrName>style.visibility</p:attrName>
                                        </p:attrNameLst>
                                      </p:cBhvr>
                                      <p:to>
                                        <p:strVal val="visible"/>
                                      </p:to>
                                    </p:set>
                                    <p:animEffect transition="in" filter="fade">
                                      <p:cBhvr>
                                        <p:cTn id="7" dur="400"/>
                                        <p:tgtEl>
                                          <p:spTgt spid="21"/>
                                        </p:tgtEl>
                                      </p:cBhvr>
                                    </p:animEffect>
                                  </p:childTnLst>
                                </p:cTn>
                              </p:par>
                              <p:par>
                                <p:cTn id="8" presetID="10" presetClass="entr" presetSubtype="0" fill="hold" nodeType="withEffect">
                                  <p:stCondLst>
                                    <p:cond delay="0"/>
                                  </p:stCondLst>
                                  <p:childTnLst>
                                    <p:set>
                                      <p:cBhvr>
                                        <p:cTn id="9" dur="1" fill="hold">
                                          <p:stCondLst>
                                            <p:cond delay="0"/>
                                          </p:stCondLst>
                                        </p:cTn>
                                        <p:tgtEl>
                                          <p:spTgt spid="22"/>
                                        </p:tgtEl>
                                        <p:attrNameLst>
                                          <p:attrName>style.visibility</p:attrName>
                                        </p:attrNameLst>
                                      </p:cBhvr>
                                      <p:to>
                                        <p:strVal val="visible"/>
                                      </p:to>
                                    </p:set>
                                    <p:animEffect transition="in" filter="fade">
                                      <p:cBhvr>
                                        <p:cTn id="10" dur="400"/>
                                        <p:tgtEl>
                                          <p:spTgt spid="22"/>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nodeType="clickEffect">
                                  <p:stCondLst>
                                    <p:cond delay="0"/>
                                  </p:stCondLst>
                                  <p:childTnLst>
                                    <p:set>
                                      <p:cBhvr>
                                        <p:cTn id="14" dur="1" fill="hold">
                                          <p:stCondLst>
                                            <p:cond delay="0"/>
                                          </p:stCondLst>
                                        </p:cTn>
                                        <p:tgtEl>
                                          <p:spTgt spid="28"/>
                                        </p:tgtEl>
                                        <p:attrNameLst>
                                          <p:attrName>style.visibility</p:attrName>
                                        </p:attrNameLst>
                                      </p:cBhvr>
                                      <p:to>
                                        <p:strVal val="visible"/>
                                      </p:to>
                                    </p:set>
                                    <p:animEffect transition="in" filter="fade">
                                      <p:cBhvr>
                                        <p:cTn id="15" dur="400"/>
                                        <p:tgtEl>
                                          <p:spTgt spid="28"/>
                                        </p:tgtEl>
                                      </p:cBhvr>
                                    </p:animEffect>
                                  </p:childTnLst>
                                </p:cTn>
                              </p:par>
                              <p:par>
                                <p:cTn id="16" presetID="10" presetClass="entr" presetSubtype="0" fill="hold" nodeType="withEffect">
                                  <p:stCondLst>
                                    <p:cond delay="0"/>
                                  </p:stCondLst>
                                  <p:childTnLst>
                                    <p:set>
                                      <p:cBhvr>
                                        <p:cTn id="17" dur="1" fill="hold">
                                          <p:stCondLst>
                                            <p:cond delay="0"/>
                                          </p:stCondLst>
                                        </p:cTn>
                                        <p:tgtEl>
                                          <p:spTgt spid="29"/>
                                        </p:tgtEl>
                                        <p:attrNameLst>
                                          <p:attrName>style.visibility</p:attrName>
                                        </p:attrNameLst>
                                      </p:cBhvr>
                                      <p:to>
                                        <p:strVal val="visible"/>
                                      </p:to>
                                    </p:set>
                                    <p:animEffect transition="in" filter="fade">
                                      <p:cBhvr>
                                        <p:cTn id="18" dur="400"/>
                                        <p:tgtEl>
                                          <p:spTgt spid="29"/>
                                        </p:tgtEl>
                                      </p:cBhvr>
                                    </p:animEffect>
                                  </p:childTnLst>
                                </p:cTn>
                              </p:par>
                            </p:childTnLst>
                          </p:cTn>
                        </p:par>
                      </p:childTnLst>
                    </p:cTn>
                  </p:par>
                  <p:par>
                    <p:cTn id="19" fill="hold">
                      <p:stCondLst>
                        <p:cond delay="indefinite"/>
                      </p:stCondLst>
                      <p:childTnLst>
                        <p:par>
                          <p:cTn id="20" fill="hold">
                            <p:stCondLst>
                              <p:cond delay="0"/>
                            </p:stCondLst>
                            <p:childTnLst>
                              <p:par>
                                <p:cTn id="21" presetID="10" presetClass="entr" presetSubtype="0" fill="hold" nodeType="clickEffect">
                                  <p:stCondLst>
                                    <p:cond delay="0"/>
                                  </p:stCondLst>
                                  <p:childTnLst>
                                    <p:set>
                                      <p:cBhvr>
                                        <p:cTn id="22" dur="1" fill="hold">
                                          <p:stCondLst>
                                            <p:cond delay="0"/>
                                          </p:stCondLst>
                                        </p:cTn>
                                        <p:tgtEl>
                                          <p:spTgt spid="35"/>
                                        </p:tgtEl>
                                        <p:attrNameLst>
                                          <p:attrName>style.visibility</p:attrName>
                                        </p:attrNameLst>
                                      </p:cBhvr>
                                      <p:to>
                                        <p:strVal val="visible"/>
                                      </p:to>
                                    </p:set>
                                    <p:animEffect transition="in" filter="fade">
                                      <p:cBhvr>
                                        <p:cTn id="23" dur="400"/>
                                        <p:tgtEl>
                                          <p:spTgt spid="35"/>
                                        </p:tgtEl>
                                      </p:cBhvr>
                                    </p:animEffect>
                                  </p:childTnLst>
                                </p:cTn>
                              </p:par>
                              <p:par>
                                <p:cTn id="24" presetID="10" presetClass="entr" presetSubtype="0" fill="hold" nodeType="withEffect">
                                  <p:stCondLst>
                                    <p:cond delay="0"/>
                                  </p:stCondLst>
                                  <p:childTnLst>
                                    <p:set>
                                      <p:cBhvr>
                                        <p:cTn id="25" dur="1" fill="hold">
                                          <p:stCondLst>
                                            <p:cond delay="0"/>
                                          </p:stCondLst>
                                        </p:cTn>
                                        <p:tgtEl>
                                          <p:spTgt spid="36"/>
                                        </p:tgtEl>
                                        <p:attrNameLst>
                                          <p:attrName>style.visibility</p:attrName>
                                        </p:attrNameLst>
                                      </p:cBhvr>
                                      <p:to>
                                        <p:strVal val="visible"/>
                                      </p:to>
                                    </p:set>
                                    <p:animEffect transition="in" filter="fade">
                                      <p:cBhvr>
                                        <p:cTn id="26" dur="400"/>
                                        <p:tgtEl>
                                          <p:spTgt spid="36"/>
                                        </p:tgtEl>
                                      </p:cBhvr>
                                    </p:animEffect>
                                  </p:childTnLst>
                                </p:cTn>
                              </p:par>
                            </p:childTnLst>
                          </p:cTn>
                        </p:par>
                      </p:childTnLst>
                    </p:cTn>
                  </p:par>
                  <p:par>
                    <p:cTn id="27" fill="hold">
                      <p:stCondLst>
                        <p:cond delay="indefinite"/>
                      </p:stCondLst>
                      <p:childTnLst>
                        <p:par>
                          <p:cTn id="28" fill="hold">
                            <p:stCondLst>
                              <p:cond delay="0"/>
                            </p:stCondLst>
                            <p:childTnLst>
                              <p:par>
                                <p:cTn id="29" presetID="10" presetClass="entr" presetSubtype="0" fill="hold" nodeType="clickEffect">
                                  <p:stCondLst>
                                    <p:cond delay="0"/>
                                  </p:stCondLst>
                                  <p:childTnLst>
                                    <p:set>
                                      <p:cBhvr>
                                        <p:cTn id="30" dur="1" fill="hold">
                                          <p:stCondLst>
                                            <p:cond delay="0"/>
                                          </p:stCondLst>
                                        </p:cTn>
                                        <p:tgtEl>
                                          <p:spTgt spid="37"/>
                                        </p:tgtEl>
                                        <p:attrNameLst>
                                          <p:attrName>style.visibility</p:attrName>
                                        </p:attrNameLst>
                                      </p:cBhvr>
                                      <p:to>
                                        <p:strVal val="visible"/>
                                      </p:to>
                                    </p:set>
                                    <p:animEffect transition="in" filter="fade">
                                      <p:cBhvr>
                                        <p:cTn id="31" dur="400"/>
                                        <p:tgtEl>
                                          <p:spTgt spid="37"/>
                                        </p:tgtEl>
                                      </p:cBhvr>
                                    </p:animEffect>
                                  </p:childTnLst>
                                </p:cTn>
                              </p:par>
                              <p:par>
                                <p:cTn id="32" presetID="10" presetClass="entr" presetSubtype="0" fill="hold" nodeType="withEffect">
                                  <p:stCondLst>
                                    <p:cond delay="0"/>
                                  </p:stCondLst>
                                  <p:childTnLst>
                                    <p:set>
                                      <p:cBhvr>
                                        <p:cTn id="33" dur="1" fill="hold">
                                          <p:stCondLst>
                                            <p:cond delay="0"/>
                                          </p:stCondLst>
                                        </p:cTn>
                                        <p:tgtEl>
                                          <p:spTgt spid="38"/>
                                        </p:tgtEl>
                                        <p:attrNameLst>
                                          <p:attrName>style.visibility</p:attrName>
                                        </p:attrNameLst>
                                      </p:cBhvr>
                                      <p:to>
                                        <p:strVal val="visible"/>
                                      </p:to>
                                    </p:set>
                                    <p:animEffect transition="in" filter="fade">
                                      <p:cBhvr>
                                        <p:cTn id="34" dur="400"/>
                                        <p:tgtEl>
                                          <p:spTgt spid="38"/>
                                        </p:tgtEl>
                                      </p:cBhvr>
                                    </p:animEffect>
                                  </p:childTnLst>
                                </p:cTn>
                              </p:par>
                            </p:childTnLst>
                          </p:cTn>
                        </p:par>
                      </p:childTnLst>
                    </p:cTn>
                  </p:par>
                </p:childTnLst>
              </p:cTn>
              <p:prevCondLst>
                <p:cond evt="onPrev" delay="0">
                  <p:tgtEl>
                    <p:sldTgt/>
                  </p:tgtEl>
                </p:cond>
              </p:prevCondLst>
              <p:nextCondLst>
                <p:cond evt="onNext" delay="0">
                  <p:tgtEl>
                    <p:sldTgt/>
                  </p:tgtEl>
                </p:cond>
              </p:nextCondLst>
            </p:seq>
            <p:seq concurrent="1" nextAc="seek">
              <p:cTn id="35" restart="whenNotActive" fill="hold" evtFilter="cancelBubble" nodeType="interactiveSeq">
                <p:stCondLst>
                  <p:cond evt="onClick" delay="0">
                    <p:tgtEl>
                      <p:spTgt spid="13"/>
                    </p:tgtEl>
                  </p:cond>
                </p:stCondLst>
                <p:endSync evt="end" delay="0">
                  <p:rtn val="all"/>
                </p:endSync>
                <p:childTnLst>
                  <p:par>
                    <p:cTn id="36" fill="hold">
                      <p:stCondLst>
                        <p:cond delay="0"/>
                      </p:stCondLst>
                      <p:childTnLst>
                        <p:par>
                          <p:cTn id="37" fill="hold">
                            <p:stCondLst>
                              <p:cond delay="0"/>
                            </p:stCondLst>
                            <p:childTnLst>
                              <p:par>
                                <p:cTn id="38" presetID="2" presetClass="mediacall" presetSubtype="0" fill="hold" nodeType="clickEffect">
                                  <p:stCondLst>
                                    <p:cond delay="0"/>
                                  </p:stCondLst>
                                  <p:childTnLst>
                                    <p:cmd type="call" cmd="togglePause">
                                      <p:cBhvr>
                                        <p:cTn id="39" dur="1" fill="hold"/>
                                        <p:tgtEl>
                                          <p:spTgt spid="13"/>
                                        </p:tgtEl>
                                      </p:cBhvr>
                                    </p:cmd>
                                  </p:childTnLst>
                                </p:cTn>
                              </p:par>
                            </p:childTnLst>
                          </p:cTn>
                        </p:par>
                      </p:childTnLst>
                    </p:cTn>
                  </p:par>
                </p:childTnLst>
              </p:cTn>
              <p:nextCondLst>
                <p:cond evt="onClick" delay="0">
                  <p:tgtEl>
                    <p:spTgt spid="13"/>
                  </p:tgtEl>
                </p:cond>
              </p:nextCondLst>
            </p:seq>
            <p:seq concurrent="1" nextAc="seek">
              <p:cTn id="40" restart="whenNotActive" fill="hold" evtFilter="cancelBubble" nodeType="interactiveSeq">
                <p:stCondLst>
                  <p:cond evt="onClick" delay="0">
                    <p:tgtEl>
                      <p:spTgt spid="15"/>
                    </p:tgtEl>
                  </p:cond>
                </p:stCondLst>
                <p:endSync evt="end" delay="0">
                  <p:rtn val="all"/>
                </p:endSync>
                <p:childTnLst>
                  <p:par>
                    <p:cTn id="41" fill="hold">
                      <p:stCondLst>
                        <p:cond delay="0"/>
                      </p:stCondLst>
                      <p:childTnLst>
                        <p:par>
                          <p:cTn id="42" fill="hold">
                            <p:stCondLst>
                              <p:cond delay="0"/>
                            </p:stCondLst>
                            <p:childTnLst>
                              <p:par>
                                <p:cTn id="43" presetID="2" presetClass="mediacall" presetSubtype="0" fill="hold" nodeType="clickEffect">
                                  <p:stCondLst>
                                    <p:cond delay="0"/>
                                  </p:stCondLst>
                                  <p:childTnLst>
                                    <p:cmd type="call" cmd="togglePause">
                                      <p:cBhvr>
                                        <p:cTn id="44" dur="1" fill="hold"/>
                                        <p:tgtEl>
                                          <p:spTgt spid="15"/>
                                        </p:tgtEl>
                                      </p:cBhvr>
                                    </p:cmd>
                                  </p:childTnLst>
                                </p:cTn>
                              </p:par>
                            </p:childTnLst>
                          </p:cTn>
                        </p:par>
                      </p:childTnLst>
                    </p:cTn>
                  </p:par>
                </p:childTnLst>
              </p:cTn>
              <p:nextCondLst>
                <p:cond evt="onClick" delay="0">
                  <p:tgtEl>
                    <p:spTgt spid="15"/>
                  </p:tgtEl>
                </p:cond>
              </p:nextCondLst>
            </p:seq>
            <p:audio>
              <p:cMediaNode vol="80000">
                <p:cTn id="45" fill="hold" display="0">
                  <p:stCondLst>
                    <p:cond delay="indefinite"/>
                  </p:stCondLst>
                  <p:endCondLst>
                    <p:cond evt="onStopAudio" delay="0">
                      <p:tgtEl>
                        <p:sldTgt/>
                      </p:tgtEl>
                    </p:cond>
                  </p:endCondLst>
                </p:cTn>
                <p:tgtEl>
                  <p:spTgt spid="13"/>
                </p:tgtEl>
              </p:cMediaNode>
            </p:audio>
            <p:audio>
              <p:cMediaNode vol="80000">
                <p:cTn id="46" fill="hold" display="0">
                  <p:stCondLst>
                    <p:cond delay="indefinite"/>
                  </p:stCondLst>
                  <p:endCondLst>
                    <p:cond evt="onStopAudio" delay="0">
                      <p:tgtEl>
                        <p:sldTgt/>
                      </p:tgtEl>
                    </p:cond>
                  </p:endCondLst>
                </p:cTn>
                <p:tgtEl>
                  <p:spTgt spid="15"/>
                </p:tgtEl>
              </p:cMediaNode>
            </p:audio>
          </p:childTnLst>
        </p:cTn>
      </p:par>
    </p:tnLst>
  </p:timing>
</p:sld>
</file>

<file path=ppt/slides/slide18.xml><?xml version="1.0" encoding="utf-8"?>
<p:sld xmlns:a="http://schemas.openxmlformats.org/drawingml/2006/main" xmlns:r="http://schemas.openxmlformats.org/officeDocument/2006/relationships" xmlns:p="http://schemas.openxmlformats.org/presentationml/2006/main">
  <p:cSld name="Slide 18">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505"/>
          <p:cNvSpPr/>
          <p:nvPr/>
        </p:nvSpPr>
        <p:spPr>
          <a:xfrm>
            <a:off x="201168" y="164592"/>
            <a:ext cx="841248" cy="841248"/>
          </a:xfrm>
          <a:prstGeom prst="ellipse">
            <a:avLst/>
          </a:prstGeom>
          <a:solidFill>
            <a:srgbClr val="7B5CD6"/>
          </a:solidFill>
          <a:ln w="28575">
            <a:solidFill>
              <a:srgbClr val="CDBFF3"/>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18</a:t>
            </a:r>
            <a:endParaRPr lang="en-US" sz="2200" dirty="0"/>
          </a:p>
        </p:txBody>
      </p:sp>
      <p:pic>
        <p:nvPicPr>
          <p:cNvPr id="4" name="brY_506" descr="/home/claude/lls-course/v2/assets/brush-yellow.png">    </p:cNvPr>
          <p:cNvPicPr>
            <a:picLocks noChangeAspect="1"/>
          </p:cNvPicPr>
          <p:nvPr/>
        </p:nvPicPr>
        <p:blipFill>
          <a:blip r:embed="rId2"/>
          <a:stretch>
            <a:fillRect/>
          </a:stretch>
        </p:blipFill>
        <p:spPr>
          <a:xfrm>
            <a:off x="1097280" y="146304"/>
            <a:ext cx="4820717" cy="621792"/>
          </a:xfrm>
          <a:prstGeom prst="rect">
            <a:avLst/>
          </a:prstGeom>
        </p:spPr>
      </p:pic>
      <p:sp>
        <p:nvSpPr>
          <p:cNvPr id="5" name="title_507"/>
          <p:cNvSpPr/>
          <p:nvPr/>
        </p:nvSpPr>
        <p:spPr>
          <a:xfrm>
            <a:off x="1261872" y="164592"/>
            <a:ext cx="4546397" cy="566928"/>
          </a:xfrm>
          <a:prstGeom prst="rect">
            <a:avLst/>
          </a:prstGeom>
          <a:noFill/>
          <a:ln/>
        </p:spPr>
        <p:txBody>
          <a:bodyPr wrap="square" lIns="0" tIns="0" rIns="0" bIns="0" rtlCol="0" anchor="ctr">
            <a:normAutofit/>
          </a:bodyPr>
          <a:lstStyle/>
          <a:p>
            <a:pPr indent="0" marL="0">
              <a:buNone/>
            </a:pPr>
            <a:r>
              <a:rPr lang="en-US" sz="2400" dirty="0">
                <a:solidFill>
                  <a:srgbClr val="1B2559"/>
                </a:solidFill>
                <a:latin typeface="Arial Rounded MT Bold" pitchFamily="34" charset="0"/>
                <a:ea typeface="Arial Rounded MT Bold" pitchFamily="34" charset="-122"/>
                <a:cs typeface="Arial Rounded MT Bold" pitchFamily="34" charset="-120"/>
              </a:rPr>
              <a:t>The cat who loved the moon</a:t>
            </a:r>
            <a:endParaRPr lang="en-US" sz="2400" dirty="0"/>
          </a:p>
        </p:txBody>
      </p:sp>
      <p:pic>
        <p:nvPicPr>
          <p:cNvPr id="6" name="brP_508" descr="/home/claude/lls-course/v2/assets/brush-pink.png">    </p:cNvPr>
          <p:cNvPicPr>
            <a:picLocks noChangeAspect="1"/>
          </p:cNvPicPr>
          <p:nvPr/>
        </p:nvPicPr>
        <p:blipFill>
          <a:blip r:embed="rId3"/>
          <a:stretch>
            <a:fillRect/>
          </a:stretch>
        </p:blipFill>
        <p:spPr>
          <a:xfrm>
            <a:off x="1207008" y="731520"/>
            <a:ext cx="4379976" cy="402336"/>
          </a:xfrm>
          <a:prstGeom prst="rect">
            <a:avLst/>
          </a:prstGeom>
        </p:spPr>
      </p:pic>
      <p:sp>
        <p:nvSpPr>
          <p:cNvPr id="7" name="ins_509"/>
          <p:cNvSpPr/>
          <p:nvPr/>
        </p:nvSpPr>
        <p:spPr>
          <a:xfrm>
            <a:off x="1353312" y="731520"/>
            <a:ext cx="4123944"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Listen to the story. Answer the questions!</a:t>
            </a:r>
            <a:endParaRPr lang="en-US" sz="1250" dirty="0"/>
          </a:p>
        </p:txBody>
      </p:sp>
      <p:sp>
        <p:nvSpPr>
          <p:cNvPr id="8" name="insIT_510"/>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Ascolta la storia. Rispondi alle domande!</a:t>
            </a:r>
            <a:endParaRPr lang="en-US" sz="950" dirty="0"/>
          </a:p>
        </p:txBody>
      </p:sp>
      <p:sp>
        <p:nvSpPr>
          <p:cNvPr id="9" name="note_511"/>
          <p:cNvSpPr/>
          <p:nvPr/>
        </p:nvSpPr>
        <p:spPr>
          <a:xfrm rot="180000">
            <a:off x="6382512" y="128016"/>
            <a:ext cx="2029968" cy="1024128"/>
          </a:xfrm>
          <a:prstGeom prst="rect">
            <a:avLst/>
          </a:prstGeom>
          <a:solidFill>
            <a:srgbClr val="FFC2DA"/>
          </a:solidFill>
          <a:ln>
            <a:solidFill>
              <a:srgbClr val="FFC2DA"/>
            </a:solidFill>
          </a:ln>
          <a:effectLst>
            <a:outerShdw sx="100000" sy="100000" kx="0" ky="0" algn="bl" rotWithShape="0" blurRad="88900" dist="31750" dir="5400000">
              <a:srgbClr val="1B2559">
                <a:alpha val="15000"/>
              </a:srgbClr>
            </a:outerShdw>
          </a:effectLst>
        </p:spPr>
        <p:txBody>
          <a:bodyPr wrap="square" lIns="50800" tIns="50800" rIns="50800" bIns="50800" rtlCol="0" anchor="ctr">
            <a:normAutofit/>
          </a:bodyP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 READ</a:t>
            </a:r>
            <a:pPr algn="ctr" indent="0" marL="0">
              <a:buNone/>
            </a:pPr>
            <a:r>
              <a:rPr lang="en-US" sz="1200" dirty="0">
                <a:solidFill>
                  <a:srgbClr val="5B6785"/>
                </a:solidFill>
              </a:rPr>
              <a:t> → </a:t>
            </a:r>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 TALK</a:t>
            </a:r>
            <a:endParaRPr lang="en-US" sz="1150" dirty="0"/>
          </a:p>
          <a:p>
            <a:pPr algn="ctr" indent="0" marL="0">
              <a:buNone/>
            </a:pPr>
            <a:r>
              <a:rPr lang="en-US" sz="1100" dirty="0">
                <a:solidFill>
                  <a:srgbClr val="1B2559"/>
                </a:solidFill>
                <a:latin typeface="Segoe UI Semibold" pitchFamily="34" charset="0"/>
                <a:ea typeface="Segoe UI Semibold" pitchFamily="34" charset="-122"/>
                <a:cs typeface="Segoe UI Semibold" pitchFamily="34" charset="-120"/>
              </a:rPr>
              <a:t>⏱ 4 min   🙋 whole class</a:t>
            </a:r>
            <a:endParaRPr lang="en-US" sz="1150" dirty="0"/>
          </a:p>
          <a:p>
            <a:pPr algn="ctr" indent="0" marL="0">
              <a:buNone/>
            </a:pPr>
            <a:r>
              <a:rPr lang="en-US" sz="900" dirty="0">
                <a:solidFill>
                  <a:srgbClr val="5B6785"/>
                </a:solidFill>
                <a:latin typeface="Segoe UI Semibold" pitchFamily="34" charset="0"/>
                <a:ea typeface="Segoe UI Semibold" pitchFamily="34" charset="-122"/>
                <a:cs typeface="Segoe UI Semibold" pitchFamily="34" charset="-120"/>
              </a:rPr>
              <a:t>🎯 Speaking · TPRS · story</a:t>
            </a:r>
            <a:endParaRPr lang="en-US" sz="1150" dirty="0"/>
          </a:p>
        </p:txBody>
      </p:sp>
      <p:pic>
        <p:nvPicPr>
          <p:cNvPr id="10" name="logo_512"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1" name="foot_513"/>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3B-1 · Speaking · class story (TPRS)</a:t>
            </a:r>
            <a:endParaRPr lang="en-US" sz="800" dirty="0"/>
          </a:p>
        </p:txBody>
      </p:sp>
      <p:sp>
        <p:nvSpPr>
          <p:cNvPr id="12" name="pf_514"/>
          <p:cNvSpPr/>
          <p:nvPr/>
        </p:nvSpPr>
        <p:spPr>
          <a:xfrm rot="-90000">
            <a:off x="752985" y="1417320"/>
            <a:ext cx="1877310" cy="1280160"/>
          </a:xfrm>
          <a:prstGeom prst="roundRect">
            <a:avLst>
              <a:gd name="adj" fmla="val 12143"/>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13" name="ph_515" descr="/home/claude/lls-course/v2/cache/3b1_cats_jpg_430x286_31.png">    </p:cNvPr>
          <p:cNvPicPr>
            <a:picLocks noChangeAspect="1"/>
          </p:cNvPicPr>
          <p:nvPr/>
        </p:nvPicPr>
        <p:blipFill>
          <a:blip r:embed="rId5"/>
          <a:stretch>
            <a:fillRect/>
          </a:stretch>
        </p:blipFill>
        <p:spPr>
          <a:xfrm rot="-90000">
            <a:off x="798705" y="1463040"/>
            <a:ext cx="1785870" cy="1188720"/>
          </a:xfrm>
          <a:prstGeom prst="rect">
            <a:avLst/>
          </a:prstGeom>
        </p:spPr>
      </p:pic>
      <p:sp>
        <p:nvSpPr>
          <p:cNvPr id="14" name="cd_516"/>
          <p:cNvSpPr/>
          <p:nvPr/>
        </p:nvSpPr>
        <p:spPr>
          <a:xfrm>
            <a:off x="320040" y="2834640"/>
            <a:ext cx="2697480" cy="1920240"/>
          </a:xfrm>
          <a:prstGeom prst="roundRect">
            <a:avLst>
              <a:gd name="adj" fmla="val 6667"/>
            </a:avLst>
          </a:prstGeom>
          <a:solidFill>
            <a:srgbClr val="EEE8FB"/>
          </a:solidFill>
          <a:ln w="28575">
            <a:solidFill>
              <a:srgbClr val="CDBFF3"/>
            </a:solidFill>
            <a:prstDash val="solid"/>
          </a:ln>
          <a:effectLst>
            <a:outerShdw sx="100000" sy="100000" kx="0" ky="0" algn="bl" rotWithShape="0" blurRad="88900" dist="31750" dir="5400000">
              <a:srgbClr val="1B2559">
                <a:alpha val="12000"/>
              </a:srgbClr>
            </a:outerShdw>
          </a:effectLst>
        </p:spPr>
      </p:sp>
      <p:sp>
        <p:nvSpPr>
          <p:cNvPr id="15" name="ii_517"/>
          <p:cNvSpPr/>
          <p:nvPr/>
        </p:nvSpPr>
        <p:spPr>
          <a:xfrm>
            <a:off x="411480" y="290779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6" name="ih_518"/>
          <p:cNvSpPr/>
          <p:nvPr/>
        </p:nvSpPr>
        <p:spPr>
          <a:xfrm>
            <a:off x="886968" y="2926080"/>
            <a:ext cx="2057400" cy="365760"/>
          </a:xfrm>
          <a:prstGeom prst="rect">
            <a:avLst/>
          </a:prstGeom>
          <a:noFill/>
          <a:ln/>
        </p:spPr>
        <p:txBody>
          <a:bodyPr wrap="square" lIns="0" tIns="0" rIns="0" bIns="0" rtlCol="0" anchor="ctr"/>
          <a:lstStyle/>
          <a:p>
            <a:pP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Story phrases</a:t>
            </a:r>
            <a:endParaRPr lang="en-US" sz="1300" dirty="0"/>
          </a:p>
        </p:txBody>
      </p:sp>
      <p:sp>
        <p:nvSpPr>
          <p:cNvPr id="17" name="il_519"/>
          <p:cNvSpPr/>
          <p:nvPr/>
        </p:nvSpPr>
        <p:spPr>
          <a:xfrm>
            <a:off x="886968" y="3328416"/>
            <a:ext cx="2039112" cy="1353312"/>
          </a:xfrm>
          <a:prstGeom prst="rect">
            <a:avLst/>
          </a:prstGeom>
          <a:noFill/>
          <a:ln/>
        </p:spPr>
        <p:txBody>
          <a:bodyPr wrap="square" lIns="0" tIns="0" rIns="0" bIns="0" rtlCol="0" anchor="t">
            <a:normAutofit/>
          </a:bodyPr>
          <a:lstStyle/>
          <a:p>
            <a:pPr indent="0" marL="0">
              <a:spcAft>
                <a:spcPts val="200"/>
              </a:spcAft>
              <a:buNone/>
            </a:pPr>
            <a:r>
              <a:rPr lang="en-US" sz="700" dirty="0">
                <a:solidFill>
                  <a:srgbClr val="1B2559"/>
                </a:solidFill>
                <a:latin typeface="Segoe UI Semibold" pitchFamily="34" charset="0"/>
                <a:ea typeface="Segoe UI Semibold" pitchFamily="34" charset="-122"/>
                <a:cs typeface="Segoe UI Semibold" pitchFamily="34" charset="-120"/>
              </a:rPr>
              <a:t>a / an (one, new · jobs)</a:t>
            </a:r>
            <a:pPr indent="0" marL="0">
              <a:spcAft>
                <a:spcPts val="200"/>
              </a:spcAft>
              <a:buNone/>
            </a:pPr>
            <a:r>
              <a:rPr lang="en-US" sz="700" dirty="0">
                <a:solidFill>
                  <a:srgbClr val="5B6785"/>
                </a:solidFill>
                <a:latin typeface="Segoe UI Semibold" pitchFamily="34" charset="0"/>
                <a:ea typeface="Segoe UI Semibold" pitchFamily="34" charset="-122"/>
                <a:cs typeface="Segoe UI Semibold" pitchFamily="34" charset="-120"/>
              </a:rPr>
              <a:t>  – un / una</a:t>
            </a:r>
            <a:endParaRPr lang="en-US" sz="700" dirty="0"/>
          </a:p>
          <a:p>
            <a:pPr indent="0" marL="0">
              <a:spcBef>
                <a:spcPts val="600"/>
              </a:spcBef>
              <a:spcAft>
                <a:spcPts val="200"/>
              </a:spcAft>
              <a:buNone/>
            </a:pPr>
            <a:r>
              <a:rPr lang="en-US" sz="700" dirty="0">
                <a:solidFill>
                  <a:srgbClr val="1B2559"/>
                </a:solidFill>
                <a:latin typeface="Segoe UI Semibold" pitchFamily="34" charset="0"/>
                <a:ea typeface="Segoe UI Semibold" pitchFamily="34" charset="-122"/>
                <a:cs typeface="Segoe UI Semibold" pitchFamily="34" charset="-120"/>
              </a:rPr>
              <a:t>the (we know which one)</a:t>
            </a:r>
            <a:pPr indent="0" marL="0">
              <a:spcAft>
                <a:spcPts val="200"/>
              </a:spcAft>
              <a:buNone/>
            </a:pPr>
            <a:r>
              <a:rPr lang="en-US" sz="700" dirty="0">
                <a:solidFill>
                  <a:srgbClr val="5B6785"/>
                </a:solidFill>
                <a:latin typeface="Segoe UI Semibold" pitchFamily="34" charset="0"/>
                <a:ea typeface="Segoe UI Semibold" pitchFamily="34" charset="-122"/>
                <a:cs typeface="Segoe UI Semibold" pitchFamily="34" charset="-120"/>
              </a:rPr>
              <a:t>  – il / la (quello lì)</a:t>
            </a:r>
            <a:endParaRPr lang="en-US" sz="700" dirty="0"/>
          </a:p>
          <a:p>
            <a:pPr indent="0" marL="0">
              <a:spcBef>
                <a:spcPts val="600"/>
              </a:spcBef>
              <a:spcAft>
                <a:spcPts val="200"/>
              </a:spcAft>
              <a:buNone/>
            </a:pPr>
            <a:r>
              <a:rPr lang="en-US" sz="700" dirty="0">
                <a:solidFill>
                  <a:srgbClr val="1B2559"/>
                </a:solidFill>
                <a:latin typeface="Segoe UI Semibold" pitchFamily="34" charset="0"/>
                <a:ea typeface="Segoe UI Semibold" pitchFamily="34" charset="-122"/>
                <a:cs typeface="Segoe UI Semibold" pitchFamily="34" charset="-120"/>
              </a:rPr>
              <a:t>the moon · the cinema</a:t>
            </a:r>
            <a:pPr indent="0" marL="0">
              <a:spcAft>
                <a:spcPts val="200"/>
              </a:spcAft>
              <a:buNone/>
            </a:pPr>
            <a:r>
              <a:rPr lang="en-US" sz="700" dirty="0">
                <a:solidFill>
                  <a:srgbClr val="5B6785"/>
                </a:solidFill>
                <a:latin typeface="Segoe UI Semibold" pitchFamily="34" charset="0"/>
                <a:ea typeface="Segoe UI Semibold" pitchFamily="34" charset="-122"/>
                <a:cs typeface="Segoe UI Semibold" pitchFamily="34" charset="-120"/>
              </a:rPr>
              <a:t>  – la luna · il cinema</a:t>
            </a:r>
            <a:endParaRPr lang="en-US" sz="700" dirty="0"/>
          </a:p>
          <a:p>
            <a:pPr indent="0" marL="0">
              <a:spcBef>
                <a:spcPts val="600"/>
              </a:spcBef>
              <a:spcAft>
                <a:spcPts val="200"/>
              </a:spcAft>
              <a:buNone/>
            </a:pPr>
            <a:r>
              <a:rPr lang="en-US" sz="700" dirty="0">
                <a:solidFill>
                  <a:srgbClr val="1B2559"/>
                </a:solidFill>
                <a:latin typeface="Segoe UI Semibold" pitchFamily="34" charset="0"/>
                <a:ea typeface="Segoe UI Semibold" pitchFamily="34" charset="-122"/>
                <a:cs typeface="Segoe UI Semibold" pitchFamily="34" charset="-120"/>
              </a:rPr>
              <a:t>cats (in general)</a:t>
            </a:r>
            <a:pPr indent="0" marL="0">
              <a:spcAft>
                <a:spcPts val="200"/>
              </a:spcAft>
              <a:buNone/>
            </a:pPr>
            <a:r>
              <a:rPr lang="en-US" sz="700" dirty="0">
                <a:solidFill>
                  <a:srgbClr val="5B6785"/>
                </a:solidFill>
                <a:latin typeface="Segoe UI Semibold" pitchFamily="34" charset="0"/>
                <a:ea typeface="Segoe UI Semibold" pitchFamily="34" charset="-122"/>
                <a:cs typeface="Segoe UI Semibold" pitchFamily="34" charset="-120"/>
              </a:rPr>
              <a:t>  – i gatti (in generale)</a:t>
            </a:r>
            <a:endParaRPr lang="en-US" sz="700" dirty="0"/>
          </a:p>
          <a:p>
            <a:pPr indent="0" marL="0">
              <a:spcBef>
                <a:spcPts val="600"/>
              </a:spcBef>
              <a:spcAft>
                <a:spcPts val="200"/>
              </a:spcAft>
              <a:buNone/>
            </a:pPr>
            <a:r>
              <a:rPr lang="en-US" sz="700" dirty="0">
                <a:solidFill>
                  <a:srgbClr val="1B2559"/>
                </a:solidFill>
                <a:latin typeface="Segoe UI Semibold" pitchFamily="34" charset="0"/>
                <a:ea typeface="Segoe UI Semibold" pitchFamily="34" charset="-122"/>
                <a:cs typeface="Segoe UI Semibold" pitchFamily="34" charset="-120"/>
              </a:rPr>
              <a:t>at home · go to work</a:t>
            </a:r>
            <a:pPr indent="0" marL="0">
              <a:spcAft>
                <a:spcPts val="200"/>
              </a:spcAft>
              <a:buNone/>
            </a:pPr>
            <a:r>
              <a:rPr lang="en-US" sz="700" dirty="0">
                <a:solidFill>
                  <a:srgbClr val="5B6785"/>
                </a:solidFill>
                <a:latin typeface="Segoe UI Semibold" pitchFamily="34" charset="0"/>
                <a:ea typeface="Segoe UI Semibold" pitchFamily="34" charset="-122"/>
                <a:cs typeface="Segoe UI Semibold" pitchFamily="34" charset="-120"/>
              </a:rPr>
              <a:t>  – a casa · andare al lavoro</a:t>
            </a:r>
            <a:endParaRPr lang="en-US" sz="700" dirty="0"/>
          </a:p>
          <a:p>
            <a:pPr indent="0" marL="0">
              <a:spcBef>
                <a:spcPts val="600"/>
              </a:spcBef>
              <a:spcAft>
                <a:spcPts val="200"/>
              </a:spcAft>
              <a:buNone/>
            </a:pPr>
            <a:r>
              <a:rPr lang="en-US" sz="700" dirty="0">
                <a:solidFill>
                  <a:srgbClr val="1B2559"/>
                </a:solidFill>
                <a:latin typeface="Segoe UI Semibold" pitchFamily="34" charset="0"/>
                <a:ea typeface="Segoe UI Semibold" pitchFamily="34" charset="-122"/>
                <a:cs typeface="Segoe UI Semibold" pitchFamily="34" charset="-120"/>
              </a:rPr>
              <a:t>generally speaking</a:t>
            </a:r>
            <a:pPr indent="0" marL="0">
              <a:spcAft>
                <a:spcPts val="200"/>
              </a:spcAft>
              <a:buNone/>
            </a:pPr>
            <a:r>
              <a:rPr lang="en-US" sz="700" dirty="0">
                <a:solidFill>
                  <a:srgbClr val="5B6785"/>
                </a:solidFill>
                <a:latin typeface="Segoe UI Semibold" pitchFamily="34" charset="0"/>
                <a:ea typeface="Segoe UI Semibold" pitchFamily="34" charset="-122"/>
                <a:cs typeface="Segoe UI Semibold" pitchFamily="34" charset="-120"/>
              </a:rPr>
              <a:t>  – in generale</a:t>
            </a:r>
            <a:endParaRPr lang="en-US" sz="700" dirty="0"/>
          </a:p>
        </p:txBody>
      </p:sp>
      <p:sp>
        <p:nvSpPr>
          <p:cNvPr id="18" name="R1_sb520"/>
          <p:cNvSpPr/>
          <p:nvPr/>
        </p:nvSpPr>
        <p:spPr>
          <a:xfrm>
            <a:off x="3200400" y="1453896"/>
            <a:ext cx="310896" cy="310896"/>
          </a:xfrm>
          <a:prstGeom prst="ellipse">
            <a:avLst/>
          </a:prstGeom>
          <a:solidFill>
            <a:srgbClr val="E8508F"/>
          </a:solidFill>
          <a:ln w="28575">
            <a:solidFill>
              <a:srgbClr val="F7A6C4"/>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1</a:t>
            </a:r>
            <a:endParaRPr lang="en-US" sz="1000" dirty="0"/>
          </a:p>
        </p:txBody>
      </p:sp>
      <p:sp>
        <p:nvSpPr>
          <p:cNvPr id="19" name="R1_sl521"/>
          <p:cNvSpPr/>
          <p:nvPr/>
        </p:nvSpPr>
        <p:spPr>
          <a:xfrm>
            <a:off x="3584448" y="1417320"/>
            <a:ext cx="5303520" cy="499872"/>
          </a:xfrm>
          <a:prstGeom prst="roundRect">
            <a:avLst>
              <a:gd name="adj" fmla="val 21951"/>
            </a:avLst>
          </a:prstGeom>
          <a:solidFill>
            <a:srgbClr val="FFFFFF"/>
          </a:solidFill>
          <a:ln w="28575">
            <a:solidFill>
              <a:srgbClr val="F7A6C4"/>
            </a:solidFill>
          </a:ln>
          <a:effectLst>
            <a:outerShdw sx="100000" sy="100000" kx="0" ky="0" algn="bl" rotWithShape="0" blurRad="88900" dist="31750" dir="5400000">
              <a:srgbClr val="1B2559">
                <a:alpha val="8000"/>
              </a:srgbClr>
            </a:outerShdw>
          </a:effectLst>
        </p:spPr>
        <p:txBody>
          <a:bodyPr wrap="square" lIns="127000" tIns="25400" rIns="127000" bIns="25400" rtlCol="0" anchor="ctr"/>
          <a:lstStyle/>
          <a:p>
            <a:pPr indent="0" marL="0">
              <a:buNone/>
            </a:pPr>
            <a:r>
              <a:rPr lang="en-US" sz="1150" b="1" dirty="0">
                <a:solidFill>
                  <a:srgbClr val="7B5CD6"/>
                </a:solidFill>
                <a:highlight>
                  <a:srgbClr val="FFF1A8"/>
                </a:highlight>
                <a:latin typeface="Segoe UI Semibold" pitchFamily="34" charset="0"/>
                <a:ea typeface="Segoe UI Semibold" pitchFamily="34" charset="-122"/>
                <a:cs typeface="Segoe UI Semibold" pitchFamily="34" charset="-120"/>
              </a:rPr>
              <a:t>A</a:t>
            </a:r>
            <a:pPr indent="0" marL="0">
              <a:buNone/>
            </a:pPr>
            <a:r>
              <a:rPr lang="en-US" sz="1150" dirty="0">
                <a:solidFill>
                  <a:srgbClr val="1B2559"/>
                </a:solidFill>
                <a:latin typeface="Segoe UI Semibold" pitchFamily="34" charset="0"/>
                <a:ea typeface="Segoe UI Semibold" pitchFamily="34" charset="-122"/>
                <a:cs typeface="Segoe UI Semibold" pitchFamily="34" charset="-120"/>
              </a:rPr>
              <a:t> man in Bagheria lives with </a:t>
            </a:r>
            <a:pPr indent="0" marL="0">
              <a:buNone/>
            </a:pPr>
            <a:r>
              <a:rPr lang="en-US" sz="1150" b="1" dirty="0">
                <a:solidFill>
                  <a:srgbClr val="7B5CD6"/>
                </a:solidFill>
                <a:highlight>
                  <a:srgbClr val="FFF1A8"/>
                </a:highlight>
                <a:latin typeface="Segoe UI Semibold" pitchFamily="34" charset="0"/>
                <a:ea typeface="Segoe UI Semibold" pitchFamily="34" charset="-122"/>
                <a:cs typeface="Segoe UI Semibold" pitchFamily="34" charset="-120"/>
              </a:rPr>
              <a:t>a</a:t>
            </a:r>
            <a:pPr indent="0" marL="0">
              <a:buNone/>
            </a:pPr>
            <a:r>
              <a:rPr lang="en-US" sz="1150" dirty="0">
                <a:solidFill>
                  <a:srgbClr val="1B2559"/>
                </a:solidFill>
                <a:latin typeface="Segoe UI Semibold" pitchFamily="34" charset="0"/>
                <a:ea typeface="Segoe UI Semibold" pitchFamily="34" charset="-122"/>
                <a:cs typeface="Segoe UI Semibold" pitchFamily="34" charset="-120"/>
              </a:rPr>
              <a:t> cat. The man is </a:t>
            </a:r>
            <a:pPr indent="0" marL="0">
              <a:buNone/>
            </a:pPr>
            <a:r>
              <a:rPr lang="en-US" sz="1150" b="1" dirty="0">
                <a:solidFill>
                  <a:srgbClr val="7B5CD6"/>
                </a:solidFill>
                <a:highlight>
                  <a:srgbClr val="FFF1A8"/>
                </a:highlight>
                <a:latin typeface="Segoe UI Semibold" pitchFamily="34" charset="0"/>
                <a:ea typeface="Segoe UI Semibold" pitchFamily="34" charset="-122"/>
                <a:cs typeface="Segoe UI Semibold" pitchFamily="34" charset="-120"/>
              </a:rPr>
              <a:t>an</a:t>
            </a:r>
            <a:pPr indent="0" marL="0">
              <a:buNone/>
            </a:pPr>
            <a:r>
              <a:rPr lang="en-US" sz="1150" dirty="0">
                <a:solidFill>
                  <a:srgbClr val="1B2559"/>
                </a:solidFill>
                <a:latin typeface="Segoe UI Semibold" pitchFamily="34" charset="0"/>
                <a:ea typeface="Segoe UI Semibold" pitchFamily="34" charset="-122"/>
                <a:cs typeface="Segoe UI Semibold" pitchFamily="34" charset="-120"/>
              </a:rPr>
              <a:t> engineer.</a:t>
            </a:r>
            <a:endParaRPr lang="en-US" sz="1150" dirty="0"/>
          </a:p>
          <a:p>
            <a:pPr indent="0" marL="0">
              <a:buNone/>
            </a:pPr>
            <a:r>
              <a:rPr lang="en-US" sz="900" i="1" dirty="0">
                <a:solidFill>
                  <a:srgbClr val="5B6785"/>
                </a:solidFill>
                <a:latin typeface="Segoe UI Semibold" pitchFamily="34" charset="0"/>
                <a:ea typeface="Segoe UI Semibold" pitchFamily="34" charset="-122"/>
                <a:cs typeface="Segoe UI Semibold" pitchFamily="34" charset="-120"/>
              </a:rPr>
              <a:t>❓ Does he live with a cat or a dog? · What's his job? (you decide!)</a:t>
            </a:r>
            <a:endParaRPr lang="en-US" sz="1150" dirty="0"/>
          </a:p>
        </p:txBody>
      </p:sp>
      <p:sp>
        <p:nvSpPr>
          <p:cNvPr id="20" name="R2_sb522"/>
          <p:cNvSpPr/>
          <p:nvPr/>
        </p:nvSpPr>
        <p:spPr>
          <a:xfrm>
            <a:off x="3200400" y="2017776"/>
            <a:ext cx="310896" cy="310896"/>
          </a:xfrm>
          <a:prstGeom prst="ellipse">
            <a:avLst/>
          </a:prstGeom>
          <a:solidFill>
            <a:srgbClr val="2F8DE4"/>
          </a:solidFill>
          <a:ln w="28575">
            <a:solidFill>
              <a:srgbClr val="A9D3F5"/>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2</a:t>
            </a:r>
            <a:endParaRPr lang="en-US" sz="1000" dirty="0"/>
          </a:p>
        </p:txBody>
      </p:sp>
      <p:sp>
        <p:nvSpPr>
          <p:cNvPr id="21" name="R2_sl523"/>
          <p:cNvSpPr/>
          <p:nvPr/>
        </p:nvSpPr>
        <p:spPr>
          <a:xfrm>
            <a:off x="3584448" y="1981200"/>
            <a:ext cx="5303520" cy="499872"/>
          </a:xfrm>
          <a:prstGeom prst="roundRect">
            <a:avLst>
              <a:gd name="adj" fmla="val 21951"/>
            </a:avLst>
          </a:prstGeom>
          <a:solidFill>
            <a:srgbClr val="FFFFFF"/>
          </a:solidFill>
          <a:ln w="28575">
            <a:solidFill>
              <a:srgbClr val="A9D3F5"/>
            </a:solidFill>
          </a:ln>
          <a:effectLst>
            <a:outerShdw sx="100000" sy="100000" kx="0" ky="0" algn="bl" rotWithShape="0" blurRad="88900" dist="31750" dir="5400000">
              <a:srgbClr val="1B2559">
                <a:alpha val="8000"/>
              </a:srgbClr>
            </a:outerShdw>
          </a:effectLst>
        </p:spPr>
        <p:txBody>
          <a:bodyPr wrap="square" lIns="127000" tIns="25400" rIns="127000" bIns="25400" rtlCol="0" anchor="ctr"/>
          <a:lstStyle/>
          <a:p>
            <a:pPr indent="0" marL="0">
              <a:buNone/>
            </a:pPr>
            <a:r>
              <a:rPr lang="en-US" sz="1150" b="1" dirty="0">
                <a:solidFill>
                  <a:srgbClr val="7B5CD6"/>
                </a:solidFill>
                <a:highlight>
                  <a:srgbClr val="FFF1A8"/>
                </a:highlight>
                <a:latin typeface="Segoe UI Semibold" pitchFamily="34" charset="0"/>
                <a:ea typeface="Segoe UI Semibold" pitchFamily="34" charset="-122"/>
                <a:cs typeface="Segoe UI Semibold" pitchFamily="34" charset="-120"/>
              </a:rPr>
              <a:t>The</a:t>
            </a:r>
            <a:pPr indent="0" marL="0">
              <a:buNone/>
            </a:pPr>
            <a:r>
              <a:rPr lang="en-US" sz="1150" dirty="0">
                <a:solidFill>
                  <a:srgbClr val="1B2559"/>
                </a:solidFill>
                <a:latin typeface="Segoe UI Semibold" pitchFamily="34" charset="0"/>
                <a:ea typeface="Segoe UI Semibold" pitchFamily="34" charset="-122"/>
                <a:cs typeface="Segoe UI Semibold" pitchFamily="34" charset="-120"/>
              </a:rPr>
              <a:t> cat is very lazy. Generally speaking, </a:t>
            </a:r>
            <a:pPr indent="0" marL="0">
              <a:buNone/>
            </a:pPr>
            <a:r>
              <a:rPr lang="en-US" sz="1150" b="1" dirty="0">
                <a:solidFill>
                  <a:srgbClr val="7B5CD6"/>
                </a:solidFill>
                <a:highlight>
                  <a:srgbClr val="FFF1A8"/>
                </a:highlight>
                <a:latin typeface="Segoe UI Semibold" pitchFamily="34" charset="0"/>
                <a:ea typeface="Segoe UI Semibold" pitchFamily="34" charset="-122"/>
                <a:cs typeface="Segoe UI Semibold" pitchFamily="34" charset="-120"/>
              </a:rPr>
              <a:t>cats</a:t>
            </a:r>
            <a:pPr indent="0" marL="0">
              <a:buNone/>
            </a:pPr>
            <a:r>
              <a:rPr lang="en-US" sz="1150" dirty="0">
                <a:solidFill>
                  <a:srgbClr val="1B2559"/>
                </a:solidFill>
                <a:latin typeface="Segoe UI Semibold" pitchFamily="34" charset="0"/>
                <a:ea typeface="Segoe UI Semibold" pitchFamily="34" charset="-122"/>
                <a:cs typeface="Segoe UI Semibold" pitchFamily="34" charset="-120"/>
              </a:rPr>
              <a:t> love sleeping.</a:t>
            </a:r>
            <a:endParaRPr lang="en-US" sz="1150" dirty="0"/>
          </a:p>
          <a:p>
            <a:pPr indent="0" marL="0">
              <a:buNone/>
            </a:pPr>
            <a:r>
              <a:rPr lang="en-US" sz="900" i="1" dirty="0">
                <a:solidFill>
                  <a:srgbClr val="5B6785"/>
                </a:solidFill>
                <a:latin typeface="Segoe UI Semibold" pitchFamily="34" charset="0"/>
                <a:ea typeface="Segoe UI Semibold" pitchFamily="34" charset="-122"/>
                <a:cs typeface="Segoe UI Semibold" pitchFamily="34" charset="-120"/>
              </a:rPr>
              <a:t>❓ Is the cat lazy or active? · What do cats love?</a:t>
            </a:r>
            <a:endParaRPr lang="en-US" sz="1150" dirty="0"/>
          </a:p>
        </p:txBody>
      </p:sp>
      <p:sp>
        <p:nvSpPr>
          <p:cNvPr id="22" name="R3_sb524"/>
          <p:cNvSpPr/>
          <p:nvPr/>
        </p:nvSpPr>
        <p:spPr>
          <a:xfrm>
            <a:off x="3200400" y="2581656"/>
            <a:ext cx="310896" cy="310896"/>
          </a:xfrm>
          <a:prstGeom prst="ellipse">
            <a:avLst/>
          </a:prstGeom>
          <a:solidFill>
            <a:srgbClr val="2EB872"/>
          </a:solidFill>
          <a:ln w="28575">
            <a:solidFill>
              <a:srgbClr val="A8E5BE"/>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3</a:t>
            </a:r>
            <a:endParaRPr lang="en-US" sz="1000" dirty="0"/>
          </a:p>
        </p:txBody>
      </p:sp>
      <p:sp>
        <p:nvSpPr>
          <p:cNvPr id="23" name="R3_sl525"/>
          <p:cNvSpPr/>
          <p:nvPr/>
        </p:nvSpPr>
        <p:spPr>
          <a:xfrm>
            <a:off x="3584448" y="2545080"/>
            <a:ext cx="5303520" cy="499872"/>
          </a:xfrm>
          <a:prstGeom prst="roundRect">
            <a:avLst>
              <a:gd name="adj" fmla="val 21951"/>
            </a:avLst>
          </a:prstGeom>
          <a:solidFill>
            <a:srgbClr val="FFFFFF"/>
          </a:solidFill>
          <a:ln w="28575">
            <a:solidFill>
              <a:srgbClr val="A8E5BE"/>
            </a:solidFill>
          </a:ln>
          <a:effectLst>
            <a:outerShdw sx="100000" sy="100000" kx="0" ky="0" algn="bl" rotWithShape="0" blurRad="88900" dist="31750" dir="5400000">
              <a:srgbClr val="1B2559">
                <a:alpha val="8000"/>
              </a:srgbClr>
            </a:outerShdw>
          </a:effectLst>
        </p:spPr>
        <p:txBody>
          <a:bodyPr wrap="square" lIns="127000" tIns="25400" rIns="127000" bIns="25400" rtlCol="0" anchor="ctr"/>
          <a:lstStyle/>
          <a:p>
            <a:pPr indent="0" marL="0">
              <a:buNone/>
            </a:pPr>
            <a:r>
              <a:rPr lang="en-US" sz="1150" dirty="0">
                <a:solidFill>
                  <a:srgbClr val="1B2559"/>
                </a:solidFill>
                <a:latin typeface="Segoe UI Semibold" pitchFamily="34" charset="0"/>
                <a:ea typeface="Segoe UI Semibold" pitchFamily="34" charset="-122"/>
                <a:cs typeface="Segoe UI Semibold" pitchFamily="34" charset="-120"/>
              </a:rPr>
              <a:t>But every night </a:t>
            </a:r>
            <a:pPr indent="0" marL="0">
              <a:buNone/>
            </a:pPr>
            <a:r>
              <a:rPr lang="en-US" sz="1150" b="1" dirty="0">
                <a:solidFill>
                  <a:srgbClr val="7B5CD6"/>
                </a:solidFill>
                <a:highlight>
                  <a:srgbClr val="FFF1A8"/>
                </a:highlight>
                <a:latin typeface="Segoe UI Semibold" pitchFamily="34" charset="0"/>
                <a:ea typeface="Segoe UI Semibold" pitchFamily="34" charset="-122"/>
                <a:cs typeface="Segoe UI Semibold" pitchFamily="34" charset="-120"/>
              </a:rPr>
              <a:t>the</a:t>
            </a:r>
            <a:pPr indent="0" marL="0">
              <a:buNone/>
            </a:pPr>
            <a:r>
              <a:rPr lang="en-US" sz="1150" dirty="0">
                <a:solidFill>
                  <a:srgbClr val="1B2559"/>
                </a:solidFill>
                <a:latin typeface="Segoe UI Semibold" pitchFamily="34" charset="0"/>
                <a:ea typeface="Segoe UI Semibold" pitchFamily="34" charset="-122"/>
                <a:cs typeface="Segoe UI Semibold" pitchFamily="34" charset="-120"/>
              </a:rPr>
              <a:t> cat sits on the roof and looks at </a:t>
            </a:r>
            <a:pPr indent="0" marL="0">
              <a:buNone/>
            </a:pPr>
            <a:r>
              <a:rPr lang="en-US" sz="1150" b="1" dirty="0">
                <a:solidFill>
                  <a:srgbClr val="7B5CD6"/>
                </a:solidFill>
                <a:highlight>
                  <a:srgbClr val="FFF1A8"/>
                </a:highlight>
                <a:latin typeface="Segoe UI Semibold" pitchFamily="34" charset="0"/>
                <a:ea typeface="Segoe UI Semibold" pitchFamily="34" charset="-122"/>
                <a:cs typeface="Segoe UI Semibold" pitchFamily="34" charset="-120"/>
              </a:rPr>
              <a:t>the moon</a:t>
            </a:r>
            <a:pPr indent="0" marL="0">
              <a:buNone/>
            </a:pPr>
            <a:r>
              <a:rPr lang="en-US" sz="1150" dirty="0">
                <a:solidFill>
                  <a:srgbClr val="1B2559"/>
                </a:solidFill>
                <a:latin typeface="Segoe UI Semibold" pitchFamily="34" charset="0"/>
                <a:ea typeface="Segoe UI Semibold" pitchFamily="34" charset="-122"/>
                <a:cs typeface="Segoe UI Semibold" pitchFamily="34" charset="-120"/>
              </a:rPr>
              <a:t>.</a:t>
            </a:r>
            <a:endParaRPr lang="en-US" sz="1150" dirty="0"/>
          </a:p>
          <a:p>
            <a:pPr indent="0" marL="0">
              <a:buNone/>
            </a:pPr>
            <a:r>
              <a:rPr lang="en-US" sz="900" i="1" dirty="0">
                <a:solidFill>
                  <a:srgbClr val="5B6785"/>
                </a:solidFill>
                <a:latin typeface="Segoe UI Semibold" pitchFamily="34" charset="0"/>
                <a:ea typeface="Segoe UI Semibold" pitchFamily="34" charset="-122"/>
                <a:cs typeface="Segoe UI Semibold" pitchFamily="34" charset="-120"/>
              </a:rPr>
              <a:t>❓ Where does the cat sit? · Does it look at the moon or the sea?</a:t>
            </a:r>
            <a:endParaRPr lang="en-US" sz="1150" dirty="0"/>
          </a:p>
        </p:txBody>
      </p:sp>
      <p:sp>
        <p:nvSpPr>
          <p:cNvPr id="24" name="R4_sb526"/>
          <p:cNvSpPr/>
          <p:nvPr/>
        </p:nvSpPr>
        <p:spPr>
          <a:xfrm>
            <a:off x="3200400" y="3145536"/>
            <a:ext cx="310896" cy="310896"/>
          </a:xfrm>
          <a:prstGeom prst="ellipse">
            <a:avLst/>
          </a:prstGeom>
          <a:solidFill>
            <a:srgbClr val="F2B705"/>
          </a:solidFill>
          <a:ln w="28575">
            <a:solidFill>
              <a:srgbClr val="FFE07A"/>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4</a:t>
            </a:r>
            <a:endParaRPr lang="en-US" sz="1000" dirty="0"/>
          </a:p>
        </p:txBody>
      </p:sp>
      <p:sp>
        <p:nvSpPr>
          <p:cNvPr id="25" name="R4_sl527"/>
          <p:cNvSpPr/>
          <p:nvPr/>
        </p:nvSpPr>
        <p:spPr>
          <a:xfrm>
            <a:off x="3584448" y="3108960"/>
            <a:ext cx="5303520" cy="499872"/>
          </a:xfrm>
          <a:prstGeom prst="roundRect">
            <a:avLst>
              <a:gd name="adj" fmla="val 21951"/>
            </a:avLst>
          </a:prstGeom>
          <a:solidFill>
            <a:srgbClr val="FFFFFF"/>
          </a:solidFill>
          <a:ln w="28575">
            <a:solidFill>
              <a:srgbClr val="FFE07A"/>
            </a:solidFill>
          </a:ln>
          <a:effectLst>
            <a:outerShdw sx="100000" sy="100000" kx="0" ky="0" algn="bl" rotWithShape="0" blurRad="88900" dist="31750" dir="5400000">
              <a:srgbClr val="1B2559">
                <a:alpha val="8000"/>
              </a:srgbClr>
            </a:outerShdw>
          </a:effectLst>
        </p:spPr>
        <p:txBody>
          <a:bodyPr wrap="square" lIns="127000" tIns="25400" rIns="127000" bIns="25400" rtlCol="0" anchor="ctr"/>
          <a:lstStyle/>
          <a:p>
            <a:pPr indent="0" marL="0">
              <a:buNone/>
            </a:pPr>
            <a:r>
              <a:rPr lang="en-US" sz="950" dirty="0">
                <a:solidFill>
                  <a:srgbClr val="1B2559"/>
                </a:solidFill>
                <a:latin typeface="Segoe UI Semibold" pitchFamily="34" charset="0"/>
                <a:ea typeface="Segoe UI Semibold" pitchFamily="34" charset="-122"/>
                <a:cs typeface="Segoe UI Semibold" pitchFamily="34" charset="-120"/>
              </a:rPr>
              <a:t>One night the cat isn't </a:t>
            </a:r>
            <a:pPr indent="0" marL="0">
              <a:buNone/>
            </a:pPr>
            <a:r>
              <a:rPr lang="en-US" sz="950" b="1" dirty="0">
                <a:solidFill>
                  <a:srgbClr val="7B5CD6"/>
                </a:solidFill>
                <a:highlight>
                  <a:srgbClr val="FFF1A8"/>
                </a:highlight>
                <a:latin typeface="Segoe UI Semibold" pitchFamily="34" charset="0"/>
                <a:ea typeface="Segoe UI Semibold" pitchFamily="34" charset="-122"/>
                <a:cs typeface="Segoe UI Semibold" pitchFamily="34" charset="-120"/>
              </a:rPr>
              <a:t>at home</a:t>
            </a:r>
            <a:pPr indent="0" marL="0">
              <a:buNone/>
            </a:pPr>
            <a:r>
              <a:rPr lang="en-US" sz="950" dirty="0">
                <a:solidFill>
                  <a:srgbClr val="1B2559"/>
                </a:solidFill>
                <a:latin typeface="Segoe UI Semibold" pitchFamily="34" charset="0"/>
                <a:ea typeface="Segoe UI Semibold" pitchFamily="34" charset="-122"/>
                <a:cs typeface="Segoe UI Semibold" pitchFamily="34" charset="-120"/>
              </a:rPr>
              <a:t>! The man is worried. He doesn't go to </a:t>
            </a:r>
            <a:pPr indent="0" marL="0">
              <a:buNone/>
            </a:pPr>
            <a:r>
              <a:rPr lang="en-US" sz="950" b="1" dirty="0">
                <a:solidFill>
                  <a:srgbClr val="7B5CD6"/>
                </a:solidFill>
                <a:highlight>
                  <a:srgbClr val="FFF1A8"/>
                </a:highlight>
                <a:latin typeface="Segoe UI Semibold" pitchFamily="34" charset="0"/>
                <a:ea typeface="Segoe UI Semibold" pitchFamily="34" charset="-122"/>
                <a:cs typeface="Segoe UI Semibold" pitchFamily="34" charset="-120"/>
              </a:rPr>
              <a:t>work</a:t>
            </a:r>
            <a:pPr indent="0" marL="0">
              <a:buNone/>
            </a:pPr>
            <a:r>
              <a:rPr lang="en-US" sz="950" dirty="0">
                <a:solidFill>
                  <a:srgbClr val="1B2559"/>
                </a:solidFill>
                <a:latin typeface="Segoe UI Semibold" pitchFamily="34" charset="0"/>
                <a:ea typeface="Segoe UI Semibold" pitchFamily="34" charset="-122"/>
                <a:cs typeface="Segoe UI Semibold" pitchFamily="34" charset="-120"/>
              </a:rPr>
              <a:t>.</a:t>
            </a:r>
            <a:endParaRPr lang="en-US" sz="950" dirty="0"/>
          </a:p>
          <a:p>
            <a:pPr indent="0" marL="0">
              <a:buNone/>
            </a:pPr>
            <a:r>
              <a:rPr lang="en-US" sz="700" i="1" dirty="0">
                <a:solidFill>
                  <a:srgbClr val="5B6785"/>
                </a:solidFill>
                <a:latin typeface="Segoe UI Semibold" pitchFamily="34" charset="0"/>
                <a:ea typeface="Segoe UI Semibold" pitchFamily="34" charset="-122"/>
                <a:cs typeface="Segoe UI Semibold" pitchFamily="34" charset="-120"/>
              </a:rPr>
              <a:t>❓ Is the cat at home? · Does the man go to work? · Why not?</a:t>
            </a:r>
            <a:endParaRPr lang="en-US" sz="950" dirty="0"/>
          </a:p>
        </p:txBody>
      </p:sp>
      <p:sp>
        <p:nvSpPr>
          <p:cNvPr id="26" name="R5_sb528"/>
          <p:cNvSpPr/>
          <p:nvPr/>
        </p:nvSpPr>
        <p:spPr>
          <a:xfrm>
            <a:off x="3200400" y="3709416"/>
            <a:ext cx="310896" cy="310896"/>
          </a:xfrm>
          <a:prstGeom prst="ellipse">
            <a:avLst/>
          </a:prstGeom>
          <a:solidFill>
            <a:srgbClr val="E8508F"/>
          </a:solidFill>
          <a:ln w="28575">
            <a:solidFill>
              <a:srgbClr val="F7A6C4"/>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5</a:t>
            </a:r>
            <a:endParaRPr lang="en-US" sz="1000" dirty="0"/>
          </a:p>
        </p:txBody>
      </p:sp>
      <p:sp>
        <p:nvSpPr>
          <p:cNvPr id="27" name="R5_sl529"/>
          <p:cNvSpPr/>
          <p:nvPr/>
        </p:nvSpPr>
        <p:spPr>
          <a:xfrm>
            <a:off x="3584448" y="3672840"/>
            <a:ext cx="5303520" cy="499872"/>
          </a:xfrm>
          <a:prstGeom prst="roundRect">
            <a:avLst>
              <a:gd name="adj" fmla="val 21951"/>
            </a:avLst>
          </a:prstGeom>
          <a:solidFill>
            <a:srgbClr val="FFFFFF"/>
          </a:solidFill>
          <a:ln w="28575">
            <a:solidFill>
              <a:srgbClr val="F7A6C4"/>
            </a:solidFill>
          </a:ln>
          <a:effectLst>
            <a:outerShdw sx="100000" sy="100000" kx="0" ky="0" algn="bl" rotWithShape="0" blurRad="88900" dist="31750" dir="5400000">
              <a:srgbClr val="1B2559">
                <a:alpha val="8000"/>
              </a:srgbClr>
            </a:outerShdw>
          </a:effectLst>
        </p:spPr>
        <p:txBody>
          <a:bodyPr wrap="square" lIns="127000" tIns="25400" rIns="127000" bIns="25400" rtlCol="0" anchor="ct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He finds the cat at </a:t>
            </a:r>
            <a:pPr indent="0" marL="0">
              <a:buNone/>
            </a:pPr>
            <a:r>
              <a:rPr lang="en-US" sz="1100" b="1" dirty="0">
                <a:solidFill>
                  <a:srgbClr val="7B5CD6"/>
                </a:solidFill>
                <a:highlight>
                  <a:srgbClr val="FFF1A8"/>
                </a:highlight>
                <a:latin typeface="Segoe UI Semibold" pitchFamily="34" charset="0"/>
                <a:ea typeface="Segoe UI Semibold" pitchFamily="34" charset="-122"/>
                <a:cs typeface="Segoe UI Semibold" pitchFamily="34" charset="-120"/>
              </a:rPr>
              <a:t>the cinema</a:t>
            </a:r>
            <a:pPr indent="0" marL="0">
              <a:buNone/>
            </a:pPr>
            <a:r>
              <a:rPr lang="en-US" sz="1100" dirty="0">
                <a:solidFill>
                  <a:srgbClr val="1B2559"/>
                </a:solidFill>
                <a:latin typeface="Segoe UI Semibold" pitchFamily="34" charset="0"/>
                <a:ea typeface="Segoe UI Semibold" pitchFamily="34" charset="-122"/>
                <a:cs typeface="Segoe UI Semibold" pitchFamily="34" charset="-120"/>
              </a:rPr>
              <a:t>. It's watching </a:t>
            </a:r>
            <a:pPr indent="0" marL="0">
              <a:buNone/>
            </a:pPr>
            <a:r>
              <a:rPr lang="en-US" sz="1100" b="1" dirty="0">
                <a:solidFill>
                  <a:srgbClr val="7B5CD6"/>
                </a:solidFill>
                <a:highlight>
                  <a:srgbClr val="FFF1A8"/>
                </a:highlight>
                <a:latin typeface="Segoe UI Semibold" pitchFamily="34" charset="0"/>
                <a:ea typeface="Segoe UI Semibold" pitchFamily="34" charset="-122"/>
                <a:cs typeface="Segoe UI Semibold" pitchFamily="34" charset="-120"/>
              </a:rPr>
              <a:t>a</a:t>
            </a:r>
            <a:pPr indent="0" marL="0">
              <a:buNone/>
            </a:pPr>
            <a:r>
              <a:rPr lang="en-US" sz="1100" dirty="0">
                <a:solidFill>
                  <a:srgbClr val="1B2559"/>
                </a:solidFill>
                <a:latin typeface="Segoe UI Semibold" pitchFamily="34" charset="0"/>
                <a:ea typeface="Segoe UI Semibold" pitchFamily="34" charset="-122"/>
                <a:cs typeface="Segoe UI Semibold" pitchFamily="34" charset="-120"/>
              </a:rPr>
              <a:t> film about </a:t>
            </a:r>
            <a:pPr indent="0" marL="0">
              <a:buNone/>
            </a:pPr>
            <a:r>
              <a:rPr lang="en-US" sz="1100" b="1" dirty="0">
                <a:solidFill>
                  <a:srgbClr val="7B5CD6"/>
                </a:solidFill>
                <a:highlight>
                  <a:srgbClr val="FFF1A8"/>
                </a:highlight>
                <a:latin typeface="Segoe UI Semibold" pitchFamily="34" charset="0"/>
                <a:ea typeface="Segoe UI Semibold" pitchFamily="34" charset="-122"/>
                <a:cs typeface="Segoe UI Semibold" pitchFamily="34" charset="-120"/>
              </a:rPr>
              <a:t>the moon</a:t>
            </a:r>
            <a:pPr indent="0" marL="0">
              <a:buNone/>
            </a:pPr>
            <a:r>
              <a:rPr lang="en-US" sz="1100" dirty="0">
                <a:solidFill>
                  <a:srgbClr val="1B2559"/>
                </a:solidFill>
                <a:latin typeface="Segoe UI Semibold" pitchFamily="34" charset="0"/>
                <a:ea typeface="Segoe UI Semibold" pitchFamily="34" charset="-122"/>
                <a:cs typeface="Segoe UI Semibold" pitchFamily="34" charset="-120"/>
              </a:rPr>
              <a:t>!</a:t>
            </a:r>
            <a:endParaRPr lang="en-US" sz="1100" dirty="0"/>
          </a:p>
          <a:p>
            <a:pPr indent="0" marL="0">
              <a:buNone/>
            </a:pPr>
            <a:r>
              <a:rPr lang="en-US" sz="850" i="1" dirty="0">
                <a:solidFill>
                  <a:srgbClr val="5B6785"/>
                </a:solidFill>
                <a:latin typeface="Segoe UI Semibold" pitchFamily="34" charset="0"/>
                <a:ea typeface="Segoe UI Semibold" pitchFamily="34" charset="-122"/>
                <a:cs typeface="Segoe UI Semibold" pitchFamily="34" charset="-120"/>
              </a:rPr>
              <a:t>❓ Where is the cat? · What film is it watching?</a:t>
            </a:r>
            <a:endParaRPr lang="en-US" sz="1100" dirty="0"/>
          </a:p>
        </p:txBody>
      </p:sp>
      <p:sp>
        <p:nvSpPr>
          <p:cNvPr id="28" name="R6_sb530"/>
          <p:cNvSpPr/>
          <p:nvPr/>
        </p:nvSpPr>
        <p:spPr>
          <a:xfrm>
            <a:off x="3200400" y="4273296"/>
            <a:ext cx="310896" cy="310896"/>
          </a:xfrm>
          <a:prstGeom prst="ellipse">
            <a:avLst/>
          </a:prstGeom>
          <a:solidFill>
            <a:srgbClr val="2F8DE4"/>
          </a:solidFill>
          <a:ln w="28575">
            <a:solidFill>
              <a:srgbClr val="A9D3F5"/>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6</a:t>
            </a:r>
            <a:endParaRPr lang="en-US" sz="1000" dirty="0"/>
          </a:p>
        </p:txBody>
      </p:sp>
      <p:sp>
        <p:nvSpPr>
          <p:cNvPr id="29" name="R6_sl531"/>
          <p:cNvSpPr/>
          <p:nvPr/>
        </p:nvSpPr>
        <p:spPr>
          <a:xfrm>
            <a:off x="3584448" y="4236720"/>
            <a:ext cx="5303520" cy="499872"/>
          </a:xfrm>
          <a:prstGeom prst="roundRect">
            <a:avLst>
              <a:gd name="adj" fmla="val 21951"/>
            </a:avLst>
          </a:prstGeom>
          <a:solidFill>
            <a:srgbClr val="FFFFFF"/>
          </a:solidFill>
          <a:ln w="28575">
            <a:solidFill>
              <a:srgbClr val="A9D3F5"/>
            </a:solidFill>
          </a:ln>
          <a:effectLst>
            <a:outerShdw sx="100000" sy="100000" kx="0" ky="0" algn="bl" rotWithShape="0" blurRad="88900" dist="31750" dir="5400000">
              <a:srgbClr val="1B2559">
                <a:alpha val="8000"/>
              </a:srgbClr>
            </a:outerShdw>
          </a:effectLst>
        </p:spPr>
        <p:txBody>
          <a:bodyPr wrap="square" lIns="127000" tIns="25400" rIns="127000" bIns="25400" rtlCol="0" anchor="ctr"/>
          <a:lstStyle/>
          <a:p>
            <a:pPr indent="0" marL="0">
              <a:buNone/>
            </a:pPr>
            <a:r>
              <a:rPr lang="en-US" sz="950" dirty="0">
                <a:solidFill>
                  <a:srgbClr val="1B2559"/>
                </a:solidFill>
                <a:latin typeface="Segoe UI Semibold" pitchFamily="34" charset="0"/>
                <a:ea typeface="Segoe UI Semibold" pitchFamily="34" charset="-122"/>
                <a:cs typeface="Segoe UI Semibold" pitchFamily="34" charset="-120"/>
              </a:rPr>
              <a:t>'Generally speaking, </a:t>
            </a:r>
            <a:pPr indent="0" marL="0">
              <a:buNone/>
            </a:pPr>
            <a:r>
              <a:rPr lang="en-US" sz="950" b="1" dirty="0">
                <a:solidFill>
                  <a:srgbClr val="7B5CD6"/>
                </a:solidFill>
                <a:highlight>
                  <a:srgbClr val="FFF1A8"/>
                </a:highlight>
                <a:latin typeface="Segoe UI Semibold" pitchFamily="34" charset="0"/>
                <a:ea typeface="Segoe UI Semibold" pitchFamily="34" charset="-122"/>
                <a:cs typeface="Segoe UI Semibold" pitchFamily="34" charset="-120"/>
              </a:rPr>
              <a:t>cats</a:t>
            </a:r>
            <a:pPr indent="0" marL="0">
              <a:buNone/>
            </a:pPr>
            <a:r>
              <a:rPr lang="en-US" sz="950" dirty="0">
                <a:solidFill>
                  <a:srgbClr val="1B2559"/>
                </a:solidFill>
                <a:latin typeface="Segoe UI Semibold" pitchFamily="34" charset="0"/>
                <a:ea typeface="Segoe UI Semibold" pitchFamily="34" charset="-122"/>
                <a:cs typeface="Segoe UI Semibold" pitchFamily="34" charset="-120"/>
              </a:rPr>
              <a:t> don't like </a:t>
            </a:r>
            <a:pPr indent="0" marL="0">
              <a:buNone/>
            </a:pPr>
            <a:r>
              <a:rPr lang="en-US" sz="950" b="1" dirty="0">
                <a:solidFill>
                  <a:srgbClr val="7B5CD6"/>
                </a:solidFill>
                <a:highlight>
                  <a:srgbClr val="FFF1A8"/>
                </a:highlight>
                <a:latin typeface="Segoe UI Semibold" pitchFamily="34" charset="0"/>
                <a:ea typeface="Segoe UI Semibold" pitchFamily="34" charset="-122"/>
                <a:cs typeface="Segoe UI Semibold" pitchFamily="34" charset="-120"/>
              </a:rPr>
              <a:t>films</a:t>
            </a:r>
            <a:pPr indent="0" marL="0">
              <a:buNone/>
            </a:pPr>
            <a:r>
              <a:rPr lang="en-US" sz="950" dirty="0">
                <a:solidFill>
                  <a:srgbClr val="1B2559"/>
                </a:solidFill>
                <a:latin typeface="Segoe UI Semibold" pitchFamily="34" charset="0"/>
                <a:ea typeface="Segoe UI Semibold" pitchFamily="34" charset="-122"/>
                <a:cs typeface="Segoe UI Semibold" pitchFamily="34" charset="-120"/>
              </a:rPr>
              <a:t>,' he says. 'But this is </a:t>
            </a:r>
            <a:pPr indent="0" marL="0">
              <a:buNone/>
            </a:pPr>
            <a:r>
              <a:rPr lang="en-US" sz="950" b="1" dirty="0">
                <a:solidFill>
                  <a:srgbClr val="7B5CD6"/>
                </a:solidFill>
                <a:highlight>
                  <a:srgbClr val="FFF1A8"/>
                </a:highlight>
                <a:latin typeface="Segoe UI Semibold" pitchFamily="34" charset="0"/>
                <a:ea typeface="Segoe UI Semibold" pitchFamily="34" charset="-122"/>
                <a:cs typeface="Segoe UI Semibold" pitchFamily="34" charset="-120"/>
              </a:rPr>
              <a:t>a</a:t>
            </a:r>
            <a:pPr indent="0" marL="0">
              <a:buNone/>
            </a:pPr>
            <a:r>
              <a:rPr lang="en-US" sz="950" dirty="0">
                <a:solidFill>
                  <a:srgbClr val="1B2559"/>
                </a:solidFill>
                <a:latin typeface="Segoe UI Semibold" pitchFamily="34" charset="0"/>
                <a:ea typeface="Segoe UI Semibold" pitchFamily="34" charset="-122"/>
                <a:cs typeface="Segoe UI Semibold" pitchFamily="34" charset="-120"/>
              </a:rPr>
              <a:t> special cat!'</a:t>
            </a:r>
            <a:endParaRPr lang="en-US" sz="950" dirty="0"/>
          </a:p>
          <a:p>
            <a:pPr indent="0" marL="0">
              <a:buNone/>
            </a:pPr>
            <a:r>
              <a:rPr lang="en-US" sz="700" i="1" dirty="0">
                <a:solidFill>
                  <a:srgbClr val="5B6785"/>
                </a:solidFill>
                <a:latin typeface="Segoe UI Semibold" pitchFamily="34" charset="0"/>
                <a:ea typeface="Segoe UI Semibold" pitchFamily="34" charset="-122"/>
                <a:cs typeface="Segoe UI Semibold" pitchFamily="34" charset="-120"/>
              </a:rPr>
              <a:t>❓ Do cats like films? · And you – do you prefer cats or dogs?</a:t>
            </a:r>
            <a:endParaRPr lang="en-US" sz="95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8"/>
                                        </p:tgtEl>
                                        <p:attrNameLst>
                                          <p:attrName>style.visibility</p:attrName>
                                        </p:attrNameLst>
                                      </p:cBhvr>
                                      <p:to>
                                        <p:strVal val="visible"/>
                                      </p:to>
                                    </p:set>
                                    <p:animEffect transition="in" filter="fade">
                                      <p:cBhvr>
                                        <p:cTn id="7" dur="400"/>
                                        <p:tgtEl>
                                          <p:spTgt spid="18"/>
                                        </p:tgtEl>
                                      </p:cBhvr>
                                    </p:animEffect>
                                  </p:childTnLst>
                                </p:cTn>
                              </p:par>
                              <p:par>
                                <p:cTn id="8" presetID="10" presetClass="entr" presetSubtype="0" fill="hold" nodeType="withEffect">
                                  <p:stCondLst>
                                    <p:cond delay="0"/>
                                  </p:stCondLst>
                                  <p:childTnLst>
                                    <p:set>
                                      <p:cBhvr>
                                        <p:cTn id="9" dur="1" fill="hold">
                                          <p:stCondLst>
                                            <p:cond delay="0"/>
                                          </p:stCondLst>
                                        </p:cTn>
                                        <p:tgtEl>
                                          <p:spTgt spid="19"/>
                                        </p:tgtEl>
                                        <p:attrNameLst>
                                          <p:attrName>style.visibility</p:attrName>
                                        </p:attrNameLst>
                                      </p:cBhvr>
                                      <p:to>
                                        <p:strVal val="visible"/>
                                      </p:to>
                                    </p:set>
                                    <p:animEffect transition="in" filter="fade">
                                      <p:cBhvr>
                                        <p:cTn id="10" dur="400"/>
                                        <p:tgtEl>
                                          <p:spTgt spid="19"/>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nodeType="clickEffect">
                                  <p:stCondLst>
                                    <p:cond delay="0"/>
                                  </p:stCondLst>
                                  <p:childTnLst>
                                    <p:set>
                                      <p:cBhvr>
                                        <p:cTn id="14" dur="1" fill="hold">
                                          <p:stCondLst>
                                            <p:cond delay="0"/>
                                          </p:stCondLst>
                                        </p:cTn>
                                        <p:tgtEl>
                                          <p:spTgt spid="20"/>
                                        </p:tgtEl>
                                        <p:attrNameLst>
                                          <p:attrName>style.visibility</p:attrName>
                                        </p:attrNameLst>
                                      </p:cBhvr>
                                      <p:to>
                                        <p:strVal val="visible"/>
                                      </p:to>
                                    </p:set>
                                    <p:animEffect transition="in" filter="fade">
                                      <p:cBhvr>
                                        <p:cTn id="15" dur="400"/>
                                        <p:tgtEl>
                                          <p:spTgt spid="20"/>
                                        </p:tgtEl>
                                      </p:cBhvr>
                                    </p:animEffect>
                                  </p:childTnLst>
                                </p:cTn>
                              </p:par>
                              <p:par>
                                <p:cTn id="16" presetID="10" presetClass="entr" presetSubtype="0" fill="hold" nodeType="withEffect">
                                  <p:stCondLst>
                                    <p:cond delay="0"/>
                                  </p:stCondLst>
                                  <p:childTnLst>
                                    <p:set>
                                      <p:cBhvr>
                                        <p:cTn id="17" dur="1" fill="hold">
                                          <p:stCondLst>
                                            <p:cond delay="0"/>
                                          </p:stCondLst>
                                        </p:cTn>
                                        <p:tgtEl>
                                          <p:spTgt spid="21"/>
                                        </p:tgtEl>
                                        <p:attrNameLst>
                                          <p:attrName>style.visibility</p:attrName>
                                        </p:attrNameLst>
                                      </p:cBhvr>
                                      <p:to>
                                        <p:strVal val="visible"/>
                                      </p:to>
                                    </p:set>
                                    <p:animEffect transition="in" filter="fade">
                                      <p:cBhvr>
                                        <p:cTn id="18" dur="400"/>
                                        <p:tgtEl>
                                          <p:spTgt spid="21"/>
                                        </p:tgtEl>
                                      </p:cBhvr>
                                    </p:animEffect>
                                  </p:childTnLst>
                                </p:cTn>
                              </p:par>
                            </p:childTnLst>
                          </p:cTn>
                        </p:par>
                      </p:childTnLst>
                    </p:cTn>
                  </p:par>
                  <p:par>
                    <p:cTn id="19" fill="hold">
                      <p:stCondLst>
                        <p:cond delay="indefinite"/>
                      </p:stCondLst>
                      <p:childTnLst>
                        <p:par>
                          <p:cTn id="20" fill="hold">
                            <p:stCondLst>
                              <p:cond delay="0"/>
                            </p:stCondLst>
                            <p:childTnLst>
                              <p:par>
                                <p:cTn id="21" presetID="10" presetClass="entr" presetSubtype="0" fill="hold" nodeType="clickEffect">
                                  <p:stCondLst>
                                    <p:cond delay="0"/>
                                  </p:stCondLst>
                                  <p:childTnLst>
                                    <p:set>
                                      <p:cBhvr>
                                        <p:cTn id="22" dur="1" fill="hold">
                                          <p:stCondLst>
                                            <p:cond delay="0"/>
                                          </p:stCondLst>
                                        </p:cTn>
                                        <p:tgtEl>
                                          <p:spTgt spid="22"/>
                                        </p:tgtEl>
                                        <p:attrNameLst>
                                          <p:attrName>style.visibility</p:attrName>
                                        </p:attrNameLst>
                                      </p:cBhvr>
                                      <p:to>
                                        <p:strVal val="visible"/>
                                      </p:to>
                                    </p:set>
                                    <p:animEffect transition="in" filter="fade">
                                      <p:cBhvr>
                                        <p:cTn id="23" dur="400"/>
                                        <p:tgtEl>
                                          <p:spTgt spid="22"/>
                                        </p:tgtEl>
                                      </p:cBhvr>
                                    </p:animEffect>
                                  </p:childTnLst>
                                </p:cTn>
                              </p:par>
                              <p:par>
                                <p:cTn id="24" presetID="10" presetClass="entr" presetSubtype="0" fill="hold" nodeType="withEffect">
                                  <p:stCondLst>
                                    <p:cond delay="0"/>
                                  </p:stCondLst>
                                  <p:childTnLst>
                                    <p:set>
                                      <p:cBhvr>
                                        <p:cTn id="25" dur="1" fill="hold">
                                          <p:stCondLst>
                                            <p:cond delay="0"/>
                                          </p:stCondLst>
                                        </p:cTn>
                                        <p:tgtEl>
                                          <p:spTgt spid="23"/>
                                        </p:tgtEl>
                                        <p:attrNameLst>
                                          <p:attrName>style.visibility</p:attrName>
                                        </p:attrNameLst>
                                      </p:cBhvr>
                                      <p:to>
                                        <p:strVal val="visible"/>
                                      </p:to>
                                    </p:set>
                                    <p:animEffect transition="in" filter="fade">
                                      <p:cBhvr>
                                        <p:cTn id="26" dur="400"/>
                                        <p:tgtEl>
                                          <p:spTgt spid="23"/>
                                        </p:tgtEl>
                                      </p:cBhvr>
                                    </p:animEffect>
                                  </p:childTnLst>
                                </p:cTn>
                              </p:par>
                            </p:childTnLst>
                          </p:cTn>
                        </p:par>
                      </p:childTnLst>
                    </p:cTn>
                  </p:par>
                  <p:par>
                    <p:cTn id="27" fill="hold">
                      <p:stCondLst>
                        <p:cond delay="indefinite"/>
                      </p:stCondLst>
                      <p:childTnLst>
                        <p:par>
                          <p:cTn id="28" fill="hold">
                            <p:stCondLst>
                              <p:cond delay="0"/>
                            </p:stCondLst>
                            <p:childTnLst>
                              <p:par>
                                <p:cTn id="29" presetID="10" presetClass="entr" presetSubtype="0" fill="hold" nodeType="clickEffect">
                                  <p:stCondLst>
                                    <p:cond delay="0"/>
                                  </p:stCondLst>
                                  <p:childTnLst>
                                    <p:set>
                                      <p:cBhvr>
                                        <p:cTn id="30" dur="1" fill="hold">
                                          <p:stCondLst>
                                            <p:cond delay="0"/>
                                          </p:stCondLst>
                                        </p:cTn>
                                        <p:tgtEl>
                                          <p:spTgt spid="24"/>
                                        </p:tgtEl>
                                        <p:attrNameLst>
                                          <p:attrName>style.visibility</p:attrName>
                                        </p:attrNameLst>
                                      </p:cBhvr>
                                      <p:to>
                                        <p:strVal val="visible"/>
                                      </p:to>
                                    </p:set>
                                    <p:animEffect transition="in" filter="fade">
                                      <p:cBhvr>
                                        <p:cTn id="31" dur="400"/>
                                        <p:tgtEl>
                                          <p:spTgt spid="24"/>
                                        </p:tgtEl>
                                      </p:cBhvr>
                                    </p:animEffect>
                                  </p:childTnLst>
                                </p:cTn>
                              </p:par>
                              <p:par>
                                <p:cTn id="32" presetID="10" presetClass="entr" presetSubtype="0" fill="hold" nodeType="withEffect">
                                  <p:stCondLst>
                                    <p:cond delay="0"/>
                                  </p:stCondLst>
                                  <p:childTnLst>
                                    <p:set>
                                      <p:cBhvr>
                                        <p:cTn id="33" dur="1" fill="hold">
                                          <p:stCondLst>
                                            <p:cond delay="0"/>
                                          </p:stCondLst>
                                        </p:cTn>
                                        <p:tgtEl>
                                          <p:spTgt spid="25"/>
                                        </p:tgtEl>
                                        <p:attrNameLst>
                                          <p:attrName>style.visibility</p:attrName>
                                        </p:attrNameLst>
                                      </p:cBhvr>
                                      <p:to>
                                        <p:strVal val="visible"/>
                                      </p:to>
                                    </p:set>
                                    <p:animEffect transition="in" filter="fade">
                                      <p:cBhvr>
                                        <p:cTn id="34" dur="400"/>
                                        <p:tgtEl>
                                          <p:spTgt spid="25"/>
                                        </p:tgtEl>
                                      </p:cBhvr>
                                    </p:animEffect>
                                  </p:childTnLst>
                                </p:cTn>
                              </p:par>
                            </p:childTnLst>
                          </p:cTn>
                        </p:par>
                      </p:childTnLst>
                    </p:cTn>
                  </p:par>
                  <p:par>
                    <p:cTn id="35" fill="hold">
                      <p:stCondLst>
                        <p:cond delay="indefinite"/>
                      </p:stCondLst>
                      <p:childTnLst>
                        <p:par>
                          <p:cTn id="36" fill="hold">
                            <p:stCondLst>
                              <p:cond delay="0"/>
                            </p:stCondLst>
                            <p:childTnLst>
                              <p:par>
                                <p:cTn id="37" presetID="10" presetClass="entr" presetSubtype="0" fill="hold" nodeType="clickEffect">
                                  <p:stCondLst>
                                    <p:cond delay="0"/>
                                  </p:stCondLst>
                                  <p:childTnLst>
                                    <p:set>
                                      <p:cBhvr>
                                        <p:cTn id="38" dur="1" fill="hold">
                                          <p:stCondLst>
                                            <p:cond delay="0"/>
                                          </p:stCondLst>
                                        </p:cTn>
                                        <p:tgtEl>
                                          <p:spTgt spid="26"/>
                                        </p:tgtEl>
                                        <p:attrNameLst>
                                          <p:attrName>style.visibility</p:attrName>
                                        </p:attrNameLst>
                                      </p:cBhvr>
                                      <p:to>
                                        <p:strVal val="visible"/>
                                      </p:to>
                                    </p:set>
                                    <p:animEffect transition="in" filter="fade">
                                      <p:cBhvr>
                                        <p:cTn id="39" dur="400"/>
                                        <p:tgtEl>
                                          <p:spTgt spid="26"/>
                                        </p:tgtEl>
                                      </p:cBhvr>
                                    </p:animEffect>
                                  </p:childTnLst>
                                </p:cTn>
                              </p:par>
                              <p:par>
                                <p:cTn id="40" presetID="10" presetClass="entr" presetSubtype="0" fill="hold" nodeType="withEffect">
                                  <p:stCondLst>
                                    <p:cond delay="0"/>
                                  </p:stCondLst>
                                  <p:childTnLst>
                                    <p:set>
                                      <p:cBhvr>
                                        <p:cTn id="41" dur="1" fill="hold">
                                          <p:stCondLst>
                                            <p:cond delay="0"/>
                                          </p:stCondLst>
                                        </p:cTn>
                                        <p:tgtEl>
                                          <p:spTgt spid="27"/>
                                        </p:tgtEl>
                                        <p:attrNameLst>
                                          <p:attrName>style.visibility</p:attrName>
                                        </p:attrNameLst>
                                      </p:cBhvr>
                                      <p:to>
                                        <p:strVal val="visible"/>
                                      </p:to>
                                    </p:set>
                                    <p:animEffect transition="in" filter="fade">
                                      <p:cBhvr>
                                        <p:cTn id="42" dur="400"/>
                                        <p:tgtEl>
                                          <p:spTgt spid="27"/>
                                        </p:tgtEl>
                                      </p:cBhvr>
                                    </p:animEffect>
                                  </p:childTnLst>
                                </p:cTn>
                              </p:par>
                            </p:childTnLst>
                          </p:cTn>
                        </p:par>
                      </p:childTnLst>
                    </p:cTn>
                  </p:par>
                  <p:par>
                    <p:cTn id="43" fill="hold">
                      <p:stCondLst>
                        <p:cond delay="indefinite"/>
                      </p:stCondLst>
                      <p:childTnLst>
                        <p:par>
                          <p:cTn id="44" fill="hold">
                            <p:stCondLst>
                              <p:cond delay="0"/>
                            </p:stCondLst>
                            <p:childTnLst>
                              <p:par>
                                <p:cTn id="45" presetID="10" presetClass="entr" presetSubtype="0" fill="hold" nodeType="clickEffect">
                                  <p:stCondLst>
                                    <p:cond delay="0"/>
                                  </p:stCondLst>
                                  <p:childTnLst>
                                    <p:set>
                                      <p:cBhvr>
                                        <p:cTn id="46" dur="1" fill="hold">
                                          <p:stCondLst>
                                            <p:cond delay="0"/>
                                          </p:stCondLst>
                                        </p:cTn>
                                        <p:tgtEl>
                                          <p:spTgt spid="28"/>
                                        </p:tgtEl>
                                        <p:attrNameLst>
                                          <p:attrName>style.visibility</p:attrName>
                                        </p:attrNameLst>
                                      </p:cBhvr>
                                      <p:to>
                                        <p:strVal val="visible"/>
                                      </p:to>
                                    </p:set>
                                    <p:animEffect transition="in" filter="fade">
                                      <p:cBhvr>
                                        <p:cTn id="47" dur="400"/>
                                        <p:tgtEl>
                                          <p:spTgt spid="28"/>
                                        </p:tgtEl>
                                      </p:cBhvr>
                                    </p:animEffect>
                                  </p:childTnLst>
                                </p:cTn>
                              </p:par>
                              <p:par>
                                <p:cTn id="48" presetID="10" presetClass="entr" presetSubtype="0" fill="hold" nodeType="withEffect">
                                  <p:stCondLst>
                                    <p:cond delay="0"/>
                                  </p:stCondLst>
                                  <p:childTnLst>
                                    <p:set>
                                      <p:cBhvr>
                                        <p:cTn id="49" dur="1" fill="hold">
                                          <p:stCondLst>
                                            <p:cond delay="0"/>
                                          </p:stCondLst>
                                        </p:cTn>
                                        <p:tgtEl>
                                          <p:spTgt spid="29"/>
                                        </p:tgtEl>
                                        <p:attrNameLst>
                                          <p:attrName>style.visibility</p:attrName>
                                        </p:attrNameLst>
                                      </p:cBhvr>
                                      <p:to>
                                        <p:strVal val="visible"/>
                                      </p:to>
                                    </p:set>
                                    <p:animEffect transition="in" filter="fade">
                                      <p:cBhvr>
                                        <p:cTn id="50" dur="400"/>
                                        <p:tgtEl>
                                          <p:spTgt spid="2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9.xml><?xml version="1.0" encoding="utf-8"?>
<p:sld xmlns:a="http://schemas.openxmlformats.org/drawingml/2006/main" xmlns:r="http://schemas.openxmlformats.org/officeDocument/2006/relationships" xmlns:p="http://schemas.openxmlformats.org/presentationml/2006/main">
  <p:cSld name="Slide 19">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532"/>
          <p:cNvSpPr/>
          <p:nvPr/>
        </p:nvSpPr>
        <p:spPr>
          <a:xfrm>
            <a:off x="201168" y="164592"/>
            <a:ext cx="841248" cy="841248"/>
          </a:xfrm>
          <a:prstGeom prst="ellipse">
            <a:avLst/>
          </a:prstGeom>
          <a:solidFill>
            <a:srgbClr val="E8508F"/>
          </a:solidFill>
          <a:ln w="28575">
            <a:solidFill>
              <a:srgbClr val="F7A6C4"/>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19</a:t>
            </a:r>
            <a:endParaRPr lang="en-US" sz="2200" dirty="0"/>
          </a:p>
        </p:txBody>
      </p:sp>
      <p:pic>
        <p:nvPicPr>
          <p:cNvPr id="4" name="brY_533" descr="/home/claude/lls-course/v2/assets/brush-yellow.png">    </p:cNvPr>
          <p:cNvPicPr>
            <a:picLocks noChangeAspect="1"/>
          </p:cNvPicPr>
          <p:nvPr/>
        </p:nvPicPr>
        <p:blipFill>
          <a:blip r:embed="rId2"/>
          <a:stretch>
            <a:fillRect/>
          </a:stretch>
        </p:blipFill>
        <p:spPr>
          <a:xfrm>
            <a:off x="1097280" y="146304"/>
            <a:ext cx="3247949" cy="621792"/>
          </a:xfrm>
          <a:prstGeom prst="rect">
            <a:avLst/>
          </a:prstGeom>
        </p:spPr>
      </p:pic>
      <p:sp>
        <p:nvSpPr>
          <p:cNvPr id="5" name="title_534"/>
          <p:cNvSpPr/>
          <p:nvPr/>
        </p:nvSpPr>
        <p:spPr>
          <a:xfrm>
            <a:off x="1261872" y="164592"/>
            <a:ext cx="2973629"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Fix the article!</a:t>
            </a:r>
            <a:endParaRPr lang="en-US" sz="2500" dirty="0"/>
          </a:p>
        </p:txBody>
      </p:sp>
      <p:pic>
        <p:nvPicPr>
          <p:cNvPr id="6" name="brP_535" descr="/home/claude/lls-course/v2/assets/brush-pink.png">    </p:cNvPr>
          <p:cNvPicPr>
            <a:picLocks noChangeAspect="1"/>
          </p:cNvPicPr>
          <p:nvPr/>
        </p:nvPicPr>
        <p:blipFill>
          <a:blip r:embed="rId3"/>
          <a:stretch>
            <a:fillRect/>
          </a:stretch>
        </p:blipFill>
        <p:spPr>
          <a:xfrm>
            <a:off x="1207008" y="731520"/>
            <a:ext cx="2903220" cy="402336"/>
          </a:xfrm>
          <a:prstGeom prst="rect">
            <a:avLst/>
          </a:prstGeom>
        </p:spPr>
      </p:pic>
      <p:sp>
        <p:nvSpPr>
          <p:cNvPr id="7" name="ins_536"/>
          <p:cNvSpPr/>
          <p:nvPr/>
        </p:nvSpPr>
        <p:spPr>
          <a:xfrm>
            <a:off x="1353312" y="731520"/>
            <a:ext cx="2647188"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Find the mistake. Fix it!</a:t>
            </a:r>
            <a:endParaRPr lang="en-US" sz="1250" dirty="0"/>
          </a:p>
        </p:txBody>
      </p:sp>
      <p:sp>
        <p:nvSpPr>
          <p:cNvPr id="8" name="insIT_537"/>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Trova l'errore. Correggilo!</a:t>
            </a:r>
            <a:endParaRPr lang="en-US" sz="950" dirty="0"/>
          </a:p>
        </p:txBody>
      </p:sp>
      <p:sp>
        <p:nvSpPr>
          <p:cNvPr id="9" name="note_538"/>
          <p:cNvSpPr/>
          <p:nvPr/>
        </p:nvSpPr>
        <p:spPr>
          <a:xfrm rot="180000">
            <a:off x="6382512" y="128016"/>
            <a:ext cx="2029968" cy="1024128"/>
          </a:xfrm>
          <a:prstGeom prst="rect">
            <a:avLst/>
          </a:prstGeom>
          <a:solidFill>
            <a:srgbClr val="FFC2DA"/>
          </a:solidFill>
          <a:ln>
            <a:solidFill>
              <a:srgbClr val="FFC2DA"/>
            </a:solidFill>
          </a:ln>
          <a:effectLst>
            <a:outerShdw sx="100000" sy="100000" kx="0" ky="0" algn="bl" rotWithShape="0" blurRad="88900" dist="31750" dir="5400000">
              <a:srgbClr val="1B2559">
                <a:alpha val="15000"/>
              </a:srgbClr>
            </a:outerShdw>
          </a:effectLst>
        </p:spPr>
        <p:txBody>
          <a:bodyPr wrap="square" lIns="50800" tIns="50800" rIns="50800" bIns="50800" rtlCol="0" anchor="ctr">
            <a:normAutofit/>
          </a:bodyPr>
          <a:lstStyle/>
          <a:p>
            <a:pPr algn="ctr" indent="0" marL="0">
              <a:buNone/>
            </a:pPr>
            <a:r>
              <a:rPr lang="en-US" sz="1250" dirty="0">
                <a:solidFill>
                  <a:srgbClr val="1B2559"/>
                </a:solidFill>
                <a:latin typeface="Arial Rounded MT Bold" pitchFamily="34" charset="0"/>
                <a:ea typeface="Arial Rounded MT Bold" pitchFamily="34" charset="-122"/>
                <a:cs typeface="Arial Rounded MT Bold" pitchFamily="34" charset="-120"/>
              </a:rPr>
              <a:t>🎲 PLAY</a:t>
            </a:r>
            <a:pPr algn="ctr" indent="0" marL="0">
              <a:buNone/>
            </a:pPr>
            <a:r>
              <a:rPr lang="en-US" sz="1250" dirty="0">
                <a:solidFill>
                  <a:srgbClr val="1B2559"/>
                </a:solidFill>
                <a:latin typeface="Arial Rounded MT Bold" pitchFamily="34" charset="0"/>
                <a:ea typeface="Arial Rounded MT Bold" pitchFamily="34" charset="-122"/>
                <a:cs typeface="Arial Rounded MT Bold" pitchFamily="34" charset="-120"/>
              </a:rPr>
              <a:t> · GIOCA</a:t>
            </a:r>
            <a:endParaRPr lang="en-US" sz="1250" dirty="0"/>
          </a:p>
          <a:p>
            <a:pPr algn="ctr" indent="0" marL="0">
              <a:buNone/>
            </a:pPr>
            <a:r>
              <a:rPr lang="en-US" sz="1100" dirty="0">
                <a:solidFill>
                  <a:srgbClr val="1B2559"/>
                </a:solidFill>
                <a:latin typeface="Segoe UI Semibold" pitchFamily="34" charset="0"/>
                <a:ea typeface="Segoe UI Semibold" pitchFamily="34" charset="-122"/>
                <a:cs typeface="Segoe UI Semibold" pitchFamily="34" charset="-120"/>
              </a:rPr>
              <a:t>⏱ 4 min   🏆 teams</a:t>
            </a:r>
            <a:endParaRPr lang="en-US" sz="1250" dirty="0"/>
          </a:p>
          <a:p>
            <a:pPr algn="ctr" indent="0" marL="0">
              <a:buNone/>
            </a:pPr>
            <a:r>
              <a:rPr lang="en-US" sz="900" dirty="0">
                <a:solidFill>
                  <a:srgbClr val="5B6785"/>
                </a:solidFill>
                <a:latin typeface="Segoe UI Semibold" pitchFamily="34" charset="0"/>
                <a:ea typeface="Segoe UI Semibold" pitchFamily="34" charset="-122"/>
                <a:cs typeface="Segoe UI Semibold" pitchFamily="34" charset="-120"/>
              </a:rPr>
              <a:t>🎯 Grammar · Communicative game</a:t>
            </a:r>
            <a:endParaRPr lang="en-US" sz="1250" dirty="0"/>
          </a:p>
        </p:txBody>
      </p:sp>
      <p:pic>
        <p:nvPicPr>
          <p:cNvPr id="10" name="logo_539"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1" name="foot_540"/>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3B-1 · Grammar game</a:t>
            </a:r>
            <a:endParaRPr lang="en-US" sz="800" dirty="0"/>
          </a:p>
        </p:txBody>
      </p:sp>
      <p:sp>
        <p:nvSpPr>
          <p:cNvPr id="12" name="cd_541"/>
          <p:cNvSpPr/>
          <p:nvPr/>
        </p:nvSpPr>
        <p:spPr>
          <a:xfrm>
            <a:off x="320040" y="1417320"/>
            <a:ext cx="2697480" cy="2514600"/>
          </a:xfrm>
          <a:prstGeom prst="roundRect">
            <a:avLst>
              <a:gd name="adj" fmla="val 5091"/>
            </a:avLst>
          </a:prstGeom>
          <a:solidFill>
            <a:srgbClr val="EEE8FB"/>
          </a:solidFill>
          <a:ln w="28575">
            <a:solidFill>
              <a:srgbClr val="CDBFF3"/>
            </a:solidFill>
            <a:prstDash val="solid"/>
          </a:ln>
          <a:effectLst>
            <a:outerShdw sx="100000" sy="100000" kx="0" ky="0" algn="bl" rotWithShape="0" blurRad="88900" dist="31750" dir="5400000">
              <a:srgbClr val="1B2559">
                <a:alpha val="12000"/>
              </a:srgbClr>
            </a:outerShdw>
          </a:effectLst>
        </p:spPr>
      </p:sp>
      <p:sp>
        <p:nvSpPr>
          <p:cNvPr id="13" name="ii_542"/>
          <p:cNvSpPr/>
          <p:nvPr/>
        </p:nvSpPr>
        <p:spPr>
          <a:xfrm>
            <a:off x="411480" y="149047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4" name="ih_543"/>
          <p:cNvSpPr/>
          <p:nvPr/>
        </p:nvSpPr>
        <p:spPr>
          <a:xfrm>
            <a:off x="886968" y="1508760"/>
            <a:ext cx="2057400" cy="365760"/>
          </a:xfrm>
          <a:prstGeom prst="rect">
            <a:avLst/>
          </a:prstGeom>
          <a:noFill/>
          <a:ln/>
        </p:spPr>
        <p:txBody>
          <a:bodyPr wrap="square" lIns="0" tIns="0" rIns="0" bIns="0" rtlCol="0" anchor="ctr"/>
          <a:lstStyle/>
          <a:p>
            <a:pPr indent="0" marL="0">
              <a:buNone/>
            </a:pPr>
            <a:r>
              <a:rPr lang="en-US" sz="1400" dirty="0">
                <a:solidFill>
                  <a:srgbClr val="1B2559"/>
                </a:solidFill>
                <a:latin typeface="Arial Rounded MT Bold" pitchFamily="34" charset="0"/>
                <a:ea typeface="Arial Rounded MT Bold" pitchFamily="34" charset="-122"/>
                <a:cs typeface="Arial Rounded MT Bold" pitchFamily="34" charset="-120"/>
              </a:rPr>
              <a:t>How to play</a:t>
            </a:r>
            <a:endParaRPr lang="en-US" sz="1400" dirty="0"/>
          </a:p>
        </p:txBody>
      </p:sp>
      <p:sp>
        <p:nvSpPr>
          <p:cNvPr id="15" name="il_544"/>
          <p:cNvSpPr/>
          <p:nvPr/>
        </p:nvSpPr>
        <p:spPr>
          <a:xfrm>
            <a:off x="886968" y="1911096"/>
            <a:ext cx="2039112" cy="1947672"/>
          </a:xfrm>
          <a:prstGeom prst="rect">
            <a:avLst/>
          </a:prstGeom>
          <a:noFill/>
          <a:ln/>
        </p:spPr>
        <p:txBody>
          <a:bodyPr wrap="square" lIns="0" tIns="0" rIns="0" bIns="0" rtlCol="0" anchor="t">
            <a:normAutofit/>
          </a:bodyPr>
          <a:lstStyle/>
          <a:p>
            <a:pPr marL="152400" indent="-152400">
              <a:spcAft>
                <a:spcPts val="200"/>
              </a:spcAft>
              <a:buSzPct val="100000"/>
              <a:buChar char="•"/>
            </a:pPr>
            <a:r>
              <a:rPr lang="en-US" sz="1200" dirty="0">
                <a:solidFill>
                  <a:srgbClr val="1B2559"/>
                </a:solidFill>
                <a:latin typeface="Segoe UI Semibold" pitchFamily="34" charset="0"/>
                <a:ea typeface="Segoe UI Semibold" pitchFamily="34" charset="-122"/>
                <a:cs typeface="Segoe UI Semibold" pitchFamily="34" charset="-120"/>
              </a:rPr>
              <a:t>Read the sentence.</a:t>
            </a:r>
            <a:endParaRPr lang="en-US" sz="1200" dirty="0"/>
          </a:p>
          <a:p>
            <a:pPr marL="152400" indent="-152400">
              <a:spcAft>
                <a:spcPts val="200"/>
              </a:spcAft>
              <a:buSzPct val="100000"/>
              <a:buChar char=" "/>
            </a:pPr>
            <a:r>
              <a:rPr lang="en-US" sz="1200" dirty="0">
                <a:solidFill>
                  <a:srgbClr val="5B6785"/>
                </a:solidFill>
                <a:latin typeface="Segoe UI Semibold" pitchFamily="34" charset="0"/>
                <a:ea typeface="Segoe UI Semibold" pitchFamily="34" charset="-122"/>
                <a:cs typeface="Segoe UI Semibold" pitchFamily="34" charset="-120"/>
              </a:rPr>
              <a:t>Leggi la frase.</a:t>
            </a:r>
            <a:endParaRPr lang="en-US" sz="1200" dirty="0"/>
          </a:p>
          <a:p>
            <a:pPr marL="152400" indent="-152400">
              <a:spcBef>
                <a:spcPts val="600"/>
              </a:spcBef>
              <a:spcAft>
                <a:spcPts val="200"/>
              </a:spcAft>
              <a:buSzPct val="100000"/>
              <a:buChar char="•"/>
            </a:pPr>
            <a:r>
              <a:rPr lang="en-US" sz="1200" dirty="0">
                <a:solidFill>
                  <a:srgbClr val="1B2559"/>
                </a:solidFill>
                <a:latin typeface="Segoe UI Semibold" pitchFamily="34" charset="0"/>
                <a:ea typeface="Segoe UI Semibold" pitchFamily="34" charset="-122"/>
                <a:cs typeface="Segoe UI Semibold" pitchFamily="34" charset="-120"/>
              </a:rPr>
              <a:t>Teams: find the article mistake.</a:t>
            </a:r>
            <a:endParaRPr lang="en-US" sz="1200" dirty="0"/>
          </a:p>
          <a:p>
            <a:pPr marL="152400" indent="-152400">
              <a:spcAft>
                <a:spcPts val="200"/>
              </a:spcAft>
              <a:buSzPct val="100000"/>
              <a:buChar char=" "/>
            </a:pPr>
            <a:r>
              <a:rPr lang="en-US" sz="1200" dirty="0">
                <a:solidFill>
                  <a:srgbClr val="5B6785"/>
                </a:solidFill>
                <a:latin typeface="Segoe UI Semibold" pitchFamily="34" charset="0"/>
                <a:ea typeface="Segoe UI Semibold" pitchFamily="34" charset="-122"/>
                <a:cs typeface="Segoe UI Semibold" pitchFamily="34" charset="-120"/>
              </a:rPr>
              <a:t>Squadre: trovate l'errore.</a:t>
            </a:r>
            <a:endParaRPr lang="en-US" sz="1200" dirty="0"/>
          </a:p>
          <a:p>
            <a:pPr marL="152400" indent="-152400">
              <a:spcBef>
                <a:spcPts val="600"/>
              </a:spcBef>
              <a:spcAft>
                <a:spcPts val="200"/>
              </a:spcAft>
              <a:buSzPct val="100000"/>
              <a:buChar char="•"/>
            </a:pPr>
            <a:r>
              <a:rPr lang="en-US" sz="1200" dirty="0">
                <a:solidFill>
                  <a:srgbClr val="1B2559"/>
                </a:solidFill>
                <a:latin typeface="Segoe UI Semibold" pitchFamily="34" charset="0"/>
                <a:ea typeface="Segoe UI Semibold" pitchFamily="34" charset="-122"/>
                <a:cs typeface="Segoe UI Semibold" pitchFamily="34" charset="-120"/>
              </a:rPr>
              <a:t>Say it correctly = 1 point.</a:t>
            </a:r>
            <a:endParaRPr lang="en-US" sz="1200" dirty="0"/>
          </a:p>
          <a:p>
            <a:pPr marL="152400" indent="-152400">
              <a:spcAft>
                <a:spcPts val="200"/>
              </a:spcAft>
              <a:buSzPct val="100000"/>
              <a:buChar char=" "/>
            </a:pPr>
            <a:r>
              <a:rPr lang="en-US" sz="1200" dirty="0">
                <a:solidFill>
                  <a:srgbClr val="5B6785"/>
                </a:solidFill>
                <a:latin typeface="Segoe UI Semibold" pitchFamily="34" charset="0"/>
                <a:ea typeface="Segoe UI Semibold" pitchFamily="34" charset="-122"/>
                <a:cs typeface="Segoe UI Semibold" pitchFamily="34" charset="-120"/>
              </a:rPr>
              <a:t>Dite la frase giusta = 1 punto.</a:t>
            </a:r>
            <a:endParaRPr lang="en-US" sz="1200" dirty="0"/>
          </a:p>
        </p:txBody>
      </p:sp>
      <p:sp>
        <p:nvSpPr>
          <p:cNvPr id="16" name="pf_545"/>
          <p:cNvSpPr/>
          <p:nvPr/>
        </p:nvSpPr>
        <p:spPr>
          <a:xfrm rot="-120000">
            <a:off x="810296" y="4069080"/>
            <a:ext cx="1671248" cy="1143000"/>
          </a:xfrm>
          <a:prstGeom prst="roundRect">
            <a:avLst>
              <a:gd name="adj" fmla="val 13600"/>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17" name="ph_546" descr="/home/claude/lls-course/v2/cache/3b1_cats_jpg_380x253_31.png">    </p:cNvPr>
          <p:cNvPicPr>
            <a:picLocks noChangeAspect="1"/>
          </p:cNvPicPr>
          <p:nvPr/>
        </p:nvPicPr>
        <p:blipFill>
          <a:blip r:embed="rId5"/>
          <a:stretch>
            <a:fillRect/>
          </a:stretch>
        </p:blipFill>
        <p:spPr>
          <a:xfrm rot="-120000">
            <a:off x="856016" y="4114800"/>
            <a:ext cx="1579808" cy="1051560"/>
          </a:xfrm>
          <a:prstGeom prst="rect">
            <a:avLst/>
          </a:prstGeom>
        </p:spPr>
      </p:pic>
      <p:sp>
        <p:nvSpPr>
          <p:cNvPr id="18" name="bd_547"/>
          <p:cNvSpPr/>
          <p:nvPr/>
        </p:nvSpPr>
        <p:spPr>
          <a:xfrm>
            <a:off x="3246120" y="1491234"/>
            <a:ext cx="329184" cy="329184"/>
          </a:xfrm>
          <a:prstGeom prst="ellipse">
            <a:avLst/>
          </a:prstGeom>
          <a:solidFill>
            <a:srgbClr val="7B5CD6"/>
          </a:solidFill>
          <a:ln w="28575">
            <a:solidFill>
              <a:srgbClr val="CDBFF3"/>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500" dirty="0">
                <a:solidFill>
                  <a:srgbClr val="FFFFFF"/>
                </a:solidFill>
                <a:latin typeface="Arial Rounded MT Bold" pitchFamily="34" charset="0"/>
                <a:ea typeface="Arial Rounded MT Bold" pitchFamily="34" charset="-122"/>
                <a:cs typeface="Arial Rounded MT Bold" pitchFamily="34" charset="-120"/>
              </a:rPr>
              <a:t>e.g.</a:t>
            </a:r>
            <a:endParaRPr lang="en-US" sz="500" dirty="0"/>
          </a:p>
        </p:txBody>
      </p:sp>
      <p:sp>
        <p:nvSpPr>
          <p:cNvPr id="19" name="gq_548"/>
          <p:cNvSpPr/>
          <p:nvPr/>
        </p:nvSpPr>
        <p:spPr>
          <a:xfrm>
            <a:off x="3657600" y="1417320"/>
            <a:ext cx="2514600" cy="477012"/>
          </a:xfrm>
          <a:prstGeom prst="roundRect">
            <a:avLst>
              <a:gd name="adj" fmla="val 19169"/>
            </a:avLst>
          </a:prstGeom>
          <a:solidFill>
            <a:srgbClr val="EEE8FB"/>
          </a:solidFill>
          <a:ln w="28575">
            <a:solidFill>
              <a:srgbClr val="CDBFF3"/>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The cats are more independent than the dogs.</a:t>
            </a:r>
            <a:endParaRPr lang="en-US" sz="1200" dirty="0"/>
          </a:p>
        </p:txBody>
      </p:sp>
      <p:sp>
        <p:nvSpPr>
          <p:cNvPr id="20" name="chip_549"/>
          <p:cNvSpPr/>
          <p:nvPr/>
        </p:nvSpPr>
        <p:spPr>
          <a:xfrm>
            <a:off x="6263640" y="1417320"/>
            <a:ext cx="2560320" cy="477012"/>
          </a:xfrm>
          <a:prstGeom prst="roundRect">
            <a:avLst>
              <a:gd name="adj" fmla="val 19169"/>
            </a:avLst>
          </a:prstGeom>
          <a:solidFill>
            <a:srgbClr val="EEE8FB"/>
          </a:solidFill>
          <a:ln w="28575">
            <a:solidFill>
              <a:srgbClr val="CDBFF3"/>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 Cats are more independent than dogs.</a:t>
            </a:r>
            <a:endParaRPr lang="en-US" sz="1200" dirty="0"/>
          </a:p>
        </p:txBody>
      </p:sp>
      <p:sp>
        <p:nvSpPr>
          <p:cNvPr id="21" name="bd_550"/>
          <p:cNvSpPr/>
          <p:nvPr/>
        </p:nvSpPr>
        <p:spPr>
          <a:xfrm>
            <a:off x="3246120" y="2032254"/>
            <a:ext cx="329184" cy="329184"/>
          </a:xfrm>
          <a:prstGeom prst="ellipse">
            <a:avLst/>
          </a:prstGeom>
          <a:solidFill>
            <a:srgbClr val="E8508F"/>
          </a:solidFill>
          <a:ln w="28575">
            <a:solidFill>
              <a:srgbClr val="F7A6C4"/>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1</a:t>
            </a:r>
            <a:endParaRPr lang="en-US" sz="1100" dirty="0"/>
          </a:p>
        </p:txBody>
      </p:sp>
      <p:sp>
        <p:nvSpPr>
          <p:cNvPr id="22" name="gq_551"/>
          <p:cNvSpPr/>
          <p:nvPr/>
        </p:nvSpPr>
        <p:spPr>
          <a:xfrm>
            <a:off x="3657600" y="1958340"/>
            <a:ext cx="2514600" cy="477012"/>
          </a:xfrm>
          <a:prstGeom prst="roundRect">
            <a:avLst>
              <a:gd name="adj" fmla="val 19169"/>
            </a:avLst>
          </a:prstGeom>
          <a:solidFill>
            <a:srgbClr val="FFFFFF"/>
          </a:solidFill>
          <a:ln w="28575">
            <a:solidFill>
              <a:srgbClr val="F7A6C4"/>
            </a:solidFill>
          </a:ln>
        </p:spPr>
        <p:txBody>
          <a:bodyPr wrap="square" lIns="101600" tIns="0" rIns="101600" bIns="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My brother is nurse.</a:t>
            </a:r>
            <a:endParaRPr lang="en-US" sz="1250" dirty="0"/>
          </a:p>
        </p:txBody>
      </p:sp>
      <p:sp>
        <p:nvSpPr>
          <p:cNvPr id="23" name="R1_chip552"/>
          <p:cNvSpPr/>
          <p:nvPr/>
        </p:nvSpPr>
        <p:spPr>
          <a:xfrm>
            <a:off x="6263640" y="1958340"/>
            <a:ext cx="2560320" cy="477012"/>
          </a:xfrm>
          <a:prstGeom prst="roundRect">
            <a:avLst>
              <a:gd name="adj" fmla="val 19169"/>
            </a:avLst>
          </a:prstGeom>
          <a:solidFill>
            <a:srgbClr val="FFE3EE"/>
          </a:solidFill>
          <a:ln w="28575">
            <a:solidFill>
              <a:srgbClr val="F7A6C4"/>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 My brother is a nurse.</a:t>
            </a:r>
            <a:endParaRPr lang="en-US" sz="1200" dirty="0"/>
          </a:p>
        </p:txBody>
      </p:sp>
      <p:sp>
        <p:nvSpPr>
          <p:cNvPr id="24" name="bd_553"/>
          <p:cNvSpPr/>
          <p:nvPr/>
        </p:nvSpPr>
        <p:spPr>
          <a:xfrm>
            <a:off x="3246120" y="2573274"/>
            <a:ext cx="329184" cy="329184"/>
          </a:xfrm>
          <a:prstGeom prst="ellipse">
            <a:avLst/>
          </a:prstGeom>
          <a:solidFill>
            <a:srgbClr val="2F8DE4"/>
          </a:solidFill>
          <a:ln w="28575">
            <a:solidFill>
              <a:srgbClr val="A9D3F5"/>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2</a:t>
            </a:r>
            <a:endParaRPr lang="en-US" sz="1100" dirty="0"/>
          </a:p>
        </p:txBody>
      </p:sp>
      <p:sp>
        <p:nvSpPr>
          <p:cNvPr id="25" name="gq_554"/>
          <p:cNvSpPr/>
          <p:nvPr/>
        </p:nvSpPr>
        <p:spPr>
          <a:xfrm>
            <a:off x="3657600" y="2499360"/>
            <a:ext cx="2514600" cy="477012"/>
          </a:xfrm>
          <a:prstGeom prst="roundRect">
            <a:avLst>
              <a:gd name="adj" fmla="val 19169"/>
            </a:avLst>
          </a:prstGeom>
          <a:solidFill>
            <a:srgbClr val="FFFFFF"/>
          </a:solidFill>
          <a:ln w="28575">
            <a:solidFill>
              <a:srgbClr val="A9D3F5"/>
            </a:solidFill>
          </a:ln>
        </p:spPr>
        <p:txBody>
          <a:bodyPr wrap="square" lIns="101600" tIns="0" rIns="101600" bIns="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Look at moon! It's beautiful.</a:t>
            </a:r>
            <a:endParaRPr lang="en-US" sz="1250" dirty="0"/>
          </a:p>
        </p:txBody>
      </p:sp>
      <p:sp>
        <p:nvSpPr>
          <p:cNvPr id="26" name="R2_chip555"/>
          <p:cNvSpPr/>
          <p:nvPr/>
        </p:nvSpPr>
        <p:spPr>
          <a:xfrm>
            <a:off x="6263640" y="2499360"/>
            <a:ext cx="2560320" cy="477012"/>
          </a:xfrm>
          <a:prstGeom prst="roundRect">
            <a:avLst>
              <a:gd name="adj" fmla="val 19169"/>
            </a:avLst>
          </a:prstGeom>
          <a:solidFill>
            <a:srgbClr val="FFE3EE"/>
          </a:solidFill>
          <a:ln w="28575">
            <a:solidFill>
              <a:srgbClr val="F7A6C4"/>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 Look at the moon!</a:t>
            </a:r>
            <a:endParaRPr lang="en-US" sz="1200" dirty="0"/>
          </a:p>
        </p:txBody>
      </p:sp>
      <p:sp>
        <p:nvSpPr>
          <p:cNvPr id="27" name="bd_556"/>
          <p:cNvSpPr/>
          <p:nvPr/>
        </p:nvSpPr>
        <p:spPr>
          <a:xfrm>
            <a:off x="3246120" y="3114294"/>
            <a:ext cx="329184" cy="329184"/>
          </a:xfrm>
          <a:prstGeom prst="ellipse">
            <a:avLst/>
          </a:prstGeom>
          <a:solidFill>
            <a:srgbClr val="2EB872"/>
          </a:solidFill>
          <a:ln w="28575">
            <a:solidFill>
              <a:srgbClr val="A8E5BE"/>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3</a:t>
            </a:r>
            <a:endParaRPr lang="en-US" sz="1100" dirty="0"/>
          </a:p>
        </p:txBody>
      </p:sp>
      <p:sp>
        <p:nvSpPr>
          <p:cNvPr id="28" name="gq_557"/>
          <p:cNvSpPr/>
          <p:nvPr/>
        </p:nvSpPr>
        <p:spPr>
          <a:xfrm>
            <a:off x="3657600" y="3040380"/>
            <a:ext cx="2514600" cy="477012"/>
          </a:xfrm>
          <a:prstGeom prst="roundRect">
            <a:avLst>
              <a:gd name="adj" fmla="val 19169"/>
            </a:avLst>
          </a:prstGeom>
          <a:solidFill>
            <a:srgbClr val="FFFFFF"/>
          </a:solidFill>
          <a:ln w="28575">
            <a:solidFill>
              <a:srgbClr val="A8E5BE"/>
            </a:solidFill>
          </a:ln>
        </p:spPr>
        <p:txBody>
          <a:bodyPr wrap="square" lIns="101600" tIns="0" rIns="101600" bIns="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She's not at the home today.</a:t>
            </a:r>
            <a:endParaRPr lang="en-US" sz="1250" dirty="0"/>
          </a:p>
        </p:txBody>
      </p:sp>
      <p:sp>
        <p:nvSpPr>
          <p:cNvPr id="29" name="R3_chip558"/>
          <p:cNvSpPr/>
          <p:nvPr/>
        </p:nvSpPr>
        <p:spPr>
          <a:xfrm>
            <a:off x="6263640" y="3040380"/>
            <a:ext cx="2560320" cy="477012"/>
          </a:xfrm>
          <a:prstGeom prst="roundRect">
            <a:avLst>
              <a:gd name="adj" fmla="val 19169"/>
            </a:avLst>
          </a:prstGeom>
          <a:solidFill>
            <a:srgbClr val="FFE3EE"/>
          </a:solidFill>
          <a:ln w="28575">
            <a:solidFill>
              <a:srgbClr val="F7A6C4"/>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 She's not at home today.</a:t>
            </a:r>
            <a:endParaRPr lang="en-US" sz="1200" dirty="0"/>
          </a:p>
        </p:txBody>
      </p:sp>
      <p:sp>
        <p:nvSpPr>
          <p:cNvPr id="30" name="bd_559"/>
          <p:cNvSpPr/>
          <p:nvPr/>
        </p:nvSpPr>
        <p:spPr>
          <a:xfrm>
            <a:off x="3246120" y="3655314"/>
            <a:ext cx="329184" cy="329184"/>
          </a:xfrm>
          <a:prstGeom prst="ellipse">
            <a:avLst/>
          </a:prstGeom>
          <a:solidFill>
            <a:srgbClr val="F2B705"/>
          </a:solidFill>
          <a:ln w="28575">
            <a:solidFill>
              <a:srgbClr val="FFE07A"/>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4</a:t>
            </a:r>
            <a:endParaRPr lang="en-US" sz="1100" dirty="0"/>
          </a:p>
        </p:txBody>
      </p:sp>
      <p:sp>
        <p:nvSpPr>
          <p:cNvPr id="31" name="gq_560"/>
          <p:cNvSpPr/>
          <p:nvPr/>
        </p:nvSpPr>
        <p:spPr>
          <a:xfrm>
            <a:off x="3657600" y="3581400"/>
            <a:ext cx="2514600" cy="477012"/>
          </a:xfrm>
          <a:prstGeom prst="roundRect">
            <a:avLst>
              <a:gd name="adj" fmla="val 19169"/>
            </a:avLst>
          </a:prstGeom>
          <a:solidFill>
            <a:srgbClr val="FFFFFF"/>
          </a:solidFill>
          <a:ln w="28575">
            <a:solidFill>
              <a:srgbClr val="FFE07A"/>
            </a:solidFill>
          </a:ln>
        </p:spPr>
        <p:txBody>
          <a:bodyPr wrap="square" lIns="101600" tIns="0" rIns="101600" bIns="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What amazing joke!</a:t>
            </a:r>
            <a:endParaRPr lang="en-US" sz="1250" dirty="0"/>
          </a:p>
        </p:txBody>
      </p:sp>
      <p:sp>
        <p:nvSpPr>
          <p:cNvPr id="32" name="R4_chip561"/>
          <p:cNvSpPr/>
          <p:nvPr/>
        </p:nvSpPr>
        <p:spPr>
          <a:xfrm>
            <a:off x="6263640" y="3581400"/>
            <a:ext cx="2560320" cy="477012"/>
          </a:xfrm>
          <a:prstGeom prst="roundRect">
            <a:avLst>
              <a:gd name="adj" fmla="val 19169"/>
            </a:avLst>
          </a:prstGeom>
          <a:solidFill>
            <a:srgbClr val="FFE3EE"/>
          </a:solidFill>
          <a:ln w="28575">
            <a:solidFill>
              <a:srgbClr val="F7A6C4"/>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 What an amazing joke!</a:t>
            </a:r>
            <a:endParaRPr lang="en-US" sz="1200" dirty="0"/>
          </a:p>
        </p:txBody>
      </p:sp>
      <p:sp>
        <p:nvSpPr>
          <p:cNvPr id="33" name="bd_562"/>
          <p:cNvSpPr/>
          <p:nvPr/>
        </p:nvSpPr>
        <p:spPr>
          <a:xfrm>
            <a:off x="3246120" y="4196334"/>
            <a:ext cx="329184" cy="329184"/>
          </a:xfrm>
          <a:prstGeom prst="ellipse">
            <a:avLst/>
          </a:prstGeom>
          <a:solidFill>
            <a:srgbClr val="E8508F"/>
          </a:solidFill>
          <a:ln w="28575">
            <a:solidFill>
              <a:srgbClr val="F7A6C4"/>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5</a:t>
            </a:r>
            <a:endParaRPr lang="en-US" sz="1100" dirty="0"/>
          </a:p>
        </p:txBody>
      </p:sp>
      <p:sp>
        <p:nvSpPr>
          <p:cNvPr id="34" name="gq_563"/>
          <p:cNvSpPr/>
          <p:nvPr/>
        </p:nvSpPr>
        <p:spPr>
          <a:xfrm>
            <a:off x="3657600" y="4122420"/>
            <a:ext cx="2514600" cy="477012"/>
          </a:xfrm>
          <a:prstGeom prst="roundRect">
            <a:avLst>
              <a:gd name="adj" fmla="val 19169"/>
            </a:avLst>
          </a:prstGeom>
          <a:solidFill>
            <a:srgbClr val="FFFFFF"/>
          </a:solidFill>
          <a:ln w="28575">
            <a:solidFill>
              <a:srgbClr val="F7A6C4"/>
            </a:solidFill>
          </a:ln>
        </p:spPr>
        <p:txBody>
          <a:bodyPr wrap="square" lIns="101600" tIns="0" rIns="101600" bIns="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We go to cinema once the month.</a:t>
            </a:r>
            <a:endParaRPr lang="en-US" sz="1250" dirty="0"/>
          </a:p>
        </p:txBody>
      </p:sp>
      <p:sp>
        <p:nvSpPr>
          <p:cNvPr id="35" name="R5_chip564"/>
          <p:cNvSpPr/>
          <p:nvPr/>
        </p:nvSpPr>
        <p:spPr>
          <a:xfrm>
            <a:off x="6263640" y="4122420"/>
            <a:ext cx="2560320" cy="477012"/>
          </a:xfrm>
          <a:prstGeom prst="roundRect">
            <a:avLst>
              <a:gd name="adj" fmla="val 19169"/>
            </a:avLst>
          </a:prstGeom>
          <a:solidFill>
            <a:srgbClr val="FFE3EE"/>
          </a:solidFill>
          <a:ln w="28575">
            <a:solidFill>
              <a:srgbClr val="F7A6C4"/>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 We go to the cinema once a month.</a:t>
            </a:r>
            <a:endParaRPr lang="en-US" sz="12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3"/>
                                        </p:tgtEl>
                                        <p:attrNameLst>
                                          <p:attrName>style.visibility</p:attrName>
                                        </p:attrNameLst>
                                      </p:cBhvr>
                                      <p:to>
                                        <p:strVal val="visible"/>
                                      </p:to>
                                    </p:set>
                                    <p:animEffect transition="in" filter="fade">
                                      <p:cBhvr>
                                        <p:cTn id="7" dur="400"/>
                                        <p:tgtEl>
                                          <p:spTgt spid="23"/>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6"/>
                                        </p:tgtEl>
                                        <p:attrNameLst>
                                          <p:attrName>style.visibility</p:attrName>
                                        </p:attrNameLst>
                                      </p:cBhvr>
                                      <p:to>
                                        <p:strVal val="visible"/>
                                      </p:to>
                                    </p:set>
                                    <p:animEffect transition="in" filter="fade">
                                      <p:cBhvr>
                                        <p:cTn id="12" dur="400"/>
                                        <p:tgtEl>
                                          <p:spTgt spid="26"/>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9"/>
                                        </p:tgtEl>
                                        <p:attrNameLst>
                                          <p:attrName>style.visibility</p:attrName>
                                        </p:attrNameLst>
                                      </p:cBhvr>
                                      <p:to>
                                        <p:strVal val="visible"/>
                                      </p:to>
                                    </p:set>
                                    <p:animEffect transition="in" filter="fade">
                                      <p:cBhvr>
                                        <p:cTn id="17" dur="400"/>
                                        <p:tgtEl>
                                          <p:spTgt spid="29"/>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32"/>
                                        </p:tgtEl>
                                        <p:attrNameLst>
                                          <p:attrName>style.visibility</p:attrName>
                                        </p:attrNameLst>
                                      </p:cBhvr>
                                      <p:to>
                                        <p:strVal val="visible"/>
                                      </p:to>
                                    </p:set>
                                    <p:animEffect transition="in" filter="fade">
                                      <p:cBhvr>
                                        <p:cTn id="22" dur="400"/>
                                        <p:tgtEl>
                                          <p:spTgt spid="32"/>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35"/>
                                        </p:tgtEl>
                                        <p:attrNameLst>
                                          <p:attrName>style.visibility</p:attrName>
                                        </p:attrNameLst>
                                      </p:cBhvr>
                                      <p:to>
                                        <p:strVal val="visible"/>
                                      </p:to>
                                    </p:set>
                                    <p:animEffect transition="in" filter="fade">
                                      <p:cBhvr>
                                        <p:cTn id="27" dur="400"/>
                                        <p:tgtEl>
                                          <p:spTgt spid="3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0.xml><?xml version="1.0" encoding="utf-8"?>
<p:sld xmlns:a="http://schemas.openxmlformats.org/drawingml/2006/main" xmlns:r="http://schemas.openxmlformats.org/officeDocument/2006/relationships" xmlns:p="http://schemas.openxmlformats.org/presentationml/2006/main">
  <p:cSld name="Slide 20">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565"/>
          <p:cNvSpPr/>
          <p:nvPr/>
        </p:nvSpPr>
        <p:spPr>
          <a:xfrm>
            <a:off x="201168" y="164592"/>
            <a:ext cx="841248" cy="841248"/>
          </a:xfrm>
          <a:prstGeom prst="ellipse">
            <a:avLst/>
          </a:prstGeom>
          <a:solidFill>
            <a:srgbClr val="2F8DE4"/>
          </a:solidFill>
          <a:ln w="28575">
            <a:solidFill>
              <a:srgbClr val="A9D3F5"/>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20</a:t>
            </a:r>
            <a:endParaRPr lang="en-US" sz="2200" dirty="0"/>
          </a:p>
        </p:txBody>
      </p:sp>
      <p:pic>
        <p:nvPicPr>
          <p:cNvPr id="4" name="brY_566" descr="/home/claude/lls-course/v2/assets/brush-yellow.png">    </p:cNvPr>
          <p:cNvPicPr>
            <a:picLocks noChangeAspect="1"/>
          </p:cNvPicPr>
          <p:nvPr/>
        </p:nvPicPr>
        <p:blipFill>
          <a:blip r:embed="rId2"/>
          <a:stretch>
            <a:fillRect/>
          </a:stretch>
        </p:blipFill>
        <p:spPr>
          <a:xfrm>
            <a:off x="1097280" y="146304"/>
            <a:ext cx="2933395" cy="621792"/>
          </a:xfrm>
          <a:prstGeom prst="rect">
            <a:avLst/>
          </a:prstGeom>
        </p:spPr>
      </p:pic>
      <p:sp>
        <p:nvSpPr>
          <p:cNvPr id="5" name="title_567"/>
          <p:cNvSpPr/>
          <p:nvPr/>
        </p:nvSpPr>
        <p:spPr>
          <a:xfrm>
            <a:off x="1261872" y="164592"/>
            <a:ext cx="2659075"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/ðə/ or /ðiː/?</a:t>
            </a:r>
            <a:endParaRPr lang="en-US" sz="2500" dirty="0"/>
          </a:p>
        </p:txBody>
      </p:sp>
      <p:pic>
        <p:nvPicPr>
          <p:cNvPr id="6" name="brP_568" descr="/home/claude/lls-course/v2/assets/brush-pink.png">    </p:cNvPr>
          <p:cNvPicPr>
            <a:picLocks noChangeAspect="1"/>
          </p:cNvPicPr>
          <p:nvPr/>
        </p:nvPicPr>
        <p:blipFill>
          <a:blip r:embed="rId3"/>
          <a:stretch>
            <a:fillRect/>
          </a:stretch>
        </p:blipFill>
        <p:spPr>
          <a:xfrm>
            <a:off x="1207008" y="731520"/>
            <a:ext cx="3685032" cy="402336"/>
          </a:xfrm>
          <a:prstGeom prst="rect">
            <a:avLst/>
          </a:prstGeom>
        </p:spPr>
      </p:pic>
      <p:sp>
        <p:nvSpPr>
          <p:cNvPr id="7" name="ins_569"/>
          <p:cNvSpPr/>
          <p:nvPr/>
        </p:nvSpPr>
        <p:spPr>
          <a:xfrm>
            <a:off x="1353312" y="731520"/>
            <a:ext cx="3429000"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Guess: /ðə/ or /ðiː/? Then listen.</a:t>
            </a:r>
            <a:endParaRPr lang="en-US" sz="1250" dirty="0"/>
          </a:p>
        </p:txBody>
      </p:sp>
      <p:sp>
        <p:nvSpPr>
          <p:cNvPr id="8" name="insIT_570"/>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Indovina: /ðə/ o /ðiː/? Poi ascolta.</a:t>
            </a:r>
            <a:endParaRPr lang="en-US" sz="950" dirty="0"/>
          </a:p>
        </p:txBody>
      </p:sp>
      <p:sp>
        <p:nvSpPr>
          <p:cNvPr id="9" name="note_571"/>
          <p:cNvSpPr/>
          <p:nvPr/>
        </p:nvSpPr>
        <p:spPr>
          <a:xfrm rot="180000">
            <a:off x="6382512" y="128016"/>
            <a:ext cx="2029968" cy="1024128"/>
          </a:xfrm>
          <a:prstGeom prst="rect">
            <a:avLst/>
          </a:prstGeom>
          <a:solidFill>
            <a:srgbClr val="FFC2DA"/>
          </a:solidFill>
          <a:ln>
            <a:solidFill>
              <a:srgbClr val="FFC2DA"/>
            </a:solidFill>
          </a:ln>
          <a:effectLst>
            <a:outerShdw sx="100000" sy="100000" kx="0" ky="0" algn="bl" rotWithShape="0" blurRad="88900" dist="31750" dir="5400000">
              <a:srgbClr val="1B2559">
                <a:alpha val="15000"/>
              </a:srgbClr>
            </a:outerShdw>
          </a:effectLst>
        </p:spPr>
        <p:txBody>
          <a:bodyPr wrap="square" lIns="50800" tIns="50800" rIns="50800" bIns="50800" rtlCol="0" anchor="ctr">
            <a:normAutofit/>
          </a:bodyP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 LISTEN</a:t>
            </a:r>
            <a:pPr algn="ctr" indent="0" marL="0">
              <a:buNone/>
            </a:pPr>
            <a:r>
              <a:rPr lang="en-US" sz="1200" dirty="0">
                <a:solidFill>
                  <a:srgbClr val="5B6785"/>
                </a:solidFill>
              </a:rPr>
              <a:t> → </a:t>
            </a:r>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 SAY IT</a:t>
            </a:r>
            <a:endParaRPr lang="en-US" sz="1150" dirty="0"/>
          </a:p>
          <a:p>
            <a:pPr algn="ctr" indent="0" marL="0">
              <a:buNone/>
            </a:pPr>
            <a:r>
              <a:rPr lang="en-US" sz="1100" dirty="0">
                <a:solidFill>
                  <a:srgbClr val="1B2559"/>
                </a:solidFill>
                <a:latin typeface="Segoe UI Semibold" pitchFamily="34" charset="0"/>
                <a:ea typeface="Segoe UI Semibold" pitchFamily="34" charset="-122"/>
                <a:cs typeface="Segoe UI Semibold" pitchFamily="34" charset="-120"/>
              </a:rPr>
              <a:t>⏱ 3 min   👥 pairs</a:t>
            </a:r>
            <a:endParaRPr lang="en-US" sz="1150" dirty="0"/>
          </a:p>
          <a:p>
            <a:pPr algn="ctr" indent="0" marL="0">
              <a:buNone/>
            </a:pPr>
            <a:r>
              <a:rPr lang="en-US" sz="900" dirty="0">
                <a:solidFill>
                  <a:srgbClr val="5B6785"/>
                </a:solidFill>
                <a:latin typeface="Segoe UI Semibold" pitchFamily="34" charset="0"/>
                <a:ea typeface="Segoe UI Semibold" pitchFamily="34" charset="-122"/>
                <a:cs typeface="Segoe UI Semibold" pitchFamily="34" charset="-120"/>
              </a:rPr>
              <a:t>🎯 Pronunciation · Listening for detail</a:t>
            </a:r>
            <a:endParaRPr lang="en-US" sz="1150" dirty="0"/>
          </a:p>
        </p:txBody>
      </p:sp>
      <p:pic>
        <p:nvPicPr>
          <p:cNvPr id="10" name="logo_572"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1" name="foot_573"/>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3B-1 · Pronunciation · the   ·   📖 SB p.31 · 3a, 3b, 3c · audio 3.22, 3.23</a:t>
            </a:r>
            <a:endParaRPr lang="en-US" sz="800" dirty="0"/>
          </a:p>
        </p:txBody>
      </p:sp>
      <p:sp>
        <p:nvSpPr>
          <p:cNvPr id="12" name="ap_574"/>
          <p:cNvSpPr/>
          <p:nvPr/>
        </p:nvSpPr>
        <p:spPr>
          <a:xfrm>
            <a:off x="365760" y="1417320"/>
            <a:ext cx="2194560" cy="402336"/>
          </a:xfrm>
          <a:prstGeom prst="roundRect">
            <a:avLst>
              <a:gd name="adj" fmla="val 50000"/>
            </a:avLst>
          </a:prstGeom>
          <a:solidFill>
            <a:srgbClr val="E3F1FD"/>
          </a:solidFill>
          <a:ln w="28575">
            <a:solidFill>
              <a:srgbClr val="A9D3F5"/>
            </a:solidFill>
          </a:ln>
        </p:spPr>
        <p:txBody>
          <a:bodyPr wrap="square" lIns="127000" tIns="0" rIns="127000" bIns="0" rtlCol="0" anchor="ctr">
            <a:normAutofit/>
          </a:bodyPr>
          <a:lstStyle/>
          <a:p>
            <a:pPr indent="0" marL="0">
              <a:buNone/>
            </a:pPr>
            <a:r>
              <a:rPr lang="en-US" sz="1100" b="1" dirty="0">
                <a:solidFill>
                  <a:srgbClr val="1B2559"/>
                </a:solidFill>
                <a:latin typeface="Segoe UI Semibold" pitchFamily="34" charset="0"/>
                <a:ea typeface="Segoe UI Semibold" pitchFamily="34" charset="-122"/>
                <a:cs typeface="Segoe UI Semibold" pitchFamily="34" charset="-120"/>
              </a:rPr>
              <a:t>🎧 3.23  ·  pause after each phrase</a:t>
            </a:r>
            <a:endParaRPr lang="en-US" sz="1100" dirty="0"/>
          </a:p>
        </p:txBody>
      </p:sp>
      <p:sp>
        <p:nvSpPr>
          <p:cNvPr id="13" name="ah_575"/>
          <p:cNvSpPr/>
          <p:nvPr/>
        </p:nvSpPr>
        <p:spPr>
          <a:xfrm>
            <a:off x="4636008" y="4572000"/>
            <a:ext cx="978408" cy="365760"/>
          </a:xfrm>
          <a:prstGeom prst="rect">
            <a:avLst/>
          </a:prstGeom>
          <a:noFill/>
          <a:ln/>
        </p:spPr>
        <p:txBody>
          <a:bodyPr wrap="square" lIns="0" tIns="0" rIns="0" bIns="0" rtlCol="0" anchor="ctr"/>
          <a:lstStyle/>
          <a:p>
            <a:pPr algn="r" indent="0" marL="0">
              <a:buNone/>
            </a:pPr>
            <a:r>
              <a:rPr lang="en-US" sz="1000" b="1" dirty="0">
                <a:solidFill>
                  <a:srgbClr val="2F8DE4"/>
                </a:solidFill>
                <a:latin typeface="Segoe UI Semibold" pitchFamily="34" charset="0"/>
                <a:ea typeface="Segoe UI Semibold" pitchFamily="34" charset="-122"/>
                <a:cs typeface="Segoe UI Semibold" pitchFamily="34" charset="-120"/>
              </a:rPr>
              <a:t>▶ normal</a:t>
            </a:r>
            <a:endParaRPr lang="en-US" sz="1000" dirty="0"/>
          </a:p>
        </p:txBody>
      </p:sp>
      <p:pic>
        <p:nvPicPr>
          <p:cNvPr id="14" name="Media 0">
            <a:hlinkClick r:id="" action="ppaction://media"/>
          </p:cNvPr>
          <p:cNvPicPr>
            <a:picLocks noChangeAspect="1"/>
          </p:cNvPicPr>
          <p:nvPr>
            <a:audioFile r:link="rId5"/>
            <p:extLst>
              <p:ext uri="{DAA4B4D4-6D71-4841-9C94-3DE7FCFB9230}">
                <p14:media xmlns:p14="http://schemas.microsoft.com/office/powerpoint/2010/main" r:embed="rId6"/>
              </p:ext>
            </p:extLst>
          </p:nvPr>
        </p:nvPicPr>
        <p:blipFill>
          <a:blip r:embed="rId7"/>
          <a:stretch>
            <a:fillRect/>
          </a:stretch>
        </p:blipFill>
        <p:spPr>
          <a:xfrm>
            <a:off x="5687568" y="4553712"/>
            <a:ext cx="411480" cy="411480"/>
          </a:xfrm>
          <a:prstGeom prst="rect">
            <a:avLst/>
          </a:prstGeom>
        </p:spPr>
      </p:pic>
      <p:sp>
        <p:nvSpPr>
          <p:cNvPr id="15" name="ah_576"/>
          <p:cNvSpPr/>
          <p:nvPr/>
        </p:nvSpPr>
        <p:spPr>
          <a:xfrm>
            <a:off x="7470648" y="4572000"/>
            <a:ext cx="932688" cy="365760"/>
          </a:xfrm>
          <a:prstGeom prst="rect">
            <a:avLst/>
          </a:prstGeom>
          <a:noFill/>
          <a:ln/>
        </p:spPr>
        <p:txBody>
          <a:bodyPr wrap="square" lIns="0" tIns="0" rIns="0" bIns="0" rtlCol="0" anchor="ctr"/>
          <a:lstStyle/>
          <a:p>
            <a:pPr algn="r" indent="0" marL="0">
              <a:buNone/>
            </a:pPr>
            <a:r>
              <a:rPr lang="en-US" sz="1000" b="1" dirty="0">
                <a:solidFill>
                  <a:srgbClr val="2F8DE4"/>
                </a:solidFill>
                <a:latin typeface="Segoe UI Semibold" pitchFamily="34" charset="0"/>
                <a:ea typeface="Segoe UI Semibold" pitchFamily="34" charset="-122"/>
                <a:cs typeface="Segoe UI Semibold" pitchFamily="34" charset="-120"/>
              </a:rPr>
              <a:t>🐢 slower</a:t>
            </a:r>
            <a:endParaRPr lang="en-US" sz="1000" dirty="0"/>
          </a:p>
        </p:txBody>
      </p:sp>
      <p:pic>
        <p:nvPicPr>
          <p:cNvPr id="16" name="Media 1">
            <a:hlinkClick r:id="" action="ppaction://media"/>
          </p:cNvPr>
          <p:cNvPicPr>
            <a:picLocks noChangeAspect="1"/>
          </p:cNvPicPr>
          <p:nvPr>
            <a:audioFile r:link="rId8"/>
            <p:extLst>
              <p:ext uri="{DAA4B4D4-6D71-4841-9C94-3DE7FCFB9230}">
                <p14:media xmlns:p14="http://schemas.microsoft.com/office/powerpoint/2010/main" r:embed="rId9"/>
              </p:ext>
            </p:extLst>
          </p:nvPr>
        </p:nvPicPr>
        <p:blipFill>
          <a:blip r:embed="rId10"/>
          <a:stretch>
            <a:fillRect/>
          </a:stretch>
        </p:blipFill>
        <p:spPr>
          <a:xfrm>
            <a:off x="8476488" y="4553712"/>
            <a:ext cx="411480" cy="411480"/>
          </a:xfrm>
          <a:prstGeom prst="rect">
            <a:avLst/>
          </a:prstGeom>
        </p:spPr>
      </p:pic>
      <p:sp>
        <p:nvSpPr>
          <p:cNvPr id="17" name="pf_577"/>
          <p:cNvSpPr/>
          <p:nvPr/>
        </p:nvSpPr>
        <p:spPr>
          <a:xfrm rot="-90000">
            <a:off x="750431" y="2057400"/>
            <a:ext cx="2019578" cy="1783080"/>
          </a:xfrm>
          <a:prstGeom prst="roundRect">
            <a:avLst>
              <a:gd name="adj" fmla="val 8718"/>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18" name="ph_578" descr="/home/claude/lls-course/v2/cache/3b1_moon_jpg_464x407_31.png">    </p:cNvPr>
          <p:cNvPicPr>
            <a:picLocks noChangeAspect="1"/>
          </p:cNvPicPr>
          <p:nvPr/>
        </p:nvPicPr>
        <p:blipFill>
          <a:blip r:embed="rId11"/>
          <a:stretch>
            <a:fillRect/>
          </a:stretch>
        </p:blipFill>
        <p:spPr>
          <a:xfrm rot="-90000">
            <a:off x="796151" y="2103120"/>
            <a:ext cx="1928138" cy="1691640"/>
          </a:xfrm>
          <a:prstGeom prst="rect">
            <a:avLst/>
          </a:prstGeom>
        </p:spPr>
      </p:pic>
      <p:sp>
        <p:nvSpPr>
          <p:cNvPr id="19" name="cd_579"/>
          <p:cNvSpPr/>
          <p:nvPr/>
        </p:nvSpPr>
        <p:spPr>
          <a:xfrm>
            <a:off x="320040" y="4023360"/>
            <a:ext cx="2788920" cy="731520"/>
          </a:xfrm>
          <a:prstGeom prst="roundRect">
            <a:avLst>
              <a:gd name="adj" fmla="val 17500"/>
            </a:avLst>
          </a:prstGeom>
          <a:solidFill>
            <a:srgbClr val="EEE8FB"/>
          </a:solidFill>
          <a:ln w="28575">
            <a:solidFill>
              <a:srgbClr val="CDBFF3"/>
            </a:solidFill>
            <a:prstDash val="solid"/>
          </a:ln>
          <a:effectLst>
            <a:outerShdw sx="100000" sy="100000" kx="0" ky="0" algn="bl" rotWithShape="0" blurRad="88900" dist="31750" dir="5400000">
              <a:srgbClr val="1B2559">
                <a:alpha val="12000"/>
              </a:srgbClr>
            </a:outerShdw>
          </a:effectLst>
        </p:spPr>
      </p:sp>
      <p:sp>
        <p:nvSpPr>
          <p:cNvPr id="20" name="ii_580"/>
          <p:cNvSpPr/>
          <p:nvPr/>
        </p:nvSpPr>
        <p:spPr>
          <a:xfrm>
            <a:off x="411480" y="409651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21" name="ih_581"/>
          <p:cNvSpPr/>
          <p:nvPr/>
        </p:nvSpPr>
        <p:spPr>
          <a:xfrm>
            <a:off x="886968" y="4114800"/>
            <a:ext cx="2148840" cy="365760"/>
          </a:xfrm>
          <a:prstGeom prst="rect">
            <a:avLst/>
          </a:prstGeom>
          <a:noFill/>
          <a:ln/>
        </p:spPr>
        <p:txBody>
          <a:bodyPr wrap="square" lIns="0" tIns="0" rIns="0" bIns="0" rtlCol="0" anchor="ct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Guess first, then listen!</a:t>
            </a:r>
            <a:endParaRPr lang="en-US" sz="1200" dirty="0"/>
          </a:p>
        </p:txBody>
      </p:sp>
      <p:sp>
        <p:nvSpPr>
          <p:cNvPr id="22" name="gq_582"/>
          <p:cNvSpPr/>
          <p:nvPr/>
        </p:nvSpPr>
        <p:spPr>
          <a:xfrm>
            <a:off x="3383280" y="1417320"/>
            <a:ext cx="3337560" cy="265176"/>
          </a:xfrm>
          <a:prstGeom prst="roundRect">
            <a:avLst>
              <a:gd name="adj" fmla="val 34483"/>
            </a:avLst>
          </a:prstGeom>
          <a:solidFill>
            <a:srgbClr val="FFFFFF"/>
          </a:solidFill>
          <a:ln w="28575">
            <a:solidFill>
              <a:srgbClr val="F7A6C4"/>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the cinema</a:t>
            </a:r>
            <a:endParaRPr lang="en-US" sz="1200" dirty="0"/>
          </a:p>
        </p:txBody>
      </p:sp>
      <p:sp>
        <p:nvSpPr>
          <p:cNvPr id="23" name="R1_chip583"/>
          <p:cNvSpPr/>
          <p:nvPr/>
        </p:nvSpPr>
        <p:spPr>
          <a:xfrm>
            <a:off x="6812280" y="1417320"/>
            <a:ext cx="2057400" cy="265176"/>
          </a:xfrm>
          <a:prstGeom prst="roundRect">
            <a:avLst>
              <a:gd name="adj" fmla="val 34483"/>
            </a:avLst>
          </a:prstGeom>
          <a:solidFill>
            <a:srgbClr val="FFF6CC"/>
          </a:solidFill>
          <a:ln w="28575">
            <a:solidFill>
              <a:srgbClr val="FFE07A"/>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/ðə/</a:t>
            </a:r>
            <a:endParaRPr lang="en-US" sz="1200" dirty="0"/>
          </a:p>
        </p:txBody>
      </p:sp>
      <p:sp>
        <p:nvSpPr>
          <p:cNvPr id="24" name="gq_584"/>
          <p:cNvSpPr/>
          <p:nvPr/>
        </p:nvSpPr>
        <p:spPr>
          <a:xfrm>
            <a:off x="3383280" y="1746504"/>
            <a:ext cx="3337560" cy="265176"/>
          </a:xfrm>
          <a:prstGeom prst="roundRect">
            <a:avLst>
              <a:gd name="adj" fmla="val 34483"/>
            </a:avLst>
          </a:prstGeom>
          <a:solidFill>
            <a:srgbClr val="FFFFFF"/>
          </a:solidFill>
          <a:ln w="28575">
            <a:solidFill>
              <a:srgbClr val="A9D3F5"/>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the office</a:t>
            </a:r>
            <a:endParaRPr lang="en-US" sz="1200" dirty="0"/>
          </a:p>
        </p:txBody>
      </p:sp>
      <p:sp>
        <p:nvSpPr>
          <p:cNvPr id="25" name="R2_chip585"/>
          <p:cNvSpPr/>
          <p:nvPr/>
        </p:nvSpPr>
        <p:spPr>
          <a:xfrm>
            <a:off x="6812280" y="1746504"/>
            <a:ext cx="2057400" cy="265176"/>
          </a:xfrm>
          <a:prstGeom prst="roundRect">
            <a:avLst>
              <a:gd name="adj" fmla="val 34483"/>
            </a:avLst>
          </a:prstGeom>
          <a:solidFill>
            <a:srgbClr val="FFF6CC"/>
          </a:solidFill>
          <a:ln w="28575">
            <a:solidFill>
              <a:srgbClr val="FFE07A"/>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/ðiː/ – vowel sound</a:t>
            </a:r>
            <a:endParaRPr lang="en-US" sz="1200" dirty="0"/>
          </a:p>
        </p:txBody>
      </p:sp>
      <p:sp>
        <p:nvSpPr>
          <p:cNvPr id="26" name="gq_586"/>
          <p:cNvSpPr/>
          <p:nvPr/>
        </p:nvSpPr>
        <p:spPr>
          <a:xfrm>
            <a:off x="3383280" y="2075688"/>
            <a:ext cx="3337560" cy="265176"/>
          </a:xfrm>
          <a:prstGeom prst="roundRect">
            <a:avLst>
              <a:gd name="adj" fmla="val 34483"/>
            </a:avLst>
          </a:prstGeom>
          <a:solidFill>
            <a:srgbClr val="FFFFFF"/>
          </a:solidFill>
          <a:ln w="28575">
            <a:solidFill>
              <a:srgbClr val="A8E5BE"/>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the Underground</a:t>
            </a:r>
            <a:endParaRPr lang="en-US" sz="1200" dirty="0"/>
          </a:p>
        </p:txBody>
      </p:sp>
      <p:sp>
        <p:nvSpPr>
          <p:cNvPr id="27" name="R3_chip587"/>
          <p:cNvSpPr/>
          <p:nvPr/>
        </p:nvSpPr>
        <p:spPr>
          <a:xfrm>
            <a:off x="6812280" y="2075688"/>
            <a:ext cx="2057400" cy="265176"/>
          </a:xfrm>
          <a:prstGeom prst="roundRect">
            <a:avLst>
              <a:gd name="adj" fmla="val 34483"/>
            </a:avLst>
          </a:prstGeom>
          <a:solidFill>
            <a:srgbClr val="FFF6CC"/>
          </a:solidFill>
          <a:ln w="28575">
            <a:solidFill>
              <a:srgbClr val="FFE07A"/>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/ðiː/ – vowel sound</a:t>
            </a:r>
            <a:endParaRPr lang="en-US" sz="1200" dirty="0"/>
          </a:p>
        </p:txBody>
      </p:sp>
      <p:sp>
        <p:nvSpPr>
          <p:cNvPr id="28" name="gq_588"/>
          <p:cNvSpPr/>
          <p:nvPr/>
        </p:nvSpPr>
        <p:spPr>
          <a:xfrm>
            <a:off x="3383280" y="2404872"/>
            <a:ext cx="3337560" cy="265176"/>
          </a:xfrm>
          <a:prstGeom prst="roundRect">
            <a:avLst>
              <a:gd name="adj" fmla="val 34483"/>
            </a:avLst>
          </a:prstGeom>
          <a:solidFill>
            <a:srgbClr val="FFFFFF"/>
          </a:solidFill>
          <a:ln w="28575">
            <a:solidFill>
              <a:srgbClr val="FFE07A"/>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the universe</a:t>
            </a:r>
            <a:endParaRPr lang="en-US" sz="1200" dirty="0"/>
          </a:p>
        </p:txBody>
      </p:sp>
      <p:sp>
        <p:nvSpPr>
          <p:cNvPr id="29" name="R4_chip589"/>
          <p:cNvSpPr/>
          <p:nvPr/>
        </p:nvSpPr>
        <p:spPr>
          <a:xfrm>
            <a:off x="6812280" y="2404872"/>
            <a:ext cx="2057400" cy="265176"/>
          </a:xfrm>
          <a:prstGeom prst="roundRect">
            <a:avLst>
              <a:gd name="adj" fmla="val 34483"/>
            </a:avLst>
          </a:prstGeom>
          <a:solidFill>
            <a:srgbClr val="FFF6CC"/>
          </a:solidFill>
          <a:ln w="28575">
            <a:solidFill>
              <a:srgbClr val="FFE07A"/>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/ðə/ – /juː/!</a:t>
            </a:r>
            <a:endParaRPr lang="en-US" sz="1200" dirty="0"/>
          </a:p>
        </p:txBody>
      </p:sp>
      <p:sp>
        <p:nvSpPr>
          <p:cNvPr id="30" name="gq_590"/>
          <p:cNvSpPr/>
          <p:nvPr/>
        </p:nvSpPr>
        <p:spPr>
          <a:xfrm>
            <a:off x="3383280" y="2734056"/>
            <a:ext cx="3337560" cy="265176"/>
          </a:xfrm>
          <a:prstGeom prst="roundRect">
            <a:avLst>
              <a:gd name="adj" fmla="val 34483"/>
            </a:avLst>
          </a:prstGeom>
          <a:solidFill>
            <a:srgbClr val="FFFFFF"/>
          </a:solidFill>
          <a:ln w="28575">
            <a:solidFill>
              <a:srgbClr val="F7A6C4"/>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the moon</a:t>
            </a:r>
            <a:endParaRPr lang="en-US" sz="1200" dirty="0"/>
          </a:p>
        </p:txBody>
      </p:sp>
      <p:sp>
        <p:nvSpPr>
          <p:cNvPr id="31" name="R5_chip591"/>
          <p:cNvSpPr/>
          <p:nvPr/>
        </p:nvSpPr>
        <p:spPr>
          <a:xfrm>
            <a:off x="6812280" y="2734056"/>
            <a:ext cx="2057400" cy="265176"/>
          </a:xfrm>
          <a:prstGeom prst="roundRect">
            <a:avLst>
              <a:gd name="adj" fmla="val 34483"/>
            </a:avLst>
          </a:prstGeom>
          <a:solidFill>
            <a:srgbClr val="FFF6CC"/>
          </a:solidFill>
          <a:ln w="28575">
            <a:solidFill>
              <a:srgbClr val="FFE07A"/>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/ðə/</a:t>
            </a:r>
            <a:endParaRPr lang="en-US" sz="1200" dirty="0"/>
          </a:p>
        </p:txBody>
      </p:sp>
      <p:sp>
        <p:nvSpPr>
          <p:cNvPr id="32" name="gq_592"/>
          <p:cNvSpPr/>
          <p:nvPr/>
        </p:nvSpPr>
        <p:spPr>
          <a:xfrm>
            <a:off x="3383280" y="3063240"/>
            <a:ext cx="3337560" cy="265176"/>
          </a:xfrm>
          <a:prstGeom prst="roundRect">
            <a:avLst>
              <a:gd name="adj" fmla="val 34483"/>
            </a:avLst>
          </a:prstGeom>
          <a:solidFill>
            <a:srgbClr val="FFFFFF"/>
          </a:solidFill>
          <a:ln w="28575">
            <a:solidFill>
              <a:srgbClr val="A9D3F5"/>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the internet</a:t>
            </a:r>
            <a:endParaRPr lang="en-US" sz="1200" dirty="0"/>
          </a:p>
        </p:txBody>
      </p:sp>
      <p:sp>
        <p:nvSpPr>
          <p:cNvPr id="33" name="R6_chip593"/>
          <p:cNvSpPr/>
          <p:nvPr/>
        </p:nvSpPr>
        <p:spPr>
          <a:xfrm>
            <a:off x="6812280" y="3063240"/>
            <a:ext cx="2057400" cy="265176"/>
          </a:xfrm>
          <a:prstGeom prst="roundRect">
            <a:avLst>
              <a:gd name="adj" fmla="val 34483"/>
            </a:avLst>
          </a:prstGeom>
          <a:solidFill>
            <a:srgbClr val="FFF6CC"/>
          </a:solidFill>
          <a:ln w="28575">
            <a:solidFill>
              <a:srgbClr val="FFE07A"/>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/ðiː/ – vowel sound</a:t>
            </a:r>
            <a:endParaRPr lang="en-US" sz="1200" dirty="0"/>
          </a:p>
        </p:txBody>
      </p:sp>
      <p:sp>
        <p:nvSpPr>
          <p:cNvPr id="34" name="gq_594"/>
          <p:cNvSpPr/>
          <p:nvPr/>
        </p:nvSpPr>
        <p:spPr>
          <a:xfrm>
            <a:off x="3383280" y="3392424"/>
            <a:ext cx="3337560" cy="265176"/>
          </a:xfrm>
          <a:prstGeom prst="roundRect">
            <a:avLst>
              <a:gd name="adj" fmla="val 34483"/>
            </a:avLst>
          </a:prstGeom>
          <a:solidFill>
            <a:srgbClr val="FFFFFF"/>
          </a:solidFill>
          <a:ln w="28575">
            <a:solidFill>
              <a:srgbClr val="A8E5BE"/>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the sea</a:t>
            </a:r>
            <a:endParaRPr lang="en-US" sz="1200" dirty="0"/>
          </a:p>
        </p:txBody>
      </p:sp>
      <p:sp>
        <p:nvSpPr>
          <p:cNvPr id="35" name="R7_chip595"/>
          <p:cNvSpPr/>
          <p:nvPr/>
        </p:nvSpPr>
        <p:spPr>
          <a:xfrm>
            <a:off x="6812280" y="3392424"/>
            <a:ext cx="2057400" cy="265176"/>
          </a:xfrm>
          <a:prstGeom prst="roundRect">
            <a:avLst>
              <a:gd name="adj" fmla="val 34483"/>
            </a:avLst>
          </a:prstGeom>
          <a:solidFill>
            <a:srgbClr val="FFF6CC"/>
          </a:solidFill>
          <a:ln w="28575">
            <a:solidFill>
              <a:srgbClr val="FFE07A"/>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/ðə/</a:t>
            </a:r>
            <a:endParaRPr lang="en-US" sz="1200" dirty="0"/>
          </a:p>
        </p:txBody>
      </p:sp>
      <p:sp>
        <p:nvSpPr>
          <p:cNvPr id="36" name="gq_596"/>
          <p:cNvSpPr/>
          <p:nvPr/>
        </p:nvSpPr>
        <p:spPr>
          <a:xfrm>
            <a:off x="3383280" y="3721608"/>
            <a:ext cx="3337560" cy="265176"/>
          </a:xfrm>
          <a:prstGeom prst="roundRect">
            <a:avLst>
              <a:gd name="adj" fmla="val 34483"/>
            </a:avLst>
          </a:prstGeom>
          <a:solidFill>
            <a:srgbClr val="FFFFFF"/>
          </a:solidFill>
          <a:ln w="28575">
            <a:solidFill>
              <a:srgbClr val="FFE07A"/>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the accident</a:t>
            </a:r>
            <a:endParaRPr lang="en-US" sz="1200" dirty="0"/>
          </a:p>
        </p:txBody>
      </p:sp>
      <p:sp>
        <p:nvSpPr>
          <p:cNvPr id="37" name="R8_chip597"/>
          <p:cNvSpPr/>
          <p:nvPr/>
        </p:nvSpPr>
        <p:spPr>
          <a:xfrm>
            <a:off x="6812280" y="3721608"/>
            <a:ext cx="2057400" cy="265176"/>
          </a:xfrm>
          <a:prstGeom prst="roundRect">
            <a:avLst>
              <a:gd name="adj" fmla="val 34483"/>
            </a:avLst>
          </a:prstGeom>
          <a:solidFill>
            <a:srgbClr val="FFF6CC"/>
          </a:solidFill>
          <a:ln w="28575">
            <a:solidFill>
              <a:srgbClr val="FFE07A"/>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/ðiː/ – vowel sound</a:t>
            </a:r>
            <a:endParaRPr lang="en-US" sz="1200" dirty="0"/>
          </a:p>
        </p:txBody>
      </p:sp>
      <p:sp>
        <p:nvSpPr>
          <p:cNvPr id="38" name="gq_598"/>
          <p:cNvSpPr/>
          <p:nvPr/>
        </p:nvSpPr>
        <p:spPr>
          <a:xfrm>
            <a:off x="3383280" y="4050792"/>
            <a:ext cx="3337560" cy="265176"/>
          </a:xfrm>
          <a:prstGeom prst="roundRect">
            <a:avLst>
              <a:gd name="adj" fmla="val 34483"/>
            </a:avLst>
          </a:prstGeom>
          <a:solidFill>
            <a:srgbClr val="FFFFFF"/>
          </a:solidFill>
          <a:ln w="28575">
            <a:solidFill>
              <a:srgbClr val="F7A6C4"/>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the evening</a:t>
            </a:r>
            <a:endParaRPr lang="en-US" sz="1200" dirty="0"/>
          </a:p>
        </p:txBody>
      </p:sp>
      <p:sp>
        <p:nvSpPr>
          <p:cNvPr id="39" name="R9_chip599"/>
          <p:cNvSpPr/>
          <p:nvPr/>
        </p:nvSpPr>
        <p:spPr>
          <a:xfrm>
            <a:off x="6812280" y="4050792"/>
            <a:ext cx="2057400" cy="265176"/>
          </a:xfrm>
          <a:prstGeom prst="roundRect">
            <a:avLst>
              <a:gd name="adj" fmla="val 34483"/>
            </a:avLst>
          </a:prstGeom>
          <a:solidFill>
            <a:srgbClr val="FFF6CC"/>
          </a:solidFill>
          <a:ln w="28575">
            <a:solidFill>
              <a:srgbClr val="FFE07A"/>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/ðiː/ – vowel sound</a:t>
            </a:r>
            <a:endParaRPr lang="en-US" sz="1200" dirty="0"/>
          </a:p>
        </p:txBody>
      </p:sp>
      <p:sp>
        <p:nvSpPr>
          <p:cNvPr id="40" name="gq_600"/>
          <p:cNvSpPr/>
          <p:nvPr/>
        </p:nvSpPr>
        <p:spPr>
          <a:xfrm>
            <a:off x="3383280" y="4379976"/>
            <a:ext cx="3337560" cy="265176"/>
          </a:xfrm>
          <a:prstGeom prst="roundRect">
            <a:avLst>
              <a:gd name="adj" fmla="val 34483"/>
            </a:avLst>
          </a:prstGeom>
          <a:solidFill>
            <a:srgbClr val="FFFFFF"/>
          </a:solidFill>
          <a:ln w="28575">
            <a:solidFill>
              <a:srgbClr val="A9D3F5"/>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the dark</a:t>
            </a:r>
            <a:endParaRPr lang="en-US" sz="1200" dirty="0"/>
          </a:p>
        </p:txBody>
      </p:sp>
      <p:sp>
        <p:nvSpPr>
          <p:cNvPr id="41" name="R10_chip601"/>
          <p:cNvSpPr/>
          <p:nvPr/>
        </p:nvSpPr>
        <p:spPr>
          <a:xfrm>
            <a:off x="6812280" y="4379976"/>
            <a:ext cx="2057400" cy="265176"/>
          </a:xfrm>
          <a:prstGeom prst="roundRect">
            <a:avLst>
              <a:gd name="adj" fmla="val 34483"/>
            </a:avLst>
          </a:prstGeom>
          <a:solidFill>
            <a:srgbClr val="FFF6CC"/>
          </a:solidFill>
          <a:ln w="28575">
            <a:solidFill>
              <a:srgbClr val="FFE07A"/>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/ðə/</a:t>
            </a:r>
            <a:endParaRPr lang="en-US" sz="12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3"/>
                                        </p:tgtEl>
                                        <p:attrNameLst>
                                          <p:attrName>style.visibility</p:attrName>
                                        </p:attrNameLst>
                                      </p:cBhvr>
                                      <p:to>
                                        <p:strVal val="visible"/>
                                      </p:to>
                                    </p:set>
                                    <p:animEffect transition="in" filter="fade">
                                      <p:cBhvr>
                                        <p:cTn id="7" dur="400"/>
                                        <p:tgtEl>
                                          <p:spTgt spid="23"/>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5"/>
                                        </p:tgtEl>
                                        <p:attrNameLst>
                                          <p:attrName>style.visibility</p:attrName>
                                        </p:attrNameLst>
                                      </p:cBhvr>
                                      <p:to>
                                        <p:strVal val="visible"/>
                                      </p:to>
                                    </p:set>
                                    <p:animEffect transition="in" filter="fade">
                                      <p:cBhvr>
                                        <p:cTn id="12" dur="400"/>
                                        <p:tgtEl>
                                          <p:spTgt spid="25"/>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7"/>
                                        </p:tgtEl>
                                        <p:attrNameLst>
                                          <p:attrName>style.visibility</p:attrName>
                                        </p:attrNameLst>
                                      </p:cBhvr>
                                      <p:to>
                                        <p:strVal val="visible"/>
                                      </p:to>
                                    </p:set>
                                    <p:animEffect transition="in" filter="fade">
                                      <p:cBhvr>
                                        <p:cTn id="17" dur="400"/>
                                        <p:tgtEl>
                                          <p:spTgt spid="27"/>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29"/>
                                        </p:tgtEl>
                                        <p:attrNameLst>
                                          <p:attrName>style.visibility</p:attrName>
                                        </p:attrNameLst>
                                      </p:cBhvr>
                                      <p:to>
                                        <p:strVal val="visible"/>
                                      </p:to>
                                    </p:set>
                                    <p:animEffect transition="in" filter="fade">
                                      <p:cBhvr>
                                        <p:cTn id="22" dur="400"/>
                                        <p:tgtEl>
                                          <p:spTgt spid="29"/>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31"/>
                                        </p:tgtEl>
                                        <p:attrNameLst>
                                          <p:attrName>style.visibility</p:attrName>
                                        </p:attrNameLst>
                                      </p:cBhvr>
                                      <p:to>
                                        <p:strVal val="visible"/>
                                      </p:to>
                                    </p:set>
                                    <p:animEffect transition="in" filter="fade">
                                      <p:cBhvr>
                                        <p:cTn id="27" dur="400"/>
                                        <p:tgtEl>
                                          <p:spTgt spid="31"/>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33"/>
                                        </p:tgtEl>
                                        <p:attrNameLst>
                                          <p:attrName>style.visibility</p:attrName>
                                        </p:attrNameLst>
                                      </p:cBhvr>
                                      <p:to>
                                        <p:strVal val="visible"/>
                                      </p:to>
                                    </p:set>
                                    <p:animEffect transition="in" filter="fade">
                                      <p:cBhvr>
                                        <p:cTn id="32" dur="400"/>
                                        <p:tgtEl>
                                          <p:spTgt spid="33"/>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nodeType="clickEffect">
                                  <p:stCondLst>
                                    <p:cond delay="0"/>
                                  </p:stCondLst>
                                  <p:childTnLst>
                                    <p:set>
                                      <p:cBhvr>
                                        <p:cTn id="36" dur="1" fill="hold">
                                          <p:stCondLst>
                                            <p:cond delay="0"/>
                                          </p:stCondLst>
                                        </p:cTn>
                                        <p:tgtEl>
                                          <p:spTgt spid="35"/>
                                        </p:tgtEl>
                                        <p:attrNameLst>
                                          <p:attrName>style.visibility</p:attrName>
                                        </p:attrNameLst>
                                      </p:cBhvr>
                                      <p:to>
                                        <p:strVal val="visible"/>
                                      </p:to>
                                    </p:set>
                                    <p:animEffect transition="in" filter="fade">
                                      <p:cBhvr>
                                        <p:cTn id="37" dur="400"/>
                                        <p:tgtEl>
                                          <p:spTgt spid="35"/>
                                        </p:tgtEl>
                                      </p:cBhvr>
                                    </p:animEffect>
                                  </p:childTnLst>
                                </p:cTn>
                              </p:par>
                            </p:childTnLst>
                          </p:cTn>
                        </p:par>
                      </p:childTnLst>
                    </p:cTn>
                  </p:par>
                  <p:par>
                    <p:cTn id="38" fill="hold">
                      <p:stCondLst>
                        <p:cond delay="indefinite"/>
                      </p:stCondLst>
                      <p:childTnLst>
                        <p:par>
                          <p:cTn id="39" fill="hold">
                            <p:stCondLst>
                              <p:cond delay="0"/>
                            </p:stCondLst>
                            <p:childTnLst>
                              <p:par>
                                <p:cTn id="40" presetID="10" presetClass="entr" presetSubtype="0" fill="hold" nodeType="clickEffect">
                                  <p:stCondLst>
                                    <p:cond delay="0"/>
                                  </p:stCondLst>
                                  <p:childTnLst>
                                    <p:set>
                                      <p:cBhvr>
                                        <p:cTn id="41" dur="1" fill="hold">
                                          <p:stCondLst>
                                            <p:cond delay="0"/>
                                          </p:stCondLst>
                                        </p:cTn>
                                        <p:tgtEl>
                                          <p:spTgt spid="37"/>
                                        </p:tgtEl>
                                        <p:attrNameLst>
                                          <p:attrName>style.visibility</p:attrName>
                                        </p:attrNameLst>
                                      </p:cBhvr>
                                      <p:to>
                                        <p:strVal val="visible"/>
                                      </p:to>
                                    </p:set>
                                    <p:animEffect transition="in" filter="fade">
                                      <p:cBhvr>
                                        <p:cTn id="42" dur="400"/>
                                        <p:tgtEl>
                                          <p:spTgt spid="37"/>
                                        </p:tgtEl>
                                      </p:cBhvr>
                                    </p:animEffect>
                                  </p:childTnLst>
                                </p:cTn>
                              </p:par>
                            </p:childTnLst>
                          </p:cTn>
                        </p:par>
                      </p:childTnLst>
                    </p:cTn>
                  </p:par>
                  <p:par>
                    <p:cTn id="43" fill="hold">
                      <p:stCondLst>
                        <p:cond delay="indefinite"/>
                      </p:stCondLst>
                      <p:childTnLst>
                        <p:par>
                          <p:cTn id="44" fill="hold">
                            <p:stCondLst>
                              <p:cond delay="0"/>
                            </p:stCondLst>
                            <p:childTnLst>
                              <p:par>
                                <p:cTn id="45" presetID="10" presetClass="entr" presetSubtype="0" fill="hold" nodeType="clickEffect">
                                  <p:stCondLst>
                                    <p:cond delay="0"/>
                                  </p:stCondLst>
                                  <p:childTnLst>
                                    <p:set>
                                      <p:cBhvr>
                                        <p:cTn id="46" dur="1" fill="hold">
                                          <p:stCondLst>
                                            <p:cond delay="0"/>
                                          </p:stCondLst>
                                        </p:cTn>
                                        <p:tgtEl>
                                          <p:spTgt spid="39"/>
                                        </p:tgtEl>
                                        <p:attrNameLst>
                                          <p:attrName>style.visibility</p:attrName>
                                        </p:attrNameLst>
                                      </p:cBhvr>
                                      <p:to>
                                        <p:strVal val="visible"/>
                                      </p:to>
                                    </p:set>
                                    <p:animEffect transition="in" filter="fade">
                                      <p:cBhvr>
                                        <p:cTn id="47" dur="400"/>
                                        <p:tgtEl>
                                          <p:spTgt spid="39"/>
                                        </p:tgtEl>
                                      </p:cBhvr>
                                    </p:animEffect>
                                  </p:childTnLst>
                                </p:cTn>
                              </p:par>
                            </p:childTnLst>
                          </p:cTn>
                        </p:par>
                      </p:childTnLst>
                    </p:cTn>
                  </p:par>
                  <p:par>
                    <p:cTn id="48" fill="hold">
                      <p:stCondLst>
                        <p:cond delay="indefinite"/>
                      </p:stCondLst>
                      <p:childTnLst>
                        <p:par>
                          <p:cTn id="49" fill="hold">
                            <p:stCondLst>
                              <p:cond delay="0"/>
                            </p:stCondLst>
                            <p:childTnLst>
                              <p:par>
                                <p:cTn id="50" presetID="10" presetClass="entr" presetSubtype="0" fill="hold" nodeType="clickEffect">
                                  <p:stCondLst>
                                    <p:cond delay="0"/>
                                  </p:stCondLst>
                                  <p:childTnLst>
                                    <p:set>
                                      <p:cBhvr>
                                        <p:cTn id="51" dur="1" fill="hold">
                                          <p:stCondLst>
                                            <p:cond delay="0"/>
                                          </p:stCondLst>
                                        </p:cTn>
                                        <p:tgtEl>
                                          <p:spTgt spid="41"/>
                                        </p:tgtEl>
                                        <p:attrNameLst>
                                          <p:attrName>style.visibility</p:attrName>
                                        </p:attrNameLst>
                                      </p:cBhvr>
                                      <p:to>
                                        <p:strVal val="visible"/>
                                      </p:to>
                                    </p:set>
                                    <p:animEffect transition="in" filter="fade">
                                      <p:cBhvr>
                                        <p:cTn id="52" dur="400"/>
                                        <p:tgtEl>
                                          <p:spTgt spid="41"/>
                                        </p:tgtEl>
                                      </p:cBhvr>
                                    </p:animEffect>
                                  </p:childTnLst>
                                </p:cTn>
                              </p:par>
                            </p:childTnLst>
                          </p:cTn>
                        </p:par>
                      </p:childTnLst>
                    </p:cTn>
                  </p:par>
                </p:childTnLst>
              </p:cTn>
              <p:prevCondLst>
                <p:cond evt="onPrev" delay="0">
                  <p:tgtEl>
                    <p:sldTgt/>
                  </p:tgtEl>
                </p:cond>
              </p:prevCondLst>
              <p:nextCondLst>
                <p:cond evt="onNext" delay="0">
                  <p:tgtEl>
                    <p:sldTgt/>
                  </p:tgtEl>
                </p:cond>
              </p:nextCondLst>
            </p:seq>
            <p:seq concurrent="1" nextAc="seek">
              <p:cTn id="53" restart="whenNotActive" fill="hold" evtFilter="cancelBubble" nodeType="interactiveSeq">
                <p:stCondLst>
                  <p:cond evt="onClick" delay="0">
                    <p:tgtEl>
                      <p:spTgt spid="14"/>
                    </p:tgtEl>
                  </p:cond>
                </p:stCondLst>
                <p:endSync evt="end" delay="0">
                  <p:rtn val="all"/>
                </p:endSync>
                <p:childTnLst>
                  <p:par>
                    <p:cTn id="54" fill="hold">
                      <p:stCondLst>
                        <p:cond delay="0"/>
                      </p:stCondLst>
                      <p:childTnLst>
                        <p:par>
                          <p:cTn id="55" fill="hold">
                            <p:stCondLst>
                              <p:cond delay="0"/>
                            </p:stCondLst>
                            <p:childTnLst>
                              <p:par>
                                <p:cTn id="56" presetID="2" presetClass="mediacall" presetSubtype="0" fill="hold" nodeType="clickEffect">
                                  <p:stCondLst>
                                    <p:cond delay="0"/>
                                  </p:stCondLst>
                                  <p:childTnLst>
                                    <p:cmd type="call" cmd="togglePause">
                                      <p:cBhvr>
                                        <p:cTn id="57" dur="1" fill="hold"/>
                                        <p:tgtEl>
                                          <p:spTgt spid="14"/>
                                        </p:tgtEl>
                                      </p:cBhvr>
                                    </p:cmd>
                                  </p:childTnLst>
                                </p:cTn>
                              </p:par>
                            </p:childTnLst>
                          </p:cTn>
                        </p:par>
                      </p:childTnLst>
                    </p:cTn>
                  </p:par>
                </p:childTnLst>
              </p:cTn>
              <p:nextCondLst>
                <p:cond evt="onClick" delay="0">
                  <p:tgtEl>
                    <p:spTgt spid="14"/>
                  </p:tgtEl>
                </p:cond>
              </p:nextCondLst>
            </p:seq>
            <p:seq concurrent="1" nextAc="seek">
              <p:cTn id="58" restart="whenNotActive" fill="hold" evtFilter="cancelBubble" nodeType="interactiveSeq">
                <p:stCondLst>
                  <p:cond evt="onClick" delay="0">
                    <p:tgtEl>
                      <p:spTgt spid="16"/>
                    </p:tgtEl>
                  </p:cond>
                </p:stCondLst>
                <p:endSync evt="end" delay="0">
                  <p:rtn val="all"/>
                </p:endSync>
                <p:childTnLst>
                  <p:par>
                    <p:cTn id="59" fill="hold">
                      <p:stCondLst>
                        <p:cond delay="0"/>
                      </p:stCondLst>
                      <p:childTnLst>
                        <p:par>
                          <p:cTn id="60" fill="hold">
                            <p:stCondLst>
                              <p:cond delay="0"/>
                            </p:stCondLst>
                            <p:childTnLst>
                              <p:par>
                                <p:cTn id="61" presetID="2" presetClass="mediacall" presetSubtype="0" fill="hold" nodeType="clickEffect">
                                  <p:stCondLst>
                                    <p:cond delay="0"/>
                                  </p:stCondLst>
                                  <p:childTnLst>
                                    <p:cmd type="call" cmd="togglePause">
                                      <p:cBhvr>
                                        <p:cTn id="62" dur="1" fill="hold"/>
                                        <p:tgtEl>
                                          <p:spTgt spid="16"/>
                                        </p:tgtEl>
                                      </p:cBhvr>
                                    </p:cmd>
                                  </p:childTnLst>
                                </p:cTn>
                              </p:par>
                            </p:childTnLst>
                          </p:cTn>
                        </p:par>
                      </p:childTnLst>
                    </p:cTn>
                  </p:par>
                </p:childTnLst>
              </p:cTn>
              <p:nextCondLst>
                <p:cond evt="onClick" delay="0">
                  <p:tgtEl>
                    <p:spTgt spid="16"/>
                  </p:tgtEl>
                </p:cond>
              </p:nextCondLst>
            </p:seq>
            <p:audio>
              <p:cMediaNode vol="80000">
                <p:cTn id="63" fill="hold" display="0">
                  <p:stCondLst>
                    <p:cond delay="indefinite"/>
                  </p:stCondLst>
                  <p:endCondLst>
                    <p:cond evt="onStopAudio" delay="0">
                      <p:tgtEl>
                        <p:sldTgt/>
                      </p:tgtEl>
                    </p:cond>
                  </p:endCondLst>
                </p:cTn>
                <p:tgtEl>
                  <p:spTgt spid="14"/>
                </p:tgtEl>
              </p:cMediaNode>
            </p:audio>
            <p:audio>
              <p:cMediaNode vol="80000">
                <p:cTn id="64" fill="hold" display="0">
                  <p:stCondLst>
                    <p:cond delay="indefinite"/>
                  </p:stCondLst>
                  <p:endCondLst>
                    <p:cond evt="onStopAudio" delay="0">
                      <p:tgtEl>
                        <p:sldTgt/>
                      </p:tgtEl>
                    </p:cond>
                  </p:endCondLst>
                </p:cTn>
                <p:tgtEl>
                  <p:spTgt spid="16"/>
                </p:tgtEl>
              </p:cMediaNode>
            </p:audio>
          </p:childTnLst>
        </p:cTn>
      </p:par>
    </p:tnLst>
  </p:timing>
</p:sld>
</file>

<file path=ppt/slides/slide21.xml><?xml version="1.0" encoding="utf-8"?>
<p:sld xmlns:a="http://schemas.openxmlformats.org/drawingml/2006/main" xmlns:r="http://schemas.openxmlformats.org/officeDocument/2006/relationships" xmlns:p="http://schemas.openxmlformats.org/presentationml/2006/main">
  <p:cSld name="Slide 21">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602"/>
          <p:cNvSpPr/>
          <p:nvPr/>
        </p:nvSpPr>
        <p:spPr>
          <a:xfrm>
            <a:off x="201168" y="164592"/>
            <a:ext cx="841248" cy="841248"/>
          </a:xfrm>
          <a:prstGeom prst="ellipse">
            <a:avLst/>
          </a:prstGeom>
          <a:solidFill>
            <a:srgbClr val="E8508F"/>
          </a:solidFill>
          <a:ln w="28575">
            <a:solidFill>
              <a:srgbClr val="F7A6C4"/>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21</a:t>
            </a:r>
            <a:endParaRPr lang="en-US" sz="2200" dirty="0"/>
          </a:p>
        </p:txBody>
      </p:sp>
      <p:pic>
        <p:nvPicPr>
          <p:cNvPr id="4" name="brY_603" descr="/home/claude/lls-course/v2/assets/brush-yellow.png">    </p:cNvPr>
          <p:cNvPicPr>
            <a:picLocks noChangeAspect="1"/>
          </p:cNvPicPr>
          <p:nvPr/>
        </p:nvPicPr>
        <p:blipFill>
          <a:blip r:embed="rId2"/>
          <a:stretch>
            <a:fillRect/>
          </a:stretch>
        </p:blipFill>
        <p:spPr>
          <a:xfrm>
            <a:off x="1097280" y="146304"/>
            <a:ext cx="3719779" cy="621792"/>
          </a:xfrm>
          <a:prstGeom prst="rect">
            <a:avLst/>
          </a:prstGeom>
        </p:spPr>
      </p:pic>
      <p:sp>
        <p:nvSpPr>
          <p:cNvPr id="5" name="title_604"/>
          <p:cNvSpPr/>
          <p:nvPr/>
        </p:nvSpPr>
        <p:spPr>
          <a:xfrm>
            <a:off x="1261872" y="164592"/>
            <a:ext cx="3445459" cy="566928"/>
          </a:xfrm>
          <a:prstGeom prst="rect">
            <a:avLst/>
          </a:prstGeom>
          <a:noFill/>
          <a:ln/>
        </p:spPr>
        <p:txBody>
          <a:bodyPr wrap="square" lIns="0" tIns="0" rIns="0" bIns="0" rtlCol="0" anchor="ctr">
            <a:normAutofit/>
          </a:bodyPr>
          <a:lstStyle/>
          <a:p>
            <a:pPr indent="0" marL="0">
              <a:buNone/>
            </a:pPr>
            <a:r>
              <a:rPr lang="en-US" sz="2400" dirty="0">
                <a:solidFill>
                  <a:srgbClr val="1B2559"/>
                </a:solidFill>
                <a:latin typeface="Arial Rounded MT Bold" pitchFamily="34" charset="0"/>
                <a:ea typeface="Arial Rounded MT Bold" pitchFamily="34" charset="-122"/>
                <a:cs typeface="Arial Rounded MT Bold" pitchFamily="34" charset="-120"/>
              </a:rPr>
              <a:t>Noughts and crosses</a:t>
            </a:r>
            <a:endParaRPr lang="en-US" sz="2400" dirty="0"/>
          </a:p>
        </p:txBody>
      </p:sp>
      <p:pic>
        <p:nvPicPr>
          <p:cNvPr id="6" name="brP_605" descr="/home/claude/lls-course/v2/assets/brush-pink.png">    </p:cNvPr>
          <p:cNvPicPr>
            <a:picLocks noChangeAspect="1"/>
          </p:cNvPicPr>
          <p:nvPr/>
        </p:nvPicPr>
        <p:blipFill>
          <a:blip r:embed="rId3"/>
          <a:stretch>
            <a:fillRect/>
          </a:stretch>
        </p:blipFill>
        <p:spPr>
          <a:xfrm>
            <a:off x="1207008" y="731520"/>
            <a:ext cx="3598164" cy="402336"/>
          </a:xfrm>
          <a:prstGeom prst="rect">
            <a:avLst/>
          </a:prstGeom>
        </p:spPr>
      </p:pic>
      <p:sp>
        <p:nvSpPr>
          <p:cNvPr id="7" name="ins_606"/>
          <p:cNvSpPr/>
          <p:nvPr/>
        </p:nvSpPr>
        <p:spPr>
          <a:xfrm>
            <a:off x="1353312" y="731520"/>
            <a:ext cx="3342132"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Choose a square. Make a sentence!</a:t>
            </a:r>
            <a:endParaRPr lang="en-US" sz="1250" dirty="0"/>
          </a:p>
        </p:txBody>
      </p:sp>
      <p:sp>
        <p:nvSpPr>
          <p:cNvPr id="8" name="insIT_607"/>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Scegli una casella. Fai una frase!</a:t>
            </a:r>
            <a:endParaRPr lang="en-US" sz="950" dirty="0"/>
          </a:p>
        </p:txBody>
      </p:sp>
      <p:sp>
        <p:nvSpPr>
          <p:cNvPr id="9" name="note_608"/>
          <p:cNvSpPr/>
          <p:nvPr/>
        </p:nvSpPr>
        <p:spPr>
          <a:xfrm rot="180000">
            <a:off x="6382512" y="128016"/>
            <a:ext cx="2029968" cy="1024128"/>
          </a:xfrm>
          <a:prstGeom prst="rect">
            <a:avLst/>
          </a:prstGeom>
          <a:solidFill>
            <a:srgbClr val="FFC2DA"/>
          </a:solidFill>
          <a:ln>
            <a:solidFill>
              <a:srgbClr val="FFC2DA"/>
            </a:solidFill>
          </a:ln>
          <a:effectLst>
            <a:outerShdw sx="100000" sy="100000" kx="0" ky="0" algn="bl" rotWithShape="0" blurRad="88900" dist="31750" dir="5400000">
              <a:srgbClr val="1B2559">
                <a:alpha val="15000"/>
              </a:srgbClr>
            </a:outerShdw>
          </a:effectLst>
        </p:spPr>
        <p:txBody>
          <a:bodyPr wrap="square" lIns="50800" tIns="50800" rIns="50800" bIns="50800" rtlCol="0" anchor="ctr">
            <a:normAutofit/>
          </a:bodyPr>
          <a:lstStyle/>
          <a:p>
            <a:pPr algn="ctr" indent="0" marL="0">
              <a:buNone/>
            </a:pPr>
            <a:r>
              <a:rPr lang="en-US" sz="1250" dirty="0">
                <a:solidFill>
                  <a:srgbClr val="1B2559"/>
                </a:solidFill>
                <a:latin typeface="Arial Rounded MT Bold" pitchFamily="34" charset="0"/>
                <a:ea typeface="Arial Rounded MT Bold" pitchFamily="34" charset="-122"/>
                <a:cs typeface="Arial Rounded MT Bold" pitchFamily="34" charset="-120"/>
              </a:rPr>
              <a:t>🎲 PLAY</a:t>
            </a:r>
            <a:pPr algn="ctr" indent="0" marL="0">
              <a:buNone/>
            </a:pPr>
            <a:r>
              <a:rPr lang="en-US" sz="1250" dirty="0">
                <a:solidFill>
                  <a:srgbClr val="1B2559"/>
                </a:solidFill>
                <a:latin typeface="Arial Rounded MT Bold" pitchFamily="34" charset="0"/>
                <a:ea typeface="Arial Rounded MT Bold" pitchFamily="34" charset="-122"/>
                <a:cs typeface="Arial Rounded MT Bold" pitchFamily="34" charset="-120"/>
              </a:rPr>
              <a:t> · GIOCA</a:t>
            </a:r>
            <a:endParaRPr lang="en-US" sz="1250" dirty="0"/>
          </a:p>
          <a:p>
            <a:pPr algn="ctr" indent="0" marL="0">
              <a:buNone/>
            </a:pPr>
            <a:r>
              <a:rPr lang="en-US" sz="1100" dirty="0">
                <a:solidFill>
                  <a:srgbClr val="1B2559"/>
                </a:solidFill>
                <a:latin typeface="Segoe UI Semibold" pitchFamily="34" charset="0"/>
                <a:ea typeface="Segoe UI Semibold" pitchFamily="34" charset="-122"/>
                <a:cs typeface="Segoe UI Semibold" pitchFamily="34" charset="-120"/>
              </a:rPr>
              <a:t>⏱ 4 min   🏆 teams</a:t>
            </a:r>
            <a:endParaRPr lang="en-US" sz="1250" dirty="0"/>
          </a:p>
          <a:p>
            <a:pPr algn="ctr" indent="0" marL="0">
              <a:buNone/>
            </a:pPr>
            <a:r>
              <a:rPr lang="en-US" sz="900" dirty="0">
                <a:solidFill>
                  <a:srgbClr val="5B6785"/>
                </a:solidFill>
                <a:latin typeface="Segoe UI Semibold" pitchFamily="34" charset="0"/>
                <a:ea typeface="Segoe UI Semibold" pitchFamily="34" charset="-122"/>
                <a:cs typeface="Segoe UI Semibold" pitchFamily="34" charset="-120"/>
              </a:rPr>
              <a:t>🎯 Grammar · Communicative game</a:t>
            </a:r>
            <a:endParaRPr lang="en-US" sz="1250" dirty="0"/>
          </a:p>
        </p:txBody>
      </p:sp>
      <p:pic>
        <p:nvPicPr>
          <p:cNvPr id="10" name="logo_609"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1" name="foot_610"/>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3B-1 · Grammar game · noughts and crosses</a:t>
            </a:r>
            <a:endParaRPr lang="en-US" sz="800" dirty="0"/>
          </a:p>
        </p:txBody>
      </p:sp>
      <p:sp>
        <p:nvSpPr>
          <p:cNvPr id="12" name="cd_611"/>
          <p:cNvSpPr/>
          <p:nvPr/>
        </p:nvSpPr>
        <p:spPr>
          <a:xfrm>
            <a:off x="320040" y="1417320"/>
            <a:ext cx="2697480" cy="2514600"/>
          </a:xfrm>
          <a:prstGeom prst="roundRect">
            <a:avLst>
              <a:gd name="adj" fmla="val 5091"/>
            </a:avLst>
          </a:prstGeom>
          <a:solidFill>
            <a:srgbClr val="EEE8FB"/>
          </a:solidFill>
          <a:ln w="28575">
            <a:solidFill>
              <a:srgbClr val="CDBFF3"/>
            </a:solidFill>
            <a:prstDash val="solid"/>
          </a:ln>
          <a:effectLst>
            <a:outerShdw sx="100000" sy="100000" kx="0" ky="0" algn="bl" rotWithShape="0" blurRad="88900" dist="31750" dir="5400000">
              <a:srgbClr val="1B2559">
                <a:alpha val="12000"/>
              </a:srgbClr>
            </a:outerShdw>
          </a:effectLst>
        </p:spPr>
      </p:sp>
      <p:sp>
        <p:nvSpPr>
          <p:cNvPr id="13" name="ii_612"/>
          <p:cNvSpPr/>
          <p:nvPr/>
        </p:nvSpPr>
        <p:spPr>
          <a:xfrm>
            <a:off x="411480" y="149047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4" name="ih_613"/>
          <p:cNvSpPr/>
          <p:nvPr/>
        </p:nvSpPr>
        <p:spPr>
          <a:xfrm>
            <a:off x="886968" y="1508760"/>
            <a:ext cx="2057400" cy="365760"/>
          </a:xfrm>
          <a:prstGeom prst="rect">
            <a:avLst/>
          </a:prstGeom>
          <a:noFill/>
          <a:ln/>
        </p:spPr>
        <p:txBody>
          <a:bodyPr wrap="square" lIns="0" tIns="0" rIns="0" bIns="0" rtlCol="0" anchor="ctr"/>
          <a:lstStyle/>
          <a:p>
            <a:pPr indent="0" marL="0">
              <a:buNone/>
            </a:pPr>
            <a:r>
              <a:rPr lang="en-US" sz="1400" dirty="0">
                <a:solidFill>
                  <a:srgbClr val="1B2559"/>
                </a:solidFill>
                <a:latin typeface="Arial Rounded MT Bold" pitchFamily="34" charset="0"/>
                <a:ea typeface="Arial Rounded MT Bold" pitchFamily="34" charset="-122"/>
                <a:cs typeface="Arial Rounded MT Bold" pitchFamily="34" charset="-120"/>
              </a:rPr>
              <a:t>How to play</a:t>
            </a:r>
            <a:endParaRPr lang="en-US" sz="1400" dirty="0"/>
          </a:p>
        </p:txBody>
      </p:sp>
      <p:sp>
        <p:nvSpPr>
          <p:cNvPr id="15" name="il_614"/>
          <p:cNvSpPr/>
          <p:nvPr/>
        </p:nvSpPr>
        <p:spPr>
          <a:xfrm>
            <a:off x="886968" y="1911096"/>
            <a:ext cx="2039112" cy="1947672"/>
          </a:xfrm>
          <a:prstGeom prst="rect">
            <a:avLst/>
          </a:prstGeom>
          <a:noFill/>
          <a:ln/>
        </p:spPr>
        <p:txBody>
          <a:bodyPr wrap="square" lIns="0" tIns="0" rIns="0" bIns="0" rtlCol="0" anchor="t">
            <a:normAutofit/>
          </a:bodyPr>
          <a:lstStyle/>
          <a:p>
            <a:pPr marL="152400" indent="-152400">
              <a:spcAft>
                <a:spcPts val="200"/>
              </a:spcAft>
              <a:buSzPct val="100000"/>
              <a:buChar char="•"/>
            </a:pPr>
            <a:r>
              <a:rPr lang="en-US" sz="900" dirty="0">
                <a:solidFill>
                  <a:srgbClr val="1B2559"/>
                </a:solidFill>
                <a:latin typeface="Segoe UI Semibold" pitchFamily="34" charset="0"/>
                <a:ea typeface="Segoe UI Semibold" pitchFamily="34" charset="-122"/>
                <a:cs typeface="Segoe UI Semibold" pitchFamily="34" charset="-120"/>
              </a:rPr>
              <a:t>Team O or X: choose a square 1–9.</a:t>
            </a:r>
            <a:endParaRPr lang="en-US" sz="900" dirty="0"/>
          </a:p>
          <a:p>
            <a:pPr marL="152400" indent="-152400">
              <a:spcAft>
                <a:spcPts val="200"/>
              </a:spcAft>
              <a:buSzPct val="100000"/>
              <a:buChar char=" "/>
            </a:pPr>
            <a:r>
              <a:rPr lang="en-US" sz="900" dirty="0">
                <a:solidFill>
                  <a:srgbClr val="5B6785"/>
                </a:solidFill>
                <a:latin typeface="Segoe UI Semibold" pitchFamily="34" charset="0"/>
                <a:ea typeface="Segoe UI Semibold" pitchFamily="34" charset="-122"/>
                <a:cs typeface="Segoe UI Semibold" pitchFamily="34" charset="-120"/>
              </a:rPr>
              <a:t>Squadra O o X: scegliete una casella 1–9.</a:t>
            </a:r>
            <a:endParaRPr lang="en-US" sz="900" dirty="0"/>
          </a:p>
          <a:p>
            <a:pPr marL="152400" indent="-152400">
              <a:spcBef>
                <a:spcPts val="600"/>
              </a:spcBef>
              <a:spcAft>
                <a:spcPts val="200"/>
              </a:spcAft>
              <a:buSzPct val="100000"/>
              <a:buChar char="•"/>
            </a:pPr>
            <a:r>
              <a:rPr lang="en-US" sz="900" dirty="0">
                <a:solidFill>
                  <a:srgbClr val="1B2559"/>
                </a:solidFill>
                <a:latin typeface="Segoe UI Semibold" pitchFamily="34" charset="0"/>
                <a:ea typeface="Segoe UI Semibold" pitchFamily="34" charset="-122"/>
                <a:cs typeface="Segoe UI Semibold" pitchFamily="34" charset="-120"/>
              </a:rPr>
              <a:t>Make a correct sentence with the word.</a:t>
            </a:r>
            <a:endParaRPr lang="en-US" sz="900" dirty="0"/>
          </a:p>
          <a:p>
            <a:pPr marL="152400" indent="-152400">
              <a:spcAft>
                <a:spcPts val="200"/>
              </a:spcAft>
              <a:buSzPct val="100000"/>
              <a:buChar char=" "/>
            </a:pPr>
            <a:r>
              <a:rPr lang="en-US" sz="900" dirty="0">
                <a:solidFill>
                  <a:srgbClr val="5B6785"/>
                </a:solidFill>
                <a:latin typeface="Segoe UI Semibold" pitchFamily="34" charset="0"/>
                <a:ea typeface="Segoe UI Semibold" pitchFamily="34" charset="-122"/>
                <a:cs typeface="Segoe UI Semibold" pitchFamily="34" charset="-120"/>
              </a:rPr>
              <a:t>Fate una frase corretta con la parola.</a:t>
            </a:r>
            <a:endParaRPr lang="en-US" sz="900" dirty="0"/>
          </a:p>
          <a:p>
            <a:pPr marL="152400" indent="-152400">
              <a:spcBef>
                <a:spcPts val="600"/>
              </a:spcBef>
              <a:spcAft>
                <a:spcPts val="200"/>
              </a:spcAft>
              <a:buSzPct val="100000"/>
              <a:buChar char="•"/>
            </a:pPr>
            <a:r>
              <a:rPr lang="en-US" sz="900" dirty="0">
                <a:solidFill>
                  <a:srgbClr val="1B2559"/>
                </a:solidFill>
                <a:latin typeface="Segoe UI Semibold" pitchFamily="34" charset="0"/>
                <a:ea typeface="Segoe UI Semibold" pitchFamily="34" charset="-122"/>
                <a:cs typeface="Segoe UI Semibold" pitchFamily="34" charset="-120"/>
              </a:rPr>
              <a:t>Correct article = win the square!</a:t>
            </a:r>
            <a:endParaRPr lang="en-US" sz="900" dirty="0"/>
          </a:p>
          <a:p>
            <a:pPr marL="152400" indent="-152400">
              <a:spcAft>
                <a:spcPts val="200"/>
              </a:spcAft>
              <a:buSzPct val="100000"/>
              <a:buChar char=" "/>
            </a:pPr>
            <a:r>
              <a:rPr lang="en-US" sz="900" dirty="0">
                <a:solidFill>
                  <a:srgbClr val="5B6785"/>
                </a:solidFill>
                <a:latin typeface="Segoe UI Semibold" pitchFamily="34" charset="0"/>
                <a:ea typeface="Segoe UI Semibold" pitchFamily="34" charset="-122"/>
                <a:cs typeface="Segoe UI Semibold" pitchFamily="34" charset="-120"/>
              </a:rPr>
              <a:t>Articolo giusto = vincete la casella!</a:t>
            </a:r>
            <a:endParaRPr lang="en-US" sz="900" dirty="0"/>
          </a:p>
        </p:txBody>
      </p:sp>
      <p:sp>
        <p:nvSpPr>
          <p:cNvPr id="16" name="pf_615"/>
          <p:cNvSpPr/>
          <p:nvPr/>
        </p:nvSpPr>
        <p:spPr>
          <a:xfrm rot="-120000">
            <a:off x="753661" y="4069080"/>
            <a:ext cx="1784518" cy="1143000"/>
          </a:xfrm>
          <a:prstGeom prst="roundRect">
            <a:avLst>
              <a:gd name="adj" fmla="val 13600"/>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17" name="ph_616" descr="/home/claude/lls-course/v2/cache/3b1_noughts_jpg_407x253_31.png">    </p:cNvPr>
          <p:cNvPicPr>
            <a:picLocks noChangeAspect="1"/>
          </p:cNvPicPr>
          <p:nvPr/>
        </p:nvPicPr>
        <p:blipFill>
          <a:blip r:embed="rId5"/>
          <a:stretch>
            <a:fillRect/>
          </a:stretch>
        </p:blipFill>
        <p:spPr>
          <a:xfrm rot="-120000">
            <a:off x="799381" y="4114800"/>
            <a:ext cx="1693078" cy="1051560"/>
          </a:xfrm>
          <a:prstGeom prst="rect">
            <a:avLst/>
          </a:prstGeom>
        </p:spPr>
      </p:pic>
      <p:sp>
        <p:nvSpPr>
          <p:cNvPr id="18" name="bd_617"/>
          <p:cNvSpPr/>
          <p:nvPr/>
        </p:nvSpPr>
        <p:spPr>
          <a:xfrm>
            <a:off x="3246120" y="1401064"/>
            <a:ext cx="329184" cy="329184"/>
          </a:xfrm>
          <a:prstGeom prst="ellipse">
            <a:avLst/>
          </a:prstGeom>
          <a:solidFill>
            <a:srgbClr val="7B5CD6"/>
          </a:solidFill>
          <a:ln w="28575">
            <a:solidFill>
              <a:srgbClr val="CDBFF3"/>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500" dirty="0">
                <a:solidFill>
                  <a:srgbClr val="FFFFFF"/>
                </a:solidFill>
                <a:latin typeface="Arial Rounded MT Bold" pitchFamily="34" charset="0"/>
                <a:ea typeface="Arial Rounded MT Bold" pitchFamily="34" charset="-122"/>
                <a:cs typeface="Arial Rounded MT Bold" pitchFamily="34" charset="-120"/>
              </a:rPr>
              <a:t>e.g.</a:t>
            </a:r>
            <a:endParaRPr lang="en-US" sz="500" dirty="0"/>
          </a:p>
        </p:txBody>
      </p:sp>
      <p:sp>
        <p:nvSpPr>
          <p:cNvPr id="19" name="gq_618"/>
          <p:cNvSpPr/>
          <p:nvPr/>
        </p:nvSpPr>
        <p:spPr>
          <a:xfrm>
            <a:off x="3657600" y="1417320"/>
            <a:ext cx="2514600" cy="296672"/>
          </a:xfrm>
          <a:prstGeom prst="roundRect">
            <a:avLst>
              <a:gd name="adj" fmla="val 30822"/>
            </a:avLst>
          </a:prstGeom>
          <a:solidFill>
            <a:srgbClr val="EEE8FB"/>
          </a:solidFill>
          <a:ln w="28575">
            <a:solidFill>
              <a:srgbClr val="CDBFF3"/>
            </a:solidFill>
          </a:ln>
        </p:spPr>
        <p:txBody>
          <a:bodyPr wrap="square" lIns="101600" tIns="0" rIns="101600" bIns="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1 · moon</a:t>
            </a:r>
            <a:endParaRPr lang="en-US" sz="1250" dirty="0"/>
          </a:p>
        </p:txBody>
      </p:sp>
      <p:sp>
        <p:nvSpPr>
          <p:cNvPr id="20" name="chip_619"/>
          <p:cNvSpPr/>
          <p:nvPr/>
        </p:nvSpPr>
        <p:spPr>
          <a:xfrm>
            <a:off x="6263640" y="1417320"/>
            <a:ext cx="2560320" cy="296672"/>
          </a:xfrm>
          <a:prstGeom prst="roundRect">
            <a:avLst>
              <a:gd name="adj" fmla="val 30822"/>
            </a:avLst>
          </a:prstGeom>
          <a:solidFill>
            <a:srgbClr val="EEE8FB"/>
          </a:solidFill>
          <a:ln w="28575">
            <a:solidFill>
              <a:srgbClr val="CDBFF3"/>
            </a:solidFill>
          </a:ln>
        </p:spPr>
        <p:txBody>
          <a:bodyPr wrap="square" lIns="101600" tIns="0" rIns="101600" bIns="0" rtlCol="0" anchor="ctr">
            <a:normAutofit/>
          </a:bodyPr>
          <a:lstStyle/>
          <a:p>
            <a:pPr algn="l" indent="0" marL="0">
              <a:buNone/>
            </a:pPr>
            <a:r>
              <a:rPr lang="en-US" sz="900" b="1" dirty="0">
                <a:solidFill>
                  <a:srgbClr val="1B2559"/>
                </a:solidFill>
                <a:latin typeface="Segoe UI Semibold" pitchFamily="34" charset="0"/>
                <a:ea typeface="Segoe UI Semibold" pitchFamily="34" charset="-122"/>
                <a:cs typeface="Segoe UI Semibold" pitchFamily="34" charset="-120"/>
              </a:rPr>
              <a:t>→ the moon (only one)</a:t>
            </a:r>
            <a:endParaRPr lang="en-US" sz="900" dirty="0"/>
          </a:p>
        </p:txBody>
      </p:sp>
      <p:sp>
        <p:nvSpPr>
          <p:cNvPr id="21" name="bd_620"/>
          <p:cNvSpPr/>
          <p:nvPr/>
        </p:nvSpPr>
        <p:spPr>
          <a:xfrm>
            <a:off x="3246120" y="1761744"/>
            <a:ext cx="329184" cy="329184"/>
          </a:xfrm>
          <a:prstGeom prst="ellipse">
            <a:avLst/>
          </a:prstGeom>
          <a:solidFill>
            <a:srgbClr val="E8508F"/>
          </a:solidFill>
          <a:ln w="28575">
            <a:solidFill>
              <a:srgbClr val="F7A6C4"/>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1</a:t>
            </a:r>
            <a:endParaRPr lang="en-US" sz="1100" dirty="0"/>
          </a:p>
        </p:txBody>
      </p:sp>
      <p:sp>
        <p:nvSpPr>
          <p:cNvPr id="22" name="gq_621"/>
          <p:cNvSpPr/>
          <p:nvPr/>
        </p:nvSpPr>
        <p:spPr>
          <a:xfrm>
            <a:off x="3657600" y="1778000"/>
            <a:ext cx="2514600" cy="296672"/>
          </a:xfrm>
          <a:prstGeom prst="roundRect">
            <a:avLst>
              <a:gd name="adj" fmla="val 30822"/>
            </a:avLst>
          </a:prstGeom>
          <a:solidFill>
            <a:srgbClr val="FFFFFF"/>
          </a:solidFill>
          <a:ln w="28575">
            <a:solidFill>
              <a:srgbClr val="F7A6C4"/>
            </a:solidFill>
          </a:ln>
        </p:spPr>
        <p:txBody>
          <a:bodyPr wrap="square" lIns="101600" tIns="0" rIns="101600" bIns="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2 · Tuesday</a:t>
            </a:r>
            <a:endParaRPr lang="en-US" sz="1250" dirty="0"/>
          </a:p>
        </p:txBody>
      </p:sp>
      <p:sp>
        <p:nvSpPr>
          <p:cNvPr id="23" name="R1_chip622"/>
          <p:cNvSpPr/>
          <p:nvPr/>
        </p:nvSpPr>
        <p:spPr>
          <a:xfrm>
            <a:off x="6263640" y="1778000"/>
            <a:ext cx="2560320" cy="296672"/>
          </a:xfrm>
          <a:prstGeom prst="roundRect">
            <a:avLst>
              <a:gd name="adj" fmla="val 30822"/>
            </a:avLst>
          </a:prstGeom>
          <a:solidFill>
            <a:srgbClr val="FFE3EE"/>
          </a:solidFill>
          <a:ln w="28575">
            <a:solidFill>
              <a:srgbClr val="F7A6C4"/>
            </a:solidFill>
          </a:ln>
        </p:spPr>
        <p:txBody>
          <a:bodyPr wrap="square" lIns="101600" tIns="0" rIns="101600" bIns="0" rtlCol="0" anchor="ctr">
            <a:normAutofit/>
          </a:bodyPr>
          <a:lstStyle/>
          <a:p>
            <a:pPr algn="l" indent="0" marL="0">
              <a:buNone/>
            </a:pPr>
            <a:r>
              <a:rPr lang="en-US" sz="900" b="1" dirty="0">
                <a:solidFill>
                  <a:srgbClr val="1B2559"/>
                </a:solidFill>
                <a:latin typeface="Segoe UI Semibold" pitchFamily="34" charset="0"/>
                <a:ea typeface="Segoe UI Semibold" pitchFamily="34" charset="-122"/>
                <a:cs typeface="Segoe UI Semibold" pitchFamily="34" charset="-120"/>
              </a:rPr>
              <a:t>→ on – Tuesday (days)</a:t>
            </a:r>
            <a:endParaRPr lang="en-US" sz="900" dirty="0"/>
          </a:p>
        </p:txBody>
      </p:sp>
      <p:sp>
        <p:nvSpPr>
          <p:cNvPr id="24" name="bd_623"/>
          <p:cNvSpPr/>
          <p:nvPr/>
        </p:nvSpPr>
        <p:spPr>
          <a:xfrm>
            <a:off x="3246120" y="2122424"/>
            <a:ext cx="329184" cy="329184"/>
          </a:xfrm>
          <a:prstGeom prst="ellipse">
            <a:avLst/>
          </a:prstGeom>
          <a:solidFill>
            <a:srgbClr val="2F8DE4"/>
          </a:solidFill>
          <a:ln w="28575">
            <a:solidFill>
              <a:srgbClr val="A9D3F5"/>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2</a:t>
            </a:r>
            <a:endParaRPr lang="en-US" sz="1100" dirty="0"/>
          </a:p>
        </p:txBody>
      </p:sp>
      <p:sp>
        <p:nvSpPr>
          <p:cNvPr id="25" name="gq_624"/>
          <p:cNvSpPr/>
          <p:nvPr/>
        </p:nvSpPr>
        <p:spPr>
          <a:xfrm>
            <a:off x="3657600" y="2138680"/>
            <a:ext cx="2514600" cy="296672"/>
          </a:xfrm>
          <a:prstGeom prst="roundRect">
            <a:avLst>
              <a:gd name="adj" fmla="val 30822"/>
            </a:avLst>
          </a:prstGeom>
          <a:solidFill>
            <a:srgbClr val="FFFFFF"/>
          </a:solidFill>
          <a:ln w="28575">
            <a:solidFill>
              <a:srgbClr val="A9D3F5"/>
            </a:solidFill>
          </a:ln>
        </p:spPr>
        <p:txBody>
          <a:bodyPr wrap="square" lIns="101600" tIns="0" rIns="101600" bIns="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3 · honest man</a:t>
            </a:r>
            <a:endParaRPr lang="en-US" sz="1250" dirty="0"/>
          </a:p>
        </p:txBody>
      </p:sp>
      <p:sp>
        <p:nvSpPr>
          <p:cNvPr id="26" name="R2_chip625"/>
          <p:cNvSpPr/>
          <p:nvPr/>
        </p:nvSpPr>
        <p:spPr>
          <a:xfrm>
            <a:off x="6263640" y="2138680"/>
            <a:ext cx="2560320" cy="296672"/>
          </a:xfrm>
          <a:prstGeom prst="roundRect">
            <a:avLst>
              <a:gd name="adj" fmla="val 30822"/>
            </a:avLst>
          </a:prstGeom>
          <a:solidFill>
            <a:srgbClr val="FFE3EE"/>
          </a:solidFill>
          <a:ln w="28575">
            <a:solidFill>
              <a:srgbClr val="F7A6C4"/>
            </a:solidFill>
          </a:ln>
        </p:spPr>
        <p:txBody>
          <a:bodyPr wrap="square" lIns="101600" tIns="0" rIns="101600" bIns="0" rtlCol="0" anchor="ctr">
            <a:normAutofit/>
          </a:bodyPr>
          <a:lstStyle/>
          <a:p>
            <a:pPr algn="l" indent="0" marL="0">
              <a:buNone/>
            </a:pPr>
            <a:r>
              <a:rPr lang="en-US" sz="900" b="1" dirty="0">
                <a:solidFill>
                  <a:srgbClr val="1B2559"/>
                </a:solidFill>
                <a:latin typeface="Segoe UI Semibold" pitchFamily="34" charset="0"/>
                <a:ea typeface="Segoe UI Semibold" pitchFamily="34" charset="-122"/>
                <a:cs typeface="Segoe UI Semibold" pitchFamily="34" charset="-120"/>
              </a:rPr>
              <a:t>→ an honest man (h is silent!)</a:t>
            </a:r>
            <a:endParaRPr lang="en-US" sz="900" dirty="0"/>
          </a:p>
        </p:txBody>
      </p:sp>
      <p:sp>
        <p:nvSpPr>
          <p:cNvPr id="27" name="bd_626"/>
          <p:cNvSpPr/>
          <p:nvPr/>
        </p:nvSpPr>
        <p:spPr>
          <a:xfrm>
            <a:off x="3246120" y="2483104"/>
            <a:ext cx="329184" cy="329184"/>
          </a:xfrm>
          <a:prstGeom prst="ellipse">
            <a:avLst/>
          </a:prstGeom>
          <a:solidFill>
            <a:srgbClr val="2EB872"/>
          </a:solidFill>
          <a:ln w="28575">
            <a:solidFill>
              <a:srgbClr val="A8E5BE"/>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3</a:t>
            </a:r>
            <a:endParaRPr lang="en-US" sz="1100" dirty="0"/>
          </a:p>
        </p:txBody>
      </p:sp>
      <p:sp>
        <p:nvSpPr>
          <p:cNvPr id="28" name="gq_627"/>
          <p:cNvSpPr/>
          <p:nvPr/>
        </p:nvSpPr>
        <p:spPr>
          <a:xfrm>
            <a:off x="3657600" y="2499360"/>
            <a:ext cx="2514600" cy="296672"/>
          </a:xfrm>
          <a:prstGeom prst="roundRect">
            <a:avLst>
              <a:gd name="adj" fmla="val 30822"/>
            </a:avLst>
          </a:prstGeom>
          <a:solidFill>
            <a:srgbClr val="FFFFFF"/>
          </a:solidFill>
          <a:ln w="28575">
            <a:solidFill>
              <a:srgbClr val="A8E5BE"/>
            </a:solidFill>
          </a:ln>
        </p:spPr>
        <p:txBody>
          <a:bodyPr wrap="square" lIns="101600" tIns="0" rIns="101600" bIns="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4 · breakfast</a:t>
            </a:r>
            <a:endParaRPr lang="en-US" sz="1250" dirty="0"/>
          </a:p>
        </p:txBody>
      </p:sp>
      <p:sp>
        <p:nvSpPr>
          <p:cNvPr id="29" name="R3_chip628"/>
          <p:cNvSpPr/>
          <p:nvPr/>
        </p:nvSpPr>
        <p:spPr>
          <a:xfrm>
            <a:off x="6263640" y="2499360"/>
            <a:ext cx="2560320" cy="296672"/>
          </a:xfrm>
          <a:prstGeom prst="roundRect">
            <a:avLst>
              <a:gd name="adj" fmla="val 30822"/>
            </a:avLst>
          </a:prstGeom>
          <a:solidFill>
            <a:srgbClr val="FFE3EE"/>
          </a:solidFill>
          <a:ln w="28575">
            <a:solidFill>
              <a:srgbClr val="F7A6C4"/>
            </a:solidFill>
          </a:ln>
        </p:spPr>
        <p:txBody>
          <a:bodyPr wrap="square" lIns="101600" tIns="0" rIns="101600" bIns="0" rtlCol="0" anchor="ctr">
            <a:normAutofit/>
          </a:bodyPr>
          <a:lstStyle/>
          <a:p>
            <a:pPr algn="l" indent="0" marL="0">
              <a:buNone/>
            </a:pPr>
            <a:r>
              <a:rPr lang="en-US" sz="900" b="1" dirty="0">
                <a:solidFill>
                  <a:srgbClr val="1B2559"/>
                </a:solidFill>
                <a:latin typeface="Segoe UI Semibold" pitchFamily="34" charset="0"/>
                <a:ea typeface="Segoe UI Semibold" pitchFamily="34" charset="-122"/>
                <a:cs typeface="Segoe UI Semibold" pitchFamily="34" charset="-120"/>
              </a:rPr>
              <a:t>→ have – breakfast (meals)</a:t>
            </a:r>
            <a:endParaRPr lang="en-US" sz="900" dirty="0"/>
          </a:p>
        </p:txBody>
      </p:sp>
      <p:sp>
        <p:nvSpPr>
          <p:cNvPr id="30" name="bd_629"/>
          <p:cNvSpPr/>
          <p:nvPr/>
        </p:nvSpPr>
        <p:spPr>
          <a:xfrm>
            <a:off x="3246120" y="2843784"/>
            <a:ext cx="329184" cy="329184"/>
          </a:xfrm>
          <a:prstGeom prst="ellipse">
            <a:avLst/>
          </a:prstGeom>
          <a:solidFill>
            <a:srgbClr val="F2B705"/>
          </a:solidFill>
          <a:ln w="28575">
            <a:solidFill>
              <a:srgbClr val="FFE07A"/>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4</a:t>
            </a:r>
            <a:endParaRPr lang="en-US" sz="1100" dirty="0"/>
          </a:p>
        </p:txBody>
      </p:sp>
      <p:sp>
        <p:nvSpPr>
          <p:cNvPr id="31" name="gq_630"/>
          <p:cNvSpPr/>
          <p:nvPr/>
        </p:nvSpPr>
        <p:spPr>
          <a:xfrm>
            <a:off x="3657600" y="2860040"/>
            <a:ext cx="2514600" cy="296672"/>
          </a:xfrm>
          <a:prstGeom prst="roundRect">
            <a:avLst>
              <a:gd name="adj" fmla="val 30822"/>
            </a:avLst>
          </a:prstGeom>
          <a:solidFill>
            <a:srgbClr val="FFFFFF"/>
          </a:solidFill>
          <a:ln w="28575">
            <a:solidFill>
              <a:srgbClr val="FFE07A"/>
            </a:solidFill>
          </a:ln>
        </p:spPr>
        <p:txBody>
          <a:bodyPr wrap="square" lIns="101600" tIns="0" rIns="101600" bIns="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5 · best pizza</a:t>
            </a:r>
            <a:endParaRPr lang="en-US" sz="1250" dirty="0"/>
          </a:p>
        </p:txBody>
      </p:sp>
      <p:sp>
        <p:nvSpPr>
          <p:cNvPr id="32" name="R4_chip631"/>
          <p:cNvSpPr/>
          <p:nvPr/>
        </p:nvSpPr>
        <p:spPr>
          <a:xfrm>
            <a:off x="6263640" y="2860040"/>
            <a:ext cx="2560320" cy="296672"/>
          </a:xfrm>
          <a:prstGeom prst="roundRect">
            <a:avLst>
              <a:gd name="adj" fmla="val 30822"/>
            </a:avLst>
          </a:prstGeom>
          <a:solidFill>
            <a:srgbClr val="FFE3EE"/>
          </a:solidFill>
          <a:ln w="28575">
            <a:solidFill>
              <a:srgbClr val="F7A6C4"/>
            </a:solidFill>
          </a:ln>
        </p:spPr>
        <p:txBody>
          <a:bodyPr wrap="square" lIns="101600" tIns="0" rIns="101600" bIns="0" rtlCol="0" anchor="ctr">
            <a:normAutofit/>
          </a:bodyPr>
          <a:lstStyle/>
          <a:p>
            <a:pPr algn="l" indent="0" marL="0">
              <a:buNone/>
            </a:pPr>
            <a:r>
              <a:rPr lang="en-US" sz="900" b="1" dirty="0">
                <a:solidFill>
                  <a:srgbClr val="1B2559"/>
                </a:solidFill>
                <a:latin typeface="Segoe UI Semibold" pitchFamily="34" charset="0"/>
                <a:ea typeface="Segoe UI Semibold" pitchFamily="34" charset="-122"/>
                <a:cs typeface="Segoe UI Semibold" pitchFamily="34" charset="-120"/>
              </a:rPr>
              <a:t>→ the best pizza in town</a:t>
            </a:r>
            <a:endParaRPr lang="en-US" sz="900" dirty="0"/>
          </a:p>
        </p:txBody>
      </p:sp>
      <p:sp>
        <p:nvSpPr>
          <p:cNvPr id="33" name="bd_632"/>
          <p:cNvSpPr/>
          <p:nvPr/>
        </p:nvSpPr>
        <p:spPr>
          <a:xfrm>
            <a:off x="3246120" y="3204464"/>
            <a:ext cx="329184" cy="329184"/>
          </a:xfrm>
          <a:prstGeom prst="ellipse">
            <a:avLst/>
          </a:prstGeom>
          <a:solidFill>
            <a:srgbClr val="E8508F"/>
          </a:solidFill>
          <a:ln w="28575">
            <a:solidFill>
              <a:srgbClr val="F7A6C4"/>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5</a:t>
            </a:r>
            <a:endParaRPr lang="en-US" sz="1100" dirty="0"/>
          </a:p>
        </p:txBody>
      </p:sp>
      <p:sp>
        <p:nvSpPr>
          <p:cNvPr id="34" name="gq_633"/>
          <p:cNvSpPr/>
          <p:nvPr/>
        </p:nvSpPr>
        <p:spPr>
          <a:xfrm>
            <a:off x="3657600" y="3220720"/>
            <a:ext cx="2514600" cy="296672"/>
          </a:xfrm>
          <a:prstGeom prst="roundRect">
            <a:avLst>
              <a:gd name="adj" fmla="val 30822"/>
            </a:avLst>
          </a:prstGeom>
          <a:solidFill>
            <a:srgbClr val="FFFFFF"/>
          </a:solidFill>
          <a:ln w="28575">
            <a:solidFill>
              <a:srgbClr val="F7A6C4"/>
            </a:solidFill>
          </a:ln>
        </p:spPr>
        <p:txBody>
          <a:bodyPr wrap="square" lIns="101600" tIns="0" rIns="101600" bIns="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6 · home</a:t>
            </a:r>
            <a:endParaRPr lang="en-US" sz="1250" dirty="0"/>
          </a:p>
        </p:txBody>
      </p:sp>
      <p:sp>
        <p:nvSpPr>
          <p:cNvPr id="35" name="R5_chip634"/>
          <p:cNvSpPr/>
          <p:nvPr/>
        </p:nvSpPr>
        <p:spPr>
          <a:xfrm>
            <a:off x="6263640" y="3220720"/>
            <a:ext cx="2560320" cy="296672"/>
          </a:xfrm>
          <a:prstGeom prst="roundRect">
            <a:avLst>
              <a:gd name="adj" fmla="val 30822"/>
            </a:avLst>
          </a:prstGeom>
          <a:solidFill>
            <a:srgbClr val="FFE3EE"/>
          </a:solidFill>
          <a:ln w="28575">
            <a:solidFill>
              <a:srgbClr val="F7A6C4"/>
            </a:solidFill>
          </a:ln>
        </p:spPr>
        <p:txBody>
          <a:bodyPr wrap="square" lIns="101600" tIns="0" rIns="101600" bIns="0" rtlCol="0" anchor="ctr">
            <a:normAutofit/>
          </a:bodyPr>
          <a:lstStyle/>
          <a:p>
            <a:pPr algn="l" indent="0" marL="0">
              <a:buNone/>
            </a:pPr>
            <a:r>
              <a:rPr lang="en-US" sz="900" b="1" dirty="0">
                <a:solidFill>
                  <a:srgbClr val="1B2559"/>
                </a:solidFill>
                <a:latin typeface="Segoe UI Semibold" pitchFamily="34" charset="0"/>
                <a:ea typeface="Segoe UI Semibold" pitchFamily="34" charset="-122"/>
                <a:cs typeface="Segoe UI Semibold" pitchFamily="34" charset="-120"/>
              </a:rPr>
              <a:t>→ at – home / go – home</a:t>
            </a:r>
            <a:endParaRPr lang="en-US" sz="900" dirty="0"/>
          </a:p>
        </p:txBody>
      </p:sp>
      <p:sp>
        <p:nvSpPr>
          <p:cNvPr id="36" name="bd_635"/>
          <p:cNvSpPr/>
          <p:nvPr/>
        </p:nvSpPr>
        <p:spPr>
          <a:xfrm>
            <a:off x="3246120" y="3565144"/>
            <a:ext cx="329184" cy="329184"/>
          </a:xfrm>
          <a:prstGeom prst="ellipse">
            <a:avLst/>
          </a:prstGeom>
          <a:solidFill>
            <a:srgbClr val="2F8DE4"/>
          </a:solidFill>
          <a:ln w="28575">
            <a:solidFill>
              <a:srgbClr val="A9D3F5"/>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6</a:t>
            </a:r>
            <a:endParaRPr lang="en-US" sz="1100" dirty="0"/>
          </a:p>
        </p:txBody>
      </p:sp>
      <p:sp>
        <p:nvSpPr>
          <p:cNvPr id="37" name="gq_636"/>
          <p:cNvSpPr/>
          <p:nvPr/>
        </p:nvSpPr>
        <p:spPr>
          <a:xfrm>
            <a:off x="3657600" y="3581400"/>
            <a:ext cx="2514600" cy="296672"/>
          </a:xfrm>
          <a:prstGeom prst="roundRect">
            <a:avLst>
              <a:gd name="adj" fmla="val 30822"/>
            </a:avLst>
          </a:prstGeom>
          <a:solidFill>
            <a:srgbClr val="FFFFFF"/>
          </a:solidFill>
          <a:ln w="28575">
            <a:solidFill>
              <a:srgbClr val="A9D3F5"/>
            </a:solidFill>
          </a:ln>
        </p:spPr>
        <p:txBody>
          <a:bodyPr wrap="square" lIns="101600" tIns="0" rIns="101600" bIns="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7 · university</a:t>
            </a:r>
            <a:endParaRPr lang="en-US" sz="1250" dirty="0"/>
          </a:p>
        </p:txBody>
      </p:sp>
      <p:sp>
        <p:nvSpPr>
          <p:cNvPr id="38" name="R6_chip637"/>
          <p:cNvSpPr/>
          <p:nvPr/>
        </p:nvSpPr>
        <p:spPr>
          <a:xfrm>
            <a:off x="6263640" y="3581400"/>
            <a:ext cx="2560320" cy="296672"/>
          </a:xfrm>
          <a:prstGeom prst="roundRect">
            <a:avLst>
              <a:gd name="adj" fmla="val 30822"/>
            </a:avLst>
          </a:prstGeom>
          <a:solidFill>
            <a:srgbClr val="FFE3EE"/>
          </a:solidFill>
          <a:ln w="28575">
            <a:solidFill>
              <a:srgbClr val="F7A6C4"/>
            </a:solidFill>
          </a:ln>
        </p:spPr>
        <p:txBody>
          <a:bodyPr wrap="square" lIns="101600" tIns="0" rIns="101600" bIns="0" rtlCol="0" anchor="ctr">
            <a:normAutofit/>
          </a:bodyPr>
          <a:lstStyle/>
          <a:p>
            <a:pPr algn="l" indent="0" marL="0">
              <a:buNone/>
            </a:pPr>
            <a:r>
              <a:rPr lang="en-US" sz="900" b="1" dirty="0">
                <a:solidFill>
                  <a:srgbClr val="1B2559"/>
                </a:solidFill>
                <a:latin typeface="Segoe UI Semibold" pitchFamily="34" charset="0"/>
                <a:ea typeface="Segoe UI Semibold" pitchFamily="34" charset="-122"/>
                <a:cs typeface="Segoe UI Semibold" pitchFamily="34" charset="-120"/>
              </a:rPr>
              <a:t>→ a university /juː/ · go to – university</a:t>
            </a:r>
            <a:endParaRPr lang="en-US" sz="900" dirty="0"/>
          </a:p>
        </p:txBody>
      </p:sp>
      <p:sp>
        <p:nvSpPr>
          <p:cNvPr id="39" name="bd_638"/>
          <p:cNvSpPr/>
          <p:nvPr/>
        </p:nvSpPr>
        <p:spPr>
          <a:xfrm>
            <a:off x="3246120" y="3925824"/>
            <a:ext cx="329184" cy="329184"/>
          </a:xfrm>
          <a:prstGeom prst="ellipse">
            <a:avLst/>
          </a:prstGeom>
          <a:solidFill>
            <a:srgbClr val="2EB872"/>
          </a:solidFill>
          <a:ln w="28575">
            <a:solidFill>
              <a:srgbClr val="A8E5BE"/>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7</a:t>
            </a:r>
            <a:endParaRPr lang="en-US" sz="1100" dirty="0"/>
          </a:p>
        </p:txBody>
      </p:sp>
      <p:sp>
        <p:nvSpPr>
          <p:cNvPr id="40" name="gq_639"/>
          <p:cNvSpPr/>
          <p:nvPr/>
        </p:nvSpPr>
        <p:spPr>
          <a:xfrm>
            <a:off x="3657600" y="3942080"/>
            <a:ext cx="2514600" cy="296672"/>
          </a:xfrm>
          <a:prstGeom prst="roundRect">
            <a:avLst>
              <a:gd name="adj" fmla="val 30822"/>
            </a:avLst>
          </a:prstGeom>
          <a:solidFill>
            <a:srgbClr val="FFFFFF"/>
          </a:solidFill>
          <a:ln w="28575">
            <a:solidFill>
              <a:srgbClr val="A8E5BE"/>
            </a:solidFill>
          </a:ln>
        </p:spPr>
        <p:txBody>
          <a:bodyPr wrap="square" lIns="101600" tIns="0" rIns="101600" bIns="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8 · cats (in general)</a:t>
            </a:r>
            <a:endParaRPr lang="en-US" sz="1250" dirty="0"/>
          </a:p>
        </p:txBody>
      </p:sp>
      <p:sp>
        <p:nvSpPr>
          <p:cNvPr id="41" name="R7_chip640"/>
          <p:cNvSpPr/>
          <p:nvPr/>
        </p:nvSpPr>
        <p:spPr>
          <a:xfrm>
            <a:off x="6263640" y="3942080"/>
            <a:ext cx="2560320" cy="296672"/>
          </a:xfrm>
          <a:prstGeom prst="roundRect">
            <a:avLst>
              <a:gd name="adj" fmla="val 30822"/>
            </a:avLst>
          </a:prstGeom>
          <a:solidFill>
            <a:srgbClr val="FFE3EE"/>
          </a:solidFill>
          <a:ln w="28575">
            <a:solidFill>
              <a:srgbClr val="F7A6C4"/>
            </a:solidFill>
          </a:ln>
        </p:spPr>
        <p:txBody>
          <a:bodyPr wrap="square" lIns="101600" tIns="0" rIns="101600" bIns="0" rtlCol="0" anchor="ctr">
            <a:normAutofit/>
          </a:bodyPr>
          <a:lstStyle/>
          <a:p>
            <a:pPr algn="l" indent="0" marL="0">
              <a:buNone/>
            </a:pPr>
            <a:r>
              <a:rPr lang="en-US" sz="900" b="1" dirty="0">
                <a:solidFill>
                  <a:srgbClr val="1B2559"/>
                </a:solidFill>
                <a:latin typeface="Segoe UI Semibold" pitchFamily="34" charset="0"/>
                <a:ea typeface="Segoe UI Semibold" pitchFamily="34" charset="-122"/>
                <a:cs typeface="Segoe UI Semibold" pitchFamily="34" charset="-120"/>
              </a:rPr>
              <a:t>→ I like – cats.</a:t>
            </a:r>
            <a:endParaRPr lang="en-US" sz="900" dirty="0"/>
          </a:p>
        </p:txBody>
      </p:sp>
      <p:sp>
        <p:nvSpPr>
          <p:cNvPr id="42" name="bd_641"/>
          <p:cNvSpPr/>
          <p:nvPr/>
        </p:nvSpPr>
        <p:spPr>
          <a:xfrm>
            <a:off x="3246120" y="4286504"/>
            <a:ext cx="329184" cy="329184"/>
          </a:xfrm>
          <a:prstGeom prst="ellipse">
            <a:avLst/>
          </a:prstGeom>
          <a:solidFill>
            <a:srgbClr val="F2B705"/>
          </a:solidFill>
          <a:ln w="28575">
            <a:solidFill>
              <a:srgbClr val="FFE07A"/>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8</a:t>
            </a:r>
            <a:endParaRPr lang="en-US" sz="1100" dirty="0"/>
          </a:p>
        </p:txBody>
      </p:sp>
      <p:sp>
        <p:nvSpPr>
          <p:cNvPr id="43" name="gq_642"/>
          <p:cNvSpPr/>
          <p:nvPr/>
        </p:nvSpPr>
        <p:spPr>
          <a:xfrm>
            <a:off x="3657600" y="4302760"/>
            <a:ext cx="2514600" cy="296672"/>
          </a:xfrm>
          <a:prstGeom prst="roundRect">
            <a:avLst>
              <a:gd name="adj" fmla="val 30822"/>
            </a:avLst>
          </a:prstGeom>
          <a:solidFill>
            <a:srgbClr val="FFFFFF"/>
          </a:solidFill>
          <a:ln w="28575">
            <a:solidFill>
              <a:srgbClr val="FFE07A"/>
            </a:solidFill>
          </a:ln>
        </p:spPr>
        <p:txBody>
          <a:bodyPr wrap="square" lIns="101600" tIns="0" rIns="101600" bIns="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9 · hour</a:t>
            </a:r>
            <a:endParaRPr lang="en-US" sz="1250" dirty="0"/>
          </a:p>
        </p:txBody>
      </p:sp>
      <p:sp>
        <p:nvSpPr>
          <p:cNvPr id="44" name="R8_chip643"/>
          <p:cNvSpPr/>
          <p:nvPr/>
        </p:nvSpPr>
        <p:spPr>
          <a:xfrm>
            <a:off x="6263640" y="4302760"/>
            <a:ext cx="2560320" cy="296672"/>
          </a:xfrm>
          <a:prstGeom prst="roundRect">
            <a:avLst>
              <a:gd name="adj" fmla="val 30822"/>
            </a:avLst>
          </a:prstGeom>
          <a:solidFill>
            <a:srgbClr val="FFE3EE"/>
          </a:solidFill>
          <a:ln w="28575">
            <a:solidFill>
              <a:srgbClr val="F7A6C4"/>
            </a:solidFill>
          </a:ln>
        </p:spPr>
        <p:txBody>
          <a:bodyPr wrap="square" lIns="101600" tIns="0" rIns="101600" bIns="0" rtlCol="0" anchor="ctr">
            <a:normAutofit/>
          </a:bodyPr>
          <a:lstStyle/>
          <a:p>
            <a:pPr algn="l" indent="0" marL="0">
              <a:buNone/>
            </a:pPr>
            <a:r>
              <a:rPr lang="en-US" sz="900" b="1" dirty="0">
                <a:solidFill>
                  <a:srgbClr val="1B2559"/>
                </a:solidFill>
                <a:latin typeface="Segoe UI Semibold" pitchFamily="34" charset="0"/>
                <a:ea typeface="Segoe UI Semibold" pitchFamily="34" charset="-122"/>
                <a:cs typeface="Segoe UI Semibold" pitchFamily="34" charset="-120"/>
              </a:rPr>
              <a:t>→ an hour (h is silent!)</a:t>
            </a:r>
            <a:endParaRPr lang="en-US" sz="9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3"/>
                                        </p:tgtEl>
                                        <p:attrNameLst>
                                          <p:attrName>style.visibility</p:attrName>
                                        </p:attrNameLst>
                                      </p:cBhvr>
                                      <p:to>
                                        <p:strVal val="visible"/>
                                      </p:to>
                                    </p:set>
                                    <p:animEffect transition="in" filter="fade">
                                      <p:cBhvr>
                                        <p:cTn id="7" dur="400"/>
                                        <p:tgtEl>
                                          <p:spTgt spid="23"/>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6"/>
                                        </p:tgtEl>
                                        <p:attrNameLst>
                                          <p:attrName>style.visibility</p:attrName>
                                        </p:attrNameLst>
                                      </p:cBhvr>
                                      <p:to>
                                        <p:strVal val="visible"/>
                                      </p:to>
                                    </p:set>
                                    <p:animEffect transition="in" filter="fade">
                                      <p:cBhvr>
                                        <p:cTn id="12" dur="400"/>
                                        <p:tgtEl>
                                          <p:spTgt spid="26"/>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9"/>
                                        </p:tgtEl>
                                        <p:attrNameLst>
                                          <p:attrName>style.visibility</p:attrName>
                                        </p:attrNameLst>
                                      </p:cBhvr>
                                      <p:to>
                                        <p:strVal val="visible"/>
                                      </p:to>
                                    </p:set>
                                    <p:animEffect transition="in" filter="fade">
                                      <p:cBhvr>
                                        <p:cTn id="17" dur="400"/>
                                        <p:tgtEl>
                                          <p:spTgt spid="29"/>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32"/>
                                        </p:tgtEl>
                                        <p:attrNameLst>
                                          <p:attrName>style.visibility</p:attrName>
                                        </p:attrNameLst>
                                      </p:cBhvr>
                                      <p:to>
                                        <p:strVal val="visible"/>
                                      </p:to>
                                    </p:set>
                                    <p:animEffect transition="in" filter="fade">
                                      <p:cBhvr>
                                        <p:cTn id="22" dur="400"/>
                                        <p:tgtEl>
                                          <p:spTgt spid="32"/>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35"/>
                                        </p:tgtEl>
                                        <p:attrNameLst>
                                          <p:attrName>style.visibility</p:attrName>
                                        </p:attrNameLst>
                                      </p:cBhvr>
                                      <p:to>
                                        <p:strVal val="visible"/>
                                      </p:to>
                                    </p:set>
                                    <p:animEffect transition="in" filter="fade">
                                      <p:cBhvr>
                                        <p:cTn id="27" dur="400"/>
                                        <p:tgtEl>
                                          <p:spTgt spid="35"/>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38"/>
                                        </p:tgtEl>
                                        <p:attrNameLst>
                                          <p:attrName>style.visibility</p:attrName>
                                        </p:attrNameLst>
                                      </p:cBhvr>
                                      <p:to>
                                        <p:strVal val="visible"/>
                                      </p:to>
                                    </p:set>
                                    <p:animEffect transition="in" filter="fade">
                                      <p:cBhvr>
                                        <p:cTn id="32" dur="400"/>
                                        <p:tgtEl>
                                          <p:spTgt spid="38"/>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nodeType="clickEffect">
                                  <p:stCondLst>
                                    <p:cond delay="0"/>
                                  </p:stCondLst>
                                  <p:childTnLst>
                                    <p:set>
                                      <p:cBhvr>
                                        <p:cTn id="36" dur="1" fill="hold">
                                          <p:stCondLst>
                                            <p:cond delay="0"/>
                                          </p:stCondLst>
                                        </p:cTn>
                                        <p:tgtEl>
                                          <p:spTgt spid="41"/>
                                        </p:tgtEl>
                                        <p:attrNameLst>
                                          <p:attrName>style.visibility</p:attrName>
                                        </p:attrNameLst>
                                      </p:cBhvr>
                                      <p:to>
                                        <p:strVal val="visible"/>
                                      </p:to>
                                    </p:set>
                                    <p:animEffect transition="in" filter="fade">
                                      <p:cBhvr>
                                        <p:cTn id="37" dur="400"/>
                                        <p:tgtEl>
                                          <p:spTgt spid="41"/>
                                        </p:tgtEl>
                                      </p:cBhvr>
                                    </p:animEffect>
                                  </p:childTnLst>
                                </p:cTn>
                              </p:par>
                            </p:childTnLst>
                          </p:cTn>
                        </p:par>
                      </p:childTnLst>
                    </p:cTn>
                  </p:par>
                  <p:par>
                    <p:cTn id="38" fill="hold">
                      <p:stCondLst>
                        <p:cond delay="indefinite"/>
                      </p:stCondLst>
                      <p:childTnLst>
                        <p:par>
                          <p:cTn id="39" fill="hold">
                            <p:stCondLst>
                              <p:cond delay="0"/>
                            </p:stCondLst>
                            <p:childTnLst>
                              <p:par>
                                <p:cTn id="40" presetID="10" presetClass="entr" presetSubtype="0" fill="hold" nodeType="clickEffect">
                                  <p:stCondLst>
                                    <p:cond delay="0"/>
                                  </p:stCondLst>
                                  <p:childTnLst>
                                    <p:set>
                                      <p:cBhvr>
                                        <p:cTn id="41" dur="1" fill="hold">
                                          <p:stCondLst>
                                            <p:cond delay="0"/>
                                          </p:stCondLst>
                                        </p:cTn>
                                        <p:tgtEl>
                                          <p:spTgt spid="44"/>
                                        </p:tgtEl>
                                        <p:attrNameLst>
                                          <p:attrName>style.visibility</p:attrName>
                                        </p:attrNameLst>
                                      </p:cBhvr>
                                      <p:to>
                                        <p:strVal val="visible"/>
                                      </p:to>
                                    </p:set>
                                    <p:animEffect transition="in" filter="fade">
                                      <p:cBhvr>
                                        <p:cTn id="42" dur="400"/>
                                        <p:tgtEl>
                                          <p:spTgt spid="4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2.xml><?xml version="1.0" encoding="utf-8"?>
<p:sld xmlns:a="http://schemas.openxmlformats.org/drawingml/2006/main" xmlns:r="http://schemas.openxmlformats.org/officeDocument/2006/relationships" xmlns:p="http://schemas.openxmlformats.org/presentationml/2006/main">
  <p:cSld name="Slide 22">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644"/>
          <p:cNvSpPr/>
          <p:nvPr/>
        </p:nvSpPr>
        <p:spPr>
          <a:xfrm>
            <a:off x="201168" y="164592"/>
            <a:ext cx="841248" cy="841248"/>
          </a:xfrm>
          <a:prstGeom prst="ellipse">
            <a:avLst/>
          </a:prstGeom>
          <a:solidFill>
            <a:srgbClr val="2F8DE4"/>
          </a:solidFill>
          <a:ln w="28575">
            <a:solidFill>
              <a:srgbClr val="A9D3F5"/>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22</a:t>
            </a:r>
            <a:endParaRPr lang="en-US" sz="2200" dirty="0"/>
          </a:p>
        </p:txBody>
      </p:sp>
      <p:pic>
        <p:nvPicPr>
          <p:cNvPr id="4" name="brY_645" descr="/home/claude/lls-course/v2/assets/brush-yellow.png">    </p:cNvPr>
          <p:cNvPicPr>
            <a:picLocks noChangeAspect="1"/>
          </p:cNvPicPr>
          <p:nvPr/>
        </p:nvPicPr>
        <p:blipFill>
          <a:blip r:embed="rId2"/>
          <a:stretch>
            <a:fillRect/>
          </a:stretch>
        </p:blipFill>
        <p:spPr>
          <a:xfrm>
            <a:off x="1097280" y="146304"/>
            <a:ext cx="2147011" cy="621792"/>
          </a:xfrm>
          <a:prstGeom prst="rect">
            <a:avLst/>
          </a:prstGeom>
        </p:spPr>
      </p:pic>
      <p:sp>
        <p:nvSpPr>
          <p:cNvPr id="5" name="title_646"/>
          <p:cNvSpPr/>
          <p:nvPr/>
        </p:nvSpPr>
        <p:spPr>
          <a:xfrm>
            <a:off x="1261872" y="164592"/>
            <a:ext cx="1872691"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3 · 2 · 1</a:t>
            </a:r>
            <a:endParaRPr lang="en-US" sz="2500" dirty="0"/>
          </a:p>
        </p:txBody>
      </p:sp>
      <p:pic>
        <p:nvPicPr>
          <p:cNvPr id="6" name="brP_647" descr="/home/claude/lls-course/v2/assets/brush-pink.png">    </p:cNvPr>
          <p:cNvPicPr>
            <a:picLocks noChangeAspect="1"/>
          </p:cNvPicPr>
          <p:nvPr/>
        </p:nvPicPr>
        <p:blipFill>
          <a:blip r:embed="rId3"/>
          <a:stretch>
            <a:fillRect/>
          </a:stretch>
        </p:blipFill>
        <p:spPr>
          <a:xfrm>
            <a:off x="1207008" y="731520"/>
            <a:ext cx="3858768" cy="402336"/>
          </a:xfrm>
          <a:prstGeom prst="rect">
            <a:avLst/>
          </a:prstGeom>
        </p:spPr>
      </p:pic>
      <p:sp>
        <p:nvSpPr>
          <p:cNvPr id="7" name="ins_648"/>
          <p:cNvSpPr/>
          <p:nvPr/>
        </p:nvSpPr>
        <p:spPr>
          <a:xfrm>
            <a:off x="1353312" y="731520"/>
            <a:ext cx="3602736"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Books closed! What can you remember?</a:t>
            </a:r>
            <a:endParaRPr lang="en-US" sz="1250" dirty="0"/>
          </a:p>
        </p:txBody>
      </p:sp>
      <p:sp>
        <p:nvSpPr>
          <p:cNvPr id="8" name="insIT_649"/>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Libri chiusi! Cosa ricordi?</a:t>
            </a:r>
            <a:endParaRPr lang="en-US" sz="950" dirty="0"/>
          </a:p>
        </p:txBody>
      </p:sp>
      <p:sp>
        <p:nvSpPr>
          <p:cNvPr id="9" name="note_650"/>
          <p:cNvSpPr/>
          <p:nvPr/>
        </p:nvSpPr>
        <p:spPr>
          <a:xfrm rot="180000">
            <a:off x="6382512" y="128016"/>
            <a:ext cx="2029968" cy="749808"/>
          </a:xfrm>
          <a:prstGeom prst="rect">
            <a:avLst/>
          </a:prstGeom>
          <a:solidFill>
            <a:srgbClr val="FFC2DA"/>
          </a:solidFill>
          <a:ln>
            <a:solidFill>
              <a:srgbClr val="FFC2DA"/>
            </a:solidFill>
          </a:ln>
          <a:effectLst>
            <a:outerShdw sx="100000" sy="100000" kx="0" ky="0" algn="bl" rotWithShape="0" blurRad="88900" dist="31750" dir="5400000">
              <a:srgbClr val="1B2559">
                <a:alpha val="15000"/>
              </a:srgbClr>
            </a:outerShdw>
          </a:effectLst>
        </p:spPr>
        <p:txBody>
          <a:bodyPr wrap="square" lIns="50800" tIns="50800" rIns="50800" bIns="50800" rtlCol="0" anchor="ctr">
            <a:normAutofit/>
          </a:bodyPr>
          <a:lstStyle/>
          <a:p>
            <a:pPr algn="ctr" indent="0" marL="0">
              <a:buNone/>
            </a:pPr>
            <a:r>
              <a:rPr lang="en-US" sz="1100" dirty="0">
                <a:solidFill>
                  <a:srgbClr val="1B2559"/>
                </a:solidFill>
                <a:latin typeface="Segoe UI Semibold" pitchFamily="34" charset="0"/>
                <a:ea typeface="Segoe UI Semibold" pitchFamily="34" charset="-122"/>
                <a:cs typeface="Segoe UI Semibold" pitchFamily="34" charset="-120"/>
              </a:rPr>
              <a:t>⏱ 2 min   👥 pairs</a:t>
            </a:r>
            <a:endParaRPr lang="en-US" sz="1100" dirty="0"/>
          </a:p>
          <a:p>
            <a:pPr algn="ctr" indent="0" marL="0">
              <a:buNone/>
            </a:pPr>
            <a:r>
              <a:rPr lang="en-US" sz="900" dirty="0">
                <a:solidFill>
                  <a:srgbClr val="5B6785"/>
                </a:solidFill>
                <a:latin typeface="Segoe UI Semibold" pitchFamily="34" charset="0"/>
                <a:ea typeface="Segoe UI Semibold" pitchFamily="34" charset="-122"/>
                <a:cs typeface="Segoe UI Semibold" pitchFamily="34" charset="-120"/>
              </a:rPr>
              <a:t>🎯 Revision · Retrieval</a:t>
            </a:r>
            <a:endParaRPr lang="en-US" sz="1100" dirty="0"/>
          </a:p>
        </p:txBody>
      </p:sp>
      <p:pic>
        <p:nvPicPr>
          <p:cNvPr id="10" name="logo_651"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1" name="foot_652"/>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3B-1 · Exit · what can you remember?</a:t>
            </a:r>
            <a:endParaRPr lang="en-US" sz="800" dirty="0"/>
          </a:p>
        </p:txBody>
      </p:sp>
      <p:sp>
        <p:nvSpPr>
          <p:cNvPr id="12" name="bd_653"/>
          <p:cNvSpPr/>
          <p:nvPr/>
        </p:nvSpPr>
        <p:spPr>
          <a:xfrm>
            <a:off x="457200" y="1508760"/>
            <a:ext cx="777240" cy="777240"/>
          </a:xfrm>
          <a:prstGeom prst="ellipse">
            <a:avLst/>
          </a:prstGeom>
          <a:solidFill>
            <a:srgbClr val="E8508F"/>
          </a:solidFill>
          <a:ln w="28575">
            <a:solidFill>
              <a:srgbClr val="F7A6C4"/>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600" dirty="0">
                <a:solidFill>
                  <a:srgbClr val="FFFFFF"/>
                </a:solidFill>
                <a:latin typeface="Arial Rounded MT Bold" pitchFamily="34" charset="0"/>
                <a:ea typeface="Arial Rounded MT Bold" pitchFamily="34" charset="-122"/>
                <a:cs typeface="Arial Rounded MT Bold" pitchFamily="34" charset="-120"/>
              </a:rPr>
              <a:t>3</a:t>
            </a:r>
            <a:endParaRPr lang="en-US" sz="2600" dirty="0"/>
          </a:p>
        </p:txBody>
      </p:sp>
      <p:sp>
        <p:nvSpPr>
          <p:cNvPr id="13" name="rt_654"/>
          <p:cNvSpPr/>
          <p:nvPr/>
        </p:nvSpPr>
        <p:spPr>
          <a:xfrm>
            <a:off x="1417320" y="1581912"/>
            <a:ext cx="3931920" cy="640080"/>
          </a:xfrm>
          <a:prstGeom prst="roundRect">
            <a:avLst>
              <a:gd name="adj" fmla="val 20000"/>
            </a:avLst>
          </a:prstGeom>
          <a:solidFill>
            <a:srgbClr val="FFFFFF"/>
          </a:solidFill>
          <a:ln w="28575">
            <a:solidFill>
              <a:srgbClr val="F7A6C4"/>
            </a:solidFill>
          </a:ln>
          <a:effectLst>
            <a:outerShdw sx="100000" sy="100000" kx="0" ky="0" algn="bl" rotWithShape="0" blurRad="88900" dist="31750" dir="5400000">
              <a:srgbClr val="1B2559">
                <a:alpha val="8000"/>
              </a:srgbClr>
            </a:outerShdw>
          </a:effectLst>
        </p:spPr>
        <p:txBody>
          <a:bodyPr wrap="square" lIns="152400" tIns="0" rIns="152400" bIns="0" rtlCol="0" anchor="ctr">
            <a:normAutofit/>
          </a:bodyPr>
          <a:lstStyle/>
          <a:p>
            <a:pPr indent="0" marL="0">
              <a:buNone/>
            </a:pPr>
            <a:r>
              <a:rPr lang="en-US" sz="1400" dirty="0">
                <a:solidFill>
                  <a:srgbClr val="1B2559"/>
                </a:solidFill>
                <a:latin typeface="Arial Rounded MT Bold" pitchFamily="34" charset="0"/>
                <a:ea typeface="Arial Rounded MT Bold" pitchFamily="34" charset="-122"/>
                <a:cs typeface="Arial Rounded MT Bold" pitchFamily="34" charset="-120"/>
              </a:rPr>
              <a:t>Tell me 3 results from the article: true or not true?</a:t>
            </a:r>
            <a:endParaRPr lang="en-US" sz="1400" dirty="0"/>
          </a:p>
        </p:txBody>
      </p:sp>
      <p:sp>
        <p:nvSpPr>
          <p:cNvPr id="14" name="bd_655"/>
          <p:cNvSpPr/>
          <p:nvPr/>
        </p:nvSpPr>
        <p:spPr>
          <a:xfrm>
            <a:off x="457200" y="2468880"/>
            <a:ext cx="777240" cy="777240"/>
          </a:xfrm>
          <a:prstGeom prst="ellipse">
            <a:avLst/>
          </a:prstGeom>
          <a:solidFill>
            <a:srgbClr val="2F8DE4"/>
          </a:solidFill>
          <a:ln w="28575">
            <a:solidFill>
              <a:srgbClr val="A9D3F5"/>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600" dirty="0">
                <a:solidFill>
                  <a:srgbClr val="FFFFFF"/>
                </a:solidFill>
                <a:latin typeface="Arial Rounded MT Bold" pitchFamily="34" charset="0"/>
                <a:ea typeface="Arial Rounded MT Bold" pitchFamily="34" charset="-122"/>
                <a:cs typeface="Arial Rounded MT Bold" pitchFamily="34" charset="-120"/>
              </a:rPr>
              <a:t>2</a:t>
            </a:r>
            <a:endParaRPr lang="en-US" sz="2600" dirty="0"/>
          </a:p>
        </p:txBody>
      </p:sp>
      <p:sp>
        <p:nvSpPr>
          <p:cNvPr id="15" name="rt_656"/>
          <p:cNvSpPr/>
          <p:nvPr/>
        </p:nvSpPr>
        <p:spPr>
          <a:xfrm>
            <a:off x="1417320" y="2542032"/>
            <a:ext cx="3931920" cy="640080"/>
          </a:xfrm>
          <a:prstGeom prst="roundRect">
            <a:avLst>
              <a:gd name="adj" fmla="val 20000"/>
            </a:avLst>
          </a:prstGeom>
          <a:solidFill>
            <a:srgbClr val="FFFFFF"/>
          </a:solidFill>
          <a:ln w="28575">
            <a:solidFill>
              <a:srgbClr val="A9D3F5"/>
            </a:solidFill>
          </a:ln>
          <a:effectLst>
            <a:outerShdw sx="100000" sy="100000" kx="0" ky="0" algn="bl" rotWithShape="0" blurRad="88900" dist="31750" dir="5400000">
              <a:srgbClr val="1B2559">
                <a:alpha val="8000"/>
              </a:srgbClr>
            </a:outerShdw>
          </a:effectLst>
        </p:spPr>
        <p:txBody>
          <a:bodyPr wrap="square" lIns="152400" tIns="0" rIns="152400" bIns="0" rtlCol="0" anchor="ctr">
            <a:normAutofit/>
          </a:bodyPr>
          <a:lstStyle/>
          <a:p>
            <a:pPr indent="0" marL="0">
              <a:buNone/>
            </a:pPr>
            <a:r>
              <a:rPr lang="en-US" sz="1400" dirty="0">
                <a:solidFill>
                  <a:srgbClr val="1B2559"/>
                </a:solidFill>
                <a:latin typeface="Arial Rounded MT Bold" pitchFamily="34" charset="0"/>
                <a:ea typeface="Arial Rounded MT Bold" pitchFamily="34" charset="-122"/>
                <a:cs typeface="Arial Rounded MT Bold" pitchFamily="34" charset="-120"/>
              </a:rPr>
              <a:t>Tell me 2 phrases for generalizing: Generally speaking…</a:t>
            </a:r>
            <a:endParaRPr lang="en-US" sz="1400" dirty="0"/>
          </a:p>
        </p:txBody>
      </p:sp>
      <p:sp>
        <p:nvSpPr>
          <p:cNvPr id="16" name="bd_657"/>
          <p:cNvSpPr/>
          <p:nvPr/>
        </p:nvSpPr>
        <p:spPr>
          <a:xfrm>
            <a:off x="457200" y="3429000"/>
            <a:ext cx="777240" cy="777240"/>
          </a:xfrm>
          <a:prstGeom prst="ellipse">
            <a:avLst/>
          </a:prstGeom>
          <a:solidFill>
            <a:srgbClr val="2EB872"/>
          </a:solidFill>
          <a:ln w="28575">
            <a:solidFill>
              <a:srgbClr val="A8E5BE"/>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600" dirty="0">
                <a:solidFill>
                  <a:srgbClr val="FFFFFF"/>
                </a:solidFill>
                <a:latin typeface="Arial Rounded MT Bold" pitchFamily="34" charset="0"/>
                <a:ea typeface="Arial Rounded MT Bold" pitchFamily="34" charset="-122"/>
                <a:cs typeface="Arial Rounded MT Bold" pitchFamily="34" charset="-120"/>
              </a:rPr>
              <a:t>1</a:t>
            </a:r>
            <a:endParaRPr lang="en-US" sz="2600" dirty="0"/>
          </a:p>
        </p:txBody>
      </p:sp>
      <p:sp>
        <p:nvSpPr>
          <p:cNvPr id="17" name="rt_658"/>
          <p:cNvSpPr/>
          <p:nvPr/>
        </p:nvSpPr>
        <p:spPr>
          <a:xfrm>
            <a:off x="1417320" y="3502152"/>
            <a:ext cx="3931920" cy="640080"/>
          </a:xfrm>
          <a:prstGeom prst="roundRect">
            <a:avLst>
              <a:gd name="adj" fmla="val 20000"/>
            </a:avLst>
          </a:prstGeom>
          <a:solidFill>
            <a:srgbClr val="FFFFFF"/>
          </a:solidFill>
          <a:ln w="28575">
            <a:solidFill>
              <a:srgbClr val="A8E5BE"/>
            </a:solidFill>
          </a:ln>
          <a:effectLst>
            <a:outerShdw sx="100000" sy="100000" kx="0" ky="0" algn="bl" rotWithShape="0" blurRad="88900" dist="31750" dir="5400000">
              <a:srgbClr val="1B2559">
                <a:alpha val="8000"/>
              </a:srgbClr>
            </a:outerShdw>
          </a:effectLst>
        </p:spPr>
        <p:txBody>
          <a:bodyPr wrap="square" lIns="152400" tIns="0" rIns="152400" bIns="0" rtlCol="0" anchor="ctr">
            <a:normAutofit/>
          </a:bodyPr>
          <a:lstStyle/>
          <a:p>
            <a:pPr indent="0" marL="0">
              <a:buNone/>
            </a:pPr>
            <a:r>
              <a:rPr lang="en-US" sz="1400" dirty="0">
                <a:solidFill>
                  <a:srgbClr val="1B2559"/>
                </a:solidFill>
                <a:latin typeface="Arial Rounded MT Bold" pitchFamily="34" charset="0"/>
                <a:ea typeface="Arial Rounded MT Bold" pitchFamily="34" charset="-122"/>
                <a:cs typeface="Arial Rounded MT Bold" pitchFamily="34" charset="-120"/>
              </a:rPr>
              <a:t>Tell me 1 sentence about men or women – with NO 'the'!</a:t>
            </a:r>
            <a:endParaRPr lang="en-US" sz="1400" dirty="0"/>
          </a:p>
        </p:txBody>
      </p:sp>
      <p:sp>
        <p:nvSpPr>
          <p:cNvPr id="18" name="cd_659"/>
          <p:cNvSpPr/>
          <p:nvPr/>
        </p:nvSpPr>
        <p:spPr>
          <a:xfrm>
            <a:off x="5669280" y="1417320"/>
            <a:ext cx="3200400" cy="1689608"/>
          </a:xfrm>
          <a:prstGeom prst="roundRect">
            <a:avLst>
              <a:gd name="adj" fmla="val 7577"/>
            </a:avLst>
          </a:prstGeom>
          <a:solidFill>
            <a:srgbClr val="EEE8FB"/>
          </a:solidFill>
          <a:ln w="28575">
            <a:solidFill>
              <a:srgbClr val="CDBFF3"/>
            </a:solidFill>
            <a:prstDash val="solid"/>
          </a:ln>
          <a:effectLst>
            <a:outerShdw sx="100000" sy="100000" kx="0" ky="0" algn="bl" rotWithShape="0" blurRad="88900" dist="31750" dir="5400000">
              <a:srgbClr val="1B2559">
                <a:alpha val="12000"/>
              </a:srgbClr>
            </a:outerShdw>
          </a:effectLst>
        </p:spPr>
      </p:sp>
      <p:sp>
        <p:nvSpPr>
          <p:cNvPr id="19" name="ii_660"/>
          <p:cNvSpPr/>
          <p:nvPr/>
        </p:nvSpPr>
        <p:spPr>
          <a:xfrm>
            <a:off x="5760720" y="149047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20" name="ih_661"/>
          <p:cNvSpPr/>
          <p:nvPr/>
        </p:nvSpPr>
        <p:spPr>
          <a:xfrm>
            <a:off x="6236208" y="1508760"/>
            <a:ext cx="2560320" cy="365760"/>
          </a:xfrm>
          <a:prstGeom prst="rect">
            <a:avLst/>
          </a:prstGeom>
          <a:noFill/>
          <a:ln/>
        </p:spPr>
        <p:txBody>
          <a:bodyPr wrap="square" lIns="0" tIns="0" rIns="0" bIns="0" rtlCol="0" anchor="ctr"/>
          <a:lstStyle/>
          <a:p>
            <a:pPr indent="0" marL="0">
              <a:buNone/>
            </a:pPr>
            <a:r>
              <a:rPr lang="en-US" sz="1400" dirty="0">
                <a:solidFill>
                  <a:srgbClr val="1B2559"/>
                </a:solidFill>
                <a:latin typeface="Arial Rounded MT Bold" pitchFamily="34" charset="0"/>
                <a:ea typeface="Arial Rounded MT Bold" pitchFamily="34" charset="-122"/>
                <a:cs typeface="Arial Rounded MT Bold" pitchFamily="34" charset="-120"/>
              </a:rPr>
              <a:t>Homework · Compiti</a:t>
            </a:r>
            <a:endParaRPr lang="en-US" sz="1400" dirty="0"/>
          </a:p>
        </p:txBody>
      </p:sp>
      <p:sp>
        <p:nvSpPr>
          <p:cNvPr id="21" name="il_662"/>
          <p:cNvSpPr/>
          <p:nvPr/>
        </p:nvSpPr>
        <p:spPr>
          <a:xfrm>
            <a:off x="6236208" y="1911096"/>
            <a:ext cx="2542032" cy="1122680"/>
          </a:xfrm>
          <a:prstGeom prst="rect">
            <a:avLst/>
          </a:prstGeom>
          <a:noFill/>
          <a:ln/>
        </p:spPr>
        <p:txBody>
          <a:bodyPr wrap="square" lIns="0" tIns="0" rIns="0" bIns="0" rtlCol="0" anchor="t">
            <a:normAutofit/>
          </a:bodyPr>
          <a:lstStyle/>
          <a:p>
            <a:pPr marL="152400" indent="-152400">
              <a:spcAft>
                <a:spcPts val="200"/>
              </a:spcAft>
              <a:buSzPct val="100000"/>
              <a:buChar char="•"/>
            </a:pPr>
            <a:r>
              <a:rPr lang="en-US" sz="1150" dirty="0">
                <a:solidFill>
                  <a:srgbClr val="1B2559"/>
                </a:solidFill>
                <a:latin typeface="Segoe UI Semibold" pitchFamily="34" charset="0"/>
                <a:ea typeface="Segoe UI Semibold" pitchFamily="34" charset="-122"/>
                <a:cs typeface="Segoe UI Semibold" pitchFamily="34" charset="-120"/>
              </a:rPr>
              <a:t>Workbook 3B: 1a, 1b, 1c, 2a</a:t>
            </a:r>
            <a:endParaRPr lang="en-US" sz="1150" dirty="0"/>
          </a:p>
          <a:p>
            <a:pPr marL="152400" indent="-152400">
              <a:spcBef>
                <a:spcPts val="600"/>
              </a:spcBef>
              <a:spcAft>
                <a:spcPts val="200"/>
              </a:spcAft>
              <a:buSzPct val="100000"/>
              <a:buChar char="•"/>
            </a:pPr>
            <a:r>
              <a:rPr lang="en-US" sz="1150" dirty="0">
                <a:solidFill>
                  <a:srgbClr val="1B2559"/>
                </a:solidFill>
                <a:latin typeface="Segoe UI Semibold" pitchFamily="34" charset="0"/>
                <a:ea typeface="Segoe UI Semibold" pitchFamily="34" charset="-122"/>
                <a:cs typeface="Segoe UI Semibold" pitchFamily="34" charset="-120"/>
              </a:rPr>
              <a:t>Grammar Bank 3B p.137: a 6–10, b 5–9</a:t>
            </a:r>
            <a:endParaRPr lang="en-US" sz="1150" dirty="0"/>
          </a:p>
          <a:p>
            <a:pPr marL="152400" indent="-152400">
              <a:spcBef>
                <a:spcPts val="600"/>
              </a:spcBef>
              <a:spcAft>
                <a:spcPts val="200"/>
              </a:spcAft>
              <a:buSzPct val="100000"/>
              <a:buChar char="•"/>
            </a:pPr>
            <a:r>
              <a:rPr lang="en-US" sz="1150" dirty="0">
                <a:solidFill>
                  <a:srgbClr val="1B2559"/>
                </a:solidFill>
                <a:latin typeface="Segoe UI Semibold" pitchFamily="34" charset="0"/>
                <a:ea typeface="Segoe UI Semibold" pitchFamily="34" charset="-122"/>
                <a:cs typeface="Segoe UI Semibold" pitchFamily="34" charset="-120"/>
              </a:rPr>
              <a:t>Homework sheet in the LLS app</a:t>
            </a:r>
            <a:endParaRPr lang="en-US" sz="1150" dirty="0"/>
          </a:p>
        </p:txBody>
      </p:sp>
      <p:sp>
        <p:nvSpPr>
          <p:cNvPr id="22" name="st_663"/>
          <p:cNvSpPr/>
          <p:nvPr/>
        </p:nvSpPr>
        <p:spPr>
          <a:xfrm rot="-180000">
            <a:off x="5806440" y="3483864"/>
            <a:ext cx="2926080" cy="685800"/>
          </a:xfrm>
          <a:prstGeom prst="rect">
            <a:avLst/>
          </a:prstGeom>
          <a:solidFill>
            <a:srgbClr val="FFC2DA"/>
          </a:solidFill>
          <a:ln>
            <a:solidFill>
              <a:srgbClr val="FFC2DA"/>
            </a:solidFill>
          </a:ln>
          <a:effectLst>
            <a:outerShdw sx="100000" sy="100000" kx="0" ky="0" algn="bl" rotWithShape="0" blurRad="88900" dist="31750" dir="5400000">
              <a:srgbClr val="1B2559">
                <a:alpha val="15000"/>
              </a:srgbClr>
            </a:outerShdw>
          </a:effectLst>
        </p:spPr>
        <p:txBody>
          <a:bodyPr wrap="square" lIns="50800" tIns="50800" rIns="50800" bIns="50800" rtlCol="0" anchor="ctr">
            <a:normAutofit/>
          </a:bodyPr>
          <a:lstStyle/>
          <a:p>
            <a:pPr algn="ctr" indent="0" marL="0">
              <a:buNone/>
            </a:pPr>
            <a:r>
              <a:rPr lang="en-US" sz="1100" dirty="0">
                <a:solidFill>
                  <a:srgbClr val="1B2559"/>
                </a:solidFill>
                <a:latin typeface="Arial Rounded MT Bold" pitchFamily="34" charset="0"/>
                <a:ea typeface="Arial Rounded MT Bold" pitchFamily="34" charset="-122"/>
                <a:cs typeface="Arial Rounded MT Bold" pitchFamily="34" charset="-120"/>
              </a:rPr>
              <a:t>Next lesson: 3B part 2 · Pink and blue · dependent prepositions (audio 3.24)</a:t>
            </a:r>
            <a:endParaRPr lang="en-US" sz="1100" dirty="0"/>
          </a:p>
        </p:txBody>
      </p:sp>
    </p:spTree>
  </p:cSld>
  <p:clrMapOvr>
    <a:masterClrMapping/>
  </p:clrMapOvr>
  <p:transition spd="med">
    <p:push dir="l"/>
  </p:transition>
</p:sld>
</file>

<file path=ppt/slides/slide23.xml><?xml version="1.0" encoding="utf-8"?>
<p:sld xmlns:a="http://schemas.openxmlformats.org/drawingml/2006/main" xmlns:r="http://schemas.openxmlformats.org/officeDocument/2006/relationships" xmlns:p="http://schemas.openxmlformats.org/presentationml/2006/main">
  <p:cSld name="Slide 23">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664"/>
          <p:cNvSpPr/>
          <p:nvPr/>
        </p:nvSpPr>
        <p:spPr>
          <a:xfrm>
            <a:off x="201168" y="164592"/>
            <a:ext cx="841248" cy="841248"/>
          </a:xfrm>
          <a:prstGeom prst="ellipse">
            <a:avLst/>
          </a:prstGeom>
          <a:solidFill>
            <a:srgbClr val="2EB872"/>
          </a:solidFill>
          <a:ln w="28575">
            <a:solidFill>
              <a:srgbClr val="A8E5BE"/>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23</a:t>
            </a:r>
            <a:endParaRPr lang="en-US" sz="2200" dirty="0"/>
          </a:p>
        </p:txBody>
      </p:sp>
      <p:pic>
        <p:nvPicPr>
          <p:cNvPr id="4" name="brY_665" descr="/home/claude/lls-course/v2/assets/brush-yellow.png">    </p:cNvPr>
          <p:cNvPicPr>
            <a:picLocks noChangeAspect="1"/>
          </p:cNvPicPr>
          <p:nvPr/>
        </p:nvPicPr>
        <p:blipFill>
          <a:blip r:embed="rId2"/>
          <a:stretch>
            <a:fillRect/>
          </a:stretch>
        </p:blipFill>
        <p:spPr>
          <a:xfrm>
            <a:off x="1097280" y="146304"/>
            <a:ext cx="2304288" cy="621792"/>
          </a:xfrm>
          <a:prstGeom prst="rect">
            <a:avLst/>
          </a:prstGeom>
        </p:spPr>
      </p:pic>
      <p:sp>
        <p:nvSpPr>
          <p:cNvPr id="5" name="title_666"/>
          <p:cNvSpPr/>
          <p:nvPr/>
        </p:nvSpPr>
        <p:spPr>
          <a:xfrm>
            <a:off x="1261872" y="164592"/>
            <a:ext cx="2029968" cy="566928"/>
          </a:xfrm>
          <a:prstGeom prst="rect">
            <a:avLst/>
          </a:prstGeom>
          <a:noFill/>
          <a:ln/>
        </p:spPr>
        <p:txBody>
          <a:bodyPr wrap="square" lIns="0" tIns="0" rIns="0" bIns="0" rtlCol="0" anchor="ctr">
            <a:normAutofit/>
          </a:bodyPr>
          <a:lstStyle/>
          <a:p>
            <a:pPr indent="0" marL="0">
              <a:buNone/>
            </a:pPr>
            <a:r>
              <a:rPr lang="en-US" sz="2400" dirty="0">
                <a:solidFill>
                  <a:srgbClr val="1B2559"/>
                </a:solidFill>
                <a:latin typeface="Arial Rounded MT Bold" pitchFamily="34" charset="0"/>
                <a:ea typeface="Arial Rounded MT Bold" pitchFamily="34" charset="-122"/>
                <a:cs typeface="Arial Rounded MT Bold" pitchFamily="34" charset="-120"/>
              </a:rPr>
              <a:t>Today you…</a:t>
            </a:r>
            <a:endParaRPr lang="en-US" sz="2400" dirty="0"/>
          </a:p>
        </p:txBody>
      </p:sp>
      <p:pic>
        <p:nvPicPr>
          <p:cNvPr id="6" name="brP_667" descr="/home/claude/lls-course/v2/assets/brush-pink.png">    </p:cNvPr>
          <p:cNvPicPr>
            <a:picLocks noChangeAspect="1"/>
          </p:cNvPicPr>
          <p:nvPr/>
        </p:nvPicPr>
        <p:blipFill>
          <a:blip r:embed="rId3"/>
          <a:stretch>
            <a:fillRect/>
          </a:stretch>
        </p:blipFill>
        <p:spPr>
          <a:xfrm>
            <a:off x="1207008" y="731520"/>
            <a:ext cx="4553712" cy="402336"/>
          </a:xfrm>
          <a:prstGeom prst="rect">
            <a:avLst/>
          </a:prstGeom>
        </p:spPr>
      </p:pic>
      <p:sp>
        <p:nvSpPr>
          <p:cNvPr id="7" name="ins_668"/>
          <p:cNvSpPr/>
          <p:nvPr/>
        </p:nvSpPr>
        <p:spPr>
          <a:xfrm>
            <a:off x="1353312" y="731520"/>
            <a:ext cx="4297680"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Can you do it now? Thumbs up or thumbs down!</a:t>
            </a:r>
            <a:endParaRPr lang="en-US" sz="1250" dirty="0"/>
          </a:p>
        </p:txBody>
      </p:sp>
      <p:sp>
        <p:nvSpPr>
          <p:cNvPr id="8" name="insIT_669"/>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Ora sai farlo? Pollice su o pollice giù!</a:t>
            </a:r>
            <a:endParaRPr lang="en-US" sz="950" dirty="0"/>
          </a:p>
        </p:txBody>
      </p:sp>
      <p:sp>
        <p:nvSpPr>
          <p:cNvPr id="9" name="note_670"/>
          <p:cNvSpPr/>
          <p:nvPr/>
        </p:nvSpPr>
        <p:spPr>
          <a:xfrm rot="180000">
            <a:off x="6382512" y="128016"/>
            <a:ext cx="2029968" cy="1024128"/>
          </a:xfrm>
          <a:prstGeom prst="rect">
            <a:avLst/>
          </a:prstGeom>
          <a:solidFill>
            <a:srgbClr val="FFC2DA"/>
          </a:solidFill>
          <a:ln>
            <a:solidFill>
              <a:srgbClr val="FFC2DA"/>
            </a:solidFill>
          </a:ln>
          <a:effectLst>
            <a:outerShdw sx="100000" sy="100000" kx="0" ky="0" algn="bl" rotWithShape="0" blurRad="88900" dist="31750" dir="5400000">
              <a:srgbClr val="1B2559">
                <a:alpha val="15000"/>
              </a:srgbClr>
            </a:outerShdw>
          </a:effectLst>
        </p:spPr>
        <p:txBody>
          <a:bodyPr wrap="square" lIns="50800" tIns="50800" rIns="50800" bIns="50800" rtlCol="0" anchor="ctr">
            <a:normAutofit/>
          </a:bodyPr>
          <a:lstStyle/>
          <a:p>
            <a:pPr algn="ctr" indent="0" marL="0">
              <a:buNone/>
            </a:pPr>
            <a:r>
              <a:rPr lang="en-US" sz="1250" dirty="0">
                <a:solidFill>
                  <a:srgbClr val="1B2559"/>
                </a:solidFill>
                <a:latin typeface="Arial Rounded MT Bold" pitchFamily="34" charset="0"/>
                <a:ea typeface="Arial Rounded MT Bold" pitchFamily="34" charset="-122"/>
                <a:cs typeface="Arial Rounded MT Bold" pitchFamily="34" charset="-120"/>
              </a:rPr>
              <a:t>💡 THINK</a:t>
            </a:r>
            <a:pPr algn="ctr" indent="0" marL="0">
              <a:buNone/>
            </a:pPr>
            <a:r>
              <a:rPr lang="en-US" sz="1250" dirty="0">
                <a:solidFill>
                  <a:srgbClr val="1B2559"/>
                </a:solidFill>
                <a:latin typeface="Arial Rounded MT Bold" pitchFamily="34" charset="0"/>
                <a:ea typeface="Arial Rounded MT Bold" pitchFamily="34" charset="-122"/>
                <a:cs typeface="Arial Rounded MT Bold" pitchFamily="34" charset="-120"/>
              </a:rPr>
              <a:t> · PENSA</a:t>
            </a:r>
            <a:endParaRPr lang="en-US" sz="1250" dirty="0"/>
          </a:p>
          <a:p>
            <a:pPr algn="ctr" indent="0" marL="0">
              <a:buNone/>
            </a:pPr>
            <a:r>
              <a:rPr lang="en-US" sz="1100" dirty="0">
                <a:solidFill>
                  <a:srgbClr val="1B2559"/>
                </a:solidFill>
                <a:latin typeface="Segoe UI Semibold" pitchFamily="34" charset="0"/>
                <a:ea typeface="Segoe UI Semibold" pitchFamily="34" charset="-122"/>
                <a:cs typeface="Segoe UI Semibold" pitchFamily="34" charset="-120"/>
              </a:rPr>
              <a:t>⏱ 1 min   🙋 whole class</a:t>
            </a:r>
            <a:endParaRPr lang="en-US" sz="1250" dirty="0"/>
          </a:p>
          <a:p>
            <a:pPr algn="ctr" indent="0" marL="0">
              <a:buNone/>
            </a:pPr>
            <a:r>
              <a:rPr lang="en-US" sz="900" dirty="0">
                <a:solidFill>
                  <a:srgbClr val="5B6785"/>
                </a:solidFill>
                <a:latin typeface="Segoe UI Semibold" pitchFamily="34" charset="0"/>
                <a:ea typeface="Segoe UI Semibold" pitchFamily="34" charset="-122"/>
                <a:cs typeface="Segoe UI Semibold" pitchFamily="34" charset="-120"/>
              </a:rPr>
              <a:t>🎯 Revision · Reflection</a:t>
            </a:r>
            <a:endParaRPr lang="en-US" sz="1250" dirty="0"/>
          </a:p>
        </p:txBody>
      </p:sp>
      <p:pic>
        <p:nvPicPr>
          <p:cNvPr id="10" name="logo_671"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1" name="foot_672"/>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3B-1 · Review · what did you do today?</a:t>
            </a:r>
            <a:endParaRPr lang="en-US" sz="800" dirty="0"/>
          </a:p>
        </p:txBody>
      </p:sp>
      <p:sp>
        <p:nvSpPr>
          <p:cNvPr id="12" name="cd_673"/>
          <p:cNvSpPr/>
          <p:nvPr/>
        </p:nvSpPr>
        <p:spPr>
          <a:xfrm>
            <a:off x="548640" y="1417320"/>
            <a:ext cx="6035040" cy="530352"/>
          </a:xfrm>
          <a:prstGeom prst="roundRect">
            <a:avLst>
              <a:gd name="adj" fmla="val 24138"/>
            </a:avLst>
          </a:prstGeom>
          <a:solidFill>
            <a:srgbClr val="FFFFFF"/>
          </a:solidFill>
          <a:ln w="28575">
            <a:solidFill>
              <a:srgbClr val="F7A6C4"/>
            </a:solidFill>
            <a:prstDash val="solid"/>
          </a:ln>
          <a:effectLst>
            <a:outerShdw sx="100000" sy="100000" kx="0" ky="0" algn="bl" rotWithShape="0" blurRad="88900" dist="31750" dir="5400000">
              <a:srgbClr val="1B2559">
                <a:alpha val="12000"/>
              </a:srgbClr>
            </a:outerShdw>
          </a:effectLst>
        </p:spPr>
      </p:sp>
      <p:sp>
        <p:nvSpPr>
          <p:cNvPr id="13" name="te_674"/>
          <p:cNvSpPr/>
          <p:nvPr/>
        </p:nvSpPr>
        <p:spPr>
          <a:xfrm>
            <a:off x="640080" y="1453896"/>
            <a:ext cx="457200" cy="457200"/>
          </a:xfrm>
          <a:prstGeom prst="rect">
            <a:avLst/>
          </a:prstGeom>
          <a:noFill/>
          <a:ln/>
        </p:spPr>
        <p:txBody>
          <a:bodyPr wrap="square" lIns="0" tIns="0" rIns="0" bIns="0" rtlCol="0" anchor="ctr"/>
          <a:lstStyle/>
          <a:p>
            <a:pPr algn="ctr" indent="0" marL="0">
              <a:buNone/>
            </a:pPr>
            <a:r>
              <a:rPr lang="en-US" sz="1800" dirty="0">
                <a:solidFill>
                  <a:srgbClr val="000000"/>
                </a:solidFill>
              </a:rPr>
              <a:t>💬</a:t>
            </a:r>
            <a:endParaRPr lang="en-US" sz="1800" dirty="0"/>
          </a:p>
        </p:txBody>
      </p:sp>
      <p:sp>
        <p:nvSpPr>
          <p:cNvPr id="14" name="tt_675"/>
          <p:cNvSpPr/>
          <p:nvPr/>
        </p:nvSpPr>
        <p:spPr>
          <a:xfrm>
            <a:off x="1188720" y="1417320"/>
            <a:ext cx="4754880" cy="530352"/>
          </a:xfrm>
          <a:prstGeom prst="rect">
            <a:avLst/>
          </a:prstGeom>
          <a:noFill/>
          <a:ln/>
        </p:spPr>
        <p:txBody>
          <a:bodyPr wrap="square" lIns="0" tIns="0" rIns="0" bIns="0" rtlCol="0" anchor="ctr">
            <a:normAutofit/>
          </a:bodyPr>
          <a:lstStyle/>
          <a:p>
            <a:pPr indent="0" marL="0">
              <a:buNone/>
            </a:pPr>
            <a:r>
              <a:rPr lang="en-US" sz="1350" dirty="0">
                <a:solidFill>
                  <a:srgbClr val="1B2559"/>
                </a:solidFill>
                <a:latin typeface="Segoe UI Semibold" pitchFamily="34" charset="0"/>
                <a:ea typeface="Segoe UI Semibold" pitchFamily="34" charset="-122"/>
                <a:cs typeface="Segoe UI Semibold" pitchFamily="34" charset="-120"/>
              </a:rPr>
              <a:t>Said what you think about men and women</a:t>
            </a:r>
            <a:endParaRPr lang="en-US" sz="1350" dirty="0"/>
          </a:p>
        </p:txBody>
      </p:sp>
      <p:sp>
        <p:nvSpPr>
          <p:cNvPr id="15" name="R1_tk676"/>
          <p:cNvSpPr/>
          <p:nvPr/>
        </p:nvSpPr>
        <p:spPr>
          <a:xfrm>
            <a:off x="5989320" y="1453896"/>
            <a:ext cx="502920" cy="457200"/>
          </a:xfrm>
          <a:prstGeom prst="rect">
            <a:avLst/>
          </a:prstGeom>
          <a:noFill/>
          <a:ln/>
        </p:spPr>
        <p:txBody>
          <a:bodyPr wrap="square" lIns="0" tIns="0" rIns="0" bIns="0" rtlCol="0" anchor="ctr"/>
          <a:lstStyle/>
          <a:p>
            <a:pPr algn="ctr" indent="0" marL="0">
              <a:buNone/>
            </a:pPr>
            <a:r>
              <a:rPr lang="en-US" sz="1800" dirty="0">
                <a:solidFill>
                  <a:srgbClr val="000000"/>
                </a:solidFill>
              </a:rPr>
              <a:t>✅</a:t>
            </a:r>
            <a:endParaRPr lang="en-US" sz="1800" dirty="0"/>
          </a:p>
        </p:txBody>
      </p:sp>
      <p:sp>
        <p:nvSpPr>
          <p:cNvPr id="16" name="cd_677"/>
          <p:cNvSpPr/>
          <p:nvPr/>
        </p:nvSpPr>
        <p:spPr>
          <a:xfrm>
            <a:off x="548640" y="2020824"/>
            <a:ext cx="6035040" cy="530352"/>
          </a:xfrm>
          <a:prstGeom prst="roundRect">
            <a:avLst>
              <a:gd name="adj" fmla="val 24138"/>
            </a:avLst>
          </a:prstGeom>
          <a:solidFill>
            <a:srgbClr val="FFFFFF"/>
          </a:solidFill>
          <a:ln w="28575">
            <a:solidFill>
              <a:srgbClr val="A9D3F5"/>
            </a:solidFill>
            <a:prstDash val="solid"/>
          </a:ln>
          <a:effectLst>
            <a:outerShdw sx="100000" sy="100000" kx="0" ky="0" algn="bl" rotWithShape="0" blurRad="88900" dist="31750" dir="5400000">
              <a:srgbClr val="1B2559">
                <a:alpha val="12000"/>
              </a:srgbClr>
            </a:outerShdw>
          </a:effectLst>
        </p:spPr>
      </p:sp>
      <p:sp>
        <p:nvSpPr>
          <p:cNvPr id="17" name="te_678"/>
          <p:cNvSpPr/>
          <p:nvPr/>
        </p:nvSpPr>
        <p:spPr>
          <a:xfrm>
            <a:off x="640080" y="2057400"/>
            <a:ext cx="457200" cy="457200"/>
          </a:xfrm>
          <a:prstGeom prst="rect">
            <a:avLst/>
          </a:prstGeom>
          <a:noFill/>
          <a:ln/>
        </p:spPr>
        <p:txBody>
          <a:bodyPr wrap="square" lIns="0" tIns="0" rIns="0" bIns="0" rtlCol="0" anchor="ctr"/>
          <a:lstStyle/>
          <a:p>
            <a:pPr algn="ctr" indent="0" marL="0">
              <a:buNone/>
            </a:pPr>
            <a:r>
              <a:rPr lang="en-US" sz="1800" dirty="0">
                <a:solidFill>
                  <a:srgbClr val="000000"/>
                </a:solidFill>
              </a:rPr>
              <a:t>👀</a:t>
            </a:r>
            <a:endParaRPr lang="en-US" sz="1800" dirty="0"/>
          </a:p>
        </p:txBody>
      </p:sp>
      <p:sp>
        <p:nvSpPr>
          <p:cNvPr id="18" name="tt_679"/>
          <p:cNvSpPr/>
          <p:nvPr/>
        </p:nvSpPr>
        <p:spPr>
          <a:xfrm>
            <a:off x="1188720" y="2020824"/>
            <a:ext cx="4754880" cy="530352"/>
          </a:xfrm>
          <a:prstGeom prst="rect">
            <a:avLst/>
          </a:prstGeom>
          <a:noFill/>
          <a:ln/>
        </p:spPr>
        <p:txBody>
          <a:bodyPr wrap="square" lIns="0" tIns="0" rIns="0" bIns="0" rtlCol="0" anchor="ctr">
            <a:normAutofit/>
          </a:bodyPr>
          <a:lstStyle/>
          <a:p>
            <a:pPr indent="0" marL="0">
              <a:buNone/>
            </a:pPr>
            <a:r>
              <a:rPr lang="en-US" sz="1350" dirty="0">
                <a:solidFill>
                  <a:srgbClr val="1B2559"/>
                </a:solidFill>
                <a:latin typeface="Segoe UI Semibold" pitchFamily="34" charset="0"/>
                <a:ea typeface="Segoe UI Semibold" pitchFamily="34" charset="-122"/>
                <a:cs typeface="Segoe UI Semibold" pitchFamily="34" charset="-120"/>
              </a:rPr>
              <a:t>Read what scientists discovered</a:t>
            </a:r>
            <a:endParaRPr lang="en-US" sz="1350" dirty="0"/>
          </a:p>
        </p:txBody>
      </p:sp>
      <p:sp>
        <p:nvSpPr>
          <p:cNvPr id="19" name="R2_tk680"/>
          <p:cNvSpPr/>
          <p:nvPr/>
        </p:nvSpPr>
        <p:spPr>
          <a:xfrm>
            <a:off x="5989320" y="2057400"/>
            <a:ext cx="502920" cy="457200"/>
          </a:xfrm>
          <a:prstGeom prst="rect">
            <a:avLst/>
          </a:prstGeom>
          <a:noFill/>
          <a:ln/>
        </p:spPr>
        <p:txBody>
          <a:bodyPr wrap="square" lIns="0" tIns="0" rIns="0" bIns="0" rtlCol="0" anchor="ctr"/>
          <a:lstStyle/>
          <a:p>
            <a:pPr algn="ctr" indent="0" marL="0">
              <a:buNone/>
            </a:pPr>
            <a:r>
              <a:rPr lang="en-US" sz="1800" dirty="0">
                <a:solidFill>
                  <a:srgbClr val="000000"/>
                </a:solidFill>
              </a:rPr>
              <a:t>✅</a:t>
            </a:r>
            <a:endParaRPr lang="en-US" sz="1800" dirty="0"/>
          </a:p>
        </p:txBody>
      </p:sp>
      <p:sp>
        <p:nvSpPr>
          <p:cNvPr id="20" name="cd_681"/>
          <p:cNvSpPr/>
          <p:nvPr/>
        </p:nvSpPr>
        <p:spPr>
          <a:xfrm>
            <a:off x="548640" y="2624328"/>
            <a:ext cx="6035040" cy="530352"/>
          </a:xfrm>
          <a:prstGeom prst="roundRect">
            <a:avLst>
              <a:gd name="adj" fmla="val 24138"/>
            </a:avLst>
          </a:prstGeom>
          <a:solidFill>
            <a:srgbClr val="FFFFFF"/>
          </a:solidFill>
          <a:ln w="28575">
            <a:solidFill>
              <a:srgbClr val="A8E5BE"/>
            </a:solidFill>
            <a:prstDash val="solid"/>
          </a:ln>
          <a:effectLst>
            <a:outerShdw sx="100000" sy="100000" kx="0" ky="0" algn="bl" rotWithShape="0" blurRad="88900" dist="31750" dir="5400000">
              <a:srgbClr val="1B2559">
                <a:alpha val="12000"/>
              </a:srgbClr>
            </a:outerShdw>
          </a:effectLst>
        </p:spPr>
      </p:sp>
      <p:sp>
        <p:nvSpPr>
          <p:cNvPr id="21" name="te_682"/>
          <p:cNvSpPr/>
          <p:nvPr/>
        </p:nvSpPr>
        <p:spPr>
          <a:xfrm>
            <a:off x="640080" y="2660904"/>
            <a:ext cx="457200" cy="457200"/>
          </a:xfrm>
          <a:prstGeom prst="rect">
            <a:avLst/>
          </a:prstGeom>
          <a:noFill/>
          <a:ln/>
        </p:spPr>
        <p:txBody>
          <a:bodyPr wrap="square" lIns="0" tIns="0" rIns="0" bIns="0" rtlCol="0" anchor="ctr"/>
          <a:lstStyle/>
          <a:p>
            <a:pPr algn="ctr" indent="0" marL="0">
              <a:buNone/>
            </a:pPr>
            <a:r>
              <a:rPr lang="en-US" sz="1800" dirty="0">
                <a:solidFill>
                  <a:srgbClr val="000000"/>
                </a:solidFill>
              </a:rPr>
              <a:t>✏️</a:t>
            </a:r>
            <a:endParaRPr lang="en-US" sz="1800" dirty="0"/>
          </a:p>
        </p:txBody>
      </p:sp>
      <p:sp>
        <p:nvSpPr>
          <p:cNvPr id="22" name="tt_683"/>
          <p:cNvSpPr/>
          <p:nvPr/>
        </p:nvSpPr>
        <p:spPr>
          <a:xfrm>
            <a:off x="1188720" y="2624328"/>
            <a:ext cx="4754880" cy="530352"/>
          </a:xfrm>
          <a:prstGeom prst="rect">
            <a:avLst/>
          </a:prstGeom>
          <a:noFill/>
          <a:ln/>
        </p:spPr>
        <p:txBody>
          <a:bodyPr wrap="square" lIns="0" tIns="0" rIns="0" bIns="0" rtlCol="0" anchor="ctr">
            <a:normAutofit/>
          </a:bodyPr>
          <a:lstStyle/>
          <a:p>
            <a:pPr indent="0" marL="0">
              <a:buNone/>
            </a:pPr>
            <a:r>
              <a:rPr lang="en-US" sz="1350" dirty="0">
                <a:solidFill>
                  <a:srgbClr val="1B2559"/>
                </a:solidFill>
                <a:latin typeface="Segoe UI Semibold" pitchFamily="34" charset="0"/>
                <a:ea typeface="Segoe UI Semibold" pitchFamily="34" charset="-122"/>
                <a:cs typeface="Segoe UI Semibold" pitchFamily="34" charset="-120"/>
              </a:rPr>
              <a:t>Used a / an, the or no article</a:t>
            </a:r>
            <a:endParaRPr lang="en-US" sz="1350" dirty="0"/>
          </a:p>
        </p:txBody>
      </p:sp>
      <p:sp>
        <p:nvSpPr>
          <p:cNvPr id="23" name="R3_tk684"/>
          <p:cNvSpPr/>
          <p:nvPr/>
        </p:nvSpPr>
        <p:spPr>
          <a:xfrm>
            <a:off x="5989320" y="2660904"/>
            <a:ext cx="502920" cy="457200"/>
          </a:xfrm>
          <a:prstGeom prst="rect">
            <a:avLst/>
          </a:prstGeom>
          <a:noFill/>
          <a:ln/>
        </p:spPr>
        <p:txBody>
          <a:bodyPr wrap="square" lIns="0" tIns="0" rIns="0" bIns="0" rtlCol="0" anchor="ctr"/>
          <a:lstStyle/>
          <a:p>
            <a:pPr algn="ctr" indent="0" marL="0">
              <a:buNone/>
            </a:pPr>
            <a:r>
              <a:rPr lang="en-US" sz="1800" dirty="0">
                <a:solidFill>
                  <a:srgbClr val="000000"/>
                </a:solidFill>
              </a:rPr>
              <a:t>✅</a:t>
            </a:r>
            <a:endParaRPr lang="en-US" sz="1800" dirty="0"/>
          </a:p>
        </p:txBody>
      </p:sp>
      <p:sp>
        <p:nvSpPr>
          <p:cNvPr id="24" name="cd_685"/>
          <p:cNvSpPr/>
          <p:nvPr/>
        </p:nvSpPr>
        <p:spPr>
          <a:xfrm>
            <a:off x="548640" y="3227832"/>
            <a:ext cx="6035040" cy="530352"/>
          </a:xfrm>
          <a:prstGeom prst="roundRect">
            <a:avLst>
              <a:gd name="adj" fmla="val 24138"/>
            </a:avLst>
          </a:prstGeom>
          <a:solidFill>
            <a:srgbClr val="FFFFFF"/>
          </a:solidFill>
          <a:ln w="28575">
            <a:solidFill>
              <a:srgbClr val="FFE07A"/>
            </a:solidFill>
            <a:prstDash val="solid"/>
          </a:ln>
          <a:effectLst>
            <a:outerShdw sx="100000" sy="100000" kx="0" ky="0" algn="bl" rotWithShape="0" blurRad="88900" dist="31750" dir="5400000">
              <a:srgbClr val="1B2559">
                <a:alpha val="12000"/>
              </a:srgbClr>
            </a:outerShdw>
          </a:effectLst>
        </p:spPr>
      </p:sp>
      <p:sp>
        <p:nvSpPr>
          <p:cNvPr id="25" name="te_686"/>
          <p:cNvSpPr/>
          <p:nvPr/>
        </p:nvSpPr>
        <p:spPr>
          <a:xfrm>
            <a:off x="640080" y="3264408"/>
            <a:ext cx="457200" cy="457200"/>
          </a:xfrm>
          <a:prstGeom prst="rect">
            <a:avLst/>
          </a:prstGeom>
          <a:noFill/>
          <a:ln/>
        </p:spPr>
        <p:txBody>
          <a:bodyPr wrap="square" lIns="0" tIns="0" rIns="0" bIns="0" rtlCol="0" anchor="ctr"/>
          <a:lstStyle/>
          <a:p>
            <a:pPr algn="ctr" indent="0" marL="0">
              <a:buNone/>
            </a:pPr>
            <a:r>
              <a:rPr lang="en-US" sz="1800" dirty="0">
                <a:solidFill>
                  <a:srgbClr val="000000"/>
                </a:solidFill>
              </a:rPr>
              <a:t>📖</a:t>
            </a:r>
            <a:endParaRPr lang="en-US" sz="1800" dirty="0"/>
          </a:p>
        </p:txBody>
      </p:sp>
      <p:sp>
        <p:nvSpPr>
          <p:cNvPr id="26" name="tt_687"/>
          <p:cNvSpPr/>
          <p:nvPr/>
        </p:nvSpPr>
        <p:spPr>
          <a:xfrm>
            <a:off x="1188720" y="3227832"/>
            <a:ext cx="4754880" cy="530352"/>
          </a:xfrm>
          <a:prstGeom prst="rect">
            <a:avLst/>
          </a:prstGeom>
          <a:noFill/>
          <a:ln/>
        </p:spPr>
        <p:txBody>
          <a:bodyPr wrap="square" lIns="0" tIns="0" rIns="0" bIns="0" rtlCol="0" anchor="ctr">
            <a:normAutofit/>
          </a:bodyPr>
          <a:lstStyle/>
          <a:p>
            <a:pPr indent="0" marL="0">
              <a:buNone/>
            </a:pPr>
            <a:r>
              <a:rPr lang="en-US" sz="1350" dirty="0">
                <a:solidFill>
                  <a:srgbClr val="1B2559"/>
                </a:solidFill>
                <a:latin typeface="Segoe UI Semibold" pitchFamily="34" charset="0"/>
                <a:ea typeface="Segoe UI Semibold" pitchFamily="34" charset="-122"/>
                <a:cs typeface="Segoe UI Semibold" pitchFamily="34" charset="-120"/>
              </a:rPr>
              <a:t>Listened to a class story and answered questions</a:t>
            </a:r>
            <a:endParaRPr lang="en-US" sz="1350" dirty="0"/>
          </a:p>
        </p:txBody>
      </p:sp>
      <p:sp>
        <p:nvSpPr>
          <p:cNvPr id="27" name="R4_tk688"/>
          <p:cNvSpPr/>
          <p:nvPr/>
        </p:nvSpPr>
        <p:spPr>
          <a:xfrm>
            <a:off x="5989320" y="3264408"/>
            <a:ext cx="502920" cy="457200"/>
          </a:xfrm>
          <a:prstGeom prst="rect">
            <a:avLst/>
          </a:prstGeom>
          <a:noFill/>
          <a:ln/>
        </p:spPr>
        <p:txBody>
          <a:bodyPr wrap="square" lIns="0" tIns="0" rIns="0" bIns="0" rtlCol="0" anchor="ctr"/>
          <a:lstStyle/>
          <a:p>
            <a:pPr algn="ctr" indent="0" marL="0">
              <a:buNone/>
            </a:pPr>
            <a:r>
              <a:rPr lang="en-US" sz="1800" dirty="0">
                <a:solidFill>
                  <a:srgbClr val="000000"/>
                </a:solidFill>
              </a:rPr>
              <a:t>✅</a:t>
            </a:r>
            <a:endParaRPr lang="en-US" sz="1800" dirty="0"/>
          </a:p>
        </p:txBody>
      </p:sp>
      <p:sp>
        <p:nvSpPr>
          <p:cNvPr id="28" name="cd_689"/>
          <p:cNvSpPr/>
          <p:nvPr/>
        </p:nvSpPr>
        <p:spPr>
          <a:xfrm>
            <a:off x="548640" y="3831336"/>
            <a:ext cx="6035040" cy="530352"/>
          </a:xfrm>
          <a:prstGeom prst="roundRect">
            <a:avLst>
              <a:gd name="adj" fmla="val 24138"/>
            </a:avLst>
          </a:prstGeom>
          <a:solidFill>
            <a:srgbClr val="FFFFFF"/>
          </a:solidFill>
          <a:ln w="28575">
            <a:solidFill>
              <a:srgbClr val="F7A6C4"/>
            </a:solidFill>
            <a:prstDash val="solid"/>
          </a:ln>
          <a:effectLst>
            <a:outerShdw sx="100000" sy="100000" kx="0" ky="0" algn="bl" rotWithShape="0" blurRad="88900" dist="31750" dir="5400000">
              <a:srgbClr val="1B2559">
                <a:alpha val="12000"/>
              </a:srgbClr>
            </a:outerShdw>
          </a:effectLst>
        </p:spPr>
      </p:sp>
      <p:sp>
        <p:nvSpPr>
          <p:cNvPr id="29" name="te_690"/>
          <p:cNvSpPr/>
          <p:nvPr/>
        </p:nvSpPr>
        <p:spPr>
          <a:xfrm>
            <a:off x="640080" y="3867912"/>
            <a:ext cx="457200" cy="457200"/>
          </a:xfrm>
          <a:prstGeom prst="rect">
            <a:avLst/>
          </a:prstGeom>
          <a:noFill/>
          <a:ln/>
        </p:spPr>
        <p:txBody>
          <a:bodyPr wrap="square" lIns="0" tIns="0" rIns="0" bIns="0" rtlCol="0" anchor="ctr"/>
          <a:lstStyle/>
          <a:p>
            <a:pPr algn="ctr" indent="0" marL="0">
              <a:buNone/>
            </a:pPr>
            <a:r>
              <a:rPr lang="en-US" sz="1800" dirty="0">
                <a:solidFill>
                  <a:srgbClr val="000000"/>
                </a:solidFill>
              </a:rPr>
              <a:t>🔊</a:t>
            </a:r>
            <a:endParaRPr lang="en-US" sz="1800" dirty="0"/>
          </a:p>
        </p:txBody>
      </p:sp>
      <p:sp>
        <p:nvSpPr>
          <p:cNvPr id="30" name="tt_691"/>
          <p:cNvSpPr/>
          <p:nvPr/>
        </p:nvSpPr>
        <p:spPr>
          <a:xfrm>
            <a:off x="1188720" y="3831336"/>
            <a:ext cx="4754880" cy="530352"/>
          </a:xfrm>
          <a:prstGeom prst="rect">
            <a:avLst/>
          </a:prstGeom>
          <a:noFill/>
          <a:ln/>
        </p:spPr>
        <p:txBody>
          <a:bodyPr wrap="square" lIns="0" tIns="0" rIns="0" bIns="0" rtlCol="0" anchor="ctr">
            <a:normAutofit/>
          </a:bodyPr>
          <a:lstStyle/>
          <a:p>
            <a:pPr indent="0" marL="0">
              <a:buNone/>
            </a:pPr>
            <a:r>
              <a:rPr lang="en-US" sz="1350" dirty="0">
                <a:solidFill>
                  <a:srgbClr val="1B2559"/>
                </a:solidFill>
                <a:latin typeface="Segoe UI Semibold" pitchFamily="34" charset="0"/>
                <a:ea typeface="Segoe UI Semibold" pitchFamily="34" charset="-122"/>
                <a:cs typeface="Segoe UI Semibold" pitchFamily="34" charset="-120"/>
              </a:rPr>
              <a:t>Said "the" in two different ways</a:t>
            </a:r>
            <a:endParaRPr lang="en-US" sz="1350" dirty="0"/>
          </a:p>
        </p:txBody>
      </p:sp>
      <p:sp>
        <p:nvSpPr>
          <p:cNvPr id="31" name="R5_tk692"/>
          <p:cNvSpPr/>
          <p:nvPr/>
        </p:nvSpPr>
        <p:spPr>
          <a:xfrm>
            <a:off x="5989320" y="3867912"/>
            <a:ext cx="502920" cy="457200"/>
          </a:xfrm>
          <a:prstGeom prst="rect">
            <a:avLst/>
          </a:prstGeom>
          <a:noFill/>
          <a:ln/>
        </p:spPr>
        <p:txBody>
          <a:bodyPr wrap="square" lIns="0" tIns="0" rIns="0" bIns="0" rtlCol="0" anchor="ctr"/>
          <a:lstStyle/>
          <a:p>
            <a:pPr algn="ctr" indent="0" marL="0">
              <a:buNone/>
            </a:pPr>
            <a:r>
              <a:rPr lang="en-US" sz="1800" dirty="0">
                <a:solidFill>
                  <a:srgbClr val="000000"/>
                </a:solidFill>
              </a:rPr>
              <a:t>✅</a:t>
            </a:r>
            <a:endParaRPr lang="en-US" sz="1800" dirty="0"/>
          </a:p>
        </p:txBody>
      </p:sp>
      <p:sp>
        <p:nvSpPr>
          <p:cNvPr id="32" name="st_693"/>
          <p:cNvSpPr/>
          <p:nvPr/>
        </p:nvSpPr>
        <p:spPr>
          <a:xfrm rot="180000">
            <a:off x="6949440" y="1691640"/>
            <a:ext cx="1828800" cy="1188720"/>
          </a:xfrm>
          <a:prstGeom prst="rect">
            <a:avLst/>
          </a:prstGeom>
          <a:solidFill>
            <a:srgbClr val="FFE07A"/>
          </a:solidFill>
          <a:ln>
            <a:solidFill>
              <a:srgbClr val="FFE07A"/>
            </a:solidFill>
          </a:ln>
          <a:effectLst>
            <a:outerShdw sx="100000" sy="100000" kx="0" ky="0" algn="bl" rotWithShape="0" blurRad="88900" dist="31750" dir="5400000">
              <a:srgbClr val="1B2559">
                <a:alpha val="15000"/>
              </a:srgbClr>
            </a:outerShdw>
          </a:effectLst>
        </p:spPr>
        <p:txBody>
          <a:bodyPr wrap="square" lIns="50800" tIns="50800" rIns="50800" bIns="50800" rtlCol="0" anchor="ctr">
            <a:normAutofit/>
          </a:bodyPr>
          <a:lstStyle/>
          <a:p>
            <a:pPr algn="ct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  👌  👎</a:t>
            </a:r>
            <a:endParaRPr lang="en-US" sz="1300" dirty="0"/>
          </a:p>
          <a:p>
            <a:pPr algn="ct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Can you do it now?</a:t>
            </a:r>
            <a:endParaRPr lang="en-US" sz="1300" dirty="0"/>
          </a:p>
          <a:p>
            <a:pPr algn="ct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Ora sai farlo?</a:t>
            </a:r>
            <a:endParaRPr lang="en-US" sz="13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5"/>
                                        </p:tgtEl>
                                        <p:attrNameLst>
                                          <p:attrName>style.visibility</p:attrName>
                                        </p:attrNameLst>
                                      </p:cBhvr>
                                      <p:to>
                                        <p:strVal val="visible"/>
                                      </p:to>
                                    </p:set>
                                    <p:animEffect transition="in" filter="fade">
                                      <p:cBhvr>
                                        <p:cTn id="7" dur="400"/>
                                        <p:tgtEl>
                                          <p:spTgt spid="15"/>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19"/>
                                        </p:tgtEl>
                                        <p:attrNameLst>
                                          <p:attrName>style.visibility</p:attrName>
                                        </p:attrNameLst>
                                      </p:cBhvr>
                                      <p:to>
                                        <p:strVal val="visible"/>
                                      </p:to>
                                    </p:set>
                                    <p:animEffect transition="in" filter="fade">
                                      <p:cBhvr>
                                        <p:cTn id="12" dur="400"/>
                                        <p:tgtEl>
                                          <p:spTgt spid="19"/>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3"/>
                                        </p:tgtEl>
                                        <p:attrNameLst>
                                          <p:attrName>style.visibility</p:attrName>
                                        </p:attrNameLst>
                                      </p:cBhvr>
                                      <p:to>
                                        <p:strVal val="visible"/>
                                      </p:to>
                                    </p:set>
                                    <p:animEffect transition="in" filter="fade">
                                      <p:cBhvr>
                                        <p:cTn id="17" dur="400"/>
                                        <p:tgtEl>
                                          <p:spTgt spid="23"/>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27"/>
                                        </p:tgtEl>
                                        <p:attrNameLst>
                                          <p:attrName>style.visibility</p:attrName>
                                        </p:attrNameLst>
                                      </p:cBhvr>
                                      <p:to>
                                        <p:strVal val="visible"/>
                                      </p:to>
                                    </p:set>
                                    <p:animEffect transition="in" filter="fade">
                                      <p:cBhvr>
                                        <p:cTn id="22" dur="400"/>
                                        <p:tgtEl>
                                          <p:spTgt spid="27"/>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31"/>
                                        </p:tgtEl>
                                        <p:attrNameLst>
                                          <p:attrName>style.visibility</p:attrName>
                                        </p:attrNameLst>
                                      </p:cBhvr>
                                      <p:to>
                                        <p:strVal val="visible"/>
                                      </p:to>
                                    </p:set>
                                    <p:animEffect transition="in" filter="fade">
                                      <p:cBhvr>
                                        <p:cTn id="27" dur="400"/>
                                        <p:tgtEl>
                                          <p:spTgt spid="3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4.xml><?xml version="1.0" encoding="utf-8"?>
<p:sld xmlns:a="http://schemas.openxmlformats.org/drawingml/2006/main" xmlns:r="http://schemas.openxmlformats.org/officeDocument/2006/relationships" xmlns:p="http://schemas.openxmlformats.org/presentationml/2006/main">
  <p:cSld name="Slide 24">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dv_694"/>
          <p:cNvSpPr/>
          <p:nvPr/>
        </p:nvSpPr>
        <p:spPr>
          <a:xfrm>
            <a:off x="4023360" y="914400"/>
            <a:ext cx="1097280" cy="914400"/>
          </a:xfrm>
          <a:prstGeom prst="rect">
            <a:avLst/>
          </a:prstGeom>
          <a:noFill/>
          <a:ln/>
        </p:spPr>
        <p:txBody>
          <a:bodyPr wrap="square" lIns="0" tIns="0" rIns="0" bIns="0" rtlCol="0" anchor="ctr"/>
          <a:lstStyle/>
          <a:p>
            <a:pPr algn="ctr" indent="0" marL="0">
              <a:buNone/>
            </a:pPr>
            <a:r>
              <a:rPr lang="en-US" sz="5400" dirty="0">
                <a:solidFill>
                  <a:srgbClr val="000000"/>
                </a:solidFill>
              </a:rPr>
              <a:t>⭐</a:t>
            </a:r>
            <a:endParaRPr lang="en-US" sz="5400" dirty="0"/>
          </a:p>
        </p:txBody>
      </p:sp>
      <p:sp>
        <p:nvSpPr>
          <p:cNvPr id="4" name="dvt_695"/>
          <p:cNvSpPr/>
          <p:nvPr/>
        </p:nvSpPr>
        <p:spPr>
          <a:xfrm>
            <a:off x="914400" y="1828800"/>
            <a:ext cx="7315200" cy="731520"/>
          </a:xfrm>
          <a:prstGeom prst="rect">
            <a:avLst/>
          </a:prstGeom>
          <a:noFill/>
          <a:ln/>
        </p:spPr>
        <p:txBody>
          <a:bodyPr wrap="square" lIns="0" tIns="0" rIns="0" bIns="0" rtlCol="0" anchor="ctr"/>
          <a:lstStyle/>
          <a:p>
            <a:pPr algn="ctr" indent="0" marL="0">
              <a:buNone/>
            </a:pPr>
            <a:r>
              <a:rPr lang="en-US" sz="3400" dirty="0">
                <a:solidFill>
                  <a:srgbClr val="1B2559"/>
                </a:solidFill>
                <a:latin typeface="Arial Rounded MT Bold" pitchFamily="34" charset="0"/>
                <a:ea typeface="Arial Rounded MT Bold" pitchFamily="34" charset="-122"/>
                <a:cs typeface="Arial Rounded MT Bold" pitchFamily="34" charset="-120"/>
              </a:rPr>
              <a:t>Optional extensions</a:t>
            </a:r>
            <a:endParaRPr lang="en-US" sz="3400" dirty="0"/>
          </a:p>
        </p:txBody>
      </p:sp>
      <p:sp>
        <p:nvSpPr>
          <p:cNvPr id="5" name="dvs_696"/>
          <p:cNvSpPr/>
          <p:nvPr/>
        </p:nvSpPr>
        <p:spPr>
          <a:xfrm>
            <a:off x="914400" y="2606040"/>
            <a:ext cx="7315200" cy="457200"/>
          </a:xfrm>
          <a:prstGeom prst="rect">
            <a:avLst/>
          </a:prstGeom>
          <a:noFill/>
          <a:ln/>
        </p:spPr>
        <p:txBody>
          <a:bodyPr wrap="square" lIns="0" tIns="0" rIns="0" bIns="0" rtlCol="0" anchor="ctr"/>
          <a:lstStyle/>
          <a:p>
            <a:pPr algn="ctr" indent="0" marL="0">
              <a:buNone/>
            </a:pPr>
            <a:r>
              <a:rPr lang="en-US" sz="1250" i="1" dirty="0">
                <a:solidFill>
                  <a:srgbClr val="5B6785"/>
                </a:solidFill>
                <a:latin typeface="Segoe UI Semibold" pitchFamily="34" charset="0"/>
                <a:ea typeface="Segoe UI Semibold" pitchFamily="34" charset="-122"/>
                <a:cs typeface="Segoe UI Semibold" pitchFamily="34" charset="-120"/>
              </a:rPr>
              <a:t>Only if there's time – the lesson is finished. · Solo se c'è tempo – la lezione è finita.</a:t>
            </a:r>
            <a:endParaRPr lang="en-US" sz="1250" dirty="0"/>
          </a:p>
        </p:txBody>
      </p:sp>
      <p:pic>
        <p:nvPicPr>
          <p:cNvPr id="6" name="logo_697" descr="/home/claude/lls-course/v2/img/logo.png">    </p:cNvPr>
          <p:cNvPicPr>
            <a:picLocks noChangeAspect="1"/>
          </p:cNvPicPr>
          <p:nvPr/>
        </p:nvPicPr>
        <p:blipFill>
          <a:blip r:embed="rId2"/>
          <a:stretch>
            <a:fillRect/>
          </a:stretch>
        </p:blipFill>
        <p:spPr>
          <a:xfrm>
            <a:off x="8485632" y="4526280"/>
            <a:ext cx="502920" cy="502920"/>
          </a:xfrm>
          <a:prstGeom prst="rect">
            <a:avLst/>
          </a:prstGeom>
        </p:spPr>
      </p:pic>
    </p:spTree>
  </p:cSld>
  <p:clrMapOvr>
    <a:masterClrMapping/>
  </p:clrMapOvr>
  <p:transition spd="med">
    <p:push dir="l"/>
  </p:transition>
</p:sld>
</file>

<file path=ppt/slides/slide25.xml><?xml version="1.0" encoding="utf-8"?>
<p:sld xmlns:a="http://schemas.openxmlformats.org/drawingml/2006/main" xmlns:r="http://schemas.openxmlformats.org/officeDocument/2006/relationships" xmlns:p="http://schemas.openxmlformats.org/presentationml/2006/main">
  <p:cSld name="Slide 25">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698"/>
          <p:cNvSpPr/>
          <p:nvPr/>
        </p:nvSpPr>
        <p:spPr>
          <a:xfrm>
            <a:off x="201168" y="164592"/>
            <a:ext cx="841248" cy="841248"/>
          </a:xfrm>
          <a:prstGeom prst="ellipse">
            <a:avLst/>
          </a:prstGeom>
          <a:solidFill>
            <a:srgbClr val="E8508F"/>
          </a:solidFill>
          <a:ln w="28575">
            <a:solidFill>
              <a:srgbClr val="F7A6C4"/>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25</a:t>
            </a:r>
            <a:endParaRPr lang="en-US" sz="2200" dirty="0"/>
          </a:p>
        </p:txBody>
      </p:sp>
      <p:pic>
        <p:nvPicPr>
          <p:cNvPr id="4" name="brY_699" descr="/home/claude/lls-course/v2/assets/brush-yellow.png">    </p:cNvPr>
          <p:cNvPicPr>
            <a:picLocks noChangeAspect="1"/>
          </p:cNvPicPr>
          <p:nvPr/>
        </p:nvPicPr>
        <p:blipFill>
          <a:blip r:embed="rId2"/>
          <a:stretch>
            <a:fillRect/>
          </a:stretch>
        </p:blipFill>
        <p:spPr>
          <a:xfrm>
            <a:off x="1097280" y="146304"/>
            <a:ext cx="2618842" cy="621792"/>
          </a:xfrm>
          <a:prstGeom prst="rect">
            <a:avLst/>
          </a:prstGeom>
        </p:spPr>
      </p:pic>
      <p:sp>
        <p:nvSpPr>
          <p:cNvPr id="5" name="title_700"/>
          <p:cNvSpPr/>
          <p:nvPr/>
        </p:nvSpPr>
        <p:spPr>
          <a:xfrm>
            <a:off x="1261872" y="164592"/>
            <a:ext cx="2344522"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Describe it!</a:t>
            </a:r>
            <a:endParaRPr lang="en-US" sz="2500" dirty="0"/>
          </a:p>
        </p:txBody>
      </p:sp>
      <p:pic>
        <p:nvPicPr>
          <p:cNvPr id="6" name="brP_701" descr="/home/claude/lls-course/v2/assets/brush-pink.png">    </p:cNvPr>
          <p:cNvPicPr>
            <a:picLocks noChangeAspect="1"/>
          </p:cNvPicPr>
          <p:nvPr/>
        </p:nvPicPr>
        <p:blipFill>
          <a:blip r:embed="rId3"/>
          <a:stretch>
            <a:fillRect/>
          </a:stretch>
        </p:blipFill>
        <p:spPr>
          <a:xfrm>
            <a:off x="1207008" y="731520"/>
            <a:ext cx="3424428" cy="402336"/>
          </a:xfrm>
          <a:prstGeom prst="rect">
            <a:avLst/>
          </a:prstGeom>
        </p:spPr>
      </p:pic>
      <p:sp>
        <p:nvSpPr>
          <p:cNvPr id="7" name="ins_702"/>
          <p:cNvSpPr/>
          <p:nvPr/>
        </p:nvSpPr>
        <p:spPr>
          <a:xfrm>
            <a:off x="1353312" y="731520"/>
            <a:ext cx="3168396"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Explain the word. Don't say it!</a:t>
            </a:r>
            <a:endParaRPr lang="en-US" sz="1250" dirty="0"/>
          </a:p>
        </p:txBody>
      </p:sp>
      <p:sp>
        <p:nvSpPr>
          <p:cNvPr id="8" name="insIT_703"/>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Spiega la parola. Non dirla!</a:t>
            </a:r>
            <a:endParaRPr lang="en-US" sz="950" dirty="0"/>
          </a:p>
        </p:txBody>
      </p:sp>
      <p:sp>
        <p:nvSpPr>
          <p:cNvPr id="9" name="note_704"/>
          <p:cNvSpPr/>
          <p:nvPr/>
        </p:nvSpPr>
        <p:spPr>
          <a:xfrm rot="180000">
            <a:off x="6382512" y="128016"/>
            <a:ext cx="2029968" cy="1024128"/>
          </a:xfrm>
          <a:prstGeom prst="rect">
            <a:avLst/>
          </a:prstGeom>
          <a:solidFill>
            <a:srgbClr val="FFC2DA"/>
          </a:solidFill>
          <a:ln>
            <a:solidFill>
              <a:srgbClr val="FFC2DA"/>
            </a:solidFill>
          </a:ln>
          <a:effectLst>
            <a:outerShdw sx="100000" sy="100000" kx="0" ky="0" algn="bl" rotWithShape="0" blurRad="88900" dist="31750" dir="5400000">
              <a:srgbClr val="1B2559">
                <a:alpha val="15000"/>
              </a:srgbClr>
            </a:outerShdw>
          </a:effectLst>
        </p:spPr>
        <p:txBody>
          <a:bodyPr wrap="square" lIns="50800" tIns="50800" rIns="50800" bIns="50800" rtlCol="0" anchor="ctr">
            <a:normAutofit/>
          </a:bodyPr>
          <a:lstStyle/>
          <a:p>
            <a:pPr algn="ctr" indent="0" marL="0">
              <a:buNone/>
            </a:pPr>
            <a:r>
              <a:rPr lang="en-US" sz="1250" dirty="0">
                <a:solidFill>
                  <a:srgbClr val="1B2559"/>
                </a:solidFill>
                <a:latin typeface="Arial Rounded MT Bold" pitchFamily="34" charset="0"/>
                <a:ea typeface="Arial Rounded MT Bold" pitchFamily="34" charset="-122"/>
                <a:cs typeface="Arial Rounded MT Bold" pitchFamily="34" charset="-120"/>
              </a:rPr>
              <a:t>🎲 PLAY</a:t>
            </a:r>
            <a:pPr algn="ctr" indent="0" marL="0">
              <a:buNone/>
            </a:pPr>
            <a:r>
              <a:rPr lang="en-US" sz="1250" dirty="0">
                <a:solidFill>
                  <a:srgbClr val="1B2559"/>
                </a:solidFill>
                <a:latin typeface="Arial Rounded MT Bold" pitchFamily="34" charset="0"/>
                <a:ea typeface="Arial Rounded MT Bold" pitchFamily="34" charset="-122"/>
                <a:cs typeface="Arial Rounded MT Bold" pitchFamily="34" charset="-120"/>
              </a:rPr>
              <a:t> · GIOCA</a:t>
            </a:r>
            <a:endParaRPr lang="en-US" sz="1250" dirty="0"/>
          </a:p>
          <a:p>
            <a:pPr algn="ctr" indent="0" marL="0">
              <a:buNone/>
            </a:pPr>
            <a:r>
              <a:rPr lang="en-US" sz="1100" dirty="0">
                <a:solidFill>
                  <a:srgbClr val="1B2559"/>
                </a:solidFill>
                <a:latin typeface="Segoe UI Semibold" pitchFamily="34" charset="0"/>
                <a:ea typeface="Segoe UI Semibold" pitchFamily="34" charset="-122"/>
                <a:cs typeface="Segoe UI Semibold" pitchFamily="34" charset="-120"/>
              </a:rPr>
              <a:t>⏱ 3 min   👥 pairs</a:t>
            </a:r>
            <a:endParaRPr lang="en-US" sz="1250" dirty="0"/>
          </a:p>
          <a:p>
            <a:pPr algn="ctr" indent="0" marL="0">
              <a:buNone/>
            </a:pPr>
            <a:r>
              <a:rPr lang="en-US" sz="900" dirty="0">
                <a:solidFill>
                  <a:srgbClr val="5B6785"/>
                </a:solidFill>
                <a:latin typeface="Segoe UI Semibold" pitchFamily="34" charset="0"/>
                <a:ea typeface="Segoe UI Semibold" pitchFamily="34" charset="-122"/>
                <a:cs typeface="Segoe UI Semibold" pitchFamily="34" charset="-120"/>
              </a:rPr>
              <a:t>🎯 Vocabulary · Communicative game</a:t>
            </a:r>
            <a:endParaRPr lang="en-US" sz="1250" dirty="0"/>
          </a:p>
        </p:txBody>
      </p:sp>
      <p:pic>
        <p:nvPicPr>
          <p:cNvPr id="10" name="logo_705"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1" name="foot_706"/>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3B-1 · Vocabulary game</a:t>
            </a:r>
            <a:endParaRPr lang="en-US" sz="800" dirty="0"/>
          </a:p>
        </p:txBody>
      </p:sp>
      <p:sp>
        <p:nvSpPr>
          <p:cNvPr id="12" name="ext_707"/>
          <p:cNvSpPr/>
          <p:nvPr/>
        </p:nvSpPr>
        <p:spPr>
          <a:xfrm>
            <a:off x="5120640" y="4727448"/>
            <a:ext cx="3291840" cy="310896"/>
          </a:xfrm>
          <a:prstGeom prst="roundRect">
            <a:avLst>
              <a:gd name="adj" fmla="val 50000"/>
            </a:avLst>
          </a:prstGeom>
          <a:solidFill>
            <a:srgbClr val="EEE8FB"/>
          </a:solidFill>
          <a:ln w="28575">
            <a:solidFill>
              <a:srgbClr val="CDBFF3"/>
            </a:solidFill>
          </a:ln>
        </p:spPr>
        <p:txBody>
          <a:bodyPr wrap="square" lIns="0" tIns="0" rIns="0" bIns="0" rtlCol="0" anchor="ctr"/>
          <a:lstStyle/>
          <a:p>
            <a:pPr algn="ctr" indent="0" marL="0">
              <a:buNone/>
            </a:pPr>
            <a:r>
              <a:rPr lang="en-US" sz="1050" dirty="0">
                <a:solidFill>
                  <a:srgbClr val="7B5CD6"/>
                </a:solidFill>
                <a:latin typeface="Arial Rounded MT Bold" pitchFamily="34" charset="0"/>
                <a:ea typeface="Arial Rounded MT Bold" pitchFamily="34" charset="-122"/>
                <a:cs typeface="Arial Rounded MT Bold" pitchFamily="34" charset="-120"/>
              </a:rPr>
              <a:t>⭐ OPTIONAL EXTENSION · only if there's time</a:t>
            </a:r>
            <a:endParaRPr lang="en-US" sz="1050" dirty="0"/>
          </a:p>
        </p:txBody>
      </p:sp>
      <p:sp>
        <p:nvSpPr>
          <p:cNvPr id="13" name="cd_708"/>
          <p:cNvSpPr/>
          <p:nvPr/>
        </p:nvSpPr>
        <p:spPr>
          <a:xfrm>
            <a:off x="320040" y="1417320"/>
            <a:ext cx="2697480" cy="2514600"/>
          </a:xfrm>
          <a:prstGeom prst="roundRect">
            <a:avLst>
              <a:gd name="adj" fmla="val 5091"/>
            </a:avLst>
          </a:prstGeom>
          <a:solidFill>
            <a:srgbClr val="EEE8FB"/>
          </a:solidFill>
          <a:ln w="28575">
            <a:solidFill>
              <a:srgbClr val="CDBFF3"/>
            </a:solidFill>
            <a:prstDash val="solid"/>
          </a:ln>
          <a:effectLst>
            <a:outerShdw sx="100000" sy="100000" kx="0" ky="0" algn="bl" rotWithShape="0" blurRad="88900" dist="31750" dir="5400000">
              <a:srgbClr val="1B2559">
                <a:alpha val="12000"/>
              </a:srgbClr>
            </a:outerShdw>
          </a:effectLst>
        </p:spPr>
      </p:sp>
      <p:sp>
        <p:nvSpPr>
          <p:cNvPr id="14" name="ii_709"/>
          <p:cNvSpPr/>
          <p:nvPr/>
        </p:nvSpPr>
        <p:spPr>
          <a:xfrm>
            <a:off x="411480" y="149047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5" name="ih_710"/>
          <p:cNvSpPr/>
          <p:nvPr/>
        </p:nvSpPr>
        <p:spPr>
          <a:xfrm>
            <a:off x="886968" y="1508760"/>
            <a:ext cx="2057400" cy="365760"/>
          </a:xfrm>
          <a:prstGeom prst="rect">
            <a:avLst/>
          </a:prstGeom>
          <a:noFill/>
          <a:ln/>
        </p:spPr>
        <p:txBody>
          <a:bodyPr wrap="square" lIns="0" tIns="0" rIns="0" bIns="0" rtlCol="0" anchor="ctr"/>
          <a:lstStyle/>
          <a:p>
            <a:pPr indent="0" marL="0">
              <a:buNone/>
            </a:pPr>
            <a:r>
              <a:rPr lang="en-US" sz="1400" dirty="0">
                <a:solidFill>
                  <a:srgbClr val="1B2559"/>
                </a:solidFill>
                <a:latin typeface="Arial Rounded MT Bold" pitchFamily="34" charset="0"/>
                <a:ea typeface="Arial Rounded MT Bold" pitchFamily="34" charset="-122"/>
                <a:cs typeface="Arial Rounded MT Bold" pitchFamily="34" charset="-120"/>
              </a:rPr>
              <a:t>How to play</a:t>
            </a:r>
            <a:endParaRPr lang="en-US" sz="1400" dirty="0"/>
          </a:p>
        </p:txBody>
      </p:sp>
      <p:sp>
        <p:nvSpPr>
          <p:cNvPr id="16" name="il_711"/>
          <p:cNvSpPr/>
          <p:nvPr/>
        </p:nvSpPr>
        <p:spPr>
          <a:xfrm>
            <a:off x="886968" y="1911096"/>
            <a:ext cx="2039112" cy="1947672"/>
          </a:xfrm>
          <a:prstGeom prst="rect">
            <a:avLst/>
          </a:prstGeom>
          <a:noFill/>
          <a:ln/>
        </p:spPr>
        <p:txBody>
          <a:bodyPr wrap="square" lIns="0" tIns="0" rIns="0" bIns="0" rtlCol="0" anchor="t">
            <a:normAutofit/>
          </a:bodyPr>
          <a:lstStyle/>
          <a:p>
            <a:pPr marL="152400" indent="-152400">
              <a:spcAft>
                <a:spcPts val="200"/>
              </a:spcAft>
              <a:buSzPct val="100000"/>
              <a:buChar char="•"/>
            </a:pPr>
            <a:r>
              <a:rPr lang="en-US" sz="1000" dirty="0">
                <a:solidFill>
                  <a:srgbClr val="1B2559"/>
                </a:solidFill>
                <a:latin typeface="Segoe UI Semibold" pitchFamily="34" charset="0"/>
                <a:ea typeface="Segoe UI Semibold" pitchFamily="34" charset="-122"/>
                <a:cs typeface="Segoe UI Semibold" pitchFamily="34" charset="-120"/>
              </a:rPr>
              <a:t>A looks at the screen. B turns around.</a:t>
            </a:r>
            <a:endParaRPr lang="en-US" sz="1000" dirty="0"/>
          </a:p>
          <a:p>
            <a:pPr marL="152400" indent="-152400">
              <a:spcAft>
                <a:spcPts val="200"/>
              </a:spcAft>
              <a:buSzPct val="100000"/>
              <a:buChar char=" "/>
            </a:pPr>
            <a:r>
              <a:rPr lang="en-US" sz="1000" dirty="0">
                <a:solidFill>
                  <a:srgbClr val="5B6785"/>
                </a:solidFill>
                <a:latin typeface="Segoe UI Semibold" pitchFamily="34" charset="0"/>
                <a:ea typeface="Segoe UI Semibold" pitchFamily="34" charset="-122"/>
                <a:cs typeface="Segoe UI Semibold" pitchFamily="34" charset="-120"/>
              </a:rPr>
              <a:t>A guarda lo schermo. B si gira.</a:t>
            </a:r>
            <a:endParaRPr lang="en-US" sz="1000" dirty="0"/>
          </a:p>
          <a:p>
            <a:pPr marL="152400" indent="-152400">
              <a:spcBef>
                <a:spcPts val="600"/>
              </a:spcBef>
              <a:spcAft>
                <a:spcPts val="200"/>
              </a:spcAft>
              <a:buSzPct val="100000"/>
              <a:buChar char="•"/>
            </a:pPr>
            <a:r>
              <a:rPr lang="en-US" sz="1000" dirty="0">
                <a:solidFill>
                  <a:srgbClr val="1B2559"/>
                </a:solidFill>
                <a:latin typeface="Segoe UI Semibold" pitchFamily="34" charset="0"/>
                <a:ea typeface="Segoe UI Semibold" pitchFamily="34" charset="-122"/>
                <a:cs typeface="Segoe UI Semibold" pitchFamily="34" charset="-120"/>
              </a:rPr>
              <a:t>A explains: It's a… / It's the… Don't say it!</a:t>
            </a:r>
            <a:endParaRPr lang="en-US" sz="1000" dirty="0"/>
          </a:p>
          <a:p>
            <a:pPr marL="152400" indent="-152400">
              <a:spcAft>
                <a:spcPts val="200"/>
              </a:spcAft>
              <a:buSzPct val="100000"/>
              <a:buChar char=" "/>
            </a:pPr>
            <a:r>
              <a:rPr lang="en-US" sz="1000" dirty="0">
                <a:solidFill>
                  <a:srgbClr val="5B6785"/>
                </a:solidFill>
                <a:latin typeface="Segoe UI Semibold" pitchFamily="34" charset="0"/>
                <a:ea typeface="Segoe UI Semibold" pitchFamily="34" charset="-122"/>
                <a:cs typeface="Segoe UI Semibold" pitchFamily="34" charset="-120"/>
              </a:rPr>
              <a:t>A spiega: It's a… / It's the… Non dirla!</a:t>
            </a:r>
            <a:endParaRPr lang="en-US" sz="1000" dirty="0"/>
          </a:p>
          <a:p>
            <a:pPr marL="152400" indent="-152400">
              <a:spcBef>
                <a:spcPts val="600"/>
              </a:spcBef>
              <a:spcAft>
                <a:spcPts val="200"/>
              </a:spcAft>
              <a:buSzPct val="100000"/>
              <a:buChar char="•"/>
            </a:pPr>
            <a:r>
              <a:rPr lang="en-US" sz="1000" dirty="0">
                <a:solidFill>
                  <a:srgbClr val="1B2559"/>
                </a:solidFill>
                <a:latin typeface="Segoe UI Semibold" pitchFamily="34" charset="0"/>
                <a:ea typeface="Segoe UI Semibold" pitchFamily="34" charset="-122"/>
                <a:cs typeface="Segoe UI Semibold" pitchFamily="34" charset="-120"/>
              </a:rPr>
              <a:t>B guesses. Then swap.</a:t>
            </a:r>
            <a:endParaRPr lang="en-US" sz="1000" dirty="0"/>
          </a:p>
          <a:p>
            <a:pPr marL="152400" indent="-152400">
              <a:spcAft>
                <a:spcPts val="200"/>
              </a:spcAft>
              <a:buSzPct val="100000"/>
              <a:buChar char=" "/>
            </a:pPr>
            <a:r>
              <a:rPr lang="en-US" sz="1000" dirty="0">
                <a:solidFill>
                  <a:srgbClr val="5B6785"/>
                </a:solidFill>
                <a:latin typeface="Segoe UI Semibold" pitchFamily="34" charset="0"/>
                <a:ea typeface="Segoe UI Semibold" pitchFamily="34" charset="-122"/>
                <a:cs typeface="Segoe UI Semibold" pitchFamily="34" charset="-120"/>
              </a:rPr>
              <a:t>B indovina. Poi scambiatevi.</a:t>
            </a:r>
            <a:endParaRPr lang="en-US" sz="1000" dirty="0"/>
          </a:p>
        </p:txBody>
      </p:sp>
      <p:sp>
        <p:nvSpPr>
          <p:cNvPr id="17" name="pf_712"/>
          <p:cNvSpPr/>
          <p:nvPr/>
        </p:nvSpPr>
        <p:spPr>
          <a:xfrm rot="-120000">
            <a:off x="896227" y="4069080"/>
            <a:ext cx="1499386" cy="1143000"/>
          </a:xfrm>
          <a:prstGeom prst="roundRect">
            <a:avLst>
              <a:gd name="adj" fmla="val 13600"/>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18" name="ph_713" descr="/home/claude/lls-course/v2/cache/3b1_nurse_jpg_339x253_31.png">    </p:cNvPr>
          <p:cNvPicPr>
            <a:picLocks noChangeAspect="1"/>
          </p:cNvPicPr>
          <p:nvPr/>
        </p:nvPicPr>
        <p:blipFill>
          <a:blip r:embed="rId5"/>
          <a:stretch>
            <a:fillRect/>
          </a:stretch>
        </p:blipFill>
        <p:spPr>
          <a:xfrm rot="-120000">
            <a:off x="941947" y="4114800"/>
            <a:ext cx="1407946" cy="1051560"/>
          </a:xfrm>
          <a:prstGeom prst="rect">
            <a:avLst/>
          </a:prstGeom>
        </p:spPr>
      </p:pic>
      <p:sp>
        <p:nvSpPr>
          <p:cNvPr id="19" name="rl_714"/>
          <p:cNvSpPr/>
          <p:nvPr/>
        </p:nvSpPr>
        <p:spPr>
          <a:xfrm>
            <a:off x="3246120" y="1417320"/>
            <a:ext cx="2651760" cy="310896"/>
          </a:xfrm>
          <a:prstGeom prst="roundRect">
            <a:avLst>
              <a:gd name="adj" fmla="val 50000"/>
            </a:avLst>
          </a:prstGeom>
          <a:solidFill>
            <a:srgbClr val="E8508F"/>
          </a:solidFill>
          <a:ln/>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A explains</a:t>
            </a:r>
            <a:endParaRPr lang="en-US" sz="1100" dirty="0"/>
          </a:p>
        </p:txBody>
      </p:sp>
      <p:sp>
        <p:nvSpPr>
          <p:cNvPr id="20" name="R1_w715"/>
          <p:cNvSpPr/>
          <p:nvPr/>
        </p:nvSpPr>
        <p:spPr>
          <a:xfrm>
            <a:off x="3246120" y="1856232"/>
            <a:ext cx="2651760" cy="621792"/>
          </a:xfrm>
          <a:prstGeom prst="roundRect">
            <a:avLst>
              <a:gd name="adj" fmla="val 20588"/>
            </a:avLst>
          </a:prstGeom>
          <a:solidFill>
            <a:srgbClr val="FFFFFF"/>
          </a:solidFill>
          <a:ln w="28575">
            <a:solidFill>
              <a:srgbClr val="F7A6C4"/>
            </a:solidFill>
          </a:ln>
          <a:effectLst>
            <a:outerShdw sx="100000" sy="100000" kx="0" ky="0" algn="bl" rotWithShape="0" blurRad="88900" dist="31750" dir="5400000">
              <a:srgbClr val="1B2559">
                <a:alpha val="10000"/>
              </a:srgbClr>
            </a:outerShdw>
          </a:effectLst>
        </p:spPr>
        <p:txBody>
          <a:bodyPr wrap="square" rtlCol="0" anchor="ctr">
            <a:normAutofit/>
          </a:bodyPr>
          <a:lstStyle/>
          <a:p>
            <a:pPr algn="ctr" indent="0" marL="0">
              <a:buNone/>
            </a:pPr>
            <a:r>
              <a:rPr lang="en-US" sz="1700" dirty="0">
                <a:solidFill>
                  <a:srgbClr val="1B2559"/>
                </a:solidFill>
                <a:latin typeface="Arial Rounded MT Bold" pitchFamily="34" charset="0"/>
                <a:ea typeface="Arial Rounded MT Bold" pitchFamily="34" charset="-122"/>
                <a:cs typeface="Arial Rounded MT Bold" pitchFamily="34" charset="-120"/>
              </a:rPr>
              <a:t>a lawyer</a:t>
            </a:r>
            <a:endParaRPr lang="en-US" sz="1700" dirty="0"/>
          </a:p>
        </p:txBody>
      </p:sp>
      <p:sp>
        <p:nvSpPr>
          <p:cNvPr id="21" name="R3_w716"/>
          <p:cNvSpPr/>
          <p:nvPr/>
        </p:nvSpPr>
        <p:spPr>
          <a:xfrm>
            <a:off x="3246120" y="2587752"/>
            <a:ext cx="2651760" cy="621792"/>
          </a:xfrm>
          <a:prstGeom prst="roundRect">
            <a:avLst>
              <a:gd name="adj" fmla="val 20588"/>
            </a:avLst>
          </a:prstGeom>
          <a:solidFill>
            <a:srgbClr val="FFFFFF"/>
          </a:solidFill>
          <a:ln w="28575">
            <a:solidFill>
              <a:srgbClr val="F7A6C4"/>
            </a:solidFill>
          </a:ln>
          <a:effectLst>
            <a:outerShdw sx="100000" sy="100000" kx="0" ky="0" algn="bl" rotWithShape="0" blurRad="88900" dist="31750" dir="5400000">
              <a:srgbClr val="1B2559">
                <a:alpha val="10000"/>
              </a:srgbClr>
            </a:outerShdw>
          </a:effectLst>
        </p:spPr>
        <p:txBody>
          <a:bodyPr wrap="square" rtlCol="0" anchor="ctr">
            <a:normAutofit/>
          </a:bodyPr>
          <a:lstStyle/>
          <a:p>
            <a:pPr algn="ctr" indent="0" marL="0">
              <a:buNone/>
            </a:pPr>
            <a:r>
              <a:rPr lang="en-US" sz="1700" dirty="0">
                <a:solidFill>
                  <a:srgbClr val="1B2559"/>
                </a:solidFill>
                <a:latin typeface="Arial Rounded MT Bold" pitchFamily="34" charset="0"/>
                <a:ea typeface="Arial Rounded MT Bold" pitchFamily="34" charset="-122"/>
                <a:cs typeface="Arial Rounded MT Bold" pitchFamily="34" charset="-120"/>
              </a:rPr>
              <a:t>the moon</a:t>
            </a:r>
            <a:endParaRPr lang="en-US" sz="1700" dirty="0"/>
          </a:p>
        </p:txBody>
      </p:sp>
      <p:sp>
        <p:nvSpPr>
          <p:cNvPr id="22" name="R5_w717"/>
          <p:cNvSpPr/>
          <p:nvPr/>
        </p:nvSpPr>
        <p:spPr>
          <a:xfrm>
            <a:off x="3246120" y="3319272"/>
            <a:ext cx="2651760" cy="621792"/>
          </a:xfrm>
          <a:prstGeom prst="roundRect">
            <a:avLst>
              <a:gd name="adj" fmla="val 20588"/>
            </a:avLst>
          </a:prstGeom>
          <a:solidFill>
            <a:srgbClr val="FFFFFF"/>
          </a:solidFill>
          <a:ln w="28575">
            <a:solidFill>
              <a:srgbClr val="F7A6C4"/>
            </a:solidFill>
          </a:ln>
          <a:effectLst>
            <a:outerShdw sx="100000" sy="100000" kx="0" ky="0" algn="bl" rotWithShape="0" blurRad="88900" dist="31750" dir="5400000">
              <a:srgbClr val="1B2559">
                <a:alpha val="10000"/>
              </a:srgbClr>
            </a:outerShdw>
          </a:effectLst>
        </p:spPr>
        <p:txBody>
          <a:bodyPr wrap="square" rtlCol="0" anchor="ctr">
            <a:normAutofit/>
          </a:bodyPr>
          <a:lstStyle/>
          <a:p>
            <a:pPr algn="ctr" indent="0" marL="0">
              <a:buNone/>
            </a:pPr>
            <a:r>
              <a:rPr lang="en-US" sz="1700" dirty="0">
                <a:solidFill>
                  <a:srgbClr val="1B2559"/>
                </a:solidFill>
                <a:latin typeface="Arial Rounded MT Bold" pitchFamily="34" charset="0"/>
                <a:ea typeface="Arial Rounded MT Bold" pitchFamily="34" charset="-122"/>
                <a:cs typeface="Arial Rounded MT Bold" pitchFamily="34" charset="-120"/>
              </a:rPr>
              <a:t>a stereotype</a:t>
            </a:r>
            <a:endParaRPr lang="en-US" sz="1700" dirty="0"/>
          </a:p>
        </p:txBody>
      </p:sp>
      <p:sp>
        <p:nvSpPr>
          <p:cNvPr id="23" name="R7_w718"/>
          <p:cNvSpPr/>
          <p:nvPr/>
        </p:nvSpPr>
        <p:spPr>
          <a:xfrm>
            <a:off x="3246120" y="4050792"/>
            <a:ext cx="2651760" cy="621792"/>
          </a:xfrm>
          <a:prstGeom prst="roundRect">
            <a:avLst>
              <a:gd name="adj" fmla="val 20588"/>
            </a:avLst>
          </a:prstGeom>
          <a:solidFill>
            <a:srgbClr val="FFFFFF"/>
          </a:solidFill>
          <a:ln w="28575">
            <a:solidFill>
              <a:srgbClr val="F7A6C4"/>
            </a:solidFill>
          </a:ln>
          <a:effectLst>
            <a:outerShdw sx="100000" sy="100000" kx="0" ky="0" algn="bl" rotWithShape="0" blurRad="88900" dist="31750" dir="5400000">
              <a:srgbClr val="1B2559">
                <a:alpha val="10000"/>
              </a:srgbClr>
            </a:outerShdw>
          </a:effectLst>
        </p:spPr>
        <p:txBody>
          <a:bodyPr wrap="square" rtlCol="0" anchor="ctr">
            <a:normAutofit/>
          </a:bodyPr>
          <a:lstStyle/>
          <a:p>
            <a:pPr algn="ctr" indent="0" marL="0">
              <a:buNone/>
            </a:pPr>
            <a:r>
              <a:rPr lang="en-US" sz="1700" dirty="0">
                <a:solidFill>
                  <a:srgbClr val="1B2559"/>
                </a:solidFill>
                <a:latin typeface="Arial Rounded MT Bold" pitchFamily="34" charset="0"/>
                <a:ea typeface="Arial Rounded MT Bold" pitchFamily="34" charset="-122"/>
                <a:cs typeface="Arial Rounded MT Bold" pitchFamily="34" charset="-120"/>
              </a:rPr>
              <a:t>breakfast</a:t>
            </a:r>
            <a:endParaRPr lang="en-US" sz="1700" dirty="0"/>
          </a:p>
        </p:txBody>
      </p:sp>
      <p:sp>
        <p:nvSpPr>
          <p:cNvPr id="24" name="rl_719"/>
          <p:cNvSpPr/>
          <p:nvPr/>
        </p:nvSpPr>
        <p:spPr>
          <a:xfrm>
            <a:off x="6080760" y="1417320"/>
            <a:ext cx="2651760" cy="310896"/>
          </a:xfrm>
          <a:prstGeom prst="roundRect">
            <a:avLst>
              <a:gd name="adj" fmla="val 50000"/>
            </a:avLst>
          </a:prstGeom>
          <a:solidFill>
            <a:srgbClr val="2F8DE4"/>
          </a:solidFill>
          <a:ln/>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B explains</a:t>
            </a:r>
            <a:endParaRPr lang="en-US" sz="1100" dirty="0"/>
          </a:p>
        </p:txBody>
      </p:sp>
      <p:sp>
        <p:nvSpPr>
          <p:cNvPr id="25" name="R2_w720"/>
          <p:cNvSpPr/>
          <p:nvPr/>
        </p:nvSpPr>
        <p:spPr>
          <a:xfrm>
            <a:off x="6080760" y="1856232"/>
            <a:ext cx="2651760" cy="621792"/>
          </a:xfrm>
          <a:prstGeom prst="roundRect">
            <a:avLst>
              <a:gd name="adj" fmla="val 20588"/>
            </a:avLst>
          </a:prstGeom>
          <a:solidFill>
            <a:srgbClr val="FFFFFF"/>
          </a:solidFill>
          <a:ln w="28575">
            <a:solidFill>
              <a:srgbClr val="A9D3F5"/>
            </a:solidFill>
          </a:ln>
          <a:effectLst>
            <a:outerShdw sx="100000" sy="100000" kx="0" ky="0" algn="bl" rotWithShape="0" blurRad="88900" dist="31750" dir="5400000">
              <a:srgbClr val="1B2559">
                <a:alpha val="10000"/>
              </a:srgbClr>
            </a:outerShdw>
          </a:effectLst>
        </p:spPr>
        <p:txBody>
          <a:bodyPr wrap="square" rtlCol="0" anchor="ctr">
            <a:normAutofit/>
          </a:bodyPr>
          <a:lstStyle/>
          <a:p>
            <a:pPr algn="ctr" indent="0" marL="0">
              <a:buNone/>
            </a:pPr>
            <a:r>
              <a:rPr lang="en-US" sz="1700" dirty="0">
                <a:solidFill>
                  <a:srgbClr val="1B2559"/>
                </a:solidFill>
                <a:latin typeface="Arial Rounded MT Bold" pitchFamily="34" charset="0"/>
                <a:ea typeface="Arial Rounded MT Bold" pitchFamily="34" charset="-122"/>
                <a:cs typeface="Arial Rounded MT Bold" pitchFamily="34" charset="-120"/>
              </a:rPr>
              <a:t>a nurse</a:t>
            </a:r>
            <a:endParaRPr lang="en-US" sz="1700" dirty="0"/>
          </a:p>
        </p:txBody>
      </p:sp>
      <p:sp>
        <p:nvSpPr>
          <p:cNvPr id="26" name="R4_w721"/>
          <p:cNvSpPr/>
          <p:nvPr/>
        </p:nvSpPr>
        <p:spPr>
          <a:xfrm>
            <a:off x="6080760" y="2587752"/>
            <a:ext cx="2651760" cy="621792"/>
          </a:xfrm>
          <a:prstGeom prst="roundRect">
            <a:avLst>
              <a:gd name="adj" fmla="val 20588"/>
            </a:avLst>
          </a:prstGeom>
          <a:solidFill>
            <a:srgbClr val="FFFFFF"/>
          </a:solidFill>
          <a:ln w="28575">
            <a:solidFill>
              <a:srgbClr val="A9D3F5"/>
            </a:solidFill>
          </a:ln>
          <a:effectLst>
            <a:outerShdw sx="100000" sy="100000" kx="0" ky="0" algn="bl" rotWithShape="0" blurRad="88900" dist="31750" dir="5400000">
              <a:srgbClr val="1B2559">
                <a:alpha val="10000"/>
              </a:srgbClr>
            </a:outerShdw>
          </a:effectLst>
        </p:spPr>
        <p:txBody>
          <a:bodyPr wrap="square" rtlCol="0" anchor="ctr">
            <a:normAutofit/>
          </a:bodyPr>
          <a:lstStyle/>
          <a:p>
            <a:pPr algn="ctr" indent="0" marL="0">
              <a:buNone/>
            </a:pPr>
            <a:r>
              <a:rPr lang="en-US" sz="1700" dirty="0">
                <a:solidFill>
                  <a:srgbClr val="1B2559"/>
                </a:solidFill>
                <a:latin typeface="Arial Rounded MT Bold" pitchFamily="34" charset="0"/>
                <a:ea typeface="Arial Rounded MT Bold" pitchFamily="34" charset="-122"/>
                <a:cs typeface="Arial Rounded MT Bold" pitchFamily="34" charset="-120"/>
              </a:rPr>
              <a:t>the internet</a:t>
            </a:r>
            <a:endParaRPr lang="en-US" sz="1700" dirty="0"/>
          </a:p>
        </p:txBody>
      </p:sp>
      <p:sp>
        <p:nvSpPr>
          <p:cNvPr id="27" name="R6_w722"/>
          <p:cNvSpPr/>
          <p:nvPr/>
        </p:nvSpPr>
        <p:spPr>
          <a:xfrm>
            <a:off x="6080760" y="3319272"/>
            <a:ext cx="2651760" cy="621792"/>
          </a:xfrm>
          <a:prstGeom prst="roundRect">
            <a:avLst>
              <a:gd name="adj" fmla="val 20588"/>
            </a:avLst>
          </a:prstGeom>
          <a:solidFill>
            <a:srgbClr val="FFFFFF"/>
          </a:solidFill>
          <a:ln w="28575">
            <a:solidFill>
              <a:srgbClr val="A9D3F5"/>
            </a:solidFill>
          </a:ln>
          <a:effectLst>
            <a:outerShdw sx="100000" sy="100000" kx="0" ky="0" algn="bl" rotWithShape="0" blurRad="88900" dist="31750" dir="5400000">
              <a:srgbClr val="1B2559">
                <a:alpha val="10000"/>
              </a:srgbClr>
            </a:outerShdw>
          </a:effectLst>
        </p:spPr>
        <p:txBody>
          <a:bodyPr wrap="square" rtlCol="0" anchor="ctr">
            <a:normAutofit/>
          </a:bodyPr>
          <a:lstStyle/>
          <a:p>
            <a:pPr algn="ctr" indent="0" marL="0">
              <a:buNone/>
            </a:pPr>
            <a:r>
              <a:rPr lang="en-US" sz="1700" dirty="0">
                <a:solidFill>
                  <a:srgbClr val="1B2559"/>
                </a:solidFill>
                <a:latin typeface="Arial Rounded MT Bold" pitchFamily="34" charset="0"/>
                <a:ea typeface="Arial Rounded MT Bold" pitchFamily="34" charset="-122"/>
                <a:cs typeface="Arial Rounded MT Bold" pitchFamily="34" charset="-120"/>
              </a:rPr>
              <a:t>a joke</a:t>
            </a:r>
            <a:endParaRPr lang="en-US" sz="1700" dirty="0"/>
          </a:p>
        </p:txBody>
      </p:sp>
      <p:sp>
        <p:nvSpPr>
          <p:cNvPr id="28" name="R8_w723"/>
          <p:cNvSpPr/>
          <p:nvPr/>
        </p:nvSpPr>
        <p:spPr>
          <a:xfrm>
            <a:off x="6080760" y="4050792"/>
            <a:ext cx="2651760" cy="621792"/>
          </a:xfrm>
          <a:prstGeom prst="roundRect">
            <a:avLst>
              <a:gd name="adj" fmla="val 20588"/>
            </a:avLst>
          </a:prstGeom>
          <a:solidFill>
            <a:srgbClr val="FFFFFF"/>
          </a:solidFill>
          <a:ln w="28575">
            <a:solidFill>
              <a:srgbClr val="A9D3F5"/>
            </a:solidFill>
          </a:ln>
          <a:effectLst>
            <a:outerShdw sx="100000" sy="100000" kx="0" ky="0" algn="bl" rotWithShape="0" blurRad="88900" dist="31750" dir="5400000">
              <a:srgbClr val="1B2559">
                <a:alpha val="10000"/>
              </a:srgbClr>
            </a:outerShdw>
          </a:effectLst>
        </p:spPr>
        <p:txBody>
          <a:bodyPr wrap="square" rtlCol="0" anchor="ctr">
            <a:normAutofit/>
          </a:bodyPr>
          <a:lstStyle/>
          <a:p>
            <a:pPr algn="ctr" indent="0" marL="0">
              <a:buNone/>
            </a:pPr>
            <a:r>
              <a:rPr lang="en-US" sz="1700" dirty="0">
                <a:solidFill>
                  <a:srgbClr val="1B2559"/>
                </a:solidFill>
                <a:latin typeface="Arial Rounded MT Bold" pitchFamily="34" charset="0"/>
                <a:ea typeface="Arial Rounded MT Bold" pitchFamily="34" charset="-122"/>
                <a:cs typeface="Arial Rounded MT Bold" pitchFamily="34" charset="-120"/>
              </a:rPr>
              <a:t>sense of direction</a:t>
            </a:r>
            <a:endParaRPr lang="en-US" sz="17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0"/>
                                        </p:tgtEl>
                                        <p:attrNameLst>
                                          <p:attrName>style.visibility</p:attrName>
                                        </p:attrNameLst>
                                      </p:cBhvr>
                                      <p:to>
                                        <p:strVal val="visible"/>
                                      </p:to>
                                    </p:set>
                                    <p:animEffect transition="in" filter="fade">
                                      <p:cBhvr>
                                        <p:cTn id="7" dur="400"/>
                                        <p:tgtEl>
                                          <p:spTgt spid="20"/>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5"/>
                                        </p:tgtEl>
                                        <p:attrNameLst>
                                          <p:attrName>style.visibility</p:attrName>
                                        </p:attrNameLst>
                                      </p:cBhvr>
                                      <p:to>
                                        <p:strVal val="visible"/>
                                      </p:to>
                                    </p:set>
                                    <p:animEffect transition="in" filter="fade">
                                      <p:cBhvr>
                                        <p:cTn id="12" dur="400"/>
                                        <p:tgtEl>
                                          <p:spTgt spid="25"/>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1"/>
                                        </p:tgtEl>
                                        <p:attrNameLst>
                                          <p:attrName>style.visibility</p:attrName>
                                        </p:attrNameLst>
                                      </p:cBhvr>
                                      <p:to>
                                        <p:strVal val="visible"/>
                                      </p:to>
                                    </p:set>
                                    <p:animEffect transition="in" filter="fade">
                                      <p:cBhvr>
                                        <p:cTn id="17" dur="400"/>
                                        <p:tgtEl>
                                          <p:spTgt spid="21"/>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26"/>
                                        </p:tgtEl>
                                        <p:attrNameLst>
                                          <p:attrName>style.visibility</p:attrName>
                                        </p:attrNameLst>
                                      </p:cBhvr>
                                      <p:to>
                                        <p:strVal val="visible"/>
                                      </p:to>
                                    </p:set>
                                    <p:animEffect transition="in" filter="fade">
                                      <p:cBhvr>
                                        <p:cTn id="22" dur="400"/>
                                        <p:tgtEl>
                                          <p:spTgt spid="26"/>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22"/>
                                        </p:tgtEl>
                                        <p:attrNameLst>
                                          <p:attrName>style.visibility</p:attrName>
                                        </p:attrNameLst>
                                      </p:cBhvr>
                                      <p:to>
                                        <p:strVal val="visible"/>
                                      </p:to>
                                    </p:set>
                                    <p:animEffect transition="in" filter="fade">
                                      <p:cBhvr>
                                        <p:cTn id="27" dur="400"/>
                                        <p:tgtEl>
                                          <p:spTgt spid="22"/>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27"/>
                                        </p:tgtEl>
                                        <p:attrNameLst>
                                          <p:attrName>style.visibility</p:attrName>
                                        </p:attrNameLst>
                                      </p:cBhvr>
                                      <p:to>
                                        <p:strVal val="visible"/>
                                      </p:to>
                                    </p:set>
                                    <p:animEffect transition="in" filter="fade">
                                      <p:cBhvr>
                                        <p:cTn id="32" dur="400"/>
                                        <p:tgtEl>
                                          <p:spTgt spid="27"/>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nodeType="clickEffect">
                                  <p:stCondLst>
                                    <p:cond delay="0"/>
                                  </p:stCondLst>
                                  <p:childTnLst>
                                    <p:set>
                                      <p:cBhvr>
                                        <p:cTn id="36" dur="1" fill="hold">
                                          <p:stCondLst>
                                            <p:cond delay="0"/>
                                          </p:stCondLst>
                                        </p:cTn>
                                        <p:tgtEl>
                                          <p:spTgt spid="23"/>
                                        </p:tgtEl>
                                        <p:attrNameLst>
                                          <p:attrName>style.visibility</p:attrName>
                                        </p:attrNameLst>
                                      </p:cBhvr>
                                      <p:to>
                                        <p:strVal val="visible"/>
                                      </p:to>
                                    </p:set>
                                    <p:animEffect transition="in" filter="fade">
                                      <p:cBhvr>
                                        <p:cTn id="37" dur="400"/>
                                        <p:tgtEl>
                                          <p:spTgt spid="23"/>
                                        </p:tgtEl>
                                      </p:cBhvr>
                                    </p:animEffect>
                                  </p:childTnLst>
                                </p:cTn>
                              </p:par>
                            </p:childTnLst>
                          </p:cTn>
                        </p:par>
                      </p:childTnLst>
                    </p:cTn>
                  </p:par>
                  <p:par>
                    <p:cTn id="38" fill="hold">
                      <p:stCondLst>
                        <p:cond delay="indefinite"/>
                      </p:stCondLst>
                      <p:childTnLst>
                        <p:par>
                          <p:cTn id="39" fill="hold">
                            <p:stCondLst>
                              <p:cond delay="0"/>
                            </p:stCondLst>
                            <p:childTnLst>
                              <p:par>
                                <p:cTn id="40" presetID="10" presetClass="entr" presetSubtype="0" fill="hold" nodeType="clickEffect">
                                  <p:stCondLst>
                                    <p:cond delay="0"/>
                                  </p:stCondLst>
                                  <p:childTnLst>
                                    <p:set>
                                      <p:cBhvr>
                                        <p:cTn id="41" dur="1" fill="hold">
                                          <p:stCondLst>
                                            <p:cond delay="0"/>
                                          </p:stCondLst>
                                        </p:cTn>
                                        <p:tgtEl>
                                          <p:spTgt spid="28"/>
                                        </p:tgtEl>
                                        <p:attrNameLst>
                                          <p:attrName>style.visibility</p:attrName>
                                        </p:attrNameLst>
                                      </p:cBhvr>
                                      <p:to>
                                        <p:strVal val="visible"/>
                                      </p:to>
                                    </p:set>
                                    <p:animEffect transition="in" filter="fade">
                                      <p:cBhvr>
                                        <p:cTn id="42" dur="400"/>
                                        <p:tgtEl>
                                          <p:spTgt spid="2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6.xml><?xml version="1.0" encoding="utf-8"?>
<p:sld xmlns:a="http://schemas.openxmlformats.org/drawingml/2006/main" xmlns:r="http://schemas.openxmlformats.org/officeDocument/2006/relationships" xmlns:p="http://schemas.openxmlformats.org/presentationml/2006/main">
  <p:cSld name="Slide 26">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724"/>
          <p:cNvSpPr/>
          <p:nvPr/>
        </p:nvSpPr>
        <p:spPr>
          <a:xfrm>
            <a:off x="201168" y="164592"/>
            <a:ext cx="841248" cy="841248"/>
          </a:xfrm>
          <a:prstGeom prst="ellipse">
            <a:avLst/>
          </a:prstGeom>
          <a:solidFill>
            <a:srgbClr val="E8508F"/>
          </a:solidFill>
          <a:ln w="28575">
            <a:solidFill>
              <a:srgbClr val="F7A6C4"/>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26</a:t>
            </a:r>
            <a:endParaRPr lang="en-US" sz="2200" dirty="0"/>
          </a:p>
        </p:txBody>
      </p:sp>
      <p:pic>
        <p:nvPicPr>
          <p:cNvPr id="4" name="brY_725" descr="/home/claude/lls-course/v2/assets/brush-yellow.png">    </p:cNvPr>
          <p:cNvPicPr>
            <a:picLocks noChangeAspect="1"/>
          </p:cNvPicPr>
          <p:nvPr/>
        </p:nvPicPr>
        <p:blipFill>
          <a:blip r:embed="rId2"/>
          <a:stretch>
            <a:fillRect/>
          </a:stretch>
        </p:blipFill>
        <p:spPr>
          <a:xfrm>
            <a:off x="1097280" y="146304"/>
            <a:ext cx="3719779" cy="621792"/>
          </a:xfrm>
          <a:prstGeom prst="rect">
            <a:avLst/>
          </a:prstGeom>
        </p:spPr>
      </p:pic>
      <p:sp>
        <p:nvSpPr>
          <p:cNvPr id="5" name="title_726"/>
          <p:cNvSpPr/>
          <p:nvPr/>
        </p:nvSpPr>
        <p:spPr>
          <a:xfrm>
            <a:off x="1261872" y="164592"/>
            <a:ext cx="3445459" cy="566928"/>
          </a:xfrm>
          <a:prstGeom prst="rect">
            <a:avLst/>
          </a:prstGeom>
          <a:noFill/>
          <a:ln/>
        </p:spPr>
        <p:txBody>
          <a:bodyPr wrap="square" lIns="0" tIns="0" rIns="0" bIns="0" rtlCol="0" anchor="ctr">
            <a:normAutofit/>
          </a:bodyPr>
          <a:lstStyle/>
          <a:p>
            <a:pPr indent="0" marL="0">
              <a:buNone/>
            </a:pPr>
            <a:r>
              <a:rPr lang="en-US" sz="2400" dirty="0">
                <a:solidFill>
                  <a:srgbClr val="1B2559"/>
                </a:solidFill>
                <a:latin typeface="Arial Rounded MT Bold" pitchFamily="34" charset="0"/>
                <a:ea typeface="Arial Rounded MT Bold" pitchFamily="34" charset="-122"/>
                <a:cs typeface="Arial Rounded MT Bold" pitchFamily="34" charset="-120"/>
              </a:rPr>
              <a:t>Generally speaking…</a:t>
            </a:r>
            <a:endParaRPr lang="en-US" sz="2400" dirty="0"/>
          </a:p>
        </p:txBody>
      </p:sp>
      <p:pic>
        <p:nvPicPr>
          <p:cNvPr id="6" name="brP_727" descr="/home/claude/lls-course/v2/assets/brush-pink.png">    </p:cNvPr>
          <p:cNvPicPr>
            <a:picLocks noChangeAspect="1"/>
          </p:cNvPicPr>
          <p:nvPr/>
        </p:nvPicPr>
        <p:blipFill>
          <a:blip r:embed="rId3"/>
          <a:stretch>
            <a:fillRect/>
          </a:stretch>
        </p:blipFill>
        <p:spPr>
          <a:xfrm>
            <a:off x="1207008" y="731520"/>
            <a:ext cx="3598164" cy="402336"/>
          </a:xfrm>
          <a:prstGeom prst="rect">
            <a:avLst/>
          </a:prstGeom>
        </p:spPr>
      </p:pic>
      <p:sp>
        <p:nvSpPr>
          <p:cNvPr id="7" name="ins_728"/>
          <p:cNvSpPr/>
          <p:nvPr/>
        </p:nvSpPr>
        <p:spPr>
          <a:xfrm>
            <a:off x="1353312" y="731520"/>
            <a:ext cx="3342132"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Agree or disagree? Give a reason!</a:t>
            </a:r>
            <a:endParaRPr lang="en-US" sz="1250" dirty="0"/>
          </a:p>
        </p:txBody>
      </p:sp>
      <p:sp>
        <p:nvSpPr>
          <p:cNvPr id="8" name="insIT_729"/>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D'accordo o no? Dai un motivo!</a:t>
            </a:r>
            <a:endParaRPr lang="en-US" sz="950" dirty="0"/>
          </a:p>
        </p:txBody>
      </p:sp>
      <p:sp>
        <p:nvSpPr>
          <p:cNvPr id="9" name="note_730"/>
          <p:cNvSpPr/>
          <p:nvPr/>
        </p:nvSpPr>
        <p:spPr>
          <a:xfrm rot="180000">
            <a:off x="6382512" y="128016"/>
            <a:ext cx="2029968" cy="1024128"/>
          </a:xfrm>
          <a:prstGeom prst="rect">
            <a:avLst/>
          </a:prstGeom>
          <a:solidFill>
            <a:srgbClr val="FFC2DA"/>
          </a:solidFill>
          <a:ln>
            <a:solidFill>
              <a:srgbClr val="FFC2DA"/>
            </a:solidFill>
          </a:ln>
          <a:effectLst>
            <a:outerShdw sx="100000" sy="100000" kx="0" ky="0" algn="bl" rotWithShape="0" blurRad="88900" dist="31750" dir="5400000">
              <a:srgbClr val="1B2559">
                <a:alpha val="15000"/>
              </a:srgbClr>
            </a:outerShdw>
          </a:effectLst>
        </p:spPr>
        <p:txBody>
          <a:bodyPr wrap="square" lIns="50800" tIns="50800" rIns="50800" bIns="50800" rtlCol="0" anchor="ctr">
            <a:normAutofit/>
          </a:bodyPr>
          <a:lstStyle/>
          <a:p>
            <a:pPr algn="ctr" indent="0" marL="0">
              <a:buNone/>
            </a:pPr>
            <a:r>
              <a:rPr lang="en-US" sz="1250" dirty="0">
                <a:solidFill>
                  <a:srgbClr val="1B2559"/>
                </a:solidFill>
                <a:latin typeface="Arial Rounded MT Bold" pitchFamily="34" charset="0"/>
                <a:ea typeface="Arial Rounded MT Bold" pitchFamily="34" charset="-122"/>
                <a:cs typeface="Arial Rounded MT Bold" pitchFamily="34" charset="-120"/>
              </a:rPr>
              <a:t>💬 TALK</a:t>
            </a:r>
            <a:pPr algn="ctr" indent="0" marL="0">
              <a:buNone/>
            </a:pPr>
            <a:r>
              <a:rPr lang="en-US" sz="1250" dirty="0">
                <a:solidFill>
                  <a:srgbClr val="1B2559"/>
                </a:solidFill>
                <a:latin typeface="Arial Rounded MT Bold" pitchFamily="34" charset="0"/>
                <a:ea typeface="Arial Rounded MT Bold" pitchFamily="34" charset="-122"/>
                <a:cs typeface="Arial Rounded MT Bold" pitchFamily="34" charset="-120"/>
              </a:rPr>
              <a:t> · PARLA</a:t>
            </a:r>
            <a:endParaRPr lang="en-US" sz="1250" dirty="0"/>
          </a:p>
          <a:p>
            <a:pPr algn="ctr" indent="0" marL="0">
              <a:buNone/>
            </a:pPr>
            <a:r>
              <a:rPr lang="en-US" sz="1100" dirty="0">
                <a:solidFill>
                  <a:srgbClr val="1B2559"/>
                </a:solidFill>
                <a:latin typeface="Segoe UI Semibold" pitchFamily="34" charset="0"/>
                <a:ea typeface="Segoe UI Semibold" pitchFamily="34" charset="-122"/>
                <a:cs typeface="Segoe UI Semibold" pitchFamily="34" charset="-120"/>
              </a:rPr>
              <a:t>⏱ 5 min   👨‍👩‍👧 groups</a:t>
            </a:r>
            <a:endParaRPr lang="en-US" sz="1250" dirty="0"/>
          </a:p>
          <a:p>
            <a:pPr algn="ctr" indent="0" marL="0">
              <a:buNone/>
            </a:pPr>
            <a:r>
              <a:rPr lang="en-US" sz="900" dirty="0">
                <a:solidFill>
                  <a:srgbClr val="5B6785"/>
                </a:solidFill>
                <a:latin typeface="Segoe UI Semibold" pitchFamily="34" charset="0"/>
                <a:ea typeface="Segoe UI Semibold" pitchFamily="34" charset="-122"/>
                <a:cs typeface="Segoe UI Semibold" pitchFamily="34" charset="-120"/>
              </a:rPr>
              <a:t>🎯 Speaking · Communicative</a:t>
            </a:r>
            <a:endParaRPr lang="en-US" sz="1250" dirty="0"/>
          </a:p>
        </p:txBody>
      </p:sp>
      <p:pic>
        <p:nvPicPr>
          <p:cNvPr id="10" name="logo_731"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1" name="foot_732"/>
          <p:cNvSpPr/>
          <p:nvPr/>
        </p:nvSpPr>
        <p:spPr>
          <a:xfrm>
            <a:off x="274320" y="4873752"/>
            <a:ext cx="6858000" cy="219456"/>
          </a:xfrm>
          <a:prstGeom prst="rect">
            <a:avLst/>
          </a:prstGeom>
          <a:noFill/>
          <a:ln/>
        </p:spPr>
        <p:txBody>
          <a:bodyPr wrap="square" lIns="0" tIns="0" rIns="0" bIns="0" rtlCol="0" anchor="ctr"/>
          <a:lstStyle/>
          <a:p>
            <a:pPr indent="0" marL="0">
              <a:buNone/>
            </a:pPr>
            <a:r>
              <a:rPr lang="en-US" sz="700" dirty="0">
                <a:solidFill>
                  <a:srgbClr val="5B6785"/>
                </a:solidFill>
                <a:latin typeface="Segoe UI Semibold" pitchFamily="34" charset="0"/>
                <a:ea typeface="Segoe UI Semibold" pitchFamily="34" charset="-122"/>
                <a:cs typeface="Segoe UI Semibold" pitchFamily="34" charset="-120"/>
              </a:rPr>
              <a:t>3B-1 · Speaking · Generally speaking…   ·   📖 Communicative photocopiable 3B 'Generally speaking' (5 of the 12 cards) · B1_3B_Photocopiables.pdf p.3</a:t>
            </a:r>
            <a:endParaRPr lang="en-US" sz="700" dirty="0"/>
          </a:p>
        </p:txBody>
      </p:sp>
      <p:sp>
        <p:nvSpPr>
          <p:cNvPr id="12" name="ext_733"/>
          <p:cNvSpPr/>
          <p:nvPr/>
        </p:nvSpPr>
        <p:spPr>
          <a:xfrm>
            <a:off x="5120640" y="4727448"/>
            <a:ext cx="3291840" cy="310896"/>
          </a:xfrm>
          <a:prstGeom prst="roundRect">
            <a:avLst>
              <a:gd name="adj" fmla="val 50000"/>
            </a:avLst>
          </a:prstGeom>
          <a:solidFill>
            <a:srgbClr val="EEE8FB"/>
          </a:solidFill>
          <a:ln w="28575">
            <a:solidFill>
              <a:srgbClr val="CDBFF3"/>
            </a:solidFill>
          </a:ln>
        </p:spPr>
        <p:txBody>
          <a:bodyPr wrap="square" lIns="0" tIns="0" rIns="0" bIns="0" rtlCol="0" anchor="ctr"/>
          <a:lstStyle/>
          <a:p>
            <a:pPr algn="ctr" indent="0" marL="0">
              <a:buNone/>
            </a:pPr>
            <a:r>
              <a:rPr lang="en-US" sz="1050" dirty="0">
                <a:solidFill>
                  <a:srgbClr val="7B5CD6"/>
                </a:solidFill>
                <a:latin typeface="Arial Rounded MT Bold" pitchFamily="34" charset="0"/>
                <a:ea typeface="Arial Rounded MT Bold" pitchFamily="34" charset="-122"/>
                <a:cs typeface="Arial Rounded MT Bold" pitchFamily="34" charset="-120"/>
              </a:rPr>
              <a:t>⭐ OPTIONAL EXTENSION · only if there's time</a:t>
            </a:r>
            <a:endParaRPr lang="en-US" sz="1050" dirty="0"/>
          </a:p>
        </p:txBody>
      </p:sp>
      <p:sp>
        <p:nvSpPr>
          <p:cNvPr id="13" name="pf_734"/>
          <p:cNvSpPr/>
          <p:nvPr/>
        </p:nvSpPr>
        <p:spPr>
          <a:xfrm rot="-120000">
            <a:off x="741501" y="1371600"/>
            <a:ext cx="1945998" cy="1325880"/>
          </a:xfrm>
          <a:prstGeom prst="roundRect">
            <a:avLst>
              <a:gd name="adj" fmla="val 11724"/>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14" name="ph_735" descr="/home/claude/lls-course/v2/cache/3b1_cats_jpg_446x297_31.png">    </p:cNvPr>
          <p:cNvPicPr>
            <a:picLocks noChangeAspect="1"/>
          </p:cNvPicPr>
          <p:nvPr/>
        </p:nvPicPr>
        <p:blipFill>
          <a:blip r:embed="rId5"/>
          <a:stretch>
            <a:fillRect/>
          </a:stretch>
        </p:blipFill>
        <p:spPr>
          <a:xfrm rot="-120000">
            <a:off x="787221" y="1417320"/>
            <a:ext cx="1854558" cy="1234440"/>
          </a:xfrm>
          <a:prstGeom prst="rect">
            <a:avLst/>
          </a:prstGeom>
        </p:spPr>
      </p:pic>
      <p:sp>
        <p:nvSpPr>
          <p:cNvPr id="15" name="cd_736"/>
          <p:cNvSpPr/>
          <p:nvPr/>
        </p:nvSpPr>
        <p:spPr>
          <a:xfrm>
            <a:off x="320040" y="2880360"/>
            <a:ext cx="2788920" cy="1874520"/>
          </a:xfrm>
          <a:prstGeom prst="roundRect">
            <a:avLst>
              <a:gd name="adj" fmla="val 6829"/>
            </a:avLst>
          </a:prstGeom>
          <a:solidFill>
            <a:srgbClr val="EEE8FB"/>
          </a:solidFill>
          <a:ln w="28575">
            <a:solidFill>
              <a:srgbClr val="CDBFF3"/>
            </a:solidFill>
            <a:prstDash val="solid"/>
          </a:ln>
          <a:effectLst>
            <a:outerShdw sx="100000" sy="100000" kx="0" ky="0" algn="bl" rotWithShape="0" blurRad="88900" dist="31750" dir="5400000">
              <a:srgbClr val="1B2559">
                <a:alpha val="12000"/>
              </a:srgbClr>
            </a:outerShdw>
          </a:effectLst>
        </p:spPr>
      </p:sp>
      <p:sp>
        <p:nvSpPr>
          <p:cNvPr id="16" name="ii_737"/>
          <p:cNvSpPr/>
          <p:nvPr/>
        </p:nvSpPr>
        <p:spPr>
          <a:xfrm>
            <a:off x="411480" y="295351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7" name="ih_738"/>
          <p:cNvSpPr/>
          <p:nvPr/>
        </p:nvSpPr>
        <p:spPr>
          <a:xfrm>
            <a:off x="886968" y="2971800"/>
            <a:ext cx="2148840" cy="365760"/>
          </a:xfrm>
          <a:prstGeom prst="rect">
            <a:avLst/>
          </a:prstGeom>
          <a:noFill/>
          <a:ln/>
        </p:spPr>
        <p:txBody>
          <a:bodyPr wrap="square" lIns="0" tIns="0" rIns="0" bIns="0" rtlCol="0" anchor="ctr"/>
          <a:lstStyle/>
          <a:p>
            <a:pP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Useful phrases</a:t>
            </a:r>
            <a:endParaRPr lang="en-US" sz="1300" dirty="0"/>
          </a:p>
        </p:txBody>
      </p:sp>
      <p:sp>
        <p:nvSpPr>
          <p:cNvPr id="18" name="il_739"/>
          <p:cNvSpPr/>
          <p:nvPr/>
        </p:nvSpPr>
        <p:spPr>
          <a:xfrm>
            <a:off x="886968" y="3374136"/>
            <a:ext cx="2130552" cy="1307592"/>
          </a:xfrm>
          <a:prstGeom prst="rect">
            <a:avLst/>
          </a:prstGeom>
          <a:noFill/>
          <a:ln/>
        </p:spPr>
        <p:txBody>
          <a:bodyPr wrap="square" lIns="0" tIns="0" rIns="0" bIns="0" rtlCol="0" anchor="t">
            <a:normAutofit/>
          </a:bodyPr>
          <a:lstStyle/>
          <a:p>
            <a:pPr marL="152400" indent="-152400">
              <a:spcAft>
                <a:spcPts val="200"/>
              </a:spcAft>
              <a:buSzPct val="100000"/>
              <a:buChar char="•"/>
            </a:pPr>
            <a:r>
              <a:rPr lang="en-US" sz="1150" dirty="0">
                <a:solidFill>
                  <a:srgbClr val="1B2559"/>
                </a:solidFill>
                <a:latin typeface="Segoe UI Semibold" pitchFamily="34" charset="0"/>
                <a:ea typeface="Segoe UI Semibold" pitchFamily="34" charset="-122"/>
                <a:cs typeface="Segoe UI Semibold" pitchFamily="34" charset="-120"/>
              </a:rPr>
              <a:t>Generally speaking, … · On the whole, …</a:t>
            </a:r>
            <a:endParaRPr lang="en-US" sz="1150" dirty="0"/>
          </a:p>
          <a:p>
            <a:pPr marL="152400" indent="-152400">
              <a:spcBef>
                <a:spcPts val="600"/>
              </a:spcBef>
              <a:spcAft>
                <a:spcPts val="200"/>
              </a:spcAft>
              <a:buSzPct val="100000"/>
              <a:buChar char="•"/>
            </a:pPr>
            <a:r>
              <a:rPr lang="en-US" sz="1150" dirty="0">
                <a:solidFill>
                  <a:srgbClr val="1B2559"/>
                </a:solidFill>
                <a:latin typeface="Segoe UI Semibold" pitchFamily="34" charset="0"/>
                <a:ea typeface="Segoe UI Semibold" pitchFamily="34" charset="-122"/>
                <a:cs typeface="Segoe UI Semibold" pitchFamily="34" charset="-120"/>
              </a:rPr>
              <a:t>I agree / I don't agree because…</a:t>
            </a:r>
            <a:endParaRPr lang="en-US" sz="1150" dirty="0"/>
          </a:p>
          <a:p>
            <a:pPr marL="152400" indent="-152400">
              <a:spcBef>
                <a:spcPts val="600"/>
              </a:spcBef>
              <a:spcAft>
                <a:spcPts val="200"/>
              </a:spcAft>
              <a:buSzPct val="100000"/>
              <a:buChar char="•"/>
            </a:pPr>
            <a:r>
              <a:rPr lang="en-US" sz="1150" dirty="0">
                <a:solidFill>
                  <a:srgbClr val="1B2559"/>
                </a:solidFill>
                <a:latin typeface="Segoe UI Semibold" pitchFamily="34" charset="0"/>
                <a:ea typeface="Segoe UI Semibold" pitchFamily="34" charset="-122"/>
                <a:cs typeface="Segoe UI Semibold" pitchFamily="34" charset="-120"/>
              </a:rPr>
              <a:t>Personally, I think…</a:t>
            </a:r>
            <a:endParaRPr lang="en-US" sz="1150" dirty="0"/>
          </a:p>
        </p:txBody>
      </p:sp>
      <p:sp>
        <p:nvSpPr>
          <p:cNvPr id="19" name="R1_qb740"/>
          <p:cNvSpPr/>
          <p:nvPr/>
        </p:nvSpPr>
        <p:spPr>
          <a:xfrm>
            <a:off x="3273552" y="1453896"/>
            <a:ext cx="329184" cy="329184"/>
          </a:xfrm>
          <a:prstGeom prst="ellipse">
            <a:avLst/>
          </a:prstGeom>
          <a:solidFill>
            <a:srgbClr val="E8508F"/>
          </a:solidFill>
          <a:ln w="28575">
            <a:solidFill>
              <a:srgbClr val="F7A6C4"/>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1</a:t>
            </a:r>
            <a:endParaRPr lang="en-US" sz="1100" dirty="0"/>
          </a:p>
        </p:txBody>
      </p:sp>
      <p:sp>
        <p:nvSpPr>
          <p:cNvPr id="20" name="R1_sq741"/>
          <p:cNvSpPr/>
          <p:nvPr/>
        </p:nvSpPr>
        <p:spPr>
          <a:xfrm>
            <a:off x="3675888" y="1417320"/>
            <a:ext cx="5193792" cy="530352"/>
          </a:xfrm>
          <a:prstGeom prst="roundRect">
            <a:avLst>
              <a:gd name="adj" fmla="val 20690"/>
            </a:avLst>
          </a:prstGeom>
          <a:solidFill>
            <a:srgbClr val="FFFFFF"/>
          </a:solidFill>
          <a:ln w="28575">
            <a:solidFill>
              <a:srgbClr val="F7A6C4"/>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000" dirty="0">
                <a:solidFill>
                  <a:srgbClr val="1B2559"/>
                </a:solidFill>
                <a:latin typeface="Segoe UI Semibold" pitchFamily="34" charset="0"/>
                <a:ea typeface="Segoe UI Semibold" pitchFamily="34" charset="-122"/>
                <a:cs typeface="Segoe UI Semibold" pitchFamily="34" charset="-120"/>
              </a:rPr>
              <a:t>Cats make the best pets.</a:t>
            </a:r>
            <a:endParaRPr lang="en-US" sz="1000" dirty="0"/>
          </a:p>
          <a:p>
            <a:pPr indent="0" marL="0">
              <a:buNone/>
            </a:pPr>
            <a:r>
              <a:rPr lang="en-US" sz="850" i="1" dirty="0">
                <a:solidFill>
                  <a:srgbClr val="5B6785"/>
                </a:solidFill>
                <a:latin typeface="Segoe UI Semibold" pitchFamily="34" charset="0"/>
                <a:ea typeface="Segoe UI Semibold" pitchFamily="34" charset="-122"/>
                <a:cs typeface="Segoe UI Semibold" pitchFamily="34" charset="-120"/>
              </a:rPr>
              <a:t>e.g. I don't agree. Generally speaking, dogs are friendlier than cats.</a:t>
            </a:r>
            <a:endParaRPr lang="en-US" sz="1000" dirty="0"/>
          </a:p>
        </p:txBody>
      </p:sp>
      <p:sp>
        <p:nvSpPr>
          <p:cNvPr id="21" name="R2_qb742"/>
          <p:cNvSpPr/>
          <p:nvPr/>
        </p:nvSpPr>
        <p:spPr>
          <a:xfrm>
            <a:off x="3273552" y="2057400"/>
            <a:ext cx="329184" cy="329184"/>
          </a:xfrm>
          <a:prstGeom prst="ellipse">
            <a:avLst/>
          </a:prstGeom>
          <a:solidFill>
            <a:srgbClr val="2F8DE4"/>
          </a:solidFill>
          <a:ln w="28575">
            <a:solidFill>
              <a:srgbClr val="A9D3F5"/>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2</a:t>
            </a:r>
            <a:endParaRPr lang="en-US" sz="1100" dirty="0"/>
          </a:p>
        </p:txBody>
      </p:sp>
      <p:sp>
        <p:nvSpPr>
          <p:cNvPr id="22" name="R2_sq743"/>
          <p:cNvSpPr/>
          <p:nvPr/>
        </p:nvSpPr>
        <p:spPr>
          <a:xfrm>
            <a:off x="3675888" y="2020824"/>
            <a:ext cx="5193792" cy="530352"/>
          </a:xfrm>
          <a:prstGeom prst="roundRect">
            <a:avLst>
              <a:gd name="adj" fmla="val 20690"/>
            </a:avLst>
          </a:prstGeom>
          <a:solidFill>
            <a:srgbClr val="FFFFFF"/>
          </a:solidFill>
          <a:ln w="28575">
            <a:solidFill>
              <a:srgbClr val="A9D3F5"/>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000" dirty="0">
                <a:solidFill>
                  <a:srgbClr val="1B2559"/>
                </a:solidFill>
                <a:latin typeface="Segoe UI Semibold" pitchFamily="34" charset="0"/>
                <a:ea typeface="Segoe UI Semibold" pitchFamily="34" charset="-122"/>
                <a:cs typeface="Segoe UI Semibold" pitchFamily="34" charset="-120"/>
              </a:rPr>
              <a:t>Designer clothes are a waste of money.</a:t>
            </a:r>
            <a:endParaRPr lang="en-US" sz="1000" dirty="0"/>
          </a:p>
          <a:p>
            <a:pPr indent="0" marL="0">
              <a:buNone/>
            </a:pPr>
            <a:r>
              <a:rPr lang="en-US" sz="850" i="1" dirty="0">
                <a:solidFill>
                  <a:srgbClr val="5B6785"/>
                </a:solidFill>
                <a:latin typeface="Segoe UI Semibold" pitchFamily="34" charset="0"/>
                <a:ea typeface="Segoe UI Semibold" pitchFamily="34" charset="-122"/>
                <a:cs typeface="Segoe UI Semibold" pitchFamily="34" charset="-120"/>
              </a:rPr>
              <a:t>e.g. On the whole, I agree – they're too expensive.</a:t>
            </a:r>
            <a:endParaRPr lang="en-US" sz="1000" dirty="0"/>
          </a:p>
        </p:txBody>
      </p:sp>
      <p:sp>
        <p:nvSpPr>
          <p:cNvPr id="23" name="R3_qb744"/>
          <p:cNvSpPr/>
          <p:nvPr/>
        </p:nvSpPr>
        <p:spPr>
          <a:xfrm>
            <a:off x="3273552" y="2660904"/>
            <a:ext cx="329184" cy="329184"/>
          </a:xfrm>
          <a:prstGeom prst="ellipse">
            <a:avLst/>
          </a:prstGeom>
          <a:solidFill>
            <a:srgbClr val="2EB872"/>
          </a:solidFill>
          <a:ln w="28575">
            <a:solidFill>
              <a:srgbClr val="A8E5BE"/>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3</a:t>
            </a:r>
            <a:endParaRPr lang="en-US" sz="1100" dirty="0"/>
          </a:p>
        </p:txBody>
      </p:sp>
      <p:sp>
        <p:nvSpPr>
          <p:cNvPr id="24" name="R3_sq745"/>
          <p:cNvSpPr/>
          <p:nvPr/>
        </p:nvSpPr>
        <p:spPr>
          <a:xfrm>
            <a:off x="3675888" y="2624328"/>
            <a:ext cx="5193792" cy="530352"/>
          </a:xfrm>
          <a:prstGeom prst="roundRect">
            <a:avLst>
              <a:gd name="adj" fmla="val 20690"/>
            </a:avLst>
          </a:prstGeom>
          <a:solidFill>
            <a:srgbClr val="FFFFFF"/>
          </a:solidFill>
          <a:ln w="28575">
            <a:solidFill>
              <a:srgbClr val="A8E5BE"/>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000" dirty="0">
                <a:solidFill>
                  <a:srgbClr val="1B2559"/>
                </a:solidFill>
                <a:latin typeface="Segoe UI Semibold" pitchFamily="34" charset="0"/>
                <a:ea typeface="Segoe UI Semibold" pitchFamily="34" charset="-122"/>
                <a:cs typeface="Segoe UI Semibold" pitchFamily="34" charset="-120"/>
              </a:rPr>
              <a:t>Young people today have easier lives than their parents.</a:t>
            </a:r>
            <a:endParaRPr lang="en-US" sz="1000" dirty="0"/>
          </a:p>
          <a:p>
            <a:pPr indent="0" marL="0">
              <a:buNone/>
            </a:pPr>
            <a:r>
              <a:rPr lang="en-US" sz="850" i="1" dirty="0">
                <a:solidFill>
                  <a:srgbClr val="5B6785"/>
                </a:solidFill>
                <a:latin typeface="Segoe UI Semibold" pitchFamily="34" charset="0"/>
                <a:ea typeface="Segoe UI Semibold" pitchFamily="34" charset="-122"/>
                <a:cs typeface="Segoe UI Semibold" pitchFamily="34" charset="-120"/>
              </a:rPr>
              <a:t>e.g. I think it's partly true. We have phones, but school is harder!</a:t>
            </a:r>
            <a:endParaRPr lang="en-US" sz="1000" dirty="0"/>
          </a:p>
        </p:txBody>
      </p:sp>
      <p:sp>
        <p:nvSpPr>
          <p:cNvPr id="25" name="R4_qb746"/>
          <p:cNvSpPr/>
          <p:nvPr/>
        </p:nvSpPr>
        <p:spPr>
          <a:xfrm>
            <a:off x="3273552" y="3264408"/>
            <a:ext cx="329184" cy="329184"/>
          </a:xfrm>
          <a:prstGeom prst="ellipse">
            <a:avLst/>
          </a:prstGeom>
          <a:solidFill>
            <a:srgbClr val="F2B705"/>
          </a:solidFill>
          <a:ln w="28575">
            <a:solidFill>
              <a:srgbClr val="FFE07A"/>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4</a:t>
            </a:r>
            <a:endParaRPr lang="en-US" sz="1100" dirty="0"/>
          </a:p>
        </p:txBody>
      </p:sp>
      <p:sp>
        <p:nvSpPr>
          <p:cNvPr id="26" name="R4_sq747"/>
          <p:cNvSpPr/>
          <p:nvPr/>
        </p:nvSpPr>
        <p:spPr>
          <a:xfrm>
            <a:off x="3675888" y="3227832"/>
            <a:ext cx="5193792" cy="530352"/>
          </a:xfrm>
          <a:prstGeom prst="roundRect">
            <a:avLst>
              <a:gd name="adj" fmla="val 20690"/>
            </a:avLst>
          </a:prstGeom>
          <a:solidFill>
            <a:srgbClr val="FFFFFF"/>
          </a:solidFill>
          <a:ln w="28575">
            <a:solidFill>
              <a:srgbClr val="FFE07A"/>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000" dirty="0">
                <a:solidFill>
                  <a:srgbClr val="1B2559"/>
                </a:solidFill>
                <a:latin typeface="Segoe UI Semibold" pitchFamily="34" charset="0"/>
                <a:ea typeface="Segoe UI Semibold" pitchFamily="34" charset="-122"/>
                <a:cs typeface="Segoe UI Semibold" pitchFamily="34" charset="-120"/>
              </a:rPr>
              <a:t>Food that tastes good is usually bad for you.</a:t>
            </a:r>
            <a:endParaRPr lang="en-US" sz="1000" dirty="0"/>
          </a:p>
          <a:p>
            <a:pPr indent="0" marL="0">
              <a:buNone/>
            </a:pPr>
            <a:r>
              <a:rPr lang="en-US" sz="850" i="1" dirty="0">
                <a:solidFill>
                  <a:srgbClr val="5B6785"/>
                </a:solidFill>
                <a:latin typeface="Segoe UI Semibold" pitchFamily="34" charset="0"/>
                <a:ea typeface="Segoe UI Semibold" pitchFamily="34" charset="-122"/>
                <a:cs typeface="Segoe UI Semibold" pitchFamily="34" charset="-120"/>
              </a:rPr>
              <a:t>e.g. Not always – pasta with sardines is good AND healthy!</a:t>
            </a:r>
            <a:endParaRPr lang="en-US" sz="1000" dirty="0"/>
          </a:p>
        </p:txBody>
      </p:sp>
      <p:sp>
        <p:nvSpPr>
          <p:cNvPr id="27" name="R5_qb748"/>
          <p:cNvSpPr/>
          <p:nvPr/>
        </p:nvSpPr>
        <p:spPr>
          <a:xfrm>
            <a:off x="3273552" y="3867912"/>
            <a:ext cx="329184" cy="329184"/>
          </a:xfrm>
          <a:prstGeom prst="ellipse">
            <a:avLst/>
          </a:prstGeom>
          <a:solidFill>
            <a:srgbClr val="E8508F"/>
          </a:solidFill>
          <a:ln w="28575">
            <a:solidFill>
              <a:srgbClr val="F7A6C4"/>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5</a:t>
            </a:r>
            <a:endParaRPr lang="en-US" sz="1100" dirty="0"/>
          </a:p>
        </p:txBody>
      </p:sp>
      <p:sp>
        <p:nvSpPr>
          <p:cNvPr id="28" name="R5_sq749"/>
          <p:cNvSpPr/>
          <p:nvPr/>
        </p:nvSpPr>
        <p:spPr>
          <a:xfrm>
            <a:off x="3675888" y="3831336"/>
            <a:ext cx="5193792" cy="530352"/>
          </a:xfrm>
          <a:prstGeom prst="roundRect">
            <a:avLst>
              <a:gd name="adj" fmla="val 20690"/>
            </a:avLst>
          </a:prstGeom>
          <a:solidFill>
            <a:srgbClr val="FFFFFF"/>
          </a:solidFill>
          <a:ln w="28575">
            <a:solidFill>
              <a:srgbClr val="F7A6C4"/>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000" dirty="0">
                <a:solidFill>
                  <a:srgbClr val="1B2559"/>
                </a:solidFill>
                <a:latin typeface="Segoe UI Semibold" pitchFamily="34" charset="0"/>
                <a:ea typeface="Segoe UI Semibold" pitchFamily="34" charset="-122"/>
                <a:cs typeface="Segoe UI Semibold" pitchFamily="34" charset="-120"/>
              </a:rPr>
              <a:t>School friends are for life.</a:t>
            </a:r>
            <a:endParaRPr lang="en-US" sz="1000" dirty="0"/>
          </a:p>
          <a:p>
            <a:pPr indent="0" marL="0">
              <a:buNone/>
            </a:pPr>
            <a:r>
              <a:rPr lang="en-US" sz="850" i="1" dirty="0">
                <a:solidFill>
                  <a:srgbClr val="5B6785"/>
                </a:solidFill>
                <a:latin typeface="Segoe UI Semibold" pitchFamily="34" charset="0"/>
                <a:ea typeface="Segoe UI Semibold" pitchFamily="34" charset="-122"/>
                <a:cs typeface="Segoe UI Semibold" pitchFamily="34" charset="-120"/>
              </a:rPr>
              <a:t>e.g. I agree. My dad still sees his school friends every week.</a:t>
            </a:r>
            <a:endParaRPr lang="en-US" sz="10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9"/>
                                        </p:tgtEl>
                                        <p:attrNameLst>
                                          <p:attrName>style.visibility</p:attrName>
                                        </p:attrNameLst>
                                      </p:cBhvr>
                                      <p:to>
                                        <p:strVal val="visible"/>
                                      </p:to>
                                    </p:set>
                                    <p:animEffect transition="in" filter="fade">
                                      <p:cBhvr>
                                        <p:cTn id="7" dur="400"/>
                                        <p:tgtEl>
                                          <p:spTgt spid="19"/>
                                        </p:tgtEl>
                                      </p:cBhvr>
                                    </p:animEffect>
                                  </p:childTnLst>
                                </p:cTn>
                              </p:par>
                              <p:par>
                                <p:cTn id="8" presetID="10" presetClass="entr" presetSubtype="0" fill="hold" nodeType="withEffect">
                                  <p:stCondLst>
                                    <p:cond delay="0"/>
                                  </p:stCondLst>
                                  <p:childTnLst>
                                    <p:set>
                                      <p:cBhvr>
                                        <p:cTn id="9" dur="1" fill="hold">
                                          <p:stCondLst>
                                            <p:cond delay="0"/>
                                          </p:stCondLst>
                                        </p:cTn>
                                        <p:tgtEl>
                                          <p:spTgt spid="20"/>
                                        </p:tgtEl>
                                        <p:attrNameLst>
                                          <p:attrName>style.visibility</p:attrName>
                                        </p:attrNameLst>
                                      </p:cBhvr>
                                      <p:to>
                                        <p:strVal val="visible"/>
                                      </p:to>
                                    </p:set>
                                    <p:animEffect transition="in" filter="fade">
                                      <p:cBhvr>
                                        <p:cTn id="10" dur="400"/>
                                        <p:tgtEl>
                                          <p:spTgt spid="20"/>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nodeType="clickEffect">
                                  <p:stCondLst>
                                    <p:cond delay="0"/>
                                  </p:stCondLst>
                                  <p:childTnLst>
                                    <p:set>
                                      <p:cBhvr>
                                        <p:cTn id="14" dur="1" fill="hold">
                                          <p:stCondLst>
                                            <p:cond delay="0"/>
                                          </p:stCondLst>
                                        </p:cTn>
                                        <p:tgtEl>
                                          <p:spTgt spid="21"/>
                                        </p:tgtEl>
                                        <p:attrNameLst>
                                          <p:attrName>style.visibility</p:attrName>
                                        </p:attrNameLst>
                                      </p:cBhvr>
                                      <p:to>
                                        <p:strVal val="visible"/>
                                      </p:to>
                                    </p:set>
                                    <p:animEffect transition="in" filter="fade">
                                      <p:cBhvr>
                                        <p:cTn id="15" dur="400"/>
                                        <p:tgtEl>
                                          <p:spTgt spid="21"/>
                                        </p:tgtEl>
                                      </p:cBhvr>
                                    </p:animEffect>
                                  </p:childTnLst>
                                </p:cTn>
                              </p:par>
                              <p:par>
                                <p:cTn id="16" presetID="10" presetClass="entr" presetSubtype="0" fill="hold" nodeType="withEffect">
                                  <p:stCondLst>
                                    <p:cond delay="0"/>
                                  </p:stCondLst>
                                  <p:childTnLst>
                                    <p:set>
                                      <p:cBhvr>
                                        <p:cTn id="17" dur="1" fill="hold">
                                          <p:stCondLst>
                                            <p:cond delay="0"/>
                                          </p:stCondLst>
                                        </p:cTn>
                                        <p:tgtEl>
                                          <p:spTgt spid="22"/>
                                        </p:tgtEl>
                                        <p:attrNameLst>
                                          <p:attrName>style.visibility</p:attrName>
                                        </p:attrNameLst>
                                      </p:cBhvr>
                                      <p:to>
                                        <p:strVal val="visible"/>
                                      </p:to>
                                    </p:set>
                                    <p:animEffect transition="in" filter="fade">
                                      <p:cBhvr>
                                        <p:cTn id="18" dur="400"/>
                                        <p:tgtEl>
                                          <p:spTgt spid="22"/>
                                        </p:tgtEl>
                                      </p:cBhvr>
                                    </p:animEffect>
                                  </p:childTnLst>
                                </p:cTn>
                              </p:par>
                            </p:childTnLst>
                          </p:cTn>
                        </p:par>
                      </p:childTnLst>
                    </p:cTn>
                  </p:par>
                  <p:par>
                    <p:cTn id="19" fill="hold">
                      <p:stCondLst>
                        <p:cond delay="indefinite"/>
                      </p:stCondLst>
                      <p:childTnLst>
                        <p:par>
                          <p:cTn id="20" fill="hold">
                            <p:stCondLst>
                              <p:cond delay="0"/>
                            </p:stCondLst>
                            <p:childTnLst>
                              <p:par>
                                <p:cTn id="21" presetID="10" presetClass="entr" presetSubtype="0" fill="hold" nodeType="clickEffect">
                                  <p:stCondLst>
                                    <p:cond delay="0"/>
                                  </p:stCondLst>
                                  <p:childTnLst>
                                    <p:set>
                                      <p:cBhvr>
                                        <p:cTn id="22" dur="1" fill="hold">
                                          <p:stCondLst>
                                            <p:cond delay="0"/>
                                          </p:stCondLst>
                                        </p:cTn>
                                        <p:tgtEl>
                                          <p:spTgt spid="23"/>
                                        </p:tgtEl>
                                        <p:attrNameLst>
                                          <p:attrName>style.visibility</p:attrName>
                                        </p:attrNameLst>
                                      </p:cBhvr>
                                      <p:to>
                                        <p:strVal val="visible"/>
                                      </p:to>
                                    </p:set>
                                    <p:animEffect transition="in" filter="fade">
                                      <p:cBhvr>
                                        <p:cTn id="23" dur="400"/>
                                        <p:tgtEl>
                                          <p:spTgt spid="23"/>
                                        </p:tgtEl>
                                      </p:cBhvr>
                                    </p:animEffect>
                                  </p:childTnLst>
                                </p:cTn>
                              </p:par>
                              <p:par>
                                <p:cTn id="24" presetID="10" presetClass="entr" presetSubtype="0" fill="hold" nodeType="withEffect">
                                  <p:stCondLst>
                                    <p:cond delay="0"/>
                                  </p:stCondLst>
                                  <p:childTnLst>
                                    <p:set>
                                      <p:cBhvr>
                                        <p:cTn id="25" dur="1" fill="hold">
                                          <p:stCondLst>
                                            <p:cond delay="0"/>
                                          </p:stCondLst>
                                        </p:cTn>
                                        <p:tgtEl>
                                          <p:spTgt spid="24"/>
                                        </p:tgtEl>
                                        <p:attrNameLst>
                                          <p:attrName>style.visibility</p:attrName>
                                        </p:attrNameLst>
                                      </p:cBhvr>
                                      <p:to>
                                        <p:strVal val="visible"/>
                                      </p:to>
                                    </p:set>
                                    <p:animEffect transition="in" filter="fade">
                                      <p:cBhvr>
                                        <p:cTn id="26" dur="400"/>
                                        <p:tgtEl>
                                          <p:spTgt spid="24"/>
                                        </p:tgtEl>
                                      </p:cBhvr>
                                    </p:animEffect>
                                  </p:childTnLst>
                                </p:cTn>
                              </p:par>
                            </p:childTnLst>
                          </p:cTn>
                        </p:par>
                      </p:childTnLst>
                    </p:cTn>
                  </p:par>
                  <p:par>
                    <p:cTn id="27" fill="hold">
                      <p:stCondLst>
                        <p:cond delay="indefinite"/>
                      </p:stCondLst>
                      <p:childTnLst>
                        <p:par>
                          <p:cTn id="28" fill="hold">
                            <p:stCondLst>
                              <p:cond delay="0"/>
                            </p:stCondLst>
                            <p:childTnLst>
                              <p:par>
                                <p:cTn id="29" presetID="10" presetClass="entr" presetSubtype="0" fill="hold" nodeType="clickEffect">
                                  <p:stCondLst>
                                    <p:cond delay="0"/>
                                  </p:stCondLst>
                                  <p:childTnLst>
                                    <p:set>
                                      <p:cBhvr>
                                        <p:cTn id="30" dur="1" fill="hold">
                                          <p:stCondLst>
                                            <p:cond delay="0"/>
                                          </p:stCondLst>
                                        </p:cTn>
                                        <p:tgtEl>
                                          <p:spTgt spid="25"/>
                                        </p:tgtEl>
                                        <p:attrNameLst>
                                          <p:attrName>style.visibility</p:attrName>
                                        </p:attrNameLst>
                                      </p:cBhvr>
                                      <p:to>
                                        <p:strVal val="visible"/>
                                      </p:to>
                                    </p:set>
                                    <p:animEffect transition="in" filter="fade">
                                      <p:cBhvr>
                                        <p:cTn id="31" dur="400"/>
                                        <p:tgtEl>
                                          <p:spTgt spid="25"/>
                                        </p:tgtEl>
                                      </p:cBhvr>
                                    </p:animEffect>
                                  </p:childTnLst>
                                </p:cTn>
                              </p:par>
                              <p:par>
                                <p:cTn id="32" presetID="10" presetClass="entr" presetSubtype="0" fill="hold" nodeType="withEffect">
                                  <p:stCondLst>
                                    <p:cond delay="0"/>
                                  </p:stCondLst>
                                  <p:childTnLst>
                                    <p:set>
                                      <p:cBhvr>
                                        <p:cTn id="33" dur="1" fill="hold">
                                          <p:stCondLst>
                                            <p:cond delay="0"/>
                                          </p:stCondLst>
                                        </p:cTn>
                                        <p:tgtEl>
                                          <p:spTgt spid="26"/>
                                        </p:tgtEl>
                                        <p:attrNameLst>
                                          <p:attrName>style.visibility</p:attrName>
                                        </p:attrNameLst>
                                      </p:cBhvr>
                                      <p:to>
                                        <p:strVal val="visible"/>
                                      </p:to>
                                    </p:set>
                                    <p:animEffect transition="in" filter="fade">
                                      <p:cBhvr>
                                        <p:cTn id="34" dur="400"/>
                                        <p:tgtEl>
                                          <p:spTgt spid="26"/>
                                        </p:tgtEl>
                                      </p:cBhvr>
                                    </p:animEffect>
                                  </p:childTnLst>
                                </p:cTn>
                              </p:par>
                            </p:childTnLst>
                          </p:cTn>
                        </p:par>
                      </p:childTnLst>
                    </p:cTn>
                  </p:par>
                  <p:par>
                    <p:cTn id="35" fill="hold">
                      <p:stCondLst>
                        <p:cond delay="indefinite"/>
                      </p:stCondLst>
                      <p:childTnLst>
                        <p:par>
                          <p:cTn id="36" fill="hold">
                            <p:stCondLst>
                              <p:cond delay="0"/>
                            </p:stCondLst>
                            <p:childTnLst>
                              <p:par>
                                <p:cTn id="37" presetID="10" presetClass="entr" presetSubtype="0" fill="hold" nodeType="clickEffect">
                                  <p:stCondLst>
                                    <p:cond delay="0"/>
                                  </p:stCondLst>
                                  <p:childTnLst>
                                    <p:set>
                                      <p:cBhvr>
                                        <p:cTn id="38" dur="1" fill="hold">
                                          <p:stCondLst>
                                            <p:cond delay="0"/>
                                          </p:stCondLst>
                                        </p:cTn>
                                        <p:tgtEl>
                                          <p:spTgt spid="27"/>
                                        </p:tgtEl>
                                        <p:attrNameLst>
                                          <p:attrName>style.visibility</p:attrName>
                                        </p:attrNameLst>
                                      </p:cBhvr>
                                      <p:to>
                                        <p:strVal val="visible"/>
                                      </p:to>
                                    </p:set>
                                    <p:animEffect transition="in" filter="fade">
                                      <p:cBhvr>
                                        <p:cTn id="39" dur="400"/>
                                        <p:tgtEl>
                                          <p:spTgt spid="27"/>
                                        </p:tgtEl>
                                      </p:cBhvr>
                                    </p:animEffect>
                                  </p:childTnLst>
                                </p:cTn>
                              </p:par>
                              <p:par>
                                <p:cTn id="40" presetID="10" presetClass="entr" presetSubtype="0" fill="hold" nodeType="withEffect">
                                  <p:stCondLst>
                                    <p:cond delay="0"/>
                                  </p:stCondLst>
                                  <p:childTnLst>
                                    <p:set>
                                      <p:cBhvr>
                                        <p:cTn id="41" dur="1" fill="hold">
                                          <p:stCondLst>
                                            <p:cond delay="0"/>
                                          </p:stCondLst>
                                        </p:cTn>
                                        <p:tgtEl>
                                          <p:spTgt spid="28"/>
                                        </p:tgtEl>
                                        <p:attrNameLst>
                                          <p:attrName>style.visibility</p:attrName>
                                        </p:attrNameLst>
                                      </p:cBhvr>
                                      <p:to>
                                        <p:strVal val="visible"/>
                                      </p:to>
                                    </p:set>
                                    <p:animEffect transition="in" filter="fade">
                                      <p:cBhvr>
                                        <p:cTn id="42" dur="400"/>
                                        <p:tgtEl>
                                          <p:spTgt spid="2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26</Slides>
  <Notes>26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26</vt:i4>
      </vt:variant>
    </vt:vector>
  </HeadingPairs>
  <TitlesOfParts>
    <vt:vector size="2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3B-1 Men, women, and children</dc:title>
  <dc:subject>PptxGenJS Presentation</dc:subject>
  <dc:creator>PptxGenJS</dc:creator>
  <cp:lastModifiedBy>PptxGenJS</cp:lastModifiedBy>
  <cp:revision>1</cp:revision>
  <dcterms:created xsi:type="dcterms:W3CDTF">2026-10-21T09:55:22Z</dcterms:created>
  <dcterms:modified xsi:type="dcterms:W3CDTF">2026-10-21T09:55:22Z</dcterms:modified>
</cp:coreProperties>
</file>