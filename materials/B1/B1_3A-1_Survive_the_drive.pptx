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Show the photo (a London street with black cabs and a red bus). Ask the THINK question; click 1 shows the example answer. Get a quick show of hands for each option (bike / car / boat / bus) and WRITE THE VOTES ON THE BOARD – you check them after the listening (slide 21). Read the 'Today you're going to…' list together. Don't teach the vocabulary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Left: the strong adjectives from last lesson's warmer ('Make it stronger!'). Ask 'Can you say very exhausted?' (no – absolutely / really exhausted). Right: a strong adjective + a reason in a Files 1–2 tense (the four grammar points of the R1-2 test). Elicit one more example from a student (e.g. 'I'm furious – my brother has taken my phone!'). Ask: 'What was your revision target from last lesson?' (2–3 students). Then play 'Travel nightmares!' – the answers use exactly this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strong adjectives (3 min)
RETRIEVAL WARMER (3 min) · books closed. Format: situation → reaction (different from R1-2's 'Make it stronger!', where students only changed 'very + adjective'). Two teams. Read each travel nightmare aloud dramatically; the first team to react with a strong adjective AND a reason gets the points (1 for the strong adjective with good stress – EXhausted, FREEzing; +1 for a correct reason in a Files 1–2 tense). Click once per line for a model answer; accept any correct reaction. Watch for ✗ very starving. ICQs: 'Is one word enough?' (no – say why too) · 'Can you say very exhausted?' (no). The situations bridge to today's topic: transport and journeys (only known words: bus, train, bike,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lead-in · sounds (3 min)
LEAD-IN (2 min). First, 30 seconds books closed: pairs write as many kinds of transport as they can (the longest list reads it out). Then play 3.1 (sound effects) ONCE: students close their eyes and write the transport in order. Pairs compare. Click once per sound. Answers (TG / audio script): 1 train · 2 car · 3 bike · 4 motorbike · 5 lorry · 6 the Underground · 7 scooter · 8 bus. Drill lorry /ˈlɒri/ and scooter /ˈskuːtə/. Show of hands (TG): who uses public transport to get to school / work? ICQ: 'Eyes open or closed?'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vehicles (3 min)
ELICIT FIRST (2 min). Demo item 0: drill vehicle /ˈviːəkl/ (silent h). Pairs read each clue and say the word; click once per item. Then (optional) Vocabulary Bank p.155 1a – match words and photos, play 3.2 to check: van 1 · coach 2 · lorry 3 · scooter 4 · tram 5 · motorway 6 · the Underground 7 · ferry 8 · motorbike 9. TG notes: a bus is usually in a town; a coach goes between cities. The London Underground is often called the Tube. Ask: 'Which of these can you take from Bagheria?' (bus, coach to the airport, the ferry from Palermo…). ICQ: 'Do you say the clue or the word?'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Vocabulary · on the road (4 min)
COMPOUND NOUNS (4 min). TG: compound nouns = two nouns together; the first describes the second. Demo 0 with the photo (traffic lights at the junction). Pairs say the first word and find the second; click once per item. Then add the other 5 from the Vocabulary Bank (write on the board): roadworks (ONE word, always plural), taxi rank, zebra crossing (+ traffic jam, traffic lights from item 0). Audio 3.3 (14 items): car crash · cycle lane · parking fine · pedestrian zone · petrol station · roadworks · rush hour · seat belt · speed camera · speed limit · taxi rank · traffic lights · traffic jam · zebra crossing. Drill: the STRONG stress is on the FIRST word – SEAT belt, RUSH hour, TRAFfic jam (Italian speakers stress the second). ICQ: 'One word or two?' (two – except roadworks).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Vocabulary · in Italian (2 min)
CONSOLIDATION for slower students (2 min). The class says the Italian aloud for each tile, then click once per word to show its Italian. 20 seconds on the warning line: coach is between cities (pullman), a bus is in town; roadworks has no singular; compound nouns are stressed on the first word. Quick CCQ: 'There are 100 cars and nobody can move – it's a…?' (traffic jam) · 'It takes a photo if you drive too fast' (speed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Vocabulary game (3 min)
GAME 2 (3 min) · variation of 'Describe it!' (worked well in 1B-1): this time A can also MIME or make a SOUND (great for ferry, scooter, seat belt) – but can't say any part of the word (for 'traffic jam', no 'traffic' and no 'jam'!). Demo with a strong student: mime putting on a seat belt + 'click!' → seat belt. Click to show each word (round 1 = 4 words for A, round 2 = 4 words for B, B faces the screen). 20 seconds per word. ICQs: 'Can you say traffic for traffic jam?' (no) · 'Can you mime?'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Speaking · How long does it take? (3 min)
SPEAKING (3 min). First go through the 'It takes…' box (Vocabulary Bank 3): It takes (me) + time = ci metto / ci vuole. ✗ I take 20 minutes · ✗ It wants 20 minutes. Questions appear ONE PER CLICK (about 35 seconds each). Monitor for the new words and 'It takes…'. Extra idea (TG): show of hands – who has the shortest / longest journey to school or work? The SB 1c information gap (Communication p.106 / p.111, 'I'm a tourist – can you help me?') can replace questions 3–5 if you have the book pages ready (the questions are not in our files). ICQ: 'Do you say I take 20 minutes?' (no – It takes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 phrasal verbs (3 min)
PHRASAL VERBS (3 min). Pairs guess the particles; play 3.4, pausing; click once per sentence. Answers (audio script 3.4; sentences 1 and 3 shortened on the slide): 1 off · 2 up · 3 up · 4 out of · 5 out. Meaning check (CCQs): set off = start a journey (partire) · pick sb up = collect sb in a car (passare a prendere) – the pronoun goes in the middle: pick ME up · end up = arrive where you didn't plan (finire) · run out of = have no more (rimanere senza) · Look out! = be careful (attento!). satnav = navigatore. ICQ: 'How many words in gap 4?'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Speaking · class story (TPRS) (4 min)
TPRS CLASS STORY (4 min) – it comes after the vocabulary sets (vehicles, on the road, phrasal verbs): meaning is clear, and now students hear the new words 15–20 times in a funny local journey before the pronunciation work, the Top Gear reading and 'The Bagheria race!'. It recycles set off, rush hour, traffic jam, get stuck, run out of petrol, petrol station, pick me up, coach and end up. Click once per line. For each line: 1) say it, 2) ask the questions in grey round the class (yes/no → either/or → who/what/where), 3) let the CLASS change details: 'Does Nonno go to Palermo? No? Where does he go?' – accept their idea and use it in later lines (the class can choose where he ends up!). Students answer with one word or a short phrase ('In a traffic jam!') – that's fine. Watch for 'pick ME up' (pronoun in the middle) and 'run out OF petrol'. Finish: 'What happens next?' – one or two ideas, then move on. Arancino / arancina: accept both – the Palermo vs Catania debate is a free extra speaking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Pronunciation · /ʃ/ /dʒ/ /tʃ/ (3 min)
PRONUNCIATION 1 · HEAR + SORT (3 min). 2a: play 3.5 – shower /ʃ/, jazz /dʒ/, chess /tʃ/ – students repeat. Pairs say each word aloud and match it to a sound (TG: saying the words aloud makes it easier). Play 3.6 and click once per word. Answers (audio script 3.6): /ʃ/ crash, rush, station · /dʒ/ bridge, journey, traffic jam · /tʃ/ adventure, catch, coach. Spelling rules (TG): sh and -tion = /ʃ/ · j (and -dge) = /dʒ/ · ch is usually /tʃ/, but /ʃ/ in French words (chef, machine) and /k/ in chemist's, technology. Italian has all three sounds (sci, gi, ci) – the problem is the English SPELLING. Play 3.6 again: listen and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Pronunciation · which word? (2 min)
PRONUNCIATION 2 · DISCRIMINATE + REPEAT + PRODUCE (2 min). 2d: make sure students know the meanings (choke = soffocare, chain = catena). Play 3.7 once to listen, then again pausing for students to repeat. 2e: play 3.8 – students write the word they hear; click once per pair. Answers (TG): 1 jeep · 2 chain · 3 joke · 4 chip · 5 shoes · 6 watch. Then PRODUCE in pairs: A says one word from a pair, B points to it in the book (or says 'one' / 'two'); swap. TG extra support: show the mouth position (Sound Bank videos). The 3.9 dictation is an EXTRA slide after the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Reading · prediction (3 min)
PREDICTION (2 min). Ask: 'Do you know Top Gear?' (a BBC TV programme about cars; the presenters do funny, adventurous and sometimes dangerous things). Teach race (gara). Students read the introduction in the book (p.26, the slide shows a summary) + the glossary: 1 mile = 1.6 km (15 miles ≈ 25 km) · The Stig = the nickname of one of the Top Gear team · Oyster card = a London travel card. TG answers to 3a: from Kew Bridge, in the south-west of London, to the check-in desk at London City Airport, in the east · a bike, a car, a motorboat and public transport. Show the map in the book. 3b: pairs predict the order (1st–4th) with a reason ('The bike, because there's a lot of traffic in the rush hour'). Write 2–3 predictions on the board. Don't give the answer – it comes in audio 3.11 (slide 21). ICQ: 'Are you guessing or checking?'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Reading · the race 1/3 (2 min)
READ FOR GIST (2 min). Pairs read and guess the gaps (gapped-text technique: today's vocabulary and numbers), then click once per gap: the answer appears highlighted IN the text. Answers (SB text): 1 speed limit · 2 70. Gist question (SB 3c): 'Do you still agree with your prediction?' Don't explain the highlighted 3e verb phrases yet (turned round, was ahead of) – they come in the Phrase race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Reading · the race 2/3 (2 min)
READ FOR GIST (2 min). Same procedure: pairs guess the gaps from context (all compound nouns from slide 6), click once per gap. Answers (SB text): 3 bus lanes · 4 traffic lights · 5 traffic jam · 6 cycle lane. Ask: 'Why was Richard delighted about the traffic jam?' (a bike can go through it, but the car gets stuck). Still agree with your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Reading · the race 3/3 (2 min)
READ FOR GIST (2 min). Pairs guess the number (pattern: 25, 23, 20…), click to check. Answer (SB text): 7 18. Teach steady and permit (yellow card) if needed. Then: 'Who's winning now? Has anyone changed their prediction?' (show of hands – SB 3c: tell a partner). Note: the article stops before the end – nobody knows who won yet (the curiosity gap for slide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Reading · detail · speed challenge (4 min)
READ FOR DETAIL (3 min) · speed challenge. Books open at pp.26–27 (or go back through slides 15–17). Two minutes: pairs answer Je, R or Ja for each question. Pair check, then click once per item: the answer AND the evidence from the text appear. TG key: 1 Ja · 2 Je · 3 R · 4 Ja · 5 R · 6 Je · 7 Je. Ask for the line in the text each time ('Show me!'). The questions on the slide are shortened from the book (book: 1 was asked to show a piece of paper · 2/4 … in the later part of his journey · 5 was happy to see that there was a lot of traffic · 7 had the most exciting journey). ICQ: 'How many minutes?' (two) · 'Do you write the name or J / R?' (Je, R or 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Game · words from the text (3 min)
GAME 3 (3 min) · scan race. Teams look at the three texts (book pp.26–27). Read the meaning aloud; the first team to shout the correct phrase from the text gets the point. Click once per item. TG key: turned round /tɜːnd raʊnd/ = changed direction · was ahead of /wəz əˈhed əv/ = was in front of sb · crash into /kræʃ ˈɪntə/ = hit an object or another vehicle · turned red = changed to red · get stuck /get stʌk/ = be unable to move · getting worse /ˈgetɪŋ wɜːs/ = becoming more and more busy. Drill the phrases. Italian: get stuck = rimanere bloccato (✗ get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Listening · The Stig (3 min)
LISTENING (3 min). Focus on the map in the book (p.27). Pre-teach warning (an announcement that tells you something bad may happen) and the gap (between the train and the platform). Play 3.10 once (twice if needed): students follow The Stig's route on the map. Pictures A–C: a bus, the Underground, a train platform. Click once per answer (audio script 3.10): he took a bus from Kew Bridge to Acton Town (paid with his Oyster card), the Underground (District line, 18 stops) to Monument, then the Docklands Light Railway (10 stops) to London City Airport; everyone was reading a newspaper, so he picked up a free one. Tube announcements (TG): 'The train now approaching is…' · 'Please mind the gap between the train and the platform' (= the warning) · 'The next station is Monument. Change here for…'. ICQ: 'Are you listening for the order?'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Listening · the result (2 min)
LISTENING · RESULT (2 min). Write JEREMY – BOAT, JAMES – CAR, RICHARD – BIKE, THE STIG – PUBLIC TRANSPORT on the board; pairs number them again (TG). Teach annoyed (= slightly angry). Play 3.11 once. Click once per line. Answers (TG / audio script): 1 Richard (bike) · 2 Jeremy (boat) · 3 The Stig (public transport) · 4 James (car), fifteen minutes after The Stig. Jeremy was annoyed because Top Gear is a programme about cars and the car came last ('Disaster! Public transport had beaten the car!'). Show of hands: who predicted correctly? Check the votes from slide 1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Speaking · our own race (4 min)
SPEAKING (4 min) · personalisation (SB 3h). Questions appear ONE PER CLICK (about 45 seconds each). Groups of 3 decide on an order and give reasons with today's words (traffic jam, rush hour, roadworks, speed camera, get stuck…). Change the start / finish if your students live elsewhere (Aspra, Ficarazzi, Santa Flavia). Feedback: one group gives its order; others agree or disagree. Students will probably use comparatives (faster, the quickest) – don't correct them now: that's next lesson's grammar (3A part 2); note good examples. Note 4–5 errors for delayed correction at the exit. The example answers are only models (we don't know the real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Exit · what can you remember? (2 min)
RETRIEVAL EXIT (2 min). Books closed. Pairs: 3 road-problem words (e.g. traffic jam, roadworks, parking fine, car crash, rush hour), 2 phrasal-verb sentences ('I set off at 7.30.' · 'My mum picks me up after school.'), 1 race fact (Richard / the bike won; the car came last and Top Gear is a car programme). Write 2–3 errors from the speaking on the board for students to correct. Set homework: Workbook 3A 1a–1e (vocabulary) and 2a (pronunciation; 2b is audio – optional), Vocabulary Bank p.155, homework sheet 3A-1 (easier version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Extra · pronunciation · dictation (3 min)
EXTRA (3 min). SB 2f: play 3.9 once just to listen, then again pausing after each sentence for students to write. Click once per sentence (audio script 3.9). Then pairs dictate the sentences to each other, changing ONE sound (wash → watch, chips → ships): the partner says which word they heard. ⚠ Audio 3.9 is not in the deck folder: play it from the book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Extra · speaking · the worst journey (5 min)
EXTRA (5 min). Light-hearted personalisation + recycling (strong adjectives from last lesson welcome). Click once per step. The listening pair counts the words from today's lesson; the class votes for the worst journey. Alternative extra: Vocabulary photocopiable 3A Transport (TG p.207): 2 cycle lane · 3 platform · 4 car crash · 5 tram · 6 seat belt · 7 ferry · 8 zebra crossing · 9 taxi rank · 10 scooter · 11 petrol station · 12 coach · 13 speed camera · 14 parking fine · 15 van · 16 speed limit · 17 lorry · 18 roadworks · 19 motorway · 20 the Underground.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audio" Target="../media/media-4-5.mp3"/><Relationship Id="rId6" Type="http://schemas.microsoft.com/office/2007/relationships/media" Target="../media/media-4-5.mp3"/><Relationship Id="rId7" Type="http://schemas.openxmlformats.org/officeDocument/2006/relationships/image" Target="../media/image-4-7.png"/><Relationship Id="rId8" Type="http://schemas.openxmlformats.org/officeDocument/2006/relationships/audio" Target="../media/media-4-8.mp3"/><Relationship Id="rId9" Type="http://schemas.microsoft.com/office/2007/relationships/media" Target="../media/media-4-8.mp3"/><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audio" Target="../media/media-10-5.mp3"/><Relationship Id="rId6" Type="http://schemas.microsoft.com/office/2007/relationships/media" Target="../media/media-10-5.mp3"/><Relationship Id="rId7" Type="http://schemas.openxmlformats.org/officeDocument/2006/relationships/image" Target="../media/image-10-7.png"/><Relationship Id="rId8" Type="http://schemas.openxmlformats.org/officeDocument/2006/relationships/audio" Target="../media/media-10-8.mp3"/><Relationship Id="rId9" Type="http://schemas.microsoft.com/office/2007/relationships/media" Target="../media/media-10-8.mp3"/><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audio" Target="../media/media-20-5.mp3"/><Relationship Id="rId6" Type="http://schemas.microsoft.com/office/2007/relationships/media" Target="../media/media-20-5.mp3"/><Relationship Id="rId7" Type="http://schemas.openxmlformats.org/officeDocument/2006/relationships/image" Target="../media/image-20-7.png"/><Relationship Id="rId8" Type="http://schemas.openxmlformats.org/officeDocument/2006/relationships/audio" Target="../media/media-20-8.mp3"/><Relationship Id="rId9" Type="http://schemas.microsoft.com/office/2007/relationships/media" Target="../media/media-20-8.mp3"/><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audio" Target="../media/media-21-5.mp3"/><Relationship Id="rId6" Type="http://schemas.microsoft.com/office/2007/relationships/media" Target="../media/media-21-5.mp3"/><Relationship Id="rId7" Type="http://schemas.openxmlformats.org/officeDocument/2006/relationships/image" Target="../media/image-21-7.png"/><Relationship Id="rId8" Type="http://schemas.openxmlformats.org/officeDocument/2006/relationships/audio" Target="../media/media-21-8.mp3"/><Relationship Id="rId9" Type="http://schemas.microsoft.com/office/2007/relationships/media" Target="../media/media-21-8.mp3"/><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1.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pp.26–27</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3A-1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Survive the drive</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Transport · a race across London</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learn 25 transport and road words</a:t>
            </a:r>
            <a:endParaRPr lang="en-US" sz="800" dirty="0"/>
          </a:p>
          <a:p>
            <a:pPr indent="0" marL="0">
              <a:spcBef>
                <a:spcPts val="5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say /ʃ/ /dʒ/ /tʃ/: shower, jazz, chess</a:t>
            </a:r>
            <a:endParaRPr lang="en-US" sz="800" dirty="0"/>
          </a:p>
          <a:p>
            <a:pPr indent="0" marL="0">
              <a:spcBef>
                <a:spcPts val="5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read about a crazy race across London</a:t>
            </a:r>
            <a:endParaRPr lang="en-US" sz="800" dirty="0"/>
          </a:p>
          <a:p>
            <a:pPr indent="0" marL="0">
              <a:spcBef>
                <a:spcPts val="5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listen: who won the race?</a:t>
            </a:r>
            <a:endParaRPr lang="en-US" sz="800" dirty="0"/>
          </a:p>
          <a:p>
            <a:pPr indent="0" marL="0">
              <a:spcBef>
                <a:spcPts val="5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listen to a class story and answer questions</a:t>
            </a:r>
            <a:endParaRPr lang="en-US" sz="800" dirty="0"/>
          </a:p>
          <a:p>
            <a:pPr indent="0" marL="0">
              <a:spcBef>
                <a:spcPts val="5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plan a race from Bagheria to Palermo</a:t>
            </a:r>
            <a:endParaRPr lang="en-US" sz="8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think the bike is the fastest – London is full of cars and buses!</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3a1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Bike, car, boat or bus: what's the fastest way across London?</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21"/>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revise? Read the examples.</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abbiamo ripassato?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2b2_exhausted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Revise and Check 1&amp;2: games, test, targets</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strong adjectives + Files 1–2 tenses</a:t>
            </a:r>
            <a:endParaRPr lang="en-US" sz="10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Strong adjectives</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 ran 10 km. I'm exhausted!</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It's –30°C. It's freezing!</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That comedy is hilarious!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absolutely / really – NOT very</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Say WHY: Files 1–2 tenses</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I'm starving – I haven't eaten all day.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I'm exhausted – I've been walking since 6!</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It's freezing – I'm going to buy a coat.</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present perfect · been + -ing · going to</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101955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exhausted</a:t>
            </a:r>
            <a:endParaRPr lang="en-US" sz="1050" dirty="0"/>
          </a:p>
        </p:txBody>
      </p:sp>
      <p:sp>
        <p:nvSpPr>
          <p:cNvPr id="28" name="w_42"/>
          <p:cNvSpPr/>
          <p:nvPr/>
        </p:nvSpPr>
        <p:spPr>
          <a:xfrm>
            <a:off x="4338828" y="4178808"/>
            <a:ext cx="941832"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freezing</a:t>
            </a:r>
            <a:endParaRPr lang="en-US" sz="1050" dirty="0"/>
          </a:p>
        </p:txBody>
      </p:sp>
      <p:sp>
        <p:nvSpPr>
          <p:cNvPr id="29" name="w_43"/>
          <p:cNvSpPr/>
          <p:nvPr/>
        </p:nvSpPr>
        <p:spPr>
          <a:xfrm>
            <a:off x="5353812" y="4178808"/>
            <a:ext cx="941832"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starving</a:t>
            </a:r>
            <a:endParaRPr lang="en-US" sz="1050" dirty="0"/>
          </a:p>
        </p:txBody>
      </p:sp>
      <p:sp>
        <p:nvSpPr>
          <p:cNvPr id="30" name="w_44"/>
          <p:cNvSpPr/>
          <p:nvPr/>
        </p:nvSpPr>
        <p:spPr>
          <a:xfrm>
            <a:off x="6368796" y="4178808"/>
            <a:ext cx="864108"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furious</a:t>
            </a:r>
            <a:endParaRPr lang="en-US" sz="1050" dirty="0"/>
          </a:p>
        </p:txBody>
      </p:sp>
      <p:sp>
        <p:nvSpPr>
          <p:cNvPr id="31" name="w_45"/>
          <p:cNvSpPr/>
          <p:nvPr/>
        </p:nvSpPr>
        <p:spPr>
          <a:xfrm>
            <a:off x="7306056" y="4178808"/>
            <a:ext cx="786384"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filthy</a:t>
            </a:r>
            <a:endParaRPr lang="en-US" sz="1050" dirty="0"/>
          </a:p>
        </p:txBody>
      </p:sp>
      <p:sp>
        <p:nvSpPr>
          <p:cNvPr id="32" name="w_46"/>
          <p:cNvSpPr/>
          <p:nvPr/>
        </p:nvSpPr>
        <p:spPr>
          <a:xfrm>
            <a:off x="3246120" y="4544568"/>
            <a:ext cx="1019556"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hilarious</a:t>
            </a:r>
            <a:endParaRPr lang="en-US" sz="1050" dirty="0"/>
          </a:p>
        </p:txBody>
      </p:sp>
      <p:sp>
        <p:nvSpPr>
          <p:cNvPr id="33" name="w_47"/>
          <p:cNvSpPr/>
          <p:nvPr/>
        </p:nvSpPr>
        <p:spPr>
          <a:xfrm>
            <a:off x="4338828" y="4544568"/>
            <a:ext cx="1019556"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terrified</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9"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0"/>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Travel nightmares!</a:t>
            </a:r>
            <a:endParaRPr lang="en-US" sz="2500" dirty="0"/>
          </a:p>
        </p:txBody>
      </p:sp>
      <p:pic>
        <p:nvPicPr>
          <p:cNvPr id="6" name="brP_51"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2"/>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React with a strong adjective. Say why!</a:t>
            </a:r>
            <a:endParaRPr lang="en-US" sz="1250" dirty="0"/>
          </a:p>
        </p:txBody>
      </p:sp>
      <p:sp>
        <p:nvSpPr>
          <p:cNvPr id="8" name="insIT_5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Reagisci con un aggettivo forte. Di' perché!</a:t>
            </a:r>
            <a:endParaRPr lang="en-US" sz="950" dirty="0"/>
          </a:p>
        </p:txBody>
      </p:sp>
      <p:sp>
        <p:nvSpPr>
          <p:cNvPr id="9" name="cmd_54"/>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5"/>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56"/>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5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Warmer · last lesson: strong adjectives   ·   📖 Recycles R1-2 (strong adjectives, 2B audio 2.20) + Files 1–2 tenses</a:t>
            </a:r>
            <a:endParaRPr lang="en-US" sz="800" dirty="0"/>
          </a:p>
        </p:txBody>
      </p:sp>
      <p:sp>
        <p:nvSpPr>
          <p:cNvPr id="14" name="cd_59"/>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1"/>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2"/>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Semibold" pitchFamily="34" charset="0"/>
                <a:ea typeface="Segoe UI Semibold" pitchFamily="34" charset="-122"/>
                <a:cs typeface="Segoe UI Semibold" pitchFamily="34" charset="-120"/>
              </a:rPr>
              <a:t>Read the travel nightmare.</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Leggi l'incubo di viaggio.</a:t>
            </a:r>
            <a:endParaRPr lang="en-US" sz="900" dirty="0"/>
          </a:p>
          <a:p>
            <a:pPr marL="190500" indent="-190500">
              <a:spcBef>
                <a:spcPts val="500"/>
              </a:spcBef>
              <a:spcAft>
                <a:spcPts val="200"/>
              </a:spcAft>
              <a:buSzPct val="100000"/>
              <a:buChar char="2"/>
            </a:pPr>
            <a:r>
              <a:rPr lang="en-US" sz="900" dirty="0">
                <a:solidFill>
                  <a:srgbClr val="1B2559"/>
                </a:solidFill>
                <a:latin typeface="Segoe UI Semibold" pitchFamily="34" charset="0"/>
                <a:ea typeface="Segoe UI Semibold" pitchFamily="34" charset="-122"/>
                <a:cs typeface="Segoe UI Semibold" pitchFamily="34" charset="-120"/>
              </a:rPr>
              <a:t>React: a strong adjective + WHY.</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Reagisci: aggettivo forte + PERCHÉ.</a:t>
            </a:r>
            <a:endParaRPr lang="en-US" sz="900" dirty="0"/>
          </a:p>
          <a:p>
            <a:pPr marL="190500" indent="-190500">
              <a:spcBef>
                <a:spcPts val="500"/>
              </a:spcBef>
              <a:spcAft>
                <a:spcPts val="200"/>
              </a:spcAft>
              <a:buSzPct val="100000"/>
              <a:buChar char="3"/>
            </a:pPr>
            <a:r>
              <a:rPr lang="en-US" sz="900" dirty="0">
                <a:solidFill>
                  <a:srgbClr val="1B2559"/>
                </a:solidFill>
                <a:latin typeface="Segoe UI Semibold" pitchFamily="34" charset="0"/>
                <a:ea typeface="Segoe UI Semibold" pitchFamily="34" charset="-122"/>
                <a:cs typeface="Segoe UI Semibold" pitchFamily="34" charset="-120"/>
              </a:rPr>
              <a:t>Strong adjective = 1 point. Good reason = +1.</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Aggettivo forte = 1 punto. Buon motivo = +1.</a:t>
            </a:r>
            <a:endParaRPr lang="en-US" sz="900" dirty="0"/>
          </a:p>
        </p:txBody>
      </p:sp>
      <p:sp>
        <p:nvSpPr>
          <p:cNvPr id="18" name="pf_63"/>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4" descr="/home/claude/lls-course/v2/cache/2b2_worst_trip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5"/>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6"/>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 walked 15 km to the station.</a:t>
            </a:r>
            <a:endParaRPr lang="en-US" sz="1100" dirty="0"/>
          </a:p>
        </p:txBody>
      </p:sp>
      <p:sp>
        <p:nvSpPr>
          <p:cNvPr id="22" name="R1_chip67"/>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exhausted! I've been walking for hours.</a:t>
            </a:r>
            <a:endParaRPr lang="en-US" sz="1100" dirty="0"/>
          </a:p>
        </p:txBody>
      </p:sp>
      <p:sp>
        <p:nvSpPr>
          <p:cNvPr id="23" name="bd_68"/>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69"/>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bus has no heating. It's –2°C.</a:t>
            </a:r>
            <a:endParaRPr lang="en-US" sz="1100" dirty="0"/>
          </a:p>
        </p:txBody>
      </p:sp>
      <p:sp>
        <p:nvSpPr>
          <p:cNvPr id="25" name="R2_chip70"/>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It's freezing! I'm going to wear two coats.</a:t>
            </a:r>
            <a:endParaRPr lang="en-US" sz="1100" dirty="0"/>
          </a:p>
        </p:txBody>
      </p:sp>
      <p:sp>
        <p:nvSpPr>
          <p:cNvPr id="26" name="bd_71"/>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2"/>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Your train is 3 hours late. No food!</a:t>
            </a:r>
            <a:endParaRPr lang="en-US" sz="1100" dirty="0"/>
          </a:p>
        </p:txBody>
      </p:sp>
      <p:sp>
        <p:nvSpPr>
          <p:cNvPr id="28" name="R3_chip73"/>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starving! I haven't eaten all day.</a:t>
            </a:r>
            <a:endParaRPr lang="en-US" sz="1100" dirty="0"/>
          </a:p>
        </p:txBody>
      </p:sp>
      <p:sp>
        <p:nvSpPr>
          <p:cNvPr id="29" name="bd_74"/>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5"/>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Your brother took your bike – without asking!</a:t>
            </a:r>
            <a:endParaRPr lang="en-US" sz="1100" dirty="0"/>
          </a:p>
        </p:txBody>
      </p:sp>
      <p:sp>
        <p:nvSpPr>
          <p:cNvPr id="31" name="R4_chip76"/>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furious! He's done it again!</a:t>
            </a:r>
            <a:endParaRPr lang="en-US" sz="1100" dirty="0"/>
          </a:p>
        </p:txBody>
      </p:sp>
      <p:sp>
        <p:nvSpPr>
          <p:cNvPr id="32" name="bd_77"/>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8"/>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seats on the old bus are really dirty.</a:t>
            </a:r>
            <a:endParaRPr lang="en-US" sz="1100" dirty="0"/>
          </a:p>
        </p:txBody>
      </p:sp>
      <p:sp>
        <p:nvSpPr>
          <p:cNvPr id="34" name="R5_chip79"/>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They're filthy! I'm not going to sit down.</a:t>
            </a:r>
            <a:endParaRPr lang="en-US" sz="1100" dirty="0"/>
          </a:p>
        </p:txBody>
      </p:sp>
      <p:sp>
        <p:nvSpPr>
          <p:cNvPr id="35" name="bd_80"/>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81"/>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Your friend fell asleep on the bus and woke up in Catania!</a:t>
            </a:r>
            <a:endParaRPr lang="en-US" sz="1100" dirty="0"/>
          </a:p>
        </p:txBody>
      </p:sp>
      <p:sp>
        <p:nvSpPr>
          <p:cNvPr id="37" name="R6_chip82"/>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That's hilarious! / He was terrified!</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4"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85"/>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can you hear?</a:t>
            </a:r>
            <a:endParaRPr lang="en-US" sz="2500" dirty="0"/>
          </a:p>
        </p:txBody>
      </p:sp>
      <p:pic>
        <p:nvPicPr>
          <p:cNvPr id="6" name="brP_86"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87"/>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Close your eyes. Listen. What is it?</a:t>
            </a:r>
            <a:endParaRPr lang="en-US" sz="1250" dirty="0"/>
          </a:p>
        </p:txBody>
      </p:sp>
      <p:sp>
        <p:nvSpPr>
          <p:cNvPr id="8" name="insIT_8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Chiudi gli occhi. Ascolta. Cos'è?</a:t>
            </a:r>
            <a:endParaRPr lang="en-US" sz="950" dirty="0"/>
          </a:p>
        </p:txBody>
      </p:sp>
      <p:sp>
        <p:nvSpPr>
          <p:cNvPr id="9" name="cmd_8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90"/>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9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9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Listening for detail</a:t>
            </a:r>
            <a:endParaRPr lang="en-US" sz="700" dirty="0"/>
          </a:p>
        </p:txBody>
      </p:sp>
      <p:pic>
        <p:nvPicPr>
          <p:cNvPr id="13" name="logo_9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9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Vocabulary · lead-in · sounds   ·   📖 SB p.26 · 1a · audio 3.1</a:t>
            </a:r>
            <a:endParaRPr lang="en-US" sz="800" dirty="0"/>
          </a:p>
        </p:txBody>
      </p:sp>
      <p:sp>
        <p:nvSpPr>
          <p:cNvPr id="15" name="ap_95"/>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  ·  play once</a:t>
            </a:r>
            <a:endParaRPr lang="en-US" sz="1100" dirty="0"/>
          </a:p>
        </p:txBody>
      </p:sp>
      <p:sp>
        <p:nvSpPr>
          <p:cNvPr id="16" name="ah_96"/>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8" name="ah_97"/>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9"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0" name="pf_98"/>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99" descr="/home/claude/lls-course/v2/cache/3a1_busy_street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2" name="cd_100"/>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3" name="ii_101"/>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102"/>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5" name="il_103"/>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6" name="gq_104"/>
          <p:cNvSpPr/>
          <p:nvPr/>
        </p:nvSpPr>
        <p:spPr>
          <a:xfrm>
            <a:off x="3383280" y="141732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1  ___</a:t>
            </a:r>
            <a:endParaRPr lang="en-US" sz="1200" dirty="0"/>
          </a:p>
        </p:txBody>
      </p:sp>
      <p:sp>
        <p:nvSpPr>
          <p:cNvPr id="27" name="R1_chip105"/>
          <p:cNvSpPr/>
          <p:nvPr/>
        </p:nvSpPr>
        <p:spPr>
          <a:xfrm>
            <a:off x="6812280" y="14173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train</a:t>
            </a:r>
            <a:endParaRPr lang="en-US" sz="1200" dirty="0"/>
          </a:p>
        </p:txBody>
      </p:sp>
      <p:sp>
        <p:nvSpPr>
          <p:cNvPr id="28" name="gq_106"/>
          <p:cNvSpPr/>
          <p:nvPr/>
        </p:nvSpPr>
        <p:spPr>
          <a:xfrm>
            <a:off x="3383280" y="182880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2  ___</a:t>
            </a:r>
            <a:endParaRPr lang="en-US" sz="1200" dirty="0"/>
          </a:p>
        </p:txBody>
      </p:sp>
      <p:sp>
        <p:nvSpPr>
          <p:cNvPr id="29" name="R2_chip107"/>
          <p:cNvSpPr/>
          <p:nvPr/>
        </p:nvSpPr>
        <p:spPr>
          <a:xfrm>
            <a:off x="6812280" y="18288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car</a:t>
            </a:r>
            <a:endParaRPr lang="en-US" sz="1200" dirty="0"/>
          </a:p>
        </p:txBody>
      </p:sp>
      <p:sp>
        <p:nvSpPr>
          <p:cNvPr id="30" name="gq_108"/>
          <p:cNvSpPr/>
          <p:nvPr/>
        </p:nvSpPr>
        <p:spPr>
          <a:xfrm>
            <a:off x="3383280" y="224028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3  ___</a:t>
            </a:r>
            <a:endParaRPr lang="en-US" sz="1200" dirty="0"/>
          </a:p>
        </p:txBody>
      </p:sp>
      <p:sp>
        <p:nvSpPr>
          <p:cNvPr id="31" name="R3_chip109"/>
          <p:cNvSpPr/>
          <p:nvPr/>
        </p:nvSpPr>
        <p:spPr>
          <a:xfrm>
            <a:off x="6812280" y="22402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bike</a:t>
            </a:r>
            <a:endParaRPr lang="en-US" sz="1200" dirty="0"/>
          </a:p>
        </p:txBody>
      </p:sp>
      <p:sp>
        <p:nvSpPr>
          <p:cNvPr id="32" name="gq_110"/>
          <p:cNvSpPr/>
          <p:nvPr/>
        </p:nvSpPr>
        <p:spPr>
          <a:xfrm>
            <a:off x="3383280" y="265176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4  ___</a:t>
            </a:r>
            <a:endParaRPr lang="en-US" sz="1200" dirty="0"/>
          </a:p>
        </p:txBody>
      </p:sp>
      <p:sp>
        <p:nvSpPr>
          <p:cNvPr id="33" name="R4_chip111"/>
          <p:cNvSpPr/>
          <p:nvPr/>
        </p:nvSpPr>
        <p:spPr>
          <a:xfrm>
            <a:off x="6812280" y="265176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motorbike</a:t>
            </a:r>
            <a:endParaRPr lang="en-US" sz="1200" dirty="0"/>
          </a:p>
        </p:txBody>
      </p:sp>
      <p:sp>
        <p:nvSpPr>
          <p:cNvPr id="34" name="gq_112"/>
          <p:cNvSpPr/>
          <p:nvPr/>
        </p:nvSpPr>
        <p:spPr>
          <a:xfrm>
            <a:off x="3383280" y="306324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5  ___</a:t>
            </a:r>
            <a:endParaRPr lang="en-US" sz="1200" dirty="0"/>
          </a:p>
        </p:txBody>
      </p:sp>
      <p:sp>
        <p:nvSpPr>
          <p:cNvPr id="35" name="R5_chip113"/>
          <p:cNvSpPr/>
          <p:nvPr/>
        </p:nvSpPr>
        <p:spPr>
          <a:xfrm>
            <a:off x="6812280" y="306324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lorry</a:t>
            </a:r>
            <a:endParaRPr lang="en-US" sz="1200" dirty="0"/>
          </a:p>
        </p:txBody>
      </p:sp>
      <p:sp>
        <p:nvSpPr>
          <p:cNvPr id="36" name="gq_114"/>
          <p:cNvSpPr/>
          <p:nvPr/>
        </p:nvSpPr>
        <p:spPr>
          <a:xfrm>
            <a:off x="3383280" y="347472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6  ___</a:t>
            </a:r>
            <a:endParaRPr lang="en-US" sz="1200" dirty="0"/>
          </a:p>
        </p:txBody>
      </p:sp>
      <p:sp>
        <p:nvSpPr>
          <p:cNvPr id="37" name="R6_chip115"/>
          <p:cNvSpPr/>
          <p:nvPr/>
        </p:nvSpPr>
        <p:spPr>
          <a:xfrm>
            <a:off x="6812280" y="34747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the Underground</a:t>
            </a:r>
            <a:endParaRPr lang="en-US" sz="1200" dirty="0"/>
          </a:p>
        </p:txBody>
      </p:sp>
      <p:sp>
        <p:nvSpPr>
          <p:cNvPr id="38" name="gq_116"/>
          <p:cNvSpPr/>
          <p:nvPr/>
        </p:nvSpPr>
        <p:spPr>
          <a:xfrm>
            <a:off x="3383280" y="388620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7  ___</a:t>
            </a:r>
            <a:endParaRPr lang="en-US" sz="1200" dirty="0"/>
          </a:p>
        </p:txBody>
      </p:sp>
      <p:sp>
        <p:nvSpPr>
          <p:cNvPr id="39" name="R7_chip117"/>
          <p:cNvSpPr/>
          <p:nvPr/>
        </p:nvSpPr>
        <p:spPr>
          <a:xfrm>
            <a:off x="6812280" y="38862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scooter</a:t>
            </a:r>
            <a:endParaRPr lang="en-US" sz="1200" dirty="0"/>
          </a:p>
        </p:txBody>
      </p:sp>
      <p:sp>
        <p:nvSpPr>
          <p:cNvPr id="40" name="gq_118"/>
          <p:cNvSpPr/>
          <p:nvPr/>
        </p:nvSpPr>
        <p:spPr>
          <a:xfrm>
            <a:off x="3383280" y="429768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8  ___</a:t>
            </a:r>
            <a:endParaRPr lang="en-US" sz="1200" dirty="0"/>
          </a:p>
        </p:txBody>
      </p:sp>
      <p:sp>
        <p:nvSpPr>
          <p:cNvPr id="41" name="R8_chip119"/>
          <p:cNvSpPr/>
          <p:nvPr/>
        </p:nvSpPr>
        <p:spPr>
          <a:xfrm>
            <a:off x="6812280" y="42976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bus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4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7"/>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7"/>
                                        </p:tgtEl>
                                      </p:cBhvr>
                                    </p:cmd>
                                  </p:childTnLst>
                                </p:cTn>
                              </p:par>
                            </p:childTnLst>
                          </p:cTn>
                        </p:par>
                      </p:childTnLst>
                    </p:cTn>
                  </p:par>
                </p:childTnLst>
              </p:cTn>
              <p:nextCondLst>
                <p:cond evt="onClick" delay="0">
                  <p:tgtEl>
                    <p:spTgt spid="17"/>
                  </p:tgtEl>
                </p:cond>
              </p:nextCondLst>
            </p:seq>
            <p:seq concurrent="1" nextAc="seek">
              <p:cTn id="48" restart="whenNotActive" fill="hold" evtFilter="cancelBubble" nodeType="interactiveSeq">
                <p:stCondLst>
                  <p:cond evt="onClick" delay="0">
                    <p:tgtEl>
                      <p:spTgt spid="19"/>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9"/>
                                        </p:tgtEl>
                                      </p:cBhvr>
                                    </p:cmd>
                                  </p:childTnLst>
                                </p:cTn>
                              </p:par>
                            </p:childTnLst>
                          </p:cTn>
                        </p:par>
                      </p:childTnLst>
                    </p:cTn>
                  </p:par>
                </p:childTnLst>
              </p:cTn>
              <p:nextCondLst>
                <p:cond evt="onClick" delay="0">
                  <p:tgtEl>
                    <p:spTgt spid="19"/>
                  </p:tgtEl>
                </p:cond>
              </p:nextCondLst>
            </p:seq>
            <p:audio>
              <p:cMediaNode vol="80000">
                <p:cTn id="53" fill="hold" display="0">
                  <p:stCondLst>
                    <p:cond delay="indefinite"/>
                  </p:stCondLst>
                  <p:endCondLst>
                    <p:cond evt="onStopAudio" delay="0">
                      <p:tgtEl>
                        <p:sldTgt/>
                      </p:tgtEl>
                    </p:cond>
                  </p:endCondLst>
                </p:cTn>
                <p:tgtEl>
                  <p:spTgt spid="17"/>
                </p:tgtEl>
              </p:cMediaNode>
            </p:audio>
            <p:audio>
              <p:cMediaNode vol="80000">
                <p:cTn id="54" fill="hold" display="0">
                  <p:stCondLst>
                    <p:cond delay="indefinite"/>
                  </p:stCondLst>
                  <p:endCondLst>
                    <p:cond evt="onStopAudio" delay="0">
                      <p:tgtEl>
                        <p:sldTgt/>
                      </p:tgtEl>
                    </p:cond>
                  </p:endCondLst>
                </p:cTn>
                <p:tgtEl>
                  <p:spTgt spid="1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1"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122"/>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Vehicles: what's the word?</a:t>
            </a:r>
            <a:endParaRPr lang="en-US" sz="2500" dirty="0"/>
          </a:p>
        </p:txBody>
      </p:sp>
      <p:pic>
        <p:nvPicPr>
          <p:cNvPr id="6" name="brP_123" descr="/home/claude/lls-course/v2/assets/brush-pink.png">    </p:cNvPr>
          <p:cNvPicPr>
            <a:picLocks noChangeAspect="1"/>
          </p:cNvPicPr>
          <p:nvPr/>
        </p:nvPicPr>
        <p:blipFill>
          <a:blip r:embed="rId3"/>
          <a:stretch>
            <a:fillRect/>
          </a:stretch>
        </p:blipFill>
        <p:spPr>
          <a:xfrm>
            <a:off x="1207008" y="731520"/>
            <a:ext cx="3163824" cy="402336"/>
          </a:xfrm>
          <a:prstGeom prst="rect">
            <a:avLst/>
          </a:prstGeom>
        </p:spPr>
      </p:pic>
      <p:sp>
        <p:nvSpPr>
          <p:cNvPr id="7" name="ins_124"/>
          <p:cNvSpPr/>
          <p:nvPr/>
        </p:nvSpPr>
        <p:spPr>
          <a:xfrm>
            <a:off x="1353312" y="731520"/>
            <a:ext cx="290779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clue. Say the word!</a:t>
            </a:r>
            <a:endParaRPr lang="en-US" sz="1250" dirty="0"/>
          </a:p>
        </p:txBody>
      </p:sp>
      <p:sp>
        <p:nvSpPr>
          <p:cNvPr id="8" name="insIT_12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l'indizio. Di' la parola!</a:t>
            </a:r>
            <a:endParaRPr lang="en-US" sz="950" dirty="0"/>
          </a:p>
        </p:txBody>
      </p:sp>
      <p:sp>
        <p:nvSpPr>
          <p:cNvPr id="9" name="cmd_12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cmd_127"/>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128"/>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29"/>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3" name="logo_13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3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Vocabulary · vehicles   ·   📖 Vocabulary Bank Transport p.155 · 1 Public transport and vehicles · audio 3.2</a:t>
            </a:r>
            <a:endParaRPr lang="en-US" sz="800" dirty="0"/>
          </a:p>
        </p:txBody>
      </p:sp>
      <p:sp>
        <p:nvSpPr>
          <p:cNvPr id="15" name="cd_132"/>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13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13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135"/>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something that carries people or things → a vehicle /ˈviːəkl/</a:t>
            </a:r>
            <a:endParaRPr lang="en-US" sz="1050" dirty="0"/>
          </a:p>
        </p:txBody>
      </p:sp>
      <p:sp>
        <p:nvSpPr>
          <p:cNvPr id="19" name="pf_136"/>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37" descr="/home/claude/lls-course/v2/cache/3a1_platform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138"/>
          <p:cNvSpPr/>
          <p:nvPr/>
        </p:nvSpPr>
        <p:spPr>
          <a:xfrm>
            <a:off x="3246120" y="142189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139"/>
          <p:cNvSpPr/>
          <p:nvPr/>
        </p:nvSpPr>
        <p:spPr>
          <a:xfrm>
            <a:off x="3630168" y="1417320"/>
            <a:ext cx="2103120" cy="320040"/>
          </a:xfrm>
          <a:prstGeom prst="roundRect">
            <a:avLst>
              <a:gd name="adj" fmla="val 2857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bus between cities</a:t>
            </a:r>
            <a:endParaRPr lang="en-US" sz="1150" dirty="0"/>
          </a:p>
        </p:txBody>
      </p:sp>
      <p:sp>
        <p:nvSpPr>
          <p:cNvPr id="23" name="R1_chip140"/>
          <p:cNvSpPr/>
          <p:nvPr/>
        </p:nvSpPr>
        <p:spPr>
          <a:xfrm>
            <a:off x="5806440" y="141732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coach</a:t>
            </a:r>
            <a:endParaRPr lang="en-US" sz="1000" dirty="0"/>
          </a:p>
        </p:txBody>
      </p:sp>
      <p:sp>
        <p:nvSpPr>
          <p:cNvPr id="24" name="bd_141"/>
          <p:cNvSpPr/>
          <p:nvPr/>
        </p:nvSpPr>
        <p:spPr>
          <a:xfrm>
            <a:off x="3246120" y="178765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142"/>
          <p:cNvSpPr/>
          <p:nvPr/>
        </p:nvSpPr>
        <p:spPr>
          <a:xfrm>
            <a:off x="3630168" y="1783080"/>
            <a:ext cx="2103120" cy="320040"/>
          </a:xfrm>
          <a:prstGeom prst="roundRect">
            <a:avLst>
              <a:gd name="adj" fmla="val 28571"/>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a very big vehicle for things</a:t>
            </a:r>
            <a:endParaRPr lang="en-US" sz="1000" dirty="0"/>
          </a:p>
        </p:txBody>
      </p:sp>
      <p:sp>
        <p:nvSpPr>
          <p:cNvPr id="26" name="R2_chip143"/>
          <p:cNvSpPr/>
          <p:nvPr/>
        </p:nvSpPr>
        <p:spPr>
          <a:xfrm>
            <a:off x="5806440" y="178308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lorry</a:t>
            </a:r>
            <a:endParaRPr lang="en-US" sz="1000" dirty="0"/>
          </a:p>
        </p:txBody>
      </p:sp>
      <p:sp>
        <p:nvSpPr>
          <p:cNvPr id="27" name="bd_144"/>
          <p:cNvSpPr/>
          <p:nvPr/>
        </p:nvSpPr>
        <p:spPr>
          <a:xfrm>
            <a:off x="3246120" y="21534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145"/>
          <p:cNvSpPr/>
          <p:nvPr/>
        </p:nvSpPr>
        <p:spPr>
          <a:xfrm>
            <a:off x="3630168" y="2148840"/>
            <a:ext cx="2103120" cy="320040"/>
          </a:xfrm>
          <a:prstGeom prst="roundRect">
            <a:avLst>
              <a:gd name="adj" fmla="val 28571"/>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a small lorry for deliveries</a:t>
            </a:r>
            <a:endParaRPr lang="en-US" sz="1050" dirty="0"/>
          </a:p>
        </p:txBody>
      </p:sp>
      <p:sp>
        <p:nvSpPr>
          <p:cNvPr id="29" name="R3_chip146"/>
          <p:cNvSpPr/>
          <p:nvPr/>
        </p:nvSpPr>
        <p:spPr>
          <a:xfrm>
            <a:off x="5806440" y="214884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van</a:t>
            </a:r>
            <a:endParaRPr lang="en-US" sz="1000" dirty="0"/>
          </a:p>
        </p:txBody>
      </p:sp>
      <p:sp>
        <p:nvSpPr>
          <p:cNvPr id="30" name="bd_147"/>
          <p:cNvSpPr/>
          <p:nvPr/>
        </p:nvSpPr>
        <p:spPr>
          <a:xfrm>
            <a:off x="3246120" y="251917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148"/>
          <p:cNvSpPr/>
          <p:nvPr/>
        </p:nvSpPr>
        <p:spPr>
          <a:xfrm>
            <a:off x="3630168" y="2514600"/>
            <a:ext cx="2103120" cy="320040"/>
          </a:xfrm>
          <a:prstGeom prst="roundRect">
            <a:avLst>
              <a:gd name="adj" fmla="val 28571"/>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small motorbike</a:t>
            </a:r>
            <a:endParaRPr lang="en-US" sz="1150" dirty="0"/>
          </a:p>
        </p:txBody>
      </p:sp>
      <p:sp>
        <p:nvSpPr>
          <p:cNvPr id="32" name="R4_chip149"/>
          <p:cNvSpPr/>
          <p:nvPr/>
        </p:nvSpPr>
        <p:spPr>
          <a:xfrm>
            <a:off x="5806440" y="251460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scooter</a:t>
            </a:r>
            <a:endParaRPr lang="en-US" sz="1000" dirty="0"/>
          </a:p>
        </p:txBody>
      </p:sp>
      <p:sp>
        <p:nvSpPr>
          <p:cNvPr id="33" name="bd_150"/>
          <p:cNvSpPr/>
          <p:nvPr/>
        </p:nvSpPr>
        <p:spPr>
          <a:xfrm>
            <a:off x="3246120" y="288493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151"/>
          <p:cNvSpPr/>
          <p:nvPr/>
        </p:nvSpPr>
        <p:spPr>
          <a:xfrm>
            <a:off x="3630168" y="2880360"/>
            <a:ext cx="2103120" cy="320040"/>
          </a:xfrm>
          <a:prstGeom prst="roundRect">
            <a:avLst>
              <a:gd name="adj" fmla="val 2857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a boat for people and cars</a:t>
            </a:r>
            <a:endParaRPr lang="en-US" sz="1050" dirty="0"/>
          </a:p>
        </p:txBody>
      </p:sp>
      <p:sp>
        <p:nvSpPr>
          <p:cNvPr id="35" name="R5_chip152"/>
          <p:cNvSpPr/>
          <p:nvPr/>
        </p:nvSpPr>
        <p:spPr>
          <a:xfrm>
            <a:off x="5806440" y="288036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ferry</a:t>
            </a:r>
            <a:endParaRPr lang="en-US" sz="1000" dirty="0"/>
          </a:p>
        </p:txBody>
      </p:sp>
      <p:sp>
        <p:nvSpPr>
          <p:cNvPr id="36" name="bd_153"/>
          <p:cNvSpPr/>
          <p:nvPr/>
        </p:nvSpPr>
        <p:spPr>
          <a:xfrm>
            <a:off x="3246120" y="32506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7" name="q_154"/>
          <p:cNvSpPr/>
          <p:nvPr/>
        </p:nvSpPr>
        <p:spPr>
          <a:xfrm>
            <a:off x="3630168" y="3246120"/>
            <a:ext cx="2103120" cy="320040"/>
          </a:xfrm>
          <a:prstGeom prst="roundRect">
            <a:avLst>
              <a:gd name="adj" fmla="val 28571"/>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train in city streets</a:t>
            </a:r>
            <a:endParaRPr lang="en-US" sz="1150" dirty="0"/>
          </a:p>
        </p:txBody>
      </p:sp>
      <p:sp>
        <p:nvSpPr>
          <p:cNvPr id="38" name="R6_chip155"/>
          <p:cNvSpPr/>
          <p:nvPr/>
        </p:nvSpPr>
        <p:spPr>
          <a:xfrm>
            <a:off x="5806440" y="324612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tram</a:t>
            </a:r>
            <a:endParaRPr lang="en-US" sz="1000" dirty="0"/>
          </a:p>
        </p:txBody>
      </p:sp>
      <p:sp>
        <p:nvSpPr>
          <p:cNvPr id="39" name="bd_156"/>
          <p:cNvSpPr/>
          <p:nvPr/>
        </p:nvSpPr>
        <p:spPr>
          <a:xfrm>
            <a:off x="3246120" y="361645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40" name="q_157"/>
          <p:cNvSpPr/>
          <p:nvPr/>
        </p:nvSpPr>
        <p:spPr>
          <a:xfrm>
            <a:off x="3630168" y="3611880"/>
            <a:ext cx="2103120" cy="320040"/>
          </a:xfrm>
          <a:prstGeom prst="roundRect">
            <a:avLst>
              <a:gd name="adj" fmla="val 28571"/>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trains under London</a:t>
            </a:r>
            <a:endParaRPr lang="en-US" sz="1150" dirty="0"/>
          </a:p>
        </p:txBody>
      </p:sp>
      <p:sp>
        <p:nvSpPr>
          <p:cNvPr id="41" name="R7_chip158"/>
          <p:cNvSpPr/>
          <p:nvPr/>
        </p:nvSpPr>
        <p:spPr>
          <a:xfrm>
            <a:off x="5806440" y="361188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Underground (the Tube)</a:t>
            </a:r>
            <a:endParaRPr lang="en-US" sz="1000" dirty="0"/>
          </a:p>
        </p:txBody>
      </p:sp>
      <p:sp>
        <p:nvSpPr>
          <p:cNvPr id="42" name="bd_159"/>
          <p:cNvSpPr/>
          <p:nvPr/>
        </p:nvSpPr>
        <p:spPr>
          <a:xfrm>
            <a:off x="3246120" y="398221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3" name="q_160"/>
          <p:cNvSpPr/>
          <p:nvPr/>
        </p:nvSpPr>
        <p:spPr>
          <a:xfrm>
            <a:off x="3630168" y="3977640"/>
            <a:ext cx="2103120" cy="320040"/>
          </a:xfrm>
          <a:prstGeom prst="roundRect">
            <a:avLst>
              <a:gd name="adj" fmla="val 28571"/>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big, fast road</a:t>
            </a:r>
            <a:endParaRPr lang="en-US" sz="1150" dirty="0"/>
          </a:p>
        </p:txBody>
      </p:sp>
      <p:sp>
        <p:nvSpPr>
          <p:cNvPr id="44" name="R8_chip161"/>
          <p:cNvSpPr/>
          <p:nvPr/>
        </p:nvSpPr>
        <p:spPr>
          <a:xfrm>
            <a:off x="5806440" y="397764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motorway</a:t>
            </a:r>
            <a:endParaRPr lang="en-US" sz="1000" dirty="0"/>
          </a:p>
        </p:txBody>
      </p:sp>
      <p:sp>
        <p:nvSpPr>
          <p:cNvPr id="45" name="bd_162"/>
          <p:cNvSpPr/>
          <p:nvPr/>
        </p:nvSpPr>
        <p:spPr>
          <a:xfrm>
            <a:off x="3246120" y="43479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9</a:t>
            </a:r>
            <a:endParaRPr lang="en-US" sz="1000" dirty="0"/>
          </a:p>
        </p:txBody>
      </p:sp>
      <p:sp>
        <p:nvSpPr>
          <p:cNvPr id="46" name="q_163"/>
          <p:cNvSpPr/>
          <p:nvPr/>
        </p:nvSpPr>
        <p:spPr>
          <a:xfrm>
            <a:off x="3630168" y="4343400"/>
            <a:ext cx="2103120" cy="320040"/>
          </a:xfrm>
          <a:prstGeom prst="roundRect">
            <a:avLst>
              <a:gd name="adj" fmla="val 2857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bike with an engine</a:t>
            </a:r>
            <a:endParaRPr lang="en-US" sz="1150" dirty="0"/>
          </a:p>
        </p:txBody>
      </p:sp>
      <p:sp>
        <p:nvSpPr>
          <p:cNvPr id="47" name="R9_chip164"/>
          <p:cNvSpPr/>
          <p:nvPr/>
        </p:nvSpPr>
        <p:spPr>
          <a:xfrm>
            <a:off x="5806440" y="4343400"/>
            <a:ext cx="3063240" cy="320040"/>
          </a:xfrm>
          <a:prstGeom prst="roundRect">
            <a:avLst>
              <a:gd name="adj" fmla="val 28571"/>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motorbike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4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66"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167"/>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On the road: the other half</a:t>
            </a:r>
            <a:endParaRPr lang="en-US" sz="2500" dirty="0"/>
          </a:p>
        </p:txBody>
      </p:sp>
      <p:pic>
        <p:nvPicPr>
          <p:cNvPr id="6" name="brP_168"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169"/>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first word. Find the other half!</a:t>
            </a:r>
            <a:endParaRPr lang="en-US" sz="1250" dirty="0"/>
          </a:p>
        </p:txBody>
      </p:sp>
      <p:sp>
        <p:nvSpPr>
          <p:cNvPr id="8" name="insIT_17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la prima parola. Trova l'altra metà!</a:t>
            </a:r>
            <a:endParaRPr lang="en-US" sz="950" dirty="0"/>
          </a:p>
        </p:txBody>
      </p:sp>
      <p:sp>
        <p:nvSpPr>
          <p:cNvPr id="9" name="cmd_171"/>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cmd_172"/>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173"/>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174"/>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3" name="logo_17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7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Vocabulary · on the road   ·   📖 Vocabulary Bank Transport p.155 · 2 On the road · audio 3.3</a:t>
            </a:r>
            <a:endParaRPr lang="en-US" sz="800" dirty="0"/>
          </a:p>
        </p:txBody>
      </p:sp>
      <p:sp>
        <p:nvSpPr>
          <p:cNvPr id="15" name="cd_177"/>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17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17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180"/>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traffic ___ → traffic jam · traffic lights</a:t>
            </a:r>
            <a:endParaRPr lang="en-US" sz="1050" dirty="0"/>
          </a:p>
        </p:txBody>
      </p:sp>
      <p:sp>
        <p:nvSpPr>
          <p:cNvPr id="19" name="pf_181"/>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82" descr="/home/claude/lls-course/v2/cache/3a1_junction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183"/>
          <p:cNvSpPr/>
          <p:nvPr/>
        </p:nvSpPr>
        <p:spPr>
          <a:xfrm>
            <a:off x="3246120" y="14447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184"/>
          <p:cNvSpPr/>
          <p:nvPr/>
        </p:nvSpPr>
        <p:spPr>
          <a:xfrm>
            <a:off x="3630168" y="141732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car ___</a:t>
            </a:r>
            <a:endParaRPr lang="en-US" sz="1150" dirty="0"/>
          </a:p>
        </p:txBody>
      </p:sp>
      <p:sp>
        <p:nvSpPr>
          <p:cNvPr id="23" name="R1_chip185"/>
          <p:cNvSpPr/>
          <p:nvPr/>
        </p:nvSpPr>
        <p:spPr>
          <a:xfrm>
            <a:off x="5806440" y="14173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car crash</a:t>
            </a:r>
            <a:endParaRPr lang="en-US" sz="1000" dirty="0"/>
          </a:p>
        </p:txBody>
      </p:sp>
      <p:sp>
        <p:nvSpPr>
          <p:cNvPr id="24" name="bd_186"/>
          <p:cNvSpPr/>
          <p:nvPr/>
        </p:nvSpPr>
        <p:spPr>
          <a:xfrm>
            <a:off x="3246120" y="185623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187"/>
          <p:cNvSpPr/>
          <p:nvPr/>
        </p:nvSpPr>
        <p:spPr>
          <a:xfrm>
            <a:off x="3630168" y="182880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cycle ___</a:t>
            </a:r>
            <a:endParaRPr lang="en-US" sz="1150" dirty="0"/>
          </a:p>
        </p:txBody>
      </p:sp>
      <p:sp>
        <p:nvSpPr>
          <p:cNvPr id="26" name="R2_chip188"/>
          <p:cNvSpPr/>
          <p:nvPr/>
        </p:nvSpPr>
        <p:spPr>
          <a:xfrm>
            <a:off x="5806440" y="18288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cycle lane</a:t>
            </a:r>
            <a:endParaRPr lang="en-US" sz="1000" dirty="0"/>
          </a:p>
        </p:txBody>
      </p:sp>
      <p:sp>
        <p:nvSpPr>
          <p:cNvPr id="27" name="bd_189"/>
          <p:cNvSpPr/>
          <p:nvPr/>
        </p:nvSpPr>
        <p:spPr>
          <a:xfrm>
            <a:off x="3246120" y="22677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190"/>
          <p:cNvSpPr/>
          <p:nvPr/>
        </p:nvSpPr>
        <p:spPr>
          <a:xfrm>
            <a:off x="3630168" y="224028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parking ___</a:t>
            </a:r>
            <a:endParaRPr lang="en-US" sz="1150" dirty="0"/>
          </a:p>
        </p:txBody>
      </p:sp>
      <p:sp>
        <p:nvSpPr>
          <p:cNvPr id="29" name="R3_chip191"/>
          <p:cNvSpPr/>
          <p:nvPr/>
        </p:nvSpPr>
        <p:spPr>
          <a:xfrm>
            <a:off x="5806440" y="22402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parking fine</a:t>
            </a:r>
            <a:endParaRPr lang="en-US" sz="1000" dirty="0"/>
          </a:p>
        </p:txBody>
      </p:sp>
      <p:sp>
        <p:nvSpPr>
          <p:cNvPr id="30" name="bd_192"/>
          <p:cNvSpPr/>
          <p:nvPr/>
        </p:nvSpPr>
        <p:spPr>
          <a:xfrm>
            <a:off x="3246120" y="267919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193"/>
          <p:cNvSpPr/>
          <p:nvPr/>
        </p:nvSpPr>
        <p:spPr>
          <a:xfrm>
            <a:off x="3630168" y="265176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pedestrian ___</a:t>
            </a:r>
            <a:endParaRPr lang="en-US" sz="1150" dirty="0"/>
          </a:p>
        </p:txBody>
      </p:sp>
      <p:sp>
        <p:nvSpPr>
          <p:cNvPr id="32" name="R4_chip194"/>
          <p:cNvSpPr/>
          <p:nvPr/>
        </p:nvSpPr>
        <p:spPr>
          <a:xfrm>
            <a:off x="5806440" y="265176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pedestrian zone</a:t>
            </a:r>
            <a:endParaRPr lang="en-US" sz="1000" dirty="0"/>
          </a:p>
        </p:txBody>
      </p:sp>
      <p:sp>
        <p:nvSpPr>
          <p:cNvPr id="33" name="bd_195"/>
          <p:cNvSpPr/>
          <p:nvPr/>
        </p:nvSpPr>
        <p:spPr>
          <a:xfrm>
            <a:off x="3246120" y="30906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196"/>
          <p:cNvSpPr/>
          <p:nvPr/>
        </p:nvSpPr>
        <p:spPr>
          <a:xfrm>
            <a:off x="3630168" y="306324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petrol ___</a:t>
            </a:r>
            <a:endParaRPr lang="en-US" sz="1150" dirty="0"/>
          </a:p>
        </p:txBody>
      </p:sp>
      <p:sp>
        <p:nvSpPr>
          <p:cNvPr id="35" name="R5_chip197"/>
          <p:cNvSpPr/>
          <p:nvPr/>
        </p:nvSpPr>
        <p:spPr>
          <a:xfrm>
            <a:off x="5806440" y="306324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petrol station</a:t>
            </a:r>
            <a:endParaRPr lang="en-US" sz="1000" dirty="0"/>
          </a:p>
        </p:txBody>
      </p:sp>
      <p:sp>
        <p:nvSpPr>
          <p:cNvPr id="36" name="bd_198"/>
          <p:cNvSpPr/>
          <p:nvPr/>
        </p:nvSpPr>
        <p:spPr>
          <a:xfrm>
            <a:off x="3246120" y="350215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7" name="q_199"/>
          <p:cNvSpPr/>
          <p:nvPr/>
        </p:nvSpPr>
        <p:spPr>
          <a:xfrm>
            <a:off x="3630168" y="347472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rush ___</a:t>
            </a:r>
            <a:endParaRPr lang="en-US" sz="1150" dirty="0"/>
          </a:p>
        </p:txBody>
      </p:sp>
      <p:sp>
        <p:nvSpPr>
          <p:cNvPr id="38" name="R6_chip200"/>
          <p:cNvSpPr/>
          <p:nvPr/>
        </p:nvSpPr>
        <p:spPr>
          <a:xfrm>
            <a:off x="5806440" y="34747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rush hour</a:t>
            </a:r>
            <a:endParaRPr lang="en-US" sz="1000" dirty="0"/>
          </a:p>
        </p:txBody>
      </p:sp>
      <p:sp>
        <p:nvSpPr>
          <p:cNvPr id="39" name="bd_201"/>
          <p:cNvSpPr/>
          <p:nvPr/>
        </p:nvSpPr>
        <p:spPr>
          <a:xfrm>
            <a:off x="3246120" y="391363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40" name="q_202"/>
          <p:cNvSpPr/>
          <p:nvPr/>
        </p:nvSpPr>
        <p:spPr>
          <a:xfrm>
            <a:off x="3630168" y="388620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seat ___</a:t>
            </a:r>
            <a:endParaRPr lang="en-US" sz="1150" dirty="0"/>
          </a:p>
        </p:txBody>
      </p:sp>
      <p:sp>
        <p:nvSpPr>
          <p:cNvPr id="41" name="R7_chip203"/>
          <p:cNvSpPr/>
          <p:nvPr/>
        </p:nvSpPr>
        <p:spPr>
          <a:xfrm>
            <a:off x="5806440" y="38862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seat belt</a:t>
            </a:r>
            <a:endParaRPr lang="en-US" sz="1000" dirty="0"/>
          </a:p>
        </p:txBody>
      </p:sp>
      <p:sp>
        <p:nvSpPr>
          <p:cNvPr id="42" name="bd_204"/>
          <p:cNvSpPr/>
          <p:nvPr/>
        </p:nvSpPr>
        <p:spPr>
          <a:xfrm>
            <a:off x="3246120" y="432511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3" name="q_205"/>
          <p:cNvSpPr/>
          <p:nvPr/>
        </p:nvSpPr>
        <p:spPr>
          <a:xfrm>
            <a:off x="3630168" y="429768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speed ___ (2!)</a:t>
            </a:r>
            <a:endParaRPr lang="en-US" sz="1150" dirty="0"/>
          </a:p>
        </p:txBody>
      </p:sp>
      <p:sp>
        <p:nvSpPr>
          <p:cNvPr id="44" name="R8_chip206"/>
          <p:cNvSpPr/>
          <p:nvPr/>
        </p:nvSpPr>
        <p:spPr>
          <a:xfrm>
            <a:off x="5806440" y="42976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speed camera · speed limit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7"/>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08"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209"/>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Transport words in Italian</a:t>
            </a:r>
            <a:endParaRPr lang="en-US" sz="2500" dirty="0"/>
          </a:p>
        </p:txBody>
      </p:sp>
      <p:pic>
        <p:nvPicPr>
          <p:cNvPr id="6" name="brP_210"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211"/>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21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italiano. Poi clicca!</a:t>
            </a:r>
            <a:endParaRPr lang="en-US" sz="950" dirty="0"/>
          </a:p>
        </p:txBody>
      </p:sp>
      <p:sp>
        <p:nvSpPr>
          <p:cNvPr id="9" name="cmd_213"/>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21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1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TPRS · meaning</a:t>
            </a:r>
            <a:endParaRPr lang="en-US" sz="700" dirty="0"/>
          </a:p>
        </p:txBody>
      </p:sp>
      <p:pic>
        <p:nvPicPr>
          <p:cNvPr id="12" name="logo_21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1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Vocabulary · in Italian</a:t>
            </a:r>
            <a:endParaRPr lang="en-US" sz="800" dirty="0"/>
          </a:p>
        </p:txBody>
      </p:sp>
      <p:sp>
        <p:nvSpPr>
          <p:cNvPr id="14" name="cd_218"/>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219"/>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220"/>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coach</a:t>
            </a:r>
            <a:endParaRPr lang="en-US" sz="1200" dirty="0"/>
          </a:p>
        </p:txBody>
      </p:sp>
      <p:sp>
        <p:nvSpPr>
          <p:cNvPr id="17" name="R1_it221"/>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pullman (tra città)</a:t>
            </a:r>
            <a:endParaRPr lang="en-US" sz="1000" dirty="0"/>
          </a:p>
        </p:txBody>
      </p:sp>
      <p:sp>
        <p:nvSpPr>
          <p:cNvPr id="18" name="cd_222"/>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223"/>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224"/>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lorry</a:t>
            </a:r>
            <a:endParaRPr lang="en-US" sz="1200" dirty="0"/>
          </a:p>
        </p:txBody>
      </p:sp>
      <p:sp>
        <p:nvSpPr>
          <p:cNvPr id="21" name="R2_it225"/>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camion</a:t>
            </a:r>
            <a:endParaRPr lang="en-US" sz="1000" dirty="0"/>
          </a:p>
        </p:txBody>
      </p:sp>
      <p:sp>
        <p:nvSpPr>
          <p:cNvPr id="22" name="cd_226"/>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227"/>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228"/>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van</a:t>
            </a:r>
            <a:endParaRPr lang="en-US" sz="1200" dirty="0"/>
          </a:p>
        </p:txBody>
      </p:sp>
      <p:sp>
        <p:nvSpPr>
          <p:cNvPr id="25" name="R3_it229"/>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furgone</a:t>
            </a:r>
            <a:endParaRPr lang="en-US" sz="1000" dirty="0"/>
          </a:p>
        </p:txBody>
      </p:sp>
      <p:sp>
        <p:nvSpPr>
          <p:cNvPr id="26" name="cd_230"/>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231"/>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232"/>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ferry</a:t>
            </a:r>
            <a:endParaRPr lang="en-US" sz="1200" dirty="0"/>
          </a:p>
        </p:txBody>
      </p:sp>
      <p:sp>
        <p:nvSpPr>
          <p:cNvPr id="29" name="R4_it233"/>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traghetto</a:t>
            </a:r>
            <a:endParaRPr lang="en-US" sz="1000" dirty="0"/>
          </a:p>
        </p:txBody>
      </p:sp>
      <p:sp>
        <p:nvSpPr>
          <p:cNvPr id="30" name="cd_234"/>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235"/>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236"/>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motorway</a:t>
            </a:r>
            <a:endParaRPr lang="en-US" sz="1200" dirty="0"/>
          </a:p>
        </p:txBody>
      </p:sp>
      <p:sp>
        <p:nvSpPr>
          <p:cNvPr id="33" name="R5_it237"/>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autostrada</a:t>
            </a:r>
            <a:endParaRPr lang="en-US" sz="1000" dirty="0"/>
          </a:p>
        </p:txBody>
      </p:sp>
      <p:sp>
        <p:nvSpPr>
          <p:cNvPr id="34" name="cd_238"/>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239"/>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240"/>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the Underground</a:t>
            </a:r>
            <a:endParaRPr lang="en-US" sz="1200" dirty="0"/>
          </a:p>
        </p:txBody>
      </p:sp>
      <p:sp>
        <p:nvSpPr>
          <p:cNvPr id="37" name="R6_it241"/>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la metropolitana</a:t>
            </a:r>
            <a:endParaRPr lang="en-US" sz="1000" dirty="0"/>
          </a:p>
        </p:txBody>
      </p:sp>
      <p:sp>
        <p:nvSpPr>
          <p:cNvPr id="38" name="cd_242"/>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243"/>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244"/>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traffic jam</a:t>
            </a:r>
            <a:endParaRPr lang="en-US" sz="1200" dirty="0"/>
          </a:p>
        </p:txBody>
      </p:sp>
      <p:sp>
        <p:nvSpPr>
          <p:cNvPr id="41" name="R7_it245"/>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ingorgo, traffico</a:t>
            </a:r>
            <a:endParaRPr lang="en-US" sz="1000" dirty="0"/>
          </a:p>
        </p:txBody>
      </p:sp>
      <p:sp>
        <p:nvSpPr>
          <p:cNvPr id="42" name="cd_246"/>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247"/>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248"/>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traffic lights</a:t>
            </a:r>
            <a:endParaRPr lang="en-US" sz="1200" dirty="0"/>
          </a:p>
        </p:txBody>
      </p:sp>
      <p:sp>
        <p:nvSpPr>
          <p:cNvPr id="45" name="R8_it249"/>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semaforo</a:t>
            </a:r>
            <a:endParaRPr lang="en-US" sz="1000" dirty="0"/>
          </a:p>
        </p:txBody>
      </p:sp>
      <p:sp>
        <p:nvSpPr>
          <p:cNvPr id="46" name="cd_250"/>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251"/>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252"/>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zebra crossing</a:t>
            </a:r>
            <a:endParaRPr lang="en-US" sz="1200" dirty="0"/>
          </a:p>
        </p:txBody>
      </p:sp>
      <p:sp>
        <p:nvSpPr>
          <p:cNvPr id="49" name="R9_it253"/>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strisce pedonali</a:t>
            </a:r>
            <a:endParaRPr lang="en-US" sz="1000" dirty="0"/>
          </a:p>
        </p:txBody>
      </p:sp>
      <p:sp>
        <p:nvSpPr>
          <p:cNvPr id="50" name="cd_254"/>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255"/>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256"/>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roadworks</a:t>
            </a:r>
            <a:endParaRPr lang="en-US" sz="1200" dirty="0"/>
          </a:p>
        </p:txBody>
      </p:sp>
      <p:sp>
        <p:nvSpPr>
          <p:cNvPr id="53" name="R10_it257"/>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lavori stradali</a:t>
            </a:r>
            <a:endParaRPr lang="en-US" sz="1000" dirty="0"/>
          </a:p>
        </p:txBody>
      </p:sp>
      <p:sp>
        <p:nvSpPr>
          <p:cNvPr id="54" name="cd_258"/>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259"/>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260"/>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taxi rank</a:t>
            </a:r>
            <a:endParaRPr lang="en-US" sz="1200" dirty="0"/>
          </a:p>
        </p:txBody>
      </p:sp>
      <p:sp>
        <p:nvSpPr>
          <p:cNvPr id="57" name="R11_it261"/>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posteggio dei taxi</a:t>
            </a:r>
            <a:endParaRPr lang="en-US" sz="1000" dirty="0"/>
          </a:p>
        </p:txBody>
      </p:sp>
      <p:sp>
        <p:nvSpPr>
          <p:cNvPr id="58" name="cd_262"/>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263"/>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264"/>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speed camera</a:t>
            </a:r>
            <a:endParaRPr lang="en-US" sz="1200" dirty="0"/>
          </a:p>
        </p:txBody>
      </p:sp>
      <p:sp>
        <p:nvSpPr>
          <p:cNvPr id="61" name="R12_it265"/>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autovelox</a:t>
            </a:r>
            <a:endParaRPr lang="en-US" sz="1000" dirty="0"/>
          </a:p>
        </p:txBody>
      </p:sp>
      <p:sp>
        <p:nvSpPr>
          <p:cNvPr id="62" name="R13_wc266"/>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3_w267"/>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coach ≠ bus in town  ·  roadworks = always plural  ·  stress the FIRST word: TRAFfic jam, SEAT belt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400"/>
                                        <p:tgtEl>
                                          <p:spTgt spid="62"/>
                                        </p:tgtEl>
                                      </p:cBhvr>
                                    </p:animEffect>
                                  </p:childTnLst>
                                </p:cTn>
                              </p:par>
                              <p:par>
                                <p:cTn id="68" presetID="10"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69"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270"/>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Describe it… or mime it!</a:t>
            </a:r>
            <a:endParaRPr lang="en-US" sz="2500" dirty="0"/>
          </a:p>
        </p:txBody>
      </p:sp>
      <p:pic>
        <p:nvPicPr>
          <p:cNvPr id="6" name="brP_271"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272"/>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or mime it. Don't say it!</a:t>
            </a:r>
            <a:endParaRPr lang="en-US" sz="1250" dirty="0"/>
          </a:p>
        </p:txBody>
      </p:sp>
      <p:sp>
        <p:nvSpPr>
          <p:cNvPr id="8" name="insIT_27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Spiegalo o mimalo. Non dirlo!</a:t>
            </a:r>
            <a:endParaRPr lang="en-US" sz="950" dirty="0"/>
          </a:p>
        </p:txBody>
      </p:sp>
      <p:sp>
        <p:nvSpPr>
          <p:cNvPr id="9" name="cmd_274"/>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275"/>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276"/>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27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Vocabulary game</a:t>
            </a:r>
            <a:endParaRPr lang="en-US" sz="800" dirty="0"/>
          </a:p>
        </p:txBody>
      </p:sp>
      <p:sp>
        <p:nvSpPr>
          <p:cNvPr id="14" name="cd_279"/>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8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81"/>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282"/>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50" dirty="0">
                <a:solidFill>
                  <a:srgbClr val="1B2559"/>
                </a:solidFill>
                <a:latin typeface="Segoe UI Semibold" pitchFamily="34" charset="0"/>
                <a:ea typeface="Segoe UI Semibold" pitchFamily="34" charset="-122"/>
                <a:cs typeface="Segoe UI Semibold" pitchFamily="34" charset="-120"/>
              </a:rPr>
              <a:t>A looks at the screen. B turns around.</a:t>
            </a:r>
            <a:endParaRPr lang="en-US" sz="950" dirty="0"/>
          </a:p>
          <a:p>
            <a:pPr marL="190500" indent="-1905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A guarda lo schermo. B si gira.</a:t>
            </a:r>
            <a:endParaRPr lang="en-US" sz="950" dirty="0"/>
          </a:p>
          <a:p>
            <a:pPr marL="190500" indent="-190500">
              <a:spcBef>
                <a:spcPts val="500"/>
              </a:spcBef>
              <a:spcAft>
                <a:spcPts val="200"/>
              </a:spcAft>
              <a:buSzPct val="100000"/>
              <a:buChar char="2"/>
            </a:pPr>
            <a:r>
              <a:rPr lang="en-US" sz="950" dirty="0">
                <a:solidFill>
                  <a:srgbClr val="1B2559"/>
                </a:solidFill>
                <a:latin typeface="Segoe UI Semibold" pitchFamily="34" charset="0"/>
                <a:ea typeface="Segoe UI Semibold" pitchFamily="34" charset="-122"/>
                <a:cs typeface="Segoe UI Semibold" pitchFamily="34" charset="-120"/>
              </a:rPr>
              <a:t>A explains, mimes or makes the sound. No part of the word!</a:t>
            </a:r>
            <a:endParaRPr lang="en-US" sz="950" dirty="0"/>
          </a:p>
          <a:p>
            <a:pPr marL="190500" indent="-1905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A spiega, mima o fa il suono. Nessuna parte della parola!</a:t>
            </a:r>
            <a:endParaRPr lang="en-US" sz="950" dirty="0"/>
          </a:p>
          <a:p>
            <a:pPr marL="190500" indent="-190500">
              <a:spcBef>
                <a:spcPts val="500"/>
              </a:spcBef>
              <a:spcAft>
                <a:spcPts val="200"/>
              </a:spcAft>
              <a:buSzPct val="100000"/>
              <a:buChar char="3"/>
            </a:pPr>
            <a:r>
              <a:rPr lang="en-US" sz="950" dirty="0">
                <a:solidFill>
                  <a:srgbClr val="1B2559"/>
                </a:solidFill>
                <a:latin typeface="Segoe UI Semibold" pitchFamily="34" charset="0"/>
                <a:ea typeface="Segoe UI Semibold" pitchFamily="34" charset="-122"/>
                <a:cs typeface="Segoe UI Semibold" pitchFamily="34" charset="-120"/>
              </a:rPr>
              <a:t>B guesses. Then swap.</a:t>
            </a:r>
            <a:endParaRPr lang="en-US" sz="950" dirty="0"/>
          </a:p>
          <a:p>
            <a:pPr marL="190500" indent="-1905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B indovina. Poi scambiatevi.</a:t>
            </a:r>
            <a:endParaRPr lang="en-US" sz="950" dirty="0"/>
          </a:p>
        </p:txBody>
      </p:sp>
      <p:sp>
        <p:nvSpPr>
          <p:cNvPr id="18" name="pf_283"/>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284" descr="/home/claude/lls-course/v2/cache/3a1_run_out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rl_285"/>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explains</a:t>
            </a:r>
            <a:endParaRPr lang="en-US" sz="1100" dirty="0"/>
          </a:p>
        </p:txBody>
      </p:sp>
      <p:sp>
        <p:nvSpPr>
          <p:cNvPr id="21" name="R1_w286"/>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traffic jam</a:t>
            </a:r>
            <a:endParaRPr lang="en-US" sz="1700" dirty="0"/>
          </a:p>
        </p:txBody>
      </p:sp>
      <p:sp>
        <p:nvSpPr>
          <p:cNvPr id="22" name="R3_w287"/>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seat belt</a:t>
            </a:r>
            <a:endParaRPr lang="en-US" sz="1700" dirty="0"/>
          </a:p>
        </p:txBody>
      </p:sp>
      <p:sp>
        <p:nvSpPr>
          <p:cNvPr id="23" name="R5_w288"/>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ferry</a:t>
            </a:r>
            <a:endParaRPr lang="en-US" sz="1700" dirty="0"/>
          </a:p>
        </p:txBody>
      </p:sp>
      <p:sp>
        <p:nvSpPr>
          <p:cNvPr id="24" name="R7_w289"/>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zebra crossing</a:t>
            </a:r>
            <a:endParaRPr lang="en-US" sz="1700" dirty="0"/>
          </a:p>
        </p:txBody>
      </p:sp>
      <p:sp>
        <p:nvSpPr>
          <p:cNvPr id="25" name="rl_290"/>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explains</a:t>
            </a:r>
            <a:endParaRPr lang="en-US" sz="1100" dirty="0"/>
          </a:p>
        </p:txBody>
      </p:sp>
      <p:sp>
        <p:nvSpPr>
          <p:cNvPr id="26" name="R2_w291"/>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speed camera</a:t>
            </a:r>
            <a:endParaRPr lang="en-US" sz="1700" dirty="0"/>
          </a:p>
        </p:txBody>
      </p:sp>
      <p:sp>
        <p:nvSpPr>
          <p:cNvPr id="27" name="R4_w292"/>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scooter</a:t>
            </a:r>
            <a:endParaRPr lang="en-US" sz="1700" dirty="0"/>
          </a:p>
        </p:txBody>
      </p:sp>
      <p:sp>
        <p:nvSpPr>
          <p:cNvPr id="28" name="R6_w293"/>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petrol station</a:t>
            </a:r>
            <a:endParaRPr lang="en-US" sz="1700" dirty="0"/>
          </a:p>
        </p:txBody>
      </p:sp>
      <p:sp>
        <p:nvSpPr>
          <p:cNvPr id="29" name="R8_w294"/>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rush hour</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96"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97"/>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long does it take?</a:t>
            </a:r>
            <a:endParaRPr lang="en-US" sz="2500" dirty="0"/>
          </a:p>
        </p:txBody>
      </p:sp>
      <p:pic>
        <p:nvPicPr>
          <p:cNvPr id="6" name="brP_298"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299"/>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Ask and answer. Use: It takes me…</a:t>
            </a:r>
            <a:endParaRPr lang="en-US" sz="1250" dirty="0"/>
          </a:p>
        </p:txBody>
      </p:sp>
      <p:sp>
        <p:nvSpPr>
          <p:cNvPr id="8" name="insIT_30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Chiedi e rispondi. Usa: It takes me…</a:t>
            </a:r>
            <a:endParaRPr lang="en-US" sz="950" dirty="0"/>
          </a:p>
        </p:txBody>
      </p:sp>
      <p:sp>
        <p:nvSpPr>
          <p:cNvPr id="9" name="cmd_301"/>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302"/>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03"/>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30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0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Speaking · How long does it take?   ·   📖 Vocabulary Bank p.155 · 3 How long does it take? · SB p.26 · 1c</a:t>
            </a:r>
            <a:endParaRPr lang="en-US" sz="800" dirty="0"/>
          </a:p>
        </p:txBody>
      </p:sp>
      <p:sp>
        <p:nvSpPr>
          <p:cNvPr id="14" name="pf_30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307" descr="/home/claude/lls-course/v2/cache/spare_work_commute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30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30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1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31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How long does it take you?</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It takes me about 20 minutes.</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by bus · by car · on foot</a:t>
            </a:r>
            <a:endParaRPr lang="en-US" sz="1050" dirty="0"/>
          </a:p>
        </p:txBody>
      </p:sp>
      <p:sp>
        <p:nvSpPr>
          <p:cNvPr id="20" name="R1_qb31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313"/>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How do you get to school or work? How long does it take?</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I go by scooter. It takes me about ten minutes.</a:t>
            </a:r>
            <a:endParaRPr lang="en-US" sz="1200" dirty="0"/>
          </a:p>
        </p:txBody>
      </p:sp>
      <p:sp>
        <p:nvSpPr>
          <p:cNvPr id="22" name="R2_qb314"/>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315"/>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How long does it take to get to Palermo – by train? By car in the rush hour?</a:t>
            </a:r>
            <a:endParaRPr lang="en-US" sz="95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e.g. By train it's quick, but by car in the rush hour it can take an hour!</a:t>
            </a:r>
            <a:endParaRPr lang="en-US" sz="950" dirty="0"/>
          </a:p>
        </p:txBody>
      </p:sp>
      <p:sp>
        <p:nvSpPr>
          <p:cNvPr id="24" name="R3_qb316"/>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317"/>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Have you ever been in a terrible traffic jam? Where?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Yes, on the motorway to Catania. I was furious!</a:t>
            </a:r>
            <a:endParaRPr lang="en-US" sz="1250" dirty="0"/>
          </a:p>
        </p:txBody>
      </p:sp>
      <p:sp>
        <p:nvSpPr>
          <p:cNvPr id="26" name="R4_qb318"/>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319"/>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Do you always wear a seat belt? And a helmet on a scooter?</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Always! My dad's really strict about it.</a:t>
            </a:r>
            <a:endParaRPr lang="en-US" sz="1200" dirty="0"/>
          </a:p>
        </p:txBody>
      </p:sp>
      <p:sp>
        <p:nvSpPr>
          <p:cNvPr id="28" name="R5_qb320"/>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321"/>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Are there cycle lanes in Bagheria? Would you use one?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Not many. I'd use one to go to the beach in summer.</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2"/>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23"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324"/>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Set off, pick up, look out!</a:t>
            </a:r>
            <a:endParaRPr lang="en-US" sz="2500" dirty="0"/>
          </a:p>
        </p:txBody>
      </p:sp>
      <p:pic>
        <p:nvPicPr>
          <p:cNvPr id="6" name="brP_325"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326"/>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with ONE small word. Then listen.</a:t>
            </a:r>
            <a:endParaRPr lang="en-US" sz="1250" dirty="0"/>
          </a:p>
        </p:txBody>
      </p:sp>
      <p:sp>
        <p:nvSpPr>
          <p:cNvPr id="8" name="insIT_32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Completa con UNA parolina. Poi ascolta.</a:t>
            </a:r>
            <a:endParaRPr lang="en-US" sz="950" dirty="0"/>
          </a:p>
        </p:txBody>
      </p:sp>
      <p:sp>
        <p:nvSpPr>
          <p:cNvPr id="9" name="cmd_328"/>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329"/>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330"/>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331"/>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Listening for detail</a:t>
            </a:r>
            <a:endParaRPr lang="en-US" sz="700" dirty="0"/>
          </a:p>
        </p:txBody>
      </p:sp>
      <p:pic>
        <p:nvPicPr>
          <p:cNvPr id="13" name="logo_33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3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Vocabulary · phrasal verbs   ·   📖 Vocabulary Bank Transport p.155 · 4 Phrasal verbs · audio 3.4</a:t>
            </a:r>
            <a:endParaRPr lang="en-US" sz="800" dirty="0"/>
          </a:p>
        </p:txBody>
      </p:sp>
      <p:sp>
        <p:nvSpPr>
          <p:cNvPr id="15" name="ap_334"/>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3.4  ·  pause after each one</a:t>
            </a:r>
            <a:endParaRPr lang="en-US" sz="1100" dirty="0"/>
          </a:p>
        </p:txBody>
      </p:sp>
      <p:sp>
        <p:nvSpPr>
          <p:cNvPr id="16" name="ah_335"/>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8" name="ah_336"/>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9"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0" name="pf_337"/>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338" descr="/home/claude/lls-course/v2/cache/3a1_pick_up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2" name="cd_339"/>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3" name="ii_340"/>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341"/>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5" name="il_342"/>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6" name="gq_343"/>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We set ___ at 7.00 to avoid the traffic.</a:t>
            </a:r>
            <a:endParaRPr lang="en-US" sz="1200" dirty="0"/>
          </a:p>
        </p:txBody>
      </p:sp>
      <p:sp>
        <p:nvSpPr>
          <p:cNvPr id="27" name="R1_chip344"/>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off</a:t>
            </a:r>
            <a:endParaRPr lang="en-US" sz="1200" dirty="0"/>
          </a:p>
        </p:txBody>
      </p:sp>
      <p:sp>
        <p:nvSpPr>
          <p:cNvPr id="28" name="gq_345"/>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Could you pick me ___ at the station?</a:t>
            </a:r>
            <a:endParaRPr lang="en-US" sz="1200" dirty="0"/>
          </a:p>
        </p:txBody>
      </p:sp>
      <p:sp>
        <p:nvSpPr>
          <p:cNvPr id="29" name="R2_chip346"/>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up</a:t>
            </a:r>
            <a:endParaRPr lang="en-US" sz="1200" dirty="0"/>
          </a:p>
        </p:txBody>
      </p:sp>
      <p:sp>
        <p:nvSpPr>
          <p:cNvPr id="30" name="gq_347"/>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Check your satnav or you may end ___ in the wrong place.</a:t>
            </a:r>
            <a:endParaRPr lang="en-US" sz="1200" dirty="0"/>
          </a:p>
        </p:txBody>
      </p:sp>
      <p:sp>
        <p:nvSpPr>
          <p:cNvPr id="31" name="R3_chip348"/>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up</a:t>
            </a:r>
            <a:endParaRPr lang="en-US" sz="1200" dirty="0"/>
          </a:p>
        </p:txBody>
      </p:sp>
      <p:sp>
        <p:nvSpPr>
          <p:cNvPr id="32" name="gq_349"/>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We're going to run ___ ___ petrol soon.</a:t>
            </a:r>
            <a:endParaRPr lang="en-US" sz="1200" dirty="0"/>
          </a:p>
        </p:txBody>
      </p:sp>
      <p:sp>
        <p:nvSpPr>
          <p:cNvPr id="33" name="R4_chip350"/>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out of</a:t>
            </a:r>
            <a:endParaRPr lang="en-US" sz="1200" dirty="0"/>
          </a:p>
        </p:txBody>
      </p:sp>
      <p:sp>
        <p:nvSpPr>
          <p:cNvPr id="34" name="gq_351"/>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Look ___! You're going to crash!</a:t>
            </a:r>
            <a:endParaRPr lang="en-US" sz="1200" dirty="0"/>
          </a:p>
        </p:txBody>
      </p:sp>
      <p:sp>
        <p:nvSpPr>
          <p:cNvPr id="35" name="R5_chip352"/>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out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seq concurrent="1" nextAc="seek">
              <p:cTn id="33" restart="whenNotActive" fill="hold" evtFilter="cancelBubble" nodeType="interactiveSeq">
                <p:stCondLst>
                  <p:cond evt="onClick" delay="0">
                    <p:tgtEl>
                      <p:spTgt spid="19"/>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9"/>
                                        </p:tgtEl>
                                      </p:cBhvr>
                                    </p:cmd>
                                  </p:childTnLst>
                                </p:cTn>
                              </p:par>
                            </p:childTnLst>
                          </p:cTn>
                        </p:par>
                      </p:childTnLst>
                    </p:cTn>
                  </p:par>
                </p:childTnLst>
              </p:cTn>
              <p:nextCondLst>
                <p:cond evt="onClick" delay="0">
                  <p:tgtEl>
                    <p:spTgt spid="19"/>
                  </p:tgtEl>
                </p:cond>
              </p:nextCondLst>
            </p:seq>
            <p:audio>
              <p:cMediaNode vol="80000">
                <p:cTn id="38" fill="hold" display="0">
                  <p:stCondLst>
                    <p:cond delay="indefinite"/>
                  </p:stCondLst>
                  <p:endCondLst>
                    <p:cond evt="onStopAudio" delay="0">
                      <p:tgtEl>
                        <p:sldTgt/>
                      </p:tgtEl>
                    </p:cond>
                  </p:endCondLst>
                </p:cTn>
                <p:tgtEl>
                  <p:spTgt spid="17"/>
                </p:tgtEl>
              </p:cMediaNode>
            </p:audio>
            <p:audio>
              <p:cMediaNode vol="80000">
                <p:cTn id="39" fill="hold" display="0">
                  <p:stCondLst>
                    <p:cond delay="indefinite"/>
                  </p:stCondLst>
                  <p:endCondLst>
                    <p:cond evt="onStopAudio" delay="0">
                      <p:tgtEl>
                        <p:sldTgt/>
                      </p:tgtEl>
                    </p:cond>
                  </p:endCondLst>
                </p:cTn>
                <p:tgtEl>
                  <p:spTgt spid="19"/>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3"/>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54"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355"/>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Nonno Totò's trip to Palermo</a:t>
            </a:r>
            <a:endParaRPr lang="en-US" sz="2500" dirty="0"/>
          </a:p>
        </p:txBody>
      </p:sp>
      <p:pic>
        <p:nvPicPr>
          <p:cNvPr id="6" name="brP_356"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357"/>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35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storia. Rispondi alle domande!</a:t>
            </a:r>
            <a:endParaRPr lang="en-US" sz="950" dirty="0"/>
          </a:p>
        </p:txBody>
      </p:sp>
      <p:sp>
        <p:nvSpPr>
          <p:cNvPr id="9" name="cmd_35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60"/>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36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2" name="tag_36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story</a:t>
            </a:r>
            <a:endParaRPr lang="en-US" sz="850" dirty="0"/>
          </a:p>
        </p:txBody>
      </p:sp>
      <p:pic>
        <p:nvPicPr>
          <p:cNvPr id="13" name="logo_36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6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Speaking · class story (TPRS)</a:t>
            </a:r>
            <a:endParaRPr lang="en-US" sz="800" dirty="0"/>
          </a:p>
        </p:txBody>
      </p:sp>
      <p:sp>
        <p:nvSpPr>
          <p:cNvPr id="15" name="cd_365"/>
          <p:cNvSpPr/>
          <p:nvPr/>
        </p:nvSpPr>
        <p:spPr>
          <a:xfrm>
            <a:off x="320040" y="1417320"/>
            <a:ext cx="2697480" cy="2852928"/>
          </a:xfrm>
          <a:prstGeom prst="roundRect">
            <a:avLst>
              <a:gd name="adj" fmla="val 4746"/>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36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36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8" name="il_368"/>
          <p:cNvSpPr/>
          <p:nvPr/>
        </p:nvSpPr>
        <p:spPr>
          <a:xfrm>
            <a:off x="886968" y="1892808"/>
            <a:ext cx="2039112" cy="230428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set off</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partire</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the rush hour</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l'ora di punta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get stuck in a traffic jam</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rimanere bloccato nel traffico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run out of petrol</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rimanere senza benzina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pick me up</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passarmi a prendere</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end up</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finire (per caso)</a:t>
            </a:r>
            <a:endParaRPr lang="en-US" sz="1000" dirty="0"/>
          </a:p>
        </p:txBody>
      </p:sp>
      <p:sp>
        <p:nvSpPr>
          <p:cNvPr id="19" name="R1_sb369"/>
          <p:cNvSpPr/>
          <p:nvPr/>
        </p:nvSpPr>
        <p:spPr>
          <a:xfrm>
            <a:off x="3200400" y="145389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R1_sl370"/>
          <p:cNvSpPr/>
          <p:nvPr/>
        </p:nvSpPr>
        <p:spPr>
          <a:xfrm>
            <a:off x="3584448" y="141732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Nonno Totò </a:t>
            </a:r>
            <a:pPr indent="0" marL="0">
              <a:buNone/>
            </a:pPr>
            <a:r>
              <a:rPr lang="en-US" sz="1200" b="1" dirty="0">
                <a:solidFill>
                  <a:srgbClr val="7B5CD6"/>
                </a:solidFill>
                <a:highlight>
                  <a:srgbClr val="FFF1A8"/>
                </a:highlight>
                <a:latin typeface="Segoe UI Semibold" pitchFamily="34" charset="0"/>
                <a:ea typeface="Segoe UI Semibold" pitchFamily="34" charset="-122"/>
                <a:cs typeface="Segoe UI Semibold" pitchFamily="34" charset="-120"/>
              </a:rPr>
              <a:t>sets off</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 for Palermo at 8 a.m. – in the </a:t>
            </a:r>
            <a:pPr indent="0" marL="0">
              <a:buNone/>
            </a:pPr>
            <a:r>
              <a:rPr lang="en-US" sz="1200" b="1" dirty="0">
                <a:solidFill>
                  <a:srgbClr val="7B5CD6"/>
                </a:solidFill>
                <a:highlight>
                  <a:srgbClr val="FFF1A8"/>
                </a:highlight>
                <a:latin typeface="Segoe UI Semibold" pitchFamily="34" charset="0"/>
                <a:ea typeface="Segoe UI Semibold" pitchFamily="34" charset="-122"/>
                <a:cs typeface="Segoe UI Semibold" pitchFamily="34" charset="-120"/>
              </a:rPr>
              <a:t>rush hour</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t>
            </a:r>
            <a:endParaRPr lang="en-US" sz="12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 Does he set off at 8 or at 10? · Where's he going? · Why? (you decide!)</a:t>
            </a:r>
            <a:endParaRPr lang="en-US" sz="1200" dirty="0"/>
          </a:p>
        </p:txBody>
      </p:sp>
      <p:sp>
        <p:nvSpPr>
          <p:cNvPr id="21" name="R2_sb371"/>
          <p:cNvSpPr/>
          <p:nvPr/>
        </p:nvSpPr>
        <p:spPr>
          <a:xfrm>
            <a:off x="3200400" y="201777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R2_sl372"/>
          <p:cNvSpPr/>
          <p:nvPr/>
        </p:nvSpPr>
        <p:spPr>
          <a:xfrm>
            <a:off x="3584448" y="198120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On the motorway there's a huge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traffic jam</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He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gets stuck</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for an hour.</a:t>
            </a:r>
            <a:endParaRPr lang="en-US" sz="105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Is there a traffic jam or roadworks? · How long is he stuck?</a:t>
            </a:r>
            <a:endParaRPr lang="en-US" sz="1050" dirty="0"/>
          </a:p>
        </p:txBody>
      </p:sp>
      <p:sp>
        <p:nvSpPr>
          <p:cNvPr id="23" name="R3_sb373"/>
          <p:cNvSpPr/>
          <p:nvPr/>
        </p:nvSpPr>
        <p:spPr>
          <a:xfrm>
            <a:off x="3200400" y="2581656"/>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R3_sl374"/>
          <p:cNvSpPr/>
          <p:nvPr/>
        </p:nvSpPr>
        <p:spPr>
          <a:xfrm>
            <a:off x="3584448" y="2545080"/>
            <a:ext cx="5303520" cy="499872"/>
          </a:xfrm>
          <a:prstGeom prst="roundRect">
            <a:avLst>
              <a:gd name="adj" fmla="val 21951"/>
            </a:avLst>
          </a:prstGeom>
          <a:solidFill>
            <a:srgbClr val="FFFFFF"/>
          </a:solidFill>
          <a:ln w="19050">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Then his old Fiat </a:t>
            </a:r>
            <a:pPr indent="0" marL="0">
              <a:buNone/>
            </a:pPr>
            <a:r>
              <a:rPr lang="en-US" sz="1100" b="1" dirty="0">
                <a:solidFill>
                  <a:srgbClr val="7B5CD6"/>
                </a:solidFill>
                <a:highlight>
                  <a:srgbClr val="FFF1A8"/>
                </a:highlight>
                <a:latin typeface="Segoe UI Semibold" pitchFamily="34" charset="0"/>
                <a:ea typeface="Segoe UI Semibold" pitchFamily="34" charset="-122"/>
                <a:cs typeface="Segoe UI Semibold" pitchFamily="34" charset="-120"/>
              </a:rPr>
              <a:t>runs out of petrol</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 There's no </a:t>
            </a:r>
            <a:pPr indent="0" marL="0">
              <a:buNone/>
            </a:pPr>
            <a:r>
              <a:rPr lang="en-US" sz="1100" b="1" dirty="0">
                <a:solidFill>
                  <a:srgbClr val="7B5CD6"/>
                </a:solidFill>
                <a:highlight>
                  <a:srgbClr val="FFF1A8"/>
                </a:highlight>
                <a:latin typeface="Segoe UI Semibold" pitchFamily="34" charset="0"/>
                <a:ea typeface="Segoe UI Semibold" pitchFamily="34" charset="-122"/>
                <a:cs typeface="Segoe UI Semibold" pitchFamily="34" charset="-120"/>
              </a:rPr>
              <a:t>petrol station</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 near.</a:t>
            </a:r>
            <a:endParaRPr lang="en-US" sz="11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Does the car run out of petrol or water? · Is there a petrol station?</a:t>
            </a:r>
            <a:endParaRPr lang="en-US" sz="1100" dirty="0"/>
          </a:p>
        </p:txBody>
      </p:sp>
      <p:sp>
        <p:nvSpPr>
          <p:cNvPr id="25" name="R4_sb375"/>
          <p:cNvSpPr/>
          <p:nvPr/>
        </p:nvSpPr>
        <p:spPr>
          <a:xfrm>
            <a:off x="3200400" y="3145536"/>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R4_sl376"/>
          <p:cNvSpPr/>
          <p:nvPr/>
        </p:nvSpPr>
        <p:spPr>
          <a:xfrm>
            <a:off x="3584448" y="3108960"/>
            <a:ext cx="5303520" cy="499872"/>
          </a:xfrm>
          <a:prstGeom prst="roundRect">
            <a:avLst>
              <a:gd name="adj" fmla="val 21951"/>
            </a:avLst>
          </a:prstGeom>
          <a:solidFill>
            <a:srgbClr val="FFFFFF"/>
          </a:solidFill>
          <a:ln w="19050">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He phones his grandson: 'Can you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pick me up</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 'Sorry, Nonno, I'm at work!'</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Who does he phone? · Can the grandson pick him up?</a:t>
            </a:r>
            <a:endParaRPr lang="en-US" sz="950" dirty="0"/>
          </a:p>
        </p:txBody>
      </p:sp>
      <p:sp>
        <p:nvSpPr>
          <p:cNvPr id="27" name="R5_sb377"/>
          <p:cNvSpPr/>
          <p:nvPr/>
        </p:nvSpPr>
        <p:spPr>
          <a:xfrm>
            <a:off x="3200400" y="370941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R5_sl378"/>
          <p:cNvSpPr/>
          <p:nvPr/>
        </p:nvSpPr>
        <p:spPr>
          <a:xfrm>
            <a:off x="3584448" y="367284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 Nonno gets on a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coach</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but it's the wrong coach!</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Does he get on a coach or a train? · Is it the right coach?</a:t>
            </a:r>
            <a:endParaRPr lang="en-US" sz="1250" dirty="0"/>
          </a:p>
        </p:txBody>
      </p:sp>
      <p:sp>
        <p:nvSpPr>
          <p:cNvPr id="29" name="R6_sb379"/>
          <p:cNvSpPr/>
          <p:nvPr/>
        </p:nvSpPr>
        <p:spPr>
          <a:xfrm>
            <a:off x="3200400" y="427329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R6_sl380"/>
          <p:cNvSpPr/>
          <p:nvPr/>
        </p:nvSpPr>
        <p:spPr>
          <a:xfrm>
            <a:off x="3584448" y="423672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He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ends up</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in Catania. 'Never mind,' he says, and eats an arancino.</a:t>
            </a:r>
            <a:endParaRPr lang="en-US" sz="105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Where does he end up? · And you – what's the worst journey you've had?</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00"/>
                                        <p:tgtEl>
                                          <p:spTgt spid="27"/>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400"/>
                                        <p:tgtEl>
                                          <p:spTgt spid="29"/>
                                        </p:tgtEl>
                                      </p:cBhvr>
                                    </p:animEffect>
                                  </p:childTnLst>
                                </p:cTn>
                              </p:par>
                              <p:par>
                                <p:cTn id="48" presetID="10" presetClass="entr" presetSubtype="0" fill="hold"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1"/>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82"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383"/>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Shower, jazz or chess?</a:t>
            </a:r>
            <a:endParaRPr lang="en-US" sz="2500" dirty="0"/>
          </a:p>
        </p:txBody>
      </p:sp>
      <p:pic>
        <p:nvPicPr>
          <p:cNvPr id="6" name="brP_384"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385"/>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word. Shower, jazz or chess?</a:t>
            </a:r>
            <a:endParaRPr lang="en-US" sz="1250" dirty="0"/>
          </a:p>
        </p:txBody>
      </p:sp>
      <p:sp>
        <p:nvSpPr>
          <p:cNvPr id="8" name="insIT_38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la parola. Shower, jazz o chess?</a:t>
            </a:r>
            <a:endParaRPr lang="en-US" sz="950" dirty="0"/>
          </a:p>
        </p:txBody>
      </p:sp>
      <p:sp>
        <p:nvSpPr>
          <p:cNvPr id="9" name="cmd_387"/>
          <p:cNvSpPr/>
          <p:nvPr/>
        </p:nvSpPr>
        <p:spPr>
          <a:xfrm>
            <a:off x="6510528" y="182880"/>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0" name="cmd_388"/>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1" name="meta_389"/>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390"/>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Pronunciation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Guided discovery</a:t>
            </a:r>
            <a:endParaRPr lang="en-US" sz="700" dirty="0"/>
          </a:p>
        </p:txBody>
      </p:sp>
      <p:pic>
        <p:nvPicPr>
          <p:cNvPr id="13" name="logo_39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9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Pronunciation · /ʃ/ /dʒ/ /tʃ/   ·   📖 SB p.26 · 2a, 2b, 2c · audio 3.5, 3.6</a:t>
            </a:r>
            <a:endParaRPr lang="en-US" sz="800" dirty="0"/>
          </a:p>
        </p:txBody>
      </p:sp>
      <p:sp>
        <p:nvSpPr>
          <p:cNvPr id="15" name="cd_393"/>
          <p:cNvSpPr/>
          <p:nvPr/>
        </p:nvSpPr>
        <p:spPr>
          <a:xfrm>
            <a:off x="320040" y="1417320"/>
            <a:ext cx="2697480" cy="1911096"/>
          </a:xfrm>
          <a:prstGeom prst="roundRect">
            <a:avLst>
              <a:gd name="adj" fmla="val 6699"/>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39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395"/>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8" name="il_396"/>
          <p:cNvSpPr/>
          <p:nvPr/>
        </p:nvSpPr>
        <p:spPr>
          <a:xfrm>
            <a:off x="886968" y="1892808"/>
            <a:ext cx="2039112" cy="1362456"/>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9" name="lg_397"/>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shower /ʃ/</a:t>
            </a:r>
            <a:endParaRPr lang="en-US" sz="1050" dirty="0"/>
          </a:p>
        </p:txBody>
      </p:sp>
      <p:sp>
        <p:nvSpPr>
          <p:cNvPr id="20" name="lg_398"/>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jazz /dʒ/</a:t>
            </a:r>
            <a:endParaRPr lang="en-US" sz="1050" dirty="0"/>
          </a:p>
        </p:txBody>
      </p:sp>
      <p:sp>
        <p:nvSpPr>
          <p:cNvPr id="21" name="lg_399"/>
          <p:cNvSpPr/>
          <p:nvPr/>
        </p:nvSpPr>
        <p:spPr>
          <a:xfrm>
            <a:off x="457200"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chess /tʃ/</a:t>
            </a:r>
            <a:endParaRPr lang="en-US" sz="1050" dirty="0"/>
          </a:p>
        </p:txBody>
      </p:sp>
      <p:sp>
        <p:nvSpPr>
          <p:cNvPr id="22" name="sq_400"/>
          <p:cNvSpPr/>
          <p:nvPr/>
        </p:nvSpPr>
        <p:spPr>
          <a:xfrm>
            <a:off x="3246120" y="141732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crash</a:t>
            </a:r>
            <a:endParaRPr lang="en-US" sz="1200" dirty="0"/>
          </a:p>
        </p:txBody>
      </p:sp>
      <p:sp>
        <p:nvSpPr>
          <p:cNvPr id="23" name="R1_tag401"/>
          <p:cNvSpPr/>
          <p:nvPr/>
        </p:nvSpPr>
        <p:spPr>
          <a:xfrm>
            <a:off x="7178040" y="141732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shower /ʃ/</a:t>
            </a:r>
            <a:endParaRPr lang="en-US" sz="1150" dirty="0"/>
          </a:p>
        </p:txBody>
      </p:sp>
      <p:sp>
        <p:nvSpPr>
          <p:cNvPr id="24" name="sq_402"/>
          <p:cNvSpPr/>
          <p:nvPr/>
        </p:nvSpPr>
        <p:spPr>
          <a:xfrm>
            <a:off x="3246120" y="1783080"/>
            <a:ext cx="3840480" cy="301752"/>
          </a:xfrm>
          <a:prstGeom prst="roundRect">
            <a:avLst>
              <a:gd name="adj" fmla="val 3030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bridge</a:t>
            </a:r>
            <a:endParaRPr lang="en-US" sz="1200" dirty="0"/>
          </a:p>
        </p:txBody>
      </p:sp>
      <p:sp>
        <p:nvSpPr>
          <p:cNvPr id="25" name="R2_tag403"/>
          <p:cNvSpPr/>
          <p:nvPr/>
        </p:nvSpPr>
        <p:spPr>
          <a:xfrm>
            <a:off x="7178040" y="178308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jazz /dʒ/</a:t>
            </a:r>
            <a:endParaRPr lang="en-US" sz="1150" dirty="0"/>
          </a:p>
        </p:txBody>
      </p:sp>
      <p:sp>
        <p:nvSpPr>
          <p:cNvPr id="26" name="sq_404"/>
          <p:cNvSpPr/>
          <p:nvPr/>
        </p:nvSpPr>
        <p:spPr>
          <a:xfrm>
            <a:off x="3246120" y="2148840"/>
            <a:ext cx="3840480" cy="301752"/>
          </a:xfrm>
          <a:prstGeom prst="roundRect">
            <a:avLst>
              <a:gd name="adj" fmla="val 3030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catch</a:t>
            </a:r>
            <a:endParaRPr lang="en-US" sz="1200" dirty="0"/>
          </a:p>
        </p:txBody>
      </p:sp>
      <p:sp>
        <p:nvSpPr>
          <p:cNvPr id="27" name="R3_tag405"/>
          <p:cNvSpPr/>
          <p:nvPr/>
        </p:nvSpPr>
        <p:spPr>
          <a:xfrm>
            <a:off x="7178040" y="214884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chess /tʃ/</a:t>
            </a:r>
            <a:endParaRPr lang="en-US" sz="1150" dirty="0"/>
          </a:p>
        </p:txBody>
      </p:sp>
      <p:sp>
        <p:nvSpPr>
          <p:cNvPr id="28" name="sq_406"/>
          <p:cNvSpPr/>
          <p:nvPr/>
        </p:nvSpPr>
        <p:spPr>
          <a:xfrm>
            <a:off x="3246120" y="2514600"/>
            <a:ext cx="3840480" cy="301752"/>
          </a:xfrm>
          <a:prstGeom prst="roundRect">
            <a:avLst>
              <a:gd name="adj" fmla="val 3030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rush</a:t>
            </a:r>
            <a:endParaRPr lang="en-US" sz="1200" dirty="0"/>
          </a:p>
        </p:txBody>
      </p:sp>
      <p:sp>
        <p:nvSpPr>
          <p:cNvPr id="29" name="R4_tag407"/>
          <p:cNvSpPr/>
          <p:nvPr/>
        </p:nvSpPr>
        <p:spPr>
          <a:xfrm>
            <a:off x="7178040" y="251460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shower /ʃ/</a:t>
            </a:r>
            <a:endParaRPr lang="en-US" sz="1150" dirty="0"/>
          </a:p>
        </p:txBody>
      </p:sp>
      <p:sp>
        <p:nvSpPr>
          <p:cNvPr id="30" name="sq_408"/>
          <p:cNvSpPr/>
          <p:nvPr/>
        </p:nvSpPr>
        <p:spPr>
          <a:xfrm>
            <a:off x="3246120" y="288036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journey</a:t>
            </a:r>
            <a:endParaRPr lang="en-US" sz="1200" dirty="0"/>
          </a:p>
        </p:txBody>
      </p:sp>
      <p:sp>
        <p:nvSpPr>
          <p:cNvPr id="31" name="R5_tag409"/>
          <p:cNvSpPr/>
          <p:nvPr/>
        </p:nvSpPr>
        <p:spPr>
          <a:xfrm>
            <a:off x="7178040" y="288036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jazz /dʒ/</a:t>
            </a:r>
            <a:endParaRPr lang="en-US" sz="1150" dirty="0"/>
          </a:p>
        </p:txBody>
      </p:sp>
      <p:sp>
        <p:nvSpPr>
          <p:cNvPr id="32" name="sq_410"/>
          <p:cNvSpPr/>
          <p:nvPr/>
        </p:nvSpPr>
        <p:spPr>
          <a:xfrm>
            <a:off x="3246120" y="3246120"/>
            <a:ext cx="3840480" cy="301752"/>
          </a:xfrm>
          <a:prstGeom prst="roundRect">
            <a:avLst>
              <a:gd name="adj" fmla="val 3030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coach</a:t>
            </a:r>
            <a:endParaRPr lang="en-US" sz="1200" dirty="0"/>
          </a:p>
        </p:txBody>
      </p:sp>
      <p:sp>
        <p:nvSpPr>
          <p:cNvPr id="33" name="R6_tag411"/>
          <p:cNvSpPr/>
          <p:nvPr/>
        </p:nvSpPr>
        <p:spPr>
          <a:xfrm>
            <a:off x="7178040" y="324612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chess /tʃ/</a:t>
            </a:r>
            <a:endParaRPr lang="en-US" sz="1150" dirty="0"/>
          </a:p>
        </p:txBody>
      </p:sp>
      <p:sp>
        <p:nvSpPr>
          <p:cNvPr id="34" name="sq_412"/>
          <p:cNvSpPr/>
          <p:nvPr/>
        </p:nvSpPr>
        <p:spPr>
          <a:xfrm>
            <a:off x="3246120" y="3611880"/>
            <a:ext cx="3840480" cy="301752"/>
          </a:xfrm>
          <a:prstGeom prst="roundRect">
            <a:avLst>
              <a:gd name="adj" fmla="val 3030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station</a:t>
            </a:r>
            <a:endParaRPr lang="en-US" sz="1200" dirty="0"/>
          </a:p>
        </p:txBody>
      </p:sp>
      <p:sp>
        <p:nvSpPr>
          <p:cNvPr id="35" name="R7_tag413"/>
          <p:cNvSpPr/>
          <p:nvPr/>
        </p:nvSpPr>
        <p:spPr>
          <a:xfrm>
            <a:off x="7178040" y="361188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shower /ʃ/</a:t>
            </a:r>
            <a:endParaRPr lang="en-US" sz="1150" dirty="0"/>
          </a:p>
        </p:txBody>
      </p:sp>
      <p:sp>
        <p:nvSpPr>
          <p:cNvPr id="36" name="sq_414"/>
          <p:cNvSpPr/>
          <p:nvPr/>
        </p:nvSpPr>
        <p:spPr>
          <a:xfrm>
            <a:off x="3246120" y="3977640"/>
            <a:ext cx="3840480" cy="301752"/>
          </a:xfrm>
          <a:prstGeom prst="roundRect">
            <a:avLst>
              <a:gd name="adj" fmla="val 3030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traffic jam</a:t>
            </a:r>
            <a:endParaRPr lang="en-US" sz="1200" dirty="0"/>
          </a:p>
        </p:txBody>
      </p:sp>
      <p:sp>
        <p:nvSpPr>
          <p:cNvPr id="37" name="R8_tag415"/>
          <p:cNvSpPr/>
          <p:nvPr/>
        </p:nvSpPr>
        <p:spPr>
          <a:xfrm>
            <a:off x="7178040" y="397764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jazz /dʒ/</a:t>
            </a:r>
            <a:endParaRPr lang="en-US" sz="1150" dirty="0"/>
          </a:p>
        </p:txBody>
      </p:sp>
      <p:sp>
        <p:nvSpPr>
          <p:cNvPr id="38" name="sq_416"/>
          <p:cNvSpPr/>
          <p:nvPr/>
        </p:nvSpPr>
        <p:spPr>
          <a:xfrm>
            <a:off x="3246120" y="434340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adventure</a:t>
            </a:r>
            <a:endParaRPr lang="en-US" sz="1200" dirty="0"/>
          </a:p>
        </p:txBody>
      </p:sp>
      <p:sp>
        <p:nvSpPr>
          <p:cNvPr id="39" name="R9_tag417"/>
          <p:cNvSpPr/>
          <p:nvPr/>
        </p:nvSpPr>
        <p:spPr>
          <a:xfrm>
            <a:off x="7178040" y="434340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chess /tʃ/</a:t>
            </a:r>
            <a:endParaRPr lang="en-US" sz="1150" dirty="0"/>
          </a:p>
        </p:txBody>
      </p:sp>
      <p:sp>
        <p:nvSpPr>
          <p:cNvPr id="40" name="pf_418"/>
          <p:cNvSpPr/>
          <p:nvPr/>
        </p:nvSpPr>
        <p:spPr>
          <a:xfrm rot="-120000">
            <a:off x="411480" y="3703320"/>
            <a:ext cx="2514600" cy="1005840"/>
          </a:xfrm>
          <a:prstGeom prst="roundRect">
            <a:avLst>
              <a:gd name="adj" fmla="val 1545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1" name="ph_419" descr="/home/claude/lls-course/v2/cache/3a1_traffic_jam_jpg_583x220_31.png">    </p:cNvPr>
          <p:cNvPicPr>
            <a:picLocks noChangeAspect="1"/>
          </p:cNvPicPr>
          <p:nvPr/>
        </p:nvPicPr>
        <p:blipFill>
          <a:blip r:embed="rId5"/>
          <a:stretch>
            <a:fillRect/>
          </a:stretch>
        </p:blipFill>
        <p:spPr>
          <a:xfrm rot="-120000">
            <a:off x="457200" y="3749040"/>
            <a:ext cx="2423160" cy="91440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4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21"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422"/>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Cheap or jeep?</a:t>
            </a:r>
            <a:endParaRPr lang="en-US" sz="2500" dirty="0"/>
          </a:p>
        </p:txBody>
      </p:sp>
      <p:pic>
        <p:nvPicPr>
          <p:cNvPr id="6" name="brP_423"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424"/>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Which word do you hear?</a:t>
            </a:r>
            <a:endParaRPr lang="en-US" sz="1250" dirty="0"/>
          </a:p>
        </p:txBody>
      </p:sp>
      <p:sp>
        <p:nvSpPr>
          <p:cNvPr id="8" name="insIT_42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Quale parola senti?</a:t>
            </a:r>
            <a:endParaRPr lang="en-US" sz="950" dirty="0"/>
          </a:p>
        </p:txBody>
      </p:sp>
      <p:sp>
        <p:nvSpPr>
          <p:cNvPr id="9" name="cmd_42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427"/>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428"/>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alone</a:t>
            </a:r>
            <a:endParaRPr lang="en-US" sz="950" dirty="0"/>
          </a:p>
        </p:txBody>
      </p:sp>
      <p:sp>
        <p:nvSpPr>
          <p:cNvPr id="12" name="tag_429"/>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Pronunciation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Listening for detail</a:t>
            </a:r>
            <a:endParaRPr lang="en-US" sz="700" dirty="0"/>
          </a:p>
        </p:txBody>
      </p:sp>
      <p:pic>
        <p:nvPicPr>
          <p:cNvPr id="13" name="logo_43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3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Pronunciation · which word?   ·   📖 SB p.26 · 2d, 2e · audio 3.7, 3.8</a:t>
            </a:r>
            <a:endParaRPr lang="en-US" sz="800" dirty="0"/>
          </a:p>
        </p:txBody>
      </p:sp>
      <p:sp>
        <p:nvSpPr>
          <p:cNvPr id="15" name="ap_432"/>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3.8  ·  play once</a:t>
            </a:r>
            <a:endParaRPr lang="en-US" sz="1100" dirty="0"/>
          </a:p>
        </p:txBody>
      </p:sp>
      <p:sp>
        <p:nvSpPr>
          <p:cNvPr id="16" name="ah_433"/>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8" name="ah_434"/>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9"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0" name="pf_435"/>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436" descr="/home/claude/lls-course/v2/cache/3a1_tube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2" name="cd_437"/>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3" name="ii_438"/>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439"/>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5" name="il_440"/>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6" name="gq_441"/>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cheap / jeep</a:t>
            </a:r>
            <a:endParaRPr lang="en-US" sz="1200" dirty="0"/>
          </a:p>
        </p:txBody>
      </p:sp>
      <p:sp>
        <p:nvSpPr>
          <p:cNvPr id="27" name="R1_chip442"/>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jeep</a:t>
            </a:r>
            <a:endParaRPr lang="en-US" sz="1200" dirty="0"/>
          </a:p>
        </p:txBody>
      </p:sp>
      <p:sp>
        <p:nvSpPr>
          <p:cNvPr id="28" name="gq_443"/>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chain / Jane</a:t>
            </a:r>
            <a:endParaRPr lang="en-US" sz="1200" dirty="0"/>
          </a:p>
        </p:txBody>
      </p:sp>
      <p:sp>
        <p:nvSpPr>
          <p:cNvPr id="29" name="R2_chip444"/>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chain</a:t>
            </a:r>
            <a:endParaRPr lang="en-US" sz="1200" dirty="0"/>
          </a:p>
        </p:txBody>
      </p:sp>
      <p:sp>
        <p:nvSpPr>
          <p:cNvPr id="30" name="gq_445"/>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choke / joke</a:t>
            </a:r>
            <a:endParaRPr lang="en-US" sz="1200" dirty="0"/>
          </a:p>
        </p:txBody>
      </p:sp>
      <p:sp>
        <p:nvSpPr>
          <p:cNvPr id="31" name="R3_chip446"/>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joke</a:t>
            </a:r>
            <a:endParaRPr lang="en-US" sz="1200" dirty="0"/>
          </a:p>
        </p:txBody>
      </p:sp>
      <p:sp>
        <p:nvSpPr>
          <p:cNvPr id="32" name="gq_447"/>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ship / chip</a:t>
            </a:r>
            <a:endParaRPr lang="en-US" sz="1200" dirty="0"/>
          </a:p>
        </p:txBody>
      </p:sp>
      <p:sp>
        <p:nvSpPr>
          <p:cNvPr id="33" name="R4_chip448"/>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chip</a:t>
            </a:r>
            <a:endParaRPr lang="en-US" sz="1200" dirty="0"/>
          </a:p>
        </p:txBody>
      </p:sp>
      <p:sp>
        <p:nvSpPr>
          <p:cNvPr id="34" name="gq_449"/>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shoes / choose</a:t>
            </a:r>
            <a:endParaRPr lang="en-US" sz="1200" dirty="0"/>
          </a:p>
        </p:txBody>
      </p:sp>
      <p:sp>
        <p:nvSpPr>
          <p:cNvPr id="35" name="R5_chip450"/>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shoes</a:t>
            </a:r>
            <a:endParaRPr lang="en-US" sz="1200" dirty="0"/>
          </a:p>
        </p:txBody>
      </p:sp>
      <p:sp>
        <p:nvSpPr>
          <p:cNvPr id="36" name="gq_451"/>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wash / watch</a:t>
            </a:r>
            <a:endParaRPr lang="en-US" sz="1200" dirty="0"/>
          </a:p>
        </p:txBody>
      </p:sp>
      <p:sp>
        <p:nvSpPr>
          <p:cNvPr id="37" name="R6_chip452"/>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watch</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9"/>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9"/>
                                        </p:tgtEl>
                                      </p:cBhvr>
                                    </p:cmd>
                                  </p:childTnLst>
                                </p:cTn>
                              </p:par>
                            </p:childTnLst>
                          </p:cTn>
                        </p:par>
                      </p:childTnLst>
                    </p:cTn>
                  </p:par>
                </p:childTnLst>
              </p:cTn>
              <p:nextCondLst>
                <p:cond evt="onClick" delay="0">
                  <p:tgtEl>
                    <p:spTgt spid="19"/>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9"/>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54"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455"/>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Who will win the race?</a:t>
            </a:r>
            <a:endParaRPr lang="en-US" sz="2500" dirty="0"/>
          </a:p>
        </p:txBody>
      </p:sp>
      <p:pic>
        <p:nvPicPr>
          <p:cNvPr id="6" name="brP_456"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457"/>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Who will win? Put them 1st–4th!</a:t>
            </a:r>
            <a:endParaRPr lang="en-US" sz="1250" dirty="0"/>
          </a:p>
        </p:txBody>
      </p:sp>
      <p:sp>
        <p:nvSpPr>
          <p:cNvPr id="8" name="insIT_45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Chi vincerà? Mettili dal 1° al 4°!</a:t>
            </a:r>
            <a:endParaRPr lang="en-US" sz="950" dirty="0"/>
          </a:p>
        </p:txBody>
      </p:sp>
      <p:sp>
        <p:nvSpPr>
          <p:cNvPr id="9" name="cmd_45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460"/>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46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46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Prediction</a:t>
            </a:r>
            <a:endParaRPr lang="en-US" sz="850" dirty="0"/>
          </a:p>
        </p:txBody>
      </p:sp>
      <p:pic>
        <p:nvPicPr>
          <p:cNvPr id="13" name="logo_46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6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Reading · prediction   ·   📖 SB p.26 · 3a, 3b</a:t>
            </a:r>
            <a:endParaRPr lang="en-US" sz="800" dirty="0"/>
          </a:p>
        </p:txBody>
      </p:sp>
      <p:sp>
        <p:nvSpPr>
          <p:cNvPr id="15" name="cd_465"/>
          <p:cNvSpPr/>
          <p:nvPr/>
        </p:nvSpPr>
        <p:spPr>
          <a:xfrm>
            <a:off x="320040" y="1417320"/>
            <a:ext cx="5029200" cy="1965960"/>
          </a:xfrm>
          <a:prstGeom prst="roundRect">
            <a:avLst>
              <a:gd name="adj" fmla="val 6512"/>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hl_466"/>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Top Gear challenge</a:t>
            </a:r>
            <a:endParaRPr lang="en-US" sz="2800" dirty="0"/>
          </a:p>
        </p:txBody>
      </p:sp>
      <p:sp>
        <p:nvSpPr>
          <p:cNvPr id="17" name="nx_467"/>
          <p:cNvSpPr/>
          <p:nvPr/>
        </p:nvSpPr>
        <p:spPr>
          <a:xfrm>
            <a:off x="457200" y="2807208"/>
            <a:ext cx="4754880" cy="512064"/>
          </a:xfrm>
          <a:prstGeom prst="roundRect">
            <a:avLst>
              <a:gd name="adj" fmla="val 17857"/>
            </a:avLst>
          </a:prstGeom>
          <a:solidFill>
            <a:srgbClr val="E3F7EA"/>
          </a:solidFill>
          <a:ln>
            <a:solidFill>
              <a:srgbClr val="A8E5BE"/>
            </a:solidFill>
          </a:ln>
        </p:spPr>
        <p:txBody>
          <a:bodyPr wrap="square" lIns="127000" tIns="25400" rIns="127000" bIns="25400" rtlCol="0" anchor="ctr">
            <a:normAutofit/>
          </a:bodyPr>
          <a:lstStyle/>
          <a:p>
            <a:pPr indent="0" marL="0">
              <a:buNone/>
            </a:pPr>
            <a:r>
              <a:rPr lang="en-US" sz="1000" dirty="0">
                <a:solidFill>
                  <a:srgbClr val="2EB872"/>
                </a:solidFill>
                <a:latin typeface="Segoe UI Black" pitchFamily="34" charset="0"/>
                <a:ea typeface="Segoe UI Black" pitchFamily="34" charset="-122"/>
                <a:cs typeface="Segoe UI Black" pitchFamily="34" charset="-120"/>
              </a:rPr>
              <a:t>➡ NEXT  </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next 3 slides: the boat, the bike and the car. 7 gaps – guess today's words and numbers!</a:t>
            </a:r>
            <a:endParaRPr lang="en-US" sz="1000" dirty="0"/>
          </a:p>
        </p:txBody>
      </p:sp>
      <p:sp>
        <p:nvSpPr>
          <p:cNvPr id="18" name="sf_468"/>
          <p:cNvSpPr/>
          <p:nvPr/>
        </p:nvSpPr>
        <p:spPr>
          <a:xfrm>
            <a:off x="521208" y="2039112"/>
            <a:ext cx="4663440" cy="731520"/>
          </a:xfrm>
          <a:prstGeom prst="rect">
            <a:avLst/>
          </a:prstGeom>
          <a:noFill/>
          <a:ln/>
        </p:spPr>
        <p:txBody>
          <a:bodyPr wrap="square" lIns="0" tIns="0" rIns="0" bIns="0" rtlCol="0" anchor="t">
            <a:normAutofit/>
          </a:bodyPr>
          <a:lstStyle/>
          <a:p>
            <a:pPr indent="0" marL="0">
              <a:buNone/>
            </a:pPr>
            <a:r>
              <a:rPr lang="en-US" sz="1150" i="1" dirty="0">
                <a:solidFill>
                  <a:srgbClr val="1B2559"/>
                </a:solidFill>
                <a:latin typeface="Georgia" pitchFamily="34" charset="0"/>
                <a:ea typeface="Georgia" pitchFamily="34" charset="-122"/>
                <a:cs typeface="Georgia" pitchFamily="34" charset="-120"/>
              </a:rPr>
              <a:t>A race across London on a Monday morning in the rush hour: from Kew Bridge (south-west) to the check-in desk at London City Airport (east) – about 15 miles. Jeremy: a motorboat · James: a car · Richard: a bike · The Stig: public transport.</a:t>
            </a:r>
            <a:endParaRPr lang="en-US" sz="1150" dirty="0"/>
          </a:p>
        </p:txBody>
      </p:sp>
      <p:sp>
        <p:nvSpPr>
          <p:cNvPr id="19" name="nbl_469"/>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NUMBER BANK · guess where they go!</a:t>
            </a:r>
            <a:endParaRPr lang="en-US" sz="1100" dirty="0"/>
          </a:p>
        </p:txBody>
      </p:sp>
      <p:sp>
        <p:nvSpPr>
          <p:cNvPr id="20" name="bd_470"/>
          <p:cNvSpPr/>
          <p:nvPr/>
        </p:nvSpPr>
        <p:spPr>
          <a:xfrm>
            <a:off x="365760"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1st</a:t>
            </a:r>
            <a:endParaRPr lang="en-US" sz="1000" dirty="0"/>
          </a:p>
        </p:txBody>
      </p:sp>
      <p:sp>
        <p:nvSpPr>
          <p:cNvPr id="21" name="bd_471"/>
          <p:cNvSpPr/>
          <p:nvPr/>
        </p:nvSpPr>
        <p:spPr>
          <a:xfrm>
            <a:off x="987552"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2nd</a:t>
            </a:r>
            <a:endParaRPr lang="en-US" sz="1000" dirty="0"/>
          </a:p>
        </p:txBody>
      </p:sp>
      <p:sp>
        <p:nvSpPr>
          <p:cNvPr id="22" name="bd_472"/>
          <p:cNvSpPr/>
          <p:nvPr/>
        </p:nvSpPr>
        <p:spPr>
          <a:xfrm>
            <a:off x="1609344"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3rd</a:t>
            </a:r>
            <a:endParaRPr lang="en-US" sz="1000" dirty="0"/>
          </a:p>
        </p:txBody>
      </p:sp>
      <p:sp>
        <p:nvSpPr>
          <p:cNvPr id="23" name="bd_473"/>
          <p:cNvSpPr/>
          <p:nvPr/>
        </p:nvSpPr>
        <p:spPr>
          <a:xfrm>
            <a:off x="2231136" y="3931920"/>
            <a:ext cx="548640" cy="548640"/>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4th</a:t>
            </a:r>
            <a:endParaRPr lang="en-US" sz="1000" dirty="0"/>
          </a:p>
        </p:txBody>
      </p:sp>
      <p:sp>
        <p:nvSpPr>
          <p:cNvPr id="24" name="pf_474"/>
          <p:cNvSpPr/>
          <p:nvPr/>
        </p:nvSpPr>
        <p:spPr>
          <a:xfrm rot="90000">
            <a:off x="5577840" y="1234440"/>
            <a:ext cx="3246120" cy="3383280"/>
          </a:xfrm>
          <a:prstGeom prst="roundRect">
            <a:avLst>
              <a:gd name="adj" fmla="val 47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5" name="ph_475" descr="/home/claude/lls-course/v2/cache/3a2_black_cab_jpg_759x792_31.png">    </p:cNvPr>
          <p:cNvPicPr>
            <a:picLocks noChangeAspect="1"/>
          </p:cNvPicPr>
          <p:nvPr/>
        </p:nvPicPr>
        <p:blipFill>
          <a:blip r:embed="rId5"/>
          <a:stretch>
            <a:fillRect/>
          </a:stretch>
        </p:blipFill>
        <p:spPr>
          <a:xfrm rot="90000">
            <a:off x="5623560" y="1280160"/>
            <a:ext cx="3154680" cy="3291840"/>
          </a:xfrm>
          <a:prstGeom prst="rect">
            <a:avLst/>
          </a:prstGeom>
        </p:spPr>
      </p:pic>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6"/>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77"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478"/>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race 1/3: the boat</a:t>
            </a:r>
            <a:endParaRPr lang="en-US" sz="2500" dirty="0"/>
          </a:p>
        </p:txBody>
      </p:sp>
      <p:pic>
        <p:nvPicPr>
          <p:cNvPr id="6" name="brP_479"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480"/>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Guess gaps 1–2. Still agree?</a:t>
            </a:r>
            <a:endParaRPr lang="en-US" sz="1250" dirty="0"/>
          </a:p>
        </p:txBody>
      </p:sp>
      <p:sp>
        <p:nvSpPr>
          <p:cNvPr id="8" name="insIT_48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Indovina gli spazi 1–2. Sei ancora d'accordo?</a:t>
            </a:r>
            <a:endParaRPr lang="en-US" sz="950" dirty="0"/>
          </a:p>
        </p:txBody>
      </p:sp>
      <p:sp>
        <p:nvSpPr>
          <p:cNvPr id="9" name="cmd_482"/>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483"/>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484"/>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48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8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Reading · the race 1/3   ·   📖 SB p.26 · 3c · text: Jeremy in the motorboat</a:t>
            </a:r>
            <a:endParaRPr lang="en-US" sz="800" dirty="0"/>
          </a:p>
        </p:txBody>
      </p:sp>
      <p:sp>
        <p:nvSpPr>
          <p:cNvPr id="14" name="cd_487"/>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488"/>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Jeremy in the motorboat</a:t>
            </a:r>
            <a:endParaRPr lang="en-US" sz="1700" dirty="0"/>
          </a:p>
        </p:txBody>
      </p:sp>
      <p:sp>
        <p:nvSpPr>
          <p:cNvPr id="16" name="ln_489"/>
          <p:cNvSpPr/>
          <p:nvPr/>
        </p:nvSpPr>
        <p:spPr>
          <a:xfrm>
            <a:off x="548640" y="1920240"/>
            <a:ext cx="5349240" cy="464820"/>
          </a:xfrm>
          <a:prstGeom prst="rect">
            <a:avLst/>
          </a:prstGeom>
          <a:noFill/>
          <a:ln/>
        </p:spPr>
        <p:txBody>
          <a:bodyPr wrap="square" lIns="0" tIns="0" rIns="0" bIns="0" rtlCol="0" anchor="ctr">
            <a:normAutofit/>
          </a:bodyPr>
          <a:lstStyle/>
          <a:p>
            <a:pPr indent="0" marL="0">
              <a:buNone/>
            </a:pPr>
            <a:r>
              <a:rPr lang="en-US" sz="950" dirty="0">
                <a:solidFill>
                  <a:srgbClr val="1B2559"/>
                </a:solidFill>
                <a:latin typeface="Georgia" pitchFamily="34" charset="0"/>
                <a:ea typeface="Georgia" pitchFamily="34" charset="-122"/>
                <a:cs typeface="Georgia" pitchFamily="34" charset="-120"/>
              </a:rPr>
              <a:t>His journey was along the River Thames. For the first few miles, there was a </a:t>
            </a:r>
            <a:pPr indent="0" marL="0">
              <a:buNone/>
            </a:pPr>
            <a:r>
              <a:rPr lang="en-US" sz="950" b="1" dirty="0">
                <a:solidFill>
                  <a:srgbClr val="2EB872"/>
                </a:solidFill>
                <a:latin typeface="Georgia" pitchFamily="34" charset="0"/>
                <a:ea typeface="Georgia" pitchFamily="34" charset="-122"/>
                <a:cs typeface="Georgia" pitchFamily="34" charset="-120"/>
              </a:rPr>
              <a:t> (1) ________ </a:t>
            </a:r>
            <a:pPr indent="0" marL="0">
              <a:buNone/>
            </a:pPr>
            <a:r>
              <a:rPr lang="en-US" sz="950" dirty="0">
                <a:solidFill>
                  <a:srgbClr val="1B2559"/>
                </a:solidFill>
                <a:latin typeface="Georgia" pitchFamily="34" charset="0"/>
                <a:ea typeface="Georgia" pitchFamily="34" charset="-122"/>
                <a:cs typeface="Georgia" pitchFamily="34" charset="-120"/>
              </a:rPr>
              <a:t> of nine miles an hour, because there are so many ducks and other birds in that part of the river.</a:t>
            </a:r>
            <a:endParaRPr lang="en-US" sz="950" dirty="0"/>
          </a:p>
        </p:txBody>
      </p:sp>
      <p:sp>
        <p:nvSpPr>
          <p:cNvPr id="17" name="R1_lnA490"/>
          <p:cNvSpPr/>
          <p:nvPr/>
        </p:nvSpPr>
        <p:spPr>
          <a:xfrm>
            <a:off x="548640" y="1920240"/>
            <a:ext cx="5349240" cy="464820"/>
          </a:xfrm>
          <a:prstGeom prst="rect">
            <a:avLst/>
          </a:prstGeom>
          <a:solidFill>
            <a:srgbClr val="FFFFFF"/>
          </a:solidFill>
          <a:ln/>
        </p:spPr>
        <p:txBody>
          <a:bodyPr wrap="square" lIns="0" tIns="0" rIns="0" bIns="0" rtlCol="0" anchor="ctr">
            <a:normAutofit/>
          </a:bodyPr>
          <a:lstStyle/>
          <a:p>
            <a:pPr indent="0" marL="0">
              <a:buNone/>
            </a:pPr>
            <a:r>
              <a:rPr lang="en-US" sz="950" dirty="0">
                <a:solidFill>
                  <a:srgbClr val="1B2559"/>
                </a:solidFill>
                <a:latin typeface="Georgia" pitchFamily="34" charset="0"/>
                <a:ea typeface="Georgia" pitchFamily="34" charset="-122"/>
                <a:cs typeface="Georgia" pitchFamily="34" charset="-120"/>
              </a:rPr>
              <a:t>His journey was along the River Thames. For the first few miles, there was a </a:t>
            </a:r>
            <a:pPr indent="0" marL="0">
              <a:buNone/>
            </a:pPr>
            <a:r>
              <a:rPr lang="en-US" sz="950" b="1" dirty="0">
                <a:solidFill>
                  <a:srgbClr val="1B2559"/>
                </a:solidFill>
                <a:highlight>
                  <a:srgbClr val="FFE066"/>
                </a:highlight>
                <a:latin typeface="Georgia" pitchFamily="34" charset="0"/>
                <a:ea typeface="Georgia" pitchFamily="34" charset="-122"/>
                <a:cs typeface="Georgia" pitchFamily="34" charset="-120"/>
              </a:rPr>
              <a:t>speed limit</a:t>
            </a:r>
            <a:pPr indent="0" marL="0">
              <a:buNone/>
            </a:pPr>
            <a:r>
              <a:rPr lang="en-US" sz="950" dirty="0">
                <a:solidFill>
                  <a:srgbClr val="1B2559"/>
                </a:solidFill>
                <a:latin typeface="Georgia" pitchFamily="34" charset="0"/>
                <a:ea typeface="Georgia" pitchFamily="34" charset="-122"/>
                <a:cs typeface="Georgia" pitchFamily="34" charset="-120"/>
              </a:rPr>
              <a:t> of nine miles an hour, because there are so many ducks and other birds in that part of the river.</a:t>
            </a:r>
            <a:endParaRPr lang="en-US" sz="950" dirty="0"/>
          </a:p>
        </p:txBody>
      </p:sp>
      <p:sp>
        <p:nvSpPr>
          <p:cNvPr id="18" name="ln_491"/>
          <p:cNvSpPr/>
          <p:nvPr/>
        </p:nvSpPr>
        <p:spPr>
          <a:xfrm>
            <a:off x="548640" y="2385060"/>
            <a:ext cx="5349240" cy="464820"/>
          </a:xfrm>
          <a:prstGeom prst="rect">
            <a:avLst/>
          </a:prstGeom>
          <a:noFill/>
          <a:ln/>
        </p:spPr>
        <p:txBody>
          <a:bodyPr wrap="square" lIns="0" tIns="0" rIns="0" bIns="0" rtlCol="0" anchor="ctr">
            <a:normAutofit/>
          </a:bodyPr>
          <a:lstStyle/>
          <a:p>
            <a:pPr indent="0" marL="0">
              <a:buNone/>
            </a:pPr>
            <a:r>
              <a:rPr lang="en-US" sz="1050" dirty="0">
                <a:solidFill>
                  <a:srgbClr val="1B2559"/>
                </a:solidFill>
                <a:latin typeface="Georgia" pitchFamily="34" charset="0"/>
                <a:ea typeface="Georgia" pitchFamily="34" charset="-122"/>
                <a:cs typeface="Georgia" pitchFamily="34" charset="-120"/>
              </a:rPr>
              <a:t>The river was confusing, and at one point, he realized that he was going in the wrong direction. But he turned round and got back onto the right route.</a:t>
            </a:r>
            <a:endParaRPr lang="en-US" sz="1050" dirty="0"/>
          </a:p>
        </p:txBody>
      </p:sp>
      <p:sp>
        <p:nvSpPr>
          <p:cNvPr id="19" name="ln_492"/>
          <p:cNvSpPr/>
          <p:nvPr/>
        </p:nvSpPr>
        <p:spPr>
          <a:xfrm>
            <a:off x="548640" y="2849880"/>
            <a:ext cx="5349240" cy="464820"/>
          </a:xfrm>
          <a:prstGeom prst="rect">
            <a:avLst/>
          </a:prstGeom>
          <a:noFill/>
          <a:ln/>
        </p:spPr>
        <p:txBody>
          <a:bodyPr wrap="square" lIns="0" tIns="0" rIns="0" bIns="0" rtlCol="0" anchor="ctr">
            <a:normAutofit/>
          </a:bodyPr>
          <a:lstStyle/>
          <a:p>
            <a:pPr indent="0" marL="0">
              <a:buNone/>
            </a:pPr>
            <a:r>
              <a:rPr lang="en-US" sz="1050" dirty="0">
                <a:solidFill>
                  <a:srgbClr val="1B2559"/>
                </a:solidFill>
                <a:latin typeface="Georgia" pitchFamily="34" charset="0"/>
                <a:ea typeface="Georgia" pitchFamily="34" charset="-122"/>
                <a:cs typeface="Georgia" pitchFamily="34" charset="-120"/>
              </a:rPr>
              <a:t>Soon, he was going past Fulham Football Club. He phoned Richard and asked him where he was. Good news for Jeremy! He was ahead of the bike!</a:t>
            </a:r>
            <a:endParaRPr lang="en-US" sz="1050" dirty="0"/>
          </a:p>
        </p:txBody>
      </p:sp>
      <p:sp>
        <p:nvSpPr>
          <p:cNvPr id="20" name="ln_493"/>
          <p:cNvSpPr/>
          <p:nvPr/>
        </p:nvSpPr>
        <p:spPr>
          <a:xfrm>
            <a:off x="548640" y="3314700"/>
            <a:ext cx="5349240" cy="464820"/>
          </a:xfrm>
          <a:prstGeom prst="rect">
            <a:avLst/>
          </a:prstGeom>
          <a:noFill/>
          <a:ln/>
        </p:spPr>
        <p:txBody>
          <a:bodyPr wrap="square" lIns="0" tIns="0" rIns="0" bIns="0" rtlCol="0" anchor="ctr">
            <a:normAutofit/>
          </a:bodyPr>
          <a:lstStyle/>
          <a:p>
            <a:pPr indent="0" marL="0">
              <a:buNone/>
            </a:pPr>
            <a:r>
              <a:rPr lang="en-US" sz="1050" dirty="0">
                <a:solidFill>
                  <a:srgbClr val="1B2559"/>
                </a:solidFill>
                <a:latin typeface="Georgia" pitchFamily="34" charset="0"/>
                <a:ea typeface="Georgia" pitchFamily="34" charset="-122"/>
                <a:cs typeface="Georgia" pitchFamily="34" charset="-120"/>
              </a:rPr>
              <a:t>He got to Wandsworth Bridge. The speed limit finished there and he could now go as fast as he liked. Jeremy felt like the fastest-moving man in all of London.</a:t>
            </a:r>
            <a:endParaRPr lang="en-US" sz="1050" dirty="0"/>
          </a:p>
        </p:txBody>
      </p:sp>
      <p:sp>
        <p:nvSpPr>
          <p:cNvPr id="21" name="ln_494"/>
          <p:cNvSpPr/>
          <p:nvPr/>
        </p:nvSpPr>
        <p:spPr>
          <a:xfrm>
            <a:off x="548640" y="3779520"/>
            <a:ext cx="5349240" cy="464820"/>
          </a:xfrm>
          <a:prstGeom prst="rect">
            <a:avLst/>
          </a:prstGeom>
          <a:noFill/>
          <a:ln/>
        </p:spPr>
        <p:txBody>
          <a:bodyPr wrap="square" lIns="0" tIns="0" rIns="0" bIns="0" rtlCol="0" anchor="ctr">
            <a:normAutofit/>
          </a:bodyPr>
          <a:lstStyle/>
          <a:p>
            <a:pPr indent="0" marL="0">
              <a:buNone/>
            </a:pPr>
            <a:r>
              <a:rPr lang="en-US" sz="1050" dirty="0">
                <a:solidFill>
                  <a:srgbClr val="1B2559"/>
                </a:solidFill>
                <a:latin typeface="Georgia" pitchFamily="34" charset="0"/>
                <a:ea typeface="Georgia" pitchFamily="34" charset="-122"/>
                <a:cs typeface="Georgia" pitchFamily="34" charset="-120"/>
              </a:rPr>
              <a:t>He was flying, coming close to 50 miles an hour! How could he lose now? He could see Tower Bridge ahead.</a:t>
            </a:r>
            <a:endParaRPr lang="en-US" sz="1050" dirty="0"/>
          </a:p>
        </p:txBody>
      </p:sp>
      <p:sp>
        <p:nvSpPr>
          <p:cNvPr id="22" name="ln_495"/>
          <p:cNvSpPr/>
          <p:nvPr/>
        </p:nvSpPr>
        <p:spPr>
          <a:xfrm>
            <a:off x="548640" y="4244340"/>
            <a:ext cx="5349240" cy="464820"/>
          </a:xfrm>
          <a:prstGeom prst="rect">
            <a:avLst/>
          </a:prstGeom>
          <a:noFill/>
          <a:ln/>
        </p:spPr>
        <p:txBody>
          <a:bodyPr wrap="square" lIns="0" tIns="0" rIns="0" bIns="0" rtlCol="0" anchor="ctr">
            <a:normAutofit/>
          </a:bodyPr>
          <a:lstStyle/>
          <a:p>
            <a:pPr indent="0" marL="0">
              <a:buNone/>
            </a:pPr>
            <a:r>
              <a:rPr lang="en-US" sz="1050" dirty="0">
                <a:solidFill>
                  <a:srgbClr val="1B2559"/>
                </a:solidFill>
                <a:latin typeface="Georgia" pitchFamily="34" charset="0"/>
                <a:ea typeface="Georgia" pitchFamily="34" charset="-122"/>
                <a:cs typeface="Georgia" pitchFamily="34" charset="-120"/>
              </a:rPr>
              <a:t>His journey was seven miles longer than the others', but he was now going at </a:t>
            </a:r>
            <a:pPr indent="0" marL="0">
              <a:buNone/>
            </a:pPr>
            <a:r>
              <a:rPr lang="en-US" sz="1050" b="1" dirty="0">
                <a:solidFill>
                  <a:srgbClr val="2EB872"/>
                </a:solidFill>
                <a:latin typeface="Georgia" pitchFamily="34" charset="0"/>
                <a:ea typeface="Georgia" pitchFamily="34" charset="-122"/>
                <a:cs typeface="Georgia" pitchFamily="34" charset="-120"/>
              </a:rPr>
              <a:t> (2) ________ </a:t>
            </a:r>
            <a:pPr indent="0" marL="0">
              <a:buNone/>
            </a:pPr>
            <a:r>
              <a:rPr lang="en-US" sz="1050" dirty="0">
                <a:solidFill>
                  <a:srgbClr val="1B2559"/>
                </a:solidFill>
                <a:latin typeface="Georgia" pitchFamily="34" charset="0"/>
                <a:ea typeface="Georgia" pitchFamily="34" charset="-122"/>
                <a:cs typeface="Georgia" pitchFamily="34" charset="-120"/>
              </a:rPr>
              <a:t> miles an hour. Not far to the airport now!</a:t>
            </a:r>
            <a:endParaRPr lang="en-US" sz="1050" dirty="0"/>
          </a:p>
        </p:txBody>
      </p:sp>
      <p:sp>
        <p:nvSpPr>
          <p:cNvPr id="23" name="R2_lnA496"/>
          <p:cNvSpPr/>
          <p:nvPr/>
        </p:nvSpPr>
        <p:spPr>
          <a:xfrm>
            <a:off x="548640" y="4244340"/>
            <a:ext cx="5349240" cy="464820"/>
          </a:xfrm>
          <a:prstGeom prst="rect">
            <a:avLst/>
          </a:prstGeom>
          <a:solidFill>
            <a:srgbClr val="FFFFFF"/>
          </a:solidFill>
          <a:ln/>
        </p:spPr>
        <p:txBody>
          <a:bodyPr wrap="square" lIns="0" tIns="0" rIns="0" bIns="0" rtlCol="0" anchor="ctr">
            <a:normAutofit/>
          </a:bodyPr>
          <a:lstStyle/>
          <a:p>
            <a:pPr indent="0" marL="0">
              <a:buNone/>
            </a:pPr>
            <a:r>
              <a:rPr lang="en-US" sz="1050" dirty="0">
                <a:solidFill>
                  <a:srgbClr val="1B2559"/>
                </a:solidFill>
                <a:latin typeface="Georgia" pitchFamily="34" charset="0"/>
                <a:ea typeface="Georgia" pitchFamily="34" charset="-122"/>
                <a:cs typeface="Georgia" pitchFamily="34" charset="-120"/>
              </a:rPr>
              <a:t>His journey was seven miles longer than the others', but he was now going at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70</a:t>
            </a:r>
            <a:pPr indent="0" marL="0">
              <a:buNone/>
            </a:pPr>
            <a:r>
              <a:rPr lang="en-US" sz="1050" dirty="0">
                <a:solidFill>
                  <a:srgbClr val="1B2559"/>
                </a:solidFill>
                <a:latin typeface="Georgia" pitchFamily="34" charset="0"/>
                <a:ea typeface="Georgia" pitchFamily="34" charset="-122"/>
                <a:cs typeface="Georgia" pitchFamily="34" charset="-120"/>
              </a:rPr>
              <a:t> miles an hour. Not far to the airport now!</a:t>
            </a:r>
            <a:endParaRPr lang="en-US" sz="1050" dirty="0"/>
          </a:p>
        </p:txBody>
      </p:sp>
      <p:sp>
        <p:nvSpPr>
          <p:cNvPr id="24" name="pf_497"/>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5" name="ph_498" descr="/home/claude/lls-course/v2/cache/3a1_speedboat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6" name="cd_499"/>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ii_500"/>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8" name="ih_501"/>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9" name="il_502"/>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1 mile = 1.6 km</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9 → 50 → 70 miles an hour!</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04"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505"/>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race 2/3: the bike</a:t>
            </a:r>
            <a:endParaRPr lang="en-US" sz="2500" dirty="0"/>
          </a:p>
        </p:txBody>
      </p:sp>
      <p:pic>
        <p:nvPicPr>
          <p:cNvPr id="6" name="brP_506"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507"/>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Guess gaps 3–6. Still agree?</a:t>
            </a:r>
            <a:endParaRPr lang="en-US" sz="1250" dirty="0"/>
          </a:p>
        </p:txBody>
      </p:sp>
      <p:sp>
        <p:nvSpPr>
          <p:cNvPr id="8" name="insIT_50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Indovina gli spazi 3–6. Sei ancora d'accordo?</a:t>
            </a:r>
            <a:endParaRPr lang="en-US" sz="950" dirty="0"/>
          </a:p>
        </p:txBody>
      </p:sp>
      <p:sp>
        <p:nvSpPr>
          <p:cNvPr id="9" name="cmd_50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51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51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51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1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Reading · the race 2/3   ·   📖 SB p.27 · 3c · text: Richard on the bike</a:t>
            </a:r>
            <a:endParaRPr lang="en-US" sz="800" dirty="0"/>
          </a:p>
        </p:txBody>
      </p:sp>
      <p:sp>
        <p:nvSpPr>
          <p:cNvPr id="14" name="cd_51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51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Richard on the bike</a:t>
            </a:r>
            <a:endParaRPr lang="en-US" sz="1700" dirty="0"/>
          </a:p>
        </p:txBody>
      </p:sp>
      <p:sp>
        <p:nvSpPr>
          <p:cNvPr id="16" name="ln_516"/>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Richard could use </a:t>
            </a:r>
            <a:pPr indent="0" marL="0">
              <a:buNone/>
            </a:pPr>
            <a:r>
              <a:rPr lang="en-US" sz="1100" b="1" dirty="0">
                <a:solidFill>
                  <a:srgbClr val="2EB872"/>
                </a:solidFill>
                <a:latin typeface="Georgia" pitchFamily="34" charset="0"/>
                <a:ea typeface="Georgia" pitchFamily="34" charset="-122"/>
                <a:cs typeface="Georgia" pitchFamily="34" charset="-120"/>
              </a:rPr>
              <a:t> (3) ________ </a:t>
            </a:r>
            <a:pPr indent="0" marL="0">
              <a:buNone/>
            </a:pPr>
            <a:r>
              <a:rPr lang="en-US" sz="1100" dirty="0">
                <a:solidFill>
                  <a:srgbClr val="1B2559"/>
                </a:solidFill>
                <a:latin typeface="Georgia" pitchFamily="34" charset="0"/>
                <a:ea typeface="Georgia" pitchFamily="34" charset="-122"/>
                <a:cs typeface="Georgia" pitchFamily="34" charset="-120"/>
              </a:rPr>
              <a:t>, which was great, but of course he had to be careful not to crash into the buses. He hated buses! Horrible things!</a:t>
            </a:r>
            <a:endParaRPr lang="en-US" sz="1100" dirty="0"/>
          </a:p>
        </p:txBody>
      </p:sp>
      <p:sp>
        <p:nvSpPr>
          <p:cNvPr id="17" name="R1_lnA517"/>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Richard could use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bus lanes</a:t>
            </a:r>
            <a:pPr indent="0" marL="0">
              <a:buNone/>
            </a:pPr>
            <a:r>
              <a:rPr lang="en-US" sz="1100" dirty="0">
                <a:solidFill>
                  <a:srgbClr val="1B2559"/>
                </a:solidFill>
                <a:latin typeface="Georgia" pitchFamily="34" charset="0"/>
                <a:ea typeface="Georgia" pitchFamily="34" charset="-122"/>
                <a:cs typeface="Georgia" pitchFamily="34" charset="-120"/>
              </a:rPr>
              <a:t>, which was great, but of course he had to be careful not to crash into the buses. He hated buses! Horrible things!</a:t>
            </a:r>
            <a:endParaRPr lang="en-US" sz="1100" dirty="0"/>
          </a:p>
        </p:txBody>
      </p:sp>
      <p:sp>
        <p:nvSpPr>
          <p:cNvPr id="18" name="ln_518"/>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When the </a:t>
            </a:r>
            <a:pPr indent="0" marL="0">
              <a:buNone/>
            </a:pPr>
            <a:r>
              <a:rPr lang="en-US" sz="1100" b="1" dirty="0">
                <a:solidFill>
                  <a:srgbClr val="2EB872"/>
                </a:solidFill>
                <a:latin typeface="Georgia" pitchFamily="34" charset="0"/>
                <a:ea typeface="Georgia" pitchFamily="34" charset="-122"/>
                <a:cs typeface="Georgia" pitchFamily="34" charset="-120"/>
              </a:rPr>
              <a:t> (4) ________ </a:t>
            </a:r>
            <a:pPr indent="0" marL="0">
              <a:buNone/>
            </a:pPr>
            <a:r>
              <a:rPr lang="en-US" sz="1100" dirty="0">
                <a:solidFill>
                  <a:srgbClr val="1B2559"/>
                </a:solidFill>
                <a:latin typeface="Georgia" pitchFamily="34" charset="0"/>
                <a:ea typeface="Georgia" pitchFamily="34" charset="-122"/>
                <a:cs typeface="Georgia" pitchFamily="34" charset="-120"/>
              </a:rPr>
              <a:t> turned red, he thought of cycling through them, but then he remembered that he was on TV, so he had to stop!</a:t>
            </a:r>
            <a:endParaRPr lang="en-US" sz="1100" dirty="0"/>
          </a:p>
        </p:txBody>
      </p:sp>
      <p:sp>
        <p:nvSpPr>
          <p:cNvPr id="19" name="R2_lnA519"/>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When the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traffic lights</a:t>
            </a:r>
            <a:pPr indent="0" marL="0">
              <a:buNone/>
            </a:pPr>
            <a:r>
              <a:rPr lang="en-US" sz="1100" dirty="0">
                <a:solidFill>
                  <a:srgbClr val="1B2559"/>
                </a:solidFill>
                <a:latin typeface="Georgia" pitchFamily="34" charset="0"/>
                <a:ea typeface="Georgia" pitchFamily="34" charset="-122"/>
                <a:cs typeface="Georgia" pitchFamily="34" charset="-120"/>
              </a:rPr>
              <a:t> turned red, he thought of cycling through them, but then he remembered that he was on TV, so he had to stop!</a:t>
            </a:r>
            <a:endParaRPr lang="en-US" sz="1100" dirty="0"/>
          </a:p>
        </p:txBody>
      </p:sp>
      <p:sp>
        <p:nvSpPr>
          <p:cNvPr id="20" name="ln_520"/>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When he got to Piccadilly, he was delighted to see that there was a terrible </a:t>
            </a:r>
            <a:pPr indent="0" marL="0">
              <a:buNone/>
            </a:pPr>
            <a:r>
              <a:rPr lang="en-US" sz="1100" b="1" dirty="0">
                <a:solidFill>
                  <a:srgbClr val="2EB872"/>
                </a:solidFill>
                <a:latin typeface="Georgia" pitchFamily="34" charset="0"/>
                <a:ea typeface="Georgia" pitchFamily="34" charset="-122"/>
                <a:cs typeface="Georgia" pitchFamily="34" charset="-120"/>
              </a:rPr>
              <a:t> (5) ________ </a:t>
            </a:r>
            <a:pPr indent="0" marL="0">
              <a:buNone/>
            </a:pPr>
            <a:r>
              <a:rPr lang="en-US" sz="1100" dirty="0">
                <a:solidFill>
                  <a:srgbClr val="1B2559"/>
                </a:solidFill>
                <a:latin typeface="Georgia" pitchFamily="34" charset="0"/>
                <a:ea typeface="Georgia" pitchFamily="34" charset="-122"/>
                <a:cs typeface="Georgia" pitchFamily="34" charset="-120"/>
              </a:rPr>
              <a:t> – he could go through the traffic, but James, in his Mercedes, would get stuck.</a:t>
            </a:r>
            <a:endParaRPr lang="en-US" sz="1100" dirty="0"/>
          </a:p>
        </p:txBody>
      </p:sp>
      <p:sp>
        <p:nvSpPr>
          <p:cNvPr id="21" name="R3_lnA521"/>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When he got to Piccadilly, he was delighted to see that there was a terrible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traffic jam</a:t>
            </a:r>
            <a:pPr indent="0" marL="0">
              <a:buNone/>
            </a:pPr>
            <a:r>
              <a:rPr lang="en-US" sz="1100" dirty="0">
                <a:solidFill>
                  <a:srgbClr val="1B2559"/>
                </a:solidFill>
                <a:latin typeface="Georgia" pitchFamily="34" charset="0"/>
                <a:ea typeface="Georgia" pitchFamily="34" charset="-122"/>
                <a:cs typeface="Georgia" pitchFamily="34" charset="-120"/>
              </a:rPr>
              <a:t> – he could go through the traffic, but James, in his Mercedes, would get stuck.</a:t>
            </a:r>
            <a:endParaRPr lang="en-US" sz="1100" dirty="0"/>
          </a:p>
        </p:txBody>
      </p:sp>
      <p:sp>
        <p:nvSpPr>
          <p:cNvPr id="22" name="ln_522"/>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He got to Trafalgar Square and then went into a </a:t>
            </a:r>
            <a:pPr indent="0" marL="0">
              <a:buNone/>
            </a:pPr>
            <a:r>
              <a:rPr lang="en-US" sz="1100" b="1" dirty="0">
                <a:solidFill>
                  <a:srgbClr val="2EB872"/>
                </a:solidFill>
                <a:latin typeface="Georgia" pitchFamily="34" charset="0"/>
                <a:ea typeface="Georgia" pitchFamily="34" charset="-122"/>
                <a:cs typeface="Georgia" pitchFamily="34" charset="-120"/>
              </a:rPr>
              <a:t> (6) ________ </a:t>
            </a:r>
            <a:pPr indent="0" marL="0">
              <a:buNone/>
            </a:pPr>
            <a:r>
              <a:rPr lang="en-US" sz="1100" dirty="0">
                <a:solidFill>
                  <a:srgbClr val="1B2559"/>
                </a:solidFill>
                <a:latin typeface="Georgia" pitchFamily="34" charset="0"/>
                <a:ea typeface="Georgia" pitchFamily="34" charset="-122"/>
                <a:cs typeface="Georgia" pitchFamily="34" charset="-120"/>
              </a:rPr>
              <a:t>. From now on, it was going to be easier…</a:t>
            </a:r>
            <a:endParaRPr lang="en-US" sz="1100" dirty="0"/>
          </a:p>
        </p:txBody>
      </p:sp>
      <p:sp>
        <p:nvSpPr>
          <p:cNvPr id="23" name="R4_lnA523"/>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He got to Trafalgar Square and then went into a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cycle lane</a:t>
            </a:r>
            <a:pPr indent="0" marL="0">
              <a:buNone/>
            </a:pPr>
            <a:r>
              <a:rPr lang="en-US" sz="1100" dirty="0">
                <a:solidFill>
                  <a:srgbClr val="1B2559"/>
                </a:solidFill>
                <a:latin typeface="Georgia" pitchFamily="34" charset="0"/>
                <a:ea typeface="Georgia" pitchFamily="34" charset="-122"/>
                <a:cs typeface="Georgia" pitchFamily="34" charset="-120"/>
              </a:rPr>
              <a:t>. From now on, it was going to be easier…</a:t>
            </a:r>
            <a:endParaRPr lang="en-US" sz="1100" dirty="0"/>
          </a:p>
        </p:txBody>
      </p:sp>
      <p:sp>
        <p:nvSpPr>
          <p:cNvPr id="24" name="pf_524"/>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5" name="ph_525" descr="/home/claude/lls-course/v2/cache/3a1_cyclist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6" name="cd_526"/>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ii_527"/>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8" name="ih_528"/>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9" name="il_529"/>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Clue for 3: like a cycle lane, but for buses!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31"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532"/>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race 3/3: the car</a:t>
            </a:r>
            <a:endParaRPr lang="en-US" sz="2500" dirty="0"/>
          </a:p>
        </p:txBody>
      </p:sp>
      <p:pic>
        <p:nvPicPr>
          <p:cNvPr id="6" name="brP_533"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534"/>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Guess gap 7. Who's winning?</a:t>
            </a:r>
            <a:endParaRPr lang="en-US" sz="1250" dirty="0"/>
          </a:p>
        </p:txBody>
      </p:sp>
      <p:sp>
        <p:nvSpPr>
          <p:cNvPr id="8" name="insIT_53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Indovina lo spazio 7. Chi sta vincendo?</a:t>
            </a:r>
            <a:endParaRPr lang="en-US" sz="950" dirty="0"/>
          </a:p>
        </p:txBody>
      </p:sp>
      <p:sp>
        <p:nvSpPr>
          <p:cNvPr id="9" name="cmd_53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537"/>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538"/>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53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4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Reading · the race 3/3   ·   📖 SB p.27 · 3c · text: James in the car</a:t>
            </a:r>
            <a:endParaRPr lang="en-US" sz="800" dirty="0"/>
          </a:p>
        </p:txBody>
      </p:sp>
      <p:sp>
        <p:nvSpPr>
          <p:cNvPr id="14" name="cd_541"/>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542"/>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James in the car</a:t>
            </a:r>
            <a:endParaRPr lang="en-US" sz="1700" dirty="0"/>
          </a:p>
        </p:txBody>
      </p:sp>
      <p:sp>
        <p:nvSpPr>
          <p:cNvPr id="16" name="ln_543"/>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He started off OK. He wasn't going fast, but at a steady speed – until he was stopped by the police!</a:t>
            </a:r>
            <a:endParaRPr lang="en-US" sz="1300" dirty="0"/>
          </a:p>
        </p:txBody>
      </p:sp>
      <p:sp>
        <p:nvSpPr>
          <p:cNvPr id="17" name="ln_544"/>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They only wanted to check the permit for the cameraman in the back of the car,</a:t>
            </a:r>
            <a:endParaRPr lang="en-US" sz="1300" dirty="0"/>
          </a:p>
        </p:txBody>
      </p:sp>
      <p:sp>
        <p:nvSpPr>
          <p:cNvPr id="18" name="ln_545"/>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but it meant that he lost three or four valuable minutes!</a:t>
            </a:r>
            <a:endParaRPr lang="en-US" sz="1300" dirty="0"/>
          </a:p>
        </p:txBody>
      </p:sp>
      <p:sp>
        <p:nvSpPr>
          <p:cNvPr id="19" name="ln_546"/>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The traffic was getting worse. Now he was going really slowly.</a:t>
            </a:r>
            <a:endParaRPr lang="en-US" sz="1300" dirty="0"/>
          </a:p>
        </p:txBody>
      </p:sp>
      <p:sp>
        <p:nvSpPr>
          <p:cNvPr id="20" name="ln_547"/>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25 miles an hour, 23…, 20…, </a:t>
            </a:r>
            <a:pPr indent="0" marL="0">
              <a:buNone/>
            </a:pPr>
            <a:r>
              <a:rPr lang="en-US" sz="1300" b="1" dirty="0">
                <a:solidFill>
                  <a:srgbClr val="2EB872"/>
                </a:solidFill>
                <a:latin typeface="Georgia" pitchFamily="34" charset="0"/>
                <a:ea typeface="Georgia" pitchFamily="34" charset="-122"/>
                <a:cs typeface="Georgia" pitchFamily="34" charset="-120"/>
              </a:rPr>
              <a:t> (7) ________ </a:t>
            </a:r>
            <a:pPr indent="0" marL="0">
              <a:buNone/>
            </a:pPr>
            <a:r>
              <a:rPr lang="en-US" sz="1300" dirty="0">
                <a:solidFill>
                  <a:srgbClr val="1B2559"/>
                </a:solidFill>
                <a:latin typeface="Georgia" pitchFamily="34" charset="0"/>
                <a:ea typeface="Georgia" pitchFamily="34" charset="-122"/>
                <a:cs typeface="Georgia" pitchFamily="34" charset="-120"/>
              </a:rPr>
              <a:t>… It was so frustrating!</a:t>
            </a:r>
            <a:endParaRPr lang="en-US" sz="1300" dirty="0"/>
          </a:p>
        </p:txBody>
      </p:sp>
      <p:sp>
        <p:nvSpPr>
          <p:cNvPr id="21" name="R1_lnA548"/>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25 miles an hour, 23…, 20…,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18</a:t>
            </a:r>
            <a:pPr indent="0" marL="0">
              <a:buNone/>
            </a:pPr>
            <a:r>
              <a:rPr lang="en-US" sz="1300" dirty="0">
                <a:solidFill>
                  <a:srgbClr val="1B2559"/>
                </a:solidFill>
                <a:latin typeface="Georgia" pitchFamily="34" charset="0"/>
                <a:ea typeface="Georgia" pitchFamily="34" charset="-122"/>
                <a:cs typeface="Georgia" pitchFamily="34" charset="-120"/>
              </a:rPr>
              <a:t>… It was so frustrating!</a:t>
            </a:r>
            <a:endParaRPr lang="en-US" sz="1300" dirty="0"/>
          </a:p>
        </p:txBody>
      </p:sp>
      <p:sp>
        <p:nvSpPr>
          <p:cNvPr id="22" name="pf_549"/>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550" descr="/home/claude/lls-course/v2/cache/3a1_traffic_jam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4" name="cd_551"/>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5" name="ii_552"/>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ih_553"/>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7" name="il_554"/>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850" dirty="0">
                <a:solidFill>
                  <a:srgbClr val="1B2559"/>
                </a:solidFill>
                <a:latin typeface="Segoe UI Semibold" pitchFamily="34" charset="0"/>
                <a:ea typeface="Segoe UI Semibold" pitchFamily="34" charset="-122"/>
                <a:cs typeface="Segoe UI Semibold" pitchFamily="34" charset="-120"/>
              </a:rPr>
              <a:t>steady = not fast, not slow</a:t>
            </a:r>
            <a:endParaRPr lang="en-US" sz="850" dirty="0"/>
          </a:p>
          <a:p>
            <a:pPr marL="152400" indent="-152400">
              <a:spcBef>
                <a:spcPts val="500"/>
              </a:spcBef>
              <a:spcAft>
                <a:spcPts val="200"/>
              </a:spcAft>
              <a:buSzPct val="100000"/>
              <a:buChar char="•"/>
            </a:pPr>
            <a:r>
              <a:rPr lang="en-US" sz="850" dirty="0">
                <a:solidFill>
                  <a:srgbClr val="1B2559"/>
                </a:solidFill>
                <a:latin typeface="Segoe UI Semibold" pitchFamily="34" charset="0"/>
                <a:ea typeface="Segoe UI Semibold" pitchFamily="34" charset="-122"/>
                <a:cs typeface="Segoe UI Semibold" pitchFamily="34" charset="-120"/>
              </a:rPr>
              <a:t>permit = a paper that says you can</a:t>
            </a:r>
            <a:endParaRPr lang="en-US" sz="8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5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56"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57"/>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Who…? Je, R or Ja?</a:t>
            </a:r>
            <a:endParaRPr lang="en-US" sz="2400" dirty="0"/>
          </a:p>
        </p:txBody>
      </p:sp>
      <p:pic>
        <p:nvPicPr>
          <p:cNvPr id="6" name="brP_558"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59"/>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3 minutes! Jeremy, Richard or James?</a:t>
            </a:r>
            <a:endParaRPr lang="en-US" sz="1250" dirty="0"/>
          </a:p>
        </p:txBody>
      </p:sp>
      <p:sp>
        <p:nvSpPr>
          <p:cNvPr id="8" name="insIT_56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3 minuti! Jeremy, Richard o James?</a:t>
            </a:r>
            <a:endParaRPr lang="en-US" sz="950" dirty="0"/>
          </a:p>
        </p:txBody>
      </p:sp>
      <p:sp>
        <p:nvSpPr>
          <p:cNvPr id="9" name="cmd_561"/>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562"/>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TROVA</a:t>
            </a:r>
            <a:endParaRPr lang="en-US" sz="1100" dirty="0"/>
          </a:p>
        </p:txBody>
      </p:sp>
      <p:sp>
        <p:nvSpPr>
          <p:cNvPr id="11" name="meta_563"/>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564"/>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3" name="logo_5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Reading · detail · speed challenge   ·   📖 SB p.27 · 3d (TG key)</a:t>
            </a:r>
            <a:endParaRPr lang="en-US" sz="800" dirty="0"/>
          </a:p>
        </p:txBody>
      </p:sp>
      <p:sp>
        <p:nvSpPr>
          <p:cNvPr id="15" name="cd_567"/>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56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6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570"/>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Who went by bike? → R (Richard)</a:t>
            </a:r>
            <a:endParaRPr lang="en-US" sz="1050" dirty="0"/>
          </a:p>
        </p:txBody>
      </p:sp>
      <p:sp>
        <p:nvSpPr>
          <p:cNvPr id="19" name="pf_571"/>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572" descr="/home/claude/lls-course/v2/cache/3a1_cover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573"/>
          <p:cNvSpPr/>
          <p:nvPr/>
        </p:nvSpPr>
        <p:spPr>
          <a:xfrm>
            <a:off x="3246120" y="1474143"/>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574"/>
          <p:cNvSpPr/>
          <p:nvPr/>
        </p:nvSpPr>
        <p:spPr>
          <a:xfrm>
            <a:off x="3630168" y="1417320"/>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had to show a paper?</a:t>
            </a:r>
            <a:endParaRPr lang="en-US" sz="1150" dirty="0"/>
          </a:p>
        </p:txBody>
      </p:sp>
      <p:sp>
        <p:nvSpPr>
          <p:cNvPr id="23" name="R1_chip575"/>
          <p:cNvSpPr/>
          <p:nvPr/>
        </p:nvSpPr>
        <p:spPr>
          <a:xfrm>
            <a:off x="5806440" y="1417320"/>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Ja · the police checked the permit</a:t>
            </a:r>
            <a:endParaRPr lang="en-US" sz="1000" dirty="0"/>
          </a:p>
        </p:txBody>
      </p:sp>
      <p:sp>
        <p:nvSpPr>
          <p:cNvPr id="24" name="bd_576"/>
          <p:cNvSpPr/>
          <p:nvPr/>
        </p:nvSpPr>
        <p:spPr>
          <a:xfrm>
            <a:off x="3246120" y="194440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577"/>
          <p:cNvSpPr/>
          <p:nvPr/>
        </p:nvSpPr>
        <p:spPr>
          <a:xfrm>
            <a:off x="3630168" y="1887583"/>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went much faster later on?</a:t>
            </a:r>
            <a:endParaRPr lang="en-US" sz="1150" dirty="0"/>
          </a:p>
        </p:txBody>
      </p:sp>
      <p:sp>
        <p:nvSpPr>
          <p:cNvPr id="26" name="R2_chip578"/>
          <p:cNvSpPr/>
          <p:nvPr/>
        </p:nvSpPr>
        <p:spPr>
          <a:xfrm>
            <a:off x="5806440" y="1887583"/>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Je · no speed limit after Wandsworth Bridge</a:t>
            </a:r>
            <a:endParaRPr lang="en-US" sz="1000" dirty="0"/>
          </a:p>
        </p:txBody>
      </p:sp>
      <p:sp>
        <p:nvSpPr>
          <p:cNvPr id="27" name="bd_579"/>
          <p:cNvSpPr/>
          <p:nvPr/>
        </p:nvSpPr>
        <p:spPr>
          <a:xfrm>
            <a:off x="3246120" y="2414669"/>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580"/>
          <p:cNvSpPr/>
          <p:nvPr/>
        </p:nvSpPr>
        <p:spPr>
          <a:xfrm>
            <a:off x="3630168" y="2357846"/>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didn't break the law?</a:t>
            </a:r>
            <a:endParaRPr lang="en-US" sz="1150" dirty="0"/>
          </a:p>
        </p:txBody>
      </p:sp>
      <p:sp>
        <p:nvSpPr>
          <p:cNvPr id="29" name="R3_chip581"/>
          <p:cNvSpPr/>
          <p:nvPr/>
        </p:nvSpPr>
        <p:spPr>
          <a:xfrm>
            <a:off x="5806440" y="2357846"/>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 · he didn't cycle through the red lights</a:t>
            </a:r>
            <a:endParaRPr lang="en-US" sz="1000" dirty="0"/>
          </a:p>
        </p:txBody>
      </p:sp>
      <p:sp>
        <p:nvSpPr>
          <p:cNvPr id="30" name="bd_582"/>
          <p:cNvSpPr/>
          <p:nvPr/>
        </p:nvSpPr>
        <p:spPr>
          <a:xfrm>
            <a:off x="3246120" y="28849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583"/>
          <p:cNvSpPr/>
          <p:nvPr/>
        </p:nvSpPr>
        <p:spPr>
          <a:xfrm>
            <a:off x="3630168" y="2828109"/>
            <a:ext cx="2103120" cy="424543"/>
          </a:xfrm>
          <a:prstGeom prst="roundRect">
            <a:avLst>
              <a:gd name="adj" fmla="val 2153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went more slowly later on?</a:t>
            </a:r>
            <a:endParaRPr lang="en-US" sz="1150" dirty="0"/>
          </a:p>
        </p:txBody>
      </p:sp>
      <p:sp>
        <p:nvSpPr>
          <p:cNvPr id="32" name="R4_chip584"/>
          <p:cNvSpPr/>
          <p:nvPr/>
        </p:nvSpPr>
        <p:spPr>
          <a:xfrm>
            <a:off x="5806440" y="2828109"/>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Ja · 25, 23, 20, 18 miles an hour</a:t>
            </a:r>
            <a:endParaRPr lang="en-US" sz="1000" dirty="0"/>
          </a:p>
        </p:txBody>
      </p:sp>
      <p:sp>
        <p:nvSpPr>
          <p:cNvPr id="33" name="bd_585"/>
          <p:cNvSpPr/>
          <p:nvPr/>
        </p:nvSpPr>
        <p:spPr>
          <a:xfrm>
            <a:off x="3246120" y="3355195"/>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586"/>
          <p:cNvSpPr/>
          <p:nvPr/>
        </p:nvSpPr>
        <p:spPr>
          <a:xfrm>
            <a:off x="3630168" y="3298371"/>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was happy to see traffic?</a:t>
            </a:r>
            <a:endParaRPr lang="en-US" sz="1150" dirty="0"/>
          </a:p>
        </p:txBody>
      </p:sp>
      <p:sp>
        <p:nvSpPr>
          <p:cNvPr id="35" name="R5_chip587"/>
          <p:cNvSpPr/>
          <p:nvPr/>
        </p:nvSpPr>
        <p:spPr>
          <a:xfrm>
            <a:off x="5806440" y="3298371"/>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 · delighted to see a terrible traffic jam</a:t>
            </a:r>
            <a:endParaRPr lang="en-US" sz="1000" dirty="0"/>
          </a:p>
        </p:txBody>
      </p:sp>
      <p:sp>
        <p:nvSpPr>
          <p:cNvPr id="36" name="bd_588"/>
          <p:cNvSpPr/>
          <p:nvPr/>
        </p:nvSpPr>
        <p:spPr>
          <a:xfrm>
            <a:off x="3246120" y="3825458"/>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7" name="q_589"/>
          <p:cNvSpPr/>
          <p:nvPr/>
        </p:nvSpPr>
        <p:spPr>
          <a:xfrm>
            <a:off x="3630168" y="3768634"/>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got slightly lost?</a:t>
            </a:r>
            <a:endParaRPr lang="en-US" sz="1150" dirty="0"/>
          </a:p>
        </p:txBody>
      </p:sp>
      <p:sp>
        <p:nvSpPr>
          <p:cNvPr id="38" name="R6_chip590"/>
          <p:cNvSpPr/>
          <p:nvPr/>
        </p:nvSpPr>
        <p:spPr>
          <a:xfrm>
            <a:off x="5806440" y="3768634"/>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Je · he was going in the wrong direction</a:t>
            </a:r>
            <a:endParaRPr lang="en-US" sz="1000" dirty="0"/>
          </a:p>
        </p:txBody>
      </p:sp>
      <p:sp>
        <p:nvSpPr>
          <p:cNvPr id="39" name="bd_591"/>
          <p:cNvSpPr/>
          <p:nvPr/>
        </p:nvSpPr>
        <p:spPr>
          <a:xfrm>
            <a:off x="3246120" y="4295721"/>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40" name="q_592"/>
          <p:cNvSpPr/>
          <p:nvPr/>
        </p:nvSpPr>
        <p:spPr>
          <a:xfrm>
            <a:off x="3630168" y="4238897"/>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had the most exciting trip?</a:t>
            </a:r>
            <a:endParaRPr lang="en-US" sz="1150" dirty="0"/>
          </a:p>
        </p:txBody>
      </p:sp>
      <p:sp>
        <p:nvSpPr>
          <p:cNvPr id="41" name="R7_chip593"/>
          <p:cNvSpPr/>
          <p:nvPr/>
        </p:nvSpPr>
        <p:spPr>
          <a:xfrm>
            <a:off x="5806440" y="4238897"/>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Je · 'the fastest-moving man in all of London'</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9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95"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596"/>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Phrase race!</a:t>
            </a:r>
            <a:endParaRPr lang="en-US" sz="2500" dirty="0"/>
          </a:p>
        </p:txBody>
      </p:sp>
      <p:pic>
        <p:nvPicPr>
          <p:cNvPr id="6" name="brP_597"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598"/>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meaning. Find the phrase!</a:t>
            </a:r>
            <a:endParaRPr lang="en-US" sz="1250" dirty="0"/>
          </a:p>
        </p:txBody>
      </p:sp>
      <p:sp>
        <p:nvSpPr>
          <p:cNvPr id="8" name="insIT_59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il significato. Trova l'espressione!</a:t>
            </a:r>
            <a:endParaRPr lang="en-US" sz="950" dirty="0"/>
          </a:p>
        </p:txBody>
      </p:sp>
      <p:sp>
        <p:nvSpPr>
          <p:cNvPr id="9" name="cmd_600"/>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601"/>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TROVA</a:t>
            </a:r>
            <a:endParaRPr lang="en-US" sz="1100" dirty="0"/>
          </a:p>
        </p:txBody>
      </p:sp>
      <p:sp>
        <p:nvSpPr>
          <p:cNvPr id="11" name="meta_602"/>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603"/>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3" name="logo_60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0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Game · words from the text   ·   📖 SB p.27 · 3e (TG key)</a:t>
            </a:r>
            <a:endParaRPr lang="en-US" sz="800" dirty="0"/>
          </a:p>
        </p:txBody>
      </p:sp>
      <p:sp>
        <p:nvSpPr>
          <p:cNvPr id="15" name="cd_606"/>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0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0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609"/>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Semibold" pitchFamily="34" charset="0"/>
                <a:ea typeface="Segoe UI Semibold" pitchFamily="34" charset="-122"/>
                <a:cs typeface="Segoe UI Semibold" pitchFamily="34" charset="-120"/>
              </a:rPr>
              <a:t>Read the meaning.</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Leggi il significato.</a:t>
            </a:r>
            <a:endParaRPr lang="en-US" sz="1150" dirty="0"/>
          </a:p>
          <a:p>
            <a:pPr marL="190500" indent="-190500">
              <a:spcBef>
                <a:spcPts val="500"/>
              </a:spcBef>
              <a:spcAft>
                <a:spcPts val="200"/>
              </a:spcAft>
              <a:buSzPct val="100000"/>
              <a:buChar char="2"/>
            </a:pPr>
            <a:r>
              <a:rPr lang="en-US" sz="1150" dirty="0">
                <a:solidFill>
                  <a:srgbClr val="1B2559"/>
                </a:solidFill>
                <a:latin typeface="Segoe UI Semibold" pitchFamily="34" charset="0"/>
                <a:ea typeface="Segoe UI Semibold" pitchFamily="34" charset="-122"/>
                <a:cs typeface="Segoe UI Semibold" pitchFamily="34" charset="-120"/>
              </a:rPr>
              <a:t>Find the phrase in the text. Shout it!</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Trova l'espressione nel testo. Gridala!</a:t>
            </a:r>
            <a:endParaRPr lang="en-US" sz="1150" dirty="0"/>
          </a:p>
          <a:p>
            <a:pPr marL="190500" indent="-190500">
              <a:spcBef>
                <a:spcPts val="500"/>
              </a:spcBef>
              <a:spcAft>
                <a:spcPts val="200"/>
              </a:spcAft>
              <a:buSzPct val="100000"/>
              <a:buChar char="3"/>
            </a:pPr>
            <a:r>
              <a:rPr lang="en-US" sz="1150" dirty="0">
                <a:solidFill>
                  <a:srgbClr val="1B2559"/>
                </a:solidFill>
                <a:latin typeface="Segoe UI Semibold" pitchFamily="34" charset="0"/>
                <a:ea typeface="Segoe UI Semibold" pitchFamily="34" charset="-122"/>
                <a:cs typeface="Segoe UI Semibold" pitchFamily="34" charset="-120"/>
              </a:rPr>
              <a:t>First team = 1 point.</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La prima squadra = 1 punto.</a:t>
            </a:r>
            <a:endParaRPr lang="en-US" sz="1150" dirty="0"/>
          </a:p>
        </p:txBody>
      </p:sp>
      <p:sp>
        <p:nvSpPr>
          <p:cNvPr id="19" name="pf_610"/>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11" descr="/home/claude/lls-course/v2/cache/3a1_car_crash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612"/>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613"/>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changed direction (Jeremy)</a:t>
            </a:r>
            <a:endParaRPr lang="en-US" sz="1100" dirty="0"/>
          </a:p>
        </p:txBody>
      </p:sp>
      <p:sp>
        <p:nvSpPr>
          <p:cNvPr id="23" name="R1_chip614"/>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turned round</a:t>
            </a:r>
            <a:endParaRPr lang="en-US" sz="1100" dirty="0"/>
          </a:p>
        </p:txBody>
      </p:sp>
      <p:sp>
        <p:nvSpPr>
          <p:cNvPr id="24" name="bd_615"/>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616"/>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was in front of (Jeremy)</a:t>
            </a:r>
            <a:endParaRPr lang="en-US" sz="1100" dirty="0"/>
          </a:p>
        </p:txBody>
      </p:sp>
      <p:sp>
        <p:nvSpPr>
          <p:cNvPr id="26" name="R2_chip617"/>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was ahead of</a:t>
            </a:r>
            <a:endParaRPr lang="en-US" sz="1100" dirty="0"/>
          </a:p>
        </p:txBody>
      </p:sp>
      <p:sp>
        <p:nvSpPr>
          <p:cNvPr id="27" name="bd_618"/>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619"/>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hit another vehicle (Richard)</a:t>
            </a:r>
            <a:endParaRPr lang="en-US" sz="1100" dirty="0"/>
          </a:p>
        </p:txBody>
      </p:sp>
      <p:sp>
        <p:nvSpPr>
          <p:cNvPr id="29" name="R3_chip620"/>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crash into</a:t>
            </a:r>
            <a:endParaRPr lang="en-US" sz="1100" dirty="0"/>
          </a:p>
        </p:txBody>
      </p:sp>
      <p:sp>
        <p:nvSpPr>
          <p:cNvPr id="30" name="bd_621"/>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622"/>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changed to red (Richard)</a:t>
            </a:r>
            <a:endParaRPr lang="en-US" sz="1100" dirty="0"/>
          </a:p>
        </p:txBody>
      </p:sp>
      <p:sp>
        <p:nvSpPr>
          <p:cNvPr id="32" name="R4_chip623"/>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turned red</a:t>
            </a:r>
            <a:endParaRPr lang="en-US" sz="1100" dirty="0"/>
          </a:p>
        </p:txBody>
      </p:sp>
      <p:sp>
        <p:nvSpPr>
          <p:cNvPr id="33" name="bd_624"/>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625"/>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be unable to move (Richard)</a:t>
            </a:r>
            <a:endParaRPr lang="en-US" sz="1100" dirty="0"/>
          </a:p>
        </p:txBody>
      </p:sp>
      <p:sp>
        <p:nvSpPr>
          <p:cNvPr id="35" name="R5_chip626"/>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get stuck</a:t>
            </a:r>
            <a:endParaRPr lang="en-US" sz="1100" dirty="0"/>
          </a:p>
        </p:txBody>
      </p:sp>
      <p:sp>
        <p:nvSpPr>
          <p:cNvPr id="36" name="bd_627"/>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628"/>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becoming more and more busy (James)</a:t>
            </a:r>
            <a:endParaRPr lang="en-US" sz="1100" dirty="0"/>
          </a:p>
        </p:txBody>
      </p:sp>
      <p:sp>
        <p:nvSpPr>
          <p:cNvPr id="38" name="R6_chip629"/>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getting worse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3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31"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632"/>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Stig's journey</a:t>
            </a:r>
            <a:endParaRPr lang="en-US" sz="2500" dirty="0"/>
          </a:p>
        </p:txBody>
      </p:sp>
      <p:pic>
        <p:nvPicPr>
          <p:cNvPr id="6" name="brP_633"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634"/>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How did The Stig travel?</a:t>
            </a:r>
            <a:endParaRPr lang="en-US" sz="1250" dirty="0"/>
          </a:p>
        </p:txBody>
      </p:sp>
      <p:sp>
        <p:nvSpPr>
          <p:cNvPr id="8" name="insIT_63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Come ha viaggiato The Stig?</a:t>
            </a:r>
            <a:endParaRPr lang="en-US" sz="950" dirty="0"/>
          </a:p>
        </p:txBody>
      </p:sp>
      <p:sp>
        <p:nvSpPr>
          <p:cNvPr id="9" name="cmd_63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637"/>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638"/>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for gist</a:t>
            </a:r>
            <a:endParaRPr lang="en-US" sz="850" dirty="0"/>
          </a:p>
        </p:txBody>
      </p:sp>
      <p:pic>
        <p:nvPicPr>
          <p:cNvPr id="12" name="logo_63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4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Listening · The Stig   ·   📖 SB p.27 · 3f · audio 3.10</a:t>
            </a:r>
            <a:endParaRPr lang="en-US" sz="800" dirty="0"/>
          </a:p>
        </p:txBody>
      </p:sp>
      <p:sp>
        <p:nvSpPr>
          <p:cNvPr id="14" name="ap_641"/>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3.10  ·  play once or twice</a:t>
            </a:r>
            <a:endParaRPr lang="en-US" sz="1100" dirty="0"/>
          </a:p>
        </p:txBody>
      </p:sp>
      <p:sp>
        <p:nvSpPr>
          <p:cNvPr id="15" name="ah_642"/>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7" name="ah_643"/>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9" name="ah2_644"/>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speaker bottom right</a:t>
            </a:r>
            <a:endParaRPr lang="en-US" sz="900" dirty="0"/>
          </a:p>
        </p:txBody>
      </p:sp>
      <p:sp>
        <p:nvSpPr>
          <p:cNvPr id="20" name="pf_645"/>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646" descr="/home/claude/lls-course/v2/cache/4a1_public_transport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2" name="bd_647"/>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3" name="pf_648"/>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649" descr="/home/claude/lls-course/v2/cache/3a1_tube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5" name="bd_650"/>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6" name="pf_651"/>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7" name="ph_652" descr="/home/claude/lls-course/v2/cache/3a1_platform_jpg_407x297_31.png">    </p:cNvPr>
          <p:cNvPicPr>
            <a:picLocks noChangeAspect="1"/>
          </p:cNvPicPr>
          <p:nvPr/>
        </p:nvPicPr>
        <p:blipFill>
          <a:blip r:embed="rId13"/>
          <a:stretch>
            <a:fillRect/>
          </a:stretch>
        </p:blipFill>
        <p:spPr>
          <a:xfrm rot="-90000">
            <a:off x="4206240" y="2103120"/>
            <a:ext cx="1691640" cy="1234440"/>
          </a:xfrm>
          <a:prstGeom prst="rect">
            <a:avLst/>
          </a:prstGeom>
        </p:spPr>
      </p:pic>
      <p:sp>
        <p:nvSpPr>
          <p:cNvPr id="28" name="bd_653"/>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9" name="cd_654"/>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0" name="ii_655"/>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ih_656"/>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2" name="il_657"/>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Which 3 kinds of public transport? In what order?</a:t>
            </a:r>
            <a:endParaRPr lang="en-US" sz="700" dirty="0"/>
          </a:p>
          <a:p>
            <a:pPr marL="152400" indent="-152400">
              <a:spcAft>
                <a:spcPts val="200"/>
              </a:spcAft>
              <a:buSzPct val="100000"/>
              <a:buChar char=" "/>
            </a:pPr>
            <a:r>
              <a:rPr lang="en-US" sz="700" i="1" dirty="0">
                <a:solidFill>
                  <a:srgbClr val="5B6785"/>
                </a:solidFill>
                <a:latin typeface="Segoe UI Semibold" pitchFamily="34" charset="0"/>
                <a:ea typeface="Segoe UI Semibold" pitchFamily="34" charset="-122"/>
                <a:cs typeface="Segoe UI Semibold" pitchFamily="34" charset="-120"/>
              </a:rPr>
              <a:t>Quali 3 mezzi pubblici? In che ordine?</a:t>
            </a:r>
            <a:endParaRPr lang="en-US" sz="700" dirty="0"/>
          </a:p>
          <a:p>
            <a:pPr marL="152400" indent="-152400">
              <a:spcBef>
                <a:spcPts val="5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What did he do on the Tube?</a:t>
            </a:r>
            <a:endParaRPr lang="en-US" sz="700" dirty="0"/>
          </a:p>
          <a:p>
            <a:pPr marL="152400" indent="-152400">
              <a:spcAft>
                <a:spcPts val="200"/>
              </a:spcAft>
              <a:buSzPct val="100000"/>
              <a:buChar char=" "/>
            </a:pPr>
            <a:r>
              <a:rPr lang="en-US" sz="700" i="1" dirty="0">
                <a:solidFill>
                  <a:srgbClr val="5B6785"/>
                </a:solidFill>
                <a:latin typeface="Segoe UI Semibold" pitchFamily="34" charset="0"/>
                <a:ea typeface="Segoe UI Semibold" pitchFamily="34" charset="-122"/>
                <a:cs typeface="Segoe UI Semibold" pitchFamily="34" charset="-120"/>
              </a:rPr>
              <a:t>Cosa ha fatto sulla metro?</a:t>
            </a:r>
            <a:endParaRPr lang="en-US" sz="700" dirty="0"/>
          </a:p>
        </p:txBody>
      </p:sp>
      <p:sp>
        <p:nvSpPr>
          <p:cNvPr id="33" name="lq_658"/>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1st</a:t>
            </a:r>
            <a:endParaRPr lang="en-US" sz="1100" dirty="0"/>
          </a:p>
        </p:txBody>
      </p:sp>
      <p:sp>
        <p:nvSpPr>
          <p:cNvPr id="34" name="R1_chip659"/>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bus · Kew Bridge → Acton Town</a:t>
            </a:r>
            <a:endParaRPr lang="en-US" sz="1050" dirty="0"/>
          </a:p>
        </p:txBody>
      </p:sp>
      <p:sp>
        <p:nvSpPr>
          <p:cNvPr id="35" name="lq_660"/>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2nd</a:t>
            </a:r>
            <a:endParaRPr lang="en-US" sz="1100" dirty="0"/>
          </a:p>
        </p:txBody>
      </p:sp>
      <p:sp>
        <p:nvSpPr>
          <p:cNvPr id="36" name="R2_chip661"/>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Tube · District line · 18 stops</a:t>
            </a:r>
            <a:endParaRPr lang="en-US" sz="1050" dirty="0"/>
          </a:p>
        </p:txBody>
      </p:sp>
      <p:sp>
        <p:nvSpPr>
          <p:cNvPr id="37" name="lq_662"/>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3rd</a:t>
            </a:r>
            <a:endParaRPr lang="en-US" sz="1100" dirty="0"/>
          </a:p>
        </p:txBody>
      </p:sp>
      <p:sp>
        <p:nvSpPr>
          <p:cNvPr id="38" name="R3_chip663"/>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Docklands Light Railway · 10 stops</a:t>
            </a:r>
            <a:endParaRPr lang="en-US" sz="1050" dirty="0"/>
          </a:p>
        </p:txBody>
      </p:sp>
      <p:sp>
        <p:nvSpPr>
          <p:cNvPr id="39" name="lq_664"/>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On the Tube?</a:t>
            </a:r>
            <a:endParaRPr lang="en-US" sz="1100" dirty="0"/>
          </a:p>
        </p:txBody>
      </p:sp>
      <p:sp>
        <p:nvSpPr>
          <p:cNvPr id="40" name="R4_chip665"/>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he read a free newspaper</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4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4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seq concurrent="1" nextAc="seek">
              <p:cTn id="28" restart="whenNotActive" fill="hold" evtFilter="cancelBubble" nodeType="interactiveSeq">
                <p:stCondLst>
                  <p:cond evt="onClick" delay="0">
                    <p:tgtEl>
                      <p:spTgt spid="18"/>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8"/>
                                        </p:tgtEl>
                                      </p:cBhvr>
                                    </p:cmd>
                                  </p:childTnLst>
                                </p:cTn>
                              </p:par>
                            </p:childTnLst>
                          </p:cTn>
                        </p:par>
                      </p:childTnLst>
                    </p:cTn>
                  </p:par>
                </p:childTnLst>
              </p:cTn>
              <p:nextCondLst>
                <p:cond evt="onClick" delay="0">
                  <p:tgtEl>
                    <p:spTgt spid="18"/>
                  </p:tgtEl>
                </p:cond>
              </p:nextCondLst>
            </p:seq>
            <p:audio>
              <p:cMediaNode vol="80000">
                <p:cTn id="33" fill="hold" display="0">
                  <p:stCondLst>
                    <p:cond delay="indefinite"/>
                  </p:stCondLst>
                  <p:endCondLst>
                    <p:cond evt="onStopAudio" delay="0">
                      <p:tgtEl>
                        <p:sldTgt/>
                      </p:tgtEl>
                    </p:cond>
                  </p:endCondLst>
                </p:cTn>
                <p:tgtEl>
                  <p:spTgt spid="16"/>
                </p:tgtEl>
              </p:cMediaNode>
            </p:audio>
            <p:audio>
              <p:cMediaNode vol="80000">
                <p:cTn id="34" fill="hold" display="0">
                  <p:stCondLst>
                    <p:cond delay="indefinite"/>
                  </p:stCondLst>
                  <p:endCondLst>
                    <p:cond evt="onStopAudio" delay="0">
                      <p:tgtEl>
                        <p:sldTgt/>
                      </p:tgtEl>
                    </p:cond>
                  </p:endCondLst>
                </p:cTn>
                <p:tgtEl>
                  <p:spTgt spid="18"/>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6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67"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668"/>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Who won the race?</a:t>
            </a:r>
            <a:endParaRPr lang="en-US" sz="2400" dirty="0"/>
          </a:p>
        </p:txBody>
      </p:sp>
      <p:pic>
        <p:nvPicPr>
          <p:cNvPr id="6" name="brP_669"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670"/>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Number them 1–4. Then listen!</a:t>
            </a:r>
            <a:endParaRPr lang="en-US" sz="1250" dirty="0"/>
          </a:p>
        </p:txBody>
      </p:sp>
      <p:sp>
        <p:nvSpPr>
          <p:cNvPr id="8" name="insIT_67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Numerali da 1 a 4. Poi ascolta!</a:t>
            </a:r>
            <a:endParaRPr lang="en-US" sz="950" dirty="0"/>
          </a:p>
        </p:txBody>
      </p:sp>
      <p:sp>
        <p:nvSpPr>
          <p:cNvPr id="9" name="cmd_672"/>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0" name="cmd_673"/>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674"/>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675"/>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for detail</a:t>
            </a:r>
            <a:endParaRPr lang="en-US" sz="850" dirty="0"/>
          </a:p>
        </p:txBody>
      </p:sp>
      <p:pic>
        <p:nvPicPr>
          <p:cNvPr id="13" name="logo_67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7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Listening · the result   ·   📖 SB p.27 · 3g · audio 3.11</a:t>
            </a:r>
            <a:endParaRPr lang="en-US" sz="800" dirty="0"/>
          </a:p>
        </p:txBody>
      </p:sp>
      <p:sp>
        <p:nvSpPr>
          <p:cNvPr id="15" name="ap_678"/>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3.11  ·  play once</a:t>
            </a:r>
            <a:endParaRPr lang="en-US" sz="1100" dirty="0"/>
          </a:p>
        </p:txBody>
      </p:sp>
      <p:sp>
        <p:nvSpPr>
          <p:cNvPr id="16" name="ah_679"/>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8" name="ah_680"/>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9"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0" name="pf_681"/>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682" descr="/home/claude/lls-course/v2/cache/3a1_cyclist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2" name="cd_683"/>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3" name="ii_684"/>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685"/>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5" name="il_686"/>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6" name="gq_687"/>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1st</a:t>
            </a:r>
            <a:endParaRPr lang="en-US" sz="1200" dirty="0"/>
          </a:p>
        </p:txBody>
      </p:sp>
      <p:sp>
        <p:nvSpPr>
          <p:cNvPr id="27" name="R1_chip688"/>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Richard (bike) 🏆</a:t>
            </a:r>
            <a:endParaRPr lang="en-US" sz="1200" dirty="0"/>
          </a:p>
        </p:txBody>
      </p:sp>
      <p:sp>
        <p:nvSpPr>
          <p:cNvPr id="28" name="gq_689"/>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2nd</a:t>
            </a:r>
            <a:endParaRPr lang="en-US" sz="1200" dirty="0"/>
          </a:p>
        </p:txBody>
      </p:sp>
      <p:sp>
        <p:nvSpPr>
          <p:cNvPr id="29" name="R2_chip690"/>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Jeremy (boat)</a:t>
            </a:r>
            <a:endParaRPr lang="en-US" sz="1200" dirty="0"/>
          </a:p>
        </p:txBody>
      </p:sp>
      <p:sp>
        <p:nvSpPr>
          <p:cNvPr id="30" name="gq_691"/>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3rd</a:t>
            </a:r>
            <a:endParaRPr lang="en-US" sz="1200" dirty="0"/>
          </a:p>
        </p:txBody>
      </p:sp>
      <p:sp>
        <p:nvSpPr>
          <p:cNvPr id="31" name="R3_chip692"/>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The Stig (public transport)</a:t>
            </a:r>
            <a:endParaRPr lang="en-US" sz="1200" dirty="0"/>
          </a:p>
        </p:txBody>
      </p:sp>
      <p:sp>
        <p:nvSpPr>
          <p:cNvPr id="32" name="gq_693"/>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4th – 15 minutes later!</a:t>
            </a:r>
            <a:endParaRPr lang="en-US" sz="1200" dirty="0"/>
          </a:p>
        </p:txBody>
      </p:sp>
      <p:sp>
        <p:nvSpPr>
          <p:cNvPr id="33" name="R4_chip694"/>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James (car)</a:t>
            </a:r>
            <a:endParaRPr lang="en-US" sz="1200" dirty="0"/>
          </a:p>
        </p:txBody>
      </p:sp>
      <p:sp>
        <p:nvSpPr>
          <p:cNvPr id="34" name="gq_695"/>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Why was Jeremy annoyed?</a:t>
            </a:r>
            <a:endParaRPr lang="en-US" sz="1200" dirty="0"/>
          </a:p>
        </p:txBody>
      </p:sp>
      <p:sp>
        <p:nvSpPr>
          <p:cNvPr id="35" name="R5_chip696"/>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Top Gear is about cars – and the car came last!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seq concurrent="1" nextAc="seek">
              <p:cTn id="33" restart="whenNotActive" fill="hold" evtFilter="cancelBubble" nodeType="interactiveSeq">
                <p:stCondLst>
                  <p:cond evt="onClick" delay="0">
                    <p:tgtEl>
                      <p:spTgt spid="19"/>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9"/>
                                        </p:tgtEl>
                                      </p:cBhvr>
                                    </p:cmd>
                                  </p:childTnLst>
                                </p:cTn>
                              </p:par>
                            </p:childTnLst>
                          </p:cTn>
                        </p:par>
                      </p:childTnLst>
                    </p:cTn>
                  </p:par>
                </p:childTnLst>
              </p:cTn>
              <p:nextCondLst>
                <p:cond evt="onClick" delay="0">
                  <p:tgtEl>
                    <p:spTgt spid="19"/>
                  </p:tgtEl>
                </p:cond>
              </p:nextCondLst>
            </p:seq>
            <p:audio>
              <p:cMediaNode vol="80000">
                <p:cTn id="38" fill="hold" display="0">
                  <p:stCondLst>
                    <p:cond delay="indefinite"/>
                  </p:stCondLst>
                  <p:endCondLst>
                    <p:cond evt="onStopAudio" delay="0">
                      <p:tgtEl>
                        <p:sldTgt/>
                      </p:tgtEl>
                    </p:cond>
                  </p:endCondLst>
                </p:cTn>
                <p:tgtEl>
                  <p:spTgt spid="17"/>
                </p:tgtEl>
              </p:cMediaNode>
            </p:audio>
            <p:audio>
              <p:cMediaNode vol="80000">
                <p:cTn id="39" fill="hold" display="0">
                  <p:stCondLst>
                    <p:cond delay="indefinite"/>
                  </p:stCondLst>
                  <p:endCondLst>
                    <p:cond evt="onStopAudio" delay="0">
                      <p:tgtEl>
                        <p:sldTgt/>
                      </p:tgtEl>
                    </p:cond>
                  </p:endCondLst>
                </p:cTn>
                <p:tgtEl>
                  <p:spTgt spid="19"/>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9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698"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699"/>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Bagheria race!</a:t>
            </a:r>
            <a:endParaRPr lang="en-US" sz="2500" dirty="0"/>
          </a:p>
        </p:txBody>
      </p:sp>
      <p:pic>
        <p:nvPicPr>
          <p:cNvPr id="6" name="brP_700"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701"/>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Same race here! Who wins? Say why.</a:t>
            </a:r>
            <a:endParaRPr lang="en-US" sz="1250" dirty="0"/>
          </a:p>
        </p:txBody>
      </p:sp>
      <p:sp>
        <p:nvSpPr>
          <p:cNvPr id="8" name="insIT_70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Stessa gara qui! Chi vince? Di' perché.</a:t>
            </a:r>
            <a:endParaRPr lang="en-US" sz="950" dirty="0"/>
          </a:p>
        </p:txBody>
      </p:sp>
      <p:sp>
        <p:nvSpPr>
          <p:cNvPr id="9" name="cmd_703"/>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70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groups</a:t>
            </a:r>
            <a:endParaRPr lang="en-US" sz="950" dirty="0"/>
          </a:p>
        </p:txBody>
      </p:sp>
      <p:sp>
        <p:nvSpPr>
          <p:cNvPr id="11" name="tag_70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70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0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Speaking · our own race   ·   📖 SB p.27 · 3h</a:t>
            </a:r>
            <a:endParaRPr lang="en-US" sz="800" dirty="0"/>
          </a:p>
        </p:txBody>
      </p:sp>
      <p:sp>
        <p:nvSpPr>
          <p:cNvPr id="14" name="pf_708"/>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709" descr="/home/claude/lls-course/v2/cache/3a1_bagheria_station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710"/>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711"/>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712"/>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713"/>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 think the … will win.</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It'll get stuck in traffic.</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 don't agree – the roadworks!</a:t>
            </a:r>
            <a:endParaRPr lang="en-US" sz="1050" dirty="0"/>
          </a:p>
        </p:txBody>
      </p:sp>
      <p:sp>
        <p:nvSpPr>
          <p:cNvPr id="20" name="R1_qb714"/>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715"/>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Bagheria → Teatro Massimo, Monday 8 a.m.: car, scooter, bike or train?</a:t>
            </a:r>
            <a:endParaRPr lang="en-US" sz="10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e.g. The scooter – it doesn't get stuck in traffic jams!</a:t>
            </a:r>
            <a:endParaRPr lang="en-US" sz="1000" dirty="0"/>
          </a:p>
        </p:txBody>
      </p:sp>
      <p:sp>
        <p:nvSpPr>
          <p:cNvPr id="22" name="R2_qb716"/>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717"/>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problems will the car have?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The rush hour, roadworks – and no parking spaces!</a:t>
            </a:r>
            <a:endParaRPr lang="en-US" sz="1250" dirty="0"/>
          </a:p>
        </p:txBody>
      </p:sp>
      <p:sp>
        <p:nvSpPr>
          <p:cNvPr id="24" name="R3_qb718"/>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719"/>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And the train? How long does it take?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It's quick, but then you have to walk from the station.</a:t>
            </a:r>
            <a:endParaRPr lang="en-US" sz="1250" dirty="0"/>
          </a:p>
        </p:txBody>
      </p:sp>
      <p:sp>
        <p:nvSpPr>
          <p:cNvPr id="26" name="R4_qb720"/>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721"/>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the bike a good idea? Why / why not?</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Not really – there aren't many cycle lanes.</a:t>
            </a:r>
            <a:endParaRPr lang="en-US" sz="1250" dirty="0"/>
          </a:p>
        </p:txBody>
      </p:sp>
      <p:sp>
        <p:nvSpPr>
          <p:cNvPr id="28" name="R5_qb722"/>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723"/>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Now agree as a group: 1st, 2nd, 3rd, 4th!</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1 the scooter · 2 the train · 3 the bike · 4 the car!</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2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725"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726"/>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727"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728"/>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72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Cosa ricordi?</a:t>
            </a:r>
            <a:endParaRPr lang="en-US" sz="950" dirty="0"/>
          </a:p>
        </p:txBody>
      </p:sp>
      <p:sp>
        <p:nvSpPr>
          <p:cNvPr id="9" name="meta_730"/>
          <p:cNvSpPr/>
          <p:nvPr/>
        </p:nvSpPr>
        <p:spPr>
          <a:xfrm>
            <a:off x="6510528" y="182880"/>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731"/>
          <p:cNvSpPr/>
          <p:nvPr/>
        </p:nvSpPr>
        <p:spPr>
          <a:xfrm>
            <a:off x="6510528" y="420624"/>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73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73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Exit · what can you remember?</a:t>
            </a:r>
            <a:endParaRPr lang="en-US" sz="800" dirty="0"/>
          </a:p>
        </p:txBody>
      </p:sp>
      <p:sp>
        <p:nvSpPr>
          <p:cNvPr id="13" name="bd_734"/>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735"/>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words for problems on the road (no looking!)</a:t>
            </a:r>
            <a:endParaRPr lang="en-US" sz="1400" dirty="0"/>
          </a:p>
        </p:txBody>
      </p:sp>
      <p:sp>
        <p:nvSpPr>
          <p:cNvPr id="15" name="bd_736"/>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737"/>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phrasal verbs in a sentence about YOUR journey</a:t>
            </a:r>
            <a:endParaRPr lang="en-US" sz="1400" dirty="0"/>
          </a:p>
        </p:txBody>
      </p:sp>
      <p:sp>
        <p:nvSpPr>
          <p:cNvPr id="17" name="bd_738"/>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739"/>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who won the race – and why was Jeremy annoyed?</a:t>
            </a:r>
            <a:endParaRPr lang="en-US" sz="1400" dirty="0"/>
          </a:p>
        </p:txBody>
      </p:sp>
      <p:sp>
        <p:nvSpPr>
          <p:cNvPr id="19" name="cd_740"/>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741"/>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742"/>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743"/>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3A: 1a–1e, 2a</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Vocabulary Bank p.155: cover and test yourself</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3A-1 in the LLS app</a:t>
            </a:r>
            <a:endParaRPr lang="en-US" sz="1150" dirty="0"/>
          </a:p>
        </p:txBody>
      </p:sp>
      <p:sp>
        <p:nvSpPr>
          <p:cNvPr id="23" name="st_744"/>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3A part 2 · comparatives and superlatives · why do car accidents happen?</a:t>
            </a:r>
            <a:endParaRPr lang="en-US" sz="1100" dirty="0"/>
          </a:p>
        </p:txBody>
      </p:sp>
    </p:spTree>
  </p:cSld>
  <p:clrMapOvr>
    <a:masterClrMapping/>
  </p:clrMapOvr>
  <p:transition spd="med">
    <p:push dir="l"/>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45"/>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746"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747"/>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748"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749"/>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75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cmd_75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752"/>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753"/>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Reflection</a:t>
            </a:r>
            <a:endParaRPr lang="en-US" sz="850" dirty="0"/>
          </a:p>
        </p:txBody>
      </p:sp>
      <p:pic>
        <p:nvPicPr>
          <p:cNvPr id="12" name="logo_75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5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Review · what did you do today?</a:t>
            </a:r>
            <a:endParaRPr lang="en-US" sz="800" dirty="0"/>
          </a:p>
        </p:txBody>
      </p:sp>
      <p:sp>
        <p:nvSpPr>
          <p:cNvPr id="14" name="cd_756"/>
          <p:cNvSpPr/>
          <p:nvPr/>
        </p:nvSpPr>
        <p:spPr>
          <a:xfrm>
            <a:off x="548640" y="1417320"/>
            <a:ext cx="6035040" cy="475488"/>
          </a:xfrm>
          <a:prstGeom prst="roundRect">
            <a:avLst>
              <a:gd name="adj" fmla="val 26923"/>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te_757"/>
          <p:cNvSpPr/>
          <p:nvPr/>
        </p:nvSpPr>
        <p:spPr>
          <a:xfrm>
            <a:off x="640080" y="145389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758"/>
          <p:cNvSpPr/>
          <p:nvPr/>
        </p:nvSpPr>
        <p:spPr>
          <a:xfrm>
            <a:off x="1188720" y="141732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Learnt 25 transport and road words</a:t>
            </a:r>
            <a:endParaRPr lang="en-US" sz="1350" dirty="0"/>
          </a:p>
        </p:txBody>
      </p:sp>
      <p:sp>
        <p:nvSpPr>
          <p:cNvPr id="17" name="R1_tk759"/>
          <p:cNvSpPr/>
          <p:nvPr/>
        </p:nvSpPr>
        <p:spPr>
          <a:xfrm>
            <a:off x="5989320" y="145389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760"/>
          <p:cNvSpPr/>
          <p:nvPr/>
        </p:nvSpPr>
        <p:spPr>
          <a:xfrm>
            <a:off x="548640" y="1965960"/>
            <a:ext cx="6035040" cy="475488"/>
          </a:xfrm>
          <a:prstGeom prst="roundRect">
            <a:avLst>
              <a:gd name="adj" fmla="val 26923"/>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te_761"/>
          <p:cNvSpPr/>
          <p:nvPr/>
        </p:nvSpPr>
        <p:spPr>
          <a:xfrm>
            <a:off x="640080" y="200253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762"/>
          <p:cNvSpPr/>
          <p:nvPr/>
        </p:nvSpPr>
        <p:spPr>
          <a:xfrm>
            <a:off x="1188720" y="196596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/ʃ/ /dʒ/ /tʃ/: shower, jazz, chess</a:t>
            </a:r>
            <a:endParaRPr lang="en-US" sz="1350" dirty="0"/>
          </a:p>
        </p:txBody>
      </p:sp>
      <p:sp>
        <p:nvSpPr>
          <p:cNvPr id="21" name="R2_tk763"/>
          <p:cNvSpPr/>
          <p:nvPr/>
        </p:nvSpPr>
        <p:spPr>
          <a:xfrm>
            <a:off x="5989320" y="200253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764"/>
          <p:cNvSpPr/>
          <p:nvPr/>
        </p:nvSpPr>
        <p:spPr>
          <a:xfrm>
            <a:off x="548640" y="2514600"/>
            <a:ext cx="6035040" cy="475488"/>
          </a:xfrm>
          <a:prstGeom prst="roundRect">
            <a:avLst>
              <a:gd name="adj" fmla="val 26923"/>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te_765"/>
          <p:cNvSpPr/>
          <p:nvPr/>
        </p:nvSpPr>
        <p:spPr>
          <a:xfrm>
            <a:off x="640080" y="255117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766"/>
          <p:cNvSpPr/>
          <p:nvPr/>
        </p:nvSpPr>
        <p:spPr>
          <a:xfrm>
            <a:off x="1188720" y="251460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about a crazy race across London</a:t>
            </a:r>
            <a:endParaRPr lang="en-US" sz="1350" dirty="0"/>
          </a:p>
        </p:txBody>
      </p:sp>
      <p:sp>
        <p:nvSpPr>
          <p:cNvPr id="25" name="R3_tk767"/>
          <p:cNvSpPr/>
          <p:nvPr/>
        </p:nvSpPr>
        <p:spPr>
          <a:xfrm>
            <a:off x="5989320" y="255117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768"/>
          <p:cNvSpPr/>
          <p:nvPr/>
        </p:nvSpPr>
        <p:spPr>
          <a:xfrm>
            <a:off x="548640" y="3063240"/>
            <a:ext cx="6035040" cy="475488"/>
          </a:xfrm>
          <a:prstGeom prst="roundRect">
            <a:avLst>
              <a:gd name="adj" fmla="val 26923"/>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te_769"/>
          <p:cNvSpPr/>
          <p:nvPr/>
        </p:nvSpPr>
        <p:spPr>
          <a:xfrm>
            <a:off x="640080" y="309981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770"/>
          <p:cNvSpPr/>
          <p:nvPr/>
        </p:nvSpPr>
        <p:spPr>
          <a:xfrm>
            <a:off x="1188720" y="306324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who won the race?</a:t>
            </a:r>
            <a:endParaRPr lang="en-US" sz="1350" dirty="0"/>
          </a:p>
        </p:txBody>
      </p:sp>
      <p:sp>
        <p:nvSpPr>
          <p:cNvPr id="29" name="R4_tk771"/>
          <p:cNvSpPr/>
          <p:nvPr/>
        </p:nvSpPr>
        <p:spPr>
          <a:xfrm>
            <a:off x="5989320" y="309981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cd_772"/>
          <p:cNvSpPr/>
          <p:nvPr/>
        </p:nvSpPr>
        <p:spPr>
          <a:xfrm>
            <a:off x="548640" y="3611880"/>
            <a:ext cx="6035040" cy="475488"/>
          </a:xfrm>
          <a:prstGeom prst="roundRect">
            <a:avLst>
              <a:gd name="adj" fmla="val 26923"/>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te_773"/>
          <p:cNvSpPr/>
          <p:nvPr/>
        </p:nvSpPr>
        <p:spPr>
          <a:xfrm>
            <a:off x="640080" y="364845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t_774"/>
          <p:cNvSpPr/>
          <p:nvPr/>
        </p:nvSpPr>
        <p:spPr>
          <a:xfrm>
            <a:off x="1188720" y="361188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33" name="R5_tk775"/>
          <p:cNvSpPr/>
          <p:nvPr/>
        </p:nvSpPr>
        <p:spPr>
          <a:xfrm>
            <a:off x="5989320" y="364845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cd_776"/>
          <p:cNvSpPr/>
          <p:nvPr/>
        </p:nvSpPr>
        <p:spPr>
          <a:xfrm>
            <a:off x="548640" y="4160520"/>
            <a:ext cx="6035040" cy="475488"/>
          </a:xfrm>
          <a:prstGeom prst="roundRect">
            <a:avLst>
              <a:gd name="adj" fmla="val 26923"/>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te_777"/>
          <p:cNvSpPr/>
          <p:nvPr/>
        </p:nvSpPr>
        <p:spPr>
          <a:xfrm>
            <a:off x="640080" y="419709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6" name="tt_778"/>
          <p:cNvSpPr/>
          <p:nvPr/>
        </p:nvSpPr>
        <p:spPr>
          <a:xfrm>
            <a:off x="1188720" y="416052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Planned a race from Bagheria to Palermo</a:t>
            </a:r>
            <a:endParaRPr lang="en-US" sz="1350" dirty="0"/>
          </a:p>
        </p:txBody>
      </p:sp>
      <p:sp>
        <p:nvSpPr>
          <p:cNvPr id="37" name="R6_tk779"/>
          <p:cNvSpPr/>
          <p:nvPr/>
        </p:nvSpPr>
        <p:spPr>
          <a:xfrm>
            <a:off x="5989320" y="419709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8" name="st_780"/>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8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25</a:t>
            </a:r>
            <a:endParaRPr lang="en-US" sz="2200" dirty="0"/>
          </a:p>
        </p:txBody>
      </p:sp>
      <p:pic>
        <p:nvPicPr>
          <p:cNvPr id="4" name="brY_782"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783"/>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Sound dictation</a:t>
            </a:r>
            <a:endParaRPr lang="en-US" sz="2500" dirty="0"/>
          </a:p>
        </p:txBody>
      </p:sp>
      <p:pic>
        <p:nvPicPr>
          <p:cNvPr id="6" name="brP_784"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785"/>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Write the sentence. Then check!</a:t>
            </a:r>
            <a:endParaRPr lang="en-US" sz="1250" dirty="0"/>
          </a:p>
        </p:txBody>
      </p:sp>
      <p:sp>
        <p:nvSpPr>
          <p:cNvPr id="8" name="insIT_78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Scrivi la frase. Poi controlla!</a:t>
            </a:r>
            <a:endParaRPr lang="en-US" sz="950" dirty="0"/>
          </a:p>
        </p:txBody>
      </p:sp>
      <p:sp>
        <p:nvSpPr>
          <p:cNvPr id="9" name="cmd_78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788"/>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WRITE</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SCRIVI</a:t>
            </a:r>
            <a:endParaRPr lang="en-US" sz="1100" dirty="0"/>
          </a:p>
        </p:txBody>
      </p:sp>
      <p:sp>
        <p:nvSpPr>
          <p:cNvPr id="11" name="meta_789"/>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2" name="tag_790"/>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Pronunciation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3" name="logo_79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79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Extra · pronunciation · dictation   ·   📖 SB p.26 · 2f · audio 3.9</a:t>
            </a:r>
            <a:endParaRPr lang="en-US" sz="800" dirty="0"/>
          </a:p>
        </p:txBody>
      </p:sp>
      <p:sp>
        <p:nvSpPr>
          <p:cNvPr id="15" name="st_793"/>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6" name="cd_794"/>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79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796"/>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9" name="il_797"/>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Listen carefully: /ʃ/ /dʒ/ or /tʃ/?  ship or chip?</a:t>
            </a:r>
            <a:endParaRPr lang="en-US" sz="1050" dirty="0"/>
          </a:p>
        </p:txBody>
      </p:sp>
      <p:sp>
        <p:nvSpPr>
          <p:cNvPr id="20" name="bd_798"/>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799"/>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Sentence 1</a:t>
            </a:r>
            <a:endParaRPr lang="en-US" sz="1150" dirty="0"/>
          </a:p>
        </p:txBody>
      </p:sp>
      <p:sp>
        <p:nvSpPr>
          <p:cNvPr id="22" name="R1_chip800"/>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Do you like chips?</a:t>
            </a:r>
            <a:endParaRPr lang="en-US" sz="1000" dirty="0"/>
          </a:p>
        </p:txBody>
      </p:sp>
      <p:sp>
        <p:nvSpPr>
          <p:cNvPr id="23" name="bd_801"/>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802"/>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Sentence 2</a:t>
            </a:r>
            <a:endParaRPr lang="en-US" sz="1150" dirty="0"/>
          </a:p>
        </p:txBody>
      </p:sp>
      <p:sp>
        <p:nvSpPr>
          <p:cNvPr id="25" name="R2_chip803"/>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I'm going to wash it.</a:t>
            </a:r>
            <a:endParaRPr lang="en-US" sz="1000" dirty="0"/>
          </a:p>
        </p:txBody>
      </p:sp>
      <p:sp>
        <p:nvSpPr>
          <p:cNvPr id="26" name="bd_804"/>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805"/>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Sentence 3</a:t>
            </a:r>
            <a:endParaRPr lang="en-US" sz="1150" dirty="0"/>
          </a:p>
        </p:txBody>
      </p:sp>
      <p:sp>
        <p:nvSpPr>
          <p:cNvPr id="28" name="R3_chip806"/>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You choose.</a:t>
            </a:r>
            <a:endParaRPr lang="en-US" sz="1000" dirty="0"/>
          </a:p>
        </p:txBody>
      </p:sp>
      <p:sp>
        <p:nvSpPr>
          <p:cNvPr id="29" name="bd_807"/>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808"/>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Sentence 4</a:t>
            </a:r>
            <a:endParaRPr lang="en-US" sz="1150" dirty="0"/>
          </a:p>
        </p:txBody>
      </p:sp>
      <p:sp>
        <p:nvSpPr>
          <p:cNvPr id="31" name="R4_chip809"/>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Don't joke about it.</a:t>
            </a:r>
            <a:endParaRPr lang="en-US" sz="1000" dirty="0"/>
          </a:p>
        </p:txBody>
      </p:sp>
      <p:sp>
        <p:nvSpPr>
          <p:cNvPr id="32" name="bd_810"/>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811"/>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Sentence 5</a:t>
            </a:r>
            <a:endParaRPr lang="en-US" sz="1150" dirty="0"/>
          </a:p>
        </p:txBody>
      </p:sp>
      <p:sp>
        <p:nvSpPr>
          <p:cNvPr id="34" name="R5_chip812"/>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Is it cheap?</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1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26</a:t>
            </a:r>
            <a:endParaRPr lang="en-US" sz="2200" dirty="0"/>
          </a:p>
        </p:txBody>
      </p:sp>
      <p:pic>
        <p:nvPicPr>
          <p:cNvPr id="4" name="brY_814"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815"/>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worst journey ever!</a:t>
            </a:r>
            <a:endParaRPr lang="en-US" sz="2500" dirty="0"/>
          </a:p>
        </p:txBody>
      </p:sp>
      <p:pic>
        <p:nvPicPr>
          <p:cNvPr id="6" name="brP_816"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817"/>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Invent the worst journey. Use 6 words!</a:t>
            </a:r>
            <a:endParaRPr lang="en-US" sz="1250" dirty="0"/>
          </a:p>
        </p:txBody>
      </p:sp>
      <p:sp>
        <p:nvSpPr>
          <p:cNvPr id="8" name="insIT_81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Inventate il viaggio peggiore. Usate 6 parole!</a:t>
            </a:r>
            <a:endParaRPr lang="en-US" sz="950" dirty="0"/>
          </a:p>
        </p:txBody>
      </p:sp>
      <p:sp>
        <p:nvSpPr>
          <p:cNvPr id="9" name="cmd_819"/>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cmd_820"/>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1" name="meta_82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82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3" name="logo_82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82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3A-1 · Extra · speaking · the worst journey</a:t>
            </a:r>
            <a:endParaRPr lang="en-US" sz="800" dirty="0"/>
          </a:p>
        </p:txBody>
      </p:sp>
      <p:sp>
        <p:nvSpPr>
          <p:cNvPr id="15" name="st_825"/>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6" name="pf_82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827" descr="/home/claude/lls-course/v2/cache/3a1_parking_fine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8" name="cd_82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9" name="ii_82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83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1" name="il_83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First… then… in the end…</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set off · run out of · end up · get stuck</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It was a nightmare! I was furious!</a:t>
            </a:r>
            <a:endParaRPr lang="en-US" sz="900" dirty="0"/>
          </a:p>
        </p:txBody>
      </p:sp>
      <p:sp>
        <p:nvSpPr>
          <p:cNvPr id="22" name="R1_qb83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3" name="R1_sq833"/>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Invent the WORST journey to school or work ever (pairs, 2 minutes).</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We set off late, ran out of petrol on the motorway…</a:t>
            </a:r>
            <a:endParaRPr lang="en-US" sz="1050" dirty="0"/>
          </a:p>
        </p:txBody>
      </p:sp>
      <p:sp>
        <p:nvSpPr>
          <p:cNvPr id="24" name="R2_qb834"/>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R2_sq835"/>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Use at least 6 words from today.</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…got stuck in a traffic jam, got a parking fine…</a:t>
            </a:r>
            <a:endParaRPr lang="en-US" sz="1250" dirty="0"/>
          </a:p>
        </p:txBody>
      </p:sp>
      <p:sp>
        <p:nvSpPr>
          <p:cNvPr id="26" name="R3_qb836"/>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R3_sq837"/>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Tell another pair in 1 minute. They count your words!</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…and ended up in Catania! I was furious!</a:t>
            </a:r>
            <a:endParaRPr lang="en-US" sz="1250" dirty="0"/>
          </a:p>
        </p:txBody>
      </p:sp>
      <p:sp>
        <p:nvSpPr>
          <p:cNvPr id="28" name="R4_qb838"/>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R4_sq839"/>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Vote: whose journey was the worst?</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Theirs! They got a speed camera fine AND a car crash!</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4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4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4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400"/>
                                        <p:tgtEl>
                                          <p:spTgt spid="28"/>
                                        </p:tgtEl>
                                      </p:cBhvr>
                                    </p:animEffect>
                                  </p:childTnLst>
                                </p:cTn>
                              </p:par>
                              <p:par>
                                <p:cTn id="32" presetID="10" presetClass="entr" presetSubtype="0"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3A-1 Survive the drive</dc:title>
  <dc:subject>PptxGenJS Presentation</dc:subject>
  <dc:creator>PptxGenJS</dc:creator>
  <cp:lastModifiedBy>PptxGenJS</cp:lastModifiedBy>
  <cp:revision>1</cp:revision>
  <dcterms:created xsi:type="dcterms:W3CDTF">2026-10-15T08:38:40Z</dcterms:created>
  <dcterms:modified xsi:type="dcterms:W3CDTF">2026-10-15T08:38:40Z</dcterms:modified>
</cp:coreProperties>
</file>