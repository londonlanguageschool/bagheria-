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ELICIT (2 min).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(3 min).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13–16)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13–16)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reasons A–H (2 min)
PRE-READING (2 min). Reasons A–H from SB 6d, shortened on the slide (the full book wording appears in the article on slides 13–16).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the oldest child (2 min)
READING FOR DETAIL (2 min). The article from SB p.12, one paragraph per slide (slides 13–16). Read the introduction together (shortened: the book adds 'that is, whether we're an oldest child, a middle child, a youngest child, or an only child'). Students read the paragraph and decide which reason (A–H, slide 12) goes in the gap. Gap 1 is the book's example: click to show H highlighted IN the text. EVIDENCE: 'Why are oldest children responsible?' (they look after younger brothers and sisters) · 'Why are they insecure?' (they lost some attention – maybe they felt rejected = rifiutati). Check slide 11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youngest child (2 min)
READING FOR DETAIL (2 min). Same procedure. Answers (TG): 4 B · 5 E. Drill rebellious /rɪˈbeljəs/, immature /ˌɪməˈtʃʊə/, discipline /ˈdɪsəplɪn/. Ask: 'Are you the youngest? Do you agree?!' (quick reactions only – the discussion is on slide 17).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only child (2 min)
READING FOR DETAIL (2 min). Same procedure. Answers (TG): 6 F · 7 D · 8 G. Now check slide 11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gist (3 min)
GIST (3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Speaking · retell the story (4 min)
SPEAKING (4 min). Questions one per click. 7d (2 min): pairs A and B retell the story from the OTHER person's point of view (the first example is the book's model opening). Monitor and help with vocabulary; 1–2 students tell the class. 7e (2 min): a time when they or a sibling / friend behaved badly as a child – only if they want to; a funny story is perfect. If you have a story, tell it first (TG). Then 1–2 minutes of delayed error correction: write 4–5 errors from slides 17 and 22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25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slideLayout" Target="../slideLayouts/slideLayout1.xml"/><Relationship Id="rId1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100" dirty="0">
                <a:solidFill>
                  <a:srgbClr val="1B2559"/>
                </a:solidFill>
                <a:latin typeface="Segoe UI" pitchFamily="34" charset="0"/>
                <a:ea typeface="Segoe UI" pitchFamily="34" charset="-122"/>
                <a:cs typeface="Segoe UI" pitchFamily="34" charset="-120"/>
              </a:rPr>
              <a:t>💬  describe people's personality</a:t>
            </a:r>
            <a:endParaRPr lang="en-US" sz="1100" dirty="0"/>
          </a:p>
          <a:p>
            <a:pPr indent="0" marL="0">
              <a:spcBef>
                <a:spcPts val="500"/>
              </a:spcBef>
              <a:spcAft>
                <a:spcPts val="200"/>
              </a:spcAft>
              <a:buNone/>
            </a:pPr>
            <a:r>
              <a:rPr lang="en-US" sz="1100" dirty="0">
                <a:solidFill>
                  <a:srgbClr val="1B2559"/>
                </a:solidFill>
                <a:latin typeface="Segoe UI" pitchFamily="34" charset="0"/>
                <a:ea typeface="Segoe UI" pitchFamily="34" charset="-122"/>
                <a:cs typeface="Segoe UI" pitchFamily="34" charset="-120"/>
              </a:rPr>
              <a:t>🔤  make opposites: un-, dis-, im-…</a:t>
            </a:r>
            <a:endParaRPr lang="en-US" sz="1100" dirty="0"/>
          </a:p>
          <a:p>
            <a:pPr indent="0" marL="0">
              <a:spcBef>
                <a:spcPts val="500"/>
              </a:spcBef>
              <a:spcAft>
                <a:spcPts val="200"/>
              </a:spcAft>
              <a:buNone/>
            </a:pPr>
            <a:r>
              <a:rPr lang="en-US" sz="1100" dirty="0">
                <a:solidFill>
                  <a:srgbClr val="1B2559"/>
                </a:solidFill>
                <a:latin typeface="Segoe UI" pitchFamily="34" charset="0"/>
                <a:ea typeface="Segoe UI" pitchFamily="34" charset="-122"/>
                <a:cs typeface="Segoe UI" pitchFamily="34" charset="-120"/>
              </a:rPr>
              <a:t>👀  read about birth order and personality</a:t>
            </a:r>
            <a:endParaRPr lang="en-US" sz="1100" dirty="0"/>
          </a:p>
          <a:p>
            <a:pPr indent="0" marL="0">
              <a:spcBef>
                <a:spcPts val="500"/>
              </a:spcBef>
              <a:spcAft>
                <a:spcPts val="200"/>
              </a:spcAft>
              <a:buNone/>
            </a:pPr>
            <a:r>
              <a:rPr lang="en-US" sz="1100" dirty="0">
                <a:solidFill>
                  <a:srgbClr val="1B2559"/>
                </a:solidFill>
                <a:latin typeface="Segoe UI" pitchFamily="34" charset="0"/>
                <a:ea typeface="Segoe UI" pitchFamily="34" charset="-122"/>
                <a:cs typeface="Segoe UI" pitchFamily="34" charset="-120"/>
              </a:rPr>
              <a:t>🎧  listen to two stories about brothers and sisters</a:t>
            </a:r>
            <a:endParaRPr lang="en-US" sz="11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modern families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family words · future forms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offer · promise · instant decision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seeing Nonna on Sunday.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plan · arrangement · prediction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28" name="w_42"/>
          <p:cNvSpPr/>
          <p:nvPr/>
        </p:nvSpPr>
        <p:spPr>
          <a:xfrm>
            <a:off x="4727448" y="417880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29" name="w_43"/>
          <p:cNvSpPr/>
          <p:nvPr/>
        </p:nvSpPr>
        <p:spPr>
          <a:xfrm>
            <a:off x="589788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half-sister</a:t>
            </a:r>
            <a:endParaRPr lang="en-US" sz="1050" dirty="0"/>
          </a:p>
        </p:txBody>
      </p:sp>
      <p:sp>
        <p:nvSpPr>
          <p:cNvPr id="30" name="w_44"/>
          <p:cNvSpPr/>
          <p:nvPr/>
        </p:nvSpPr>
        <p:spPr>
          <a:xfrm>
            <a:off x="7146036" y="4178808"/>
            <a:ext cx="164134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great-grandfather</a:t>
            </a:r>
            <a:endParaRPr lang="en-US" sz="1050" dirty="0"/>
          </a:p>
        </p:txBody>
      </p:sp>
      <p:sp>
        <p:nvSpPr>
          <p:cNvPr id="31" name="w_45"/>
          <p:cNvSpPr/>
          <p:nvPr/>
        </p:nvSpPr>
        <p:spPr>
          <a:xfrm>
            <a:off x="3246120" y="454456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2" name="w_46"/>
          <p:cNvSpPr/>
          <p:nvPr/>
        </p:nvSpPr>
        <p:spPr>
          <a:xfrm>
            <a:off x="4416552" y="454456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siblings</a:t>
            </a:r>
            <a:endParaRPr lang="en-US" sz="1050" dirty="0"/>
          </a:p>
        </p:txBody>
      </p:sp>
      <p:sp>
        <p:nvSpPr>
          <p:cNvPr id="33" name="w_47"/>
          <p:cNvSpPr/>
          <p:nvPr/>
        </p:nvSpPr>
        <p:spPr>
          <a:xfrm>
            <a:off x="5431536" y="4544568"/>
            <a:ext cx="140817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nephew / niece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2"/>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Warmer · last lesson   ·   📖 Recycles 1B part 1: family words, future forms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sentence. Find the mistake.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frase. Trova l'errore.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correct sentence.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frase corretta.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Correct fix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Correzione giusta = 1 punto.</a:t>
            </a:r>
            <a:endParaRPr lang="en-US" sz="115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spare_1b2_family_tre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brother-in-law</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great-grandfather</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an only child.</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l'aggettivo contrario.</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opposites   ·   📖 SB p.12 · 4a</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tall ≠ sh___ → short</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b2_shy_sociab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shy</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mean (tirchio)</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lazy</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quiet</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serious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1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1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l'aggettivo!</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personality 1   ·   📖 SB p.12 · 4b · Vocabulary Bank Personality p.153 (audio 1.22)</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doesn't like obeying rules → rebellious</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1b2_selfish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03604"/>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1100" dirty="0"/>
          </a:p>
        </p:txBody>
      </p:sp>
      <p:sp>
        <p:nvSpPr>
          <p:cNvPr id="22" name="R1_chip134"/>
          <p:cNvSpPr/>
          <p:nvPr/>
        </p:nvSpPr>
        <p:spPr>
          <a:xfrm>
            <a:off x="5806440" y="141732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selfish</a:t>
            </a:r>
            <a:endParaRPr lang="en-US" sz="1000" dirty="0"/>
          </a:p>
        </p:txBody>
      </p:sp>
      <p:sp>
        <p:nvSpPr>
          <p:cNvPr id="23" name="bd_135"/>
          <p:cNvSpPr/>
          <p:nvPr/>
        </p:nvSpPr>
        <p:spPr>
          <a:xfrm>
            <a:off x="3246120" y="173278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746504"/>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1100" dirty="0"/>
          </a:p>
        </p:txBody>
      </p:sp>
      <p:sp>
        <p:nvSpPr>
          <p:cNvPr id="25" name="R2_chip137"/>
          <p:cNvSpPr/>
          <p:nvPr/>
        </p:nvSpPr>
        <p:spPr>
          <a:xfrm>
            <a:off x="5806440" y="174650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spoilt</a:t>
            </a:r>
            <a:endParaRPr lang="en-US" sz="1000" dirty="0"/>
          </a:p>
        </p:txBody>
      </p:sp>
      <p:sp>
        <p:nvSpPr>
          <p:cNvPr id="26" name="bd_138"/>
          <p:cNvSpPr/>
          <p:nvPr/>
        </p:nvSpPr>
        <p:spPr>
          <a:xfrm>
            <a:off x="3246120" y="206197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075688"/>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tells people what to do</a:t>
            </a:r>
            <a:endParaRPr lang="en-US" sz="1150" dirty="0"/>
          </a:p>
        </p:txBody>
      </p:sp>
      <p:sp>
        <p:nvSpPr>
          <p:cNvPr id="28" name="R3_chip140"/>
          <p:cNvSpPr/>
          <p:nvPr/>
        </p:nvSpPr>
        <p:spPr>
          <a:xfrm>
            <a:off x="5806440" y="207568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bossy</a:t>
            </a:r>
            <a:endParaRPr lang="en-US" sz="1000" dirty="0"/>
          </a:p>
        </p:txBody>
      </p:sp>
      <p:sp>
        <p:nvSpPr>
          <p:cNvPr id="29" name="bd_141"/>
          <p:cNvSpPr/>
          <p:nvPr/>
        </p:nvSpPr>
        <p:spPr>
          <a:xfrm>
            <a:off x="3246120" y="239115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404872"/>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1000" dirty="0"/>
          </a:p>
        </p:txBody>
      </p:sp>
      <p:sp>
        <p:nvSpPr>
          <p:cNvPr id="31" name="R4_chip143"/>
          <p:cNvSpPr/>
          <p:nvPr/>
        </p:nvSpPr>
        <p:spPr>
          <a:xfrm>
            <a:off x="5806440" y="240487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stubborn</a:t>
            </a:r>
            <a:endParaRPr lang="en-US" sz="1000" dirty="0"/>
          </a:p>
        </p:txBody>
      </p:sp>
      <p:sp>
        <p:nvSpPr>
          <p:cNvPr id="32" name="bd_144"/>
          <p:cNvSpPr/>
          <p:nvPr/>
        </p:nvSpPr>
        <p:spPr>
          <a:xfrm>
            <a:off x="3246120" y="2720340"/>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2734056"/>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46"/>
          <p:cNvSpPr/>
          <p:nvPr/>
        </p:nvSpPr>
        <p:spPr>
          <a:xfrm>
            <a:off x="5806440" y="273405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moody</a:t>
            </a:r>
            <a:endParaRPr lang="en-US" sz="1000" dirty="0"/>
          </a:p>
        </p:txBody>
      </p:sp>
      <p:sp>
        <p:nvSpPr>
          <p:cNvPr id="35" name="bd_147"/>
          <p:cNvSpPr/>
          <p:nvPr/>
        </p:nvSpPr>
        <p:spPr>
          <a:xfrm>
            <a:off x="3246120" y="3049524"/>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063240"/>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always wants to win</a:t>
            </a:r>
            <a:endParaRPr lang="en-US" sz="1150" dirty="0"/>
          </a:p>
        </p:txBody>
      </p:sp>
      <p:sp>
        <p:nvSpPr>
          <p:cNvPr id="37" name="R6_chip149"/>
          <p:cNvSpPr/>
          <p:nvPr/>
        </p:nvSpPr>
        <p:spPr>
          <a:xfrm>
            <a:off x="5806440" y="306324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competitive</a:t>
            </a:r>
            <a:endParaRPr lang="en-US" sz="1000" dirty="0"/>
          </a:p>
        </p:txBody>
      </p:sp>
      <p:sp>
        <p:nvSpPr>
          <p:cNvPr id="38" name="bd_150"/>
          <p:cNvSpPr/>
          <p:nvPr/>
        </p:nvSpPr>
        <p:spPr>
          <a:xfrm>
            <a:off x="3246120" y="3378708"/>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1"/>
          <p:cNvSpPr/>
          <p:nvPr/>
        </p:nvSpPr>
        <p:spPr>
          <a:xfrm>
            <a:off x="3630168" y="3392424"/>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1100" dirty="0"/>
          </a:p>
        </p:txBody>
      </p:sp>
      <p:sp>
        <p:nvSpPr>
          <p:cNvPr id="40" name="R7_chip152"/>
          <p:cNvSpPr/>
          <p:nvPr/>
        </p:nvSpPr>
        <p:spPr>
          <a:xfrm>
            <a:off x="5806440" y="339242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anxious /ˈæŋkʃəs/</a:t>
            </a:r>
            <a:endParaRPr lang="en-US" sz="1000" dirty="0"/>
          </a:p>
        </p:txBody>
      </p:sp>
      <p:sp>
        <p:nvSpPr>
          <p:cNvPr id="41" name="bd_153"/>
          <p:cNvSpPr/>
          <p:nvPr/>
        </p:nvSpPr>
        <p:spPr>
          <a:xfrm>
            <a:off x="3246120" y="37078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4"/>
          <p:cNvSpPr/>
          <p:nvPr/>
        </p:nvSpPr>
        <p:spPr>
          <a:xfrm>
            <a:off x="3630168" y="3721608"/>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1000" dirty="0"/>
          </a:p>
        </p:txBody>
      </p:sp>
      <p:sp>
        <p:nvSpPr>
          <p:cNvPr id="43" name="R8_chip155"/>
          <p:cNvSpPr/>
          <p:nvPr/>
        </p:nvSpPr>
        <p:spPr>
          <a:xfrm>
            <a:off x="5806440" y="372160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insecure</a:t>
            </a:r>
            <a:endParaRPr lang="en-US" sz="1000" dirty="0"/>
          </a:p>
        </p:txBody>
      </p:sp>
      <p:sp>
        <p:nvSpPr>
          <p:cNvPr id="44" name="bd_156"/>
          <p:cNvSpPr/>
          <p:nvPr/>
        </p:nvSpPr>
        <p:spPr>
          <a:xfrm>
            <a:off x="3246120" y="403707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57"/>
          <p:cNvSpPr/>
          <p:nvPr/>
        </p:nvSpPr>
        <p:spPr>
          <a:xfrm>
            <a:off x="3630168" y="4050792"/>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easily hurt or offended</a:t>
            </a:r>
            <a:endParaRPr lang="en-US" sz="1150" dirty="0"/>
          </a:p>
        </p:txBody>
      </p:sp>
      <p:sp>
        <p:nvSpPr>
          <p:cNvPr id="46" name="R9_chip158"/>
          <p:cNvSpPr/>
          <p:nvPr/>
        </p:nvSpPr>
        <p:spPr>
          <a:xfrm>
            <a:off x="5806440" y="405079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sensitive</a:t>
            </a:r>
            <a:endParaRPr lang="en-US" sz="1000" dirty="0"/>
          </a:p>
        </p:txBody>
      </p:sp>
      <p:sp>
        <p:nvSpPr>
          <p:cNvPr id="47" name="bd_159"/>
          <p:cNvSpPr/>
          <p:nvPr/>
        </p:nvSpPr>
        <p:spPr>
          <a:xfrm>
            <a:off x="3246120" y="4366260"/>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0"/>
          <p:cNvSpPr/>
          <p:nvPr/>
        </p:nvSpPr>
        <p:spPr>
          <a:xfrm>
            <a:off x="3630168" y="4379976"/>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1"/>
          <p:cNvSpPr/>
          <p:nvPr/>
        </p:nvSpPr>
        <p:spPr>
          <a:xfrm>
            <a:off x="5806440" y="437997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ambitious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6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l'aggettivo. Poi ascolta.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personality 2   ·   📖 Vocabulary Bank Personality p.153 · audio 1.22</a:t>
            </a:r>
            <a:endParaRPr lang="en-US" sz="800" dirty="0"/>
          </a:p>
        </p:txBody>
      </p:sp>
      <p:sp>
        <p:nvSpPr>
          <p:cNvPr id="15" name="cd_17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7" name="ln_176"/>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R1_lnA177"/>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9" name="ln_178"/>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R2_lnA179"/>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1" name="ln_180"/>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R3_lnA181"/>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3" name="ln_182"/>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R4_lnA183"/>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5" name="ln_184"/>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R5_lnA185"/>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7" name="ln_186"/>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R6_lnA187"/>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9" name="ln_188"/>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R7_lnA189"/>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1" name="ln_190"/>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R8_lnA191"/>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3" name="ln_192"/>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R9_lnA193"/>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5" name="ln_194"/>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R10_lnA195"/>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7" name="ap_19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8" name="ah_1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4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41" name="pf_19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199" descr="/home/claude/lls-course/v2/cache/spare_life_personality_jpg_594x352_31.png">    </p:cNvPr>
          <p:cNvPicPr>
            <a:picLocks noChangeAspect="1"/>
          </p:cNvPicPr>
          <p:nvPr/>
        </p:nvPicPr>
        <p:blipFill>
          <a:blip r:embed="rId11"/>
          <a:stretch>
            <a:fillRect/>
          </a:stretch>
        </p:blipFill>
        <p:spPr>
          <a:xfrm rot="120000">
            <a:off x="6355080" y="2240280"/>
            <a:ext cx="2468880" cy="1463040"/>
          </a:xfrm>
          <a:prstGeom prst="rect">
            <a:avLst/>
          </a:prstGeom>
        </p:spPr>
      </p:pic>
      <p:sp>
        <p:nvSpPr>
          <p:cNvPr id="43" name="cd_20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4" name="ii_20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5" name="ih_20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6" name="il_20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Positive or negative?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 affectionate = shows love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9"/>
                                        </p:tgtEl>
                                      </p:cBhvr>
                                    </p:cmd>
                                  </p:childTnLst>
                                </p:cTn>
                              </p:par>
                            </p:childTnLst>
                          </p:cTn>
                        </p:par>
                      </p:childTnLst>
                    </p:cTn>
                  </p:par>
                </p:childTnLst>
              </p:cTn>
              <p:nextCondLst>
                <p:cond evt="onClick" delay="0">
                  <p:tgtEl>
                    <p:spTgt spid="39"/>
                  </p:tgtEl>
                </p:cond>
              </p:nextCondLst>
            </p:seq>
            <p:seq concurrent="1" nextAc="seek">
              <p:cTn id="58" restart="whenNotActive" fill="hold" evtFilter="cancelBubble" nodeType="interactiveSeq">
                <p:stCondLst>
                  <p:cond evt="onClick" delay="0">
                    <p:tgtEl>
                      <p:spTgt spid="40"/>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0"/>
                                        </p:tgtEl>
                                      </p:cBhvr>
                                    </p:cmd>
                                  </p:childTnLst>
                                </p:cTn>
                              </p:par>
                            </p:childTnLst>
                          </p:cTn>
                        </p:par>
                      </p:childTnLst>
                    </p:cTn>
                  </p:par>
                </p:childTnLst>
              </p:cTn>
              <p:nextCondLst>
                <p:cond evt="onClick" delay="0">
                  <p:tgtEl>
                    <p:spTgt spid="40"/>
                  </p:tgtEl>
                </p:cond>
              </p:nextCondLst>
            </p:seq>
            <p:audio>
              <p:cMediaNode vol="80000">
                <p:cTn id="63" fill="hold" display="0">
                  <p:stCondLst>
                    <p:cond delay="indefinite"/>
                  </p:stCondLst>
                  <p:endCondLst>
                    <p:cond evt="onStopAudio" delay="0">
                      <p:tgtEl>
                        <p:sldTgt/>
                      </p:tgtEl>
                    </p:cond>
                  </p:endCondLst>
                </p:cTn>
                <p:tgtEl>
                  <p:spTgt spid="39"/>
                </p:tgtEl>
              </p:cMediaNode>
            </p:audio>
            <p:audio>
              <p:cMediaNode vol="80000">
                <p:cTn id="64" fill="hold" display="0">
                  <p:stCondLst>
                    <p:cond delay="indefinite"/>
                  </p:stCondLst>
                  <p:endCondLst>
                    <p:cond evt="onStopAudio" delay="0">
                      <p:tgtEl>
                        <p:sldTgt/>
                      </p:tgtEl>
                    </p:cond>
                  </p:endCondLst>
                </p:cTn>
                <p:tgtEl>
                  <p:spTgt spid="40"/>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0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1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in Italian</a:t>
            </a:r>
            <a:endParaRPr lang="en-US" sz="800" dirty="0"/>
          </a:p>
        </p:txBody>
      </p:sp>
      <p:sp>
        <p:nvSpPr>
          <p:cNvPr id="14" name="cd_21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1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1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2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2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2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2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3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3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3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4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4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4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4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5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5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5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6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6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situazione. Di' l'aggettivo!</a:t>
            </a:r>
            <a:endParaRPr lang="en-US" sz="950" dirty="0"/>
          </a:p>
        </p:txBody>
      </p:sp>
      <p:sp>
        <p:nvSpPr>
          <p:cNvPr id="9" name="cmd_2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game</a:t>
            </a:r>
            <a:endParaRPr lang="en-US" sz="800" dirty="0"/>
          </a:p>
        </p:txBody>
      </p:sp>
      <p:sp>
        <p:nvSpPr>
          <p:cNvPr id="14" name="cd_2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situation.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situazione.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adjective in 5 seconds.</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l'aggettivo in 5 secondi.</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adjective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Aggettivo giusto = 1 punto.</a:t>
            </a:r>
            <a:endParaRPr lang="en-US" sz="1150" dirty="0"/>
          </a:p>
        </p:txBody>
      </p:sp>
      <p:sp>
        <p:nvSpPr>
          <p:cNvPr id="18" name="pf_28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1" descr="/home/claude/lls-course/v2/cache/1b2_stubbor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28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8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R1_chip28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stubborn</a:t>
            </a:r>
            <a:endParaRPr lang="en-US" sz="1100" dirty="0"/>
          </a:p>
        </p:txBody>
      </p:sp>
      <p:sp>
        <p:nvSpPr>
          <p:cNvPr id="23" name="bd_28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8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100" dirty="0"/>
          </a:p>
        </p:txBody>
      </p:sp>
      <p:sp>
        <p:nvSpPr>
          <p:cNvPr id="25" name="R2_chip28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bossy</a:t>
            </a:r>
            <a:endParaRPr lang="en-US" sz="1100" dirty="0"/>
          </a:p>
        </p:txBody>
      </p:sp>
      <p:sp>
        <p:nvSpPr>
          <p:cNvPr id="26" name="bd_28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8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100" dirty="0"/>
          </a:p>
        </p:txBody>
      </p:sp>
      <p:sp>
        <p:nvSpPr>
          <p:cNvPr id="28" name="R3_chip29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moody</a:t>
            </a:r>
            <a:endParaRPr lang="en-US" sz="1100" dirty="0"/>
          </a:p>
        </p:txBody>
      </p:sp>
      <p:sp>
        <p:nvSpPr>
          <p:cNvPr id="29" name="bd_29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9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100" dirty="0"/>
          </a:p>
        </p:txBody>
      </p:sp>
      <p:sp>
        <p:nvSpPr>
          <p:cNvPr id="31" name="R4_chip29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spoilt</a:t>
            </a:r>
            <a:endParaRPr lang="en-US" sz="1100" dirty="0"/>
          </a:p>
        </p:txBody>
      </p:sp>
      <p:sp>
        <p:nvSpPr>
          <p:cNvPr id="32" name="bd_29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29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100" dirty="0"/>
          </a:p>
        </p:txBody>
      </p:sp>
      <p:sp>
        <p:nvSpPr>
          <p:cNvPr id="34" name="R5_chip29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competitive</a:t>
            </a:r>
            <a:endParaRPr lang="en-US" sz="1100" dirty="0"/>
          </a:p>
        </p:txBody>
      </p:sp>
      <p:sp>
        <p:nvSpPr>
          <p:cNvPr id="35" name="bd_29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29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100" dirty="0"/>
          </a:p>
        </p:txBody>
      </p:sp>
      <p:sp>
        <p:nvSpPr>
          <p:cNvPr id="37" name="R6_chip29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 / honest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1"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2"/>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prefisso forma il contrario?</a:t>
            </a:r>
            <a:endParaRPr lang="en-US" sz="950" dirty="0"/>
          </a:p>
        </p:txBody>
      </p:sp>
      <p:sp>
        <p:nvSpPr>
          <p:cNvPr id="9" name="cmd_30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0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negative prefixes   ·   📖 Vocabulary Bank Personality p.153 · 2 Negative prefixes · audio 1.23</a:t>
            </a:r>
            <a:endParaRPr lang="en-US" sz="800" dirty="0"/>
          </a:p>
        </p:txBody>
      </p:sp>
      <p:sp>
        <p:nvSpPr>
          <p:cNvPr id="14" name="cd_311"/>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14"/>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315"/>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9" name="ah_31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31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1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1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0"/>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1"/>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2"/>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23"/>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24"/>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25"/>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26"/>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27"/>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28"/>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29"/>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0"/>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1"/>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2"/>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33"/>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34"/>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35"/>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36"/>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37"/>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43" name="pf_33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339" descr="/home/claude/lls-course/v2/cache/1b2_untidy_jpg_583x231_31.png">    </p:cNvPr>
          <p:cNvPicPr>
            <a:picLocks noChangeAspect="1"/>
          </p:cNvPicPr>
          <p:nvPr/>
        </p:nvPicPr>
        <p:blipFill>
          <a:blip r:embed="rId11"/>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Parola vera o falsa? Veloci!</a:t>
            </a:r>
            <a:endParaRPr lang="en-US" sz="950" dirty="0"/>
          </a:p>
        </p:txBody>
      </p:sp>
      <p:sp>
        <p:nvSpPr>
          <p:cNvPr id="9" name="cmd_34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4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4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game · prefixes</a:t>
            </a:r>
            <a:endParaRPr lang="en-US" sz="800" dirty="0"/>
          </a:p>
        </p:txBody>
      </p:sp>
      <p:sp>
        <p:nvSpPr>
          <p:cNvPr id="14" name="cd_35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word.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parola.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REAL or FAKE? Fix the fakes!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VERA o FALSA? Correggete le false!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answer = 1 point. Fix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Risposta giusta = 1 punto. Correzione = +1.</a:t>
            </a:r>
            <a:endParaRPr lang="en-US" sz="1000" dirty="0"/>
          </a:p>
        </p:txBody>
      </p:sp>
      <p:sp>
        <p:nvSpPr>
          <p:cNvPr id="18" name="st_35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5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unpatient</a:t>
            </a:r>
            <a:endParaRPr lang="en-US" sz="1100" dirty="0"/>
          </a:p>
        </p:txBody>
      </p:sp>
      <p:sp>
        <p:nvSpPr>
          <p:cNvPr id="21" name="R1_chip35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impatient</a:t>
            </a:r>
            <a:endParaRPr lang="en-US" sz="1100" dirty="0"/>
          </a:p>
        </p:txBody>
      </p:sp>
      <p:sp>
        <p:nvSpPr>
          <p:cNvPr id="22" name="bd_35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unkind</a:t>
            </a:r>
            <a:endParaRPr lang="en-US" sz="1100" dirty="0"/>
          </a:p>
        </p:txBody>
      </p:sp>
      <p:sp>
        <p:nvSpPr>
          <p:cNvPr id="24" name="R2_chip36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25" name="bd_36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inhonest</a:t>
            </a:r>
            <a:endParaRPr lang="en-US" sz="1100" dirty="0"/>
          </a:p>
        </p:txBody>
      </p:sp>
      <p:sp>
        <p:nvSpPr>
          <p:cNvPr id="27" name="R3_chip36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dishonest</a:t>
            </a:r>
            <a:endParaRPr lang="en-US" sz="1100" dirty="0"/>
          </a:p>
        </p:txBody>
      </p:sp>
      <p:sp>
        <p:nvSpPr>
          <p:cNvPr id="28" name="bd_36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6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irresponsible</a:t>
            </a:r>
            <a:endParaRPr lang="en-US" sz="1100" dirty="0"/>
          </a:p>
        </p:txBody>
      </p:sp>
      <p:sp>
        <p:nvSpPr>
          <p:cNvPr id="30" name="R4_chip36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31" name="bd_36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6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disreliable</a:t>
            </a:r>
            <a:endParaRPr lang="en-US" sz="1100" dirty="0"/>
          </a:p>
        </p:txBody>
      </p:sp>
      <p:sp>
        <p:nvSpPr>
          <p:cNvPr id="33" name="R5_chip37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unreliable</a:t>
            </a:r>
            <a:endParaRPr lang="en-US" sz="1100" dirty="0"/>
          </a:p>
        </p:txBody>
      </p:sp>
      <p:sp>
        <p:nvSpPr>
          <p:cNvPr id="34" name="bd_37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7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unselfish</a:t>
            </a:r>
            <a:endParaRPr lang="en-US" sz="1100" dirty="0"/>
          </a:p>
        </p:txBody>
      </p:sp>
      <p:sp>
        <p:nvSpPr>
          <p:cNvPr id="36" name="R6_chip37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 (a positive word!)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7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l'accento. Poi ascolta.</a:t>
            </a:r>
            <a:endParaRPr lang="en-US" sz="950" dirty="0"/>
          </a:p>
        </p:txBody>
      </p:sp>
      <p:sp>
        <p:nvSpPr>
          <p:cNvPr id="9" name="cmd_3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Pronunciation · word stress   ·   📖 SB p.12 · 5a, 5b · audio 1.24</a:t>
            </a:r>
            <a:endParaRPr lang="en-US" sz="800" dirty="0"/>
          </a:p>
        </p:txBody>
      </p:sp>
      <p:sp>
        <p:nvSpPr>
          <p:cNvPr id="15" name="ap_38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6" name="ah_38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8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89" descr="/home/claude/lls-course/v2/cache/spare_life_teenag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9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9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9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9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R1_chip39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7" name="gq_39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8" name="R2_chip39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9" name="gq_39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R3_chip39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1" name="gq_40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2" name="R4_chip40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3" name="gq_40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4" name="R5_chip40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5" name="gq_40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R6_chip40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7" name="gq_40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8" name="R7_chip40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9" name="gq_40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40" name="R8_chip40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1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13"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14"/>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figlio? Indovina!</a:t>
            </a:r>
            <a:endParaRPr lang="en-US" sz="950" dirty="0"/>
          </a:p>
        </p:txBody>
      </p:sp>
      <p:sp>
        <p:nvSpPr>
          <p:cNvPr id="9" name="cmd_41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meta_41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1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prediction   ·   📖 SB p.12 · 6a, 6b, 6c</a:t>
            </a:r>
            <a:endParaRPr lang="en-US" sz="800" dirty="0"/>
          </a:p>
        </p:txBody>
      </p:sp>
      <p:sp>
        <p:nvSpPr>
          <p:cNvPr id="14" name="cd_42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2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oldest · middle · youngest · only child</a:t>
            </a:r>
            <a:endParaRPr lang="en-US" sz="1050" dirty="0"/>
          </a:p>
        </p:txBody>
      </p:sp>
      <p:sp>
        <p:nvSpPr>
          <p:cNvPr id="18" name="pf_42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26" descr="/home/claude/lls-course/v2/cache/1b2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2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2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1050" dirty="0"/>
          </a:p>
        </p:txBody>
      </p:sp>
      <p:sp>
        <p:nvSpPr>
          <p:cNvPr id="22" name="R1_chip42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23" name="bd_43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3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1050" dirty="0"/>
          </a:p>
        </p:txBody>
      </p:sp>
      <p:sp>
        <p:nvSpPr>
          <p:cNvPr id="25" name="R2_chip43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26" name="bd_43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3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1050" dirty="0"/>
          </a:p>
        </p:txBody>
      </p:sp>
      <p:sp>
        <p:nvSpPr>
          <p:cNvPr id="28" name="R3_chip43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
        <p:nvSpPr>
          <p:cNvPr id="29" name="bd_43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3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1050" dirty="0"/>
          </a:p>
        </p:txBody>
      </p:sp>
      <p:sp>
        <p:nvSpPr>
          <p:cNvPr id="31" name="R4_chip43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2" name="bd_43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4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make good leaders.</a:t>
            </a:r>
            <a:endParaRPr lang="en-US" sz="1100" dirty="0"/>
          </a:p>
        </p:txBody>
      </p:sp>
      <p:sp>
        <p:nvSpPr>
          <p:cNvPr id="34" name="R5_chip44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35" name="bd_44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4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1050" dirty="0"/>
          </a:p>
        </p:txBody>
      </p:sp>
      <p:sp>
        <p:nvSpPr>
          <p:cNvPr id="37" name="R6_chip44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8" name="bd_44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4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1100" dirty="0"/>
          </a:p>
        </p:txBody>
      </p:sp>
      <p:sp>
        <p:nvSpPr>
          <p:cNvPr id="40" name="R7_chip44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41" name="bd_44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4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1050" dirty="0"/>
          </a:p>
        </p:txBody>
      </p:sp>
      <p:sp>
        <p:nvSpPr>
          <p:cNvPr id="43" name="R8_chip45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52"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53"/>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5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5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Quale figlio?</a:t>
            </a:r>
            <a:endParaRPr lang="en-US" sz="950" dirty="0"/>
          </a:p>
        </p:txBody>
      </p:sp>
      <p:sp>
        <p:nvSpPr>
          <p:cNvPr id="9" name="cmd_45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5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5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6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4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reasons A–H   ·   📖 SB p.12 · 6d (reasons A–H)</a:t>
            </a:r>
            <a:endParaRPr lang="en-US" sz="800" dirty="0"/>
          </a:p>
        </p:txBody>
      </p:sp>
      <p:sp>
        <p:nvSpPr>
          <p:cNvPr id="15" name="cd_463"/>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66"/>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46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20" name="lg_46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1" name="lg_46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2" name="lg_470"/>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3" name="sq_47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4" name="R1_tag472"/>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5" name="sq_47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200" dirty="0"/>
          </a:p>
        </p:txBody>
      </p:sp>
      <p:sp>
        <p:nvSpPr>
          <p:cNvPr id="26" name="R2_tag474"/>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7" name="sq_47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150" dirty="0"/>
          </a:p>
        </p:txBody>
      </p:sp>
      <p:sp>
        <p:nvSpPr>
          <p:cNvPr id="28" name="R3_tag476"/>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9" name="sq_47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200" dirty="0"/>
          </a:p>
        </p:txBody>
      </p:sp>
      <p:sp>
        <p:nvSpPr>
          <p:cNvPr id="30" name="R4_tag478"/>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1" name="sq_47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100" dirty="0"/>
          </a:p>
        </p:txBody>
      </p:sp>
      <p:sp>
        <p:nvSpPr>
          <p:cNvPr id="32" name="R5_tag480"/>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3" name="sq_48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200" dirty="0"/>
          </a:p>
        </p:txBody>
      </p:sp>
      <p:sp>
        <p:nvSpPr>
          <p:cNvPr id="34" name="R6_tag482"/>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48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6" name="R7_tag484"/>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7" name="sq_48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200" dirty="0"/>
          </a:p>
        </p:txBody>
      </p:sp>
      <p:sp>
        <p:nvSpPr>
          <p:cNvPr id="38" name="R8_tag486"/>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9" name="pf_487"/>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488" descr="/home/claude/lls-course/v2/cache/spare_1b2_rule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90"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491"/>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49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4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motivo va nello spazio 1?</a:t>
            </a:r>
            <a:endParaRPr lang="en-US" sz="950" dirty="0"/>
          </a:p>
        </p:txBody>
      </p:sp>
      <p:sp>
        <p:nvSpPr>
          <p:cNvPr id="9" name="cmd_49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oldest child   ·   📖 SB p.12 · 6c, 6d · article (intro shortened)</a:t>
            </a:r>
            <a:endParaRPr lang="en-US" sz="800" dirty="0"/>
          </a:p>
        </p:txBody>
      </p:sp>
      <p:sp>
        <p:nvSpPr>
          <p:cNvPr id="14" name="cd_50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0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0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0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0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0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0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0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08" descr="/home/claude/lls-course/v2/cache/1b2_oldes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50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1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1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1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tend to =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leaders = capi, guide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4"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15"/>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1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1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2–3?</a:t>
            </a:r>
            <a:endParaRPr lang="en-US" sz="950" dirty="0"/>
          </a:p>
        </p:txBody>
      </p:sp>
      <p:sp>
        <p:nvSpPr>
          <p:cNvPr id="9" name="cmd_51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2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middle child   ·   📖 SB p.12 · 6d · article</a:t>
            </a:r>
            <a:endParaRPr lang="en-US" sz="800" dirty="0"/>
          </a:p>
        </p:txBody>
      </p:sp>
      <p:sp>
        <p:nvSpPr>
          <p:cNvPr id="14" name="cd_52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2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2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2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2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2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3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3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3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3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34" descr="/home/claude/lls-course/v2/cache/1b2_middle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53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3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3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3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sympathetic = comprensivo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sort out = risolvere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0"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1"/>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4–5?</a:t>
            </a:r>
            <a:endParaRPr lang="en-US" sz="950" dirty="0"/>
          </a:p>
        </p:txBody>
      </p:sp>
      <p:sp>
        <p:nvSpPr>
          <p:cNvPr id="9" name="cmd_54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4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4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youngest child   ·   📖 SB p.12 · 6d · article</a:t>
            </a:r>
            <a:endParaRPr lang="en-US" sz="800" dirty="0"/>
          </a:p>
        </p:txBody>
      </p:sp>
      <p:sp>
        <p:nvSpPr>
          <p:cNvPr id="14" name="cd_55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5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5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5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54"/>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5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5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5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58" descr="/home/claude/lls-course/v2/cache/1b2_younges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55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6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6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6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discipline = regole, disciplina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depend on = dipendere da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4"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65"/>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6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6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6–8?</a:t>
            </a:r>
            <a:endParaRPr lang="en-US" sz="950" dirty="0"/>
          </a:p>
        </p:txBody>
      </p:sp>
      <p:sp>
        <p:nvSpPr>
          <p:cNvPr id="9" name="cmd_5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7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only child   ·   📖 SB p.12 · 6d · article</a:t>
            </a:r>
            <a:endParaRPr lang="en-US" sz="800" dirty="0"/>
          </a:p>
        </p:txBody>
      </p:sp>
      <p:sp>
        <p:nvSpPr>
          <p:cNvPr id="14" name="cd_57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7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57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57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57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579"/>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58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581"/>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58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583"/>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58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85" descr="/home/claude/lls-course/v2/cache/1b2_only_child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58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8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8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8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by themselves = da soli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things go wrong = vanno male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9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94"/>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5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È vero per te? Di' perché.</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birth order   ·   📖 SB p.12 · 6e</a:t>
            </a:r>
            <a:endParaRPr lang="en-US" sz="800" dirty="0"/>
          </a:p>
        </p:txBody>
      </p:sp>
      <p:sp>
        <p:nvSpPr>
          <p:cNvPr id="14" name="pf_60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02" descr="/home/claude/lls-course/v2/cache/spare_1b2_sh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0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0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0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That's true for me because…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Not really – I'm quite…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My brother is a typical…</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I'd rather not say.</a:t>
            </a:r>
            <a:endParaRPr lang="en-US" sz="800" dirty="0"/>
          </a:p>
        </p:txBody>
      </p:sp>
      <p:sp>
        <p:nvSpPr>
          <p:cNvPr id="20" name="R1_qb60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0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I'm the oldest and I'm quite responsible.</a:t>
            </a:r>
            <a:endParaRPr lang="en-US" sz="1250" dirty="0"/>
          </a:p>
        </p:txBody>
      </p:sp>
      <p:sp>
        <p:nvSpPr>
          <p:cNvPr id="22" name="R2_qb60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1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sister is the baby of the family – she's so charming!</a:t>
            </a:r>
            <a:endParaRPr lang="en-US" sz="1250" dirty="0"/>
          </a:p>
        </p:txBody>
      </p:sp>
      <p:sp>
        <p:nvSpPr>
          <p:cNvPr id="24" name="R3_qb61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1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don't think so. Friends and school are important too.</a:t>
            </a:r>
            <a:endParaRPr lang="en-US" sz="1050" dirty="0"/>
          </a:p>
        </p:txBody>
      </p:sp>
      <p:sp>
        <p:nvSpPr>
          <p:cNvPr id="26" name="R4_qb61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14"/>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only child – you get all the attention!</a:t>
            </a:r>
            <a:endParaRPr lang="en-US" sz="1250" dirty="0"/>
          </a:p>
        </p:txBody>
      </p:sp>
      <p:pic>
        <p:nvPicPr>
          <p:cNvPr id="28" name="R4_th615"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1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17"/>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nonno – he never changes his mind!</a:t>
            </a:r>
            <a:endParaRPr lang="en-US" sz="1250" dirty="0"/>
          </a:p>
        </p:txBody>
      </p:sp>
      <p:pic>
        <p:nvPicPr>
          <p:cNvPr id="31" name="R5_th618"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2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2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6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2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key words first   ·   📖 SB p.13 · 7a (words from the stories)</a:t>
            </a:r>
            <a:endParaRPr lang="en-US" sz="800" dirty="0"/>
          </a:p>
        </p:txBody>
      </p:sp>
      <p:sp>
        <p:nvSpPr>
          <p:cNvPr id="14" name="cd_63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3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33"/>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twin → born on the same day as your brother or sister · gemello</a:t>
            </a:r>
            <a:endParaRPr lang="en-US" sz="1050" dirty="0"/>
          </a:p>
        </p:txBody>
      </p:sp>
      <p:sp>
        <p:nvSpPr>
          <p:cNvPr id="18" name="pf_63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35" descr="/home/claude/lls-course/v2/cache/spare_life_childhoo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636"/>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37"/>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38"/>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1000" dirty="0"/>
          </a:p>
        </p:txBody>
      </p:sp>
      <p:sp>
        <p:nvSpPr>
          <p:cNvPr id="23" name="bd_639"/>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40"/>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41"/>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1000" dirty="0"/>
          </a:p>
        </p:txBody>
      </p:sp>
      <p:sp>
        <p:nvSpPr>
          <p:cNvPr id="26" name="bd_642"/>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43"/>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44"/>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very shocked · inorridito</a:t>
            </a:r>
            <a:endParaRPr lang="en-US" sz="1000" dirty="0"/>
          </a:p>
        </p:txBody>
      </p:sp>
      <p:sp>
        <p:nvSpPr>
          <p:cNvPr id="29" name="bd_645"/>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46"/>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47"/>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1000" dirty="0"/>
          </a:p>
        </p:txBody>
      </p:sp>
      <p:sp>
        <p:nvSpPr>
          <p:cNvPr id="32" name="bd_648"/>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49"/>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50"/>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1000" dirty="0"/>
          </a:p>
        </p:txBody>
      </p:sp>
      <p:sp>
        <p:nvSpPr>
          <p:cNvPr id="35" name="bd_651"/>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52"/>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53"/>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1000" dirty="0"/>
          </a:p>
        </p:txBody>
      </p:sp>
      <p:sp>
        <p:nvSpPr>
          <p:cNvPr id="38" name="bd_654"/>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55"/>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56"/>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1000" dirty="0"/>
          </a:p>
        </p:txBody>
      </p:sp>
      <p:sp>
        <p:nvSpPr>
          <p:cNvPr id="41" name="bd_657"/>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58"/>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59"/>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6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6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Le tue previsioni erano giuste?</a:t>
            </a:r>
            <a:endParaRPr lang="en-US" sz="950" dirty="0"/>
          </a:p>
        </p:txBody>
      </p:sp>
      <p:sp>
        <p:nvSpPr>
          <p:cNvPr id="9" name="cmd_6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gist   ·   📖 SB p.13 · 7b · audio 1.25</a:t>
            </a:r>
            <a:endParaRPr lang="en-US" sz="800" dirty="0"/>
          </a:p>
        </p:txBody>
      </p:sp>
      <p:sp>
        <p:nvSpPr>
          <p:cNvPr id="14" name="ap_67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67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67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7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7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67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7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7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67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68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68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68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68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Before you listen: predict the two stories.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Prima di ascoltare: prevedi le due storie.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What happened in each story?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Cosa è successo in ogni storia?</a:t>
            </a:r>
            <a:endParaRPr lang="en-US" sz="700" dirty="0"/>
          </a:p>
        </p:txBody>
      </p:sp>
      <p:sp>
        <p:nvSpPr>
          <p:cNvPr id="29" name="lq_68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0" name="R1_chip68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1" name="lq_68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2" name="R2_chip68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3" name="lq_68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4" name="R3_chip68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5" name="lq_69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6" name="R4_chip69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9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69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6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per James. Poi riascolta.</a:t>
            </a:r>
            <a:endParaRPr lang="en-US" sz="950" dirty="0"/>
          </a:p>
        </p:txBody>
      </p:sp>
      <p:sp>
        <p:nvSpPr>
          <p:cNvPr id="9" name="cmd_69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9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0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0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7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detail · James   ·   📖 SB p.13 · 7c · audio 1.25</a:t>
            </a:r>
            <a:endParaRPr lang="en-US" sz="800" dirty="0"/>
          </a:p>
        </p:txBody>
      </p:sp>
      <p:sp>
        <p:nvSpPr>
          <p:cNvPr id="15" name="ap_70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6" name="ah_7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70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07"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0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70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1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71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71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6" name="R1_chip71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7" name="gq_71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8" name="R2_chip71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9" name="gq_71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30" name="R3_chip71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1" name="gq_71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1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3" name="gq_72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4" name="R5_chip72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per Marilyn. Poi riascolta.</a:t>
            </a:r>
            <a:endParaRPr lang="en-US" sz="950" dirty="0"/>
          </a:p>
        </p:txBody>
      </p:sp>
      <p:sp>
        <p:nvSpPr>
          <p:cNvPr id="9" name="cmd_7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7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detail · Marilyn   ·   📖 SB p.13 · 7c · audio 1.25</a:t>
            </a:r>
            <a:endParaRPr lang="en-US" sz="800" dirty="0"/>
          </a:p>
        </p:txBody>
      </p:sp>
      <p:sp>
        <p:nvSpPr>
          <p:cNvPr id="15" name="ap_73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6" name="ah_73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73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7"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3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73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4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74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74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6" name="R1_chip74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7" name="gq_74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8" name="R2_chip74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9" name="gq_74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30" name="R3_chip74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1" name="gq_74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4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3" name="gq_75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4" name="R5_chip75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5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5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la storia dall'altra parte!</a:t>
            </a:r>
            <a:endParaRPr lang="en-US" sz="950" dirty="0"/>
          </a:p>
        </p:txBody>
      </p:sp>
      <p:sp>
        <p:nvSpPr>
          <p:cNvPr id="9" name="cmd_75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5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6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retell the story   ·   📖 SB p.13 · 7d, 7e</a:t>
            </a:r>
            <a:endParaRPr lang="en-US" sz="800" dirty="0"/>
          </a:p>
        </p:txBody>
      </p:sp>
      <p:sp>
        <p:nvSpPr>
          <p:cNvPr id="14" name="pf_76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64" descr="/home/claude/lls-course/v2/cache/spare_life_childh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6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6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6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6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Why did you…?</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How did you feel?</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What happened next?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was so angry / frightened!</a:t>
            </a:r>
            <a:endParaRPr lang="en-US" sz="800" dirty="0"/>
          </a:p>
        </p:txBody>
      </p:sp>
      <p:sp>
        <p:nvSpPr>
          <p:cNvPr id="20" name="R1_qb76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7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have a twin brother called James, and we used to fight a lot…</a:t>
            </a:r>
            <a:endParaRPr lang="en-US" sz="1250" dirty="0"/>
          </a:p>
        </p:txBody>
      </p:sp>
      <p:sp>
        <p:nvSpPr>
          <p:cNvPr id="22" name="R2_qb77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7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little sister had a green parrot called Charlie. One day…</a:t>
            </a:r>
            <a:endParaRPr lang="en-US" sz="1250" dirty="0"/>
          </a:p>
        </p:txBody>
      </p:sp>
      <p:sp>
        <p:nvSpPr>
          <p:cNvPr id="24" name="R3_qb77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7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behaved worse?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Marilyn's sister – she did it on purpose!</a:t>
            </a:r>
            <a:endParaRPr lang="en-US" sz="1250" dirty="0"/>
          </a:p>
        </p:txBody>
      </p:sp>
      <p:sp>
        <p:nvSpPr>
          <p:cNvPr id="26" name="R4_qb77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7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Once I hid my brother's phone in the fridge!</a:t>
            </a:r>
            <a:endParaRPr lang="en-US" sz="1000" dirty="0"/>
          </a:p>
        </p:txBody>
      </p:sp>
      <p:pic>
        <p:nvPicPr>
          <p:cNvPr id="28" name="R4_th777"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7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8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8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8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8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8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Exit · what can you remember?</a:t>
            </a:r>
            <a:endParaRPr lang="en-US" sz="800" dirty="0"/>
          </a:p>
        </p:txBody>
      </p:sp>
      <p:sp>
        <p:nvSpPr>
          <p:cNvPr id="13" name="bd_78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8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5" name="bd_79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9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7" name="bd_79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9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9" name="cd_79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9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9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9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1B: 1b, 1c, 1d, 1e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p.115: your email (task 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p.153: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1B-2 in the LLS app</a:t>
            </a:r>
            <a:endParaRPr lang="en-US" sz="1150" dirty="0"/>
          </a:p>
        </p:txBody>
      </p:sp>
      <p:sp>
        <p:nvSpPr>
          <p:cNvPr id="23" name="st_79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0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0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0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Descrivi la personalità. Non dirla!</a:t>
            </a:r>
            <a:endParaRPr lang="en-US" sz="950" dirty="0"/>
          </a:p>
        </p:txBody>
      </p:sp>
      <p:sp>
        <p:nvSpPr>
          <p:cNvPr id="9" name="cmd_80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8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Extra game · Personality Taboo</a:t>
            </a:r>
            <a:endParaRPr lang="en-US" sz="800" dirty="0"/>
          </a:p>
        </p:txBody>
      </p:sp>
      <p:sp>
        <p:nvSpPr>
          <p:cNvPr id="14" name="st_81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1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1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1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1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50" dirty="0">
                <a:solidFill>
                  <a:srgbClr val="1B2559"/>
                </a:solidFill>
                <a:latin typeface="Segoe UI" pitchFamily="34" charset="0"/>
                <a:ea typeface="Segoe UI" pitchFamily="34" charset="-122"/>
                <a:cs typeface="Segoe UI" pitchFamily="34" charset="-120"/>
              </a:rPr>
              <a:t>The describer faces the screen. Others turn round.</a:t>
            </a:r>
            <a:endParaRPr lang="en-US" sz="85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Chi descrive guarda lo schermo. Gli altri si girano.</a:t>
            </a:r>
            <a:endParaRPr lang="en-US" sz="850" dirty="0"/>
          </a:p>
          <a:p>
            <a:pPr marL="190500" indent="-190500">
              <a:spcBef>
                <a:spcPts val="500"/>
              </a:spcBef>
              <a:spcAft>
                <a:spcPts val="200"/>
              </a:spcAft>
              <a:buSzPct val="100000"/>
              <a:buChar char="2"/>
            </a:pPr>
            <a:r>
              <a:rPr lang="en-US" sz="850" dirty="0">
                <a:solidFill>
                  <a:srgbClr val="1B2559"/>
                </a:solidFill>
                <a:latin typeface="Segoe UI" pitchFamily="34" charset="0"/>
                <a:ea typeface="Segoe UI" pitchFamily="34" charset="-122"/>
                <a:cs typeface="Segoe UI" pitchFamily="34" charset="-120"/>
              </a:rPr>
              <a:t>Describe a person like that. Don't say the ✗ word!</a:t>
            </a:r>
            <a:endParaRPr lang="en-US" sz="85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Descrivi una persona così. Non dire la parola ✗!</a:t>
            </a:r>
            <a:endParaRPr lang="en-US" sz="850" dirty="0"/>
          </a:p>
          <a:p>
            <a:pPr marL="190500" indent="-190500">
              <a:spcBef>
                <a:spcPts val="500"/>
              </a:spcBef>
              <a:spcAft>
                <a:spcPts val="200"/>
              </a:spcAft>
              <a:buSzPct val="100000"/>
              <a:buChar char="3"/>
            </a:pPr>
            <a:r>
              <a:rPr lang="en-US" sz="850" dirty="0">
                <a:solidFill>
                  <a:srgbClr val="1B2559"/>
                </a:solidFill>
                <a:latin typeface="Segoe UI" pitchFamily="34" charset="0"/>
                <a:ea typeface="Segoe UI" pitchFamily="34" charset="-122"/>
                <a:cs typeface="Segoe UI" pitchFamily="34" charset="-120"/>
              </a:rPr>
              <a:t>Your team guesses. Correct = 1 point.</a:t>
            </a:r>
            <a:endParaRPr lang="en-US" sz="85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La squadra indovina. Giusto = 1 punto.</a:t>
            </a:r>
            <a:endParaRPr lang="en-US" sz="850" dirty="0"/>
          </a:p>
        </p:txBody>
      </p:sp>
      <p:sp>
        <p:nvSpPr>
          <p:cNvPr id="19" name="pf_81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16" descr="/home/claude/lls-course/v2/cache/1b2_taboo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81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1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1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2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2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2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2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2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2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2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3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3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le email a p.115. Rispondi!</a:t>
            </a:r>
            <a:endParaRPr lang="en-US" sz="950" dirty="0"/>
          </a:p>
        </p:txBody>
      </p:sp>
      <p:sp>
        <p:nvSpPr>
          <p:cNvPr id="9" name="cmd_83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8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3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8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Extra · Writing · a description of a person   ·   📖 SB p.13 · 8b · Writing p.115</a:t>
            </a:r>
            <a:endParaRPr lang="en-US" sz="800" dirty="0"/>
          </a:p>
        </p:txBody>
      </p:sp>
      <p:sp>
        <p:nvSpPr>
          <p:cNvPr id="14" name="st_83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3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4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4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84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au pair /əʊ ˈpeə/ → a young person who lives with a family and looks after the children</a:t>
            </a:r>
            <a:endParaRPr lang="en-US" sz="1050" dirty="0"/>
          </a:p>
        </p:txBody>
      </p:sp>
      <p:sp>
        <p:nvSpPr>
          <p:cNvPr id="19" name="pf_84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44" descr="/home/claude/lls-course/v2/cache/1b2_oldes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84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84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847"/>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84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84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850"/>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85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85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853"/>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85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85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856"/>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85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85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859"/>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2026-10-12T09:12:30Z</dcterms:created>
  <dcterms:modified xsi:type="dcterms:W3CDTF">2026-10-12T09:12:30Z</dcterms:modified>
</cp:coreProperties>
</file>