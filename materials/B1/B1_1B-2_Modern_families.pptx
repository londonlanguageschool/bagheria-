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Show the photo. Ask the THINK question: 'Are you the oldest, a middle child, the youngest or an only child? Does it change your personality?' Quick show of hands for each position (SB 6a – which is the most common in the class?). Take 2–3 opinions, don't teach words yet. Read the 'Today you're going to…' list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for each one ask 'Plan, arrangement, prediction, offer or promise?'. Elicit 2–3 family words with a definition (e.g. 'my sister's husband' → brother-in-law). Remind them: Italian present ≠ English future (✗ I carry your bag → ✓ I'll carry it). Then play 'Spot the mistake!' – the mistakes are exactly these family words and future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(3 min)
RETRIEVAL WARMER (4 min) – different format from last lesson's 'Answers first!': this time teams CORRECT sentences. Two teams. Read each sentence aloud; teams have 10 seconds to say the correct version. Click once per line to show the answer. 1 point per correct fix. Items 1–3 = family words (1B-1 vocabulary), items 4–6 = future forms (offer, arrangement, promise). Accept any correct alternative (e.g. 4 'Shall I carry one?'; 5 'We're having dinner with my cousins'). DEMO: 'My mum's mum is my aunt.' → grandmother. ICQ: 'Do you say the mistake or the correct sentence?' (the correct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opposites (2 min)
ELICIT (2 min). SB 4a 'Opposites attract': the missing adjectives are the OPPOSITES of the first adjectives. Do 0 with the class. Pairs complete 1–5 (book sentences: 'She's extroverted, but he's sh___.' etc. – shortened on the slide); click once per line. Answers (TG): 1 shy · 2 mean · 3 lazy · 4 quiet · 5 serious. Check meaning while revealing: extroverted (= outgoing – in the article later!) ↔ shy; generous ↔ mean (≠ 'mean' = significare). Drill. Quick question: 'Do opposites attract? Do you know a couple like this?' Placeholder picture: a shy boy and a sociable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personality 1 (3 min)
ELICIT FIRST (3 min). Teach the question 'What are they like?' = what kind of personality do they have? (NOT 'What do they like?'). Do 0 with the class. Pairs say the adjective for each clue (guess in English; Italian only as a last resort). Click once per line. Answers (Vocabulary Bank p.153 / audio 1.22): 1 selfish · 2 spoilt · 3 bossy · 4 stubborn · 5 moody · 6 competitive · 7 anxious · 8 insecure · 9 sensitive · 10 ambitious (+ 0 rebellious). Drill as you go. The clues are the book's definitions, shortened. Audio 1.22 (all 22 definitions) is on the next slide. ICQ: 'Do you say the clue or the adjective?' (the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 personality 2 (3 min)
GUESS, THEN LISTEN (3 min). Pairs guess the adjectives (all positive this time). Play 1.22 (embedded – click the speaker icon): it has all 22 definitions in the book's order, so it also checks slide 4 – pause as needed. Click once per gap: the adjective appears highlighted in the sentence. Definitions are from audio script 1.22 (8 shortened). Answers (audio script 1.22): 1 Mature · 2 Honest · 3 Charming · 4 Sensible · 5 Sociable · 6 Imaginative · 7 Independent · 8 Patient · 9 Reliable · 10 Self-confident. 1.22 also has 22 Affectionate (= show that they love or like other people very much) – teach it. Then play 1.22 again for listen and repeat, or drill yourself. ACTIVATION (TG): 'Which adjectives are positive?' (suggested: mature, honest, charming, sensible, sociable, imaginative, independent, patient, reliable, self-confident, affectionate).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 in Italian (2 min)
CONSOLIDATION for slower students (2 min). These are the adjectives that are DIFFERENT from Italian (TG extra idea: Latin-based languages – most others are similar: mature = maturo, honest = onesto, independent = indipendente…). Class says the Italian, then ONE click shows it all. 30 seconds on the false friends (book box, p.153): sensible / sensitive / sympathetic – 'sympathetic' is in the article later. CCQ: 'My friend cries when you criticise her. Is she sensible or sensitive?' (sensitive) · 'She's sympathetic – is she funny?' (no – she understands your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Vocabulary game (3 min)
GAME (3 min). Two teams. Read each situation aloud; the first team to say the right adjective in 5 seconds wins the point. Click to show the answer. Accept any adjective that fits (e.g. 4 spoilt / selfish). Bonus round: 'Who in your family is like that?' (only if they want to say!). ICQ: 'How long do you have?'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negative prefixes (3 min)
PREFIXES (3 min). Explain: some opposites are different words (generous / mean), others just add a prefix. Pairs match each adjective to a prefix colour; click once per line. Answers (audio 1.23): unfriendly · dishonest · immature · impatient · irresponsible · insensitive · disorganized · unambitious. Others in 1.23 (all un-): unimaginative, unkind, unreliable, unselfish, unsociable, untidy (see the picture: an untidy bedroom). Audio 1.23 is not in the deck yet – play it from the book audio. Elicit the rules (TG): un- is by far the most common · im- before p or m (impatient, immature) · ir- before r (irresponsible). Which one has a POSITIVE meaning? → unselfish. Italian helps: irresponsabile, immaturo, impaziente. These words are in the article later (immature, disorganized, unambitious, impatient).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game · prefixes (3 min)
GAME (3 min). Two teams, one pen and paper each. Show the word, teams write REAL or FAKE and, for fakes, the correct word (10 seconds). Click to check. 1 point for real/fake, +1 for the correct fix. The fakes are typical Italian-speaker errors (✗ unpatient, ✗ inhonest – see the homework sheet). ICQ: 'If it's fake, do you just write FAKE?' (no – write the right word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Pronunciation · word stress (3 min)
PRONUNCIATION (3 min). HEAR: model one word yourself (ANxious). Pairs say the words aloud and decide which syllable is stressed (they look like Italian words but the stress is often different: amBItious ≠ ambiZIOso). Play 1.24 (book audio – not in the deck yet), pausing after each group; click once per line. Answers (TG): ANxious, amBItious, GEnerous, reBELlious · SOciable, reLIable · resPONsible, SENsible · comPEtitive, TALKative, SENsitive · unFRIENDly, inseCURE, imPAtient, immaTURE. Ask: are the prefixes and suffixes stressed? → NO, never. -ous and -able/-ible = /ə/ (weak), -ive = /ɪv/. REPEAT: play again, choral then individual. PRODUCE: 'Tell your partner: I'm quite… but I'm not very…' (stress!). The picture shows an anxious teenager.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Reading · prediction (2 min)
PREDICTION (2 min). 6a was in the opening (show of hands). 6b: pairs decide which group of adjectives goes with each position in the family (outgoing = extroverted). Elicit opinions but DON'T confirm yet. 6c: 'The article on the next slides will tell you!' – after the reading (slides 13–16) come back here, or click now for a quick check if short of time. Answers (TG): 1 the youngest child · 2 the oldest child · 3 the only child · 4 the middle child. Items 5–8 are sentences from the article (TG extra challenge phrases): 5 oldest · 6 middle · 7 youngest · 8 only. The article (slides 13–16) proves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Reading · reasons A–H (2 min)
PRE-READING (2 min). Reasons A–H from SB 6d, shortened on the slide (the full book wording appears in the article on slides 13–16). Pairs read them and guess which child each one explains – this prepares them for the gap task in the article. Click once per reason (or click after the reading as the check). Answers (from the article / TG key 6d): A middle (gap 3) · B youngest (gap 4) · C middle (gap 2) · D only (gap 7) · E youngest (gap 5) · F only (gap 6) · G only (gap 8) · H oldest (gap 1, the example). Check: discipline = regole, disciplina · sort out = risolvere · rejected = rifiutato. ICQ: 'Are you reading the article now?' (no – only the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Reading · the oldest child (2 min)
READING FOR DETAIL (2 min). The article from SB p.12, one paragraph per slide (slides 13–16). Read the introduction together (shortened: the book adds 'that is, whether we're an oldest child, a middle child, a youngest child, or an only child'). Students read the paragraph and decide which reason (A–H, slide 12) goes in the gap. Gap 1 is the book's example: click to show H highlighted IN the text. EVIDENCE: 'Why are oldest children responsible?' (they look after younger brothers and sisters) · 'Why are they insecure?' (they lost some attention – maybe they felt rejected = rifiutati). Check slide 11 item 5 (good leaders = oldest). Placeholder picture: an older sister helping her brother with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Reading · the middle child (2 min)
READING FOR DETAIL (2 min). Pairs read and choose the reasons for gaps 2 and 3. Click once per gap: the reason appears highlighted in the text. Answers (TG): 2 C · 3 A. Vocabulary from context: get on with (= have a good relationship with) · sort out arguments (= solve) · sympathetic (= comprensivo, NOT simpatico!) · lack direction in life (= not know what they want to do). Placeholder picture: a middle child between two siblings at dinner.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Reading · the youngest child (2 min)
READING FOR DETAIL (2 min). Same procedure. Answers (TG): 4 B · 5 E. Drill rebellious /rɪˈbeljəs/, immature /ˌɪməˈtʃʊə/, discipline /ˈdɪsəplɪn/. Ask: 'Are you the youngest? Do you agree?!' (quick reactions only – the discussion is on slide 17). Placeholder picture: the youngest child making the family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Reading · the only child (2 min)
READING FOR DETAIL (2 min). Same procedure. Answers (TG): 6 F · 7 D · 8 G. Now check slide 11 if you didn't (youngest = outgoing, charming, disorganized; only = self-confident, independent, spoilt). TG extra challenge: 'Who are these about? They get impatient when things go wrong (only) · They spend a lot of time by themselves (only) · They tend to be ambitious (oldest) · They can lack direction in life (middle).' Placeholder picture: an only child reading between two 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 birth order (3 min)
SPEAKING (3 min). SB 6e. Questions appear ONE PER CLICK – about 35 seconds each. Only children: talk about a cousin or a friend. Q3 and Q5 are added (opinion + personal); 'I'd rather not say' is always OK. Monitor: listen for the new adjectives and their stress (amBItious, reBELlious); note 4–5 errors for delayed correction at the end of the lesson. Feedback: which position does the class think is best? TG: you could tell them about your own family position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Listening · key words first (2 min)
PRE-TEACH + CONSOLIDATE (2 min). 'You're going to hear two people talking about a time when they or one of their brothers or sisters behaved badly.' Pairs guess the meaning of the key words from the stories; click once per word – each answer gives the meaning AND the Italian. Drill cupboard /ˈkʌbəd/ (silent p!), blood /blʌd/. THEN PREDICT (SB 7a): pairs use the words to guess what happened. The book's word clouds: JAMES – brother, teenagers, fighting, stabbed, finger, penknife, accident, horrified, blood, mum angry, hospital · MARILYN – sister, parrot, cage, let out, fly, bedroom, looked everywhere, cried, window, hidden, cupboard, frightened, horrible. Write the two clouds on the board. Take 2 predictions – don't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Listening · gist (3 min)
GIST (3 min). Photos: A = James's story, B = Marilyn's story. Play 1.25 ONCE (book audio – not in the deck yet): were your predictions right? Pairs compare, then click once per line (rows 3–4 = quick gist checks: James was horrified, Marilyn cried and cried). Elicit each story (TG): James accidentally stabbed his twin brother in the finger with a penknife when they were fighting · Marilyn's sister hid her parrot, Charlie, in a cupboard. Ask: 'Who behaved worse?' – just a first reaction, then listen again for detail. ICQ: 'Do you need to understand every word?' (no – just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Listening · detail · James (3 min)
DETAIL (3 min). Read questions 1–5 first. Pairs answer from memory, then play the first story again (stop after James). Click once per question. Answers (TG): 1 15 · 2 in their bedroom · 3 James accidentally stabbed his brother in the finger with a penknife · 4 their mother was very angry with James, but it was a very small cut (no hospital) · 5 James's brother still tells other people about when James stabbed him. Fun detail: the brother said 'I'm going to tell Mum!' – at 15! (a future form from last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Listening · detail · Marilyn (3 min)
DETAIL (3 min). Same questions for Marilyn. Play the second story. Click once per question. Answers (TG): 1 ten · 2 she was in her bedroom · 3 her sister hid her parrot in a cupboard; Marilyn and her parents looked everywhere and she was very upset · 4 her sister showed them where the parrot was, in the cupboard · 5 Marilyn sometimes hides her sister's things (car keys, purse) to remind her of the parrot incident. Finally (TG): 'Who behaved worse, James or Marilyn's sister?' Quick class vote. EXTRA SUPPORT: listen again with the script on SB p.125.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Speaking · retell the story (4 min)
SPEAKING (4 min). Questions one per click. 7d (2 min): pairs A and B retell the story from the OTHER person's point of view (the first example is the book's model opening). Monitor and help with vocabulary; 1–2 students tell the class. 7e (2 min): a time when they or a sibling / friend behaved badly as a child – only if they want to; a funny story is perfect. If you have a story, tell it first (TG). Then 1–2 minutes of delayed error correction: write 4–5 errors from slides 17 and 22 on the board, pairs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Exit · what can you remember? (2 min)
RETRIEVAL EXIT (2 min). Books closed. Pairs: 3 adjectives + their opposites (e.g. patient – impatient), 2 things the article says about the oldest or only child, 1 what Marilyn's sister did (hid her parrot in a cupboard). A few students share. Homework: Workbook 1B 1b, 1c, 1d, 1e (personality, prefixes, false friends) + Writing p.115 'A description of a person' task e (if possible go through the model emails in class – EXTRA slide 25 – or at the start of next lesson) + the 1B-2 homework sheet (easier version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Extra game · Personality Taboo (4 min)
EXTRA GAME (4 min, if there's time – or as next lesson's warmer). Taboo: one describer per team faces the screen; the class must not see the screen. Click to show each card: describe a person like that without saying the adjective or the ✗ word. Encourage situations: 'If you lend her your car, she always brings it back on time' (reliable). 1 minute per card. Bonus point if the team also gives the OPPOSITE (reliable →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Extra · Writing · a description of a person (5 min)
EXTRA / WRITING PREPARATION (5 min). Books open at p.115. Click once per question. Answers (TG): a1 Because she is looking for an au pair and Sofia's friend Kasia told Angela she might be interested in working in England as an au pair · a2 Yes, she does. b interrested → interested · responsable → responsible · forgetfull → forgetful · fotography → photography · independant → independent (Italian interference: responsabile, indipendente, fotografia!). c1 intelligent, hard-working, mature, responsible, friendly, independent · c2 going to the cinema, listening to music, taking photos · c3 quite shy, a bit forgetful, her English isn't very good · c4 Yes, she does. d incredibly, really, very, quite, a bit – we normally use 'a bit' only with negative adjectives. Task e (the email) =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pp.12–13</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1B-2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200" dirty="0">
                <a:solidFill>
                  <a:srgbClr val="1B2559"/>
                </a:solidFill>
                <a:latin typeface="Arial Rounded MT Bold" pitchFamily="34" charset="0"/>
                <a:ea typeface="Arial Rounded MT Bold" pitchFamily="34" charset="-122"/>
                <a:cs typeface="Arial Rounded MT Bold" pitchFamily="34" charset="-120"/>
              </a:rPr>
              <a:t>Modern families</a:t>
            </a:r>
            <a:endParaRPr lang="en-US" sz="22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Personality and birth order</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describe people's personality</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make opposites: un-, dis-, im-…</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read about birth order and personality</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listen to two stories about brothers and sisters</a:t>
            </a:r>
            <a:endParaRPr lang="en-US" sz="12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Yes! I'm the oldest, so I think I'm more responsible.</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1b2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Oldest, youngest or only child – does it change you?</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1b1_wedding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1B: modern families</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family words · future forms</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will / won't / Shall I…?</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Your bags look heavy. I'll carry one!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Don't worry. I won't tell anybody.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Shall I make you a cup of tea?</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offer · promise · instant decision</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going to / present continuous</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going to look for a job.</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We're seeing Nonna on Sunday.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Look at the clouds! It's going to rain.</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plan · arrangement · prediction</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140817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brother-in-law</a:t>
            </a:r>
            <a:endParaRPr lang="en-US" sz="1050" dirty="0"/>
          </a:p>
        </p:txBody>
      </p:sp>
      <p:sp>
        <p:nvSpPr>
          <p:cNvPr id="28" name="w_42"/>
          <p:cNvSpPr/>
          <p:nvPr/>
        </p:nvSpPr>
        <p:spPr>
          <a:xfrm>
            <a:off x="4727448" y="4178808"/>
            <a:ext cx="109728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stepmother</a:t>
            </a:r>
            <a:endParaRPr lang="en-US" sz="1050" dirty="0"/>
          </a:p>
        </p:txBody>
      </p:sp>
      <p:sp>
        <p:nvSpPr>
          <p:cNvPr id="29" name="w_43"/>
          <p:cNvSpPr/>
          <p:nvPr/>
        </p:nvSpPr>
        <p:spPr>
          <a:xfrm>
            <a:off x="5897880" y="4178808"/>
            <a:ext cx="1175004"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half-sister</a:t>
            </a:r>
            <a:endParaRPr lang="en-US" sz="1050" dirty="0"/>
          </a:p>
        </p:txBody>
      </p:sp>
      <p:sp>
        <p:nvSpPr>
          <p:cNvPr id="30" name="w_44"/>
          <p:cNvSpPr/>
          <p:nvPr/>
        </p:nvSpPr>
        <p:spPr>
          <a:xfrm>
            <a:off x="7146036" y="4178808"/>
            <a:ext cx="1641348"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great-grandfather</a:t>
            </a:r>
            <a:endParaRPr lang="en-US" sz="1050" dirty="0"/>
          </a:p>
        </p:txBody>
      </p:sp>
      <p:sp>
        <p:nvSpPr>
          <p:cNvPr id="31" name="w_45"/>
          <p:cNvSpPr/>
          <p:nvPr/>
        </p:nvSpPr>
        <p:spPr>
          <a:xfrm>
            <a:off x="3246120" y="4544568"/>
            <a:ext cx="109728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only child</a:t>
            </a:r>
            <a:endParaRPr lang="en-US" sz="1050" dirty="0"/>
          </a:p>
        </p:txBody>
      </p:sp>
      <p:sp>
        <p:nvSpPr>
          <p:cNvPr id="32" name="w_46"/>
          <p:cNvSpPr/>
          <p:nvPr/>
        </p:nvSpPr>
        <p:spPr>
          <a:xfrm>
            <a:off x="4416552" y="4544568"/>
            <a:ext cx="941832"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siblings</a:t>
            </a:r>
            <a:endParaRPr lang="en-US" sz="1050" dirty="0"/>
          </a:p>
        </p:txBody>
      </p:sp>
      <p:sp>
        <p:nvSpPr>
          <p:cNvPr id="33" name="w_47"/>
          <p:cNvSpPr/>
          <p:nvPr/>
        </p:nvSpPr>
        <p:spPr>
          <a:xfrm>
            <a:off x="5431536" y="4544568"/>
            <a:ext cx="1408176"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nephew / niece</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9"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50"/>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Spot the mistake!</a:t>
            </a:r>
            <a:endParaRPr lang="en-US" sz="2500" dirty="0"/>
          </a:p>
        </p:txBody>
      </p:sp>
      <p:pic>
        <p:nvPicPr>
          <p:cNvPr id="6" name="brP_51" descr="/home/claude/lls-course/v2/assets/brush-pink.png">    </p:cNvPr>
          <p:cNvPicPr>
            <a:picLocks noChangeAspect="1"/>
          </p:cNvPicPr>
          <p:nvPr/>
        </p:nvPicPr>
        <p:blipFill>
          <a:blip r:embed="rId3"/>
          <a:stretch>
            <a:fillRect/>
          </a:stretch>
        </p:blipFill>
        <p:spPr>
          <a:xfrm>
            <a:off x="1207008" y="731520"/>
            <a:ext cx="2903220" cy="402336"/>
          </a:xfrm>
          <a:prstGeom prst="rect">
            <a:avLst/>
          </a:prstGeom>
        </p:spPr>
      </p:pic>
      <p:sp>
        <p:nvSpPr>
          <p:cNvPr id="7" name="ins_52"/>
          <p:cNvSpPr/>
          <p:nvPr/>
        </p:nvSpPr>
        <p:spPr>
          <a:xfrm>
            <a:off x="1353312" y="731520"/>
            <a:ext cx="26471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mistake. Fix it!</a:t>
            </a:r>
            <a:endParaRPr lang="en-US" sz="1250" dirty="0"/>
          </a:p>
        </p:txBody>
      </p:sp>
      <p:sp>
        <p:nvSpPr>
          <p:cNvPr id="8" name="insIT_5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l'errore. Correggilo!</a:t>
            </a:r>
            <a:endParaRPr lang="en-US" sz="950" dirty="0"/>
          </a:p>
        </p:txBody>
      </p:sp>
      <p:sp>
        <p:nvSpPr>
          <p:cNvPr id="9" name="cmd_5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5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Warmer · last lesson   ·   📖 Recycles 1B part 1: family words, future forms</a:t>
            </a:r>
            <a:endParaRPr lang="en-US" sz="800" dirty="0"/>
          </a:p>
        </p:txBody>
      </p:sp>
      <p:sp>
        <p:nvSpPr>
          <p:cNvPr id="14" name="cd_59"/>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1"/>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62"/>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sentence. Find the mistake.</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say the correct sentence.</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Correct fix = 1 point.</a:t>
            </a:r>
            <a:endParaRPr lang="en-US" sz="1150" dirty="0"/>
          </a:p>
        </p:txBody>
      </p:sp>
      <p:sp>
        <p:nvSpPr>
          <p:cNvPr id="18" name="pf_63"/>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4" descr="/home/claude/lls-course/v2/cache/spare_1b2_family_tre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5"/>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6"/>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sister's husband is my stepbrother."</a:t>
            </a:r>
            <a:endParaRPr lang="en-US" sz="1100" dirty="0"/>
          </a:p>
        </p:txBody>
      </p:sp>
      <p:sp>
        <p:nvSpPr>
          <p:cNvPr id="22" name="R1_chip67"/>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my brother-in-law</a:t>
            </a:r>
            <a:endParaRPr lang="en-US" sz="1100" dirty="0"/>
          </a:p>
        </p:txBody>
      </p:sp>
      <p:sp>
        <p:nvSpPr>
          <p:cNvPr id="23" name="bd_68"/>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69"/>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grandad's father is my grandfather too."</a:t>
            </a:r>
            <a:endParaRPr lang="en-US" sz="1100" dirty="0"/>
          </a:p>
        </p:txBody>
      </p:sp>
      <p:sp>
        <p:nvSpPr>
          <p:cNvPr id="25" name="R2_chip70"/>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my great-grandfather</a:t>
            </a:r>
            <a:endParaRPr lang="en-US" sz="1100" dirty="0"/>
          </a:p>
        </p:txBody>
      </p:sp>
      <p:sp>
        <p:nvSpPr>
          <p:cNvPr id="26" name="bd_71"/>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2"/>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"I've got no brothers or sisters. I'm an adopted child."</a:t>
            </a:r>
            <a:endParaRPr lang="en-US" sz="1100" dirty="0"/>
          </a:p>
        </p:txBody>
      </p:sp>
      <p:sp>
        <p:nvSpPr>
          <p:cNvPr id="28" name="R3_chip73"/>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an only child.</a:t>
            </a:r>
            <a:endParaRPr lang="en-US" sz="1100" dirty="0"/>
          </a:p>
        </p:txBody>
      </p:sp>
      <p:sp>
        <p:nvSpPr>
          <p:cNvPr id="29" name="bd_74"/>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5"/>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bags look heavy. I carry one for you!"</a:t>
            </a:r>
            <a:endParaRPr lang="en-US" sz="1100" dirty="0"/>
          </a:p>
        </p:txBody>
      </p:sp>
      <p:sp>
        <p:nvSpPr>
          <p:cNvPr id="31" name="R4_chip76"/>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I'll carry one for you! (offer)</a:t>
            </a:r>
            <a:endParaRPr lang="en-US" sz="1100" dirty="0"/>
          </a:p>
        </p:txBody>
      </p:sp>
      <p:sp>
        <p:nvSpPr>
          <p:cNvPr id="32" name="bd_77"/>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8"/>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see my cousins on Saturday. We booked a table."</a:t>
            </a:r>
            <a:endParaRPr lang="en-US" sz="1100" dirty="0"/>
          </a:p>
        </p:txBody>
      </p:sp>
      <p:sp>
        <p:nvSpPr>
          <p:cNvPr id="34" name="R5_chip79"/>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seeing my cousins… (arrangement)</a:t>
            </a:r>
            <a:endParaRPr lang="en-US" sz="1100" dirty="0"/>
          </a:p>
        </p:txBody>
      </p:sp>
      <p:sp>
        <p:nvSpPr>
          <p:cNvPr id="35" name="bd_80"/>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1"/>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"Don't worry. I don't tell anybody, I promise."</a:t>
            </a:r>
            <a:endParaRPr lang="en-US" sz="1100" dirty="0"/>
          </a:p>
        </p:txBody>
      </p:sp>
      <p:sp>
        <p:nvSpPr>
          <p:cNvPr id="37" name="R6_chip82"/>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 won't tell anybody. (promise)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85"/>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Opposites attract</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87"/>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opposite adjective.</a:t>
            </a:r>
            <a:endParaRPr lang="en-US" sz="1250" dirty="0"/>
          </a:p>
        </p:txBody>
      </p:sp>
      <p:sp>
        <p:nvSpPr>
          <p:cNvPr id="8" name="insIT_8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l'aggettivo contrario.</a:t>
            </a:r>
            <a:endParaRPr lang="en-US" sz="950" dirty="0"/>
          </a:p>
        </p:txBody>
      </p:sp>
      <p:sp>
        <p:nvSpPr>
          <p:cNvPr id="9" name="cmd_8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9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9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 opposites   ·   📖 SB p.12 · 4a</a:t>
            </a:r>
            <a:endParaRPr lang="en-US" sz="800" dirty="0"/>
          </a:p>
        </p:txBody>
      </p:sp>
      <p:sp>
        <p:nvSpPr>
          <p:cNvPr id="14" name="cd_94"/>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9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9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97"/>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tall ≠ sh___ → short</a:t>
            </a:r>
            <a:endParaRPr lang="en-US" sz="1050" dirty="0"/>
          </a:p>
        </p:txBody>
      </p:sp>
      <p:sp>
        <p:nvSpPr>
          <p:cNvPr id="18" name="pf_98"/>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99" descr="/home/claude/lls-course/v2/cache/1b2_shy_sociable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100"/>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01"/>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extroverted ≠ sh___</a:t>
            </a:r>
            <a:endParaRPr lang="en-US" sz="1150" dirty="0"/>
          </a:p>
        </p:txBody>
      </p:sp>
      <p:sp>
        <p:nvSpPr>
          <p:cNvPr id="22" name="R1_chip102"/>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shy</a:t>
            </a:r>
            <a:endParaRPr lang="en-US" sz="1000" dirty="0"/>
          </a:p>
        </p:txBody>
      </p:sp>
      <p:sp>
        <p:nvSpPr>
          <p:cNvPr id="23" name="bd_103"/>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04"/>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generous ≠ m___</a:t>
            </a:r>
            <a:endParaRPr lang="en-US" sz="1150" dirty="0"/>
          </a:p>
        </p:txBody>
      </p:sp>
      <p:sp>
        <p:nvSpPr>
          <p:cNvPr id="25" name="R2_chip105"/>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mean (tirchio)</a:t>
            </a:r>
            <a:endParaRPr lang="en-US" sz="1000" dirty="0"/>
          </a:p>
        </p:txBody>
      </p:sp>
      <p:sp>
        <p:nvSpPr>
          <p:cNvPr id="26" name="bd_106"/>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07"/>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hard-working ≠ l___</a:t>
            </a:r>
            <a:endParaRPr lang="en-US" sz="1150" dirty="0"/>
          </a:p>
        </p:txBody>
      </p:sp>
      <p:sp>
        <p:nvSpPr>
          <p:cNvPr id="28" name="R3_chip108"/>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lazy</a:t>
            </a:r>
            <a:endParaRPr lang="en-US" sz="1000" dirty="0"/>
          </a:p>
        </p:txBody>
      </p:sp>
      <p:sp>
        <p:nvSpPr>
          <p:cNvPr id="29" name="bd_109"/>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10"/>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talkative ≠ q___</a:t>
            </a:r>
            <a:endParaRPr lang="en-US" sz="1150" dirty="0"/>
          </a:p>
        </p:txBody>
      </p:sp>
      <p:sp>
        <p:nvSpPr>
          <p:cNvPr id="31" name="R4_chip111"/>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quiet</a:t>
            </a:r>
            <a:endParaRPr lang="en-US" sz="1000" dirty="0"/>
          </a:p>
        </p:txBody>
      </p:sp>
      <p:sp>
        <p:nvSpPr>
          <p:cNvPr id="32" name="bd_112"/>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13"/>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funny ≠ se___</a:t>
            </a:r>
            <a:endParaRPr lang="en-US" sz="1150" dirty="0"/>
          </a:p>
        </p:txBody>
      </p:sp>
      <p:sp>
        <p:nvSpPr>
          <p:cNvPr id="34" name="R5_chip114"/>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serious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6"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117"/>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are they like? (1)</a:t>
            </a:r>
            <a:endParaRPr lang="en-US" sz="2500" dirty="0"/>
          </a:p>
        </p:txBody>
      </p:sp>
      <p:pic>
        <p:nvPicPr>
          <p:cNvPr id="6" name="brP_118"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119"/>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clue. Say the adjective!</a:t>
            </a:r>
            <a:endParaRPr lang="en-US" sz="1250" dirty="0"/>
          </a:p>
        </p:txBody>
      </p:sp>
      <p:sp>
        <p:nvSpPr>
          <p:cNvPr id="8" name="insIT_12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l'indizio. Di' l'aggettivo!</a:t>
            </a:r>
            <a:endParaRPr lang="en-US" sz="950" dirty="0"/>
          </a:p>
        </p:txBody>
      </p:sp>
      <p:sp>
        <p:nvSpPr>
          <p:cNvPr id="9" name="cmd_12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2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2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1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 personality 1   ·   📖 SB p.12 · 4b · Vocabulary Bank Personality p.153 (audio 1.22)</a:t>
            </a:r>
            <a:endParaRPr lang="en-US" sz="800" dirty="0"/>
          </a:p>
        </p:txBody>
      </p:sp>
      <p:sp>
        <p:nvSpPr>
          <p:cNvPr id="14" name="cd_126"/>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12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2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129"/>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doesn't like obeying rules → rebellious</a:t>
            </a:r>
            <a:endParaRPr lang="en-US" sz="1050" dirty="0"/>
          </a:p>
        </p:txBody>
      </p:sp>
      <p:sp>
        <p:nvSpPr>
          <p:cNvPr id="18" name="pf_130"/>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131" descr="/home/claude/lls-course/v2/cache/1b2_selfish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132"/>
          <p:cNvSpPr/>
          <p:nvPr/>
        </p:nvSpPr>
        <p:spPr>
          <a:xfrm>
            <a:off x="3246120" y="1403604"/>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33"/>
          <p:cNvSpPr/>
          <p:nvPr/>
        </p:nvSpPr>
        <p:spPr>
          <a:xfrm>
            <a:off x="3630168" y="1417320"/>
            <a:ext cx="2103120" cy="283464"/>
          </a:xfrm>
          <a:prstGeom prst="roundRect">
            <a:avLst>
              <a:gd name="adj" fmla="val 3225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only thinks about himself</a:t>
            </a:r>
            <a:endParaRPr lang="en-US" sz="1100" dirty="0"/>
          </a:p>
        </p:txBody>
      </p:sp>
      <p:sp>
        <p:nvSpPr>
          <p:cNvPr id="22" name="R1_chip134"/>
          <p:cNvSpPr/>
          <p:nvPr/>
        </p:nvSpPr>
        <p:spPr>
          <a:xfrm>
            <a:off x="5806440" y="1417320"/>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selfish</a:t>
            </a:r>
            <a:endParaRPr lang="en-US" sz="1000" dirty="0"/>
          </a:p>
        </p:txBody>
      </p:sp>
      <p:sp>
        <p:nvSpPr>
          <p:cNvPr id="23" name="bd_135"/>
          <p:cNvSpPr/>
          <p:nvPr/>
        </p:nvSpPr>
        <p:spPr>
          <a:xfrm>
            <a:off x="3246120" y="1732788"/>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36"/>
          <p:cNvSpPr/>
          <p:nvPr/>
        </p:nvSpPr>
        <p:spPr>
          <a:xfrm>
            <a:off x="3630168" y="1746504"/>
            <a:ext cx="2103120" cy="283464"/>
          </a:xfrm>
          <a:prstGeom prst="roundRect">
            <a:avLst>
              <a:gd name="adj" fmla="val 3225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gets everything he wants</a:t>
            </a:r>
            <a:endParaRPr lang="en-US" sz="1100" dirty="0"/>
          </a:p>
        </p:txBody>
      </p:sp>
      <p:sp>
        <p:nvSpPr>
          <p:cNvPr id="25" name="R2_chip137"/>
          <p:cNvSpPr/>
          <p:nvPr/>
        </p:nvSpPr>
        <p:spPr>
          <a:xfrm>
            <a:off x="5806440" y="1746504"/>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spoilt</a:t>
            </a:r>
            <a:endParaRPr lang="en-US" sz="1000" dirty="0"/>
          </a:p>
        </p:txBody>
      </p:sp>
      <p:sp>
        <p:nvSpPr>
          <p:cNvPr id="26" name="bd_138"/>
          <p:cNvSpPr/>
          <p:nvPr/>
        </p:nvSpPr>
        <p:spPr>
          <a:xfrm>
            <a:off x="3246120" y="206197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39"/>
          <p:cNvSpPr/>
          <p:nvPr/>
        </p:nvSpPr>
        <p:spPr>
          <a:xfrm>
            <a:off x="3630168" y="2075688"/>
            <a:ext cx="2103120" cy="283464"/>
          </a:xfrm>
          <a:prstGeom prst="roundRect">
            <a:avLst>
              <a:gd name="adj" fmla="val 3225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tells people what to do</a:t>
            </a:r>
            <a:endParaRPr lang="en-US" sz="1150" dirty="0"/>
          </a:p>
        </p:txBody>
      </p:sp>
      <p:sp>
        <p:nvSpPr>
          <p:cNvPr id="28" name="R3_chip140"/>
          <p:cNvSpPr/>
          <p:nvPr/>
        </p:nvSpPr>
        <p:spPr>
          <a:xfrm>
            <a:off x="5806440" y="2075688"/>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bossy</a:t>
            </a:r>
            <a:endParaRPr lang="en-US" sz="1000" dirty="0"/>
          </a:p>
        </p:txBody>
      </p:sp>
      <p:sp>
        <p:nvSpPr>
          <p:cNvPr id="29" name="bd_141"/>
          <p:cNvSpPr/>
          <p:nvPr/>
        </p:nvSpPr>
        <p:spPr>
          <a:xfrm>
            <a:off x="3246120" y="239115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42"/>
          <p:cNvSpPr/>
          <p:nvPr/>
        </p:nvSpPr>
        <p:spPr>
          <a:xfrm>
            <a:off x="3630168" y="2404872"/>
            <a:ext cx="2103120" cy="283464"/>
          </a:xfrm>
          <a:prstGeom prst="roundRect">
            <a:avLst>
              <a:gd name="adj" fmla="val 3225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never changes her opinion</a:t>
            </a:r>
            <a:endParaRPr lang="en-US" sz="1000" dirty="0"/>
          </a:p>
        </p:txBody>
      </p:sp>
      <p:sp>
        <p:nvSpPr>
          <p:cNvPr id="31" name="R4_chip143"/>
          <p:cNvSpPr/>
          <p:nvPr/>
        </p:nvSpPr>
        <p:spPr>
          <a:xfrm>
            <a:off x="5806440" y="2404872"/>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stubborn</a:t>
            </a:r>
            <a:endParaRPr lang="en-US" sz="1000" dirty="0"/>
          </a:p>
        </p:txBody>
      </p:sp>
      <p:sp>
        <p:nvSpPr>
          <p:cNvPr id="32" name="bd_144"/>
          <p:cNvSpPr/>
          <p:nvPr/>
        </p:nvSpPr>
        <p:spPr>
          <a:xfrm>
            <a:off x="3246120" y="2720340"/>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45"/>
          <p:cNvSpPr/>
          <p:nvPr/>
        </p:nvSpPr>
        <p:spPr>
          <a:xfrm>
            <a:off x="3630168" y="2734056"/>
            <a:ext cx="2103120" cy="283464"/>
          </a:xfrm>
          <a:prstGeom prst="roundRect">
            <a:avLst>
              <a:gd name="adj" fmla="val 3225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happy, then angry, then sad…</a:t>
            </a:r>
            <a:endParaRPr lang="en-US" sz="900" dirty="0"/>
          </a:p>
        </p:txBody>
      </p:sp>
      <p:sp>
        <p:nvSpPr>
          <p:cNvPr id="34" name="R5_chip146"/>
          <p:cNvSpPr/>
          <p:nvPr/>
        </p:nvSpPr>
        <p:spPr>
          <a:xfrm>
            <a:off x="5806440" y="2734056"/>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moody</a:t>
            </a:r>
            <a:endParaRPr lang="en-US" sz="1000" dirty="0"/>
          </a:p>
        </p:txBody>
      </p:sp>
      <p:sp>
        <p:nvSpPr>
          <p:cNvPr id="35" name="bd_147"/>
          <p:cNvSpPr/>
          <p:nvPr/>
        </p:nvSpPr>
        <p:spPr>
          <a:xfrm>
            <a:off x="3246120" y="3049524"/>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148"/>
          <p:cNvSpPr/>
          <p:nvPr/>
        </p:nvSpPr>
        <p:spPr>
          <a:xfrm>
            <a:off x="3630168" y="3063240"/>
            <a:ext cx="2103120" cy="283464"/>
          </a:xfrm>
          <a:prstGeom prst="roundRect">
            <a:avLst>
              <a:gd name="adj" fmla="val 3225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always wants to win</a:t>
            </a:r>
            <a:endParaRPr lang="en-US" sz="1150" dirty="0"/>
          </a:p>
        </p:txBody>
      </p:sp>
      <p:sp>
        <p:nvSpPr>
          <p:cNvPr id="37" name="R6_chip149"/>
          <p:cNvSpPr/>
          <p:nvPr/>
        </p:nvSpPr>
        <p:spPr>
          <a:xfrm>
            <a:off x="5806440" y="3063240"/>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competitive</a:t>
            </a:r>
            <a:endParaRPr lang="en-US" sz="1000" dirty="0"/>
          </a:p>
        </p:txBody>
      </p:sp>
      <p:sp>
        <p:nvSpPr>
          <p:cNvPr id="38" name="bd_150"/>
          <p:cNvSpPr/>
          <p:nvPr/>
        </p:nvSpPr>
        <p:spPr>
          <a:xfrm>
            <a:off x="3246120" y="3378708"/>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151"/>
          <p:cNvSpPr/>
          <p:nvPr/>
        </p:nvSpPr>
        <p:spPr>
          <a:xfrm>
            <a:off x="3630168" y="3392424"/>
            <a:ext cx="2103120" cy="283464"/>
          </a:xfrm>
          <a:prstGeom prst="roundRect">
            <a:avLst>
              <a:gd name="adj" fmla="val 3225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often worried or stressed</a:t>
            </a:r>
            <a:endParaRPr lang="en-US" sz="1100" dirty="0"/>
          </a:p>
        </p:txBody>
      </p:sp>
      <p:sp>
        <p:nvSpPr>
          <p:cNvPr id="40" name="R7_chip152"/>
          <p:cNvSpPr/>
          <p:nvPr/>
        </p:nvSpPr>
        <p:spPr>
          <a:xfrm>
            <a:off x="5806440" y="3392424"/>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anxious /ˈæŋkʃəs/</a:t>
            </a:r>
            <a:endParaRPr lang="en-US" sz="1000" dirty="0"/>
          </a:p>
        </p:txBody>
      </p:sp>
      <p:sp>
        <p:nvSpPr>
          <p:cNvPr id="41" name="bd_153"/>
          <p:cNvSpPr/>
          <p:nvPr/>
        </p:nvSpPr>
        <p:spPr>
          <a:xfrm>
            <a:off x="3246120" y="37078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2" name="q_154"/>
          <p:cNvSpPr/>
          <p:nvPr/>
        </p:nvSpPr>
        <p:spPr>
          <a:xfrm>
            <a:off x="3630168" y="3721608"/>
            <a:ext cx="2103120" cy="283464"/>
          </a:xfrm>
          <a:prstGeom prst="roundRect">
            <a:avLst>
              <a:gd name="adj" fmla="val 3225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not confident about herself</a:t>
            </a:r>
            <a:endParaRPr lang="en-US" sz="1000" dirty="0"/>
          </a:p>
        </p:txBody>
      </p:sp>
      <p:sp>
        <p:nvSpPr>
          <p:cNvPr id="43" name="R8_chip155"/>
          <p:cNvSpPr/>
          <p:nvPr/>
        </p:nvSpPr>
        <p:spPr>
          <a:xfrm>
            <a:off x="5806440" y="3721608"/>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insecure</a:t>
            </a:r>
            <a:endParaRPr lang="en-US" sz="1000" dirty="0"/>
          </a:p>
        </p:txBody>
      </p:sp>
      <p:sp>
        <p:nvSpPr>
          <p:cNvPr id="44" name="bd_156"/>
          <p:cNvSpPr/>
          <p:nvPr/>
        </p:nvSpPr>
        <p:spPr>
          <a:xfrm>
            <a:off x="3246120" y="403707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9</a:t>
            </a:r>
            <a:endParaRPr lang="en-US" sz="1000" dirty="0"/>
          </a:p>
        </p:txBody>
      </p:sp>
      <p:sp>
        <p:nvSpPr>
          <p:cNvPr id="45" name="q_157"/>
          <p:cNvSpPr/>
          <p:nvPr/>
        </p:nvSpPr>
        <p:spPr>
          <a:xfrm>
            <a:off x="3630168" y="4050792"/>
            <a:ext cx="2103120" cy="283464"/>
          </a:xfrm>
          <a:prstGeom prst="roundRect">
            <a:avLst>
              <a:gd name="adj" fmla="val 3225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easily hurt or offended</a:t>
            </a:r>
            <a:endParaRPr lang="en-US" sz="1150" dirty="0"/>
          </a:p>
        </p:txBody>
      </p:sp>
      <p:sp>
        <p:nvSpPr>
          <p:cNvPr id="46" name="R9_chip158"/>
          <p:cNvSpPr/>
          <p:nvPr/>
        </p:nvSpPr>
        <p:spPr>
          <a:xfrm>
            <a:off x="5806440" y="4050792"/>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sensitive</a:t>
            </a:r>
            <a:endParaRPr lang="en-US" sz="1000" dirty="0"/>
          </a:p>
        </p:txBody>
      </p:sp>
      <p:sp>
        <p:nvSpPr>
          <p:cNvPr id="47" name="bd_159"/>
          <p:cNvSpPr/>
          <p:nvPr/>
        </p:nvSpPr>
        <p:spPr>
          <a:xfrm>
            <a:off x="3246120" y="4366260"/>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10</a:t>
            </a:r>
            <a:endParaRPr lang="en-US" sz="800" dirty="0"/>
          </a:p>
        </p:txBody>
      </p:sp>
      <p:sp>
        <p:nvSpPr>
          <p:cNvPr id="48" name="q_160"/>
          <p:cNvSpPr/>
          <p:nvPr/>
        </p:nvSpPr>
        <p:spPr>
          <a:xfrm>
            <a:off x="3630168" y="4379976"/>
            <a:ext cx="2103120" cy="283464"/>
          </a:xfrm>
          <a:prstGeom prst="roundRect">
            <a:avLst>
              <a:gd name="adj" fmla="val 3225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wants to be successful in life</a:t>
            </a:r>
            <a:endParaRPr lang="en-US" sz="900" dirty="0"/>
          </a:p>
        </p:txBody>
      </p:sp>
      <p:sp>
        <p:nvSpPr>
          <p:cNvPr id="49" name="R10_chip161"/>
          <p:cNvSpPr/>
          <p:nvPr/>
        </p:nvSpPr>
        <p:spPr>
          <a:xfrm>
            <a:off x="5806440" y="4379976"/>
            <a:ext cx="3063240" cy="283464"/>
          </a:xfrm>
          <a:prstGeom prst="roundRect">
            <a:avLst>
              <a:gd name="adj" fmla="val 3225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ambitious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4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63"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164"/>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are they like? (2)</a:t>
            </a:r>
            <a:endParaRPr lang="en-US" sz="2500" dirty="0"/>
          </a:p>
        </p:txBody>
      </p:sp>
      <p:pic>
        <p:nvPicPr>
          <p:cNvPr id="6" name="brP_165"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166"/>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adjective. Then listen.</a:t>
            </a:r>
            <a:endParaRPr lang="en-US" sz="1250" dirty="0"/>
          </a:p>
        </p:txBody>
      </p:sp>
      <p:sp>
        <p:nvSpPr>
          <p:cNvPr id="8" name="insIT_16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l'aggettivo. Poi ascolta.</a:t>
            </a:r>
            <a:endParaRPr lang="en-US" sz="950" dirty="0"/>
          </a:p>
        </p:txBody>
      </p:sp>
      <p:sp>
        <p:nvSpPr>
          <p:cNvPr id="9" name="cmd_16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6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17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7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17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7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 personality 2   ·   📖 Vocabulary Bank Personality p.153 · audio 1.22</a:t>
            </a:r>
            <a:endParaRPr lang="en-US" sz="800" dirty="0"/>
          </a:p>
        </p:txBody>
      </p:sp>
      <p:sp>
        <p:nvSpPr>
          <p:cNvPr id="15" name="cd_17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17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Vocabulary Bank · What are they like?</a:t>
            </a:r>
            <a:endParaRPr lang="en-US" sz="1700" dirty="0"/>
          </a:p>
        </p:txBody>
      </p:sp>
      <p:sp>
        <p:nvSpPr>
          <p:cNvPr id="17" name="ln_176"/>
          <p:cNvSpPr/>
          <p:nvPr/>
        </p:nvSpPr>
        <p:spPr>
          <a:xfrm>
            <a:off x="548640" y="1920240"/>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 people behave like adults.</a:t>
            </a:r>
            <a:endParaRPr lang="en-US" sz="1200" dirty="0"/>
          </a:p>
        </p:txBody>
      </p:sp>
      <p:sp>
        <p:nvSpPr>
          <p:cNvPr id="18" name="R1_lnA177"/>
          <p:cNvSpPr/>
          <p:nvPr/>
        </p:nvSpPr>
        <p:spPr>
          <a:xfrm>
            <a:off x="548640" y="1920240"/>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Mature</a:t>
            </a:r>
            <a:pPr indent="0" marL="0">
              <a:buNone/>
            </a:pPr>
            <a:r>
              <a:rPr lang="en-US" sz="1200" dirty="0">
                <a:solidFill>
                  <a:srgbClr val="1B2559"/>
                </a:solidFill>
                <a:latin typeface="Georgia" pitchFamily="34" charset="0"/>
                <a:ea typeface="Georgia" pitchFamily="34" charset="-122"/>
                <a:cs typeface="Georgia" pitchFamily="34" charset="-120"/>
              </a:rPr>
              <a:t> people behave like adults.</a:t>
            </a:r>
            <a:endParaRPr lang="en-US" sz="1200" dirty="0"/>
          </a:p>
        </p:txBody>
      </p:sp>
      <p:sp>
        <p:nvSpPr>
          <p:cNvPr id="19" name="ln_178"/>
          <p:cNvSpPr/>
          <p:nvPr/>
        </p:nvSpPr>
        <p:spPr>
          <a:xfrm>
            <a:off x="548640" y="2199132"/>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(2) _____ </a:t>
            </a:r>
            <a:pPr indent="0" marL="0">
              <a:buNone/>
            </a:pPr>
            <a:r>
              <a:rPr lang="en-US" sz="1200" dirty="0">
                <a:solidFill>
                  <a:srgbClr val="1B2559"/>
                </a:solidFill>
                <a:latin typeface="Georgia" pitchFamily="34" charset="0"/>
                <a:ea typeface="Georgia" pitchFamily="34" charset="-122"/>
                <a:cs typeface="Georgia" pitchFamily="34" charset="-120"/>
              </a:rPr>
              <a:t> people always tell the truth and never steal or cheat.</a:t>
            </a:r>
            <a:endParaRPr lang="en-US" sz="1200" dirty="0"/>
          </a:p>
        </p:txBody>
      </p:sp>
      <p:sp>
        <p:nvSpPr>
          <p:cNvPr id="20" name="R2_lnA179"/>
          <p:cNvSpPr/>
          <p:nvPr/>
        </p:nvSpPr>
        <p:spPr>
          <a:xfrm>
            <a:off x="548640" y="2199132"/>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Honest</a:t>
            </a:r>
            <a:pPr indent="0" marL="0">
              <a:buNone/>
            </a:pPr>
            <a:r>
              <a:rPr lang="en-US" sz="1200" dirty="0">
                <a:solidFill>
                  <a:srgbClr val="1B2559"/>
                </a:solidFill>
                <a:latin typeface="Georgia" pitchFamily="34" charset="0"/>
                <a:ea typeface="Georgia" pitchFamily="34" charset="-122"/>
                <a:cs typeface="Georgia" pitchFamily="34" charset="-120"/>
              </a:rPr>
              <a:t> people always tell the truth and never steal or cheat.</a:t>
            </a:r>
            <a:endParaRPr lang="en-US" sz="1200" dirty="0"/>
          </a:p>
        </p:txBody>
      </p:sp>
      <p:sp>
        <p:nvSpPr>
          <p:cNvPr id="21" name="ln_180"/>
          <p:cNvSpPr/>
          <p:nvPr/>
        </p:nvSpPr>
        <p:spPr>
          <a:xfrm>
            <a:off x="548640" y="2478024"/>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(3) _____ </a:t>
            </a:r>
            <a:pPr indent="0" marL="0">
              <a:buNone/>
            </a:pPr>
            <a:r>
              <a:rPr lang="en-US" sz="1200" dirty="0">
                <a:solidFill>
                  <a:srgbClr val="1B2559"/>
                </a:solidFill>
                <a:latin typeface="Georgia" pitchFamily="34" charset="0"/>
                <a:ea typeface="Georgia" pitchFamily="34" charset="-122"/>
                <a:cs typeface="Georgia" pitchFamily="34" charset="-120"/>
              </a:rPr>
              <a:t> people have an attractive personality.</a:t>
            </a:r>
            <a:endParaRPr lang="en-US" sz="1200" dirty="0"/>
          </a:p>
        </p:txBody>
      </p:sp>
      <p:sp>
        <p:nvSpPr>
          <p:cNvPr id="22" name="R3_lnA181"/>
          <p:cNvSpPr/>
          <p:nvPr/>
        </p:nvSpPr>
        <p:spPr>
          <a:xfrm>
            <a:off x="548640" y="2478024"/>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Charming</a:t>
            </a:r>
            <a:pPr indent="0" marL="0">
              <a:buNone/>
            </a:pPr>
            <a:r>
              <a:rPr lang="en-US" sz="1200" dirty="0">
                <a:solidFill>
                  <a:srgbClr val="1B2559"/>
                </a:solidFill>
                <a:latin typeface="Georgia" pitchFamily="34" charset="0"/>
                <a:ea typeface="Georgia" pitchFamily="34" charset="-122"/>
                <a:cs typeface="Georgia" pitchFamily="34" charset="-120"/>
              </a:rPr>
              <a:t> people have an attractive personality.</a:t>
            </a:r>
            <a:endParaRPr lang="en-US" sz="1200" dirty="0"/>
          </a:p>
        </p:txBody>
      </p:sp>
      <p:sp>
        <p:nvSpPr>
          <p:cNvPr id="23" name="ln_182"/>
          <p:cNvSpPr/>
          <p:nvPr/>
        </p:nvSpPr>
        <p:spPr>
          <a:xfrm>
            <a:off x="548640" y="2756916"/>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(4) _____ </a:t>
            </a:r>
            <a:pPr indent="0" marL="0">
              <a:buNone/>
            </a:pPr>
            <a:r>
              <a:rPr lang="en-US" sz="1200" dirty="0">
                <a:solidFill>
                  <a:srgbClr val="1B2559"/>
                </a:solidFill>
                <a:latin typeface="Georgia" pitchFamily="34" charset="0"/>
                <a:ea typeface="Georgia" pitchFamily="34" charset="-122"/>
                <a:cs typeface="Georgia" pitchFamily="34" charset="-120"/>
              </a:rPr>
              <a:t> people have common sense and are practical.</a:t>
            </a:r>
            <a:endParaRPr lang="en-US" sz="1200" dirty="0"/>
          </a:p>
        </p:txBody>
      </p:sp>
      <p:sp>
        <p:nvSpPr>
          <p:cNvPr id="24" name="R4_lnA183"/>
          <p:cNvSpPr/>
          <p:nvPr/>
        </p:nvSpPr>
        <p:spPr>
          <a:xfrm>
            <a:off x="548640" y="2756916"/>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Sensible</a:t>
            </a:r>
            <a:pPr indent="0" marL="0">
              <a:buNone/>
            </a:pPr>
            <a:r>
              <a:rPr lang="en-US" sz="1200" dirty="0">
                <a:solidFill>
                  <a:srgbClr val="1B2559"/>
                </a:solidFill>
                <a:latin typeface="Georgia" pitchFamily="34" charset="0"/>
                <a:ea typeface="Georgia" pitchFamily="34" charset="-122"/>
                <a:cs typeface="Georgia" pitchFamily="34" charset="-120"/>
              </a:rPr>
              <a:t> people have common sense and are practical.</a:t>
            </a:r>
            <a:endParaRPr lang="en-US" sz="1200" dirty="0"/>
          </a:p>
        </p:txBody>
      </p:sp>
      <p:sp>
        <p:nvSpPr>
          <p:cNvPr id="25" name="ln_184"/>
          <p:cNvSpPr/>
          <p:nvPr/>
        </p:nvSpPr>
        <p:spPr>
          <a:xfrm>
            <a:off x="548640" y="3035808"/>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(5) _____ </a:t>
            </a:r>
            <a:pPr indent="0" marL="0">
              <a:buNone/>
            </a:pPr>
            <a:r>
              <a:rPr lang="en-US" sz="1200" dirty="0">
                <a:solidFill>
                  <a:srgbClr val="1B2559"/>
                </a:solidFill>
                <a:latin typeface="Georgia" pitchFamily="34" charset="0"/>
                <a:ea typeface="Georgia" pitchFamily="34" charset="-122"/>
                <a:cs typeface="Georgia" pitchFamily="34" charset="-120"/>
              </a:rPr>
              <a:t> people are friendly and enjoy being with other people.</a:t>
            </a:r>
            <a:endParaRPr lang="en-US" sz="1200" dirty="0"/>
          </a:p>
        </p:txBody>
      </p:sp>
      <p:sp>
        <p:nvSpPr>
          <p:cNvPr id="26" name="R5_lnA185"/>
          <p:cNvSpPr/>
          <p:nvPr/>
        </p:nvSpPr>
        <p:spPr>
          <a:xfrm>
            <a:off x="548640" y="3035808"/>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Sociable</a:t>
            </a:r>
            <a:pPr indent="0" marL="0">
              <a:buNone/>
            </a:pPr>
            <a:r>
              <a:rPr lang="en-US" sz="1200" dirty="0">
                <a:solidFill>
                  <a:srgbClr val="1B2559"/>
                </a:solidFill>
                <a:latin typeface="Georgia" pitchFamily="34" charset="0"/>
                <a:ea typeface="Georgia" pitchFamily="34" charset="-122"/>
                <a:cs typeface="Georgia" pitchFamily="34" charset="-120"/>
              </a:rPr>
              <a:t> people are friendly and enjoy being with other people.</a:t>
            </a:r>
            <a:endParaRPr lang="en-US" sz="1200" dirty="0"/>
          </a:p>
        </p:txBody>
      </p:sp>
      <p:sp>
        <p:nvSpPr>
          <p:cNvPr id="27" name="ln_186"/>
          <p:cNvSpPr/>
          <p:nvPr/>
        </p:nvSpPr>
        <p:spPr>
          <a:xfrm>
            <a:off x="548640" y="3314700"/>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(6) _____ </a:t>
            </a:r>
            <a:pPr indent="0" marL="0">
              <a:buNone/>
            </a:pPr>
            <a:r>
              <a:rPr lang="en-US" sz="1200" dirty="0">
                <a:solidFill>
                  <a:srgbClr val="1B2559"/>
                </a:solidFill>
                <a:latin typeface="Georgia" pitchFamily="34" charset="0"/>
                <a:ea typeface="Georgia" pitchFamily="34" charset="-122"/>
                <a:cs typeface="Georgia" pitchFamily="34" charset="-120"/>
              </a:rPr>
              <a:t> people have a good imagination.</a:t>
            </a:r>
            <a:endParaRPr lang="en-US" sz="1200" dirty="0"/>
          </a:p>
        </p:txBody>
      </p:sp>
      <p:sp>
        <p:nvSpPr>
          <p:cNvPr id="28" name="R6_lnA187"/>
          <p:cNvSpPr/>
          <p:nvPr/>
        </p:nvSpPr>
        <p:spPr>
          <a:xfrm>
            <a:off x="548640" y="3314700"/>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Imaginative</a:t>
            </a:r>
            <a:pPr indent="0" marL="0">
              <a:buNone/>
            </a:pPr>
            <a:r>
              <a:rPr lang="en-US" sz="1200" dirty="0">
                <a:solidFill>
                  <a:srgbClr val="1B2559"/>
                </a:solidFill>
                <a:latin typeface="Georgia" pitchFamily="34" charset="0"/>
                <a:ea typeface="Georgia" pitchFamily="34" charset="-122"/>
                <a:cs typeface="Georgia" pitchFamily="34" charset="-120"/>
              </a:rPr>
              <a:t> people have a good imagination.</a:t>
            </a:r>
            <a:endParaRPr lang="en-US" sz="1200" dirty="0"/>
          </a:p>
        </p:txBody>
      </p:sp>
      <p:sp>
        <p:nvSpPr>
          <p:cNvPr id="29" name="ln_188"/>
          <p:cNvSpPr/>
          <p:nvPr/>
        </p:nvSpPr>
        <p:spPr>
          <a:xfrm>
            <a:off x="548640" y="3593592"/>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(7) _____ </a:t>
            </a:r>
            <a:pPr indent="0" marL="0">
              <a:buNone/>
            </a:pPr>
            <a:r>
              <a:rPr lang="en-US" sz="1200" dirty="0">
                <a:solidFill>
                  <a:srgbClr val="1B2559"/>
                </a:solidFill>
                <a:latin typeface="Georgia" pitchFamily="34" charset="0"/>
                <a:ea typeface="Georgia" pitchFamily="34" charset="-122"/>
                <a:cs typeface="Georgia" pitchFamily="34" charset="-120"/>
              </a:rPr>
              <a:t> people like doing things on their own, without help.</a:t>
            </a:r>
            <a:endParaRPr lang="en-US" sz="1200" dirty="0"/>
          </a:p>
        </p:txBody>
      </p:sp>
      <p:sp>
        <p:nvSpPr>
          <p:cNvPr id="30" name="R7_lnA189"/>
          <p:cNvSpPr/>
          <p:nvPr/>
        </p:nvSpPr>
        <p:spPr>
          <a:xfrm>
            <a:off x="548640" y="3593592"/>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Independent</a:t>
            </a:r>
            <a:pPr indent="0" marL="0">
              <a:buNone/>
            </a:pPr>
            <a:r>
              <a:rPr lang="en-US" sz="1200" dirty="0">
                <a:solidFill>
                  <a:srgbClr val="1B2559"/>
                </a:solidFill>
                <a:latin typeface="Georgia" pitchFamily="34" charset="0"/>
                <a:ea typeface="Georgia" pitchFamily="34" charset="-122"/>
                <a:cs typeface="Georgia" pitchFamily="34" charset="-120"/>
              </a:rPr>
              <a:t> people like doing things on their own, without help.</a:t>
            </a:r>
            <a:endParaRPr lang="en-US" sz="1200" dirty="0"/>
          </a:p>
        </p:txBody>
      </p:sp>
      <p:sp>
        <p:nvSpPr>
          <p:cNvPr id="31" name="ln_190"/>
          <p:cNvSpPr/>
          <p:nvPr/>
        </p:nvSpPr>
        <p:spPr>
          <a:xfrm>
            <a:off x="548640" y="3872484"/>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(8) _____ </a:t>
            </a:r>
            <a:pPr indent="0" marL="0">
              <a:buNone/>
            </a:pPr>
            <a:r>
              <a:rPr lang="en-US" sz="1200" dirty="0">
                <a:solidFill>
                  <a:srgbClr val="1B2559"/>
                </a:solidFill>
                <a:latin typeface="Georgia" pitchFamily="34" charset="0"/>
                <a:ea typeface="Georgia" pitchFamily="34" charset="-122"/>
                <a:cs typeface="Georgia" pitchFamily="34" charset="-120"/>
              </a:rPr>
              <a:t> people can wait for a long time without getting angry.</a:t>
            </a:r>
            <a:endParaRPr lang="en-US" sz="1200" dirty="0"/>
          </a:p>
        </p:txBody>
      </p:sp>
      <p:sp>
        <p:nvSpPr>
          <p:cNvPr id="32" name="R8_lnA191"/>
          <p:cNvSpPr/>
          <p:nvPr/>
        </p:nvSpPr>
        <p:spPr>
          <a:xfrm>
            <a:off x="548640" y="3872484"/>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Patient</a:t>
            </a:r>
            <a:pPr indent="0" marL="0">
              <a:buNone/>
            </a:pPr>
            <a:r>
              <a:rPr lang="en-US" sz="1200" dirty="0">
                <a:solidFill>
                  <a:srgbClr val="1B2559"/>
                </a:solidFill>
                <a:latin typeface="Georgia" pitchFamily="34" charset="0"/>
                <a:ea typeface="Georgia" pitchFamily="34" charset="-122"/>
                <a:cs typeface="Georgia" pitchFamily="34" charset="-120"/>
              </a:rPr>
              <a:t> people can wait for a long time without getting angry.</a:t>
            </a:r>
            <a:endParaRPr lang="en-US" sz="1200" dirty="0"/>
          </a:p>
        </p:txBody>
      </p:sp>
      <p:sp>
        <p:nvSpPr>
          <p:cNvPr id="33" name="ln_192"/>
          <p:cNvSpPr/>
          <p:nvPr/>
        </p:nvSpPr>
        <p:spPr>
          <a:xfrm>
            <a:off x="548640" y="4151376"/>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(9) _____ </a:t>
            </a:r>
            <a:pPr indent="0" marL="0">
              <a:buNone/>
            </a:pPr>
            <a:r>
              <a:rPr lang="en-US" sz="1200" dirty="0">
                <a:solidFill>
                  <a:srgbClr val="1B2559"/>
                </a:solidFill>
                <a:latin typeface="Georgia" pitchFamily="34" charset="0"/>
                <a:ea typeface="Georgia" pitchFamily="34" charset="-122"/>
                <a:cs typeface="Georgia" pitchFamily="34" charset="-120"/>
              </a:rPr>
              <a:t> people are ones who you can trust or depend on.</a:t>
            </a:r>
            <a:endParaRPr lang="en-US" sz="1200" dirty="0"/>
          </a:p>
        </p:txBody>
      </p:sp>
      <p:sp>
        <p:nvSpPr>
          <p:cNvPr id="34" name="R9_lnA193"/>
          <p:cNvSpPr/>
          <p:nvPr/>
        </p:nvSpPr>
        <p:spPr>
          <a:xfrm>
            <a:off x="548640" y="4151376"/>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Reliable</a:t>
            </a:r>
            <a:pPr indent="0" marL="0">
              <a:buNone/>
            </a:pPr>
            <a:r>
              <a:rPr lang="en-US" sz="1200" dirty="0">
                <a:solidFill>
                  <a:srgbClr val="1B2559"/>
                </a:solidFill>
                <a:latin typeface="Georgia" pitchFamily="34" charset="0"/>
                <a:ea typeface="Georgia" pitchFamily="34" charset="-122"/>
                <a:cs typeface="Georgia" pitchFamily="34" charset="-120"/>
              </a:rPr>
              <a:t> people are ones who you can trust or depend on.</a:t>
            </a:r>
            <a:endParaRPr lang="en-US" sz="1200" dirty="0"/>
          </a:p>
        </p:txBody>
      </p:sp>
      <p:sp>
        <p:nvSpPr>
          <p:cNvPr id="35" name="ln_194"/>
          <p:cNvSpPr/>
          <p:nvPr/>
        </p:nvSpPr>
        <p:spPr>
          <a:xfrm>
            <a:off x="548640" y="4430268"/>
            <a:ext cx="5349240" cy="278892"/>
          </a:xfrm>
          <a:prstGeom prst="rect">
            <a:avLst/>
          </a:prstGeom>
          <a:noFill/>
          <a:ln/>
        </p:spPr>
        <p:txBody>
          <a:bodyPr wrap="square" lIns="0" tIns="0" rIns="0" bIns="0" rtlCol="0" anchor="ctr">
            <a:normAutofit/>
          </a:bodyPr>
          <a:lstStyle/>
          <a:p>
            <a:pPr indent="0" marL="0">
              <a:buNone/>
            </a:pPr>
            <a:r>
              <a:rPr lang="en-US" sz="1200" b="1" dirty="0">
                <a:solidFill>
                  <a:srgbClr val="2EB872"/>
                </a:solidFill>
                <a:latin typeface="Georgia" pitchFamily="34" charset="0"/>
                <a:ea typeface="Georgia" pitchFamily="34" charset="-122"/>
                <a:cs typeface="Georgia" pitchFamily="34" charset="-120"/>
              </a:rPr>
              <a:t> (10) _____ </a:t>
            </a:r>
            <a:pPr indent="0" marL="0">
              <a:buNone/>
            </a:pPr>
            <a:r>
              <a:rPr lang="en-US" sz="1200" dirty="0">
                <a:solidFill>
                  <a:srgbClr val="1B2559"/>
                </a:solidFill>
                <a:latin typeface="Georgia" pitchFamily="34" charset="0"/>
                <a:ea typeface="Georgia" pitchFamily="34" charset="-122"/>
                <a:cs typeface="Georgia" pitchFamily="34" charset="-120"/>
              </a:rPr>
              <a:t> people are sure of themselves and their abilities.</a:t>
            </a:r>
            <a:endParaRPr lang="en-US" sz="1200" dirty="0"/>
          </a:p>
        </p:txBody>
      </p:sp>
      <p:sp>
        <p:nvSpPr>
          <p:cNvPr id="36" name="R10_lnA195"/>
          <p:cNvSpPr/>
          <p:nvPr/>
        </p:nvSpPr>
        <p:spPr>
          <a:xfrm>
            <a:off x="548640" y="4430268"/>
            <a:ext cx="5349240" cy="278892"/>
          </a:xfrm>
          <a:prstGeom prst="rect">
            <a:avLst/>
          </a:prstGeom>
          <a:solidFill>
            <a:srgbClr val="FFFFFF"/>
          </a:solidFill>
          <a:ln/>
        </p:spPr>
        <p:txBody>
          <a:bodyPr wrap="square" lIns="0" tIns="0" rIns="0" bIns="0" rtlCol="0" anchor="ctr">
            <a:normAutofit/>
          </a:bodyPr>
          <a:lstStyle/>
          <a:p>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Self-confident</a:t>
            </a:r>
            <a:pPr indent="0" marL="0">
              <a:buNone/>
            </a:pPr>
            <a:r>
              <a:rPr lang="en-US" sz="1200" dirty="0">
                <a:solidFill>
                  <a:srgbClr val="1B2559"/>
                </a:solidFill>
                <a:latin typeface="Georgia" pitchFamily="34" charset="0"/>
                <a:ea typeface="Georgia" pitchFamily="34" charset="-122"/>
                <a:cs typeface="Georgia" pitchFamily="34" charset="-120"/>
              </a:rPr>
              <a:t> people are sure of themselves and their abilities.</a:t>
            </a:r>
            <a:endParaRPr lang="en-US" sz="1200" dirty="0"/>
          </a:p>
        </p:txBody>
      </p:sp>
      <p:sp>
        <p:nvSpPr>
          <p:cNvPr id="37" name="ap_196"/>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1.22</a:t>
            </a:r>
            <a:endParaRPr lang="en-US" sz="1100" dirty="0"/>
          </a:p>
        </p:txBody>
      </p:sp>
      <p:sp>
        <p:nvSpPr>
          <p:cNvPr id="38" name="ah_19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39"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40"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41" name="pf_198"/>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2" name="ph_199" descr="/home/claude/lls-course/v2/cache/spare_life_personality_jpg_594x352_31.png">    </p:cNvPr>
          <p:cNvPicPr>
            <a:picLocks noChangeAspect="1"/>
          </p:cNvPicPr>
          <p:nvPr/>
        </p:nvPicPr>
        <p:blipFill>
          <a:blip r:embed="rId11"/>
          <a:stretch>
            <a:fillRect/>
          </a:stretch>
        </p:blipFill>
        <p:spPr>
          <a:xfrm rot="120000">
            <a:off x="6355080" y="2240280"/>
            <a:ext cx="2468880" cy="1463040"/>
          </a:xfrm>
          <a:prstGeom prst="rect">
            <a:avLst/>
          </a:prstGeom>
        </p:spPr>
      </p:pic>
      <p:sp>
        <p:nvSpPr>
          <p:cNvPr id="43" name="cd_200"/>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4" name="ii_20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5" name="ih_20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46" name="il_203"/>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Positive or negative?</a:t>
            </a:r>
            <a:endParaRPr lang="en-US" sz="1000" dirty="0"/>
          </a:p>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 affectionate = shows love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4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3" restart="whenNotActive" fill="hold" evtFilter="cancelBubble" nodeType="interactiveSeq">
                <p:stCondLst>
                  <p:cond evt="onClick" delay="0">
                    <p:tgtEl>
                      <p:spTgt spid="39"/>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39"/>
                                        </p:tgtEl>
                                      </p:cBhvr>
                                    </p:cmd>
                                  </p:childTnLst>
                                </p:cTn>
                              </p:par>
                            </p:childTnLst>
                          </p:cTn>
                        </p:par>
                      </p:childTnLst>
                    </p:cTn>
                  </p:par>
                </p:childTnLst>
              </p:cTn>
              <p:nextCondLst>
                <p:cond evt="onClick" delay="0">
                  <p:tgtEl>
                    <p:spTgt spid="39"/>
                  </p:tgtEl>
                </p:cond>
              </p:nextCondLst>
            </p:seq>
            <p:seq concurrent="1" nextAc="seek">
              <p:cTn id="58" restart="whenNotActive" fill="hold" evtFilter="cancelBubble" nodeType="interactiveSeq">
                <p:stCondLst>
                  <p:cond evt="onClick" delay="0">
                    <p:tgtEl>
                      <p:spTgt spid="40"/>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40"/>
                                        </p:tgtEl>
                                      </p:cBhvr>
                                    </p:cmd>
                                  </p:childTnLst>
                                </p:cTn>
                              </p:par>
                            </p:childTnLst>
                          </p:cTn>
                        </p:par>
                      </p:childTnLst>
                    </p:cTn>
                  </p:par>
                </p:childTnLst>
              </p:cTn>
              <p:nextCondLst>
                <p:cond evt="onClick" delay="0">
                  <p:tgtEl>
                    <p:spTgt spid="40"/>
                  </p:tgtEl>
                </p:cond>
              </p:nextCondLst>
            </p:seq>
            <p:audio>
              <p:cMediaNode vol="80000">
                <p:cTn id="63" fill="hold" display="0">
                  <p:stCondLst>
                    <p:cond delay="indefinite"/>
                  </p:stCondLst>
                  <p:endCondLst>
                    <p:cond evt="onStopAudio" delay="0">
                      <p:tgtEl>
                        <p:sldTgt/>
                      </p:tgtEl>
                    </p:cond>
                  </p:endCondLst>
                </p:cTn>
                <p:tgtEl>
                  <p:spTgt spid="39"/>
                </p:tgtEl>
              </p:cMediaNode>
            </p:audio>
            <p:audio>
              <p:cMediaNode vol="80000">
                <p:cTn id="64" fill="hold" display="0">
                  <p:stCondLst>
                    <p:cond delay="indefinite"/>
                  </p:stCondLst>
                  <p:endCondLst>
                    <p:cond evt="onStopAudio" delay="0">
                      <p:tgtEl>
                        <p:sldTgt/>
                      </p:tgtEl>
                    </p:cond>
                  </p:endCondLst>
                </p:cTn>
                <p:tgtEl>
                  <p:spTgt spid="4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4"/>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05"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06"/>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Personality in Italian</a:t>
            </a:r>
            <a:endParaRPr lang="en-US" sz="2500" dirty="0"/>
          </a:p>
        </p:txBody>
      </p:sp>
      <p:pic>
        <p:nvPicPr>
          <p:cNvPr id="6" name="brP_207"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08"/>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20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210"/>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21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1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21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1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 in Italian</a:t>
            </a:r>
            <a:endParaRPr lang="en-US" sz="800" dirty="0"/>
          </a:p>
        </p:txBody>
      </p:sp>
      <p:sp>
        <p:nvSpPr>
          <p:cNvPr id="14" name="cd_215"/>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216"/>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217"/>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selfish</a:t>
            </a:r>
            <a:endParaRPr lang="en-US" sz="1200" dirty="0"/>
          </a:p>
        </p:txBody>
      </p:sp>
      <p:sp>
        <p:nvSpPr>
          <p:cNvPr id="17" name="R1_it218"/>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egoista</a:t>
            </a:r>
            <a:endParaRPr lang="en-US" sz="1000" dirty="0"/>
          </a:p>
        </p:txBody>
      </p:sp>
      <p:sp>
        <p:nvSpPr>
          <p:cNvPr id="18" name="cd_219"/>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220"/>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221"/>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spoilt</a:t>
            </a:r>
            <a:endParaRPr lang="en-US" sz="1200" dirty="0"/>
          </a:p>
        </p:txBody>
      </p:sp>
      <p:sp>
        <p:nvSpPr>
          <p:cNvPr id="21" name="R1_it222"/>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viziato</a:t>
            </a:r>
            <a:endParaRPr lang="en-US" sz="1000" dirty="0"/>
          </a:p>
        </p:txBody>
      </p:sp>
      <p:sp>
        <p:nvSpPr>
          <p:cNvPr id="22" name="cd_223"/>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224"/>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225"/>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bossy</a:t>
            </a:r>
            <a:endParaRPr lang="en-US" sz="1200" dirty="0"/>
          </a:p>
        </p:txBody>
      </p:sp>
      <p:sp>
        <p:nvSpPr>
          <p:cNvPr id="25" name="R1_it226"/>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prepotente, autoritario</a:t>
            </a:r>
            <a:endParaRPr lang="en-US" sz="850" dirty="0"/>
          </a:p>
        </p:txBody>
      </p:sp>
      <p:sp>
        <p:nvSpPr>
          <p:cNvPr id="26" name="cd_227"/>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228"/>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229"/>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stubborn</a:t>
            </a:r>
            <a:endParaRPr lang="en-US" sz="1200" dirty="0"/>
          </a:p>
        </p:txBody>
      </p:sp>
      <p:sp>
        <p:nvSpPr>
          <p:cNvPr id="29" name="R1_it230"/>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testardo</a:t>
            </a:r>
            <a:endParaRPr lang="en-US" sz="1000" dirty="0"/>
          </a:p>
        </p:txBody>
      </p:sp>
      <p:sp>
        <p:nvSpPr>
          <p:cNvPr id="30" name="cd_231"/>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232"/>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233"/>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moody</a:t>
            </a:r>
            <a:endParaRPr lang="en-US" sz="1200" dirty="0"/>
          </a:p>
        </p:txBody>
      </p:sp>
      <p:sp>
        <p:nvSpPr>
          <p:cNvPr id="33" name="R1_it234"/>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lunatico</a:t>
            </a:r>
            <a:endParaRPr lang="en-US" sz="1000" dirty="0"/>
          </a:p>
        </p:txBody>
      </p:sp>
      <p:sp>
        <p:nvSpPr>
          <p:cNvPr id="34" name="cd_235"/>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236"/>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237"/>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reliable</a:t>
            </a:r>
            <a:endParaRPr lang="en-US" sz="1200" dirty="0"/>
          </a:p>
        </p:txBody>
      </p:sp>
      <p:sp>
        <p:nvSpPr>
          <p:cNvPr id="37" name="R1_it238"/>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affidabile</a:t>
            </a:r>
            <a:endParaRPr lang="en-US" sz="1000" dirty="0"/>
          </a:p>
        </p:txBody>
      </p:sp>
      <p:sp>
        <p:nvSpPr>
          <p:cNvPr id="38" name="cd_239"/>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240"/>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241"/>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charming</a:t>
            </a:r>
            <a:endParaRPr lang="en-US" sz="1200" dirty="0"/>
          </a:p>
        </p:txBody>
      </p:sp>
      <p:sp>
        <p:nvSpPr>
          <p:cNvPr id="41" name="R1_it242"/>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affascinante</a:t>
            </a:r>
            <a:endParaRPr lang="en-US" sz="1000" dirty="0"/>
          </a:p>
        </p:txBody>
      </p:sp>
      <p:sp>
        <p:nvSpPr>
          <p:cNvPr id="42" name="cd_243"/>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244"/>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245"/>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self-confident</a:t>
            </a:r>
            <a:endParaRPr lang="en-US" sz="1200" dirty="0"/>
          </a:p>
        </p:txBody>
      </p:sp>
      <p:sp>
        <p:nvSpPr>
          <p:cNvPr id="45" name="R1_it246"/>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sicuro di sé</a:t>
            </a:r>
            <a:endParaRPr lang="en-US" sz="1000" dirty="0"/>
          </a:p>
        </p:txBody>
      </p:sp>
      <p:sp>
        <p:nvSpPr>
          <p:cNvPr id="46" name="cd_247"/>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248"/>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249"/>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sensible</a:t>
            </a:r>
            <a:endParaRPr lang="en-US" sz="1200" dirty="0"/>
          </a:p>
        </p:txBody>
      </p:sp>
      <p:sp>
        <p:nvSpPr>
          <p:cNvPr id="49" name="R1_it250"/>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assennato, con buon senso</a:t>
            </a:r>
            <a:endParaRPr lang="en-US" sz="800" dirty="0"/>
          </a:p>
        </p:txBody>
      </p:sp>
      <p:sp>
        <p:nvSpPr>
          <p:cNvPr id="50" name="cd_251"/>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252"/>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253"/>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sensitive</a:t>
            </a:r>
            <a:endParaRPr lang="en-US" sz="1200" dirty="0"/>
          </a:p>
        </p:txBody>
      </p:sp>
      <p:sp>
        <p:nvSpPr>
          <p:cNvPr id="53" name="R1_it254"/>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sensibile, permaloso</a:t>
            </a:r>
            <a:endParaRPr lang="en-US" sz="950" dirty="0"/>
          </a:p>
        </p:txBody>
      </p:sp>
      <p:sp>
        <p:nvSpPr>
          <p:cNvPr id="54" name="cd_255"/>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256"/>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257"/>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shy</a:t>
            </a:r>
            <a:endParaRPr lang="en-US" sz="1200" dirty="0"/>
          </a:p>
        </p:txBody>
      </p:sp>
      <p:sp>
        <p:nvSpPr>
          <p:cNvPr id="57" name="R1_it258"/>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timido</a:t>
            </a:r>
            <a:endParaRPr lang="en-US" sz="1000" dirty="0"/>
          </a:p>
        </p:txBody>
      </p:sp>
      <p:sp>
        <p:nvSpPr>
          <p:cNvPr id="58" name="cd_259"/>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260"/>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261"/>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mean</a:t>
            </a:r>
            <a:endParaRPr lang="en-US" sz="1200" dirty="0"/>
          </a:p>
        </p:txBody>
      </p:sp>
      <p:sp>
        <p:nvSpPr>
          <p:cNvPr id="61" name="R1_it262"/>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tirchio</a:t>
            </a:r>
            <a:endParaRPr lang="en-US" sz="1000" dirty="0"/>
          </a:p>
        </p:txBody>
      </p:sp>
      <p:sp>
        <p:nvSpPr>
          <p:cNvPr id="62" name="R1_wc263"/>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_w264"/>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sensible = assennato ≠ sensibile (= sensitive)   ·   sympathetic = comprensivo ≠ simpatico (= nice, friendly)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400"/>
                                        <p:tgtEl>
                                          <p:spTgt spid="62"/>
                                        </p:tgtEl>
                                      </p:cBhvr>
                                    </p:animEffect>
                                  </p:childTnLst>
                                </p:cTn>
                              </p:par>
                              <p:par>
                                <p:cTn id="44" presetID="10" presetClass="entr" presetSubtype="0" fill="hold"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66"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267"/>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What's he like?</a:t>
            </a:r>
            <a:endParaRPr lang="en-US" sz="2500" dirty="0"/>
          </a:p>
        </p:txBody>
      </p:sp>
      <p:pic>
        <p:nvPicPr>
          <p:cNvPr id="6" name="brP_268"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269"/>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situation. Say the adjective!</a:t>
            </a:r>
            <a:endParaRPr lang="en-US" sz="1250" dirty="0"/>
          </a:p>
        </p:txBody>
      </p:sp>
      <p:sp>
        <p:nvSpPr>
          <p:cNvPr id="8" name="insIT_27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la situazione. Di' l'aggettivo!</a:t>
            </a:r>
            <a:endParaRPr lang="en-US" sz="950" dirty="0"/>
          </a:p>
        </p:txBody>
      </p:sp>
      <p:sp>
        <p:nvSpPr>
          <p:cNvPr id="9" name="cmd_27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27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27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27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game</a:t>
            </a:r>
            <a:endParaRPr lang="en-US" sz="800" dirty="0"/>
          </a:p>
        </p:txBody>
      </p:sp>
      <p:sp>
        <p:nvSpPr>
          <p:cNvPr id="14" name="cd_276"/>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7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78"/>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279"/>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situation.</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say the adjective in 5 seconds.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Right adjective = 1 point.</a:t>
            </a:r>
            <a:endParaRPr lang="en-US" sz="1150" dirty="0"/>
          </a:p>
        </p:txBody>
      </p:sp>
      <p:sp>
        <p:nvSpPr>
          <p:cNvPr id="18" name="pf_28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281" descr="/home/claude/lls-course/v2/cache/1b2_stubborn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282"/>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283"/>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brother never says sorry, even when he's wrong."</a:t>
            </a:r>
            <a:endParaRPr lang="en-US" sz="1100" dirty="0"/>
          </a:p>
        </p:txBody>
      </p:sp>
      <p:sp>
        <p:nvSpPr>
          <p:cNvPr id="22" name="R1_chip284"/>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stubborn</a:t>
            </a:r>
            <a:endParaRPr lang="en-US" sz="1100" dirty="0"/>
          </a:p>
        </p:txBody>
      </p:sp>
      <p:sp>
        <p:nvSpPr>
          <p:cNvPr id="23" name="bd_285"/>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286"/>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"She always tells everyone what to do."</a:t>
            </a:r>
            <a:endParaRPr lang="en-US" sz="1100" dirty="0"/>
          </a:p>
        </p:txBody>
      </p:sp>
      <p:sp>
        <p:nvSpPr>
          <p:cNvPr id="25" name="R2_chip287"/>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bossy</a:t>
            </a:r>
            <a:endParaRPr lang="en-US" sz="1100" dirty="0"/>
          </a:p>
        </p:txBody>
      </p:sp>
      <p:sp>
        <p:nvSpPr>
          <p:cNvPr id="26" name="bd_288"/>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289"/>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"He's happy one minute and angry the next."</a:t>
            </a:r>
            <a:endParaRPr lang="en-US" sz="1100" dirty="0"/>
          </a:p>
        </p:txBody>
      </p:sp>
      <p:sp>
        <p:nvSpPr>
          <p:cNvPr id="28" name="R3_chip290"/>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moody</a:t>
            </a:r>
            <a:endParaRPr lang="en-US" sz="1100" dirty="0"/>
          </a:p>
        </p:txBody>
      </p:sp>
      <p:sp>
        <p:nvSpPr>
          <p:cNvPr id="29" name="bd_291"/>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292"/>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"She's got 40 toys and she still screams for more!"</a:t>
            </a:r>
            <a:endParaRPr lang="en-US" sz="1100" dirty="0"/>
          </a:p>
        </p:txBody>
      </p:sp>
      <p:sp>
        <p:nvSpPr>
          <p:cNvPr id="31" name="R4_chip293"/>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spoilt</a:t>
            </a:r>
            <a:endParaRPr lang="en-US" sz="1100" dirty="0"/>
          </a:p>
        </p:txBody>
      </p:sp>
      <p:sp>
        <p:nvSpPr>
          <p:cNvPr id="32" name="bd_294"/>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295"/>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 cries if he loses at Uno!"</a:t>
            </a:r>
            <a:endParaRPr lang="en-US" sz="1100" dirty="0"/>
          </a:p>
        </p:txBody>
      </p:sp>
      <p:sp>
        <p:nvSpPr>
          <p:cNvPr id="34" name="R5_chip296"/>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competitive</a:t>
            </a:r>
            <a:endParaRPr lang="en-US" sz="1100" dirty="0"/>
          </a:p>
        </p:txBody>
      </p:sp>
      <p:sp>
        <p:nvSpPr>
          <p:cNvPr id="35" name="bd_297"/>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298"/>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lent her €10. She gave it back the next day."</a:t>
            </a:r>
            <a:endParaRPr lang="en-US" sz="1100" dirty="0"/>
          </a:p>
        </p:txBody>
      </p:sp>
      <p:sp>
        <p:nvSpPr>
          <p:cNvPr id="37" name="R6_chip299"/>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reliable / honest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301"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302"/>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un-, dis-, im-, ir- or in-?</a:t>
            </a:r>
            <a:endParaRPr lang="en-US" sz="2500" dirty="0"/>
          </a:p>
        </p:txBody>
      </p:sp>
      <p:pic>
        <p:nvPicPr>
          <p:cNvPr id="6" name="brP_303"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304"/>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prefix makes the opposite?</a:t>
            </a:r>
            <a:endParaRPr lang="en-US" sz="1250" dirty="0"/>
          </a:p>
        </p:txBody>
      </p:sp>
      <p:sp>
        <p:nvSpPr>
          <p:cNvPr id="8" name="insIT_30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prefisso forma il contrario?</a:t>
            </a:r>
            <a:endParaRPr lang="en-US" sz="950" dirty="0"/>
          </a:p>
        </p:txBody>
      </p:sp>
      <p:sp>
        <p:nvSpPr>
          <p:cNvPr id="9" name="cmd_30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30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0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30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1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 negative prefixes   ·   📖 Vocabulary Bank Personality p.153 · 2 Negative prefixes · audio 1.23</a:t>
            </a:r>
            <a:endParaRPr lang="en-US" sz="800" dirty="0"/>
          </a:p>
        </p:txBody>
      </p:sp>
      <p:sp>
        <p:nvSpPr>
          <p:cNvPr id="14" name="cd_311"/>
          <p:cNvSpPr/>
          <p:nvPr/>
        </p:nvSpPr>
        <p:spPr>
          <a:xfrm>
            <a:off x="320040" y="1417320"/>
            <a:ext cx="2697480" cy="2295144"/>
          </a:xfrm>
          <a:prstGeom prst="roundRect">
            <a:avLst>
              <a:gd name="adj" fmla="val 5578"/>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1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13"/>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7" name="il_314"/>
          <p:cNvSpPr/>
          <p:nvPr/>
        </p:nvSpPr>
        <p:spPr>
          <a:xfrm>
            <a:off x="886968" y="1892808"/>
            <a:ext cx="2039112" cy="1746504"/>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ap_315"/>
          <p:cNvSpPr/>
          <p:nvPr/>
        </p:nvSpPr>
        <p:spPr>
          <a:xfrm>
            <a:off x="365760" y="3849624"/>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1.23</a:t>
            </a:r>
            <a:endParaRPr lang="en-US" sz="1100" dirty="0"/>
          </a:p>
        </p:txBody>
      </p:sp>
      <p:sp>
        <p:nvSpPr>
          <p:cNvPr id="19" name="aw_316"/>
          <p:cNvSpPr/>
          <p:nvPr/>
        </p:nvSpPr>
        <p:spPr>
          <a:xfrm>
            <a:off x="365760" y="4270248"/>
            <a:ext cx="260604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20" name="lg_317"/>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un-</a:t>
            </a:r>
            <a:endParaRPr lang="en-US" sz="1050" dirty="0"/>
          </a:p>
        </p:txBody>
      </p:sp>
      <p:sp>
        <p:nvSpPr>
          <p:cNvPr id="21" name="lg_318"/>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dis-</a:t>
            </a:r>
            <a:endParaRPr lang="en-US" sz="1050" dirty="0"/>
          </a:p>
        </p:txBody>
      </p:sp>
      <p:sp>
        <p:nvSpPr>
          <p:cNvPr id="22" name="lg_319"/>
          <p:cNvSpPr/>
          <p:nvPr/>
        </p:nvSpPr>
        <p:spPr>
          <a:xfrm>
            <a:off x="457200"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im-</a:t>
            </a:r>
            <a:endParaRPr lang="en-US" sz="1050" dirty="0"/>
          </a:p>
        </p:txBody>
      </p:sp>
      <p:sp>
        <p:nvSpPr>
          <p:cNvPr id="23" name="lg_320"/>
          <p:cNvSpPr/>
          <p:nvPr/>
        </p:nvSpPr>
        <p:spPr>
          <a:xfrm>
            <a:off x="1719072"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ir-</a:t>
            </a:r>
            <a:endParaRPr lang="en-US" sz="1050" dirty="0"/>
          </a:p>
        </p:txBody>
      </p:sp>
      <p:sp>
        <p:nvSpPr>
          <p:cNvPr id="24" name="lg_321"/>
          <p:cNvSpPr/>
          <p:nvPr/>
        </p:nvSpPr>
        <p:spPr>
          <a:xfrm>
            <a:off x="457200" y="2752344"/>
            <a:ext cx="1188720" cy="310896"/>
          </a:xfrm>
          <a:prstGeom prst="roundRect">
            <a:avLst>
              <a:gd name="adj" fmla="val 50000"/>
            </a:avLst>
          </a:prstGeom>
          <a:solidFill>
            <a:srgbClr val="C8E6F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in-</a:t>
            </a:r>
            <a:endParaRPr lang="en-US" sz="1050" dirty="0"/>
          </a:p>
        </p:txBody>
      </p:sp>
      <p:sp>
        <p:nvSpPr>
          <p:cNvPr id="25" name="sq_322"/>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friendly → ___friendly</a:t>
            </a:r>
            <a:endParaRPr lang="en-US" sz="1200" dirty="0"/>
          </a:p>
        </p:txBody>
      </p:sp>
      <p:sp>
        <p:nvSpPr>
          <p:cNvPr id="26" name="R1_tag323"/>
          <p:cNvSpPr/>
          <p:nvPr/>
        </p:nvSpPr>
        <p:spPr>
          <a:xfrm>
            <a:off x="7178040" y="141732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un-</a:t>
            </a:r>
            <a:endParaRPr lang="en-US" sz="1150" dirty="0"/>
          </a:p>
        </p:txBody>
      </p:sp>
      <p:sp>
        <p:nvSpPr>
          <p:cNvPr id="27" name="sq_324"/>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honest → ___honest</a:t>
            </a:r>
            <a:endParaRPr lang="en-US" sz="1200" dirty="0"/>
          </a:p>
        </p:txBody>
      </p:sp>
      <p:sp>
        <p:nvSpPr>
          <p:cNvPr id="28" name="R2_tag325"/>
          <p:cNvSpPr/>
          <p:nvPr/>
        </p:nvSpPr>
        <p:spPr>
          <a:xfrm>
            <a:off x="7178040" y="182880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dis-</a:t>
            </a:r>
            <a:endParaRPr lang="en-US" sz="1150" dirty="0"/>
          </a:p>
        </p:txBody>
      </p:sp>
      <p:sp>
        <p:nvSpPr>
          <p:cNvPr id="29" name="sq_326"/>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mature → ___mature</a:t>
            </a:r>
            <a:endParaRPr lang="en-US" sz="1200" dirty="0"/>
          </a:p>
        </p:txBody>
      </p:sp>
      <p:sp>
        <p:nvSpPr>
          <p:cNvPr id="30" name="R3_tag327"/>
          <p:cNvSpPr/>
          <p:nvPr/>
        </p:nvSpPr>
        <p:spPr>
          <a:xfrm>
            <a:off x="7178040" y="224028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im-</a:t>
            </a:r>
            <a:endParaRPr lang="en-US" sz="1150" dirty="0"/>
          </a:p>
        </p:txBody>
      </p:sp>
      <p:sp>
        <p:nvSpPr>
          <p:cNvPr id="31" name="sq_328"/>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patient → ___patient</a:t>
            </a:r>
            <a:endParaRPr lang="en-US" sz="1200" dirty="0"/>
          </a:p>
        </p:txBody>
      </p:sp>
      <p:sp>
        <p:nvSpPr>
          <p:cNvPr id="32" name="R4_tag329"/>
          <p:cNvSpPr/>
          <p:nvPr/>
        </p:nvSpPr>
        <p:spPr>
          <a:xfrm>
            <a:off x="7178040" y="265176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im-</a:t>
            </a:r>
            <a:endParaRPr lang="en-US" sz="1150" dirty="0"/>
          </a:p>
        </p:txBody>
      </p:sp>
      <p:sp>
        <p:nvSpPr>
          <p:cNvPr id="33" name="sq_330"/>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responsible → ___responsible</a:t>
            </a:r>
            <a:endParaRPr lang="en-US" sz="1200" dirty="0"/>
          </a:p>
        </p:txBody>
      </p:sp>
      <p:sp>
        <p:nvSpPr>
          <p:cNvPr id="34" name="R5_tag331"/>
          <p:cNvSpPr/>
          <p:nvPr/>
        </p:nvSpPr>
        <p:spPr>
          <a:xfrm>
            <a:off x="7178040" y="306324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ir-</a:t>
            </a:r>
            <a:endParaRPr lang="en-US" sz="1150" dirty="0"/>
          </a:p>
        </p:txBody>
      </p:sp>
      <p:sp>
        <p:nvSpPr>
          <p:cNvPr id="35" name="sq_332"/>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sensitive → ___sensitive</a:t>
            </a:r>
            <a:endParaRPr lang="en-US" sz="1200" dirty="0"/>
          </a:p>
        </p:txBody>
      </p:sp>
      <p:sp>
        <p:nvSpPr>
          <p:cNvPr id="36" name="R6_tag333"/>
          <p:cNvSpPr/>
          <p:nvPr/>
        </p:nvSpPr>
        <p:spPr>
          <a:xfrm>
            <a:off x="7178040" y="3474720"/>
            <a:ext cx="1691640" cy="347472"/>
          </a:xfrm>
          <a:prstGeom prst="roundRect">
            <a:avLst>
              <a:gd name="adj" fmla="val 65789"/>
            </a:avLst>
          </a:prstGeom>
          <a:solidFill>
            <a:srgbClr val="C8E6F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in-</a:t>
            </a:r>
            <a:endParaRPr lang="en-US" sz="1150" dirty="0"/>
          </a:p>
        </p:txBody>
      </p:sp>
      <p:sp>
        <p:nvSpPr>
          <p:cNvPr id="37" name="sq_334"/>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organized → ___organized</a:t>
            </a:r>
            <a:endParaRPr lang="en-US" sz="1200" dirty="0"/>
          </a:p>
        </p:txBody>
      </p:sp>
      <p:sp>
        <p:nvSpPr>
          <p:cNvPr id="38" name="R7_tag335"/>
          <p:cNvSpPr/>
          <p:nvPr/>
        </p:nvSpPr>
        <p:spPr>
          <a:xfrm>
            <a:off x="7178040" y="388620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dis-</a:t>
            </a:r>
            <a:endParaRPr lang="en-US" sz="1150" dirty="0"/>
          </a:p>
        </p:txBody>
      </p:sp>
      <p:sp>
        <p:nvSpPr>
          <p:cNvPr id="39" name="sq_336"/>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ambitious → ___ambitious</a:t>
            </a:r>
            <a:endParaRPr lang="en-US" sz="1200" dirty="0"/>
          </a:p>
        </p:txBody>
      </p:sp>
      <p:sp>
        <p:nvSpPr>
          <p:cNvPr id="40" name="R8_tag337"/>
          <p:cNvSpPr/>
          <p:nvPr/>
        </p:nvSpPr>
        <p:spPr>
          <a:xfrm>
            <a:off x="7178040" y="42976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un-</a:t>
            </a:r>
            <a:endParaRPr lang="en-US" sz="1150" dirty="0"/>
          </a:p>
        </p:txBody>
      </p:sp>
      <p:sp>
        <p:nvSpPr>
          <p:cNvPr id="41" name="pf_338"/>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2" name="ph_339" descr="/home/claude/lls-course/v2/cache/1b2_untidy_jpg_583x231_31.png">    </p:cNvPr>
          <p:cNvPicPr>
            <a:picLocks noChangeAspect="1"/>
          </p:cNvPicPr>
          <p:nvPr/>
        </p:nvPicPr>
        <p:blipFill>
          <a:blip r:embed="rId5"/>
          <a:stretch>
            <a:fillRect/>
          </a:stretch>
        </p:blipFill>
        <p:spPr>
          <a:xfrm rot="-120000">
            <a:off x="457200" y="3749040"/>
            <a:ext cx="2423160" cy="9601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41"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342"/>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Real or fake?</a:t>
            </a:r>
            <a:endParaRPr lang="en-US" sz="2500" dirty="0"/>
          </a:p>
        </p:txBody>
      </p:sp>
      <p:pic>
        <p:nvPicPr>
          <p:cNvPr id="6" name="brP_343"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344"/>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Real word or fake word? Be quick!</a:t>
            </a:r>
            <a:endParaRPr lang="en-US" sz="1250" dirty="0"/>
          </a:p>
        </p:txBody>
      </p:sp>
      <p:sp>
        <p:nvSpPr>
          <p:cNvPr id="8" name="insIT_34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Parola vera o falsa? Veloci!</a:t>
            </a:r>
            <a:endParaRPr lang="en-US" sz="950" dirty="0"/>
          </a:p>
        </p:txBody>
      </p:sp>
      <p:sp>
        <p:nvSpPr>
          <p:cNvPr id="9" name="cmd_34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34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34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3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Vocabulary game · prefixes</a:t>
            </a:r>
            <a:endParaRPr lang="en-US" sz="800" dirty="0"/>
          </a:p>
        </p:txBody>
      </p:sp>
      <p:sp>
        <p:nvSpPr>
          <p:cNvPr id="14" name="cd_351"/>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5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53"/>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354"/>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word.</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REAL or FAKE? Fix the fakes!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Right answer = 1 point. Fix = +1.</a:t>
            </a:r>
            <a:endParaRPr lang="en-US" sz="1150" dirty="0"/>
          </a:p>
        </p:txBody>
      </p:sp>
      <p:sp>
        <p:nvSpPr>
          <p:cNvPr id="18" name="st_355"/>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356"/>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357"/>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unpatient</a:t>
            </a:r>
            <a:endParaRPr lang="en-US" sz="1100" dirty="0"/>
          </a:p>
        </p:txBody>
      </p:sp>
      <p:sp>
        <p:nvSpPr>
          <p:cNvPr id="21" name="R1_chip358"/>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FAKE → impatient</a:t>
            </a:r>
            <a:endParaRPr lang="en-US" sz="1100" dirty="0"/>
          </a:p>
        </p:txBody>
      </p:sp>
      <p:sp>
        <p:nvSpPr>
          <p:cNvPr id="22" name="bd_359"/>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360"/>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unkind</a:t>
            </a:r>
            <a:endParaRPr lang="en-US" sz="1100" dirty="0"/>
          </a:p>
        </p:txBody>
      </p:sp>
      <p:sp>
        <p:nvSpPr>
          <p:cNvPr id="24" name="R2_chip361"/>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REAL ✓</a:t>
            </a:r>
            <a:endParaRPr lang="en-US" sz="1100" dirty="0"/>
          </a:p>
        </p:txBody>
      </p:sp>
      <p:sp>
        <p:nvSpPr>
          <p:cNvPr id="25" name="bd_362"/>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363"/>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inhonest</a:t>
            </a:r>
            <a:endParaRPr lang="en-US" sz="1100" dirty="0"/>
          </a:p>
        </p:txBody>
      </p:sp>
      <p:sp>
        <p:nvSpPr>
          <p:cNvPr id="27" name="R3_chip364"/>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FAKE → dishonest</a:t>
            </a:r>
            <a:endParaRPr lang="en-US" sz="1100" dirty="0"/>
          </a:p>
        </p:txBody>
      </p:sp>
      <p:sp>
        <p:nvSpPr>
          <p:cNvPr id="28" name="bd_365"/>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366"/>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irresponsible</a:t>
            </a:r>
            <a:endParaRPr lang="en-US" sz="1100" dirty="0"/>
          </a:p>
        </p:txBody>
      </p:sp>
      <p:sp>
        <p:nvSpPr>
          <p:cNvPr id="30" name="R4_chip367"/>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REAL ✓</a:t>
            </a:r>
            <a:endParaRPr lang="en-US" sz="1100" dirty="0"/>
          </a:p>
        </p:txBody>
      </p:sp>
      <p:sp>
        <p:nvSpPr>
          <p:cNvPr id="31" name="bd_368"/>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369"/>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disreliable</a:t>
            </a:r>
            <a:endParaRPr lang="en-US" sz="1100" dirty="0"/>
          </a:p>
        </p:txBody>
      </p:sp>
      <p:sp>
        <p:nvSpPr>
          <p:cNvPr id="33" name="R5_chip370"/>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FAKE → unreliable</a:t>
            </a:r>
            <a:endParaRPr lang="en-US" sz="1100" dirty="0"/>
          </a:p>
        </p:txBody>
      </p:sp>
      <p:sp>
        <p:nvSpPr>
          <p:cNvPr id="34" name="bd_371"/>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372"/>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unselfish</a:t>
            </a:r>
            <a:endParaRPr lang="en-US" sz="1100" dirty="0"/>
          </a:p>
        </p:txBody>
      </p:sp>
      <p:sp>
        <p:nvSpPr>
          <p:cNvPr id="36" name="R6_chip373"/>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REAL ✓ (a positive word!)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75"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376"/>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Where's the stress?</a:t>
            </a:r>
            <a:endParaRPr lang="en-US" sz="2500" dirty="0"/>
          </a:p>
        </p:txBody>
      </p:sp>
      <p:pic>
        <p:nvPicPr>
          <p:cNvPr id="6" name="brP_377"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78"/>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stress. Then listen.</a:t>
            </a:r>
            <a:endParaRPr lang="en-US" sz="1250" dirty="0"/>
          </a:p>
        </p:txBody>
      </p:sp>
      <p:sp>
        <p:nvSpPr>
          <p:cNvPr id="8" name="insIT_37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l'accento. Poi ascolta.</a:t>
            </a:r>
            <a:endParaRPr lang="en-US" sz="950" dirty="0"/>
          </a:p>
        </p:txBody>
      </p:sp>
      <p:sp>
        <p:nvSpPr>
          <p:cNvPr id="9" name="cmd_380"/>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81"/>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38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38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38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8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Pronunciation · word stress   ·   📖 SB p.12 · 5a, 5b · audio 1.24</a:t>
            </a:r>
            <a:endParaRPr lang="en-US" sz="800" dirty="0"/>
          </a:p>
        </p:txBody>
      </p:sp>
      <p:sp>
        <p:nvSpPr>
          <p:cNvPr id="15" name="ap_386"/>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1.24  ·  pause after each group</a:t>
            </a:r>
            <a:endParaRPr lang="en-US" sz="1100" dirty="0"/>
          </a:p>
        </p:txBody>
      </p:sp>
      <p:sp>
        <p:nvSpPr>
          <p:cNvPr id="16" name="ah_38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388"/>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389" descr="/home/claude/lls-course/v2/cache/spare_life_teenage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390"/>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391"/>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392"/>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393"/>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394"/>
          <p:cNvSpPr/>
          <p:nvPr/>
        </p:nvSpPr>
        <p:spPr>
          <a:xfrm>
            <a:off x="3383280" y="141732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anxious · ambitious</a:t>
            </a:r>
            <a:endParaRPr lang="en-US" sz="1200" dirty="0"/>
          </a:p>
        </p:txBody>
      </p:sp>
      <p:sp>
        <p:nvSpPr>
          <p:cNvPr id="26" name="R1_chip395"/>
          <p:cNvSpPr/>
          <p:nvPr/>
        </p:nvSpPr>
        <p:spPr>
          <a:xfrm>
            <a:off x="6812280" y="14173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ANxious · amBItious</a:t>
            </a:r>
            <a:endParaRPr lang="en-US" sz="1200" dirty="0"/>
          </a:p>
        </p:txBody>
      </p:sp>
      <p:sp>
        <p:nvSpPr>
          <p:cNvPr id="27" name="gq_396"/>
          <p:cNvSpPr/>
          <p:nvPr/>
        </p:nvSpPr>
        <p:spPr>
          <a:xfrm>
            <a:off x="3383280" y="182880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generous · rebellious</a:t>
            </a:r>
            <a:endParaRPr lang="en-US" sz="1200" dirty="0"/>
          </a:p>
        </p:txBody>
      </p:sp>
      <p:sp>
        <p:nvSpPr>
          <p:cNvPr id="28" name="R2_chip397"/>
          <p:cNvSpPr/>
          <p:nvPr/>
        </p:nvSpPr>
        <p:spPr>
          <a:xfrm>
            <a:off x="6812280" y="18288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GEnerous · reBELlious</a:t>
            </a:r>
            <a:endParaRPr lang="en-US" sz="1150" dirty="0"/>
          </a:p>
        </p:txBody>
      </p:sp>
      <p:sp>
        <p:nvSpPr>
          <p:cNvPr id="29" name="gq_398"/>
          <p:cNvSpPr/>
          <p:nvPr/>
        </p:nvSpPr>
        <p:spPr>
          <a:xfrm>
            <a:off x="3383280" y="224028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sociable · reliable</a:t>
            </a:r>
            <a:endParaRPr lang="en-US" sz="1200" dirty="0"/>
          </a:p>
        </p:txBody>
      </p:sp>
      <p:sp>
        <p:nvSpPr>
          <p:cNvPr id="30" name="R3_chip399"/>
          <p:cNvSpPr/>
          <p:nvPr/>
        </p:nvSpPr>
        <p:spPr>
          <a:xfrm>
            <a:off x="6812280" y="22402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SOciable · reLIable</a:t>
            </a:r>
            <a:endParaRPr lang="en-US" sz="1200" dirty="0"/>
          </a:p>
        </p:txBody>
      </p:sp>
      <p:sp>
        <p:nvSpPr>
          <p:cNvPr id="31" name="gq_400"/>
          <p:cNvSpPr/>
          <p:nvPr/>
        </p:nvSpPr>
        <p:spPr>
          <a:xfrm>
            <a:off x="3383280" y="265176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responsible · sensible</a:t>
            </a:r>
            <a:endParaRPr lang="en-US" sz="1200" dirty="0"/>
          </a:p>
        </p:txBody>
      </p:sp>
      <p:sp>
        <p:nvSpPr>
          <p:cNvPr id="32" name="R4_chip401"/>
          <p:cNvSpPr/>
          <p:nvPr/>
        </p:nvSpPr>
        <p:spPr>
          <a:xfrm>
            <a:off x="6812280" y="265176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resPONsible · SENsible</a:t>
            </a:r>
            <a:endParaRPr lang="en-US" sz="1150" dirty="0"/>
          </a:p>
        </p:txBody>
      </p:sp>
      <p:sp>
        <p:nvSpPr>
          <p:cNvPr id="33" name="gq_402"/>
          <p:cNvSpPr/>
          <p:nvPr/>
        </p:nvSpPr>
        <p:spPr>
          <a:xfrm>
            <a:off x="3383280" y="306324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competitive · talkative</a:t>
            </a:r>
            <a:endParaRPr lang="en-US" sz="1200" dirty="0"/>
          </a:p>
        </p:txBody>
      </p:sp>
      <p:sp>
        <p:nvSpPr>
          <p:cNvPr id="34" name="R5_chip403"/>
          <p:cNvSpPr/>
          <p:nvPr/>
        </p:nvSpPr>
        <p:spPr>
          <a:xfrm>
            <a:off x="6812280" y="306324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comPEtitive · TALKative</a:t>
            </a:r>
            <a:endParaRPr lang="en-US" sz="1100" dirty="0"/>
          </a:p>
        </p:txBody>
      </p:sp>
      <p:sp>
        <p:nvSpPr>
          <p:cNvPr id="35" name="gq_404"/>
          <p:cNvSpPr/>
          <p:nvPr/>
        </p:nvSpPr>
        <p:spPr>
          <a:xfrm>
            <a:off x="3383280" y="347472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sensitive</a:t>
            </a:r>
            <a:endParaRPr lang="en-US" sz="1200" dirty="0"/>
          </a:p>
        </p:txBody>
      </p:sp>
      <p:sp>
        <p:nvSpPr>
          <p:cNvPr id="36" name="R6_chip405"/>
          <p:cNvSpPr/>
          <p:nvPr/>
        </p:nvSpPr>
        <p:spPr>
          <a:xfrm>
            <a:off x="6812280" y="34747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SENsitive</a:t>
            </a:r>
            <a:endParaRPr lang="en-US" sz="1200" dirty="0"/>
          </a:p>
        </p:txBody>
      </p:sp>
      <p:sp>
        <p:nvSpPr>
          <p:cNvPr id="37" name="gq_406"/>
          <p:cNvSpPr/>
          <p:nvPr/>
        </p:nvSpPr>
        <p:spPr>
          <a:xfrm>
            <a:off x="3383280" y="388620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unfriendly · insecure</a:t>
            </a:r>
            <a:endParaRPr lang="en-US" sz="1200" dirty="0"/>
          </a:p>
        </p:txBody>
      </p:sp>
      <p:sp>
        <p:nvSpPr>
          <p:cNvPr id="38" name="R7_chip407"/>
          <p:cNvSpPr/>
          <p:nvPr/>
        </p:nvSpPr>
        <p:spPr>
          <a:xfrm>
            <a:off x="6812280" y="38862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unFRIENDly · inseCURE</a:t>
            </a:r>
            <a:endParaRPr lang="en-US" sz="1100" dirty="0"/>
          </a:p>
        </p:txBody>
      </p:sp>
      <p:sp>
        <p:nvSpPr>
          <p:cNvPr id="39" name="gq_408"/>
          <p:cNvSpPr/>
          <p:nvPr/>
        </p:nvSpPr>
        <p:spPr>
          <a:xfrm>
            <a:off x="3383280" y="429768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impatient · immature</a:t>
            </a:r>
            <a:endParaRPr lang="en-US" sz="1200" dirty="0"/>
          </a:p>
        </p:txBody>
      </p:sp>
      <p:sp>
        <p:nvSpPr>
          <p:cNvPr id="40" name="R8_chip409"/>
          <p:cNvSpPr/>
          <p:nvPr/>
        </p:nvSpPr>
        <p:spPr>
          <a:xfrm>
            <a:off x="6812280" y="42976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imPAtient · immaTURE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7"/>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7"/>
                                        </p:tgtEl>
                                      </p:cBhvr>
                                    </p:cmd>
                                  </p:childTnLst>
                                </p:cTn>
                              </p:par>
                            </p:childTnLst>
                          </p:cTn>
                        </p:par>
                      </p:childTnLst>
                    </p:cTn>
                  </p:par>
                </p:childTnLst>
              </p:cTn>
              <p:nextCondLst>
                <p:cond evt="onClick" delay="0">
                  <p:tgtEl>
                    <p:spTgt spid="17"/>
                  </p:tgtEl>
                </p:cond>
              </p:nextCondLst>
            </p:seq>
            <p:seq concurrent="1" nextAc="seek">
              <p:cTn id="48" restart="whenNotActive" fill="hold" evtFilter="cancelBubble" nodeType="interactiveSeq">
                <p:stCondLst>
                  <p:cond evt="onClick" delay="0">
                    <p:tgtEl>
                      <p:spTgt spid="18"/>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8"/>
                                        </p:tgtEl>
                                      </p:cBhvr>
                                    </p:cmd>
                                  </p:childTnLst>
                                </p:cTn>
                              </p:par>
                            </p:childTnLst>
                          </p:cTn>
                        </p:par>
                      </p:childTnLst>
                    </p:cTn>
                  </p:par>
                </p:childTnLst>
              </p:cTn>
              <p:nextCondLst>
                <p:cond evt="onClick" delay="0">
                  <p:tgtEl>
                    <p:spTgt spid="18"/>
                  </p:tgtEl>
                </p:cond>
              </p:nextCondLst>
            </p:seq>
            <p:audio>
              <p:cMediaNode vol="80000">
                <p:cTn id="53" fill="hold" display="0">
                  <p:stCondLst>
                    <p:cond delay="indefinite"/>
                  </p:stCondLst>
                  <p:endCondLst>
                    <p:cond evt="onStopAudio" delay="0">
                      <p:tgtEl>
                        <p:sldTgt/>
                      </p:tgtEl>
                    </p:cond>
                  </p:endCondLst>
                </p:cTn>
                <p:tgtEl>
                  <p:spTgt spid="17"/>
                </p:tgtEl>
              </p:cMediaNode>
            </p:audio>
            <p:audio>
              <p:cMediaNode vol="80000">
                <p:cTn id="54" fill="hold" display="0">
                  <p:stCondLst>
                    <p:cond delay="indefinite"/>
                  </p:stCondLst>
                  <p:endCondLst>
                    <p:cond evt="onStopAudio" delay="0">
                      <p:tgtEl>
                        <p:sldTgt/>
                      </p:tgtEl>
                    </p:cond>
                  </p:endCondLst>
                </p:cTn>
                <p:tgtEl>
                  <p:spTgt spid="1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411"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412"/>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child?</a:t>
            </a:r>
            <a:endParaRPr lang="en-US" sz="2500" dirty="0"/>
          </a:p>
        </p:txBody>
      </p:sp>
      <p:pic>
        <p:nvPicPr>
          <p:cNvPr id="6" name="brP_413" descr="/home/claude/lls-course/v2/assets/brush-pink.png">    </p:cNvPr>
          <p:cNvPicPr>
            <a:picLocks noChangeAspect="1"/>
          </p:cNvPicPr>
          <p:nvPr/>
        </p:nvPicPr>
        <p:blipFill>
          <a:blip r:embed="rId3"/>
          <a:stretch>
            <a:fillRect/>
          </a:stretch>
        </p:blipFill>
        <p:spPr>
          <a:xfrm>
            <a:off x="1207008" y="731520"/>
            <a:ext cx="2382012" cy="402336"/>
          </a:xfrm>
          <a:prstGeom prst="rect">
            <a:avLst/>
          </a:prstGeom>
        </p:spPr>
      </p:pic>
      <p:sp>
        <p:nvSpPr>
          <p:cNvPr id="7" name="ins_414"/>
          <p:cNvSpPr/>
          <p:nvPr/>
        </p:nvSpPr>
        <p:spPr>
          <a:xfrm>
            <a:off x="1353312" y="731520"/>
            <a:ext cx="21259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child? Guess!</a:t>
            </a:r>
            <a:endParaRPr lang="en-US" sz="1250" dirty="0"/>
          </a:p>
        </p:txBody>
      </p:sp>
      <p:sp>
        <p:nvSpPr>
          <p:cNvPr id="8" name="insIT_41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figlio? Indovina!</a:t>
            </a:r>
            <a:endParaRPr lang="en-US" sz="950" dirty="0"/>
          </a:p>
        </p:txBody>
      </p:sp>
      <p:sp>
        <p:nvSpPr>
          <p:cNvPr id="9" name="cmd_41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0" name="meta_41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41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4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Reading · prediction   ·   📖 SB p.12 · 6a, 6b, 6c</a:t>
            </a:r>
            <a:endParaRPr lang="en-US" sz="800" dirty="0"/>
          </a:p>
        </p:txBody>
      </p:sp>
      <p:sp>
        <p:nvSpPr>
          <p:cNvPr id="14" name="cd_421"/>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2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23"/>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424"/>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oldest · middle · youngest · only child</a:t>
            </a:r>
            <a:endParaRPr lang="en-US" sz="1050" dirty="0"/>
          </a:p>
        </p:txBody>
      </p:sp>
      <p:sp>
        <p:nvSpPr>
          <p:cNvPr id="18" name="pf_425"/>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26" descr="/home/claude/lls-course/v2/cache/1b2_cover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427"/>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428"/>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outgoing, charming, disorganized</a:t>
            </a:r>
            <a:endParaRPr lang="en-US" sz="1050" dirty="0"/>
          </a:p>
        </p:txBody>
      </p:sp>
      <p:sp>
        <p:nvSpPr>
          <p:cNvPr id="22" name="R1_chip429"/>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youngest child</a:t>
            </a:r>
            <a:endParaRPr lang="en-US" sz="1000" dirty="0"/>
          </a:p>
        </p:txBody>
      </p:sp>
      <p:sp>
        <p:nvSpPr>
          <p:cNvPr id="23" name="bd_430"/>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431"/>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responsible, ambitious, anxious</a:t>
            </a:r>
            <a:endParaRPr lang="en-US" sz="1050" dirty="0"/>
          </a:p>
        </p:txBody>
      </p:sp>
      <p:sp>
        <p:nvSpPr>
          <p:cNvPr id="25" name="R2_chip432"/>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oldest child</a:t>
            </a:r>
            <a:endParaRPr lang="en-US" sz="1000" dirty="0"/>
          </a:p>
        </p:txBody>
      </p:sp>
      <p:sp>
        <p:nvSpPr>
          <p:cNvPr id="26" name="bd_433"/>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434"/>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self-confident, independent, spoilt</a:t>
            </a:r>
            <a:endParaRPr lang="en-US" sz="1050" dirty="0"/>
          </a:p>
        </p:txBody>
      </p:sp>
      <p:sp>
        <p:nvSpPr>
          <p:cNvPr id="28" name="R3_chip435"/>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only child</a:t>
            </a:r>
            <a:endParaRPr lang="en-US" sz="1000" dirty="0"/>
          </a:p>
        </p:txBody>
      </p:sp>
      <p:sp>
        <p:nvSpPr>
          <p:cNvPr id="29" name="bd_436"/>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437"/>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sociable, sensitive, unambitious</a:t>
            </a:r>
            <a:endParaRPr lang="en-US" sz="1050" dirty="0"/>
          </a:p>
        </p:txBody>
      </p:sp>
      <p:sp>
        <p:nvSpPr>
          <p:cNvPr id="31" name="R4_chip438"/>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middle child</a:t>
            </a:r>
            <a:endParaRPr lang="en-US" sz="1000" dirty="0"/>
          </a:p>
        </p:txBody>
      </p:sp>
      <p:sp>
        <p:nvSpPr>
          <p:cNvPr id="32" name="bd_439"/>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440"/>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They make good leaders.</a:t>
            </a:r>
            <a:endParaRPr lang="en-US" sz="1100" dirty="0"/>
          </a:p>
        </p:txBody>
      </p:sp>
      <p:sp>
        <p:nvSpPr>
          <p:cNvPr id="34" name="R5_chip441"/>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oldest child</a:t>
            </a:r>
            <a:endParaRPr lang="en-US" sz="1000" dirty="0"/>
          </a:p>
        </p:txBody>
      </p:sp>
      <p:sp>
        <p:nvSpPr>
          <p:cNvPr id="35" name="bd_442"/>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443"/>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They get on with everybody.</a:t>
            </a:r>
            <a:endParaRPr lang="en-US" sz="1050" dirty="0"/>
          </a:p>
        </p:txBody>
      </p:sp>
      <p:sp>
        <p:nvSpPr>
          <p:cNvPr id="37" name="R6_chip444"/>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middle child</a:t>
            </a:r>
            <a:endParaRPr lang="en-US" sz="1000" dirty="0"/>
          </a:p>
        </p:txBody>
      </p:sp>
      <p:sp>
        <p:nvSpPr>
          <p:cNvPr id="38" name="bd_445"/>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446"/>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They try to get attention.</a:t>
            </a:r>
            <a:endParaRPr lang="en-US" sz="1100" dirty="0"/>
          </a:p>
        </p:txBody>
      </p:sp>
      <p:sp>
        <p:nvSpPr>
          <p:cNvPr id="40" name="R7_chip447"/>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youngest child</a:t>
            </a:r>
            <a:endParaRPr lang="en-US" sz="1000" dirty="0"/>
          </a:p>
        </p:txBody>
      </p:sp>
      <p:sp>
        <p:nvSpPr>
          <p:cNvPr id="41" name="bd_448"/>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2" name="q_449"/>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They do very well at school.</a:t>
            </a:r>
            <a:endParaRPr lang="en-US" sz="1050" dirty="0"/>
          </a:p>
        </p:txBody>
      </p:sp>
      <p:sp>
        <p:nvSpPr>
          <p:cNvPr id="43" name="R8_chip450"/>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only child</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52" descr="/home/claude/lls-course/v2/assets/brush-yellow.png">    </p:cNvPr>
          <p:cNvPicPr>
            <a:picLocks noChangeAspect="1"/>
          </p:cNvPicPr>
          <p:nvPr/>
        </p:nvPicPr>
        <p:blipFill>
          <a:blip r:embed="rId2"/>
          <a:stretch>
            <a:fillRect/>
          </a:stretch>
        </p:blipFill>
        <p:spPr>
          <a:xfrm>
            <a:off x="1097280" y="146304"/>
            <a:ext cx="1989734" cy="621792"/>
          </a:xfrm>
          <a:prstGeom prst="rect">
            <a:avLst/>
          </a:prstGeom>
        </p:spPr>
      </p:pic>
      <p:sp>
        <p:nvSpPr>
          <p:cNvPr id="5" name="title_453"/>
          <p:cNvSpPr/>
          <p:nvPr/>
        </p:nvSpPr>
        <p:spPr>
          <a:xfrm>
            <a:off x="1261872" y="164592"/>
            <a:ext cx="171541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Because…</a:t>
            </a:r>
            <a:endParaRPr lang="en-US" sz="2500" dirty="0"/>
          </a:p>
        </p:txBody>
      </p:sp>
      <p:pic>
        <p:nvPicPr>
          <p:cNvPr id="6" name="brP_454"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455"/>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reasons. Which child?</a:t>
            </a:r>
            <a:endParaRPr lang="en-US" sz="1250" dirty="0"/>
          </a:p>
        </p:txBody>
      </p:sp>
      <p:sp>
        <p:nvSpPr>
          <p:cNvPr id="8" name="insIT_45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i motivi. Quale figlio?</a:t>
            </a:r>
            <a:endParaRPr lang="en-US" sz="950" dirty="0"/>
          </a:p>
        </p:txBody>
      </p:sp>
      <p:sp>
        <p:nvSpPr>
          <p:cNvPr id="9" name="cmd_45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458"/>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45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46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3" name="logo_46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6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Reading · reasons A–H   ·   📖 SB p.12 · 6d (reasons A–H)</a:t>
            </a:r>
            <a:endParaRPr lang="en-US" sz="800" dirty="0"/>
          </a:p>
        </p:txBody>
      </p:sp>
      <p:sp>
        <p:nvSpPr>
          <p:cNvPr id="15" name="cd_463"/>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6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65"/>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8" name="il_466"/>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9" name="lg_467"/>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oldest</a:t>
            </a:r>
            <a:endParaRPr lang="en-US" sz="1050" dirty="0"/>
          </a:p>
        </p:txBody>
      </p:sp>
      <p:sp>
        <p:nvSpPr>
          <p:cNvPr id="20" name="lg_468"/>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middle</a:t>
            </a:r>
            <a:endParaRPr lang="en-US" sz="1050" dirty="0"/>
          </a:p>
        </p:txBody>
      </p:sp>
      <p:sp>
        <p:nvSpPr>
          <p:cNvPr id="21" name="lg_469"/>
          <p:cNvSpPr/>
          <p:nvPr/>
        </p:nvSpPr>
        <p:spPr>
          <a:xfrm>
            <a:off x="457200"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youngest</a:t>
            </a:r>
            <a:endParaRPr lang="en-US" sz="1050" dirty="0"/>
          </a:p>
        </p:txBody>
      </p:sp>
      <p:sp>
        <p:nvSpPr>
          <p:cNvPr id="22" name="lg_470"/>
          <p:cNvSpPr/>
          <p:nvPr/>
        </p:nvSpPr>
        <p:spPr>
          <a:xfrm>
            <a:off x="1719072"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only</a:t>
            </a:r>
            <a:endParaRPr lang="en-US" sz="1050" dirty="0"/>
          </a:p>
        </p:txBody>
      </p:sp>
      <p:sp>
        <p:nvSpPr>
          <p:cNvPr id="23" name="sq_471"/>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  they grew up between older and younger siblings</a:t>
            </a:r>
            <a:endParaRPr lang="en-US" sz="1000" dirty="0"/>
          </a:p>
        </p:txBody>
      </p:sp>
      <p:sp>
        <p:nvSpPr>
          <p:cNvPr id="24" name="R1_tag472"/>
          <p:cNvSpPr/>
          <p:nvPr/>
        </p:nvSpPr>
        <p:spPr>
          <a:xfrm>
            <a:off x="7178040" y="141732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middle</a:t>
            </a:r>
            <a:endParaRPr lang="en-US" sz="1150" dirty="0"/>
          </a:p>
        </p:txBody>
      </p:sp>
      <p:sp>
        <p:nvSpPr>
          <p:cNvPr id="25" name="sq_473"/>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it's easier for them to break the rules</a:t>
            </a:r>
            <a:endParaRPr lang="en-US" sz="1200" dirty="0"/>
          </a:p>
        </p:txBody>
      </p:sp>
      <p:sp>
        <p:nvSpPr>
          <p:cNvPr id="26" name="R2_tag474"/>
          <p:cNvSpPr/>
          <p:nvPr/>
        </p:nvSpPr>
        <p:spPr>
          <a:xfrm>
            <a:off x="7178040" y="182880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youngest</a:t>
            </a:r>
            <a:endParaRPr lang="en-US" sz="1150" dirty="0"/>
          </a:p>
        </p:txBody>
      </p:sp>
      <p:sp>
        <p:nvSpPr>
          <p:cNvPr id="27" name="sq_475"/>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C  their parents were more relaxed with them</a:t>
            </a:r>
            <a:endParaRPr lang="en-US" sz="1150" dirty="0"/>
          </a:p>
        </p:txBody>
      </p:sp>
      <p:sp>
        <p:nvSpPr>
          <p:cNvPr id="28" name="R3_tag476"/>
          <p:cNvSpPr/>
          <p:nvPr/>
        </p:nvSpPr>
        <p:spPr>
          <a:xfrm>
            <a:off x="7178040" y="224028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middle</a:t>
            </a:r>
            <a:endParaRPr lang="en-US" sz="1150" dirty="0"/>
          </a:p>
        </p:txBody>
      </p:sp>
      <p:sp>
        <p:nvSpPr>
          <p:cNvPr id="29" name="sq_477"/>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they are given everything they ask for</a:t>
            </a:r>
            <a:endParaRPr lang="en-US" sz="1200" dirty="0"/>
          </a:p>
        </p:txBody>
      </p:sp>
      <p:sp>
        <p:nvSpPr>
          <p:cNvPr id="30" name="R4_tag478"/>
          <p:cNvSpPr/>
          <p:nvPr/>
        </p:nvSpPr>
        <p:spPr>
          <a:xfrm>
            <a:off x="7178040" y="265176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only</a:t>
            </a:r>
            <a:endParaRPr lang="en-US" sz="1150" dirty="0"/>
          </a:p>
        </p:txBody>
      </p:sp>
      <p:sp>
        <p:nvSpPr>
          <p:cNvPr id="31" name="sq_479"/>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E  they have always been the baby of the family</a:t>
            </a:r>
            <a:endParaRPr lang="en-US" sz="1100" dirty="0"/>
          </a:p>
        </p:txBody>
      </p:sp>
      <p:sp>
        <p:nvSpPr>
          <p:cNvPr id="32" name="R5_tag480"/>
          <p:cNvSpPr/>
          <p:nvPr/>
        </p:nvSpPr>
        <p:spPr>
          <a:xfrm>
            <a:off x="7178040" y="306324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youngest</a:t>
            </a:r>
            <a:endParaRPr lang="en-US" sz="1150" dirty="0"/>
          </a:p>
        </p:txBody>
      </p:sp>
      <p:sp>
        <p:nvSpPr>
          <p:cNvPr id="33" name="sq_481"/>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  they spend a lot of time with adults</a:t>
            </a:r>
            <a:endParaRPr lang="en-US" sz="1200" dirty="0"/>
          </a:p>
        </p:txBody>
      </p:sp>
      <p:sp>
        <p:nvSpPr>
          <p:cNvPr id="34" name="R6_tag482"/>
          <p:cNvSpPr/>
          <p:nvPr/>
        </p:nvSpPr>
        <p:spPr>
          <a:xfrm>
            <a:off x="7178040" y="347472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only</a:t>
            </a:r>
            <a:endParaRPr lang="en-US" sz="1150" dirty="0"/>
          </a:p>
        </p:txBody>
      </p:sp>
      <p:sp>
        <p:nvSpPr>
          <p:cNvPr id="35" name="sq_483"/>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G  they've never sorted out problems with siblings</a:t>
            </a:r>
            <a:endParaRPr lang="en-US" sz="1000" dirty="0"/>
          </a:p>
        </p:txBody>
      </p:sp>
      <p:sp>
        <p:nvSpPr>
          <p:cNvPr id="36" name="R7_tag484"/>
          <p:cNvSpPr/>
          <p:nvPr/>
        </p:nvSpPr>
        <p:spPr>
          <a:xfrm>
            <a:off x="7178040" y="388620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only</a:t>
            </a:r>
            <a:endParaRPr lang="en-US" sz="1150" dirty="0"/>
          </a:p>
        </p:txBody>
      </p:sp>
      <p:sp>
        <p:nvSpPr>
          <p:cNvPr id="37" name="sq_485"/>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  they lost some of their parents' attention</a:t>
            </a:r>
            <a:endParaRPr lang="en-US" sz="1200" dirty="0"/>
          </a:p>
        </p:txBody>
      </p:sp>
      <p:sp>
        <p:nvSpPr>
          <p:cNvPr id="38" name="R8_tag486"/>
          <p:cNvSpPr/>
          <p:nvPr/>
        </p:nvSpPr>
        <p:spPr>
          <a:xfrm>
            <a:off x="7178040" y="42976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oldest</a:t>
            </a:r>
            <a:endParaRPr lang="en-US" sz="1150" dirty="0"/>
          </a:p>
        </p:txBody>
      </p:sp>
      <p:sp>
        <p:nvSpPr>
          <p:cNvPr id="39" name="pf_487"/>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0" name="ph_488" descr="/home/claude/lls-course/v2/cache/spare_1b2_rules_jpg_583x231_31.png">    </p:cNvPr>
          <p:cNvPicPr>
            <a:picLocks noChangeAspect="1"/>
          </p:cNvPicPr>
          <p:nvPr/>
        </p:nvPicPr>
        <p:blipFill>
          <a:blip r:embed="rId5"/>
          <a:stretch>
            <a:fillRect/>
          </a:stretch>
        </p:blipFill>
        <p:spPr>
          <a:xfrm rot="-120000">
            <a:off x="457200" y="3749040"/>
            <a:ext cx="2423160" cy="9601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90" descr="/home/claude/lls-course/v2/assets/brush-yellow.png">    </p:cNvPr>
          <p:cNvPicPr>
            <a:picLocks noChangeAspect="1"/>
          </p:cNvPicPr>
          <p:nvPr/>
        </p:nvPicPr>
        <p:blipFill>
          <a:blip r:embed="rId2"/>
          <a:stretch>
            <a:fillRect/>
          </a:stretch>
        </p:blipFill>
        <p:spPr>
          <a:xfrm>
            <a:off x="1097280" y="146304"/>
            <a:ext cx="5449824" cy="621792"/>
          </a:xfrm>
          <a:prstGeom prst="rect">
            <a:avLst/>
          </a:prstGeom>
        </p:spPr>
      </p:pic>
      <p:sp>
        <p:nvSpPr>
          <p:cNvPr id="5" name="title_491"/>
          <p:cNvSpPr/>
          <p:nvPr/>
        </p:nvSpPr>
        <p:spPr>
          <a:xfrm>
            <a:off x="1261872" y="164592"/>
            <a:ext cx="517550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birth order influences you</a:t>
            </a:r>
            <a:endParaRPr lang="en-US" sz="2500" dirty="0"/>
          </a:p>
        </p:txBody>
      </p:sp>
      <p:pic>
        <p:nvPicPr>
          <p:cNvPr id="6" name="brP_492"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493"/>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reason goes in gap 1?</a:t>
            </a:r>
            <a:endParaRPr lang="en-US" sz="1250" dirty="0"/>
          </a:p>
        </p:txBody>
      </p:sp>
      <p:sp>
        <p:nvSpPr>
          <p:cNvPr id="8" name="insIT_49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Quale motivo va nello spazio 1?</a:t>
            </a:r>
            <a:endParaRPr lang="en-US" sz="950" dirty="0"/>
          </a:p>
        </p:txBody>
      </p:sp>
      <p:sp>
        <p:nvSpPr>
          <p:cNvPr id="9" name="cmd_49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49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49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4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Reading · the oldest child   ·   📖 SB p.12 · 6c, 6d · article (intro shortened)</a:t>
            </a:r>
            <a:endParaRPr lang="en-US" sz="800" dirty="0"/>
          </a:p>
        </p:txBody>
      </p:sp>
      <p:sp>
        <p:nvSpPr>
          <p:cNvPr id="14" name="cd_500"/>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01"/>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oldest child</a:t>
            </a:r>
            <a:endParaRPr lang="en-US" sz="1700" dirty="0"/>
          </a:p>
        </p:txBody>
      </p:sp>
      <p:sp>
        <p:nvSpPr>
          <p:cNvPr id="16" name="ln_502"/>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Nowadays, it is an accepted fact that our position in the family is possibly the strongest influence there is on our character and personality. So what influence does it have?</a:t>
            </a:r>
            <a:endParaRPr lang="en-US" sz="1200" dirty="0"/>
          </a:p>
        </p:txBody>
      </p:sp>
      <p:sp>
        <p:nvSpPr>
          <p:cNvPr id="17" name="ln_503"/>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Firstborn children often have to look after their younger brothers and sisters, so they're usually sensible and responsible as adults.</a:t>
            </a:r>
            <a:endParaRPr lang="en-US" sz="1200" dirty="0"/>
          </a:p>
        </p:txBody>
      </p:sp>
      <p:sp>
        <p:nvSpPr>
          <p:cNvPr id="18" name="ln_504"/>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also tend to be ambitious and they make good leaders.</a:t>
            </a:r>
            <a:endParaRPr lang="en-US" sz="1200" dirty="0"/>
          </a:p>
        </p:txBody>
      </p:sp>
      <p:sp>
        <p:nvSpPr>
          <p:cNvPr id="19" name="ln_505"/>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 the negative side, oldest children can be insecure and anxious. This is because </a:t>
            </a:r>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0" name="R1_lnA506"/>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 the negative side, oldest children can be insecure and anxious. This is because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H  when the second child was born, they lost some of their parents' attention, and maybe they felt rejected</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1" name="pf_507"/>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508" descr="/home/claude/lls-course/v2/cache/1b2_oldest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3" name="cd_509"/>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4" name="ii_51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ih_51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6" name="il_512"/>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tend to = di solito</a:t>
            </a:r>
            <a:endParaRPr lang="en-US" sz="1000" dirty="0"/>
          </a:p>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leaders = capi, guide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514" descr="/home/claude/lls-course/v2/assets/brush-yellow.png">    </p:cNvPr>
          <p:cNvPicPr>
            <a:picLocks noChangeAspect="1"/>
          </p:cNvPicPr>
          <p:nvPr/>
        </p:nvPicPr>
        <p:blipFill>
          <a:blip r:embed="rId2"/>
          <a:stretch>
            <a:fillRect/>
          </a:stretch>
        </p:blipFill>
        <p:spPr>
          <a:xfrm>
            <a:off x="1097280" y="146304"/>
            <a:ext cx="5449824" cy="621792"/>
          </a:xfrm>
          <a:prstGeom prst="rect">
            <a:avLst/>
          </a:prstGeom>
        </p:spPr>
      </p:pic>
      <p:sp>
        <p:nvSpPr>
          <p:cNvPr id="5" name="title_515"/>
          <p:cNvSpPr/>
          <p:nvPr/>
        </p:nvSpPr>
        <p:spPr>
          <a:xfrm>
            <a:off x="1261872" y="164592"/>
            <a:ext cx="517550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birth order influences you</a:t>
            </a:r>
            <a:endParaRPr lang="en-US" sz="2500" dirty="0"/>
          </a:p>
        </p:txBody>
      </p:sp>
      <p:pic>
        <p:nvPicPr>
          <p:cNvPr id="6" name="brP_516"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17"/>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reasons go in gaps 2–3?</a:t>
            </a:r>
            <a:endParaRPr lang="en-US" sz="1250" dirty="0"/>
          </a:p>
        </p:txBody>
      </p:sp>
      <p:sp>
        <p:nvSpPr>
          <p:cNvPr id="8" name="insIT_51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Quali motivi vanno negli spazi 2–3?</a:t>
            </a:r>
            <a:endParaRPr lang="en-US" sz="950" dirty="0"/>
          </a:p>
        </p:txBody>
      </p:sp>
      <p:sp>
        <p:nvSpPr>
          <p:cNvPr id="9" name="cmd_51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52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2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52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2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Reading · the middle child   ·   📖 SB p.12 · 6d · article</a:t>
            </a:r>
            <a:endParaRPr lang="en-US" sz="800" dirty="0"/>
          </a:p>
        </p:txBody>
      </p:sp>
      <p:sp>
        <p:nvSpPr>
          <p:cNvPr id="14" name="cd_52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2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middle child</a:t>
            </a:r>
            <a:endParaRPr lang="en-US" sz="1700" dirty="0"/>
          </a:p>
        </p:txBody>
      </p:sp>
      <p:sp>
        <p:nvSpPr>
          <p:cNvPr id="16" name="ln_52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Middle children are more relaxed than the oldest children, probably because </a:t>
            </a:r>
            <a:pPr indent="0" marL="0">
              <a:buNone/>
            </a:pPr>
            <a:r>
              <a:rPr lang="en-US" sz="1150" b="1" dirty="0">
                <a:solidFill>
                  <a:srgbClr val="2EB872"/>
                </a:solidFill>
                <a:latin typeface="Georgia" pitchFamily="34" charset="0"/>
                <a:ea typeface="Georgia" pitchFamily="34" charset="-122"/>
                <a:cs typeface="Georgia" pitchFamily="34" charset="-120"/>
              </a:rPr>
              <a:t> (2) 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7" name="R1_lnA52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Middle children are more relaxed than the oldest children, probably because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C  their parents were more relaxed themselves by the time the second child arrived</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8" name="ln_52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They're usually very sociable – the kind of people who get on with everybody.</a:t>
            </a:r>
            <a:endParaRPr lang="en-US" sz="1150" dirty="0"/>
          </a:p>
        </p:txBody>
      </p:sp>
      <p:sp>
        <p:nvSpPr>
          <p:cNvPr id="19" name="ln_529"/>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are also usually sensitive to what other people need, because </a:t>
            </a:r>
            <a:pPr indent="0" marL="0">
              <a:buNone/>
            </a:pPr>
            <a:r>
              <a:rPr lang="en-US" sz="1150" b="1" dirty="0">
                <a:solidFill>
                  <a:srgbClr val="2EB872"/>
                </a:solidFill>
                <a:latin typeface="Georgia" pitchFamily="34" charset="0"/>
                <a:ea typeface="Georgia" pitchFamily="34" charset="-122"/>
                <a:cs typeface="Georgia" pitchFamily="34" charset="-120"/>
              </a:rPr>
              <a:t> (3) 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0" name="R2_lnA530"/>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are also usually sensitive to what other people need, because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A  they grew up between older and younger brothers and sisters</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1" name="ln_531"/>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For the same reason, they're often quite good at sorting out arguments, and they're always sympathetic to the ones on the losing side, or in general, to people who are having problems.</a:t>
            </a:r>
            <a:endParaRPr lang="en-US" sz="1150" dirty="0"/>
          </a:p>
        </p:txBody>
      </p:sp>
      <p:sp>
        <p:nvSpPr>
          <p:cNvPr id="22" name="ln_532"/>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On the other hand, middle children can sometimes be unambitious, and they can lack direction in life.</a:t>
            </a:r>
            <a:endParaRPr lang="en-US" sz="1150" dirty="0"/>
          </a:p>
        </p:txBody>
      </p:sp>
      <p:sp>
        <p:nvSpPr>
          <p:cNvPr id="23" name="pf_533"/>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534" descr="/home/claude/lls-course/v2/cache/1b2_middle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5" name="cd_535"/>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ii_53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53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8" name="il_538"/>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sympathetic = comprensivo</a:t>
            </a:r>
            <a:endParaRPr lang="en-US" sz="1000" dirty="0"/>
          </a:p>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sort out = risolvere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40" descr="/home/claude/lls-course/v2/assets/brush-yellow.png">    </p:cNvPr>
          <p:cNvPicPr>
            <a:picLocks noChangeAspect="1"/>
          </p:cNvPicPr>
          <p:nvPr/>
        </p:nvPicPr>
        <p:blipFill>
          <a:blip r:embed="rId2"/>
          <a:stretch>
            <a:fillRect/>
          </a:stretch>
        </p:blipFill>
        <p:spPr>
          <a:xfrm>
            <a:off x="1097280" y="146304"/>
            <a:ext cx="5449824" cy="621792"/>
          </a:xfrm>
          <a:prstGeom prst="rect">
            <a:avLst/>
          </a:prstGeom>
        </p:spPr>
      </p:pic>
      <p:sp>
        <p:nvSpPr>
          <p:cNvPr id="5" name="title_541"/>
          <p:cNvSpPr/>
          <p:nvPr/>
        </p:nvSpPr>
        <p:spPr>
          <a:xfrm>
            <a:off x="1261872" y="164592"/>
            <a:ext cx="517550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birth order influences you</a:t>
            </a:r>
            <a:endParaRPr lang="en-US" sz="2500" dirty="0"/>
          </a:p>
        </p:txBody>
      </p:sp>
      <p:pic>
        <p:nvPicPr>
          <p:cNvPr id="6" name="brP_542"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43"/>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reasons go in gaps 4–5?</a:t>
            </a:r>
            <a:endParaRPr lang="en-US" sz="1250" dirty="0"/>
          </a:p>
        </p:txBody>
      </p:sp>
      <p:sp>
        <p:nvSpPr>
          <p:cNvPr id="8" name="insIT_54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Quali motivi vanno negli spazi 4–5?</a:t>
            </a:r>
            <a:endParaRPr lang="en-US" sz="950" dirty="0"/>
          </a:p>
        </p:txBody>
      </p:sp>
      <p:sp>
        <p:nvSpPr>
          <p:cNvPr id="9" name="cmd_54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54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4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5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Reading · the youngest child   ·   📖 SB p.12 · 6d · article</a:t>
            </a:r>
            <a:endParaRPr lang="en-US" sz="800" dirty="0"/>
          </a:p>
        </p:txBody>
      </p:sp>
      <p:sp>
        <p:nvSpPr>
          <p:cNvPr id="14" name="cd_550"/>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51"/>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youngest child</a:t>
            </a:r>
            <a:endParaRPr lang="en-US" sz="1700" dirty="0"/>
          </a:p>
        </p:txBody>
      </p:sp>
      <p:sp>
        <p:nvSpPr>
          <p:cNvPr id="16" name="ln_552"/>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Youngest children are often very outgoing and charming. This is the way they try to get the attention of both their parents and their older brothers and sisters.</a:t>
            </a:r>
            <a:endParaRPr lang="en-US" sz="1150" dirty="0"/>
          </a:p>
        </p:txBody>
      </p:sp>
      <p:sp>
        <p:nvSpPr>
          <p:cNvPr id="17" name="ln_553"/>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are often more rebellious, and this is probably because </a:t>
            </a:r>
            <a:pPr indent="0" marL="0">
              <a:buNone/>
            </a:pPr>
            <a:r>
              <a:rPr lang="en-US" sz="1150" b="1" dirty="0">
                <a:solidFill>
                  <a:srgbClr val="2EB872"/>
                </a:solidFill>
                <a:latin typeface="Georgia" pitchFamily="34" charset="0"/>
                <a:ea typeface="Georgia" pitchFamily="34" charset="-122"/>
                <a:cs typeface="Georgia" pitchFamily="34" charset="-120"/>
              </a:rPr>
              <a:t> (4) 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8" name="R1_lnA554"/>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are often more rebellious, and this is probably because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B  it's easier for them to break the rules – by the time they were born, their parents were more relaxed about discipline</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9" name="ln_555"/>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can also be immature and disorganized, and they often depend too much on other people, because </a:t>
            </a:r>
            <a:pPr indent="0" marL="0">
              <a:buNone/>
            </a:pPr>
            <a:r>
              <a:rPr lang="en-US" sz="1150" b="1" dirty="0">
                <a:solidFill>
                  <a:srgbClr val="2EB872"/>
                </a:solidFill>
                <a:latin typeface="Georgia" pitchFamily="34" charset="0"/>
                <a:ea typeface="Georgia" pitchFamily="34" charset="-122"/>
                <a:cs typeface="Georgia" pitchFamily="34" charset="-120"/>
              </a:rPr>
              <a:t> (5) 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0" name="R2_lnA556"/>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can also be immature and disorganized, and they often depend too much on other people, because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E  they have always been the baby of the family</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1" name="pf_557"/>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558" descr="/home/claude/lls-course/v2/cache/1b2_youngest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3" name="cd_559"/>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4" name="ii_56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ih_56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6" name="il_562"/>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discipline = regole, disciplina</a:t>
            </a:r>
            <a:endParaRPr lang="en-US" sz="1000" dirty="0"/>
          </a:p>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depend on = dipendere da</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6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64" descr="/home/claude/lls-course/v2/assets/brush-yellow.png">    </p:cNvPr>
          <p:cNvPicPr>
            <a:picLocks noChangeAspect="1"/>
          </p:cNvPicPr>
          <p:nvPr/>
        </p:nvPicPr>
        <p:blipFill>
          <a:blip r:embed="rId2"/>
          <a:stretch>
            <a:fillRect/>
          </a:stretch>
        </p:blipFill>
        <p:spPr>
          <a:xfrm>
            <a:off x="1097280" y="146304"/>
            <a:ext cx="5449824" cy="621792"/>
          </a:xfrm>
          <a:prstGeom prst="rect">
            <a:avLst/>
          </a:prstGeom>
        </p:spPr>
      </p:pic>
      <p:sp>
        <p:nvSpPr>
          <p:cNvPr id="5" name="title_565"/>
          <p:cNvSpPr/>
          <p:nvPr/>
        </p:nvSpPr>
        <p:spPr>
          <a:xfrm>
            <a:off x="1261872" y="164592"/>
            <a:ext cx="517550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birth order influences you</a:t>
            </a:r>
            <a:endParaRPr lang="en-US" sz="2500" dirty="0"/>
          </a:p>
        </p:txBody>
      </p:sp>
      <p:pic>
        <p:nvPicPr>
          <p:cNvPr id="6" name="brP_566"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67"/>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reasons go in gaps 6–8?</a:t>
            </a:r>
            <a:endParaRPr lang="en-US" sz="1250" dirty="0"/>
          </a:p>
        </p:txBody>
      </p:sp>
      <p:sp>
        <p:nvSpPr>
          <p:cNvPr id="8" name="insIT_56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Quali motivi vanno negli spazi 6–8?</a:t>
            </a:r>
            <a:endParaRPr lang="en-US" sz="950" dirty="0"/>
          </a:p>
        </p:txBody>
      </p:sp>
      <p:sp>
        <p:nvSpPr>
          <p:cNvPr id="9" name="cmd_56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57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7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57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7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Reading · the only child   ·   📖 SB p.12 · 6d · article</a:t>
            </a:r>
            <a:endParaRPr lang="en-US" sz="800" dirty="0"/>
          </a:p>
        </p:txBody>
      </p:sp>
      <p:sp>
        <p:nvSpPr>
          <p:cNvPr id="14" name="cd_57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7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only child</a:t>
            </a:r>
            <a:endParaRPr lang="en-US" sz="1700" dirty="0"/>
          </a:p>
        </p:txBody>
      </p:sp>
      <p:sp>
        <p:nvSpPr>
          <p:cNvPr id="16" name="ln_57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Only children usually do very well at school, because they have a lot of contact with adults.</a:t>
            </a:r>
            <a:endParaRPr lang="en-US" sz="1200" dirty="0"/>
          </a:p>
        </p:txBody>
      </p:sp>
      <p:sp>
        <p:nvSpPr>
          <p:cNvPr id="17" name="ln_577"/>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get a lot of love and attention from their parents, so they're typically self-confident.</a:t>
            </a:r>
            <a:endParaRPr lang="en-US" sz="1200" dirty="0"/>
          </a:p>
        </p:txBody>
      </p:sp>
      <p:sp>
        <p:nvSpPr>
          <p:cNvPr id="18" name="ln_578"/>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They're also independent, as they spend so much time by themselves. And because </a:t>
            </a:r>
            <a:pPr indent="0" marL="0">
              <a:buNone/>
            </a:pPr>
            <a:r>
              <a:rPr lang="en-US" sz="1200" b="1" dirty="0">
                <a:solidFill>
                  <a:srgbClr val="2EB872"/>
                </a:solidFill>
                <a:latin typeface="Georgia" pitchFamily="34" charset="0"/>
                <a:ea typeface="Georgia" pitchFamily="34" charset="-122"/>
                <a:cs typeface="Georgia" pitchFamily="34" charset="-120"/>
              </a:rPr>
              <a:t> (6) _____ </a:t>
            </a:r>
            <a:pPr indent="0" marL="0">
              <a:buNone/>
            </a:pPr>
            <a:r>
              <a:rPr lang="en-US" sz="1200" dirty="0">
                <a:solidFill>
                  <a:srgbClr val="1B2559"/>
                </a:solidFill>
                <a:latin typeface="Georgia" pitchFamily="34" charset="0"/>
                <a:ea typeface="Georgia" pitchFamily="34" charset="-122"/>
                <a:cs typeface="Georgia" pitchFamily="34" charset="-120"/>
              </a:rPr>
              <a:t>, they're often very organized.</a:t>
            </a:r>
            <a:endParaRPr lang="en-US" sz="1200" dirty="0"/>
          </a:p>
        </p:txBody>
      </p:sp>
      <p:sp>
        <p:nvSpPr>
          <p:cNvPr id="19" name="R1_lnA579"/>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They're also independent, as they spend so much time by themselves. And because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F  they spend a lot of time with adults</a:t>
            </a:r>
            <a:pPr indent="0" marL="0">
              <a:buNone/>
            </a:pPr>
            <a:r>
              <a:rPr lang="en-US" sz="1200" dirty="0">
                <a:solidFill>
                  <a:srgbClr val="1B2559"/>
                </a:solidFill>
                <a:latin typeface="Georgia" pitchFamily="34" charset="0"/>
                <a:ea typeface="Georgia" pitchFamily="34" charset="-122"/>
                <a:cs typeface="Georgia" pitchFamily="34" charset="-120"/>
              </a:rPr>
              <a:t>, they're often very organized.</a:t>
            </a:r>
            <a:endParaRPr lang="en-US" sz="1200" dirty="0"/>
          </a:p>
        </p:txBody>
      </p:sp>
      <p:sp>
        <p:nvSpPr>
          <p:cNvPr id="20" name="ln_580"/>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Only children can sometimes be spoilt, because </a:t>
            </a:r>
            <a:pPr indent="0" marL="0">
              <a:buNone/>
            </a:pPr>
            <a:r>
              <a:rPr lang="en-US" sz="1200" b="1" dirty="0">
                <a:solidFill>
                  <a:srgbClr val="2EB872"/>
                </a:solidFill>
                <a:latin typeface="Georgia" pitchFamily="34" charset="0"/>
                <a:ea typeface="Georgia" pitchFamily="34" charset="-122"/>
                <a:cs typeface="Georgia" pitchFamily="34" charset="-120"/>
              </a:rPr>
              <a:t> (7) _____ </a:t>
            </a:r>
            <a:pPr indent="0" marL="0">
              <a:buNone/>
            </a:pPr>
            <a:r>
              <a:rPr lang="en-US" sz="1200" dirty="0">
                <a:solidFill>
                  <a:srgbClr val="1B2559"/>
                </a:solidFill>
                <a:latin typeface="Georgia" pitchFamily="34" charset="0"/>
                <a:ea typeface="Georgia" pitchFamily="34" charset="-122"/>
                <a:cs typeface="Georgia" pitchFamily="34" charset="-120"/>
              </a:rPr>
              <a:t> by their parents.</a:t>
            </a:r>
            <a:endParaRPr lang="en-US" sz="1200" dirty="0"/>
          </a:p>
        </p:txBody>
      </p:sp>
      <p:sp>
        <p:nvSpPr>
          <p:cNvPr id="21" name="R2_lnA581"/>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Only children can sometimes be spoilt, because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D  they are given everything they ask for</a:t>
            </a:r>
            <a:pPr indent="0" marL="0">
              <a:buNone/>
            </a:pPr>
            <a:r>
              <a:rPr lang="en-US" sz="1200" dirty="0">
                <a:solidFill>
                  <a:srgbClr val="1B2559"/>
                </a:solidFill>
                <a:latin typeface="Georgia" pitchFamily="34" charset="0"/>
                <a:ea typeface="Georgia" pitchFamily="34" charset="-122"/>
                <a:cs typeface="Georgia" pitchFamily="34" charset="-120"/>
              </a:rPr>
              <a:t> by their parents.</a:t>
            </a:r>
            <a:endParaRPr lang="en-US" sz="1200" dirty="0"/>
          </a:p>
        </p:txBody>
      </p:sp>
      <p:sp>
        <p:nvSpPr>
          <p:cNvPr id="22" name="ln_582"/>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can also be quite selfish and get impatient, especially when things go wrong. This is because </a:t>
            </a:r>
            <a:pPr indent="0" marL="0">
              <a:buNone/>
            </a:pPr>
            <a:r>
              <a:rPr lang="en-US" sz="1200" b="1" dirty="0">
                <a:solidFill>
                  <a:srgbClr val="2EB872"/>
                </a:solidFill>
                <a:latin typeface="Georgia" pitchFamily="34" charset="0"/>
                <a:ea typeface="Georgia" pitchFamily="34" charset="-122"/>
                <a:cs typeface="Georgia" pitchFamily="34" charset="-120"/>
              </a:rPr>
              <a:t> (8) _____ </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3" name="R3_lnA583"/>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can also be quite selfish and get impatient, especially when things go wrong. This is because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G  they've never had to sort out problems with other brothers and sisters</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4" name="pf_584"/>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585" descr="/home/claude/lls-course/v2/cache/1b2_only_child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6" name="cd_586"/>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ii_587"/>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ih_588"/>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9" name="il_589"/>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by themselves = da soli</a:t>
            </a:r>
            <a:endParaRPr lang="en-US" sz="1000" dirty="0"/>
          </a:p>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things go wrong = vanno male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91"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592"/>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Is it true for you?</a:t>
            </a:r>
            <a:endParaRPr lang="en-US" sz="2500" dirty="0"/>
          </a:p>
        </p:txBody>
      </p:sp>
      <p:pic>
        <p:nvPicPr>
          <p:cNvPr id="6" name="brP_593"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594"/>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Is it true for you? Say why.</a:t>
            </a:r>
            <a:endParaRPr lang="en-US" sz="1250" dirty="0"/>
          </a:p>
        </p:txBody>
      </p:sp>
      <p:sp>
        <p:nvSpPr>
          <p:cNvPr id="8" name="insIT_59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È vero per te? Di' perché.</a:t>
            </a:r>
            <a:endParaRPr lang="en-US" sz="950" dirty="0"/>
          </a:p>
        </p:txBody>
      </p:sp>
      <p:sp>
        <p:nvSpPr>
          <p:cNvPr id="9" name="cmd_59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9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59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Speaking · birth order   ·   📖 SB p.12 · 6e</a:t>
            </a:r>
            <a:endParaRPr lang="en-US" sz="800" dirty="0"/>
          </a:p>
        </p:txBody>
      </p:sp>
      <p:sp>
        <p:nvSpPr>
          <p:cNvPr id="14" name="pf_60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602" descr="/home/claude/lls-course/v2/cache/spare_1b2_sharing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60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60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0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60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That's true for me because…</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Not really – I'm quite…</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My brother is a typical…</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I'd rather not say.</a:t>
            </a:r>
            <a:endParaRPr lang="en-US" sz="1050" dirty="0"/>
          </a:p>
        </p:txBody>
      </p:sp>
      <p:sp>
        <p:nvSpPr>
          <p:cNvPr id="20" name="R1_qb60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608"/>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Read your paragraph again. Is it true for you?</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I'm the oldest and I'm quite responsible.</a:t>
            </a:r>
            <a:endParaRPr lang="en-US" sz="1250" dirty="0"/>
          </a:p>
        </p:txBody>
      </p:sp>
      <p:sp>
        <p:nvSpPr>
          <p:cNvPr id="22" name="R2_qb609"/>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610"/>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it true for your brothers, sisters or friends?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sister is the baby of the family – she's so charming!</a:t>
            </a:r>
            <a:endParaRPr lang="en-US" sz="1250" dirty="0"/>
          </a:p>
        </p:txBody>
      </p:sp>
      <p:sp>
        <p:nvSpPr>
          <p:cNvPr id="24" name="R3_qb611"/>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612"/>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Is birth order really the strongest influence? What else is important?</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I don't think so. Friends and school are important too.</a:t>
            </a:r>
            <a:endParaRPr lang="en-US" sz="1050" dirty="0"/>
          </a:p>
        </p:txBody>
      </p:sp>
      <p:sp>
        <p:nvSpPr>
          <p:cNvPr id="26" name="R4_qb613"/>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614"/>
          <p:cNvSpPr/>
          <p:nvPr/>
        </p:nvSpPr>
        <p:spPr>
          <a:xfrm>
            <a:off x="3675888" y="3227832"/>
            <a:ext cx="45079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Which is the best position in a family? Why?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The only child – you get all the attention!</a:t>
            </a:r>
            <a:endParaRPr lang="en-US" sz="1250" dirty="0"/>
          </a:p>
        </p:txBody>
      </p:sp>
      <p:pic>
        <p:nvPicPr>
          <p:cNvPr id="28" name="R4_th615" descr="/home/claude/lls-course/v2/cache/spare_1b2_homework_jpg_154x119_18.png">    </p:cNvPr>
          <p:cNvPicPr>
            <a:picLocks noChangeAspect="1"/>
          </p:cNvPicPr>
          <p:nvPr/>
        </p:nvPicPr>
        <p:blipFill>
          <a:blip r:embed="rId6"/>
          <a:stretch>
            <a:fillRect/>
          </a:stretch>
        </p:blipFill>
        <p:spPr>
          <a:xfrm>
            <a:off x="8257032" y="3246120"/>
            <a:ext cx="640080" cy="493776"/>
          </a:xfrm>
          <a:prstGeom prst="rect">
            <a:avLst/>
          </a:prstGeom>
        </p:spPr>
      </p:pic>
      <p:sp>
        <p:nvSpPr>
          <p:cNvPr id="29" name="R5_qb616"/>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617"/>
          <p:cNvSpPr/>
          <p:nvPr/>
        </p:nvSpPr>
        <p:spPr>
          <a:xfrm>
            <a:off x="3675888" y="3831336"/>
            <a:ext cx="45079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Who's the most stubborn person in your family?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nonno – he never changes his mind!</a:t>
            </a:r>
            <a:endParaRPr lang="en-US" sz="1250" dirty="0"/>
          </a:p>
        </p:txBody>
      </p:sp>
      <p:pic>
        <p:nvPicPr>
          <p:cNvPr id="31" name="R5_th618" descr="/home/claude/lls-course/v2/cache/spare_1b2_arguments_jpg_154x119_18.png">    </p:cNvPr>
          <p:cNvPicPr>
            <a:picLocks noChangeAspect="1"/>
          </p:cNvPicPr>
          <p:nvPr/>
        </p:nvPicPr>
        <p:blipFill>
          <a:blip r:embed="rId7"/>
          <a:stretch>
            <a:fillRect/>
          </a:stretch>
        </p:blipFill>
        <p:spPr>
          <a:xfrm>
            <a:off x="8257032" y="3849624"/>
            <a:ext cx="640080" cy="493776"/>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620"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621"/>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Key words first</a:t>
            </a:r>
            <a:endParaRPr lang="en-US" sz="2500" dirty="0"/>
          </a:p>
        </p:txBody>
      </p:sp>
      <p:pic>
        <p:nvPicPr>
          <p:cNvPr id="6" name="brP_622"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623"/>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meaning. Then click.</a:t>
            </a:r>
            <a:endParaRPr lang="en-US" sz="1250" dirty="0"/>
          </a:p>
        </p:txBody>
      </p:sp>
      <p:sp>
        <p:nvSpPr>
          <p:cNvPr id="8" name="insIT_62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il significato. Poi clicca.</a:t>
            </a:r>
            <a:endParaRPr lang="en-US" sz="950" dirty="0"/>
          </a:p>
        </p:txBody>
      </p:sp>
      <p:sp>
        <p:nvSpPr>
          <p:cNvPr id="9" name="cmd_62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62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62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6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Listening · key words first   ·   📖 SB p.13 · 7a (words from the stories)</a:t>
            </a:r>
            <a:endParaRPr lang="en-US" sz="800" dirty="0"/>
          </a:p>
        </p:txBody>
      </p:sp>
      <p:sp>
        <p:nvSpPr>
          <p:cNvPr id="14" name="cd_630"/>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3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3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633"/>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twin → born on the same day as your brother or sister · gemello</a:t>
            </a:r>
            <a:endParaRPr lang="en-US" sz="1050" dirty="0"/>
          </a:p>
        </p:txBody>
      </p:sp>
      <p:sp>
        <p:nvSpPr>
          <p:cNvPr id="18" name="pf_634"/>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35" descr="/home/claude/lls-course/v2/cache/spare_life_childhood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636"/>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637"/>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penknife</a:t>
            </a:r>
            <a:endParaRPr lang="en-US" sz="1150" dirty="0"/>
          </a:p>
        </p:txBody>
      </p:sp>
      <p:sp>
        <p:nvSpPr>
          <p:cNvPr id="22" name="R1_chip638"/>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small knife for your pocket · coltellino</a:t>
            </a:r>
            <a:endParaRPr lang="en-US" sz="1000" dirty="0"/>
          </a:p>
        </p:txBody>
      </p:sp>
      <p:sp>
        <p:nvSpPr>
          <p:cNvPr id="23" name="bd_639"/>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640"/>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stab (stabbed)</a:t>
            </a:r>
            <a:endParaRPr lang="en-US" sz="1150" dirty="0"/>
          </a:p>
        </p:txBody>
      </p:sp>
      <p:sp>
        <p:nvSpPr>
          <p:cNvPr id="25" name="R2_chip641"/>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hurt someone with a knife · accoltellare</a:t>
            </a:r>
            <a:endParaRPr lang="en-US" sz="1000" dirty="0"/>
          </a:p>
        </p:txBody>
      </p:sp>
      <p:sp>
        <p:nvSpPr>
          <p:cNvPr id="26" name="bd_642"/>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643"/>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horrified</a:t>
            </a:r>
            <a:endParaRPr lang="en-US" sz="1150" dirty="0"/>
          </a:p>
        </p:txBody>
      </p:sp>
      <p:sp>
        <p:nvSpPr>
          <p:cNvPr id="28" name="R3_chip644"/>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very shocked · inorridito</a:t>
            </a:r>
            <a:endParaRPr lang="en-US" sz="1000" dirty="0"/>
          </a:p>
        </p:txBody>
      </p:sp>
      <p:sp>
        <p:nvSpPr>
          <p:cNvPr id="29" name="bd_645"/>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646"/>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blood</a:t>
            </a:r>
            <a:endParaRPr lang="en-US" sz="1150" dirty="0"/>
          </a:p>
        </p:txBody>
      </p:sp>
      <p:sp>
        <p:nvSpPr>
          <p:cNvPr id="31" name="R4_chip647"/>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red liquid in your body · sangue</a:t>
            </a:r>
            <a:endParaRPr lang="en-US" sz="1000" dirty="0"/>
          </a:p>
        </p:txBody>
      </p:sp>
      <p:sp>
        <p:nvSpPr>
          <p:cNvPr id="32" name="bd_648"/>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649"/>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cage</a:t>
            </a:r>
            <a:endParaRPr lang="en-US" sz="1150" dirty="0"/>
          </a:p>
        </p:txBody>
      </p:sp>
      <p:sp>
        <p:nvSpPr>
          <p:cNvPr id="34" name="R5_chip650"/>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bird lives in it · gabbia</a:t>
            </a:r>
            <a:endParaRPr lang="en-US" sz="1000" dirty="0"/>
          </a:p>
        </p:txBody>
      </p:sp>
      <p:sp>
        <p:nvSpPr>
          <p:cNvPr id="35" name="bd_651"/>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652"/>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let out</a:t>
            </a:r>
            <a:endParaRPr lang="en-US" sz="1150" dirty="0"/>
          </a:p>
        </p:txBody>
      </p:sp>
      <p:sp>
        <p:nvSpPr>
          <p:cNvPr id="37" name="R6_chip653"/>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open the door so it can go out · far uscire</a:t>
            </a:r>
            <a:endParaRPr lang="en-US" sz="1000" dirty="0"/>
          </a:p>
        </p:txBody>
      </p:sp>
      <p:sp>
        <p:nvSpPr>
          <p:cNvPr id="38" name="bd_654"/>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655"/>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hide (hid, hidden)</a:t>
            </a:r>
            <a:endParaRPr lang="en-US" sz="1150" dirty="0"/>
          </a:p>
        </p:txBody>
      </p:sp>
      <p:sp>
        <p:nvSpPr>
          <p:cNvPr id="40" name="R7_chip656"/>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put something where no one can find it · nascondere</a:t>
            </a:r>
            <a:endParaRPr lang="en-US" sz="1000" dirty="0"/>
          </a:p>
        </p:txBody>
      </p:sp>
      <p:sp>
        <p:nvSpPr>
          <p:cNvPr id="41" name="bd_657"/>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2" name="q_658"/>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cupboard /ˈkʌbəd/</a:t>
            </a:r>
            <a:endParaRPr lang="en-US" sz="1150" dirty="0"/>
          </a:p>
        </p:txBody>
      </p:sp>
      <p:sp>
        <p:nvSpPr>
          <p:cNvPr id="43" name="R8_chip659"/>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furniture with doors for keeping things · armadietto, credenza</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6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61"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662"/>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Brothers and sisters</a:t>
            </a:r>
            <a:endParaRPr lang="en-US" sz="2500" dirty="0"/>
          </a:p>
        </p:txBody>
      </p:sp>
      <p:pic>
        <p:nvPicPr>
          <p:cNvPr id="6" name="brP_66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6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Were your predictions right?</a:t>
            </a:r>
            <a:endParaRPr lang="en-US" sz="1250" dirty="0"/>
          </a:p>
        </p:txBody>
      </p:sp>
      <p:sp>
        <p:nvSpPr>
          <p:cNvPr id="8" name="insIT_66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Le tue previsioni erano giuste?</a:t>
            </a:r>
            <a:endParaRPr lang="en-US" sz="950" dirty="0"/>
          </a:p>
        </p:txBody>
      </p:sp>
      <p:sp>
        <p:nvSpPr>
          <p:cNvPr id="9" name="cmd_66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66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66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66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7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Listening · gist   ·   📖 SB p.13 · 7b · audio 1.25</a:t>
            </a:r>
            <a:endParaRPr lang="en-US" sz="800" dirty="0"/>
          </a:p>
        </p:txBody>
      </p:sp>
      <p:sp>
        <p:nvSpPr>
          <p:cNvPr id="14" name="ap_671"/>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1.25  ·  play once</a:t>
            </a:r>
            <a:endParaRPr lang="en-US" sz="1100" dirty="0"/>
          </a:p>
        </p:txBody>
      </p:sp>
      <p:sp>
        <p:nvSpPr>
          <p:cNvPr id="15" name="aw_672"/>
          <p:cNvSpPr/>
          <p:nvPr/>
        </p:nvSpPr>
        <p:spPr>
          <a:xfrm>
            <a:off x="365760" y="1837944"/>
            <a:ext cx="26517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6" name="pf_673"/>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674" descr="/home/claude/lls-course/v2/cache/1b2_twins_finger_jpg_407x297_31.png">    </p:cNvPr>
          <p:cNvPicPr>
            <a:picLocks noChangeAspect="1"/>
          </p:cNvPicPr>
          <p:nvPr/>
        </p:nvPicPr>
        <p:blipFill>
          <a:blip r:embed="rId5"/>
          <a:stretch>
            <a:fillRect/>
          </a:stretch>
        </p:blipFill>
        <p:spPr>
          <a:xfrm rot="-90000">
            <a:off x="457200" y="2103120"/>
            <a:ext cx="1691640" cy="1234440"/>
          </a:xfrm>
          <a:prstGeom prst="rect">
            <a:avLst/>
          </a:prstGeom>
        </p:spPr>
      </p:pic>
      <p:sp>
        <p:nvSpPr>
          <p:cNvPr id="18" name="bd_675"/>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19" name="pf_676"/>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77" descr="/home/claude/lls-course/v2/cache/1b2_parrot_jpg_407x297_31.png">    </p:cNvPr>
          <p:cNvPicPr>
            <a:picLocks noChangeAspect="1"/>
          </p:cNvPicPr>
          <p:nvPr/>
        </p:nvPicPr>
        <p:blipFill>
          <a:blip r:embed="rId6"/>
          <a:stretch>
            <a:fillRect/>
          </a:stretch>
        </p:blipFill>
        <p:spPr>
          <a:xfrm rot="90000">
            <a:off x="2331720" y="2103120"/>
            <a:ext cx="1691640" cy="1234440"/>
          </a:xfrm>
          <a:prstGeom prst="rect">
            <a:avLst/>
          </a:prstGeom>
        </p:spPr>
      </p:pic>
      <p:sp>
        <p:nvSpPr>
          <p:cNvPr id="21" name="bd_678"/>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2" name="cd_679"/>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3" name="ii_680"/>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681"/>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5" name="il_682"/>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Before you listen: predict the two stories.</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Listen. What happened in each story?</a:t>
            </a:r>
            <a:endParaRPr lang="en-US" sz="1100" dirty="0"/>
          </a:p>
        </p:txBody>
      </p:sp>
      <p:sp>
        <p:nvSpPr>
          <p:cNvPr id="26" name="lq_683"/>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 James</a:t>
            </a:r>
            <a:endParaRPr lang="en-US" sz="1100" dirty="0"/>
          </a:p>
        </p:txBody>
      </p:sp>
      <p:sp>
        <p:nvSpPr>
          <p:cNvPr id="27" name="R1_chip684"/>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penknife accident with his twin</a:t>
            </a:r>
            <a:endParaRPr lang="en-US" sz="1050" dirty="0"/>
          </a:p>
        </p:txBody>
      </p:sp>
      <p:sp>
        <p:nvSpPr>
          <p:cNvPr id="28" name="lq_685"/>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 · Marilyn</a:t>
            </a:r>
            <a:endParaRPr lang="en-US" sz="1100" dirty="0"/>
          </a:p>
        </p:txBody>
      </p:sp>
      <p:sp>
        <p:nvSpPr>
          <p:cNvPr id="29" name="R2_chip686"/>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her sister hid her parrot</a:t>
            </a:r>
            <a:endParaRPr lang="en-US" sz="1050" dirty="0"/>
          </a:p>
        </p:txBody>
      </p:sp>
      <p:sp>
        <p:nvSpPr>
          <p:cNvPr id="30" name="lq_687"/>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was horrified?</a:t>
            </a:r>
            <a:endParaRPr lang="en-US" sz="1100" dirty="0"/>
          </a:p>
        </p:txBody>
      </p:sp>
      <p:sp>
        <p:nvSpPr>
          <p:cNvPr id="31" name="R3_chip688"/>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James</a:t>
            </a:r>
            <a:endParaRPr lang="en-US" sz="1050" dirty="0"/>
          </a:p>
        </p:txBody>
      </p:sp>
      <p:sp>
        <p:nvSpPr>
          <p:cNvPr id="32" name="lq_689"/>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cried and cried?</a:t>
            </a:r>
            <a:endParaRPr lang="en-US" sz="1100" dirty="0"/>
          </a:p>
        </p:txBody>
      </p:sp>
      <p:sp>
        <p:nvSpPr>
          <p:cNvPr id="33" name="R4_chip690"/>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Marilyn</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9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92"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693"/>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James's story</a:t>
            </a:r>
            <a:endParaRPr lang="en-US" sz="2500" dirty="0"/>
          </a:p>
        </p:txBody>
      </p:sp>
      <p:pic>
        <p:nvPicPr>
          <p:cNvPr id="6" name="brP_694"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95"/>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for James. Then listen again.</a:t>
            </a:r>
            <a:endParaRPr lang="en-US" sz="1250" dirty="0"/>
          </a:p>
        </p:txBody>
      </p:sp>
      <p:sp>
        <p:nvSpPr>
          <p:cNvPr id="8" name="insIT_69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per James. Poi riascolta.</a:t>
            </a:r>
            <a:endParaRPr lang="en-US" sz="950" dirty="0"/>
          </a:p>
        </p:txBody>
      </p:sp>
      <p:sp>
        <p:nvSpPr>
          <p:cNvPr id="9" name="cmd_69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698"/>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69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70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7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7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Listening · detail · James   ·   📖 SB p.13 · 7c · audio 1.25</a:t>
            </a:r>
            <a:endParaRPr lang="en-US" sz="800" dirty="0"/>
          </a:p>
        </p:txBody>
      </p:sp>
      <p:sp>
        <p:nvSpPr>
          <p:cNvPr id="15" name="ap_703"/>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1.25  ·  stop after James</a:t>
            </a:r>
            <a:endParaRPr lang="en-US" sz="1100" dirty="0"/>
          </a:p>
        </p:txBody>
      </p:sp>
      <p:sp>
        <p:nvSpPr>
          <p:cNvPr id="16" name="aw_704"/>
          <p:cNvSpPr/>
          <p:nvPr/>
        </p:nvSpPr>
        <p:spPr>
          <a:xfrm>
            <a:off x="36576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7" name="pf_705"/>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706" descr="/home/claude/lls-course/v2/cache/1b2_twins_finger_jpg_627x407_31.png">    </p:cNvPr>
          <p:cNvPicPr>
            <a:picLocks noChangeAspect="1"/>
          </p:cNvPicPr>
          <p:nvPr/>
        </p:nvPicPr>
        <p:blipFill>
          <a:blip r:embed="rId5"/>
          <a:stretch>
            <a:fillRect/>
          </a:stretch>
        </p:blipFill>
        <p:spPr>
          <a:xfrm rot="-90000">
            <a:off x="457200" y="2103120"/>
            <a:ext cx="2606040" cy="1691640"/>
          </a:xfrm>
          <a:prstGeom prst="rect">
            <a:avLst/>
          </a:prstGeom>
        </p:spPr>
      </p:pic>
      <p:sp>
        <p:nvSpPr>
          <p:cNvPr id="19" name="cd_707"/>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08"/>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09"/>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il_710"/>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3" name="gq_711"/>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How old were they?</a:t>
            </a:r>
            <a:endParaRPr lang="en-US" sz="1200" dirty="0"/>
          </a:p>
        </p:txBody>
      </p:sp>
      <p:sp>
        <p:nvSpPr>
          <p:cNvPr id="24" name="R1_chip712"/>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15</a:t>
            </a:r>
            <a:endParaRPr lang="en-US" sz="1200" dirty="0"/>
          </a:p>
        </p:txBody>
      </p:sp>
      <p:sp>
        <p:nvSpPr>
          <p:cNvPr id="25" name="gq_713"/>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Where were they?</a:t>
            </a:r>
            <a:endParaRPr lang="en-US" sz="1200" dirty="0"/>
          </a:p>
        </p:txBody>
      </p:sp>
      <p:sp>
        <p:nvSpPr>
          <p:cNvPr id="26" name="R2_chip714"/>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in their bedroom (they shared it)</a:t>
            </a:r>
            <a:endParaRPr lang="en-US" sz="1200" dirty="0"/>
          </a:p>
        </p:txBody>
      </p:sp>
      <p:sp>
        <p:nvSpPr>
          <p:cNvPr id="27" name="gq_715"/>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What bad thing did he do?</a:t>
            </a:r>
            <a:endParaRPr lang="en-US" sz="1200" dirty="0"/>
          </a:p>
        </p:txBody>
      </p:sp>
      <p:sp>
        <p:nvSpPr>
          <p:cNvPr id="28" name="R3_chip716"/>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stabbed his brother's finger with a penknife – by accident</a:t>
            </a:r>
            <a:endParaRPr lang="en-US" sz="900" dirty="0"/>
          </a:p>
        </p:txBody>
      </p:sp>
      <p:sp>
        <p:nvSpPr>
          <p:cNvPr id="29" name="gq_717"/>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What happened in the end?</a:t>
            </a:r>
            <a:endParaRPr lang="en-US" sz="1200" dirty="0"/>
          </a:p>
        </p:txBody>
      </p:sp>
      <p:sp>
        <p:nvSpPr>
          <p:cNvPr id="30" name="R4_chip718"/>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Mum was very angry – but it was a very small cut</a:t>
            </a:r>
            <a:endParaRPr lang="en-US" sz="1000" dirty="0"/>
          </a:p>
        </p:txBody>
      </p:sp>
      <p:sp>
        <p:nvSpPr>
          <p:cNvPr id="31" name="gq_719"/>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How does his brother show he hasn't forgotten?</a:t>
            </a:r>
            <a:endParaRPr lang="en-US" sz="1200" dirty="0"/>
          </a:p>
        </p:txBody>
      </p:sp>
      <p:sp>
        <p:nvSpPr>
          <p:cNvPr id="32" name="R5_chip720"/>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he still tells people about it (30 years later!)</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2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722"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723"/>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Marilyn's story</a:t>
            </a:r>
            <a:endParaRPr lang="en-US" sz="2500" dirty="0"/>
          </a:p>
        </p:txBody>
      </p:sp>
      <p:pic>
        <p:nvPicPr>
          <p:cNvPr id="6" name="brP_724"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725"/>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for Marilyn. Then listen again.</a:t>
            </a:r>
            <a:endParaRPr lang="en-US" sz="1250" dirty="0"/>
          </a:p>
        </p:txBody>
      </p:sp>
      <p:sp>
        <p:nvSpPr>
          <p:cNvPr id="8" name="insIT_72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per Marilyn. Poi riascolta.</a:t>
            </a:r>
            <a:endParaRPr lang="en-US" sz="950" dirty="0"/>
          </a:p>
        </p:txBody>
      </p:sp>
      <p:sp>
        <p:nvSpPr>
          <p:cNvPr id="9" name="cmd_72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728"/>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72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73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7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7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Listening · detail · Marilyn   ·   📖 SB p.13 · 7c · audio 1.25</a:t>
            </a:r>
            <a:endParaRPr lang="en-US" sz="800" dirty="0"/>
          </a:p>
        </p:txBody>
      </p:sp>
      <p:sp>
        <p:nvSpPr>
          <p:cNvPr id="15" name="ap_733"/>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1.25  ·  play the second story</a:t>
            </a:r>
            <a:endParaRPr lang="en-US" sz="1100" dirty="0"/>
          </a:p>
        </p:txBody>
      </p:sp>
      <p:sp>
        <p:nvSpPr>
          <p:cNvPr id="16" name="aw_734"/>
          <p:cNvSpPr/>
          <p:nvPr/>
        </p:nvSpPr>
        <p:spPr>
          <a:xfrm>
            <a:off x="36576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7" name="pf_735"/>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736" descr="/home/claude/lls-course/v2/cache/1b2_parrot_jpg_627x407_31.png">    </p:cNvPr>
          <p:cNvPicPr>
            <a:picLocks noChangeAspect="1"/>
          </p:cNvPicPr>
          <p:nvPr/>
        </p:nvPicPr>
        <p:blipFill>
          <a:blip r:embed="rId5"/>
          <a:stretch>
            <a:fillRect/>
          </a:stretch>
        </p:blipFill>
        <p:spPr>
          <a:xfrm rot="-90000">
            <a:off x="457200" y="2103120"/>
            <a:ext cx="2606040" cy="1691640"/>
          </a:xfrm>
          <a:prstGeom prst="rect">
            <a:avLst/>
          </a:prstGeom>
        </p:spPr>
      </p:pic>
      <p:sp>
        <p:nvSpPr>
          <p:cNvPr id="19" name="cd_737"/>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38"/>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39"/>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il_740"/>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3" name="gq_741"/>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How old was she?</a:t>
            </a:r>
            <a:endParaRPr lang="en-US" sz="1200" dirty="0"/>
          </a:p>
        </p:txBody>
      </p:sp>
      <p:sp>
        <p:nvSpPr>
          <p:cNvPr id="24" name="R1_chip742"/>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about ten</a:t>
            </a:r>
            <a:endParaRPr lang="en-US" sz="1200" dirty="0"/>
          </a:p>
        </p:txBody>
      </p:sp>
      <p:sp>
        <p:nvSpPr>
          <p:cNvPr id="25" name="gq_743"/>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Where was she?</a:t>
            </a:r>
            <a:endParaRPr lang="en-US" sz="1200" dirty="0"/>
          </a:p>
        </p:txBody>
      </p:sp>
      <p:sp>
        <p:nvSpPr>
          <p:cNvPr id="26" name="R2_chip744"/>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in her bedroom</a:t>
            </a:r>
            <a:endParaRPr lang="en-US" sz="1200" dirty="0"/>
          </a:p>
        </p:txBody>
      </p:sp>
      <p:sp>
        <p:nvSpPr>
          <p:cNvPr id="27" name="gq_745"/>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What bad thing did her sister do?</a:t>
            </a:r>
            <a:endParaRPr lang="en-US" sz="1200" dirty="0"/>
          </a:p>
        </p:txBody>
      </p:sp>
      <p:sp>
        <p:nvSpPr>
          <p:cNvPr id="28" name="R3_chip746"/>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hid her parrot, Charlie, in a cupboard</a:t>
            </a:r>
            <a:endParaRPr lang="en-US" sz="1200" dirty="0"/>
          </a:p>
        </p:txBody>
      </p:sp>
      <p:sp>
        <p:nvSpPr>
          <p:cNvPr id="29" name="gq_747"/>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What happened in the end?</a:t>
            </a:r>
            <a:endParaRPr lang="en-US" sz="1200" dirty="0"/>
          </a:p>
        </p:txBody>
      </p:sp>
      <p:sp>
        <p:nvSpPr>
          <p:cNvPr id="30" name="R4_chip748"/>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her sister opened the cupboard – Charlie was there</a:t>
            </a:r>
            <a:endParaRPr lang="en-US" sz="900" dirty="0"/>
          </a:p>
        </p:txBody>
      </p:sp>
      <p:sp>
        <p:nvSpPr>
          <p:cNvPr id="31" name="gq_749"/>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How does Marilyn show she hasn't forgotten?</a:t>
            </a:r>
            <a:endParaRPr lang="en-US" sz="1200" dirty="0"/>
          </a:p>
        </p:txBody>
      </p:sp>
      <p:sp>
        <p:nvSpPr>
          <p:cNvPr id="32" name="R5_chip750"/>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she hides her sister's car keys or purse!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5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752"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753"/>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Now tell YOUR side!</a:t>
            </a:r>
            <a:endParaRPr lang="en-US" sz="2500" dirty="0"/>
          </a:p>
        </p:txBody>
      </p:sp>
      <p:pic>
        <p:nvPicPr>
          <p:cNvPr id="6" name="brP_754"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755"/>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Tell the story from the other side!</a:t>
            </a:r>
            <a:endParaRPr lang="en-US" sz="1250" dirty="0"/>
          </a:p>
        </p:txBody>
      </p:sp>
      <p:sp>
        <p:nvSpPr>
          <p:cNvPr id="8" name="insIT_75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Racconta la storia dall'altra parte!</a:t>
            </a:r>
            <a:endParaRPr lang="en-US" sz="950" dirty="0"/>
          </a:p>
        </p:txBody>
      </p:sp>
      <p:sp>
        <p:nvSpPr>
          <p:cNvPr id="9" name="cmd_757"/>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758"/>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759"/>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76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6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Speaking · retell the story   ·   📖 SB p.13 · 7d, 7e</a:t>
            </a:r>
            <a:endParaRPr lang="en-US" sz="800" dirty="0"/>
          </a:p>
        </p:txBody>
      </p:sp>
      <p:sp>
        <p:nvSpPr>
          <p:cNvPr id="14" name="pf_762"/>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763" descr="/home/claude/lls-course/v2/cache/spare_life_childhood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764"/>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765"/>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766"/>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767"/>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Why did you…?</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How did you feel?</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What happened next?</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was so angry / frightened!</a:t>
            </a:r>
            <a:endParaRPr lang="en-US" sz="1050" dirty="0"/>
          </a:p>
        </p:txBody>
      </p:sp>
      <p:sp>
        <p:nvSpPr>
          <p:cNvPr id="20" name="R1_qb768"/>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769"/>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You're James's twin brother. Tell your story.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have a twin brother called James, and we used to fight a lot…</a:t>
            </a:r>
            <a:endParaRPr lang="en-US" sz="1250" dirty="0"/>
          </a:p>
        </p:txBody>
      </p:sp>
      <p:sp>
        <p:nvSpPr>
          <p:cNvPr id="22" name="R2_qb770"/>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771"/>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B: You're Marilyn's sister. Tell your story.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little sister had a green parrot called Charlie. One day…</a:t>
            </a:r>
            <a:endParaRPr lang="en-US" sz="1250" dirty="0"/>
          </a:p>
        </p:txBody>
      </p:sp>
      <p:sp>
        <p:nvSpPr>
          <p:cNvPr id="24" name="R3_qb772"/>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773"/>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Who behaved worse? Why?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Marilyn's sister – she did it on purpose!</a:t>
            </a:r>
            <a:endParaRPr lang="en-US" sz="1250" dirty="0"/>
          </a:p>
        </p:txBody>
      </p:sp>
      <p:sp>
        <p:nvSpPr>
          <p:cNvPr id="26" name="R4_qb774"/>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775"/>
          <p:cNvSpPr/>
          <p:nvPr/>
        </p:nvSpPr>
        <p:spPr>
          <a:xfrm>
            <a:off x="3675888" y="3227832"/>
            <a:ext cx="45079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Did you (or a sibling or friend) ever behave badly as a child?</a:t>
            </a:r>
            <a:endParaRPr lang="en-US" sz="1000" dirty="0"/>
          </a:p>
          <a:p>
            <a:pPr indent="0" marL="0">
              <a:buNone/>
            </a:pPr>
            <a:r>
              <a:rPr lang="en-US" sz="800" i="1" dirty="0">
                <a:solidFill>
                  <a:srgbClr val="5B6785"/>
                </a:solidFill>
                <a:latin typeface="Segoe UI" pitchFamily="34" charset="0"/>
                <a:ea typeface="Segoe UI" pitchFamily="34" charset="-122"/>
                <a:cs typeface="Segoe UI" pitchFamily="34" charset="-120"/>
              </a:rPr>
              <a:t>e.g. Once I hid my brother's phone in the fridge!</a:t>
            </a:r>
            <a:endParaRPr lang="en-US" sz="1000" dirty="0"/>
          </a:p>
        </p:txBody>
      </p:sp>
      <p:pic>
        <p:nvPicPr>
          <p:cNvPr id="28" name="R4_th776" descr="/home/claude/lls-course/v2/cache/spare_1b2_arguments_jpg_154x119_18.png">    </p:cNvPr>
          <p:cNvPicPr>
            <a:picLocks noChangeAspect="1"/>
          </p:cNvPicPr>
          <p:nvPr/>
        </p:nvPicPr>
        <p:blipFill>
          <a:blip r:embed="rId6"/>
          <a:stretch>
            <a:fillRect/>
          </a:stretch>
        </p:blipFill>
        <p:spPr>
          <a:xfrm>
            <a:off x="8257032" y="3246120"/>
            <a:ext cx="640080" cy="493776"/>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7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77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77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780"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781"/>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78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783"/>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784"/>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78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78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Exit · what can you remember?</a:t>
            </a:r>
            <a:endParaRPr lang="en-US" sz="800" dirty="0"/>
          </a:p>
        </p:txBody>
      </p:sp>
      <p:sp>
        <p:nvSpPr>
          <p:cNvPr id="13" name="bd_787"/>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788"/>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personality adjectives – with their opposites</a:t>
            </a:r>
            <a:endParaRPr lang="en-US" sz="1400" dirty="0"/>
          </a:p>
        </p:txBody>
      </p:sp>
      <p:sp>
        <p:nvSpPr>
          <p:cNvPr id="15" name="bd_789"/>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790"/>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facts about the oldest or the only child</a:t>
            </a:r>
            <a:endParaRPr lang="en-US" sz="1400" dirty="0"/>
          </a:p>
        </p:txBody>
      </p:sp>
      <p:sp>
        <p:nvSpPr>
          <p:cNvPr id="17" name="bd_791"/>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792"/>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what did Marilyn's sister do?</a:t>
            </a:r>
            <a:endParaRPr lang="en-US" sz="1400" dirty="0"/>
          </a:p>
        </p:txBody>
      </p:sp>
      <p:sp>
        <p:nvSpPr>
          <p:cNvPr id="19" name="cd_793"/>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94"/>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95"/>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796"/>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1B: 1b, 1c, 1d, 1e</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Writing p.115: your email (task e)</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Vocabulary Bank p.153: test yourself</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1B-2 in the LLS app</a:t>
            </a:r>
            <a:endParaRPr lang="en-US" sz="1150" dirty="0"/>
          </a:p>
        </p:txBody>
      </p:sp>
      <p:sp>
        <p:nvSpPr>
          <p:cNvPr id="23" name="st_797"/>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Practical English 1 · Meeting the parents</a:t>
            </a:r>
            <a:endParaRPr lang="en-US" sz="1100" dirty="0"/>
          </a:p>
        </p:txBody>
      </p:sp>
    </p:spTree>
  </p:cSld>
  <p:clrMapOvr>
    <a:masterClrMapping/>
  </p:clrMapOvr>
  <p:transition spd="med">
    <p:push dir="l"/>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9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25</a:t>
            </a:r>
            <a:endParaRPr lang="en-US" sz="2200" dirty="0"/>
          </a:p>
        </p:txBody>
      </p:sp>
      <p:pic>
        <p:nvPicPr>
          <p:cNvPr id="4" name="brY_799"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800"/>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Personality Taboo</a:t>
            </a:r>
            <a:endParaRPr lang="en-US" sz="2500" dirty="0"/>
          </a:p>
        </p:txBody>
      </p:sp>
      <p:pic>
        <p:nvPicPr>
          <p:cNvPr id="6" name="brP_801"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802"/>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Describe the personality. Don't say it!</a:t>
            </a:r>
            <a:endParaRPr lang="en-US" sz="1250" dirty="0"/>
          </a:p>
        </p:txBody>
      </p:sp>
      <p:sp>
        <p:nvSpPr>
          <p:cNvPr id="8" name="insIT_80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Descrivi la personalità. Non dirla!</a:t>
            </a:r>
            <a:endParaRPr lang="en-US" sz="950" dirty="0"/>
          </a:p>
        </p:txBody>
      </p:sp>
      <p:sp>
        <p:nvSpPr>
          <p:cNvPr id="9" name="cmd_80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80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80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80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0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Extra game · Personality Taboo</a:t>
            </a:r>
            <a:endParaRPr lang="en-US" sz="800" dirty="0"/>
          </a:p>
        </p:txBody>
      </p:sp>
      <p:sp>
        <p:nvSpPr>
          <p:cNvPr id="14" name="st_809"/>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810"/>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81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812"/>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8" name="il_813"/>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The describer faces the screen. Others turn round.</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Describe a person like that. Don't say the ✗ word!</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Your team guesses. Correct = 1 point.</a:t>
            </a:r>
            <a:endParaRPr lang="en-US" sz="1150" dirty="0"/>
          </a:p>
        </p:txBody>
      </p:sp>
      <p:sp>
        <p:nvSpPr>
          <p:cNvPr id="19" name="pf_81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815" descr="/home/claude/lls-course/v2/cache/1b2_taboo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rl_816"/>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ROUND 1 · Team A</a:t>
            </a:r>
            <a:endParaRPr lang="en-US" sz="1100" dirty="0"/>
          </a:p>
        </p:txBody>
      </p:sp>
      <p:sp>
        <p:nvSpPr>
          <p:cNvPr id="22" name="R1_w817"/>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STUBBORN  ✗ opinion</a:t>
            </a:r>
            <a:endParaRPr lang="en-US" sz="1700" dirty="0"/>
          </a:p>
        </p:txBody>
      </p:sp>
      <p:sp>
        <p:nvSpPr>
          <p:cNvPr id="23" name="R2_w818"/>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BOSSY  ✗ tell</a:t>
            </a:r>
            <a:endParaRPr lang="en-US" sz="1700" dirty="0"/>
          </a:p>
        </p:txBody>
      </p:sp>
      <p:sp>
        <p:nvSpPr>
          <p:cNvPr id="24" name="R3_w819"/>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RELIABLE  ✗ trust</a:t>
            </a:r>
            <a:endParaRPr lang="en-US" sz="1700" dirty="0"/>
          </a:p>
        </p:txBody>
      </p:sp>
      <p:sp>
        <p:nvSpPr>
          <p:cNvPr id="25" name="R4_w820"/>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MOODY  ✗ happy</a:t>
            </a:r>
            <a:endParaRPr lang="en-US" sz="1700" dirty="0"/>
          </a:p>
        </p:txBody>
      </p:sp>
      <p:sp>
        <p:nvSpPr>
          <p:cNvPr id="26" name="rl_821"/>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ROUND 2 · Team B</a:t>
            </a:r>
            <a:endParaRPr lang="en-US" sz="1100" dirty="0"/>
          </a:p>
        </p:txBody>
      </p:sp>
      <p:sp>
        <p:nvSpPr>
          <p:cNvPr id="27" name="R5_w822"/>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SPOILT  ✗ everything</a:t>
            </a:r>
            <a:endParaRPr lang="en-US" sz="1700" dirty="0"/>
          </a:p>
        </p:txBody>
      </p:sp>
      <p:sp>
        <p:nvSpPr>
          <p:cNvPr id="28" name="R6_w823"/>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COMPETITIVE  ✗ win</a:t>
            </a:r>
            <a:endParaRPr lang="en-US" sz="1700" dirty="0"/>
          </a:p>
        </p:txBody>
      </p:sp>
      <p:sp>
        <p:nvSpPr>
          <p:cNvPr id="29" name="R7_w824"/>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AFFECTIONATE  ✗ love</a:t>
            </a:r>
            <a:endParaRPr lang="en-US" sz="1700" dirty="0"/>
          </a:p>
        </p:txBody>
      </p:sp>
      <p:sp>
        <p:nvSpPr>
          <p:cNvPr id="30" name="R8_w825"/>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SELFISH  ✗ himself</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26"/>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26</a:t>
            </a:r>
            <a:endParaRPr lang="en-US" sz="2200" dirty="0"/>
          </a:p>
        </p:txBody>
      </p:sp>
      <p:pic>
        <p:nvPicPr>
          <p:cNvPr id="4" name="brY_827"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828"/>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Sofia's email</a:t>
            </a:r>
            <a:endParaRPr lang="en-US" sz="2500" dirty="0"/>
          </a:p>
        </p:txBody>
      </p:sp>
      <p:pic>
        <p:nvPicPr>
          <p:cNvPr id="6" name="brP_829"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830"/>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emails on p.115. Answer!</a:t>
            </a:r>
            <a:endParaRPr lang="en-US" sz="1250" dirty="0"/>
          </a:p>
        </p:txBody>
      </p:sp>
      <p:sp>
        <p:nvSpPr>
          <p:cNvPr id="8" name="insIT_83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le email a p.115. Rispondi!</a:t>
            </a:r>
            <a:endParaRPr lang="en-US" sz="950" dirty="0"/>
          </a:p>
        </p:txBody>
      </p:sp>
      <p:sp>
        <p:nvSpPr>
          <p:cNvPr id="9" name="cmd_832"/>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83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83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Writing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8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1B-2 · Extra · Writing · a description of a person   ·   📖 SB p.13 · 8b · Writing p.115</a:t>
            </a:r>
            <a:endParaRPr lang="en-US" sz="800" dirty="0"/>
          </a:p>
        </p:txBody>
      </p:sp>
      <p:sp>
        <p:nvSpPr>
          <p:cNvPr id="14" name="st_837"/>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838"/>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83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840"/>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841"/>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au pair /əʊ ˈpeə/ → a young person who lives with a family and looks after the children</a:t>
            </a:r>
            <a:endParaRPr lang="en-US" sz="1050" dirty="0"/>
          </a:p>
        </p:txBody>
      </p:sp>
      <p:sp>
        <p:nvSpPr>
          <p:cNvPr id="19" name="pf_842"/>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843" descr="/home/claude/lls-course/v2/cache/1b2_oldest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844"/>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845"/>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Why did Angela write to Sofia?</a:t>
            </a:r>
            <a:endParaRPr lang="en-US" sz="1150" dirty="0"/>
          </a:p>
        </p:txBody>
      </p:sp>
      <p:sp>
        <p:nvSpPr>
          <p:cNvPr id="23" name="R1_chip846"/>
          <p:cNvSpPr/>
          <p:nvPr/>
        </p:nvSpPr>
        <p:spPr>
          <a:xfrm>
            <a:off x="5806440" y="141732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she's looking for an au pair – Kasia told her about Sofia</a:t>
            </a:r>
            <a:endParaRPr lang="en-US" sz="1000" dirty="0"/>
          </a:p>
        </p:txBody>
      </p:sp>
      <p:sp>
        <p:nvSpPr>
          <p:cNvPr id="24" name="bd_847"/>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848"/>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Correct Sofia's 5 spelling mistakes</a:t>
            </a:r>
            <a:endParaRPr lang="en-US" sz="1150" dirty="0"/>
          </a:p>
        </p:txBody>
      </p:sp>
      <p:sp>
        <p:nvSpPr>
          <p:cNvPr id="26" name="R2_chip849"/>
          <p:cNvSpPr/>
          <p:nvPr/>
        </p:nvSpPr>
        <p:spPr>
          <a:xfrm>
            <a:off x="5806440" y="192024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interested · responsible · forgetful · photography · independent</a:t>
            </a:r>
            <a:endParaRPr lang="en-US" sz="1000" dirty="0"/>
          </a:p>
        </p:txBody>
      </p:sp>
      <p:sp>
        <p:nvSpPr>
          <p:cNvPr id="27" name="bd_850"/>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851"/>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Which positive adjectives does Sofia use?</a:t>
            </a:r>
            <a:endParaRPr lang="en-US" sz="1050" dirty="0"/>
          </a:p>
        </p:txBody>
      </p:sp>
      <p:sp>
        <p:nvSpPr>
          <p:cNvPr id="29" name="R3_chip852"/>
          <p:cNvSpPr/>
          <p:nvPr/>
        </p:nvSpPr>
        <p:spPr>
          <a:xfrm>
            <a:off x="5806440" y="242316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intelligent, hard-working, mature, responsible, friendly, independent</a:t>
            </a:r>
            <a:endParaRPr lang="en-US" sz="1000" dirty="0"/>
          </a:p>
        </p:txBody>
      </p:sp>
      <p:sp>
        <p:nvSpPr>
          <p:cNvPr id="30" name="bd_853"/>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854"/>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What are her negative points?</a:t>
            </a:r>
            <a:endParaRPr lang="en-US" sz="1150" dirty="0"/>
          </a:p>
        </p:txBody>
      </p:sp>
      <p:sp>
        <p:nvSpPr>
          <p:cNvPr id="32" name="R4_chip855"/>
          <p:cNvSpPr/>
          <p:nvPr/>
        </p:nvSpPr>
        <p:spPr>
          <a:xfrm>
            <a:off x="5806440" y="292608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quite shy · a bit forgetful · her English isn't very good</a:t>
            </a:r>
            <a:endParaRPr lang="en-US" sz="1000" dirty="0"/>
          </a:p>
        </p:txBody>
      </p:sp>
      <p:sp>
        <p:nvSpPr>
          <p:cNvPr id="33" name="bd_856"/>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857"/>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Order: very positive → negative</a:t>
            </a:r>
            <a:endParaRPr lang="en-US" sz="1150" dirty="0"/>
          </a:p>
        </p:txBody>
      </p:sp>
      <p:sp>
        <p:nvSpPr>
          <p:cNvPr id="35" name="R5_chip858"/>
          <p:cNvSpPr/>
          <p:nvPr/>
        </p:nvSpPr>
        <p:spPr>
          <a:xfrm>
            <a:off x="5806440" y="342900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incredibly → really → very → quite → a bit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1B-2 Modern families</dc:title>
  <dc:subject>PptxGenJS Presentation</dc:subject>
  <dc:creator>PptxGenJS</dc:creator>
  <cp:lastModifiedBy>PptxGenJS</cp:lastModifiedBy>
  <cp:revision>1</cp:revision>
  <dcterms:created xsi:type="dcterms:W3CDTF">2026-10-11T16:12:33Z</dcterms:created>
  <dcterms:modified xsi:type="dcterms:W3CDTF">2026-10-11T16:12:33Z</dcterms:modified>
</cp:coreProperties>
</file>