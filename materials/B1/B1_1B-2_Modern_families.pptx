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ELICIT (2 min).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ONE click shows it all.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(3 min).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13–16)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13–16)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reasons A–H (2 min)
PRE-READING (2 min). Reasons A–H from SB 6d, shortened on the slide (the full book wording appears in the article on slides 13–16).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the oldest child (2 min)
READING FOR DETAIL (2 min). The article from SB p.12, one paragraph per slide (slides 13–16). Read the introduction together (shortened: the book adds 'that is, whether we're an oldest child, a middle child, a youngest child, or an only child'). Students read the paragraph and decide which reason (A–H, slide 12) goes in the gap. Gap 1 is the book's example: click to show H highlighted IN the text. EVIDENCE: 'Why are oldest children responsible?' (they look after younger brothers and sisters) · 'Why are they insecure?' (they lost some attention – maybe they felt rejected = rifiutati). Check slide 11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youngest child (2 min)
READING FOR DETAIL (2 min). Same procedure. Answers (TG): 4 B · 5 E. Drill rebellious /rɪˈbeljəs/, immature /ˌɪməˈtʃʊə/, discipline /ˈdɪsəplɪn/. Ask: 'Are you the youngest? Do you agree?!' (quick reactions only – the discussion is on slide 17).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only child (2 min)
READING FOR DETAIL (2 min). Same procedure. Answers (TG): 6 F · 7 D · 8 G. Now check slide 11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gist (3 min)
GIST (3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Speaking · retell the story (4 min)
SPEAKING (4 min). Questions one per click. 7d (2 min): pairs A and B retell the story from the OTHER person's point of view (the first example is the book's model opening). Monitor and help with vocabulary; 1–2 students tell the class. 7e (2 min): a time when they or a sibling / friend behaved badly as a child – only if they want to; a funny story is perfect. If you have a story, tell it first (TG). Then 1–2 minutes of delayed error correction: write 4–5 errors from slides 17 and 22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25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people's personality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make opposites: un-, dis-, im-…</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birth order and personality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two stories about brothers and sisters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modern families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family words · future forms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offer · promise · instant decision</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seeing Nonna on Sunday.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plan · arrangement · prediction</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27" name="w_41"/>
          <p:cNvSpPr/>
          <p:nvPr/>
        </p:nvSpPr>
        <p:spPr>
          <a:xfrm>
            <a:off x="4727448" y="417880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28" name="w_42"/>
          <p:cNvSpPr/>
          <p:nvPr/>
        </p:nvSpPr>
        <p:spPr>
          <a:xfrm>
            <a:off x="589788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half-sister</a:t>
            </a:r>
            <a:endParaRPr lang="en-US" sz="1050" dirty="0"/>
          </a:p>
        </p:txBody>
      </p:sp>
      <p:sp>
        <p:nvSpPr>
          <p:cNvPr id="29" name="w_43"/>
          <p:cNvSpPr/>
          <p:nvPr/>
        </p:nvSpPr>
        <p:spPr>
          <a:xfrm>
            <a:off x="7146036" y="4178808"/>
            <a:ext cx="164134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great-grandfather</a:t>
            </a:r>
            <a:endParaRPr lang="en-US" sz="1050" dirty="0"/>
          </a:p>
        </p:txBody>
      </p:sp>
      <p:sp>
        <p:nvSpPr>
          <p:cNvPr id="30" name="w_44"/>
          <p:cNvSpPr/>
          <p:nvPr/>
        </p:nvSpPr>
        <p:spPr>
          <a:xfrm>
            <a:off x="3246120" y="454456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1" name="w_45"/>
          <p:cNvSpPr/>
          <p:nvPr/>
        </p:nvSpPr>
        <p:spPr>
          <a:xfrm>
            <a:off x="4416552" y="454456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siblings</a:t>
            </a:r>
            <a:endParaRPr lang="en-US" sz="1050" dirty="0"/>
          </a:p>
        </p:txBody>
      </p:sp>
      <p:sp>
        <p:nvSpPr>
          <p:cNvPr id="32" name="w_46"/>
          <p:cNvSpPr/>
          <p:nvPr/>
        </p:nvSpPr>
        <p:spPr>
          <a:xfrm>
            <a:off x="5431536" y="4544568"/>
            <a:ext cx="140817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nephew / niece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1"/>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Warmer · last lesson   ·   📖 Recycles 1B part 1: family words, future forms</a:t>
            </a:r>
            <a:endParaRPr lang="en-US" sz="800" dirty="0"/>
          </a:p>
        </p:txBody>
      </p:sp>
      <p:sp>
        <p:nvSpPr>
          <p:cNvPr id="13" name="cd_5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 Find the mistake.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correct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fix = 1 point.</a:t>
            </a:r>
            <a:endParaRPr lang="en-US" sz="1150" dirty="0"/>
          </a:p>
        </p:txBody>
      </p:sp>
      <p:sp>
        <p:nvSpPr>
          <p:cNvPr id="17" name="pf_6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 descr="/home/claude/lls-course/v2/cache/spare_1b2_family_tre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brother-in-law</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great-grandfather</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an only child.</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l'aggettivo contrario.</a:t>
            </a:r>
            <a:endParaRPr lang="en-US" sz="950" dirty="0"/>
          </a:p>
        </p:txBody>
      </p:sp>
      <p:sp>
        <p:nvSpPr>
          <p:cNvPr id="9" name="cmd_87"/>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opposites   ·   📖 SB p.12 · 4a</a:t>
            </a:r>
            <a:endParaRPr lang="en-US" sz="800" dirty="0"/>
          </a:p>
        </p:txBody>
      </p:sp>
      <p:sp>
        <p:nvSpPr>
          <p:cNvPr id="13" name="cd_9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9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94"/>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tall ≠ sh___ → short</a:t>
            </a:r>
            <a:endParaRPr lang="en-US" sz="1050" dirty="0"/>
          </a:p>
        </p:txBody>
      </p:sp>
      <p:sp>
        <p:nvSpPr>
          <p:cNvPr id="17" name="pf_9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6" descr="/home/claude/lls-course/v2/cache/1b2_shy_sociab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9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9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1" name="R1_chip9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shy</a:t>
            </a:r>
            <a:endParaRPr lang="en-US" sz="1000" dirty="0"/>
          </a:p>
        </p:txBody>
      </p:sp>
      <p:sp>
        <p:nvSpPr>
          <p:cNvPr id="22" name="bd_10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0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4" name="R2_chip10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mean (tirchio)</a:t>
            </a:r>
            <a:endParaRPr lang="en-US" sz="1000" dirty="0"/>
          </a:p>
        </p:txBody>
      </p:sp>
      <p:sp>
        <p:nvSpPr>
          <p:cNvPr id="25" name="bd_10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0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7" name="R3_chip10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lazy</a:t>
            </a:r>
            <a:endParaRPr lang="en-US" sz="1000" dirty="0"/>
          </a:p>
        </p:txBody>
      </p:sp>
      <p:sp>
        <p:nvSpPr>
          <p:cNvPr id="28" name="bd_10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0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0" name="R4_chip10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quiet</a:t>
            </a:r>
            <a:endParaRPr lang="en-US" sz="1000" dirty="0"/>
          </a:p>
        </p:txBody>
      </p:sp>
      <p:sp>
        <p:nvSpPr>
          <p:cNvPr id="31" name="bd_10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1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3" name="R5_chip11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serious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1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1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1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l'aggettivo!</a:t>
            </a:r>
            <a:endParaRPr lang="en-US" sz="950" dirty="0"/>
          </a:p>
        </p:txBody>
      </p:sp>
      <p:sp>
        <p:nvSpPr>
          <p:cNvPr id="9" name="cmd_11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1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1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personality 1   ·   📖 SB p.12 · 4b · Vocabulary Bank Personality p.153 (audio 1.22)</a:t>
            </a:r>
            <a:endParaRPr lang="en-US" sz="800" dirty="0"/>
          </a:p>
        </p:txBody>
      </p:sp>
      <p:sp>
        <p:nvSpPr>
          <p:cNvPr id="13" name="cd_12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2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2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doesn't like obeying rules → rebellious</a:t>
            </a:r>
            <a:endParaRPr lang="en-US" sz="1050" dirty="0"/>
          </a:p>
        </p:txBody>
      </p:sp>
      <p:sp>
        <p:nvSpPr>
          <p:cNvPr id="17" name="pf_12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27" descr="/home/claude/lls-course/v2/cache/1b2_selfish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28"/>
          <p:cNvSpPr/>
          <p:nvPr/>
        </p:nvSpPr>
        <p:spPr>
          <a:xfrm>
            <a:off x="3246120" y="1403604"/>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29"/>
          <p:cNvSpPr/>
          <p:nvPr/>
        </p:nvSpPr>
        <p:spPr>
          <a:xfrm>
            <a:off x="3630168" y="1417320"/>
            <a:ext cx="2103120" cy="283464"/>
          </a:xfrm>
          <a:prstGeom prst="roundRect">
            <a:avLst>
              <a:gd name="adj" fmla="val 3225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1150" dirty="0"/>
          </a:p>
        </p:txBody>
      </p:sp>
      <p:sp>
        <p:nvSpPr>
          <p:cNvPr id="21" name="R1_chip130"/>
          <p:cNvSpPr/>
          <p:nvPr/>
        </p:nvSpPr>
        <p:spPr>
          <a:xfrm>
            <a:off x="5806440" y="1417320"/>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selfish</a:t>
            </a:r>
            <a:endParaRPr lang="en-US" sz="1000" dirty="0"/>
          </a:p>
        </p:txBody>
      </p:sp>
      <p:sp>
        <p:nvSpPr>
          <p:cNvPr id="22" name="bd_131"/>
          <p:cNvSpPr/>
          <p:nvPr/>
        </p:nvSpPr>
        <p:spPr>
          <a:xfrm>
            <a:off x="3246120" y="173278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32"/>
          <p:cNvSpPr/>
          <p:nvPr/>
        </p:nvSpPr>
        <p:spPr>
          <a:xfrm>
            <a:off x="3630168" y="1746504"/>
            <a:ext cx="2103120" cy="283464"/>
          </a:xfrm>
          <a:prstGeom prst="roundRect">
            <a:avLst>
              <a:gd name="adj" fmla="val 3225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gets everything he wants</a:t>
            </a:r>
            <a:endParaRPr lang="en-US" sz="1150" dirty="0"/>
          </a:p>
        </p:txBody>
      </p:sp>
      <p:sp>
        <p:nvSpPr>
          <p:cNvPr id="24" name="R2_chip133"/>
          <p:cNvSpPr/>
          <p:nvPr/>
        </p:nvSpPr>
        <p:spPr>
          <a:xfrm>
            <a:off x="5806440" y="1746504"/>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spoilt</a:t>
            </a:r>
            <a:endParaRPr lang="en-US" sz="1000" dirty="0"/>
          </a:p>
        </p:txBody>
      </p:sp>
      <p:sp>
        <p:nvSpPr>
          <p:cNvPr id="25" name="bd_134"/>
          <p:cNvSpPr/>
          <p:nvPr/>
        </p:nvSpPr>
        <p:spPr>
          <a:xfrm>
            <a:off x="3246120" y="206197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35"/>
          <p:cNvSpPr/>
          <p:nvPr/>
        </p:nvSpPr>
        <p:spPr>
          <a:xfrm>
            <a:off x="3630168" y="2075688"/>
            <a:ext cx="2103120" cy="283464"/>
          </a:xfrm>
          <a:prstGeom prst="roundRect">
            <a:avLst>
              <a:gd name="adj" fmla="val 3225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tells people what to do</a:t>
            </a:r>
            <a:endParaRPr lang="en-US" sz="1150" dirty="0"/>
          </a:p>
        </p:txBody>
      </p:sp>
      <p:sp>
        <p:nvSpPr>
          <p:cNvPr id="27" name="R3_chip136"/>
          <p:cNvSpPr/>
          <p:nvPr/>
        </p:nvSpPr>
        <p:spPr>
          <a:xfrm>
            <a:off x="5806440" y="2075688"/>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bossy</a:t>
            </a:r>
            <a:endParaRPr lang="en-US" sz="1000" dirty="0"/>
          </a:p>
        </p:txBody>
      </p:sp>
      <p:sp>
        <p:nvSpPr>
          <p:cNvPr id="28" name="bd_137"/>
          <p:cNvSpPr/>
          <p:nvPr/>
        </p:nvSpPr>
        <p:spPr>
          <a:xfrm>
            <a:off x="3246120" y="239115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38"/>
          <p:cNvSpPr/>
          <p:nvPr/>
        </p:nvSpPr>
        <p:spPr>
          <a:xfrm>
            <a:off x="3630168" y="2404872"/>
            <a:ext cx="2103120" cy="283464"/>
          </a:xfrm>
          <a:prstGeom prst="roundRect">
            <a:avLst>
              <a:gd name="adj" fmla="val 3225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1150" dirty="0"/>
          </a:p>
        </p:txBody>
      </p:sp>
      <p:sp>
        <p:nvSpPr>
          <p:cNvPr id="30" name="R4_chip139"/>
          <p:cNvSpPr/>
          <p:nvPr/>
        </p:nvSpPr>
        <p:spPr>
          <a:xfrm>
            <a:off x="5806440" y="2404872"/>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stubborn</a:t>
            </a:r>
            <a:endParaRPr lang="en-US" sz="1000" dirty="0"/>
          </a:p>
        </p:txBody>
      </p:sp>
      <p:sp>
        <p:nvSpPr>
          <p:cNvPr id="31" name="bd_140"/>
          <p:cNvSpPr/>
          <p:nvPr/>
        </p:nvSpPr>
        <p:spPr>
          <a:xfrm>
            <a:off x="3246120" y="2720340"/>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41"/>
          <p:cNvSpPr/>
          <p:nvPr/>
        </p:nvSpPr>
        <p:spPr>
          <a:xfrm>
            <a:off x="3630168" y="2734056"/>
            <a:ext cx="2103120" cy="283464"/>
          </a:xfrm>
          <a:prstGeom prst="roundRect">
            <a:avLst>
              <a:gd name="adj" fmla="val 3225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1150" dirty="0"/>
          </a:p>
        </p:txBody>
      </p:sp>
      <p:sp>
        <p:nvSpPr>
          <p:cNvPr id="33" name="R5_chip142"/>
          <p:cNvSpPr/>
          <p:nvPr/>
        </p:nvSpPr>
        <p:spPr>
          <a:xfrm>
            <a:off x="5806440" y="2734056"/>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moody</a:t>
            </a:r>
            <a:endParaRPr lang="en-US" sz="1000" dirty="0"/>
          </a:p>
        </p:txBody>
      </p:sp>
      <p:sp>
        <p:nvSpPr>
          <p:cNvPr id="34" name="bd_143"/>
          <p:cNvSpPr/>
          <p:nvPr/>
        </p:nvSpPr>
        <p:spPr>
          <a:xfrm>
            <a:off x="3246120" y="3049524"/>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44"/>
          <p:cNvSpPr/>
          <p:nvPr/>
        </p:nvSpPr>
        <p:spPr>
          <a:xfrm>
            <a:off x="3630168" y="3063240"/>
            <a:ext cx="2103120" cy="283464"/>
          </a:xfrm>
          <a:prstGeom prst="roundRect">
            <a:avLst>
              <a:gd name="adj" fmla="val 3225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always wants to win</a:t>
            </a:r>
            <a:endParaRPr lang="en-US" sz="1150" dirty="0"/>
          </a:p>
        </p:txBody>
      </p:sp>
      <p:sp>
        <p:nvSpPr>
          <p:cNvPr id="36" name="R6_chip145"/>
          <p:cNvSpPr/>
          <p:nvPr/>
        </p:nvSpPr>
        <p:spPr>
          <a:xfrm>
            <a:off x="5806440" y="3063240"/>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competitive</a:t>
            </a:r>
            <a:endParaRPr lang="en-US" sz="1000" dirty="0"/>
          </a:p>
        </p:txBody>
      </p:sp>
      <p:sp>
        <p:nvSpPr>
          <p:cNvPr id="37" name="bd_146"/>
          <p:cNvSpPr/>
          <p:nvPr/>
        </p:nvSpPr>
        <p:spPr>
          <a:xfrm>
            <a:off x="3246120" y="3378708"/>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147"/>
          <p:cNvSpPr/>
          <p:nvPr/>
        </p:nvSpPr>
        <p:spPr>
          <a:xfrm>
            <a:off x="3630168" y="3392424"/>
            <a:ext cx="2103120" cy="283464"/>
          </a:xfrm>
          <a:prstGeom prst="roundRect">
            <a:avLst>
              <a:gd name="adj" fmla="val 3225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1150" dirty="0"/>
          </a:p>
        </p:txBody>
      </p:sp>
      <p:sp>
        <p:nvSpPr>
          <p:cNvPr id="39" name="R7_chip148"/>
          <p:cNvSpPr/>
          <p:nvPr/>
        </p:nvSpPr>
        <p:spPr>
          <a:xfrm>
            <a:off x="5806440" y="3392424"/>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anxious /ˈæŋkʃəs/</a:t>
            </a:r>
            <a:endParaRPr lang="en-US" sz="1000" dirty="0"/>
          </a:p>
        </p:txBody>
      </p:sp>
      <p:sp>
        <p:nvSpPr>
          <p:cNvPr id="40" name="bd_149"/>
          <p:cNvSpPr/>
          <p:nvPr/>
        </p:nvSpPr>
        <p:spPr>
          <a:xfrm>
            <a:off x="3246120" y="37078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150"/>
          <p:cNvSpPr/>
          <p:nvPr/>
        </p:nvSpPr>
        <p:spPr>
          <a:xfrm>
            <a:off x="3630168" y="3721608"/>
            <a:ext cx="2103120" cy="283464"/>
          </a:xfrm>
          <a:prstGeom prst="roundRect">
            <a:avLst>
              <a:gd name="adj" fmla="val 3225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1150" dirty="0"/>
          </a:p>
        </p:txBody>
      </p:sp>
      <p:sp>
        <p:nvSpPr>
          <p:cNvPr id="42" name="R8_chip151"/>
          <p:cNvSpPr/>
          <p:nvPr/>
        </p:nvSpPr>
        <p:spPr>
          <a:xfrm>
            <a:off x="5806440" y="3721608"/>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insecure</a:t>
            </a:r>
            <a:endParaRPr lang="en-US" sz="1000" dirty="0"/>
          </a:p>
        </p:txBody>
      </p:sp>
      <p:sp>
        <p:nvSpPr>
          <p:cNvPr id="43" name="bd_152"/>
          <p:cNvSpPr/>
          <p:nvPr/>
        </p:nvSpPr>
        <p:spPr>
          <a:xfrm>
            <a:off x="3246120" y="403707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4" name="q_153"/>
          <p:cNvSpPr/>
          <p:nvPr/>
        </p:nvSpPr>
        <p:spPr>
          <a:xfrm>
            <a:off x="3630168" y="4050792"/>
            <a:ext cx="2103120" cy="283464"/>
          </a:xfrm>
          <a:prstGeom prst="roundRect">
            <a:avLst>
              <a:gd name="adj" fmla="val 3225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easily hurt or offended</a:t>
            </a:r>
            <a:endParaRPr lang="en-US" sz="1150" dirty="0"/>
          </a:p>
        </p:txBody>
      </p:sp>
      <p:sp>
        <p:nvSpPr>
          <p:cNvPr id="45" name="R9_chip154"/>
          <p:cNvSpPr/>
          <p:nvPr/>
        </p:nvSpPr>
        <p:spPr>
          <a:xfrm>
            <a:off x="5806440" y="4050792"/>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sensitive</a:t>
            </a:r>
            <a:endParaRPr lang="en-US" sz="1000" dirty="0"/>
          </a:p>
        </p:txBody>
      </p:sp>
      <p:sp>
        <p:nvSpPr>
          <p:cNvPr id="46" name="bd_155"/>
          <p:cNvSpPr/>
          <p:nvPr/>
        </p:nvSpPr>
        <p:spPr>
          <a:xfrm>
            <a:off x="3246120" y="4366260"/>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7" name="q_156"/>
          <p:cNvSpPr/>
          <p:nvPr/>
        </p:nvSpPr>
        <p:spPr>
          <a:xfrm>
            <a:off x="3630168" y="4379976"/>
            <a:ext cx="2103120" cy="283464"/>
          </a:xfrm>
          <a:prstGeom prst="roundRect">
            <a:avLst>
              <a:gd name="adj" fmla="val 3225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1150" dirty="0"/>
          </a:p>
        </p:txBody>
      </p:sp>
      <p:sp>
        <p:nvSpPr>
          <p:cNvPr id="48" name="R10_chip157"/>
          <p:cNvSpPr/>
          <p:nvPr/>
        </p:nvSpPr>
        <p:spPr>
          <a:xfrm>
            <a:off x="5806440" y="4379976"/>
            <a:ext cx="3063240" cy="283464"/>
          </a:xfrm>
          <a:prstGeom prst="roundRect">
            <a:avLst>
              <a:gd name="adj" fmla="val 3225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ambitious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8"/>
                                        </p:tgtEl>
                                        <p:attrNameLst>
                                          <p:attrName>style.visibility</p:attrName>
                                        </p:attrNameLst>
                                      </p:cBhvr>
                                      <p:to>
                                        <p:strVal val="visible"/>
                                      </p:to>
                                    </p:set>
                                    <p:animEffect transition="in" filter="fade">
                                      <p:cBhvr>
                                        <p:cTn id="52"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6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l'aggettivo. Poi ascolta.</a:t>
            </a:r>
            <a:endParaRPr lang="en-US" sz="950" dirty="0"/>
          </a:p>
        </p:txBody>
      </p:sp>
      <p:sp>
        <p:nvSpPr>
          <p:cNvPr id="9" name="cmd_16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6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6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personality 2   ·   📖 Vocabulary Bank Personality p.153 · audio 1.22</a:t>
            </a:r>
            <a:endParaRPr lang="en-US" sz="800" dirty="0"/>
          </a:p>
        </p:txBody>
      </p:sp>
      <p:sp>
        <p:nvSpPr>
          <p:cNvPr id="14" name="cd_16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70"/>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6" name="ln_171"/>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7" name="R1_lnA172"/>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ln_173"/>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19" name="R2_lnA174"/>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ln_175"/>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1" name="R3_lnA176"/>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ln_177"/>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3" name="R4_lnA178"/>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ln_179"/>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5" name="R5_lnA180"/>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ln_181"/>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7" name="R6_lnA182"/>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ln_183"/>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29" name="R7_lnA184"/>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ln_185"/>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1" name="R8_lnA186"/>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ln_187"/>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3" name="R9_lnA188"/>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ln_189"/>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5" name="R10_lnA190"/>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ap_191"/>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7" name="ah_19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3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39" name="pf_19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194" descr="/home/claude/lls-course/v2/cache/spare_life_personality_jpg_594x352_31.png">    </p:cNvPr>
          <p:cNvPicPr>
            <a:picLocks noChangeAspect="1"/>
          </p:cNvPicPr>
          <p:nvPr/>
        </p:nvPicPr>
        <p:blipFill>
          <a:blip r:embed="rId8"/>
          <a:stretch>
            <a:fillRect/>
          </a:stretch>
        </p:blipFill>
        <p:spPr>
          <a:xfrm rot="120000">
            <a:off x="6355080" y="2240280"/>
            <a:ext cx="2468880" cy="1463040"/>
          </a:xfrm>
          <a:prstGeom prst="rect">
            <a:avLst/>
          </a:prstGeom>
        </p:spPr>
      </p:pic>
      <p:sp>
        <p:nvSpPr>
          <p:cNvPr id="41" name="cd_19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ii_19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3" name="ih_19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4" name="il_198"/>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Positive or negative?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 affectionate = shows love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8"/>
                                        </p:tgtEl>
                                      </p:cBhvr>
                                    </p:cmd>
                                  </p:childTnLst>
                                </p:cTn>
                              </p:par>
                            </p:childTnLst>
                          </p:cTn>
                        </p:par>
                      </p:childTnLst>
                    </p:cTn>
                  </p:par>
                </p:childTnLst>
              </p:cTn>
              <p:nextCondLst>
                <p:cond evt="onClick" delay="0">
                  <p:tgtEl>
                    <p:spTgt spid="38"/>
                  </p:tgtEl>
                </p:cond>
              </p:nextCondLst>
            </p:seq>
            <p:audio>
              <p:cMediaNode vol="80000">
                <p:cTn id="58" fill="hold" display="0">
                  <p:stCondLst>
                    <p:cond delay="indefinite"/>
                  </p:stCondLst>
                  <p:endCondLst>
                    <p:cond evt="onStopAudio" delay="0">
                      <p:tgtEl>
                        <p:sldTgt/>
                      </p:tgtEl>
                    </p:cond>
                  </p:endCondLst>
                </p:cTn>
                <p:tgtEl>
                  <p:spTgt spid="3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0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0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in Italian</a:t>
            </a:r>
            <a:endParaRPr lang="en-US" sz="800" dirty="0"/>
          </a:p>
        </p:txBody>
      </p:sp>
      <p:sp>
        <p:nvSpPr>
          <p:cNvPr id="13" name="cd_209"/>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1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1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6" name="R1_it21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7" name="cd_213"/>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21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21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0" name="R1_it21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1" name="cd_217"/>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21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21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4" name="R1_it22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prepotente, autoritario</a:t>
            </a:r>
            <a:endParaRPr lang="en-US" sz="1000" dirty="0"/>
          </a:p>
        </p:txBody>
      </p:sp>
      <p:sp>
        <p:nvSpPr>
          <p:cNvPr id="25" name="cd_221"/>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22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22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8" name="R1_it22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29" name="cd_225"/>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22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22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2" name="R1_it22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3" name="cd_229"/>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23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23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6" name="R1_it23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7" name="cd_233"/>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23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23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0" name="R1_it23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1" name="cd_237"/>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23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23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4" name="R1_it24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5" name="cd_241"/>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24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24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8" name="R1_it24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1000" dirty="0"/>
          </a:p>
        </p:txBody>
      </p:sp>
      <p:sp>
        <p:nvSpPr>
          <p:cNvPr id="49" name="cd_245"/>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24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24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2" name="R1_it24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sensibile, permaloso</a:t>
            </a:r>
            <a:endParaRPr lang="en-US" sz="1000" dirty="0"/>
          </a:p>
        </p:txBody>
      </p:sp>
      <p:sp>
        <p:nvSpPr>
          <p:cNvPr id="53" name="cd_249"/>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25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25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6" name="R1_it25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7" name="cd_253"/>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25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25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0" name="R1_it25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1" name="R1_wc25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25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6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6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situazione. Di' l'aggettivo!</a:t>
            </a:r>
            <a:endParaRPr lang="en-US" sz="950" dirty="0"/>
          </a:p>
        </p:txBody>
      </p:sp>
      <p:sp>
        <p:nvSpPr>
          <p:cNvPr id="9" name="cmd_26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26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game</a:t>
            </a:r>
            <a:endParaRPr lang="en-US" sz="800" dirty="0"/>
          </a:p>
        </p:txBody>
      </p:sp>
      <p:sp>
        <p:nvSpPr>
          <p:cNvPr id="13" name="cd_26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7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27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situation.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adjective in 5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adjective = 1 point.</a:t>
            </a:r>
            <a:endParaRPr lang="en-US" sz="1150" dirty="0"/>
          </a:p>
        </p:txBody>
      </p:sp>
      <p:sp>
        <p:nvSpPr>
          <p:cNvPr id="17" name="pf_27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274"/>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1b2-stubborn.jpg</a:t>
            </a:r>
            <a:endParaRPr lang="en-US" sz="900" dirty="0"/>
          </a:p>
        </p:txBody>
      </p:sp>
      <p:sp>
        <p:nvSpPr>
          <p:cNvPr id="19" name="bd_27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27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1" name="R1_chip27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stubborn</a:t>
            </a:r>
            <a:endParaRPr lang="en-US" sz="1100" dirty="0"/>
          </a:p>
        </p:txBody>
      </p:sp>
      <p:sp>
        <p:nvSpPr>
          <p:cNvPr id="22" name="bd_27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27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100" dirty="0"/>
          </a:p>
        </p:txBody>
      </p:sp>
      <p:sp>
        <p:nvSpPr>
          <p:cNvPr id="24" name="R2_chip28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bossy</a:t>
            </a:r>
            <a:endParaRPr lang="en-US" sz="1100" dirty="0"/>
          </a:p>
        </p:txBody>
      </p:sp>
      <p:sp>
        <p:nvSpPr>
          <p:cNvPr id="25" name="bd_28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28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100" dirty="0"/>
          </a:p>
        </p:txBody>
      </p:sp>
      <p:sp>
        <p:nvSpPr>
          <p:cNvPr id="27" name="R3_chip28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moody</a:t>
            </a:r>
            <a:endParaRPr lang="en-US" sz="1100" dirty="0"/>
          </a:p>
        </p:txBody>
      </p:sp>
      <p:sp>
        <p:nvSpPr>
          <p:cNvPr id="28" name="bd_28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28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100" dirty="0"/>
          </a:p>
        </p:txBody>
      </p:sp>
      <p:sp>
        <p:nvSpPr>
          <p:cNvPr id="30" name="R4_chip28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spoilt</a:t>
            </a:r>
            <a:endParaRPr lang="en-US" sz="1100" dirty="0"/>
          </a:p>
        </p:txBody>
      </p:sp>
      <p:sp>
        <p:nvSpPr>
          <p:cNvPr id="31" name="bd_28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28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100" dirty="0"/>
          </a:p>
        </p:txBody>
      </p:sp>
      <p:sp>
        <p:nvSpPr>
          <p:cNvPr id="33" name="R5_chip28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competitive</a:t>
            </a:r>
            <a:endParaRPr lang="en-US" sz="1100" dirty="0"/>
          </a:p>
        </p:txBody>
      </p:sp>
      <p:sp>
        <p:nvSpPr>
          <p:cNvPr id="34" name="bd_29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29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100" dirty="0"/>
          </a:p>
        </p:txBody>
      </p:sp>
      <p:sp>
        <p:nvSpPr>
          <p:cNvPr id="36" name="R6_chip29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 / honest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95"/>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9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prefisso forma il contrario?</a:t>
            </a:r>
            <a:endParaRPr lang="en-US" sz="950" dirty="0"/>
          </a:p>
        </p:txBody>
      </p:sp>
      <p:sp>
        <p:nvSpPr>
          <p:cNvPr id="9"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negative prefixes   ·   📖 Vocabulary Bank Personality p.153 · 2 Negative prefixes · audio 1.23</a:t>
            </a:r>
            <a:endParaRPr lang="en-US" sz="800" dirty="0"/>
          </a:p>
        </p:txBody>
      </p:sp>
      <p:sp>
        <p:nvSpPr>
          <p:cNvPr id="13" name="cd_303"/>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306"/>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ap_307"/>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8" name="aw_308"/>
          <p:cNvSpPr/>
          <p:nvPr/>
        </p:nvSpPr>
        <p:spPr>
          <a:xfrm>
            <a:off x="365760" y="4270248"/>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9" name="lg_30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0" name="lg_31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1" name="lg_311"/>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2" name="lg_312"/>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3" name="lg_313"/>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4" name="sq_314"/>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5" name="R1_tag315"/>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6" name="sq_316"/>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27" name="R2_tag317"/>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28" name="sq_318"/>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29" name="R3_tag319"/>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0" name="sq_320"/>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1" name="R4_tag321"/>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2" name="sq_322"/>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3" name="R5_tag323"/>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4" name="sq_324"/>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5" name="R6_tag325"/>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6" name="sq_326"/>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37" name="R7_tag327"/>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8" name="sq_328"/>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39" name="R8_tag329"/>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40" name="pf_330"/>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1" name="phx_331"/>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1b2-untidy.jpg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3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3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3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3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3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Parola vera o falsa? Veloci!</a:t>
            </a:r>
            <a:endParaRPr lang="en-US" sz="950" dirty="0"/>
          </a:p>
        </p:txBody>
      </p:sp>
      <p:sp>
        <p:nvSpPr>
          <p:cNvPr id="9" name="cmd_33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33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3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game · prefixes</a:t>
            </a:r>
            <a:endParaRPr lang="en-US" sz="800" dirty="0"/>
          </a:p>
        </p:txBody>
      </p:sp>
      <p:sp>
        <p:nvSpPr>
          <p:cNvPr id="13" name="cd_34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4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34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word.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REAL or FAKE? Fix the fakes!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answer = 1 point. Fix = +1.</a:t>
            </a:r>
            <a:endParaRPr lang="en-US" sz="1150" dirty="0"/>
          </a:p>
        </p:txBody>
      </p:sp>
      <p:sp>
        <p:nvSpPr>
          <p:cNvPr id="17" name="st_346"/>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34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34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unpatient</a:t>
            </a:r>
            <a:endParaRPr lang="en-US" sz="1100" dirty="0"/>
          </a:p>
        </p:txBody>
      </p:sp>
      <p:sp>
        <p:nvSpPr>
          <p:cNvPr id="20" name="R1_chip34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impatient</a:t>
            </a:r>
            <a:endParaRPr lang="en-US" sz="1100" dirty="0"/>
          </a:p>
        </p:txBody>
      </p:sp>
      <p:sp>
        <p:nvSpPr>
          <p:cNvPr id="21" name="bd_35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35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unkind</a:t>
            </a:r>
            <a:endParaRPr lang="en-US" sz="1100" dirty="0"/>
          </a:p>
        </p:txBody>
      </p:sp>
      <p:sp>
        <p:nvSpPr>
          <p:cNvPr id="23" name="R2_chip35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24" name="bd_35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35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inhonest</a:t>
            </a:r>
            <a:endParaRPr lang="en-US" sz="1100" dirty="0"/>
          </a:p>
        </p:txBody>
      </p:sp>
      <p:sp>
        <p:nvSpPr>
          <p:cNvPr id="26" name="R3_chip35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dishonest</a:t>
            </a:r>
            <a:endParaRPr lang="en-US" sz="1100" dirty="0"/>
          </a:p>
        </p:txBody>
      </p:sp>
      <p:sp>
        <p:nvSpPr>
          <p:cNvPr id="27" name="bd_35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35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irresponsible</a:t>
            </a:r>
            <a:endParaRPr lang="en-US" sz="1100" dirty="0"/>
          </a:p>
        </p:txBody>
      </p:sp>
      <p:sp>
        <p:nvSpPr>
          <p:cNvPr id="29" name="R4_chip35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30" name="bd_35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36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disreliable</a:t>
            </a:r>
            <a:endParaRPr lang="en-US" sz="1100" dirty="0"/>
          </a:p>
        </p:txBody>
      </p:sp>
      <p:sp>
        <p:nvSpPr>
          <p:cNvPr id="32" name="R5_chip36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unreliable</a:t>
            </a:r>
            <a:endParaRPr lang="en-US" sz="1100" dirty="0"/>
          </a:p>
        </p:txBody>
      </p:sp>
      <p:sp>
        <p:nvSpPr>
          <p:cNvPr id="33" name="bd_36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36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unselfish</a:t>
            </a:r>
            <a:endParaRPr lang="en-US" sz="1100" dirty="0"/>
          </a:p>
        </p:txBody>
      </p:sp>
      <p:sp>
        <p:nvSpPr>
          <p:cNvPr id="35" name="R6_chip36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 (a positive word!)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6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l'accento. Poi ascolta.</a:t>
            </a:r>
            <a:endParaRPr lang="en-US" sz="950" dirty="0"/>
          </a:p>
        </p:txBody>
      </p:sp>
      <p:sp>
        <p:nvSpPr>
          <p:cNvPr id="9" name="cmd_37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72"/>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37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Pronunciation · word stress   ·   📖 SB p.12 · 5a, 5b · audio 1.24</a:t>
            </a:r>
            <a:endParaRPr lang="en-US" sz="800" dirty="0"/>
          </a:p>
        </p:txBody>
      </p:sp>
      <p:sp>
        <p:nvSpPr>
          <p:cNvPr id="14" name="ap_37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5" name="ah_37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7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79" descr="/home/claude/lls-course/v2/cache/spare_life_teenage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8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8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8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8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8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4" name="R1_chip38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5" name="gq_38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6" name="R2_chip38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7" name="gq_38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8" name="R3_chip38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9" name="gq_39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0" name="R4_chip39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1" name="gq_39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2" name="R5_chip39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3" name="gq_39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4" name="R6_chip39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5" name="gq_39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6" name="R7_chip39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7" name="gq_39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38" name="R8_chip39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0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0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03"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04"/>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figlio? Indovina!</a:t>
            </a:r>
            <a:endParaRPr lang="en-US" sz="950" dirty="0"/>
          </a:p>
        </p:txBody>
      </p:sp>
      <p:sp>
        <p:nvSpPr>
          <p:cNvPr id="9" name="cmd_40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0" name="meta_40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prediction   ·   📖 SB p.12 · 6a, 6b, 6c</a:t>
            </a:r>
            <a:endParaRPr lang="en-US" sz="800" dirty="0"/>
          </a:p>
        </p:txBody>
      </p:sp>
      <p:sp>
        <p:nvSpPr>
          <p:cNvPr id="13" name="cd_41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1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1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413"/>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oldest · middle · youngest · only child</a:t>
            </a:r>
            <a:endParaRPr lang="en-US" sz="1050" dirty="0"/>
          </a:p>
        </p:txBody>
      </p:sp>
      <p:sp>
        <p:nvSpPr>
          <p:cNvPr id="17" name="pf_41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15" descr="/home/claude/lls-course/v2/cache/1b2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416"/>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417"/>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1150" dirty="0"/>
          </a:p>
        </p:txBody>
      </p:sp>
      <p:sp>
        <p:nvSpPr>
          <p:cNvPr id="21" name="R1_chip418"/>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22" name="bd_419"/>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420"/>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1150" dirty="0"/>
          </a:p>
        </p:txBody>
      </p:sp>
      <p:sp>
        <p:nvSpPr>
          <p:cNvPr id="24" name="R2_chip421"/>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25" name="bd_422"/>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423"/>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1150" dirty="0"/>
          </a:p>
        </p:txBody>
      </p:sp>
      <p:sp>
        <p:nvSpPr>
          <p:cNvPr id="27" name="R3_chip424"/>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
        <p:nvSpPr>
          <p:cNvPr id="28" name="bd_425"/>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426"/>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1150" dirty="0"/>
          </a:p>
        </p:txBody>
      </p:sp>
      <p:sp>
        <p:nvSpPr>
          <p:cNvPr id="30" name="R4_chip427"/>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1" name="bd_428"/>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429"/>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They make good leaders.</a:t>
            </a:r>
            <a:endParaRPr lang="en-US" sz="1150" dirty="0"/>
          </a:p>
        </p:txBody>
      </p:sp>
      <p:sp>
        <p:nvSpPr>
          <p:cNvPr id="33" name="R5_chip430"/>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34" name="bd_431"/>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432"/>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1150" dirty="0"/>
          </a:p>
        </p:txBody>
      </p:sp>
      <p:sp>
        <p:nvSpPr>
          <p:cNvPr id="36" name="R6_chip433"/>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7" name="bd_434"/>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435"/>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1150" dirty="0"/>
          </a:p>
        </p:txBody>
      </p:sp>
      <p:sp>
        <p:nvSpPr>
          <p:cNvPr id="39" name="R7_chip436"/>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40" name="bd_437"/>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438"/>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1150" dirty="0"/>
          </a:p>
        </p:txBody>
      </p:sp>
      <p:sp>
        <p:nvSpPr>
          <p:cNvPr id="42" name="R8_chip439"/>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4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4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4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4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Quale figlio?</a:t>
            </a:r>
            <a:endParaRPr lang="en-US" sz="950" dirty="0"/>
          </a:p>
        </p:txBody>
      </p:sp>
      <p:sp>
        <p:nvSpPr>
          <p:cNvPr id="9" name="cmd_44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44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44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4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reasons A–H   ·   📖 SB p.12 · 6d (reasons A–H)</a:t>
            </a:r>
            <a:endParaRPr lang="en-US" sz="800" dirty="0"/>
          </a:p>
        </p:txBody>
      </p:sp>
      <p:sp>
        <p:nvSpPr>
          <p:cNvPr id="14" name="cd_45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5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55"/>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9" name="lg_456"/>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0" name="lg_457"/>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1" name="lg_458"/>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2" name="sq_459"/>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200" dirty="0"/>
          </a:p>
        </p:txBody>
      </p:sp>
      <p:sp>
        <p:nvSpPr>
          <p:cNvPr id="23" name="R1_tag460"/>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4" name="sq_461"/>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200" dirty="0"/>
          </a:p>
        </p:txBody>
      </p:sp>
      <p:sp>
        <p:nvSpPr>
          <p:cNvPr id="25" name="R2_tag462"/>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6" name="sq_463"/>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200" dirty="0"/>
          </a:p>
        </p:txBody>
      </p:sp>
      <p:sp>
        <p:nvSpPr>
          <p:cNvPr id="27" name="R3_tag464"/>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8" name="sq_465"/>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200" dirty="0"/>
          </a:p>
        </p:txBody>
      </p:sp>
      <p:sp>
        <p:nvSpPr>
          <p:cNvPr id="29" name="R4_tag466"/>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0" name="sq_467"/>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200" dirty="0"/>
          </a:p>
        </p:txBody>
      </p:sp>
      <p:sp>
        <p:nvSpPr>
          <p:cNvPr id="31" name="R5_tag468"/>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2" name="sq_469"/>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200" dirty="0"/>
          </a:p>
        </p:txBody>
      </p:sp>
      <p:sp>
        <p:nvSpPr>
          <p:cNvPr id="33" name="R6_tag470"/>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4" name="sq_471"/>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200" dirty="0"/>
          </a:p>
        </p:txBody>
      </p:sp>
      <p:sp>
        <p:nvSpPr>
          <p:cNvPr id="35" name="R7_tag472"/>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6" name="sq_473"/>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200" dirty="0"/>
          </a:p>
        </p:txBody>
      </p:sp>
      <p:sp>
        <p:nvSpPr>
          <p:cNvPr id="37" name="R8_tag474"/>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8" name="pf_475"/>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476" descr="/home/claude/lls-course/v2/cache/spare_1b2_rule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7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47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48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8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4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motivo va nello spazio 1?</a:t>
            </a:r>
            <a:endParaRPr lang="en-US" sz="950" dirty="0"/>
          </a:p>
        </p:txBody>
      </p:sp>
      <p:sp>
        <p:nvSpPr>
          <p:cNvPr id="9" name="cmd_483"/>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48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oldest child   ·   📖 SB p.12 · 6c, 6d · article (intro shortened)</a:t>
            </a:r>
            <a:endParaRPr lang="en-US" sz="800" dirty="0"/>
          </a:p>
        </p:txBody>
      </p:sp>
      <p:sp>
        <p:nvSpPr>
          <p:cNvPr id="13" name="cd_48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488"/>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5" name="ln_48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6" name="ln_49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7" name="ln_49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8" name="ln_49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1_lnA49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pf_49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495"/>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1b2-oldest.jpg</a:t>
            </a:r>
            <a:endParaRPr lang="en-US" sz="900" dirty="0"/>
          </a:p>
        </p:txBody>
      </p:sp>
      <p:sp>
        <p:nvSpPr>
          <p:cNvPr id="22" name="cd_49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9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9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499"/>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tend to = di solito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leaders = capi, guide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02"/>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2–3?</a:t>
            </a:r>
            <a:endParaRPr lang="en-US" sz="950" dirty="0"/>
          </a:p>
        </p:txBody>
      </p:sp>
      <p:sp>
        <p:nvSpPr>
          <p:cNvPr id="9" name="cmd_50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50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middle child   ·   📖 SB p.12 · 6d · article</a:t>
            </a:r>
            <a:endParaRPr lang="en-US" sz="800" dirty="0"/>
          </a:p>
        </p:txBody>
      </p:sp>
      <p:sp>
        <p:nvSpPr>
          <p:cNvPr id="13" name="cd_51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51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5" name="ln_51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6" name="R1_lnA51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ln_51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8" name="ln_51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R2_lnA51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ln_51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1" name="ln_518"/>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2" name="pf_51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20" descr="/home/claude/lls-course/v2/cache/1b2_middle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4" name="cd_52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52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2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2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sympathetic = comprensivo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sort out = risolvere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6"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7"/>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2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4–5?</a:t>
            </a:r>
            <a:endParaRPr lang="en-US" sz="950" dirty="0"/>
          </a:p>
        </p:txBody>
      </p:sp>
      <p:sp>
        <p:nvSpPr>
          <p:cNvPr id="9" name="cmd_53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53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5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youngest child   ·   📖 SB p.12 · 6d · article</a:t>
            </a:r>
            <a:endParaRPr lang="en-US" sz="800" dirty="0"/>
          </a:p>
        </p:txBody>
      </p:sp>
      <p:sp>
        <p:nvSpPr>
          <p:cNvPr id="13" name="cd_53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536"/>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5" name="ln_53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6" name="ln_53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3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4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R2_lnA54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pf_542"/>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43" descr="/home/claude/lls-course/v2/cache/1b2_younges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2" name="cd_54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4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4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547"/>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discipline = regole, disciplina</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depend on = dipendere da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5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5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5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6–8?</a:t>
            </a:r>
            <a:endParaRPr lang="en-US" sz="950" dirty="0"/>
          </a:p>
        </p:txBody>
      </p:sp>
      <p:sp>
        <p:nvSpPr>
          <p:cNvPr id="9" name="cmd_55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5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only child   ·   📖 SB p.12 · 6d · article</a:t>
            </a:r>
            <a:endParaRPr lang="en-US" sz="800" dirty="0"/>
          </a:p>
        </p:txBody>
      </p:sp>
      <p:sp>
        <p:nvSpPr>
          <p:cNvPr id="13" name="cd_55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559"/>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5" name="ln_56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6" name="ln_56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7" name="ln_56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8" name="R1_lnA56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ln_56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0" name="R2_lnA56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ln_56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2" name="R3_lnA56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pf_56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69"/>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1b2-only-child.jpg</a:t>
            </a:r>
            <a:endParaRPr lang="en-US" sz="900" dirty="0"/>
          </a:p>
        </p:txBody>
      </p:sp>
      <p:sp>
        <p:nvSpPr>
          <p:cNvPr id="25" name="cd_5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73"/>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by themselves = da soli</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things go wrong = vanno male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57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7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5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È vero per te? Di' perché.</a:t>
            </a:r>
            <a:endParaRPr lang="en-US" sz="950" dirty="0"/>
          </a:p>
        </p:txBody>
      </p:sp>
      <p:sp>
        <p:nvSpPr>
          <p:cNvPr id="9" name="cmd_580"/>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8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5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birth order   ·   📖 SB p.12 · 6e</a:t>
            </a:r>
            <a:endParaRPr lang="en-US" sz="800" dirty="0"/>
          </a:p>
        </p:txBody>
      </p:sp>
      <p:sp>
        <p:nvSpPr>
          <p:cNvPr id="13" name="pf_58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85" descr="/home/claude/lls-course/v2/cache/spare_1b2_sh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8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8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8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89"/>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That's true for me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Not really – I'm quite…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My brother is a typical…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rather not say.</a:t>
            </a:r>
            <a:endParaRPr lang="en-US" sz="1050" dirty="0"/>
          </a:p>
        </p:txBody>
      </p:sp>
      <p:sp>
        <p:nvSpPr>
          <p:cNvPr id="19" name="R1_qb59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9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I'm the oldest and I'm quite responsible.</a:t>
            </a:r>
            <a:endParaRPr lang="en-US" sz="1250" dirty="0"/>
          </a:p>
        </p:txBody>
      </p:sp>
      <p:sp>
        <p:nvSpPr>
          <p:cNvPr id="21" name="R2_qb59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9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sister is the baby of the family – she's so charming!</a:t>
            </a:r>
            <a:endParaRPr lang="en-US" sz="1250" dirty="0"/>
          </a:p>
        </p:txBody>
      </p:sp>
      <p:sp>
        <p:nvSpPr>
          <p:cNvPr id="23" name="R3_qb59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9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so. Friends and school are important too.</a:t>
            </a:r>
            <a:endParaRPr lang="en-US" sz="1250" dirty="0"/>
          </a:p>
        </p:txBody>
      </p:sp>
      <p:sp>
        <p:nvSpPr>
          <p:cNvPr id="25" name="R4_qb59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97"/>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only child – you get all the attention!</a:t>
            </a:r>
            <a:endParaRPr lang="en-US" sz="1250" dirty="0"/>
          </a:p>
        </p:txBody>
      </p:sp>
      <p:pic>
        <p:nvPicPr>
          <p:cNvPr id="27" name="R4_th598"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8" name="R5_qb59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00"/>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nonno – he never changes his mind!</a:t>
            </a:r>
            <a:endParaRPr lang="en-US" sz="1250" dirty="0"/>
          </a:p>
        </p:txBody>
      </p:sp>
      <p:pic>
        <p:nvPicPr>
          <p:cNvPr id="30" name="R5_th601"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0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0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60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60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6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key words first   ·   📖 SB p.13 · 7a (words from the stories)</a:t>
            </a:r>
            <a:endParaRPr lang="en-US" sz="800" dirty="0"/>
          </a:p>
        </p:txBody>
      </p:sp>
      <p:sp>
        <p:nvSpPr>
          <p:cNvPr id="13" name="cd_61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1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1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61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twin → born on the same day as your brother or sister · gemello</a:t>
            </a:r>
            <a:endParaRPr lang="en-US" sz="1050" dirty="0"/>
          </a:p>
        </p:txBody>
      </p:sp>
      <p:sp>
        <p:nvSpPr>
          <p:cNvPr id="17" name="pf_61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17" descr="/home/claude/lls-course/v2/cache/spare_life_childhoo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618"/>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619"/>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1" name="R1_chip620"/>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1000" dirty="0"/>
          </a:p>
        </p:txBody>
      </p:sp>
      <p:sp>
        <p:nvSpPr>
          <p:cNvPr id="22" name="bd_621"/>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622"/>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4" name="R2_chip623"/>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1000" dirty="0"/>
          </a:p>
        </p:txBody>
      </p:sp>
      <p:sp>
        <p:nvSpPr>
          <p:cNvPr id="25" name="bd_624"/>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625"/>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7" name="R3_chip626"/>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very shocked · inorridito</a:t>
            </a:r>
            <a:endParaRPr lang="en-US" sz="1000" dirty="0"/>
          </a:p>
        </p:txBody>
      </p:sp>
      <p:sp>
        <p:nvSpPr>
          <p:cNvPr id="28" name="bd_627"/>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628"/>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0" name="R4_chip629"/>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1000" dirty="0"/>
          </a:p>
        </p:txBody>
      </p:sp>
      <p:sp>
        <p:nvSpPr>
          <p:cNvPr id="31" name="bd_630"/>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631"/>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3" name="R5_chip632"/>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1000" dirty="0"/>
          </a:p>
        </p:txBody>
      </p:sp>
      <p:sp>
        <p:nvSpPr>
          <p:cNvPr id="34" name="bd_633"/>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634"/>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6" name="R6_chip635"/>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1000" dirty="0"/>
          </a:p>
        </p:txBody>
      </p:sp>
      <p:sp>
        <p:nvSpPr>
          <p:cNvPr id="37" name="bd_636"/>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637"/>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39" name="R7_chip638"/>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1000" dirty="0"/>
          </a:p>
        </p:txBody>
      </p:sp>
      <p:sp>
        <p:nvSpPr>
          <p:cNvPr id="40" name="bd_639"/>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640"/>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2" name="R8_chip641"/>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furniture with doors for keeping things · armadio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4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4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Le tue previsioni erano giuste?</a:t>
            </a:r>
            <a:endParaRPr lang="en-US" sz="950" dirty="0"/>
          </a:p>
        </p:txBody>
      </p:sp>
      <p:sp>
        <p:nvSpPr>
          <p:cNvPr id="9" name="cmd_64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64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6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gist   ·   📖 SB p.13 · 7b · audio 1.25</a:t>
            </a:r>
            <a:endParaRPr lang="en-US" sz="800" dirty="0"/>
          </a:p>
        </p:txBody>
      </p:sp>
      <p:sp>
        <p:nvSpPr>
          <p:cNvPr id="13" name="ap_65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4" name="aw_653"/>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5" name="pf_65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65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1b2-twins-finger.jpg</a:t>
            </a:r>
            <a:endParaRPr lang="en-US" sz="900" dirty="0"/>
          </a:p>
        </p:txBody>
      </p:sp>
      <p:sp>
        <p:nvSpPr>
          <p:cNvPr id="17" name="bd_65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65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8" descr="/home/claude/lls-course/v2/cache/1b2_parrot_jpg_407x297_31.png">    </p:cNvPr>
          <p:cNvPicPr>
            <a:picLocks noChangeAspect="1"/>
          </p:cNvPicPr>
          <p:nvPr/>
        </p:nvPicPr>
        <p:blipFill>
          <a:blip r:embed="rId5"/>
          <a:stretch>
            <a:fillRect/>
          </a:stretch>
        </p:blipFill>
        <p:spPr>
          <a:xfrm rot="90000">
            <a:off x="2331720" y="2103120"/>
            <a:ext cx="1691640" cy="1234440"/>
          </a:xfrm>
          <a:prstGeom prst="rect">
            <a:avLst/>
          </a:prstGeom>
        </p:spPr>
      </p:pic>
      <p:sp>
        <p:nvSpPr>
          <p:cNvPr id="20" name="bd_65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cd_66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2" name="ii_66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6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663"/>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Before you listen: predict the two stories.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What happened in each story?</a:t>
            </a:r>
            <a:endParaRPr lang="en-US" sz="1100" dirty="0"/>
          </a:p>
        </p:txBody>
      </p:sp>
      <p:sp>
        <p:nvSpPr>
          <p:cNvPr id="25" name="lq_66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26" name="R1_chip66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27" name="lq_66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28" name="R2_chip66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29" name="lq_66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0" name="R3_chip66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1" name="lq_67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2" name="R4_chip67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7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67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6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per James. Poi riascolta.</a:t>
            </a:r>
            <a:endParaRPr lang="en-US" sz="950" dirty="0"/>
          </a:p>
        </p:txBody>
      </p:sp>
      <p:sp>
        <p:nvSpPr>
          <p:cNvPr id="9" name="cmd_67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67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68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detail · James   ·   📖 SB p.13 · 7c · audio 1.25</a:t>
            </a:r>
            <a:endParaRPr lang="en-US" sz="800" dirty="0"/>
          </a:p>
        </p:txBody>
      </p:sp>
      <p:sp>
        <p:nvSpPr>
          <p:cNvPr id="14" name="ap_68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5" name="aw_684"/>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8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86"/>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1b2-twins-finger.jpg</a:t>
            </a:r>
            <a:endParaRPr lang="en-US" sz="900" dirty="0"/>
          </a:p>
        </p:txBody>
      </p:sp>
      <p:sp>
        <p:nvSpPr>
          <p:cNvPr id="18" name="cd_68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8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8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9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9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3" name="R1_chip69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4" name="gq_69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5" name="R2_chip69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6" name="gq_69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27" name="R3_chip69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1200" dirty="0"/>
          </a:p>
        </p:txBody>
      </p:sp>
      <p:sp>
        <p:nvSpPr>
          <p:cNvPr id="28" name="gq_69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29" name="R4_chip69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200" dirty="0"/>
          </a:p>
        </p:txBody>
      </p:sp>
      <p:sp>
        <p:nvSpPr>
          <p:cNvPr id="30" name="gq_699"/>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1" name="R5_chip700"/>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0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0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0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per Marilyn. Poi riascolta.</a:t>
            </a:r>
            <a:endParaRPr lang="en-US" sz="950" dirty="0"/>
          </a:p>
        </p:txBody>
      </p:sp>
      <p:sp>
        <p:nvSpPr>
          <p:cNvPr id="9" name="cmd_70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70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70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7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detail · Marilyn   ·   📖 SB p.13 · 7c · audio 1.25</a:t>
            </a:r>
            <a:endParaRPr lang="en-US" sz="800" dirty="0"/>
          </a:p>
        </p:txBody>
      </p:sp>
      <p:sp>
        <p:nvSpPr>
          <p:cNvPr id="14" name="ap_71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5" name="aw_713"/>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71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715" descr="/home/claude/lls-course/v2/cache/1b2_parrot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8" name="cd_71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71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1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71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72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3" name="R1_chip72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4" name="gq_72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5" name="R2_chip72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6" name="gq_72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27" name="R3_chip72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28" name="gq_72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29" name="R4_chip72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1200" dirty="0"/>
          </a:p>
        </p:txBody>
      </p:sp>
      <p:sp>
        <p:nvSpPr>
          <p:cNvPr id="30" name="gq_72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1" name="R5_chip72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3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3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3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la storia dall'altra parte!</a:t>
            </a:r>
            <a:endParaRPr lang="en-US" sz="950" dirty="0"/>
          </a:p>
        </p:txBody>
      </p:sp>
      <p:sp>
        <p:nvSpPr>
          <p:cNvPr id="9" name="cmd_736"/>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73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7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retell the story   ·   📖 SB p.13 · 7d, 7e</a:t>
            </a:r>
            <a:endParaRPr lang="en-US" sz="800" dirty="0"/>
          </a:p>
        </p:txBody>
      </p:sp>
      <p:sp>
        <p:nvSpPr>
          <p:cNvPr id="13" name="pf_74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741" descr="/home/claude/lls-course/v2/cache/spare_life_childh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74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74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4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74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did you…?</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you feel?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happened next?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was so angry / frightened!</a:t>
            </a:r>
            <a:endParaRPr lang="en-US" sz="1050" dirty="0"/>
          </a:p>
        </p:txBody>
      </p:sp>
      <p:sp>
        <p:nvSpPr>
          <p:cNvPr id="19" name="R1_qb74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74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have a twin brother called James, and we used to fight a lot…</a:t>
            </a:r>
            <a:endParaRPr lang="en-US" sz="1250" dirty="0"/>
          </a:p>
        </p:txBody>
      </p:sp>
      <p:sp>
        <p:nvSpPr>
          <p:cNvPr id="21" name="R2_qb74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74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little sister had a green parrot called Charlie. One day…</a:t>
            </a:r>
            <a:endParaRPr lang="en-US" sz="1250" dirty="0"/>
          </a:p>
        </p:txBody>
      </p:sp>
      <p:sp>
        <p:nvSpPr>
          <p:cNvPr id="23" name="R3_qb75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75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behaved worse?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Marilyn's sister – she did it on purpose!</a:t>
            </a:r>
            <a:endParaRPr lang="en-US" sz="1250" dirty="0"/>
          </a:p>
        </p:txBody>
      </p:sp>
      <p:sp>
        <p:nvSpPr>
          <p:cNvPr id="25" name="R4_qb75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753"/>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Once I hid my brother's phone in the fridge!</a:t>
            </a:r>
            <a:endParaRPr lang="en-US" sz="1250" dirty="0"/>
          </a:p>
        </p:txBody>
      </p:sp>
      <p:pic>
        <p:nvPicPr>
          <p:cNvPr id="27" name="R4_th754"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5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5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61"/>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7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Exit · what can you remember?</a:t>
            </a:r>
            <a:endParaRPr lang="en-US" sz="800" dirty="0"/>
          </a:p>
        </p:txBody>
      </p:sp>
      <p:sp>
        <p:nvSpPr>
          <p:cNvPr id="12" name="bd_764"/>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765"/>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4" name="bd_766"/>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767"/>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6" name="bd_768"/>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769"/>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8" name="cd_770"/>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77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7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773"/>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1B: 1b, 1c, 1d, 1e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p.115: your email (task 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p.153: test yourself</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1B-2 in the LLS app</a:t>
            </a:r>
            <a:endParaRPr lang="en-US" sz="1150" dirty="0"/>
          </a:p>
        </p:txBody>
      </p:sp>
      <p:sp>
        <p:nvSpPr>
          <p:cNvPr id="22" name="st_774"/>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7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7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77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7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78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Descrivi la personalità. Non dirla!</a:t>
            </a:r>
            <a:endParaRPr lang="en-US" sz="950" dirty="0"/>
          </a:p>
        </p:txBody>
      </p:sp>
      <p:sp>
        <p:nvSpPr>
          <p:cNvPr id="9" name="cmd_78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78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7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Extra game · Personality Taboo</a:t>
            </a:r>
            <a:endParaRPr lang="en-US" sz="800" dirty="0"/>
          </a:p>
        </p:txBody>
      </p:sp>
      <p:sp>
        <p:nvSpPr>
          <p:cNvPr id="13" name="st_78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78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7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78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78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The describer faces the screen. Others turn 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Describe a person like that. Don't say the ✗ word!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Your team guesses. Correct = 1 point.</a:t>
            </a:r>
            <a:endParaRPr lang="en-US" sz="1150" dirty="0"/>
          </a:p>
        </p:txBody>
      </p:sp>
      <p:sp>
        <p:nvSpPr>
          <p:cNvPr id="18" name="pf_79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791"/>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1b2-taboo.jpg</a:t>
            </a:r>
            <a:endParaRPr lang="en-US" sz="900" dirty="0"/>
          </a:p>
        </p:txBody>
      </p:sp>
      <p:sp>
        <p:nvSpPr>
          <p:cNvPr id="20" name="rl_792"/>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Team A</a:t>
            </a:r>
            <a:endParaRPr lang="en-US" sz="1100" dirty="0"/>
          </a:p>
        </p:txBody>
      </p:sp>
      <p:sp>
        <p:nvSpPr>
          <p:cNvPr id="21" name="R1_w793"/>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2" name="R2_w794"/>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3" name="R3_w795"/>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4" name="R4_w796"/>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5" name="rl_797"/>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Team B</a:t>
            </a:r>
            <a:endParaRPr lang="en-US" sz="1100" dirty="0"/>
          </a:p>
        </p:txBody>
      </p:sp>
      <p:sp>
        <p:nvSpPr>
          <p:cNvPr id="26" name="R5_w798"/>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7" name="R6_w799"/>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8" name="R7_w800"/>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29" name="R8_w801"/>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0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0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0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0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le email a p.115. Rispondi!</a:t>
            </a:r>
            <a:endParaRPr lang="en-US" sz="950" dirty="0"/>
          </a:p>
        </p:txBody>
      </p:sp>
      <p:sp>
        <p:nvSpPr>
          <p:cNvPr id="9" name="cmd_80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80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8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Extra · Writing · a description of a person   ·   📖 SB p.13 · 8b · Writing p.115</a:t>
            </a:r>
            <a:endParaRPr lang="en-US" sz="800" dirty="0"/>
          </a:p>
        </p:txBody>
      </p:sp>
      <p:sp>
        <p:nvSpPr>
          <p:cNvPr id="13" name="st_81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81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81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81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81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au pair /əʊ ˈpeə/ → a young person who lives with a family and looks after the children</a:t>
            </a:r>
            <a:endParaRPr lang="en-US" sz="1050" dirty="0"/>
          </a:p>
        </p:txBody>
      </p:sp>
      <p:sp>
        <p:nvSpPr>
          <p:cNvPr id="18" name="pf_81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818"/>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1b2-oldest.jpg</a:t>
            </a:r>
            <a:endParaRPr lang="en-US" sz="900" dirty="0"/>
          </a:p>
        </p:txBody>
      </p:sp>
      <p:sp>
        <p:nvSpPr>
          <p:cNvPr id="20" name="bd_81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82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2" name="R1_chip821"/>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3" name="bd_82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82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5" name="R2_chip824"/>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6" name="bd_82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82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150" dirty="0"/>
          </a:p>
        </p:txBody>
      </p:sp>
      <p:sp>
        <p:nvSpPr>
          <p:cNvPr id="28" name="R3_chip827"/>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29" name="bd_82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82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1" name="R4_chip830"/>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2" name="bd_83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83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4" name="R5_chip833"/>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2026-10-08T08:17:45Z</dcterms:created>
  <dcterms:modified xsi:type="dcterms:W3CDTF">2026-10-08T08:17:45Z</dcterms:modified>
</cp:coreProperties>
</file>