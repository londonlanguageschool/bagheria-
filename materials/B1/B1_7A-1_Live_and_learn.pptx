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TG lead-in: SCHOOL on the board – kinds of school: primary, secondary, state, private, language, faith / religious, boarding. Public school in the UK = a private (boarding) school, not a state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Files 5 &amp; 6 (3 min)
ACTIVE RECAP (3 min). ⭐ meaning ⭐⭐ sentence ⭐⭐⭐ negative or question. 2 pairs share their best sentence.
HOW TO RUN IT (active recap): pairs. Words: A points at a word, B says what it means (⭐); then a sentence with it (⭐⭐); strong students make it negative or a question (⭐⭐⭐). Grammar: pairs make their own example for each use (offer, plan…) BEFORE you click – then click to show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Vocabulary · school quiz (3 min)
QUIZ (4 min). SB 1a + 1c together: the answer AND the subject. √36 = 'the square root of 36'. Key (TG). Play 7.1 to check the subjects; drill geography /dʒiˈɒɡrəfi/, literature /ˈlɪtrətʃə/.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school subjects (3 min)
SUBJECTS (3 min). SB 1b. Play 7.1 again: underline the stressed syllable (TG).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Bank p.161 · the school system (5 min)
VB 1 (5 min). Gap 1 is the example. Play 7.2 to check; one click per gap. Key (TG): 2 nursery 3 secondary 4 state 5 private 6 boarding 7 pupils 8 students 9 head 10 terms 11 degree. US (7.3): elementary school, middle / junior high school, high school, grades, kindergarten → twelfth grade, two semesters, college = university. ⚠ public school (UK) = a private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Vocabulary Bank p.161 · discipline and exams (5 min)
VB 2 (5 min). Gap 1 is the example. Play 7.4; one click per gap. Key (TG): A 2 let 3 misbehave 4 be punished 5 make 6 cheat 7 be expelled · B 1 take 2 pass 3 revise 4 fail 5 result. Stronger class (TG): passive make → infinitive WITH to: I was made to stand in the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Vocabulary · make, let, allow (3 min)
SCHOOL RULES (4 min). The first is the example. ✗ They don't let us to bring… → ✓ let us bring. Make it real: rules at their school or at 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Pronunciation · the letter u (4 min)
LETTER u (4 min). On the slide: 9 of the 14 words (the rest: pupil, student, university /juː/ · study /ʌ/ · rules /uː/). Key (TG): /juː/ education, music, pupil, student, university · /ʌ/ lunch, result, study, subject · /uː/ rude, rules, true · /ʊ/ full, put. Italians say /ˈmuːzik/, /ˈstuːdent/ – teach the hidden /j/! a uniform / a university (consonant sound) but an umbrella.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Pronunciation · dictation (3 min)
DICTATION (3 min). Play once to listen, then again pausing. One click per sentence. Then pairs read them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Speaking · Your education (6 min)
QUESTIONNAIRE (6 min). TG: students still at school use the present (do / is / are), others the past (did / was / were). Interviewer reacts (Really? / Why didn't you like it?). Feedback: who liked their school? Best and worst subjects?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Listening · lead-in (read) (3 min)
LEAD-IN (3 min). The text is on the slide (SB p.67). Click: TG answers for 1–2; class vote for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Listening · Week 1 (numbers) (5 min)
WEEK 1 (5 min). Play twice. Students note why each is a shock; one click per item (TG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Listening · Weeks 2 &amp; 3 (5 min)
WEEKS 2–3 (5 min). Key (TG): tick 1, 2, 5, 6, 8, 10. Miss Yang makes them stand and look at the wall; Rosie: 'here we don't care – we think it's funny'.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Listening · Week 4 (results) (4 min)
WEEK 4 (4 min). Let them guess the numbers first. Miss Li: 'It's very hard to say which system is better… but I think we both learned from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Speaking · your opinion (3 min)
DISCUSSION (4 min). Groups of 3–4. You could tell them where YOU would prefer to teach (TG).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Exit · what can you remember? (2 min)
EXIT (2 min). Pairs, books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OPTIONAL EXTENSIONS
The lesson ended on the previous slide ("Today you…"). Use the next slides only if there is time left, or keep them for a quick start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Speaking · retell (4 min)
RETELL (4 min). A tells weeks 1, B weeks 2–3, together week 4. Push for let / make / allowed to and the education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audio" Target="../media/media-4-6.mp3"/><Relationship Id="rId7" Type="http://schemas.microsoft.com/office/2007/relationships/media" Target="../media/media-4-6.mp3"/><Relationship Id="rId8" Type="http://schemas.openxmlformats.org/officeDocument/2006/relationships/image" Target="../media/image-4-8.png"/><Relationship Id="rId9" Type="http://schemas.openxmlformats.org/officeDocument/2006/relationships/audio" Target="../media/media-4-9.mp3"/><Relationship Id="rId10" Type="http://schemas.microsoft.com/office/2007/relationships/media" Target="../media/media-4-9.mp3"/><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audio" Target="../media/media-8-5.mp3"/><Relationship Id="rId6" Type="http://schemas.microsoft.com/office/2007/relationships/media" Target="../media/media-8-5.mp3"/><Relationship Id="rId7" Type="http://schemas.openxmlformats.org/officeDocument/2006/relationships/image" Target="../media/image-8-7.png"/><Relationship Id="rId8" Type="http://schemas.openxmlformats.org/officeDocument/2006/relationships/audio" Target="../media/media-8-8.mp3"/><Relationship Id="rId9" Type="http://schemas.microsoft.com/office/2007/relationships/media" Target="../media/media-8-8.mp3"/><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audio" Target="../media/media-9-5.mp3"/><Relationship Id="rId6" Type="http://schemas.microsoft.com/office/2007/relationships/media" Target="../media/media-9-5.mp3"/><Relationship Id="rId7" Type="http://schemas.openxmlformats.org/officeDocument/2006/relationships/image" Target="../media/image-9-7.png"/><Relationship Id="rId8" Type="http://schemas.openxmlformats.org/officeDocument/2006/relationships/audio" Target="../media/media-9-8.mp3"/><Relationship Id="rId9" Type="http://schemas.microsoft.com/office/2007/relationships/media" Target="../media/media-9-8.mp3"/><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audio" Target="../media/media-12-5.mp3"/><Relationship Id="rId6" Type="http://schemas.microsoft.com/office/2007/relationships/media" Target="../media/media-12-5.mp3"/><Relationship Id="rId7" Type="http://schemas.openxmlformats.org/officeDocument/2006/relationships/image" Target="../media/image-12-7.png"/><Relationship Id="rId8" Type="http://schemas.openxmlformats.org/officeDocument/2006/relationships/audio" Target="../media/media-12-8.mp3"/><Relationship Id="rId9" Type="http://schemas.microsoft.com/office/2007/relationships/media" Target="../media/media-12-8.mp3"/><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audio" Target="../media/media-13-5.mp3"/><Relationship Id="rId6" Type="http://schemas.microsoft.com/office/2007/relationships/media" Target="../media/media-13-5.mp3"/><Relationship Id="rId7" Type="http://schemas.openxmlformats.org/officeDocument/2006/relationships/image" Target="../media/image-13-7.png"/><Relationship Id="rId8" Type="http://schemas.openxmlformats.org/officeDocument/2006/relationships/audio" Target="../media/media-13-8.mp3"/><Relationship Id="rId9" Type="http://schemas.microsoft.com/office/2007/relationships/media" Target="../media/media-13-8.mp3"/><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audio" Target="../media/media-14-5.mp3"/><Relationship Id="rId6" Type="http://schemas.microsoft.com/office/2007/relationships/media" Target="../media/media-14-5.mp3"/><Relationship Id="rId7" Type="http://schemas.openxmlformats.org/officeDocument/2006/relationships/image" Target="../media/image-14-7.png"/><Relationship Id="rId8" Type="http://schemas.openxmlformats.org/officeDocument/2006/relationships/audio" Target="../media/media-14-8.mp3"/><Relationship Id="rId9" Type="http://schemas.microsoft.com/office/2007/relationships/media" Target="../media/media-14-8.mp3"/><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pp.66–67 · VB p.161</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7A-1</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Live and learn</a:t>
            </a:r>
            <a:endParaRPr lang="en-US" sz="24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Education · the letter u · Chinese v British schools</a:t>
            </a:r>
            <a:endParaRPr lang="en-US" sz="10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learn education words: pass, fail, revise, be expelled…</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say the letter u: music, lunch, rude, put</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interview a partner about their education</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listen to an experiment: Chinese v British teachers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say which system you'd prefer</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9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150" i="1" dirty="0">
                <a:solidFill>
                  <a:srgbClr val="1B2559"/>
                </a:solidFill>
                <a:latin typeface="Segoe UI Semibold" pitchFamily="34" charset="0"/>
                <a:ea typeface="Segoe UI Semibold" pitchFamily="34" charset="-122"/>
                <a:cs typeface="Segoe UI Semibold" pitchFamily="34" charset="-120"/>
              </a:rPr>
              <a:t>Primary, secondary, state, private, boarding… I went to a state school in Bagheria.</a:t>
            </a:r>
            <a:endParaRPr lang="en-US" sz="900" dirty="0"/>
          </a:p>
        </p:txBody>
      </p:sp>
      <p:sp>
        <p:nvSpPr>
          <p:cNvPr id="14" name="pf_12"/>
          <p:cNvSpPr/>
          <p:nvPr/>
        </p:nvSpPr>
        <p:spPr>
          <a:xfrm rot="90000">
            <a:off x="5544963" y="777240"/>
            <a:ext cx="2580355" cy="3200400"/>
          </a:xfrm>
          <a:prstGeom prst="roundRect">
            <a:avLst>
              <a:gd name="adj" fmla="val 60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b1_7a_quiz_jpg_599x748_31.png">    </p:cNvPr>
          <p:cNvPicPr>
            <a:picLocks noChangeAspect="1"/>
          </p:cNvPicPr>
          <p:nvPr/>
        </p:nvPicPr>
        <p:blipFill>
          <a:blip r:embed="rId4"/>
          <a:stretch>
            <a:fillRect/>
          </a:stretch>
        </p:blipFill>
        <p:spPr>
          <a:xfrm rot="90000">
            <a:off x="5590683" y="822960"/>
            <a:ext cx="2488915"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What kinds of school can you think of? Which school did you go to?</a:t>
            </a:r>
            <a:endParaRPr lang="en-US" sz="15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19"/>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Remember?</a:t>
            </a:r>
            <a:endParaRPr lang="en-US" sz="25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remember? Say it – then use it in a sentence!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ricordi? Dillo – poi usalo in una frase!</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Revision · Files 5 &amp; 6</a:t>
            </a:r>
            <a:endParaRPr lang="en-US" sz="800" dirty="0"/>
          </a:p>
        </p:txBody>
      </p:sp>
      <p:sp>
        <p:nvSpPr>
          <p:cNvPr id="12" name="pf_26"/>
          <p:cNvSpPr/>
          <p:nvPr/>
        </p:nvSpPr>
        <p:spPr>
          <a:xfrm rot="-120000">
            <a:off x="365760" y="1870544"/>
            <a:ext cx="2651760" cy="648031"/>
          </a:xfrm>
          <a:prstGeom prst="roundRect">
            <a:avLst>
              <a:gd name="adj" fmla="val 2398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7" descr="/home/claude/lls-course/v2/cache/r56_people_jpg_616x134_31.png">    </p:cNvPr>
          <p:cNvPicPr>
            <a:picLocks noChangeAspect="1"/>
          </p:cNvPicPr>
          <p:nvPr/>
        </p:nvPicPr>
        <p:blipFill>
          <a:blip r:embed="rId5"/>
          <a:stretch>
            <a:fillRect/>
          </a:stretch>
        </p:blipFill>
        <p:spPr>
          <a:xfrm rot="-120000">
            <a:off x="411480" y="1916264"/>
            <a:ext cx="2560320" cy="556591"/>
          </a:xfrm>
          <a:prstGeom prst="rect">
            <a:avLst/>
          </a:prstGeom>
        </p:spPr>
      </p:pic>
      <p:sp>
        <p:nvSpPr>
          <p:cNvPr id="14" name="cd_28"/>
          <p:cNvSpPr/>
          <p:nvPr/>
        </p:nvSpPr>
        <p:spPr>
          <a:xfrm>
            <a:off x="320040" y="3200400"/>
            <a:ext cx="2743200" cy="1402080"/>
          </a:xfrm>
          <a:prstGeom prst="roundRect">
            <a:avLst>
              <a:gd name="adj" fmla="val 913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32735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329184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7" name="il_31"/>
          <p:cNvSpPr/>
          <p:nvPr/>
        </p:nvSpPr>
        <p:spPr>
          <a:xfrm>
            <a:off x="886968" y="3694176"/>
            <a:ext cx="2084832" cy="83515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Revise and Check 5&amp;6</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past tenses · used to · passive · deduction</a:t>
            </a:r>
            <a:endParaRPr lang="en-US" sz="1100" dirty="0"/>
          </a:p>
        </p:txBody>
      </p:sp>
      <p:sp>
        <p:nvSpPr>
          <p:cNvPr id="18" name="kw_32"/>
          <p:cNvSpPr/>
          <p:nvPr/>
        </p:nvSpPr>
        <p:spPr>
          <a:xfrm>
            <a:off x="3246120" y="1417320"/>
            <a:ext cx="5623560" cy="292608"/>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 Can you remember these words? What do they mean?</a:t>
            </a:r>
            <a:endParaRPr lang="en-US" sz="1200" dirty="0"/>
          </a:p>
        </p:txBody>
      </p:sp>
      <p:sp>
        <p:nvSpPr>
          <p:cNvPr id="19" name="w_33"/>
          <p:cNvSpPr/>
          <p:nvPr/>
        </p:nvSpPr>
        <p:spPr>
          <a:xfrm>
            <a:off x="3246120" y="1783080"/>
            <a:ext cx="1019556"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referee</a:t>
            </a:r>
            <a:endParaRPr lang="en-US" sz="1200" dirty="0"/>
          </a:p>
        </p:txBody>
      </p:sp>
      <p:sp>
        <p:nvSpPr>
          <p:cNvPr id="20" name="w_34"/>
          <p:cNvSpPr/>
          <p:nvPr/>
        </p:nvSpPr>
        <p:spPr>
          <a:xfrm>
            <a:off x="4357116" y="1783080"/>
            <a:ext cx="1367028"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get injured</a:t>
            </a:r>
            <a:endParaRPr lang="en-US" sz="1200" dirty="0"/>
          </a:p>
        </p:txBody>
      </p:sp>
      <p:sp>
        <p:nvSpPr>
          <p:cNvPr id="21" name="w_35"/>
          <p:cNvSpPr/>
          <p:nvPr/>
        </p:nvSpPr>
        <p:spPr>
          <a:xfrm>
            <a:off x="5815584" y="1783080"/>
            <a:ext cx="1280160"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lose touch</a:t>
            </a:r>
            <a:endParaRPr lang="en-US" sz="1200" dirty="0"/>
          </a:p>
        </p:txBody>
      </p:sp>
      <p:sp>
        <p:nvSpPr>
          <p:cNvPr id="22" name="w_36"/>
          <p:cNvSpPr/>
          <p:nvPr/>
        </p:nvSpPr>
        <p:spPr>
          <a:xfrm>
            <a:off x="7187184" y="1783080"/>
            <a:ext cx="1280160"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soundtrack</a:t>
            </a:r>
            <a:endParaRPr lang="en-US" sz="1200" dirty="0"/>
          </a:p>
        </p:txBody>
      </p:sp>
      <p:sp>
        <p:nvSpPr>
          <p:cNvPr id="23" name="w_37"/>
          <p:cNvSpPr/>
          <p:nvPr/>
        </p:nvSpPr>
        <p:spPr>
          <a:xfrm>
            <a:off x="3246120" y="2185416"/>
            <a:ext cx="1193292"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subtitles</a:t>
            </a:r>
            <a:endParaRPr lang="en-US" sz="1200" dirty="0"/>
          </a:p>
        </p:txBody>
      </p:sp>
      <p:sp>
        <p:nvSpPr>
          <p:cNvPr id="24" name="w_38"/>
          <p:cNvSpPr/>
          <p:nvPr/>
        </p:nvSpPr>
        <p:spPr>
          <a:xfrm>
            <a:off x="4530852" y="2185416"/>
            <a:ext cx="845820"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stare</a:t>
            </a:r>
            <a:endParaRPr lang="en-US" sz="1200" dirty="0"/>
          </a:p>
        </p:txBody>
      </p:sp>
      <p:sp>
        <p:nvSpPr>
          <p:cNvPr id="25" name="w_39"/>
          <p:cNvSpPr/>
          <p:nvPr/>
        </p:nvSpPr>
        <p:spPr>
          <a:xfrm>
            <a:off x="5468112" y="2185416"/>
            <a:ext cx="1193292"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be set in</a:t>
            </a:r>
            <a:endParaRPr lang="en-US" sz="1200" dirty="0"/>
          </a:p>
        </p:txBody>
      </p:sp>
      <p:sp>
        <p:nvSpPr>
          <p:cNvPr id="26" name="w_40"/>
          <p:cNvSpPr/>
          <p:nvPr/>
        </p:nvSpPr>
        <p:spPr>
          <a:xfrm>
            <a:off x="6752844" y="2185416"/>
            <a:ext cx="1714500"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special effects</a:t>
            </a:r>
            <a:endParaRPr lang="en-US" sz="1200" dirty="0"/>
          </a:p>
        </p:txBody>
      </p:sp>
      <p:sp>
        <p:nvSpPr>
          <p:cNvPr id="27" name="lv_41"/>
          <p:cNvSpPr/>
          <p:nvPr/>
        </p:nvSpPr>
        <p:spPr>
          <a:xfrm>
            <a:off x="324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it mean?</a:t>
            </a:r>
            <a:endParaRPr lang="en-US" sz="1000" dirty="0"/>
          </a:p>
        </p:txBody>
      </p:sp>
      <p:sp>
        <p:nvSpPr>
          <p:cNvPr id="28" name="lv_42"/>
          <p:cNvSpPr/>
          <p:nvPr/>
        </p:nvSpPr>
        <p:spPr>
          <a:xfrm>
            <a:off x="5151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Use it in a sentence.</a:t>
            </a:r>
            <a:endParaRPr lang="en-US" sz="1000" dirty="0"/>
          </a:p>
        </p:txBody>
      </p:sp>
      <p:sp>
        <p:nvSpPr>
          <p:cNvPr id="29" name="lv_43"/>
          <p:cNvSpPr/>
          <p:nvPr/>
        </p:nvSpPr>
        <p:spPr>
          <a:xfrm>
            <a:off x="705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950" dirty="0">
                <a:solidFill>
                  <a:srgbClr val="000000"/>
                </a:solidFill>
              </a:rPr>
              <a:t>⭐⭐⭐ </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Make it negative or a question!</a:t>
            </a:r>
            <a:endParaRPr lang="en-US" sz="9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4"/>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5"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46"/>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School quiz</a:t>
            </a:r>
            <a:endParaRPr lang="en-US" sz="2500" dirty="0"/>
          </a:p>
        </p:txBody>
      </p:sp>
      <p:pic>
        <p:nvPicPr>
          <p:cNvPr id="6" name="brP_47"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48"/>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Teams: 2 minutes! Answer as many questions as you can.</a:t>
            </a:r>
            <a:endParaRPr lang="en-US" sz="1250" dirty="0"/>
          </a:p>
        </p:txBody>
      </p:sp>
      <p:sp>
        <p:nvSpPr>
          <p:cNvPr id="8" name="insIT_4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Squadre: 2 minuti! Rispondete a più domande possibili.</a:t>
            </a:r>
            <a:endParaRPr lang="en-US" sz="950" dirty="0"/>
          </a:p>
        </p:txBody>
      </p:sp>
      <p:sp>
        <p:nvSpPr>
          <p:cNvPr id="9" name="note_5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Communicative game</a:t>
            </a:r>
            <a:endParaRPr lang="en-US" sz="1250" dirty="0"/>
          </a:p>
        </p:txBody>
      </p:sp>
      <p:pic>
        <p:nvPicPr>
          <p:cNvPr id="10" name="logo_5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Vocabulary · school quiz   ·   📖 SB p.66 · 1a, 1c · audio 7.1 (TG key)</a:t>
            </a:r>
            <a:endParaRPr lang="en-US" sz="800" dirty="0"/>
          </a:p>
        </p:txBody>
      </p:sp>
      <p:sp>
        <p:nvSpPr>
          <p:cNvPr id="12" name="cd_53"/>
          <p:cNvSpPr/>
          <p:nvPr/>
        </p:nvSpPr>
        <p:spPr>
          <a:xfrm>
            <a:off x="320040" y="1417320"/>
            <a:ext cx="2697480" cy="2112264"/>
          </a:xfrm>
          <a:prstGeom prst="roundRect">
            <a:avLst>
              <a:gd name="adj" fmla="val 606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5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55"/>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56"/>
          <p:cNvSpPr/>
          <p:nvPr/>
        </p:nvSpPr>
        <p:spPr>
          <a:xfrm>
            <a:off x="886968" y="1911096"/>
            <a:ext cx="2039112" cy="15453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2 minutes: write your answers.</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1 point per correct answer.</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Bonus: say the school subject for each question!</a:t>
            </a:r>
            <a:endParaRPr lang="en-US" sz="1150" dirty="0"/>
          </a:p>
        </p:txBody>
      </p:sp>
      <p:sp>
        <p:nvSpPr>
          <p:cNvPr id="16" name="st_57"/>
          <p:cNvSpPr/>
          <p:nvPr/>
        </p:nvSpPr>
        <p:spPr>
          <a:xfrm rot="-180000">
            <a:off x="502920" y="3712464"/>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58"/>
          <p:cNvSpPr/>
          <p:nvPr/>
        </p:nvSpPr>
        <p:spPr>
          <a:xfrm>
            <a:off x="3246120" y="1423607"/>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8" name="gq_59"/>
          <p:cNvSpPr/>
          <p:nvPr/>
        </p:nvSpPr>
        <p:spPr>
          <a:xfrm>
            <a:off x="3657600" y="1417320"/>
            <a:ext cx="2514600" cy="341757"/>
          </a:xfrm>
          <a:prstGeom prst="roundRect">
            <a:avLst>
              <a:gd name="adj" fmla="val 2675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1 What year did the Second World War start?</a:t>
            </a:r>
            <a:endParaRPr lang="en-US" sz="900" dirty="0"/>
          </a:p>
        </p:txBody>
      </p:sp>
      <p:sp>
        <p:nvSpPr>
          <p:cNvPr id="19" name="R1_chip60"/>
          <p:cNvSpPr/>
          <p:nvPr/>
        </p:nvSpPr>
        <p:spPr>
          <a:xfrm>
            <a:off x="6263640" y="141732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1939 · history</a:t>
            </a:r>
            <a:endParaRPr lang="en-US" sz="900" dirty="0"/>
          </a:p>
        </p:txBody>
      </p:sp>
      <p:sp>
        <p:nvSpPr>
          <p:cNvPr id="20" name="bd_61"/>
          <p:cNvSpPr/>
          <p:nvPr/>
        </p:nvSpPr>
        <p:spPr>
          <a:xfrm>
            <a:off x="3246120" y="1829372"/>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gq_62"/>
          <p:cNvSpPr/>
          <p:nvPr/>
        </p:nvSpPr>
        <p:spPr>
          <a:xfrm>
            <a:off x="3657600" y="1823085"/>
            <a:ext cx="2514600" cy="341757"/>
          </a:xfrm>
          <a:prstGeom prst="roundRect">
            <a:avLst>
              <a:gd name="adj" fmla="val 2675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2 Which country's longest river is called the Po?</a:t>
            </a:r>
            <a:endParaRPr lang="en-US" sz="900" dirty="0"/>
          </a:p>
        </p:txBody>
      </p:sp>
      <p:sp>
        <p:nvSpPr>
          <p:cNvPr id="22" name="R2_chip63"/>
          <p:cNvSpPr/>
          <p:nvPr/>
        </p:nvSpPr>
        <p:spPr>
          <a:xfrm>
            <a:off x="6263640" y="182308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Italy's · geography</a:t>
            </a:r>
            <a:endParaRPr lang="en-US" sz="900" dirty="0"/>
          </a:p>
        </p:txBody>
      </p:sp>
      <p:sp>
        <p:nvSpPr>
          <p:cNvPr id="23" name="bd_64"/>
          <p:cNvSpPr/>
          <p:nvPr/>
        </p:nvSpPr>
        <p:spPr>
          <a:xfrm>
            <a:off x="3246120" y="2235137"/>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gq_65"/>
          <p:cNvSpPr/>
          <p:nvPr/>
        </p:nvSpPr>
        <p:spPr>
          <a:xfrm>
            <a:off x="3657600" y="2228850"/>
            <a:ext cx="2514600" cy="341757"/>
          </a:xfrm>
          <a:prstGeom prst="roundRect">
            <a:avLst>
              <a:gd name="adj" fmla="val 2675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3 What's √36?</a:t>
            </a:r>
            <a:endParaRPr lang="en-US" sz="900" dirty="0"/>
          </a:p>
        </p:txBody>
      </p:sp>
      <p:sp>
        <p:nvSpPr>
          <p:cNvPr id="25" name="R3_chip66"/>
          <p:cNvSpPr/>
          <p:nvPr/>
        </p:nvSpPr>
        <p:spPr>
          <a:xfrm>
            <a:off x="6263640" y="222885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six · maths</a:t>
            </a:r>
            <a:endParaRPr lang="en-US" sz="900" dirty="0"/>
          </a:p>
        </p:txBody>
      </p:sp>
      <p:sp>
        <p:nvSpPr>
          <p:cNvPr id="26" name="bd_67"/>
          <p:cNvSpPr/>
          <p:nvPr/>
        </p:nvSpPr>
        <p:spPr>
          <a:xfrm>
            <a:off x="3246120" y="2640901"/>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gq_68"/>
          <p:cNvSpPr/>
          <p:nvPr/>
        </p:nvSpPr>
        <p:spPr>
          <a:xfrm>
            <a:off x="3657600" y="2634615"/>
            <a:ext cx="2514600" cy="341757"/>
          </a:xfrm>
          <a:prstGeom prst="roundRect">
            <a:avLst>
              <a:gd name="adj" fmla="val 2675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4 What does USB stand for (as in 'a USB cable')?</a:t>
            </a:r>
            <a:endParaRPr lang="en-US" sz="900" dirty="0"/>
          </a:p>
        </p:txBody>
      </p:sp>
      <p:sp>
        <p:nvSpPr>
          <p:cNvPr id="28" name="R4_chip69"/>
          <p:cNvSpPr/>
          <p:nvPr/>
        </p:nvSpPr>
        <p:spPr>
          <a:xfrm>
            <a:off x="6263640" y="263461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Universal Serial Bus · information technology</a:t>
            </a:r>
            <a:endParaRPr lang="en-US" sz="900" dirty="0"/>
          </a:p>
        </p:txBody>
      </p:sp>
      <p:sp>
        <p:nvSpPr>
          <p:cNvPr id="29" name="bd_70"/>
          <p:cNvSpPr/>
          <p:nvPr/>
        </p:nvSpPr>
        <p:spPr>
          <a:xfrm>
            <a:off x="3246120" y="3046667"/>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gq_71"/>
          <p:cNvSpPr/>
          <p:nvPr/>
        </p:nvSpPr>
        <p:spPr>
          <a:xfrm>
            <a:off x="3657600" y="3040380"/>
            <a:ext cx="2514600" cy="341757"/>
          </a:xfrm>
          <a:prstGeom prst="roundRect">
            <a:avLst>
              <a:gd name="adj" fmla="val 2675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5 Who discovered the law of gravity?</a:t>
            </a:r>
            <a:endParaRPr lang="en-US" sz="900" dirty="0"/>
          </a:p>
        </p:txBody>
      </p:sp>
      <p:sp>
        <p:nvSpPr>
          <p:cNvPr id="31" name="R5_chip72"/>
          <p:cNvSpPr/>
          <p:nvPr/>
        </p:nvSpPr>
        <p:spPr>
          <a:xfrm>
            <a:off x="6263640" y="304038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Isaac Newton · physics</a:t>
            </a:r>
            <a:endParaRPr lang="en-US" sz="900" dirty="0"/>
          </a:p>
        </p:txBody>
      </p:sp>
      <p:sp>
        <p:nvSpPr>
          <p:cNvPr id="32" name="bd_73"/>
          <p:cNvSpPr/>
          <p:nvPr/>
        </p:nvSpPr>
        <p:spPr>
          <a:xfrm>
            <a:off x="3246120" y="3452432"/>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3" name="gq_74"/>
          <p:cNvSpPr/>
          <p:nvPr/>
        </p:nvSpPr>
        <p:spPr>
          <a:xfrm>
            <a:off x="3657600" y="3446145"/>
            <a:ext cx="2514600" cy="341757"/>
          </a:xfrm>
          <a:prstGeom prst="roundRect">
            <a:avLst>
              <a:gd name="adj" fmla="val 2675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6 How many books are there in The Lord of the Rings?</a:t>
            </a:r>
            <a:endParaRPr lang="en-US" sz="900" dirty="0"/>
          </a:p>
        </p:txBody>
      </p:sp>
      <p:sp>
        <p:nvSpPr>
          <p:cNvPr id="34" name="R6_chip75"/>
          <p:cNvSpPr/>
          <p:nvPr/>
        </p:nvSpPr>
        <p:spPr>
          <a:xfrm>
            <a:off x="6263640" y="344614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three · literature</a:t>
            </a:r>
            <a:endParaRPr lang="en-US" sz="900" dirty="0"/>
          </a:p>
        </p:txBody>
      </p:sp>
      <p:sp>
        <p:nvSpPr>
          <p:cNvPr id="35" name="bd_76"/>
          <p:cNvSpPr/>
          <p:nvPr/>
        </p:nvSpPr>
        <p:spPr>
          <a:xfrm>
            <a:off x="3246120" y="3858196"/>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36" name="gq_77"/>
          <p:cNvSpPr/>
          <p:nvPr/>
        </p:nvSpPr>
        <p:spPr>
          <a:xfrm>
            <a:off x="3657600" y="3851910"/>
            <a:ext cx="2514600" cy="341757"/>
          </a:xfrm>
          <a:prstGeom prst="roundRect">
            <a:avLst>
              <a:gd name="adj" fmla="val 2675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7 In what part of the body is the tibia?</a:t>
            </a:r>
            <a:endParaRPr lang="en-US" sz="900" dirty="0"/>
          </a:p>
        </p:txBody>
      </p:sp>
      <p:sp>
        <p:nvSpPr>
          <p:cNvPr id="37" name="R7_chip78"/>
          <p:cNvSpPr/>
          <p:nvPr/>
        </p:nvSpPr>
        <p:spPr>
          <a:xfrm>
            <a:off x="6263640" y="385191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the leg · biology</a:t>
            </a:r>
            <a:endParaRPr lang="en-US" sz="900" dirty="0"/>
          </a:p>
        </p:txBody>
      </p:sp>
      <p:sp>
        <p:nvSpPr>
          <p:cNvPr id="38" name="bd_79"/>
          <p:cNvSpPr/>
          <p:nvPr/>
        </p:nvSpPr>
        <p:spPr>
          <a:xfrm>
            <a:off x="3246120" y="4263962"/>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8</a:t>
            </a:r>
            <a:endParaRPr lang="en-US" sz="1100" dirty="0"/>
          </a:p>
        </p:txBody>
      </p:sp>
      <p:sp>
        <p:nvSpPr>
          <p:cNvPr id="39" name="gq_80"/>
          <p:cNvSpPr/>
          <p:nvPr/>
        </p:nvSpPr>
        <p:spPr>
          <a:xfrm>
            <a:off x="3657600" y="4257675"/>
            <a:ext cx="2514600" cy="341757"/>
          </a:xfrm>
          <a:prstGeom prst="roundRect">
            <a:avLst>
              <a:gd name="adj" fmla="val 2675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8 What's the most common chemical element on Earth?</a:t>
            </a:r>
            <a:endParaRPr lang="en-US" sz="900" dirty="0"/>
          </a:p>
        </p:txBody>
      </p:sp>
      <p:sp>
        <p:nvSpPr>
          <p:cNvPr id="40" name="R8_chip81"/>
          <p:cNvSpPr/>
          <p:nvPr/>
        </p:nvSpPr>
        <p:spPr>
          <a:xfrm>
            <a:off x="6263640" y="425767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 hydrogen · chemistry</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2"/>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3"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84"/>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School subjects</a:t>
            </a:r>
            <a:endParaRPr lang="en-US" sz="2500" dirty="0"/>
          </a:p>
        </p:txBody>
      </p:sp>
      <p:pic>
        <p:nvPicPr>
          <p:cNvPr id="6" name="brP_85" descr="/home/claude/lls-course/v2/assets/brush-pink.png">    </p:cNvPr>
          <p:cNvPicPr>
            <a:picLocks noChangeAspect="1"/>
          </p:cNvPicPr>
          <p:nvPr/>
        </p:nvPicPr>
        <p:blipFill>
          <a:blip r:embed="rId3"/>
          <a:stretch>
            <a:fillRect/>
          </a:stretch>
        </p:blipFill>
        <p:spPr>
          <a:xfrm>
            <a:off x="1207008" y="731520"/>
            <a:ext cx="5161788" cy="402336"/>
          </a:xfrm>
          <a:prstGeom prst="rect">
            <a:avLst/>
          </a:prstGeom>
        </p:spPr>
      </p:pic>
      <p:sp>
        <p:nvSpPr>
          <p:cNvPr id="7" name="ins_86"/>
          <p:cNvSpPr/>
          <p:nvPr/>
        </p:nvSpPr>
        <p:spPr>
          <a:xfrm>
            <a:off x="1353312" y="731520"/>
            <a:ext cx="490575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Complete the school subjects. Underline the stress!</a:t>
            </a:r>
            <a:endParaRPr lang="en-US" sz="1250" dirty="0"/>
          </a:p>
        </p:txBody>
      </p:sp>
      <p:sp>
        <p:nvSpPr>
          <p:cNvPr id="8" name="insIT_8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Completa le materie scolastiche. Sottolinea l'accento!</a:t>
            </a:r>
            <a:endParaRPr lang="en-US" sz="950" dirty="0"/>
          </a:p>
        </p:txBody>
      </p:sp>
      <p:sp>
        <p:nvSpPr>
          <p:cNvPr id="9" name="note_8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8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9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Vocabulary · school subjects   ·   📖 SB p.66 · 1b, 1c · audio 7.1</a:t>
            </a:r>
            <a:endParaRPr lang="en-US" sz="800" dirty="0"/>
          </a:p>
        </p:txBody>
      </p:sp>
      <p:sp>
        <p:nvSpPr>
          <p:cNvPr id="12" name="cd_91"/>
          <p:cNvSpPr/>
          <p:nvPr/>
        </p:nvSpPr>
        <p:spPr>
          <a:xfrm>
            <a:off x="320040" y="1417320"/>
            <a:ext cx="2697480" cy="768096"/>
          </a:xfrm>
          <a:prstGeom prst="roundRect">
            <a:avLst>
              <a:gd name="adj" fmla="val 1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9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93"/>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94"/>
          <p:cNvSpPr/>
          <p:nvPr/>
        </p:nvSpPr>
        <p:spPr>
          <a:xfrm>
            <a:off x="886968" y="1911096"/>
            <a:ext cx="2039112" cy="201168"/>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bio… → BIology</a:t>
            </a:r>
            <a:endParaRPr lang="en-US" sz="1050" dirty="0"/>
          </a:p>
        </p:txBody>
      </p:sp>
      <p:sp>
        <p:nvSpPr>
          <p:cNvPr id="16" name="pf_95"/>
          <p:cNvSpPr/>
          <p:nvPr/>
        </p:nvSpPr>
        <p:spPr>
          <a:xfrm rot="-90000">
            <a:off x="960569" y="2368296"/>
            <a:ext cx="1416421" cy="1746504"/>
          </a:xfrm>
          <a:prstGeom prst="roundRect">
            <a:avLst>
              <a:gd name="adj" fmla="val 10975"/>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96" descr="/home/claude/lls-course/v2/cache/b1_7a_quiz_jpg_319x398_31.png">    </p:cNvPr>
          <p:cNvPicPr>
            <a:picLocks noChangeAspect="1"/>
          </p:cNvPicPr>
          <p:nvPr/>
        </p:nvPicPr>
        <p:blipFill>
          <a:blip r:embed="rId5"/>
          <a:stretch>
            <a:fillRect/>
          </a:stretch>
        </p:blipFill>
        <p:spPr>
          <a:xfrm rot="-90000">
            <a:off x="1006289" y="2414016"/>
            <a:ext cx="1324981" cy="1655064"/>
          </a:xfrm>
          <a:prstGeom prst="rect">
            <a:avLst/>
          </a:prstGeom>
        </p:spPr>
      </p:pic>
      <p:sp>
        <p:nvSpPr>
          <p:cNvPr id="18" name="ap_97"/>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7.1</a:t>
            </a:r>
            <a:endParaRPr lang="en-US" sz="1100" dirty="0"/>
          </a:p>
        </p:txBody>
      </p:sp>
      <p:sp>
        <p:nvSpPr>
          <p:cNvPr id="19" name="ah_98"/>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20" name="Media 0">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5687568" y="4553712"/>
            <a:ext cx="411480" cy="411480"/>
          </a:xfrm>
          <a:prstGeom prst="rect">
            <a:avLst/>
          </a:prstGeom>
        </p:spPr>
      </p:pic>
      <p:sp>
        <p:nvSpPr>
          <p:cNvPr id="21" name="ah_99"/>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22" name="Media 1">
            <a:hlinkClick r:id="" action="ppaction://media"/>
          </p:cNvPr>
          <p:cNvPicPr>
            <a:picLocks noChangeAspect="1"/>
          </p:cNvPicPr>
          <p:nvPr>
            <a:audioFile r:link="rId9"/>
            <p:extLst>
              <p:ext uri="{DAA4B4D4-6D71-4841-9C94-3DE7FCFB9230}">
                <p14:media xmlns:p14="http://schemas.microsoft.com/office/powerpoint/2010/main" r:embed="rId10"/>
              </p:ext>
            </p:extLst>
          </p:nvPr>
        </p:nvPicPr>
        <p:blipFill>
          <a:blip r:embed="rId11"/>
          <a:stretch>
            <a:fillRect/>
          </a:stretch>
        </p:blipFill>
        <p:spPr>
          <a:xfrm>
            <a:off x="8476488" y="4553712"/>
            <a:ext cx="411480" cy="411480"/>
          </a:xfrm>
          <a:prstGeom prst="rect">
            <a:avLst/>
          </a:prstGeom>
        </p:spPr>
      </p:pic>
      <p:sp>
        <p:nvSpPr>
          <p:cNvPr id="23" name="bd_100"/>
          <p:cNvSpPr/>
          <p:nvPr/>
        </p:nvSpPr>
        <p:spPr>
          <a:xfrm>
            <a:off x="3246120" y="1474143"/>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4" name="q_101"/>
          <p:cNvSpPr/>
          <p:nvPr/>
        </p:nvSpPr>
        <p:spPr>
          <a:xfrm>
            <a:off x="3630168" y="1417320"/>
            <a:ext cx="2103120" cy="424543"/>
          </a:xfrm>
          <a:prstGeom prst="roundRect">
            <a:avLst>
              <a:gd name="adj" fmla="val 21538"/>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chem…</a:t>
            </a:r>
            <a:endParaRPr lang="en-US" sz="1150" dirty="0"/>
          </a:p>
        </p:txBody>
      </p:sp>
      <p:sp>
        <p:nvSpPr>
          <p:cNvPr id="25" name="R1_chip102"/>
          <p:cNvSpPr/>
          <p:nvPr/>
        </p:nvSpPr>
        <p:spPr>
          <a:xfrm>
            <a:off x="5806440" y="1417320"/>
            <a:ext cx="306324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CHEMistry</a:t>
            </a:r>
            <a:endParaRPr lang="en-US" sz="1050" dirty="0"/>
          </a:p>
        </p:txBody>
      </p:sp>
      <p:sp>
        <p:nvSpPr>
          <p:cNvPr id="26" name="bd_103"/>
          <p:cNvSpPr/>
          <p:nvPr/>
        </p:nvSpPr>
        <p:spPr>
          <a:xfrm>
            <a:off x="3246120" y="194440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7" name="q_104"/>
          <p:cNvSpPr/>
          <p:nvPr/>
        </p:nvSpPr>
        <p:spPr>
          <a:xfrm>
            <a:off x="3630168" y="1887583"/>
            <a:ext cx="2103120" cy="424543"/>
          </a:xfrm>
          <a:prstGeom prst="roundRect">
            <a:avLst>
              <a:gd name="adj" fmla="val 21538"/>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geo…</a:t>
            </a:r>
            <a:endParaRPr lang="en-US" sz="1150" dirty="0"/>
          </a:p>
        </p:txBody>
      </p:sp>
      <p:sp>
        <p:nvSpPr>
          <p:cNvPr id="28" name="R2_chip105"/>
          <p:cNvSpPr/>
          <p:nvPr/>
        </p:nvSpPr>
        <p:spPr>
          <a:xfrm>
            <a:off x="5806440" y="1887583"/>
            <a:ext cx="306324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geOGraphy</a:t>
            </a:r>
            <a:endParaRPr lang="en-US" sz="1050" dirty="0"/>
          </a:p>
        </p:txBody>
      </p:sp>
      <p:sp>
        <p:nvSpPr>
          <p:cNvPr id="29" name="bd_106"/>
          <p:cNvSpPr/>
          <p:nvPr/>
        </p:nvSpPr>
        <p:spPr>
          <a:xfrm>
            <a:off x="3246120" y="2414669"/>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30" name="q_107"/>
          <p:cNvSpPr/>
          <p:nvPr/>
        </p:nvSpPr>
        <p:spPr>
          <a:xfrm>
            <a:off x="3630168" y="2357846"/>
            <a:ext cx="2103120" cy="424543"/>
          </a:xfrm>
          <a:prstGeom prst="roundRect">
            <a:avLst>
              <a:gd name="adj" fmla="val 21538"/>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his…</a:t>
            </a:r>
            <a:endParaRPr lang="en-US" sz="1150" dirty="0"/>
          </a:p>
        </p:txBody>
      </p:sp>
      <p:sp>
        <p:nvSpPr>
          <p:cNvPr id="31" name="R3_chip108"/>
          <p:cNvSpPr/>
          <p:nvPr/>
        </p:nvSpPr>
        <p:spPr>
          <a:xfrm>
            <a:off x="5806440" y="2357846"/>
            <a:ext cx="306324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HIStory</a:t>
            </a:r>
            <a:endParaRPr lang="en-US" sz="1050" dirty="0"/>
          </a:p>
        </p:txBody>
      </p:sp>
      <p:sp>
        <p:nvSpPr>
          <p:cNvPr id="32" name="bd_109"/>
          <p:cNvSpPr/>
          <p:nvPr/>
        </p:nvSpPr>
        <p:spPr>
          <a:xfrm>
            <a:off x="3246120" y="28849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3" name="q_110"/>
          <p:cNvSpPr/>
          <p:nvPr/>
        </p:nvSpPr>
        <p:spPr>
          <a:xfrm>
            <a:off x="3630168" y="2828109"/>
            <a:ext cx="2103120" cy="424543"/>
          </a:xfrm>
          <a:prstGeom prst="roundRect">
            <a:avLst>
              <a:gd name="adj" fmla="val 21538"/>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infor… tech… (IT)</a:t>
            </a:r>
            <a:endParaRPr lang="en-US" sz="1150" dirty="0"/>
          </a:p>
        </p:txBody>
      </p:sp>
      <p:sp>
        <p:nvSpPr>
          <p:cNvPr id="34" name="R4_chip111"/>
          <p:cNvSpPr/>
          <p:nvPr/>
        </p:nvSpPr>
        <p:spPr>
          <a:xfrm>
            <a:off x="5806440" y="2828109"/>
            <a:ext cx="306324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inforMAtion techNOlogy</a:t>
            </a:r>
            <a:endParaRPr lang="en-US" sz="1050" dirty="0"/>
          </a:p>
        </p:txBody>
      </p:sp>
      <p:sp>
        <p:nvSpPr>
          <p:cNvPr id="35" name="bd_112"/>
          <p:cNvSpPr/>
          <p:nvPr/>
        </p:nvSpPr>
        <p:spPr>
          <a:xfrm>
            <a:off x="3246120" y="3355195"/>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6" name="q_113"/>
          <p:cNvSpPr/>
          <p:nvPr/>
        </p:nvSpPr>
        <p:spPr>
          <a:xfrm>
            <a:off x="3630168" y="3298371"/>
            <a:ext cx="2103120" cy="424543"/>
          </a:xfrm>
          <a:prstGeom prst="roundRect">
            <a:avLst>
              <a:gd name="adj" fmla="val 21538"/>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liter…</a:t>
            </a:r>
            <a:endParaRPr lang="en-US" sz="1150" dirty="0"/>
          </a:p>
        </p:txBody>
      </p:sp>
      <p:sp>
        <p:nvSpPr>
          <p:cNvPr id="37" name="R5_chip114"/>
          <p:cNvSpPr/>
          <p:nvPr/>
        </p:nvSpPr>
        <p:spPr>
          <a:xfrm>
            <a:off x="5806440" y="3298371"/>
            <a:ext cx="306324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LITerature</a:t>
            </a:r>
            <a:endParaRPr lang="en-US" sz="1050" dirty="0"/>
          </a:p>
        </p:txBody>
      </p:sp>
      <p:sp>
        <p:nvSpPr>
          <p:cNvPr id="38" name="bd_115"/>
          <p:cNvSpPr/>
          <p:nvPr/>
        </p:nvSpPr>
        <p:spPr>
          <a:xfrm>
            <a:off x="3246120" y="3825458"/>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9" name="q_116"/>
          <p:cNvSpPr/>
          <p:nvPr/>
        </p:nvSpPr>
        <p:spPr>
          <a:xfrm>
            <a:off x="3630168" y="3768634"/>
            <a:ext cx="2103120" cy="424543"/>
          </a:xfrm>
          <a:prstGeom prst="roundRect">
            <a:avLst>
              <a:gd name="adj" fmla="val 21538"/>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mat…</a:t>
            </a:r>
            <a:endParaRPr lang="en-US" sz="1150" dirty="0"/>
          </a:p>
        </p:txBody>
      </p:sp>
      <p:sp>
        <p:nvSpPr>
          <p:cNvPr id="40" name="R6_chip117"/>
          <p:cNvSpPr/>
          <p:nvPr/>
        </p:nvSpPr>
        <p:spPr>
          <a:xfrm>
            <a:off x="5806440" y="3768634"/>
            <a:ext cx="306324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MATHS</a:t>
            </a:r>
            <a:endParaRPr lang="en-US" sz="1050" dirty="0"/>
          </a:p>
        </p:txBody>
      </p:sp>
      <p:sp>
        <p:nvSpPr>
          <p:cNvPr id="41" name="bd_118"/>
          <p:cNvSpPr/>
          <p:nvPr/>
        </p:nvSpPr>
        <p:spPr>
          <a:xfrm>
            <a:off x="3246120" y="4295721"/>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42" name="q_119"/>
          <p:cNvSpPr/>
          <p:nvPr/>
        </p:nvSpPr>
        <p:spPr>
          <a:xfrm>
            <a:off x="3630168" y="4238897"/>
            <a:ext cx="2103120" cy="424543"/>
          </a:xfrm>
          <a:prstGeom prst="roundRect">
            <a:avLst>
              <a:gd name="adj" fmla="val 21538"/>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phy…</a:t>
            </a:r>
            <a:endParaRPr lang="en-US" sz="1150" dirty="0"/>
          </a:p>
        </p:txBody>
      </p:sp>
      <p:sp>
        <p:nvSpPr>
          <p:cNvPr id="43" name="R7_chip120"/>
          <p:cNvSpPr/>
          <p:nvPr/>
        </p:nvSpPr>
        <p:spPr>
          <a:xfrm>
            <a:off x="5806440" y="4238897"/>
            <a:ext cx="3063240" cy="424543"/>
          </a:xfrm>
          <a:prstGeom prst="roundRect">
            <a:avLst>
              <a:gd name="adj" fmla="val 21538"/>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PHYsics</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4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4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8" restart="whenNotActive" fill="hold" evtFilter="cancelBubble" nodeType="interactiveSeq">
                <p:stCondLst>
                  <p:cond evt="onClick" delay="0">
                    <p:tgtEl>
                      <p:spTgt spid="20"/>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20"/>
                                        </p:tgtEl>
                                      </p:cBhvr>
                                    </p:cmd>
                                  </p:childTnLst>
                                </p:cTn>
                              </p:par>
                            </p:childTnLst>
                          </p:cTn>
                        </p:par>
                      </p:childTnLst>
                    </p:cTn>
                  </p:par>
                </p:childTnLst>
              </p:cTn>
              <p:nextCondLst>
                <p:cond evt="onClick" delay="0">
                  <p:tgtEl>
                    <p:spTgt spid="20"/>
                  </p:tgtEl>
                </p:cond>
              </p:nextCondLst>
            </p:seq>
            <p:seq concurrent="1" nextAc="seek">
              <p:cTn id="43" restart="whenNotActive" fill="hold" evtFilter="cancelBubble" nodeType="interactiveSeq">
                <p:stCondLst>
                  <p:cond evt="onClick" delay="0">
                    <p:tgtEl>
                      <p:spTgt spid="22"/>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22"/>
                                        </p:tgtEl>
                                      </p:cBhvr>
                                    </p:cmd>
                                  </p:childTnLst>
                                </p:cTn>
                              </p:par>
                            </p:childTnLst>
                          </p:cTn>
                        </p:par>
                      </p:childTnLst>
                    </p:cTn>
                  </p:par>
                </p:childTnLst>
              </p:cTn>
              <p:nextCondLst>
                <p:cond evt="onClick" delay="0">
                  <p:tgtEl>
                    <p:spTgt spid="22"/>
                  </p:tgtEl>
                </p:cond>
              </p:nextCondLst>
            </p:seq>
            <p:audio>
              <p:cMediaNode vol="80000">
                <p:cTn id="48" fill="hold" display="0">
                  <p:stCondLst>
                    <p:cond delay="indefinite"/>
                  </p:stCondLst>
                  <p:endCondLst>
                    <p:cond evt="onStopAudio" delay="0">
                      <p:tgtEl>
                        <p:sldTgt/>
                      </p:tgtEl>
                    </p:cond>
                  </p:endCondLst>
                </p:cTn>
                <p:tgtEl>
                  <p:spTgt spid="20"/>
                </p:tgtEl>
              </p:cMediaNode>
            </p:audio>
            <p:audio>
              <p:cMediaNode vol="80000">
                <p:cTn id="49" fill="hold" display="0">
                  <p:stCondLst>
                    <p:cond delay="indefinite"/>
                  </p:stCondLst>
                  <p:endCondLst>
                    <p:cond evt="onStopAudio" delay="0">
                      <p:tgtEl>
                        <p:sldTgt/>
                      </p:tgtEl>
                    </p:cond>
                  </p:endCondLst>
                </p:cTn>
                <p:tgtEl>
                  <p:spTgt spid="2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1"/>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2"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123"/>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Schools in the UK</a:t>
            </a:r>
            <a:endParaRPr lang="en-US" sz="2500" dirty="0"/>
          </a:p>
        </p:txBody>
      </p:sp>
      <p:pic>
        <p:nvPicPr>
          <p:cNvPr id="6" name="brP_124"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25"/>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The UK school system: complete the text with the words.</a:t>
            </a:r>
            <a:endParaRPr lang="en-US" sz="1250" dirty="0"/>
          </a:p>
        </p:txBody>
      </p:sp>
      <p:sp>
        <p:nvSpPr>
          <p:cNvPr id="8" name="insIT_12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Il sistema scolastico britannico: completa il testo.</a:t>
            </a:r>
            <a:endParaRPr lang="en-US" sz="950" dirty="0"/>
          </a:p>
        </p:txBody>
      </p:sp>
      <p:sp>
        <p:nvSpPr>
          <p:cNvPr id="9" name="note_12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Bank</a:t>
            </a:r>
            <a:endParaRPr lang="en-US" sz="1150" dirty="0"/>
          </a:p>
        </p:txBody>
      </p:sp>
      <p:pic>
        <p:nvPicPr>
          <p:cNvPr id="10" name="logo_12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2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Vocabulary Bank p.161 · the school system   ·   📖 VB p.161 · 1 The school system (TG key, script 7.2)</a:t>
            </a:r>
            <a:endParaRPr lang="en-US" sz="800" dirty="0"/>
          </a:p>
        </p:txBody>
      </p:sp>
      <p:sp>
        <p:nvSpPr>
          <p:cNvPr id="12" name="cd_130"/>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131"/>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In the UK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start</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primary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when they're five. Before that, many children go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for example between the ages of two and four, but this is not compulsory. From eleven to eighteen, children go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majority of schools in the UK – about ninety percent –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which means that they are paid for by the government, and education is free. The other ten per cent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parents have to pay. A few of these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children study, eat, and sleep.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at primary school are often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children at secondary school are usually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as are people who are studying at university. The person who is in charge of a school is called the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teacher. The school year is divided into three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you want to go to university, you have to take exams called A levels in your last year at school. If your results are good enough, you get a place. A person who has finished university and has a</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is called a graduate.</a:t>
            </a:r>
            <a:endParaRPr lang="en-US" sz="950" dirty="0"/>
          </a:p>
        </p:txBody>
      </p:sp>
      <p:sp>
        <p:nvSpPr>
          <p:cNvPr id="14" name="R1_rdA132"/>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In the UK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start</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primary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when they're five. Before that, many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nursery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for example between the ages of two and four, but this is not compulsory. From eleven to eighteen, children go to</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majority of schools in the UK – about ninety percent –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which means that they are paid for by the government, and education is free. The other ten per cent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parents have to pay. A few of these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children study, eat, and sleep.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at primary school are often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children at secondary school are usually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as are people who are studying at university. The person who is in charge of a school is called the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teacher. The school year is divided into three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you want to go to university, you have to take exams called A levels in your last year at school. If your results are good enough, you get a place. A person who has finished university and has a</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is called a graduate.</a:t>
            </a:r>
            <a:endParaRPr lang="en-US" sz="950" dirty="0"/>
          </a:p>
        </p:txBody>
      </p:sp>
      <p:sp>
        <p:nvSpPr>
          <p:cNvPr id="15" name="R2_rdA133"/>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In the UK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start</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primary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when they're five. Before that, many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nursery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for example between the ages of two and four, but this is not compulsory. From eleven to eighteen,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secondary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majority of schools in the UK – about ninety percent –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which means that they are paid for by the government, and education is free. The other ten per cent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parents have to pay. A few of these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children study, eat, and sleep.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at primary school are often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children at secondary school are usually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as are people who are studying at university. The person who is in charge of a school is called the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teacher. The school year is divided into three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you want to go to university, you have to take exams called A levels in your last year at school. If your results are good enough, you get a place. A person who has finished university and has a</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is called a graduate.</a:t>
            </a:r>
            <a:endParaRPr lang="en-US" sz="950" dirty="0"/>
          </a:p>
        </p:txBody>
      </p:sp>
      <p:sp>
        <p:nvSpPr>
          <p:cNvPr id="16" name="R3_rdA134"/>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In the UK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start</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primary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when they're five. Before that, many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nursery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for example between the ages of two and four, but this is not compulsory. From eleven to eighteen,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secondary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majority of schools in the UK – about ninety percent –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state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which means that they are paid for by the government, and education is free. The other ten per cent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parents have to pay. A few of these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children study, eat, and sleep.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at primary school are often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children at secondary school are usually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as are people who are studying at university. The person who is in charge of a school is called the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teacher. The school year is divided into three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you want to go to university, you have to take exams called A levels in your last year at school. If your results are good enough, you get a place. A person who has finished university and has a</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is called a graduate.</a:t>
            </a:r>
            <a:endParaRPr lang="en-US" sz="950" dirty="0"/>
          </a:p>
        </p:txBody>
      </p:sp>
      <p:sp>
        <p:nvSpPr>
          <p:cNvPr id="17" name="R4_rdA135"/>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In the UK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start</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primary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when they're five. Before that, many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nursery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for example between the ages of two and four, but this is not compulsory. From eleven to eighteen,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secondary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majority of schools in the UK – about ninety percent –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state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which means that they are paid for by the government, and education is free. The other ten per cent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private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parents have to pay. A few of these are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children study, eat, and sleep.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at primary school are often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children at secondary school are usually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as are people who are studying at university. The person who is in charge of a school is called the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teacher. The school year is divided into three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you want to go to university, you have to take exams called A levels in your last year at school. If your results are good enough, you get a place. A person who has finished university and has a</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is called a graduate.</a:t>
            </a:r>
            <a:endParaRPr lang="en-US" sz="950" dirty="0"/>
          </a:p>
        </p:txBody>
      </p:sp>
      <p:sp>
        <p:nvSpPr>
          <p:cNvPr id="18" name="R5_rdA136"/>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In the UK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start</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primary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when they're five. Before that, many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nursery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for example between the ages of two and four, but this is not compulsory. From eleven to eighteen,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secondary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majority of schools in the UK – about ninety percent –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state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which means that they are paid for by the government, and education is free. The other ten per cent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private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parents have to pay. A few of these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boarding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children study, eat, and sleep.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at primary school are often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children at secondary school are usually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as are people who are studying at university. The person who is in charge of a school is called the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teacher. The school year is divided into three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you want to go to university, you have to take exams called A levels in your last year at school. If your results are good enough, you get a place. A person who has finished university and has a</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is called a graduate.</a:t>
            </a:r>
            <a:endParaRPr lang="en-US" sz="950" dirty="0"/>
          </a:p>
        </p:txBody>
      </p:sp>
      <p:sp>
        <p:nvSpPr>
          <p:cNvPr id="19" name="R6_rdA137"/>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In the UK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start</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primary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when they're five. Before that, many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nursery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for example between the ages of two and four, but this is not compulsory. From eleven to eighteen,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secondary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majority of schools in the UK – about ninety percent –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state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which means that they are paid for by the government, and education is free. The other ten per cent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private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parents have to pay. A few of these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boarding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children study, eat, and sleep.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at primary school are often called</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pupils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children at secondary school are usually called</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as are people who are studying at university. The person who is in charge of a school is called the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teacher. The school year is divided into three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you want to go to university, you have to take exams called A levels in your last year at school. If your results are good enough, you get a place. A person who has finished university and has a</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is called a graduate.</a:t>
            </a:r>
            <a:endParaRPr lang="en-US" sz="950" dirty="0"/>
          </a:p>
        </p:txBody>
      </p:sp>
      <p:sp>
        <p:nvSpPr>
          <p:cNvPr id="20" name="R7_rdA138"/>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In the UK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start</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primary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when they're five. Before that, many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nursery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for example between the ages of two and four, but this is not compulsory. From eleven to eighteen,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secondary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majority of schools in the UK – about ninety percent –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state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which means that they are paid for by the government, and education is free. The other ten per cent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private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parents have to pay. A few of these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boarding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children study, eat, and sleep.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at primary school are often called</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pupils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children at secondary school are usually called</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(8) students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as are people who are studying at university. The person who is in charge of a school is called the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teacher. The school year is divided into three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you want to go to university, you have to take exams called A levels in your last year at school. If your results are good enough, you get a place. A person who has finished university and has a</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is called a graduate.</a:t>
            </a:r>
            <a:endParaRPr lang="en-US" sz="950" dirty="0"/>
          </a:p>
        </p:txBody>
      </p:sp>
      <p:sp>
        <p:nvSpPr>
          <p:cNvPr id="21" name="R8_rdA139"/>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In the UK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start</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primary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when they're five. Before that, many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nursery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for example between the ages of two and four, but this is not compulsory. From eleven to eighteen,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secondary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majority of schools in the UK – about ninety percent –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state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which means that they are paid for by the government, and education is free. The other ten per cent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private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parents have to pay. A few of these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boarding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children study, eat, and sleep.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at primary school are often called</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pupils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children at secondary school are usually called</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(8) students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as are people who are studying at university. The person who is in charge of a school is called the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(9) head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teacher. The school year is divided into three</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you want to go to university, you have to take exams called A levels in your last year at school. If your results are good enough, you get a place. A person who has finished university and has a</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is called a graduate.</a:t>
            </a:r>
            <a:endParaRPr lang="en-US" sz="950" dirty="0"/>
          </a:p>
        </p:txBody>
      </p:sp>
      <p:sp>
        <p:nvSpPr>
          <p:cNvPr id="22" name="R9_rdA140"/>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In the UK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start</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primary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when they're five. Before that, many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nursery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for example between the ages of two and four, but this is not compulsory. From eleven to eighteen,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secondary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majority of schools in the UK – about ninety percent –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state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which means that they are paid for by the government, and education is free. The other ten per cent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private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parents have to pay. A few of these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boarding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children study, eat, and sleep.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at primary school are often called</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pupils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children at secondary school are usually called</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(8) students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as are people who are studying at university. The person who is in charge of a school is called the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(9) head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teacher. The school year is divided into three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(10) terms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you want to go to university, you have to take exams called A levels in your last year at school. If your results are good enough, you get a place. A person who has finished university and has a</a:t>
            </a:r>
            <a:pPr indent="0" marL="0">
              <a:lnSpc>
                <a:spcPct val="105000"/>
              </a:lnSpc>
              <a:spcAft>
                <a:spcPts val="700"/>
              </a:spcAft>
              <a:buNone/>
            </a:pPr>
            <a:r>
              <a:rPr lang="en-US" sz="95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is called a graduate.</a:t>
            </a:r>
            <a:endParaRPr lang="en-US" sz="950" dirty="0"/>
          </a:p>
        </p:txBody>
      </p:sp>
      <p:sp>
        <p:nvSpPr>
          <p:cNvPr id="23" name="R10_rdA141"/>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450" b="1" dirty="0">
                <a:solidFill>
                  <a:srgbClr val="1F6F43"/>
                </a:solidFill>
                <a:latin typeface="Georgia" pitchFamily="34" charset="0"/>
                <a:ea typeface="Georgia" pitchFamily="34" charset="-122"/>
                <a:cs typeface="Georgia" pitchFamily="34" charset="-120"/>
              </a:rPr>
              <a:t>In the UK</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start</a:t>
            </a:r>
            <a:pPr indent="0" marL="0">
              <a:lnSpc>
                <a:spcPct val="105000"/>
              </a:lnSpc>
              <a:spcAft>
                <a:spcPts val="700"/>
              </a:spcAft>
              <a:buNone/>
            </a:pPr>
            <a:r>
              <a:rPr lang="en-US" sz="950" b="1" dirty="0">
                <a:solidFill>
                  <a:srgbClr val="7B5CD6"/>
                </a:solidFill>
                <a:highlight>
                  <a:srgbClr val="EEE8FB"/>
                </a:highlight>
                <a:latin typeface="Georgia" pitchFamily="34" charset="0"/>
                <a:ea typeface="Georgia" pitchFamily="34" charset="-122"/>
                <a:cs typeface="Georgia" pitchFamily="34" charset="-120"/>
              </a:rPr>
              <a:t> (1) primary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when they're five. Before that, many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(2) nursery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 for example between the ages of two and four, but this is not compulsory. From eleven to eighteen, children go to</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(3) secondary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The majority of schools in the UK – about ninety percent –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(4) state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which means that they are paid for by the government, and education is free. The other ten per cent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(5) private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parents have to pay. A few of these are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(6) boarding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schools, where children study, eat, and sleep.</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Children at primary school are often called</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(7) pupils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and children at secondary school are usually called</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(8) students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 as are people who are studying at university. The person who is in charge of a school is called the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(9) head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teacher. The school year is divided into three</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(10) terms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a:t>
            </a:r>
            <a:endParaRPr lang="en-US" sz="950" dirty="0"/>
          </a:p>
          <a:p>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If you want to go to university, you have to take exams called A levels in your last year at school. If your results are good enough, you get a place. A person who has finished university and has a</a:t>
            </a:r>
            <a:pPr indent="0" marL="0">
              <a:lnSpc>
                <a:spcPct val="105000"/>
              </a:lnSpc>
              <a:spcAft>
                <a:spcPts val="700"/>
              </a:spcAft>
              <a:buNone/>
            </a:pPr>
            <a:r>
              <a:rPr lang="en-US" sz="950" b="1" dirty="0">
                <a:solidFill>
                  <a:srgbClr val="1B2559"/>
                </a:solidFill>
                <a:highlight>
                  <a:srgbClr val="FFE066"/>
                </a:highlight>
                <a:latin typeface="Georgia" pitchFamily="34" charset="0"/>
                <a:ea typeface="Georgia" pitchFamily="34" charset="-122"/>
                <a:cs typeface="Georgia" pitchFamily="34" charset="-120"/>
              </a:rPr>
              <a:t> (11) degree </a:t>
            </a:r>
            <a:pPr indent="0" marL="0">
              <a:lnSpc>
                <a:spcPct val="105000"/>
              </a:lnSpc>
              <a:spcAft>
                <a:spcPts val="700"/>
              </a:spcAft>
              <a:buNone/>
            </a:pPr>
            <a:r>
              <a:rPr lang="en-US" sz="950" dirty="0">
                <a:solidFill>
                  <a:srgbClr val="1B2559"/>
                </a:solidFill>
                <a:latin typeface="Georgia" pitchFamily="34" charset="0"/>
                <a:ea typeface="Georgia" pitchFamily="34" charset="-122"/>
                <a:cs typeface="Georgia" pitchFamily="34" charset="-120"/>
              </a:rPr>
              <a:t>is called a graduate.</a:t>
            </a:r>
            <a:endParaRPr lang="en-US" sz="950" dirty="0"/>
          </a:p>
        </p:txBody>
      </p:sp>
      <p:sp>
        <p:nvSpPr>
          <p:cNvPr id="24" name="cd_142"/>
          <p:cNvSpPr/>
          <p:nvPr/>
        </p:nvSpPr>
        <p:spPr>
          <a:xfrm>
            <a:off x="6263640" y="1417320"/>
            <a:ext cx="2606040" cy="2063496"/>
          </a:xfrm>
          <a:prstGeom prst="roundRect">
            <a:avLst>
              <a:gd name="adj" fmla="val 620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5" name="ii_143"/>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ih_144"/>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Words</a:t>
            </a:r>
            <a:endParaRPr lang="en-US" sz="1300" dirty="0"/>
          </a:p>
        </p:txBody>
      </p:sp>
      <p:sp>
        <p:nvSpPr>
          <p:cNvPr id="27" name="il_145"/>
          <p:cNvSpPr/>
          <p:nvPr/>
        </p:nvSpPr>
        <p:spPr>
          <a:xfrm>
            <a:off x="6830568" y="1911096"/>
            <a:ext cx="1947672" cy="14965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boarding · degree · head · nursery</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primary · private · pupils</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secondary · state · students · terms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4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4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46"/>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47"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148"/>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Discipline and exams</a:t>
            </a:r>
            <a:endParaRPr lang="en-US" sz="2500" dirty="0"/>
          </a:p>
        </p:txBody>
      </p:sp>
      <p:pic>
        <p:nvPicPr>
          <p:cNvPr id="6" name="brP_149"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50"/>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Discipline and exams: complete the texts. Change the verb form!</a:t>
            </a:r>
            <a:endParaRPr lang="en-US" sz="1100" dirty="0"/>
          </a:p>
        </p:txBody>
      </p:sp>
      <p:sp>
        <p:nvSpPr>
          <p:cNvPr id="8" name="insIT_15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Disciplina ed esami: completa i testi. Cambia la forma del verbo!</a:t>
            </a:r>
            <a:endParaRPr lang="en-US" sz="950" dirty="0"/>
          </a:p>
        </p:txBody>
      </p:sp>
      <p:sp>
        <p:nvSpPr>
          <p:cNvPr id="9" name="note_15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Bank</a:t>
            </a:r>
            <a:endParaRPr lang="en-US" sz="1150" dirty="0"/>
          </a:p>
        </p:txBody>
      </p:sp>
      <p:pic>
        <p:nvPicPr>
          <p:cNvPr id="10" name="logo_15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5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Vocabulary Bank p.161 · discipline and exams   ·   📖 VB p.161 · 2 Discipline and exams (TG key, script 7.4)</a:t>
            </a:r>
            <a:endParaRPr lang="en-US" sz="800" dirty="0"/>
          </a:p>
        </p:txBody>
      </p:sp>
      <p:sp>
        <p:nvSpPr>
          <p:cNvPr id="12" name="cd_155"/>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156"/>
          <p:cNvSpPr/>
          <p:nvPr/>
        </p:nvSpPr>
        <p:spPr>
          <a:xfrm>
            <a:off x="457200" y="1527048"/>
            <a:ext cx="2606040" cy="309067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A · Discipline</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Discipline is very strict in our school. We aren't</a:t>
            </a:r>
            <a:pPr indent="0" marL="0">
              <a:lnSpc>
                <a:spcPct val="105000"/>
              </a:lnSpc>
              <a:spcAft>
                <a:spcPts val="700"/>
              </a:spcAft>
              <a:buNone/>
            </a:pPr>
            <a:r>
              <a:rPr lang="en-US" sz="1100" b="1" dirty="0">
                <a:solidFill>
                  <a:srgbClr val="7B5CD6"/>
                </a:solidFill>
                <a:highlight>
                  <a:srgbClr val="EEE8FB"/>
                </a:highlight>
                <a:latin typeface="Georgia" pitchFamily="34" charset="0"/>
                <a:ea typeface="Georgia" pitchFamily="34" charset="-122"/>
                <a:cs typeface="Georgia" pitchFamily="34" charset="-120"/>
              </a:rPr>
              <a:t> (1) allowed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to take our phones to school, and they don't</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us bring unhealthy food for lunch, like crisps or fizzy drinks. Most children behave well, but if you</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for example, talk too much in class – you'll</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and the teacher will probably</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you stay behind after class. If you do something more serious, like</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in an exam, you might even</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14" name="R1_rdA157"/>
          <p:cNvSpPr/>
          <p:nvPr/>
        </p:nvSpPr>
        <p:spPr>
          <a:xfrm>
            <a:off x="457200" y="1527048"/>
            <a:ext cx="260604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A · Discipline</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Discipline is very strict in our school. We aren't</a:t>
            </a:r>
            <a:pPr indent="0" marL="0">
              <a:lnSpc>
                <a:spcPct val="105000"/>
              </a:lnSpc>
              <a:spcAft>
                <a:spcPts val="700"/>
              </a:spcAft>
              <a:buNone/>
            </a:pPr>
            <a:r>
              <a:rPr lang="en-US" sz="1100" b="1" dirty="0">
                <a:solidFill>
                  <a:srgbClr val="7B5CD6"/>
                </a:solidFill>
                <a:highlight>
                  <a:srgbClr val="EEE8FB"/>
                </a:highlight>
                <a:latin typeface="Georgia" pitchFamily="34" charset="0"/>
                <a:ea typeface="Georgia" pitchFamily="34" charset="-122"/>
                <a:cs typeface="Georgia" pitchFamily="34" charset="-120"/>
              </a:rPr>
              <a:t> (1) allowed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to take our phones to school, and they don't</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(2) let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us bring unhealthy food for lunch, like crisps or fizzy drinks. Most children behave well, but if you</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for example, talk too much in class – you'll</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and the teacher will probably</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you stay behind after class. If you do something more serious, like</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in an exam, you might even</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15" name="R2_rdA158"/>
          <p:cNvSpPr/>
          <p:nvPr/>
        </p:nvSpPr>
        <p:spPr>
          <a:xfrm>
            <a:off x="457200" y="1527048"/>
            <a:ext cx="260604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A · Discipline</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Discipline is very strict in our school. We aren't</a:t>
            </a:r>
            <a:pPr indent="0" marL="0">
              <a:lnSpc>
                <a:spcPct val="105000"/>
              </a:lnSpc>
              <a:spcAft>
                <a:spcPts val="700"/>
              </a:spcAft>
              <a:buNone/>
            </a:pPr>
            <a:r>
              <a:rPr lang="en-US" sz="1100" b="1" dirty="0">
                <a:solidFill>
                  <a:srgbClr val="7B5CD6"/>
                </a:solidFill>
                <a:highlight>
                  <a:srgbClr val="EEE8FB"/>
                </a:highlight>
                <a:latin typeface="Georgia" pitchFamily="34" charset="0"/>
                <a:ea typeface="Georgia" pitchFamily="34" charset="-122"/>
                <a:cs typeface="Georgia" pitchFamily="34" charset="-120"/>
              </a:rPr>
              <a:t> (1) allowed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to take our phones to school, and they don't</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(2) let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us bring unhealthy food for lunch, like crisps or fizzy drinks. Most children behave well, but if you</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(3) misbehave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for example, talk too much in class – you'll</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and the teacher will probably</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you stay behind after class. If you do something more serious, like</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in an exam, you might even</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16" name="R3_rdA159"/>
          <p:cNvSpPr/>
          <p:nvPr/>
        </p:nvSpPr>
        <p:spPr>
          <a:xfrm>
            <a:off x="457200" y="1527048"/>
            <a:ext cx="260604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A · Discipline</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Discipline is very strict in our school. We aren't</a:t>
            </a:r>
            <a:pPr indent="0" marL="0">
              <a:lnSpc>
                <a:spcPct val="105000"/>
              </a:lnSpc>
              <a:spcAft>
                <a:spcPts val="700"/>
              </a:spcAft>
              <a:buNone/>
            </a:pPr>
            <a:r>
              <a:rPr lang="en-US" sz="1100" b="1" dirty="0">
                <a:solidFill>
                  <a:srgbClr val="7B5CD6"/>
                </a:solidFill>
                <a:highlight>
                  <a:srgbClr val="EEE8FB"/>
                </a:highlight>
                <a:latin typeface="Georgia" pitchFamily="34" charset="0"/>
                <a:ea typeface="Georgia" pitchFamily="34" charset="-122"/>
                <a:cs typeface="Georgia" pitchFamily="34" charset="-120"/>
              </a:rPr>
              <a:t> (1) allowed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to take our phones to school, and they don't</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(2) let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us bring unhealthy food for lunch, like crisps or fizzy drinks. Most children behave well, but if you</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(3) misbehave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for example, talk too much in class – you'll</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(4) be punished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and the teacher will probably</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you stay behind after class. If you do something more serious, like</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in an exam, you might even</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17" name="R4_rdA160"/>
          <p:cNvSpPr/>
          <p:nvPr/>
        </p:nvSpPr>
        <p:spPr>
          <a:xfrm>
            <a:off x="457200" y="1527048"/>
            <a:ext cx="260604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A · Discipline</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Discipline is very strict in our school. We aren't</a:t>
            </a:r>
            <a:pPr indent="0" marL="0">
              <a:lnSpc>
                <a:spcPct val="105000"/>
              </a:lnSpc>
              <a:spcAft>
                <a:spcPts val="700"/>
              </a:spcAft>
              <a:buNone/>
            </a:pPr>
            <a:r>
              <a:rPr lang="en-US" sz="1100" b="1" dirty="0">
                <a:solidFill>
                  <a:srgbClr val="7B5CD6"/>
                </a:solidFill>
                <a:highlight>
                  <a:srgbClr val="EEE8FB"/>
                </a:highlight>
                <a:latin typeface="Georgia" pitchFamily="34" charset="0"/>
                <a:ea typeface="Georgia" pitchFamily="34" charset="-122"/>
                <a:cs typeface="Georgia" pitchFamily="34" charset="-120"/>
              </a:rPr>
              <a:t> (1) allowed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to take our phones to school, and they don't</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(2) let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us bring unhealthy food for lunch, like crisps or fizzy drinks. Most children behave well, but if you</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(3) misbehave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for example, talk too much in class – you'll</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(4) be punished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and the teacher will probably</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(5) make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you stay behind after class. If you do something more serious, like</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in an exam, you might even</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18" name="R5_rdA161"/>
          <p:cNvSpPr/>
          <p:nvPr/>
        </p:nvSpPr>
        <p:spPr>
          <a:xfrm>
            <a:off x="457200" y="1527048"/>
            <a:ext cx="260604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A · Discipline</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Discipline is very strict in our school. We aren't</a:t>
            </a:r>
            <a:pPr indent="0" marL="0">
              <a:lnSpc>
                <a:spcPct val="105000"/>
              </a:lnSpc>
              <a:spcAft>
                <a:spcPts val="700"/>
              </a:spcAft>
              <a:buNone/>
            </a:pPr>
            <a:r>
              <a:rPr lang="en-US" sz="1100" b="1" dirty="0">
                <a:solidFill>
                  <a:srgbClr val="7B5CD6"/>
                </a:solidFill>
                <a:highlight>
                  <a:srgbClr val="EEE8FB"/>
                </a:highlight>
                <a:latin typeface="Georgia" pitchFamily="34" charset="0"/>
                <a:ea typeface="Georgia" pitchFamily="34" charset="-122"/>
                <a:cs typeface="Georgia" pitchFamily="34" charset="-120"/>
              </a:rPr>
              <a:t> (1) allowed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to take our phones to school, and they don't</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(2) let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us bring unhealthy food for lunch, like crisps or fizzy drinks. Most children behave well, but if you</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(3) misbehave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for example, talk too much in class – you'll</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(4) be punished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and the teacher will probably</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(5) make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you stay behind after class. If you do something more serious, like</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(6) cheat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in an exam, you might even</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19" name="R6_rdA162"/>
          <p:cNvSpPr/>
          <p:nvPr/>
        </p:nvSpPr>
        <p:spPr>
          <a:xfrm>
            <a:off x="457200" y="1527048"/>
            <a:ext cx="260604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A · Discipline</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Discipline is very strict in our school. We aren't</a:t>
            </a:r>
            <a:pPr indent="0" marL="0">
              <a:lnSpc>
                <a:spcPct val="105000"/>
              </a:lnSpc>
              <a:spcAft>
                <a:spcPts val="700"/>
              </a:spcAft>
              <a:buNone/>
            </a:pPr>
            <a:r>
              <a:rPr lang="en-US" sz="1100" b="1" dirty="0">
                <a:solidFill>
                  <a:srgbClr val="7B5CD6"/>
                </a:solidFill>
                <a:highlight>
                  <a:srgbClr val="EEE8FB"/>
                </a:highlight>
                <a:latin typeface="Georgia" pitchFamily="34" charset="0"/>
                <a:ea typeface="Georgia" pitchFamily="34" charset="-122"/>
                <a:cs typeface="Georgia" pitchFamily="34" charset="-120"/>
              </a:rPr>
              <a:t> (1) allowed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to take our phones to school, and they don't</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(2) let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us bring unhealthy food for lunch, like crisps or fizzy drinks. Most children behave well, but if you</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(3) misbehave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for example, talk too much in class – you'll</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(4) be punished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and the teacher will probably</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(5) make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you stay behind after class. If you do something more serious, like</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(6) cheat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in an exam, you might even</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(7) be expelled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t>
            </a:r>
            <a:endParaRPr lang="en-US" sz="1100" dirty="0"/>
          </a:p>
        </p:txBody>
      </p:sp>
      <p:sp>
        <p:nvSpPr>
          <p:cNvPr id="20" name="rd_163"/>
          <p:cNvSpPr/>
          <p:nvPr/>
        </p:nvSpPr>
        <p:spPr>
          <a:xfrm>
            <a:off x="3337560" y="1527048"/>
            <a:ext cx="2606040" cy="309067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B · Exams</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Marc has to</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an important English exam next week. He hopes he'll</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but he hasn't had much time to</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so he's worried that he might</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He won't get the</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until July.</a:t>
            </a:r>
            <a:endParaRPr lang="en-US" sz="1100" dirty="0"/>
          </a:p>
        </p:txBody>
      </p:sp>
      <p:sp>
        <p:nvSpPr>
          <p:cNvPr id="21" name="R7_rdA164"/>
          <p:cNvSpPr/>
          <p:nvPr/>
        </p:nvSpPr>
        <p:spPr>
          <a:xfrm>
            <a:off x="3337560" y="1527048"/>
            <a:ext cx="260604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B · Exams</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Marc has to</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(8) take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an important English exam next week. He hopes he'll</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but he hasn't had much time to</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so he's worried that he might</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He won't get the</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until July.</a:t>
            </a:r>
            <a:endParaRPr lang="en-US" sz="1100" dirty="0"/>
          </a:p>
        </p:txBody>
      </p:sp>
      <p:sp>
        <p:nvSpPr>
          <p:cNvPr id="22" name="R8_rdA165"/>
          <p:cNvSpPr/>
          <p:nvPr/>
        </p:nvSpPr>
        <p:spPr>
          <a:xfrm>
            <a:off x="3337560" y="1527048"/>
            <a:ext cx="260604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B · Exams</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Marc has to</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(8) take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an important English exam next week. He hopes he'll</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(9) pass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but he hasn't had much time to</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so he's worried that he might</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He won't get the</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until July.</a:t>
            </a:r>
            <a:endParaRPr lang="en-US" sz="1100" dirty="0"/>
          </a:p>
        </p:txBody>
      </p:sp>
      <p:sp>
        <p:nvSpPr>
          <p:cNvPr id="23" name="R9_rdA166"/>
          <p:cNvSpPr/>
          <p:nvPr/>
        </p:nvSpPr>
        <p:spPr>
          <a:xfrm>
            <a:off x="3337560" y="1527048"/>
            <a:ext cx="260604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B · Exams</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Marc has to</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(8) take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an important English exam next week. He hopes he'll</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(9) pass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but he hasn't had much time to</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(10) revise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so he's worried that he might</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(11)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He won't get the</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until July.</a:t>
            </a:r>
            <a:endParaRPr lang="en-US" sz="1100" dirty="0"/>
          </a:p>
        </p:txBody>
      </p:sp>
      <p:sp>
        <p:nvSpPr>
          <p:cNvPr id="24" name="R10_rdA167"/>
          <p:cNvSpPr/>
          <p:nvPr/>
        </p:nvSpPr>
        <p:spPr>
          <a:xfrm>
            <a:off x="3337560" y="1527048"/>
            <a:ext cx="260604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B · Exams</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Marc has to</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(8) take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an important English exam next week. He hopes he'll</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(9) pass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but he hasn't had much time to</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(10) revise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so he's worried that he might</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(11) fail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He won't get the</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(12) ________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until July.</a:t>
            </a:r>
            <a:endParaRPr lang="en-US" sz="1100" dirty="0"/>
          </a:p>
        </p:txBody>
      </p:sp>
      <p:sp>
        <p:nvSpPr>
          <p:cNvPr id="25" name="R11_rdA168"/>
          <p:cNvSpPr/>
          <p:nvPr/>
        </p:nvSpPr>
        <p:spPr>
          <a:xfrm>
            <a:off x="3337560" y="1527048"/>
            <a:ext cx="260604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B · Exams</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Marc has to</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(8) take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an important English exam next week. He hopes he'll</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(9) pass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but he hasn't had much time to</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(10) revise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so he's worried that he might</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(11) fail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He won't get the</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(12) result </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until July.</a:t>
            </a:r>
            <a:endParaRPr lang="en-US" sz="1100" dirty="0"/>
          </a:p>
        </p:txBody>
      </p:sp>
      <p:sp>
        <p:nvSpPr>
          <p:cNvPr id="26" name="rdl_169"/>
          <p:cNvSpPr/>
          <p:nvPr/>
        </p:nvSpPr>
        <p:spPr>
          <a:xfrm>
            <a:off x="3200400" y="1600200"/>
            <a:ext cx="0" cy="2999232"/>
          </a:xfrm>
          <a:prstGeom prst="line">
            <a:avLst/>
          </a:prstGeom>
          <a:noFill/>
          <a:ln w="28575">
            <a:solidFill>
              <a:srgbClr val="A8E5BE"/>
            </a:solidFill>
            <a:prstDash val="solid"/>
          </a:ln>
        </p:spPr>
      </p:sp>
      <p:sp>
        <p:nvSpPr>
          <p:cNvPr id="27" name="cd_170"/>
          <p:cNvSpPr/>
          <p:nvPr/>
        </p:nvSpPr>
        <p:spPr>
          <a:xfrm>
            <a:off x="6263640" y="1417320"/>
            <a:ext cx="2606040" cy="2063496"/>
          </a:xfrm>
          <a:prstGeom prst="roundRect">
            <a:avLst>
              <a:gd name="adj" fmla="val 620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8" name="ii_171"/>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9" name="ih_172"/>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make, let, allow</a:t>
            </a:r>
            <a:endParaRPr lang="en-US" sz="1300" dirty="0"/>
          </a:p>
        </p:txBody>
      </p:sp>
      <p:sp>
        <p:nvSpPr>
          <p:cNvPr id="30" name="il_173"/>
          <p:cNvSpPr/>
          <p:nvPr/>
        </p:nvSpPr>
        <p:spPr>
          <a:xfrm>
            <a:off x="6830568" y="1911096"/>
            <a:ext cx="1947672" cy="14965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make + person + infinitive (no to)</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let + person + infinitive (no to)</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be allowed + to + infinitive</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4"/>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75"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176"/>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Our school rules</a:t>
            </a:r>
            <a:endParaRPr lang="en-US" sz="2500" dirty="0"/>
          </a:p>
        </p:txBody>
      </p:sp>
      <p:pic>
        <p:nvPicPr>
          <p:cNvPr id="6" name="brP_177"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78"/>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Teams: allowed or not? Make a sentence with let, make or allowed to!</a:t>
            </a:r>
            <a:endParaRPr lang="en-US" sz="1100" dirty="0"/>
          </a:p>
        </p:txBody>
      </p:sp>
      <p:sp>
        <p:nvSpPr>
          <p:cNvPr id="8" name="insIT_17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Squadre: permesso o no? Fate una frase con let, make o allowed to!</a:t>
            </a:r>
            <a:endParaRPr lang="en-US" sz="950" dirty="0"/>
          </a:p>
        </p:txBody>
      </p:sp>
      <p:sp>
        <p:nvSpPr>
          <p:cNvPr id="9" name="note_18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teams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Communicative game</a:t>
            </a:r>
            <a:endParaRPr lang="en-US" sz="1150" dirty="0"/>
          </a:p>
        </p:txBody>
      </p:sp>
      <p:pic>
        <p:nvPicPr>
          <p:cNvPr id="10" name="logo_18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8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Vocabulary · make, let, allow   ·   📖 VB p.161 · make, let, allow box</a:t>
            </a:r>
            <a:endParaRPr lang="en-US" sz="800" dirty="0"/>
          </a:p>
        </p:txBody>
      </p:sp>
      <p:sp>
        <p:nvSpPr>
          <p:cNvPr id="12" name="cd_183"/>
          <p:cNvSpPr/>
          <p:nvPr/>
        </p:nvSpPr>
        <p:spPr>
          <a:xfrm>
            <a:off x="320040" y="1417320"/>
            <a:ext cx="2697480" cy="1645920"/>
          </a:xfrm>
          <a:prstGeom prst="roundRect">
            <a:avLst>
              <a:gd name="adj" fmla="val 777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8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85"/>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186"/>
          <p:cNvSpPr/>
          <p:nvPr/>
        </p:nvSpPr>
        <p:spPr>
          <a:xfrm>
            <a:off x="886968" y="1911096"/>
            <a:ext cx="2039112" cy="10789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Teacher says a school rule.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Correct grammar = 1 point!</a:t>
            </a:r>
            <a:endParaRPr lang="en-US" sz="1200" dirty="0"/>
          </a:p>
        </p:txBody>
      </p:sp>
      <p:sp>
        <p:nvSpPr>
          <p:cNvPr id="16" name="st_187"/>
          <p:cNvSpPr/>
          <p:nvPr/>
        </p:nvSpPr>
        <p:spPr>
          <a:xfrm rot="-180000">
            <a:off x="502920" y="32461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188"/>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189"/>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phones in class</a:t>
            </a:r>
            <a:endParaRPr lang="en-US" sz="1250" dirty="0"/>
          </a:p>
        </p:txBody>
      </p:sp>
      <p:sp>
        <p:nvSpPr>
          <p:cNvPr id="19" name="chip_190"/>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We aren't allowed to use our phones in class.</a:t>
            </a:r>
            <a:endParaRPr lang="en-US" sz="1050" dirty="0"/>
          </a:p>
        </p:txBody>
      </p:sp>
      <p:sp>
        <p:nvSpPr>
          <p:cNvPr id="20" name="bd_191"/>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192"/>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chewing gum</a:t>
            </a:r>
            <a:endParaRPr lang="en-US" sz="1250" dirty="0"/>
          </a:p>
        </p:txBody>
      </p:sp>
      <p:sp>
        <p:nvSpPr>
          <p:cNvPr id="22" name="R1_chip193"/>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They don't let us chew gum.</a:t>
            </a:r>
            <a:endParaRPr lang="en-US" sz="1050" dirty="0"/>
          </a:p>
        </p:txBody>
      </p:sp>
      <p:sp>
        <p:nvSpPr>
          <p:cNvPr id="23" name="bd_194"/>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195"/>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stay behind after class</a:t>
            </a:r>
            <a:endParaRPr lang="en-US" sz="1250" dirty="0"/>
          </a:p>
        </p:txBody>
      </p:sp>
      <p:sp>
        <p:nvSpPr>
          <p:cNvPr id="25" name="R2_chip196"/>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The teacher made me stay behind after class.</a:t>
            </a:r>
            <a:endParaRPr lang="en-US" sz="1050" dirty="0"/>
          </a:p>
        </p:txBody>
      </p:sp>
      <p:sp>
        <p:nvSpPr>
          <p:cNvPr id="26" name="bd_197"/>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198"/>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leave early on Fridays</a:t>
            </a:r>
            <a:endParaRPr lang="en-US" sz="1250" dirty="0"/>
          </a:p>
        </p:txBody>
      </p:sp>
      <p:sp>
        <p:nvSpPr>
          <p:cNvPr id="28" name="R3_chip199"/>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They let us leave early on Fridays.</a:t>
            </a:r>
            <a:endParaRPr lang="en-US" sz="1050" dirty="0"/>
          </a:p>
        </p:txBody>
      </p:sp>
      <p:sp>
        <p:nvSpPr>
          <p:cNvPr id="29" name="bd_200"/>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201"/>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wear a uniform</a:t>
            </a:r>
            <a:endParaRPr lang="en-US" sz="1250" dirty="0"/>
          </a:p>
        </p:txBody>
      </p:sp>
      <p:sp>
        <p:nvSpPr>
          <p:cNvPr id="31" name="R4_chip202"/>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We're made to wear a uniform. / They make us wear a uniform.</a:t>
            </a:r>
            <a:endParaRPr lang="en-US" sz="1050" dirty="0"/>
          </a:p>
        </p:txBody>
      </p:sp>
      <p:sp>
        <p:nvSpPr>
          <p:cNvPr id="32" name="bd_203"/>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204"/>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eat in the classroom</a:t>
            </a:r>
            <a:endParaRPr lang="en-US" sz="1250" dirty="0"/>
          </a:p>
        </p:txBody>
      </p:sp>
      <p:sp>
        <p:nvSpPr>
          <p:cNvPr id="34" name="R5_chip205"/>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We aren't allowed to eat in the classroom.</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06"/>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07"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208"/>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letter u</a:t>
            </a:r>
            <a:endParaRPr lang="en-US" sz="2500" dirty="0"/>
          </a:p>
        </p:txBody>
      </p:sp>
      <p:pic>
        <p:nvPicPr>
          <p:cNvPr id="6" name="brP_209"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210"/>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the words. Which sound is the u?</a:t>
            </a:r>
            <a:endParaRPr lang="en-US" sz="1250" dirty="0"/>
          </a:p>
        </p:txBody>
      </p:sp>
      <p:sp>
        <p:nvSpPr>
          <p:cNvPr id="8" name="insIT_21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 le parole. Che suono ha la u?</a:t>
            </a:r>
            <a:endParaRPr lang="en-US" sz="950" dirty="0"/>
          </a:p>
        </p:txBody>
      </p:sp>
      <p:sp>
        <p:nvSpPr>
          <p:cNvPr id="9" name="note_21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MATCH</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Guided discovery</a:t>
            </a:r>
            <a:endParaRPr lang="en-US" sz="1150" dirty="0"/>
          </a:p>
        </p:txBody>
      </p:sp>
      <p:pic>
        <p:nvPicPr>
          <p:cNvPr id="10" name="logo_21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1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Pronunciation · the letter u   ·   📖 SB p.67 · 2a, 2b · audio 7.5 (TG key)</a:t>
            </a:r>
            <a:endParaRPr lang="en-US" sz="800" dirty="0"/>
          </a:p>
        </p:txBody>
      </p:sp>
      <p:sp>
        <p:nvSpPr>
          <p:cNvPr id="12" name="cd_215"/>
          <p:cNvSpPr/>
          <p:nvPr/>
        </p:nvSpPr>
        <p:spPr>
          <a:xfrm>
            <a:off x="320040" y="1417320"/>
            <a:ext cx="2697480" cy="1911096"/>
          </a:xfrm>
          <a:prstGeom prst="roundRect">
            <a:avLst>
              <a:gd name="adj" fmla="val 669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1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17"/>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sounds</a:t>
            </a:r>
            <a:endParaRPr lang="en-US" sz="1300" dirty="0"/>
          </a:p>
        </p:txBody>
      </p:sp>
      <p:sp>
        <p:nvSpPr>
          <p:cNvPr id="15" name="ap_218"/>
          <p:cNvSpPr/>
          <p:nvPr/>
        </p:nvSpPr>
        <p:spPr>
          <a:xfrm>
            <a:off x="365760" y="3465576"/>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7.5</a:t>
            </a:r>
            <a:endParaRPr lang="en-US" sz="1100" dirty="0"/>
          </a:p>
        </p:txBody>
      </p:sp>
      <p:sp>
        <p:nvSpPr>
          <p:cNvPr id="16" name="ah_219"/>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8" name="ah_220"/>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9"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0" name="lg_221"/>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/juː/ uniform</a:t>
            </a:r>
            <a:endParaRPr lang="en-US" sz="1050" dirty="0"/>
          </a:p>
        </p:txBody>
      </p:sp>
      <p:sp>
        <p:nvSpPr>
          <p:cNvPr id="21" name="lg_222"/>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up /ʌ/</a:t>
            </a:r>
            <a:endParaRPr lang="en-US" sz="1050" dirty="0"/>
          </a:p>
        </p:txBody>
      </p:sp>
      <p:sp>
        <p:nvSpPr>
          <p:cNvPr id="22" name="lg_223"/>
          <p:cNvSpPr/>
          <p:nvPr/>
        </p:nvSpPr>
        <p:spPr>
          <a:xfrm>
            <a:off x="457200" y="2368296"/>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boot /uː/</a:t>
            </a:r>
            <a:endParaRPr lang="en-US" sz="1050" dirty="0"/>
          </a:p>
        </p:txBody>
      </p:sp>
      <p:sp>
        <p:nvSpPr>
          <p:cNvPr id="23" name="lg_224"/>
          <p:cNvSpPr/>
          <p:nvPr/>
        </p:nvSpPr>
        <p:spPr>
          <a:xfrm>
            <a:off x="1719072"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bull /ʊ/</a:t>
            </a:r>
            <a:endParaRPr lang="en-US" sz="1050" dirty="0"/>
          </a:p>
        </p:txBody>
      </p:sp>
      <p:sp>
        <p:nvSpPr>
          <p:cNvPr id="24" name="sq_225"/>
          <p:cNvSpPr/>
          <p:nvPr/>
        </p:nvSpPr>
        <p:spPr>
          <a:xfrm>
            <a:off x="3246120" y="1417320"/>
            <a:ext cx="3840480" cy="301752"/>
          </a:xfrm>
          <a:prstGeom prst="roundRect">
            <a:avLst>
              <a:gd name="adj" fmla="val 30303"/>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e.g. ed</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u</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cation</a:t>
            </a:r>
            <a:endParaRPr lang="en-US" sz="1200" dirty="0"/>
          </a:p>
        </p:txBody>
      </p:sp>
      <p:sp>
        <p:nvSpPr>
          <p:cNvPr id="25" name="R1_tag226"/>
          <p:cNvSpPr/>
          <p:nvPr/>
        </p:nvSpPr>
        <p:spPr>
          <a:xfrm>
            <a:off x="7178040" y="1417320"/>
            <a:ext cx="1691640" cy="301752"/>
          </a:xfrm>
          <a:prstGeom prst="roundRect">
            <a:avLst>
              <a:gd name="adj" fmla="val 75758"/>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/juː/ uniform</a:t>
            </a:r>
            <a:endParaRPr lang="en-US" sz="1150" dirty="0"/>
          </a:p>
        </p:txBody>
      </p:sp>
      <p:sp>
        <p:nvSpPr>
          <p:cNvPr id="26" name="sq_227"/>
          <p:cNvSpPr/>
          <p:nvPr/>
        </p:nvSpPr>
        <p:spPr>
          <a:xfrm>
            <a:off x="3246120" y="1783080"/>
            <a:ext cx="3840480" cy="301752"/>
          </a:xfrm>
          <a:prstGeom prst="roundRect">
            <a:avLst>
              <a:gd name="adj" fmla="val 30303"/>
            </a:avLst>
          </a:prstGeom>
          <a:solidFill>
            <a:srgbClr val="FFFFFF"/>
          </a:solidFill>
          <a:ln w="28575">
            <a:solidFill>
              <a:srgbClr val="A9D3F5"/>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u</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ll</a:t>
            </a:r>
            <a:endParaRPr lang="en-US" sz="1200" dirty="0"/>
          </a:p>
        </p:txBody>
      </p:sp>
      <p:sp>
        <p:nvSpPr>
          <p:cNvPr id="27" name="R2_tag228"/>
          <p:cNvSpPr/>
          <p:nvPr/>
        </p:nvSpPr>
        <p:spPr>
          <a:xfrm>
            <a:off x="7178040" y="1783080"/>
            <a:ext cx="1691640" cy="301752"/>
          </a:xfrm>
          <a:prstGeom prst="roundRect">
            <a:avLst>
              <a:gd name="adj" fmla="val 75758"/>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bull /ʊ/</a:t>
            </a:r>
            <a:endParaRPr lang="en-US" sz="1150" dirty="0"/>
          </a:p>
        </p:txBody>
      </p:sp>
      <p:sp>
        <p:nvSpPr>
          <p:cNvPr id="28" name="sq_229"/>
          <p:cNvSpPr/>
          <p:nvPr/>
        </p:nvSpPr>
        <p:spPr>
          <a:xfrm>
            <a:off x="3246120" y="2148840"/>
            <a:ext cx="3840480" cy="301752"/>
          </a:xfrm>
          <a:prstGeom prst="roundRect">
            <a:avLst>
              <a:gd name="adj" fmla="val 30303"/>
            </a:avLst>
          </a:prstGeom>
          <a:solidFill>
            <a:srgbClr val="FFFFFF"/>
          </a:solidFill>
          <a:ln w="28575">
            <a:solidFill>
              <a:srgbClr val="A8E5BE"/>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l</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u</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nch</a:t>
            </a:r>
            <a:endParaRPr lang="en-US" sz="1200" dirty="0"/>
          </a:p>
        </p:txBody>
      </p:sp>
      <p:sp>
        <p:nvSpPr>
          <p:cNvPr id="29" name="R3_tag230"/>
          <p:cNvSpPr/>
          <p:nvPr/>
        </p:nvSpPr>
        <p:spPr>
          <a:xfrm>
            <a:off x="7178040" y="2148840"/>
            <a:ext cx="1691640" cy="301752"/>
          </a:xfrm>
          <a:prstGeom prst="roundRect">
            <a:avLst>
              <a:gd name="adj" fmla="val 75758"/>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up /ʌ/</a:t>
            </a:r>
            <a:endParaRPr lang="en-US" sz="1150" dirty="0"/>
          </a:p>
        </p:txBody>
      </p:sp>
      <p:sp>
        <p:nvSpPr>
          <p:cNvPr id="30" name="sq_231"/>
          <p:cNvSpPr/>
          <p:nvPr/>
        </p:nvSpPr>
        <p:spPr>
          <a:xfrm>
            <a:off x="3246120" y="2514600"/>
            <a:ext cx="3840480" cy="301752"/>
          </a:xfrm>
          <a:prstGeom prst="roundRect">
            <a:avLst>
              <a:gd name="adj" fmla="val 30303"/>
            </a:avLst>
          </a:prstGeom>
          <a:solidFill>
            <a:srgbClr val="FFFFFF"/>
          </a:solidFill>
          <a:ln w="28575">
            <a:solidFill>
              <a:srgbClr val="FFE07A"/>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m</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u</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sic</a:t>
            </a:r>
            <a:endParaRPr lang="en-US" sz="1200" dirty="0"/>
          </a:p>
        </p:txBody>
      </p:sp>
      <p:sp>
        <p:nvSpPr>
          <p:cNvPr id="31" name="R4_tag232"/>
          <p:cNvSpPr/>
          <p:nvPr/>
        </p:nvSpPr>
        <p:spPr>
          <a:xfrm>
            <a:off x="7178040" y="2514600"/>
            <a:ext cx="1691640" cy="301752"/>
          </a:xfrm>
          <a:prstGeom prst="roundRect">
            <a:avLst>
              <a:gd name="adj" fmla="val 75758"/>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/juː/ uniform</a:t>
            </a:r>
            <a:endParaRPr lang="en-US" sz="1150" dirty="0"/>
          </a:p>
        </p:txBody>
      </p:sp>
      <p:sp>
        <p:nvSpPr>
          <p:cNvPr id="32" name="sq_233"/>
          <p:cNvSpPr/>
          <p:nvPr/>
        </p:nvSpPr>
        <p:spPr>
          <a:xfrm>
            <a:off x="3246120" y="2880360"/>
            <a:ext cx="3840480" cy="301752"/>
          </a:xfrm>
          <a:prstGeom prst="roundRect">
            <a:avLst>
              <a:gd name="adj" fmla="val 30303"/>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p</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u</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t</a:t>
            </a:r>
            <a:endParaRPr lang="en-US" sz="1200" dirty="0"/>
          </a:p>
        </p:txBody>
      </p:sp>
      <p:sp>
        <p:nvSpPr>
          <p:cNvPr id="33" name="R5_tag234"/>
          <p:cNvSpPr/>
          <p:nvPr/>
        </p:nvSpPr>
        <p:spPr>
          <a:xfrm>
            <a:off x="7178040" y="2880360"/>
            <a:ext cx="1691640" cy="301752"/>
          </a:xfrm>
          <a:prstGeom prst="roundRect">
            <a:avLst>
              <a:gd name="adj" fmla="val 75758"/>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bull /ʊ/</a:t>
            </a:r>
            <a:endParaRPr lang="en-US" sz="1150" dirty="0"/>
          </a:p>
        </p:txBody>
      </p:sp>
      <p:sp>
        <p:nvSpPr>
          <p:cNvPr id="34" name="sq_235"/>
          <p:cNvSpPr/>
          <p:nvPr/>
        </p:nvSpPr>
        <p:spPr>
          <a:xfrm>
            <a:off x="3246120" y="3246120"/>
            <a:ext cx="3840480" cy="301752"/>
          </a:xfrm>
          <a:prstGeom prst="roundRect">
            <a:avLst>
              <a:gd name="adj" fmla="val 30303"/>
            </a:avLst>
          </a:prstGeom>
          <a:solidFill>
            <a:srgbClr val="FFFFFF"/>
          </a:solidFill>
          <a:ln w="28575">
            <a:solidFill>
              <a:srgbClr val="A9D3F5"/>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res</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u</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lt</a:t>
            </a:r>
            <a:endParaRPr lang="en-US" sz="1200" dirty="0"/>
          </a:p>
        </p:txBody>
      </p:sp>
      <p:sp>
        <p:nvSpPr>
          <p:cNvPr id="35" name="R6_tag236"/>
          <p:cNvSpPr/>
          <p:nvPr/>
        </p:nvSpPr>
        <p:spPr>
          <a:xfrm>
            <a:off x="7178040" y="3246120"/>
            <a:ext cx="1691640" cy="301752"/>
          </a:xfrm>
          <a:prstGeom prst="roundRect">
            <a:avLst>
              <a:gd name="adj" fmla="val 75758"/>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up /ʌ/</a:t>
            </a:r>
            <a:endParaRPr lang="en-US" sz="1150" dirty="0"/>
          </a:p>
        </p:txBody>
      </p:sp>
      <p:sp>
        <p:nvSpPr>
          <p:cNvPr id="36" name="sq_237"/>
          <p:cNvSpPr/>
          <p:nvPr/>
        </p:nvSpPr>
        <p:spPr>
          <a:xfrm>
            <a:off x="3246120" y="3611880"/>
            <a:ext cx="3840480" cy="301752"/>
          </a:xfrm>
          <a:prstGeom prst="roundRect">
            <a:avLst>
              <a:gd name="adj" fmla="val 30303"/>
            </a:avLst>
          </a:prstGeom>
          <a:solidFill>
            <a:srgbClr val="FFFFFF"/>
          </a:solidFill>
          <a:ln w="28575">
            <a:solidFill>
              <a:srgbClr val="A8E5BE"/>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r</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u</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de</a:t>
            </a:r>
            <a:endParaRPr lang="en-US" sz="1200" dirty="0"/>
          </a:p>
        </p:txBody>
      </p:sp>
      <p:sp>
        <p:nvSpPr>
          <p:cNvPr id="37" name="R7_tag238"/>
          <p:cNvSpPr/>
          <p:nvPr/>
        </p:nvSpPr>
        <p:spPr>
          <a:xfrm>
            <a:off x="7178040" y="3611880"/>
            <a:ext cx="1691640" cy="301752"/>
          </a:xfrm>
          <a:prstGeom prst="roundRect">
            <a:avLst>
              <a:gd name="adj" fmla="val 75758"/>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boot /uː/</a:t>
            </a:r>
            <a:endParaRPr lang="en-US" sz="1150" dirty="0"/>
          </a:p>
        </p:txBody>
      </p:sp>
      <p:sp>
        <p:nvSpPr>
          <p:cNvPr id="38" name="sq_239"/>
          <p:cNvSpPr/>
          <p:nvPr/>
        </p:nvSpPr>
        <p:spPr>
          <a:xfrm>
            <a:off x="3246120" y="3977640"/>
            <a:ext cx="3840480" cy="301752"/>
          </a:xfrm>
          <a:prstGeom prst="roundRect">
            <a:avLst>
              <a:gd name="adj" fmla="val 30303"/>
            </a:avLst>
          </a:prstGeom>
          <a:solidFill>
            <a:srgbClr val="FFFFFF"/>
          </a:solidFill>
          <a:ln w="28575">
            <a:solidFill>
              <a:srgbClr val="FFE07A"/>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tr</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u</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e</a:t>
            </a:r>
            <a:endParaRPr lang="en-US" sz="1200" dirty="0"/>
          </a:p>
        </p:txBody>
      </p:sp>
      <p:sp>
        <p:nvSpPr>
          <p:cNvPr id="39" name="R8_tag240"/>
          <p:cNvSpPr/>
          <p:nvPr/>
        </p:nvSpPr>
        <p:spPr>
          <a:xfrm>
            <a:off x="7178040" y="3977640"/>
            <a:ext cx="1691640" cy="301752"/>
          </a:xfrm>
          <a:prstGeom prst="roundRect">
            <a:avLst>
              <a:gd name="adj" fmla="val 75758"/>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boot /uː/</a:t>
            </a:r>
            <a:endParaRPr lang="en-US" sz="1150" dirty="0"/>
          </a:p>
        </p:txBody>
      </p:sp>
      <p:sp>
        <p:nvSpPr>
          <p:cNvPr id="40" name="sq_241"/>
          <p:cNvSpPr/>
          <p:nvPr/>
        </p:nvSpPr>
        <p:spPr>
          <a:xfrm>
            <a:off x="3246120" y="4343400"/>
            <a:ext cx="3840480" cy="301752"/>
          </a:xfrm>
          <a:prstGeom prst="roundRect">
            <a:avLst>
              <a:gd name="adj" fmla="val 30303"/>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u</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bject</a:t>
            </a:r>
            <a:endParaRPr lang="en-US" sz="1200" dirty="0"/>
          </a:p>
        </p:txBody>
      </p:sp>
      <p:sp>
        <p:nvSpPr>
          <p:cNvPr id="41" name="R9_tag242"/>
          <p:cNvSpPr/>
          <p:nvPr/>
        </p:nvSpPr>
        <p:spPr>
          <a:xfrm>
            <a:off x="7178040" y="4343400"/>
            <a:ext cx="1691640" cy="301752"/>
          </a:xfrm>
          <a:prstGeom prst="roundRect">
            <a:avLst>
              <a:gd name="adj" fmla="val 75758"/>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up /ʌ/</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4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8" restart="whenNotActive" fill="hold" evtFilter="cancelBubble" nodeType="interactiveSeq">
                <p:stCondLst>
                  <p:cond evt="onClick" delay="0">
                    <p:tgtEl>
                      <p:spTgt spid="17"/>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7"/>
                                        </p:tgtEl>
                                      </p:cBhvr>
                                    </p:cmd>
                                  </p:childTnLst>
                                </p:cTn>
                              </p:par>
                            </p:childTnLst>
                          </p:cTn>
                        </p:par>
                      </p:childTnLst>
                    </p:cTn>
                  </p:par>
                </p:childTnLst>
              </p:cTn>
              <p:nextCondLst>
                <p:cond evt="onClick" delay="0">
                  <p:tgtEl>
                    <p:spTgt spid="17"/>
                  </p:tgtEl>
                </p:cond>
              </p:nextCondLst>
            </p:seq>
            <p:seq concurrent="1" nextAc="seek">
              <p:cTn id="53" restart="whenNotActive" fill="hold" evtFilter="cancelBubble" nodeType="interactiveSeq">
                <p:stCondLst>
                  <p:cond evt="onClick" delay="0">
                    <p:tgtEl>
                      <p:spTgt spid="19"/>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19"/>
                                        </p:tgtEl>
                                      </p:cBhvr>
                                    </p:cmd>
                                  </p:childTnLst>
                                </p:cTn>
                              </p:par>
                            </p:childTnLst>
                          </p:cTn>
                        </p:par>
                      </p:childTnLst>
                    </p:cTn>
                  </p:par>
                </p:childTnLst>
              </p:cTn>
              <p:nextCondLst>
                <p:cond evt="onClick" delay="0">
                  <p:tgtEl>
                    <p:spTgt spid="19"/>
                  </p:tgtEl>
                </p:cond>
              </p:nextCondLst>
            </p:seq>
            <p:audio>
              <p:cMediaNode vol="80000">
                <p:cTn id="58" fill="hold" display="0">
                  <p:stCondLst>
                    <p:cond delay="indefinite"/>
                  </p:stCondLst>
                  <p:endCondLst>
                    <p:cond evt="onStopAudio" delay="0">
                      <p:tgtEl>
                        <p:sldTgt/>
                      </p:tgtEl>
                    </p:cond>
                  </p:endCondLst>
                </p:cTn>
                <p:tgtEl>
                  <p:spTgt spid="17"/>
                </p:tgtEl>
              </p:cMediaNode>
            </p:audio>
            <p:audio>
              <p:cMediaNode vol="80000">
                <p:cTn id="59" fill="hold" display="0">
                  <p:stCondLst>
                    <p:cond delay="indefinite"/>
                  </p:stCondLst>
                  <p:endCondLst>
                    <p:cond evt="onStopAudio" delay="0">
                      <p:tgtEl>
                        <p:sldTgt/>
                      </p:tgtEl>
                    </p:cond>
                  </p:endCondLst>
                </p:cTn>
                <p:tgtEl>
                  <p:spTgt spid="19"/>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3"/>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44"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245"/>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Write it!</a:t>
            </a:r>
            <a:endParaRPr lang="en-US" sz="2500" dirty="0"/>
          </a:p>
        </p:txBody>
      </p:sp>
      <p:pic>
        <p:nvPicPr>
          <p:cNvPr id="6" name="brP_246"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247"/>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and write four sentences.</a:t>
            </a:r>
            <a:endParaRPr lang="en-US" sz="1250" dirty="0"/>
          </a:p>
        </p:txBody>
      </p:sp>
      <p:sp>
        <p:nvSpPr>
          <p:cNvPr id="8" name="insIT_24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e scrivi quattro frasi.</a:t>
            </a:r>
            <a:endParaRPr lang="en-US" sz="950" dirty="0"/>
          </a:p>
        </p:txBody>
      </p:sp>
      <p:sp>
        <p:nvSpPr>
          <p:cNvPr id="9" name="note_24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Controlled practice</a:t>
            </a:r>
            <a:endParaRPr lang="en-US" sz="1150" dirty="0"/>
          </a:p>
        </p:txBody>
      </p:sp>
      <p:pic>
        <p:nvPicPr>
          <p:cNvPr id="10" name="logo_25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Pronunciation · dictation   ·   📖 SB p.67 · 2c · audio 7.6 (TG script)</a:t>
            </a:r>
            <a:endParaRPr lang="en-US" sz="800" dirty="0"/>
          </a:p>
        </p:txBody>
      </p:sp>
      <p:sp>
        <p:nvSpPr>
          <p:cNvPr id="12" name="cd_252"/>
          <p:cNvSpPr/>
          <p:nvPr/>
        </p:nvSpPr>
        <p:spPr>
          <a:xfrm>
            <a:off x="320040" y="1417320"/>
            <a:ext cx="2697480" cy="969264"/>
          </a:xfrm>
          <a:prstGeom prst="roundRect">
            <a:avLst>
              <a:gd name="adj" fmla="val 1320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5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5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255"/>
          <p:cNvSpPr/>
          <p:nvPr/>
        </p:nvSpPr>
        <p:spPr>
          <a:xfrm>
            <a:off x="886968" y="1911096"/>
            <a:ext cx="2039112" cy="402336"/>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Listen once – then write. Check the u sounds!</a:t>
            </a:r>
            <a:endParaRPr lang="en-US" sz="1050" dirty="0"/>
          </a:p>
        </p:txBody>
      </p:sp>
      <p:sp>
        <p:nvSpPr>
          <p:cNvPr id="16" name="ap_256"/>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7.6</a:t>
            </a:r>
            <a:endParaRPr lang="en-US" sz="1100" dirty="0"/>
          </a:p>
        </p:txBody>
      </p:sp>
      <p:sp>
        <p:nvSpPr>
          <p:cNvPr id="17" name="ah_257"/>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8"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9" name="ah_258"/>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20"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1" name="bd_259"/>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260"/>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1</a:t>
            </a:r>
            <a:endParaRPr lang="en-US" sz="1150" dirty="0"/>
          </a:p>
        </p:txBody>
      </p:sp>
      <p:sp>
        <p:nvSpPr>
          <p:cNvPr id="23" name="R1_chip261"/>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What subject did you study at university?</a:t>
            </a:r>
            <a:endParaRPr lang="en-US" sz="1050" dirty="0"/>
          </a:p>
        </p:txBody>
      </p:sp>
      <p:sp>
        <p:nvSpPr>
          <p:cNvPr id="24" name="bd_262"/>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263"/>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2</a:t>
            </a:r>
            <a:endParaRPr lang="en-US" sz="1150" dirty="0"/>
          </a:p>
        </p:txBody>
      </p:sp>
      <p:sp>
        <p:nvSpPr>
          <p:cNvPr id="26" name="R2_chip264"/>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Do pupils at your school wear a uniform?</a:t>
            </a:r>
            <a:endParaRPr lang="en-US" sz="1050" dirty="0"/>
          </a:p>
        </p:txBody>
      </p:sp>
      <p:sp>
        <p:nvSpPr>
          <p:cNvPr id="27" name="bd_265"/>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266"/>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3</a:t>
            </a:r>
            <a:endParaRPr lang="en-US" sz="1150" dirty="0"/>
          </a:p>
        </p:txBody>
      </p:sp>
      <p:sp>
        <p:nvSpPr>
          <p:cNvPr id="29" name="R3_chip267"/>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Most students have lunch in the canteen.</a:t>
            </a:r>
            <a:endParaRPr lang="en-US" sz="1050" dirty="0"/>
          </a:p>
        </p:txBody>
      </p:sp>
      <p:sp>
        <p:nvSpPr>
          <p:cNvPr id="30" name="bd_268"/>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269"/>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4</a:t>
            </a:r>
            <a:endParaRPr lang="en-US" sz="1150" dirty="0"/>
          </a:p>
        </p:txBody>
      </p:sp>
      <p:sp>
        <p:nvSpPr>
          <p:cNvPr id="32" name="R4_chip270"/>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I usually get good results in my music exams.</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8"/>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8"/>
                                        </p:tgtEl>
                                      </p:cBhvr>
                                    </p:cmd>
                                  </p:childTnLst>
                                </p:cTn>
                              </p:par>
                            </p:childTnLst>
                          </p:cTn>
                        </p:par>
                      </p:childTnLst>
                    </p:cTn>
                  </p:par>
                </p:childTnLst>
              </p:cTn>
              <p:nextCondLst>
                <p:cond evt="onClick" delay="0">
                  <p:tgtEl>
                    <p:spTgt spid="18"/>
                  </p:tgtEl>
                </p:cond>
              </p:nextCondLst>
            </p:seq>
            <p:seq concurrent="1" nextAc="seek">
              <p:cTn id="28" restart="whenNotActive" fill="hold" evtFilter="cancelBubble" nodeType="interactiveSeq">
                <p:stCondLst>
                  <p:cond evt="onClick" delay="0">
                    <p:tgtEl>
                      <p:spTgt spid="20"/>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20"/>
                                        </p:tgtEl>
                                      </p:cBhvr>
                                    </p:cmd>
                                  </p:childTnLst>
                                </p:cTn>
                              </p:par>
                            </p:childTnLst>
                          </p:cTn>
                        </p:par>
                      </p:childTnLst>
                    </p:cTn>
                  </p:par>
                </p:childTnLst>
              </p:cTn>
              <p:nextCondLst>
                <p:cond evt="onClick" delay="0">
                  <p:tgtEl>
                    <p:spTgt spid="20"/>
                  </p:tgtEl>
                </p:cond>
              </p:nextCondLst>
            </p:seq>
            <p:audio>
              <p:cMediaNode vol="80000">
                <p:cTn id="33" fill="hold" display="0">
                  <p:stCondLst>
                    <p:cond delay="indefinite"/>
                  </p:stCondLst>
                  <p:endCondLst>
                    <p:cond evt="onStopAudio" delay="0">
                      <p:tgtEl>
                        <p:sldTgt/>
                      </p:tgtEl>
                    </p:cond>
                  </p:endCondLst>
                </p:cTn>
                <p:tgtEl>
                  <p:spTgt spid="18"/>
                </p:tgtEl>
              </p:cMediaNode>
            </p:audio>
            <p:audio>
              <p:cMediaNode vol="80000">
                <p:cTn id="34" fill="hold" display="0">
                  <p:stCondLst>
                    <p:cond delay="indefinite"/>
                  </p:stCondLst>
                  <p:endCondLst>
                    <p:cond evt="onStopAudio" delay="0">
                      <p:tgtEl>
                        <p:sldTgt/>
                      </p:tgtEl>
                    </p:cond>
                  </p:endCondLst>
                </p:cTn>
                <p:tgtEl>
                  <p:spTgt spid="2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72"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273"/>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Your education</a:t>
            </a:r>
            <a:endParaRPr lang="en-US" sz="2500" dirty="0"/>
          </a:p>
        </p:txBody>
      </p:sp>
      <p:pic>
        <p:nvPicPr>
          <p:cNvPr id="6" name="brP_274" descr="/home/claude/lls-course/v2/assets/brush-pink.png">    </p:cNvPr>
          <p:cNvPicPr>
            <a:picLocks noChangeAspect="1"/>
          </p:cNvPicPr>
          <p:nvPr/>
        </p:nvPicPr>
        <p:blipFill>
          <a:blip r:embed="rId3"/>
          <a:stretch>
            <a:fillRect/>
          </a:stretch>
        </p:blipFill>
        <p:spPr>
          <a:xfrm>
            <a:off x="1207008" y="731520"/>
            <a:ext cx="4988052" cy="402336"/>
          </a:xfrm>
          <a:prstGeom prst="rect">
            <a:avLst/>
          </a:prstGeom>
        </p:spPr>
      </p:pic>
      <p:sp>
        <p:nvSpPr>
          <p:cNvPr id="7" name="ins_275"/>
          <p:cNvSpPr/>
          <p:nvPr/>
        </p:nvSpPr>
        <p:spPr>
          <a:xfrm>
            <a:off x="1353312" y="731520"/>
            <a:ext cx="473202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Interview your partner. Ask for more information!</a:t>
            </a:r>
            <a:endParaRPr lang="en-US" sz="1250" dirty="0"/>
          </a:p>
        </p:txBody>
      </p:sp>
      <p:sp>
        <p:nvSpPr>
          <p:cNvPr id="8" name="insIT_27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Intervista il compagno. Chiedi più informazioni!</a:t>
            </a:r>
            <a:endParaRPr lang="en-US" sz="950" dirty="0"/>
          </a:p>
        </p:txBody>
      </p:sp>
      <p:sp>
        <p:nvSpPr>
          <p:cNvPr id="9" name="note_27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27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7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Speaking · Your education   ·   📖 SB p.67 · 3 Your education</a:t>
            </a:r>
            <a:endParaRPr lang="en-US" sz="800" dirty="0"/>
          </a:p>
        </p:txBody>
      </p:sp>
      <p:sp>
        <p:nvSpPr>
          <p:cNvPr id="12" name="cd_280"/>
          <p:cNvSpPr/>
          <p:nvPr/>
        </p:nvSpPr>
        <p:spPr>
          <a:xfrm>
            <a:off x="320040" y="1417320"/>
            <a:ext cx="2788920" cy="2028952"/>
          </a:xfrm>
          <a:prstGeom prst="roundRect">
            <a:avLst>
              <a:gd name="adj" fmla="val 630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8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82"/>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5" name="il_283"/>
          <p:cNvSpPr/>
          <p:nvPr/>
        </p:nvSpPr>
        <p:spPr>
          <a:xfrm>
            <a:off x="886968" y="1911096"/>
            <a:ext cx="2130552" cy="1462024"/>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Really? Why (not)?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That's interesting!</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At my school we had to…</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They didn't let us…</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We weren't allowed to…</a:t>
            </a:r>
            <a:endParaRPr lang="en-US" sz="1150" dirty="0"/>
          </a:p>
        </p:txBody>
      </p:sp>
      <p:sp>
        <p:nvSpPr>
          <p:cNvPr id="16" name="R1_qb284"/>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7" name="R1_sq285"/>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Your school: What kind of secondary school did (do) you go to? Was (Is) it a mixed school or single-sex? Did (Do) you like it?</a:t>
            </a:r>
            <a:endParaRPr lang="en-US" sz="9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It was a state school – mixed. I loved it!</a:t>
            </a:r>
            <a:endParaRPr lang="en-US" sz="900" dirty="0"/>
          </a:p>
        </p:txBody>
      </p:sp>
      <p:sp>
        <p:nvSpPr>
          <p:cNvPr id="18" name="R2_qb286"/>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19" name="R2_sq287"/>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How many students were (are) there in each class? Do you think it was (is) the right number? What time did (does) your school day start and finish?</a:t>
            </a:r>
            <a:endParaRPr lang="en-US" sz="9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About 25 – too many! 8 to 1.30.</a:t>
            </a:r>
            <a:endParaRPr lang="en-US" sz="900" dirty="0"/>
          </a:p>
        </p:txBody>
      </p:sp>
      <p:sp>
        <p:nvSpPr>
          <p:cNvPr id="20" name="R3_qb288"/>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1" name="R3_sq289"/>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700" dirty="0">
                <a:solidFill>
                  <a:srgbClr val="1B2559"/>
                </a:solidFill>
                <a:latin typeface="Segoe UI Semibold" pitchFamily="34" charset="0"/>
                <a:ea typeface="Segoe UI Semibold" pitchFamily="34" charset="-122"/>
                <a:cs typeface="Segoe UI Semibold" pitchFamily="34" charset="-120"/>
              </a:rPr>
              <a:t>Subjects and homework: Which subjects were (are) you good and bad at? Which was (is) your favourite subject? How often did (do) you do PE or play sports? How much homework did (do) you usually get?</a:t>
            </a:r>
            <a:endParaRPr lang="en-US" sz="70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e.g. I was good at history but terrible at maths.</a:t>
            </a:r>
            <a:endParaRPr lang="en-US" sz="700" dirty="0"/>
          </a:p>
        </p:txBody>
      </p:sp>
      <p:sp>
        <p:nvSpPr>
          <p:cNvPr id="22" name="R4_qb290"/>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3" name="R4_sq291"/>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700" dirty="0">
                <a:solidFill>
                  <a:srgbClr val="1B2559"/>
                </a:solidFill>
                <a:latin typeface="Segoe UI Semibold" pitchFamily="34" charset="0"/>
                <a:ea typeface="Segoe UI Semibold" pitchFamily="34" charset="-122"/>
                <a:cs typeface="Segoe UI Semibold" pitchFamily="34" charset="-120"/>
              </a:rPr>
              <a:t>Rules and discipline: Did (Do) you have to wear a uniform? Were (Are) your teachers too strict, or not strict enough? What kind of punishments did (do) they use? Did (Do) pupils behave well, or did (do) they misbehave?</a:t>
            </a:r>
            <a:endParaRPr lang="en-US" sz="70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e.g. No uniform! Teachers made us stay behind if we were late.</a:t>
            </a:r>
            <a:endParaRPr lang="en-US" sz="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92"/>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93"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294"/>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Chinese v British</a:t>
            </a:r>
            <a:endParaRPr lang="en-US" sz="2500" dirty="0"/>
          </a:p>
        </p:txBody>
      </p:sp>
      <p:pic>
        <p:nvPicPr>
          <p:cNvPr id="6" name="brP_295"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296"/>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about a TV programme. Answer 1–3.</a:t>
            </a:r>
            <a:endParaRPr lang="en-US" sz="1250" dirty="0"/>
          </a:p>
        </p:txBody>
      </p:sp>
      <p:sp>
        <p:nvSpPr>
          <p:cNvPr id="8" name="insIT_29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descrizione di un programma TV. Rispondi a 1–3.</a:t>
            </a:r>
            <a:endParaRPr lang="en-US" sz="950" dirty="0"/>
          </a:p>
        </p:txBody>
      </p:sp>
      <p:sp>
        <p:nvSpPr>
          <p:cNvPr id="9" name="note_29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TPRS · reading</a:t>
            </a:r>
            <a:endParaRPr lang="en-US" sz="1150" dirty="0"/>
          </a:p>
        </p:txBody>
      </p:sp>
      <p:pic>
        <p:nvPicPr>
          <p:cNvPr id="10" name="logo_29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0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Listening · lead-in (read)   ·   📖 SB p.67 · 4a (TG key)</a:t>
            </a:r>
            <a:endParaRPr lang="en-US" sz="800" dirty="0"/>
          </a:p>
        </p:txBody>
      </p:sp>
      <p:sp>
        <p:nvSpPr>
          <p:cNvPr id="12" name="cd_301"/>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302"/>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550" b="1" dirty="0">
                <a:solidFill>
                  <a:srgbClr val="1F6F43"/>
                </a:solidFill>
                <a:latin typeface="Georgia" pitchFamily="34" charset="0"/>
                <a:ea typeface="Georgia" pitchFamily="34" charset="-122"/>
                <a:cs typeface="Georgia" pitchFamily="34" charset="-120"/>
              </a:rPr>
              <a:t>Chinese v British – which education system is better?</a:t>
            </a:r>
            <a:endParaRPr lang="en-US" sz="1550" dirty="0"/>
          </a:p>
        </p:txBody>
      </p:sp>
      <p:sp>
        <p:nvSpPr>
          <p:cNvPr id="14" name="ln_303"/>
          <p:cNvSpPr/>
          <p:nvPr/>
        </p:nvSpPr>
        <p:spPr>
          <a:xfrm>
            <a:off x="548640" y="1920240"/>
            <a:ext cx="5349240" cy="496188"/>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According to the latest studies, Asian countries have better education systems than most Western countries, and in some subjects, Asian students are three years ahead of Western students of the same age.</a:t>
            </a:r>
            <a:endParaRPr lang="en-US" sz="950" dirty="0"/>
          </a:p>
        </p:txBody>
      </p:sp>
      <p:sp>
        <p:nvSpPr>
          <p:cNvPr id="15" name="ln_304"/>
          <p:cNvSpPr/>
          <p:nvPr/>
        </p:nvSpPr>
        <p:spPr>
          <a:xfrm>
            <a:off x="548640" y="2416428"/>
            <a:ext cx="5349240" cy="857941"/>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In this unique experiment, five teachers from China come to a British school for four weeks to teach maths, science, and Mandarin to half of the Year 9 students, aged 13 and 14. The rest of the students in Year 9 will have their normal British teachers. After four weeks, the two groups will take tests to see which teaching style gets better results.</a:t>
            </a:r>
            <a:endParaRPr lang="en-US" sz="950" dirty="0"/>
          </a:p>
        </p:txBody>
      </p:sp>
      <p:sp>
        <p:nvSpPr>
          <p:cNvPr id="16" name="ln_305"/>
          <p:cNvSpPr/>
          <p:nvPr/>
        </p:nvSpPr>
        <p:spPr>
          <a:xfrm>
            <a:off x="548640" y="3274369"/>
            <a:ext cx="5349240" cy="498632"/>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So, can British schools learn from the highly successful Chinese education system? Will the 12-hour days and strict discipline produce better results? Week 1 of the experiment is a shock for the students…</a:t>
            </a:r>
            <a:endParaRPr lang="en-US" sz="950" dirty="0"/>
          </a:p>
        </p:txBody>
      </p:sp>
      <p:sp>
        <p:nvSpPr>
          <p:cNvPr id="17" name="ln_306"/>
          <p:cNvSpPr/>
          <p:nvPr/>
        </p:nvSpPr>
        <p:spPr>
          <a:xfrm>
            <a:off x="548640" y="3773002"/>
            <a:ext cx="5349240" cy="381307"/>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1 Why is the Asian education system considered superior? → </a:t>
            </a:r>
            <a:pPr indent="0" marL="0">
              <a:buNone/>
            </a:pPr>
            <a:r>
              <a:rPr lang="en-US" sz="950" b="1" dirty="0">
                <a:solidFill>
                  <a:srgbClr val="2EB872"/>
                </a:solidFill>
                <a:latin typeface="Georgia" pitchFamily="34" charset="0"/>
                <a:ea typeface="Georgia" pitchFamily="34" charset="-122"/>
                <a:cs typeface="Georgia" pitchFamily="34" charset="-120"/>
              </a:rPr>
              <a:t> (1) ________ </a:t>
            </a:r>
            <a:endParaRPr lang="en-US" sz="950" dirty="0"/>
          </a:p>
        </p:txBody>
      </p:sp>
      <p:sp>
        <p:nvSpPr>
          <p:cNvPr id="18" name="R1_lnA307"/>
          <p:cNvSpPr/>
          <p:nvPr/>
        </p:nvSpPr>
        <p:spPr>
          <a:xfrm>
            <a:off x="548640" y="3773002"/>
            <a:ext cx="5349240" cy="381307"/>
          </a:xfrm>
          <a:prstGeom prst="rect">
            <a:avLst/>
          </a:prstGeom>
          <a:solidFill>
            <a:srgbClr val="FFFFFF"/>
          </a:solid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1 Why is the Asian education system considered superior? → </a:t>
            </a:r>
            <a:pPr indent="0" marL="0">
              <a:buNone/>
            </a:pPr>
            <a:r>
              <a:rPr lang="en-US" sz="950" b="1" dirty="0">
                <a:solidFill>
                  <a:srgbClr val="1B2559"/>
                </a:solidFill>
                <a:highlight>
                  <a:srgbClr val="FFE066"/>
                </a:highlight>
                <a:latin typeface="Georgia" pitchFamily="34" charset="0"/>
                <a:ea typeface="Georgia" pitchFamily="34" charset="-122"/>
                <a:cs typeface="Georgia" pitchFamily="34" charset="-120"/>
              </a:rPr>
              <a:t>In some subjects, Asian students are three years ahead of Western students of the same age.</a:t>
            </a:r>
            <a:endParaRPr lang="en-US" sz="950" dirty="0"/>
          </a:p>
        </p:txBody>
      </p:sp>
      <p:sp>
        <p:nvSpPr>
          <p:cNvPr id="19" name="ln_308"/>
          <p:cNvSpPr/>
          <p:nvPr/>
        </p:nvSpPr>
        <p:spPr>
          <a:xfrm>
            <a:off x="548640" y="4154309"/>
            <a:ext cx="5349240" cy="354420"/>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2 What experiment is a British school setting up? → </a:t>
            </a:r>
            <a:pPr indent="0" marL="0">
              <a:buNone/>
            </a:pPr>
            <a:r>
              <a:rPr lang="en-US" sz="950" b="1" dirty="0">
                <a:solidFill>
                  <a:srgbClr val="2EB872"/>
                </a:solidFill>
                <a:latin typeface="Georgia" pitchFamily="34" charset="0"/>
                <a:ea typeface="Georgia" pitchFamily="34" charset="-122"/>
                <a:cs typeface="Georgia" pitchFamily="34" charset="-120"/>
              </a:rPr>
              <a:t> (2) ________ </a:t>
            </a:r>
            <a:endParaRPr lang="en-US" sz="950" dirty="0"/>
          </a:p>
        </p:txBody>
      </p:sp>
      <p:sp>
        <p:nvSpPr>
          <p:cNvPr id="20" name="R2_lnA309"/>
          <p:cNvSpPr/>
          <p:nvPr/>
        </p:nvSpPr>
        <p:spPr>
          <a:xfrm>
            <a:off x="548640" y="4154309"/>
            <a:ext cx="5349240" cy="354420"/>
          </a:xfrm>
          <a:prstGeom prst="rect">
            <a:avLst/>
          </a:prstGeom>
          <a:solidFill>
            <a:srgbClr val="FFFFFF"/>
          </a:solid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2 What experiment is a British school setting up? → </a:t>
            </a:r>
            <a:pPr indent="0" marL="0">
              <a:buNone/>
            </a:pPr>
            <a:r>
              <a:rPr lang="en-US" sz="950" b="1" dirty="0">
                <a:solidFill>
                  <a:srgbClr val="1B2559"/>
                </a:solidFill>
                <a:highlight>
                  <a:srgbClr val="FFE066"/>
                </a:highlight>
                <a:latin typeface="Georgia" pitchFamily="34" charset="0"/>
                <a:ea typeface="Georgia" pitchFamily="34" charset="-122"/>
                <a:cs typeface="Georgia" pitchFamily="34" charset="-120"/>
              </a:rPr>
              <a:t>Five Chinese teachers teach half of Year 9 for four weeks; then both groups take tests.</a:t>
            </a:r>
            <a:endParaRPr lang="en-US" sz="950" dirty="0"/>
          </a:p>
        </p:txBody>
      </p:sp>
      <p:sp>
        <p:nvSpPr>
          <p:cNvPr id="21" name="ln_310"/>
          <p:cNvSpPr/>
          <p:nvPr/>
        </p:nvSpPr>
        <p:spPr>
          <a:xfrm>
            <a:off x="548640" y="4508729"/>
            <a:ext cx="5349240" cy="200431"/>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3 What do you think the result will be? → </a:t>
            </a:r>
            <a:pPr indent="0" marL="0">
              <a:buNone/>
            </a:pPr>
            <a:r>
              <a:rPr lang="en-US" sz="950" b="1" dirty="0">
                <a:solidFill>
                  <a:srgbClr val="2EB872"/>
                </a:solidFill>
                <a:latin typeface="Georgia" pitchFamily="34" charset="0"/>
                <a:ea typeface="Georgia" pitchFamily="34" charset="-122"/>
                <a:cs typeface="Georgia" pitchFamily="34" charset="-120"/>
              </a:rPr>
              <a:t> (3) ________ </a:t>
            </a:r>
            <a:endParaRPr lang="en-US" sz="950" dirty="0"/>
          </a:p>
        </p:txBody>
      </p:sp>
      <p:sp>
        <p:nvSpPr>
          <p:cNvPr id="22" name="R3_lnA311"/>
          <p:cNvSpPr/>
          <p:nvPr/>
        </p:nvSpPr>
        <p:spPr>
          <a:xfrm>
            <a:off x="548640" y="4508729"/>
            <a:ext cx="5349240" cy="200431"/>
          </a:xfrm>
          <a:prstGeom prst="rect">
            <a:avLst/>
          </a:prstGeom>
          <a:solidFill>
            <a:srgbClr val="FFFFFF"/>
          </a:solid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3 What do you think the result will be? → </a:t>
            </a:r>
            <a:pPr indent="0" marL="0">
              <a:buNone/>
            </a:pPr>
            <a:r>
              <a:rPr lang="en-US" sz="950" b="1" dirty="0">
                <a:solidFill>
                  <a:srgbClr val="1B2559"/>
                </a:solidFill>
                <a:highlight>
                  <a:srgbClr val="FFE066"/>
                </a:highlight>
                <a:latin typeface="Georgia" pitchFamily="34" charset="0"/>
                <a:ea typeface="Georgia" pitchFamily="34" charset="-122"/>
                <a:cs typeface="Georgia" pitchFamily="34" charset="-120"/>
              </a:rPr>
              <a:t>Show of hands: Chinese or British?</a:t>
            </a:r>
            <a:endParaRPr lang="en-US" sz="950" dirty="0"/>
          </a:p>
        </p:txBody>
      </p:sp>
      <p:sp>
        <p:nvSpPr>
          <p:cNvPr id="23" name="pf_312"/>
          <p:cNvSpPr/>
          <p:nvPr/>
        </p:nvSpPr>
        <p:spPr>
          <a:xfrm rot="120000">
            <a:off x="6729720" y="1417320"/>
            <a:ext cx="1719601"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4" name="ph_313" descr="/home/claude/lls-course/v2/cache/b1_7a_teacher_jpg_392x341_31.png">    </p:cNvPr>
          <p:cNvPicPr>
            <a:picLocks noChangeAspect="1"/>
          </p:cNvPicPr>
          <p:nvPr/>
        </p:nvPicPr>
        <p:blipFill>
          <a:blip r:embed="rId5"/>
          <a:stretch>
            <a:fillRect/>
          </a:stretch>
        </p:blipFill>
        <p:spPr>
          <a:xfrm rot="120000">
            <a:off x="6775440" y="1463040"/>
            <a:ext cx="1628161" cy="1417320"/>
          </a:xfrm>
          <a:prstGeom prst="rect">
            <a:avLst/>
          </a:prstGeom>
        </p:spPr>
      </p:pic>
      <p:sp>
        <p:nvSpPr>
          <p:cNvPr id="25" name="cd_314"/>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6" name="ii_315"/>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316"/>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8" name="il_317"/>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Year 9 = 13–14 years old</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Mandarin = Chinese</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8"/>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19"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320"/>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Week 1: a shock!</a:t>
            </a:r>
            <a:endParaRPr lang="en-US" sz="2500" dirty="0"/>
          </a:p>
        </p:txBody>
      </p:sp>
      <p:pic>
        <p:nvPicPr>
          <p:cNvPr id="6" name="brP_321"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22"/>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Listen to Week 1. Why are these times and numbers a shock?</a:t>
            </a:r>
            <a:endParaRPr lang="en-US" sz="1200" dirty="0"/>
          </a:p>
        </p:txBody>
      </p:sp>
      <p:sp>
        <p:nvSpPr>
          <p:cNvPr id="8" name="insIT_32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la Settimana 1. Perché questi orari e numeri sono uno shock?</a:t>
            </a:r>
            <a:endParaRPr lang="en-US" sz="950" dirty="0"/>
          </a:p>
        </p:txBody>
      </p:sp>
      <p:sp>
        <p:nvSpPr>
          <p:cNvPr id="9" name="note_32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Controlled practice</a:t>
            </a:r>
            <a:endParaRPr lang="en-US" sz="1150" dirty="0"/>
          </a:p>
        </p:txBody>
      </p:sp>
      <p:pic>
        <p:nvPicPr>
          <p:cNvPr id="10" name="logo_32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2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Listening · Week 1 (numbers)   ·   📖 SB p.67 · 4b · audio 7.7 (script SB p.129, TG key)</a:t>
            </a:r>
            <a:endParaRPr lang="en-US" sz="800" dirty="0"/>
          </a:p>
        </p:txBody>
      </p:sp>
      <p:sp>
        <p:nvSpPr>
          <p:cNvPr id="12" name="ap_327"/>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7.7</a:t>
            </a:r>
            <a:endParaRPr lang="en-US" sz="1100" dirty="0"/>
          </a:p>
        </p:txBody>
      </p:sp>
      <p:sp>
        <p:nvSpPr>
          <p:cNvPr id="13" name="ah_328"/>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329"/>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bd_330"/>
          <p:cNvSpPr/>
          <p:nvPr/>
        </p:nvSpPr>
        <p:spPr>
          <a:xfrm>
            <a:off x="32004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8" name="q_331"/>
          <p:cNvSpPr/>
          <p:nvPr/>
        </p:nvSpPr>
        <p:spPr>
          <a:xfrm>
            <a:off x="70408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b="1" dirty="0">
                <a:solidFill>
                  <a:srgbClr val="1B2559"/>
                </a:solidFill>
                <a:latin typeface="Segoe UI Semibold" pitchFamily="34" charset="0"/>
                <a:ea typeface="Segoe UI Semibold" pitchFamily="34" charset="-122"/>
                <a:cs typeface="Segoe UI Semibold" pitchFamily="34" charset="-120"/>
              </a:rPr>
              <a:t>⏰ 7.00 a.m.</a:t>
            </a:r>
            <a:endParaRPr lang="en-US" sz="1200" dirty="0"/>
          </a:p>
        </p:txBody>
      </p:sp>
      <p:sp>
        <p:nvSpPr>
          <p:cNvPr id="19" name="R1_chip332"/>
          <p:cNvSpPr/>
          <p:nvPr/>
        </p:nvSpPr>
        <p:spPr>
          <a:xfrm>
            <a:off x="70408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They start the day at 7.00 a.m., much earlier than usual.</a:t>
            </a:r>
            <a:endParaRPr lang="en-US" sz="1100" dirty="0"/>
          </a:p>
        </p:txBody>
      </p:sp>
      <p:sp>
        <p:nvSpPr>
          <p:cNvPr id="20" name="bd_333"/>
          <p:cNvSpPr/>
          <p:nvPr/>
        </p:nvSpPr>
        <p:spPr>
          <a:xfrm>
            <a:off x="32004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1" name="q_334"/>
          <p:cNvSpPr/>
          <p:nvPr/>
        </p:nvSpPr>
        <p:spPr>
          <a:xfrm>
            <a:off x="70408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b="1" dirty="0">
                <a:solidFill>
                  <a:srgbClr val="1B2559"/>
                </a:solidFill>
                <a:latin typeface="Segoe UI Semibold" pitchFamily="34" charset="0"/>
                <a:ea typeface="Segoe UI Semibold" pitchFamily="34" charset="-122"/>
                <a:cs typeface="Segoe UI Semibold" pitchFamily="34" charset="-120"/>
              </a:rPr>
              <a:t>⏰ 30 minutes a day</a:t>
            </a:r>
            <a:endParaRPr lang="en-US" sz="1200" dirty="0"/>
          </a:p>
        </p:txBody>
      </p:sp>
      <p:sp>
        <p:nvSpPr>
          <p:cNvPr id="22" name="R2_chip335"/>
          <p:cNvSpPr/>
          <p:nvPr/>
        </p:nvSpPr>
        <p:spPr>
          <a:xfrm>
            <a:off x="70408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30 minutes of physical exercise every day – not two hours a week.</a:t>
            </a:r>
            <a:endParaRPr lang="en-US" sz="1100" dirty="0"/>
          </a:p>
        </p:txBody>
      </p:sp>
      <p:sp>
        <p:nvSpPr>
          <p:cNvPr id="23" name="bd_336"/>
          <p:cNvSpPr/>
          <p:nvPr/>
        </p:nvSpPr>
        <p:spPr>
          <a:xfrm>
            <a:off x="32004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q_337"/>
          <p:cNvSpPr/>
          <p:nvPr/>
        </p:nvSpPr>
        <p:spPr>
          <a:xfrm>
            <a:off x="70408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00" b="1" dirty="0">
                <a:solidFill>
                  <a:srgbClr val="1B2559"/>
                </a:solidFill>
                <a:latin typeface="Segoe UI Semibold" pitchFamily="34" charset="0"/>
                <a:ea typeface="Segoe UI Semibold" pitchFamily="34" charset="-122"/>
                <a:cs typeface="Segoe UI Semibold" pitchFamily="34" charset="-120"/>
              </a:rPr>
              <a:t>⏰ 50</a:t>
            </a:r>
            <a:endParaRPr lang="en-US" sz="1200" dirty="0"/>
          </a:p>
        </p:txBody>
      </p:sp>
      <p:sp>
        <p:nvSpPr>
          <p:cNvPr id="25" name="R3_chip338"/>
          <p:cNvSpPr/>
          <p:nvPr/>
        </p:nvSpPr>
        <p:spPr>
          <a:xfrm>
            <a:off x="70408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50 students in one class – not 30.</a:t>
            </a:r>
            <a:endParaRPr lang="en-US" sz="1100" dirty="0"/>
          </a:p>
        </p:txBody>
      </p:sp>
      <p:sp>
        <p:nvSpPr>
          <p:cNvPr id="26" name="bd_339"/>
          <p:cNvSpPr/>
          <p:nvPr/>
        </p:nvSpPr>
        <p:spPr>
          <a:xfrm>
            <a:off x="320040" y="391399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7" name="q_340"/>
          <p:cNvSpPr/>
          <p:nvPr/>
        </p:nvSpPr>
        <p:spPr>
          <a:xfrm>
            <a:off x="704088" y="3941064"/>
            <a:ext cx="3776472" cy="256764"/>
          </a:xfrm>
          <a:prstGeom prst="roundRect">
            <a:avLst>
              <a:gd name="adj" fmla="val 3561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00" b="1" dirty="0">
                <a:solidFill>
                  <a:srgbClr val="1B2559"/>
                </a:solidFill>
                <a:latin typeface="Segoe UI Semibold" pitchFamily="34" charset="0"/>
                <a:ea typeface="Segoe UI Semibold" pitchFamily="34" charset="-122"/>
                <a:cs typeface="Segoe UI Semibold" pitchFamily="34" charset="-120"/>
              </a:rPr>
              <a:t>⏰ 11.30 a.m.</a:t>
            </a:r>
            <a:endParaRPr lang="en-US" sz="1200" dirty="0"/>
          </a:p>
        </p:txBody>
      </p:sp>
      <p:sp>
        <p:nvSpPr>
          <p:cNvPr id="28" name="R4_chip341"/>
          <p:cNvSpPr/>
          <p:nvPr/>
        </p:nvSpPr>
        <p:spPr>
          <a:xfrm>
            <a:off x="704088" y="4243548"/>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They have lunch – early for them.</a:t>
            </a:r>
            <a:endParaRPr lang="en-US" sz="1100" dirty="0"/>
          </a:p>
        </p:txBody>
      </p:sp>
      <p:sp>
        <p:nvSpPr>
          <p:cNvPr id="29" name="bd_342"/>
          <p:cNvSpPr/>
          <p:nvPr/>
        </p:nvSpPr>
        <p:spPr>
          <a:xfrm>
            <a:off x="4709160" y="1390254"/>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0" name="q_343"/>
          <p:cNvSpPr/>
          <p:nvPr/>
        </p:nvSpPr>
        <p:spPr>
          <a:xfrm>
            <a:off x="5093208" y="1417320"/>
            <a:ext cx="3776472" cy="256764"/>
          </a:xfrm>
          <a:prstGeom prst="roundRect">
            <a:avLst>
              <a:gd name="adj" fmla="val 3561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b="1" dirty="0">
                <a:solidFill>
                  <a:srgbClr val="1B2559"/>
                </a:solidFill>
                <a:latin typeface="Segoe UI Semibold" pitchFamily="34" charset="0"/>
                <a:ea typeface="Segoe UI Semibold" pitchFamily="34" charset="-122"/>
                <a:cs typeface="Segoe UI Semibold" pitchFamily="34" charset="-120"/>
              </a:rPr>
              <a:t>⏰ 5.00 p.m.</a:t>
            </a:r>
            <a:endParaRPr lang="en-US" sz="1200" dirty="0"/>
          </a:p>
        </p:txBody>
      </p:sp>
      <p:sp>
        <p:nvSpPr>
          <p:cNvPr id="31" name="R5_chip344"/>
          <p:cNvSpPr/>
          <p:nvPr/>
        </p:nvSpPr>
        <p:spPr>
          <a:xfrm>
            <a:off x="5093208" y="1719804"/>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Lessons finish, but they can't go home.</a:t>
            </a:r>
            <a:endParaRPr lang="en-US" sz="1100" dirty="0"/>
          </a:p>
        </p:txBody>
      </p:sp>
      <p:sp>
        <p:nvSpPr>
          <p:cNvPr id="32" name="bd_345"/>
          <p:cNvSpPr/>
          <p:nvPr/>
        </p:nvSpPr>
        <p:spPr>
          <a:xfrm>
            <a:off x="4709160" y="223150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3" name="q_346"/>
          <p:cNvSpPr/>
          <p:nvPr/>
        </p:nvSpPr>
        <p:spPr>
          <a:xfrm>
            <a:off x="5093208" y="2258568"/>
            <a:ext cx="3776472" cy="256764"/>
          </a:xfrm>
          <a:prstGeom prst="roundRect">
            <a:avLst>
              <a:gd name="adj" fmla="val 3561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b="1" dirty="0">
                <a:solidFill>
                  <a:srgbClr val="1B2559"/>
                </a:solidFill>
                <a:latin typeface="Segoe UI Semibold" pitchFamily="34" charset="0"/>
                <a:ea typeface="Segoe UI Semibold" pitchFamily="34" charset="-122"/>
                <a:cs typeface="Segoe UI Semibold" pitchFamily="34" charset="-120"/>
              </a:rPr>
              <a:t>⏰ 7.00 p.m.</a:t>
            </a:r>
            <a:endParaRPr lang="en-US" sz="1200" dirty="0"/>
          </a:p>
        </p:txBody>
      </p:sp>
      <p:sp>
        <p:nvSpPr>
          <p:cNvPr id="34" name="R6_chip347"/>
          <p:cNvSpPr/>
          <p:nvPr/>
        </p:nvSpPr>
        <p:spPr>
          <a:xfrm>
            <a:off x="5093208" y="2561052"/>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They clean the classroom before they go home.</a:t>
            </a:r>
            <a:endParaRPr lang="en-US" sz="1100" dirty="0"/>
          </a:p>
        </p:txBody>
      </p:sp>
      <p:sp>
        <p:nvSpPr>
          <p:cNvPr id="35" name="bd_348"/>
          <p:cNvSpPr/>
          <p:nvPr/>
        </p:nvSpPr>
        <p:spPr>
          <a:xfrm>
            <a:off x="4709160" y="3072750"/>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6" name="q_349"/>
          <p:cNvSpPr/>
          <p:nvPr/>
        </p:nvSpPr>
        <p:spPr>
          <a:xfrm>
            <a:off x="5093208" y="3099816"/>
            <a:ext cx="3776472" cy="256764"/>
          </a:xfrm>
          <a:prstGeom prst="roundRect">
            <a:avLst>
              <a:gd name="adj" fmla="val 3561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00" b="1" dirty="0">
                <a:solidFill>
                  <a:srgbClr val="1B2559"/>
                </a:solidFill>
                <a:latin typeface="Segoe UI Semibold" pitchFamily="34" charset="0"/>
                <a:ea typeface="Segoe UI Semibold" pitchFamily="34" charset="-122"/>
                <a:cs typeface="Segoe UI Semibold" pitchFamily="34" charset="-120"/>
              </a:rPr>
              <a:t>⏰ 12 hours</a:t>
            </a:r>
            <a:endParaRPr lang="en-US" sz="1200" dirty="0"/>
          </a:p>
        </p:txBody>
      </p:sp>
      <p:sp>
        <p:nvSpPr>
          <p:cNvPr id="37" name="R7_chip350"/>
          <p:cNvSpPr/>
          <p:nvPr/>
        </p:nvSpPr>
        <p:spPr>
          <a:xfrm>
            <a:off x="5093208" y="3402300"/>
            <a:ext cx="3776472" cy="410748"/>
          </a:xfrm>
          <a:prstGeom prst="roundRect">
            <a:avLst>
              <a:gd name="adj" fmla="val 22262"/>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The school day is 12 hours long – exhausting!</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8" restart="whenNotActive" fill="hold" evtFilter="cancelBubble" nodeType="interactiveSeq">
                <p:stCondLst>
                  <p:cond evt="onClick" delay="0">
                    <p:tgtEl>
                      <p:spTgt spid="14"/>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4"/>
                                        </p:tgtEl>
                                      </p:cBhvr>
                                    </p:cmd>
                                  </p:childTnLst>
                                </p:cTn>
                              </p:par>
                            </p:childTnLst>
                          </p:cTn>
                        </p:par>
                      </p:childTnLst>
                    </p:cTn>
                  </p:par>
                </p:childTnLst>
              </p:cTn>
              <p:nextCondLst>
                <p:cond evt="onClick" delay="0">
                  <p:tgtEl>
                    <p:spTgt spid="14"/>
                  </p:tgtEl>
                </p:cond>
              </p:nextCondLst>
            </p:seq>
            <p:seq concurrent="1" nextAc="seek">
              <p:cTn id="43" restart="whenNotActive" fill="hold" evtFilter="cancelBubble" nodeType="interactiveSeq">
                <p:stCondLst>
                  <p:cond evt="onClick" delay="0">
                    <p:tgtEl>
                      <p:spTgt spid="16"/>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6"/>
                                        </p:tgtEl>
                                      </p:cBhvr>
                                    </p:cmd>
                                  </p:childTnLst>
                                </p:cTn>
                              </p:par>
                            </p:childTnLst>
                          </p:cTn>
                        </p:par>
                      </p:childTnLst>
                    </p:cTn>
                  </p:par>
                </p:childTnLst>
              </p:cTn>
              <p:nextCondLst>
                <p:cond evt="onClick" delay="0">
                  <p:tgtEl>
                    <p:spTgt spid="16"/>
                  </p:tgtEl>
                </p:cond>
              </p:nextCondLst>
            </p:seq>
            <p:audio>
              <p:cMediaNode vol="80000">
                <p:cTn id="48" fill="hold" display="0">
                  <p:stCondLst>
                    <p:cond delay="indefinite"/>
                  </p:stCondLst>
                  <p:endCondLst>
                    <p:cond evt="onStopAudio" delay="0">
                      <p:tgtEl>
                        <p:sldTgt/>
                      </p:tgtEl>
                    </p:cond>
                  </p:endCondLst>
                </p:cTn>
                <p:tgtEl>
                  <p:spTgt spid="14"/>
                </p:tgtEl>
              </p:cMediaNode>
            </p:audio>
            <p:audio>
              <p:cMediaNode vol="80000">
                <p:cTn id="49" fill="hold" display="0">
                  <p:stCondLst>
                    <p:cond delay="indefinite"/>
                  </p:stCondLst>
                  <p:endCondLst>
                    <p:cond evt="onStopAudio" delay="0">
                      <p:tgtEl>
                        <p:sldTgt/>
                      </p:tgtEl>
                    </p:cond>
                  </p:endCondLst>
                </p:cTn>
                <p:tgtEl>
                  <p:spTgt spid="1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1"/>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52"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353"/>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Chinese teachers</a:t>
            </a:r>
            <a:endParaRPr lang="en-US" sz="2500" dirty="0"/>
          </a:p>
        </p:txBody>
      </p:sp>
      <p:pic>
        <p:nvPicPr>
          <p:cNvPr id="6" name="brP_354"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55"/>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Listen to Weeks 2 and 3. Tick the things that are true about the Chinese teachers.</a:t>
            </a:r>
            <a:endParaRPr lang="en-US" sz="1100" dirty="0"/>
          </a:p>
        </p:txBody>
      </p:sp>
      <p:sp>
        <p:nvSpPr>
          <p:cNvPr id="8" name="insIT_35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le settimane 2 e 3. Spunta le cose vere sugli insegnanti cinesi.</a:t>
            </a:r>
            <a:endParaRPr lang="en-US" sz="950" dirty="0"/>
          </a:p>
        </p:txBody>
      </p:sp>
      <p:sp>
        <p:nvSpPr>
          <p:cNvPr id="9" name="note_35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for detail</a:t>
            </a:r>
            <a:endParaRPr lang="en-US" sz="1150" dirty="0"/>
          </a:p>
        </p:txBody>
      </p:sp>
      <p:pic>
        <p:nvPicPr>
          <p:cNvPr id="10" name="logo_3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Listening · Weeks 2 &amp; 3   ·   📖 SB p.67 · 4c · audio 7.8 (TG key: 1, 2, 5, 6, 8, 10)</a:t>
            </a:r>
            <a:endParaRPr lang="en-US" sz="800" dirty="0"/>
          </a:p>
        </p:txBody>
      </p:sp>
      <p:sp>
        <p:nvSpPr>
          <p:cNvPr id="12" name="ap_360"/>
          <p:cNvSpPr/>
          <p:nvPr/>
        </p:nvSpPr>
        <p:spPr>
          <a:xfrm>
            <a:off x="365760" y="1417320"/>
            <a:ext cx="219456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7.8  ·  play twice</a:t>
            </a:r>
            <a:endParaRPr lang="en-US" sz="1100" dirty="0"/>
          </a:p>
        </p:txBody>
      </p:sp>
      <p:sp>
        <p:nvSpPr>
          <p:cNvPr id="13" name="ah_361"/>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362"/>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pf_363"/>
          <p:cNvSpPr/>
          <p:nvPr/>
        </p:nvSpPr>
        <p:spPr>
          <a:xfrm rot="-90000">
            <a:off x="411480" y="2256397"/>
            <a:ext cx="2697480" cy="1385086"/>
          </a:xfrm>
          <a:prstGeom prst="roundRect">
            <a:avLst>
              <a:gd name="adj" fmla="val 1122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364" descr="/home/claude/lls-course/v2/cache/b1_7a_students_jpg_627x311_31.png">    </p:cNvPr>
          <p:cNvPicPr>
            <a:picLocks noChangeAspect="1"/>
          </p:cNvPicPr>
          <p:nvPr/>
        </p:nvPicPr>
        <p:blipFill>
          <a:blip r:embed="rId11"/>
          <a:stretch>
            <a:fillRect/>
          </a:stretch>
        </p:blipFill>
        <p:spPr>
          <a:xfrm rot="-90000">
            <a:off x="457200" y="2302117"/>
            <a:ext cx="2606040" cy="1293646"/>
          </a:xfrm>
          <a:prstGeom prst="rect">
            <a:avLst/>
          </a:prstGeom>
        </p:spPr>
      </p:pic>
      <p:sp>
        <p:nvSpPr>
          <p:cNvPr id="19" name="cd_365"/>
          <p:cNvSpPr/>
          <p:nvPr/>
        </p:nvSpPr>
        <p:spPr>
          <a:xfrm>
            <a:off x="320040" y="4023360"/>
            <a:ext cx="2788920" cy="731520"/>
          </a:xfrm>
          <a:prstGeom prst="roundRect">
            <a:avLst>
              <a:gd name="adj" fmla="val 1750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0" name="ii_366"/>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367"/>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Tick ✓ or cross ✗</a:t>
            </a:r>
            <a:endParaRPr lang="en-US" sz="1200" dirty="0"/>
          </a:p>
        </p:txBody>
      </p:sp>
      <p:sp>
        <p:nvSpPr>
          <p:cNvPr id="22" name="gq_368"/>
          <p:cNvSpPr/>
          <p:nvPr/>
        </p:nvSpPr>
        <p:spPr>
          <a:xfrm>
            <a:off x="3383280" y="1417320"/>
            <a:ext cx="3337560" cy="265176"/>
          </a:xfrm>
          <a:prstGeom prst="roundRect">
            <a:avLst>
              <a:gd name="adj" fmla="val 34483"/>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They teach very quickly.</a:t>
            </a:r>
            <a:endParaRPr lang="en-US" sz="1200" dirty="0"/>
          </a:p>
        </p:txBody>
      </p:sp>
      <p:sp>
        <p:nvSpPr>
          <p:cNvPr id="23" name="R1_chip369"/>
          <p:cNvSpPr/>
          <p:nvPr/>
        </p:nvSpPr>
        <p:spPr>
          <a:xfrm>
            <a:off x="6812280" y="1417320"/>
            <a:ext cx="2057400" cy="265176"/>
          </a:xfrm>
          <a:prstGeom prst="roundRect">
            <a:avLst>
              <a:gd name="adj" fmla="val 34483"/>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24" name="gq_370"/>
          <p:cNvSpPr/>
          <p:nvPr/>
        </p:nvSpPr>
        <p:spPr>
          <a:xfrm>
            <a:off x="3383280" y="1746504"/>
            <a:ext cx="3337560" cy="265176"/>
          </a:xfrm>
          <a:prstGeom prst="roundRect">
            <a:avLst>
              <a:gd name="adj" fmla="val 34483"/>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2 They make students copy from the board.</a:t>
            </a:r>
            <a:endParaRPr lang="en-US" sz="1000" dirty="0"/>
          </a:p>
        </p:txBody>
      </p:sp>
      <p:sp>
        <p:nvSpPr>
          <p:cNvPr id="25" name="R2_chip371"/>
          <p:cNvSpPr/>
          <p:nvPr/>
        </p:nvSpPr>
        <p:spPr>
          <a:xfrm>
            <a:off x="6812280" y="1746504"/>
            <a:ext cx="2057400" cy="265176"/>
          </a:xfrm>
          <a:prstGeom prst="roundRect">
            <a:avLst>
              <a:gd name="adj" fmla="val 34483"/>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26" name="gq_372"/>
          <p:cNvSpPr/>
          <p:nvPr/>
        </p:nvSpPr>
        <p:spPr>
          <a:xfrm>
            <a:off x="3383280" y="2075688"/>
            <a:ext cx="3337560" cy="265176"/>
          </a:xfrm>
          <a:prstGeom prst="roundRect">
            <a:avLst>
              <a:gd name="adj" fmla="val 34483"/>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3 They let students do experiments on their own.</a:t>
            </a:r>
            <a:endParaRPr lang="en-US" sz="900" dirty="0"/>
          </a:p>
        </p:txBody>
      </p:sp>
      <p:sp>
        <p:nvSpPr>
          <p:cNvPr id="27" name="R3_chip373"/>
          <p:cNvSpPr/>
          <p:nvPr/>
        </p:nvSpPr>
        <p:spPr>
          <a:xfrm>
            <a:off x="6812280" y="2075688"/>
            <a:ext cx="2057400" cy="265176"/>
          </a:xfrm>
          <a:prstGeom prst="roundRect">
            <a:avLst>
              <a:gd name="adj" fmla="val 34483"/>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28" name="gq_374"/>
          <p:cNvSpPr/>
          <p:nvPr/>
        </p:nvSpPr>
        <p:spPr>
          <a:xfrm>
            <a:off x="3383280" y="2404872"/>
            <a:ext cx="3337560" cy="265176"/>
          </a:xfrm>
          <a:prstGeom prst="roundRect">
            <a:avLst>
              <a:gd name="adj" fmla="val 34483"/>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750" dirty="0">
                <a:solidFill>
                  <a:srgbClr val="1B2559"/>
                </a:solidFill>
                <a:latin typeface="Segoe UI Semibold" pitchFamily="34" charset="0"/>
                <a:ea typeface="Segoe UI Semibold" pitchFamily="34" charset="-122"/>
                <a:cs typeface="Segoe UI Semibold" pitchFamily="34" charset="-120"/>
              </a:rPr>
              <a:t>4 They're not surprised by the students' attitude to learning.</a:t>
            </a:r>
            <a:endParaRPr lang="en-US" sz="750" dirty="0"/>
          </a:p>
        </p:txBody>
      </p:sp>
      <p:sp>
        <p:nvSpPr>
          <p:cNvPr id="29" name="R4_chip375"/>
          <p:cNvSpPr/>
          <p:nvPr/>
        </p:nvSpPr>
        <p:spPr>
          <a:xfrm>
            <a:off x="6812280" y="2404872"/>
            <a:ext cx="2057400" cy="265176"/>
          </a:xfrm>
          <a:prstGeom prst="roundRect">
            <a:avLst>
              <a:gd name="adj" fmla="val 34483"/>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30" name="gq_376"/>
          <p:cNvSpPr/>
          <p:nvPr/>
        </p:nvSpPr>
        <p:spPr>
          <a:xfrm>
            <a:off x="3383280" y="2734056"/>
            <a:ext cx="3337560" cy="265176"/>
          </a:xfrm>
          <a:prstGeom prst="roundRect">
            <a:avLst>
              <a:gd name="adj" fmla="val 34483"/>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750" dirty="0">
                <a:solidFill>
                  <a:srgbClr val="1B2559"/>
                </a:solidFill>
                <a:latin typeface="Segoe UI Semibold" pitchFamily="34" charset="0"/>
                <a:ea typeface="Segoe UI Semibold" pitchFamily="34" charset="-122"/>
                <a:cs typeface="Segoe UI Semibold" pitchFamily="34" charset="-120"/>
              </a:rPr>
              <a:t>5 They try punishing students to make them pay attention.</a:t>
            </a:r>
            <a:endParaRPr lang="en-US" sz="750" dirty="0"/>
          </a:p>
        </p:txBody>
      </p:sp>
      <p:sp>
        <p:nvSpPr>
          <p:cNvPr id="31" name="R5_chip377"/>
          <p:cNvSpPr/>
          <p:nvPr/>
        </p:nvSpPr>
        <p:spPr>
          <a:xfrm>
            <a:off x="6812280" y="2734056"/>
            <a:ext cx="2057400" cy="265176"/>
          </a:xfrm>
          <a:prstGeom prst="roundRect">
            <a:avLst>
              <a:gd name="adj" fmla="val 34483"/>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32" name="gq_378"/>
          <p:cNvSpPr/>
          <p:nvPr/>
        </p:nvSpPr>
        <p:spPr>
          <a:xfrm>
            <a:off x="3383280" y="3063240"/>
            <a:ext cx="3337560" cy="265176"/>
          </a:xfrm>
          <a:prstGeom prst="roundRect">
            <a:avLst>
              <a:gd name="adj" fmla="val 34483"/>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750" dirty="0">
                <a:solidFill>
                  <a:srgbClr val="1B2559"/>
                </a:solidFill>
                <a:latin typeface="Segoe UI Semibold" pitchFamily="34" charset="0"/>
                <a:ea typeface="Segoe UI Semibold" pitchFamily="34" charset="-122"/>
                <a:cs typeface="Segoe UI Semibold" pitchFamily="34" charset="-120"/>
              </a:rPr>
              <a:t>6 They have problems with disciplining the British students.</a:t>
            </a:r>
            <a:endParaRPr lang="en-US" sz="750" dirty="0"/>
          </a:p>
        </p:txBody>
      </p:sp>
      <p:sp>
        <p:nvSpPr>
          <p:cNvPr id="33" name="R6_chip379"/>
          <p:cNvSpPr/>
          <p:nvPr/>
        </p:nvSpPr>
        <p:spPr>
          <a:xfrm>
            <a:off x="6812280" y="3063240"/>
            <a:ext cx="2057400" cy="265176"/>
          </a:xfrm>
          <a:prstGeom prst="roundRect">
            <a:avLst>
              <a:gd name="adj" fmla="val 34483"/>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34" name="gq_380"/>
          <p:cNvSpPr/>
          <p:nvPr/>
        </p:nvSpPr>
        <p:spPr>
          <a:xfrm>
            <a:off x="3383280" y="3392424"/>
            <a:ext cx="3337560" cy="265176"/>
          </a:xfrm>
          <a:prstGeom prst="roundRect">
            <a:avLst>
              <a:gd name="adj" fmla="val 34483"/>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7 They expel several students from the class.</a:t>
            </a:r>
            <a:endParaRPr lang="en-US" sz="950" dirty="0"/>
          </a:p>
        </p:txBody>
      </p:sp>
      <p:sp>
        <p:nvSpPr>
          <p:cNvPr id="35" name="R7_chip381"/>
          <p:cNvSpPr/>
          <p:nvPr/>
        </p:nvSpPr>
        <p:spPr>
          <a:xfrm>
            <a:off x="6812280" y="3392424"/>
            <a:ext cx="2057400" cy="265176"/>
          </a:xfrm>
          <a:prstGeom prst="roundRect">
            <a:avLst>
              <a:gd name="adj" fmla="val 34483"/>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36" name="gq_382"/>
          <p:cNvSpPr/>
          <p:nvPr/>
        </p:nvSpPr>
        <p:spPr>
          <a:xfrm>
            <a:off x="3383280" y="3721608"/>
            <a:ext cx="3337560" cy="265176"/>
          </a:xfrm>
          <a:prstGeom prst="roundRect">
            <a:avLst>
              <a:gd name="adj" fmla="val 34483"/>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750" dirty="0">
                <a:solidFill>
                  <a:srgbClr val="1B2559"/>
                </a:solidFill>
                <a:latin typeface="Segoe UI Semibold" pitchFamily="34" charset="0"/>
                <a:ea typeface="Segoe UI Semibold" pitchFamily="34" charset="-122"/>
                <a:cs typeface="Segoe UI Semibold" pitchFamily="34" charset="-120"/>
              </a:rPr>
              <a:t>8 When they see their method isn't working, they change their approach.</a:t>
            </a:r>
            <a:endParaRPr lang="en-US" sz="750" dirty="0"/>
          </a:p>
        </p:txBody>
      </p:sp>
      <p:sp>
        <p:nvSpPr>
          <p:cNvPr id="37" name="R8_chip383"/>
          <p:cNvSpPr/>
          <p:nvPr/>
        </p:nvSpPr>
        <p:spPr>
          <a:xfrm>
            <a:off x="6812280" y="3721608"/>
            <a:ext cx="2057400" cy="265176"/>
          </a:xfrm>
          <a:prstGeom prst="roundRect">
            <a:avLst>
              <a:gd name="adj" fmla="val 34483"/>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38" name="gq_384"/>
          <p:cNvSpPr/>
          <p:nvPr/>
        </p:nvSpPr>
        <p:spPr>
          <a:xfrm>
            <a:off x="3383280" y="4050792"/>
            <a:ext cx="3337560" cy="265176"/>
          </a:xfrm>
          <a:prstGeom prst="roundRect">
            <a:avLst>
              <a:gd name="adj" fmla="val 34483"/>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9 They make the children do t'ai chi.</a:t>
            </a:r>
            <a:endParaRPr lang="en-US" sz="1200" dirty="0"/>
          </a:p>
        </p:txBody>
      </p:sp>
      <p:sp>
        <p:nvSpPr>
          <p:cNvPr id="39" name="R9_chip385"/>
          <p:cNvSpPr/>
          <p:nvPr/>
        </p:nvSpPr>
        <p:spPr>
          <a:xfrm>
            <a:off x="6812280" y="4050792"/>
            <a:ext cx="2057400" cy="265176"/>
          </a:xfrm>
          <a:prstGeom prst="roundRect">
            <a:avLst>
              <a:gd name="adj" fmla="val 34483"/>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40" name="gq_386"/>
          <p:cNvSpPr/>
          <p:nvPr/>
        </p:nvSpPr>
        <p:spPr>
          <a:xfrm>
            <a:off x="3383280" y="4379976"/>
            <a:ext cx="3337560" cy="265176"/>
          </a:xfrm>
          <a:prstGeom prst="roundRect">
            <a:avLst>
              <a:gd name="adj" fmla="val 34483"/>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10 They make a good impression on the parents.</a:t>
            </a:r>
            <a:endParaRPr lang="en-US" sz="950" dirty="0"/>
          </a:p>
        </p:txBody>
      </p:sp>
      <p:sp>
        <p:nvSpPr>
          <p:cNvPr id="41" name="R10_chip387"/>
          <p:cNvSpPr/>
          <p:nvPr/>
        </p:nvSpPr>
        <p:spPr>
          <a:xfrm>
            <a:off x="6812280" y="4379976"/>
            <a:ext cx="2057400" cy="265176"/>
          </a:xfrm>
          <a:prstGeom prst="roundRect">
            <a:avLst>
              <a:gd name="adj" fmla="val 34483"/>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400"/>
                                        <p:tgtEl>
                                          <p:spTgt spid="3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400"/>
                                        <p:tgtEl>
                                          <p:spTgt spid="3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53" restart="whenNotActive" fill="hold" evtFilter="cancelBubble" nodeType="interactiveSeq">
                <p:stCondLst>
                  <p:cond evt="onClick" delay="0">
                    <p:tgtEl>
                      <p:spTgt spid="14"/>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14"/>
                                        </p:tgtEl>
                                      </p:cBhvr>
                                    </p:cmd>
                                  </p:childTnLst>
                                </p:cTn>
                              </p:par>
                            </p:childTnLst>
                          </p:cTn>
                        </p:par>
                      </p:childTnLst>
                    </p:cTn>
                  </p:par>
                </p:childTnLst>
              </p:cTn>
              <p:nextCondLst>
                <p:cond evt="onClick" delay="0">
                  <p:tgtEl>
                    <p:spTgt spid="14"/>
                  </p:tgtEl>
                </p:cond>
              </p:nextCondLst>
            </p:seq>
            <p:seq concurrent="1" nextAc="seek">
              <p:cTn id="58" restart="whenNotActive" fill="hold" evtFilter="cancelBubble" nodeType="interactiveSeq">
                <p:stCondLst>
                  <p:cond evt="onClick" delay="0">
                    <p:tgtEl>
                      <p:spTgt spid="16"/>
                    </p:tgtEl>
                  </p:cond>
                </p:stCondLst>
                <p:endSync evt="end" delay="0">
                  <p:rtn val="all"/>
                </p:endSync>
                <p:childTnLst>
                  <p:par>
                    <p:cTn id="59" fill="hold">
                      <p:stCondLst>
                        <p:cond delay="0"/>
                      </p:stCondLst>
                      <p:childTnLst>
                        <p:par>
                          <p:cTn id="60" fill="hold">
                            <p:stCondLst>
                              <p:cond delay="0"/>
                            </p:stCondLst>
                            <p:childTnLst>
                              <p:par>
                                <p:cTn id="61" presetID="2" presetClass="mediacall" presetSubtype="0" fill="hold" nodeType="clickEffect">
                                  <p:stCondLst>
                                    <p:cond delay="0"/>
                                  </p:stCondLst>
                                  <p:childTnLst>
                                    <p:cmd type="call" cmd="togglePause">
                                      <p:cBhvr>
                                        <p:cTn id="62" dur="1" fill="hold"/>
                                        <p:tgtEl>
                                          <p:spTgt spid="16"/>
                                        </p:tgtEl>
                                      </p:cBhvr>
                                    </p:cmd>
                                  </p:childTnLst>
                                </p:cTn>
                              </p:par>
                            </p:childTnLst>
                          </p:cTn>
                        </p:par>
                      </p:childTnLst>
                    </p:cTn>
                  </p:par>
                </p:childTnLst>
              </p:cTn>
              <p:nextCondLst>
                <p:cond evt="onClick" delay="0">
                  <p:tgtEl>
                    <p:spTgt spid="16"/>
                  </p:tgtEl>
                </p:cond>
              </p:nextCondLst>
            </p:seq>
            <p:audio>
              <p:cMediaNode vol="80000">
                <p:cTn id="63" fill="hold" display="0">
                  <p:stCondLst>
                    <p:cond delay="indefinite"/>
                  </p:stCondLst>
                  <p:endCondLst>
                    <p:cond evt="onStopAudio" delay="0">
                      <p:tgtEl>
                        <p:sldTgt/>
                      </p:tgtEl>
                    </p:cond>
                  </p:endCondLst>
                </p:cTn>
                <p:tgtEl>
                  <p:spTgt spid="14"/>
                </p:tgtEl>
              </p:cMediaNode>
            </p:audio>
            <p:audio>
              <p:cMediaNode vol="80000">
                <p:cTn id="64" fill="hold" display="0">
                  <p:stCondLst>
                    <p:cond delay="indefinite"/>
                  </p:stCondLst>
                  <p:endCondLst>
                    <p:cond evt="onStopAudio" delay="0">
                      <p:tgtEl>
                        <p:sldTgt/>
                      </p:tgtEl>
                    </p:cond>
                  </p:endCondLst>
                </p:cTn>
                <p:tgtEl>
                  <p:spTgt spid="1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8"/>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89"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390"/>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And the winner is…</a:t>
            </a:r>
            <a:endParaRPr lang="en-US" sz="2500" dirty="0"/>
          </a:p>
        </p:txBody>
      </p:sp>
      <p:pic>
        <p:nvPicPr>
          <p:cNvPr id="6" name="brP_391"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92"/>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Listen to Week 4. Complete the test results. What did the teachers learn?</a:t>
            </a:r>
            <a:endParaRPr lang="en-US" sz="1100" dirty="0"/>
          </a:p>
        </p:txBody>
      </p:sp>
      <p:sp>
        <p:nvSpPr>
          <p:cNvPr id="8" name="insIT_39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la Settimana 4. Completa i risultati. Cosa hanno imparato?</a:t>
            </a:r>
            <a:endParaRPr lang="en-US" sz="950" dirty="0"/>
          </a:p>
        </p:txBody>
      </p:sp>
      <p:sp>
        <p:nvSpPr>
          <p:cNvPr id="9" name="note_39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Controlled practice</a:t>
            </a:r>
            <a:endParaRPr lang="en-US" sz="1150" dirty="0"/>
          </a:p>
        </p:txBody>
      </p:sp>
      <p:pic>
        <p:nvPicPr>
          <p:cNvPr id="10" name="logo_39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9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Listening · Week 4 (results)   ·   📖 SB p.67 · 4d · audio 7.9 (TG key)</a:t>
            </a:r>
            <a:endParaRPr lang="en-US" sz="800" dirty="0"/>
          </a:p>
        </p:txBody>
      </p:sp>
      <p:sp>
        <p:nvSpPr>
          <p:cNvPr id="12" name="cd_397"/>
          <p:cNvSpPr/>
          <p:nvPr/>
        </p:nvSpPr>
        <p:spPr>
          <a:xfrm>
            <a:off x="320040" y="1417320"/>
            <a:ext cx="2697480" cy="768096"/>
          </a:xfrm>
          <a:prstGeom prst="roundRect">
            <a:avLst>
              <a:gd name="adj" fmla="val 1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39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399"/>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400"/>
          <p:cNvSpPr/>
          <p:nvPr/>
        </p:nvSpPr>
        <p:spPr>
          <a:xfrm>
            <a:off x="886968" y="1911096"/>
            <a:ext cx="2039112" cy="201168"/>
          </a:xfrm>
          <a:prstGeom prst="rect">
            <a:avLst/>
          </a:prstGeom>
          <a:noFill/>
          <a:ln/>
        </p:spPr>
        <p:txBody>
          <a:bodyPr wrap="square" lIns="0" tIns="0" rIns="0" bIns="0" rtlCol="0" anchor="t">
            <a:normAutofit/>
          </a:bodyPr>
          <a:lstStyle/>
          <a:p>
            <a:pPr indent="0" marL="0">
              <a:spcAft>
                <a:spcPts val="200"/>
              </a:spcAft>
              <a:buNone/>
            </a:pPr>
            <a:r>
              <a:rPr lang="en-US" sz="900" dirty="0">
                <a:solidFill>
                  <a:srgbClr val="1B2559"/>
                </a:solidFill>
                <a:latin typeface="Segoe UI Semibold" pitchFamily="34" charset="0"/>
                <a:ea typeface="Segoe UI Semibold" pitchFamily="34" charset="-122"/>
                <a:cs typeface="Segoe UI Semibold" pitchFamily="34" charset="-120"/>
              </a:rPr>
              <a:t>Guess first: who won each test?</a:t>
            </a:r>
            <a:endParaRPr lang="en-US" sz="900" dirty="0"/>
          </a:p>
        </p:txBody>
      </p:sp>
      <p:sp>
        <p:nvSpPr>
          <p:cNvPr id="16" name="ap_401"/>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7.9</a:t>
            </a:r>
            <a:endParaRPr lang="en-US" sz="1100" dirty="0"/>
          </a:p>
        </p:txBody>
      </p:sp>
      <p:sp>
        <p:nvSpPr>
          <p:cNvPr id="17" name="ah_402"/>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8"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9" name="ah_403"/>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20"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1" name="bd_404"/>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405"/>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maths</a:t>
            </a:r>
            <a:endParaRPr lang="en-US" sz="1150" dirty="0"/>
          </a:p>
        </p:txBody>
      </p:sp>
      <p:sp>
        <p:nvSpPr>
          <p:cNvPr id="23" name="R1_chip406"/>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British 54% · Chinese 68%</a:t>
            </a:r>
            <a:endParaRPr lang="en-US" sz="900" dirty="0"/>
          </a:p>
        </p:txBody>
      </p:sp>
      <p:sp>
        <p:nvSpPr>
          <p:cNvPr id="24" name="bd_407"/>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408"/>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science</a:t>
            </a:r>
            <a:endParaRPr lang="en-US" sz="1150" dirty="0"/>
          </a:p>
        </p:txBody>
      </p:sp>
      <p:sp>
        <p:nvSpPr>
          <p:cNvPr id="26" name="R2_chip409"/>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British 50% · Chinese 58%</a:t>
            </a:r>
            <a:endParaRPr lang="en-US" sz="900" dirty="0"/>
          </a:p>
        </p:txBody>
      </p:sp>
      <p:sp>
        <p:nvSpPr>
          <p:cNvPr id="27" name="bd_410"/>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411"/>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Mandarin</a:t>
            </a:r>
            <a:endParaRPr lang="en-US" sz="1150" dirty="0"/>
          </a:p>
        </p:txBody>
      </p:sp>
      <p:sp>
        <p:nvSpPr>
          <p:cNvPr id="29" name="R3_chip412"/>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British 37% · Chinese 46%</a:t>
            </a:r>
            <a:endParaRPr lang="en-US" sz="900" dirty="0"/>
          </a:p>
        </p:txBody>
      </p:sp>
      <p:sp>
        <p:nvSpPr>
          <p:cNvPr id="30" name="bd_413"/>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414"/>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British teachers learned…</a:t>
            </a:r>
            <a:endParaRPr lang="en-US" sz="1150" dirty="0"/>
          </a:p>
        </p:txBody>
      </p:sp>
      <p:sp>
        <p:nvSpPr>
          <p:cNvPr id="32" name="R4_chip415"/>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the Chinese method got good results, but the discipline was too strict for some students</a:t>
            </a:r>
            <a:endParaRPr lang="en-US" sz="900" dirty="0"/>
          </a:p>
        </p:txBody>
      </p:sp>
      <p:sp>
        <p:nvSpPr>
          <p:cNvPr id="33" name="bd_416"/>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4" name="q_417"/>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Chinese teachers learned…</a:t>
            </a:r>
            <a:endParaRPr lang="en-US" sz="1150" dirty="0"/>
          </a:p>
        </p:txBody>
      </p:sp>
      <p:sp>
        <p:nvSpPr>
          <p:cNvPr id="35" name="R5_chip418"/>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00" b="1" dirty="0">
                <a:solidFill>
                  <a:srgbClr val="1B2559"/>
                </a:solidFill>
                <a:latin typeface="Segoe UI Semibold" pitchFamily="34" charset="0"/>
                <a:ea typeface="Segoe UI Semibold" pitchFamily="34" charset="-122"/>
                <a:cs typeface="Segoe UI Semibold" pitchFamily="34" charset="-120"/>
              </a:rPr>
              <a:t>their method didn't help to develop personality or creativity</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8"/>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8"/>
                                        </p:tgtEl>
                                      </p:cBhvr>
                                    </p:cmd>
                                  </p:childTnLst>
                                </p:cTn>
                              </p:par>
                            </p:childTnLst>
                          </p:cTn>
                        </p:par>
                      </p:childTnLst>
                    </p:cTn>
                  </p:par>
                </p:childTnLst>
              </p:cTn>
              <p:nextCondLst>
                <p:cond evt="onClick" delay="0">
                  <p:tgtEl>
                    <p:spTgt spid="18"/>
                  </p:tgtEl>
                </p:cond>
              </p:nextCondLst>
            </p:seq>
            <p:seq concurrent="1" nextAc="seek">
              <p:cTn id="33" restart="whenNotActive" fill="hold" evtFilter="cancelBubble" nodeType="interactiveSeq">
                <p:stCondLst>
                  <p:cond evt="onClick" delay="0">
                    <p:tgtEl>
                      <p:spTgt spid="20"/>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0"/>
                                        </p:tgtEl>
                                      </p:cBhvr>
                                    </p:cmd>
                                  </p:childTnLst>
                                </p:cTn>
                              </p:par>
                            </p:childTnLst>
                          </p:cTn>
                        </p:par>
                      </p:childTnLst>
                    </p:cTn>
                  </p:par>
                </p:childTnLst>
              </p:cTn>
              <p:nextCondLst>
                <p:cond evt="onClick" delay="0">
                  <p:tgtEl>
                    <p:spTgt spid="20"/>
                  </p:tgtEl>
                </p:cond>
              </p:nextCondLst>
            </p:seq>
            <p:audio>
              <p:cMediaNode vol="80000">
                <p:cTn id="38" fill="hold" display="0">
                  <p:stCondLst>
                    <p:cond delay="indefinite"/>
                  </p:stCondLst>
                  <p:endCondLst>
                    <p:cond evt="onStopAudio" delay="0">
                      <p:tgtEl>
                        <p:sldTgt/>
                      </p:tgtEl>
                    </p:cond>
                  </p:endCondLst>
                </p:cTn>
                <p:tgtEl>
                  <p:spTgt spid="18"/>
                </p:tgtEl>
              </p:cMediaNode>
            </p:audio>
            <p:audio>
              <p:cMediaNode vol="80000">
                <p:cTn id="39" fill="hold" display="0">
                  <p:stCondLst>
                    <p:cond delay="indefinite"/>
                  </p:stCondLst>
                  <p:endCondLst>
                    <p:cond evt="onStopAudio" delay="0">
                      <p:tgtEl>
                        <p:sldTgt/>
                      </p:tgtEl>
                    </p:cond>
                  </p:endCondLst>
                </p:cTn>
                <p:tgtEl>
                  <p:spTgt spid="20"/>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19"/>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20"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421"/>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Which system?</a:t>
            </a:r>
            <a:endParaRPr lang="en-US" sz="2400" dirty="0"/>
          </a:p>
        </p:txBody>
      </p:sp>
      <p:pic>
        <p:nvPicPr>
          <p:cNvPr id="6" name="brP_422"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423"/>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the questions in small groups.</a:t>
            </a:r>
            <a:endParaRPr lang="en-US" sz="1250" dirty="0"/>
          </a:p>
        </p:txBody>
      </p:sp>
      <p:sp>
        <p:nvSpPr>
          <p:cNvPr id="8" name="insIT_42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Rispondete alle domande in piccoli gruppi.</a:t>
            </a:r>
            <a:endParaRPr lang="en-US" sz="950" dirty="0"/>
          </a:p>
        </p:txBody>
      </p:sp>
      <p:sp>
        <p:nvSpPr>
          <p:cNvPr id="9" name="note_425"/>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groups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4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Speaking · your opinion   ·   📖 SB p.67 · 4e</a:t>
            </a:r>
            <a:endParaRPr lang="en-US" sz="800" dirty="0"/>
          </a:p>
        </p:txBody>
      </p:sp>
      <p:sp>
        <p:nvSpPr>
          <p:cNvPr id="12" name="pf_428"/>
          <p:cNvSpPr/>
          <p:nvPr/>
        </p:nvSpPr>
        <p:spPr>
          <a:xfrm rot="-120000">
            <a:off x="959742" y="1371600"/>
            <a:ext cx="1509516"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429" descr="/home/claude/lls-course/v2/cache/b1_7a_teacher_jpg_341x297_31.png">    </p:cNvPr>
          <p:cNvPicPr>
            <a:picLocks noChangeAspect="1"/>
          </p:cNvPicPr>
          <p:nvPr/>
        </p:nvPicPr>
        <p:blipFill>
          <a:blip r:embed="rId5"/>
          <a:stretch>
            <a:fillRect/>
          </a:stretch>
        </p:blipFill>
        <p:spPr>
          <a:xfrm rot="-120000">
            <a:off x="1005462" y="1417320"/>
            <a:ext cx="1418076" cy="1234440"/>
          </a:xfrm>
          <a:prstGeom prst="rect">
            <a:avLst/>
          </a:prstGeom>
        </p:spPr>
      </p:pic>
      <p:sp>
        <p:nvSpPr>
          <p:cNvPr id="14" name="cd_430"/>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431"/>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32"/>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433"/>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I think the good thing is…</a:t>
            </a:r>
            <a:endParaRPr lang="en-US" sz="1000" dirty="0"/>
          </a:p>
          <a:p>
            <a:pPr marL="152400" indent="-152400">
              <a:spcBef>
                <a:spcPts val="6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Students here would be shocked by…</a:t>
            </a:r>
            <a:endParaRPr lang="en-US" sz="1000" dirty="0"/>
          </a:p>
          <a:p>
            <a:pPr marL="152400" indent="-152400">
              <a:spcBef>
                <a:spcPts val="6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I'd rather study in a… school because…</a:t>
            </a:r>
            <a:endParaRPr lang="en-US" sz="1000" dirty="0"/>
          </a:p>
          <a:p>
            <a:pPr marL="152400" indent="-152400">
              <a:spcBef>
                <a:spcPts val="600"/>
              </a:spcBef>
              <a:spcAft>
                <a:spcPts val="200"/>
              </a:spcAft>
              <a:buSzPct val="100000"/>
              <a:buChar char="•"/>
            </a:pPr>
            <a:r>
              <a:rPr lang="en-US" sz="1000" dirty="0">
                <a:solidFill>
                  <a:srgbClr val="1B2559"/>
                </a:solidFill>
                <a:latin typeface="Segoe UI Semibold" pitchFamily="34" charset="0"/>
                <a:ea typeface="Segoe UI Semibold" pitchFamily="34" charset="-122"/>
                <a:cs typeface="Segoe UI Semibold" pitchFamily="34" charset="-120"/>
              </a:rPr>
              <a:t>As a teacher, I'd prefer…</a:t>
            </a:r>
            <a:endParaRPr lang="en-US" sz="1000" dirty="0"/>
          </a:p>
        </p:txBody>
      </p:sp>
      <p:sp>
        <p:nvSpPr>
          <p:cNvPr id="18" name="R1_qb434"/>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435"/>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What do you think is good or bad about the Chinese system?</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The results are good, but 12 hours is too long.</a:t>
            </a:r>
            <a:endParaRPr lang="en-US" sz="950" dirty="0"/>
          </a:p>
        </p:txBody>
      </p:sp>
      <p:sp>
        <p:nvSpPr>
          <p:cNvPr id="20" name="R2_qb436"/>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437"/>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Would secondary school students in your country be shocked by the Chinese education system? Why (not)?</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Yes – 50 in a class and cleaning the classroom!</a:t>
            </a:r>
            <a:endParaRPr lang="en-US" sz="950" dirty="0"/>
          </a:p>
        </p:txBody>
      </p:sp>
      <p:sp>
        <p:nvSpPr>
          <p:cNvPr id="22" name="R3_qb438"/>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439"/>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Would you prefer to study in a British school or a Chinese one? Where would you prefer to work as a teacher?</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British – more creative. But as a teacher, Chinese – more discipline!</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40"/>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41"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442"/>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443"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444"/>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Tell your partner…</a:t>
            </a:r>
            <a:endParaRPr lang="en-US" sz="1250" dirty="0"/>
          </a:p>
        </p:txBody>
      </p:sp>
      <p:sp>
        <p:nvSpPr>
          <p:cNvPr id="8" name="insIT_44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Di' al compagno…</a:t>
            </a:r>
            <a:endParaRPr lang="en-US" sz="950" dirty="0"/>
          </a:p>
        </p:txBody>
      </p:sp>
      <p:sp>
        <p:nvSpPr>
          <p:cNvPr id="9" name="note_446"/>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44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4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Exit · what can you remember?</a:t>
            </a:r>
            <a:endParaRPr lang="en-US" sz="800" dirty="0"/>
          </a:p>
        </p:txBody>
      </p:sp>
      <p:sp>
        <p:nvSpPr>
          <p:cNvPr id="12" name="bd_449"/>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450"/>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kinds of school and 3 exam verbs (pass…).</a:t>
            </a:r>
            <a:endParaRPr lang="en-US" sz="1400" dirty="0"/>
          </a:p>
        </p:txBody>
      </p:sp>
      <p:sp>
        <p:nvSpPr>
          <p:cNvPr id="14" name="bd_451"/>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452"/>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rules at your school with let, make or allowed to.</a:t>
            </a:r>
            <a:endParaRPr lang="en-US" sz="1400" dirty="0"/>
          </a:p>
        </p:txBody>
      </p:sp>
      <p:sp>
        <p:nvSpPr>
          <p:cNvPr id="16" name="bd_453"/>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454"/>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thing that shocked the British students – and why.</a:t>
            </a:r>
            <a:endParaRPr lang="en-US" sz="1400" dirty="0"/>
          </a:p>
        </p:txBody>
      </p:sp>
      <p:sp>
        <p:nvSpPr>
          <p:cNvPr id="18" name="cd_455"/>
          <p:cNvSpPr/>
          <p:nvPr/>
        </p:nvSpPr>
        <p:spPr>
          <a:xfrm>
            <a:off x="5669280" y="1417320"/>
            <a:ext cx="3200400" cy="1239520"/>
          </a:xfrm>
          <a:prstGeom prst="roundRect">
            <a:avLst>
              <a:gd name="adj" fmla="val 1032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456"/>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457"/>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458"/>
          <p:cNvSpPr/>
          <p:nvPr/>
        </p:nvSpPr>
        <p:spPr>
          <a:xfrm>
            <a:off x="6236208" y="1911096"/>
            <a:ext cx="2542032" cy="672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7A: 1a–1d, 2a</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Homework sheet 7A-1 (My school)</a:t>
            </a:r>
            <a:endParaRPr lang="en-US" sz="1150" dirty="0"/>
          </a:p>
        </p:txBody>
      </p:sp>
      <p:sp>
        <p:nvSpPr>
          <p:cNvPr id="22" name="st_459"/>
          <p:cNvSpPr/>
          <p:nvPr/>
        </p:nvSpPr>
        <p:spPr>
          <a:xfrm rot="-180000">
            <a:off x="5806440" y="3099816"/>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7A part 2 – first conditional and time clauses (SB p.68)</a:t>
            </a:r>
            <a:endParaRPr lang="en-US" sz="1100" dirty="0"/>
          </a:p>
        </p:txBody>
      </p:sp>
    </p:spTree>
  </p:cSld>
  <p:clrMapOvr>
    <a:masterClrMapping/>
  </p:clrMapOvr>
  <p:transition spd="med">
    <p:push dir="l"/>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60"/>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461"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62"/>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463"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464"/>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46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46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46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6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Review · what did you do today?</a:t>
            </a:r>
            <a:endParaRPr lang="en-US" sz="800" dirty="0"/>
          </a:p>
        </p:txBody>
      </p:sp>
      <p:sp>
        <p:nvSpPr>
          <p:cNvPr id="12" name="cd_469"/>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470"/>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471"/>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Learnt education words: pass, fail, revise, be expelled…</a:t>
            </a:r>
            <a:endParaRPr lang="en-US" sz="1350" dirty="0"/>
          </a:p>
        </p:txBody>
      </p:sp>
      <p:sp>
        <p:nvSpPr>
          <p:cNvPr id="15" name="R1_tk472"/>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473"/>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474"/>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475"/>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the letter u: music, lunch, rude, put</a:t>
            </a:r>
            <a:endParaRPr lang="en-US" sz="1350" dirty="0"/>
          </a:p>
        </p:txBody>
      </p:sp>
      <p:sp>
        <p:nvSpPr>
          <p:cNvPr id="19" name="R2_tk476"/>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477"/>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478"/>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479"/>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Interviewed a partner about their education</a:t>
            </a:r>
            <a:endParaRPr lang="en-US" sz="1350" dirty="0"/>
          </a:p>
        </p:txBody>
      </p:sp>
      <p:sp>
        <p:nvSpPr>
          <p:cNvPr id="23" name="R3_tk480"/>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481"/>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482"/>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483"/>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an experiment: Chinese v British teachers</a:t>
            </a:r>
            <a:endParaRPr lang="en-US" sz="1350" dirty="0"/>
          </a:p>
        </p:txBody>
      </p:sp>
      <p:sp>
        <p:nvSpPr>
          <p:cNvPr id="27" name="R4_tk484"/>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485"/>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486"/>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487"/>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which system you'd prefer</a:t>
            </a:r>
            <a:endParaRPr lang="en-US" sz="1350" dirty="0"/>
          </a:p>
        </p:txBody>
      </p:sp>
      <p:sp>
        <p:nvSpPr>
          <p:cNvPr id="31" name="R5_tk488"/>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489"/>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dv_490"/>
          <p:cNvSpPr/>
          <p:nvPr/>
        </p:nvSpPr>
        <p:spPr>
          <a:xfrm>
            <a:off x="4023360" y="914400"/>
            <a:ext cx="1097280" cy="91440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4" name="dvt_491"/>
          <p:cNvSpPr/>
          <p:nvPr/>
        </p:nvSpPr>
        <p:spPr>
          <a:xfrm>
            <a:off x="914400" y="1828800"/>
            <a:ext cx="7315200" cy="731520"/>
          </a:xfrm>
          <a:prstGeom prst="rect">
            <a:avLst/>
          </a:prstGeom>
          <a:noFill/>
          <a:ln/>
        </p:spPr>
        <p:txBody>
          <a:bodyPr wrap="square" lIns="0" tIns="0" rIns="0" bIns="0" rtlCol="0" anchor="ctr"/>
          <a:lstStyle/>
          <a:p>
            <a:pPr algn="ctr" indent="0" marL="0">
              <a:buNone/>
            </a:pPr>
            <a:r>
              <a:rPr lang="en-US" sz="3400" dirty="0">
                <a:solidFill>
                  <a:srgbClr val="1B2559"/>
                </a:solidFill>
                <a:latin typeface="Arial Rounded MT Bold" pitchFamily="34" charset="0"/>
                <a:ea typeface="Arial Rounded MT Bold" pitchFamily="34" charset="-122"/>
                <a:cs typeface="Arial Rounded MT Bold" pitchFamily="34" charset="-120"/>
              </a:rPr>
              <a:t>Optional extensions</a:t>
            </a:r>
            <a:endParaRPr lang="en-US" sz="3400" dirty="0"/>
          </a:p>
        </p:txBody>
      </p:sp>
      <p:sp>
        <p:nvSpPr>
          <p:cNvPr id="5" name="dvs_492"/>
          <p:cNvSpPr/>
          <p:nvPr/>
        </p:nvSpPr>
        <p:spPr>
          <a:xfrm>
            <a:off x="914400" y="2606040"/>
            <a:ext cx="7315200" cy="457200"/>
          </a:xfrm>
          <a:prstGeom prst="rect">
            <a:avLst/>
          </a:prstGeom>
          <a:noFill/>
          <a:ln/>
        </p:spPr>
        <p:txBody>
          <a:bodyPr wrap="square" lIns="0" tIns="0" rIns="0" bIns="0" rtlCol="0" anchor="ctr"/>
          <a:lstStyle/>
          <a:p>
            <a:pPr algn="ctr" indent="0" marL="0">
              <a:buNone/>
            </a:pPr>
            <a:r>
              <a:rPr lang="en-US" sz="1250" i="1" dirty="0">
                <a:solidFill>
                  <a:srgbClr val="5B6785"/>
                </a:solidFill>
                <a:latin typeface="Segoe UI Semibold" pitchFamily="34" charset="0"/>
                <a:ea typeface="Segoe UI Semibold" pitchFamily="34" charset="-122"/>
                <a:cs typeface="Segoe UI Semibold" pitchFamily="34" charset="-120"/>
              </a:rPr>
              <a:t>Only if there's time – the lesson is finished. · Solo se c'è tempo – la lezione è finita.</a:t>
            </a:r>
            <a:endParaRPr lang="en-US" sz="1250" dirty="0"/>
          </a:p>
        </p:txBody>
      </p:sp>
      <p:pic>
        <p:nvPicPr>
          <p:cNvPr id="6" name="logo_493" descr="/home/claude/lls-course/v2/img/logo.png">    </p:cNvPr>
          <p:cNvPicPr>
            <a:picLocks noChangeAspect="1"/>
          </p:cNvPicPr>
          <p:nvPr/>
        </p:nvPicPr>
        <p:blipFill>
          <a:blip r:embed="rId2"/>
          <a:stretch>
            <a:fillRect/>
          </a:stretch>
        </p:blipFill>
        <p:spPr>
          <a:xfrm>
            <a:off x="8485632" y="4526280"/>
            <a:ext cx="502920" cy="502920"/>
          </a:xfrm>
          <a:prstGeom prst="rect">
            <a:avLst/>
          </a:prstGeom>
        </p:spPr>
      </p:pic>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4"/>
          <p:cNvSpPr/>
          <p:nvPr/>
        </p:nvSpPr>
        <p:spPr>
          <a:xfrm>
            <a:off x="201168" y="164592"/>
            <a:ext cx="841248" cy="841248"/>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495"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496"/>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Retell the experiment</a:t>
            </a:r>
            <a:endParaRPr lang="en-US" sz="2500" dirty="0"/>
          </a:p>
        </p:txBody>
      </p:sp>
      <p:pic>
        <p:nvPicPr>
          <p:cNvPr id="6" name="brP_497" descr="/home/claude/lls-course/v2/assets/brush-pink.png">    </p:cNvPr>
          <p:cNvPicPr>
            <a:picLocks noChangeAspect="1"/>
          </p:cNvPicPr>
          <p:nvPr/>
        </p:nvPicPr>
        <p:blipFill>
          <a:blip r:embed="rId3"/>
          <a:stretch>
            <a:fillRect/>
          </a:stretch>
        </p:blipFill>
        <p:spPr>
          <a:xfrm>
            <a:off x="1207008" y="731520"/>
            <a:ext cx="5248656" cy="402336"/>
          </a:xfrm>
          <a:prstGeom prst="rect">
            <a:avLst/>
          </a:prstGeom>
        </p:spPr>
      </p:pic>
      <p:sp>
        <p:nvSpPr>
          <p:cNvPr id="7" name="ins_498"/>
          <p:cNvSpPr/>
          <p:nvPr/>
        </p:nvSpPr>
        <p:spPr>
          <a:xfrm>
            <a:off x="1353312" y="731520"/>
            <a:ext cx="49926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Retell the experiment week by week. Use the prompts!</a:t>
            </a:r>
            <a:endParaRPr lang="en-US" sz="1250" dirty="0"/>
          </a:p>
        </p:txBody>
      </p:sp>
      <p:sp>
        <p:nvSpPr>
          <p:cNvPr id="8" name="insIT_49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Racconta l'esperimento settimana per settimana. Usa gli spunti!</a:t>
            </a:r>
            <a:endParaRPr lang="en-US" sz="950" dirty="0"/>
          </a:p>
        </p:txBody>
      </p:sp>
      <p:sp>
        <p:nvSpPr>
          <p:cNvPr id="9" name="note_50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TPRS · retell</a:t>
            </a:r>
            <a:endParaRPr lang="en-US" sz="1250" dirty="0"/>
          </a:p>
        </p:txBody>
      </p:sp>
      <p:pic>
        <p:nvPicPr>
          <p:cNvPr id="10" name="logo_50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0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Speaking · retell</a:t>
            </a:r>
            <a:endParaRPr lang="en-US" sz="800" dirty="0"/>
          </a:p>
        </p:txBody>
      </p:sp>
      <p:sp>
        <p:nvSpPr>
          <p:cNvPr id="12" name="ext_503"/>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3" name="R1_sb504"/>
          <p:cNvSpPr/>
          <p:nvPr/>
        </p:nvSpPr>
        <p:spPr>
          <a:xfrm>
            <a:off x="457200" y="145389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4" name="R1_sl505"/>
          <p:cNvSpPr/>
          <p:nvPr/>
        </p:nvSpPr>
        <p:spPr>
          <a:xfrm>
            <a:off x="841248" y="1417320"/>
            <a:ext cx="80467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Week 1: tracksuits · 7 a.m. · PE every day · 50 in a class</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In week one, the students…</a:t>
            </a:r>
            <a:endParaRPr lang="en-US" sz="1250" dirty="0"/>
          </a:p>
        </p:txBody>
      </p:sp>
      <p:sp>
        <p:nvSpPr>
          <p:cNvPr id="15" name="R2_sb506"/>
          <p:cNvSpPr/>
          <p:nvPr/>
        </p:nvSpPr>
        <p:spPr>
          <a:xfrm>
            <a:off x="457200" y="201777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6" name="R2_sl507"/>
          <p:cNvSpPr/>
          <p:nvPr/>
        </p:nvSpPr>
        <p:spPr>
          <a:xfrm>
            <a:off x="841248" y="1981200"/>
            <a:ext cx="80467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12-hour day · clean the classroom</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They weren't allowed to…</a:t>
            </a:r>
            <a:endParaRPr lang="en-US" sz="1250" dirty="0"/>
          </a:p>
        </p:txBody>
      </p:sp>
      <p:sp>
        <p:nvSpPr>
          <p:cNvPr id="17" name="R3_sb508"/>
          <p:cNvSpPr/>
          <p:nvPr/>
        </p:nvSpPr>
        <p:spPr>
          <a:xfrm>
            <a:off x="457200" y="2581656"/>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18" name="R3_sl509"/>
          <p:cNvSpPr/>
          <p:nvPr/>
        </p:nvSpPr>
        <p:spPr>
          <a:xfrm>
            <a:off x="841248" y="2545080"/>
            <a:ext cx="8046720" cy="499872"/>
          </a:xfrm>
          <a:prstGeom prst="roundRect">
            <a:avLst>
              <a:gd name="adj" fmla="val 21951"/>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Weeks 2–3: fast · copy from the board · look at the wall</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The Chinese teachers made them…</a:t>
            </a:r>
            <a:endParaRPr lang="en-US" sz="1250" dirty="0"/>
          </a:p>
        </p:txBody>
      </p:sp>
      <p:sp>
        <p:nvSpPr>
          <p:cNvPr id="19" name="R4_sb510"/>
          <p:cNvSpPr/>
          <p:nvPr/>
        </p:nvSpPr>
        <p:spPr>
          <a:xfrm>
            <a:off x="457200" y="3145536"/>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0" name="R4_sl511"/>
          <p:cNvSpPr/>
          <p:nvPr/>
        </p:nvSpPr>
        <p:spPr>
          <a:xfrm>
            <a:off x="841248" y="3108960"/>
            <a:ext cx="8046720" cy="499872"/>
          </a:xfrm>
          <a:prstGeom prst="roundRect">
            <a:avLst>
              <a:gd name="adj" fmla="val 21951"/>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discipline problems · Chinese culture · face massage · parents</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By week three…</a:t>
            </a:r>
            <a:endParaRPr lang="en-US" sz="1250" dirty="0"/>
          </a:p>
        </p:txBody>
      </p:sp>
      <p:sp>
        <p:nvSpPr>
          <p:cNvPr id="21" name="R5_sb512"/>
          <p:cNvSpPr/>
          <p:nvPr/>
        </p:nvSpPr>
        <p:spPr>
          <a:xfrm>
            <a:off x="457200" y="370941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2" name="R5_sl513"/>
          <p:cNvSpPr/>
          <p:nvPr/>
        </p:nvSpPr>
        <p:spPr>
          <a:xfrm>
            <a:off x="841248" y="3672840"/>
            <a:ext cx="80467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Week 4: tests · maths 68% · science 58% · Mandarin 46%</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In the end…</a:t>
            </a:r>
            <a:endParaRPr lang="en-US" sz="1250" dirty="0"/>
          </a:p>
        </p:txBody>
      </p:sp>
      <p:sp>
        <p:nvSpPr>
          <p:cNvPr id="23" name="R6_sb514"/>
          <p:cNvSpPr/>
          <p:nvPr/>
        </p:nvSpPr>
        <p:spPr>
          <a:xfrm>
            <a:off x="457200" y="427329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4" name="R6_sl515"/>
          <p:cNvSpPr/>
          <p:nvPr/>
        </p:nvSpPr>
        <p:spPr>
          <a:xfrm>
            <a:off x="841248" y="4236720"/>
            <a:ext cx="80467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Change 2 things: what if the British teachers went to China?</a:t>
            </a:r>
            <a:endParaRPr lang="en-US" sz="12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If British teachers went to China…</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00"/>
                                        <p:tgtEl>
                                          <p:spTgt spid="15"/>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4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7A-1 Live and learn</dc:title>
  <dc:subject>PptxGenJS Presentation</dc:subject>
  <dc:creator>PptxGenJS</dc:creator>
  <cp:lastModifiedBy>PptxGenJS</cp:lastModifiedBy>
  <cp:revision>1</cp:revision>
  <dcterms:created xsi:type="dcterms:W3CDTF">2026-10-23T08:07:47Z</dcterms:created>
  <dcterms:modified xsi:type="dcterms:W3CDTF">2026-10-23T08:07:47Z</dcterms:modified>
</cp:coreProperties>
</file>