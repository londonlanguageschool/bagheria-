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4B PART 1 (60 min) · SB pp.40–41. Show the photo. Ask the THINK question: 'How long does it take to learn a new skill – to play an instrument, to drive, to speak a language?' Take 3–4 answers (a number!) and write them on the board. Click 1 = the example answer. Don't give the answer: 'Later you'll read about two writers – one says 10,000 hours, one says 20!' Read the 'Today you're going to…' list together. Optional lead-in (TG): write YES, WE CAN! on the board – whose slogan? (Barack Obama, 2007–8 presidential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(they are from Sarah's advice in 4.10 and the Debrett's article). Elicit one more example for each box: 'Give me some advice for a dinner guest in Sicily' (You should take some pastries!) · 'A rule at our school?' (You mustn't use your phone in class / You don't have to wear a uniform). CCQ: 'You don't have to give a reason – is it wrong to give a reason?' (no – it isn't necessary) · 'You mustn't write on the walls – is it OK?' (no – prohibited). Then play 'Fix the advice!' – every sentence uses exactly this language. ⚠ Picture: 4a2-dinner-guest.jpg is the 4A-2 picture (placeholder until it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(3 min)
RETRIEVAL WARMER (3 min). Two or three teams, one pen and paper each. Show each sentence; teams have 20 seconds to write the correct version. Click once per line to show the answer. Answers: 1 mustn't (prohibited, not 'not necessary') · 2 don't have to (not necessary) · 3 should + verb, no 'to' · 4 ought TO + verb · 5 shouldn't (Debrett's: not on short flights) · 6 rude / inconsiderate (accept 'bad manners'). Accept other correct, sensible versions (e.g. 'You shouldn't recline…' or 'You don't have to recline…' for 5 – ask 'Which is better advice?'). ICQs: 'Are you writing a new sentence or just saying right/wrong?' (writing the correct sentence) · 'How many mistakes in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Lead-in · skills (2 min)
SKILLS (2 min). Teach skill (= the ability to do something well; abilità). The 12 skills from SB 1a (the book also has swim and use an Excel spreadsheet). The class says the Italian for each one, then click once per word to show its Italian. Drill skill /skɪl/ vs ski /skiː/ (short and long vowels from 1A!), knit /nɪt/ (silent k), sew /səʊ/ (like 'so', not 'new'). Quick check: 'Your bike has a flat tyre – what do you need?' (change a wheel… for a car!) 'Who can sing well?' Next slide: students use these skills with can /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Lead-in · skills (3 min)
LEAD-IN (3 min). Teach skill (= the ability to do something well; abilità). The skills are on the previous slide (SB 1a); students can look back. Model first about yourself: 'I can change a car wheel, but I can't knit!' The four tasks appear ONE PER CLICK; pairs find two for each (about 40 seconds per click). Students already know can / could from A2 – don't correct be able to yet, just listen (it shows you what they know). Feedback: 2–3 students tell the class one surprise about their partner. ICQ: 'Which one is about you NOW?' (can / can't) · 'Which is about when you were ten?' (could / couldn't). EXTRA SUPPORT (TG): tell them about yourself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Grammar · in context (3 min)
PRESENTATION IN CONTEXT (3 min). SB 1b: two short conversations. Pairs guess the missing words first (1 minute) – they may write 'can' everywhere: good, that's the problem we're going to solve! Play 4.12 (twice if needed). Click once per gap. Answers (audio script 4.12): 1 can · 2 be able to · 3 could · 4 been able to. Then SB 1c (rows 5–6, whole class): look at the conversations again and complete the sentences – answers (TG): 1 You can't use CAN in the infinitive or present perfect. 2 Be able to means the same as CAN. Drill 'Lucky you!' (= che fortuna!) – useful for the rest of the lesson. Ask: 'Who CAN speak Italian? Who could draw well as a child?' ICQ: 'One word or more in each gap?' (it can be more than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Grammar · noticing (2 min)
GUIDED DISCOVERY (2 min). Lines 1–4 are the 4.12 conversations; lines 5–6 are from the Grammar Bank audio (4.14). Pairs underline can / could and be able to; click once per line to highlight. Check the 1c idea again: 'Can we say I'd love to can speak Italian?' (no!) 'I've never could draw?' (no!) – can has no infinitive or present perfect, so we use be able to. Elicit the word before be able to: to (after I'd love) · being (after I love) · been (after I've never) · 'll (future). Next slide =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Grammar · the rule (4 min)
RULE (4 min). Click once per column: the examples appear (meaning first, then form). Play 4.13 and 4.14 (Grammar Bank): students listen and repeat, copying the rhythm. Rules (TG grammar notes): can / can't is a modal verb: it has a past and conditional form (could / couldn't) but NO infinitive, -ing form, present perfect or past perfect – for these we use be able to. For the future we can often use can or will be able to (I can't go tomorrow / I won't be able to go tomorrow). be able to in the present and past simple is possible but more formal (4.14: Fortunately, I am able to accept your invitation. · My colleagues weren't able to come to yesterday's meeting.). Strong classes (TG): for one specific difficult success in the past we use was able to or managed to, not could (Although the space was very small, he was able to park there). The grey line in each column = a typical mistake (TG): ✗ I want to can speak · ✗ I won't be able help (no to) · ✗ I could to play. Italian: so / posso = can · sapevo / potevo = could · poter fare / essere in grado di = to be able to · potrò = I'll be able to · sono riuscito = I was able to. (No ⚠ watch strip on this slide: it would cover the audio icons bottom right.) CCQs: 'I'd love to be able to ski – can I ski now?' (no) · 'Luke has been able to swim since he was three – can he swim now?' (yes) · 'Italian potrò?' (I'll be able to). ⚠ Columns 3–4 use spare pictures (dream / children at the beach) – swap if the owner supplies better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Grammar · practice (3 min)
CONTROLLED PRACTICE (3 min). Pairs decide which form goes in each gap (say the whole sentence aloud). Click once per sentence: the colour tag appears. Answers: 1 can't (4.13) · 2 couldn't · 3 be able to · 4 been able to · 5 being able to · 6 be able to (official key, Grammar photocopiable 4B b2, b3, b5, b7, b9). For each answer ask 'Why not can / could?' (3 after going to = infinitive · 4 present perfect · 5 after hate not = -ing · 6 future). ICQ: 'Do you write or say?' (say – then click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Grammar game (3 min)
GAME 2 (3 min). Teams, one pen and paper each. Show a sentence, count down 15 seconds, then click for the answer. Answers (Grammar Bank 4B b1–5, TG key; 6 = audio 4.12): 1 been able to · 2 being able to / to be able to (both correct) · 3 will / 'll be able to · 4 Will … be able to · 5 to be able to · 6 could. Item 1 in the book is 'Her mobile…' (we changed 'Her' to 'My' – the answer is the same). Point only if the WHOLE form is right (watch for the missing 'to'). Grammar Bank a 6–10 and b 6–10 are homework. ICQ: 'How long do you have?'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Pronunciation · sentence stress (3 min)
PRONUNCIATION (3 min). 2a: play 4.15, pausing after each sentence: students write ONLY the stressed words (the pink boxes in the book). Click 1 = the stressed words (TG: 1 never, able, dance · 2 won't, able, come · 3 love, able, ski · 4 hates, able, drive). 2b: pairs rebuild the full sentence from the big words; click 2 = the sentence. 2c: play again – students repeat, copying the rhythm: big words strong, the rest quick and weak (to /tə/, be /bi/, been /bɪn/). Italian speakers give every word equal stress – exaggerate the big words and clap the rhythm. Drill chorally, then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Pronunciation game · audio 4.16 (3 min)
GAME 3 (3 min). SB 2d. Play 4.16 (or say the prompts yourself): students hear a sentence and a new verb; pause, and the first team to say the new sentence WITH THE SAME RHYTHM wins a point. Click to show the model answer, then play the audio answer. Answers (audio script 4.16): 1 I'd love to be able to ride a horse · 2 We won't be able to park · 3 I've never been able to speak French · 4 She hates not being able to cook · 5 Will you be able to afford it? · 6 They haven't been able to come. (4.16 also has: He'd love to be able to windsurf · I love being able to speak to everyone.) No point if the rhythm is wrong ('to' and 'been' must be weak). ICQ: 'Do you change the verb or the whole sentence?' (only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Speaking · your skills (4 min)
FREER PRACTICE (4 min). SB 1e–1f. The five topics from the book appear ONE PER CLICK (example 1 = the book's example, shortened: '…but I don't think I'll ever learn, because I don't live near the mountains'). Students choose two or three, think for 30 seconds, then tell a partner with reasons; the partner asks one follow-up question. Monitor and note can / could / be able to errors for delayed correction (2–3 on the board at the end). Topic 5 recycles should from last lesson. Feedback: 2 students report their partner ('Giulia has never been able to…'). ICQs: 'Do you talk about all five?' (no – two or three) · 'Just the answer?' (no – give a reason). EXTRA: Communicative photocopiable 'Me and my opinions' (B1_4A_Photocopiables.pdf p.2 – filed under 4A, but it practises can / be able to) – see the notes of the old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Reading · prediction (2 min)
PREDICTION (2 min). Read the headline and the line under it (our summary of 3a). Ask: 'Which is true – 10,000 hours or 20 hours?' Quick vote (forced choice, no 'it depends'). Pairs look at the number bank: one number is NOT used (20 is in the headline and in the book title – it's not a gap). Every pair writes guesses before we click on the next slides. ICQ: 'Are you reading or guessing now?'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Reading · 10,000 hours? (2 min)
READ AND CHECK (2 min). Pairs read the text and guess gap 1 (a number from the bank) and gap 2 (a form from today – future!). Click once per gap: the answer appears highlighted IN the text. Answers (SB text): 1 10,000 · 2 'll be able to. Check master (diventare bravissimo in), focused practice (pratica concentrata), give it a try (provarci). SB 3a: 'Do you believe Malcolm Gladwell or Josh Kaufman?' – show of hands, one reason each side. ICQ: 'Is gap 2 a number?' (no – a verb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Reading · Matt's first try (2 min)
READ AND CHECK (2 min). Gaps 3 and 4 are numbers from the bank; gap 5 is a place in a house – guess! Click once per gap. Answers (SB text / audio 4.18): 3 Five · 4 seven · 5 garage. SB 3b: 'Why do you think he gave up so fast?' Take 2–3 ideas (it was too difficult, his mouth hurt, he had no teacher…). Check give up (smettere / arrendersi) and end up (finire). 'Now let's hear about his 20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Listening · music words (3 min)
MUSIC WORDS (3 min). Pre-teach the words Matt uses (they stop the gist task if unknown). Pairs read a–f and guess what each sound will be like. Play 4.17 (six sound effects), pausing after each. Click once per word: the sound number and the Italian (consolidation for slower students). Answers (TG): 1 octave · 2 busking · 3 high note, low note · 4 musical instruments · 5 notes · 6 tune. Explain: octave = from the first to the last note of a series of eight notes (do → do); busking = playing music in the street or the Underground for money. Note: English uses C D E F G A B for do re mi fa sol la si. Drill tune /tjuːn/, busking /ˈbʌskɪŋ/.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Listening · gist (2 min)
GIST (2 min). Look at A (hour 1) and B (hour 14): 'How does Matt feel in A? In B?' Read the three summaries (in the blue card). Play 4.18 ONCE, no pausing. Pairs compare, then click once per line. Answers (TG): 2 He learned something, but not enough. Item 4 (audio script): he planned to finish by busking in the Underground, but he can't do it – '20 hours is too little. But give me 100 hours…'. ICQ: 'Do you need to understand every word?' (no – just the best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Listening · detail (3 min)
DETAIL 1/2 (3 min). SB 3e (book options shortened on the slide). Pairs guess first for ALL eight stages (both slides, 1 min). Play 4.18 again, pausing after each stage; click once per stage. Answers with reasons (TG + audio script): 1 hour optimistic (he has everything he needs and a plan) · 2 hours unhappy (he can only play for ten minutes, his mouth hurts, he can't get higher than G) · 5 hours annoying (the YouTube teacher with a beard and colourful shirts) · 9 hours frustrated by how little he can play (still no high notes, only very simple tunes – 'It isn't Rimsky-Korsakov'). Keep the audio going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Listening · detail (2 min)
DETAIL 2/2 (2 min). Continue 4.18 from 'Fourteen hours'. Click once per stage. Answers (TG + audio script): 14 hours depressed – he wants to give up; he puts the trumpet in the wardrobe · 15 hours badly (Matilda Lloyd, BBC Young Musician winner 2014: 'I'm doing everything wrong… I need to start again') · 17 hours optimistic again – he's getting better and enjoying himself (the neighbour's dogs have stopped barking!) · 20 hours he thinks he'll be able to improve ('give me 100 hours'). 3f (whole class, 30 seconds): Do you think Matt will continue learning the trumpet? Why (not)? EXTRA SUPPORT: script on SB p.127; extra slide 'Matt's diary' (noticing can / be able to in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Speaking · 20 hours (4 min)
SPEAKING (4 min). SB 4: 'How well do you think you'd be able to do these things after learning for 20 hours?' Present the useful phrase first: I'd be able to = sarei in grado di (would + be able to). Groups of 3–4. Questions appear ONE PER CLICK (about 30–40 seconds each): the group must decide YES or NO WAY (forced choice) and give a reason. Other book skills if there's time: drive · take professional-quality photos · dance the tango · ski or windsurf · give first aid. Monitor would / wouldn't be able to. Feedback: 'Which skill does everybody think is impossible in 20 hours?' Then 1 minute of delayed error correction from both speaking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Exit · what can you remember? (2 min)
RETRIEVAL EXIT (2 min). Books closed. Pairs: 3 skills (I'd love to be able to…), 2 true sentences with two different forms of be able to, 1 music word (note, tune, octave, busking…). A few students share – check the 'to' and 'been'. Set homework (on the slide and in the app): Workbook 4B 1a, 1b (grammar) and 2a (sentence stress; 2b is audio – optional) + Grammar Bank 4B a 6–10, b 6–10 + the 4B-1 homework sheet (easier version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Listening · noticing in the script (2 min)
EXTRA (2 min, if there's time – or homework with the script on SB p.127). Text from the audio script 4.18. Pairs find the forms; click once per line to highlight. 8 forms: to be able to play · can only play · can get · can't get · can play · can't play · can play · can't do. Ask: 'Why to be able to after I want?' (infinitive – no 'to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Vocabulary game · extra (3 min)
EXTRA GAME (3 min) – a variation of 'Describe it!'. Demo first: mime typing fast → 'You can type fast!' Click to show each skill: round 1 = 4 skills for A, round 2 = 4 skills for B (now B faces the screen). About 20 seconds per skill. The guess only scores as a full sentence (You can… / I think you can…). After each skill, the mimer says one true sentence: 'I've never been able to…' / 'I'd love to be able to…'. ICQs: 'Can you speak?' (no!) · 'Is a one-word answer OK?' (no –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audio" Target="../media/media-8-5.mp3"/><Relationship Id="rId6" Type="http://schemas.microsoft.com/office/2007/relationships/media" Target="../media/media-8-5.mp3"/><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audio" Target="../media/media-8-11.mp3"/><Relationship Id="rId12" Type="http://schemas.microsoft.com/office/2007/relationships/media" Target="../media/media-8-11.mp3"/><Relationship Id="rId13" Type="http://schemas.openxmlformats.org/officeDocument/2006/relationships/image" Target="../media/image-8-13.png"/><Relationship Id="rId14" Type="http://schemas.openxmlformats.org/officeDocument/2006/relationships/audio" Target="../media/media-8-14.mp3"/><Relationship Id="rId15" Type="http://schemas.microsoft.com/office/2007/relationships/media" Target="../media/media-8-14.mp3"/><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slideLayout" Target="../slideLayouts/slideLayout1.xml"/><Relationship Id="rId2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audio" Target="../media/media-12-5.mp3"/><Relationship Id="rId6" Type="http://schemas.microsoft.com/office/2007/relationships/media" Target="../media/media-12-5.mp3"/><Relationship Id="rId7" Type="http://schemas.openxmlformats.org/officeDocument/2006/relationships/image" Target="../media/image-12-7.png"/><Relationship Id="rId8" Type="http://schemas.openxmlformats.org/officeDocument/2006/relationships/audio" Target="../media/media-12-8.mp3"/><Relationship Id="rId9" Type="http://schemas.microsoft.com/office/2007/relationships/media" Target="../media/media-12-8.mp3"/><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audio" Target="../media/media-17-5.mp3"/><Relationship Id="rId6" Type="http://schemas.microsoft.com/office/2007/relationships/media" Target="../media/media-17-5.mp3"/><Relationship Id="rId7" Type="http://schemas.openxmlformats.org/officeDocument/2006/relationships/image" Target="../media/image-17-7.png"/><Relationship Id="rId8" Type="http://schemas.openxmlformats.org/officeDocument/2006/relationships/audio" Target="../media/media-17-8.mp3"/><Relationship Id="rId9" Type="http://schemas.microsoft.com/office/2007/relationships/media" Target="../media/media-17-8.mp3"/><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audio" Target="../media/media-18-5.mp3"/><Relationship Id="rId6" Type="http://schemas.microsoft.com/office/2007/relationships/media" Target="../media/media-18-5.mp3"/><Relationship Id="rId7" Type="http://schemas.openxmlformats.org/officeDocument/2006/relationships/image" Target="../media/image-18-7.png"/><Relationship Id="rId8" Type="http://schemas.openxmlformats.org/officeDocument/2006/relationships/audio" Target="../media/media-18-8.mp3"/><Relationship Id="rId9" Type="http://schemas.microsoft.com/office/2007/relationships/media" Target="../media/media-18-8.mp3"/><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audio" Target="../media/media-19-5.mp3"/><Relationship Id="rId6" Type="http://schemas.microsoft.com/office/2007/relationships/media" Target="../media/media-19-5.mp3"/><Relationship Id="rId7" Type="http://schemas.openxmlformats.org/officeDocument/2006/relationships/image" Target="../media/image-19-7.png"/><Relationship Id="rId8" Type="http://schemas.openxmlformats.org/officeDocument/2006/relationships/audio" Target="../media/media-19-8.mp3"/><Relationship Id="rId9" Type="http://schemas.microsoft.com/office/2007/relationships/media" Target="../media/media-19-8.mp3"/><Relationship Id="rId10" Type="http://schemas.openxmlformats.org/officeDocument/2006/relationships/image" Target="../media/image-19-10.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audio" Target="../media/media-20-5.mp3"/><Relationship Id="rId6" Type="http://schemas.microsoft.com/office/2007/relationships/media" Target="../media/media-20-5.mp3"/><Relationship Id="rId7" Type="http://schemas.openxmlformats.org/officeDocument/2006/relationships/image" Target="../media/image-20-7.png"/><Relationship Id="rId8" Type="http://schemas.openxmlformats.org/officeDocument/2006/relationships/audio" Target="../media/media-20-8.mp3"/><Relationship Id="rId9" Type="http://schemas.microsoft.com/office/2007/relationships/media" Target="../media/media-20-8.mp3"/><Relationship Id="rId10" Type="http://schemas.openxmlformats.org/officeDocument/2006/relationships/image" Target="../media/image-20-10.pn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pp.40–41</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4B-1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3000" dirty="0">
                <a:solidFill>
                  <a:srgbClr val="1B2559"/>
                </a:solidFill>
                <a:latin typeface="Arial Rounded MT Bold" pitchFamily="34" charset="0"/>
                <a:ea typeface="Arial Rounded MT Bold" pitchFamily="34" charset="-122"/>
                <a:cs typeface="Arial Rounded MT Bold" pitchFamily="34" charset="-120"/>
              </a:rPr>
              <a:t>Yes, I can!</a:t>
            </a:r>
            <a:endParaRPr lang="en-US" sz="30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Skills: 10,000 hours or just 20?</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pitchFamily="34" charset="0"/>
                <a:ea typeface="Segoe UI" pitchFamily="34" charset="-122"/>
                <a:cs typeface="Segoe UI" pitchFamily="34" charset="-120"/>
              </a:rPr>
              <a:t>💬  talk about what you can and could do</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use can, could and be able to</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hear and say the stressed words</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read about learning a skill in 20 hours</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listen to a man learning the trumpet</a:t>
            </a:r>
            <a:endParaRPr lang="en-US" sz="10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think it takes months! My cousin learnt to play the guitar in about a year.</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13"/>
          <p:cNvSpPr/>
          <p:nvPr/>
        </p:nvSpPr>
        <p:spPr>
          <a:xfrm>
            <a:off x="4892040" y="822960"/>
            <a:ext cx="3886200" cy="31089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4b1-cover.jpg</a:t>
            </a:r>
            <a:endParaRPr lang="en-US" sz="900" dirty="0"/>
          </a:p>
        </p:txBody>
      </p:sp>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How long does it take to learn a new skill?</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4"/>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Revision · last lesson   ·   📖 Recycles 4A part 2 · SB pp.38–39 · audio 4.10</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4a2_dinner_guest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4A: modern manners – good or bad?</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advice and rules: should, must, have to</a:t>
            </a:r>
            <a:endParaRPr lang="en-US" sz="10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should / ought to = advice</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shouldn't eat smelly food on the train.</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 think you ought to be the one who behaves well.</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should say how you feel.</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I think… · It's rude to… · It's bad manners to…</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must · mustn't · (don't) have to</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must speak to his parents.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mustn't write on the walls!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You don't have to give a reason.</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necessary · prohibited · not necessary</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63093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rude</a:t>
            </a:r>
            <a:endParaRPr lang="en-US" sz="1050" dirty="0"/>
          </a:p>
        </p:txBody>
      </p:sp>
      <p:sp>
        <p:nvSpPr>
          <p:cNvPr id="28" name="w_42"/>
          <p:cNvSpPr/>
          <p:nvPr/>
        </p:nvSpPr>
        <p:spPr>
          <a:xfrm>
            <a:off x="3950208" y="4178808"/>
            <a:ext cx="786384"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polite</a:t>
            </a:r>
            <a:endParaRPr lang="en-US" sz="1050" dirty="0"/>
          </a:p>
        </p:txBody>
      </p:sp>
      <p:sp>
        <p:nvSpPr>
          <p:cNvPr id="29" name="w_43"/>
          <p:cNvSpPr/>
          <p:nvPr/>
        </p:nvSpPr>
        <p:spPr>
          <a:xfrm>
            <a:off x="4809744" y="4178808"/>
            <a:ext cx="1252728"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good manners</a:t>
            </a:r>
            <a:endParaRPr lang="en-US" sz="1050" dirty="0"/>
          </a:p>
        </p:txBody>
      </p:sp>
      <p:sp>
        <p:nvSpPr>
          <p:cNvPr id="30" name="w_44"/>
          <p:cNvSpPr/>
          <p:nvPr/>
        </p:nvSpPr>
        <p:spPr>
          <a:xfrm>
            <a:off x="6135624" y="4178808"/>
            <a:ext cx="1175004"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bad manners</a:t>
            </a:r>
            <a:endParaRPr lang="en-US" sz="1050" dirty="0"/>
          </a:p>
        </p:txBody>
      </p:sp>
      <p:sp>
        <p:nvSpPr>
          <p:cNvPr id="31" name="w_45"/>
          <p:cNvSpPr/>
          <p:nvPr/>
        </p:nvSpPr>
        <p:spPr>
          <a:xfrm>
            <a:off x="7383780" y="4178808"/>
            <a:ext cx="63093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host</a:t>
            </a:r>
            <a:endParaRPr lang="en-US" sz="1050" dirty="0"/>
          </a:p>
        </p:txBody>
      </p:sp>
      <p:sp>
        <p:nvSpPr>
          <p:cNvPr id="32" name="w_46"/>
          <p:cNvSpPr/>
          <p:nvPr/>
        </p:nvSpPr>
        <p:spPr>
          <a:xfrm>
            <a:off x="3246120" y="4544568"/>
            <a:ext cx="109728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permission</a:t>
            </a:r>
            <a:endParaRPr lang="en-US" sz="1050" dirty="0"/>
          </a:p>
        </p:txBody>
      </p:sp>
      <p:sp>
        <p:nvSpPr>
          <p:cNvPr id="33" name="w_47"/>
          <p:cNvSpPr/>
          <p:nvPr/>
        </p:nvSpPr>
        <p:spPr>
          <a:xfrm>
            <a:off x="4416552" y="4544568"/>
            <a:ext cx="1641348"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recline your seat</a:t>
            </a:r>
            <a:endParaRPr lang="en-US" sz="1050" dirty="0"/>
          </a:p>
        </p:txBody>
      </p:sp>
      <p:sp>
        <p:nvSpPr>
          <p:cNvPr id="34" name="w_48"/>
          <p:cNvSpPr/>
          <p:nvPr/>
        </p:nvSpPr>
        <p:spPr>
          <a:xfrm>
            <a:off x="6131052" y="4544568"/>
            <a:ext cx="1330452"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inconsiderate</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51"/>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Fix the advice!</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53"/>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mistake. Fix the advice!</a:t>
            </a:r>
            <a:endParaRPr lang="en-US" sz="1250" dirty="0"/>
          </a:p>
        </p:txBody>
      </p:sp>
      <p:sp>
        <p:nvSpPr>
          <p:cNvPr id="8" name="insIT_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Trova l'errore. Correggi il consiglio!</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6"/>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E8508F"/>
                </a:solidFill>
                <a:latin typeface="Arial Rounded MT Bold" pitchFamily="34" charset="0"/>
                <a:ea typeface="Arial Rounded MT Bold" pitchFamily="34" charset="-122"/>
                <a:cs typeface="Arial Rounded MT Bold" pitchFamily="34" charset="-120"/>
              </a:rPr>
              <a:t>CHANGE THE WORD</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CAMBIA</a:t>
            </a:r>
            <a:endParaRPr lang="en-US" sz="800" dirty="0"/>
          </a:p>
        </p:txBody>
      </p:sp>
      <p:sp>
        <p:nvSpPr>
          <p:cNvPr id="11" name="meta_5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5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Warmer · last lesson   ·   📖 Recycles 4A part 2: modals of obligation and advice, manners</a:t>
            </a:r>
            <a:endParaRPr lang="en-US" sz="800" dirty="0"/>
          </a:p>
        </p:txBody>
      </p:sp>
      <p:sp>
        <p:nvSpPr>
          <p:cNvPr id="15" name="cd_61"/>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3"/>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64"/>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Read the advice. One thing is wrong!</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Leggi il consiglio. Una cosa è sbagliata!</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Teams: write the correct sentence.</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Squadre: scrivete la frase corretta.</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Correct sentence = 1 point.</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Frase corretta = 1 punto.</a:t>
            </a:r>
            <a:endParaRPr lang="en-US" sz="1000" dirty="0"/>
          </a:p>
        </p:txBody>
      </p:sp>
      <p:sp>
        <p:nvSpPr>
          <p:cNvPr id="19" name="st_65"/>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20" name="bd_66"/>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7"/>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To the nephew: "You don't have to write on the walls!"</a:t>
            </a:r>
            <a:endParaRPr lang="en-US" sz="1100" dirty="0"/>
          </a:p>
        </p:txBody>
      </p:sp>
      <p:sp>
        <p:nvSpPr>
          <p:cNvPr id="22" name="R1_chip68"/>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mustn't write on the walls!</a:t>
            </a:r>
            <a:endParaRPr lang="en-US" sz="1100" dirty="0"/>
          </a:p>
        </p:txBody>
      </p:sp>
      <p:sp>
        <p:nvSpPr>
          <p:cNvPr id="23" name="bd_69"/>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0"/>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 mustn't give a reason. It isn't necessary."</a:t>
            </a:r>
            <a:endParaRPr lang="en-US" sz="1100" dirty="0"/>
          </a:p>
        </p:txBody>
      </p:sp>
      <p:sp>
        <p:nvSpPr>
          <p:cNvPr id="25" name="R2_chip71"/>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don't have to give a reason.</a:t>
            </a:r>
            <a:endParaRPr lang="en-US" sz="1100" dirty="0"/>
          </a:p>
        </p:txBody>
      </p:sp>
      <p:sp>
        <p:nvSpPr>
          <p:cNvPr id="26" name="bd_72"/>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3"/>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 should to say how you feel."</a:t>
            </a:r>
            <a:endParaRPr lang="en-US" sz="1100" dirty="0"/>
          </a:p>
        </p:txBody>
      </p:sp>
      <p:sp>
        <p:nvSpPr>
          <p:cNvPr id="28" name="R3_chip74"/>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should say how you feel.</a:t>
            </a:r>
            <a:endParaRPr lang="en-US" sz="1100" dirty="0"/>
          </a:p>
        </p:txBody>
      </p:sp>
      <p:sp>
        <p:nvSpPr>
          <p:cNvPr id="29" name="bd_75"/>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6"/>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think you ought behave well."</a:t>
            </a:r>
            <a:endParaRPr lang="en-US" sz="1100" dirty="0"/>
          </a:p>
        </p:txBody>
      </p:sp>
      <p:sp>
        <p:nvSpPr>
          <p:cNvPr id="31" name="R4_chip77"/>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 think you ought to behave well.</a:t>
            </a:r>
            <a:endParaRPr lang="en-US" sz="1100" dirty="0"/>
          </a:p>
        </p:txBody>
      </p:sp>
      <p:sp>
        <p:nvSpPr>
          <p:cNvPr id="32" name="bd_78"/>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9"/>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"On short flights, you must recline your seat."</a:t>
            </a:r>
            <a:endParaRPr lang="en-US" sz="1100" dirty="0"/>
          </a:p>
        </p:txBody>
      </p:sp>
      <p:sp>
        <p:nvSpPr>
          <p:cNvPr id="34" name="R5_chip80"/>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shouldn't recline your seat on short flights.</a:t>
            </a:r>
            <a:endParaRPr lang="en-US" sz="1100" dirty="0"/>
          </a:p>
        </p:txBody>
      </p:sp>
      <p:sp>
        <p:nvSpPr>
          <p:cNvPr id="35" name="bd_81"/>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2"/>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"It's polite to eat smelly food on the train."</a:t>
            </a:r>
            <a:endParaRPr lang="en-US" sz="1100" dirty="0"/>
          </a:p>
        </p:txBody>
      </p:sp>
      <p:sp>
        <p:nvSpPr>
          <p:cNvPr id="37" name="R6_chip83"/>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It's rude / inconsiderate to eat smelly food on the train.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4"/>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5" descr="/home/claude/lls-course/v2/assets/brush-yellow.png">    </p:cNvPr>
          <p:cNvPicPr>
            <a:picLocks noChangeAspect="1"/>
          </p:cNvPicPr>
          <p:nvPr/>
        </p:nvPicPr>
        <p:blipFill>
          <a:blip r:embed="rId2"/>
          <a:stretch>
            <a:fillRect/>
          </a:stretch>
        </p:blipFill>
        <p:spPr>
          <a:xfrm>
            <a:off x="1097280" y="146304"/>
            <a:ext cx="1675181" cy="621792"/>
          </a:xfrm>
          <a:prstGeom prst="rect">
            <a:avLst/>
          </a:prstGeom>
        </p:spPr>
      </p:pic>
      <p:sp>
        <p:nvSpPr>
          <p:cNvPr id="5" name="title_86"/>
          <p:cNvSpPr/>
          <p:nvPr/>
        </p:nvSpPr>
        <p:spPr>
          <a:xfrm>
            <a:off x="1261872" y="164592"/>
            <a:ext cx="140086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Skills</a:t>
            </a:r>
            <a:endParaRPr lang="en-US" sz="2500" dirty="0"/>
          </a:p>
        </p:txBody>
      </p:sp>
      <p:pic>
        <p:nvPicPr>
          <p:cNvPr id="6" name="brP_87"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88"/>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8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90"/>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9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pic>
        <p:nvPicPr>
          <p:cNvPr id="11" name="logo_9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9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Lead-in · skills   ·   📖 SB p.40 · 1a</a:t>
            </a:r>
            <a:endParaRPr lang="en-US" sz="800" dirty="0"/>
          </a:p>
        </p:txBody>
      </p:sp>
      <p:sp>
        <p:nvSpPr>
          <p:cNvPr id="13" name="cd_94"/>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4" name="e_95"/>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5" name="en_96"/>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change a car wheel</a:t>
            </a:r>
            <a:endParaRPr lang="en-US" sz="1050" dirty="0"/>
          </a:p>
        </p:txBody>
      </p:sp>
      <p:sp>
        <p:nvSpPr>
          <p:cNvPr id="16" name="R1_it97"/>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cambiare una ruota</a:t>
            </a:r>
            <a:endParaRPr lang="en-US" sz="1000" dirty="0"/>
          </a:p>
        </p:txBody>
      </p:sp>
      <p:sp>
        <p:nvSpPr>
          <p:cNvPr id="17" name="cd_98"/>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8" name="e_99"/>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en_100"/>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dance salsa</a:t>
            </a:r>
            <a:endParaRPr lang="en-US" sz="1200" dirty="0"/>
          </a:p>
        </p:txBody>
      </p:sp>
      <p:sp>
        <p:nvSpPr>
          <p:cNvPr id="20" name="R2_it101"/>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ballare la salsa</a:t>
            </a:r>
            <a:endParaRPr lang="en-US" sz="1000" dirty="0"/>
          </a:p>
        </p:txBody>
      </p:sp>
      <p:sp>
        <p:nvSpPr>
          <p:cNvPr id="21" name="cd_102"/>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2" name="e_103"/>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en_104"/>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do yoga</a:t>
            </a:r>
            <a:endParaRPr lang="en-US" sz="1200" dirty="0"/>
          </a:p>
        </p:txBody>
      </p:sp>
      <p:sp>
        <p:nvSpPr>
          <p:cNvPr id="24" name="R3_it105"/>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fare yoga</a:t>
            </a:r>
            <a:endParaRPr lang="en-US" sz="1000" dirty="0"/>
          </a:p>
        </p:txBody>
      </p:sp>
      <p:sp>
        <p:nvSpPr>
          <p:cNvPr id="25" name="cd_106"/>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6" name="e_107"/>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en_108"/>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knit or sew</a:t>
            </a:r>
            <a:endParaRPr lang="en-US" sz="1200" dirty="0"/>
          </a:p>
        </p:txBody>
      </p:sp>
      <p:sp>
        <p:nvSpPr>
          <p:cNvPr id="28" name="R4_it109"/>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lavorare a maglia / cucire</a:t>
            </a:r>
            <a:endParaRPr lang="en-US" sz="800" dirty="0"/>
          </a:p>
        </p:txBody>
      </p:sp>
      <p:sp>
        <p:nvSpPr>
          <p:cNvPr id="29" name="cd_110"/>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0" name="e_111"/>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en_112"/>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play a musical instrument</a:t>
            </a:r>
            <a:endParaRPr lang="en-US" sz="1000" dirty="0"/>
          </a:p>
        </p:txBody>
      </p:sp>
      <p:sp>
        <p:nvSpPr>
          <p:cNvPr id="32" name="R5_it113"/>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suonare uno strumento</a:t>
            </a:r>
            <a:endParaRPr lang="en-US" sz="850" dirty="0"/>
          </a:p>
        </p:txBody>
      </p:sp>
      <p:sp>
        <p:nvSpPr>
          <p:cNvPr id="33" name="cd_114"/>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4" name="e_115"/>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5" name="en_116"/>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play tennis</a:t>
            </a:r>
            <a:endParaRPr lang="en-US" sz="1200" dirty="0"/>
          </a:p>
        </p:txBody>
      </p:sp>
      <p:sp>
        <p:nvSpPr>
          <p:cNvPr id="36" name="R6_it117"/>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giocare a tennis</a:t>
            </a:r>
            <a:endParaRPr lang="en-US" sz="1000" dirty="0"/>
          </a:p>
        </p:txBody>
      </p:sp>
      <p:sp>
        <p:nvSpPr>
          <p:cNvPr id="37" name="cd_118"/>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8" name="e_119"/>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en_120"/>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ride a bike</a:t>
            </a:r>
            <a:endParaRPr lang="en-US" sz="1200" dirty="0"/>
          </a:p>
        </p:txBody>
      </p:sp>
      <p:sp>
        <p:nvSpPr>
          <p:cNvPr id="40" name="R7_it121"/>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andare in bici</a:t>
            </a:r>
            <a:endParaRPr lang="en-US" sz="1000" dirty="0"/>
          </a:p>
        </p:txBody>
      </p:sp>
      <p:sp>
        <p:nvSpPr>
          <p:cNvPr id="41" name="cd_122"/>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2" name="e_123"/>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3" name="en_124"/>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run 5 km</a:t>
            </a:r>
            <a:endParaRPr lang="en-US" sz="1200" dirty="0"/>
          </a:p>
        </p:txBody>
      </p:sp>
      <p:sp>
        <p:nvSpPr>
          <p:cNvPr id="44" name="R8_it125"/>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correre 5 km</a:t>
            </a:r>
            <a:endParaRPr lang="en-US" sz="1000" dirty="0"/>
          </a:p>
        </p:txBody>
      </p:sp>
      <p:sp>
        <p:nvSpPr>
          <p:cNvPr id="45" name="cd_126"/>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6" name="e_127"/>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7" name="en_128"/>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sing well</a:t>
            </a:r>
            <a:endParaRPr lang="en-US" sz="1200" dirty="0"/>
          </a:p>
        </p:txBody>
      </p:sp>
      <p:sp>
        <p:nvSpPr>
          <p:cNvPr id="48" name="R9_it129"/>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cantare bene</a:t>
            </a:r>
            <a:endParaRPr lang="en-US" sz="1000" dirty="0"/>
          </a:p>
        </p:txBody>
      </p:sp>
      <p:sp>
        <p:nvSpPr>
          <p:cNvPr id="49" name="cd_130"/>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0" name="e_131"/>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1" name="en_132"/>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ski</a:t>
            </a:r>
            <a:endParaRPr lang="en-US" sz="1200" dirty="0"/>
          </a:p>
        </p:txBody>
      </p:sp>
      <p:sp>
        <p:nvSpPr>
          <p:cNvPr id="52" name="R10_it133"/>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sciare</a:t>
            </a:r>
            <a:endParaRPr lang="en-US" sz="1000" dirty="0"/>
          </a:p>
        </p:txBody>
      </p:sp>
      <p:sp>
        <p:nvSpPr>
          <p:cNvPr id="53" name="cd_134"/>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4" name="e_135"/>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5" name="en_136"/>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take good photos</a:t>
            </a:r>
            <a:endParaRPr lang="en-US" sz="1150" dirty="0"/>
          </a:p>
        </p:txBody>
      </p:sp>
      <p:sp>
        <p:nvSpPr>
          <p:cNvPr id="56" name="R11_it137"/>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fare belle foto</a:t>
            </a:r>
            <a:endParaRPr lang="en-US" sz="1000" dirty="0"/>
          </a:p>
        </p:txBody>
      </p:sp>
      <p:sp>
        <p:nvSpPr>
          <p:cNvPr id="57" name="cd_138"/>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8" name="e_139"/>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9" name="en_140"/>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type fast</a:t>
            </a:r>
            <a:endParaRPr lang="en-US" sz="1200" dirty="0"/>
          </a:p>
        </p:txBody>
      </p:sp>
      <p:sp>
        <p:nvSpPr>
          <p:cNvPr id="60" name="R12_it141"/>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scrivere veloce (al computer)</a:t>
            </a:r>
            <a:endParaRPr lang="en-US" sz="800" dirty="0"/>
          </a:p>
        </p:txBody>
      </p:sp>
      <p:sp>
        <p:nvSpPr>
          <p:cNvPr id="61" name="R13_wc142"/>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2" name="R13_w143"/>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a skill /skɪl/ = un'abilità   ·   to ski /skiː/ = sciare   |   also in the book: swim · use an Excel spreadsheet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4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4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400"/>
                                        <p:tgtEl>
                                          <p:spTgt spid="5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fade">
                                      <p:cBhvr>
                                        <p:cTn id="57" dur="400"/>
                                        <p:tgtEl>
                                          <p:spTgt spid="5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0"/>
                                        </p:tgtEl>
                                        <p:attrNameLst>
                                          <p:attrName>style.visibility</p:attrName>
                                        </p:attrNameLst>
                                      </p:cBhvr>
                                      <p:to>
                                        <p:strVal val="visible"/>
                                      </p:to>
                                    </p:set>
                                    <p:animEffect transition="in" filter="fade">
                                      <p:cBhvr>
                                        <p:cTn id="62" dur="400"/>
                                        <p:tgtEl>
                                          <p:spTgt spid="6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400"/>
                                        <p:tgtEl>
                                          <p:spTgt spid="61"/>
                                        </p:tgtEl>
                                      </p:cBhvr>
                                    </p:animEffect>
                                  </p:childTnLst>
                                </p:cTn>
                              </p:par>
                              <p:par>
                                <p:cTn id="68" presetID="10" presetClass="entr" presetSubtype="0" fill="hold" nodeType="with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fade">
                                      <p:cBhvr>
                                        <p:cTn id="7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45"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46"/>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100" dirty="0">
                <a:solidFill>
                  <a:srgbClr val="1B2559"/>
                </a:solidFill>
                <a:latin typeface="Arial Rounded MT Bold" pitchFamily="34" charset="0"/>
                <a:ea typeface="Arial Rounded MT Bold" pitchFamily="34" charset="-122"/>
                <a:cs typeface="Arial Rounded MT Bold" pitchFamily="34" charset="-120"/>
              </a:rPr>
              <a:t>Can you…? Could you…?</a:t>
            </a:r>
            <a:endParaRPr lang="en-US" sz="2100" dirty="0"/>
          </a:p>
        </p:txBody>
      </p:sp>
      <p:pic>
        <p:nvPicPr>
          <p:cNvPr id="6" name="brP_147"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148"/>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Tell your partner. Find 2 for each.</a:t>
            </a:r>
            <a:endParaRPr lang="en-US" sz="1250" dirty="0"/>
          </a:p>
        </p:txBody>
      </p:sp>
      <p:sp>
        <p:nvSpPr>
          <p:cNvPr id="8" name="insIT_14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al compagno. Trovane 2 per ognuno.</a:t>
            </a:r>
            <a:endParaRPr lang="en-US" sz="950" dirty="0"/>
          </a:p>
        </p:txBody>
      </p:sp>
      <p:sp>
        <p:nvSpPr>
          <p:cNvPr id="9" name="cmd_150"/>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15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15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15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5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Lead-in · skills   ·   📖 SB p.40 · 1a</a:t>
            </a:r>
            <a:endParaRPr lang="en-US" sz="800" dirty="0"/>
          </a:p>
        </p:txBody>
      </p:sp>
      <p:sp>
        <p:nvSpPr>
          <p:cNvPr id="14" name="pf_155"/>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156"/>
          <p:cNvSpPr/>
          <p:nvPr/>
        </p:nvSpPr>
        <p:spPr>
          <a:xfrm>
            <a:off x="365760" y="1417320"/>
            <a:ext cx="2697480" cy="17830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4b1-car-wheel.jpg</a:t>
            </a:r>
            <a:endParaRPr lang="en-US" sz="900" dirty="0"/>
          </a:p>
        </p:txBody>
      </p:sp>
      <p:sp>
        <p:nvSpPr>
          <p:cNvPr id="16" name="cd_157"/>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158"/>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159"/>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160"/>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 can… but I can't…</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When I was ten, I could…</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Me too! · Really?</a:t>
            </a:r>
            <a:endParaRPr lang="en-US" sz="1050" dirty="0"/>
          </a:p>
        </p:txBody>
      </p:sp>
      <p:sp>
        <p:nvSpPr>
          <p:cNvPr id="20" name="R1_qb161"/>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162"/>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2 skills you CAN do</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can do yoga and I can swim.</a:t>
            </a:r>
            <a:endParaRPr lang="en-US" sz="1250" dirty="0"/>
          </a:p>
        </p:txBody>
      </p:sp>
      <p:sp>
        <p:nvSpPr>
          <p:cNvPr id="22" name="R2_qb163"/>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164"/>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2 skills you CAN'T do</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can't sew and I can't change a car wheel.</a:t>
            </a:r>
            <a:endParaRPr lang="en-US" sz="1250" dirty="0"/>
          </a:p>
        </p:txBody>
      </p:sp>
      <p:sp>
        <p:nvSpPr>
          <p:cNvPr id="24" name="R3_qb165"/>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166"/>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2 skills you COULD do when you were ten</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When I was ten, I could swim and ride a bike.</a:t>
            </a:r>
            <a:endParaRPr lang="en-US" sz="1250" dirty="0"/>
          </a:p>
        </p:txBody>
      </p:sp>
      <p:sp>
        <p:nvSpPr>
          <p:cNvPr id="26" name="R4_qb167"/>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168"/>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2 skills you COULDN'T do when you were ten</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couldn't dance salsa or type fast.</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70"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171"/>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Lucky you!</a:t>
            </a:r>
            <a:endParaRPr lang="en-US" sz="2500" dirty="0"/>
          </a:p>
        </p:txBody>
      </p:sp>
      <p:pic>
        <p:nvPicPr>
          <p:cNvPr id="6" name="brP_172"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173"/>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missing words. Then listen.</a:t>
            </a:r>
            <a:endParaRPr lang="en-US" sz="1250" dirty="0"/>
          </a:p>
        </p:txBody>
      </p:sp>
      <p:sp>
        <p:nvSpPr>
          <p:cNvPr id="8" name="insIT_17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le parole mancanti. Poi ascolta.</a:t>
            </a:r>
            <a:endParaRPr lang="en-US" sz="950" dirty="0"/>
          </a:p>
        </p:txBody>
      </p:sp>
      <p:sp>
        <p:nvSpPr>
          <p:cNvPr id="9" name="cmd_17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76"/>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17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7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17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8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Grammar · in context   ·   📖 SB p.40 · 1b · audio 4.12</a:t>
            </a:r>
            <a:endParaRPr lang="en-US" sz="800" dirty="0"/>
          </a:p>
        </p:txBody>
      </p:sp>
      <p:sp>
        <p:nvSpPr>
          <p:cNvPr id="15" name="ap_181"/>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4.12  ·  play twice</a:t>
            </a:r>
            <a:endParaRPr lang="en-US" sz="1100" dirty="0"/>
          </a:p>
        </p:txBody>
      </p:sp>
      <p:sp>
        <p:nvSpPr>
          <p:cNvPr id="16" name="ah_18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183"/>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184"/>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4b1-speak-italian.jpg</a:t>
            </a:r>
            <a:endParaRPr lang="en-US" sz="900" dirty="0"/>
          </a:p>
        </p:txBody>
      </p:sp>
      <p:sp>
        <p:nvSpPr>
          <p:cNvPr id="21" name="cd_185"/>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186"/>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187"/>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188"/>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189"/>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A: I ___ speak Italian quite well.</a:t>
            </a:r>
            <a:endParaRPr lang="en-US" sz="1200" dirty="0"/>
          </a:p>
        </p:txBody>
      </p:sp>
      <p:sp>
        <p:nvSpPr>
          <p:cNvPr id="26" name="R1_chip190"/>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can</a:t>
            </a:r>
            <a:endParaRPr lang="en-US" sz="1200" dirty="0"/>
          </a:p>
        </p:txBody>
      </p:sp>
      <p:sp>
        <p:nvSpPr>
          <p:cNvPr id="27" name="gq_191"/>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B: Lucky you! I'd love to ___ speak Italian.</a:t>
            </a:r>
            <a:endParaRPr lang="en-US" sz="1200" dirty="0"/>
          </a:p>
        </p:txBody>
      </p:sp>
      <p:sp>
        <p:nvSpPr>
          <p:cNvPr id="28" name="R2_chip192"/>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be able to</a:t>
            </a:r>
            <a:endParaRPr lang="en-US" sz="1200" dirty="0"/>
          </a:p>
        </p:txBody>
      </p:sp>
      <p:sp>
        <p:nvSpPr>
          <p:cNvPr id="29" name="gq_193"/>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A: When I was a child, I ___ draw really well.</a:t>
            </a:r>
            <a:endParaRPr lang="en-US" sz="1200" dirty="0"/>
          </a:p>
        </p:txBody>
      </p:sp>
      <p:sp>
        <p:nvSpPr>
          <p:cNvPr id="30" name="R3_chip194"/>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could</a:t>
            </a:r>
            <a:endParaRPr lang="en-US" sz="1200" dirty="0"/>
          </a:p>
        </p:txBody>
      </p:sp>
      <p:sp>
        <p:nvSpPr>
          <p:cNvPr id="31" name="gq_195"/>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B: Really? I've never ___ draw!</a:t>
            </a:r>
            <a:endParaRPr lang="en-US" sz="1200" dirty="0"/>
          </a:p>
        </p:txBody>
      </p:sp>
      <p:sp>
        <p:nvSpPr>
          <p:cNvPr id="32" name="R4_chip196"/>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been able to</a:t>
            </a:r>
            <a:endParaRPr lang="en-US" sz="1200" dirty="0"/>
          </a:p>
        </p:txBody>
      </p:sp>
      <p:sp>
        <p:nvSpPr>
          <p:cNvPr id="33" name="gq_197"/>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1c  You can't use ___ in the infinitive or present perfect.</a:t>
            </a:r>
            <a:endParaRPr lang="en-US" sz="1200" dirty="0"/>
          </a:p>
        </p:txBody>
      </p:sp>
      <p:sp>
        <p:nvSpPr>
          <p:cNvPr id="34" name="R5_chip198"/>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can</a:t>
            </a:r>
            <a:endParaRPr lang="en-US" sz="1200" dirty="0"/>
          </a:p>
        </p:txBody>
      </p:sp>
      <p:sp>
        <p:nvSpPr>
          <p:cNvPr id="35" name="gq_199"/>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1c  Be able to means the same as ___.</a:t>
            </a:r>
            <a:endParaRPr lang="en-US" sz="1200" dirty="0"/>
          </a:p>
        </p:txBody>
      </p:sp>
      <p:sp>
        <p:nvSpPr>
          <p:cNvPr id="36" name="R6_chip200"/>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can</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02"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203"/>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Find the forms</a:t>
            </a:r>
            <a:endParaRPr lang="en-US" sz="2500" dirty="0"/>
          </a:p>
        </p:txBody>
      </p:sp>
      <p:pic>
        <p:nvPicPr>
          <p:cNvPr id="6" name="brP_204"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205"/>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can, could and be able to.</a:t>
            </a:r>
            <a:endParaRPr lang="en-US" sz="1250" dirty="0"/>
          </a:p>
        </p:txBody>
      </p:sp>
      <p:sp>
        <p:nvSpPr>
          <p:cNvPr id="8" name="insIT_20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Trova can, could e be able to.</a:t>
            </a:r>
            <a:endParaRPr lang="en-US" sz="950" dirty="0"/>
          </a:p>
        </p:txBody>
      </p:sp>
      <p:sp>
        <p:nvSpPr>
          <p:cNvPr id="9" name="cmd_207"/>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0" name="meta_208"/>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209"/>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21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1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Grammar · noticing   ·   📖 SB p.40 · 1c · audio scripts 4.12, 4.14</a:t>
            </a:r>
            <a:endParaRPr lang="en-US" sz="800" dirty="0"/>
          </a:p>
        </p:txBody>
      </p:sp>
      <p:sp>
        <p:nvSpPr>
          <p:cNvPr id="14" name="pf_212"/>
          <p:cNvSpPr/>
          <p:nvPr/>
        </p:nvSpPr>
        <p:spPr>
          <a:xfrm rot="-120000">
            <a:off x="365760" y="1371600"/>
            <a:ext cx="2468880" cy="1691640"/>
          </a:xfrm>
          <a:prstGeom prst="roundRect">
            <a:avLst>
              <a:gd name="adj" fmla="val 91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213"/>
          <p:cNvSpPr/>
          <p:nvPr/>
        </p:nvSpPr>
        <p:spPr>
          <a:xfrm>
            <a:off x="411480" y="1417320"/>
            <a:ext cx="2377440" cy="160020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4b1-child-drawing.jpg</a:t>
            </a:r>
            <a:endParaRPr lang="en-US" sz="900" dirty="0"/>
          </a:p>
        </p:txBody>
      </p:sp>
      <p:sp>
        <p:nvSpPr>
          <p:cNvPr id="16" name="cd_214"/>
          <p:cNvSpPr/>
          <p:nvPr/>
        </p:nvSpPr>
        <p:spPr>
          <a:xfrm>
            <a:off x="320040" y="3246120"/>
            <a:ext cx="2606040" cy="1463040"/>
          </a:xfrm>
          <a:prstGeom prst="roundRect">
            <a:avLst>
              <a:gd name="adj" fmla="val 875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215"/>
          <p:cNvSpPr/>
          <p:nvPr/>
        </p:nvSpPr>
        <p:spPr>
          <a:xfrm>
            <a:off x="411480" y="33192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16"/>
          <p:cNvSpPr/>
          <p:nvPr/>
        </p:nvSpPr>
        <p:spPr>
          <a:xfrm>
            <a:off x="886968" y="33375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Find it!</a:t>
            </a:r>
            <a:endParaRPr lang="en-US" sz="1300" dirty="0"/>
          </a:p>
        </p:txBody>
      </p:sp>
      <p:sp>
        <p:nvSpPr>
          <p:cNvPr id="19" name="il_217"/>
          <p:cNvSpPr/>
          <p:nvPr/>
        </p:nvSpPr>
        <p:spPr>
          <a:xfrm>
            <a:off x="886968" y="3721608"/>
            <a:ext cx="194767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can / could + verb</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be able to – 4 different forms!</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Which word comes BEFORE it?</a:t>
            </a:r>
            <a:endParaRPr lang="en-US" sz="1050" dirty="0"/>
          </a:p>
        </p:txBody>
      </p:sp>
      <p:sp>
        <p:nvSpPr>
          <p:cNvPr id="20" name="who_218"/>
          <p:cNvSpPr/>
          <p:nvPr/>
        </p:nvSpPr>
        <p:spPr>
          <a:xfrm>
            <a:off x="3108960" y="1463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 A</a:t>
            </a:r>
            <a:endParaRPr lang="en-US" sz="950" dirty="0"/>
          </a:p>
        </p:txBody>
      </p:sp>
      <p:sp>
        <p:nvSpPr>
          <p:cNvPr id="21" name="sl_219"/>
          <p:cNvSpPr/>
          <p:nvPr/>
        </p:nvSpPr>
        <p:spPr>
          <a:xfrm>
            <a:off x="4114800" y="14447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dirty="0">
                <a:solidFill>
                  <a:srgbClr val="1B2559"/>
                </a:solidFill>
                <a:latin typeface="Segoe UI" pitchFamily="34" charset="0"/>
                <a:ea typeface="Segoe UI" pitchFamily="34" charset="-122"/>
                <a:cs typeface="Segoe UI" pitchFamily="34" charset="-120"/>
              </a:rPr>
              <a:t>can speak</a:t>
            </a:r>
            <a:pPr indent="0" marL="0">
              <a:buNone/>
            </a:pPr>
            <a:r>
              <a:rPr lang="en-US" sz="1150" dirty="0">
                <a:solidFill>
                  <a:srgbClr val="1B2559"/>
                </a:solidFill>
                <a:latin typeface="Segoe UI" pitchFamily="34" charset="0"/>
                <a:ea typeface="Segoe UI" pitchFamily="34" charset="-122"/>
                <a:cs typeface="Segoe UI" pitchFamily="34" charset="-120"/>
              </a:rPr>
              <a:t> Italian quite well.</a:t>
            </a:r>
            <a:endParaRPr lang="en-US" sz="1150" dirty="0"/>
          </a:p>
        </p:txBody>
      </p:sp>
      <p:sp>
        <p:nvSpPr>
          <p:cNvPr id="22" name="R1_slA220"/>
          <p:cNvSpPr/>
          <p:nvPr/>
        </p:nvSpPr>
        <p:spPr>
          <a:xfrm>
            <a:off x="4114800" y="14447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 speak</a:t>
            </a:r>
            <a:pPr indent="0" marL="0">
              <a:buNone/>
            </a:pPr>
            <a:r>
              <a:rPr lang="en-US" sz="1150" dirty="0">
                <a:solidFill>
                  <a:srgbClr val="1B2559"/>
                </a:solidFill>
                <a:latin typeface="Segoe UI" pitchFamily="34" charset="0"/>
                <a:ea typeface="Segoe UI" pitchFamily="34" charset="-122"/>
                <a:cs typeface="Segoe UI" pitchFamily="34" charset="-120"/>
              </a:rPr>
              <a:t> Italian quite well.</a:t>
            </a:r>
            <a:endParaRPr lang="en-US" sz="1150" dirty="0"/>
          </a:p>
        </p:txBody>
      </p:sp>
      <p:sp>
        <p:nvSpPr>
          <p:cNvPr id="23" name="who_221"/>
          <p:cNvSpPr/>
          <p:nvPr/>
        </p:nvSpPr>
        <p:spPr>
          <a:xfrm>
            <a:off x="3108960" y="19202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 B</a:t>
            </a:r>
            <a:endParaRPr lang="en-US" sz="950" dirty="0"/>
          </a:p>
        </p:txBody>
      </p:sp>
      <p:sp>
        <p:nvSpPr>
          <p:cNvPr id="24" name="sl_222"/>
          <p:cNvSpPr/>
          <p:nvPr/>
        </p:nvSpPr>
        <p:spPr>
          <a:xfrm>
            <a:off x="4114800" y="19019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Lucky you! I'd love </a:t>
            </a:r>
            <a:pPr indent="0" marL="0">
              <a:buNone/>
            </a:pPr>
            <a:r>
              <a:rPr lang="en-US" sz="1150" dirty="0">
                <a:solidFill>
                  <a:srgbClr val="1B2559"/>
                </a:solidFill>
                <a:latin typeface="Segoe UI" pitchFamily="34" charset="0"/>
                <a:ea typeface="Segoe UI" pitchFamily="34" charset="-122"/>
                <a:cs typeface="Segoe UI" pitchFamily="34" charset="-120"/>
              </a:rPr>
              <a:t>to be able to speak</a:t>
            </a:r>
            <a:pPr indent="0" marL="0">
              <a:buNone/>
            </a:pPr>
            <a:r>
              <a:rPr lang="en-US" sz="1150" dirty="0">
                <a:solidFill>
                  <a:srgbClr val="1B2559"/>
                </a:solidFill>
                <a:latin typeface="Segoe UI" pitchFamily="34" charset="0"/>
                <a:ea typeface="Segoe UI" pitchFamily="34" charset="-122"/>
                <a:cs typeface="Segoe UI" pitchFamily="34" charset="-120"/>
              </a:rPr>
              <a:t> Italian.</a:t>
            </a:r>
            <a:endParaRPr lang="en-US" sz="1150" dirty="0"/>
          </a:p>
        </p:txBody>
      </p:sp>
      <p:sp>
        <p:nvSpPr>
          <p:cNvPr id="25" name="R2_slA223"/>
          <p:cNvSpPr/>
          <p:nvPr/>
        </p:nvSpPr>
        <p:spPr>
          <a:xfrm>
            <a:off x="4114800" y="19019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Lucky you! I'd love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to be able to speak</a:t>
            </a:r>
            <a:pPr indent="0" marL="0">
              <a:buNone/>
            </a:pPr>
            <a:r>
              <a:rPr lang="en-US" sz="1150" dirty="0">
                <a:solidFill>
                  <a:srgbClr val="1B2559"/>
                </a:solidFill>
                <a:latin typeface="Segoe UI" pitchFamily="34" charset="0"/>
                <a:ea typeface="Segoe UI" pitchFamily="34" charset="-122"/>
                <a:cs typeface="Segoe UI" pitchFamily="34" charset="-120"/>
              </a:rPr>
              <a:t> Italian.</a:t>
            </a:r>
            <a:endParaRPr lang="en-US" sz="1150" dirty="0"/>
          </a:p>
        </p:txBody>
      </p:sp>
      <p:sp>
        <p:nvSpPr>
          <p:cNvPr id="26" name="who_224"/>
          <p:cNvSpPr/>
          <p:nvPr/>
        </p:nvSpPr>
        <p:spPr>
          <a:xfrm>
            <a:off x="3108960" y="23774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 A</a:t>
            </a:r>
            <a:endParaRPr lang="en-US" sz="950" dirty="0"/>
          </a:p>
        </p:txBody>
      </p:sp>
      <p:sp>
        <p:nvSpPr>
          <p:cNvPr id="27" name="sl_225"/>
          <p:cNvSpPr/>
          <p:nvPr/>
        </p:nvSpPr>
        <p:spPr>
          <a:xfrm>
            <a:off x="4114800" y="23591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When I was a child, I </a:t>
            </a:r>
            <a:pPr indent="0" marL="0">
              <a:buNone/>
            </a:pPr>
            <a:r>
              <a:rPr lang="en-US" sz="1150" dirty="0">
                <a:solidFill>
                  <a:srgbClr val="1B2559"/>
                </a:solidFill>
                <a:latin typeface="Segoe UI" pitchFamily="34" charset="0"/>
                <a:ea typeface="Segoe UI" pitchFamily="34" charset="-122"/>
                <a:cs typeface="Segoe UI" pitchFamily="34" charset="-120"/>
              </a:rPr>
              <a:t>could draw</a:t>
            </a:r>
            <a:pPr indent="0" marL="0">
              <a:buNone/>
            </a:pPr>
            <a:r>
              <a:rPr lang="en-US" sz="1150" dirty="0">
                <a:solidFill>
                  <a:srgbClr val="1B2559"/>
                </a:solidFill>
                <a:latin typeface="Segoe UI" pitchFamily="34" charset="0"/>
                <a:ea typeface="Segoe UI" pitchFamily="34" charset="-122"/>
                <a:cs typeface="Segoe UI" pitchFamily="34" charset="-120"/>
              </a:rPr>
              <a:t> really well.</a:t>
            </a:r>
            <a:endParaRPr lang="en-US" sz="1150" dirty="0"/>
          </a:p>
        </p:txBody>
      </p:sp>
      <p:sp>
        <p:nvSpPr>
          <p:cNvPr id="28" name="R3_slA226"/>
          <p:cNvSpPr/>
          <p:nvPr/>
        </p:nvSpPr>
        <p:spPr>
          <a:xfrm>
            <a:off x="4114800" y="23591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When I was a child, 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could draw</a:t>
            </a:r>
            <a:pPr indent="0" marL="0">
              <a:buNone/>
            </a:pPr>
            <a:r>
              <a:rPr lang="en-US" sz="1150" dirty="0">
                <a:solidFill>
                  <a:srgbClr val="1B2559"/>
                </a:solidFill>
                <a:latin typeface="Segoe UI" pitchFamily="34" charset="0"/>
                <a:ea typeface="Segoe UI" pitchFamily="34" charset="-122"/>
                <a:cs typeface="Segoe UI" pitchFamily="34" charset="-120"/>
              </a:rPr>
              <a:t> really well.</a:t>
            </a:r>
            <a:endParaRPr lang="en-US" sz="1150" dirty="0"/>
          </a:p>
        </p:txBody>
      </p:sp>
      <p:sp>
        <p:nvSpPr>
          <p:cNvPr id="29" name="who_227"/>
          <p:cNvSpPr/>
          <p:nvPr/>
        </p:nvSpPr>
        <p:spPr>
          <a:xfrm>
            <a:off x="3108960" y="28346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 B</a:t>
            </a:r>
            <a:endParaRPr lang="en-US" sz="950" dirty="0"/>
          </a:p>
        </p:txBody>
      </p:sp>
      <p:sp>
        <p:nvSpPr>
          <p:cNvPr id="30" name="sl_228"/>
          <p:cNvSpPr/>
          <p:nvPr/>
        </p:nvSpPr>
        <p:spPr>
          <a:xfrm>
            <a:off x="4114800" y="28163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Really? I've never </a:t>
            </a:r>
            <a:pPr indent="0" marL="0">
              <a:buNone/>
            </a:pPr>
            <a:r>
              <a:rPr lang="en-US" sz="1150" dirty="0">
                <a:solidFill>
                  <a:srgbClr val="1B2559"/>
                </a:solidFill>
                <a:latin typeface="Segoe UI" pitchFamily="34" charset="0"/>
                <a:ea typeface="Segoe UI" pitchFamily="34" charset="-122"/>
                <a:cs typeface="Segoe UI" pitchFamily="34" charset="-120"/>
              </a:rPr>
              <a:t>been able to draw</a:t>
            </a:r>
            <a:pPr indent="0" marL="0">
              <a:buNone/>
            </a:pPr>
            <a:r>
              <a:rPr lang="en-US" sz="1150" dirty="0">
                <a:solidFill>
                  <a:srgbClr val="1B2559"/>
                </a:solidFill>
                <a:latin typeface="Segoe UI" pitchFamily="34" charset="0"/>
                <a:ea typeface="Segoe UI" pitchFamily="34" charset="-122"/>
                <a:cs typeface="Segoe UI" pitchFamily="34" charset="-120"/>
              </a:rPr>
              <a:t>!</a:t>
            </a:r>
            <a:endParaRPr lang="en-US" sz="1150" dirty="0"/>
          </a:p>
        </p:txBody>
      </p:sp>
      <p:sp>
        <p:nvSpPr>
          <p:cNvPr id="31" name="R4_slA229"/>
          <p:cNvSpPr/>
          <p:nvPr/>
        </p:nvSpPr>
        <p:spPr>
          <a:xfrm>
            <a:off x="4114800" y="28163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Really? I've never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been able to draw</a:t>
            </a:r>
            <a:pPr indent="0" marL="0">
              <a:buNone/>
            </a:pPr>
            <a:r>
              <a:rPr lang="en-US" sz="1150" dirty="0">
                <a:solidFill>
                  <a:srgbClr val="1B2559"/>
                </a:solidFill>
                <a:latin typeface="Segoe UI" pitchFamily="34" charset="0"/>
                <a:ea typeface="Segoe UI" pitchFamily="34" charset="-122"/>
                <a:cs typeface="Segoe UI" pitchFamily="34" charset="-120"/>
              </a:rPr>
              <a:t>!</a:t>
            </a:r>
            <a:endParaRPr lang="en-US" sz="1150" dirty="0"/>
          </a:p>
        </p:txBody>
      </p:sp>
      <p:sp>
        <p:nvSpPr>
          <p:cNvPr id="32" name="who_230"/>
          <p:cNvSpPr/>
          <p:nvPr/>
        </p:nvSpPr>
        <p:spPr>
          <a:xfrm>
            <a:off x="3108960" y="32918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4.14</a:t>
            </a:r>
            <a:endParaRPr lang="en-US" sz="950" dirty="0"/>
          </a:p>
        </p:txBody>
      </p:sp>
      <p:sp>
        <p:nvSpPr>
          <p:cNvPr id="33" name="sl_231"/>
          <p:cNvSpPr/>
          <p:nvPr/>
        </p:nvSpPr>
        <p:spPr>
          <a:xfrm>
            <a:off x="4114800" y="32735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love </a:t>
            </a:r>
            <a:pPr indent="0" marL="0">
              <a:buNone/>
            </a:pPr>
            <a:r>
              <a:rPr lang="en-US" sz="1150" dirty="0">
                <a:solidFill>
                  <a:srgbClr val="1B2559"/>
                </a:solidFill>
                <a:latin typeface="Segoe UI" pitchFamily="34" charset="0"/>
                <a:ea typeface="Segoe UI" pitchFamily="34" charset="-122"/>
                <a:cs typeface="Segoe UI" pitchFamily="34" charset="-120"/>
              </a:rPr>
              <a:t>being able to stay</a:t>
            </a:r>
            <a:pPr indent="0" marL="0">
              <a:buNone/>
            </a:pPr>
            <a:r>
              <a:rPr lang="en-US" sz="1150" dirty="0">
                <a:solidFill>
                  <a:srgbClr val="1B2559"/>
                </a:solidFill>
                <a:latin typeface="Segoe UI" pitchFamily="34" charset="0"/>
                <a:ea typeface="Segoe UI" pitchFamily="34" charset="-122"/>
                <a:cs typeface="Segoe UI" pitchFamily="34" charset="-120"/>
              </a:rPr>
              <a:t> in bed late on Sunday morning.</a:t>
            </a:r>
            <a:endParaRPr lang="en-US" sz="1150" dirty="0"/>
          </a:p>
        </p:txBody>
      </p:sp>
      <p:sp>
        <p:nvSpPr>
          <p:cNvPr id="34" name="R5_slA232"/>
          <p:cNvSpPr/>
          <p:nvPr/>
        </p:nvSpPr>
        <p:spPr>
          <a:xfrm>
            <a:off x="4114800" y="32735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love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being able to stay</a:t>
            </a:r>
            <a:pPr indent="0" marL="0">
              <a:buNone/>
            </a:pPr>
            <a:r>
              <a:rPr lang="en-US" sz="1150" dirty="0">
                <a:solidFill>
                  <a:srgbClr val="1B2559"/>
                </a:solidFill>
                <a:latin typeface="Segoe UI" pitchFamily="34" charset="0"/>
                <a:ea typeface="Segoe UI" pitchFamily="34" charset="-122"/>
                <a:cs typeface="Segoe UI" pitchFamily="34" charset="-120"/>
              </a:rPr>
              <a:t> in bed late on Sunday morning.</a:t>
            </a:r>
            <a:endParaRPr lang="en-US" sz="1150" dirty="0"/>
          </a:p>
        </p:txBody>
      </p:sp>
      <p:sp>
        <p:nvSpPr>
          <p:cNvPr id="35" name="who_233"/>
          <p:cNvSpPr/>
          <p:nvPr/>
        </p:nvSpPr>
        <p:spPr>
          <a:xfrm>
            <a:off x="3108960" y="3749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4.14</a:t>
            </a:r>
            <a:endParaRPr lang="en-US" sz="950" dirty="0"/>
          </a:p>
        </p:txBody>
      </p:sp>
      <p:sp>
        <p:nvSpPr>
          <p:cNvPr id="36" name="sl_234"/>
          <p:cNvSpPr/>
          <p:nvPr/>
        </p:nvSpPr>
        <p:spPr>
          <a:xfrm>
            <a:off x="4114800" y="37307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You</a:t>
            </a:r>
            <a:pPr indent="0" marL="0">
              <a:buNone/>
            </a:pPr>
            <a:r>
              <a:rPr lang="en-US" sz="1150" dirty="0">
                <a:solidFill>
                  <a:srgbClr val="1B2559"/>
                </a:solidFill>
                <a:latin typeface="Segoe UI" pitchFamily="34" charset="0"/>
                <a:ea typeface="Segoe UI" pitchFamily="34" charset="-122"/>
                <a:cs typeface="Segoe UI" pitchFamily="34" charset="-120"/>
              </a:rPr>
              <a:t>'ll be able to practise</a:t>
            </a:r>
            <a:pPr indent="0" marL="0">
              <a:buNone/>
            </a:pPr>
            <a:r>
              <a:rPr lang="en-US" sz="1150" dirty="0">
                <a:solidFill>
                  <a:srgbClr val="1B2559"/>
                </a:solidFill>
                <a:latin typeface="Segoe UI" pitchFamily="34" charset="0"/>
                <a:ea typeface="Segoe UI" pitchFamily="34" charset="-122"/>
                <a:cs typeface="Segoe UI" pitchFamily="34" charset="-120"/>
              </a:rPr>
              <a:t> your English in London.</a:t>
            </a:r>
            <a:endParaRPr lang="en-US" sz="1150" dirty="0"/>
          </a:p>
        </p:txBody>
      </p:sp>
      <p:sp>
        <p:nvSpPr>
          <p:cNvPr id="37" name="R6_slA235"/>
          <p:cNvSpPr/>
          <p:nvPr/>
        </p:nvSpPr>
        <p:spPr>
          <a:xfrm>
            <a:off x="4114800" y="37307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You</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'll be able to practise</a:t>
            </a:r>
            <a:pPr indent="0" marL="0">
              <a:buNone/>
            </a:pPr>
            <a:r>
              <a:rPr lang="en-US" sz="1150" dirty="0">
                <a:solidFill>
                  <a:srgbClr val="1B2559"/>
                </a:solidFill>
                <a:latin typeface="Segoe UI" pitchFamily="34" charset="0"/>
                <a:ea typeface="Segoe UI" pitchFamily="34" charset="-122"/>
                <a:cs typeface="Segoe UI" pitchFamily="34" charset="-120"/>
              </a:rPr>
              <a:t> your English in London.</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3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37"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38"/>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can, could, be able to</a:t>
            </a:r>
            <a:endParaRPr lang="en-US" sz="2500" dirty="0"/>
          </a:p>
        </p:txBody>
      </p:sp>
      <p:pic>
        <p:nvPicPr>
          <p:cNvPr id="6" name="brP_239"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240"/>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form, and when?</a:t>
            </a:r>
            <a:endParaRPr lang="en-US" sz="1250" dirty="0"/>
          </a:p>
        </p:txBody>
      </p:sp>
      <p:sp>
        <p:nvSpPr>
          <p:cNvPr id="8" name="insIT_24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quale forma, e quando?</a:t>
            </a:r>
            <a:endParaRPr lang="en-US" sz="950" dirty="0"/>
          </a:p>
        </p:txBody>
      </p:sp>
      <p:sp>
        <p:nvSpPr>
          <p:cNvPr id="9" name="cmd_24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24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24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24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4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Grammar · the rule   ·   📖 Grammar Bank 4B p.139 · audio 4.13, 4.14</a:t>
            </a:r>
            <a:endParaRPr lang="en-US" sz="800" dirty="0"/>
          </a:p>
        </p:txBody>
      </p:sp>
      <p:sp>
        <p:nvSpPr>
          <p:cNvPr id="14" name="ap_247"/>
          <p:cNvSpPr/>
          <p:nvPr/>
        </p:nvSpPr>
        <p:spPr>
          <a:xfrm>
            <a:off x="6583680" y="914400"/>
            <a:ext cx="16916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4.13 + 4.14</a:t>
            </a:r>
            <a:endParaRPr lang="en-US" sz="1100" dirty="0"/>
          </a:p>
        </p:txBody>
      </p:sp>
      <p:sp>
        <p:nvSpPr>
          <p:cNvPr id="15" name="ah_248"/>
          <p:cNvSpPr/>
          <p:nvPr/>
        </p:nvSpPr>
        <p:spPr>
          <a:xfrm>
            <a:off x="4974336"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6574536"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7050024" y="4553712"/>
            <a:ext cx="411480" cy="411480"/>
          </a:xfrm>
          <a:prstGeom prst="rect">
            <a:avLst/>
          </a:prstGeom>
        </p:spPr>
      </p:pic>
      <p:pic>
        <p:nvPicPr>
          <p:cNvPr id="18" name="Media 2">
            <a:hlinkClick r:id="" action="ppaction://media"/>
          </p:cNvPr>
          <p:cNvPicPr>
            <a:picLocks noChangeAspect="1"/>
          </p:cNvPicPr>
          <p:nvPr>
            <a:audioFile r:link="rId11"/>
            <p:extLst>
              <p:ext uri="{DAA4B4D4-6D71-4841-9C94-3DE7FCFB9230}">
                <p14:media xmlns:p14="http://schemas.microsoft.com/office/powerpoint/2010/main" r:embed="rId12"/>
              </p:ext>
            </p:extLst>
          </p:nvPr>
        </p:nvPicPr>
        <p:blipFill>
          <a:blip r:embed="rId13"/>
          <a:stretch>
            <a:fillRect/>
          </a:stretch>
        </p:blipFill>
        <p:spPr>
          <a:xfrm>
            <a:off x="7525512" y="4553712"/>
            <a:ext cx="411480" cy="411480"/>
          </a:xfrm>
          <a:prstGeom prst="rect">
            <a:avLst/>
          </a:prstGeom>
        </p:spPr>
      </p:pic>
      <p:pic>
        <p:nvPicPr>
          <p:cNvPr id="19" name="Media 3">
            <a:hlinkClick r:id="" action="ppaction://media"/>
          </p:cNvPr>
          <p:cNvPicPr>
            <a:picLocks noChangeAspect="1"/>
          </p:cNvPicPr>
          <p:nvPr>
            <a:audioFile r:link="rId14"/>
            <p:extLst>
              <p:ext uri="{DAA4B4D4-6D71-4841-9C94-3DE7FCFB9230}">
                <p14:media xmlns:p14="http://schemas.microsoft.com/office/powerpoint/2010/main" r:embed="rId15"/>
              </p:ext>
            </p:extLst>
          </p:nvPr>
        </p:nvPicPr>
        <p:blipFill>
          <a:blip r:embed="rId16"/>
          <a:stretch>
            <a:fillRect/>
          </a:stretch>
        </p:blipFill>
        <p:spPr>
          <a:xfrm>
            <a:off x="8001000" y="4553712"/>
            <a:ext cx="411480" cy="411480"/>
          </a:xfrm>
          <a:prstGeom prst="rect">
            <a:avLst/>
          </a:prstGeom>
        </p:spPr>
      </p:pic>
      <p:sp>
        <p:nvSpPr>
          <p:cNvPr id="20" name="cd_249"/>
          <p:cNvSpPr/>
          <p:nvPr/>
        </p:nvSpPr>
        <p:spPr>
          <a:xfrm>
            <a:off x="320040" y="1417320"/>
            <a:ext cx="2034540" cy="3017520"/>
          </a:xfrm>
          <a:prstGeom prst="roundRect">
            <a:avLst>
              <a:gd name="adj" fmla="val 6292"/>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250"/>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can / can't</a:t>
            </a:r>
            <a:endParaRPr lang="en-US" sz="1250" dirty="0"/>
          </a:p>
        </p:txBody>
      </p:sp>
      <p:sp>
        <p:nvSpPr>
          <p:cNvPr id="22" name="pf_251"/>
          <p:cNvSpPr/>
          <p:nvPr/>
        </p:nvSpPr>
        <p:spPr>
          <a:xfrm>
            <a:off x="4297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252"/>
          <p:cNvSpPr/>
          <p:nvPr/>
        </p:nvSpPr>
        <p:spPr>
          <a:xfrm>
            <a:off x="475488" y="1984248"/>
            <a:ext cx="1723644" cy="8686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4b1-speak-italian.jpg</a:t>
            </a:r>
            <a:endParaRPr lang="en-US" sz="900" dirty="0"/>
          </a:p>
        </p:txBody>
      </p:sp>
      <p:sp>
        <p:nvSpPr>
          <p:cNvPr id="24" name="ru_253"/>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NOW · so / posso</a:t>
            </a:r>
            <a:endParaRPr lang="en-US" sz="1050" dirty="0"/>
          </a:p>
        </p:txBody>
      </p:sp>
      <p:sp>
        <p:nvSpPr>
          <p:cNvPr id="25" name="R1_rx254"/>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can speak three languages fluently.</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Jenny can't come tonight. She's ill.</a:t>
            </a:r>
            <a:endParaRPr lang="en-US" sz="1050" dirty="0"/>
          </a:p>
        </p:txBody>
      </p:sp>
      <p:sp>
        <p:nvSpPr>
          <p:cNvPr id="26" name="R1_ri255"/>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 I can to speak</a:t>
            </a:r>
            <a:endParaRPr lang="en-US" sz="900" dirty="0"/>
          </a:p>
        </p:txBody>
      </p:sp>
      <p:sp>
        <p:nvSpPr>
          <p:cNvPr id="27" name="cd_256"/>
          <p:cNvSpPr/>
          <p:nvPr/>
        </p:nvSpPr>
        <p:spPr>
          <a:xfrm>
            <a:off x="2491740" y="1417320"/>
            <a:ext cx="2034540" cy="3017520"/>
          </a:xfrm>
          <a:prstGeom prst="roundRect">
            <a:avLst>
              <a:gd name="adj" fmla="val 6292"/>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8" name="rh_257"/>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could / couldn't</a:t>
            </a:r>
            <a:endParaRPr lang="en-US" sz="1250" dirty="0"/>
          </a:p>
        </p:txBody>
      </p:sp>
      <p:sp>
        <p:nvSpPr>
          <p:cNvPr id="29" name="pf_258"/>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30" name="phx_259"/>
          <p:cNvSpPr/>
          <p:nvPr/>
        </p:nvSpPr>
        <p:spPr>
          <a:xfrm>
            <a:off x="2647188" y="1984248"/>
            <a:ext cx="1723644" cy="8686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4b1-child-drawing.jpg</a:t>
            </a:r>
            <a:endParaRPr lang="en-US" sz="900" dirty="0"/>
          </a:p>
        </p:txBody>
      </p:sp>
      <p:sp>
        <p:nvSpPr>
          <p:cNvPr id="31" name="ru_260"/>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PAST · sapevo / potevo</a:t>
            </a:r>
            <a:endParaRPr lang="en-US" sz="1050" dirty="0"/>
          </a:p>
        </p:txBody>
      </p:sp>
      <p:sp>
        <p:nvSpPr>
          <p:cNvPr id="32" name="R2_rx261"/>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Our daughter could play the violin when she was three.</a:t>
            </a:r>
            <a:endParaRPr lang="en-US" sz="950" dirty="0"/>
          </a:p>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They couldn't wait. They were in a hurry.</a:t>
            </a:r>
            <a:endParaRPr lang="en-US" sz="950" dirty="0"/>
          </a:p>
        </p:txBody>
      </p:sp>
      <p:sp>
        <p:nvSpPr>
          <p:cNvPr id="33" name="R2_ri262"/>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 I could to play</a:t>
            </a:r>
            <a:endParaRPr lang="en-US" sz="900" dirty="0"/>
          </a:p>
        </p:txBody>
      </p:sp>
      <p:sp>
        <p:nvSpPr>
          <p:cNvPr id="34" name="cd_263"/>
          <p:cNvSpPr/>
          <p:nvPr/>
        </p:nvSpPr>
        <p:spPr>
          <a:xfrm>
            <a:off x="4663440" y="1417320"/>
            <a:ext cx="2034540" cy="3017520"/>
          </a:xfrm>
          <a:prstGeom prst="roundRect">
            <a:avLst>
              <a:gd name="adj" fmla="val 6292"/>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35" name="rh_264"/>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to be able to</a:t>
            </a:r>
            <a:endParaRPr lang="en-US" sz="1250" dirty="0"/>
          </a:p>
        </p:txBody>
      </p:sp>
      <p:sp>
        <p:nvSpPr>
          <p:cNvPr id="36" name="pf_265"/>
          <p:cNvSpPr/>
          <p:nvPr/>
        </p:nvSpPr>
        <p:spPr>
          <a:xfrm>
            <a:off x="47731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7" name="ph_266" descr="/home/claude/lls-course/v2/cache/spare_work_dream_job_jpg_415x209_31.png">    </p:cNvPr>
          <p:cNvPicPr>
            <a:picLocks noChangeAspect="1"/>
          </p:cNvPicPr>
          <p:nvPr/>
        </p:nvPicPr>
        <p:blipFill>
          <a:blip r:embed="rId17"/>
          <a:stretch>
            <a:fillRect/>
          </a:stretch>
        </p:blipFill>
        <p:spPr>
          <a:xfrm>
            <a:off x="4818888" y="1984248"/>
            <a:ext cx="1723644" cy="868680"/>
          </a:xfrm>
          <a:prstGeom prst="rect">
            <a:avLst/>
          </a:prstGeom>
        </p:spPr>
      </p:pic>
      <p:sp>
        <p:nvSpPr>
          <p:cNvPr id="38" name="ru_267"/>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after I'd like · I love being…</a:t>
            </a:r>
            <a:endParaRPr lang="en-US" sz="1050" dirty="0"/>
          </a:p>
        </p:txBody>
      </p:sp>
      <p:sp>
        <p:nvSpPr>
          <p:cNvPr id="39" name="R3_rx268"/>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I'd like to be able to ski.</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love being able to stay in bed late on Sunday morning.</a:t>
            </a:r>
            <a:endParaRPr lang="en-US" sz="1050" dirty="0"/>
          </a:p>
        </p:txBody>
      </p:sp>
      <p:sp>
        <p:nvSpPr>
          <p:cNvPr id="40" name="R3_ri269"/>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 I want to can ski</a:t>
            </a:r>
            <a:endParaRPr lang="en-US" sz="900" dirty="0"/>
          </a:p>
        </p:txBody>
      </p:sp>
      <p:sp>
        <p:nvSpPr>
          <p:cNvPr id="41" name="cd_270"/>
          <p:cNvSpPr/>
          <p:nvPr/>
        </p:nvSpPr>
        <p:spPr>
          <a:xfrm>
            <a:off x="6835140" y="1417320"/>
            <a:ext cx="2034540" cy="3017520"/>
          </a:xfrm>
          <a:prstGeom prst="roundRect">
            <a:avLst>
              <a:gd name="adj" fmla="val 6292"/>
            </a:avLst>
          </a:prstGeom>
          <a:solidFill>
            <a:srgbClr val="FFFFFF"/>
          </a:solidFill>
          <a:ln w="25400">
            <a:solidFill>
              <a:srgbClr val="FFE07A"/>
            </a:solidFill>
            <a:prstDash val="solid"/>
          </a:ln>
          <a:effectLst>
            <a:outerShdw sx="100000" sy="100000" kx="0" ky="0" algn="bl" rotWithShape="0" blurRad="88900" dist="31750" dir="5400000">
              <a:srgbClr val="1B2559">
                <a:alpha val="12000"/>
              </a:srgbClr>
            </a:outerShdw>
          </a:effectLst>
        </p:spPr>
      </p:sp>
      <p:sp>
        <p:nvSpPr>
          <p:cNvPr id="42" name="rh_271"/>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been able to</a:t>
            </a:r>
            <a:endParaRPr lang="en-US" sz="1250" dirty="0"/>
          </a:p>
        </p:txBody>
      </p:sp>
      <p:sp>
        <p:nvSpPr>
          <p:cNvPr id="43" name="pf_272"/>
          <p:cNvSpPr/>
          <p:nvPr/>
        </p:nvSpPr>
        <p:spPr>
          <a:xfrm>
            <a:off x="69448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4" name="ph_273" descr="/home/claude/lls-course/v2/cache/spare_life_childhood_jpg_415x209_31.png">    </p:cNvPr>
          <p:cNvPicPr>
            <a:picLocks noChangeAspect="1"/>
          </p:cNvPicPr>
          <p:nvPr/>
        </p:nvPicPr>
        <p:blipFill>
          <a:blip r:embed="rId18"/>
          <a:stretch>
            <a:fillRect/>
          </a:stretch>
        </p:blipFill>
        <p:spPr>
          <a:xfrm>
            <a:off x="6990588" y="1984248"/>
            <a:ext cx="1723644" cy="868680"/>
          </a:xfrm>
          <a:prstGeom prst="rect">
            <a:avLst/>
          </a:prstGeom>
        </p:spPr>
      </p:pic>
      <p:sp>
        <p:nvSpPr>
          <p:cNvPr id="45" name="ru_274"/>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since… · future: will be…</a:t>
            </a:r>
            <a:endParaRPr lang="en-US" sz="1050" dirty="0"/>
          </a:p>
        </p:txBody>
      </p:sp>
      <p:sp>
        <p:nvSpPr>
          <p:cNvPr id="46" name="R4_rx275"/>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Luke has been able to swim since he was three.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You'll be able to practise your English in London.</a:t>
            </a:r>
            <a:endParaRPr lang="en-US" sz="1050" dirty="0"/>
          </a:p>
        </p:txBody>
      </p:sp>
      <p:sp>
        <p:nvSpPr>
          <p:cNvPr id="47" name="R4_ri276"/>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 I won't be able help</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400"/>
                                        <p:tgtEl>
                                          <p:spTgt spid="32"/>
                                        </p:tgtEl>
                                      </p:cBhvr>
                                    </p:animEffect>
                                  </p:childTnLst>
                                </p:cTn>
                              </p:par>
                              <p:par>
                                <p:cTn id="16" presetID="10"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4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400"/>
                                        <p:tgtEl>
                                          <p:spTgt spid="39"/>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400"/>
                                        <p:tgtEl>
                                          <p:spTgt spid="4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400"/>
                                        <p:tgtEl>
                                          <p:spTgt spid="46"/>
                                        </p:tgtEl>
                                      </p:cBhvr>
                                    </p:animEffect>
                                  </p:childTnLst>
                                </p:cTn>
                              </p:par>
                              <p:par>
                                <p:cTn id="32" presetID="10" presetClass="entr" presetSubtype="0" fill="hold"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restart="whenNotActive" fill="hold" evtFilter="cancelBubble" nodeType="interactiveSeq">
                <p:stCondLst>
                  <p:cond evt="onClick" delay="0">
                    <p:tgtEl>
                      <p:spTgt spid="16"/>
                    </p:tgtEl>
                  </p:cond>
                </p:stCondLst>
                <p:endSync evt="end" delay="0">
                  <p:rtn val="all"/>
                </p:endSync>
                <p:childTnLst>
                  <p:par>
                    <p:cTn id="36" fill="hold">
                      <p:stCondLst>
                        <p:cond delay="0"/>
                      </p:stCondLst>
                      <p:childTnLst>
                        <p:par>
                          <p:cTn id="37" fill="hold">
                            <p:stCondLst>
                              <p:cond delay="0"/>
                            </p:stCondLst>
                            <p:childTnLst>
                              <p:par>
                                <p:cTn id="38" presetID="2" presetClass="mediacall" presetSubtype="0" fill="hold" nodeType="clickEffect">
                                  <p:stCondLst>
                                    <p:cond delay="0"/>
                                  </p:stCondLst>
                                  <p:childTnLst>
                                    <p:cmd type="call" cmd="togglePause">
                                      <p:cBhvr>
                                        <p:cTn id="39" dur="1" fill="hold"/>
                                        <p:tgtEl>
                                          <p:spTgt spid="16"/>
                                        </p:tgtEl>
                                      </p:cBhvr>
                                    </p:cmd>
                                  </p:childTnLst>
                                </p:cTn>
                              </p:par>
                            </p:childTnLst>
                          </p:cTn>
                        </p:par>
                      </p:childTnLst>
                    </p:cTn>
                  </p:par>
                </p:childTnLst>
              </p:cTn>
              <p:nextCondLst>
                <p:cond evt="onClick" delay="0">
                  <p:tgtEl>
                    <p:spTgt spid="16"/>
                  </p:tgtEl>
                </p:cond>
              </p:nextCondLst>
            </p:seq>
            <p:seq concurrent="1" nextAc="seek">
              <p:cTn id="40" restart="whenNotActive" fill="hold" evtFilter="cancelBubble" nodeType="interactiveSeq">
                <p:stCondLst>
                  <p:cond evt="onClick" delay="0">
                    <p:tgtEl>
                      <p:spTgt spid="17"/>
                    </p:tgtEl>
                  </p:cond>
                </p:stCondLst>
                <p:endSync evt="end" delay="0">
                  <p:rtn val="all"/>
                </p:endSync>
                <p:childTnLst>
                  <p:par>
                    <p:cTn id="41" fill="hold">
                      <p:stCondLst>
                        <p:cond delay="0"/>
                      </p:stCondLst>
                      <p:childTnLst>
                        <p:par>
                          <p:cTn id="42" fill="hold">
                            <p:stCondLst>
                              <p:cond delay="0"/>
                            </p:stCondLst>
                            <p:childTnLst>
                              <p:par>
                                <p:cTn id="43" presetID="2" presetClass="mediacall" presetSubtype="0" fill="hold" nodeType="clickEffect">
                                  <p:stCondLst>
                                    <p:cond delay="0"/>
                                  </p:stCondLst>
                                  <p:childTnLst>
                                    <p:cmd type="call" cmd="togglePause">
                                      <p:cBhvr>
                                        <p:cTn id="44" dur="1" fill="hold"/>
                                        <p:tgtEl>
                                          <p:spTgt spid="17"/>
                                        </p:tgtEl>
                                      </p:cBhvr>
                                    </p:cmd>
                                  </p:childTnLst>
                                </p:cTn>
                              </p:par>
                            </p:childTnLst>
                          </p:cTn>
                        </p:par>
                      </p:childTnLst>
                    </p:cTn>
                  </p:par>
                </p:childTnLst>
              </p:cTn>
              <p:nextCondLst>
                <p:cond evt="onClick" delay="0">
                  <p:tgtEl>
                    <p:spTgt spid="17"/>
                  </p:tgtEl>
                </p:cond>
              </p:nextCondLst>
            </p:seq>
            <p:seq concurrent="1" nextAc="seek">
              <p:cTn id="45" restart="whenNotActive" fill="hold" evtFilter="cancelBubble" nodeType="interactiveSeq">
                <p:stCondLst>
                  <p:cond evt="onClick" delay="0">
                    <p:tgtEl>
                      <p:spTgt spid="18"/>
                    </p:tgtEl>
                  </p:cond>
                </p:stCondLst>
                <p:endSync evt="end" delay="0">
                  <p:rtn val="all"/>
                </p:endSync>
                <p:childTnLst>
                  <p:par>
                    <p:cTn id="46" fill="hold">
                      <p:stCondLst>
                        <p:cond delay="0"/>
                      </p:stCondLst>
                      <p:childTnLst>
                        <p:par>
                          <p:cTn id="47" fill="hold">
                            <p:stCondLst>
                              <p:cond delay="0"/>
                            </p:stCondLst>
                            <p:childTnLst>
                              <p:par>
                                <p:cTn id="48" presetID="2" presetClass="mediacall" presetSubtype="0" fill="hold" nodeType="clickEffect">
                                  <p:stCondLst>
                                    <p:cond delay="0"/>
                                  </p:stCondLst>
                                  <p:childTnLst>
                                    <p:cmd type="call" cmd="togglePause">
                                      <p:cBhvr>
                                        <p:cTn id="49" dur="1" fill="hold"/>
                                        <p:tgtEl>
                                          <p:spTgt spid="18"/>
                                        </p:tgtEl>
                                      </p:cBhvr>
                                    </p:cmd>
                                  </p:childTnLst>
                                </p:cTn>
                              </p:par>
                            </p:childTnLst>
                          </p:cTn>
                        </p:par>
                      </p:childTnLst>
                    </p:cTn>
                  </p:par>
                </p:childTnLst>
              </p:cTn>
              <p:nextCondLst>
                <p:cond evt="onClick" delay="0">
                  <p:tgtEl>
                    <p:spTgt spid="18"/>
                  </p:tgtEl>
                </p:cond>
              </p:nextCondLst>
            </p:seq>
            <p:seq concurrent="1" nextAc="seek">
              <p:cTn id="50" restart="whenNotActive" fill="hold" evtFilter="cancelBubble" nodeType="interactiveSeq">
                <p:stCondLst>
                  <p:cond evt="onClick" delay="0">
                    <p:tgtEl>
                      <p:spTgt spid="19"/>
                    </p:tgtEl>
                  </p:cond>
                </p:stCondLst>
                <p:endSync evt="end" delay="0">
                  <p:rtn val="all"/>
                </p:endSync>
                <p:childTnLst>
                  <p:par>
                    <p:cTn id="51" fill="hold">
                      <p:stCondLst>
                        <p:cond delay="0"/>
                      </p:stCondLst>
                      <p:childTnLst>
                        <p:par>
                          <p:cTn id="52" fill="hold">
                            <p:stCondLst>
                              <p:cond delay="0"/>
                            </p:stCondLst>
                            <p:childTnLst>
                              <p:par>
                                <p:cTn id="53" presetID="2" presetClass="mediacall" presetSubtype="0" fill="hold" nodeType="clickEffect">
                                  <p:stCondLst>
                                    <p:cond delay="0"/>
                                  </p:stCondLst>
                                  <p:childTnLst>
                                    <p:cmd type="call" cmd="togglePause">
                                      <p:cBhvr>
                                        <p:cTn id="54" dur="1" fill="hold"/>
                                        <p:tgtEl>
                                          <p:spTgt spid="19"/>
                                        </p:tgtEl>
                                      </p:cBhvr>
                                    </p:cmd>
                                  </p:childTnLst>
                                </p:cTn>
                              </p:par>
                            </p:childTnLst>
                          </p:cTn>
                        </p:par>
                      </p:childTnLst>
                    </p:cTn>
                  </p:par>
                </p:childTnLst>
              </p:cTn>
              <p:nextCondLst>
                <p:cond evt="onClick" delay="0">
                  <p:tgtEl>
                    <p:spTgt spid="19"/>
                  </p:tgtEl>
                </p:cond>
              </p:nextCondLst>
            </p:seq>
            <p:audio>
              <p:cMediaNode vol="80000">
                <p:cTn id="55" fill="hold" display="0">
                  <p:stCondLst>
                    <p:cond delay="indefinite"/>
                  </p:stCondLst>
                  <p:endCondLst>
                    <p:cond evt="onStopAudio" delay="0">
                      <p:tgtEl>
                        <p:sldTgt/>
                      </p:tgtEl>
                    </p:cond>
                  </p:endCondLst>
                </p:cTn>
                <p:tgtEl>
                  <p:spTgt spid="16"/>
                </p:tgtEl>
              </p:cMediaNode>
            </p:audio>
            <p:audio>
              <p:cMediaNode vol="80000">
                <p:cTn id="56" fill="hold" display="0">
                  <p:stCondLst>
                    <p:cond delay="indefinite"/>
                  </p:stCondLst>
                  <p:endCondLst>
                    <p:cond evt="onStopAudio" delay="0">
                      <p:tgtEl>
                        <p:sldTgt/>
                      </p:tgtEl>
                    </p:cond>
                  </p:endCondLst>
                </p:cTn>
                <p:tgtEl>
                  <p:spTgt spid="17"/>
                </p:tgtEl>
              </p:cMediaNode>
            </p:audio>
            <p:audio>
              <p:cMediaNode vol="80000">
                <p:cTn id="57" fill="hold" display="0">
                  <p:stCondLst>
                    <p:cond delay="indefinite"/>
                  </p:stCondLst>
                  <p:endCondLst>
                    <p:cond evt="onStopAudio" delay="0">
                      <p:tgtEl>
                        <p:sldTgt/>
                      </p:tgtEl>
                    </p:cond>
                  </p:endCondLst>
                </p:cTn>
                <p:tgtEl>
                  <p:spTgt spid="18"/>
                </p:tgtEl>
              </p:cMediaNode>
            </p:audio>
            <p:audio>
              <p:cMediaNode vol="80000">
                <p:cTn id="58" fill="hold" display="0">
                  <p:stCondLst>
                    <p:cond delay="indefinite"/>
                  </p:stCondLst>
                  <p:endCondLst>
                    <p:cond evt="onStopAudio" delay="0">
                      <p:tgtEl>
                        <p:sldTgt/>
                      </p:tgtEl>
                    </p:cond>
                  </p:endCondLst>
                </p:cTn>
                <p:tgtEl>
                  <p:spTgt spid="1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78"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279"/>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form?</a:t>
            </a:r>
            <a:endParaRPr lang="en-US" sz="2500" dirty="0"/>
          </a:p>
        </p:txBody>
      </p:sp>
      <p:pic>
        <p:nvPicPr>
          <p:cNvPr id="6" name="brP_280"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281"/>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form goes in the gap? Colour it!</a:t>
            </a:r>
            <a:endParaRPr lang="en-US" sz="1250" dirty="0"/>
          </a:p>
        </p:txBody>
      </p:sp>
      <p:sp>
        <p:nvSpPr>
          <p:cNvPr id="8" name="insIT_28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forma va nello spazio? Coloralo!</a:t>
            </a:r>
            <a:endParaRPr lang="en-US" sz="950" dirty="0"/>
          </a:p>
        </p:txBody>
      </p:sp>
      <p:sp>
        <p:nvSpPr>
          <p:cNvPr id="9" name="cmd_283"/>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cmd_284"/>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28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28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3" name="logo_28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8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Grammar · practice   ·   📖 Grammar photocopiable 4B (b 2, 3, 5, 7, 9) · audio 4.13</a:t>
            </a:r>
            <a:endParaRPr lang="en-US" sz="800" dirty="0"/>
          </a:p>
        </p:txBody>
      </p:sp>
      <p:sp>
        <p:nvSpPr>
          <p:cNvPr id="15" name="cd_289"/>
          <p:cNvSpPr/>
          <p:nvPr/>
        </p:nvSpPr>
        <p:spPr>
          <a:xfrm>
            <a:off x="320040" y="1417320"/>
            <a:ext cx="2697480" cy="2295144"/>
          </a:xfrm>
          <a:prstGeom prst="roundRect">
            <a:avLst>
              <a:gd name="adj" fmla="val 5578"/>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29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29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forms</a:t>
            </a:r>
            <a:endParaRPr lang="en-US" sz="1300" dirty="0"/>
          </a:p>
        </p:txBody>
      </p:sp>
      <p:sp>
        <p:nvSpPr>
          <p:cNvPr id="18" name="il_292"/>
          <p:cNvSpPr/>
          <p:nvPr/>
        </p:nvSpPr>
        <p:spPr>
          <a:xfrm>
            <a:off x="886968" y="1892808"/>
            <a:ext cx="2039112" cy="1746504"/>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9" name="lg_293"/>
          <p:cNvSpPr/>
          <p:nvPr/>
        </p:nvSpPr>
        <p:spPr>
          <a:xfrm>
            <a:off x="457200" y="1984248"/>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can / can't</a:t>
            </a:r>
            <a:endParaRPr lang="en-US" sz="1050" dirty="0"/>
          </a:p>
        </p:txBody>
      </p:sp>
      <p:sp>
        <p:nvSpPr>
          <p:cNvPr id="20" name="lg_294"/>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could / couldn't</a:t>
            </a:r>
            <a:endParaRPr lang="en-US" sz="1050" dirty="0"/>
          </a:p>
        </p:txBody>
      </p:sp>
      <p:sp>
        <p:nvSpPr>
          <p:cNvPr id="21" name="lg_295"/>
          <p:cNvSpPr/>
          <p:nvPr/>
        </p:nvSpPr>
        <p:spPr>
          <a:xfrm>
            <a:off x="457200" y="2368296"/>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be able to</a:t>
            </a:r>
            <a:endParaRPr lang="en-US" sz="1050" dirty="0"/>
          </a:p>
        </p:txBody>
      </p:sp>
      <p:sp>
        <p:nvSpPr>
          <p:cNvPr id="22" name="lg_296"/>
          <p:cNvSpPr/>
          <p:nvPr/>
        </p:nvSpPr>
        <p:spPr>
          <a:xfrm>
            <a:off x="1719072"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being able to</a:t>
            </a:r>
            <a:endParaRPr lang="en-US" sz="1050" dirty="0"/>
          </a:p>
        </p:txBody>
      </p:sp>
      <p:sp>
        <p:nvSpPr>
          <p:cNvPr id="23" name="lg_297"/>
          <p:cNvSpPr/>
          <p:nvPr/>
        </p:nvSpPr>
        <p:spPr>
          <a:xfrm>
            <a:off x="457200" y="2752344"/>
            <a:ext cx="1188720" cy="310896"/>
          </a:xfrm>
          <a:prstGeom prst="roundRect">
            <a:avLst>
              <a:gd name="adj" fmla="val 50000"/>
            </a:avLst>
          </a:prstGeom>
          <a:solidFill>
            <a:srgbClr val="C8E6F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been able to</a:t>
            </a:r>
            <a:endParaRPr lang="en-US" sz="1050" dirty="0"/>
          </a:p>
        </p:txBody>
      </p:sp>
      <p:sp>
        <p:nvSpPr>
          <p:cNvPr id="24" name="sq_298"/>
          <p:cNvSpPr/>
          <p:nvPr/>
        </p:nvSpPr>
        <p:spPr>
          <a:xfrm>
            <a:off x="3246120" y="1417320"/>
            <a:ext cx="3840480" cy="475488"/>
          </a:xfrm>
          <a:prstGeom prst="roundRect">
            <a:avLst>
              <a:gd name="adj" fmla="val 1923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Jenny ___ come tonight. She's ill.</a:t>
            </a:r>
            <a:endParaRPr lang="en-US" sz="1200" dirty="0"/>
          </a:p>
        </p:txBody>
      </p:sp>
      <p:sp>
        <p:nvSpPr>
          <p:cNvPr id="25" name="R1_tag299"/>
          <p:cNvSpPr/>
          <p:nvPr/>
        </p:nvSpPr>
        <p:spPr>
          <a:xfrm>
            <a:off x="7178040" y="1417320"/>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can / can't</a:t>
            </a:r>
            <a:endParaRPr lang="en-US" sz="1150" dirty="0"/>
          </a:p>
        </p:txBody>
      </p:sp>
      <p:sp>
        <p:nvSpPr>
          <p:cNvPr id="26" name="sq_300"/>
          <p:cNvSpPr/>
          <p:nvPr/>
        </p:nvSpPr>
        <p:spPr>
          <a:xfrm>
            <a:off x="3246120" y="1956816"/>
            <a:ext cx="3840480" cy="475488"/>
          </a:xfrm>
          <a:prstGeom prst="roundRect">
            <a:avLst>
              <a:gd name="adj" fmla="val 1923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Masha called me because she ___ remember how to get to my house.</a:t>
            </a:r>
            <a:endParaRPr lang="en-US" sz="1200" dirty="0"/>
          </a:p>
        </p:txBody>
      </p:sp>
      <p:sp>
        <p:nvSpPr>
          <p:cNvPr id="27" name="R2_tag301"/>
          <p:cNvSpPr/>
          <p:nvPr/>
        </p:nvSpPr>
        <p:spPr>
          <a:xfrm>
            <a:off x="7178040" y="1956816"/>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could / couldn't</a:t>
            </a:r>
            <a:endParaRPr lang="en-US" sz="1150" dirty="0"/>
          </a:p>
        </p:txBody>
      </p:sp>
      <p:sp>
        <p:nvSpPr>
          <p:cNvPr id="28" name="sq_302"/>
          <p:cNvSpPr/>
          <p:nvPr/>
        </p:nvSpPr>
        <p:spPr>
          <a:xfrm>
            <a:off x="3246120" y="2496312"/>
            <a:ext cx="3840480" cy="475488"/>
          </a:xfrm>
          <a:prstGeom prst="roundRect">
            <a:avLst>
              <a:gd name="adj" fmla="val 19231"/>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Simon isn't going to ___ finish the report by the end of the day.</a:t>
            </a:r>
            <a:endParaRPr lang="en-US" sz="1200" dirty="0"/>
          </a:p>
        </p:txBody>
      </p:sp>
      <p:sp>
        <p:nvSpPr>
          <p:cNvPr id="29" name="R3_tag303"/>
          <p:cNvSpPr/>
          <p:nvPr/>
        </p:nvSpPr>
        <p:spPr>
          <a:xfrm>
            <a:off x="7178040" y="2496312"/>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 able to</a:t>
            </a:r>
            <a:endParaRPr lang="en-US" sz="1150" dirty="0"/>
          </a:p>
        </p:txBody>
      </p:sp>
      <p:sp>
        <p:nvSpPr>
          <p:cNvPr id="30" name="sq_304"/>
          <p:cNvSpPr/>
          <p:nvPr/>
        </p:nvSpPr>
        <p:spPr>
          <a:xfrm>
            <a:off x="3246120" y="3035808"/>
            <a:ext cx="3840480" cy="475488"/>
          </a:xfrm>
          <a:prstGeom prst="roundRect">
            <a:avLst>
              <a:gd name="adj" fmla="val 19231"/>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I haven't ___ speak to Harry for over three weeks.</a:t>
            </a:r>
            <a:endParaRPr lang="en-US" sz="1200" dirty="0"/>
          </a:p>
        </p:txBody>
      </p:sp>
      <p:sp>
        <p:nvSpPr>
          <p:cNvPr id="31" name="R4_tag305"/>
          <p:cNvSpPr/>
          <p:nvPr/>
        </p:nvSpPr>
        <p:spPr>
          <a:xfrm>
            <a:off x="7178040" y="3035808"/>
            <a:ext cx="1691640" cy="475488"/>
          </a:xfrm>
          <a:prstGeom prst="roundRect">
            <a:avLst>
              <a:gd name="adj" fmla="val 48077"/>
            </a:avLst>
          </a:prstGeom>
          <a:solidFill>
            <a:srgbClr val="C8E6F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been able to</a:t>
            </a:r>
            <a:endParaRPr lang="en-US" sz="1150" dirty="0"/>
          </a:p>
        </p:txBody>
      </p:sp>
      <p:sp>
        <p:nvSpPr>
          <p:cNvPr id="32" name="sq_306"/>
          <p:cNvSpPr/>
          <p:nvPr/>
        </p:nvSpPr>
        <p:spPr>
          <a:xfrm>
            <a:off x="3246120" y="3575304"/>
            <a:ext cx="3840480" cy="475488"/>
          </a:xfrm>
          <a:prstGeom prst="roundRect">
            <a:avLst>
              <a:gd name="adj" fmla="val 1923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Miriam hates not ___ play chess as well as Luke.</a:t>
            </a:r>
            <a:endParaRPr lang="en-US" sz="1200" dirty="0"/>
          </a:p>
        </p:txBody>
      </p:sp>
      <p:sp>
        <p:nvSpPr>
          <p:cNvPr id="33" name="R5_tag307"/>
          <p:cNvSpPr/>
          <p:nvPr/>
        </p:nvSpPr>
        <p:spPr>
          <a:xfrm>
            <a:off x="7178040" y="3575304"/>
            <a:ext cx="1691640" cy="475488"/>
          </a:xfrm>
          <a:prstGeom prst="roundRect">
            <a:avLst>
              <a:gd name="adj" fmla="val 48077"/>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being able to</a:t>
            </a:r>
            <a:endParaRPr lang="en-US" sz="1150" dirty="0"/>
          </a:p>
        </p:txBody>
      </p:sp>
      <p:sp>
        <p:nvSpPr>
          <p:cNvPr id="34" name="sq_308"/>
          <p:cNvSpPr/>
          <p:nvPr/>
        </p:nvSpPr>
        <p:spPr>
          <a:xfrm>
            <a:off x="3246120" y="4114800"/>
            <a:ext cx="3840480" cy="475488"/>
          </a:xfrm>
          <a:prstGeom prst="roundRect">
            <a:avLst>
              <a:gd name="adj" fmla="val 1923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I'm afraid I won't ___ go away this weekend. I'm too busy.</a:t>
            </a:r>
            <a:endParaRPr lang="en-US" sz="1200" dirty="0"/>
          </a:p>
        </p:txBody>
      </p:sp>
      <p:sp>
        <p:nvSpPr>
          <p:cNvPr id="35" name="R6_tag309"/>
          <p:cNvSpPr/>
          <p:nvPr/>
        </p:nvSpPr>
        <p:spPr>
          <a:xfrm>
            <a:off x="7178040" y="4114800"/>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 able to</a:t>
            </a:r>
            <a:endParaRPr lang="en-US" sz="1150" dirty="0"/>
          </a:p>
        </p:txBody>
      </p:sp>
      <p:sp>
        <p:nvSpPr>
          <p:cNvPr id="36" name="pf_310"/>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37" name="phx_311"/>
          <p:cNvSpPr/>
          <p:nvPr/>
        </p:nvSpPr>
        <p:spPr>
          <a:xfrm>
            <a:off x="457200" y="3749040"/>
            <a:ext cx="2423160" cy="9601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4b1-child-drawing.jpg</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13"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314"/>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Beat the clock!</a:t>
            </a:r>
            <a:endParaRPr lang="en-US" sz="2500" dirty="0"/>
          </a:p>
        </p:txBody>
      </p:sp>
      <p:pic>
        <p:nvPicPr>
          <p:cNvPr id="6" name="brP_315"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316"/>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the sentence. Beat the clock!</a:t>
            </a:r>
            <a:endParaRPr lang="en-US" sz="1250" dirty="0"/>
          </a:p>
        </p:txBody>
      </p:sp>
      <p:sp>
        <p:nvSpPr>
          <p:cNvPr id="8" name="insIT_31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la frase. Batti il tempo!</a:t>
            </a:r>
            <a:endParaRPr lang="en-US" sz="950" dirty="0"/>
          </a:p>
        </p:txBody>
      </p:sp>
      <p:sp>
        <p:nvSpPr>
          <p:cNvPr id="9" name="cmd_31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319"/>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32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32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32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2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Grammar game   ·   📖 Grammar Bank 4B p.139 · b 1–5 (b 6–10 = homework)</a:t>
            </a:r>
            <a:endParaRPr lang="en-US" sz="800" dirty="0"/>
          </a:p>
        </p:txBody>
      </p:sp>
      <p:sp>
        <p:nvSpPr>
          <p:cNvPr id="15" name="cd_324"/>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32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32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327"/>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Read the sentence. 15 seconds!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Leggi la frase. 15 secondi!</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Teams: write the missing words.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Squadre: scrivete le parole mancanti.</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Right form = 1 point.</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Forma giusta = 1 punto.</a:t>
            </a:r>
            <a:endParaRPr lang="en-US" sz="1000" dirty="0"/>
          </a:p>
        </p:txBody>
      </p:sp>
      <p:sp>
        <p:nvSpPr>
          <p:cNvPr id="19" name="st_328"/>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20" name="bd_329"/>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330"/>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My mobile has been off all morning, so I haven't ___ talk to her yet.</a:t>
            </a:r>
            <a:endParaRPr lang="en-US" sz="950" dirty="0"/>
          </a:p>
        </p:txBody>
      </p:sp>
      <p:sp>
        <p:nvSpPr>
          <p:cNvPr id="22" name="R1_chip331"/>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been able to</a:t>
            </a:r>
            <a:endParaRPr lang="en-US" sz="1100" dirty="0"/>
          </a:p>
        </p:txBody>
      </p:sp>
      <p:sp>
        <p:nvSpPr>
          <p:cNvPr id="23" name="bd_332"/>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333"/>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like ___ have a conversation without shouting.</a:t>
            </a:r>
            <a:endParaRPr lang="en-US" sz="1100" dirty="0"/>
          </a:p>
        </p:txBody>
      </p:sp>
      <p:sp>
        <p:nvSpPr>
          <p:cNvPr id="25" name="R2_chip334"/>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being able to / to be able to</a:t>
            </a:r>
            <a:endParaRPr lang="en-US" sz="1100" dirty="0"/>
          </a:p>
        </p:txBody>
      </p:sp>
      <p:sp>
        <p:nvSpPr>
          <p:cNvPr id="26" name="bd_335"/>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336"/>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___ leave home when I get a job.</a:t>
            </a:r>
            <a:endParaRPr lang="en-US" sz="1100" dirty="0"/>
          </a:p>
        </p:txBody>
      </p:sp>
      <p:sp>
        <p:nvSpPr>
          <p:cNvPr id="28" name="R3_chip337"/>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will / 'll be able to</a:t>
            </a:r>
            <a:endParaRPr lang="en-US" sz="1100" dirty="0"/>
          </a:p>
        </p:txBody>
      </p:sp>
      <p:sp>
        <p:nvSpPr>
          <p:cNvPr id="29" name="bd_338"/>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339"/>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___ you ___ come to the party? (future)</a:t>
            </a:r>
            <a:endParaRPr lang="en-US" sz="1100" dirty="0"/>
          </a:p>
        </p:txBody>
      </p:sp>
      <p:sp>
        <p:nvSpPr>
          <p:cNvPr id="31" name="R4_chip340"/>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Will … be able to</a:t>
            </a:r>
            <a:endParaRPr lang="en-US" sz="1100" dirty="0"/>
          </a:p>
        </p:txBody>
      </p:sp>
      <p:sp>
        <p:nvSpPr>
          <p:cNvPr id="32" name="bd_341"/>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342"/>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 need ___ swim before you can go in a canoe.</a:t>
            </a:r>
            <a:endParaRPr lang="en-US" sz="1100" dirty="0"/>
          </a:p>
        </p:txBody>
      </p:sp>
      <p:sp>
        <p:nvSpPr>
          <p:cNvPr id="34" name="R5_chip343"/>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to be able to</a:t>
            </a:r>
            <a:endParaRPr lang="en-US" sz="1100" dirty="0"/>
          </a:p>
        </p:txBody>
      </p:sp>
      <p:sp>
        <p:nvSpPr>
          <p:cNvPr id="35" name="bd_344"/>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345"/>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When I was a child, I ___ draw really well.</a:t>
            </a:r>
            <a:endParaRPr lang="en-US" sz="1100" dirty="0"/>
          </a:p>
        </p:txBody>
      </p:sp>
      <p:sp>
        <p:nvSpPr>
          <p:cNvPr id="37" name="R6_chip346"/>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could</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7"/>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48"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49"/>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Hear the BIG words</a:t>
            </a:r>
            <a:endParaRPr lang="en-US" sz="2500" dirty="0"/>
          </a:p>
        </p:txBody>
      </p:sp>
      <p:pic>
        <p:nvPicPr>
          <p:cNvPr id="6" name="brP_350"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351"/>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Write only the BIG words.</a:t>
            </a:r>
            <a:endParaRPr lang="en-US" sz="1250" dirty="0"/>
          </a:p>
        </p:txBody>
      </p:sp>
      <p:sp>
        <p:nvSpPr>
          <p:cNvPr id="8" name="insIT_35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Scrivi solo le parole forti.</a:t>
            </a:r>
            <a:endParaRPr lang="en-US" sz="950" dirty="0"/>
          </a:p>
        </p:txBody>
      </p:sp>
      <p:sp>
        <p:nvSpPr>
          <p:cNvPr id="9" name="cmd_35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54"/>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35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35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Drilling</a:t>
            </a:r>
            <a:endParaRPr lang="en-US" sz="850" dirty="0"/>
          </a:p>
        </p:txBody>
      </p:sp>
      <p:pic>
        <p:nvPicPr>
          <p:cNvPr id="13" name="logo_35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5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Pronunciation · sentence stress   ·   📖 SB p.41 · 2a, 2b, 2c · audio 4.15</a:t>
            </a:r>
            <a:endParaRPr lang="en-US" sz="800" dirty="0"/>
          </a:p>
        </p:txBody>
      </p:sp>
      <p:sp>
        <p:nvSpPr>
          <p:cNvPr id="15" name="ap_359"/>
          <p:cNvSpPr/>
          <p:nvPr/>
        </p:nvSpPr>
        <p:spPr>
          <a:xfrm>
            <a:off x="365760" y="1417320"/>
            <a:ext cx="233172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4.15  ·  pause after each sentence</a:t>
            </a:r>
            <a:endParaRPr lang="en-US" sz="1100" dirty="0"/>
          </a:p>
        </p:txBody>
      </p:sp>
      <p:sp>
        <p:nvSpPr>
          <p:cNvPr id="16" name="ah_360"/>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cd_361"/>
          <p:cNvSpPr/>
          <p:nvPr/>
        </p:nvSpPr>
        <p:spPr>
          <a:xfrm>
            <a:off x="320040" y="2011680"/>
            <a:ext cx="2743200" cy="1463040"/>
          </a:xfrm>
          <a:prstGeom prst="roundRect">
            <a:avLst>
              <a:gd name="adj" fmla="val 8750"/>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20" name="ii_362"/>
          <p:cNvSpPr/>
          <p:nvPr/>
        </p:nvSpPr>
        <p:spPr>
          <a:xfrm>
            <a:off x="411480" y="20848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363"/>
          <p:cNvSpPr/>
          <p:nvPr/>
        </p:nvSpPr>
        <p:spPr>
          <a:xfrm>
            <a:off x="886968" y="2103120"/>
            <a:ext cx="2103120" cy="365760"/>
          </a:xfrm>
          <a:prstGeom prst="rect">
            <a:avLst/>
          </a:prstGeom>
          <a:noFill/>
          <a:ln/>
        </p:spPr>
        <p:txBody>
          <a:bodyPr wrap="square" lIns="0" tIns="0" rIns="0" bIns="0" rtlCol="0" anchor="ctr"/>
          <a:lstStyle/>
          <a:p>
            <a:pP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Big words = STRESSED</a:t>
            </a:r>
            <a:endParaRPr lang="en-US" sz="1250" dirty="0"/>
          </a:p>
        </p:txBody>
      </p:sp>
      <p:sp>
        <p:nvSpPr>
          <p:cNvPr id="22" name="il_364"/>
          <p:cNvSpPr/>
          <p:nvPr/>
        </p:nvSpPr>
        <p:spPr>
          <a:xfrm>
            <a:off x="886968" y="2487168"/>
            <a:ext cx="208483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never · able · dance = strong</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to · be · been = small, fast</a:t>
            </a:r>
            <a:endParaRPr lang="en-US" sz="1050" dirty="0"/>
          </a:p>
        </p:txBody>
      </p:sp>
      <p:sp>
        <p:nvSpPr>
          <p:cNvPr id="23" name="pf_365"/>
          <p:cNvSpPr/>
          <p:nvPr/>
        </p:nvSpPr>
        <p:spPr>
          <a:xfrm rot="-120000">
            <a:off x="777240" y="3611880"/>
            <a:ext cx="182880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4" name="phx_366"/>
          <p:cNvSpPr/>
          <p:nvPr/>
        </p:nvSpPr>
        <p:spPr>
          <a:xfrm>
            <a:off x="822960" y="3657600"/>
            <a:ext cx="173736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4b1-salsa.jpg</a:t>
            </a:r>
            <a:endParaRPr lang="en-US" sz="900" dirty="0"/>
          </a:p>
        </p:txBody>
      </p:sp>
      <p:sp>
        <p:nvSpPr>
          <p:cNvPr id="25" name="bd_367"/>
          <p:cNvSpPr/>
          <p:nvPr/>
        </p:nvSpPr>
        <p:spPr>
          <a:xfrm>
            <a:off x="3291840" y="144475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6" name="R1_sw368"/>
          <p:cNvSpPr/>
          <p:nvPr/>
        </p:nvSpPr>
        <p:spPr>
          <a:xfrm>
            <a:off x="3749040"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never</a:t>
            </a:r>
            <a:endParaRPr lang="en-US" sz="1150" dirty="0"/>
          </a:p>
        </p:txBody>
      </p:sp>
      <p:sp>
        <p:nvSpPr>
          <p:cNvPr id="27" name="R1_sw369"/>
          <p:cNvSpPr/>
          <p:nvPr/>
        </p:nvSpPr>
        <p:spPr>
          <a:xfrm>
            <a:off x="4773168"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able</a:t>
            </a:r>
            <a:endParaRPr lang="en-US" sz="1150" dirty="0"/>
          </a:p>
        </p:txBody>
      </p:sp>
      <p:sp>
        <p:nvSpPr>
          <p:cNvPr id="28" name="R1_sw370"/>
          <p:cNvSpPr/>
          <p:nvPr/>
        </p:nvSpPr>
        <p:spPr>
          <a:xfrm>
            <a:off x="5797296"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dance</a:t>
            </a:r>
            <a:endParaRPr lang="en-US" sz="1150" dirty="0"/>
          </a:p>
        </p:txBody>
      </p:sp>
      <p:sp>
        <p:nvSpPr>
          <p:cNvPr id="29" name="R2_sf371"/>
          <p:cNvSpPr/>
          <p:nvPr/>
        </p:nvSpPr>
        <p:spPr>
          <a:xfrm>
            <a:off x="3749040" y="181051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He's never been able to dance.</a:t>
            </a:r>
            <a:endParaRPr lang="en-US" sz="1100" dirty="0"/>
          </a:p>
        </p:txBody>
      </p:sp>
      <p:sp>
        <p:nvSpPr>
          <p:cNvPr id="30" name="bd_372"/>
          <p:cNvSpPr/>
          <p:nvPr/>
        </p:nvSpPr>
        <p:spPr>
          <a:xfrm>
            <a:off x="3291840" y="222199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31" name="R3_sw373"/>
          <p:cNvSpPr/>
          <p:nvPr/>
        </p:nvSpPr>
        <p:spPr>
          <a:xfrm>
            <a:off x="3749040" y="219456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won't</a:t>
            </a:r>
            <a:endParaRPr lang="en-US" sz="1150" dirty="0"/>
          </a:p>
        </p:txBody>
      </p:sp>
      <p:sp>
        <p:nvSpPr>
          <p:cNvPr id="32" name="R3_sw374"/>
          <p:cNvSpPr/>
          <p:nvPr/>
        </p:nvSpPr>
        <p:spPr>
          <a:xfrm>
            <a:off x="4773168" y="219456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able</a:t>
            </a:r>
            <a:endParaRPr lang="en-US" sz="1150" dirty="0"/>
          </a:p>
        </p:txBody>
      </p:sp>
      <p:sp>
        <p:nvSpPr>
          <p:cNvPr id="33" name="R3_sw375"/>
          <p:cNvSpPr/>
          <p:nvPr/>
        </p:nvSpPr>
        <p:spPr>
          <a:xfrm>
            <a:off x="5797296" y="219456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come</a:t>
            </a:r>
            <a:endParaRPr lang="en-US" sz="1150" dirty="0"/>
          </a:p>
        </p:txBody>
      </p:sp>
      <p:sp>
        <p:nvSpPr>
          <p:cNvPr id="34" name="R4_sf376"/>
          <p:cNvSpPr/>
          <p:nvPr/>
        </p:nvSpPr>
        <p:spPr>
          <a:xfrm>
            <a:off x="3749040" y="258775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We won't be able to come.</a:t>
            </a:r>
            <a:endParaRPr lang="en-US" sz="1100" dirty="0"/>
          </a:p>
        </p:txBody>
      </p:sp>
      <p:sp>
        <p:nvSpPr>
          <p:cNvPr id="35" name="bd_377"/>
          <p:cNvSpPr/>
          <p:nvPr/>
        </p:nvSpPr>
        <p:spPr>
          <a:xfrm>
            <a:off x="3291840" y="2999232"/>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36" name="R5_sw378"/>
          <p:cNvSpPr/>
          <p:nvPr/>
        </p:nvSpPr>
        <p:spPr>
          <a:xfrm>
            <a:off x="3749040" y="297180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love</a:t>
            </a:r>
            <a:endParaRPr lang="en-US" sz="1150" dirty="0"/>
          </a:p>
        </p:txBody>
      </p:sp>
      <p:sp>
        <p:nvSpPr>
          <p:cNvPr id="37" name="R5_sw379"/>
          <p:cNvSpPr/>
          <p:nvPr/>
        </p:nvSpPr>
        <p:spPr>
          <a:xfrm>
            <a:off x="4773168" y="297180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able</a:t>
            </a:r>
            <a:endParaRPr lang="en-US" sz="1150" dirty="0"/>
          </a:p>
        </p:txBody>
      </p:sp>
      <p:sp>
        <p:nvSpPr>
          <p:cNvPr id="38" name="R5_sw380"/>
          <p:cNvSpPr/>
          <p:nvPr/>
        </p:nvSpPr>
        <p:spPr>
          <a:xfrm>
            <a:off x="5797296" y="297180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ski</a:t>
            </a:r>
            <a:endParaRPr lang="en-US" sz="1150" dirty="0"/>
          </a:p>
        </p:txBody>
      </p:sp>
      <p:sp>
        <p:nvSpPr>
          <p:cNvPr id="39" name="R6_sf381"/>
          <p:cNvSpPr/>
          <p:nvPr/>
        </p:nvSpPr>
        <p:spPr>
          <a:xfrm>
            <a:off x="3749040" y="336499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I'd love to be able to ski.</a:t>
            </a:r>
            <a:endParaRPr lang="en-US" sz="1100" dirty="0"/>
          </a:p>
        </p:txBody>
      </p:sp>
      <p:sp>
        <p:nvSpPr>
          <p:cNvPr id="40" name="bd_382"/>
          <p:cNvSpPr/>
          <p:nvPr/>
        </p:nvSpPr>
        <p:spPr>
          <a:xfrm>
            <a:off x="3291840" y="3776472"/>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41" name="R7_sw383"/>
          <p:cNvSpPr/>
          <p:nvPr/>
        </p:nvSpPr>
        <p:spPr>
          <a:xfrm>
            <a:off x="3749040" y="374904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hates</a:t>
            </a:r>
            <a:endParaRPr lang="en-US" sz="1150" dirty="0"/>
          </a:p>
        </p:txBody>
      </p:sp>
      <p:sp>
        <p:nvSpPr>
          <p:cNvPr id="42" name="R7_sw384"/>
          <p:cNvSpPr/>
          <p:nvPr/>
        </p:nvSpPr>
        <p:spPr>
          <a:xfrm>
            <a:off x="4773168" y="374904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able</a:t>
            </a:r>
            <a:endParaRPr lang="en-US" sz="1150" dirty="0"/>
          </a:p>
        </p:txBody>
      </p:sp>
      <p:sp>
        <p:nvSpPr>
          <p:cNvPr id="43" name="R7_sw385"/>
          <p:cNvSpPr/>
          <p:nvPr/>
        </p:nvSpPr>
        <p:spPr>
          <a:xfrm>
            <a:off x="5797296" y="374904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drive</a:t>
            </a:r>
            <a:endParaRPr lang="en-US" sz="1150" dirty="0"/>
          </a:p>
        </p:txBody>
      </p:sp>
      <p:sp>
        <p:nvSpPr>
          <p:cNvPr id="44" name="R8_sf386"/>
          <p:cNvSpPr/>
          <p:nvPr/>
        </p:nvSpPr>
        <p:spPr>
          <a:xfrm>
            <a:off x="3749040" y="414223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She hates not being able to drive.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400"/>
                                        <p:tgtEl>
                                          <p:spTgt spid="36"/>
                                        </p:tgtEl>
                                      </p:cBhvr>
                                    </p:animEffect>
                                  </p:childTnLst>
                                </p:cTn>
                              </p:par>
                              <p:par>
                                <p:cTn id="40" presetID="10" presetClass="entr" presetSubtype="0" fill="hold"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400"/>
                                        <p:tgtEl>
                                          <p:spTgt spid="37"/>
                                        </p:tgtEl>
                                      </p:cBhvr>
                                    </p:animEffect>
                                  </p:childTnLst>
                                </p:cTn>
                              </p:par>
                              <p:par>
                                <p:cTn id="43" presetID="10" presetClass="entr" presetSubtype="0" fill="hold"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400"/>
                                        <p:tgtEl>
                                          <p:spTgt spid="3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fade">
                                      <p:cBhvr>
                                        <p:cTn id="50" dur="400"/>
                                        <p:tgtEl>
                                          <p:spTgt spid="3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par>
                                <p:cTn id="56" presetID="10" presetClass="entr" presetSubtype="0" fill="hold"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par>
                                <p:cTn id="59" presetID="10" presetClass="entr" presetSubtype="0" fill="hold"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7" restart="whenNotActive" fill="hold" evtFilter="cancelBubble" nodeType="interactiveSeq">
                <p:stCondLst>
                  <p:cond evt="onClick" delay="0">
                    <p:tgtEl>
                      <p:spTgt spid="17"/>
                    </p:tgtEl>
                  </p:cond>
                </p:stCondLst>
                <p:endSync evt="end" delay="0">
                  <p:rtn val="all"/>
                </p:endSync>
                <p:childTnLst>
                  <p:par>
                    <p:cTn id="68" fill="hold">
                      <p:stCondLst>
                        <p:cond delay="0"/>
                      </p:stCondLst>
                      <p:childTnLst>
                        <p:par>
                          <p:cTn id="69" fill="hold">
                            <p:stCondLst>
                              <p:cond delay="0"/>
                            </p:stCondLst>
                            <p:childTnLst>
                              <p:par>
                                <p:cTn id="70" presetID="2" presetClass="mediacall" presetSubtype="0" fill="hold" nodeType="clickEffect">
                                  <p:stCondLst>
                                    <p:cond delay="0"/>
                                  </p:stCondLst>
                                  <p:childTnLst>
                                    <p:cmd type="call" cmd="togglePause">
                                      <p:cBhvr>
                                        <p:cTn id="71" dur="1" fill="hold"/>
                                        <p:tgtEl>
                                          <p:spTgt spid="17"/>
                                        </p:tgtEl>
                                      </p:cBhvr>
                                    </p:cmd>
                                  </p:childTnLst>
                                </p:cTn>
                              </p:par>
                            </p:childTnLst>
                          </p:cTn>
                        </p:par>
                      </p:childTnLst>
                    </p:cTn>
                  </p:par>
                </p:childTnLst>
              </p:cTn>
              <p:nextCondLst>
                <p:cond evt="onClick" delay="0">
                  <p:tgtEl>
                    <p:spTgt spid="17"/>
                  </p:tgtEl>
                </p:cond>
              </p:nextCondLst>
            </p:seq>
            <p:seq concurrent="1" nextAc="seek">
              <p:cTn id="72" restart="whenNotActive" fill="hold" evtFilter="cancelBubble" nodeType="interactiveSeq">
                <p:stCondLst>
                  <p:cond evt="onClick" delay="0">
                    <p:tgtEl>
                      <p:spTgt spid="18"/>
                    </p:tgtEl>
                  </p:cond>
                </p:stCondLst>
                <p:endSync evt="end" delay="0">
                  <p:rtn val="all"/>
                </p:endSync>
                <p:childTnLst>
                  <p:par>
                    <p:cTn id="73" fill="hold">
                      <p:stCondLst>
                        <p:cond delay="0"/>
                      </p:stCondLst>
                      <p:childTnLst>
                        <p:par>
                          <p:cTn id="74" fill="hold">
                            <p:stCondLst>
                              <p:cond delay="0"/>
                            </p:stCondLst>
                            <p:childTnLst>
                              <p:par>
                                <p:cTn id="75" presetID="2" presetClass="mediacall" presetSubtype="0" fill="hold" nodeType="clickEffect">
                                  <p:stCondLst>
                                    <p:cond delay="0"/>
                                  </p:stCondLst>
                                  <p:childTnLst>
                                    <p:cmd type="call" cmd="togglePause">
                                      <p:cBhvr>
                                        <p:cTn id="76" dur="1" fill="hold"/>
                                        <p:tgtEl>
                                          <p:spTgt spid="18"/>
                                        </p:tgtEl>
                                      </p:cBhvr>
                                    </p:cmd>
                                  </p:childTnLst>
                                </p:cTn>
                              </p:par>
                            </p:childTnLst>
                          </p:cTn>
                        </p:par>
                      </p:childTnLst>
                    </p:cTn>
                  </p:par>
                </p:childTnLst>
              </p:cTn>
              <p:nextCondLst>
                <p:cond evt="onClick" delay="0">
                  <p:tgtEl>
                    <p:spTgt spid="18"/>
                  </p:tgtEl>
                </p:cond>
              </p:nextCondLst>
            </p:seq>
            <p:audio>
              <p:cMediaNode vol="80000">
                <p:cTn id="77" fill="hold" display="0">
                  <p:stCondLst>
                    <p:cond delay="indefinite"/>
                  </p:stCondLst>
                  <p:endCondLst>
                    <p:cond evt="onStopAudio" delay="0">
                      <p:tgtEl>
                        <p:sldTgt/>
                      </p:tgtEl>
                    </p:cond>
                  </p:endCondLst>
                </p:cTn>
                <p:tgtEl>
                  <p:spTgt spid="17"/>
                </p:tgtEl>
              </p:cMediaNode>
            </p:audio>
            <p:audio>
              <p:cMediaNode vol="80000">
                <p:cTn id="78" fill="hold" display="0">
                  <p:stCondLst>
                    <p:cond delay="indefinite"/>
                  </p:stCondLst>
                  <p:endCondLst>
                    <p:cond evt="onStopAudio" delay="0">
                      <p:tgtEl>
                        <p:sldTgt/>
                      </p:tgtEl>
                    </p:cond>
                  </p:endCondLst>
                </p:cTn>
                <p:tgtEl>
                  <p:spTgt spid="1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88"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389"/>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Change it!</a:t>
            </a:r>
            <a:endParaRPr lang="en-US" sz="2500" dirty="0"/>
          </a:p>
        </p:txBody>
      </p:sp>
      <p:pic>
        <p:nvPicPr>
          <p:cNvPr id="6" name="brP_390"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391"/>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Hear the new verb. Say the new sentence!</a:t>
            </a:r>
            <a:endParaRPr lang="en-US" sz="1250" dirty="0"/>
          </a:p>
        </p:txBody>
      </p:sp>
      <p:sp>
        <p:nvSpPr>
          <p:cNvPr id="8" name="insIT_39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il nuovo verbo. Di' la nuova frase!</a:t>
            </a:r>
            <a:endParaRPr lang="en-US" sz="950" dirty="0"/>
          </a:p>
        </p:txBody>
      </p:sp>
      <p:sp>
        <p:nvSpPr>
          <p:cNvPr id="9" name="cmd_393"/>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394"/>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39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39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39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9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Pronunciation game · audio 4.16   ·   📖 SB p.41 · 2d · audio 4.16 (🎧 play it from the book audio or say the prompts yourself)</a:t>
            </a:r>
            <a:endParaRPr lang="en-US" sz="800" dirty="0"/>
          </a:p>
        </p:txBody>
      </p:sp>
      <p:sp>
        <p:nvSpPr>
          <p:cNvPr id="15" name="cd_399"/>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0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01"/>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402"/>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Listen: a sentence + a new verb.</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Ascolta: una frase + un nuovo verbo.</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Teams: say the NEW sentence.</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Squadre: dite la NUOVA frase.</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Same rhythm = 1 point.</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Stesso ritmo = 1 punto.</a:t>
            </a:r>
            <a:endParaRPr lang="en-US" sz="1000" dirty="0"/>
          </a:p>
        </p:txBody>
      </p:sp>
      <p:sp>
        <p:nvSpPr>
          <p:cNvPr id="19" name="ap_403"/>
          <p:cNvSpPr/>
          <p:nvPr/>
        </p:nvSpPr>
        <p:spPr>
          <a:xfrm>
            <a:off x="365760" y="3703320"/>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4.16</a:t>
            </a:r>
            <a:endParaRPr lang="en-US" sz="1100" dirty="0"/>
          </a:p>
        </p:txBody>
      </p:sp>
      <p:sp>
        <p:nvSpPr>
          <p:cNvPr id="20" name="ah_404"/>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21"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22"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23" name="bd_405"/>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4" name="gq_406"/>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I'd love to be able to ski. → ride a horse</a:t>
            </a:r>
            <a:endParaRPr lang="en-US" sz="1100" dirty="0"/>
          </a:p>
        </p:txBody>
      </p:sp>
      <p:sp>
        <p:nvSpPr>
          <p:cNvPr id="25" name="R1_chip407"/>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I'd love to be able to ride a horse.</a:t>
            </a:r>
            <a:endParaRPr lang="en-US" sz="1100" dirty="0"/>
          </a:p>
        </p:txBody>
      </p:sp>
      <p:sp>
        <p:nvSpPr>
          <p:cNvPr id="26" name="bd_408"/>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7" name="gq_409"/>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We won't be able to come. → park</a:t>
            </a:r>
            <a:endParaRPr lang="en-US" sz="1100" dirty="0"/>
          </a:p>
        </p:txBody>
      </p:sp>
      <p:sp>
        <p:nvSpPr>
          <p:cNvPr id="28" name="R2_chip410"/>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We won't be able to park.</a:t>
            </a:r>
            <a:endParaRPr lang="en-US" sz="1100" dirty="0"/>
          </a:p>
        </p:txBody>
      </p:sp>
      <p:sp>
        <p:nvSpPr>
          <p:cNvPr id="29" name="bd_411"/>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30" name="gq_412"/>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I've never been able to dance. → speak French</a:t>
            </a:r>
            <a:endParaRPr lang="en-US" sz="1100" dirty="0"/>
          </a:p>
        </p:txBody>
      </p:sp>
      <p:sp>
        <p:nvSpPr>
          <p:cNvPr id="31" name="R3_chip413"/>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I've never been able to speak French.</a:t>
            </a:r>
            <a:endParaRPr lang="en-US" sz="1100" dirty="0"/>
          </a:p>
        </p:txBody>
      </p:sp>
      <p:sp>
        <p:nvSpPr>
          <p:cNvPr id="32" name="bd_414"/>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3" name="gq_415"/>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She hates not being able to drive. → cook</a:t>
            </a:r>
            <a:endParaRPr lang="en-US" sz="1100" dirty="0"/>
          </a:p>
        </p:txBody>
      </p:sp>
      <p:sp>
        <p:nvSpPr>
          <p:cNvPr id="34" name="R4_chip416"/>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She hates not being able to cook.</a:t>
            </a:r>
            <a:endParaRPr lang="en-US" sz="1100" dirty="0"/>
          </a:p>
        </p:txBody>
      </p:sp>
      <p:sp>
        <p:nvSpPr>
          <p:cNvPr id="35" name="bd_417"/>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6" name="gq_418"/>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Will you be able to find it? → afford it</a:t>
            </a:r>
            <a:endParaRPr lang="en-US" sz="1100" dirty="0"/>
          </a:p>
        </p:txBody>
      </p:sp>
      <p:sp>
        <p:nvSpPr>
          <p:cNvPr id="37" name="R5_chip419"/>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Will you be able to afford it?</a:t>
            </a:r>
            <a:endParaRPr lang="en-US" sz="1100" dirty="0"/>
          </a:p>
        </p:txBody>
      </p:sp>
      <p:sp>
        <p:nvSpPr>
          <p:cNvPr id="38" name="bd_420"/>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9" name="gq_421"/>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They haven't been able to finish. → come</a:t>
            </a:r>
            <a:endParaRPr lang="en-US" sz="1100" dirty="0"/>
          </a:p>
        </p:txBody>
      </p:sp>
      <p:sp>
        <p:nvSpPr>
          <p:cNvPr id="40" name="R6_chip422"/>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They haven't been able to come.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1"/>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1"/>
                                        </p:tgtEl>
                                      </p:cBhvr>
                                    </p:cmd>
                                  </p:childTnLst>
                                </p:cTn>
                              </p:par>
                            </p:childTnLst>
                          </p:cTn>
                        </p:par>
                      </p:childTnLst>
                    </p:cTn>
                  </p:par>
                </p:childTnLst>
              </p:cTn>
              <p:nextCondLst>
                <p:cond evt="onClick" delay="0">
                  <p:tgtEl>
                    <p:spTgt spid="21"/>
                  </p:tgtEl>
                </p:cond>
              </p:nextCondLst>
            </p:seq>
            <p:seq concurrent="1" nextAc="seek">
              <p:cTn id="38" restart="whenNotActive" fill="hold" evtFilter="cancelBubble" nodeType="interactiveSeq">
                <p:stCondLst>
                  <p:cond evt="onClick" delay="0">
                    <p:tgtEl>
                      <p:spTgt spid="22"/>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2"/>
                                        </p:tgtEl>
                                      </p:cBhvr>
                                    </p:cmd>
                                  </p:childTnLst>
                                </p:cTn>
                              </p:par>
                            </p:childTnLst>
                          </p:cTn>
                        </p:par>
                      </p:childTnLst>
                    </p:cTn>
                  </p:par>
                </p:childTnLst>
              </p:cTn>
              <p:nextCondLst>
                <p:cond evt="onClick" delay="0">
                  <p:tgtEl>
                    <p:spTgt spid="22"/>
                  </p:tgtEl>
                </p:cond>
              </p:nextCondLst>
            </p:seq>
            <p:audio>
              <p:cMediaNode vol="80000">
                <p:cTn id="43" fill="hold" display="0">
                  <p:stCondLst>
                    <p:cond delay="indefinite"/>
                  </p:stCondLst>
                  <p:endCondLst>
                    <p:cond evt="onStopAudio" delay="0">
                      <p:tgtEl>
                        <p:sldTgt/>
                      </p:tgtEl>
                    </p:cond>
                  </p:endCondLst>
                </p:cTn>
                <p:tgtEl>
                  <p:spTgt spid="21"/>
                </p:tgtEl>
              </p:cMediaNode>
            </p:audio>
            <p:audio>
              <p:cMediaNode vol="80000">
                <p:cTn id="44" fill="hold" display="0">
                  <p:stCondLst>
                    <p:cond delay="indefinite"/>
                  </p:stCondLst>
                  <p:endCondLst>
                    <p:cond evt="onStopAudio" delay="0">
                      <p:tgtEl>
                        <p:sldTgt/>
                      </p:tgtEl>
                    </p:cond>
                  </p:endCondLst>
                </p:cTn>
                <p:tgtEl>
                  <p:spTgt spid="2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24"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425"/>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I'd love to be able to…</a:t>
            </a:r>
            <a:endParaRPr lang="en-US" sz="2500" dirty="0"/>
          </a:p>
        </p:txBody>
      </p:sp>
      <p:pic>
        <p:nvPicPr>
          <p:cNvPr id="6" name="brP_426"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427"/>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Choose 2 topics. Tell your partner why.</a:t>
            </a:r>
            <a:endParaRPr lang="en-US" sz="1250" dirty="0"/>
          </a:p>
        </p:txBody>
      </p:sp>
      <p:sp>
        <p:nvSpPr>
          <p:cNvPr id="8" name="insIT_42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Scegli 2 argomenti. Di' al compagno perché.</a:t>
            </a:r>
            <a:endParaRPr lang="en-US" sz="950" dirty="0"/>
          </a:p>
        </p:txBody>
      </p:sp>
      <p:sp>
        <p:nvSpPr>
          <p:cNvPr id="9" name="cmd_429"/>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43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43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43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3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Speaking · your skills   ·   📖 SB p.40 · 1e, 1f</a:t>
            </a:r>
            <a:endParaRPr lang="en-US" sz="800" dirty="0"/>
          </a:p>
        </p:txBody>
      </p:sp>
      <p:sp>
        <p:nvSpPr>
          <p:cNvPr id="14" name="pf_434"/>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435" descr="/home/claude/lls-course/v2/cache/spare_work_skills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436"/>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437"/>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438"/>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439"/>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I'd love to be able to…</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I've never been able to…</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Lucky you! · Why (not)?</a:t>
            </a:r>
            <a:endParaRPr lang="en-US" sz="1050" dirty="0"/>
          </a:p>
        </p:txBody>
      </p:sp>
      <p:sp>
        <p:nvSpPr>
          <p:cNvPr id="20" name="R1_qb440"/>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441"/>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Something you'd love to be able to do</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I'd love to be able to ski, but I don't live near the mountains.</a:t>
            </a:r>
            <a:endParaRPr lang="en-US" sz="1250" dirty="0"/>
          </a:p>
        </p:txBody>
      </p:sp>
      <p:sp>
        <p:nvSpPr>
          <p:cNvPr id="22" name="R2_qb442"/>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443"/>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Something you've tried to learn, but have never been able to do well</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I've never been able to swim well – I hate putting my face in the water!</a:t>
            </a:r>
            <a:endParaRPr lang="en-US" sz="1050" dirty="0"/>
          </a:p>
        </p:txBody>
      </p:sp>
      <p:sp>
        <p:nvSpPr>
          <p:cNvPr id="24" name="R3_qb444"/>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445"/>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Something you learned to do after a lot of effort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learned to ride a bike when I was eight. I fell off a lot!</a:t>
            </a:r>
            <a:endParaRPr lang="en-US" sz="1250" dirty="0"/>
          </a:p>
        </p:txBody>
      </p:sp>
      <p:sp>
        <p:nvSpPr>
          <p:cNvPr id="26" name="R4_qb446"/>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447"/>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Something you can do, but you'd like to be able to do better</a:t>
            </a:r>
            <a:endParaRPr lang="en-US" sz="1200" dirty="0"/>
          </a:p>
          <a:p>
            <a:pPr indent="0" marL="0">
              <a:buNone/>
            </a:pPr>
            <a:r>
              <a:rPr lang="en-US" sz="950" i="1" dirty="0">
                <a:solidFill>
                  <a:srgbClr val="5B6785"/>
                </a:solidFill>
                <a:latin typeface="Segoe UI" pitchFamily="34" charset="0"/>
                <a:ea typeface="Segoe UI" pitchFamily="34" charset="-122"/>
                <a:cs typeface="Segoe UI" pitchFamily="34" charset="-120"/>
              </a:rPr>
              <a:t>e.g. I can cook pasta, but I'd like to be able to make arancine.</a:t>
            </a:r>
            <a:endParaRPr lang="en-US" sz="1200" dirty="0"/>
          </a:p>
        </p:txBody>
      </p:sp>
      <p:sp>
        <p:nvSpPr>
          <p:cNvPr id="28" name="R5_qb448"/>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449"/>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Something all young people should be able to do before they leave school</a:t>
            </a:r>
            <a:endParaRPr lang="en-US" sz="950" dirty="0"/>
          </a:p>
          <a:p>
            <a:pPr indent="0" marL="0">
              <a:buNone/>
            </a:pPr>
            <a:r>
              <a:rPr lang="en-US" sz="750" i="1" dirty="0">
                <a:solidFill>
                  <a:srgbClr val="5B6785"/>
                </a:solidFill>
                <a:latin typeface="Segoe UI" pitchFamily="34" charset="0"/>
                <a:ea typeface="Segoe UI" pitchFamily="34" charset="-122"/>
                <a:cs typeface="Segoe UI" pitchFamily="34" charset="-120"/>
              </a:rPr>
              <a:t>e.g. I think everyone should be able to cook a simple meal.</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51"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452"/>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Guess the numbers</a:t>
            </a:r>
            <a:endParaRPr lang="en-US" sz="2400" dirty="0"/>
          </a:p>
        </p:txBody>
      </p:sp>
      <p:pic>
        <p:nvPicPr>
          <p:cNvPr id="6" name="brP_453"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454"/>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where the numbers go!</a:t>
            </a:r>
            <a:endParaRPr lang="en-US" sz="1250" dirty="0"/>
          </a:p>
        </p:txBody>
      </p:sp>
      <p:sp>
        <p:nvSpPr>
          <p:cNvPr id="8" name="insIT_45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dove vanno i numeri!</a:t>
            </a:r>
            <a:endParaRPr lang="en-US" sz="950" dirty="0"/>
          </a:p>
        </p:txBody>
      </p:sp>
      <p:sp>
        <p:nvSpPr>
          <p:cNvPr id="9" name="cmd_45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457"/>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45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459"/>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46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6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Reading · prediction   ·   📖 SB p.41 · 3a, 3b</a:t>
            </a:r>
            <a:endParaRPr lang="en-US" sz="800" dirty="0"/>
          </a:p>
        </p:txBody>
      </p:sp>
      <p:sp>
        <p:nvSpPr>
          <p:cNvPr id="15" name="cd_462"/>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463"/>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10,000 or 20 hours?</a:t>
            </a:r>
            <a:endParaRPr lang="en-US" sz="2800" dirty="0"/>
          </a:p>
        </p:txBody>
      </p:sp>
      <p:sp>
        <p:nvSpPr>
          <p:cNvPr id="17" name="nx_464"/>
          <p:cNvSpPr/>
          <p:nvPr/>
        </p:nvSpPr>
        <p:spPr>
          <a:xfrm>
            <a:off x="457200" y="2807208"/>
            <a:ext cx="4754880" cy="512064"/>
          </a:xfrm>
          <a:prstGeom prst="roundRect">
            <a:avLst>
              <a:gd name="adj" fmla="val 17857"/>
            </a:avLst>
          </a:prstGeom>
          <a:solidFill>
            <a:srgbClr val="E3F7EA"/>
          </a:solidFill>
          <a:ln>
            <a:solidFill>
              <a:srgbClr val="A8E5BE"/>
            </a:solidFill>
          </a:ln>
        </p:spPr>
        <p:txBody>
          <a:bodyPr wrap="square" lIns="127000" tIns="25400" rIns="127000" bIns="25400" rtlCol="0" anchor="ctr">
            <a:normAutofit/>
          </a:bodyPr>
          <a:lstStyle/>
          <a:p>
            <a:pPr indent="0" marL="0">
              <a:buNone/>
            </a:pPr>
            <a:r>
              <a:rPr lang="en-US" sz="850" dirty="0">
                <a:solidFill>
                  <a:srgbClr val="2EB872"/>
                </a:solidFill>
                <a:latin typeface="Segoe UI Black" pitchFamily="34" charset="0"/>
                <a:ea typeface="Segoe UI Black" pitchFamily="34" charset="-122"/>
                <a:cs typeface="Segoe UI Black" pitchFamily="34" charset="-120"/>
              </a:rPr>
              <a:t>➡ NEXT  </a:t>
            </a:r>
            <a:pPr indent="0" marL="0">
              <a:buNone/>
            </a:pPr>
            <a:r>
              <a:rPr lang="en-US" sz="1000" dirty="0">
                <a:solidFill>
                  <a:srgbClr val="1B2559"/>
                </a:solidFill>
                <a:latin typeface="Segoe UI Semibold" pitchFamily="34" charset="0"/>
                <a:ea typeface="Segoe UI Semibold" pitchFamily="34" charset="-122"/>
                <a:cs typeface="Segoe UI Semibold" pitchFamily="34" charset="-120"/>
              </a:rPr>
              <a:t>The two short texts on the next 2 slides have 5 gaps: 3 numbers from the bank and 2 more words. Guess first!</a:t>
            </a:r>
            <a:endParaRPr lang="en-US" sz="850" dirty="0"/>
          </a:p>
        </p:txBody>
      </p:sp>
      <p:sp>
        <p:nvSpPr>
          <p:cNvPr id="18" name="sf_465"/>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One writer says you need 10,000 hours of practice to be really good at something. Another says 20 hours is enough. A journalist decided to try it…</a:t>
            </a:r>
            <a:endParaRPr lang="en-US" sz="1150" dirty="0"/>
          </a:p>
        </p:txBody>
      </p:sp>
      <p:sp>
        <p:nvSpPr>
          <p:cNvPr id="19" name="nbl_466"/>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20" name="bd_467"/>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800" dirty="0">
                <a:solidFill>
                  <a:srgbClr val="FFFFFF"/>
                </a:solidFill>
                <a:latin typeface="Arial Rounded MT Bold" pitchFamily="34" charset="0"/>
                <a:ea typeface="Arial Rounded MT Bold" pitchFamily="34" charset="-122"/>
                <a:cs typeface="Arial Rounded MT Bold" pitchFamily="34" charset="-120"/>
              </a:rPr>
              <a:t>5</a:t>
            </a:r>
            <a:endParaRPr lang="en-US" sz="1800" dirty="0"/>
          </a:p>
        </p:txBody>
      </p:sp>
      <p:sp>
        <p:nvSpPr>
          <p:cNvPr id="21" name="bd_468"/>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800" dirty="0">
                <a:solidFill>
                  <a:srgbClr val="FFFFFF"/>
                </a:solidFill>
                <a:latin typeface="Arial Rounded MT Bold" pitchFamily="34" charset="0"/>
                <a:ea typeface="Arial Rounded MT Bold" pitchFamily="34" charset="-122"/>
                <a:cs typeface="Arial Rounded MT Bold" pitchFamily="34" charset="-120"/>
              </a:rPr>
              <a:t>7</a:t>
            </a:r>
            <a:endParaRPr lang="en-US" sz="1800" dirty="0"/>
          </a:p>
        </p:txBody>
      </p:sp>
      <p:sp>
        <p:nvSpPr>
          <p:cNvPr id="22" name="bd_469"/>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20</a:t>
            </a:r>
            <a:endParaRPr lang="en-US" sz="1400" dirty="0"/>
          </a:p>
        </p:txBody>
      </p:sp>
      <p:sp>
        <p:nvSpPr>
          <p:cNvPr id="23" name="bd_470"/>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10,000</a:t>
            </a:r>
            <a:endParaRPr lang="en-US" sz="800" dirty="0"/>
          </a:p>
        </p:txBody>
      </p:sp>
      <p:sp>
        <p:nvSpPr>
          <p:cNvPr id="24" name="pf_471"/>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5" name="phx_472"/>
          <p:cNvSpPr/>
          <p:nvPr/>
        </p:nvSpPr>
        <p:spPr>
          <a:xfrm>
            <a:off x="5623560" y="1280160"/>
            <a:ext cx="3154680" cy="32918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4b1-cover.jpg</a:t>
            </a:r>
            <a:endParaRPr lang="en-US" sz="9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74"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475"/>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Read and check 1/2</a:t>
            </a:r>
            <a:endParaRPr lang="en-US" sz="2500" dirty="0"/>
          </a:p>
        </p:txBody>
      </p:sp>
      <p:pic>
        <p:nvPicPr>
          <p:cNvPr id="6" name="brP_476"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477"/>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gaps 1–2. Then click and check.</a:t>
            </a:r>
            <a:endParaRPr lang="en-US" sz="1250" dirty="0"/>
          </a:p>
        </p:txBody>
      </p:sp>
      <p:sp>
        <p:nvSpPr>
          <p:cNvPr id="8" name="insIT_47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gli spazi 1–2. Poi clicca e controlla.</a:t>
            </a:r>
            <a:endParaRPr lang="en-US" sz="950" dirty="0"/>
          </a:p>
        </p:txBody>
      </p:sp>
      <p:sp>
        <p:nvSpPr>
          <p:cNvPr id="9" name="cmd_47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48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48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4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Reading · 10,000 hours?   ·   📖 SB p.41 · 3a</a:t>
            </a:r>
            <a:endParaRPr lang="en-US" sz="800" dirty="0"/>
          </a:p>
        </p:txBody>
      </p:sp>
      <p:sp>
        <p:nvSpPr>
          <p:cNvPr id="14" name="cd_48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48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Learn a new skill in 20 hours</a:t>
            </a:r>
            <a:endParaRPr lang="en-US" sz="1700" dirty="0"/>
          </a:p>
        </p:txBody>
      </p:sp>
      <p:sp>
        <p:nvSpPr>
          <p:cNvPr id="16" name="ln_48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It was Malcolm Gladwell, the popular writer on modern psychology, who popularized the idea that it takes </a:t>
            </a:r>
            <a:pPr indent="0" marL="0">
              <a:buNone/>
            </a:pPr>
            <a:r>
              <a:rPr lang="en-US" sz="1200" b="1" dirty="0">
                <a:solidFill>
                  <a:srgbClr val="2EB872"/>
                </a:solidFill>
                <a:latin typeface="Georgia" pitchFamily="34" charset="0"/>
                <a:ea typeface="Georgia" pitchFamily="34" charset="-122"/>
                <a:cs typeface="Georgia" pitchFamily="34" charset="-120"/>
              </a:rPr>
              <a:t> (1) _____ </a:t>
            </a:r>
            <a:pPr indent="0" marL="0">
              <a:buNone/>
            </a:pPr>
            <a:r>
              <a:rPr lang="en-US" sz="1200" dirty="0">
                <a:solidFill>
                  <a:srgbClr val="1B2559"/>
                </a:solidFill>
                <a:latin typeface="Georgia" pitchFamily="34" charset="0"/>
                <a:ea typeface="Georgia" pitchFamily="34" charset="-122"/>
                <a:cs typeface="Georgia" pitchFamily="34" charset="-120"/>
              </a:rPr>
              <a:t> hours of practice to really master a new skill, such as playing the piano.</a:t>
            </a:r>
            <a:endParaRPr lang="en-US" sz="1200" dirty="0"/>
          </a:p>
        </p:txBody>
      </p:sp>
      <p:sp>
        <p:nvSpPr>
          <p:cNvPr id="17" name="R1_lnA487"/>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It was Malcolm Gladwell, the popular writer on modern psychology, who popularized the idea that it takes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10,000</a:t>
            </a:r>
            <a:pPr indent="0" marL="0">
              <a:buNone/>
            </a:pPr>
            <a:r>
              <a:rPr lang="en-US" sz="1200" dirty="0">
                <a:solidFill>
                  <a:srgbClr val="1B2559"/>
                </a:solidFill>
                <a:latin typeface="Georgia" pitchFamily="34" charset="0"/>
                <a:ea typeface="Georgia" pitchFamily="34" charset="-122"/>
                <a:cs typeface="Georgia" pitchFamily="34" charset="-120"/>
              </a:rPr>
              <a:t> hours of practice to really master a new skill, such as playing the piano.</a:t>
            </a:r>
            <a:endParaRPr lang="en-US" sz="1200" dirty="0"/>
          </a:p>
        </p:txBody>
      </p:sp>
      <p:sp>
        <p:nvSpPr>
          <p:cNvPr id="18" name="ln_488"/>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But in this non-stop world, who has that kind of time?</a:t>
            </a:r>
            <a:endParaRPr lang="en-US" sz="1200" dirty="0"/>
          </a:p>
        </p:txBody>
      </p:sp>
      <p:sp>
        <p:nvSpPr>
          <p:cNvPr id="19" name="ln_489"/>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In his book The First 20 Hours, Josh Kaufman tells you how to learn any new skill really quickly.</a:t>
            </a:r>
            <a:endParaRPr lang="en-US" sz="1200" dirty="0"/>
          </a:p>
        </p:txBody>
      </p:sp>
      <p:sp>
        <p:nvSpPr>
          <p:cNvPr id="20" name="ln_490"/>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By completing just 20 hours of focused practice, you</a:t>
            </a:r>
            <a:pPr indent="0" marL="0">
              <a:buNone/>
            </a:pPr>
            <a:r>
              <a:rPr lang="en-US" sz="1200" b="1" dirty="0">
                <a:solidFill>
                  <a:srgbClr val="2EB872"/>
                </a:solidFill>
                <a:latin typeface="Georgia" pitchFamily="34" charset="0"/>
                <a:ea typeface="Georgia" pitchFamily="34" charset="-122"/>
                <a:cs typeface="Georgia" pitchFamily="34" charset="-120"/>
              </a:rPr>
              <a:t> (2) _____ </a:t>
            </a:r>
            <a:pPr indent="0" marL="0">
              <a:buNone/>
            </a:pPr>
            <a:r>
              <a:rPr lang="en-US" sz="1200" dirty="0">
                <a:solidFill>
                  <a:srgbClr val="1B2559"/>
                </a:solidFill>
                <a:latin typeface="Georgia" pitchFamily="34" charset="0"/>
                <a:ea typeface="Georgia" pitchFamily="34" charset="-122"/>
                <a:cs typeface="Georgia" pitchFamily="34" charset="-120"/>
              </a:rPr>
              <a:t> go from knowing absolutely nothing to performing well.</a:t>
            </a:r>
            <a:endParaRPr lang="en-US" sz="1200" dirty="0"/>
          </a:p>
        </p:txBody>
      </p:sp>
      <p:sp>
        <p:nvSpPr>
          <p:cNvPr id="21" name="R2_lnA491"/>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By completing just 20 hours of focused practice, you</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'll be able to</a:t>
            </a:r>
            <a:pPr indent="0" marL="0">
              <a:buNone/>
            </a:pPr>
            <a:r>
              <a:rPr lang="en-US" sz="1200" dirty="0">
                <a:solidFill>
                  <a:srgbClr val="1B2559"/>
                </a:solidFill>
                <a:latin typeface="Georgia" pitchFamily="34" charset="0"/>
                <a:ea typeface="Georgia" pitchFamily="34" charset="-122"/>
                <a:cs typeface="Georgia" pitchFamily="34" charset="-120"/>
              </a:rPr>
              <a:t> go from knowing absolutely nothing to performing well.</a:t>
            </a:r>
            <a:endParaRPr lang="en-US" sz="1200" dirty="0"/>
          </a:p>
        </p:txBody>
      </p:sp>
      <p:sp>
        <p:nvSpPr>
          <p:cNvPr id="22" name="ln_492"/>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But is it really possible? Matt Rudd, a Sunday Times journalist, decided to give it a try.</a:t>
            </a:r>
            <a:endParaRPr lang="en-US" sz="1200" dirty="0"/>
          </a:p>
        </p:txBody>
      </p:sp>
      <p:sp>
        <p:nvSpPr>
          <p:cNvPr id="23" name="pf_493"/>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4" name="phx_494"/>
          <p:cNvSpPr/>
          <p:nvPr/>
        </p:nvSpPr>
        <p:spPr>
          <a:xfrm>
            <a:off x="6355080" y="2240280"/>
            <a:ext cx="2468880" cy="14630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4b1-piano-lesson.jpg</a:t>
            </a:r>
            <a:endParaRPr lang="en-US" sz="900" dirty="0"/>
          </a:p>
        </p:txBody>
      </p:sp>
      <p:sp>
        <p:nvSpPr>
          <p:cNvPr id="25" name="cd_495"/>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6" name="ii_496"/>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497"/>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8" name="il_498"/>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master = diventare bravo in</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give it a try = provarci</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00"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01"/>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Read and check 2/2</a:t>
            </a:r>
            <a:endParaRPr lang="en-US" sz="2500" dirty="0"/>
          </a:p>
        </p:txBody>
      </p:sp>
      <p:pic>
        <p:nvPicPr>
          <p:cNvPr id="6" name="brP_502"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503"/>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gaps 3–5. Then click and check.</a:t>
            </a:r>
            <a:endParaRPr lang="en-US" sz="1250" dirty="0"/>
          </a:p>
        </p:txBody>
      </p:sp>
      <p:sp>
        <p:nvSpPr>
          <p:cNvPr id="8" name="insIT_50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gli spazi 3–5. Poi clicca e controlla.</a:t>
            </a:r>
            <a:endParaRPr lang="en-US" sz="950" dirty="0"/>
          </a:p>
        </p:txBody>
      </p:sp>
      <p:sp>
        <p:nvSpPr>
          <p:cNvPr id="9" name="cmd_50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50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50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50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0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Reading · Matt's first try   ·   📖 SB p.41 · 3b</a:t>
            </a:r>
            <a:endParaRPr lang="en-US" sz="800" dirty="0"/>
          </a:p>
        </p:txBody>
      </p:sp>
      <p:sp>
        <p:nvSpPr>
          <p:cNvPr id="14" name="cd_510"/>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511"/>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Matt Rudd learns the trumpet</a:t>
            </a:r>
            <a:endParaRPr lang="en-US" sz="1700" dirty="0"/>
          </a:p>
        </p:txBody>
      </p:sp>
      <p:sp>
        <p:nvSpPr>
          <p:cNvPr id="16" name="ln_512"/>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Georgia" pitchFamily="34" charset="0"/>
                <a:ea typeface="Georgia" pitchFamily="34" charset="-122"/>
                <a:cs typeface="Georgia" pitchFamily="34" charset="-120"/>
              </a:rPr>
              <a:t>I haven't played a musical instrument for years.</a:t>
            </a:r>
            <a:endParaRPr lang="en-US" sz="1350" dirty="0"/>
          </a:p>
        </p:txBody>
      </p:sp>
      <p:sp>
        <p:nvSpPr>
          <p:cNvPr id="17" name="ln_513"/>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350" b="1" dirty="0">
                <a:solidFill>
                  <a:srgbClr val="2EB872"/>
                </a:solidFill>
                <a:latin typeface="Georgia" pitchFamily="34" charset="0"/>
                <a:ea typeface="Georgia" pitchFamily="34" charset="-122"/>
                <a:cs typeface="Georgia" pitchFamily="34" charset="-120"/>
              </a:rPr>
              <a:t> (3) _____ </a:t>
            </a:r>
            <a:pPr indent="0" marL="0">
              <a:buNone/>
            </a:pPr>
            <a:r>
              <a:rPr lang="en-US" sz="1350" dirty="0">
                <a:solidFill>
                  <a:srgbClr val="1B2559"/>
                </a:solidFill>
                <a:latin typeface="Georgia" pitchFamily="34" charset="0"/>
                <a:ea typeface="Georgia" pitchFamily="34" charset="-122"/>
                <a:cs typeface="Georgia" pitchFamily="34" charset="-120"/>
              </a:rPr>
              <a:t> years ago, I got a trumpet for my birthday and I tried to learn it,</a:t>
            </a:r>
            <a:endParaRPr lang="en-US" sz="1350" dirty="0"/>
          </a:p>
        </p:txBody>
      </p:sp>
      <p:sp>
        <p:nvSpPr>
          <p:cNvPr id="18" name="R1_lnA514"/>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350" b="1" dirty="0">
                <a:solidFill>
                  <a:srgbClr val="1B2559"/>
                </a:solidFill>
                <a:highlight>
                  <a:srgbClr val="FFE066"/>
                </a:highlight>
                <a:latin typeface="Georgia" pitchFamily="34" charset="0"/>
                <a:ea typeface="Georgia" pitchFamily="34" charset="-122"/>
                <a:cs typeface="Georgia" pitchFamily="34" charset="-120"/>
              </a:rPr>
              <a:t>Five</a:t>
            </a:r>
            <a:pPr indent="0" marL="0">
              <a:buNone/>
            </a:pPr>
            <a:r>
              <a:rPr lang="en-US" sz="1350" dirty="0">
                <a:solidFill>
                  <a:srgbClr val="1B2559"/>
                </a:solidFill>
                <a:latin typeface="Georgia" pitchFamily="34" charset="0"/>
                <a:ea typeface="Georgia" pitchFamily="34" charset="-122"/>
                <a:cs typeface="Georgia" pitchFamily="34" charset="-120"/>
              </a:rPr>
              <a:t> years ago, I got a trumpet for my birthday and I tried to learn it,</a:t>
            </a:r>
            <a:endParaRPr lang="en-US" sz="1350" dirty="0"/>
          </a:p>
        </p:txBody>
      </p:sp>
      <p:sp>
        <p:nvSpPr>
          <p:cNvPr id="19" name="ln_515"/>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Georgia" pitchFamily="34" charset="0"/>
                <a:ea typeface="Georgia" pitchFamily="34" charset="-122"/>
                <a:cs typeface="Georgia" pitchFamily="34" charset="-120"/>
              </a:rPr>
              <a:t>but I gave up after </a:t>
            </a:r>
            <a:pPr indent="0" marL="0">
              <a:buNone/>
            </a:pPr>
            <a:r>
              <a:rPr lang="en-US" sz="1350" b="1" dirty="0">
                <a:solidFill>
                  <a:srgbClr val="2EB872"/>
                </a:solidFill>
                <a:latin typeface="Georgia" pitchFamily="34" charset="0"/>
                <a:ea typeface="Georgia" pitchFamily="34" charset="-122"/>
                <a:cs typeface="Georgia" pitchFamily="34" charset="-120"/>
              </a:rPr>
              <a:t> (4) _____ </a:t>
            </a:r>
            <a:pPr indent="0" marL="0">
              <a:buNone/>
            </a:pPr>
            <a:r>
              <a:rPr lang="en-US" sz="1350" dirty="0">
                <a:solidFill>
                  <a:srgbClr val="1B2559"/>
                </a:solidFill>
                <a:latin typeface="Georgia" pitchFamily="34" charset="0"/>
                <a:ea typeface="Georgia" pitchFamily="34" charset="-122"/>
                <a:cs typeface="Georgia" pitchFamily="34" charset="-120"/>
              </a:rPr>
              <a:t> minutes,</a:t>
            </a:r>
            <a:endParaRPr lang="en-US" sz="1350" dirty="0"/>
          </a:p>
        </p:txBody>
      </p:sp>
      <p:sp>
        <p:nvSpPr>
          <p:cNvPr id="20" name="R2_lnA516"/>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350" dirty="0">
                <a:solidFill>
                  <a:srgbClr val="1B2559"/>
                </a:solidFill>
                <a:latin typeface="Georgia" pitchFamily="34" charset="0"/>
                <a:ea typeface="Georgia" pitchFamily="34" charset="-122"/>
                <a:cs typeface="Georgia" pitchFamily="34" charset="-120"/>
              </a:rPr>
              <a:t>but I gave up after </a:t>
            </a:r>
            <a:pPr indent="0" marL="0">
              <a:buNone/>
            </a:pPr>
            <a:r>
              <a:rPr lang="en-US" sz="1350" b="1" dirty="0">
                <a:solidFill>
                  <a:srgbClr val="1B2559"/>
                </a:solidFill>
                <a:highlight>
                  <a:srgbClr val="FFE066"/>
                </a:highlight>
                <a:latin typeface="Georgia" pitchFamily="34" charset="0"/>
                <a:ea typeface="Georgia" pitchFamily="34" charset="-122"/>
                <a:cs typeface="Georgia" pitchFamily="34" charset="-120"/>
              </a:rPr>
              <a:t>seven</a:t>
            </a:r>
            <a:pPr indent="0" marL="0">
              <a:buNone/>
            </a:pPr>
            <a:r>
              <a:rPr lang="en-US" sz="1350" dirty="0">
                <a:solidFill>
                  <a:srgbClr val="1B2559"/>
                </a:solidFill>
                <a:latin typeface="Georgia" pitchFamily="34" charset="0"/>
                <a:ea typeface="Georgia" pitchFamily="34" charset="-122"/>
                <a:cs typeface="Georgia" pitchFamily="34" charset="-120"/>
              </a:rPr>
              <a:t> minutes,</a:t>
            </a:r>
            <a:endParaRPr lang="en-US" sz="1350" dirty="0"/>
          </a:p>
        </p:txBody>
      </p:sp>
      <p:sp>
        <p:nvSpPr>
          <p:cNvPr id="21" name="ln_517"/>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Georgia" pitchFamily="34" charset="0"/>
                <a:ea typeface="Georgia" pitchFamily="34" charset="-122"/>
                <a:cs typeface="Georgia" pitchFamily="34" charset="-120"/>
              </a:rPr>
              <a:t>and it ended up in the </a:t>
            </a:r>
            <a:pPr indent="0" marL="0">
              <a:buNone/>
            </a:pPr>
            <a:r>
              <a:rPr lang="en-US" sz="1350" b="1" dirty="0">
                <a:solidFill>
                  <a:srgbClr val="2EB872"/>
                </a:solidFill>
                <a:latin typeface="Georgia" pitchFamily="34" charset="0"/>
                <a:ea typeface="Georgia" pitchFamily="34" charset="-122"/>
                <a:cs typeface="Georgia" pitchFamily="34" charset="-120"/>
              </a:rPr>
              <a:t> (5) _____ </a:t>
            </a:r>
            <a:pPr indent="0" marL="0">
              <a:buNone/>
            </a:pPr>
            <a:r>
              <a:rPr lang="en-US" sz="1350" dirty="0">
                <a:solidFill>
                  <a:srgbClr val="1B2559"/>
                </a:solidFill>
                <a:latin typeface="Georgia" pitchFamily="34" charset="0"/>
                <a:ea typeface="Georgia" pitchFamily="34" charset="-122"/>
                <a:cs typeface="Georgia" pitchFamily="34" charset="-120"/>
              </a:rPr>
              <a:t>.</a:t>
            </a:r>
            <a:endParaRPr lang="en-US" sz="1350" dirty="0"/>
          </a:p>
        </p:txBody>
      </p:sp>
      <p:sp>
        <p:nvSpPr>
          <p:cNvPr id="22" name="R3_lnA518"/>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350" dirty="0">
                <a:solidFill>
                  <a:srgbClr val="1B2559"/>
                </a:solidFill>
                <a:latin typeface="Georgia" pitchFamily="34" charset="0"/>
                <a:ea typeface="Georgia" pitchFamily="34" charset="-122"/>
                <a:cs typeface="Georgia" pitchFamily="34" charset="-120"/>
              </a:rPr>
              <a:t>and it ended up in the </a:t>
            </a:r>
            <a:pPr indent="0" marL="0">
              <a:buNone/>
            </a:pPr>
            <a:r>
              <a:rPr lang="en-US" sz="1350" b="1" dirty="0">
                <a:solidFill>
                  <a:srgbClr val="1B2559"/>
                </a:solidFill>
                <a:highlight>
                  <a:srgbClr val="FFE066"/>
                </a:highlight>
                <a:latin typeface="Georgia" pitchFamily="34" charset="0"/>
                <a:ea typeface="Georgia" pitchFamily="34" charset="-122"/>
                <a:cs typeface="Georgia" pitchFamily="34" charset="-120"/>
              </a:rPr>
              <a:t>garage</a:t>
            </a:r>
            <a:pPr indent="0" marL="0">
              <a:buNone/>
            </a:pPr>
            <a:r>
              <a:rPr lang="en-US" sz="1350" dirty="0">
                <a:solidFill>
                  <a:srgbClr val="1B2559"/>
                </a:solidFill>
                <a:latin typeface="Georgia" pitchFamily="34" charset="0"/>
                <a:ea typeface="Georgia" pitchFamily="34" charset="-122"/>
                <a:cs typeface="Georgia" pitchFamily="34" charset="-120"/>
              </a:rPr>
              <a:t>.</a:t>
            </a:r>
            <a:endParaRPr lang="en-US" sz="1350" dirty="0"/>
          </a:p>
        </p:txBody>
      </p:sp>
      <p:sp>
        <p:nvSpPr>
          <p:cNvPr id="23" name="ln_519"/>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Georgia" pitchFamily="34" charset="0"/>
                <a:ea typeface="Georgia" pitchFamily="34" charset="-122"/>
                <a:cs typeface="Georgia" pitchFamily="34" charset="-120"/>
              </a:rPr>
              <a:t>So here I am, a beginner again.</a:t>
            </a:r>
            <a:endParaRPr lang="en-US" sz="1350" dirty="0"/>
          </a:p>
        </p:txBody>
      </p:sp>
      <p:sp>
        <p:nvSpPr>
          <p:cNvPr id="24" name="pf_520"/>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5" name="phx_521"/>
          <p:cNvSpPr/>
          <p:nvPr/>
        </p:nvSpPr>
        <p:spPr>
          <a:xfrm>
            <a:off x="6355080" y="2240280"/>
            <a:ext cx="2468880" cy="14630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4b1-cover.jpg</a:t>
            </a:r>
            <a:endParaRPr lang="en-US" sz="900" dirty="0"/>
          </a:p>
        </p:txBody>
      </p:sp>
      <p:sp>
        <p:nvSpPr>
          <p:cNvPr id="26" name="cd_522"/>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ii_523"/>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ih_524"/>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9" name="il_525"/>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give up = smettere</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end up in = finire in</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2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27"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28"/>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can you hear?</a:t>
            </a:r>
            <a:endParaRPr lang="en-US" sz="2500" dirty="0"/>
          </a:p>
        </p:txBody>
      </p:sp>
      <p:pic>
        <p:nvPicPr>
          <p:cNvPr id="6" name="brP_529"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530"/>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Which sound is it: 1–6?</a:t>
            </a:r>
            <a:endParaRPr lang="en-US" sz="1250" dirty="0"/>
          </a:p>
        </p:txBody>
      </p:sp>
      <p:sp>
        <p:nvSpPr>
          <p:cNvPr id="8" name="insIT_53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Quale suono è: 1–6?</a:t>
            </a:r>
            <a:endParaRPr lang="en-US" sz="950" dirty="0"/>
          </a:p>
        </p:txBody>
      </p:sp>
      <p:sp>
        <p:nvSpPr>
          <p:cNvPr id="9" name="cmd_53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33"/>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1" name="meta_53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535"/>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53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3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Listening · music words   ·   📖 SB p.41 · 3c · audio 4.17</a:t>
            </a:r>
            <a:endParaRPr lang="en-US" sz="800" dirty="0"/>
          </a:p>
        </p:txBody>
      </p:sp>
      <p:sp>
        <p:nvSpPr>
          <p:cNvPr id="15" name="ap_538"/>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4.17  ·  play once, pause after each</a:t>
            </a:r>
            <a:endParaRPr lang="en-US" sz="1100" dirty="0"/>
          </a:p>
        </p:txBody>
      </p:sp>
      <p:sp>
        <p:nvSpPr>
          <p:cNvPr id="16" name="ah_539"/>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540"/>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541"/>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4b1-piano-lesson.jpg</a:t>
            </a:r>
            <a:endParaRPr lang="en-US" sz="900" dirty="0"/>
          </a:p>
        </p:txBody>
      </p:sp>
      <p:sp>
        <p:nvSpPr>
          <p:cNvPr id="21" name="cd_542"/>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543"/>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544"/>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545"/>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546"/>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three different musical instruments playing together</a:t>
            </a:r>
            <a:endParaRPr lang="en-US" sz="1200" dirty="0"/>
          </a:p>
        </p:txBody>
      </p:sp>
      <p:sp>
        <p:nvSpPr>
          <p:cNvPr id="26" name="R1_chip547"/>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sound 4 · strumenti</a:t>
            </a:r>
            <a:endParaRPr lang="en-US" sz="1200" dirty="0"/>
          </a:p>
        </p:txBody>
      </p:sp>
      <p:sp>
        <p:nvSpPr>
          <p:cNvPr id="27" name="gq_548"/>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five notes from C to G</a:t>
            </a:r>
            <a:endParaRPr lang="en-US" sz="1200" dirty="0"/>
          </a:p>
        </p:txBody>
      </p:sp>
      <p:sp>
        <p:nvSpPr>
          <p:cNvPr id="28" name="R2_chip549"/>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sound 5 · note (do → sol)</a:t>
            </a:r>
            <a:endParaRPr lang="en-US" sz="1200" dirty="0"/>
          </a:p>
        </p:txBody>
      </p:sp>
      <p:sp>
        <p:nvSpPr>
          <p:cNvPr id="29" name="gq_550"/>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  a high note and a low note</a:t>
            </a:r>
            <a:endParaRPr lang="en-US" sz="1200" dirty="0"/>
          </a:p>
        </p:txBody>
      </p:sp>
      <p:sp>
        <p:nvSpPr>
          <p:cNvPr id="30" name="R3_chip551"/>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sound 3 · nota alta / bassa</a:t>
            </a:r>
            <a:endParaRPr lang="en-US" sz="1200" dirty="0"/>
          </a:p>
        </p:txBody>
      </p:sp>
      <p:sp>
        <p:nvSpPr>
          <p:cNvPr id="31" name="gq_552"/>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  an octave</a:t>
            </a:r>
            <a:endParaRPr lang="en-US" sz="1200" dirty="0"/>
          </a:p>
        </p:txBody>
      </p:sp>
      <p:sp>
        <p:nvSpPr>
          <p:cNvPr id="32" name="R4_chip553"/>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sound 1 · un'ottava</a:t>
            </a:r>
            <a:endParaRPr lang="en-US" sz="1200" dirty="0"/>
          </a:p>
        </p:txBody>
      </p:sp>
      <p:sp>
        <p:nvSpPr>
          <p:cNvPr id="33" name="gq_554"/>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  a tune</a:t>
            </a:r>
            <a:endParaRPr lang="en-US" sz="1200" dirty="0"/>
          </a:p>
        </p:txBody>
      </p:sp>
      <p:sp>
        <p:nvSpPr>
          <p:cNvPr id="34" name="R5_chip555"/>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sound 6 · una melodia</a:t>
            </a:r>
            <a:endParaRPr lang="en-US" sz="1200" dirty="0"/>
          </a:p>
        </p:txBody>
      </p:sp>
      <p:sp>
        <p:nvSpPr>
          <p:cNvPr id="35" name="gq_556"/>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  somebody busking</a:t>
            </a:r>
            <a:endParaRPr lang="en-US" sz="1200" dirty="0"/>
          </a:p>
        </p:txBody>
      </p:sp>
      <p:sp>
        <p:nvSpPr>
          <p:cNvPr id="36" name="R6_chip557"/>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sound 2 · suonare per strada</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5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59"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560"/>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Matt's 20 hours</a:t>
            </a:r>
            <a:endParaRPr lang="en-US" sz="2500" dirty="0"/>
          </a:p>
        </p:txBody>
      </p:sp>
      <p:pic>
        <p:nvPicPr>
          <p:cNvPr id="6" name="brP_561"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62"/>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once. Which is the best summary?</a:t>
            </a:r>
            <a:endParaRPr lang="en-US" sz="1250" dirty="0"/>
          </a:p>
        </p:txBody>
      </p:sp>
      <p:sp>
        <p:nvSpPr>
          <p:cNvPr id="8" name="insIT_56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una volta. Qual è il riassunto migliore?</a:t>
            </a:r>
            <a:endParaRPr lang="en-US" sz="950" dirty="0"/>
          </a:p>
        </p:txBody>
      </p:sp>
      <p:sp>
        <p:nvSpPr>
          <p:cNvPr id="9" name="cmd_56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56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alone</a:t>
            </a:r>
            <a:endParaRPr lang="en-US" sz="950" dirty="0"/>
          </a:p>
        </p:txBody>
      </p:sp>
      <p:sp>
        <p:nvSpPr>
          <p:cNvPr id="11" name="tag_56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5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Listening · gist   ·   📖 SB p.41 · 3d · audio 4.18</a:t>
            </a:r>
            <a:endParaRPr lang="en-US" sz="800" dirty="0"/>
          </a:p>
        </p:txBody>
      </p:sp>
      <p:sp>
        <p:nvSpPr>
          <p:cNvPr id="14" name="ap_569"/>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4.18  ·  play once</a:t>
            </a:r>
            <a:endParaRPr lang="en-US" sz="1100" dirty="0"/>
          </a:p>
        </p:txBody>
      </p:sp>
      <p:sp>
        <p:nvSpPr>
          <p:cNvPr id="15" name="ah_570"/>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571"/>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572"/>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573"/>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4b1-cover.jpg</a:t>
            </a:r>
            <a:endParaRPr lang="en-US" sz="900" dirty="0"/>
          </a:p>
        </p:txBody>
      </p:sp>
      <p:sp>
        <p:nvSpPr>
          <p:cNvPr id="21" name="bd_574"/>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575"/>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576"/>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4b1-trumpet-practice.jpg</a:t>
            </a:r>
            <a:endParaRPr lang="en-US" sz="900" dirty="0"/>
          </a:p>
        </p:txBody>
      </p:sp>
      <p:sp>
        <p:nvSpPr>
          <p:cNvPr id="24" name="bd_577"/>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cd_578"/>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6" name="ii_579"/>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580"/>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8" name="il_581"/>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Summary 1: He didn't learn anything at all.</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Summary 2: He learned something, but not enough.</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Summary 3: He learned a lot.</a:t>
            </a:r>
            <a:endParaRPr lang="en-US" sz="800" dirty="0"/>
          </a:p>
        </p:txBody>
      </p:sp>
      <p:sp>
        <p:nvSpPr>
          <p:cNvPr id="29" name="lq_582"/>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Summary 1</a:t>
            </a:r>
            <a:endParaRPr lang="en-US" sz="1100" dirty="0"/>
          </a:p>
        </p:txBody>
      </p:sp>
      <p:sp>
        <p:nvSpPr>
          <p:cNvPr id="30" name="R1_chip583"/>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no</a:t>
            </a:r>
            <a:endParaRPr lang="en-US" sz="1050" dirty="0"/>
          </a:p>
        </p:txBody>
      </p:sp>
      <p:sp>
        <p:nvSpPr>
          <p:cNvPr id="31" name="lq_584"/>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Summary 2</a:t>
            </a:r>
            <a:endParaRPr lang="en-US" sz="1100" dirty="0"/>
          </a:p>
        </p:txBody>
      </p:sp>
      <p:sp>
        <p:nvSpPr>
          <p:cNvPr id="32" name="R2_chip585"/>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the best!</a:t>
            </a:r>
            <a:endParaRPr lang="en-US" sz="1050" dirty="0"/>
          </a:p>
        </p:txBody>
      </p:sp>
      <p:sp>
        <p:nvSpPr>
          <p:cNvPr id="33" name="lq_586"/>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Summary 3</a:t>
            </a:r>
            <a:endParaRPr lang="en-US" sz="1100" dirty="0"/>
          </a:p>
        </p:txBody>
      </p:sp>
      <p:sp>
        <p:nvSpPr>
          <p:cNvPr id="34" name="R3_chip587"/>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no</a:t>
            </a:r>
            <a:endParaRPr lang="en-US" sz="1050" dirty="0"/>
          </a:p>
        </p:txBody>
      </p:sp>
      <p:sp>
        <p:nvSpPr>
          <p:cNvPr id="35" name="lq_588"/>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Busking after 20 h?</a:t>
            </a:r>
            <a:endParaRPr lang="en-US" sz="1100" dirty="0"/>
          </a:p>
        </p:txBody>
      </p:sp>
      <p:sp>
        <p:nvSpPr>
          <p:cNvPr id="36" name="R4_chip589"/>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No – 20 h is too little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audio>
              <p:cMediaNode vol="80000">
                <p:cTn id="33" fill="hold" display="0">
                  <p:stCondLst>
                    <p:cond delay="indefinite"/>
                  </p:stCondLst>
                  <p:endCondLst>
                    <p:cond evt="onStopAudio" delay="0">
                      <p:tgtEl>
                        <p:sldTgt/>
                      </p:tgtEl>
                    </p:cond>
                  </p:endCondLst>
                </p:cTn>
                <p:tgtEl>
                  <p:spTgt spid="16"/>
                </p:tgtEl>
              </p:cMediaNode>
            </p:audio>
            <p:audio>
              <p:cMediaNode vol="80000">
                <p:cTn id="34" fill="hold" display="0">
                  <p:stCondLst>
                    <p:cond delay="indefinite"/>
                  </p:stCondLst>
                  <p:endCondLst>
                    <p:cond evt="onStopAudio" delay="0">
                      <p:tgtEl>
                        <p:sldTgt/>
                      </p:tgtEl>
                    </p:cond>
                  </p:endCondLst>
                </p:cTn>
                <p:tgtEl>
                  <p:spTgt spid="17"/>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91"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592"/>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does Matt feel? 1/2</a:t>
            </a:r>
            <a:endParaRPr lang="en-US" sz="2500" dirty="0"/>
          </a:p>
        </p:txBody>
      </p:sp>
      <p:pic>
        <p:nvPicPr>
          <p:cNvPr id="6" name="brP_593"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594"/>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Matt's feelings. Then listen again.</a:t>
            </a:r>
            <a:endParaRPr lang="en-US" sz="1250" dirty="0"/>
          </a:p>
        </p:txBody>
      </p:sp>
      <p:sp>
        <p:nvSpPr>
          <p:cNvPr id="8" name="insIT_59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come si sente Matt. Poi riascolta.</a:t>
            </a:r>
            <a:endParaRPr lang="en-US" sz="950" dirty="0"/>
          </a:p>
        </p:txBody>
      </p:sp>
      <p:sp>
        <p:nvSpPr>
          <p:cNvPr id="9" name="cmd_59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97"/>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59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599"/>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6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Listening · detail   ·   📖 SB p.41 · 3e · audio 4.18</a:t>
            </a:r>
            <a:endParaRPr lang="en-US" sz="800" dirty="0"/>
          </a:p>
        </p:txBody>
      </p:sp>
      <p:sp>
        <p:nvSpPr>
          <p:cNvPr id="15" name="ap_602"/>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4.18  ·  pause after each stage</a:t>
            </a:r>
            <a:endParaRPr lang="en-US" sz="1100" dirty="0"/>
          </a:p>
        </p:txBody>
      </p:sp>
      <p:sp>
        <p:nvSpPr>
          <p:cNvPr id="16" name="ah_603"/>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604"/>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605"/>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4b1-trumpet-practice.jpg</a:t>
            </a:r>
            <a:endParaRPr lang="en-US" sz="900" dirty="0"/>
          </a:p>
        </p:txBody>
      </p:sp>
      <p:sp>
        <p:nvSpPr>
          <p:cNvPr id="21" name="cd_606"/>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607"/>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608"/>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609"/>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610"/>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 · optimistic or pessimistic?</a:t>
            </a:r>
            <a:endParaRPr lang="en-US" sz="1200" dirty="0"/>
          </a:p>
        </p:txBody>
      </p:sp>
      <p:sp>
        <p:nvSpPr>
          <p:cNvPr id="26" name="R1_chip611"/>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optimistic</a:t>
            </a:r>
            <a:endParaRPr lang="en-US" sz="1200" dirty="0"/>
          </a:p>
        </p:txBody>
      </p:sp>
      <p:sp>
        <p:nvSpPr>
          <p:cNvPr id="27" name="gq_612"/>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h · pleased or unhappy with his progress?</a:t>
            </a:r>
            <a:endParaRPr lang="en-US" sz="1200" dirty="0"/>
          </a:p>
        </p:txBody>
      </p:sp>
      <p:sp>
        <p:nvSpPr>
          <p:cNvPr id="28" name="R2_chip613"/>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unhappy</a:t>
            </a:r>
            <a:endParaRPr lang="en-US" sz="1200" dirty="0"/>
          </a:p>
        </p:txBody>
      </p:sp>
      <p:sp>
        <p:nvSpPr>
          <p:cNvPr id="29" name="gq_614"/>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h · online teacher: annoying or great?</a:t>
            </a:r>
            <a:endParaRPr lang="en-US" sz="1200" dirty="0"/>
          </a:p>
        </p:txBody>
      </p:sp>
      <p:sp>
        <p:nvSpPr>
          <p:cNvPr id="30" name="R3_chip615"/>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annoying</a:t>
            </a:r>
            <a:endParaRPr lang="en-US" sz="1200" dirty="0"/>
          </a:p>
        </p:txBody>
      </p:sp>
      <p:sp>
        <p:nvSpPr>
          <p:cNvPr id="31" name="gq_616"/>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9 h · frustrated or happy with simple tunes?</a:t>
            </a:r>
            <a:endParaRPr lang="en-US" sz="1200" dirty="0"/>
          </a:p>
        </p:txBody>
      </p:sp>
      <p:sp>
        <p:nvSpPr>
          <p:cNvPr id="32" name="R4_chip617"/>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frustrated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7"/>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7"/>
                                        </p:tgtEl>
                                      </p:cBhvr>
                                    </p:cmd>
                                  </p:childTnLst>
                                </p:cTn>
                              </p:par>
                            </p:childTnLst>
                          </p:cTn>
                        </p:par>
                      </p:childTnLst>
                    </p:cTn>
                  </p:par>
                </p:childTnLst>
              </p:cTn>
              <p:nextCondLst>
                <p:cond evt="onClick" delay="0">
                  <p:tgtEl>
                    <p:spTgt spid="17"/>
                  </p:tgtEl>
                </p:cond>
              </p:nextCondLst>
            </p:seq>
            <p:seq concurrent="1" nextAc="seek">
              <p:cTn id="28" restart="whenNotActive" fill="hold" evtFilter="cancelBubble" nodeType="interactiveSeq">
                <p:stCondLst>
                  <p:cond evt="onClick" delay="0">
                    <p:tgtEl>
                      <p:spTgt spid="18"/>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8"/>
                                        </p:tgtEl>
                                      </p:cBhvr>
                                    </p:cmd>
                                  </p:childTnLst>
                                </p:cTn>
                              </p:par>
                            </p:childTnLst>
                          </p:cTn>
                        </p:par>
                      </p:childTnLst>
                    </p:cTn>
                  </p:par>
                </p:childTnLst>
              </p:cTn>
              <p:nextCondLst>
                <p:cond evt="onClick" delay="0">
                  <p:tgtEl>
                    <p:spTgt spid="18"/>
                  </p:tgtEl>
                </p:cond>
              </p:nextCondLst>
            </p:seq>
            <p:audio>
              <p:cMediaNode vol="80000">
                <p:cTn id="33" fill="hold" display="0">
                  <p:stCondLst>
                    <p:cond delay="indefinite"/>
                  </p:stCondLst>
                  <p:endCondLst>
                    <p:cond evt="onStopAudio" delay="0">
                      <p:tgtEl>
                        <p:sldTgt/>
                      </p:tgtEl>
                    </p:cond>
                  </p:endCondLst>
                </p:cTn>
                <p:tgtEl>
                  <p:spTgt spid="17"/>
                </p:tgtEl>
              </p:cMediaNode>
            </p:audio>
            <p:audio>
              <p:cMediaNode vol="80000">
                <p:cTn id="34" fill="hold" display="0">
                  <p:stCondLst>
                    <p:cond delay="indefinite"/>
                  </p:stCondLst>
                  <p:endCondLst>
                    <p:cond evt="onStopAudio" delay="0">
                      <p:tgtEl>
                        <p:sldTgt/>
                      </p:tgtEl>
                    </p:cond>
                  </p:endCondLst>
                </p:cTn>
                <p:tgtEl>
                  <p:spTgt spid="18"/>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1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19"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620"/>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does Matt feel? 2/2</a:t>
            </a:r>
            <a:endParaRPr lang="en-US" sz="2500" dirty="0"/>
          </a:p>
        </p:txBody>
      </p:sp>
      <p:pic>
        <p:nvPicPr>
          <p:cNvPr id="6" name="brP_621"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622"/>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Then listen to the end.</a:t>
            </a:r>
            <a:endParaRPr lang="en-US" sz="1250" dirty="0"/>
          </a:p>
        </p:txBody>
      </p:sp>
      <p:sp>
        <p:nvSpPr>
          <p:cNvPr id="8" name="insIT_62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Poi ascolta fino alla fine.</a:t>
            </a:r>
            <a:endParaRPr lang="en-US" sz="950" dirty="0"/>
          </a:p>
        </p:txBody>
      </p:sp>
      <p:sp>
        <p:nvSpPr>
          <p:cNvPr id="9" name="cmd_62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625"/>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626"/>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627"/>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6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Listening · detail   ·   📖 SB p.41 · 3e, 3f · audio 4.18</a:t>
            </a:r>
            <a:endParaRPr lang="en-US" sz="800" dirty="0"/>
          </a:p>
        </p:txBody>
      </p:sp>
      <p:sp>
        <p:nvSpPr>
          <p:cNvPr id="15" name="ap_630"/>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4.18  ·  pause after each stage</a:t>
            </a:r>
            <a:endParaRPr lang="en-US" sz="1100" dirty="0"/>
          </a:p>
        </p:txBody>
      </p:sp>
      <p:sp>
        <p:nvSpPr>
          <p:cNvPr id="16" name="ah_631"/>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632"/>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633"/>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4b1-cover.jpg</a:t>
            </a:r>
            <a:endParaRPr lang="en-US" sz="900" dirty="0"/>
          </a:p>
        </p:txBody>
      </p:sp>
      <p:sp>
        <p:nvSpPr>
          <p:cNvPr id="21" name="cd_634"/>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635"/>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636"/>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637"/>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638"/>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14 h · enjoying himself or depressed?</a:t>
            </a:r>
            <a:endParaRPr lang="en-US" sz="1200" dirty="0"/>
          </a:p>
        </p:txBody>
      </p:sp>
      <p:sp>
        <p:nvSpPr>
          <p:cNvPr id="26" name="R1_chip639"/>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depressed – wants to give up</a:t>
            </a:r>
            <a:endParaRPr lang="en-US" sz="1200" dirty="0"/>
          </a:p>
        </p:txBody>
      </p:sp>
      <p:sp>
        <p:nvSpPr>
          <p:cNvPr id="27" name="gq_640"/>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15 h · Matilda says he's doing well or badly?</a:t>
            </a:r>
            <a:endParaRPr lang="en-US" sz="1200" dirty="0"/>
          </a:p>
        </p:txBody>
      </p:sp>
      <p:sp>
        <p:nvSpPr>
          <p:cNvPr id="28" name="R2_chip641"/>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badly</a:t>
            </a:r>
            <a:endParaRPr lang="en-US" sz="1200" dirty="0"/>
          </a:p>
        </p:txBody>
      </p:sp>
      <p:sp>
        <p:nvSpPr>
          <p:cNvPr id="29" name="gq_642"/>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17 h · optimistic again or disappointed?</a:t>
            </a:r>
            <a:endParaRPr lang="en-US" sz="1200" dirty="0"/>
          </a:p>
        </p:txBody>
      </p:sp>
      <p:sp>
        <p:nvSpPr>
          <p:cNvPr id="30" name="R3_chip643"/>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optimistic again</a:t>
            </a:r>
            <a:endParaRPr lang="en-US" sz="1200" dirty="0"/>
          </a:p>
        </p:txBody>
      </p:sp>
      <p:sp>
        <p:nvSpPr>
          <p:cNvPr id="31" name="gq_644"/>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20 h · he'll give up or he'll be able to improve?</a:t>
            </a:r>
            <a:endParaRPr lang="en-US" sz="1200" dirty="0"/>
          </a:p>
        </p:txBody>
      </p:sp>
      <p:sp>
        <p:nvSpPr>
          <p:cNvPr id="32" name="R4_chip645"/>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he'll be able to improve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7"/>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7"/>
                                        </p:tgtEl>
                                      </p:cBhvr>
                                    </p:cmd>
                                  </p:childTnLst>
                                </p:cTn>
                              </p:par>
                            </p:childTnLst>
                          </p:cTn>
                        </p:par>
                      </p:childTnLst>
                    </p:cTn>
                  </p:par>
                </p:childTnLst>
              </p:cTn>
              <p:nextCondLst>
                <p:cond evt="onClick" delay="0">
                  <p:tgtEl>
                    <p:spTgt spid="17"/>
                  </p:tgtEl>
                </p:cond>
              </p:nextCondLst>
            </p:seq>
            <p:seq concurrent="1" nextAc="seek">
              <p:cTn id="28" restart="whenNotActive" fill="hold" evtFilter="cancelBubble" nodeType="interactiveSeq">
                <p:stCondLst>
                  <p:cond evt="onClick" delay="0">
                    <p:tgtEl>
                      <p:spTgt spid="18"/>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8"/>
                                        </p:tgtEl>
                                      </p:cBhvr>
                                    </p:cmd>
                                  </p:childTnLst>
                                </p:cTn>
                              </p:par>
                            </p:childTnLst>
                          </p:cTn>
                        </p:par>
                      </p:childTnLst>
                    </p:cTn>
                  </p:par>
                </p:childTnLst>
              </p:cTn>
              <p:nextCondLst>
                <p:cond evt="onClick" delay="0">
                  <p:tgtEl>
                    <p:spTgt spid="18"/>
                  </p:tgtEl>
                </p:cond>
              </p:nextCondLst>
            </p:seq>
            <p:audio>
              <p:cMediaNode vol="80000">
                <p:cTn id="33" fill="hold" display="0">
                  <p:stCondLst>
                    <p:cond delay="indefinite"/>
                  </p:stCondLst>
                  <p:endCondLst>
                    <p:cond evt="onStopAudio" delay="0">
                      <p:tgtEl>
                        <p:sldTgt/>
                      </p:tgtEl>
                    </p:cond>
                  </p:endCondLst>
                </p:cTn>
                <p:tgtEl>
                  <p:spTgt spid="17"/>
                </p:tgtEl>
              </p:cMediaNode>
            </p:audio>
            <p:audio>
              <p:cMediaNode vol="80000">
                <p:cTn id="34" fill="hold" display="0">
                  <p:stCondLst>
                    <p:cond delay="indefinite"/>
                  </p:stCondLst>
                  <p:endCondLst>
                    <p:cond evt="onStopAudio" delay="0">
                      <p:tgtEl>
                        <p:sldTgt/>
                      </p:tgtEl>
                    </p:cond>
                  </p:endCondLst>
                </p:cTn>
                <p:tgtEl>
                  <p:spTgt spid="18"/>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4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47"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648"/>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Is 20 hours enough?</a:t>
            </a:r>
            <a:endParaRPr lang="en-US" sz="2500" dirty="0"/>
          </a:p>
        </p:txBody>
      </p:sp>
      <p:pic>
        <p:nvPicPr>
          <p:cNvPr id="6" name="brP_649"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650"/>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Decide: YES or NO WAY? Say why.</a:t>
            </a:r>
            <a:endParaRPr lang="en-US" sz="1250" dirty="0"/>
          </a:p>
        </p:txBody>
      </p:sp>
      <p:sp>
        <p:nvSpPr>
          <p:cNvPr id="8" name="insIT_65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Decidete: SÌ o IMPOSSIBILE? Dite perché.</a:t>
            </a:r>
            <a:endParaRPr lang="en-US" sz="950" dirty="0"/>
          </a:p>
        </p:txBody>
      </p:sp>
      <p:sp>
        <p:nvSpPr>
          <p:cNvPr id="9" name="cmd_652"/>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65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groups</a:t>
            </a:r>
            <a:endParaRPr lang="en-US" sz="950" dirty="0"/>
          </a:p>
        </p:txBody>
      </p:sp>
      <p:sp>
        <p:nvSpPr>
          <p:cNvPr id="11" name="tag_65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65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5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Speaking · 20 hours   ·   📖 SB p.41 · 4 Speaking</a:t>
            </a:r>
            <a:endParaRPr lang="en-US" sz="800" dirty="0"/>
          </a:p>
        </p:txBody>
      </p:sp>
      <p:sp>
        <p:nvSpPr>
          <p:cNvPr id="14" name="pf_657"/>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658"/>
          <p:cNvSpPr/>
          <p:nvPr/>
        </p:nvSpPr>
        <p:spPr>
          <a:xfrm>
            <a:off x="365760" y="1417320"/>
            <a:ext cx="2697480" cy="17830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4b1-cover.jpg</a:t>
            </a:r>
            <a:endParaRPr lang="en-US" sz="900" dirty="0"/>
          </a:p>
        </p:txBody>
      </p:sp>
      <p:sp>
        <p:nvSpPr>
          <p:cNvPr id="16" name="cd_659"/>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660"/>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661"/>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662"/>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 think I'd be able to… (sarei in grado di)</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…but I wouldn't be able to…</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No way! · Maybe. · Definitely!</a:t>
            </a:r>
            <a:endParaRPr lang="en-US" sz="900" dirty="0"/>
          </a:p>
        </p:txBody>
      </p:sp>
      <p:sp>
        <p:nvSpPr>
          <p:cNvPr id="20" name="R1_qb663"/>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664"/>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After 20 hours, would you be able to speak a new language?</a:t>
            </a:r>
            <a:endParaRPr lang="en-US" sz="1200" dirty="0"/>
          </a:p>
          <a:p>
            <a:pPr indent="0" marL="0">
              <a:buNone/>
            </a:pPr>
            <a:r>
              <a:rPr lang="en-US" sz="950" i="1" dirty="0">
                <a:solidFill>
                  <a:srgbClr val="5B6785"/>
                </a:solidFill>
                <a:latin typeface="Segoe UI" pitchFamily="34" charset="0"/>
                <a:ea typeface="Segoe UI" pitchFamily="34" charset="-122"/>
                <a:cs typeface="Segoe UI" pitchFamily="34" charset="-120"/>
              </a:rPr>
              <a:t>e.g. I'd be able to order food, but not have a conversation.</a:t>
            </a:r>
            <a:endParaRPr lang="en-US" sz="1200" dirty="0"/>
          </a:p>
        </p:txBody>
      </p:sp>
      <p:sp>
        <p:nvSpPr>
          <p:cNvPr id="22" name="R2_qb665"/>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666"/>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…draw a portrait?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No way! I can't even draw a horse!</a:t>
            </a:r>
            <a:endParaRPr lang="en-US" sz="1250" dirty="0"/>
          </a:p>
        </p:txBody>
      </p:sp>
      <p:sp>
        <p:nvSpPr>
          <p:cNvPr id="24" name="R3_qb667"/>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668"/>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…design and build a website?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 I think I'd be able to make a simple one.</a:t>
            </a:r>
            <a:endParaRPr lang="en-US" sz="1250" dirty="0"/>
          </a:p>
        </p:txBody>
      </p:sp>
      <p:sp>
        <p:nvSpPr>
          <p:cNvPr id="26" name="R4_qb669"/>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670"/>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…cook a three-course meal?</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Definitely! I can already cook pasta.</a:t>
            </a:r>
            <a:endParaRPr lang="en-US" sz="1250" dirty="0"/>
          </a:p>
        </p:txBody>
      </p:sp>
      <p:sp>
        <p:nvSpPr>
          <p:cNvPr id="28" name="R5_qb671"/>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672"/>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…play a musical instrument, like Matt?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I'd be able to play a tune, but I wouldn't be able to busk!</a:t>
            </a:r>
            <a:endParaRPr lang="en-US" sz="1250" dirty="0"/>
          </a:p>
        </p:txBody>
      </p:sp>
      <p:sp>
        <p:nvSpPr>
          <p:cNvPr id="30" name="R6_qb673"/>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1" name="R6_sq674"/>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Which skill would YOU try for 20 hours? Why?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Salsa! I've never been able to dance.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400"/>
                                        <p:tgtEl>
                                          <p:spTgt spid="30"/>
                                        </p:tgtEl>
                                      </p:cBhvr>
                                    </p:animEffect>
                                  </p:childTnLst>
                                </p:cTn>
                              </p:par>
                              <p:par>
                                <p:cTn id="48" presetID="10" presetClass="entr" presetSubtype="0" fill="hold"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7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676"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677"/>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678"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79"/>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68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681"/>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682"/>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68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68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Exit · what can you remember?</a:t>
            </a:r>
            <a:endParaRPr lang="en-US" sz="800" dirty="0"/>
          </a:p>
        </p:txBody>
      </p:sp>
      <p:sp>
        <p:nvSpPr>
          <p:cNvPr id="13" name="bd_685"/>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686"/>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skills you'd love to be able to do (no looking!)</a:t>
            </a:r>
            <a:endParaRPr lang="en-US" sz="1400" dirty="0"/>
          </a:p>
        </p:txBody>
      </p:sp>
      <p:sp>
        <p:nvSpPr>
          <p:cNvPr id="15" name="bd_687"/>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688"/>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true sentences: I've never been able to… · I'll be able to…</a:t>
            </a:r>
            <a:endParaRPr lang="en-US" sz="1400" dirty="0"/>
          </a:p>
        </p:txBody>
      </p:sp>
      <p:sp>
        <p:nvSpPr>
          <p:cNvPr id="17" name="bd_689"/>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690"/>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music word from Matt's story</a:t>
            </a:r>
            <a:endParaRPr lang="en-US" sz="1400" dirty="0"/>
          </a:p>
        </p:txBody>
      </p:sp>
      <p:sp>
        <p:nvSpPr>
          <p:cNvPr id="19" name="cd_691"/>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692"/>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693"/>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694"/>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4B: 1a, 1b, 2a (audio: Online Practice)</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Grammar Bank 4B p.139: a 6–10, b 6–10</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in the LLS app</a:t>
            </a:r>
            <a:endParaRPr lang="en-US" sz="1150" dirty="0"/>
          </a:p>
        </p:txBody>
      </p:sp>
      <p:sp>
        <p:nvSpPr>
          <p:cNvPr id="23" name="st_695"/>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4B part 2 · -ed / -ing adjectives · Learning English</a:t>
            </a:r>
            <a:endParaRPr lang="en-US" sz="1100" dirty="0"/>
          </a:p>
        </p:txBody>
      </p:sp>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9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697"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698"/>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Matt's diary</a:t>
            </a:r>
            <a:endParaRPr lang="en-US" sz="2500" dirty="0"/>
          </a:p>
        </p:txBody>
      </p:sp>
      <p:pic>
        <p:nvPicPr>
          <p:cNvPr id="6" name="brP_699"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700"/>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can, can't and be able to.</a:t>
            </a:r>
            <a:endParaRPr lang="en-US" sz="1250" dirty="0"/>
          </a:p>
        </p:txBody>
      </p:sp>
      <p:sp>
        <p:nvSpPr>
          <p:cNvPr id="8" name="insIT_70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Trova can, can't e be able to.</a:t>
            </a:r>
            <a:endParaRPr lang="en-US" sz="950" dirty="0"/>
          </a:p>
        </p:txBody>
      </p:sp>
      <p:sp>
        <p:nvSpPr>
          <p:cNvPr id="9" name="cmd_702"/>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0" name="meta_70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70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70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0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Listening · noticing in the script   ·   📖 SB audio script 4.18 (p.127)</a:t>
            </a:r>
            <a:endParaRPr lang="en-US" sz="800" dirty="0"/>
          </a:p>
        </p:txBody>
      </p:sp>
      <p:sp>
        <p:nvSpPr>
          <p:cNvPr id="14" name="st_707"/>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708"/>
          <p:cNvSpPr/>
          <p:nvPr/>
        </p:nvSpPr>
        <p:spPr>
          <a:xfrm rot="-120000">
            <a:off x="365760" y="1371600"/>
            <a:ext cx="2468880" cy="1691640"/>
          </a:xfrm>
          <a:prstGeom prst="roundRect">
            <a:avLst>
              <a:gd name="adj" fmla="val 91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6" name="phx_709"/>
          <p:cNvSpPr/>
          <p:nvPr/>
        </p:nvSpPr>
        <p:spPr>
          <a:xfrm>
            <a:off x="411480" y="1417320"/>
            <a:ext cx="2377440" cy="160020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4b1-trumpet-practice.jpg</a:t>
            </a:r>
            <a:endParaRPr lang="en-US" sz="900" dirty="0"/>
          </a:p>
        </p:txBody>
      </p:sp>
      <p:sp>
        <p:nvSpPr>
          <p:cNvPr id="17" name="cd_710"/>
          <p:cNvSpPr/>
          <p:nvPr/>
        </p:nvSpPr>
        <p:spPr>
          <a:xfrm>
            <a:off x="320040" y="3246120"/>
            <a:ext cx="2606040" cy="1463040"/>
          </a:xfrm>
          <a:prstGeom prst="roundRect">
            <a:avLst>
              <a:gd name="adj" fmla="val 875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8" name="ii_711"/>
          <p:cNvSpPr/>
          <p:nvPr/>
        </p:nvSpPr>
        <p:spPr>
          <a:xfrm>
            <a:off x="411480" y="33192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712"/>
          <p:cNvSpPr/>
          <p:nvPr/>
        </p:nvSpPr>
        <p:spPr>
          <a:xfrm>
            <a:off x="886968" y="33375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Find it!</a:t>
            </a:r>
            <a:endParaRPr lang="en-US" sz="1300" dirty="0"/>
          </a:p>
        </p:txBody>
      </p:sp>
      <p:sp>
        <p:nvSpPr>
          <p:cNvPr id="20" name="il_713"/>
          <p:cNvSpPr/>
          <p:nvPr/>
        </p:nvSpPr>
        <p:spPr>
          <a:xfrm>
            <a:off x="886968" y="3721608"/>
            <a:ext cx="194767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can / can't + verb</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to be able to</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How many can you find? (8)</a:t>
            </a:r>
            <a:endParaRPr lang="en-US" sz="1050" dirty="0"/>
          </a:p>
        </p:txBody>
      </p:sp>
      <p:sp>
        <p:nvSpPr>
          <p:cNvPr id="21" name="who_714"/>
          <p:cNvSpPr/>
          <p:nvPr/>
        </p:nvSpPr>
        <p:spPr>
          <a:xfrm>
            <a:off x="3108960" y="1463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hour</a:t>
            </a:r>
            <a:endParaRPr lang="en-US" sz="950" dirty="0"/>
          </a:p>
        </p:txBody>
      </p:sp>
      <p:sp>
        <p:nvSpPr>
          <p:cNvPr id="22" name="sl_715"/>
          <p:cNvSpPr/>
          <p:nvPr/>
        </p:nvSpPr>
        <p:spPr>
          <a:xfrm>
            <a:off x="4114800" y="14447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want </a:t>
            </a:r>
            <a:pPr indent="0" marL="0">
              <a:buNone/>
            </a:pPr>
            <a:r>
              <a:rPr lang="en-US" sz="1150" dirty="0">
                <a:solidFill>
                  <a:srgbClr val="1B2559"/>
                </a:solidFill>
                <a:latin typeface="Segoe UI" pitchFamily="34" charset="0"/>
                <a:ea typeface="Segoe UI" pitchFamily="34" charset="-122"/>
                <a:cs typeface="Segoe UI" pitchFamily="34" charset="-120"/>
              </a:rPr>
              <a:t>to be able to play</a:t>
            </a:r>
            <a:pPr indent="0" marL="0">
              <a:buNone/>
            </a:pPr>
            <a:r>
              <a:rPr lang="en-US" sz="1150" dirty="0">
                <a:solidFill>
                  <a:srgbClr val="1B2559"/>
                </a:solidFill>
                <a:latin typeface="Segoe UI" pitchFamily="34" charset="0"/>
                <a:ea typeface="Segoe UI" pitchFamily="34" charset="-122"/>
                <a:cs typeface="Segoe UI" pitchFamily="34" charset="-120"/>
              </a:rPr>
              <a:t> the trumpet, and I want to do it fast!</a:t>
            </a:r>
            <a:endParaRPr lang="en-US" sz="1150" dirty="0"/>
          </a:p>
        </p:txBody>
      </p:sp>
      <p:sp>
        <p:nvSpPr>
          <p:cNvPr id="23" name="R1_slA716"/>
          <p:cNvSpPr/>
          <p:nvPr/>
        </p:nvSpPr>
        <p:spPr>
          <a:xfrm>
            <a:off x="4114800" y="1444752"/>
            <a:ext cx="4754880" cy="402336"/>
          </a:xfrm>
          <a:prstGeom prst="roundRect">
            <a:avLst>
              <a:gd name="adj" fmla="val 27273"/>
            </a:avLst>
          </a:prstGeom>
          <a:solidFill>
            <a:srgbClr val="FFFFFF"/>
          </a:solidFill>
          <a:ln w="158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want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to be able to play</a:t>
            </a:r>
            <a:pPr indent="0" marL="0">
              <a:buNone/>
            </a:pPr>
            <a:r>
              <a:rPr lang="en-US" sz="1150" dirty="0">
                <a:solidFill>
                  <a:srgbClr val="1B2559"/>
                </a:solidFill>
                <a:latin typeface="Segoe UI" pitchFamily="34" charset="0"/>
                <a:ea typeface="Segoe UI" pitchFamily="34" charset="-122"/>
                <a:cs typeface="Segoe UI" pitchFamily="34" charset="-120"/>
              </a:rPr>
              <a:t> the trumpet, and I want to do it fast!</a:t>
            </a:r>
            <a:endParaRPr lang="en-US" sz="1150" dirty="0"/>
          </a:p>
        </p:txBody>
      </p:sp>
      <p:sp>
        <p:nvSpPr>
          <p:cNvPr id="24" name="who_717"/>
          <p:cNvSpPr/>
          <p:nvPr/>
        </p:nvSpPr>
        <p:spPr>
          <a:xfrm>
            <a:off x="3108960" y="19202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hours</a:t>
            </a:r>
            <a:endParaRPr lang="en-US" sz="950" dirty="0"/>
          </a:p>
        </p:txBody>
      </p:sp>
      <p:sp>
        <p:nvSpPr>
          <p:cNvPr id="25" name="sl_718"/>
          <p:cNvSpPr/>
          <p:nvPr/>
        </p:nvSpPr>
        <p:spPr>
          <a:xfrm>
            <a:off x="4114800" y="19019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dirty="0">
                <a:solidFill>
                  <a:srgbClr val="1B2559"/>
                </a:solidFill>
                <a:latin typeface="Segoe UI" pitchFamily="34" charset="0"/>
                <a:ea typeface="Segoe UI" pitchFamily="34" charset="-122"/>
                <a:cs typeface="Segoe UI" pitchFamily="34" charset="-120"/>
              </a:rPr>
              <a:t>can only play</a:t>
            </a:r>
            <a:pPr indent="0" marL="0">
              <a:buNone/>
            </a:pPr>
            <a:r>
              <a:rPr lang="en-US" sz="1150" dirty="0">
                <a:solidFill>
                  <a:srgbClr val="1B2559"/>
                </a:solidFill>
                <a:latin typeface="Segoe UI" pitchFamily="34" charset="0"/>
                <a:ea typeface="Segoe UI" pitchFamily="34" charset="-122"/>
                <a:cs typeface="Segoe UI" pitchFamily="34" charset="-120"/>
              </a:rPr>
              <a:t> for ten minutes before I start seeing stars.</a:t>
            </a:r>
            <a:endParaRPr lang="en-US" sz="1150" dirty="0"/>
          </a:p>
        </p:txBody>
      </p:sp>
      <p:sp>
        <p:nvSpPr>
          <p:cNvPr id="26" name="R2_slA719"/>
          <p:cNvSpPr/>
          <p:nvPr/>
        </p:nvSpPr>
        <p:spPr>
          <a:xfrm>
            <a:off x="4114800" y="19019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 only play</a:t>
            </a:r>
            <a:pPr indent="0" marL="0">
              <a:buNone/>
            </a:pPr>
            <a:r>
              <a:rPr lang="en-US" sz="1150" dirty="0">
                <a:solidFill>
                  <a:srgbClr val="1B2559"/>
                </a:solidFill>
                <a:latin typeface="Segoe UI" pitchFamily="34" charset="0"/>
                <a:ea typeface="Segoe UI" pitchFamily="34" charset="-122"/>
                <a:cs typeface="Segoe UI" pitchFamily="34" charset="-120"/>
              </a:rPr>
              <a:t> for ten minutes before I start seeing stars.</a:t>
            </a:r>
            <a:endParaRPr lang="en-US" sz="1150" dirty="0"/>
          </a:p>
        </p:txBody>
      </p:sp>
      <p:sp>
        <p:nvSpPr>
          <p:cNvPr id="27" name="who_720"/>
          <p:cNvSpPr/>
          <p:nvPr/>
        </p:nvSpPr>
        <p:spPr>
          <a:xfrm>
            <a:off x="3108960" y="23774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hours</a:t>
            </a:r>
            <a:endParaRPr lang="en-US" sz="950" dirty="0"/>
          </a:p>
        </p:txBody>
      </p:sp>
      <p:sp>
        <p:nvSpPr>
          <p:cNvPr id="28" name="sl_721"/>
          <p:cNvSpPr/>
          <p:nvPr/>
        </p:nvSpPr>
        <p:spPr>
          <a:xfrm>
            <a:off x="4114800" y="23591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dirty="0">
                <a:solidFill>
                  <a:srgbClr val="1B2559"/>
                </a:solidFill>
                <a:latin typeface="Segoe UI" pitchFamily="34" charset="0"/>
                <a:ea typeface="Segoe UI" pitchFamily="34" charset="-122"/>
                <a:cs typeface="Segoe UI" pitchFamily="34" charset="-120"/>
              </a:rPr>
              <a:t>can get</a:t>
            </a:r>
            <a:pPr indent="0" marL="0">
              <a:buNone/>
            </a:pPr>
            <a:r>
              <a:rPr lang="en-US" sz="1150" dirty="0">
                <a:solidFill>
                  <a:srgbClr val="1B2559"/>
                </a:solidFill>
                <a:latin typeface="Segoe UI" pitchFamily="34" charset="0"/>
                <a:ea typeface="Segoe UI" pitchFamily="34" charset="-122"/>
                <a:cs typeface="Segoe UI" pitchFamily="34" charset="-120"/>
              </a:rPr>
              <a:t> from C to G but I </a:t>
            </a:r>
            <a:pPr indent="0" marL="0">
              <a:buNone/>
            </a:pPr>
            <a:r>
              <a:rPr lang="en-US" sz="1150" dirty="0">
                <a:solidFill>
                  <a:srgbClr val="1B2559"/>
                </a:solidFill>
                <a:latin typeface="Segoe UI" pitchFamily="34" charset="0"/>
                <a:ea typeface="Segoe UI" pitchFamily="34" charset="-122"/>
                <a:cs typeface="Segoe UI" pitchFamily="34" charset="-120"/>
              </a:rPr>
              <a:t>can't get</a:t>
            </a:r>
            <a:pPr indent="0" marL="0">
              <a:buNone/>
            </a:pPr>
            <a:r>
              <a:rPr lang="en-US" sz="1150" dirty="0">
                <a:solidFill>
                  <a:srgbClr val="1B2559"/>
                </a:solidFill>
                <a:latin typeface="Segoe UI" pitchFamily="34" charset="0"/>
                <a:ea typeface="Segoe UI" pitchFamily="34" charset="-122"/>
                <a:cs typeface="Segoe UI" pitchFamily="34" charset="-120"/>
              </a:rPr>
              <a:t> any higher.</a:t>
            </a:r>
            <a:endParaRPr lang="en-US" sz="1150" dirty="0"/>
          </a:p>
        </p:txBody>
      </p:sp>
      <p:sp>
        <p:nvSpPr>
          <p:cNvPr id="29" name="R3_slA722"/>
          <p:cNvSpPr/>
          <p:nvPr/>
        </p:nvSpPr>
        <p:spPr>
          <a:xfrm>
            <a:off x="4114800" y="23591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 get</a:t>
            </a:r>
            <a:pPr indent="0" marL="0">
              <a:buNone/>
            </a:pPr>
            <a:r>
              <a:rPr lang="en-US" sz="1150" dirty="0">
                <a:solidFill>
                  <a:srgbClr val="1B2559"/>
                </a:solidFill>
                <a:latin typeface="Segoe UI" pitchFamily="34" charset="0"/>
                <a:ea typeface="Segoe UI" pitchFamily="34" charset="-122"/>
                <a:cs typeface="Segoe UI" pitchFamily="34" charset="-120"/>
              </a:rPr>
              <a:t> from C to G but 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can't get</a:t>
            </a:r>
            <a:pPr indent="0" marL="0">
              <a:buNone/>
            </a:pPr>
            <a:r>
              <a:rPr lang="en-US" sz="1150" dirty="0">
                <a:solidFill>
                  <a:srgbClr val="1B2559"/>
                </a:solidFill>
                <a:latin typeface="Segoe UI" pitchFamily="34" charset="0"/>
                <a:ea typeface="Segoe UI" pitchFamily="34" charset="-122"/>
                <a:cs typeface="Segoe UI" pitchFamily="34" charset="-120"/>
              </a:rPr>
              <a:t> any higher.</a:t>
            </a:r>
            <a:endParaRPr lang="en-US" sz="1150" dirty="0"/>
          </a:p>
        </p:txBody>
      </p:sp>
      <p:sp>
        <p:nvSpPr>
          <p:cNvPr id="30" name="who_723"/>
          <p:cNvSpPr/>
          <p:nvPr/>
        </p:nvSpPr>
        <p:spPr>
          <a:xfrm>
            <a:off x="3108960" y="28346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5 hours</a:t>
            </a:r>
            <a:endParaRPr lang="en-US" sz="950" dirty="0"/>
          </a:p>
        </p:txBody>
      </p:sp>
      <p:sp>
        <p:nvSpPr>
          <p:cNvPr id="31" name="sl_724"/>
          <p:cNvSpPr/>
          <p:nvPr/>
        </p:nvSpPr>
        <p:spPr>
          <a:xfrm>
            <a:off x="4114800" y="28163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dirty="0">
                <a:solidFill>
                  <a:srgbClr val="1B2559"/>
                </a:solidFill>
                <a:latin typeface="Segoe UI" pitchFamily="34" charset="0"/>
                <a:ea typeface="Segoe UI" pitchFamily="34" charset="-122"/>
                <a:cs typeface="Segoe UI" pitchFamily="34" charset="-120"/>
              </a:rPr>
              <a:t>can play</a:t>
            </a:r>
            <a:pPr indent="0" marL="0">
              <a:buNone/>
            </a:pPr>
            <a:r>
              <a:rPr lang="en-US" sz="1150" dirty="0">
                <a:solidFill>
                  <a:srgbClr val="1B2559"/>
                </a:solidFill>
                <a:latin typeface="Segoe UI" pitchFamily="34" charset="0"/>
                <a:ea typeface="Segoe UI" pitchFamily="34" charset="-122"/>
                <a:cs typeface="Segoe UI" pitchFamily="34" charset="-120"/>
              </a:rPr>
              <a:t> a whole octave, from C to C.</a:t>
            </a:r>
            <a:endParaRPr lang="en-US" sz="1150" dirty="0"/>
          </a:p>
        </p:txBody>
      </p:sp>
      <p:sp>
        <p:nvSpPr>
          <p:cNvPr id="32" name="R4_slA725"/>
          <p:cNvSpPr/>
          <p:nvPr/>
        </p:nvSpPr>
        <p:spPr>
          <a:xfrm>
            <a:off x="4114800" y="28163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 play</a:t>
            </a:r>
            <a:pPr indent="0" marL="0">
              <a:buNone/>
            </a:pPr>
            <a:r>
              <a:rPr lang="en-US" sz="1150" dirty="0">
                <a:solidFill>
                  <a:srgbClr val="1B2559"/>
                </a:solidFill>
                <a:latin typeface="Segoe UI" pitchFamily="34" charset="0"/>
                <a:ea typeface="Segoe UI" pitchFamily="34" charset="-122"/>
                <a:cs typeface="Segoe UI" pitchFamily="34" charset="-120"/>
              </a:rPr>
              <a:t> a whole octave, from C to C.</a:t>
            </a:r>
            <a:endParaRPr lang="en-US" sz="1150" dirty="0"/>
          </a:p>
        </p:txBody>
      </p:sp>
      <p:sp>
        <p:nvSpPr>
          <p:cNvPr id="33" name="who_726"/>
          <p:cNvSpPr/>
          <p:nvPr/>
        </p:nvSpPr>
        <p:spPr>
          <a:xfrm>
            <a:off x="3108960" y="3291840"/>
            <a:ext cx="914400" cy="365760"/>
          </a:xfrm>
          <a:prstGeom prst="roundRect">
            <a:avLst>
              <a:gd name="adj" fmla="val 30000"/>
            </a:avLst>
          </a:prstGeom>
          <a:solidFill>
            <a:srgbClr val="E3F7EA"/>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9 hours</a:t>
            </a:r>
            <a:endParaRPr lang="en-US" sz="950" dirty="0"/>
          </a:p>
        </p:txBody>
      </p:sp>
      <p:sp>
        <p:nvSpPr>
          <p:cNvPr id="34" name="sl_727"/>
          <p:cNvSpPr/>
          <p:nvPr/>
        </p:nvSpPr>
        <p:spPr>
          <a:xfrm>
            <a:off x="4114800" y="3273552"/>
            <a:ext cx="4754880" cy="402336"/>
          </a:xfrm>
          <a:prstGeom prst="roundRect">
            <a:avLst>
              <a:gd name="adj" fmla="val 27273"/>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still </a:t>
            </a:r>
            <a:pPr indent="0" marL="0">
              <a:buNone/>
            </a:pPr>
            <a:r>
              <a:rPr lang="en-US" sz="1150" dirty="0">
                <a:solidFill>
                  <a:srgbClr val="1B2559"/>
                </a:solidFill>
                <a:latin typeface="Segoe UI" pitchFamily="34" charset="0"/>
                <a:ea typeface="Segoe UI" pitchFamily="34" charset="-122"/>
                <a:cs typeface="Segoe UI" pitchFamily="34" charset="-120"/>
              </a:rPr>
              <a:t>can't play</a:t>
            </a:r>
            <a:pPr indent="0" marL="0">
              <a:buNone/>
            </a:pPr>
            <a:r>
              <a:rPr lang="en-US" sz="1150" dirty="0">
                <a:solidFill>
                  <a:srgbClr val="1B2559"/>
                </a:solidFill>
                <a:latin typeface="Segoe UI" pitchFamily="34" charset="0"/>
                <a:ea typeface="Segoe UI" pitchFamily="34" charset="-122"/>
                <a:cs typeface="Segoe UI" pitchFamily="34" charset="-120"/>
              </a:rPr>
              <a:t> high notes. I </a:t>
            </a:r>
            <a:pPr indent="0" marL="0">
              <a:buNone/>
            </a:pPr>
            <a:r>
              <a:rPr lang="en-US" sz="1150" dirty="0">
                <a:solidFill>
                  <a:srgbClr val="1B2559"/>
                </a:solidFill>
                <a:latin typeface="Segoe UI" pitchFamily="34" charset="0"/>
                <a:ea typeface="Segoe UI" pitchFamily="34" charset="-122"/>
                <a:cs typeface="Segoe UI" pitchFamily="34" charset="-120"/>
              </a:rPr>
              <a:t>can play</a:t>
            </a:r>
            <a:pPr indent="0" marL="0">
              <a:buNone/>
            </a:pPr>
            <a:r>
              <a:rPr lang="en-US" sz="1150" dirty="0">
                <a:solidFill>
                  <a:srgbClr val="1B2559"/>
                </a:solidFill>
                <a:latin typeface="Segoe UI" pitchFamily="34" charset="0"/>
                <a:ea typeface="Segoe UI" pitchFamily="34" charset="-122"/>
                <a:cs typeface="Segoe UI" pitchFamily="34" charset="-120"/>
              </a:rPr>
              <a:t> some very simple tunes.</a:t>
            </a:r>
            <a:endParaRPr lang="en-US" sz="1150" dirty="0"/>
          </a:p>
        </p:txBody>
      </p:sp>
      <p:sp>
        <p:nvSpPr>
          <p:cNvPr id="35" name="R5_slA728"/>
          <p:cNvSpPr/>
          <p:nvPr/>
        </p:nvSpPr>
        <p:spPr>
          <a:xfrm>
            <a:off x="4114800" y="3273552"/>
            <a:ext cx="4754880" cy="402336"/>
          </a:xfrm>
          <a:prstGeom prst="roundRect">
            <a:avLst>
              <a:gd name="adj" fmla="val 27273"/>
            </a:avLst>
          </a:prstGeom>
          <a:solidFill>
            <a:srgbClr val="FFFFFF"/>
          </a:solidFill>
          <a:ln w="158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still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can't play</a:t>
            </a:r>
            <a:pPr indent="0" marL="0">
              <a:buNone/>
            </a:pPr>
            <a:r>
              <a:rPr lang="en-US" sz="1150" dirty="0">
                <a:solidFill>
                  <a:srgbClr val="1B2559"/>
                </a:solidFill>
                <a:latin typeface="Segoe UI" pitchFamily="34" charset="0"/>
                <a:ea typeface="Segoe UI" pitchFamily="34" charset="-122"/>
                <a:cs typeface="Segoe UI" pitchFamily="34" charset="-120"/>
              </a:rPr>
              <a:t> high notes. 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 play</a:t>
            </a:r>
            <a:pPr indent="0" marL="0">
              <a:buNone/>
            </a:pPr>
            <a:r>
              <a:rPr lang="en-US" sz="1150" dirty="0">
                <a:solidFill>
                  <a:srgbClr val="1B2559"/>
                </a:solidFill>
                <a:latin typeface="Segoe UI" pitchFamily="34" charset="0"/>
                <a:ea typeface="Segoe UI" pitchFamily="34" charset="-122"/>
                <a:cs typeface="Segoe UI" pitchFamily="34" charset="-120"/>
              </a:rPr>
              <a:t> some very simple tunes.</a:t>
            </a:r>
            <a:endParaRPr lang="en-US" sz="1150" dirty="0"/>
          </a:p>
        </p:txBody>
      </p:sp>
      <p:sp>
        <p:nvSpPr>
          <p:cNvPr id="36" name="who_729"/>
          <p:cNvSpPr/>
          <p:nvPr/>
        </p:nvSpPr>
        <p:spPr>
          <a:xfrm>
            <a:off x="3108960" y="37490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20 hours</a:t>
            </a:r>
            <a:endParaRPr lang="en-US" sz="950" dirty="0"/>
          </a:p>
        </p:txBody>
      </p:sp>
      <p:sp>
        <p:nvSpPr>
          <p:cNvPr id="37" name="sl_730"/>
          <p:cNvSpPr/>
          <p:nvPr/>
        </p:nvSpPr>
        <p:spPr>
          <a:xfrm>
            <a:off x="4114800" y="37307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was planning to finish by busking in the Underground, but I </a:t>
            </a:r>
            <a:pPr indent="0" marL="0">
              <a:buNone/>
            </a:pPr>
            <a:r>
              <a:rPr lang="en-US" sz="1150" dirty="0">
                <a:solidFill>
                  <a:srgbClr val="1B2559"/>
                </a:solidFill>
                <a:latin typeface="Segoe UI" pitchFamily="34" charset="0"/>
                <a:ea typeface="Segoe UI" pitchFamily="34" charset="-122"/>
                <a:cs typeface="Segoe UI" pitchFamily="34" charset="-120"/>
              </a:rPr>
              <a:t>can't do</a:t>
            </a:r>
            <a:pPr indent="0" marL="0">
              <a:buNone/>
            </a:pPr>
            <a:r>
              <a:rPr lang="en-US" sz="1150" dirty="0">
                <a:solidFill>
                  <a:srgbClr val="1B2559"/>
                </a:solidFill>
                <a:latin typeface="Segoe UI" pitchFamily="34" charset="0"/>
                <a:ea typeface="Segoe UI" pitchFamily="34" charset="-122"/>
                <a:cs typeface="Segoe UI" pitchFamily="34" charset="-120"/>
              </a:rPr>
              <a:t> it.</a:t>
            </a:r>
            <a:endParaRPr lang="en-US" sz="1150" dirty="0"/>
          </a:p>
        </p:txBody>
      </p:sp>
      <p:sp>
        <p:nvSpPr>
          <p:cNvPr id="38" name="R6_slA731"/>
          <p:cNvSpPr/>
          <p:nvPr/>
        </p:nvSpPr>
        <p:spPr>
          <a:xfrm>
            <a:off x="4114800" y="3730752"/>
            <a:ext cx="4754880" cy="402336"/>
          </a:xfrm>
          <a:prstGeom prst="roundRect">
            <a:avLst>
              <a:gd name="adj" fmla="val 27273"/>
            </a:avLst>
          </a:prstGeom>
          <a:solidFill>
            <a:srgbClr val="FFFFFF"/>
          </a:solidFill>
          <a:ln w="158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pitchFamily="34" charset="0"/>
                <a:ea typeface="Segoe UI" pitchFamily="34" charset="-122"/>
                <a:cs typeface="Segoe UI" pitchFamily="34" charset="-120"/>
              </a:rPr>
              <a:t>I was planning to finish by busking in the Underground, but I </a:t>
            </a:r>
            <a:pPr indent="0" marL="0">
              <a:buNone/>
            </a:pPr>
            <a:r>
              <a:rPr lang="en-US" sz="1150" b="1" dirty="0">
                <a:solidFill>
                  <a:srgbClr val="1B2559"/>
                </a:solidFill>
                <a:highlight>
                  <a:srgbClr val="FFE066"/>
                </a:highlight>
                <a:latin typeface="Segoe UI" pitchFamily="34" charset="0"/>
                <a:ea typeface="Segoe UI" pitchFamily="34" charset="-122"/>
                <a:cs typeface="Segoe UI" pitchFamily="34" charset="-120"/>
              </a:rPr>
              <a:t>can't do</a:t>
            </a:r>
            <a:pPr indent="0" marL="0">
              <a:buNone/>
            </a:pPr>
            <a:r>
              <a:rPr lang="en-US" sz="1150" dirty="0">
                <a:solidFill>
                  <a:srgbClr val="1B2559"/>
                </a:solidFill>
                <a:latin typeface="Segoe UI" pitchFamily="34" charset="0"/>
                <a:ea typeface="Segoe UI" pitchFamily="34" charset="-122"/>
                <a:cs typeface="Segoe UI" pitchFamily="34" charset="-120"/>
              </a:rPr>
              <a:t> it.</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3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733" descr="/home/claude/lls-course/v2/assets/brush-yellow.png">    </p:cNvPr>
          <p:cNvPicPr>
            <a:picLocks noChangeAspect="1"/>
          </p:cNvPicPr>
          <p:nvPr/>
        </p:nvPicPr>
        <p:blipFill>
          <a:blip r:embed="rId2"/>
          <a:stretch>
            <a:fillRect/>
          </a:stretch>
        </p:blipFill>
        <p:spPr>
          <a:xfrm>
            <a:off x="1097280" y="146304"/>
            <a:ext cx="1989734" cy="621792"/>
          </a:xfrm>
          <a:prstGeom prst="rect">
            <a:avLst/>
          </a:prstGeom>
        </p:spPr>
      </p:pic>
      <p:sp>
        <p:nvSpPr>
          <p:cNvPr id="5" name="title_734"/>
          <p:cNvSpPr/>
          <p:nvPr/>
        </p:nvSpPr>
        <p:spPr>
          <a:xfrm>
            <a:off x="1261872" y="164592"/>
            <a:ext cx="171541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Mime it!</a:t>
            </a:r>
            <a:endParaRPr lang="en-US" sz="2500" dirty="0"/>
          </a:p>
        </p:txBody>
      </p:sp>
      <p:pic>
        <p:nvPicPr>
          <p:cNvPr id="6" name="brP_735" descr="/home/claude/lls-course/v2/assets/brush-pink.png">    </p:cNvPr>
          <p:cNvPicPr>
            <a:picLocks noChangeAspect="1"/>
          </p:cNvPicPr>
          <p:nvPr/>
        </p:nvPicPr>
        <p:blipFill>
          <a:blip r:embed="rId3"/>
          <a:stretch>
            <a:fillRect/>
          </a:stretch>
        </p:blipFill>
        <p:spPr>
          <a:xfrm>
            <a:off x="1207008" y="731520"/>
            <a:ext cx="2903220" cy="402336"/>
          </a:xfrm>
          <a:prstGeom prst="rect">
            <a:avLst/>
          </a:prstGeom>
        </p:spPr>
      </p:pic>
      <p:sp>
        <p:nvSpPr>
          <p:cNvPr id="7" name="ins_736"/>
          <p:cNvSpPr/>
          <p:nvPr/>
        </p:nvSpPr>
        <p:spPr>
          <a:xfrm>
            <a:off x="1353312" y="731520"/>
            <a:ext cx="26471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Mime the skill. No words!</a:t>
            </a:r>
            <a:endParaRPr lang="en-US" sz="1250" dirty="0"/>
          </a:p>
        </p:txBody>
      </p:sp>
      <p:sp>
        <p:nvSpPr>
          <p:cNvPr id="8" name="insIT_73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Mima l'abilità. Niente parole!</a:t>
            </a:r>
            <a:endParaRPr lang="en-US" sz="950" dirty="0"/>
          </a:p>
        </p:txBody>
      </p:sp>
      <p:sp>
        <p:nvSpPr>
          <p:cNvPr id="9" name="cmd_73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73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740"/>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74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4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4B-1 · Vocabulary game · extra</a:t>
            </a:r>
            <a:endParaRPr lang="en-US" sz="800" dirty="0"/>
          </a:p>
        </p:txBody>
      </p:sp>
      <p:sp>
        <p:nvSpPr>
          <p:cNvPr id="14" name="st_743"/>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744"/>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74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74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747"/>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A looks at the screen. B turns around.</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A guarda lo schermo. B si gira.</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A mimes the skill. No words!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A mima l'abilità. Niente parole!</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B guesses: You can ride a horse! Then swap.</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B indovina: You can ride a horse! Poi scambiatevi.</a:t>
            </a:r>
            <a:endParaRPr lang="en-US" sz="1000" dirty="0"/>
          </a:p>
        </p:txBody>
      </p:sp>
      <p:sp>
        <p:nvSpPr>
          <p:cNvPr id="19" name="pf_748"/>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749"/>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4b1-mime.jpg</a:t>
            </a:r>
            <a:endParaRPr lang="en-US" sz="900" dirty="0"/>
          </a:p>
        </p:txBody>
      </p:sp>
      <p:sp>
        <p:nvSpPr>
          <p:cNvPr id="21" name="rl_750"/>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mimes</a:t>
            </a:r>
            <a:endParaRPr lang="en-US" sz="1100" dirty="0"/>
          </a:p>
        </p:txBody>
      </p:sp>
      <p:sp>
        <p:nvSpPr>
          <p:cNvPr id="22" name="R1_w751"/>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ride a horse</a:t>
            </a:r>
            <a:endParaRPr lang="en-US" sz="1700" dirty="0"/>
          </a:p>
        </p:txBody>
      </p:sp>
      <p:sp>
        <p:nvSpPr>
          <p:cNvPr id="23" name="R3_w752"/>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play the trumpet</a:t>
            </a:r>
            <a:endParaRPr lang="en-US" sz="1700" dirty="0"/>
          </a:p>
        </p:txBody>
      </p:sp>
      <p:sp>
        <p:nvSpPr>
          <p:cNvPr id="24" name="R5_w753"/>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ski</a:t>
            </a:r>
            <a:endParaRPr lang="en-US" sz="1700" dirty="0"/>
          </a:p>
        </p:txBody>
      </p:sp>
      <p:sp>
        <p:nvSpPr>
          <p:cNvPr id="25" name="R7_w754"/>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do yoga</a:t>
            </a:r>
            <a:endParaRPr lang="en-US" sz="1700" dirty="0"/>
          </a:p>
        </p:txBody>
      </p:sp>
      <p:sp>
        <p:nvSpPr>
          <p:cNvPr id="26" name="rl_755"/>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mimes</a:t>
            </a:r>
            <a:endParaRPr lang="en-US" sz="1100" dirty="0"/>
          </a:p>
        </p:txBody>
      </p:sp>
      <p:sp>
        <p:nvSpPr>
          <p:cNvPr id="27" name="R2_w756"/>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change a car wheel</a:t>
            </a:r>
            <a:endParaRPr lang="en-US" sz="1700" dirty="0"/>
          </a:p>
        </p:txBody>
      </p:sp>
      <p:sp>
        <p:nvSpPr>
          <p:cNvPr id="28" name="R4_w757"/>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dance salsa</a:t>
            </a:r>
            <a:endParaRPr lang="en-US" sz="1700" dirty="0"/>
          </a:p>
        </p:txBody>
      </p:sp>
      <p:sp>
        <p:nvSpPr>
          <p:cNvPr id="29" name="R6_w758"/>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sew</a:t>
            </a:r>
            <a:endParaRPr lang="en-US" sz="1700" dirty="0"/>
          </a:p>
        </p:txBody>
      </p:sp>
      <p:sp>
        <p:nvSpPr>
          <p:cNvPr id="30" name="R8_w759"/>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play tennis</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4B-1 Yes, I can!</dc:title>
  <dc:subject>PptxGenJS Presentation</dc:subject>
  <dc:creator>PptxGenJS</dc:creator>
  <cp:lastModifiedBy>PptxGenJS</cp:lastModifiedBy>
  <cp:revision>1</cp:revision>
  <dcterms:created xsi:type="dcterms:W3CDTF">2026-10-12T09:14:51Z</dcterms:created>
  <dcterms:modified xsi:type="dcterms:W3CDTF">2026-10-12T09:14:51Z</dcterms:modified>
</cp:coreProperties>
</file>