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mp3" ContentType="audio/mpeg"/>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Lst>
  <p:notesMasterIdLst>
    <p:notesMasterId r:id="rId28"/>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notesMaster" Target="notesMasters/notesMaster1.xml"/><Relationship Id="rId29" Type="http://schemas.openxmlformats.org/officeDocument/2006/relationships/presProps" Target="presProps.xml"/><Relationship Id="rId30" Type="http://schemas.openxmlformats.org/officeDocument/2006/relationships/viewProps" Target="viewProps.xml"/><Relationship Id="rId31" Type="http://schemas.openxmlformats.org/officeDocument/2006/relationships/theme" Target="theme/theme1.xml"/><Relationship Id="rId3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OPENING (2 min)
4B PART 1 (60 min) · SB pp.40–41. Show the photo. Ask the THINK question: 'How long does it take to learn a new skill – to play an instrument, to drive, to speak a language?' Take 3–4 answers (a number!) and write them on the board. Click 1 = the example answer. Don't give the answer: 'Later you'll read about two writers – one says 10,000 hours, one says 20!' Read the 'Today you're going to…' list together. Optional lead-in (TG): write YES, WE CAN! on the board – whose slogan? (Barack Obama, 2007–8 presidential campaign).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Revision · last lesson (2 min)
REVISION (2 min) before the warmer game. Read the examples with the class (they are from Sarah's advice in 4.10 and the Debrett's article). Elicit one more example for each box: 'Give me some advice for a dinner guest in Sicily' (You should take some pastries!) · 'A rule at our school?' (You mustn't use your phone in class / You don't have to wear a uniform). CCQ: 'You don't have to give a reason – is it wrong to give a reason?' (no – it isn't necessary) · 'You mustn't write on the walls – is it OK?' (no – prohibited). Then play 'Fix the advice!' – every sentence uses exactly this language. ⚠ Picture: 4a2-dinner-guest.jpg is the 4A-2 picture (placeholder until it arrives).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Warmer · last lesson (3 min)
RETRIEVAL WARMER (3 min). Two or three teams, one pen and paper each. Show each sentence; teams have 20 seconds to write the correct version. Click once per line to show the answer. Answers: 1 mustn't (prohibited, not 'not necessary') · 2 don't have to (not necessary) · 3 should + verb, no 'to' · 4 ought TO + verb · 5 shouldn't (Debrett's: not on short flights) · 6 rude / inconsiderate (accept 'bad manners'). Accept other correct, sensible versions (e.g. 'You shouldn't recline…' or 'You don't have to recline…' for 5 – ask 'Which is better advice?'). ICQs: 'Are you writing a new sentence or just saying right/wrong?' (writing the correct sentence) · 'How many mistakes in each?'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 Lead-in · skills (2 min)
SKILLS (2 min). Teach skill (= the ability to do something well; abilità). The 12 skills from SB 1a (the book also has swim and use an Excel spreadsheet). The class says the Italian for each one, then click once per word to show its Italian. Drill skill /skɪl/ vs ski /skiː/ (short and long vowels from 1A!), knit /nɪt/ (silent k), sew /səʊ/ (like 'so', not 'new'). Quick check: 'Your bike has a flat tyre – what do you need?' (change a wheel… for a car!) 'Who can sing well?' Next slide: students use these skills with can / could.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 Lead-in · skills (3 min)
LEAD-IN (3 min). Teach skill (= the ability to do something well; abilità). The skills are on the previous slide (SB 1a); students can look back. Model first about yourself: 'I can change a car wheel, but I can't knit!' The four tasks appear ONE PER CLICK; pairs find two for each (about 40 seconds per click). Students already know can / could from A2 – don't correct be able to yet, just listen (it shows you what they know). Feedback: 2–3 students tell the class one surprise about their partner. ICQ: 'Which one is about you NOW?' (can / can't) · 'Which is about when you were ten?' (could / couldn't). EXTRA SUPPORT (TG): tell them about yourself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 Grammar · in context (3 min)
PRESENTATION IN CONTEXT (3 min). SB 1b: two short conversations. Pairs guess the missing words first (1 minute) – they may write 'can' everywhere: good, that's the problem we're going to solve! Play 4.12 (twice if needed). Click once per gap. Answers (audio script 4.12): 1 can · 2 be able to · 3 could · 4 been able to. Then SB 1c (rows 5–6, whole class): look at the conversations again and complete the sentences – answers (TG): 1 You can't use CAN in the infinitive or present perfect. 2 Be able to means the same as CAN. Drill 'Lucky you!' (= che fortuna!) – useful for the rest of the lesson. Ask: 'Who CAN speak Italian? Who could draw well as a child?' ICQ: 'One word or more in each gap?' (it can be more than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 Grammar · noticing (2 min)
GUIDED DISCOVERY (2 min). Lines 1–4 are the 4.12 conversations; lines 5–6 are from the Grammar Bank audio (4.14). Pairs underline can / could and be able to; click once per line to highlight. Check the 1c idea again: 'Can we say I'd love to can speak Italian?' (no!) 'I've never could draw?' (no!) – can has no infinitive or present perfect, so we use be able to. Elicit the word before be able to: to (after I'd love) · being (after I love) · been (after I've never) · 'll (future). Next slide = the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 Grammar · the rule (4 min)
RULE (4 min). Click once per column: the examples appear (meaning first, then form). Play 4.13 and 4.14 (Grammar Bank): students listen and repeat, copying the rhythm. Rules (TG grammar notes): can / can't is a modal verb: it has a past and conditional form (could / couldn't) but NO infinitive, -ing form, present perfect or past perfect – for these we use be able to. For the future we can often use can or will be able to (I can't go tomorrow / I won't be able to go tomorrow). be able to in the present and past simple is possible but more formal (4.14: Fortunately, I am able to accept your invitation. · My colleagues weren't able to come to yesterday's meeting.). Strong classes (TG): for one specific difficult success in the past we use was able to or managed to, not could (Although the space was very small, he was able to park there). The grey line in each column = a typical mistake (TG): ✗ I want to can speak · ✗ I won't be able help (no to) · ✗ I could to play. Italian: so / posso = can · sapevo / potevo = could · poter fare / essere in grado di = to be able to · potrò = I'll be able to · sono riuscito = I was able to. (No ⚠ watch strip on this slide: it would cover the audio icons bottom right.) CCQs: 'I'd love to be able to ski – can I ski now?' (no) · 'Luke has been able to swim since he was three – can he swim now?' (yes) · 'Italian potrò?' (I'll be able to). ⚠ Columns 3–4 use spare pictures (dream / children at the beach) – swap if the owner supplies better 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 Speaking · class story (TPRS) (4 min)
TPRS CLASS STORY (4 min) – right after the rule, so students know which form goes where; now they HEAR can / could / be able to many times, in a story, before the practice ('Which form?') and the games. It also sets up Matt Rudd's 20 hours later in the lesson. Click once per line. For each line: 1) say it, 2) ask the questions in grey round the class (yes/no → either/or → who/what) – insist on the full form in the answers ('He's never been able to…', ✗ 'He's never could'), 3) let the CLASS change details: 'Can Salvo dance? No? What CAN'T he do?' – accept their idea and use it in later lines. Students answer with one word or a short phrase – that's fine. Finish: 'What happens next?' – one or two ideas, then move on. Recycles: can / can't, could / couldn't, have never been able to, I'd love to be able to, is able to, will be able 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 Grammar · practice (3 min)
CONTROLLED PRACTICE (3 min). Pairs decide which form goes in each gap (say the whole sentence aloud). Click once per sentence: the colour tag appears. Answers: 1 can't (4.13) · 2 couldn't · 3 be able to · 4 been able to · 5 being able to · 6 be able to (official key, Grammar photocopiable 4B b2, b3, b5, b7, b9). For each answer ask 'Why not can / could?' (3 after going to = infinitive · 4 present perfect · 5 after hate not = -ing · 6 future). ICQ: 'Do you write or say?' (say – then click to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 Grammar game (3 min)
GAME 2 (3 min). Teams, one pen and paper each. Show a sentence, count down 15 seconds, then click for the answer. Answers (Grammar Bank 4B b1–5, TG key; 6 = audio 4.12): 1 been able to · 2 being able to / to be able to (both correct) · 3 will / 'll be able to · 4 Will … be able to · 5 to be able to · 6 could. Item 1 in the book is 'Her mobile…' (we changed 'Her' to 'My' – the answer is the same). Point only if the WHOLE form is right (watch for the missing 'to'). Grammar Bank a 6–10 and b 6–10 are homework. ICQ: 'How long do you have?' (15 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 Pronunciation · sentence stress (3 min)
PRONUNCIATION (3 min). 2a: play 4.15, pausing after each sentence: students write ONLY the stressed words (the pink boxes in the book). Click 1 = the stressed words (TG: 1 never, able, dance · 2 won't, able, come · 3 love, able, ski · 4 hates, able, drive). 2b: pairs rebuild the full sentence from the big words; click 2 = the sentence. 2c: play again – students repeat, copying the rhythm: big words strong, the rest quick and weak (to /tə/, be /bi/, been /bɪn/). Italian speakers give every word equal stress – exaggerate the big words and clap the rhythm. Drill chorally, then individually.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 Pronunciation game · audio 4.16 (3 min)
GAME 3 (3 min). SB 2d. Play 4.16 (or say the prompts yourself): students hear a sentence and a new verb; pause, and the first team to say the new sentence WITH THE SAME RHYTHM wins a point. Click to show the model answer, then play the audio answer. Answers (audio script 4.16): 1 I'd love to be able to ride a horse · 2 We won't be able to park · 3 I've never been able to speak French · 4 She hates not being able to cook · 5 Will you be able to afford it? · 6 They haven't been able to come. (4.16 also has: He'd love to be able to windsurf · I love being able to speak to everyone.) No point if the rhythm is wrong ('to' and 'been' must be weak). ICQ: 'Do you change the verb or the whole sentence?' (only the verb).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 Speaking · your skills (4 min)
FREER PRACTICE (4 min). SB 1e–1f. The five topics from the book appear ONE PER CLICK (example 1 = the book's example, shortened: '…but I don't think I'll ever learn, because I don't live near the mountains'). Students choose two or three, think for 30 seconds, then tell a partner with reasons; the partner asks one follow-up question. Monitor and note can / could / be able to errors for delayed correction (2–3 on the board at the end). Topic 5 recycles should from last lesson. Feedback: 2 students report their partner ('Giulia has never been able to…'). ICQs: 'Do you talk about all five?' (no – two or three) · 'Just the answer?' (no – give a reason). EXTRA: Communicative photocopiable 'Me and my opinions' (B1_4A_Photocopiables.pdf p.2 – filed under 4A, but it practises can / be able to) – see the notes of the old deck.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Reading · prediction (2 min)
PREDICTION (2 min). Read the headline and the line under it (our summary of 3a). Ask: 'Which is true – 10,000 hours or 20 hours?' Quick vote (forced choice, no 'it depends'). Pairs look at the number bank: one number is NOT used (20 is in the headline and in the book title – it's not a gap). Every pair writes guesses before we click on the next slides. ICQ: 'Are you reading or guessing now?' (guessing).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16. Reading · 10,000 hours? (2 min)
READ AND CHECK (2 min). Pairs read the text and guess gap 1 (a number from the bank) and gap 2 (a form from today – future!). Click once per gap: the answer appears highlighted IN the text. Answers (SB text): 1 10,000 · 2 'll be able to. Check master (diventare bravissimo in), focused practice (pratica concentrata), give it a try (provarci). SB 3a: 'Do you believe Malcolm Gladwell or Josh Kaufman?' – show of hands, one reason each side. ICQ: 'Is gap 2 a number?' (no – a verb form).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17. Reading · Matt's first try (2 min)
READ AND CHECK (2 min). Gaps 3 and 4 are numbers from the bank; gap 5 is a place in a house – guess! Click once per gap. Answers (SB text / audio 4.18): 3 Five · 4 seven · 5 garage. SB 3b: 'Why do you think he gave up so fast?' Take 2–3 ideas (it was too difficult, his mouth hurt, he had no teacher…). Check give up (smettere / arrendersi) and end up (finire). 'Now let's hear about his 20 hours!'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18. Listening · music words (3 min)
MUSIC WORDS (3 min). Pre-teach the words Matt uses (they stop the gist task if unknown). Pairs read a–f and guess what each sound will be like. Play 4.17 (six sound effects), pausing after each. Click once per word: the sound number and the Italian (consolidation for slower students). Answers (TG): 1 octave · 2 busking · 3 high note, low note · 4 musical instruments · 5 notes · 6 tune. Explain: octave = from the first to the last note of a series of eight notes (do → do); busking = playing music in the street or the Underground for money. Note: English uses C D E F G A B for do re mi fa sol la si. Drill tune /tjuːn/, busking /ˈbʌskɪŋ/.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19. Listening · gist (2 min)
GIST (2 min). Look at A (hour 1) and B (hour 14): 'How does Matt feel in A? In B?' Read the three summaries (in the blue card). Play 4.18 ONCE, no pausing. Pairs compare, then click once per line. Answers (TG): 2 He learned something, but not enough. Item 4 (audio script): he planned to finish by busking in the Underground, but he can't do it – '20 hours is too little. But give me 100 hours…'. ICQ: 'Do you need to understand every word?' (no – just the best summary).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 Listening · detail (3 min)
DETAIL 1/2 (3 min). SB 3e (book options shortened on the slide). Pairs guess first for ALL eight stages (both slides, 1 min). Play 4.18 again, pausing after each stage; click once per stage. Answers with reasons (TG + audio script): 1 hour optimistic (he has everything he needs and a plan) · 2 hours unhappy (he can only play for ten minutes, his mouth hurts, he can't get higher than G) · 5 hours annoying (the YouTube teacher with a beard and colourful shirts) · 9 hours frustrated by how little he can play (still no high notes, only very simple tunes – 'It isn't Rimsky-Korsakov'). Keep the audio going on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 Listening · detail (2 min)
DETAIL 2/2 (2 min). Continue 4.18 from 'Fourteen hours'. Click once per stage. Answers (TG + audio script): 14 hours depressed – he wants to give up; he puts the trumpet in the wardrobe · 15 hours badly (Matilda Lloyd, BBC Young Musician winner 2014: 'I'm doing everything wrong… I need to start again') · 17 hours optimistic again – he's getting better and enjoying himself (the neighbour's dogs have stopped barking!) · 20 hours he thinks he'll be able to improve ('give me 100 hours'). 3f (whole class, 30 seconds): Do you think Matt will continue learning the trumpet? Why (not)? EXTRA SUPPORT: script on SB p.127; extra slide 'Matt's diary' (noticing can / be able to in the script).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 Speaking · 20 hours (4 min)
SPEAKING (4 min). SB 4: 'How well do you think you'd be able to do these things after learning for 20 hours?' Present the useful phrase first: I'd be able to = sarei in grado di (would + be able to). Groups of 3–4. Questions appear ONE PER CLICK (about 30–40 seconds each): the group must decide YES or NO WAY (forced choice) and give a reason. Other book skills if there's time: drive · take professional-quality photos · dance the tango · ski or windsurf · give first aid. Monitor would / wouldn't be able to. Feedback: 'Which skill does everybody think is impossible in 20 hours?' Then 1 minute of delayed error correction from both speaking tasks.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23. Review · what did you do today? (1 min)
TODAY YOU… (1 min). Read each line (one per click: the tick appears). Students show thumbs up / middle / down: can they do it now? Note any thumbs down for the next lesson's recap.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24. Exit · what can you remember? (2 min)
RETRIEVAL EXIT (2 min). Books closed. Pairs: 3 skills (I'd love to be able to…), 2 true sentences with two different forms of be able to, 1 music word (note, tune, octave, busking…). A few students share – check the 'to' and 'been'. Set homework (on the slide and in the app): Workbook 4B 1a, 1b (grammar) and 2a (sentence stress; 2b is audio – optional) + Grammar Bank 4B a 6–10, b 6–10 + the 4B-1 homework sheet (easier version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 Listening · noticing in the script (2 min)
EXTRA (2 min, if there's time – or homework with the script on SB p.127). Text from the audio script 4.18. Pairs find the forms; click once per line to highlight. 8 forms: to be able to play · can only play · can get · can't get · can play · can't play · can play · can't do. Ask: 'Why to be able to after I want?' (infinitive – no 'to can').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26. Vocabulary game · extra (3 min)
EXTRA GAME (3 min) – a variation of 'Describe it!'. Demo first: mime typing fast → 'You can type fast!' Click to show each skill: round 1 = 4 skills for A, round 2 = 4 skills for B (now B faces the screen). About 20 seconds per skill. The guess only scores as a full sentence (You can… / I think you can…). After each skill, the mimer says one true sentence: 'I've never been able to…' / 'I'd love to be able to…'. ICQs: 'Can you speak?' (no!) · 'Is a one-word answer OK?' (no – a full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jpe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1.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jpe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1.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jpe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jpe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jpe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1.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jpe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audio" Target="../media/media-6-5.mp3"/><Relationship Id="rId6" Type="http://schemas.microsoft.com/office/2007/relationships/media" Target="../media/media-6-5.mp3"/><Relationship Id="rId7" Type="http://schemas.openxmlformats.org/officeDocument/2006/relationships/image" Target="../media/image-6-7.png"/><Relationship Id="rId8" Type="http://schemas.openxmlformats.org/officeDocument/2006/relationships/audio" Target="../media/media-6-8.mp3"/><Relationship Id="rId9" Type="http://schemas.microsoft.com/office/2007/relationships/media" Target="../media/media-6-8.mp3"/><Relationship Id="rId10" Type="http://schemas.openxmlformats.org/officeDocument/2006/relationships/image" Target="../media/image-6-10.png"/><Relationship Id="rId11" Type="http://schemas.openxmlformats.org/officeDocument/2006/relationships/slideLayout" Target="../slideLayouts/slideLayout1.xml"/><Relationship Id="rId1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jpe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1.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jpe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audio" Target="../media/media-8-5.mp3"/><Relationship Id="rId6" Type="http://schemas.microsoft.com/office/2007/relationships/media" Target="../media/media-8-5.mp3"/><Relationship Id="rId7" Type="http://schemas.openxmlformats.org/officeDocument/2006/relationships/image" Target="../media/image-8-7.png"/><Relationship Id="rId8" Type="http://schemas.openxmlformats.org/officeDocument/2006/relationships/audio" Target="../media/media-8-8.mp3"/><Relationship Id="rId9" Type="http://schemas.microsoft.com/office/2007/relationships/media" Target="../media/media-8-8.mp3"/><Relationship Id="rId10" Type="http://schemas.openxmlformats.org/officeDocument/2006/relationships/image" Target="../media/image-8-10.png"/><Relationship Id="rId11" Type="http://schemas.openxmlformats.org/officeDocument/2006/relationships/audio" Target="../media/media-8-11.mp3"/><Relationship Id="rId12" Type="http://schemas.microsoft.com/office/2007/relationships/media" Target="../media/media-8-11.mp3"/><Relationship Id="rId13" Type="http://schemas.openxmlformats.org/officeDocument/2006/relationships/image" Target="../media/image-8-13.png"/><Relationship Id="rId14" Type="http://schemas.openxmlformats.org/officeDocument/2006/relationships/audio" Target="../media/media-8-14.mp3"/><Relationship Id="rId15" Type="http://schemas.microsoft.com/office/2007/relationships/media" Target="../media/media-8-14.mp3"/><Relationship Id="rId16" Type="http://schemas.openxmlformats.org/officeDocument/2006/relationships/image" Target="../media/image-8-16.png"/><Relationship Id="rId17" Type="http://schemas.openxmlformats.org/officeDocument/2006/relationships/image" Target="../media/image-8-17.png"/><Relationship Id="rId18" Type="http://schemas.openxmlformats.org/officeDocument/2006/relationships/image" Target="../media/image-8-18.png"/><Relationship Id="rId19" Type="http://schemas.openxmlformats.org/officeDocument/2006/relationships/slideLayout" Target="../slideLayouts/slideLayout1.xml"/><Relationship Id="rId20"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jpe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slideLayout" Target="../slideLayouts/slideLayout1.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jpe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slideLayout" Target="../slideLayouts/slideLayout1.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jpe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slideLayout" Target="../slideLayouts/slideLayout1.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jpe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audio" Target="../media/media-12-5.mp3"/><Relationship Id="rId6" Type="http://schemas.microsoft.com/office/2007/relationships/media" Target="../media/media-12-5.mp3"/><Relationship Id="rId7" Type="http://schemas.openxmlformats.org/officeDocument/2006/relationships/image" Target="../media/image-12-7.png"/><Relationship Id="rId8" Type="http://schemas.openxmlformats.org/officeDocument/2006/relationships/audio" Target="../media/media-12-8.mp3"/><Relationship Id="rId9" Type="http://schemas.microsoft.com/office/2007/relationships/media" Target="../media/media-12-8.mp3"/><Relationship Id="rId10" Type="http://schemas.openxmlformats.org/officeDocument/2006/relationships/image" Target="../media/image-12-10.png"/><Relationship Id="rId11" Type="http://schemas.openxmlformats.org/officeDocument/2006/relationships/slideLayout" Target="../slideLayouts/slideLayout1.xml"/><Relationship Id="rId1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jpe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audio" Target="../media/media-13-5.mp3"/><Relationship Id="rId6" Type="http://schemas.microsoft.com/office/2007/relationships/media" Target="../media/media-13-5.mp3"/><Relationship Id="rId7" Type="http://schemas.openxmlformats.org/officeDocument/2006/relationships/image" Target="../media/image-13-7.png"/><Relationship Id="rId8" Type="http://schemas.openxmlformats.org/officeDocument/2006/relationships/audio" Target="../media/media-13-8.mp3"/><Relationship Id="rId9" Type="http://schemas.microsoft.com/office/2007/relationships/media" Target="../media/media-13-8.mp3"/><Relationship Id="rId10" Type="http://schemas.openxmlformats.org/officeDocument/2006/relationships/image" Target="../media/image-13-10.png"/><Relationship Id="rId11" Type="http://schemas.openxmlformats.org/officeDocument/2006/relationships/slideLayout" Target="../slideLayouts/slideLayout1.xml"/><Relationship Id="rId1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jpe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slideLayout" Target="../slideLayouts/slideLayout1.xml"/><Relationship Id="rId7"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jpe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slideLayout" Target="../slideLayouts/slideLayout1.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jpe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slideLayout" Target="../slideLayouts/slideLayout1.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jpe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slideLayout" Target="../slideLayouts/slideLayout1.xml"/><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8-image-1.jpe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audio" Target="../media/media-18-5.mp3"/><Relationship Id="rId6" Type="http://schemas.microsoft.com/office/2007/relationships/media" Target="../media/media-18-5.mp3"/><Relationship Id="rId7" Type="http://schemas.openxmlformats.org/officeDocument/2006/relationships/image" Target="../media/image-18-7.png"/><Relationship Id="rId8" Type="http://schemas.openxmlformats.org/officeDocument/2006/relationships/audio" Target="../media/media-18-8.mp3"/><Relationship Id="rId9" Type="http://schemas.microsoft.com/office/2007/relationships/media" Target="../media/media-18-8.mp3"/><Relationship Id="rId10" Type="http://schemas.openxmlformats.org/officeDocument/2006/relationships/image" Target="../media/image-18-10.png"/><Relationship Id="rId11" Type="http://schemas.openxmlformats.org/officeDocument/2006/relationships/slideLayout" Target="../slideLayouts/slideLayout1.xml"/><Relationship Id="rId1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jpe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audio" Target="../media/media-19-5.mp3"/><Relationship Id="rId6" Type="http://schemas.microsoft.com/office/2007/relationships/media" Target="../media/media-19-5.mp3"/><Relationship Id="rId7" Type="http://schemas.openxmlformats.org/officeDocument/2006/relationships/image" Target="../media/image-19-7.png"/><Relationship Id="rId8" Type="http://schemas.openxmlformats.org/officeDocument/2006/relationships/audio" Target="../media/media-19-8.mp3"/><Relationship Id="rId9" Type="http://schemas.microsoft.com/office/2007/relationships/media" Target="../media/media-19-8.mp3"/><Relationship Id="rId10" Type="http://schemas.openxmlformats.org/officeDocument/2006/relationships/image" Target="../media/image-19-10.png"/><Relationship Id="rId11" Type="http://schemas.openxmlformats.org/officeDocument/2006/relationships/slideLayout" Target="../slideLayouts/slideLayout1.xml"/><Relationship Id="rId1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20-image-1.jpe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audio" Target="../media/media-20-5.mp3"/><Relationship Id="rId6" Type="http://schemas.microsoft.com/office/2007/relationships/media" Target="../media/media-20-5.mp3"/><Relationship Id="rId7" Type="http://schemas.openxmlformats.org/officeDocument/2006/relationships/image" Target="../media/image-20-7.png"/><Relationship Id="rId8" Type="http://schemas.openxmlformats.org/officeDocument/2006/relationships/audio" Target="../media/media-20-8.mp3"/><Relationship Id="rId9" Type="http://schemas.microsoft.com/office/2007/relationships/media" Target="../media/media-20-8.mp3"/><Relationship Id="rId10" Type="http://schemas.openxmlformats.org/officeDocument/2006/relationships/image" Target="../media/image-20-10.png"/><Relationship Id="rId11" Type="http://schemas.openxmlformats.org/officeDocument/2006/relationships/slideLayout" Target="../slideLayouts/slideLayout1.xml"/><Relationship Id="rId1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Slide-21-image-1.jpe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audio" Target="../media/media-21-5.mp3"/><Relationship Id="rId6" Type="http://schemas.microsoft.com/office/2007/relationships/media" Target="../media/media-21-5.mp3"/><Relationship Id="rId7" Type="http://schemas.openxmlformats.org/officeDocument/2006/relationships/image" Target="../media/image-21-7.png"/><Relationship Id="rId8" Type="http://schemas.openxmlformats.org/officeDocument/2006/relationships/audio" Target="../media/media-21-8.mp3"/><Relationship Id="rId9" Type="http://schemas.microsoft.com/office/2007/relationships/media" Target="../media/media-21-8.mp3"/><Relationship Id="rId10" Type="http://schemas.openxmlformats.org/officeDocument/2006/relationships/image" Target="../media/image-21-10.png"/><Relationship Id="rId11" Type="http://schemas.openxmlformats.org/officeDocument/2006/relationships/slideLayout" Target="../slideLayouts/slideLayout1.xml"/><Relationship Id="rId1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Slide-22-image-1.jpe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slideLayout" Target="../slideLayouts/slideLayout1.xml"/><Relationship Id="rId6"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Slide-23-image-1.jpe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slideLayout" Target="../slideLayouts/slideLayout1.xml"/><Relationship Id="rId6"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Slide-24-image-1.jpe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slideLayout" Target="../slideLayouts/slideLayout1.xml"/><Relationship Id="rId6"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Slide-25-image-1.jpeg"/><Relationship Id="rId2" Type="http://schemas.openxmlformats.org/officeDocument/2006/relationships/image" Target="../media/image-25-2.png"/><Relationship Id="rId3" Type="http://schemas.openxmlformats.org/officeDocument/2006/relationships/image" Target="../media/image-25-3.png"/><Relationship Id="rId4" Type="http://schemas.openxmlformats.org/officeDocument/2006/relationships/image" Target="../media/image-25-4.png"/><Relationship Id="rId5" Type="http://schemas.openxmlformats.org/officeDocument/2006/relationships/slideLayout" Target="../slideLayouts/slideLayout1.xml"/><Relationship Id="rId6"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Slide-26-image-1.jpe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image" Target="../media/image-26-4.png"/><Relationship Id="rId5" Type="http://schemas.openxmlformats.org/officeDocument/2006/relationships/slideLayout" Target="../slideLayouts/slideLayout1.xml"/><Relationship Id="rId6" Type="http://schemas.openxmlformats.org/officeDocument/2006/relationships/notesSlide" Target="../notesSlides/notesSlide2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crs_1"/>
          <p:cNvSpPr/>
          <p:nvPr/>
        </p:nvSpPr>
        <p:spPr>
          <a:xfrm>
            <a:off x="411480" y="292608"/>
            <a:ext cx="4114800" cy="274320"/>
          </a:xfrm>
          <a:prstGeom prst="rect">
            <a:avLst/>
          </a:prstGeom>
          <a:noFill/>
          <a:ln/>
        </p:spPr>
        <p:txBody>
          <a:bodyPr wrap="square" lIns="0" tIns="0" rIns="0" bIns="0" rtlCol="0" anchor="ctr"/>
          <a:lstStyle/>
          <a:p>
            <a:pPr indent="0" marL="0">
              <a:buNone/>
            </a:pPr>
            <a:r>
              <a:rPr lang="en-US" sz="1000" spc="100" kern="0" dirty="0">
                <a:solidFill>
                  <a:srgbClr val="5B6785"/>
                </a:solidFill>
                <a:latin typeface="Segoe UI Semibold" pitchFamily="34" charset="0"/>
                <a:ea typeface="Segoe UI Semibold" pitchFamily="34" charset="-122"/>
                <a:cs typeface="Segoe UI Semibold" pitchFamily="34" charset="-120"/>
              </a:rPr>
              <a:t>English File B1 · SB pp.40–41</a:t>
            </a:r>
            <a:endParaRPr lang="en-US" sz="1000" dirty="0"/>
          </a:p>
        </p:txBody>
      </p:sp>
      <p:sp>
        <p:nvSpPr>
          <p:cNvPr id="4" name="bd_2"/>
          <p:cNvSpPr/>
          <p:nvPr/>
        </p:nvSpPr>
        <p:spPr>
          <a:xfrm>
            <a:off x="365760" y="640080"/>
            <a:ext cx="1051560" cy="1051560"/>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600" dirty="0">
                <a:solidFill>
                  <a:srgbClr val="FFFFFF"/>
                </a:solidFill>
                <a:latin typeface="Arial Rounded MT Bold" pitchFamily="34" charset="0"/>
                <a:ea typeface="Arial Rounded MT Bold" pitchFamily="34" charset="-122"/>
                <a:cs typeface="Arial Rounded MT Bold" pitchFamily="34" charset="-120"/>
              </a:rPr>
              <a:t>4B-1</a:t>
            </a:r>
            <a:endParaRPr lang="en-US" sz="1600" dirty="0"/>
          </a:p>
        </p:txBody>
      </p:sp>
      <p:pic>
        <p:nvPicPr>
          <p:cNvPr id="5" name="bry_3" descr="/home/claude/lls-course/v2/assets/brush-yellow.png">    </p:cNvPr>
          <p:cNvPicPr>
            <a:picLocks noChangeAspect="1"/>
          </p:cNvPicPr>
          <p:nvPr/>
        </p:nvPicPr>
        <p:blipFill>
          <a:blip r:embed="rId2"/>
          <a:stretch>
            <a:fillRect/>
          </a:stretch>
        </p:blipFill>
        <p:spPr>
          <a:xfrm>
            <a:off x="1463040" y="713232"/>
            <a:ext cx="3566160" cy="868680"/>
          </a:xfrm>
          <a:prstGeom prst="rect">
            <a:avLst/>
          </a:prstGeom>
        </p:spPr>
      </p:pic>
      <p:sp>
        <p:nvSpPr>
          <p:cNvPr id="6" name="t_4"/>
          <p:cNvSpPr/>
          <p:nvPr/>
        </p:nvSpPr>
        <p:spPr>
          <a:xfrm>
            <a:off x="1645920" y="731520"/>
            <a:ext cx="3108960" cy="822960"/>
          </a:xfrm>
          <a:prstGeom prst="rect">
            <a:avLst/>
          </a:prstGeom>
          <a:noFill/>
          <a:ln/>
        </p:spPr>
        <p:txBody>
          <a:bodyPr wrap="square" lIns="0" tIns="0" rIns="0" bIns="0" rtlCol="0" anchor="ctr">
            <a:normAutofit/>
          </a:bodyPr>
          <a:lstStyle/>
          <a:p>
            <a:pPr indent="0" marL="0">
              <a:buNone/>
            </a:pPr>
            <a:r>
              <a:rPr lang="en-US" sz="3000" dirty="0">
                <a:solidFill>
                  <a:srgbClr val="1B2559"/>
                </a:solidFill>
                <a:latin typeface="Arial Rounded MT Bold" pitchFamily="34" charset="0"/>
                <a:ea typeface="Arial Rounded MT Bold" pitchFamily="34" charset="-122"/>
                <a:cs typeface="Arial Rounded MT Bold" pitchFamily="34" charset="-120"/>
              </a:rPr>
              <a:t>Yes, I can!</a:t>
            </a:r>
            <a:endParaRPr lang="en-US" sz="3000" dirty="0"/>
          </a:p>
        </p:txBody>
      </p:sp>
      <p:pic>
        <p:nvPicPr>
          <p:cNvPr id="7" name="brp_5" descr="/home/claude/lls-course/v2/assets/brush-pink.png">    </p:cNvPr>
          <p:cNvPicPr>
            <a:picLocks noChangeAspect="1"/>
          </p:cNvPicPr>
          <p:nvPr/>
        </p:nvPicPr>
        <p:blipFill>
          <a:blip r:embed="rId3"/>
          <a:stretch>
            <a:fillRect/>
          </a:stretch>
        </p:blipFill>
        <p:spPr>
          <a:xfrm>
            <a:off x="1554480" y="1517904"/>
            <a:ext cx="3017520" cy="384048"/>
          </a:xfrm>
          <a:prstGeom prst="rect">
            <a:avLst/>
          </a:prstGeom>
        </p:spPr>
      </p:pic>
      <p:sp>
        <p:nvSpPr>
          <p:cNvPr id="8" name="st_6"/>
          <p:cNvSpPr/>
          <p:nvPr/>
        </p:nvSpPr>
        <p:spPr>
          <a:xfrm>
            <a:off x="1691640" y="1517904"/>
            <a:ext cx="2834640" cy="384048"/>
          </a:xfrm>
          <a:prstGeom prst="rect">
            <a:avLst/>
          </a:prstGeom>
          <a:noFill/>
          <a:ln/>
        </p:spPr>
        <p:txBody>
          <a:bodyPr wrap="square" lIns="0" tIns="0" rIns="0" bIns="0" rtlCol="0" anchor="ct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Skills: 10,000 hours or just 20?</a:t>
            </a:r>
            <a:endParaRPr lang="en-US" sz="1250" dirty="0"/>
          </a:p>
        </p:txBody>
      </p:sp>
      <p:sp>
        <p:nvSpPr>
          <p:cNvPr id="9" name="cd_7"/>
          <p:cNvSpPr/>
          <p:nvPr/>
        </p:nvSpPr>
        <p:spPr>
          <a:xfrm>
            <a:off x="365760" y="2148840"/>
            <a:ext cx="4206240" cy="1691640"/>
          </a:xfrm>
          <a:prstGeom prst="roundRect">
            <a:avLst>
              <a:gd name="adj" fmla="val 7568"/>
            </a:avLst>
          </a:prstGeom>
          <a:solidFill>
            <a:srgbClr val="E3F1FD"/>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10" name="ii_8"/>
          <p:cNvSpPr/>
          <p:nvPr/>
        </p:nvSpPr>
        <p:spPr>
          <a:xfrm>
            <a:off x="457200" y="222199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1" name="ih_9"/>
          <p:cNvSpPr/>
          <p:nvPr/>
        </p:nvSpPr>
        <p:spPr>
          <a:xfrm>
            <a:off x="932688" y="2240280"/>
            <a:ext cx="3566160" cy="365760"/>
          </a:xfrm>
          <a:prstGeom prst="rect">
            <a:avLst/>
          </a:prstGeom>
          <a:noFill/>
          <a:ln/>
        </p:spPr>
        <p:txBody>
          <a:bodyPr wrap="square" lIns="0" tIns="0" rIns="0" bIns="0" rtlCol="0" anchor="ctr"/>
          <a:lstStyle/>
          <a:p>
            <a:pPr indent="0" marL="0">
              <a:buNone/>
            </a:pPr>
            <a:r>
              <a:rPr lang="en-US" sz="1600" dirty="0">
                <a:solidFill>
                  <a:srgbClr val="1B2559"/>
                </a:solidFill>
                <a:latin typeface="Arial Rounded MT Bold" pitchFamily="34" charset="0"/>
                <a:ea typeface="Arial Rounded MT Bold" pitchFamily="34" charset="-122"/>
                <a:cs typeface="Arial Rounded MT Bold" pitchFamily="34" charset="-120"/>
              </a:rPr>
              <a:t>Today you're going to…</a:t>
            </a:r>
            <a:endParaRPr lang="en-US" sz="1600" dirty="0"/>
          </a:p>
        </p:txBody>
      </p:sp>
      <p:sp>
        <p:nvSpPr>
          <p:cNvPr id="12" name="il_10"/>
          <p:cNvSpPr/>
          <p:nvPr/>
        </p:nvSpPr>
        <p:spPr>
          <a:xfrm>
            <a:off x="932688" y="2624328"/>
            <a:ext cx="3547872" cy="1143000"/>
          </a:xfrm>
          <a:prstGeom prst="rect">
            <a:avLst/>
          </a:prstGeom>
          <a:noFill/>
          <a:ln/>
        </p:spPr>
        <p:txBody>
          <a:bodyPr wrap="square" lIns="0" tIns="0" rIns="0" bIns="0" rtlCol="0" anchor="t">
            <a:normAutofit/>
          </a:bodyPr>
          <a:lstStyle/>
          <a:p>
            <a:pPr indent="0" marL="0">
              <a:spcAft>
                <a:spcPts val="200"/>
              </a:spcAft>
              <a:buNone/>
            </a:pPr>
            <a:r>
              <a:rPr lang="en-US" sz="800" dirty="0">
                <a:solidFill>
                  <a:srgbClr val="1B2559"/>
                </a:solidFill>
                <a:latin typeface="Segoe UI" pitchFamily="34" charset="0"/>
                <a:ea typeface="Segoe UI" pitchFamily="34" charset="-122"/>
                <a:cs typeface="Segoe UI" pitchFamily="34" charset="-120"/>
              </a:rPr>
              <a:t>💬  talk about what you can and could do</a:t>
            </a:r>
            <a:endParaRPr lang="en-US" sz="800" dirty="0"/>
          </a:p>
          <a:p>
            <a:pPr indent="0" marL="0">
              <a:spcBef>
                <a:spcPts val="500"/>
              </a:spcBef>
              <a:spcAft>
                <a:spcPts val="200"/>
              </a:spcAft>
              <a:buNone/>
            </a:pPr>
            <a:r>
              <a:rPr lang="en-US" sz="800" dirty="0">
                <a:solidFill>
                  <a:srgbClr val="1B2559"/>
                </a:solidFill>
                <a:latin typeface="Segoe UI" pitchFamily="34" charset="0"/>
                <a:ea typeface="Segoe UI" pitchFamily="34" charset="-122"/>
                <a:cs typeface="Segoe UI" pitchFamily="34" charset="-120"/>
              </a:rPr>
              <a:t>✏️  use can, could and be able to</a:t>
            </a:r>
            <a:endParaRPr lang="en-US" sz="800" dirty="0"/>
          </a:p>
          <a:p>
            <a:pPr indent="0" marL="0">
              <a:spcBef>
                <a:spcPts val="500"/>
              </a:spcBef>
              <a:spcAft>
                <a:spcPts val="200"/>
              </a:spcAft>
              <a:buNone/>
            </a:pPr>
            <a:r>
              <a:rPr lang="en-US" sz="800" dirty="0">
                <a:solidFill>
                  <a:srgbClr val="1B2559"/>
                </a:solidFill>
                <a:latin typeface="Segoe UI" pitchFamily="34" charset="0"/>
                <a:ea typeface="Segoe UI" pitchFamily="34" charset="-122"/>
                <a:cs typeface="Segoe UI" pitchFamily="34" charset="-120"/>
              </a:rPr>
              <a:t>🔊  hear and say the stressed words</a:t>
            </a:r>
            <a:endParaRPr lang="en-US" sz="800" dirty="0"/>
          </a:p>
          <a:p>
            <a:pPr indent="0" marL="0">
              <a:spcBef>
                <a:spcPts val="500"/>
              </a:spcBef>
              <a:spcAft>
                <a:spcPts val="200"/>
              </a:spcAft>
              <a:buNone/>
            </a:pPr>
            <a:r>
              <a:rPr lang="en-US" sz="800" dirty="0">
                <a:solidFill>
                  <a:srgbClr val="1B2559"/>
                </a:solidFill>
                <a:latin typeface="Segoe UI" pitchFamily="34" charset="0"/>
                <a:ea typeface="Segoe UI" pitchFamily="34" charset="-122"/>
                <a:cs typeface="Segoe UI" pitchFamily="34" charset="-120"/>
              </a:rPr>
              <a:t>👀  read about learning a skill in 20 hours</a:t>
            </a:r>
            <a:endParaRPr lang="en-US" sz="800" dirty="0"/>
          </a:p>
          <a:p>
            <a:pPr indent="0" marL="0">
              <a:spcBef>
                <a:spcPts val="500"/>
              </a:spcBef>
              <a:spcAft>
                <a:spcPts val="200"/>
              </a:spcAft>
              <a:buNone/>
            </a:pPr>
            <a:r>
              <a:rPr lang="en-US" sz="800" dirty="0">
                <a:solidFill>
                  <a:srgbClr val="1B2559"/>
                </a:solidFill>
                <a:latin typeface="Segoe UI" pitchFamily="34" charset="0"/>
                <a:ea typeface="Segoe UI" pitchFamily="34" charset="-122"/>
                <a:cs typeface="Segoe UI" pitchFamily="34" charset="-120"/>
              </a:rPr>
              <a:t>📖  listen to a class story and answer questions</a:t>
            </a:r>
            <a:endParaRPr lang="en-US" sz="800" dirty="0"/>
          </a:p>
          <a:p>
            <a:pPr indent="0" marL="0">
              <a:spcBef>
                <a:spcPts val="500"/>
              </a:spcBef>
              <a:spcAft>
                <a:spcPts val="200"/>
              </a:spcAft>
              <a:buNone/>
            </a:pPr>
            <a:r>
              <a:rPr lang="en-US" sz="800" dirty="0">
                <a:solidFill>
                  <a:srgbClr val="1B2559"/>
                </a:solidFill>
                <a:latin typeface="Segoe UI" pitchFamily="34" charset="0"/>
                <a:ea typeface="Segoe UI" pitchFamily="34" charset="-122"/>
                <a:cs typeface="Segoe UI" pitchFamily="34" charset="-120"/>
              </a:rPr>
              <a:t>🎧  listen to a man learning the trumpet</a:t>
            </a:r>
            <a:endParaRPr lang="en-US" sz="800" dirty="0"/>
          </a:p>
        </p:txBody>
      </p:sp>
      <p:sp>
        <p:nvSpPr>
          <p:cNvPr id="13" name="R1_ex11"/>
          <p:cNvSpPr/>
          <p:nvPr/>
        </p:nvSpPr>
        <p:spPr>
          <a:xfrm>
            <a:off x="365760" y="3950208"/>
            <a:ext cx="4206240" cy="603504"/>
          </a:xfrm>
          <a:prstGeom prst="roundRect">
            <a:avLst>
              <a:gd name="adj" fmla="val 18182"/>
            </a:avLst>
          </a:prstGeom>
          <a:solidFill>
            <a:srgbClr val="FFF6CC"/>
          </a:solidFill>
          <a:ln w="19050">
            <a:solidFill>
              <a:srgbClr val="FFE07A"/>
            </a:solidFill>
          </a:ln>
        </p:spPr>
        <p:txBody>
          <a:bodyPr wrap="square" lIns="152400" tIns="25400" rIns="152400" bIns="25400" rtlCol="0" anchor="ctr">
            <a:normAutofit/>
          </a:bodyPr>
          <a:lstStyle/>
          <a:p>
            <a:pPr indent="0" marL="0">
              <a:buNone/>
            </a:pPr>
            <a:r>
              <a:rPr lang="en-US" sz="1000" dirty="0">
                <a:solidFill>
                  <a:srgbClr val="E8508F"/>
                </a:solidFill>
                <a:latin typeface="Segoe UI Black" pitchFamily="34" charset="0"/>
                <a:ea typeface="Segoe UI Black" pitchFamily="34" charset="-122"/>
                <a:cs typeface="Segoe UI Black" pitchFamily="34" charset="-120"/>
              </a:rPr>
              <a:t>EXAMPLE  </a:t>
            </a:r>
            <a:pPr indent="0" marL="0">
              <a:buNone/>
            </a:pPr>
            <a:r>
              <a:rPr lang="en-US" sz="1300" i="1" dirty="0">
                <a:solidFill>
                  <a:srgbClr val="1B2559"/>
                </a:solidFill>
                <a:latin typeface="Segoe UI Semibold" pitchFamily="34" charset="0"/>
                <a:ea typeface="Segoe UI Semibold" pitchFamily="34" charset="-122"/>
                <a:cs typeface="Segoe UI Semibold" pitchFamily="34" charset="-120"/>
              </a:rPr>
              <a:t>I think it takes months! My cousin learnt to play the guitar in about a year.</a:t>
            </a:r>
            <a:endParaRPr lang="en-US" sz="1000" dirty="0"/>
          </a:p>
        </p:txBody>
      </p:sp>
      <p:sp>
        <p:nvSpPr>
          <p:cNvPr id="14" name="pf_12"/>
          <p:cNvSpPr/>
          <p:nvPr/>
        </p:nvSpPr>
        <p:spPr>
          <a:xfrm rot="90000">
            <a:off x="4846320" y="777240"/>
            <a:ext cx="3977640" cy="3200400"/>
          </a:xfrm>
          <a:prstGeom prst="roundRect">
            <a:avLst>
              <a:gd name="adj" fmla="val 4857"/>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15" name="phx_13"/>
          <p:cNvSpPr/>
          <p:nvPr/>
        </p:nvSpPr>
        <p:spPr>
          <a:xfrm>
            <a:off x="4892040" y="822960"/>
            <a:ext cx="3886200" cy="310896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pitchFamily="34" charset="0"/>
                <a:ea typeface="Segoe UI" pitchFamily="34" charset="-122"/>
                <a:cs typeface="Segoe UI" pitchFamily="34" charset="-120"/>
              </a:rPr>
              <a:t>📷 4b1-cover.jpg</a:t>
            </a:r>
            <a:endParaRPr lang="en-US" sz="900" dirty="0"/>
          </a:p>
        </p:txBody>
      </p:sp>
      <p:sp>
        <p:nvSpPr>
          <p:cNvPr id="16" name="bb_14"/>
          <p:cNvSpPr/>
          <p:nvPr/>
        </p:nvSpPr>
        <p:spPr>
          <a:xfrm>
            <a:off x="5120640" y="3611880"/>
            <a:ext cx="3566160" cy="822960"/>
          </a:xfrm>
          <a:prstGeom prst="wedgeRoundRectCallout">
            <a:avLst/>
          </a:prstGeom>
          <a:solidFill>
            <a:srgbClr val="FFFFFF"/>
          </a:solidFill>
          <a:ln w="25400">
            <a:solidFill>
              <a:srgbClr val="F7A6C4"/>
            </a:solidFill>
          </a:ln>
          <a:effectLst>
            <a:outerShdw sx="100000" sy="100000" kx="0" ky="0" algn="bl" rotWithShape="0" blurRad="88900" dist="31750" dir="5400000">
              <a:srgbClr val="1B2559">
                <a:alpha val="10000"/>
              </a:srgbClr>
            </a:outerShdw>
          </a:effectLst>
        </p:spPr>
        <p:txBody>
          <a:bodyPr wrap="square" lIns="127000" tIns="50800" rIns="127000" bIns="50800" rtlCol="0" anchor="ctr">
            <a:normAutofit/>
          </a:bodyPr>
          <a:lstStyle/>
          <a:p>
            <a:pPr algn="ctr" indent="0" marL="0">
              <a:buNone/>
            </a:pPr>
            <a:r>
              <a:rPr lang="en-US" sz="1600" dirty="0">
                <a:solidFill>
                  <a:srgbClr val="1B2559"/>
                </a:solidFill>
                <a:latin typeface="Arial Rounded MT Bold" pitchFamily="34" charset="0"/>
                <a:ea typeface="Arial Rounded MT Bold" pitchFamily="34" charset="-122"/>
                <a:cs typeface="Arial Rounded MT Bold" pitchFamily="34" charset="-120"/>
              </a:rPr>
              <a:t>How long does it take to learn a new skill?</a:t>
            </a:r>
            <a:endParaRPr lang="en-US" sz="1600" dirty="0"/>
          </a:p>
        </p:txBody>
      </p:sp>
      <p:sp>
        <p:nvSpPr>
          <p:cNvPr id="17" name="st_15"/>
          <p:cNvSpPr/>
          <p:nvPr/>
        </p:nvSpPr>
        <p:spPr>
          <a:xfrm rot="360000">
            <a:off x="7543800" y="502920"/>
            <a:ext cx="1325880" cy="38404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950" dirty="0">
                <a:solidFill>
                  <a:srgbClr val="1B2559"/>
                </a:solidFill>
                <a:latin typeface="Arial Rounded MT Bold" pitchFamily="34" charset="0"/>
                <a:ea typeface="Arial Rounded MT Bold" pitchFamily="34" charset="-122"/>
                <a:cs typeface="Arial Rounded MT Bold" pitchFamily="34" charset="-120"/>
              </a:rPr>
              <a:t>💡 THINK · PENSA</a:t>
            </a:r>
            <a:endParaRPr lang="en-US" sz="950" dirty="0"/>
          </a:p>
        </p:txBody>
      </p:sp>
      <p:pic>
        <p:nvPicPr>
          <p:cNvPr id="18" name="logo_16" descr="/home/claude/lls-course/v2/img/logo.png">    </p:cNvPr>
          <p:cNvPicPr>
            <a:picLocks noChangeAspect="1"/>
          </p:cNvPicPr>
          <p:nvPr/>
        </p:nvPicPr>
        <p:blipFill>
          <a:blip r:embed="rId4"/>
          <a:stretch>
            <a:fillRect/>
          </a:stretch>
        </p:blipFill>
        <p:spPr>
          <a:xfrm>
            <a:off x="8485632" y="4526280"/>
            <a:ext cx="502920" cy="502920"/>
          </a:xfrm>
          <a:prstGeom prst="rect">
            <a:avLst/>
          </a:prstGeom>
        </p:spPr>
      </p:pic>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4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7"/>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2</a:t>
            </a:r>
            <a:endParaRPr lang="en-US" sz="2800" dirty="0"/>
          </a:p>
        </p:txBody>
      </p:sp>
      <p:pic>
        <p:nvPicPr>
          <p:cNvPr id="4" name="brY_18" descr="/home/claude/lls-course/v2/assets/brush-yellow.png">    </p:cNvPr>
          <p:cNvPicPr>
            <a:picLocks noChangeAspect="1"/>
          </p:cNvPicPr>
          <p:nvPr/>
        </p:nvPicPr>
        <p:blipFill>
          <a:blip r:embed="rId2"/>
          <a:stretch>
            <a:fillRect/>
          </a:stretch>
        </p:blipFill>
        <p:spPr>
          <a:xfrm>
            <a:off x="1097280" y="146304"/>
            <a:ext cx="4034333" cy="621792"/>
          </a:xfrm>
          <a:prstGeom prst="rect">
            <a:avLst/>
          </a:prstGeom>
        </p:spPr>
      </p:pic>
      <p:sp>
        <p:nvSpPr>
          <p:cNvPr id="5" name="title_19"/>
          <p:cNvSpPr/>
          <p:nvPr/>
        </p:nvSpPr>
        <p:spPr>
          <a:xfrm>
            <a:off x="1261872" y="164592"/>
            <a:ext cx="3760013"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Remember last lesson?</a:t>
            </a:r>
            <a:endParaRPr lang="en-US" sz="2400" dirty="0"/>
          </a:p>
        </p:txBody>
      </p:sp>
      <p:pic>
        <p:nvPicPr>
          <p:cNvPr id="6" name="brP_20" descr="/home/claude/lls-course/v2/assets/brush-pink.png">    </p:cNvPr>
          <p:cNvPicPr>
            <a:picLocks noChangeAspect="1"/>
          </p:cNvPicPr>
          <p:nvPr/>
        </p:nvPicPr>
        <p:blipFill>
          <a:blip r:embed="rId3"/>
          <a:stretch>
            <a:fillRect/>
          </a:stretch>
        </p:blipFill>
        <p:spPr>
          <a:xfrm>
            <a:off x="1207008" y="731520"/>
            <a:ext cx="3945636" cy="402336"/>
          </a:xfrm>
          <a:prstGeom prst="rect">
            <a:avLst/>
          </a:prstGeom>
        </p:spPr>
      </p:pic>
      <p:sp>
        <p:nvSpPr>
          <p:cNvPr id="7" name="ins_21"/>
          <p:cNvSpPr/>
          <p:nvPr/>
        </p:nvSpPr>
        <p:spPr>
          <a:xfrm>
            <a:off x="1353312" y="731520"/>
            <a:ext cx="368960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What did we learn? Read the examples.</a:t>
            </a:r>
            <a:endParaRPr lang="en-US" sz="1250" dirty="0"/>
          </a:p>
        </p:txBody>
      </p:sp>
      <p:sp>
        <p:nvSpPr>
          <p:cNvPr id="8" name="insIT_22"/>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Cosa abbiamo imparato? Leggi gli esempi.</a:t>
            </a:r>
            <a:endParaRPr lang="en-US" sz="950" dirty="0"/>
          </a:p>
        </p:txBody>
      </p:sp>
      <p:sp>
        <p:nvSpPr>
          <p:cNvPr id="9" name="cmd_23"/>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THINK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PENSA</a:t>
            </a:r>
            <a:endParaRPr lang="en-US" sz="1100" dirty="0"/>
          </a:p>
        </p:txBody>
      </p:sp>
      <p:sp>
        <p:nvSpPr>
          <p:cNvPr id="10" name="meta_24"/>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whole class</a:t>
            </a:r>
            <a:endParaRPr lang="en-US" sz="950" dirty="0"/>
          </a:p>
        </p:txBody>
      </p:sp>
      <p:sp>
        <p:nvSpPr>
          <p:cNvPr id="11" name="tag_25"/>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Revision</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Retrieval</a:t>
            </a:r>
            <a:endParaRPr lang="en-US" sz="850" dirty="0"/>
          </a:p>
        </p:txBody>
      </p:sp>
      <p:pic>
        <p:nvPicPr>
          <p:cNvPr id="12" name="logo_26"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27"/>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4B-1 · Revision · last lesson   ·   📖 Recycles 4A part 2 · SB pp.38–39 · audio 4.10</a:t>
            </a:r>
            <a:endParaRPr lang="en-US" sz="800" dirty="0"/>
          </a:p>
        </p:txBody>
      </p:sp>
      <p:sp>
        <p:nvSpPr>
          <p:cNvPr id="14" name="pf_28"/>
          <p:cNvSpPr/>
          <p:nvPr/>
        </p:nvSpPr>
        <p:spPr>
          <a:xfrm rot="-120000">
            <a:off x="365760" y="1371600"/>
            <a:ext cx="2651760" cy="1828800"/>
          </a:xfrm>
          <a:prstGeom prst="roundRect">
            <a:avLst>
              <a:gd name="adj" fmla="val 85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29" descr="/home/claude/lls-course/v2/cache/4a2_dinner_guest_jpg_616x418_31.png">    </p:cNvPr>
          <p:cNvPicPr>
            <a:picLocks noChangeAspect="1"/>
          </p:cNvPicPr>
          <p:nvPr/>
        </p:nvPicPr>
        <p:blipFill>
          <a:blip r:embed="rId5"/>
          <a:stretch>
            <a:fillRect/>
          </a:stretch>
        </p:blipFill>
        <p:spPr>
          <a:xfrm rot="-120000">
            <a:off x="411480" y="1417320"/>
            <a:ext cx="2560320" cy="1737360"/>
          </a:xfrm>
          <a:prstGeom prst="rect">
            <a:avLst/>
          </a:prstGeom>
        </p:spPr>
      </p:pic>
      <p:sp>
        <p:nvSpPr>
          <p:cNvPr id="16" name="cd_30"/>
          <p:cNvSpPr/>
          <p:nvPr/>
        </p:nvSpPr>
        <p:spPr>
          <a:xfrm>
            <a:off x="320040" y="3383280"/>
            <a:ext cx="2743200" cy="1325880"/>
          </a:xfrm>
          <a:prstGeom prst="roundRect">
            <a:avLst>
              <a:gd name="adj" fmla="val 9655"/>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7" name="ii_31"/>
          <p:cNvSpPr/>
          <p:nvPr/>
        </p:nvSpPr>
        <p:spPr>
          <a:xfrm>
            <a:off x="411480" y="345643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8" name="ih_32"/>
          <p:cNvSpPr/>
          <p:nvPr/>
        </p:nvSpPr>
        <p:spPr>
          <a:xfrm>
            <a:off x="886968" y="3474720"/>
            <a:ext cx="210312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Last lesson…</a:t>
            </a:r>
            <a:endParaRPr lang="en-US" sz="1300" dirty="0"/>
          </a:p>
        </p:txBody>
      </p:sp>
      <p:sp>
        <p:nvSpPr>
          <p:cNvPr id="19" name="il_33"/>
          <p:cNvSpPr/>
          <p:nvPr/>
        </p:nvSpPr>
        <p:spPr>
          <a:xfrm>
            <a:off x="886968" y="3858768"/>
            <a:ext cx="2084832" cy="7772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00" dirty="0">
                <a:solidFill>
                  <a:srgbClr val="1B2559"/>
                </a:solidFill>
                <a:latin typeface="Segoe UI" pitchFamily="34" charset="0"/>
                <a:ea typeface="Segoe UI" pitchFamily="34" charset="-122"/>
                <a:cs typeface="Segoe UI" pitchFamily="34" charset="-120"/>
              </a:rPr>
              <a:t>4A: modern manners – good or bad?</a:t>
            </a:r>
            <a:endParaRPr lang="en-US" sz="1000" dirty="0"/>
          </a:p>
          <a:p>
            <a:pPr marL="152400" indent="-152400">
              <a:spcBef>
                <a:spcPts val="500"/>
              </a:spcBef>
              <a:spcAft>
                <a:spcPts val="200"/>
              </a:spcAft>
              <a:buSzPct val="100000"/>
              <a:buChar char="•"/>
            </a:pPr>
            <a:r>
              <a:rPr lang="en-US" sz="1000" dirty="0">
                <a:solidFill>
                  <a:srgbClr val="1B2559"/>
                </a:solidFill>
                <a:latin typeface="Segoe UI" pitchFamily="34" charset="0"/>
                <a:ea typeface="Segoe UI" pitchFamily="34" charset="-122"/>
                <a:cs typeface="Segoe UI" pitchFamily="34" charset="-120"/>
              </a:rPr>
              <a:t>advice and rules: should, must, have to</a:t>
            </a:r>
            <a:endParaRPr lang="en-US" sz="1000" dirty="0"/>
          </a:p>
        </p:txBody>
      </p:sp>
      <p:sp>
        <p:nvSpPr>
          <p:cNvPr id="20" name="cd_34"/>
          <p:cNvSpPr/>
          <p:nvPr/>
        </p:nvSpPr>
        <p:spPr>
          <a:xfrm>
            <a:off x="3246120" y="1417320"/>
            <a:ext cx="2788920" cy="2331720"/>
          </a:xfrm>
          <a:prstGeom prst="roundRect">
            <a:avLst>
              <a:gd name="adj" fmla="val 5490"/>
            </a:avLst>
          </a:prstGeom>
          <a:solidFill>
            <a:srgbClr val="FFFFFF"/>
          </a:solidFill>
          <a:ln w="25400">
            <a:solidFill>
              <a:srgbClr val="F7A6C4"/>
            </a:solidFill>
            <a:prstDash val="solid"/>
          </a:ln>
          <a:effectLst>
            <a:outerShdw sx="100000" sy="100000" kx="0" ky="0" algn="bl" rotWithShape="0" blurRad="88900" dist="31750" dir="5400000">
              <a:srgbClr val="1B2559">
                <a:alpha val="12000"/>
              </a:srgbClr>
            </a:outerShdw>
          </a:effectLst>
        </p:spPr>
      </p:sp>
      <p:sp>
        <p:nvSpPr>
          <p:cNvPr id="21" name="rh_35"/>
          <p:cNvSpPr/>
          <p:nvPr/>
        </p:nvSpPr>
        <p:spPr>
          <a:xfrm>
            <a:off x="3355848" y="1508760"/>
            <a:ext cx="2569464" cy="347472"/>
          </a:xfrm>
          <a:prstGeom prst="roundRect">
            <a:avLst>
              <a:gd name="adj" fmla="val 50000"/>
            </a:avLst>
          </a:prstGeom>
          <a:solidFill>
            <a:srgbClr val="E8508F"/>
          </a:solidFill>
          <a:ln/>
        </p:spPr>
        <p:txBody>
          <a:bodyPr wrap="square" lIns="0" tIns="0" rIns="0" bIns="0" rtlCol="0" anchor="ctr">
            <a:normAutofit/>
          </a:bodyPr>
          <a:lstStyle/>
          <a:p>
            <a:pPr algn="ctr" indent="0" marL="0">
              <a:buNone/>
            </a:pPr>
            <a:r>
              <a:rPr lang="en-US" sz="1200" dirty="0">
                <a:solidFill>
                  <a:srgbClr val="FFFFFF"/>
                </a:solidFill>
                <a:latin typeface="Arial Rounded MT Bold" pitchFamily="34" charset="0"/>
                <a:ea typeface="Arial Rounded MT Bold" pitchFamily="34" charset="-122"/>
                <a:cs typeface="Arial Rounded MT Bold" pitchFamily="34" charset="-120"/>
              </a:rPr>
              <a:t>should / ought to = advice</a:t>
            </a:r>
            <a:endParaRPr lang="en-US" sz="1200" dirty="0"/>
          </a:p>
        </p:txBody>
      </p:sp>
      <p:sp>
        <p:nvSpPr>
          <p:cNvPr id="22" name="rl_36"/>
          <p:cNvSpPr/>
          <p:nvPr/>
        </p:nvSpPr>
        <p:spPr>
          <a:xfrm>
            <a:off x="3383280" y="1920240"/>
            <a:ext cx="2514600" cy="1737360"/>
          </a:xfrm>
          <a:prstGeom prst="rect">
            <a:avLst/>
          </a:prstGeom>
          <a:noFill/>
          <a:ln/>
        </p:spPr>
        <p:txBody>
          <a:bodyPr wrap="square" lIns="0" tIns="0" rIns="0" bIns="0" rtlCol="0" anchor="t">
            <a:normAutofit/>
          </a:bodyPr>
          <a:lstStyle/>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You shouldn't eat smelly food on the train.</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I think you ought to be the one who behaves well.</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You should say how you feel.</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 I think… · It's rude to… · It's bad manners to…</a:t>
            </a:r>
            <a:endParaRPr lang="en-US" sz="1150" dirty="0"/>
          </a:p>
        </p:txBody>
      </p:sp>
      <p:sp>
        <p:nvSpPr>
          <p:cNvPr id="23" name="cd_37"/>
          <p:cNvSpPr/>
          <p:nvPr/>
        </p:nvSpPr>
        <p:spPr>
          <a:xfrm>
            <a:off x="6126480" y="1417320"/>
            <a:ext cx="2788920" cy="2331720"/>
          </a:xfrm>
          <a:prstGeom prst="roundRect">
            <a:avLst>
              <a:gd name="adj" fmla="val 5490"/>
            </a:avLst>
          </a:prstGeom>
          <a:solidFill>
            <a:srgbClr val="FFFFFF"/>
          </a:solidFill>
          <a:ln w="25400">
            <a:solidFill>
              <a:srgbClr val="A9D3F5"/>
            </a:solidFill>
            <a:prstDash val="solid"/>
          </a:ln>
          <a:effectLst>
            <a:outerShdw sx="100000" sy="100000" kx="0" ky="0" algn="bl" rotWithShape="0" blurRad="88900" dist="31750" dir="5400000">
              <a:srgbClr val="1B2559">
                <a:alpha val="12000"/>
              </a:srgbClr>
            </a:outerShdw>
          </a:effectLst>
        </p:spPr>
      </p:sp>
      <p:sp>
        <p:nvSpPr>
          <p:cNvPr id="24" name="rh_38"/>
          <p:cNvSpPr/>
          <p:nvPr/>
        </p:nvSpPr>
        <p:spPr>
          <a:xfrm>
            <a:off x="6236208" y="1508760"/>
            <a:ext cx="2569464" cy="347472"/>
          </a:xfrm>
          <a:prstGeom prst="roundRect">
            <a:avLst>
              <a:gd name="adj" fmla="val 50000"/>
            </a:avLst>
          </a:prstGeom>
          <a:solidFill>
            <a:srgbClr val="2F8DE4"/>
          </a:solidFill>
          <a:ln/>
        </p:spPr>
        <p:txBody>
          <a:bodyPr wrap="square" lIns="0" tIns="0" rIns="0" bIns="0" rtlCol="0" anchor="ctr">
            <a:normAutofit/>
          </a:bodyPr>
          <a:lstStyle/>
          <a:p>
            <a:pPr algn="ctr" indent="0" marL="0">
              <a:buNone/>
            </a:pPr>
            <a:r>
              <a:rPr lang="en-US" sz="1200" dirty="0">
                <a:solidFill>
                  <a:srgbClr val="FFFFFF"/>
                </a:solidFill>
                <a:latin typeface="Arial Rounded MT Bold" pitchFamily="34" charset="0"/>
                <a:ea typeface="Arial Rounded MT Bold" pitchFamily="34" charset="-122"/>
                <a:cs typeface="Arial Rounded MT Bold" pitchFamily="34" charset="-120"/>
              </a:rPr>
              <a:t>must · mustn't · (don't) have to</a:t>
            </a:r>
            <a:endParaRPr lang="en-US" sz="1200" dirty="0"/>
          </a:p>
        </p:txBody>
      </p:sp>
      <p:sp>
        <p:nvSpPr>
          <p:cNvPr id="25" name="rl_39"/>
          <p:cNvSpPr/>
          <p:nvPr/>
        </p:nvSpPr>
        <p:spPr>
          <a:xfrm>
            <a:off x="6263640" y="1920240"/>
            <a:ext cx="2514600" cy="1737360"/>
          </a:xfrm>
          <a:prstGeom prst="rect">
            <a:avLst/>
          </a:prstGeom>
          <a:noFill/>
          <a:ln/>
        </p:spPr>
        <p:txBody>
          <a:bodyPr wrap="square" lIns="0" tIns="0" rIns="0" bIns="0" rtlCol="0" anchor="t">
            <a:normAutofit/>
          </a:bodyPr>
          <a:lstStyle/>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You must speak to his parents.</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You mustn't write on the walls!</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You don't have to give a reason.</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 necessary · prohibited · not necessary</a:t>
            </a:r>
            <a:endParaRPr lang="en-US" sz="1150" dirty="0"/>
          </a:p>
        </p:txBody>
      </p:sp>
      <p:sp>
        <p:nvSpPr>
          <p:cNvPr id="26" name="kw_40"/>
          <p:cNvSpPr/>
          <p:nvPr/>
        </p:nvSpPr>
        <p:spPr>
          <a:xfrm>
            <a:off x="3246120" y="3867912"/>
            <a:ext cx="2743200" cy="274320"/>
          </a:xfrm>
          <a:prstGeom prst="rect">
            <a:avLst/>
          </a:prstGeom>
          <a:noFill/>
          <a:ln/>
        </p:spPr>
        <p:txBody>
          <a:bodyPr wrap="square" lIns="0" tIns="0" rIns="0" bIns="0" rtlCol="0" anchor="ctr"/>
          <a:lstStyle/>
          <a:p>
            <a:pPr indent="0" marL="0">
              <a:buNone/>
            </a:pPr>
            <a:r>
              <a:rPr lang="en-US" sz="1100" dirty="0">
                <a:solidFill>
                  <a:srgbClr val="1B2559"/>
                </a:solidFill>
                <a:latin typeface="Arial Rounded MT Bold" pitchFamily="34" charset="0"/>
                <a:ea typeface="Arial Rounded MT Bold" pitchFamily="34" charset="-122"/>
                <a:cs typeface="Arial Rounded MT Bold" pitchFamily="34" charset="-120"/>
              </a:rPr>
              <a:t>🔤 KEY WORDS</a:t>
            </a:r>
            <a:endParaRPr lang="en-US" sz="1100" dirty="0"/>
          </a:p>
        </p:txBody>
      </p:sp>
      <p:sp>
        <p:nvSpPr>
          <p:cNvPr id="27" name="w_41"/>
          <p:cNvSpPr/>
          <p:nvPr/>
        </p:nvSpPr>
        <p:spPr>
          <a:xfrm>
            <a:off x="3246120" y="4178808"/>
            <a:ext cx="630936" cy="310896"/>
          </a:xfrm>
          <a:prstGeom prst="roundRect">
            <a:avLst>
              <a:gd name="adj" fmla="val 50000"/>
            </a:avLst>
          </a:prstGeom>
          <a:solidFill>
            <a:srgbClr val="FFE3EE"/>
          </a:solidFill>
          <a:ln>
            <a:solidFill>
              <a:srgbClr val="F7A6C4"/>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rude</a:t>
            </a:r>
            <a:endParaRPr lang="en-US" sz="1050" dirty="0"/>
          </a:p>
        </p:txBody>
      </p:sp>
      <p:sp>
        <p:nvSpPr>
          <p:cNvPr id="28" name="w_42"/>
          <p:cNvSpPr/>
          <p:nvPr/>
        </p:nvSpPr>
        <p:spPr>
          <a:xfrm>
            <a:off x="3950208" y="4178808"/>
            <a:ext cx="786384" cy="310896"/>
          </a:xfrm>
          <a:prstGeom prst="roundRect">
            <a:avLst>
              <a:gd name="adj" fmla="val 50000"/>
            </a:avLst>
          </a:prstGeom>
          <a:solidFill>
            <a:srgbClr val="E3F1FD"/>
          </a:solidFill>
          <a:ln>
            <a:solidFill>
              <a:srgbClr val="A9D3F5"/>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polite</a:t>
            </a:r>
            <a:endParaRPr lang="en-US" sz="1050" dirty="0"/>
          </a:p>
        </p:txBody>
      </p:sp>
      <p:sp>
        <p:nvSpPr>
          <p:cNvPr id="29" name="w_43"/>
          <p:cNvSpPr/>
          <p:nvPr/>
        </p:nvSpPr>
        <p:spPr>
          <a:xfrm>
            <a:off x="4809744" y="4178808"/>
            <a:ext cx="1252728" cy="310896"/>
          </a:xfrm>
          <a:prstGeom prst="roundRect">
            <a:avLst>
              <a:gd name="adj" fmla="val 50000"/>
            </a:avLst>
          </a:prstGeom>
          <a:solidFill>
            <a:srgbClr val="E3F7EA"/>
          </a:solidFill>
          <a:ln>
            <a:solidFill>
              <a:srgbClr val="A8E5BE"/>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good manners</a:t>
            </a:r>
            <a:endParaRPr lang="en-US" sz="1050" dirty="0"/>
          </a:p>
        </p:txBody>
      </p:sp>
      <p:sp>
        <p:nvSpPr>
          <p:cNvPr id="30" name="w_44"/>
          <p:cNvSpPr/>
          <p:nvPr/>
        </p:nvSpPr>
        <p:spPr>
          <a:xfrm>
            <a:off x="6135624" y="4178808"/>
            <a:ext cx="1175004" cy="310896"/>
          </a:xfrm>
          <a:prstGeom prst="roundRect">
            <a:avLst>
              <a:gd name="adj" fmla="val 50000"/>
            </a:avLst>
          </a:prstGeom>
          <a:solidFill>
            <a:srgbClr val="FFF6CC"/>
          </a:solidFill>
          <a:ln>
            <a:solidFill>
              <a:srgbClr val="FFE07A"/>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bad manners</a:t>
            </a:r>
            <a:endParaRPr lang="en-US" sz="1050" dirty="0"/>
          </a:p>
        </p:txBody>
      </p:sp>
      <p:sp>
        <p:nvSpPr>
          <p:cNvPr id="31" name="w_45"/>
          <p:cNvSpPr/>
          <p:nvPr/>
        </p:nvSpPr>
        <p:spPr>
          <a:xfrm>
            <a:off x="7383780" y="4178808"/>
            <a:ext cx="630936" cy="310896"/>
          </a:xfrm>
          <a:prstGeom prst="roundRect">
            <a:avLst>
              <a:gd name="adj" fmla="val 50000"/>
            </a:avLst>
          </a:prstGeom>
          <a:solidFill>
            <a:srgbClr val="FFE3EE"/>
          </a:solidFill>
          <a:ln>
            <a:solidFill>
              <a:srgbClr val="F7A6C4"/>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host</a:t>
            </a:r>
            <a:endParaRPr lang="en-US" sz="1050" dirty="0"/>
          </a:p>
        </p:txBody>
      </p:sp>
      <p:sp>
        <p:nvSpPr>
          <p:cNvPr id="32" name="w_46"/>
          <p:cNvSpPr/>
          <p:nvPr/>
        </p:nvSpPr>
        <p:spPr>
          <a:xfrm>
            <a:off x="3246120" y="4544568"/>
            <a:ext cx="1097280" cy="310896"/>
          </a:xfrm>
          <a:prstGeom prst="roundRect">
            <a:avLst>
              <a:gd name="adj" fmla="val 50000"/>
            </a:avLst>
          </a:prstGeom>
          <a:solidFill>
            <a:srgbClr val="E3F1FD"/>
          </a:solidFill>
          <a:ln>
            <a:solidFill>
              <a:srgbClr val="A9D3F5"/>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permission</a:t>
            </a:r>
            <a:endParaRPr lang="en-US" sz="1050" dirty="0"/>
          </a:p>
        </p:txBody>
      </p:sp>
      <p:sp>
        <p:nvSpPr>
          <p:cNvPr id="33" name="w_47"/>
          <p:cNvSpPr/>
          <p:nvPr/>
        </p:nvSpPr>
        <p:spPr>
          <a:xfrm>
            <a:off x="4416552" y="4544568"/>
            <a:ext cx="1641348" cy="310896"/>
          </a:xfrm>
          <a:prstGeom prst="roundRect">
            <a:avLst>
              <a:gd name="adj" fmla="val 50000"/>
            </a:avLst>
          </a:prstGeom>
          <a:solidFill>
            <a:srgbClr val="E3F7EA"/>
          </a:solidFill>
          <a:ln>
            <a:solidFill>
              <a:srgbClr val="A8E5BE"/>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recline your seat</a:t>
            </a:r>
            <a:endParaRPr lang="en-US" sz="1050" dirty="0"/>
          </a:p>
        </p:txBody>
      </p:sp>
      <p:sp>
        <p:nvSpPr>
          <p:cNvPr id="34" name="w_48"/>
          <p:cNvSpPr/>
          <p:nvPr/>
        </p:nvSpPr>
        <p:spPr>
          <a:xfrm>
            <a:off x="6131052" y="4544568"/>
            <a:ext cx="1330452" cy="310896"/>
          </a:xfrm>
          <a:prstGeom prst="roundRect">
            <a:avLst>
              <a:gd name="adj" fmla="val 50000"/>
            </a:avLst>
          </a:prstGeom>
          <a:solidFill>
            <a:srgbClr val="FFF6CC"/>
          </a:solidFill>
          <a:ln>
            <a:solidFill>
              <a:srgbClr val="FFE07A"/>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inconsiderate</a:t>
            </a:r>
            <a:endParaRPr lang="en-US" sz="1050" dirty="0"/>
          </a:p>
        </p:txBody>
      </p:sp>
    </p:spTree>
  </p:cSld>
  <p:clrMapOvr>
    <a:masterClrMapping/>
  </p:clrMapOvr>
  <p:transition spd="med">
    <p:push dir="l"/>
  </p:transition>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9"/>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3</a:t>
            </a:r>
            <a:endParaRPr lang="en-US" sz="2800" dirty="0"/>
          </a:p>
        </p:txBody>
      </p:sp>
      <p:pic>
        <p:nvPicPr>
          <p:cNvPr id="4" name="brY_50" descr="/home/claude/lls-course/v2/assets/brush-yellow.png">    </p:cNvPr>
          <p:cNvPicPr>
            <a:picLocks noChangeAspect="1"/>
          </p:cNvPicPr>
          <p:nvPr/>
        </p:nvPicPr>
        <p:blipFill>
          <a:blip r:embed="rId2"/>
          <a:stretch>
            <a:fillRect/>
          </a:stretch>
        </p:blipFill>
        <p:spPr>
          <a:xfrm>
            <a:off x="1097280" y="146304"/>
            <a:ext cx="3090672" cy="621792"/>
          </a:xfrm>
          <a:prstGeom prst="rect">
            <a:avLst/>
          </a:prstGeom>
        </p:spPr>
      </p:pic>
      <p:sp>
        <p:nvSpPr>
          <p:cNvPr id="5" name="title_51"/>
          <p:cNvSpPr/>
          <p:nvPr/>
        </p:nvSpPr>
        <p:spPr>
          <a:xfrm>
            <a:off x="1261872" y="164592"/>
            <a:ext cx="281635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Fix the advice!</a:t>
            </a:r>
            <a:endParaRPr lang="en-US" sz="2500" dirty="0"/>
          </a:p>
        </p:txBody>
      </p:sp>
      <p:pic>
        <p:nvPicPr>
          <p:cNvPr id="6" name="brP_52" descr="/home/claude/lls-course/v2/assets/brush-pink.png">    </p:cNvPr>
          <p:cNvPicPr>
            <a:picLocks noChangeAspect="1"/>
          </p:cNvPicPr>
          <p:nvPr/>
        </p:nvPicPr>
        <p:blipFill>
          <a:blip r:embed="rId3"/>
          <a:stretch>
            <a:fillRect/>
          </a:stretch>
        </p:blipFill>
        <p:spPr>
          <a:xfrm>
            <a:off x="1207008" y="731520"/>
            <a:ext cx="3598164" cy="402336"/>
          </a:xfrm>
          <a:prstGeom prst="rect">
            <a:avLst/>
          </a:prstGeom>
        </p:spPr>
      </p:pic>
      <p:sp>
        <p:nvSpPr>
          <p:cNvPr id="7" name="ins_53"/>
          <p:cNvSpPr/>
          <p:nvPr/>
        </p:nvSpPr>
        <p:spPr>
          <a:xfrm>
            <a:off x="1353312" y="731520"/>
            <a:ext cx="334213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Find the mistake. Fix the advice!</a:t>
            </a:r>
            <a:endParaRPr lang="en-US" sz="1250" dirty="0"/>
          </a:p>
        </p:txBody>
      </p:sp>
      <p:sp>
        <p:nvSpPr>
          <p:cNvPr id="8" name="insIT_54"/>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Trova l'errore. Correggi il consiglio!</a:t>
            </a:r>
            <a:endParaRPr lang="en-US" sz="950" dirty="0"/>
          </a:p>
        </p:txBody>
      </p:sp>
      <p:sp>
        <p:nvSpPr>
          <p:cNvPr id="9" name="cmd_55"/>
          <p:cNvSpPr/>
          <p:nvPr/>
        </p:nvSpPr>
        <p:spPr>
          <a:xfrm>
            <a:off x="6510528" y="182880"/>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PLAY</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GIOCA</a:t>
            </a:r>
            <a:endParaRPr lang="en-US" sz="1100" dirty="0"/>
          </a:p>
        </p:txBody>
      </p:sp>
      <p:sp>
        <p:nvSpPr>
          <p:cNvPr id="10" name="cmd_56"/>
          <p:cNvSpPr/>
          <p:nvPr/>
        </p:nvSpPr>
        <p:spPr>
          <a:xfrm>
            <a:off x="6510528" y="566928"/>
            <a:ext cx="1901952"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800" dirty="0">
                <a:solidFill>
                  <a:srgbClr val="000000"/>
                </a:solidFill>
              </a:rPr>
              <a:t>🔁 </a:t>
            </a:r>
            <a:pPr indent="0" marL="0">
              <a:buNone/>
            </a:pPr>
            <a:r>
              <a:rPr lang="en-US" sz="900" dirty="0">
                <a:solidFill>
                  <a:srgbClr val="E8508F"/>
                </a:solidFill>
                <a:latin typeface="Arial Rounded MT Bold" pitchFamily="34" charset="0"/>
                <a:ea typeface="Arial Rounded MT Bold" pitchFamily="34" charset="-122"/>
                <a:cs typeface="Arial Rounded MT Bold" pitchFamily="34" charset="-120"/>
              </a:rPr>
              <a:t>CHANGE THE WORD</a:t>
            </a:r>
            <a:pPr indent="0" marL="0">
              <a:buNone/>
            </a:pPr>
            <a:r>
              <a:rPr lang="en-US" sz="700" dirty="0">
                <a:solidFill>
                  <a:srgbClr val="5B6785"/>
                </a:solidFill>
                <a:latin typeface="Segoe UI Semibold" pitchFamily="34" charset="0"/>
                <a:ea typeface="Segoe UI Semibold" pitchFamily="34" charset="-122"/>
                <a:cs typeface="Segoe UI Semibold" pitchFamily="34" charset="-120"/>
              </a:rPr>
              <a:t>  CAMBIA</a:t>
            </a:r>
            <a:endParaRPr lang="en-US" sz="800" dirty="0"/>
          </a:p>
        </p:txBody>
      </p:sp>
      <p:sp>
        <p:nvSpPr>
          <p:cNvPr id="11" name="meta_57"/>
          <p:cNvSpPr/>
          <p:nvPr/>
        </p:nvSpPr>
        <p:spPr>
          <a:xfrm>
            <a:off x="6583680" y="950976"/>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teams</a:t>
            </a:r>
            <a:endParaRPr lang="en-US" sz="950" dirty="0"/>
          </a:p>
        </p:txBody>
      </p:sp>
      <p:sp>
        <p:nvSpPr>
          <p:cNvPr id="12" name="tag_58"/>
          <p:cNvSpPr/>
          <p:nvPr/>
        </p:nvSpPr>
        <p:spPr>
          <a:xfrm>
            <a:off x="6510528" y="1188720"/>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Revision</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Communicative game</a:t>
            </a:r>
            <a:endParaRPr lang="en-US" sz="850" dirty="0"/>
          </a:p>
        </p:txBody>
      </p:sp>
      <p:pic>
        <p:nvPicPr>
          <p:cNvPr id="13" name="logo_59"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60"/>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4B-1 · Warmer · last lesson   ·   📖 Recycles 4A part 2: modals of obligation and advice, manners</a:t>
            </a:r>
            <a:endParaRPr lang="en-US" sz="800" dirty="0"/>
          </a:p>
        </p:txBody>
      </p:sp>
      <p:sp>
        <p:nvSpPr>
          <p:cNvPr id="15" name="cd_61"/>
          <p:cNvSpPr/>
          <p:nvPr/>
        </p:nvSpPr>
        <p:spPr>
          <a:xfrm>
            <a:off x="320040" y="1417320"/>
            <a:ext cx="2697480" cy="2194560"/>
          </a:xfrm>
          <a:prstGeom prst="roundRect">
            <a:avLst>
              <a:gd name="adj" fmla="val 5833"/>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6" name="ii_62"/>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7" name="ih_63"/>
          <p:cNvSpPr/>
          <p:nvPr/>
        </p:nvSpPr>
        <p:spPr>
          <a:xfrm>
            <a:off x="886968" y="1508760"/>
            <a:ext cx="205740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How to play</a:t>
            </a:r>
            <a:endParaRPr lang="en-US" sz="1400" dirty="0"/>
          </a:p>
        </p:txBody>
      </p:sp>
      <p:sp>
        <p:nvSpPr>
          <p:cNvPr id="18" name="il_64"/>
          <p:cNvSpPr/>
          <p:nvPr/>
        </p:nvSpPr>
        <p:spPr>
          <a:xfrm>
            <a:off x="886968" y="1892808"/>
            <a:ext cx="2039112" cy="1645920"/>
          </a:xfrm>
          <a:prstGeom prst="rect">
            <a:avLst/>
          </a:prstGeom>
          <a:noFill/>
          <a:ln/>
        </p:spPr>
        <p:txBody>
          <a:bodyPr wrap="square" lIns="0" tIns="0" rIns="0" bIns="0" rtlCol="0" anchor="t">
            <a:normAutofit/>
          </a:bodyPr>
          <a:lstStyle/>
          <a:p>
            <a:pPr marL="190500" indent="-190500">
              <a:spcAft>
                <a:spcPts val="200"/>
              </a:spcAft>
              <a:buSzPct val="100000"/>
              <a:buChar char="1"/>
            </a:pPr>
            <a:r>
              <a:rPr lang="en-US" sz="1000" dirty="0">
                <a:solidFill>
                  <a:srgbClr val="1B2559"/>
                </a:solidFill>
                <a:latin typeface="Segoe UI" pitchFamily="34" charset="0"/>
                <a:ea typeface="Segoe UI" pitchFamily="34" charset="-122"/>
                <a:cs typeface="Segoe UI" pitchFamily="34" charset="-120"/>
              </a:rPr>
              <a:t>Read the advice. One thing is wrong!</a:t>
            </a:r>
            <a:endParaRPr lang="en-US" sz="1000" dirty="0"/>
          </a:p>
          <a:p>
            <a:pPr marL="190500" indent="-190500">
              <a:spcAft>
                <a:spcPts val="200"/>
              </a:spcAft>
              <a:buSzPct val="100000"/>
              <a:buChar char="​"/>
            </a:pPr>
            <a:r>
              <a:rPr lang="en-US" sz="900" i="1" dirty="0">
                <a:solidFill>
                  <a:srgbClr val="5B6785"/>
                </a:solidFill>
                <a:latin typeface="Segoe UI" pitchFamily="34" charset="0"/>
                <a:ea typeface="Segoe UI" pitchFamily="34" charset="-122"/>
                <a:cs typeface="Segoe UI" pitchFamily="34" charset="-120"/>
              </a:rPr>
              <a:t>Leggi il consiglio. Una cosa è sbagliata!</a:t>
            </a:r>
            <a:endParaRPr lang="en-US" sz="1000" dirty="0"/>
          </a:p>
          <a:p>
            <a:pPr marL="190500" indent="-190500">
              <a:spcBef>
                <a:spcPts val="500"/>
              </a:spcBef>
              <a:spcAft>
                <a:spcPts val="200"/>
              </a:spcAft>
              <a:buSzPct val="100000"/>
              <a:buChar char="2"/>
            </a:pPr>
            <a:r>
              <a:rPr lang="en-US" sz="1000" dirty="0">
                <a:solidFill>
                  <a:srgbClr val="1B2559"/>
                </a:solidFill>
                <a:latin typeface="Segoe UI" pitchFamily="34" charset="0"/>
                <a:ea typeface="Segoe UI" pitchFamily="34" charset="-122"/>
                <a:cs typeface="Segoe UI" pitchFamily="34" charset="-120"/>
              </a:rPr>
              <a:t>Teams: write the correct sentence.</a:t>
            </a:r>
            <a:endParaRPr lang="en-US" sz="1000" dirty="0"/>
          </a:p>
          <a:p>
            <a:pPr marL="190500" indent="-190500">
              <a:spcAft>
                <a:spcPts val="200"/>
              </a:spcAft>
              <a:buSzPct val="100000"/>
              <a:buChar char="​"/>
            </a:pPr>
            <a:r>
              <a:rPr lang="en-US" sz="900" i="1" dirty="0">
                <a:solidFill>
                  <a:srgbClr val="5B6785"/>
                </a:solidFill>
                <a:latin typeface="Segoe UI" pitchFamily="34" charset="0"/>
                <a:ea typeface="Segoe UI" pitchFamily="34" charset="-122"/>
                <a:cs typeface="Segoe UI" pitchFamily="34" charset="-120"/>
              </a:rPr>
              <a:t>Squadre: scrivete la frase corretta.</a:t>
            </a:r>
            <a:endParaRPr lang="en-US" sz="1000" dirty="0"/>
          </a:p>
          <a:p>
            <a:pPr marL="190500" indent="-190500">
              <a:spcBef>
                <a:spcPts val="500"/>
              </a:spcBef>
              <a:spcAft>
                <a:spcPts val="200"/>
              </a:spcAft>
              <a:buSzPct val="100000"/>
              <a:buChar char="3"/>
            </a:pPr>
            <a:r>
              <a:rPr lang="en-US" sz="1000" dirty="0">
                <a:solidFill>
                  <a:srgbClr val="1B2559"/>
                </a:solidFill>
                <a:latin typeface="Segoe UI" pitchFamily="34" charset="0"/>
                <a:ea typeface="Segoe UI" pitchFamily="34" charset="-122"/>
                <a:cs typeface="Segoe UI" pitchFamily="34" charset="-120"/>
              </a:rPr>
              <a:t>Correct sentence = 1 point.</a:t>
            </a:r>
            <a:endParaRPr lang="en-US" sz="1000" dirty="0"/>
          </a:p>
          <a:p>
            <a:pPr marL="190500" indent="-190500">
              <a:spcAft>
                <a:spcPts val="200"/>
              </a:spcAft>
              <a:buSzPct val="100000"/>
              <a:buChar char="​"/>
            </a:pPr>
            <a:r>
              <a:rPr lang="en-US" sz="900" i="1" dirty="0">
                <a:solidFill>
                  <a:srgbClr val="5B6785"/>
                </a:solidFill>
                <a:latin typeface="Segoe UI" pitchFamily="34" charset="0"/>
                <a:ea typeface="Segoe UI" pitchFamily="34" charset="-122"/>
                <a:cs typeface="Segoe UI" pitchFamily="34" charset="-120"/>
              </a:rPr>
              <a:t>Frase corretta = 1 punto.</a:t>
            </a:r>
            <a:endParaRPr lang="en-US" sz="1000" dirty="0"/>
          </a:p>
        </p:txBody>
      </p:sp>
      <p:sp>
        <p:nvSpPr>
          <p:cNvPr id="19" name="st_65"/>
          <p:cNvSpPr/>
          <p:nvPr/>
        </p:nvSpPr>
        <p:spPr>
          <a:xfrm rot="-180000">
            <a:off x="502920" y="3703320"/>
            <a:ext cx="2286000" cy="777240"/>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TEAM A  ☆☆☆☆☆</a:t>
            </a:r>
            <a:endParaRPr lang="en-US" sz="1250" dirty="0"/>
          </a:p>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TEAM B  ☆☆☆☆☆</a:t>
            </a:r>
            <a:endParaRPr lang="en-US" sz="1250" dirty="0"/>
          </a:p>
        </p:txBody>
      </p:sp>
      <p:sp>
        <p:nvSpPr>
          <p:cNvPr id="20" name="bd_66"/>
          <p:cNvSpPr/>
          <p:nvPr/>
        </p:nvSpPr>
        <p:spPr>
          <a:xfrm>
            <a:off x="3246120" y="1491234"/>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1" name="gq_67"/>
          <p:cNvSpPr/>
          <p:nvPr/>
        </p:nvSpPr>
        <p:spPr>
          <a:xfrm>
            <a:off x="3657600" y="1417320"/>
            <a:ext cx="2514600" cy="477012"/>
          </a:xfrm>
          <a:prstGeom prst="roundRect">
            <a:avLst>
              <a:gd name="adj" fmla="val 19169"/>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To the nephew: "You don't have to write on the walls!"</a:t>
            </a:r>
            <a:endParaRPr lang="en-US" sz="1100" dirty="0"/>
          </a:p>
        </p:txBody>
      </p:sp>
      <p:sp>
        <p:nvSpPr>
          <p:cNvPr id="22" name="R1_chip68"/>
          <p:cNvSpPr/>
          <p:nvPr/>
        </p:nvSpPr>
        <p:spPr>
          <a:xfrm>
            <a:off x="6263640" y="141732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You mustn't write on the walls!</a:t>
            </a:r>
            <a:endParaRPr lang="en-US" sz="1100" dirty="0"/>
          </a:p>
        </p:txBody>
      </p:sp>
      <p:sp>
        <p:nvSpPr>
          <p:cNvPr id="23" name="bd_69"/>
          <p:cNvSpPr/>
          <p:nvPr/>
        </p:nvSpPr>
        <p:spPr>
          <a:xfrm>
            <a:off x="3246120" y="2032254"/>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4" name="gq_70"/>
          <p:cNvSpPr/>
          <p:nvPr/>
        </p:nvSpPr>
        <p:spPr>
          <a:xfrm>
            <a:off x="3657600" y="1958340"/>
            <a:ext cx="2514600" cy="477012"/>
          </a:xfrm>
          <a:prstGeom prst="roundRect">
            <a:avLst>
              <a:gd name="adj" fmla="val 19169"/>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"You mustn't give a reason. It isn't necessary."</a:t>
            </a:r>
            <a:endParaRPr lang="en-US" sz="1100" dirty="0"/>
          </a:p>
        </p:txBody>
      </p:sp>
      <p:sp>
        <p:nvSpPr>
          <p:cNvPr id="25" name="R2_chip71"/>
          <p:cNvSpPr/>
          <p:nvPr/>
        </p:nvSpPr>
        <p:spPr>
          <a:xfrm>
            <a:off x="6263640" y="195834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You don't have to give a reason.</a:t>
            </a:r>
            <a:endParaRPr lang="en-US" sz="1100" dirty="0"/>
          </a:p>
        </p:txBody>
      </p:sp>
      <p:sp>
        <p:nvSpPr>
          <p:cNvPr id="26" name="bd_72"/>
          <p:cNvSpPr/>
          <p:nvPr/>
        </p:nvSpPr>
        <p:spPr>
          <a:xfrm>
            <a:off x="3246120" y="257327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7" name="gq_73"/>
          <p:cNvSpPr/>
          <p:nvPr/>
        </p:nvSpPr>
        <p:spPr>
          <a:xfrm>
            <a:off x="3657600" y="2499360"/>
            <a:ext cx="2514600" cy="477012"/>
          </a:xfrm>
          <a:prstGeom prst="roundRect">
            <a:avLst>
              <a:gd name="adj" fmla="val 19169"/>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"You should to say how you feel."</a:t>
            </a:r>
            <a:endParaRPr lang="en-US" sz="1100" dirty="0"/>
          </a:p>
        </p:txBody>
      </p:sp>
      <p:sp>
        <p:nvSpPr>
          <p:cNvPr id="28" name="R3_chip74"/>
          <p:cNvSpPr/>
          <p:nvPr/>
        </p:nvSpPr>
        <p:spPr>
          <a:xfrm>
            <a:off x="6263640" y="249936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You should say how you feel.</a:t>
            </a:r>
            <a:endParaRPr lang="en-US" sz="1100" dirty="0"/>
          </a:p>
        </p:txBody>
      </p:sp>
      <p:sp>
        <p:nvSpPr>
          <p:cNvPr id="29" name="bd_75"/>
          <p:cNvSpPr/>
          <p:nvPr/>
        </p:nvSpPr>
        <p:spPr>
          <a:xfrm>
            <a:off x="3246120" y="3114294"/>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30" name="gq_76"/>
          <p:cNvSpPr/>
          <p:nvPr/>
        </p:nvSpPr>
        <p:spPr>
          <a:xfrm>
            <a:off x="3657600" y="3040380"/>
            <a:ext cx="2514600" cy="477012"/>
          </a:xfrm>
          <a:prstGeom prst="roundRect">
            <a:avLst>
              <a:gd name="adj" fmla="val 19169"/>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"I think you ought behave well."</a:t>
            </a:r>
            <a:endParaRPr lang="en-US" sz="1100" dirty="0"/>
          </a:p>
        </p:txBody>
      </p:sp>
      <p:sp>
        <p:nvSpPr>
          <p:cNvPr id="31" name="R4_chip77"/>
          <p:cNvSpPr/>
          <p:nvPr/>
        </p:nvSpPr>
        <p:spPr>
          <a:xfrm>
            <a:off x="6263640" y="304038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I think you ought to behave well.</a:t>
            </a:r>
            <a:endParaRPr lang="en-US" sz="1100" dirty="0"/>
          </a:p>
        </p:txBody>
      </p:sp>
      <p:sp>
        <p:nvSpPr>
          <p:cNvPr id="32" name="bd_78"/>
          <p:cNvSpPr/>
          <p:nvPr/>
        </p:nvSpPr>
        <p:spPr>
          <a:xfrm>
            <a:off x="3246120" y="3655314"/>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33" name="gq_79"/>
          <p:cNvSpPr/>
          <p:nvPr/>
        </p:nvSpPr>
        <p:spPr>
          <a:xfrm>
            <a:off x="3657600" y="3581400"/>
            <a:ext cx="2514600" cy="477012"/>
          </a:xfrm>
          <a:prstGeom prst="roundRect">
            <a:avLst>
              <a:gd name="adj" fmla="val 19169"/>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"On short flights, you must recline your seat."</a:t>
            </a:r>
            <a:endParaRPr lang="en-US" sz="1100" dirty="0"/>
          </a:p>
        </p:txBody>
      </p:sp>
      <p:sp>
        <p:nvSpPr>
          <p:cNvPr id="34" name="R5_chip80"/>
          <p:cNvSpPr/>
          <p:nvPr/>
        </p:nvSpPr>
        <p:spPr>
          <a:xfrm>
            <a:off x="6263640" y="358140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You shouldn't recline your seat on short flights.</a:t>
            </a:r>
            <a:endParaRPr lang="en-US" sz="1100" dirty="0"/>
          </a:p>
        </p:txBody>
      </p:sp>
      <p:sp>
        <p:nvSpPr>
          <p:cNvPr id="35" name="bd_81"/>
          <p:cNvSpPr/>
          <p:nvPr/>
        </p:nvSpPr>
        <p:spPr>
          <a:xfrm>
            <a:off x="3246120" y="4196334"/>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6</a:t>
            </a:r>
            <a:endParaRPr lang="en-US" sz="1100" dirty="0"/>
          </a:p>
        </p:txBody>
      </p:sp>
      <p:sp>
        <p:nvSpPr>
          <p:cNvPr id="36" name="gq_82"/>
          <p:cNvSpPr/>
          <p:nvPr/>
        </p:nvSpPr>
        <p:spPr>
          <a:xfrm>
            <a:off x="3657600" y="4122420"/>
            <a:ext cx="2514600" cy="477012"/>
          </a:xfrm>
          <a:prstGeom prst="roundRect">
            <a:avLst>
              <a:gd name="adj" fmla="val 19169"/>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"It's polite to eat smelly food on the train."</a:t>
            </a:r>
            <a:endParaRPr lang="en-US" sz="1100" dirty="0"/>
          </a:p>
        </p:txBody>
      </p:sp>
      <p:sp>
        <p:nvSpPr>
          <p:cNvPr id="37" name="R6_chip83"/>
          <p:cNvSpPr/>
          <p:nvPr/>
        </p:nvSpPr>
        <p:spPr>
          <a:xfrm>
            <a:off x="6263640" y="412242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It's rude / inconsiderate to eat smelly food on the train.</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400"/>
                                        <p:tgtEl>
                                          <p:spTgt spid="2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5"/>
                                        </p:tgtEl>
                                        <p:attrNameLst>
                                          <p:attrName>style.visibility</p:attrName>
                                        </p:attrNameLst>
                                      </p:cBhvr>
                                      <p:to>
                                        <p:strVal val="visible"/>
                                      </p:to>
                                    </p:set>
                                    <p:animEffect transition="in" filter="fade">
                                      <p:cBhvr>
                                        <p:cTn id="12" dur="400"/>
                                        <p:tgtEl>
                                          <p:spTgt spid="2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8"/>
                                        </p:tgtEl>
                                        <p:attrNameLst>
                                          <p:attrName>style.visibility</p:attrName>
                                        </p:attrNameLst>
                                      </p:cBhvr>
                                      <p:to>
                                        <p:strVal val="visible"/>
                                      </p:to>
                                    </p:set>
                                    <p:animEffect transition="in" filter="fade">
                                      <p:cBhvr>
                                        <p:cTn id="17" dur="400"/>
                                        <p:tgtEl>
                                          <p:spTgt spid="28"/>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1"/>
                                        </p:tgtEl>
                                        <p:attrNameLst>
                                          <p:attrName>style.visibility</p:attrName>
                                        </p:attrNameLst>
                                      </p:cBhvr>
                                      <p:to>
                                        <p:strVal val="visible"/>
                                      </p:to>
                                    </p:set>
                                    <p:animEffect transition="in" filter="fade">
                                      <p:cBhvr>
                                        <p:cTn id="22" dur="400"/>
                                        <p:tgtEl>
                                          <p:spTgt spid="3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4"/>
                                        </p:tgtEl>
                                        <p:attrNameLst>
                                          <p:attrName>style.visibility</p:attrName>
                                        </p:attrNameLst>
                                      </p:cBhvr>
                                      <p:to>
                                        <p:strVal val="visible"/>
                                      </p:to>
                                    </p:set>
                                    <p:animEffect transition="in" filter="fade">
                                      <p:cBhvr>
                                        <p:cTn id="27" dur="400"/>
                                        <p:tgtEl>
                                          <p:spTgt spid="34"/>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7"/>
                                        </p:tgtEl>
                                        <p:attrNameLst>
                                          <p:attrName>style.visibility</p:attrName>
                                        </p:attrNameLst>
                                      </p:cBhvr>
                                      <p:to>
                                        <p:strVal val="visible"/>
                                      </p:to>
                                    </p:set>
                                    <p:animEffect transition="in" filter="fade">
                                      <p:cBhvr>
                                        <p:cTn id="32" dur="400"/>
                                        <p:tgtEl>
                                          <p:spTgt spid="3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84"/>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4</a:t>
            </a:r>
            <a:endParaRPr lang="en-US" sz="2800" dirty="0"/>
          </a:p>
        </p:txBody>
      </p:sp>
      <p:pic>
        <p:nvPicPr>
          <p:cNvPr id="4" name="brY_85" descr="/home/claude/lls-course/v2/assets/brush-yellow.png">    </p:cNvPr>
          <p:cNvPicPr>
            <a:picLocks noChangeAspect="1"/>
          </p:cNvPicPr>
          <p:nvPr/>
        </p:nvPicPr>
        <p:blipFill>
          <a:blip r:embed="rId2"/>
          <a:stretch>
            <a:fillRect/>
          </a:stretch>
        </p:blipFill>
        <p:spPr>
          <a:xfrm>
            <a:off x="1097280" y="146304"/>
            <a:ext cx="1675181" cy="621792"/>
          </a:xfrm>
          <a:prstGeom prst="rect">
            <a:avLst/>
          </a:prstGeom>
        </p:spPr>
      </p:pic>
      <p:sp>
        <p:nvSpPr>
          <p:cNvPr id="5" name="title_86"/>
          <p:cNvSpPr/>
          <p:nvPr/>
        </p:nvSpPr>
        <p:spPr>
          <a:xfrm>
            <a:off x="1261872" y="164592"/>
            <a:ext cx="1400861"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Skills</a:t>
            </a:r>
            <a:endParaRPr lang="en-US" sz="2500" dirty="0"/>
          </a:p>
        </p:txBody>
      </p:sp>
      <p:pic>
        <p:nvPicPr>
          <p:cNvPr id="6" name="brP_87" descr="/home/claude/lls-course/v2/assets/brush-pink.png">    </p:cNvPr>
          <p:cNvPicPr>
            <a:picLocks noChangeAspect="1"/>
          </p:cNvPicPr>
          <p:nvPr/>
        </p:nvPicPr>
        <p:blipFill>
          <a:blip r:embed="rId3"/>
          <a:stretch>
            <a:fillRect/>
          </a:stretch>
        </p:blipFill>
        <p:spPr>
          <a:xfrm>
            <a:off x="1207008" y="731520"/>
            <a:ext cx="3337560" cy="402336"/>
          </a:xfrm>
          <a:prstGeom prst="rect">
            <a:avLst/>
          </a:prstGeom>
        </p:spPr>
      </p:pic>
      <p:sp>
        <p:nvSpPr>
          <p:cNvPr id="7" name="ins_88"/>
          <p:cNvSpPr/>
          <p:nvPr/>
        </p:nvSpPr>
        <p:spPr>
          <a:xfrm>
            <a:off x="1353312" y="731520"/>
            <a:ext cx="308152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Say it in Italian. Then click!</a:t>
            </a:r>
            <a:endParaRPr lang="en-US" sz="1250" dirty="0"/>
          </a:p>
        </p:txBody>
      </p:sp>
      <p:sp>
        <p:nvSpPr>
          <p:cNvPr id="8" name="insIT_89"/>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Dillo in italiano. Poi clicca!</a:t>
            </a:r>
            <a:endParaRPr lang="en-US" sz="950" dirty="0"/>
          </a:p>
        </p:txBody>
      </p:sp>
      <p:sp>
        <p:nvSpPr>
          <p:cNvPr id="9" name="cmd_90"/>
          <p:cNvSpPr/>
          <p:nvPr/>
        </p:nvSpPr>
        <p:spPr>
          <a:xfrm>
            <a:off x="6510528" y="182880"/>
            <a:ext cx="1901952"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CHECK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CONTROLLA</a:t>
            </a:r>
            <a:endParaRPr lang="en-US" sz="1100" dirty="0"/>
          </a:p>
        </p:txBody>
      </p:sp>
      <p:sp>
        <p:nvSpPr>
          <p:cNvPr id="10" name="meta_91"/>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whole class</a:t>
            </a:r>
            <a:endParaRPr lang="en-US" sz="950" dirty="0"/>
          </a:p>
        </p:txBody>
      </p:sp>
      <p:pic>
        <p:nvPicPr>
          <p:cNvPr id="11" name="logo_92"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2" name="foot_93"/>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4B-1 · Lead-in · skills   ·   📖 SB p.40 · 1a</a:t>
            </a:r>
            <a:endParaRPr lang="en-US" sz="800" dirty="0"/>
          </a:p>
        </p:txBody>
      </p:sp>
      <p:sp>
        <p:nvSpPr>
          <p:cNvPr id="13" name="cd_94"/>
          <p:cNvSpPr/>
          <p:nvPr/>
        </p:nvSpPr>
        <p:spPr>
          <a:xfrm>
            <a:off x="320040" y="1417320"/>
            <a:ext cx="2075688" cy="731520"/>
          </a:xfrm>
          <a:prstGeom prst="roundRect">
            <a:avLst>
              <a:gd name="adj" fmla="val 17500"/>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14" name="e_95"/>
          <p:cNvSpPr/>
          <p:nvPr/>
        </p:nvSpPr>
        <p:spPr>
          <a:xfrm>
            <a:off x="393192" y="152704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15" name="en_96"/>
          <p:cNvSpPr/>
          <p:nvPr/>
        </p:nvSpPr>
        <p:spPr>
          <a:xfrm>
            <a:off x="978408" y="1472184"/>
            <a:ext cx="1362456" cy="329184"/>
          </a:xfrm>
          <a:prstGeom prst="rect">
            <a:avLst/>
          </a:prstGeom>
          <a:noFill/>
          <a:ln/>
        </p:spPr>
        <p:txBody>
          <a:bodyPr wrap="square" lIns="0" tIns="0" rIns="0" bIns="0" rtlCol="0" anchor="ctr">
            <a:normAutofit/>
          </a:bodyPr>
          <a:lstStyle/>
          <a:p>
            <a:pP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change a car wheel</a:t>
            </a:r>
            <a:endParaRPr lang="en-US" sz="1050" dirty="0"/>
          </a:p>
        </p:txBody>
      </p:sp>
      <p:sp>
        <p:nvSpPr>
          <p:cNvPr id="16" name="R1_it97"/>
          <p:cNvSpPr/>
          <p:nvPr/>
        </p:nvSpPr>
        <p:spPr>
          <a:xfrm>
            <a:off x="978408" y="180136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cambiare una ruota</a:t>
            </a:r>
            <a:endParaRPr lang="en-US" sz="1000" dirty="0"/>
          </a:p>
        </p:txBody>
      </p:sp>
      <p:sp>
        <p:nvSpPr>
          <p:cNvPr id="17" name="cd_98"/>
          <p:cNvSpPr/>
          <p:nvPr/>
        </p:nvSpPr>
        <p:spPr>
          <a:xfrm>
            <a:off x="2487168" y="1417320"/>
            <a:ext cx="2075688" cy="731520"/>
          </a:xfrm>
          <a:prstGeom prst="roundRect">
            <a:avLst>
              <a:gd name="adj" fmla="val 17500"/>
            </a:avLst>
          </a:prstGeom>
          <a:solidFill>
            <a:srgbClr val="FFFFFF"/>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18" name="e_99"/>
          <p:cNvSpPr/>
          <p:nvPr/>
        </p:nvSpPr>
        <p:spPr>
          <a:xfrm>
            <a:off x="2560320" y="152704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19" name="en_100"/>
          <p:cNvSpPr/>
          <p:nvPr/>
        </p:nvSpPr>
        <p:spPr>
          <a:xfrm>
            <a:off x="3145536"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dance salsa</a:t>
            </a:r>
            <a:endParaRPr lang="en-US" sz="1200" dirty="0"/>
          </a:p>
        </p:txBody>
      </p:sp>
      <p:sp>
        <p:nvSpPr>
          <p:cNvPr id="20" name="R2_it101"/>
          <p:cNvSpPr/>
          <p:nvPr/>
        </p:nvSpPr>
        <p:spPr>
          <a:xfrm>
            <a:off x="3145536" y="180136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ballare la salsa</a:t>
            </a:r>
            <a:endParaRPr lang="en-US" sz="1000" dirty="0"/>
          </a:p>
        </p:txBody>
      </p:sp>
      <p:sp>
        <p:nvSpPr>
          <p:cNvPr id="21" name="cd_102"/>
          <p:cNvSpPr/>
          <p:nvPr/>
        </p:nvSpPr>
        <p:spPr>
          <a:xfrm>
            <a:off x="4654296" y="1417320"/>
            <a:ext cx="2075688" cy="731520"/>
          </a:xfrm>
          <a:prstGeom prst="roundRect">
            <a:avLst>
              <a:gd name="adj" fmla="val 17500"/>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22" name="e_103"/>
          <p:cNvSpPr/>
          <p:nvPr/>
        </p:nvSpPr>
        <p:spPr>
          <a:xfrm>
            <a:off x="4727448" y="152704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23" name="en_104"/>
          <p:cNvSpPr/>
          <p:nvPr/>
        </p:nvSpPr>
        <p:spPr>
          <a:xfrm>
            <a:off x="5312664"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do yoga</a:t>
            </a:r>
            <a:endParaRPr lang="en-US" sz="1200" dirty="0"/>
          </a:p>
        </p:txBody>
      </p:sp>
      <p:sp>
        <p:nvSpPr>
          <p:cNvPr id="24" name="R3_it105"/>
          <p:cNvSpPr/>
          <p:nvPr/>
        </p:nvSpPr>
        <p:spPr>
          <a:xfrm>
            <a:off x="5312664" y="180136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fare yoga</a:t>
            </a:r>
            <a:endParaRPr lang="en-US" sz="1000" dirty="0"/>
          </a:p>
        </p:txBody>
      </p:sp>
      <p:sp>
        <p:nvSpPr>
          <p:cNvPr id="25" name="cd_106"/>
          <p:cNvSpPr/>
          <p:nvPr/>
        </p:nvSpPr>
        <p:spPr>
          <a:xfrm>
            <a:off x="6821424" y="1417320"/>
            <a:ext cx="2075688" cy="731520"/>
          </a:xfrm>
          <a:prstGeom prst="roundRect">
            <a:avLst>
              <a:gd name="adj" fmla="val 17500"/>
            </a:avLst>
          </a:prstGeom>
          <a:solidFill>
            <a:srgbClr val="FFFFFF"/>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6" name="e_107"/>
          <p:cNvSpPr/>
          <p:nvPr/>
        </p:nvSpPr>
        <p:spPr>
          <a:xfrm>
            <a:off x="6894576" y="152704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27" name="en_108"/>
          <p:cNvSpPr/>
          <p:nvPr/>
        </p:nvSpPr>
        <p:spPr>
          <a:xfrm>
            <a:off x="7479792"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knit or sew</a:t>
            </a:r>
            <a:endParaRPr lang="en-US" sz="1200" dirty="0"/>
          </a:p>
        </p:txBody>
      </p:sp>
      <p:sp>
        <p:nvSpPr>
          <p:cNvPr id="28" name="R4_it109"/>
          <p:cNvSpPr/>
          <p:nvPr/>
        </p:nvSpPr>
        <p:spPr>
          <a:xfrm>
            <a:off x="7479792" y="1801368"/>
            <a:ext cx="1362456" cy="292608"/>
          </a:xfrm>
          <a:prstGeom prst="rect">
            <a:avLst/>
          </a:prstGeom>
          <a:noFill/>
          <a:ln/>
        </p:spPr>
        <p:txBody>
          <a:bodyPr wrap="square" lIns="0" tIns="0" rIns="0" bIns="0" rtlCol="0" anchor="ctr">
            <a:normAutofit/>
          </a:bodyPr>
          <a:lstStyle/>
          <a:p>
            <a:pPr indent="0" marL="0">
              <a:buNone/>
            </a:pPr>
            <a:r>
              <a:rPr lang="en-US" sz="800" i="1" dirty="0">
                <a:solidFill>
                  <a:srgbClr val="2EB872"/>
                </a:solidFill>
                <a:latin typeface="Segoe UI Semibold" pitchFamily="34" charset="0"/>
                <a:ea typeface="Segoe UI Semibold" pitchFamily="34" charset="-122"/>
                <a:cs typeface="Segoe UI Semibold" pitchFamily="34" charset="-120"/>
              </a:rPr>
              <a:t>lavorare a maglia / cucire</a:t>
            </a:r>
            <a:endParaRPr lang="en-US" sz="800" dirty="0"/>
          </a:p>
        </p:txBody>
      </p:sp>
      <p:sp>
        <p:nvSpPr>
          <p:cNvPr id="29" name="cd_110"/>
          <p:cNvSpPr/>
          <p:nvPr/>
        </p:nvSpPr>
        <p:spPr>
          <a:xfrm>
            <a:off x="320040" y="2240280"/>
            <a:ext cx="2075688" cy="731520"/>
          </a:xfrm>
          <a:prstGeom prst="roundRect">
            <a:avLst>
              <a:gd name="adj" fmla="val 17500"/>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30" name="e_111"/>
          <p:cNvSpPr/>
          <p:nvPr/>
        </p:nvSpPr>
        <p:spPr>
          <a:xfrm>
            <a:off x="393192" y="235000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31" name="en_112"/>
          <p:cNvSpPr/>
          <p:nvPr/>
        </p:nvSpPr>
        <p:spPr>
          <a:xfrm>
            <a:off x="978408" y="2295144"/>
            <a:ext cx="1362456" cy="329184"/>
          </a:xfrm>
          <a:prstGeom prst="rect">
            <a:avLst/>
          </a:prstGeom>
          <a:noFill/>
          <a:ln/>
        </p:spPr>
        <p:txBody>
          <a:bodyPr wrap="square" lIns="0" tIns="0" rIns="0" bIns="0" rtlCol="0" anchor="ctr">
            <a:normAutofit/>
          </a:bodyPr>
          <a:lstStyle/>
          <a:p>
            <a:pPr indent="0" marL="0">
              <a:buNone/>
            </a:pPr>
            <a:r>
              <a:rPr lang="en-US" sz="1000" dirty="0">
                <a:solidFill>
                  <a:srgbClr val="1B2559"/>
                </a:solidFill>
                <a:latin typeface="Arial Rounded MT Bold" pitchFamily="34" charset="0"/>
                <a:ea typeface="Arial Rounded MT Bold" pitchFamily="34" charset="-122"/>
                <a:cs typeface="Arial Rounded MT Bold" pitchFamily="34" charset="-120"/>
              </a:rPr>
              <a:t>play a musical instrument</a:t>
            </a:r>
            <a:endParaRPr lang="en-US" sz="1000" dirty="0"/>
          </a:p>
        </p:txBody>
      </p:sp>
      <p:sp>
        <p:nvSpPr>
          <p:cNvPr id="32" name="R5_it113"/>
          <p:cNvSpPr/>
          <p:nvPr/>
        </p:nvSpPr>
        <p:spPr>
          <a:xfrm>
            <a:off x="978408" y="2624328"/>
            <a:ext cx="1362456" cy="292608"/>
          </a:xfrm>
          <a:prstGeom prst="rect">
            <a:avLst/>
          </a:prstGeom>
          <a:noFill/>
          <a:ln/>
        </p:spPr>
        <p:txBody>
          <a:bodyPr wrap="square" lIns="0" tIns="0" rIns="0" bIns="0" rtlCol="0" anchor="ctr">
            <a:normAutofit/>
          </a:bodyPr>
          <a:lstStyle/>
          <a:p>
            <a:pPr indent="0" marL="0">
              <a:buNone/>
            </a:pPr>
            <a:r>
              <a:rPr lang="en-US" sz="850" i="1" dirty="0">
                <a:solidFill>
                  <a:srgbClr val="2EB872"/>
                </a:solidFill>
                <a:latin typeface="Segoe UI Semibold" pitchFamily="34" charset="0"/>
                <a:ea typeface="Segoe UI Semibold" pitchFamily="34" charset="-122"/>
                <a:cs typeface="Segoe UI Semibold" pitchFamily="34" charset="-120"/>
              </a:rPr>
              <a:t>suonare uno strumento</a:t>
            </a:r>
            <a:endParaRPr lang="en-US" sz="850" dirty="0"/>
          </a:p>
        </p:txBody>
      </p:sp>
      <p:sp>
        <p:nvSpPr>
          <p:cNvPr id="33" name="cd_114"/>
          <p:cNvSpPr/>
          <p:nvPr/>
        </p:nvSpPr>
        <p:spPr>
          <a:xfrm>
            <a:off x="2487168" y="2240280"/>
            <a:ext cx="2075688" cy="731520"/>
          </a:xfrm>
          <a:prstGeom prst="roundRect">
            <a:avLst>
              <a:gd name="adj" fmla="val 17500"/>
            </a:avLst>
          </a:prstGeom>
          <a:solidFill>
            <a:srgbClr val="FFFFFF"/>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34" name="e_115"/>
          <p:cNvSpPr/>
          <p:nvPr/>
        </p:nvSpPr>
        <p:spPr>
          <a:xfrm>
            <a:off x="2560320" y="235000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35" name="en_116"/>
          <p:cNvSpPr/>
          <p:nvPr/>
        </p:nvSpPr>
        <p:spPr>
          <a:xfrm>
            <a:off x="3145536"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play tennis</a:t>
            </a:r>
            <a:endParaRPr lang="en-US" sz="1200" dirty="0"/>
          </a:p>
        </p:txBody>
      </p:sp>
      <p:sp>
        <p:nvSpPr>
          <p:cNvPr id="36" name="R6_it117"/>
          <p:cNvSpPr/>
          <p:nvPr/>
        </p:nvSpPr>
        <p:spPr>
          <a:xfrm>
            <a:off x="3145536"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giocare a tennis</a:t>
            </a:r>
            <a:endParaRPr lang="en-US" sz="1000" dirty="0"/>
          </a:p>
        </p:txBody>
      </p:sp>
      <p:sp>
        <p:nvSpPr>
          <p:cNvPr id="37" name="cd_118"/>
          <p:cNvSpPr/>
          <p:nvPr/>
        </p:nvSpPr>
        <p:spPr>
          <a:xfrm>
            <a:off x="4654296" y="2240280"/>
            <a:ext cx="2075688" cy="731520"/>
          </a:xfrm>
          <a:prstGeom prst="roundRect">
            <a:avLst>
              <a:gd name="adj" fmla="val 17500"/>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38" name="e_119"/>
          <p:cNvSpPr/>
          <p:nvPr/>
        </p:nvSpPr>
        <p:spPr>
          <a:xfrm>
            <a:off x="4727448" y="235000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39" name="en_120"/>
          <p:cNvSpPr/>
          <p:nvPr/>
        </p:nvSpPr>
        <p:spPr>
          <a:xfrm>
            <a:off x="5312664"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ride a bike</a:t>
            </a:r>
            <a:endParaRPr lang="en-US" sz="1200" dirty="0"/>
          </a:p>
        </p:txBody>
      </p:sp>
      <p:sp>
        <p:nvSpPr>
          <p:cNvPr id="40" name="R7_it121"/>
          <p:cNvSpPr/>
          <p:nvPr/>
        </p:nvSpPr>
        <p:spPr>
          <a:xfrm>
            <a:off x="5312664"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andare in bici</a:t>
            </a:r>
            <a:endParaRPr lang="en-US" sz="1000" dirty="0"/>
          </a:p>
        </p:txBody>
      </p:sp>
      <p:sp>
        <p:nvSpPr>
          <p:cNvPr id="41" name="cd_122"/>
          <p:cNvSpPr/>
          <p:nvPr/>
        </p:nvSpPr>
        <p:spPr>
          <a:xfrm>
            <a:off x="6821424" y="2240280"/>
            <a:ext cx="2075688" cy="731520"/>
          </a:xfrm>
          <a:prstGeom prst="roundRect">
            <a:avLst>
              <a:gd name="adj" fmla="val 17500"/>
            </a:avLst>
          </a:prstGeom>
          <a:solidFill>
            <a:srgbClr val="FFFFFF"/>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42" name="e_123"/>
          <p:cNvSpPr/>
          <p:nvPr/>
        </p:nvSpPr>
        <p:spPr>
          <a:xfrm>
            <a:off x="6894576" y="235000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43" name="en_124"/>
          <p:cNvSpPr/>
          <p:nvPr/>
        </p:nvSpPr>
        <p:spPr>
          <a:xfrm>
            <a:off x="7479792"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run 5 km</a:t>
            </a:r>
            <a:endParaRPr lang="en-US" sz="1200" dirty="0"/>
          </a:p>
        </p:txBody>
      </p:sp>
      <p:sp>
        <p:nvSpPr>
          <p:cNvPr id="44" name="R8_it125"/>
          <p:cNvSpPr/>
          <p:nvPr/>
        </p:nvSpPr>
        <p:spPr>
          <a:xfrm>
            <a:off x="7479792"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correre 5 km</a:t>
            </a:r>
            <a:endParaRPr lang="en-US" sz="1000" dirty="0"/>
          </a:p>
        </p:txBody>
      </p:sp>
      <p:sp>
        <p:nvSpPr>
          <p:cNvPr id="45" name="cd_126"/>
          <p:cNvSpPr/>
          <p:nvPr/>
        </p:nvSpPr>
        <p:spPr>
          <a:xfrm>
            <a:off x="320040" y="3063240"/>
            <a:ext cx="2075688" cy="731520"/>
          </a:xfrm>
          <a:prstGeom prst="roundRect">
            <a:avLst>
              <a:gd name="adj" fmla="val 17500"/>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46" name="e_127"/>
          <p:cNvSpPr/>
          <p:nvPr/>
        </p:nvSpPr>
        <p:spPr>
          <a:xfrm>
            <a:off x="393192" y="317296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47" name="en_128"/>
          <p:cNvSpPr/>
          <p:nvPr/>
        </p:nvSpPr>
        <p:spPr>
          <a:xfrm>
            <a:off x="978408"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sing well</a:t>
            </a:r>
            <a:endParaRPr lang="en-US" sz="1200" dirty="0"/>
          </a:p>
        </p:txBody>
      </p:sp>
      <p:sp>
        <p:nvSpPr>
          <p:cNvPr id="48" name="R9_it129"/>
          <p:cNvSpPr/>
          <p:nvPr/>
        </p:nvSpPr>
        <p:spPr>
          <a:xfrm>
            <a:off x="978408"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cantare bene</a:t>
            </a:r>
            <a:endParaRPr lang="en-US" sz="1000" dirty="0"/>
          </a:p>
        </p:txBody>
      </p:sp>
      <p:sp>
        <p:nvSpPr>
          <p:cNvPr id="49" name="cd_130"/>
          <p:cNvSpPr/>
          <p:nvPr/>
        </p:nvSpPr>
        <p:spPr>
          <a:xfrm>
            <a:off x="2487168" y="3063240"/>
            <a:ext cx="2075688" cy="731520"/>
          </a:xfrm>
          <a:prstGeom prst="roundRect">
            <a:avLst>
              <a:gd name="adj" fmla="val 17500"/>
            </a:avLst>
          </a:prstGeom>
          <a:solidFill>
            <a:srgbClr val="FFFFFF"/>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50" name="e_131"/>
          <p:cNvSpPr/>
          <p:nvPr/>
        </p:nvSpPr>
        <p:spPr>
          <a:xfrm>
            <a:off x="2560320" y="317296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51" name="en_132"/>
          <p:cNvSpPr/>
          <p:nvPr/>
        </p:nvSpPr>
        <p:spPr>
          <a:xfrm>
            <a:off x="3145536"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ski</a:t>
            </a:r>
            <a:endParaRPr lang="en-US" sz="1200" dirty="0"/>
          </a:p>
        </p:txBody>
      </p:sp>
      <p:sp>
        <p:nvSpPr>
          <p:cNvPr id="52" name="R10_it133"/>
          <p:cNvSpPr/>
          <p:nvPr/>
        </p:nvSpPr>
        <p:spPr>
          <a:xfrm>
            <a:off x="3145536"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sciare</a:t>
            </a:r>
            <a:endParaRPr lang="en-US" sz="1000" dirty="0"/>
          </a:p>
        </p:txBody>
      </p:sp>
      <p:sp>
        <p:nvSpPr>
          <p:cNvPr id="53" name="cd_134"/>
          <p:cNvSpPr/>
          <p:nvPr/>
        </p:nvSpPr>
        <p:spPr>
          <a:xfrm>
            <a:off x="4654296" y="3063240"/>
            <a:ext cx="2075688" cy="731520"/>
          </a:xfrm>
          <a:prstGeom prst="roundRect">
            <a:avLst>
              <a:gd name="adj" fmla="val 17500"/>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54" name="e_135"/>
          <p:cNvSpPr/>
          <p:nvPr/>
        </p:nvSpPr>
        <p:spPr>
          <a:xfrm>
            <a:off x="4727448" y="317296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55" name="en_136"/>
          <p:cNvSpPr/>
          <p:nvPr/>
        </p:nvSpPr>
        <p:spPr>
          <a:xfrm>
            <a:off x="5312664" y="3118104"/>
            <a:ext cx="1362456" cy="329184"/>
          </a:xfrm>
          <a:prstGeom prst="rect">
            <a:avLst/>
          </a:prstGeom>
          <a:noFill/>
          <a:ln/>
        </p:spPr>
        <p:txBody>
          <a:bodyPr wrap="square" lIns="0" tIns="0" rIns="0" bIns="0" rtlCol="0" anchor="ctr">
            <a:normAutofit/>
          </a:bodyPr>
          <a:lstStyle/>
          <a:p>
            <a:pP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take good photos</a:t>
            </a:r>
            <a:endParaRPr lang="en-US" sz="1150" dirty="0"/>
          </a:p>
        </p:txBody>
      </p:sp>
      <p:sp>
        <p:nvSpPr>
          <p:cNvPr id="56" name="R11_it137"/>
          <p:cNvSpPr/>
          <p:nvPr/>
        </p:nvSpPr>
        <p:spPr>
          <a:xfrm>
            <a:off x="5312664"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fare belle foto</a:t>
            </a:r>
            <a:endParaRPr lang="en-US" sz="1000" dirty="0"/>
          </a:p>
        </p:txBody>
      </p:sp>
      <p:sp>
        <p:nvSpPr>
          <p:cNvPr id="57" name="cd_138"/>
          <p:cNvSpPr/>
          <p:nvPr/>
        </p:nvSpPr>
        <p:spPr>
          <a:xfrm>
            <a:off x="6821424" y="3063240"/>
            <a:ext cx="2075688" cy="731520"/>
          </a:xfrm>
          <a:prstGeom prst="roundRect">
            <a:avLst>
              <a:gd name="adj" fmla="val 17500"/>
            </a:avLst>
          </a:prstGeom>
          <a:solidFill>
            <a:srgbClr val="FFFFFF"/>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58" name="e_139"/>
          <p:cNvSpPr/>
          <p:nvPr/>
        </p:nvSpPr>
        <p:spPr>
          <a:xfrm>
            <a:off x="6894576" y="317296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59" name="en_140"/>
          <p:cNvSpPr/>
          <p:nvPr/>
        </p:nvSpPr>
        <p:spPr>
          <a:xfrm>
            <a:off x="7479792"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type fast</a:t>
            </a:r>
            <a:endParaRPr lang="en-US" sz="1200" dirty="0"/>
          </a:p>
        </p:txBody>
      </p:sp>
      <p:sp>
        <p:nvSpPr>
          <p:cNvPr id="60" name="R12_it141"/>
          <p:cNvSpPr/>
          <p:nvPr/>
        </p:nvSpPr>
        <p:spPr>
          <a:xfrm>
            <a:off x="7479792" y="3447288"/>
            <a:ext cx="1362456" cy="292608"/>
          </a:xfrm>
          <a:prstGeom prst="rect">
            <a:avLst/>
          </a:prstGeom>
          <a:noFill/>
          <a:ln/>
        </p:spPr>
        <p:txBody>
          <a:bodyPr wrap="square" lIns="0" tIns="0" rIns="0" bIns="0" rtlCol="0" anchor="ctr">
            <a:normAutofit/>
          </a:bodyPr>
          <a:lstStyle/>
          <a:p>
            <a:pPr indent="0" marL="0">
              <a:buNone/>
            </a:pPr>
            <a:r>
              <a:rPr lang="en-US" sz="800" i="1" dirty="0">
                <a:solidFill>
                  <a:srgbClr val="2EB872"/>
                </a:solidFill>
                <a:latin typeface="Segoe UI Semibold" pitchFamily="34" charset="0"/>
                <a:ea typeface="Segoe UI Semibold" pitchFamily="34" charset="-122"/>
                <a:cs typeface="Segoe UI Semibold" pitchFamily="34" charset="-120"/>
              </a:rPr>
              <a:t>scrivere veloce (al computer)</a:t>
            </a:r>
            <a:endParaRPr lang="en-US" sz="800" dirty="0"/>
          </a:p>
        </p:txBody>
      </p:sp>
      <p:sp>
        <p:nvSpPr>
          <p:cNvPr id="61" name="R13_wc142"/>
          <p:cNvSpPr/>
          <p:nvPr/>
        </p:nvSpPr>
        <p:spPr>
          <a:xfrm>
            <a:off x="320040" y="3931920"/>
            <a:ext cx="8549640" cy="457200"/>
          </a:xfrm>
          <a:prstGeom prst="roundRect">
            <a:avLst>
              <a:gd name="adj" fmla="val 28000"/>
            </a:avLst>
          </a:prstGeom>
          <a:solidFill>
            <a:srgbClr val="FFE3EE"/>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62" name="R13_w143"/>
          <p:cNvSpPr/>
          <p:nvPr/>
        </p:nvSpPr>
        <p:spPr>
          <a:xfrm>
            <a:off x="457200" y="3931920"/>
            <a:ext cx="8321040" cy="457200"/>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 Watch out!  a skill /skɪl/ = un'abilità   ·   to ski /skiː/ = sciare   |   also in the book: swim · use an Excel spreadsheet</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fade">
                                      <p:cBhvr>
                                        <p:cTn id="7" dur="400"/>
                                        <p:tgtEl>
                                          <p:spTgt spid="1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0"/>
                                        </p:tgtEl>
                                        <p:attrNameLst>
                                          <p:attrName>style.visibility</p:attrName>
                                        </p:attrNameLst>
                                      </p:cBhvr>
                                      <p:to>
                                        <p:strVal val="visible"/>
                                      </p:to>
                                    </p:set>
                                    <p:animEffect transition="in" filter="fade">
                                      <p:cBhvr>
                                        <p:cTn id="12" dur="400"/>
                                        <p:tgtEl>
                                          <p:spTgt spid="20"/>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4"/>
                                        </p:tgtEl>
                                        <p:attrNameLst>
                                          <p:attrName>style.visibility</p:attrName>
                                        </p:attrNameLst>
                                      </p:cBhvr>
                                      <p:to>
                                        <p:strVal val="visible"/>
                                      </p:to>
                                    </p:set>
                                    <p:animEffect transition="in" filter="fade">
                                      <p:cBhvr>
                                        <p:cTn id="17" dur="400"/>
                                        <p:tgtEl>
                                          <p:spTgt spid="24"/>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8"/>
                                        </p:tgtEl>
                                        <p:attrNameLst>
                                          <p:attrName>style.visibility</p:attrName>
                                        </p:attrNameLst>
                                      </p:cBhvr>
                                      <p:to>
                                        <p:strVal val="visible"/>
                                      </p:to>
                                    </p:set>
                                    <p:animEffect transition="in" filter="fade">
                                      <p:cBhvr>
                                        <p:cTn id="22" dur="400"/>
                                        <p:tgtEl>
                                          <p:spTgt spid="28"/>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2"/>
                                        </p:tgtEl>
                                        <p:attrNameLst>
                                          <p:attrName>style.visibility</p:attrName>
                                        </p:attrNameLst>
                                      </p:cBhvr>
                                      <p:to>
                                        <p:strVal val="visible"/>
                                      </p:to>
                                    </p:set>
                                    <p:animEffect transition="in" filter="fade">
                                      <p:cBhvr>
                                        <p:cTn id="27" dur="400"/>
                                        <p:tgtEl>
                                          <p:spTgt spid="32"/>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6"/>
                                        </p:tgtEl>
                                        <p:attrNameLst>
                                          <p:attrName>style.visibility</p:attrName>
                                        </p:attrNameLst>
                                      </p:cBhvr>
                                      <p:to>
                                        <p:strVal val="visible"/>
                                      </p:to>
                                    </p:set>
                                    <p:animEffect transition="in" filter="fade">
                                      <p:cBhvr>
                                        <p:cTn id="32" dur="400"/>
                                        <p:tgtEl>
                                          <p:spTgt spid="36"/>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40"/>
                                        </p:tgtEl>
                                        <p:attrNameLst>
                                          <p:attrName>style.visibility</p:attrName>
                                        </p:attrNameLst>
                                      </p:cBhvr>
                                      <p:to>
                                        <p:strVal val="visible"/>
                                      </p:to>
                                    </p:set>
                                    <p:animEffect transition="in" filter="fade">
                                      <p:cBhvr>
                                        <p:cTn id="37" dur="400"/>
                                        <p:tgtEl>
                                          <p:spTgt spid="40"/>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44"/>
                                        </p:tgtEl>
                                        <p:attrNameLst>
                                          <p:attrName>style.visibility</p:attrName>
                                        </p:attrNameLst>
                                      </p:cBhvr>
                                      <p:to>
                                        <p:strVal val="visible"/>
                                      </p:to>
                                    </p:set>
                                    <p:animEffect transition="in" filter="fade">
                                      <p:cBhvr>
                                        <p:cTn id="42" dur="400"/>
                                        <p:tgtEl>
                                          <p:spTgt spid="44"/>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48"/>
                                        </p:tgtEl>
                                        <p:attrNameLst>
                                          <p:attrName>style.visibility</p:attrName>
                                        </p:attrNameLst>
                                      </p:cBhvr>
                                      <p:to>
                                        <p:strVal val="visible"/>
                                      </p:to>
                                    </p:set>
                                    <p:animEffect transition="in" filter="fade">
                                      <p:cBhvr>
                                        <p:cTn id="47" dur="400"/>
                                        <p:tgtEl>
                                          <p:spTgt spid="48"/>
                                        </p:tgtEl>
                                      </p:cBhvr>
                                    </p:animEffect>
                                  </p:childTnLst>
                                </p:cTn>
                              </p:par>
                            </p:childTnLst>
                          </p:cTn>
                        </p:par>
                      </p:childTnLst>
                    </p:cTn>
                  </p:par>
                  <p:par>
                    <p:cTn id="48" fill="hold">
                      <p:stCondLst>
                        <p:cond delay="indefinite"/>
                      </p:stCondLst>
                      <p:childTnLst>
                        <p:par>
                          <p:cTn id="49" fill="hold">
                            <p:stCondLst>
                              <p:cond delay="0"/>
                            </p:stCondLst>
                            <p:childTnLst>
                              <p:par>
                                <p:cTn id="50" presetID="10" presetClass="entr" presetSubtype="0" fill="hold" nodeType="clickEffect">
                                  <p:stCondLst>
                                    <p:cond delay="0"/>
                                  </p:stCondLst>
                                  <p:childTnLst>
                                    <p:set>
                                      <p:cBhvr>
                                        <p:cTn id="51" dur="1" fill="hold">
                                          <p:stCondLst>
                                            <p:cond delay="0"/>
                                          </p:stCondLst>
                                        </p:cTn>
                                        <p:tgtEl>
                                          <p:spTgt spid="52"/>
                                        </p:tgtEl>
                                        <p:attrNameLst>
                                          <p:attrName>style.visibility</p:attrName>
                                        </p:attrNameLst>
                                      </p:cBhvr>
                                      <p:to>
                                        <p:strVal val="visible"/>
                                      </p:to>
                                    </p:set>
                                    <p:animEffect transition="in" filter="fade">
                                      <p:cBhvr>
                                        <p:cTn id="52" dur="400"/>
                                        <p:tgtEl>
                                          <p:spTgt spid="52"/>
                                        </p:tgtEl>
                                      </p:cBhvr>
                                    </p:animEffect>
                                  </p:childTnLst>
                                </p:cTn>
                              </p:par>
                            </p:childTnLst>
                          </p:cTn>
                        </p:par>
                      </p:childTnLst>
                    </p:cTn>
                  </p:par>
                  <p:par>
                    <p:cTn id="53" fill="hold">
                      <p:stCondLst>
                        <p:cond delay="indefinite"/>
                      </p:stCondLst>
                      <p:childTnLst>
                        <p:par>
                          <p:cTn id="54" fill="hold">
                            <p:stCondLst>
                              <p:cond delay="0"/>
                            </p:stCondLst>
                            <p:childTnLst>
                              <p:par>
                                <p:cTn id="55" presetID="10" presetClass="entr" presetSubtype="0" fill="hold" nodeType="clickEffect">
                                  <p:stCondLst>
                                    <p:cond delay="0"/>
                                  </p:stCondLst>
                                  <p:childTnLst>
                                    <p:set>
                                      <p:cBhvr>
                                        <p:cTn id="56" dur="1" fill="hold">
                                          <p:stCondLst>
                                            <p:cond delay="0"/>
                                          </p:stCondLst>
                                        </p:cTn>
                                        <p:tgtEl>
                                          <p:spTgt spid="56"/>
                                        </p:tgtEl>
                                        <p:attrNameLst>
                                          <p:attrName>style.visibility</p:attrName>
                                        </p:attrNameLst>
                                      </p:cBhvr>
                                      <p:to>
                                        <p:strVal val="visible"/>
                                      </p:to>
                                    </p:set>
                                    <p:animEffect transition="in" filter="fade">
                                      <p:cBhvr>
                                        <p:cTn id="57" dur="400"/>
                                        <p:tgtEl>
                                          <p:spTgt spid="56"/>
                                        </p:tgtEl>
                                      </p:cBhvr>
                                    </p:animEffect>
                                  </p:childTnLst>
                                </p:cTn>
                              </p:par>
                            </p:childTnLst>
                          </p:cTn>
                        </p:par>
                      </p:childTnLst>
                    </p:cTn>
                  </p:par>
                  <p:par>
                    <p:cTn id="58" fill="hold">
                      <p:stCondLst>
                        <p:cond delay="indefinite"/>
                      </p:stCondLst>
                      <p:childTnLst>
                        <p:par>
                          <p:cTn id="59" fill="hold">
                            <p:stCondLst>
                              <p:cond delay="0"/>
                            </p:stCondLst>
                            <p:childTnLst>
                              <p:par>
                                <p:cTn id="60" presetID="10" presetClass="entr" presetSubtype="0" fill="hold" nodeType="clickEffect">
                                  <p:stCondLst>
                                    <p:cond delay="0"/>
                                  </p:stCondLst>
                                  <p:childTnLst>
                                    <p:set>
                                      <p:cBhvr>
                                        <p:cTn id="61" dur="1" fill="hold">
                                          <p:stCondLst>
                                            <p:cond delay="0"/>
                                          </p:stCondLst>
                                        </p:cTn>
                                        <p:tgtEl>
                                          <p:spTgt spid="60"/>
                                        </p:tgtEl>
                                        <p:attrNameLst>
                                          <p:attrName>style.visibility</p:attrName>
                                        </p:attrNameLst>
                                      </p:cBhvr>
                                      <p:to>
                                        <p:strVal val="visible"/>
                                      </p:to>
                                    </p:set>
                                    <p:animEffect transition="in" filter="fade">
                                      <p:cBhvr>
                                        <p:cTn id="62" dur="400"/>
                                        <p:tgtEl>
                                          <p:spTgt spid="60"/>
                                        </p:tgtEl>
                                      </p:cBhvr>
                                    </p:animEffect>
                                  </p:childTnLst>
                                </p:cTn>
                              </p:par>
                            </p:childTnLst>
                          </p:cTn>
                        </p:par>
                      </p:childTnLst>
                    </p:cTn>
                  </p:par>
                  <p:par>
                    <p:cTn id="63" fill="hold">
                      <p:stCondLst>
                        <p:cond delay="indefinite"/>
                      </p:stCondLst>
                      <p:childTnLst>
                        <p:par>
                          <p:cTn id="64" fill="hold">
                            <p:stCondLst>
                              <p:cond delay="0"/>
                            </p:stCondLst>
                            <p:childTnLst>
                              <p:par>
                                <p:cTn id="65" presetID="10" presetClass="entr" presetSubtype="0" fill="hold" nodeType="clickEffect">
                                  <p:stCondLst>
                                    <p:cond delay="0"/>
                                  </p:stCondLst>
                                  <p:childTnLst>
                                    <p:set>
                                      <p:cBhvr>
                                        <p:cTn id="66" dur="1" fill="hold">
                                          <p:stCondLst>
                                            <p:cond delay="0"/>
                                          </p:stCondLst>
                                        </p:cTn>
                                        <p:tgtEl>
                                          <p:spTgt spid="61"/>
                                        </p:tgtEl>
                                        <p:attrNameLst>
                                          <p:attrName>style.visibility</p:attrName>
                                        </p:attrNameLst>
                                      </p:cBhvr>
                                      <p:to>
                                        <p:strVal val="visible"/>
                                      </p:to>
                                    </p:set>
                                    <p:animEffect transition="in" filter="fade">
                                      <p:cBhvr>
                                        <p:cTn id="67" dur="400"/>
                                        <p:tgtEl>
                                          <p:spTgt spid="61"/>
                                        </p:tgtEl>
                                      </p:cBhvr>
                                    </p:animEffect>
                                  </p:childTnLst>
                                </p:cTn>
                              </p:par>
                              <p:par>
                                <p:cTn id="68" presetID="10" presetClass="entr" presetSubtype="0" fill="hold" nodeType="withEffect">
                                  <p:stCondLst>
                                    <p:cond delay="0"/>
                                  </p:stCondLst>
                                  <p:childTnLst>
                                    <p:set>
                                      <p:cBhvr>
                                        <p:cTn id="69" dur="1" fill="hold">
                                          <p:stCondLst>
                                            <p:cond delay="0"/>
                                          </p:stCondLst>
                                        </p:cTn>
                                        <p:tgtEl>
                                          <p:spTgt spid="62"/>
                                        </p:tgtEl>
                                        <p:attrNameLst>
                                          <p:attrName>style.visibility</p:attrName>
                                        </p:attrNameLst>
                                      </p:cBhvr>
                                      <p:to>
                                        <p:strVal val="visible"/>
                                      </p:to>
                                    </p:set>
                                    <p:animEffect transition="in" filter="fade">
                                      <p:cBhvr>
                                        <p:cTn id="70" dur="400"/>
                                        <p:tgtEl>
                                          <p:spTgt spid="6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44"/>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5</a:t>
            </a:r>
            <a:endParaRPr lang="en-US" sz="2800" dirty="0"/>
          </a:p>
        </p:txBody>
      </p:sp>
      <p:pic>
        <p:nvPicPr>
          <p:cNvPr id="4" name="brY_145" descr="/home/claude/lls-course/v2/assets/brush-yellow.png">    </p:cNvPr>
          <p:cNvPicPr>
            <a:picLocks noChangeAspect="1"/>
          </p:cNvPicPr>
          <p:nvPr/>
        </p:nvPicPr>
        <p:blipFill>
          <a:blip r:embed="rId2"/>
          <a:stretch>
            <a:fillRect/>
          </a:stretch>
        </p:blipFill>
        <p:spPr>
          <a:xfrm>
            <a:off x="1097280" y="146304"/>
            <a:ext cx="4034333" cy="621792"/>
          </a:xfrm>
          <a:prstGeom prst="rect">
            <a:avLst/>
          </a:prstGeom>
        </p:spPr>
      </p:pic>
      <p:sp>
        <p:nvSpPr>
          <p:cNvPr id="5" name="title_146"/>
          <p:cNvSpPr/>
          <p:nvPr/>
        </p:nvSpPr>
        <p:spPr>
          <a:xfrm>
            <a:off x="1261872" y="164592"/>
            <a:ext cx="3760013" cy="566928"/>
          </a:xfrm>
          <a:prstGeom prst="rect">
            <a:avLst/>
          </a:prstGeom>
          <a:noFill/>
          <a:ln/>
        </p:spPr>
        <p:txBody>
          <a:bodyPr wrap="square" lIns="0" tIns="0" rIns="0" bIns="0" rtlCol="0" anchor="ctr">
            <a:normAutofit/>
          </a:bodyPr>
          <a:lstStyle/>
          <a:p>
            <a:pPr indent="0" marL="0">
              <a:buNone/>
            </a:pPr>
            <a:r>
              <a:rPr lang="en-US" sz="2100" dirty="0">
                <a:solidFill>
                  <a:srgbClr val="1B2559"/>
                </a:solidFill>
                <a:latin typeface="Arial Rounded MT Bold" pitchFamily="34" charset="0"/>
                <a:ea typeface="Arial Rounded MT Bold" pitchFamily="34" charset="-122"/>
                <a:cs typeface="Arial Rounded MT Bold" pitchFamily="34" charset="-120"/>
              </a:rPr>
              <a:t>Can you…? Could you…?</a:t>
            </a:r>
            <a:endParaRPr lang="en-US" sz="2100" dirty="0"/>
          </a:p>
        </p:txBody>
      </p:sp>
      <p:pic>
        <p:nvPicPr>
          <p:cNvPr id="6" name="brP_147" descr="/home/claude/lls-course/v2/assets/brush-pink.png">    </p:cNvPr>
          <p:cNvPicPr>
            <a:picLocks noChangeAspect="1"/>
          </p:cNvPicPr>
          <p:nvPr/>
        </p:nvPicPr>
        <p:blipFill>
          <a:blip r:embed="rId3"/>
          <a:stretch>
            <a:fillRect/>
          </a:stretch>
        </p:blipFill>
        <p:spPr>
          <a:xfrm>
            <a:off x="1207008" y="731520"/>
            <a:ext cx="3771900" cy="402336"/>
          </a:xfrm>
          <a:prstGeom prst="rect">
            <a:avLst/>
          </a:prstGeom>
        </p:spPr>
      </p:pic>
      <p:sp>
        <p:nvSpPr>
          <p:cNvPr id="7" name="ins_148"/>
          <p:cNvSpPr/>
          <p:nvPr/>
        </p:nvSpPr>
        <p:spPr>
          <a:xfrm>
            <a:off x="1353312" y="731520"/>
            <a:ext cx="351586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Tell your partner. Find 2 for each.</a:t>
            </a:r>
            <a:endParaRPr lang="en-US" sz="1250" dirty="0"/>
          </a:p>
        </p:txBody>
      </p:sp>
      <p:sp>
        <p:nvSpPr>
          <p:cNvPr id="8" name="insIT_149"/>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Dillo al compagno. Trovane 2 per ognuno.</a:t>
            </a:r>
            <a:endParaRPr lang="en-US" sz="950" dirty="0"/>
          </a:p>
        </p:txBody>
      </p:sp>
      <p:sp>
        <p:nvSpPr>
          <p:cNvPr id="9" name="cmd_150"/>
          <p:cNvSpPr/>
          <p:nvPr/>
        </p:nvSpPr>
        <p:spPr>
          <a:xfrm>
            <a:off x="6510528" y="182880"/>
            <a:ext cx="1901952"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100" dirty="0"/>
          </a:p>
        </p:txBody>
      </p:sp>
      <p:sp>
        <p:nvSpPr>
          <p:cNvPr id="10" name="meta_151"/>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sp>
        <p:nvSpPr>
          <p:cNvPr id="11" name="tag_152"/>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Speaking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Communicative</a:t>
            </a:r>
            <a:endParaRPr lang="en-US" sz="850" dirty="0"/>
          </a:p>
        </p:txBody>
      </p:sp>
      <p:pic>
        <p:nvPicPr>
          <p:cNvPr id="12" name="logo_153"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154"/>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4B-1 · Lead-in · skills   ·   📖 SB p.40 · 1a</a:t>
            </a:r>
            <a:endParaRPr lang="en-US" sz="800" dirty="0"/>
          </a:p>
        </p:txBody>
      </p:sp>
      <p:sp>
        <p:nvSpPr>
          <p:cNvPr id="14" name="pf_155"/>
          <p:cNvSpPr/>
          <p:nvPr/>
        </p:nvSpPr>
        <p:spPr>
          <a:xfrm rot="-120000">
            <a:off x="320040" y="1371600"/>
            <a:ext cx="2788920" cy="1874520"/>
          </a:xfrm>
          <a:prstGeom prst="roundRect">
            <a:avLst>
              <a:gd name="adj" fmla="val 829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15" name="phx_156"/>
          <p:cNvSpPr/>
          <p:nvPr/>
        </p:nvSpPr>
        <p:spPr>
          <a:xfrm>
            <a:off x="365760" y="1417320"/>
            <a:ext cx="2697480" cy="178308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pitchFamily="34" charset="0"/>
                <a:ea typeface="Segoe UI" pitchFamily="34" charset="-122"/>
                <a:cs typeface="Segoe UI" pitchFamily="34" charset="-120"/>
              </a:rPr>
              <a:t>📷 4b1-car-wheel.jpg</a:t>
            </a:r>
            <a:endParaRPr lang="en-US" sz="900" dirty="0"/>
          </a:p>
        </p:txBody>
      </p:sp>
      <p:sp>
        <p:nvSpPr>
          <p:cNvPr id="16" name="cd_157"/>
          <p:cNvSpPr/>
          <p:nvPr/>
        </p:nvSpPr>
        <p:spPr>
          <a:xfrm>
            <a:off x="320040" y="3429000"/>
            <a:ext cx="2788920" cy="1325880"/>
          </a:xfrm>
          <a:prstGeom prst="roundRect">
            <a:avLst>
              <a:gd name="adj" fmla="val 9655"/>
            </a:avLst>
          </a:prstGeom>
          <a:solidFill>
            <a:srgbClr val="EEE8FB"/>
          </a:solidFill>
          <a:ln w="19050">
            <a:solidFill>
              <a:srgbClr val="CDBFF3"/>
            </a:solidFill>
            <a:prstDash val="solid"/>
          </a:ln>
          <a:effectLst>
            <a:outerShdw sx="100000" sy="100000" kx="0" ky="0" algn="bl" rotWithShape="0" blurRad="88900" dist="31750" dir="5400000">
              <a:srgbClr val="1B2559">
                <a:alpha val="12000"/>
              </a:srgbClr>
            </a:outerShdw>
          </a:effectLst>
        </p:spPr>
      </p:sp>
      <p:sp>
        <p:nvSpPr>
          <p:cNvPr id="17" name="ii_158"/>
          <p:cNvSpPr/>
          <p:nvPr/>
        </p:nvSpPr>
        <p:spPr>
          <a:xfrm>
            <a:off x="411480" y="350215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8" name="ih_159"/>
          <p:cNvSpPr/>
          <p:nvPr/>
        </p:nvSpPr>
        <p:spPr>
          <a:xfrm>
            <a:off x="886968" y="3520440"/>
            <a:ext cx="214884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Useful phrases</a:t>
            </a:r>
            <a:endParaRPr lang="en-US" sz="1300" dirty="0"/>
          </a:p>
        </p:txBody>
      </p:sp>
      <p:sp>
        <p:nvSpPr>
          <p:cNvPr id="19" name="il_160"/>
          <p:cNvSpPr/>
          <p:nvPr/>
        </p:nvSpPr>
        <p:spPr>
          <a:xfrm>
            <a:off x="886968" y="3904488"/>
            <a:ext cx="2130552" cy="7772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I can… but I can't…</a:t>
            </a:r>
            <a:endParaRPr lang="en-US" sz="1050" dirty="0"/>
          </a:p>
          <a:p>
            <a:pPr marL="152400" indent="-152400">
              <a:spcBef>
                <a:spcPts val="500"/>
              </a:spcBef>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When I was ten, I could…</a:t>
            </a:r>
            <a:endParaRPr lang="en-US" sz="1050" dirty="0"/>
          </a:p>
          <a:p>
            <a:pPr marL="152400" indent="-152400">
              <a:spcBef>
                <a:spcPts val="500"/>
              </a:spcBef>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Me too! · Really?</a:t>
            </a:r>
            <a:endParaRPr lang="en-US" sz="1050" dirty="0"/>
          </a:p>
        </p:txBody>
      </p:sp>
      <p:sp>
        <p:nvSpPr>
          <p:cNvPr id="20" name="R1_qb161"/>
          <p:cNvSpPr/>
          <p:nvPr/>
        </p:nvSpPr>
        <p:spPr>
          <a:xfrm>
            <a:off x="3273552" y="1453896"/>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1" name="R1_sq162"/>
          <p:cNvSpPr/>
          <p:nvPr/>
        </p:nvSpPr>
        <p:spPr>
          <a:xfrm>
            <a:off x="3675888" y="1417320"/>
            <a:ext cx="5193792" cy="530352"/>
          </a:xfrm>
          <a:prstGeom prst="roundRect">
            <a:avLst>
              <a:gd name="adj" fmla="val 20690"/>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2 skills you CAN do</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I can do yoga and I can swim.</a:t>
            </a:r>
            <a:endParaRPr lang="en-US" sz="1250" dirty="0"/>
          </a:p>
        </p:txBody>
      </p:sp>
      <p:sp>
        <p:nvSpPr>
          <p:cNvPr id="22" name="R2_qb163"/>
          <p:cNvSpPr/>
          <p:nvPr/>
        </p:nvSpPr>
        <p:spPr>
          <a:xfrm>
            <a:off x="3273552" y="2057400"/>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3" name="R2_sq164"/>
          <p:cNvSpPr/>
          <p:nvPr/>
        </p:nvSpPr>
        <p:spPr>
          <a:xfrm>
            <a:off x="3675888" y="2020824"/>
            <a:ext cx="5193792" cy="530352"/>
          </a:xfrm>
          <a:prstGeom prst="roundRect">
            <a:avLst>
              <a:gd name="adj" fmla="val 20690"/>
            </a:avLst>
          </a:prstGeom>
          <a:solidFill>
            <a:srgbClr val="FFFFFF"/>
          </a:solidFill>
          <a:ln w="2222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2 skills you CAN'T do</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I can't sew and I can't change a car wheel.</a:t>
            </a:r>
            <a:endParaRPr lang="en-US" sz="1250" dirty="0"/>
          </a:p>
        </p:txBody>
      </p:sp>
      <p:sp>
        <p:nvSpPr>
          <p:cNvPr id="24" name="R3_qb165"/>
          <p:cNvSpPr/>
          <p:nvPr/>
        </p:nvSpPr>
        <p:spPr>
          <a:xfrm>
            <a:off x="3273552" y="266090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5" name="R3_sq166"/>
          <p:cNvSpPr/>
          <p:nvPr/>
        </p:nvSpPr>
        <p:spPr>
          <a:xfrm>
            <a:off x="3675888" y="2624328"/>
            <a:ext cx="5193792" cy="530352"/>
          </a:xfrm>
          <a:prstGeom prst="roundRect">
            <a:avLst>
              <a:gd name="adj" fmla="val 20690"/>
            </a:avLst>
          </a:prstGeom>
          <a:solidFill>
            <a:srgbClr val="FFFFFF"/>
          </a:solidFill>
          <a:ln w="22225">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2 skills you COULD do when you were ten</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When I was ten, I could swim and ride a bike.</a:t>
            </a:r>
            <a:endParaRPr lang="en-US" sz="1250" dirty="0"/>
          </a:p>
        </p:txBody>
      </p:sp>
      <p:sp>
        <p:nvSpPr>
          <p:cNvPr id="26" name="R4_qb167"/>
          <p:cNvSpPr/>
          <p:nvPr/>
        </p:nvSpPr>
        <p:spPr>
          <a:xfrm>
            <a:off x="3273552" y="3264408"/>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7" name="R4_sq168"/>
          <p:cNvSpPr/>
          <p:nvPr/>
        </p:nvSpPr>
        <p:spPr>
          <a:xfrm>
            <a:off x="3675888" y="3227832"/>
            <a:ext cx="5193792" cy="530352"/>
          </a:xfrm>
          <a:prstGeom prst="roundRect">
            <a:avLst>
              <a:gd name="adj" fmla="val 20690"/>
            </a:avLst>
          </a:prstGeom>
          <a:solidFill>
            <a:srgbClr val="FFFFFF"/>
          </a:solidFill>
          <a:ln w="22225">
            <a:solidFill>
              <a:srgbClr val="FFE07A"/>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2 skills you COULDN'T do when you were ten</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I couldn't dance salsa or type fast.</a:t>
            </a:r>
            <a:endParaRPr lang="en-US" sz="12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400"/>
                                        <p:tgtEl>
                                          <p:spTgt spid="20"/>
                                        </p:tgtEl>
                                      </p:cBhvr>
                                    </p:animEffect>
                                  </p:childTnLst>
                                </p:cTn>
                              </p:par>
                              <p:par>
                                <p:cTn id="8" presetID="10" presetClass="entr" presetSubtype="0" fill="hold" nodeType="with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fade">
                                      <p:cBhvr>
                                        <p:cTn id="10" dur="400"/>
                                        <p:tgtEl>
                                          <p:spTgt spid="21"/>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2"/>
                                        </p:tgtEl>
                                        <p:attrNameLst>
                                          <p:attrName>style.visibility</p:attrName>
                                        </p:attrNameLst>
                                      </p:cBhvr>
                                      <p:to>
                                        <p:strVal val="visible"/>
                                      </p:to>
                                    </p:set>
                                    <p:animEffect transition="in" filter="fade">
                                      <p:cBhvr>
                                        <p:cTn id="15" dur="400"/>
                                        <p:tgtEl>
                                          <p:spTgt spid="22"/>
                                        </p:tgtEl>
                                      </p:cBhvr>
                                    </p:animEffect>
                                  </p:childTnLst>
                                </p:cTn>
                              </p:par>
                              <p:par>
                                <p:cTn id="16" presetID="10" presetClass="entr" presetSubtype="0" fill="hold" nodeType="withEffect">
                                  <p:stCondLst>
                                    <p:cond delay="0"/>
                                  </p:stCondLst>
                                  <p:childTnLst>
                                    <p:set>
                                      <p:cBhvr>
                                        <p:cTn id="17" dur="1" fill="hold">
                                          <p:stCondLst>
                                            <p:cond delay="0"/>
                                          </p:stCondLst>
                                        </p:cTn>
                                        <p:tgtEl>
                                          <p:spTgt spid="23"/>
                                        </p:tgtEl>
                                        <p:attrNameLst>
                                          <p:attrName>style.visibility</p:attrName>
                                        </p:attrNameLst>
                                      </p:cBhvr>
                                      <p:to>
                                        <p:strVal val="visible"/>
                                      </p:to>
                                    </p:set>
                                    <p:animEffect transition="in" filter="fade">
                                      <p:cBhvr>
                                        <p:cTn id="18" dur="400"/>
                                        <p:tgtEl>
                                          <p:spTgt spid="23"/>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4"/>
                                        </p:tgtEl>
                                        <p:attrNameLst>
                                          <p:attrName>style.visibility</p:attrName>
                                        </p:attrNameLst>
                                      </p:cBhvr>
                                      <p:to>
                                        <p:strVal val="visible"/>
                                      </p:to>
                                    </p:set>
                                    <p:animEffect transition="in" filter="fade">
                                      <p:cBhvr>
                                        <p:cTn id="23" dur="400"/>
                                        <p:tgtEl>
                                          <p:spTgt spid="24"/>
                                        </p:tgtEl>
                                      </p:cBhvr>
                                    </p:animEffect>
                                  </p:childTnLst>
                                </p:cTn>
                              </p:par>
                              <p:par>
                                <p:cTn id="24" presetID="10" presetClass="entr" presetSubtype="0" fill="hold" nodeType="withEffect">
                                  <p:stCondLst>
                                    <p:cond delay="0"/>
                                  </p:stCondLst>
                                  <p:childTnLst>
                                    <p:set>
                                      <p:cBhvr>
                                        <p:cTn id="25" dur="1" fill="hold">
                                          <p:stCondLst>
                                            <p:cond delay="0"/>
                                          </p:stCondLst>
                                        </p:cTn>
                                        <p:tgtEl>
                                          <p:spTgt spid="25"/>
                                        </p:tgtEl>
                                        <p:attrNameLst>
                                          <p:attrName>style.visibility</p:attrName>
                                        </p:attrNameLst>
                                      </p:cBhvr>
                                      <p:to>
                                        <p:strVal val="visible"/>
                                      </p:to>
                                    </p:set>
                                    <p:animEffect transition="in" filter="fade">
                                      <p:cBhvr>
                                        <p:cTn id="26" dur="400"/>
                                        <p:tgtEl>
                                          <p:spTgt spid="25"/>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26"/>
                                        </p:tgtEl>
                                        <p:attrNameLst>
                                          <p:attrName>style.visibility</p:attrName>
                                        </p:attrNameLst>
                                      </p:cBhvr>
                                      <p:to>
                                        <p:strVal val="visible"/>
                                      </p:to>
                                    </p:set>
                                    <p:animEffect transition="in" filter="fade">
                                      <p:cBhvr>
                                        <p:cTn id="31" dur="400"/>
                                        <p:tgtEl>
                                          <p:spTgt spid="26"/>
                                        </p:tgtEl>
                                      </p:cBhvr>
                                    </p:animEffect>
                                  </p:childTnLst>
                                </p:cTn>
                              </p:par>
                              <p:par>
                                <p:cTn id="32" presetID="10" presetClass="entr" presetSubtype="0" fill="hold" nodeType="withEffect">
                                  <p:stCondLst>
                                    <p:cond delay="0"/>
                                  </p:stCondLst>
                                  <p:childTnLst>
                                    <p:set>
                                      <p:cBhvr>
                                        <p:cTn id="33" dur="1" fill="hold">
                                          <p:stCondLst>
                                            <p:cond delay="0"/>
                                          </p:stCondLst>
                                        </p:cTn>
                                        <p:tgtEl>
                                          <p:spTgt spid="27"/>
                                        </p:tgtEl>
                                        <p:attrNameLst>
                                          <p:attrName>style.visibility</p:attrName>
                                        </p:attrNameLst>
                                      </p:cBhvr>
                                      <p:to>
                                        <p:strVal val="visible"/>
                                      </p:to>
                                    </p:set>
                                    <p:animEffect transition="in" filter="fade">
                                      <p:cBhvr>
                                        <p:cTn id="34" dur="4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69"/>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6</a:t>
            </a:r>
            <a:endParaRPr lang="en-US" sz="2800" dirty="0"/>
          </a:p>
        </p:txBody>
      </p:sp>
      <p:pic>
        <p:nvPicPr>
          <p:cNvPr id="4" name="brY_170" descr="/home/claude/lls-course/v2/assets/brush-yellow.png">    </p:cNvPr>
          <p:cNvPicPr>
            <a:picLocks noChangeAspect="1"/>
          </p:cNvPicPr>
          <p:nvPr/>
        </p:nvPicPr>
        <p:blipFill>
          <a:blip r:embed="rId2"/>
          <a:stretch>
            <a:fillRect/>
          </a:stretch>
        </p:blipFill>
        <p:spPr>
          <a:xfrm>
            <a:off x="1097280" y="146304"/>
            <a:ext cx="2304288" cy="621792"/>
          </a:xfrm>
          <a:prstGeom prst="rect">
            <a:avLst/>
          </a:prstGeom>
        </p:spPr>
      </p:pic>
      <p:sp>
        <p:nvSpPr>
          <p:cNvPr id="5" name="title_171"/>
          <p:cNvSpPr/>
          <p:nvPr/>
        </p:nvSpPr>
        <p:spPr>
          <a:xfrm>
            <a:off x="1261872" y="164592"/>
            <a:ext cx="2029968"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Lucky you!</a:t>
            </a:r>
            <a:endParaRPr lang="en-US" sz="2500" dirty="0"/>
          </a:p>
        </p:txBody>
      </p:sp>
      <p:pic>
        <p:nvPicPr>
          <p:cNvPr id="6" name="brP_172" descr="/home/claude/lls-course/v2/assets/brush-pink.png">    </p:cNvPr>
          <p:cNvPicPr>
            <a:picLocks noChangeAspect="1"/>
          </p:cNvPicPr>
          <p:nvPr/>
        </p:nvPicPr>
        <p:blipFill>
          <a:blip r:embed="rId3"/>
          <a:stretch>
            <a:fillRect/>
          </a:stretch>
        </p:blipFill>
        <p:spPr>
          <a:xfrm>
            <a:off x="1207008" y="731520"/>
            <a:ext cx="3945636" cy="402336"/>
          </a:xfrm>
          <a:prstGeom prst="rect">
            <a:avLst/>
          </a:prstGeom>
        </p:spPr>
      </p:pic>
      <p:sp>
        <p:nvSpPr>
          <p:cNvPr id="7" name="ins_173"/>
          <p:cNvSpPr/>
          <p:nvPr/>
        </p:nvSpPr>
        <p:spPr>
          <a:xfrm>
            <a:off x="1353312" y="731520"/>
            <a:ext cx="368960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Guess the missing words. Then listen.</a:t>
            </a:r>
            <a:endParaRPr lang="en-US" sz="1250" dirty="0"/>
          </a:p>
        </p:txBody>
      </p:sp>
      <p:sp>
        <p:nvSpPr>
          <p:cNvPr id="8" name="insIT_174"/>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Indovina le parole mancanti. Poi ascolta.</a:t>
            </a:r>
            <a:endParaRPr lang="en-US" sz="950" dirty="0"/>
          </a:p>
        </p:txBody>
      </p:sp>
      <p:sp>
        <p:nvSpPr>
          <p:cNvPr id="9" name="cmd_175"/>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100" dirty="0"/>
          </a:p>
        </p:txBody>
      </p:sp>
      <p:sp>
        <p:nvSpPr>
          <p:cNvPr id="10" name="cmd_176"/>
          <p:cNvSpPr/>
          <p:nvPr/>
        </p:nvSpPr>
        <p:spPr>
          <a:xfrm>
            <a:off x="6510528" y="566928"/>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800" dirty="0">
                <a:solidFill>
                  <a:srgbClr val="000000"/>
                </a:solidFill>
              </a:rPr>
              <a:t>✏️ </a:t>
            </a:r>
            <a:pPr indent="0" marL="0">
              <a:buNone/>
            </a:pPr>
            <a:r>
              <a:rPr lang="en-US" sz="900" dirty="0">
                <a:solidFill>
                  <a:srgbClr val="F2B705"/>
                </a:solidFill>
                <a:latin typeface="Arial Rounded MT Bold" pitchFamily="34" charset="0"/>
                <a:ea typeface="Arial Rounded MT Bold" pitchFamily="34" charset="-122"/>
                <a:cs typeface="Arial Rounded MT Bold" pitchFamily="34" charset="-120"/>
              </a:rPr>
              <a:t>FILL THE GAPS</a:t>
            </a:r>
            <a:pPr indent="0" marL="0">
              <a:buNone/>
            </a:pPr>
            <a:r>
              <a:rPr lang="en-US" sz="700" dirty="0">
                <a:solidFill>
                  <a:srgbClr val="5B6785"/>
                </a:solidFill>
                <a:latin typeface="Segoe UI Semibold" pitchFamily="34" charset="0"/>
                <a:ea typeface="Segoe UI Semibold" pitchFamily="34" charset="-122"/>
                <a:cs typeface="Segoe UI Semibold" pitchFamily="34" charset="-120"/>
              </a:rPr>
              <a:t>  COMPLETA</a:t>
            </a:r>
            <a:endParaRPr lang="en-US" sz="800" dirty="0"/>
          </a:p>
        </p:txBody>
      </p:sp>
      <p:sp>
        <p:nvSpPr>
          <p:cNvPr id="11" name="meta_177"/>
          <p:cNvSpPr/>
          <p:nvPr/>
        </p:nvSpPr>
        <p:spPr>
          <a:xfrm>
            <a:off x="6583680" y="950976"/>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sp>
        <p:nvSpPr>
          <p:cNvPr id="12" name="tag_178"/>
          <p:cNvSpPr/>
          <p:nvPr/>
        </p:nvSpPr>
        <p:spPr>
          <a:xfrm>
            <a:off x="6510528" y="1188720"/>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Grammar</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Listening for detail</a:t>
            </a:r>
            <a:endParaRPr lang="en-US" sz="850" dirty="0"/>
          </a:p>
        </p:txBody>
      </p:sp>
      <p:pic>
        <p:nvPicPr>
          <p:cNvPr id="13" name="logo_179"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180"/>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4B-1 · Grammar · in context   ·   📖 SB p.40 · 1b · audio 4.12</a:t>
            </a:r>
            <a:endParaRPr lang="en-US" sz="800" dirty="0"/>
          </a:p>
        </p:txBody>
      </p:sp>
      <p:sp>
        <p:nvSpPr>
          <p:cNvPr id="15" name="ap_181"/>
          <p:cNvSpPr/>
          <p:nvPr/>
        </p:nvSpPr>
        <p:spPr>
          <a:xfrm>
            <a:off x="365760" y="1417320"/>
            <a:ext cx="2194560" cy="402336"/>
          </a:xfrm>
          <a:prstGeom prst="roundRect">
            <a:avLst>
              <a:gd name="adj" fmla="val 50000"/>
            </a:avLst>
          </a:prstGeom>
          <a:solidFill>
            <a:srgbClr val="E3F1FD"/>
          </a:solidFill>
          <a:ln w="19050">
            <a:solidFill>
              <a:srgbClr val="2F8DE4"/>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4.12  ·  play twice</a:t>
            </a:r>
            <a:endParaRPr lang="en-US" sz="1100" dirty="0"/>
          </a:p>
        </p:txBody>
      </p:sp>
      <p:sp>
        <p:nvSpPr>
          <p:cNvPr id="16" name="ah_182"/>
          <p:cNvSpPr/>
          <p:nvPr/>
        </p:nvSpPr>
        <p:spPr>
          <a:xfrm>
            <a:off x="5925312" y="4572000"/>
            <a:ext cx="1554480" cy="365760"/>
          </a:xfrm>
          <a:prstGeom prst="rect">
            <a:avLst/>
          </a:prstGeom>
          <a:noFill/>
          <a:ln/>
        </p:spPr>
        <p:txBody>
          <a:bodyPr wrap="square" lIns="0" tIns="0" rIns="0" bIns="0" rtlCol="0" anchor="ctr"/>
          <a:lstStyle/>
          <a:p>
            <a:pPr algn="r" indent="0" marL="0">
              <a:buNone/>
            </a:pPr>
            <a:r>
              <a:rPr lang="en-US" sz="950" b="1" dirty="0">
                <a:solidFill>
                  <a:srgbClr val="2F8DE4"/>
                </a:solidFill>
                <a:latin typeface="Segoe UI Semibold" pitchFamily="34" charset="0"/>
                <a:ea typeface="Segoe UI Semibold" pitchFamily="34" charset="-122"/>
                <a:cs typeface="Segoe UI Semibold" pitchFamily="34" charset="-120"/>
              </a:rPr>
              <a:t>▶ normal · 🐢 slower</a:t>
            </a:r>
            <a:endParaRPr lang="en-US" sz="950" dirty="0"/>
          </a:p>
        </p:txBody>
      </p:sp>
      <p:pic>
        <p:nvPicPr>
          <p:cNvPr id="17"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7525512" y="4553712"/>
            <a:ext cx="411480" cy="411480"/>
          </a:xfrm>
          <a:prstGeom prst="rect">
            <a:avLst/>
          </a:prstGeom>
        </p:spPr>
      </p:pic>
      <p:pic>
        <p:nvPicPr>
          <p:cNvPr id="18"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001000" y="4553712"/>
            <a:ext cx="411480" cy="411480"/>
          </a:xfrm>
          <a:prstGeom prst="rect">
            <a:avLst/>
          </a:prstGeom>
        </p:spPr>
      </p:pic>
      <p:sp>
        <p:nvSpPr>
          <p:cNvPr id="19" name="pf_183"/>
          <p:cNvSpPr/>
          <p:nvPr/>
        </p:nvSpPr>
        <p:spPr>
          <a:xfrm rot="-90000">
            <a:off x="411480" y="2057400"/>
            <a:ext cx="2697480" cy="1783080"/>
          </a:xfrm>
          <a:prstGeom prst="roundRect">
            <a:avLst>
              <a:gd name="adj" fmla="val 8718"/>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20" name="phx_184"/>
          <p:cNvSpPr/>
          <p:nvPr/>
        </p:nvSpPr>
        <p:spPr>
          <a:xfrm>
            <a:off x="457200" y="2103120"/>
            <a:ext cx="2606040" cy="169164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pitchFamily="34" charset="0"/>
                <a:ea typeface="Segoe UI" pitchFamily="34" charset="-122"/>
                <a:cs typeface="Segoe UI" pitchFamily="34" charset="-120"/>
              </a:rPr>
              <a:t>📷 4b1-speak-italian.jpg</a:t>
            </a:r>
            <a:endParaRPr lang="en-US" sz="900" dirty="0"/>
          </a:p>
        </p:txBody>
      </p:sp>
      <p:sp>
        <p:nvSpPr>
          <p:cNvPr id="21" name="cd_185"/>
          <p:cNvSpPr/>
          <p:nvPr/>
        </p:nvSpPr>
        <p:spPr>
          <a:xfrm>
            <a:off x="320040" y="4023360"/>
            <a:ext cx="2788920" cy="731520"/>
          </a:xfrm>
          <a:prstGeom prst="roundRect">
            <a:avLst>
              <a:gd name="adj" fmla="val 17500"/>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2" name="ii_186"/>
          <p:cNvSpPr/>
          <p:nvPr/>
        </p:nvSpPr>
        <p:spPr>
          <a:xfrm>
            <a:off x="411480" y="40965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3" name="ih_187"/>
          <p:cNvSpPr/>
          <p:nvPr/>
        </p:nvSpPr>
        <p:spPr>
          <a:xfrm>
            <a:off x="886968" y="4114800"/>
            <a:ext cx="214884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Guess first, then listen!</a:t>
            </a:r>
            <a:endParaRPr lang="en-US" sz="1200" dirty="0"/>
          </a:p>
        </p:txBody>
      </p:sp>
      <p:sp>
        <p:nvSpPr>
          <p:cNvPr id="24" name="il_188"/>
          <p:cNvSpPr/>
          <p:nvPr/>
        </p:nvSpPr>
        <p:spPr>
          <a:xfrm>
            <a:off x="886968" y="4498848"/>
            <a:ext cx="2130552" cy="182880"/>
          </a:xfrm>
          <a:prstGeom prst="rect">
            <a:avLst/>
          </a:prstGeom>
          <a:noFill/>
          <a:ln/>
        </p:spPr>
        <p:txBody>
          <a:bodyPr wrap="square" lIns="0" tIns="0" rIns="0" bIns="0" rtlCol="0" anchor="t">
            <a:normAutofit/>
          </a:bodyPr>
          <a:lstStyle/>
          <a:p>
            <a:pPr indent="0" marL="0">
              <a:spcAft>
                <a:spcPts val="200"/>
              </a:spcAft>
              <a:buNone/>
            </a:pPr>
            <a:endParaRPr lang="en-US" sz="1100" dirty="0"/>
          </a:p>
        </p:txBody>
      </p:sp>
      <p:sp>
        <p:nvSpPr>
          <p:cNvPr id="25" name="gq_189"/>
          <p:cNvSpPr/>
          <p:nvPr/>
        </p:nvSpPr>
        <p:spPr>
          <a:xfrm>
            <a:off x="3383280" y="1417320"/>
            <a:ext cx="333756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1  A: I ___ speak Italian quite well.</a:t>
            </a:r>
            <a:endParaRPr lang="en-US" sz="1200" dirty="0"/>
          </a:p>
        </p:txBody>
      </p:sp>
      <p:sp>
        <p:nvSpPr>
          <p:cNvPr id="26" name="R1_chip190"/>
          <p:cNvSpPr/>
          <p:nvPr/>
        </p:nvSpPr>
        <p:spPr>
          <a:xfrm>
            <a:off x="6812280" y="1417320"/>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can</a:t>
            </a:r>
            <a:endParaRPr lang="en-US" sz="1200" dirty="0"/>
          </a:p>
        </p:txBody>
      </p:sp>
      <p:sp>
        <p:nvSpPr>
          <p:cNvPr id="27" name="gq_191"/>
          <p:cNvSpPr/>
          <p:nvPr/>
        </p:nvSpPr>
        <p:spPr>
          <a:xfrm>
            <a:off x="3383280" y="1938528"/>
            <a:ext cx="3337560" cy="457200"/>
          </a:xfrm>
          <a:prstGeom prst="roundRect">
            <a:avLst>
              <a:gd name="adj" fmla="val 20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1  B: Lucky you! I'd love to ___ speak Italian.</a:t>
            </a:r>
            <a:endParaRPr lang="en-US" sz="1200" dirty="0"/>
          </a:p>
        </p:txBody>
      </p:sp>
      <p:sp>
        <p:nvSpPr>
          <p:cNvPr id="28" name="R2_chip192"/>
          <p:cNvSpPr/>
          <p:nvPr/>
        </p:nvSpPr>
        <p:spPr>
          <a:xfrm>
            <a:off x="6812280" y="1938528"/>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be able to</a:t>
            </a:r>
            <a:endParaRPr lang="en-US" sz="1200" dirty="0"/>
          </a:p>
        </p:txBody>
      </p:sp>
      <p:sp>
        <p:nvSpPr>
          <p:cNvPr id="29" name="gq_193"/>
          <p:cNvSpPr/>
          <p:nvPr/>
        </p:nvSpPr>
        <p:spPr>
          <a:xfrm>
            <a:off x="3383280" y="2459736"/>
            <a:ext cx="3337560" cy="457200"/>
          </a:xfrm>
          <a:prstGeom prst="roundRect">
            <a:avLst>
              <a:gd name="adj" fmla="val 20000"/>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2  A: When I was a child, I ___ draw really well.</a:t>
            </a:r>
            <a:endParaRPr lang="en-US" sz="1200" dirty="0"/>
          </a:p>
        </p:txBody>
      </p:sp>
      <p:sp>
        <p:nvSpPr>
          <p:cNvPr id="30" name="R3_chip194"/>
          <p:cNvSpPr/>
          <p:nvPr/>
        </p:nvSpPr>
        <p:spPr>
          <a:xfrm>
            <a:off x="6812280" y="2459736"/>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could</a:t>
            </a:r>
            <a:endParaRPr lang="en-US" sz="1200" dirty="0"/>
          </a:p>
        </p:txBody>
      </p:sp>
      <p:sp>
        <p:nvSpPr>
          <p:cNvPr id="31" name="gq_195"/>
          <p:cNvSpPr/>
          <p:nvPr/>
        </p:nvSpPr>
        <p:spPr>
          <a:xfrm>
            <a:off x="3383280" y="2980944"/>
            <a:ext cx="3337560" cy="457200"/>
          </a:xfrm>
          <a:prstGeom prst="roundRect">
            <a:avLst>
              <a:gd name="adj" fmla="val 20000"/>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2  B: Really? I've never ___ draw!</a:t>
            </a:r>
            <a:endParaRPr lang="en-US" sz="1200" dirty="0"/>
          </a:p>
        </p:txBody>
      </p:sp>
      <p:sp>
        <p:nvSpPr>
          <p:cNvPr id="32" name="R4_chip196"/>
          <p:cNvSpPr/>
          <p:nvPr/>
        </p:nvSpPr>
        <p:spPr>
          <a:xfrm>
            <a:off x="6812280" y="2980944"/>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been able to</a:t>
            </a:r>
            <a:endParaRPr lang="en-US" sz="1200" dirty="0"/>
          </a:p>
        </p:txBody>
      </p:sp>
      <p:sp>
        <p:nvSpPr>
          <p:cNvPr id="33" name="gq_197"/>
          <p:cNvSpPr/>
          <p:nvPr/>
        </p:nvSpPr>
        <p:spPr>
          <a:xfrm>
            <a:off x="3383280" y="3502152"/>
            <a:ext cx="333756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1c  You can't use ___ in the infinitive or present perfect.</a:t>
            </a:r>
            <a:endParaRPr lang="en-US" sz="1200" dirty="0"/>
          </a:p>
        </p:txBody>
      </p:sp>
      <p:sp>
        <p:nvSpPr>
          <p:cNvPr id="34" name="R5_chip198"/>
          <p:cNvSpPr/>
          <p:nvPr/>
        </p:nvSpPr>
        <p:spPr>
          <a:xfrm>
            <a:off x="6812280" y="3502152"/>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can</a:t>
            </a:r>
            <a:endParaRPr lang="en-US" sz="1200" dirty="0"/>
          </a:p>
        </p:txBody>
      </p:sp>
      <p:sp>
        <p:nvSpPr>
          <p:cNvPr id="35" name="gq_199"/>
          <p:cNvSpPr/>
          <p:nvPr/>
        </p:nvSpPr>
        <p:spPr>
          <a:xfrm>
            <a:off x="3383280" y="4023360"/>
            <a:ext cx="3337560" cy="457200"/>
          </a:xfrm>
          <a:prstGeom prst="roundRect">
            <a:avLst>
              <a:gd name="adj" fmla="val 20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1c  Be able to means the same as ___.</a:t>
            </a:r>
            <a:endParaRPr lang="en-US" sz="1200" dirty="0"/>
          </a:p>
        </p:txBody>
      </p:sp>
      <p:sp>
        <p:nvSpPr>
          <p:cNvPr id="36" name="R6_chip200"/>
          <p:cNvSpPr/>
          <p:nvPr/>
        </p:nvSpPr>
        <p:spPr>
          <a:xfrm>
            <a:off x="6812280" y="4023360"/>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can</a:t>
            </a:r>
            <a:endParaRPr lang="en-US" sz="12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6"/>
                                        </p:tgtEl>
                                        <p:attrNameLst>
                                          <p:attrName>style.visibility</p:attrName>
                                        </p:attrNameLst>
                                      </p:cBhvr>
                                      <p:to>
                                        <p:strVal val="visible"/>
                                      </p:to>
                                    </p:set>
                                    <p:animEffect transition="in" filter="fade">
                                      <p:cBhvr>
                                        <p:cTn id="7" dur="400"/>
                                        <p:tgtEl>
                                          <p:spTgt spid="2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8"/>
                                        </p:tgtEl>
                                        <p:attrNameLst>
                                          <p:attrName>style.visibility</p:attrName>
                                        </p:attrNameLst>
                                      </p:cBhvr>
                                      <p:to>
                                        <p:strVal val="visible"/>
                                      </p:to>
                                    </p:set>
                                    <p:animEffect transition="in" filter="fade">
                                      <p:cBhvr>
                                        <p:cTn id="12" dur="400"/>
                                        <p:tgtEl>
                                          <p:spTgt spid="2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0"/>
                                        </p:tgtEl>
                                        <p:attrNameLst>
                                          <p:attrName>style.visibility</p:attrName>
                                        </p:attrNameLst>
                                      </p:cBhvr>
                                      <p:to>
                                        <p:strVal val="visible"/>
                                      </p:to>
                                    </p:set>
                                    <p:animEffect transition="in" filter="fade">
                                      <p:cBhvr>
                                        <p:cTn id="17" dur="400"/>
                                        <p:tgtEl>
                                          <p:spTgt spid="30"/>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2"/>
                                        </p:tgtEl>
                                        <p:attrNameLst>
                                          <p:attrName>style.visibility</p:attrName>
                                        </p:attrNameLst>
                                      </p:cBhvr>
                                      <p:to>
                                        <p:strVal val="visible"/>
                                      </p:to>
                                    </p:set>
                                    <p:animEffect transition="in" filter="fade">
                                      <p:cBhvr>
                                        <p:cTn id="22" dur="400"/>
                                        <p:tgtEl>
                                          <p:spTgt spid="32"/>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4"/>
                                        </p:tgtEl>
                                        <p:attrNameLst>
                                          <p:attrName>style.visibility</p:attrName>
                                        </p:attrNameLst>
                                      </p:cBhvr>
                                      <p:to>
                                        <p:strVal val="visible"/>
                                      </p:to>
                                    </p:set>
                                    <p:animEffect transition="in" filter="fade">
                                      <p:cBhvr>
                                        <p:cTn id="27" dur="400"/>
                                        <p:tgtEl>
                                          <p:spTgt spid="34"/>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6"/>
                                        </p:tgtEl>
                                        <p:attrNameLst>
                                          <p:attrName>style.visibility</p:attrName>
                                        </p:attrNameLst>
                                      </p:cBhvr>
                                      <p:to>
                                        <p:strVal val="visible"/>
                                      </p:to>
                                    </p:set>
                                    <p:animEffect transition="in" filter="fade">
                                      <p:cBhvr>
                                        <p:cTn id="32" dur="400"/>
                                        <p:tgtEl>
                                          <p:spTgt spid="36"/>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33" restart="whenNotActive" fill="hold" evtFilter="cancelBubble" nodeType="interactiveSeq">
                <p:stCondLst>
                  <p:cond evt="onClick" delay="0">
                    <p:tgtEl>
                      <p:spTgt spid="17"/>
                    </p:tgtEl>
                  </p:cond>
                </p:stCondLst>
                <p:endSync evt="end" delay="0">
                  <p:rtn val="all"/>
                </p:endSync>
                <p:childTnLst>
                  <p:par>
                    <p:cTn id="34" fill="hold">
                      <p:stCondLst>
                        <p:cond delay="0"/>
                      </p:stCondLst>
                      <p:childTnLst>
                        <p:par>
                          <p:cTn id="35" fill="hold">
                            <p:stCondLst>
                              <p:cond delay="0"/>
                            </p:stCondLst>
                            <p:childTnLst>
                              <p:par>
                                <p:cTn id="36" presetID="2" presetClass="mediacall" presetSubtype="0" fill="hold" nodeType="clickEffect">
                                  <p:stCondLst>
                                    <p:cond delay="0"/>
                                  </p:stCondLst>
                                  <p:childTnLst>
                                    <p:cmd type="call" cmd="togglePause">
                                      <p:cBhvr>
                                        <p:cTn id="37" dur="1" fill="hold"/>
                                        <p:tgtEl>
                                          <p:spTgt spid="17"/>
                                        </p:tgtEl>
                                      </p:cBhvr>
                                    </p:cmd>
                                  </p:childTnLst>
                                </p:cTn>
                              </p:par>
                            </p:childTnLst>
                          </p:cTn>
                        </p:par>
                      </p:childTnLst>
                    </p:cTn>
                  </p:par>
                </p:childTnLst>
              </p:cTn>
              <p:nextCondLst>
                <p:cond evt="onClick" delay="0">
                  <p:tgtEl>
                    <p:spTgt spid="17"/>
                  </p:tgtEl>
                </p:cond>
              </p:nextCondLst>
            </p:seq>
            <p:seq concurrent="1" nextAc="seek">
              <p:cTn id="38" restart="whenNotActive" fill="hold" evtFilter="cancelBubble" nodeType="interactiveSeq">
                <p:stCondLst>
                  <p:cond evt="onClick" delay="0">
                    <p:tgtEl>
                      <p:spTgt spid="18"/>
                    </p:tgtEl>
                  </p:cond>
                </p:stCondLst>
                <p:endSync evt="end" delay="0">
                  <p:rtn val="all"/>
                </p:endSync>
                <p:childTnLst>
                  <p:par>
                    <p:cTn id="39" fill="hold">
                      <p:stCondLst>
                        <p:cond delay="0"/>
                      </p:stCondLst>
                      <p:childTnLst>
                        <p:par>
                          <p:cTn id="40" fill="hold">
                            <p:stCondLst>
                              <p:cond delay="0"/>
                            </p:stCondLst>
                            <p:childTnLst>
                              <p:par>
                                <p:cTn id="41" presetID="2" presetClass="mediacall" presetSubtype="0" fill="hold" nodeType="clickEffect">
                                  <p:stCondLst>
                                    <p:cond delay="0"/>
                                  </p:stCondLst>
                                  <p:childTnLst>
                                    <p:cmd type="call" cmd="togglePause">
                                      <p:cBhvr>
                                        <p:cTn id="42" dur="1" fill="hold"/>
                                        <p:tgtEl>
                                          <p:spTgt spid="18"/>
                                        </p:tgtEl>
                                      </p:cBhvr>
                                    </p:cmd>
                                  </p:childTnLst>
                                </p:cTn>
                              </p:par>
                            </p:childTnLst>
                          </p:cTn>
                        </p:par>
                      </p:childTnLst>
                    </p:cTn>
                  </p:par>
                </p:childTnLst>
              </p:cTn>
              <p:nextCondLst>
                <p:cond evt="onClick" delay="0">
                  <p:tgtEl>
                    <p:spTgt spid="18"/>
                  </p:tgtEl>
                </p:cond>
              </p:nextCondLst>
            </p:seq>
            <p:audio>
              <p:cMediaNode vol="80000">
                <p:cTn id="43" fill="hold" display="0">
                  <p:stCondLst>
                    <p:cond delay="indefinite"/>
                  </p:stCondLst>
                  <p:endCondLst>
                    <p:cond evt="onStopAudio" delay="0">
                      <p:tgtEl>
                        <p:sldTgt/>
                      </p:tgtEl>
                    </p:cond>
                  </p:endCondLst>
                </p:cTn>
                <p:tgtEl>
                  <p:spTgt spid="17"/>
                </p:tgtEl>
              </p:cMediaNode>
            </p:audio>
            <p:audio>
              <p:cMediaNode vol="80000">
                <p:cTn id="44" fill="hold" display="0">
                  <p:stCondLst>
                    <p:cond delay="indefinite"/>
                  </p:stCondLst>
                  <p:endCondLst>
                    <p:cond evt="onStopAudio" delay="0">
                      <p:tgtEl>
                        <p:sldTgt/>
                      </p:tgtEl>
                    </p:cond>
                  </p:endCondLst>
                </p:cTn>
                <p:tgtEl>
                  <p:spTgt spid="18"/>
                </p:tgtEl>
              </p:cMediaNode>
            </p:audio>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01"/>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7</a:t>
            </a:r>
            <a:endParaRPr lang="en-US" sz="2800" dirty="0"/>
          </a:p>
        </p:txBody>
      </p:sp>
      <p:pic>
        <p:nvPicPr>
          <p:cNvPr id="4" name="brY_202" descr="/home/claude/lls-course/v2/assets/brush-yellow.png">    </p:cNvPr>
          <p:cNvPicPr>
            <a:picLocks noChangeAspect="1"/>
          </p:cNvPicPr>
          <p:nvPr/>
        </p:nvPicPr>
        <p:blipFill>
          <a:blip r:embed="rId2"/>
          <a:stretch>
            <a:fillRect/>
          </a:stretch>
        </p:blipFill>
        <p:spPr>
          <a:xfrm>
            <a:off x="1097280" y="146304"/>
            <a:ext cx="2933395" cy="621792"/>
          </a:xfrm>
          <a:prstGeom prst="rect">
            <a:avLst/>
          </a:prstGeom>
        </p:spPr>
      </p:pic>
      <p:sp>
        <p:nvSpPr>
          <p:cNvPr id="5" name="title_203"/>
          <p:cNvSpPr/>
          <p:nvPr/>
        </p:nvSpPr>
        <p:spPr>
          <a:xfrm>
            <a:off x="1261872" y="164592"/>
            <a:ext cx="2659075"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Find the forms</a:t>
            </a:r>
            <a:endParaRPr lang="en-US" sz="2500" dirty="0"/>
          </a:p>
        </p:txBody>
      </p:sp>
      <p:pic>
        <p:nvPicPr>
          <p:cNvPr id="6" name="brP_204" descr="/home/claude/lls-course/v2/assets/brush-pink.png">    </p:cNvPr>
          <p:cNvPicPr>
            <a:picLocks noChangeAspect="1"/>
          </p:cNvPicPr>
          <p:nvPr/>
        </p:nvPicPr>
        <p:blipFill>
          <a:blip r:embed="rId3"/>
          <a:stretch>
            <a:fillRect/>
          </a:stretch>
        </p:blipFill>
        <p:spPr>
          <a:xfrm>
            <a:off x="1207008" y="731520"/>
            <a:ext cx="3424428" cy="402336"/>
          </a:xfrm>
          <a:prstGeom prst="rect">
            <a:avLst/>
          </a:prstGeom>
        </p:spPr>
      </p:pic>
      <p:sp>
        <p:nvSpPr>
          <p:cNvPr id="7" name="ins_205"/>
          <p:cNvSpPr/>
          <p:nvPr/>
        </p:nvSpPr>
        <p:spPr>
          <a:xfrm>
            <a:off x="1353312" y="731520"/>
            <a:ext cx="316839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Find can, could and be able to.</a:t>
            </a:r>
            <a:endParaRPr lang="en-US" sz="1250" dirty="0"/>
          </a:p>
        </p:txBody>
      </p:sp>
      <p:sp>
        <p:nvSpPr>
          <p:cNvPr id="8" name="insIT_206"/>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Trova can, could e be able to.</a:t>
            </a:r>
            <a:endParaRPr lang="en-US" sz="950" dirty="0"/>
          </a:p>
        </p:txBody>
      </p:sp>
      <p:sp>
        <p:nvSpPr>
          <p:cNvPr id="9" name="cmd_207"/>
          <p:cNvSpPr/>
          <p:nvPr/>
        </p:nvSpPr>
        <p:spPr>
          <a:xfrm>
            <a:off x="6510528" y="182880"/>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FIND</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TROVA</a:t>
            </a:r>
            <a:endParaRPr lang="en-US" sz="1100" dirty="0"/>
          </a:p>
        </p:txBody>
      </p:sp>
      <p:sp>
        <p:nvSpPr>
          <p:cNvPr id="10" name="meta_208"/>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pairs</a:t>
            </a:r>
            <a:endParaRPr lang="en-US" sz="950" dirty="0"/>
          </a:p>
        </p:txBody>
      </p:sp>
      <p:sp>
        <p:nvSpPr>
          <p:cNvPr id="11" name="tag_209"/>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Grammar</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Guided discovery</a:t>
            </a:r>
            <a:endParaRPr lang="en-US" sz="850" dirty="0"/>
          </a:p>
        </p:txBody>
      </p:sp>
      <p:pic>
        <p:nvPicPr>
          <p:cNvPr id="12" name="logo_210"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211"/>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4B-1 · Grammar · noticing   ·   📖 SB p.40 · 1c · audio scripts 4.12, 4.14</a:t>
            </a:r>
            <a:endParaRPr lang="en-US" sz="800" dirty="0"/>
          </a:p>
        </p:txBody>
      </p:sp>
      <p:sp>
        <p:nvSpPr>
          <p:cNvPr id="14" name="pf_212"/>
          <p:cNvSpPr/>
          <p:nvPr/>
        </p:nvSpPr>
        <p:spPr>
          <a:xfrm rot="-120000">
            <a:off x="365760" y="1371600"/>
            <a:ext cx="2468880" cy="1691640"/>
          </a:xfrm>
          <a:prstGeom prst="roundRect">
            <a:avLst>
              <a:gd name="adj" fmla="val 9189"/>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15" name="phx_213"/>
          <p:cNvSpPr/>
          <p:nvPr/>
        </p:nvSpPr>
        <p:spPr>
          <a:xfrm>
            <a:off x="411480" y="1417320"/>
            <a:ext cx="2377440" cy="160020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pitchFamily="34" charset="0"/>
                <a:ea typeface="Segoe UI" pitchFamily="34" charset="-122"/>
                <a:cs typeface="Segoe UI" pitchFamily="34" charset="-120"/>
              </a:rPr>
              <a:t>📷 4b1-child-drawing.jpg</a:t>
            </a:r>
            <a:endParaRPr lang="en-US" sz="900" dirty="0"/>
          </a:p>
        </p:txBody>
      </p:sp>
      <p:sp>
        <p:nvSpPr>
          <p:cNvPr id="16" name="cd_214"/>
          <p:cNvSpPr/>
          <p:nvPr/>
        </p:nvSpPr>
        <p:spPr>
          <a:xfrm>
            <a:off x="320040" y="3246120"/>
            <a:ext cx="2606040" cy="1463040"/>
          </a:xfrm>
          <a:prstGeom prst="roundRect">
            <a:avLst>
              <a:gd name="adj" fmla="val 8750"/>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7" name="ii_215"/>
          <p:cNvSpPr/>
          <p:nvPr/>
        </p:nvSpPr>
        <p:spPr>
          <a:xfrm>
            <a:off x="411480" y="33192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8" name="ih_216"/>
          <p:cNvSpPr/>
          <p:nvPr/>
        </p:nvSpPr>
        <p:spPr>
          <a:xfrm>
            <a:off x="886968" y="3337560"/>
            <a:ext cx="196596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Find it!</a:t>
            </a:r>
            <a:endParaRPr lang="en-US" sz="1300" dirty="0"/>
          </a:p>
        </p:txBody>
      </p:sp>
      <p:sp>
        <p:nvSpPr>
          <p:cNvPr id="19" name="il_217"/>
          <p:cNvSpPr/>
          <p:nvPr/>
        </p:nvSpPr>
        <p:spPr>
          <a:xfrm>
            <a:off x="886968" y="3721608"/>
            <a:ext cx="1947672" cy="91440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can / could + verb</a:t>
            </a:r>
            <a:endParaRPr lang="en-US" sz="1050" dirty="0"/>
          </a:p>
          <a:p>
            <a:pPr marL="152400" indent="-152400">
              <a:spcBef>
                <a:spcPts val="500"/>
              </a:spcBef>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be able to – 4 different forms!</a:t>
            </a:r>
            <a:endParaRPr lang="en-US" sz="1050" dirty="0"/>
          </a:p>
          <a:p>
            <a:pPr marL="152400" indent="-152400">
              <a:spcBef>
                <a:spcPts val="500"/>
              </a:spcBef>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Which word comes BEFORE it?</a:t>
            </a:r>
            <a:endParaRPr lang="en-US" sz="1050" dirty="0"/>
          </a:p>
        </p:txBody>
      </p:sp>
      <p:sp>
        <p:nvSpPr>
          <p:cNvPr id="20" name="who_218"/>
          <p:cNvSpPr/>
          <p:nvPr/>
        </p:nvSpPr>
        <p:spPr>
          <a:xfrm>
            <a:off x="3108960" y="1463040"/>
            <a:ext cx="914400" cy="365760"/>
          </a:xfrm>
          <a:prstGeom prst="roundRect">
            <a:avLst>
              <a:gd name="adj" fmla="val 30000"/>
            </a:avLst>
          </a:prstGeom>
          <a:solidFill>
            <a:srgbClr val="FFE3EE"/>
          </a:solidFill>
          <a:ln/>
        </p:spPr>
        <p:txBody>
          <a:bodyPr wrap="square" lIns="0" tIns="0" rIns="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1 · A</a:t>
            </a:r>
            <a:endParaRPr lang="en-US" sz="950" dirty="0"/>
          </a:p>
        </p:txBody>
      </p:sp>
      <p:sp>
        <p:nvSpPr>
          <p:cNvPr id="21" name="sl_219"/>
          <p:cNvSpPr/>
          <p:nvPr/>
        </p:nvSpPr>
        <p:spPr>
          <a:xfrm>
            <a:off x="4114800" y="1444752"/>
            <a:ext cx="4754880" cy="402336"/>
          </a:xfrm>
          <a:prstGeom prst="roundRect">
            <a:avLst>
              <a:gd name="adj" fmla="val 27273"/>
            </a:avLst>
          </a:prstGeom>
          <a:solidFill>
            <a:srgbClr val="FFFFFF"/>
          </a:solidFill>
          <a:ln w="15875">
            <a:solidFill>
              <a:srgbClr val="F7A6C4"/>
            </a:solidFill>
          </a:ln>
        </p:spPr>
        <p:txBody>
          <a:bodyPr wrap="square" lIns="127000" tIns="0" rIns="127000" bIns="0" rtlCol="0" anchor="ctr">
            <a:normAutofit/>
          </a:bodyPr>
          <a:lstStyle/>
          <a:p>
            <a:pPr indent="0" marL="0">
              <a:buNone/>
            </a:pPr>
            <a:r>
              <a:rPr lang="en-US" sz="1150" dirty="0">
                <a:solidFill>
                  <a:srgbClr val="1B2559"/>
                </a:solidFill>
                <a:latin typeface="Segoe UI" pitchFamily="34" charset="0"/>
                <a:ea typeface="Segoe UI" pitchFamily="34" charset="-122"/>
                <a:cs typeface="Segoe UI" pitchFamily="34" charset="-120"/>
              </a:rPr>
              <a:t>I </a:t>
            </a:r>
            <a:pPr indent="0" marL="0">
              <a:buNone/>
            </a:pPr>
            <a:r>
              <a:rPr lang="en-US" sz="1150" dirty="0">
                <a:solidFill>
                  <a:srgbClr val="1B2559"/>
                </a:solidFill>
                <a:latin typeface="Segoe UI" pitchFamily="34" charset="0"/>
                <a:ea typeface="Segoe UI" pitchFamily="34" charset="-122"/>
                <a:cs typeface="Segoe UI" pitchFamily="34" charset="-120"/>
              </a:rPr>
              <a:t>can speak</a:t>
            </a:r>
            <a:pPr indent="0" marL="0">
              <a:buNone/>
            </a:pPr>
            <a:r>
              <a:rPr lang="en-US" sz="1150" dirty="0">
                <a:solidFill>
                  <a:srgbClr val="1B2559"/>
                </a:solidFill>
                <a:latin typeface="Segoe UI" pitchFamily="34" charset="0"/>
                <a:ea typeface="Segoe UI" pitchFamily="34" charset="-122"/>
                <a:cs typeface="Segoe UI" pitchFamily="34" charset="-120"/>
              </a:rPr>
              <a:t> Italian quite well.</a:t>
            </a:r>
            <a:endParaRPr lang="en-US" sz="1150" dirty="0"/>
          </a:p>
        </p:txBody>
      </p:sp>
      <p:sp>
        <p:nvSpPr>
          <p:cNvPr id="22" name="R1_slA220"/>
          <p:cNvSpPr/>
          <p:nvPr/>
        </p:nvSpPr>
        <p:spPr>
          <a:xfrm>
            <a:off x="4114800" y="1444752"/>
            <a:ext cx="4754880" cy="402336"/>
          </a:xfrm>
          <a:prstGeom prst="roundRect">
            <a:avLst>
              <a:gd name="adj" fmla="val 27273"/>
            </a:avLst>
          </a:prstGeom>
          <a:solidFill>
            <a:srgbClr val="FFFFFF"/>
          </a:solidFill>
          <a:ln w="15875">
            <a:solidFill>
              <a:srgbClr val="F7A6C4"/>
            </a:solidFill>
          </a:ln>
        </p:spPr>
        <p:txBody>
          <a:bodyPr wrap="square" lIns="127000" tIns="0" rIns="127000" bIns="0" rtlCol="0" anchor="ctr">
            <a:normAutofit/>
          </a:bodyPr>
          <a:lstStyle/>
          <a:p>
            <a:pPr indent="0" marL="0">
              <a:buNone/>
            </a:pPr>
            <a:r>
              <a:rPr lang="en-US" sz="1150" dirty="0">
                <a:solidFill>
                  <a:srgbClr val="1B2559"/>
                </a:solidFill>
                <a:latin typeface="Segoe UI" pitchFamily="34" charset="0"/>
                <a:ea typeface="Segoe UI" pitchFamily="34" charset="-122"/>
                <a:cs typeface="Segoe UI" pitchFamily="34" charset="-120"/>
              </a:rPr>
              <a:t>I </a:t>
            </a:r>
            <a:pPr indent="0" marL="0">
              <a:buNone/>
            </a:pPr>
            <a:r>
              <a:rPr lang="en-US" sz="1150" b="1" dirty="0">
                <a:solidFill>
                  <a:srgbClr val="1B2559"/>
                </a:solidFill>
                <a:highlight>
                  <a:srgbClr val="FFE066"/>
                </a:highlight>
                <a:latin typeface="Segoe UI" pitchFamily="34" charset="0"/>
                <a:ea typeface="Segoe UI" pitchFamily="34" charset="-122"/>
                <a:cs typeface="Segoe UI" pitchFamily="34" charset="-120"/>
              </a:rPr>
              <a:t>can speak</a:t>
            </a:r>
            <a:pPr indent="0" marL="0">
              <a:buNone/>
            </a:pPr>
            <a:r>
              <a:rPr lang="en-US" sz="1150" dirty="0">
                <a:solidFill>
                  <a:srgbClr val="1B2559"/>
                </a:solidFill>
                <a:latin typeface="Segoe UI" pitchFamily="34" charset="0"/>
                <a:ea typeface="Segoe UI" pitchFamily="34" charset="-122"/>
                <a:cs typeface="Segoe UI" pitchFamily="34" charset="-120"/>
              </a:rPr>
              <a:t> Italian quite well.</a:t>
            </a:r>
            <a:endParaRPr lang="en-US" sz="1150" dirty="0"/>
          </a:p>
        </p:txBody>
      </p:sp>
      <p:sp>
        <p:nvSpPr>
          <p:cNvPr id="23" name="who_221"/>
          <p:cNvSpPr/>
          <p:nvPr/>
        </p:nvSpPr>
        <p:spPr>
          <a:xfrm>
            <a:off x="3108960" y="1920240"/>
            <a:ext cx="914400" cy="365760"/>
          </a:xfrm>
          <a:prstGeom prst="roundRect">
            <a:avLst>
              <a:gd name="adj" fmla="val 30000"/>
            </a:avLst>
          </a:prstGeom>
          <a:solidFill>
            <a:srgbClr val="FFE3EE"/>
          </a:solidFill>
          <a:ln/>
        </p:spPr>
        <p:txBody>
          <a:bodyPr wrap="square" lIns="0" tIns="0" rIns="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1 · B</a:t>
            </a:r>
            <a:endParaRPr lang="en-US" sz="950" dirty="0"/>
          </a:p>
        </p:txBody>
      </p:sp>
      <p:sp>
        <p:nvSpPr>
          <p:cNvPr id="24" name="sl_222"/>
          <p:cNvSpPr/>
          <p:nvPr/>
        </p:nvSpPr>
        <p:spPr>
          <a:xfrm>
            <a:off x="4114800" y="1901952"/>
            <a:ext cx="4754880" cy="402336"/>
          </a:xfrm>
          <a:prstGeom prst="roundRect">
            <a:avLst>
              <a:gd name="adj" fmla="val 27273"/>
            </a:avLst>
          </a:prstGeom>
          <a:solidFill>
            <a:srgbClr val="FFFFFF"/>
          </a:solidFill>
          <a:ln w="15875">
            <a:solidFill>
              <a:srgbClr val="F7A6C4"/>
            </a:solidFill>
          </a:ln>
        </p:spPr>
        <p:txBody>
          <a:bodyPr wrap="square" lIns="127000" tIns="0" rIns="127000" bIns="0" rtlCol="0" anchor="ctr">
            <a:normAutofit/>
          </a:bodyPr>
          <a:lstStyle/>
          <a:p>
            <a:pPr indent="0" marL="0">
              <a:buNone/>
            </a:pPr>
            <a:r>
              <a:rPr lang="en-US" sz="1150" dirty="0">
                <a:solidFill>
                  <a:srgbClr val="1B2559"/>
                </a:solidFill>
                <a:latin typeface="Segoe UI" pitchFamily="34" charset="0"/>
                <a:ea typeface="Segoe UI" pitchFamily="34" charset="-122"/>
                <a:cs typeface="Segoe UI" pitchFamily="34" charset="-120"/>
              </a:rPr>
              <a:t>Lucky you! I'd love </a:t>
            </a:r>
            <a:pPr indent="0" marL="0">
              <a:buNone/>
            </a:pPr>
            <a:r>
              <a:rPr lang="en-US" sz="1150" dirty="0">
                <a:solidFill>
                  <a:srgbClr val="1B2559"/>
                </a:solidFill>
                <a:latin typeface="Segoe UI" pitchFamily="34" charset="0"/>
                <a:ea typeface="Segoe UI" pitchFamily="34" charset="-122"/>
                <a:cs typeface="Segoe UI" pitchFamily="34" charset="-120"/>
              </a:rPr>
              <a:t>to be able to speak</a:t>
            </a:r>
            <a:pPr indent="0" marL="0">
              <a:buNone/>
            </a:pPr>
            <a:r>
              <a:rPr lang="en-US" sz="1150" dirty="0">
                <a:solidFill>
                  <a:srgbClr val="1B2559"/>
                </a:solidFill>
                <a:latin typeface="Segoe UI" pitchFamily="34" charset="0"/>
                <a:ea typeface="Segoe UI" pitchFamily="34" charset="-122"/>
                <a:cs typeface="Segoe UI" pitchFamily="34" charset="-120"/>
              </a:rPr>
              <a:t> Italian.</a:t>
            </a:r>
            <a:endParaRPr lang="en-US" sz="1150" dirty="0"/>
          </a:p>
        </p:txBody>
      </p:sp>
      <p:sp>
        <p:nvSpPr>
          <p:cNvPr id="25" name="R2_slA223"/>
          <p:cNvSpPr/>
          <p:nvPr/>
        </p:nvSpPr>
        <p:spPr>
          <a:xfrm>
            <a:off x="4114800" y="1901952"/>
            <a:ext cx="4754880" cy="402336"/>
          </a:xfrm>
          <a:prstGeom prst="roundRect">
            <a:avLst>
              <a:gd name="adj" fmla="val 27273"/>
            </a:avLst>
          </a:prstGeom>
          <a:solidFill>
            <a:srgbClr val="FFFFFF"/>
          </a:solidFill>
          <a:ln w="15875">
            <a:solidFill>
              <a:srgbClr val="F7A6C4"/>
            </a:solidFill>
          </a:ln>
        </p:spPr>
        <p:txBody>
          <a:bodyPr wrap="square" lIns="127000" tIns="0" rIns="127000" bIns="0" rtlCol="0" anchor="ctr">
            <a:normAutofit/>
          </a:bodyPr>
          <a:lstStyle/>
          <a:p>
            <a:pPr indent="0" marL="0">
              <a:buNone/>
            </a:pPr>
            <a:r>
              <a:rPr lang="en-US" sz="1150" dirty="0">
                <a:solidFill>
                  <a:srgbClr val="1B2559"/>
                </a:solidFill>
                <a:latin typeface="Segoe UI" pitchFamily="34" charset="0"/>
                <a:ea typeface="Segoe UI" pitchFamily="34" charset="-122"/>
                <a:cs typeface="Segoe UI" pitchFamily="34" charset="-120"/>
              </a:rPr>
              <a:t>Lucky you! I'd love </a:t>
            </a:r>
            <a:pPr indent="0" marL="0">
              <a:buNone/>
            </a:pPr>
            <a:r>
              <a:rPr lang="en-US" sz="1150" b="1" dirty="0">
                <a:solidFill>
                  <a:srgbClr val="1B2559"/>
                </a:solidFill>
                <a:highlight>
                  <a:srgbClr val="FFE066"/>
                </a:highlight>
                <a:latin typeface="Segoe UI" pitchFamily="34" charset="0"/>
                <a:ea typeface="Segoe UI" pitchFamily="34" charset="-122"/>
                <a:cs typeface="Segoe UI" pitchFamily="34" charset="-120"/>
              </a:rPr>
              <a:t>to be able to speak</a:t>
            </a:r>
            <a:pPr indent="0" marL="0">
              <a:buNone/>
            </a:pPr>
            <a:r>
              <a:rPr lang="en-US" sz="1150" dirty="0">
                <a:solidFill>
                  <a:srgbClr val="1B2559"/>
                </a:solidFill>
                <a:latin typeface="Segoe UI" pitchFamily="34" charset="0"/>
                <a:ea typeface="Segoe UI" pitchFamily="34" charset="-122"/>
                <a:cs typeface="Segoe UI" pitchFamily="34" charset="-120"/>
              </a:rPr>
              <a:t> Italian.</a:t>
            </a:r>
            <a:endParaRPr lang="en-US" sz="1150" dirty="0"/>
          </a:p>
        </p:txBody>
      </p:sp>
      <p:sp>
        <p:nvSpPr>
          <p:cNvPr id="26" name="who_224"/>
          <p:cNvSpPr/>
          <p:nvPr/>
        </p:nvSpPr>
        <p:spPr>
          <a:xfrm>
            <a:off x="3108960" y="2377440"/>
            <a:ext cx="914400" cy="365760"/>
          </a:xfrm>
          <a:prstGeom prst="roundRect">
            <a:avLst>
              <a:gd name="adj" fmla="val 30000"/>
            </a:avLst>
          </a:prstGeom>
          <a:solidFill>
            <a:srgbClr val="E3F1FD"/>
          </a:solidFill>
          <a:ln/>
        </p:spPr>
        <p:txBody>
          <a:bodyPr wrap="square" lIns="0" tIns="0" rIns="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2 · A</a:t>
            </a:r>
            <a:endParaRPr lang="en-US" sz="950" dirty="0"/>
          </a:p>
        </p:txBody>
      </p:sp>
      <p:sp>
        <p:nvSpPr>
          <p:cNvPr id="27" name="sl_225"/>
          <p:cNvSpPr/>
          <p:nvPr/>
        </p:nvSpPr>
        <p:spPr>
          <a:xfrm>
            <a:off x="4114800" y="2359152"/>
            <a:ext cx="4754880" cy="402336"/>
          </a:xfrm>
          <a:prstGeom prst="roundRect">
            <a:avLst>
              <a:gd name="adj" fmla="val 27273"/>
            </a:avLst>
          </a:prstGeom>
          <a:solidFill>
            <a:srgbClr val="FFFFFF"/>
          </a:solidFill>
          <a:ln w="15875">
            <a:solidFill>
              <a:srgbClr val="A9D3F5"/>
            </a:solidFill>
          </a:ln>
        </p:spPr>
        <p:txBody>
          <a:bodyPr wrap="square" lIns="127000" tIns="0" rIns="127000" bIns="0" rtlCol="0" anchor="ctr">
            <a:normAutofit/>
          </a:bodyPr>
          <a:lstStyle/>
          <a:p>
            <a:pPr indent="0" marL="0">
              <a:buNone/>
            </a:pPr>
            <a:r>
              <a:rPr lang="en-US" sz="1150" dirty="0">
                <a:solidFill>
                  <a:srgbClr val="1B2559"/>
                </a:solidFill>
                <a:latin typeface="Segoe UI" pitchFamily="34" charset="0"/>
                <a:ea typeface="Segoe UI" pitchFamily="34" charset="-122"/>
                <a:cs typeface="Segoe UI" pitchFamily="34" charset="-120"/>
              </a:rPr>
              <a:t>When I was a child, I </a:t>
            </a:r>
            <a:pPr indent="0" marL="0">
              <a:buNone/>
            </a:pPr>
            <a:r>
              <a:rPr lang="en-US" sz="1150" dirty="0">
                <a:solidFill>
                  <a:srgbClr val="1B2559"/>
                </a:solidFill>
                <a:latin typeface="Segoe UI" pitchFamily="34" charset="0"/>
                <a:ea typeface="Segoe UI" pitchFamily="34" charset="-122"/>
                <a:cs typeface="Segoe UI" pitchFamily="34" charset="-120"/>
              </a:rPr>
              <a:t>could draw</a:t>
            </a:r>
            <a:pPr indent="0" marL="0">
              <a:buNone/>
            </a:pPr>
            <a:r>
              <a:rPr lang="en-US" sz="1150" dirty="0">
                <a:solidFill>
                  <a:srgbClr val="1B2559"/>
                </a:solidFill>
                <a:latin typeface="Segoe UI" pitchFamily="34" charset="0"/>
                <a:ea typeface="Segoe UI" pitchFamily="34" charset="-122"/>
                <a:cs typeface="Segoe UI" pitchFamily="34" charset="-120"/>
              </a:rPr>
              <a:t> really well.</a:t>
            </a:r>
            <a:endParaRPr lang="en-US" sz="1150" dirty="0"/>
          </a:p>
        </p:txBody>
      </p:sp>
      <p:sp>
        <p:nvSpPr>
          <p:cNvPr id="28" name="R3_slA226"/>
          <p:cNvSpPr/>
          <p:nvPr/>
        </p:nvSpPr>
        <p:spPr>
          <a:xfrm>
            <a:off x="4114800" y="2359152"/>
            <a:ext cx="4754880" cy="402336"/>
          </a:xfrm>
          <a:prstGeom prst="roundRect">
            <a:avLst>
              <a:gd name="adj" fmla="val 27273"/>
            </a:avLst>
          </a:prstGeom>
          <a:solidFill>
            <a:srgbClr val="FFFFFF"/>
          </a:solidFill>
          <a:ln w="15875">
            <a:solidFill>
              <a:srgbClr val="A9D3F5"/>
            </a:solidFill>
          </a:ln>
        </p:spPr>
        <p:txBody>
          <a:bodyPr wrap="square" lIns="127000" tIns="0" rIns="127000" bIns="0" rtlCol="0" anchor="ctr">
            <a:normAutofit/>
          </a:bodyPr>
          <a:lstStyle/>
          <a:p>
            <a:pPr indent="0" marL="0">
              <a:buNone/>
            </a:pPr>
            <a:r>
              <a:rPr lang="en-US" sz="1150" dirty="0">
                <a:solidFill>
                  <a:srgbClr val="1B2559"/>
                </a:solidFill>
                <a:latin typeface="Segoe UI" pitchFamily="34" charset="0"/>
                <a:ea typeface="Segoe UI" pitchFamily="34" charset="-122"/>
                <a:cs typeface="Segoe UI" pitchFamily="34" charset="-120"/>
              </a:rPr>
              <a:t>When I was a child, I </a:t>
            </a:r>
            <a:pPr indent="0" marL="0">
              <a:buNone/>
            </a:pPr>
            <a:r>
              <a:rPr lang="en-US" sz="1150" b="1" dirty="0">
                <a:solidFill>
                  <a:srgbClr val="1B2559"/>
                </a:solidFill>
                <a:highlight>
                  <a:srgbClr val="FFE066"/>
                </a:highlight>
                <a:latin typeface="Segoe UI" pitchFamily="34" charset="0"/>
                <a:ea typeface="Segoe UI" pitchFamily="34" charset="-122"/>
                <a:cs typeface="Segoe UI" pitchFamily="34" charset="-120"/>
              </a:rPr>
              <a:t>could draw</a:t>
            </a:r>
            <a:pPr indent="0" marL="0">
              <a:buNone/>
            </a:pPr>
            <a:r>
              <a:rPr lang="en-US" sz="1150" dirty="0">
                <a:solidFill>
                  <a:srgbClr val="1B2559"/>
                </a:solidFill>
                <a:latin typeface="Segoe UI" pitchFamily="34" charset="0"/>
                <a:ea typeface="Segoe UI" pitchFamily="34" charset="-122"/>
                <a:cs typeface="Segoe UI" pitchFamily="34" charset="-120"/>
              </a:rPr>
              <a:t> really well.</a:t>
            </a:r>
            <a:endParaRPr lang="en-US" sz="1150" dirty="0"/>
          </a:p>
        </p:txBody>
      </p:sp>
      <p:sp>
        <p:nvSpPr>
          <p:cNvPr id="29" name="who_227"/>
          <p:cNvSpPr/>
          <p:nvPr/>
        </p:nvSpPr>
        <p:spPr>
          <a:xfrm>
            <a:off x="3108960" y="2834640"/>
            <a:ext cx="914400" cy="365760"/>
          </a:xfrm>
          <a:prstGeom prst="roundRect">
            <a:avLst>
              <a:gd name="adj" fmla="val 30000"/>
            </a:avLst>
          </a:prstGeom>
          <a:solidFill>
            <a:srgbClr val="E3F1FD"/>
          </a:solidFill>
          <a:ln/>
        </p:spPr>
        <p:txBody>
          <a:bodyPr wrap="square" lIns="0" tIns="0" rIns="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2 · B</a:t>
            </a:r>
            <a:endParaRPr lang="en-US" sz="950" dirty="0"/>
          </a:p>
        </p:txBody>
      </p:sp>
      <p:sp>
        <p:nvSpPr>
          <p:cNvPr id="30" name="sl_228"/>
          <p:cNvSpPr/>
          <p:nvPr/>
        </p:nvSpPr>
        <p:spPr>
          <a:xfrm>
            <a:off x="4114800" y="2816352"/>
            <a:ext cx="4754880" cy="402336"/>
          </a:xfrm>
          <a:prstGeom prst="roundRect">
            <a:avLst>
              <a:gd name="adj" fmla="val 27273"/>
            </a:avLst>
          </a:prstGeom>
          <a:solidFill>
            <a:srgbClr val="FFFFFF"/>
          </a:solidFill>
          <a:ln w="15875">
            <a:solidFill>
              <a:srgbClr val="A9D3F5"/>
            </a:solidFill>
          </a:ln>
        </p:spPr>
        <p:txBody>
          <a:bodyPr wrap="square" lIns="127000" tIns="0" rIns="127000" bIns="0" rtlCol="0" anchor="ctr">
            <a:normAutofit/>
          </a:bodyPr>
          <a:lstStyle/>
          <a:p>
            <a:pPr indent="0" marL="0">
              <a:buNone/>
            </a:pPr>
            <a:r>
              <a:rPr lang="en-US" sz="1150" dirty="0">
                <a:solidFill>
                  <a:srgbClr val="1B2559"/>
                </a:solidFill>
                <a:latin typeface="Segoe UI" pitchFamily="34" charset="0"/>
                <a:ea typeface="Segoe UI" pitchFamily="34" charset="-122"/>
                <a:cs typeface="Segoe UI" pitchFamily="34" charset="-120"/>
              </a:rPr>
              <a:t>Really? I've never </a:t>
            </a:r>
            <a:pPr indent="0" marL="0">
              <a:buNone/>
            </a:pPr>
            <a:r>
              <a:rPr lang="en-US" sz="1150" dirty="0">
                <a:solidFill>
                  <a:srgbClr val="1B2559"/>
                </a:solidFill>
                <a:latin typeface="Segoe UI" pitchFamily="34" charset="0"/>
                <a:ea typeface="Segoe UI" pitchFamily="34" charset="-122"/>
                <a:cs typeface="Segoe UI" pitchFamily="34" charset="-120"/>
              </a:rPr>
              <a:t>been able to draw</a:t>
            </a:r>
            <a:pPr indent="0" marL="0">
              <a:buNone/>
            </a:pPr>
            <a:r>
              <a:rPr lang="en-US" sz="1150" dirty="0">
                <a:solidFill>
                  <a:srgbClr val="1B2559"/>
                </a:solidFill>
                <a:latin typeface="Segoe UI" pitchFamily="34" charset="0"/>
                <a:ea typeface="Segoe UI" pitchFamily="34" charset="-122"/>
                <a:cs typeface="Segoe UI" pitchFamily="34" charset="-120"/>
              </a:rPr>
              <a:t>!</a:t>
            </a:r>
            <a:endParaRPr lang="en-US" sz="1150" dirty="0"/>
          </a:p>
        </p:txBody>
      </p:sp>
      <p:sp>
        <p:nvSpPr>
          <p:cNvPr id="31" name="R4_slA229"/>
          <p:cNvSpPr/>
          <p:nvPr/>
        </p:nvSpPr>
        <p:spPr>
          <a:xfrm>
            <a:off x="4114800" y="2816352"/>
            <a:ext cx="4754880" cy="402336"/>
          </a:xfrm>
          <a:prstGeom prst="roundRect">
            <a:avLst>
              <a:gd name="adj" fmla="val 27273"/>
            </a:avLst>
          </a:prstGeom>
          <a:solidFill>
            <a:srgbClr val="FFFFFF"/>
          </a:solidFill>
          <a:ln w="15875">
            <a:solidFill>
              <a:srgbClr val="A9D3F5"/>
            </a:solidFill>
          </a:ln>
        </p:spPr>
        <p:txBody>
          <a:bodyPr wrap="square" lIns="127000" tIns="0" rIns="127000" bIns="0" rtlCol="0" anchor="ctr">
            <a:normAutofit/>
          </a:bodyPr>
          <a:lstStyle/>
          <a:p>
            <a:pPr indent="0" marL="0">
              <a:buNone/>
            </a:pPr>
            <a:r>
              <a:rPr lang="en-US" sz="1150" dirty="0">
                <a:solidFill>
                  <a:srgbClr val="1B2559"/>
                </a:solidFill>
                <a:latin typeface="Segoe UI" pitchFamily="34" charset="0"/>
                <a:ea typeface="Segoe UI" pitchFamily="34" charset="-122"/>
                <a:cs typeface="Segoe UI" pitchFamily="34" charset="-120"/>
              </a:rPr>
              <a:t>Really? I've never </a:t>
            </a:r>
            <a:pPr indent="0" marL="0">
              <a:buNone/>
            </a:pPr>
            <a:r>
              <a:rPr lang="en-US" sz="1150" b="1" dirty="0">
                <a:solidFill>
                  <a:srgbClr val="1B2559"/>
                </a:solidFill>
                <a:highlight>
                  <a:srgbClr val="FFE066"/>
                </a:highlight>
                <a:latin typeface="Segoe UI" pitchFamily="34" charset="0"/>
                <a:ea typeface="Segoe UI" pitchFamily="34" charset="-122"/>
                <a:cs typeface="Segoe UI" pitchFamily="34" charset="-120"/>
              </a:rPr>
              <a:t>been able to draw</a:t>
            </a:r>
            <a:pPr indent="0" marL="0">
              <a:buNone/>
            </a:pPr>
            <a:r>
              <a:rPr lang="en-US" sz="1150" dirty="0">
                <a:solidFill>
                  <a:srgbClr val="1B2559"/>
                </a:solidFill>
                <a:latin typeface="Segoe UI" pitchFamily="34" charset="0"/>
                <a:ea typeface="Segoe UI" pitchFamily="34" charset="-122"/>
                <a:cs typeface="Segoe UI" pitchFamily="34" charset="-120"/>
              </a:rPr>
              <a:t>!</a:t>
            </a:r>
            <a:endParaRPr lang="en-US" sz="1150" dirty="0"/>
          </a:p>
        </p:txBody>
      </p:sp>
      <p:sp>
        <p:nvSpPr>
          <p:cNvPr id="32" name="who_230"/>
          <p:cNvSpPr/>
          <p:nvPr/>
        </p:nvSpPr>
        <p:spPr>
          <a:xfrm>
            <a:off x="3108960" y="3291840"/>
            <a:ext cx="914400" cy="365760"/>
          </a:xfrm>
          <a:prstGeom prst="roundRect">
            <a:avLst>
              <a:gd name="adj" fmla="val 30000"/>
            </a:avLst>
          </a:prstGeom>
          <a:solidFill>
            <a:srgbClr val="FFE3EE"/>
          </a:solidFill>
          <a:ln/>
        </p:spPr>
        <p:txBody>
          <a:bodyPr wrap="square" lIns="0" tIns="0" rIns="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4.14</a:t>
            </a:r>
            <a:endParaRPr lang="en-US" sz="950" dirty="0"/>
          </a:p>
        </p:txBody>
      </p:sp>
      <p:sp>
        <p:nvSpPr>
          <p:cNvPr id="33" name="sl_231"/>
          <p:cNvSpPr/>
          <p:nvPr/>
        </p:nvSpPr>
        <p:spPr>
          <a:xfrm>
            <a:off x="4114800" y="3273552"/>
            <a:ext cx="4754880" cy="402336"/>
          </a:xfrm>
          <a:prstGeom prst="roundRect">
            <a:avLst>
              <a:gd name="adj" fmla="val 27273"/>
            </a:avLst>
          </a:prstGeom>
          <a:solidFill>
            <a:srgbClr val="FFFFFF"/>
          </a:solidFill>
          <a:ln w="15875">
            <a:solidFill>
              <a:srgbClr val="F7A6C4"/>
            </a:solidFill>
          </a:ln>
        </p:spPr>
        <p:txBody>
          <a:bodyPr wrap="square" lIns="127000" tIns="0" rIns="127000" bIns="0" rtlCol="0" anchor="ctr">
            <a:normAutofit/>
          </a:bodyPr>
          <a:lstStyle/>
          <a:p>
            <a:pPr indent="0" marL="0">
              <a:buNone/>
            </a:pPr>
            <a:r>
              <a:rPr lang="en-US" sz="1150" dirty="0">
                <a:solidFill>
                  <a:srgbClr val="1B2559"/>
                </a:solidFill>
                <a:latin typeface="Segoe UI" pitchFamily="34" charset="0"/>
                <a:ea typeface="Segoe UI" pitchFamily="34" charset="-122"/>
                <a:cs typeface="Segoe UI" pitchFamily="34" charset="-120"/>
              </a:rPr>
              <a:t>I love </a:t>
            </a:r>
            <a:pPr indent="0" marL="0">
              <a:buNone/>
            </a:pPr>
            <a:r>
              <a:rPr lang="en-US" sz="1150" dirty="0">
                <a:solidFill>
                  <a:srgbClr val="1B2559"/>
                </a:solidFill>
                <a:latin typeface="Segoe UI" pitchFamily="34" charset="0"/>
                <a:ea typeface="Segoe UI" pitchFamily="34" charset="-122"/>
                <a:cs typeface="Segoe UI" pitchFamily="34" charset="-120"/>
              </a:rPr>
              <a:t>being able to stay</a:t>
            </a:r>
            <a:pPr indent="0" marL="0">
              <a:buNone/>
            </a:pPr>
            <a:r>
              <a:rPr lang="en-US" sz="1150" dirty="0">
                <a:solidFill>
                  <a:srgbClr val="1B2559"/>
                </a:solidFill>
                <a:latin typeface="Segoe UI" pitchFamily="34" charset="0"/>
                <a:ea typeface="Segoe UI" pitchFamily="34" charset="-122"/>
                <a:cs typeface="Segoe UI" pitchFamily="34" charset="-120"/>
              </a:rPr>
              <a:t> in bed late on Sunday morning.</a:t>
            </a:r>
            <a:endParaRPr lang="en-US" sz="1150" dirty="0"/>
          </a:p>
        </p:txBody>
      </p:sp>
      <p:sp>
        <p:nvSpPr>
          <p:cNvPr id="34" name="R5_slA232"/>
          <p:cNvSpPr/>
          <p:nvPr/>
        </p:nvSpPr>
        <p:spPr>
          <a:xfrm>
            <a:off x="4114800" y="3273552"/>
            <a:ext cx="4754880" cy="402336"/>
          </a:xfrm>
          <a:prstGeom prst="roundRect">
            <a:avLst>
              <a:gd name="adj" fmla="val 27273"/>
            </a:avLst>
          </a:prstGeom>
          <a:solidFill>
            <a:srgbClr val="FFFFFF"/>
          </a:solidFill>
          <a:ln w="15875">
            <a:solidFill>
              <a:srgbClr val="F7A6C4"/>
            </a:solidFill>
          </a:ln>
        </p:spPr>
        <p:txBody>
          <a:bodyPr wrap="square" lIns="127000" tIns="0" rIns="127000" bIns="0" rtlCol="0" anchor="ctr">
            <a:normAutofit/>
          </a:bodyPr>
          <a:lstStyle/>
          <a:p>
            <a:pPr indent="0" marL="0">
              <a:buNone/>
            </a:pPr>
            <a:r>
              <a:rPr lang="en-US" sz="1150" dirty="0">
                <a:solidFill>
                  <a:srgbClr val="1B2559"/>
                </a:solidFill>
                <a:latin typeface="Segoe UI" pitchFamily="34" charset="0"/>
                <a:ea typeface="Segoe UI" pitchFamily="34" charset="-122"/>
                <a:cs typeface="Segoe UI" pitchFamily="34" charset="-120"/>
              </a:rPr>
              <a:t>I love </a:t>
            </a:r>
            <a:pPr indent="0" marL="0">
              <a:buNone/>
            </a:pPr>
            <a:r>
              <a:rPr lang="en-US" sz="1150" b="1" dirty="0">
                <a:solidFill>
                  <a:srgbClr val="1B2559"/>
                </a:solidFill>
                <a:highlight>
                  <a:srgbClr val="FFE066"/>
                </a:highlight>
                <a:latin typeface="Segoe UI" pitchFamily="34" charset="0"/>
                <a:ea typeface="Segoe UI" pitchFamily="34" charset="-122"/>
                <a:cs typeface="Segoe UI" pitchFamily="34" charset="-120"/>
              </a:rPr>
              <a:t>being able to stay</a:t>
            </a:r>
            <a:pPr indent="0" marL="0">
              <a:buNone/>
            </a:pPr>
            <a:r>
              <a:rPr lang="en-US" sz="1150" dirty="0">
                <a:solidFill>
                  <a:srgbClr val="1B2559"/>
                </a:solidFill>
                <a:latin typeface="Segoe UI" pitchFamily="34" charset="0"/>
                <a:ea typeface="Segoe UI" pitchFamily="34" charset="-122"/>
                <a:cs typeface="Segoe UI" pitchFamily="34" charset="-120"/>
              </a:rPr>
              <a:t> in bed late on Sunday morning.</a:t>
            </a:r>
            <a:endParaRPr lang="en-US" sz="1150" dirty="0"/>
          </a:p>
        </p:txBody>
      </p:sp>
      <p:sp>
        <p:nvSpPr>
          <p:cNvPr id="35" name="who_233"/>
          <p:cNvSpPr/>
          <p:nvPr/>
        </p:nvSpPr>
        <p:spPr>
          <a:xfrm>
            <a:off x="3108960" y="3749040"/>
            <a:ext cx="914400" cy="365760"/>
          </a:xfrm>
          <a:prstGeom prst="roundRect">
            <a:avLst>
              <a:gd name="adj" fmla="val 30000"/>
            </a:avLst>
          </a:prstGeom>
          <a:solidFill>
            <a:srgbClr val="FFE3EE"/>
          </a:solidFill>
          <a:ln/>
        </p:spPr>
        <p:txBody>
          <a:bodyPr wrap="square" lIns="0" tIns="0" rIns="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4.14</a:t>
            </a:r>
            <a:endParaRPr lang="en-US" sz="950" dirty="0"/>
          </a:p>
        </p:txBody>
      </p:sp>
      <p:sp>
        <p:nvSpPr>
          <p:cNvPr id="36" name="sl_234"/>
          <p:cNvSpPr/>
          <p:nvPr/>
        </p:nvSpPr>
        <p:spPr>
          <a:xfrm>
            <a:off x="4114800" y="3730752"/>
            <a:ext cx="4754880" cy="402336"/>
          </a:xfrm>
          <a:prstGeom prst="roundRect">
            <a:avLst>
              <a:gd name="adj" fmla="val 27273"/>
            </a:avLst>
          </a:prstGeom>
          <a:solidFill>
            <a:srgbClr val="FFFFFF"/>
          </a:solidFill>
          <a:ln w="15875">
            <a:solidFill>
              <a:srgbClr val="F7A6C4"/>
            </a:solidFill>
          </a:ln>
        </p:spPr>
        <p:txBody>
          <a:bodyPr wrap="square" lIns="127000" tIns="0" rIns="127000" bIns="0" rtlCol="0" anchor="ctr">
            <a:normAutofit/>
          </a:bodyPr>
          <a:lstStyle/>
          <a:p>
            <a:pPr indent="0" marL="0">
              <a:buNone/>
            </a:pPr>
            <a:r>
              <a:rPr lang="en-US" sz="1150" dirty="0">
                <a:solidFill>
                  <a:srgbClr val="1B2559"/>
                </a:solidFill>
                <a:latin typeface="Segoe UI" pitchFamily="34" charset="0"/>
                <a:ea typeface="Segoe UI" pitchFamily="34" charset="-122"/>
                <a:cs typeface="Segoe UI" pitchFamily="34" charset="-120"/>
              </a:rPr>
              <a:t>You</a:t>
            </a:r>
            <a:pPr indent="0" marL="0">
              <a:buNone/>
            </a:pPr>
            <a:r>
              <a:rPr lang="en-US" sz="1150" dirty="0">
                <a:solidFill>
                  <a:srgbClr val="1B2559"/>
                </a:solidFill>
                <a:latin typeface="Segoe UI" pitchFamily="34" charset="0"/>
                <a:ea typeface="Segoe UI" pitchFamily="34" charset="-122"/>
                <a:cs typeface="Segoe UI" pitchFamily="34" charset="-120"/>
              </a:rPr>
              <a:t>'ll be able to practise</a:t>
            </a:r>
            <a:pPr indent="0" marL="0">
              <a:buNone/>
            </a:pPr>
            <a:r>
              <a:rPr lang="en-US" sz="1150" dirty="0">
                <a:solidFill>
                  <a:srgbClr val="1B2559"/>
                </a:solidFill>
                <a:latin typeface="Segoe UI" pitchFamily="34" charset="0"/>
                <a:ea typeface="Segoe UI" pitchFamily="34" charset="-122"/>
                <a:cs typeface="Segoe UI" pitchFamily="34" charset="-120"/>
              </a:rPr>
              <a:t> your English in London.</a:t>
            </a:r>
            <a:endParaRPr lang="en-US" sz="1150" dirty="0"/>
          </a:p>
        </p:txBody>
      </p:sp>
      <p:sp>
        <p:nvSpPr>
          <p:cNvPr id="37" name="R6_slA235"/>
          <p:cNvSpPr/>
          <p:nvPr/>
        </p:nvSpPr>
        <p:spPr>
          <a:xfrm>
            <a:off x="4114800" y="3730752"/>
            <a:ext cx="4754880" cy="402336"/>
          </a:xfrm>
          <a:prstGeom prst="roundRect">
            <a:avLst>
              <a:gd name="adj" fmla="val 27273"/>
            </a:avLst>
          </a:prstGeom>
          <a:solidFill>
            <a:srgbClr val="FFFFFF"/>
          </a:solidFill>
          <a:ln w="15875">
            <a:solidFill>
              <a:srgbClr val="F7A6C4"/>
            </a:solidFill>
          </a:ln>
        </p:spPr>
        <p:txBody>
          <a:bodyPr wrap="square" lIns="127000" tIns="0" rIns="127000" bIns="0" rtlCol="0" anchor="ctr">
            <a:normAutofit/>
          </a:bodyPr>
          <a:lstStyle/>
          <a:p>
            <a:pPr indent="0" marL="0">
              <a:buNone/>
            </a:pPr>
            <a:r>
              <a:rPr lang="en-US" sz="1150" dirty="0">
                <a:solidFill>
                  <a:srgbClr val="1B2559"/>
                </a:solidFill>
                <a:latin typeface="Segoe UI" pitchFamily="34" charset="0"/>
                <a:ea typeface="Segoe UI" pitchFamily="34" charset="-122"/>
                <a:cs typeface="Segoe UI" pitchFamily="34" charset="-120"/>
              </a:rPr>
              <a:t>You</a:t>
            </a:r>
            <a:pPr indent="0" marL="0">
              <a:buNone/>
            </a:pPr>
            <a:r>
              <a:rPr lang="en-US" sz="1150" b="1" dirty="0">
                <a:solidFill>
                  <a:srgbClr val="1B2559"/>
                </a:solidFill>
                <a:highlight>
                  <a:srgbClr val="FFE066"/>
                </a:highlight>
                <a:latin typeface="Segoe UI" pitchFamily="34" charset="0"/>
                <a:ea typeface="Segoe UI" pitchFamily="34" charset="-122"/>
                <a:cs typeface="Segoe UI" pitchFamily="34" charset="-120"/>
              </a:rPr>
              <a:t>'ll be able to practise</a:t>
            </a:r>
            <a:pPr indent="0" marL="0">
              <a:buNone/>
            </a:pPr>
            <a:r>
              <a:rPr lang="en-US" sz="1150" dirty="0">
                <a:solidFill>
                  <a:srgbClr val="1B2559"/>
                </a:solidFill>
                <a:latin typeface="Segoe UI" pitchFamily="34" charset="0"/>
                <a:ea typeface="Segoe UI" pitchFamily="34" charset="-122"/>
                <a:cs typeface="Segoe UI" pitchFamily="34" charset="-120"/>
              </a:rPr>
              <a:t> your English in London.</a:t>
            </a:r>
            <a:endParaRPr lang="en-US" sz="11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400"/>
                                        <p:tgtEl>
                                          <p:spTgt spid="2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5"/>
                                        </p:tgtEl>
                                        <p:attrNameLst>
                                          <p:attrName>style.visibility</p:attrName>
                                        </p:attrNameLst>
                                      </p:cBhvr>
                                      <p:to>
                                        <p:strVal val="visible"/>
                                      </p:to>
                                    </p:set>
                                    <p:animEffect transition="in" filter="fade">
                                      <p:cBhvr>
                                        <p:cTn id="12" dur="400"/>
                                        <p:tgtEl>
                                          <p:spTgt spid="2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8"/>
                                        </p:tgtEl>
                                        <p:attrNameLst>
                                          <p:attrName>style.visibility</p:attrName>
                                        </p:attrNameLst>
                                      </p:cBhvr>
                                      <p:to>
                                        <p:strVal val="visible"/>
                                      </p:to>
                                    </p:set>
                                    <p:animEffect transition="in" filter="fade">
                                      <p:cBhvr>
                                        <p:cTn id="17" dur="400"/>
                                        <p:tgtEl>
                                          <p:spTgt spid="28"/>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1"/>
                                        </p:tgtEl>
                                        <p:attrNameLst>
                                          <p:attrName>style.visibility</p:attrName>
                                        </p:attrNameLst>
                                      </p:cBhvr>
                                      <p:to>
                                        <p:strVal val="visible"/>
                                      </p:to>
                                    </p:set>
                                    <p:animEffect transition="in" filter="fade">
                                      <p:cBhvr>
                                        <p:cTn id="22" dur="400"/>
                                        <p:tgtEl>
                                          <p:spTgt spid="3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4"/>
                                        </p:tgtEl>
                                        <p:attrNameLst>
                                          <p:attrName>style.visibility</p:attrName>
                                        </p:attrNameLst>
                                      </p:cBhvr>
                                      <p:to>
                                        <p:strVal val="visible"/>
                                      </p:to>
                                    </p:set>
                                    <p:animEffect transition="in" filter="fade">
                                      <p:cBhvr>
                                        <p:cTn id="27" dur="400"/>
                                        <p:tgtEl>
                                          <p:spTgt spid="34"/>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7"/>
                                        </p:tgtEl>
                                        <p:attrNameLst>
                                          <p:attrName>style.visibility</p:attrName>
                                        </p:attrNameLst>
                                      </p:cBhvr>
                                      <p:to>
                                        <p:strVal val="visible"/>
                                      </p:to>
                                    </p:set>
                                    <p:animEffect transition="in" filter="fade">
                                      <p:cBhvr>
                                        <p:cTn id="32" dur="400"/>
                                        <p:tgtEl>
                                          <p:spTgt spid="3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36"/>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8</a:t>
            </a:r>
            <a:endParaRPr lang="en-US" sz="2800" dirty="0"/>
          </a:p>
        </p:txBody>
      </p:sp>
      <p:pic>
        <p:nvPicPr>
          <p:cNvPr id="4" name="brY_237" descr="/home/claude/lls-course/v2/assets/brush-yellow.png">    </p:cNvPr>
          <p:cNvPicPr>
            <a:picLocks noChangeAspect="1"/>
          </p:cNvPicPr>
          <p:nvPr/>
        </p:nvPicPr>
        <p:blipFill>
          <a:blip r:embed="rId2"/>
          <a:stretch>
            <a:fillRect/>
          </a:stretch>
        </p:blipFill>
        <p:spPr>
          <a:xfrm>
            <a:off x="1097280" y="146304"/>
            <a:ext cx="4191610" cy="621792"/>
          </a:xfrm>
          <a:prstGeom prst="rect">
            <a:avLst/>
          </a:prstGeom>
        </p:spPr>
      </p:pic>
      <p:sp>
        <p:nvSpPr>
          <p:cNvPr id="5" name="title_238"/>
          <p:cNvSpPr/>
          <p:nvPr/>
        </p:nvSpPr>
        <p:spPr>
          <a:xfrm>
            <a:off x="1261872" y="164592"/>
            <a:ext cx="3917290"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can, could, be able to</a:t>
            </a:r>
            <a:endParaRPr lang="en-US" sz="2500" dirty="0"/>
          </a:p>
        </p:txBody>
      </p:sp>
      <p:pic>
        <p:nvPicPr>
          <p:cNvPr id="6" name="brP_239" descr="/home/claude/lls-course/v2/assets/brush-pink.png">    </p:cNvPr>
          <p:cNvPicPr>
            <a:picLocks noChangeAspect="1"/>
          </p:cNvPicPr>
          <p:nvPr/>
        </p:nvPicPr>
        <p:blipFill>
          <a:blip r:embed="rId3"/>
          <a:stretch>
            <a:fillRect/>
          </a:stretch>
        </p:blipFill>
        <p:spPr>
          <a:xfrm>
            <a:off x="1207008" y="731520"/>
            <a:ext cx="3076956" cy="402336"/>
          </a:xfrm>
          <a:prstGeom prst="rect">
            <a:avLst/>
          </a:prstGeom>
        </p:spPr>
      </p:pic>
      <p:sp>
        <p:nvSpPr>
          <p:cNvPr id="7" name="ins_240"/>
          <p:cNvSpPr/>
          <p:nvPr/>
        </p:nvSpPr>
        <p:spPr>
          <a:xfrm>
            <a:off x="1353312" y="731520"/>
            <a:ext cx="282092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Read: which form, and when?</a:t>
            </a:r>
            <a:endParaRPr lang="en-US" sz="1250" dirty="0"/>
          </a:p>
        </p:txBody>
      </p:sp>
      <p:sp>
        <p:nvSpPr>
          <p:cNvPr id="8" name="insIT_241"/>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Leggi: quale forma, e quando?</a:t>
            </a:r>
            <a:endParaRPr lang="en-US" sz="950" dirty="0"/>
          </a:p>
        </p:txBody>
      </p:sp>
      <p:sp>
        <p:nvSpPr>
          <p:cNvPr id="9" name="cmd_242"/>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LOOK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GUARDA</a:t>
            </a:r>
            <a:endParaRPr lang="en-US" sz="1100" dirty="0"/>
          </a:p>
        </p:txBody>
      </p:sp>
      <p:sp>
        <p:nvSpPr>
          <p:cNvPr id="10" name="meta_243"/>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whole class</a:t>
            </a:r>
            <a:endParaRPr lang="en-US" sz="950" dirty="0"/>
          </a:p>
        </p:txBody>
      </p:sp>
      <p:sp>
        <p:nvSpPr>
          <p:cNvPr id="11" name="tag_244"/>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Grammar</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Guided discovery</a:t>
            </a:r>
            <a:endParaRPr lang="en-US" sz="850" dirty="0"/>
          </a:p>
        </p:txBody>
      </p:sp>
      <p:pic>
        <p:nvPicPr>
          <p:cNvPr id="12" name="logo_245"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246"/>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4B-1 · Grammar · the rule   ·   📖 Grammar Bank 4B p.139 · audio 4.13, 4.14</a:t>
            </a:r>
            <a:endParaRPr lang="en-US" sz="800" dirty="0"/>
          </a:p>
        </p:txBody>
      </p:sp>
      <p:sp>
        <p:nvSpPr>
          <p:cNvPr id="14" name="ap_247"/>
          <p:cNvSpPr/>
          <p:nvPr/>
        </p:nvSpPr>
        <p:spPr>
          <a:xfrm>
            <a:off x="6583680" y="914400"/>
            <a:ext cx="1691640" cy="402336"/>
          </a:xfrm>
          <a:prstGeom prst="roundRect">
            <a:avLst>
              <a:gd name="adj" fmla="val 50000"/>
            </a:avLst>
          </a:prstGeom>
          <a:solidFill>
            <a:srgbClr val="E3F1FD"/>
          </a:solidFill>
          <a:ln w="19050">
            <a:solidFill>
              <a:srgbClr val="2F8DE4"/>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4.13 + 4.14</a:t>
            </a:r>
            <a:endParaRPr lang="en-US" sz="1100" dirty="0"/>
          </a:p>
        </p:txBody>
      </p:sp>
      <p:sp>
        <p:nvSpPr>
          <p:cNvPr id="15" name="ah_248"/>
          <p:cNvSpPr/>
          <p:nvPr/>
        </p:nvSpPr>
        <p:spPr>
          <a:xfrm>
            <a:off x="4974336" y="4572000"/>
            <a:ext cx="1554480" cy="365760"/>
          </a:xfrm>
          <a:prstGeom prst="rect">
            <a:avLst/>
          </a:prstGeom>
          <a:noFill/>
          <a:ln/>
        </p:spPr>
        <p:txBody>
          <a:bodyPr wrap="square" lIns="0" tIns="0" rIns="0" bIns="0" rtlCol="0" anchor="ctr"/>
          <a:lstStyle/>
          <a:p>
            <a:pPr algn="r" indent="0" marL="0">
              <a:buNone/>
            </a:pPr>
            <a:r>
              <a:rPr lang="en-US" sz="950" b="1" dirty="0">
                <a:solidFill>
                  <a:srgbClr val="2F8DE4"/>
                </a:solidFill>
                <a:latin typeface="Segoe UI Semibold" pitchFamily="34" charset="0"/>
                <a:ea typeface="Segoe UI Semibold" pitchFamily="34" charset="-122"/>
                <a:cs typeface="Segoe UI Semibold" pitchFamily="34" charset="-120"/>
              </a:rPr>
              <a:t>▶ normal · 🐢 slower</a:t>
            </a:r>
            <a:endParaRPr lang="en-US" sz="950" dirty="0"/>
          </a:p>
        </p:txBody>
      </p:sp>
      <p:pic>
        <p:nvPicPr>
          <p:cNvPr id="16"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6574536" y="4553712"/>
            <a:ext cx="411480" cy="411480"/>
          </a:xfrm>
          <a:prstGeom prst="rect">
            <a:avLst/>
          </a:prstGeom>
        </p:spPr>
      </p:pic>
      <p:pic>
        <p:nvPicPr>
          <p:cNvPr id="17"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7050024" y="4553712"/>
            <a:ext cx="411480" cy="411480"/>
          </a:xfrm>
          <a:prstGeom prst="rect">
            <a:avLst/>
          </a:prstGeom>
        </p:spPr>
      </p:pic>
      <p:pic>
        <p:nvPicPr>
          <p:cNvPr id="18" name="Media 2">
            <a:hlinkClick r:id="" action="ppaction://media"/>
          </p:cNvPr>
          <p:cNvPicPr>
            <a:picLocks noChangeAspect="1"/>
          </p:cNvPicPr>
          <p:nvPr>
            <a:audioFile r:link="rId11"/>
            <p:extLst>
              <p:ext uri="{DAA4B4D4-6D71-4841-9C94-3DE7FCFB9230}">
                <p14:media xmlns:p14="http://schemas.microsoft.com/office/powerpoint/2010/main" r:embed="rId12"/>
              </p:ext>
            </p:extLst>
          </p:nvPr>
        </p:nvPicPr>
        <p:blipFill>
          <a:blip r:embed="rId13"/>
          <a:stretch>
            <a:fillRect/>
          </a:stretch>
        </p:blipFill>
        <p:spPr>
          <a:xfrm>
            <a:off x="7525512" y="4553712"/>
            <a:ext cx="411480" cy="411480"/>
          </a:xfrm>
          <a:prstGeom prst="rect">
            <a:avLst/>
          </a:prstGeom>
        </p:spPr>
      </p:pic>
      <p:pic>
        <p:nvPicPr>
          <p:cNvPr id="19" name="Media 3">
            <a:hlinkClick r:id="" action="ppaction://media"/>
          </p:cNvPr>
          <p:cNvPicPr>
            <a:picLocks noChangeAspect="1"/>
          </p:cNvPicPr>
          <p:nvPr>
            <a:audioFile r:link="rId14"/>
            <p:extLst>
              <p:ext uri="{DAA4B4D4-6D71-4841-9C94-3DE7FCFB9230}">
                <p14:media xmlns:p14="http://schemas.microsoft.com/office/powerpoint/2010/main" r:embed="rId15"/>
              </p:ext>
            </p:extLst>
          </p:nvPr>
        </p:nvPicPr>
        <p:blipFill>
          <a:blip r:embed="rId16"/>
          <a:stretch>
            <a:fillRect/>
          </a:stretch>
        </p:blipFill>
        <p:spPr>
          <a:xfrm>
            <a:off x="8001000" y="4553712"/>
            <a:ext cx="411480" cy="411480"/>
          </a:xfrm>
          <a:prstGeom prst="rect">
            <a:avLst/>
          </a:prstGeom>
        </p:spPr>
      </p:pic>
      <p:sp>
        <p:nvSpPr>
          <p:cNvPr id="20" name="cd_249"/>
          <p:cNvSpPr/>
          <p:nvPr/>
        </p:nvSpPr>
        <p:spPr>
          <a:xfrm>
            <a:off x="320040" y="1417320"/>
            <a:ext cx="2034540" cy="3017520"/>
          </a:xfrm>
          <a:prstGeom prst="roundRect">
            <a:avLst>
              <a:gd name="adj" fmla="val 6292"/>
            </a:avLst>
          </a:prstGeom>
          <a:solidFill>
            <a:srgbClr val="FFFFFF"/>
          </a:solidFill>
          <a:ln w="25400">
            <a:solidFill>
              <a:srgbClr val="F7A6C4"/>
            </a:solidFill>
            <a:prstDash val="solid"/>
          </a:ln>
          <a:effectLst>
            <a:outerShdw sx="100000" sy="100000" kx="0" ky="0" algn="bl" rotWithShape="0" blurRad="88900" dist="31750" dir="5400000">
              <a:srgbClr val="1B2559">
                <a:alpha val="12000"/>
              </a:srgbClr>
            </a:outerShdw>
          </a:effectLst>
        </p:spPr>
      </p:sp>
      <p:sp>
        <p:nvSpPr>
          <p:cNvPr id="21" name="rh_250"/>
          <p:cNvSpPr/>
          <p:nvPr/>
        </p:nvSpPr>
        <p:spPr>
          <a:xfrm>
            <a:off x="429768" y="1508760"/>
            <a:ext cx="1815084" cy="365760"/>
          </a:xfrm>
          <a:prstGeom prst="roundRect">
            <a:avLst>
              <a:gd name="adj" fmla="val 50000"/>
            </a:avLst>
          </a:prstGeom>
          <a:solidFill>
            <a:srgbClr val="E8508F"/>
          </a:solidFill>
          <a:ln/>
        </p:spPr>
        <p:txBody>
          <a:bodyPr wrap="square" lIns="0" tIns="0" rIns="0" bIns="0" rtlCol="0" anchor="ctr">
            <a:normAutofit/>
          </a:bodyPr>
          <a:lstStyle/>
          <a:p>
            <a:pPr algn="ctr" indent="0" marL="0">
              <a:buNone/>
            </a:pPr>
            <a:r>
              <a:rPr lang="en-US" sz="1250" dirty="0">
                <a:solidFill>
                  <a:srgbClr val="FFFFFF"/>
                </a:solidFill>
                <a:latin typeface="Arial Rounded MT Bold" pitchFamily="34" charset="0"/>
                <a:ea typeface="Arial Rounded MT Bold" pitchFamily="34" charset="-122"/>
                <a:cs typeface="Arial Rounded MT Bold" pitchFamily="34" charset="-120"/>
              </a:rPr>
              <a:t>can / can't</a:t>
            </a:r>
            <a:endParaRPr lang="en-US" sz="1250" dirty="0"/>
          </a:p>
        </p:txBody>
      </p:sp>
      <p:sp>
        <p:nvSpPr>
          <p:cNvPr id="22" name="pf_251"/>
          <p:cNvSpPr/>
          <p:nvPr/>
        </p:nvSpPr>
        <p:spPr>
          <a:xfrm>
            <a:off x="429768" y="1938528"/>
            <a:ext cx="1815084" cy="960120"/>
          </a:xfrm>
          <a:prstGeom prst="roundRect">
            <a:avLst>
              <a:gd name="adj" fmla="val 1619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23" name="phx_252"/>
          <p:cNvSpPr/>
          <p:nvPr/>
        </p:nvSpPr>
        <p:spPr>
          <a:xfrm>
            <a:off x="475488" y="1984248"/>
            <a:ext cx="1723644" cy="86868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pitchFamily="34" charset="0"/>
                <a:ea typeface="Segoe UI" pitchFamily="34" charset="-122"/>
                <a:cs typeface="Segoe UI" pitchFamily="34" charset="-120"/>
              </a:rPr>
              <a:t>📷 4b1-speak-italian.jpg</a:t>
            </a:r>
            <a:endParaRPr lang="en-US" sz="900" dirty="0"/>
          </a:p>
        </p:txBody>
      </p:sp>
      <p:sp>
        <p:nvSpPr>
          <p:cNvPr id="24" name="ru_253"/>
          <p:cNvSpPr/>
          <p:nvPr/>
        </p:nvSpPr>
        <p:spPr>
          <a:xfrm>
            <a:off x="411480" y="2926080"/>
            <a:ext cx="1851660" cy="384048"/>
          </a:xfrm>
          <a:prstGeom prst="rect">
            <a:avLst/>
          </a:prstGeom>
          <a:noFill/>
          <a:ln/>
        </p:spPr>
        <p:txBody>
          <a:bodyPr wrap="square" lIns="0" tIns="0" rIns="0" bIns="0" rtlCol="0" anchor="ctr">
            <a:normAutofit/>
          </a:bodyPr>
          <a:lstStyle/>
          <a:p>
            <a:pPr algn="ctr" indent="0" marL="0">
              <a:buNone/>
            </a:pPr>
            <a:r>
              <a:rPr lang="en-US" sz="1050" dirty="0">
                <a:solidFill>
                  <a:srgbClr val="E8508F"/>
                </a:solidFill>
                <a:latin typeface="Arial Rounded MT Bold" pitchFamily="34" charset="0"/>
                <a:ea typeface="Arial Rounded MT Bold" pitchFamily="34" charset="-122"/>
                <a:cs typeface="Arial Rounded MT Bold" pitchFamily="34" charset="-120"/>
              </a:rPr>
              <a:t>NOW · so / posso</a:t>
            </a:r>
            <a:endParaRPr lang="en-US" sz="1050" dirty="0"/>
          </a:p>
        </p:txBody>
      </p:sp>
      <p:sp>
        <p:nvSpPr>
          <p:cNvPr id="25" name="R1_rx254"/>
          <p:cNvSpPr/>
          <p:nvPr/>
        </p:nvSpPr>
        <p:spPr>
          <a:xfrm>
            <a:off x="411480" y="3319272"/>
            <a:ext cx="1851660" cy="749808"/>
          </a:xfrm>
          <a:prstGeom prst="rect">
            <a:avLst/>
          </a:prstGeom>
          <a:no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I can speak three languages fluently.</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Jenny can't come tonight. She's ill.</a:t>
            </a:r>
            <a:endParaRPr lang="en-US" sz="1050" dirty="0"/>
          </a:p>
        </p:txBody>
      </p:sp>
      <p:sp>
        <p:nvSpPr>
          <p:cNvPr id="26" name="R1_ri255"/>
          <p:cNvSpPr/>
          <p:nvPr/>
        </p:nvSpPr>
        <p:spPr>
          <a:xfrm>
            <a:off x="411480" y="4087368"/>
            <a:ext cx="1851660" cy="274320"/>
          </a:xfrm>
          <a:prstGeom prst="rect">
            <a:avLst/>
          </a:prstGeom>
          <a:noFill/>
          <a:ln/>
        </p:spPr>
        <p:txBody>
          <a:bodyPr wrap="square" lIns="0" tIns="0" rIns="0" bIns="0" rtlCol="0" anchor="ctr">
            <a:normAutofit/>
          </a:bodyPr>
          <a:lstStyle/>
          <a:p>
            <a:pPr algn="ctr" indent="0" marL="0">
              <a:buNone/>
            </a:pPr>
            <a:r>
              <a:rPr lang="en-US" sz="900" i="1" dirty="0">
                <a:solidFill>
                  <a:srgbClr val="5B6785"/>
                </a:solidFill>
                <a:latin typeface="Segoe UI" pitchFamily="34" charset="0"/>
                <a:ea typeface="Segoe UI" pitchFamily="34" charset="-122"/>
                <a:cs typeface="Segoe UI" pitchFamily="34" charset="-120"/>
              </a:rPr>
              <a:t>✗ I can to speak</a:t>
            </a:r>
            <a:endParaRPr lang="en-US" sz="900" dirty="0"/>
          </a:p>
        </p:txBody>
      </p:sp>
      <p:sp>
        <p:nvSpPr>
          <p:cNvPr id="27" name="cd_256"/>
          <p:cNvSpPr/>
          <p:nvPr/>
        </p:nvSpPr>
        <p:spPr>
          <a:xfrm>
            <a:off x="2491740" y="1417320"/>
            <a:ext cx="2034540" cy="3017520"/>
          </a:xfrm>
          <a:prstGeom prst="roundRect">
            <a:avLst>
              <a:gd name="adj" fmla="val 6292"/>
            </a:avLst>
          </a:prstGeom>
          <a:solidFill>
            <a:srgbClr val="FFFFFF"/>
          </a:solidFill>
          <a:ln w="25400">
            <a:solidFill>
              <a:srgbClr val="A9D3F5"/>
            </a:solidFill>
            <a:prstDash val="solid"/>
          </a:ln>
          <a:effectLst>
            <a:outerShdw sx="100000" sy="100000" kx="0" ky="0" algn="bl" rotWithShape="0" blurRad="88900" dist="31750" dir="5400000">
              <a:srgbClr val="1B2559">
                <a:alpha val="12000"/>
              </a:srgbClr>
            </a:outerShdw>
          </a:effectLst>
        </p:spPr>
      </p:sp>
      <p:sp>
        <p:nvSpPr>
          <p:cNvPr id="28" name="rh_257"/>
          <p:cNvSpPr/>
          <p:nvPr/>
        </p:nvSpPr>
        <p:spPr>
          <a:xfrm>
            <a:off x="2601468" y="1508760"/>
            <a:ext cx="1815084" cy="365760"/>
          </a:xfrm>
          <a:prstGeom prst="roundRect">
            <a:avLst>
              <a:gd name="adj" fmla="val 50000"/>
            </a:avLst>
          </a:prstGeom>
          <a:solidFill>
            <a:srgbClr val="2F8DE4"/>
          </a:solidFill>
          <a:ln/>
        </p:spPr>
        <p:txBody>
          <a:bodyPr wrap="square" lIns="0" tIns="0" rIns="0" bIns="0" rtlCol="0" anchor="ctr">
            <a:normAutofit/>
          </a:bodyPr>
          <a:lstStyle/>
          <a:p>
            <a:pPr algn="ctr" indent="0" marL="0">
              <a:buNone/>
            </a:pPr>
            <a:r>
              <a:rPr lang="en-US" sz="1250" dirty="0">
                <a:solidFill>
                  <a:srgbClr val="FFFFFF"/>
                </a:solidFill>
                <a:latin typeface="Arial Rounded MT Bold" pitchFamily="34" charset="0"/>
                <a:ea typeface="Arial Rounded MT Bold" pitchFamily="34" charset="-122"/>
                <a:cs typeface="Arial Rounded MT Bold" pitchFamily="34" charset="-120"/>
              </a:rPr>
              <a:t>could / couldn't</a:t>
            </a:r>
            <a:endParaRPr lang="en-US" sz="1250" dirty="0"/>
          </a:p>
        </p:txBody>
      </p:sp>
      <p:sp>
        <p:nvSpPr>
          <p:cNvPr id="29" name="pf_258"/>
          <p:cNvSpPr/>
          <p:nvPr/>
        </p:nvSpPr>
        <p:spPr>
          <a:xfrm>
            <a:off x="2601468" y="1938528"/>
            <a:ext cx="1815084" cy="960120"/>
          </a:xfrm>
          <a:prstGeom prst="roundRect">
            <a:avLst>
              <a:gd name="adj" fmla="val 1619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30" name="phx_259"/>
          <p:cNvSpPr/>
          <p:nvPr/>
        </p:nvSpPr>
        <p:spPr>
          <a:xfrm>
            <a:off x="2647188" y="1984248"/>
            <a:ext cx="1723644" cy="86868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pitchFamily="34" charset="0"/>
                <a:ea typeface="Segoe UI" pitchFamily="34" charset="-122"/>
                <a:cs typeface="Segoe UI" pitchFamily="34" charset="-120"/>
              </a:rPr>
              <a:t>📷 4b1-child-drawing.jpg</a:t>
            </a:r>
            <a:endParaRPr lang="en-US" sz="900" dirty="0"/>
          </a:p>
        </p:txBody>
      </p:sp>
      <p:sp>
        <p:nvSpPr>
          <p:cNvPr id="31" name="ru_260"/>
          <p:cNvSpPr/>
          <p:nvPr/>
        </p:nvSpPr>
        <p:spPr>
          <a:xfrm>
            <a:off x="2583180" y="2926080"/>
            <a:ext cx="1851660" cy="384048"/>
          </a:xfrm>
          <a:prstGeom prst="rect">
            <a:avLst/>
          </a:prstGeom>
          <a:noFill/>
          <a:ln/>
        </p:spPr>
        <p:txBody>
          <a:bodyPr wrap="square" lIns="0" tIns="0" rIns="0" bIns="0" rtlCol="0" anchor="ctr">
            <a:normAutofit/>
          </a:bodyPr>
          <a:lstStyle/>
          <a:p>
            <a:pPr algn="ctr" indent="0" marL="0">
              <a:buNone/>
            </a:pPr>
            <a:r>
              <a:rPr lang="en-US" sz="1050" dirty="0">
                <a:solidFill>
                  <a:srgbClr val="2F8DE4"/>
                </a:solidFill>
                <a:latin typeface="Arial Rounded MT Bold" pitchFamily="34" charset="0"/>
                <a:ea typeface="Arial Rounded MT Bold" pitchFamily="34" charset="-122"/>
                <a:cs typeface="Arial Rounded MT Bold" pitchFamily="34" charset="-120"/>
              </a:rPr>
              <a:t>PAST · sapevo / potevo</a:t>
            </a:r>
            <a:endParaRPr lang="en-US" sz="1050" dirty="0"/>
          </a:p>
        </p:txBody>
      </p:sp>
      <p:sp>
        <p:nvSpPr>
          <p:cNvPr id="32" name="R2_rx261"/>
          <p:cNvSpPr/>
          <p:nvPr/>
        </p:nvSpPr>
        <p:spPr>
          <a:xfrm>
            <a:off x="2583180" y="3319272"/>
            <a:ext cx="1851660" cy="749808"/>
          </a:xfrm>
          <a:prstGeom prst="rect">
            <a:avLst/>
          </a:prstGeom>
          <a:noFill/>
          <a:ln/>
        </p:spPr>
        <p:txBody>
          <a:bodyPr wrap="square" lIns="0" tIns="0" rIns="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Our daughter could play the violin when she was three.</a:t>
            </a:r>
            <a:endParaRPr lang="en-US" sz="950" dirty="0"/>
          </a:p>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They couldn't wait. They were in a hurry.</a:t>
            </a:r>
            <a:endParaRPr lang="en-US" sz="950" dirty="0"/>
          </a:p>
        </p:txBody>
      </p:sp>
      <p:sp>
        <p:nvSpPr>
          <p:cNvPr id="33" name="R2_ri262"/>
          <p:cNvSpPr/>
          <p:nvPr/>
        </p:nvSpPr>
        <p:spPr>
          <a:xfrm>
            <a:off x="2583180" y="4087368"/>
            <a:ext cx="1851660" cy="274320"/>
          </a:xfrm>
          <a:prstGeom prst="rect">
            <a:avLst/>
          </a:prstGeom>
          <a:noFill/>
          <a:ln/>
        </p:spPr>
        <p:txBody>
          <a:bodyPr wrap="square" lIns="0" tIns="0" rIns="0" bIns="0" rtlCol="0" anchor="ctr">
            <a:normAutofit/>
          </a:bodyPr>
          <a:lstStyle/>
          <a:p>
            <a:pPr algn="ctr" indent="0" marL="0">
              <a:buNone/>
            </a:pPr>
            <a:r>
              <a:rPr lang="en-US" sz="900" i="1" dirty="0">
                <a:solidFill>
                  <a:srgbClr val="5B6785"/>
                </a:solidFill>
                <a:latin typeface="Segoe UI" pitchFamily="34" charset="0"/>
                <a:ea typeface="Segoe UI" pitchFamily="34" charset="-122"/>
                <a:cs typeface="Segoe UI" pitchFamily="34" charset="-120"/>
              </a:rPr>
              <a:t>✗ I could to play</a:t>
            </a:r>
            <a:endParaRPr lang="en-US" sz="900" dirty="0"/>
          </a:p>
        </p:txBody>
      </p:sp>
      <p:sp>
        <p:nvSpPr>
          <p:cNvPr id="34" name="cd_263"/>
          <p:cNvSpPr/>
          <p:nvPr/>
        </p:nvSpPr>
        <p:spPr>
          <a:xfrm>
            <a:off x="4663440" y="1417320"/>
            <a:ext cx="2034540" cy="3017520"/>
          </a:xfrm>
          <a:prstGeom prst="roundRect">
            <a:avLst>
              <a:gd name="adj" fmla="val 6292"/>
            </a:avLst>
          </a:prstGeom>
          <a:solidFill>
            <a:srgbClr val="FFFFFF"/>
          </a:solidFill>
          <a:ln w="25400">
            <a:solidFill>
              <a:srgbClr val="A8E5BE"/>
            </a:solidFill>
            <a:prstDash val="solid"/>
          </a:ln>
          <a:effectLst>
            <a:outerShdw sx="100000" sy="100000" kx="0" ky="0" algn="bl" rotWithShape="0" blurRad="88900" dist="31750" dir="5400000">
              <a:srgbClr val="1B2559">
                <a:alpha val="12000"/>
              </a:srgbClr>
            </a:outerShdw>
          </a:effectLst>
        </p:spPr>
      </p:sp>
      <p:sp>
        <p:nvSpPr>
          <p:cNvPr id="35" name="rh_264"/>
          <p:cNvSpPr/>
          <p:nvPr/>
        </p:nvSpPr>
        <p:spPr>
          <a:xfrm>
            <a:off x="4773168" y="1508760"/>
            <a:ext cx="1815084" cy="365760"/>
          </a:xfrm>
          <a:prstGeom prst="roundRect">
            <a:avLst>
              <a:gd name="adj" fmla="val 50000"/>
            </a:avLst>
          </a:prstGeom>
          <a:solidFill>
            <a:srgbClr val="2EB872"/>
          </a:solidFill>
          <a:ln/>
        </p:spPr>
        <p:txBody>
          <a:bodyPr wrap="square" lIns="0" tIns="0" rIns="0" bIns="0" rtlCol="0" anchor="ctr">
            <a:normAutofit/>
          </a:bodyPr>
          <a:lstStyle/>
          <a:p>
            <a:pPr algn="ctr" indent="0" marL="0">
              <a:buNone/>
            </a:pPr>
            <a:r>
              <a:rPr lang="en-US" sz="1250" dirty="0">
                <a:solidFill>
                  <a:srgbClr val="FFFFFF"/>
                </a:solidFill>
                <a:latin typeface="Arial Rounded MT Bold" pitchFamily="34" charset="0"/>
                <a:ea typeface="Arial Rounded MT Bold" pitchFamily="34" charset="-122"/>
                <a:cs typeface="Arial Rounded MT Bold" pitchFamily="34" charset="-120"/>
              </a:rPr>
              <a:t>to be able to</a:t>
            </a:r>
            <a:endParaRPr lang="en-US" sz="1250" dirty="0"/>
          </a:p>
        </p:txBody>
      </p:sp>
      <p:sp>
        <p:nvSpPr>
          <p:cNvPr id="36" name="pf_265"/>
          <p:cNvSpPr/>
          <p:nvPr/>
        </p:nvSpPr>
        <p:spPr>
          <a:xfrm>
            <a:off x="4773168" y="1938528"/>
            <a:ext cx="1815084" cy="960120"/>
          </a:xfrm>
          <a:prstGeom prst="roundRect">
            <a:avLst>
              <a:gd name="adj" fmla="val 1619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37" name="ph_266" descr="/home/claude/lls-course/v2/cache/spare_work_dream_job_jpg_415x209_31.png">    </p:cNvPr>
          <p:cNvPicPr>
            <a:picLocks noChangeAspect="1"/>
          </p:cNvPicPr>
          <p:nvPr/>
        </p:nvPicPr>
        <p:blipFill>
          <a:blip r:embed="rId17"/>
          <a:stretch>
            <a:fillRect/>
          </a:stretch>
        </p:blipFill>
        <p:spPr>
          <a:xfrm>
            <a:off x="4818888" y="1984248"/>
            <a:ext cx="1723644" cy="868680"/>
          </a:xfrm>
          <a:prstGeom prst="rect">
            <a:avLst/>
          </a:prstGeom>
        </p:spPr>
      </p:pic>
      <p:sp>
        <p:nvSpPr>
          <p:cNvPr id="38" name="ru_267"/>
          <p:cNvSpPr/>
          <p:nvPr/>
        </p:nvSpPr>
        <p:spPr>
          <a:xfrm>
            <a:off x="4754880" y="2926080"/>
            <a:ext cx="1851660" cy="384048"/>
          </a:xfrm>
          <a:prstGeom prst="rect">
            <a:avLst/>
          </a:prstGeom>
          <a:noFill/>
          <a:ln/>
        </p:spPr>
        <p:txBody>
          <a:bodyPr wrap="square" lIns="0" tIns="0" rIns="0" bIns="0" rtlCol="0" anchor="ctr">
            <a:normAutofit/>
          </a:bodyPr>
          <a:lstStyle/>
          <a:p>
            <a:pPr algn="ctr" indent="0" marL="0">
              <a:buNone/>
            </a:pPr>
            <a:r>
              <a:rPr lang="en-US" sz="1050" dirty="0">
                <a:solidFill>
                  <a:srgbClr val="2EB872"/>
                </a:solidFill>
                <a:latin typeface="Arial Rounded MT Bold" pitchFamily="34" charset="0"/>
                <a:ea typeface="Arial Rounded MT Bold" pitchFamily="34" charset="-122"/>
                <a:cs typeface="Arial Rounded MT Bold" pitchFamily="34" charset="-120"/>
              </a:rPr>
              <a:t>after I'd like · I love being…</a:t>
            </a:r>
            <a:endParaRPr lang="en-US" sz="1050" dirty="0"/>
          </a:p>
        </p:txBody>
      </p:sp>
      <p:sp>
        <p:nvSpPr>
          <p:cNvPr id="39" name="R3_rx268"/>
          <p:cNvSpPr/>
          <p:nvPr/>
        </p:nvSpPr>
        <p:spPr>
          <a:xfrm>
            <a:off x="4754880" y="3319272"/>
            <a:ext cx="1851660" cy="749808"/>
          </a:xfrm>
          <a:prstGeom prst="rect">
            <a:avLst/>
          </a:prstGeom>
          <a:no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I'd like to be able to ski.</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I love being able to stay in bed late on Sunday morning.</a:t>
            </a:r>
            <a:endParaRPr lang="en-US" sz="1050" dirty="0"/>
          </a:p>
        </p:txBody>
      </p:sp>
      <p:sp>
        <p:nvSpPr>
          <p:cNvPr id="40" name="R3_ri269"/>
          <p:cNvSpPr/>
          <p:nvPr/>
        </p:nvSpPr>
        <p:spPr>
          <a:xfrm>
            <a:off x="4754880" y="4087368"/>
            <a:ext cx="1851660" cy="274320"/>
          </a:xfrm>
          <a:prstGeom prst="rect">
            <a:avLst/>
          </a:prstGeom>
          <a:noFill/>
          <a:ln/>
        </p:spPr>
        <p:txBody>
          <a:bodyPr wrap="square" lIns="0" tIns="0" rIns="0" bIns="0" rtlCol="0" anchor="ctr">
            <a:normAutofit/>
          </a:bodyPr>
          <a:lstStyle/>
          <a:p>
            <a:pPr algn="ctr" indent="0" marL="0">
              <a:buNone/>
            </a:pPr>
            <a:r>
              <a:rPr lang="en-US" sz="900" i="1" dirty="0">
                <a:solidFill>
                  <a:srgbClr val="5B6785"/>
                </a:solidFill>
                <a:latin typeface="Segoe UI" pitchFamily="34" charset="0"/>
                <a:ea typeface="Segoe UI" pitchFamily="34" charset="-122"/>
                <a:cs typeface="Segoe UI" pitchFamily="34" charset="-120"/>
              </a:rPr>
              <a:t>✗ I want to can ski</a:t>
            </a:r>
            <a:endParaRPr lang="en-US" sz="900" dirty="0"/>
          </a:p>
        </p:txBody>
      </p:sp>
      <p:sp>
        <p:nvSpPr>
          <p:cNvPr id="41" name="cd_270"/>
          <p:cNvSpPr/>
          <p:nvPr/>
        </p:nvSpPr>
        <p:spPr>
          <a:xfrm>
            <a:off x="6835140" y="1417320"/>
            <a:ext cx="2034540" cy="3017520"/>
          </a:xfrm>
          <a:prstGeom prst="roundRect">
            <a:avLst>
              <a:gd name="adj" fmla="val 6292"/>
            </a:avLst>
          </a:prstGeom>
          <a:solidFill>
            <a:srgbClr val="FFFFFF"/>
          </a:solidFill>
          <a:ln w="25400">
            <a:solidFill>
              <a:srgbClr val="FFE07A"/>
            </a:solidFill>
            <a:prstDash val="solid"/>
          </a:ln>
          <a:effectLst>
            <a:outerShdw sx="100000" sy="100000" kx="0" ky="0" algn="bl" rotWithShape="0" blurRad="88900" dist="31750" dir="5400000">
              <a:srgbClr val="1B2559">
                <a:alpha val="12000"/>
              </a:srgbClr>
            </a:outerShdw>
          </a:effectLst>
        </p:spPr>
      </p:sp>
      <p:sp>
        <p:nvSpPr>
          <p:cNvPr id="42" name="rh_271"/>
          <p:cNvSpPr/>
          <p:nvPr/>
        </p:nvSpPr>
        <p:spPr>
          <a:xfrm>
            <a:off x="6944868" y="1508760"/>
            <a:ext cx="1815084" cy="365760"/>
          </a:xfrm>
          <a:prstGeom prst="roundRect">
            <a:avLst>
              <a:gd name="adj" fmla="val 50000"/>
            </a:avLst>
          </a:prstGeom>
          <a:solidFill>
            <a:srgbClr val="F2B705"/>
          </a:solidFill>
          <a:ln/>
        </p:spPr>
        <p:txBody>
          <a:bodyPr wrap="square" lIns="0" tIns="0" rIns="0" bIns="0" rtlCol="0" anchor="ctr">
            <a:normAutofit/>
          </a:bodyPr>
          <a:lstStyle/>
          <a:p>
            <a:pPr algn="ctr" indent="0" marL="0">
              <a:buNone/>
            </a:pPr>
            <a:r>
              <a:rPr lang="en-US" sz="1250" dirty="0">
                <a:solidFill>
                  <a:srgbClr val="FFFFFF"/>
                </a:solidFill>
                <a:latin typeface="Arial Rounded MT Bold" pitchFamily="34" charset="0"/>
                <a:ea typeface="Arial Rounded MT Bold" pitchFamily="34" charset="-122"/>
                <a:cs typeface="Arial Rounded MT Bold" pitchFamily="34" charset="-120"/>
              </a:rPr>
              <a:t>been able to</a:t>
            </a:r>
            <a:endParaRPr lang="en-US" sz="1250" dirty="0"/>
          </a:p>
        </p:txBody>
      </p:sp>
      <p:sp>
        <p:nvSpPr>
          <p:cNvPr id="43" name="pf_272"/>
          <p:cNvSpPr/>
          <p:nvPr/>
        </p:nvSpPr>
        <p:spPr>
          <a:xfrm>
            <a:off x="6944868" y="1938528"/>
            <a:ext cx="1815084" cy="960120"/>
          </a:xfrm>
          <a:prstGeom prst="roundRect">
            <a:avLst>
              <a:gd name="adj" fmla="val 1619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44" name="ph_273" descr="/home/claude/lls-course/v2/cache/spare_life_childhood_jpg_415x209_31.png">    </p:cNvPr>
          <p:cNvPicPr>
            <a:picLocks noChangeAspect="1"/>
          </p:cNvPicPr>
          <p:nvPr/>
        </p:nvPicPr>
        <p:blipFill>
          <a:blip r:embed="rId18"/>
          <a:stretch>
            <a:fillRect/>
          </a:stretch>
        </p:blipFill>
        <p:spPr>
          <a:xfrm>
            <a:off x="6990588" y="1984248"/>
            <a:ext cx="1723644" cy="868680"/>
          </a:xfrm>
          <a:prstGeom prst="rect">
            <a:avLst/>
          </a:prstGeom>
        </p:spPr>
      </p:pic>
      <p:sp>
        <p:nvSpPr>
          <p:cNvPr id="45" name="ru_274"/>
          <p:cNvSpPr/>
          <p:nvPr/>
        </p:nvSpPr>
        <p:spPr>
          <a:xfrm>
            <a:off x="6926580" y="2926080"/>
            <a:ext cx="1851660" cy="384048"/>
          </a:xfrm>
          <a:prstGeom prst="rect">
            <a:avLst/>
          </a:prstGeom>
          <a:noFill/>
          <a:ln/>
        </p:spPr>
        <p:txBody>
          <a:bodyPr wrap="square" lIns="0" tIns="0" rIns="0" bIns="0" rtlCol="0" anchor="ctr">
            <a:normAutofit/>
          </a:bodyPr>
          <a:lstStyle/>
          <a:p>
            <a:pPr algn="ctr" indent="0" marL="0">
              <a:buNone/>
            </a:pPr>
            <a:r>
              <a:rPr lang="en-US" sz="1050" dirty="0">
                <a:solidFill>
                  <a:srgbClr val="F2B705"/>
                </a:solidFill>
                <a:latin typeface="Arial Rounded MT Bold" pitchFamily="34" charset="0"/>
                <a:ea typeface="Arial Rounded MT Bold" pitchFamily="34" charset="-122"/>
                <a:cs typeface="Arial Rounded MT Bold" pitchFamily="34" charset="-120"/>
              </a:rPr>
              <a:t>since… · future: will be…</a:t>
            </a:r>
            <a:endParaRPr lang="en-US" sz="1050" dirty="0"/>
          </a:p>
        </p:txBody>
      </p:sp>
      <p:sp>
        <p:nvSpPr>
          <p:cNvPr id="46" name="R4_rx275"/>
          <p:cNvSpPr/>
          <p:nvPr/>
        </p:nvSpPr>
        <p:spPr>
          <a:xfrm>
            <a:off x="6926580" y="3319272"/>
            <a:ext cx="1851660" cy="749808"/>
          </a:xfrm>
          <a:prstGeom prst="rect">
            <a:avLst/>
          </a:prstGeom>
          <a:no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Luke has been able to swim since he was three.</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You'll be able to practise your English in London.</a:t>
            </a:r>
            <a:endParaRPr lang="en-US" sz="1050" dirty="0"/>
          </a:p>
        </p:txBody>
      </p:sp>
      <p:sp>
        <p:nvSpPr>
          <p:cNvPr id="47" name="R4_ri276"/>
          <p:cNvSpPr/>
          <p:nvPr/>
        </p:nvSpPr>
        <p:spPr>
          <a:xfrm>
            <a:off x="6926580" y="4087368"/>
            <a:ext cx="1851660" cy="274320"/>
          </a:xfrm>
          <a:prstGeom prst="rect">
            <a:avLst/>
          </a:prstGeom>
          <a:noFill/>
          <a:ln/>
        </p:spPr>
        <p:txBody>
          <a:bodyPr wrap="square" lIns="0" tIns="0" rIns="0" bIns="0" rtlCol="0" anchor="ctr">
            <a:normAutofit/>
          </a:bodyPr>
          <a:lstStyle/>
          <a:p>
            <a:pPr algn="ctr" indent="0" marL="0">
              <a:buNone/>
            </a:pPr>
            <a:r>
              <a:rPr lang="en-US" sz="900" i="1" dirty="0">
                <a:solidFill>
                  <a:srgbClr val="5B6785"/>
                </a:solidFill>
                <a:latin typeface="Segoe UI" pitchFamily="34" charset="0"/>
                <a:ea typeface="Segoe UI" pitchFamily="34" charset="-122"/>
                <a:cs typeface="Segoe UI" pitchFamily="34" charset="-120"/>
              </a:rPr>
              <a:t>✗ I won't be able help</a:t>
            </a:r>
            <a:endParaRPr lang="en-US" sz="9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5"/>
                                        </p:tgtEl>
                                        <p:attrNameLst>
                                          <p:attrName>style.visibility</p:attrName>
                                        </p:attrNameLst>
                                      </p:cBhvr>
                                      <p:to>
                                        <p:strVal val="visible"/>
                                      </p:to>
                                    </p:set>
                                    <p:animEffect transition="in" filter="fade">
                                      <p:cBhvr>
                                        <p:cTn id="7" dur="400"/>
                                        <p:tgtEl>
                                          <p:spTgt spid="25"/>
                                        </p:tgtEl>
                                      </p:cBhvr>
                                    </p:animEffect>
                                  </p:childTnLst>
                                </p:cTn>
                              </p:par>
                              <p:par>
                                <p:cTn id="8" presetID="10" presetClass="entr" presetSubtype="0" fill="hold" nodeType="withEffect">
                                  <p:stCondLst>
                                    <p:cond delay="0"/>
                                  </p:stCondLst>
                                  <p:childTnLst>
                                    <p:set>
                                      <p:cBhvr>
                                        <p:cTn id="9" dur="1" fill="hold">
                                          <p:stCondLst>
                                            <p:cond delay="0"/>
                                          </p:stCondLst>
                                        </p:cTn>
                                        <p:tgtEl>
                                          <p:spTgt spid="26"/>
                                        </p:tgtEl>
                                        <p:attrNameLst>
                                          <p:attrName>style.visibility</p:attrName>
                                        </p:attrNameLst>
                                      </p:cBhvr>
                                      <p:to>
                                        <p:strVal val="visible"/>
                                      </p:to>
                                    </p:set>
                                    <p:animEffect transition="in" filter="fade">
                                      <p:cBhvr>
                                        <p:cTn id="10" dur="400"/>
                                        <p:tgtEl>
                                          <p:spTgt spid="26"/>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32"/>
                                        </p:tgtEl>
                                        <p:attrNameLst>
                                          <p:attrName>style.visibility</p:attrName>
                                        </p:attrNameLst>
                                      </p:cBhvr>
                                      <p:to>
                                        <p:strVal val="visible"/>
                                      </p:to>
                                    </p:set>
                                    <p:animEffect transition="in" filter="fade">
                                      <p:cBhvr>
                                        <p:cTn id="15" dur="400"/>
                                        <p:tgtEl>
                                          <p:spTgt spid="32"/>
                                        </p:tgtEl>
                                      </p:cBhvr>
                                    </p:animEffect>
                                  </p:childTnLst>
                                </p:cTn>
                              </p:par>
                              <p:par>
                                <p:cTn id="16" presetID="10" presetClass="entr" presetSubtype="0" fill="hold" nodeType="withEffect">
                                  <p:stCondLst>
                                    <p:cond delay="0"/>
                                  </p:stCondLst>
                                  <p:childTnLst>
                                    <p:set>
                                      <p:cBhvr>
                                        <p:cTn id="17" dur="1" fill="hold">
                                          <p:stCondLst>
                                            <p:cond delay="0"/>
                                          </p:stCondLst>
                                        </p:cTn>
                                        <p:tgtEl>
                                          <p:spTgt spid="33"/>
                                        </p:tgtEl>
                                        <p:attrNameLst>
                                          <p:attrName>style.visibility</p:attrName>
                                        </p:attrNameLst>
                                      </p:cBhvr>
                                      <p:to>
                                        <p:strVal val="visible"/>
                                      </p:to>
                                    </p:set>
                                    <p:animEffect transition="in" filter="fade">
                                      <p:cBhvr>
                                        <p:cTn id="18" dur="400"/>
                                        <p:tgtEl>
                                          <p:spTgt spid="33"/>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39"/>
                                        </p:tgtEl>
                                        <p:attrNameLst>
                                          <p:attrName>style.visibility</p:attrName>
                                        </p:attrNameLst>
                                      </p:cBhvr>
                                      <p:to>
                                        <p:strVal val="visible"/>
                                      </p:to>
                                    </p:set>
                                    <p:animEffect transition="in" filter="fade">
                                      <p:cBhvr>
                                        <p:cTn id="23" dur="400"/>
                                        <p:tgtEl>
                                          <p:spTgt spid="39"/>
                                        </p:tgtEl>
                                      </p:cBhvr>
                                    </p:animEffect>
                                  </p:childTnLst>
                                </p:cTn>
                              </p:par>
                              <p:par>
                                <p:cTn id="24" presetID="10" presetClass="entr" presetSubtype="0" fill="hold" nodeType="withEffect">
                                  <p:stCondLst>
                                    <p:cond delay="0"/>
                                  </p:stCondLst>
                                  <p:childTnLst>
                                    <p:set>
                                      <p:cBhvr>
                                        <p:cTn id="25" dur="1" fill="hold">
                                          <p:stCondLst>
                                            <p:cond delay="0"/>
                                          </p:stCondLst>
                                        </p:cTn>
                                        <p:tgtEl>
                                          <p:spTgt spid="40"/>
                                        </p:tgtEl>
                                        <p:attrNameLst>
                                          <p:attrName>style.visibility</p:attrName>
                                        </p:attrNameLst>
                                      </p:cBhvr>
                                      <p:to>
                                        <p:strVal val="visible"/>
                                      </p:to>
                                    </p:set>
                                    <p:animEffect transition="in" filter="fade">
                                      <p:cBhvr>
                                        <p:cTn id="26" dur="400"/>
                                        <p:tgtEl>
                                          <p:spTgt spid="40"/>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46"/>
                                        </p:tgtEl>
                                        <p:attrNameLst>
                                          <p:attrName>style.visibility</p:attrName>
                                        </p:attrNameLst>
                                      </p:cBhvr>
                                      <p:to>
                                        <p:strVal val="visible"/>
                                      </p:to>
                                    </p:set>
                                    <p:animEffect transition="in" filter="fade">
                                      <p:cBhvr>
                                        <p:cTn id="31" dur="400"/>
                                        <p:tgtEl>
                                          <p:spTgt spid="46"/>
                                        </p:tgtEl>
                                      </p:cBhvr>
                                    </p:animEffect>
                                  </p:childTnLst>
                                </p:cTn>
                              </p:par>
                              <p:par>
                                <p:cTn id="32" presetID="10" presetClass="entr" presetSubtype="0" fill="hold" nodeType="withEffect">
                                  <p:stCondLst>
                                    <p:cond delay="0"/>
                                  </p:stCondLst>
                                  <p:childTnLst>
                                    <p:set>
                                      <p:cBhvr>
                                        <p:cTn id="33" dur="1" fill="hold">
                                          <p:stCondLst>
                                            <p:cond delay="0"/>
                                          </p:stCondLst>
                                        </p:cTn>
                                        <p:tgtEl>
                                          <p:spTgt spid="47"/>
                                        </p:tgtEl>
                                        <p:attrNameLst>
                                          <p:attrName>style.visibility</p:attrName>
                                        </p:attrNameLst>
                                      </p:cBhvr>
                                      <p:to>
                                        <p:strVal val="visible"/>
                                      </p:to>
                                    </p:set>
                                    <p:animEffect transition="in" filter="fade">
                                      <p:cBhvr>
                                        <p:cTn id="34" dur="400"/>
                                        <p:tgtEl>
                                          <p:spTgt spid="47"/>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35" restart="whenNotActive" fill="hold" evtFilter="cancelBubble" nodeType="interactiveSeq">
                <p:stCondLst>
                  <p:cond evt="onClick" delay="0">
                    <p:tgtEl>
                      <p:spTgt spid="16"/>
                    </p:tgtEl>
                  </p:cond>
                </p:stCondLst>
                <p:endSync evt="end" delay="0">
                  <p:rtn val="all"/>
                </p:endSync>
                <p:childTnLst>
                  <p:par>
                    <p:cTn id="36" fill="hold">
                      <p:stCondLst>
                        <p:cond delay="0"/>
                      </p:stCondLst>
                      <p:childTnLst>
                        <p:par>
                          <p:cTn id="37" fill="hold">
                            <p:stCondLst>
                              <p:cond delay="0"/>
                            </p:stCondLst>
                            <p:childTnLst>
                              <p:par>
                                <p:cTn id="38" presetID="2" presetClass="mediacall" presetSubtype="0" fill="hold" nodeType="clickEffect">
                                  <p:stCondLst>
                                    <p:cond delay="0"/>
                                  </p:stCondLst>
                                  <p:childTnLst>
                                    <p:cmd type="call" cmd="togglePause">
                                      <p:cBhvr>
                                        <p:cTn id="39" dur="1" fill="hold"/>
                                        <p:tgtEl>
                                          <p:spTgt spid="16"/>
                                        </p:tgtEl>
                                      </p:cBhvr>
                                    </p:cmd>
                                  </p:childTnLst>
                                </p:cTn>
                              </p:par>
                            </p:childTnLst>
                          </p:cTn>
                        </p:par>
                      </p:childTnLst>
                    </p:cTn>
                  </p:par>
                </p:childTnLst>
              </p:cTn>
              <p:nextCondLst>
                <p:cond evt="onClick" delay="0">
                  <p:tgtEl>
                    <p:spTgt spid="16"/>
                  </p:tgtEl>
                </p:cond>
              </p:nextCondLst>
            </p:seq>
            <p:seq concurrent="1" nextAc="seek">
              <p:cTn id="40" restart="whenNotActive" fill="hold" evtFilter="cancelBubble" nodeType="interactiveSeq">
                <p:stCondLst>
                  <p:cond evt="onClick" delay="0">
                    <p:tgtEl>
                      <p:spTgt spid="17"/>
                    </p:tgtEl>
                  </p:cond>
                </p:stCondLst>
                <p:endSync evt="end" delay="0">
                  <p:rtn val="all"/>
                </p:endSync>
                <p:childTnLst>
                  <p:par>
                    <p:cTn id="41" fill="hold">
                      <p:stCondLst>
                        <p:cond delay="0"/>
                      </p:stCondLst>
                      <p:childTnLst>
                        <p:par>
                          <p:cTn id="42" fill="hold">
                            <p:stCondLst>
                              <p:cond delay="0"/>
                            </p:stCondLst>
                            <p:childTnLst>
                              <p:par>
                                <p:cTn id="43" presetID="2" presetClass="mediacall" presetSubtype="0" fill="hold" nodeType="clickEffect">
                                  <p:stCondLst>
                                    <p:cond delay="0"/>
                                  </p:stCondLst>
                                  <p:childTnLst>
                                    <p:cmd type="call" cmd="togglePause">
                                      <p:cBhvr>
                                        <p:cTn id="44" dur="1" fill="hold"/>
                                        <p:tgtEl>
                                          <p:spTgt spid="17"/>
                                        </p:tgtEl>
                                      </p:cBhvr>
                                    </p:cmd>
                                  </p:childTnLst>
                                </p:cTn>
                              </p:par>
                            </p:childTnLst>
                          </p:cTn>
                        </p:par>
                      </p:childTnLst>
                    </p:cTn>
                  </p:par>
                </p:childTnLst>
              </p:cTn>
              <p:nextCondLst>
                <p:cond evt="onClick" delay="0">
                  <p:tgtEl>
                    <p:spTgt spid="17"/>
                  </p:tgtEl>
                </p:cond>
              </p:nextCondLst>
            </p:seq>
            <p:seq concurrent="1" nextAc="seek">
              <p:cTn id="45" restart="whenNotActive" fill="hold" evtFilter="cancelBubble" nodeType="interactiveSeq">
                <p:stCondLst>
                  <p:cond evt="onClick" delay="0">
                    <p:tgtEl>
                      <p:spTgt spid="18"/>
                    </p:tgtEl>
                  </p:cond>
                </p:stCondLst>
                <p:endSync evt="end" delay="0">
                  <p:rtn val="all"/>
                </p:endSync>
                <p:childTnLst>
                  <p:par>
                    <p:cTn id="46" fill="hold">
                      <p:stCondLst>
                        <p:cond delay="0"/>
                      </p:stCondLst>
                      <p:childTnLst>
                        <p:par>
                          <p:cTn id="47" fill="hold">
                            <p:stCondLst>
                              <p:cond delay="0"/>
                            </p:stCondLst>
                            <p:childTnLst>
                              <p:par>
                                <p:cTn id="48" presetID="2" presetClass="mediacall" presetSubtype="0" fill="hold" nodeType="clickEffect">
                                  <p:stCondLst>
                                    <p:cond delay="0"/>
                                  </p:stCondLst>
                                  <p:childTnLst>
                                    <p:cmd type="call" cmd="togglePause">
                                      <p:cBhvr>
                                        <p:cTn id="49" dur="1" fill="hold"/>
                                        <p:tgtEl>
                                          <p:spTgt spid="18"/>
                                        </p:tgtEl>
                                      </p:cBhvr>
                                    </p:cmd>
                                  </p:childTnLst>
                                </p:cTn>
                              </p:par>
                            </p:childTnLst>
                          </p:cTn>
                        </p:par>
                      </p:childTnLst>
                    </p:cTn>
                  </p:par>
                </p:childTnLst>
              </p:cTn>
              <p:nextCondLst>
                <p:cond evt="onClick" delay="0">
                  <p:tgtEl>
                    <p:spTgt spid="18"/>
                  </p:tgtEl>
                </p:cond>
              </p:nextCondLst>
            </p:seq>
            <p:seq concurrent="1" nextAc="seek">
              <p:cTn id="50" restart="whenNotActive" fill="hold" evtFilter="cancelBubble" nodeType="interactiveSeq">
                <p:stCondLst>
                  <p:cond evt="onClick" delay="0">
                    <p:tgtEl>
                      <p:spTgt spid="19"/>
                    </p:tgtEl>
                  </p:cond>
                </p:stCondLst>
                <p:endSync evt="end" delay="0">
                  <p:rtn val="all"/>
                </p:endSync>
                <p:childTnLst>
                  <p:par>
                    <p:cTn id="51" fill="hold">
                      <p:stCondLst>
                        <p:cond delay="0"/>
                      </p:stCondLst>
                      <p:childTnLst>
                        <p:par>
                          <p:cTn id="52" fill="hold">
                            <p:stCondLst>
                              <p:cond delay="0"/>
                            </p:stCondLst>
                            <p:childTnLst>
                              <p:par>
                                <p:cTn id="53" presetID="2" presetClass="mediacall" presetSubtype="0" fill="hold" nodeType="clickEffect">
                                  <p:stCondLst>
                                    <p:cond delay="0"/>
                                  </p:stCondLst>
                                  <p:childTnLst>
                                    <p:cmd type="call" cmd="togglePause">
                                      <p:cBhvr>
                                        <p:cTn id="54" dur="1" fill="hold"/>
                                        <p:tgtEl>
                                          <p:spTgt spid="19"/>
                                        </p:tgtEl>
                                      </p:cBhvr>
                                    </p:cmd>
                                  </p:childTnLst>
                                </p:cTn>
                              </p:par>
                            </p:childTnLst>
                          </p:cTn>
                        </p:par>
                      </p:childTnLst>
                    </p:cTn>
                  </p:par>
                </p:childTnLst>
              </p:cTn>
              <p:nextCondLst>
                <p:cond evt="onClick" delay="0">
                  <p:tgtEl>
                    <p:spTgt spid="19"/>
                  </p:tgtEl>
                </p:cond>
              </p:nextCondLst>
            </p:seq>
            <p:audio>
              <p:cMediaNode vol="80000">
                <p:cTn id="55" fill="hold" display="0">
                  <p:stCondLst>
                    <p:cond delay="indefinite"/>
                  </p:stCondLst>
                  <p:endCondLst>
                    <p:cond evt="onStopAudio" delay="0">
                      <p:tgtEl>
                        <p:sldTgt/>
                      </p:tgtEl>
                    </p:cond>
                  </p:endCondLst>
                </p:cTn>
                <p:tgtEl>
                  <p:spTgt spid="16"/>
                </p:tgtEl>
              </p:cMediaNode>
            </p:audio>
            <p:audio>
              <p:cMediaNode vol="80000">
                <p:cTn id="56" fill="hold" display="0">
                  <p:stCondLst>
                    <p:cond delay="indefinite"/>
                  </p:stCondLst>
                  <p:endCondLst>
                    <p:cond evt="onStopAudio" delay="0">
                      <p:tgtEl>
                        <p:sldTgt/>
                      </p:tgtEl>
                    </p:cond>
                  </p:endCondLst>
                </p:cTn>
                <p:tgtEl>
                  <p:spTgt spid="17"/>
                </p:tgtEl>
              </p:cMediaNode>
            </p:audio>
            <p:audio>
              <p:cMediaNode vol="80000">
                <p:cTn id="57" fill="hold" display="0">
                  <p:stCondLst>
                    <p:cond delay="indefinite"/>
                  </p:stCondLst>
                  <p:endCondLst>
                    <p:cond evt="onStopAudio" delay="0">
                      <p:tgtEl>
                        <p:sldTgt/>
                      </p:tgtEl>
                    </p:cond>
                  </p:endCondLst>
                </p:cTn>
                <p:tgtEl>
                  <p:spTgt spid="18"/>
                </p:tgtEl>
              </p:cMediaNode>
            </p:audio>
            <p:audio>
              <p:cMediaNode vol="80000">
                <p:cTn id="58" fill="hold" display="0">
                  <p:stCondLst>
                    <p:cond delay="indefinite"/>
                  </p:stCondLst>
                  <p:endCondLst>
                    <p:cond evt="onStopAudio" delay="0">
                      <p:tgtEl>
                        <p:sldTgt/>
                      </p:tgtEl>
                    </p:cond>
                  </p:endCondLst>
                </p:cTn>
                <p:tgtEl>
                  <p:spTgt spid="19"/>
                </p:tgtEl>
              </p:cMediaNode>
            </p:audio>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77"/>
          <p:cNvSpPr/>
          <p:nvPr/>
        </p:nvSpPr>
        <p:spPr>
          <a:xfrm>
            <a:off x="201168" y="164592"/>
            <a:ext cx="841248" cy="841248"/>
          </a:xfrm>
          <a:prstGeom prst="ellipse">
            <a:avLst/>
          </a:prstGeom>
          <a:solidFill>
            <a:srgbClr val="7B5CD6"/>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9</a:t>
            </a:r>
            <a:endParaRPr lang="en-US" sz="2800" dirty="0"/>
          </a:p>
        </p:txBody>
      </p:sp>
      <p:pic>
        <p:nvPicPr>
          <p:cNvPr id="4" name="brY_278" descr="/home/claude/lls-course/v2/assets/brush-yellow.png">    </p:cNvPr>
          <p:cNvPicPr>
            <a:picLocks noChangeAspect="1"/>
          </p:cNvPicPr>
          <p:nvPr/>
        </p:nvPicPr>
        <p:blipFill>
          <a:blip r:embed="rId2"/>
          <a:stretch>
            <a:fillRect/>
          </a:stretch>
        </p:blipFill>
        <p:spPr>
          <a:xfrm>
            <a:off x="1097280" y="146304"/>
            <a:ext cx="3405226" cy="621792"/>
          </a:xfrm>
          <a:prstGeom prst="rect">
            <a:avLst/>
          </a:prstGeom>
        </p:spPr>
      </p:pic>
      <p:sp>
        <p:nvSpPr>
          <p:cNvPr id="5" name="title_279"/>
          <p:cNvSpPr/>
          <p:nvPr/>
        </p:nvSpPr>
        <p:spPr>
          <a:xfrm>
            <a:off x="1261872" y="164592"/>
            <a:ext cx="3130906"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Salvo can't dance</a:t>
            </a:r>
            <a:endParaRPr lang="en-US" sz="2500" dirty="0"/>
          </a:p>
        </p:txBody>
      </p:sp>
      <p:pic>
        <p:nvPicPr>
          <p:cNvPr id="6" name="brP_280" descr="/home/claude/lls-course/v2/assets/brush-pink.png">    </p:cNvPr>
          <p:cNvPicPr>
            <a:picLocks noChangeAspect="1"/>
          </p:cNvPicPr>
          <p:nvPr/>
        </p:nvPicPr>
        <p:blipFill>
          <a:blip r:embed="rId3"/>
          <a:stretch>
            <a:fillRect/>
          </a:stretch>
        </p:blipFill>
        <p:spPr>
          <a:xfrm>
            <a:off x="1207008" y="731520"/>
            <a:ext cx="4379976" cy="402336"/>
          </a:xfrm>
          <a:prstGeom prst="rect">
            <a:avLst/>
          </a:prstGeom>
        </p:spPr>
      </p:pic>
      <p:sp>
        <p:nvSpPr>
          <p:cNvPr id="7" name="ins_281"/>
          <p:cNvSpPr/>
          <p:nvPr/>
        </p:nvSpPr>
        <p:spPr>
          <a:xfrm>
            <a:off x="1353312" y="731520"/>
            <a:ext cx="412394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Listen to the story. Answer the questions!</a:t>
            </a:r>
            <a:endParaRPr lang="en-US" sz="1250" dirty="0"/>
          </a:p>
        </p:txBody>
      </p:sp>
      <p:sp>
        <p:nvSpPr>
          <p:cNvPr id="8" name="insIT_282"/>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Ascolta la storia. Rispondi alle domande!</a:t>
            </a:r>
            <a:endParaRPr lang="en-US" sz="950" dirty="0"/>
          </a:p>
        </p:txBody>
      </p:sp>
      <p:sp>
        <p:nvSpPr>
          <p:cNvPr id="9" name="cmd_283"/>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100" dirty="0"/>
          </a:p>
        </p:txBody>
      </p:sp>
      <p:sp>
        <p:nvSpPr>
          <p:cNvPr id="10" name="cmd_284"/>
          <p:cNvSpPr/>
          <p:nvPr/>
        </p:nvSpPr>
        <p:spPr>
          <a:xfrm>
            <a:off x="6510528" y="566928"/>
            <a:ext cx="1901952"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100" dirty="0"/>
          </a:p>
        </p:txBody>
      </p:sp>
      <p:sp>
        <p:nvSpPr>
          <p:cNvPr id="11" name="meta_285"/>
          <p:cNvSpPr/>
          <p:nvPr/>
        </p:nvSpPr>
        <p:spPr>
          <a:xfrm>
            <a:off x="6583680" y="950976"/>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whole class</a:t>
            </a:r>
            <a:endParaRPr lang="en-US" sz="950" dirty="0"/>
          </a:p>
        </p:txBody>
      </p:sp>
      <p:sp>
        <p:nvSpPr>
          <p:cNvPr id="12" name="tag_286"/>
          <p:cNvSpPr/>
          <p:nvPr/>
        </p:nvSpPr>
        <p:spPr>
          <a:xfrm>
            <a:off x="6510528" y="1188720"/>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Speaking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TPRS · story</a:t>
            </a:r>
            <a:endParaRPr lang="en-US" sz="850" dirty="0"/>
          </a:p>
        </p:txBody>
      </p:sp>
      <p:pic>
        <p:nvPicPr>
          <p:cNvPr id="13" name="logo_287"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288"/>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4B-1 · Speaking · class story (TPRS)</a:t>
            </a:r>
            <a:endParaRPr lang="en-US" sz="800" dirty="0"/>
          </a:p>
        </p:txBody>
      </p:sp>
      <p:sp>
        <p:nvSpPr>
          <p:cNvPr id="15" name="cd_289"/>
          <p:cNvSpPr/>
          <p:nvPr/>
        </p:nvSpPr>
        <p:spPr>
          <a:xfrm>
            <a:off x="320040" y="1417320"/>
            <a:ext cx="2697480" cy="2852928"/>
          </a:xfrm>
          <a:prstGeom prst="roundRect">
            <a:avLst>
              <a:gd name="adj" fmla="val 4746"/>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6" name="ii_290"/>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7" name="ih_291"/>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Story phrases</a:t>
            </a:r>
            <a:endParaRPr lang="en-US" sz="1300" dirty="0"/>
          </a:p>
        </p:txBody>
      </p:sp>
      <p:sp>
        <p:nvSpPr>
          <p:cNvPr id="18" name="il_292"/>
          <p:cNvSpPr/>
          <p:nvPr/>
        </p:nvSpPr>
        <p:spPr>
          <a:xfrm>
            <a:off x="886968" y="1892808"/>
            <a:ext cx="2039112" cy="2304288"/>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00" dirty="0">
                <a:solidFill>
                  <a:srgbClr val="1B2559"/>
                </a:solidFill>
                <a:latin typeface="Segoe UI" pitchFamily="34" charset="0"/>
                <a:ea typeface="Segoe UI" pitchFamily="34" charset="-122"/>
                <a:cs typeface="Segoe UI" pitchFamily="34" charset="-120"/>
              </a:rPr>
              <a:t>can / can't</a:t>
            </a:r>
            <a:endParaRPr lang="en-US" sz="1000" dirty="0"/>
          </a:p>
          <a:p>
            <a:pPr marL="152400" indent="-152400">
              <a:spcAft>
                <a:spcPts val="200"/>
              </a:spcAft>
              <a:buSzPct val="100000"/>
              <a:buChar char="​"/>
            </a:pPr>
            <a:r>
              <a:rPr lang="en-US" sz="850" i="1" dirty="0">
                <a:solidFill>
                  <a:srgbClr val="5B6785"/>
                </a:solidFill>
                <a:latin typeface="Segoe UI" pitchFamily="34" charset="0"/>
                <a:ea typeface="Segoe UI" pitchFamily="34" charset="-122"/>
                <a:cs typeface="Segoe UI" pitchFamily="34" charset="-120"/>
              </a:rPr>
              <a:t>so / posso · non so</a:t>
            </a:r>
            <a:endParaRPr lang="en-US" sz="1000" dirty="0"/>
          </a:p>
          <a:p>
            <a:pPr marL="152400" indent="-152400">
              <a:spcBef>
                <a:spcPts val="500"/>
              </a:spcBef>
              <a:spcAft>
                <a:spcPts val="200"/>
              </a:spcAft>
              <a:buSzPct val="100000"/>
              <a:buChar char="•"/>
            </a:pPr>
            <a:r>
              <a:rPr lang="en-US" sz="1000" dirty="0">
                <a:solidFill>
                  <a:srgbClr val="1B2559"/>
                </a:solidFill>
                <a:latin typeface="Segoe UI" pitchFamily="34" charset="0"/>
                <a:ea typeface="Segoe UI" pitchFamily="34" charset="-122"/>
                <a:cs typeface="Segoe UI" pitchFamily="34" charset="-120"/>
              </a:rPr>
              <a:t>could / couldn't</a:t>
            </a:r>
            <a:endParaRPr lang="en-US" sz="1000" dirty="0"/>
          </a:p>
          <a:p>
            <a:pPr marL="152400" indent="-152400">
              <a:spcAft>
                <a:spcPts val="200"/>
              </a:spcAft>
              <a:buSzPct val="100000"/>
              <a:buChar char="​"/>
            </a:pPr>
            <a:r>
              <a:rPr lang="en-US" sz="850" i="1" dirty="0">
                <a:solidFill>
                  <a:srgbClr val="5B6785"/>
                </a:solidFill>
                <a:latin typeface="Segoe UI" pitchFamily="34" charset="0"/>
                <a:ea typeface="Segoe UI" pitchFamily="34" charset="-122"/>
                <a:cs typeface="Segoe UI" pitchFamily="34" charset="-120"/>
              </a:rPr>
              <a:t>sapevo / potevo · non sapevo</a:t>
            </a:r>
            <a:endParaRPr lang="en-US" sz="1000" dirty="0"/>
          </a:p>
          <a:p>
            <a:pPr marL="152400" indent="-152400">
              <a:spcBef>
                <a:spcPts val="500"/>
              </a:spcBef>
              <a:spcAft>
                <a:spcPts val="200"/>
              </a:spcAft>
              <a:buSzPct val="100000"/>
              <a:buChar char="•"/>
            </a:pPr>
            <a:r>
              <a:rPr lang="en-US" sz="1000" dirty="0">
                <a:solidFill>
                  <a:srgbClr val="1B2559"/>
                </a:solidFill>
                <a:latin typeface="Segoe UI" pitchFamily="34" charset="0"/>
                <a:ea typeface="Segoe UI" pitchFamily="34" charset="-122"/>
                <a:cs typeface="Segoe UI" pitchFamily="34" charset="-120"/>
              </a:rPr>
              <a:t>I've never been able to</a:t>
            </a:r>
            <a:endParaRPr lang="en-US" sz="1000" dirty="0"/>
          </a:p>
          <a:p>
            <a:pPr marL="152400" indent="-152400">
              <a:spcAft>
                <a:spcPts val="200"/>
              </a:spcAft>
              <a:buSzPct val="100000"/>
              <a:buChar char="​"/>
            </a:pPr>
            <a:r>
              <a:rPr lang="en-US" sz="850" i="1" dirty="0">
                <a:solidFill>
                  <a:srgbClr val="5B6785"/>
                </a:solidFill>
                <a:latin typeface="Segoe UI" pitchFamily="34" charset="0"/>
                <a:ea typeface="Segoe UI" pitchFamily="34" charset="-122"/>
                <a:cs typeface="Segoe UI" pitchFamily="34" charset="-120"/>
              </a:rPr>
              <a:t>non sono mai riuscito a</a:t>
            </a:r>
            <a:endParaRPr lang="en-US" sz="1000" dirty="0"/>
          </a:p>
          <a:p>
            <a:pPr marL="152400" indent="-152400">
              <a:spcBef>
                <a:spcPts val="500"/>
              </a:spcBef>
              <a:spcAft>
                <a:spcPts val="200"/>
              </a:spcAft>
              <a:buSzPct val="100000"/>
              <a:buChar char="•"/>
            </a:pPr>
            <a:r>
              <a:rPr lang="en-US" sz="1000" dirty="0">
                <a:solidFill>
                  <a:srgbClr val="1B2559"/>
                </a:solidFill>
                <a:latin typeface="Segoe UI" pitchFamily="34" charset="0"/>
                <a:ea typeface="Segoe UI" pitchFamily="34" charset="-122"/>
                <a:cs typeface="Segoe UI" pitchFamily="34" charset="-120"/>
              </a:rPr>
              <a:t>I'd love to be able to</a:t>
            </a:r>
            <a:endParaRPr lang="en-US" sz="1000" dirty="0"/>
          </a:p>
          <a:p>
            <a:pPr marL="152400" indent="-152400">
              <a:spcAft>
                <a:spcPts val="200"/>
              </a:spcAft>
              <a:buSzPct val="100000"/>
              <a:buChar char="​"/>
            </a:pPr>
            <a:r>
              <a:rPr lang="en-US" sz="850" i="1" dirty="0">
                <a:solidFill>
                  <a:srgbClr val="5B6785"/>
                </a:solidFill>
                <a:latin typeface="Segoe UI" pitchFamily="34" charset="0"/>
                <a:ea typeface="Segoe UI" pitchFamily="34" charset="-122"/>
                <a:cs typeface="Segoe UI" pitchFamily="34" charset="-120"/>
              </a:rPr>
              <a:t>mi piacerebbe tanto saper…</a:t>
            </a:r>
            <a:endParaRPr lang="en-US" sz="1000" dirty="0"/>
          </a:p>
          <a:p>
            <a:pPr marL="152400" indent="-152400">
              <a:spcBef>
                <a:spcPts val="500"/>
              </a:spcBef>
              <a:spcAft>
                <a:spcPts val="200"/>
              </a:spcAft>
              <a:buSzPct val="100000"/>
              <a:buChar char="•"/>
            </a:pPr>
            <a:r>
              <a:rPr lang="en-US" sz="1000" dirty="0">
                <a:solidFill>
                  <a:srgbClr val="1B2559"/>
                </a:solidFill>
                <a:latin typeface="Segoe UI" pitchFamily="34" charset="0"/>
                <a:ea typeface="Segoe UI" pitchFamily="34" charset="-122"/>
                <a:cs typeface="Segoe UI" pitchFamily="34" charset="-120"/>
              </a:rPr>
              <a:t>is able to</a:t>
            </a:r>
            <a:endParaRPr lang="en-US" sz="1000" dirty="0"/>
          </a:p>
          <a:p>
            <a:pPr marL="152400" indent="-152400">
              <a:spcAft>
                <a:spcPts val="200"/>
              </a:spcAft>
              <a:buSzPct val="100000"/>
              <a:buChar char="​"/>
            </a:pPr>
            <a:r>
              <a:rPr lang="en-US" sz="850" i="1" dirty="0">
                <a:solidFill>
                  <a:srgbClr val="5B6785"/>
                </a:solidFill>
                <a:latin typeface="Segoe UI" pitchFamily="34" charset="0"/>
                <a:ea typeface="Segoe UI" pitchFamily="34" charset="-122"/>
                <a:cs typeface="Segoe UI" pitchFamily="34" charset="-120"/>
              </a:rPr>
              <a:t>riesce a, è in grado di</a:t>
            </a:r>
            <a:endParaRPr lang="en-US" sz="1000" dirty="0"/>
          </a:p>
          <a:p>
            <a:pPr marL="152400" indent="-152400">
              <a:spcBef>
                <a:spcPts val="500"/>
              </a:spcBef>
              <a:spcAft>
                <a:spcPts val="200"/>
              </a:spcAft>
              <a:buSzPct val="100000"/>
              <a:buChar char="•"/>
            </a:pPr>
            <a:r>
              <a:rPr lang="en-US" sz="1000" dirty="0">
                <a:solidFill>
                  <a:srgbClr val="1B2559"/>
                </a:solidFill>
                <a:latin typeface="Segoe UI" pitchFamily="34" charset="0"/>
                <a:ea typeface="Segoe UI" pitchFamily="34" charset="-122"/>
                <a:cs typeface="Segoe UI" pitchFamily="34" charset="-120"/>
              </a:rPr>
              <a:t>will be able to</a:t>
            </a:r>
            <a:endParaRPr lang="en-US" sz="1000" dirty="0"/>
          </a:p>
          <a:p>
            <a:pPr marL="152400" indent="-152400">
              <a:spcAft>
                <a:spcPts val="200"/>
              </a:spcAft>
              <a:buSzPct val="100000"/>
              <a:buChar char="​"/>
            </a:pPr>
            <a:r>
              <a:rPr lang="en-US" sz="850" i="1" dirty="0">
                <a:solidFill>
                  <a:srgbClr val="5B6785"/>
                </a:solidFill>
                <a:latin typeface="Segoe UI" pitchFamily="34" charset="0"/>
                <a:ea typeface="Segoe UI" pitchFamily="34" charset="-122"/>
                <a:cs typeface="Segoe UI" pitchFamily="34" charset="-120"/>
              </a:rPr>
              <a:t>potrò, saprò</a:t>
            </a:r>
            <a:endParaRPr lang="en-US" sz="1000" dirty="0"/>
          </a:p>
        </p:txBody>
      </p:sp>
      <p:sp>
        <p:nvSpPr>
          <p:cNvPr id="19" name="R1_sb293"/>
          <p:cNvSpPr/>
          <p:nvPr/>
        </p:nvSpPr>
        <p:spPr>
          <a:xfrm>
            <a:off x="3200400" y="1453896"/>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20" name="R1_sl294"/>
          <p:cNvSpPr/>
          <p:nvPr/>
        </p:nvSpPr>
        <p:spPr>
          <a:xfrm>
            <a:off x="3584448" y="1417320"/>
            <a:ext cx="5303520" cy="499872"/>
          </a:xfrm>
          <a:prstGeom prst="roundRect">
            <a:avLst>
              <a:gd name="adj" fmla="val 21951"/>
            </a:avLst>
          </a:prstGeom>
          <a:solidFill>
            <a:srgbClr val="FFFFFF"/>
          </a:solidFill>
          <a:ln w="19050">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050" dirty="0">
                <a:solidFill>
                  <a:srgbClr val="1B2559"/>
                </a:solidFill>
                <a:latin typeface="Segoe UI Semibold" pitchFamily="34" charset="0"/>
                <a:ea typeface="Segoe UI Semibold" pitchFamily="34" charset="-122"/>
                <a:cs typeface="Segoe UI Semibold" pitchFamily="34" charset="-120"/>
              </a:rPr>
              <a:t>Salvo </a:t>
            </a:r>
            <a:pPr indent="0" marL="0">
              <a:buNone/>
            </a:pPr>
            <a:r>
              <a:rPr lang="en-US" sz="1050" b="1" dirty="0">
                <a:solidFill>
                  <a:srgbClr val="7B5CD6"/>
                </a:solidFill>
                <a:highlight>
                  <a:srgbClr val="FFF1A8"/>
                </a:highlight>
                <a:latin typeface="Segoe UI Semibold" pitchFamily="34" charset="0"/>
                <a:ea typeface="Segoe UI Semibold" pitchFamily="34" charset="-122"/>
                <a:cs typeface="Segoe UI Semibold" pitchFamily="34" charset="-120"/>
              </a:rPr>
              <a:t>can</a:t>
            </a:r>
            <a:pPr indent="0" marL="0">
              <a:buNone/>
            </a:pPr>
            <a:r>
              <a:rPr lang="en-US" sz="1050" dirty="0">
                <a:solidFill>
                  <a:srgbClr val="1B2559"/>
                </a:solidFill>
                <a:latin typeface="Segoe UI Semibold" pitchFamily="34" charset="0"/>
                <a:ea typeface="Segoe UI Semibold" pitchFamily="34" charset="-122"/>
                <a:cs typeface="Segoe UI Semibold" pitchFamily="34" charset="-120"/>
              </a:rPr>
              <a:t> cook amazing arancine, but he </a:t>
            </a:r>
            <a:pPr indent="0" marL="0">
              <a:buNone/>
            </a:pPr>
            <a:r>
              <a:rPr lang="en-US" sz="1050" b="1" dirty="0">
                <a:solidFill>
                  <a:srgbClr val="7B5CD6"/>
                </a:solidFill>
                <a:highlight>
                  <a:srgbClr val="FFF1A8"/>
                </a:highlight>
                <a:latin typeface="Segoe UI Semibold" pitchFamily="34" charset="0"/>
                <a:ea typeface="Segoe UI Semibold" pitchFamily="34" charset="-122"/>
                <a:cs typeface="Segoe UI Semibold" pitchFamily="34" charset="-120"/>
              </a:rPr>
              <a:t>can't</a:t>
            </a:r>
            <a:pPr indent="0" marL="0">
              <a:buNone/>
            </a:pPr>
            <a:r>
              <a:rPr lang="en-US" sz="1050" dirty="0">
                <a:solidFill>
                  <a:srgbClr val="1B2559"/>
                </a:solidFill>
                <a:latin typeface="Segoe UI Semibold" pitchFamily="34" charset="0"/>
                <a:ea typeface="Segoe UI Semibold" pitchFamily="34" charset="-122"/>
                <a:cs typeface="Segoe UI Semibold" pitchFamily="34" charset="-120"/>
              </a:rPr>
              <a:t> dance. Not one step!</a:t>
            </a:r>
            <a:endParaRPr lang="en-US" sz="1050" dirty="0"/>
          </a:p>
          <a:p>
            <a:pPr indent="0" marL="0">
              <a:buNone/>
            </a:pPr>
            <a:r>
              <a:rPr lang="en-US" sz="750" i="1" dirty="0">
                <a:solidFill>
                  <a:srgbClr val="5B6785"/>
                </a:solidFill>
                <a:latin typeface="Segoe UI" pitchFamily="34" charset="0"/>
                <a:ea typeface="Segoe UI" pitchFamily="34" charset="-122"/>
                <a:cs typeface="Segoe UI" pitchFamily="34" charset="-120"/>
              </a:rPr>
              <a:t>❓ Can Salvo cook? · Can he dance or sing?</a:t>
            </a:r>
            <a:endParaRPr lang="en-US" sz="1050" dirty="0"/>
          </a:p>
        </p:txBody>
      </p:sp>
      <p:sp>
        <p:nvSpPr>
          <p:cNvPr id="21" name="R2_sb295"/>
          <p:cNvSpPr/>
          <p:nvPr/>
        </p:nvSpPr>
        <p:spPr>
          <a:xfrm>
            <a:off x="3200400" y="2017776"/>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2" name="R2_sl296"/>
          <p:cNvSpPr/>
          <p:nvPr/>
        </p:nvSpPr>
        <p:spPr>
          <a:xfrm>
            <a:off x="3584448" y="1981200"/>
            <a:ext cx="5303520" cy="499872"/>
          </a:xfrm>
          <a:prstGeom prst="roundRect">
            <a:avLst>
              <a:gd name="adj" fmla="val 21951"/>
            </a:avLst>
          </a:prstGeom>
          <a:solidFill>
            <a:srgbClr val="FFFFFF"/>
          </a:solidFill>
          <a:ln w="19050">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As a child he </a:t>
            </a:r>
            <a:pPr indent="0" marL="0">
              <a:buNone/>
            </a:pPr>
            <a:r>
              <a:rPr lang="en-US" sz="1200" b="1" dirty="0">
                <a:solidFill>
                  <a:srgbClr val="7B5CD6"/>
                </a:solidFill>
                <a:highlight>
                  <a:srgbClr val="FFF1A8"/>
                </a:highlight>
                <a:latin typeface="Segoe UI Semibold" pitchFamily="34" charset="0"/>
                <a:ea typeface="Segoe UI Semibold" pitchFamily="34" charset="-122"/>
                <a:cs typeface="Segoe UI Semibold" pitchFamily="34" charset="-120"/>
              </a:rPr>
              <a:t>couldn't</a:t>
            </a:r>
            <a:pPr indent="0" marL="0">
              <a:buNone/>
            </a:pPr>
            <a:r>
              <a:rPr lang="en-US" sz="1200" dirty="0">
                <a:solidFill>
                  <a:srgbClr val="1B2559"/>
                </a:solidFill>
                <a:latin typeface="Segoe UI Semibold" pitchFamily="34" charset="0"/>
                <a:ea typeface="Segoe UI Semibold" pitchFamily="34" charset="-122"/>
                <a:cs typeface="Segoe UI Semibold" pitchFamily="34" charset="-120"/>
              </a:rPr>
              <a:t> dance either. He fell over at every party!</a:t>
            </a:r>
            <a:endParaRPr lang="en-US" sz="1200" dirty="0"/>
          </a:p>
          <a:p>
            <a:pPr indent="0" marL="0">
              <a:buNone/>
            </a:pPr>
            <a:r>
              <a:rPr lang="en-US" sz="850" i="1" dirty="0">
                <a:solidFill>
                  <a:srgbClr val="5B6785"/>
                </a:solidFill>
                <a:latin typeface="Segoe UI" pitchFamily="34" charset="0"/>
                <a:ea typeface="Segoe UI" pitchFamily="34" charset="-122"/>
                <a:cs typeface="Segoe UI" pitchFamily="34" charset="-120"/>
              </a:rPr>
              <a:t>❓ Could he dance as a child? · What happened at parties?</a:t>
            </a:r>
            <a:endParaRPr lang="en-US" sz="1200" dirty="0"/>
          </a:p>
        </p:txBody>
      </p:sp>
      <p:sp>
        <p:nvSpPr>
          <p:cNvPr id="23" name="R3_sb297"/>
          <p:cNvSpPr/>
          <p:nvPr/>
        </p:nvSpPr>
        <p:spPr>
          <a:xfrm>
            <a:off x="3200400" y="2581656"/>
            <a:ext cx="310896" cy="310896"/>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4" name="R3_sl298"/>
          <p:cNvSpPr/>
          <p:nvPr/>
        </p:nvSpPr>
        <p:spPr>
          <a:xfrm>
            <a:off x="3584448" y="2545080"/>
            <a:ext cx="5303520" cy="499872"/>
          </a:xfrm>
          <a:prstGeom prst="roundRect">
            <a:avLst>
              <a:gd name="adj" fmla="val 21951"/>
            </a:avLst>
          </a:prstGeom>
          <a:solidFill>
            <a:srgbClr val="FFFFFF"/>
          </a:solidFill>
          <a:ln w="19050">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He's </a:t>
            </a:r>
            <a:pPr indent="0" marL="0">
              <a:buNone/>
            </a:pPr>
            <a:r>
              <a:rPr lang="en-US" sz="1100" b="1" dirty="0">
                <a:solidFill>
                  <a:srgbClr val="7B5CD6"/>
                </a:solidFill>
                <a:highlight>
                  <a:srgbClr val="FFF1A8"/>
                </a:highlight>
                <a:latin typeface="Segoe UI Semibold" pitchFamily="34" charset="0"/>
                <a:ea typeface="Segoe UI Semibold" pitchFamily="34" charset="-122"/>
                <a:cs typeface="Segoe UI Semibold" pitchFamily="34" charset="-120"/>
              </a:rPr>
              <a:t>never been able to</a:t>
            </a:r>
            <a:pPr indent="0" marL="0">
              <a:buNone/>
            </a:pPr>
            <a:r>
              <a:rPr lang="en-US" sz="1100" dirty="0">
                <a:solidFill>
                  <a:srgbClr val="1B2559"/>
                </a:solidFill>
                <a:latin typeface="Segoe UI Semibold" pitchFamily="34" charset="0"/>
                <a:ea typeface="Segoe UI Semibold" pitchFamily="34" charset="-122"/>
                <a:cs typeface="Segoe UI Semibold" pitchFamily="34" charset="-120"/>
              </a:rPr>
              <a:t> dance salsa – and his wedding is in May!</a:t>
            </a:r>
            <a:endParaRPr lang="en-US" sz="1100" dirty="0"/>
          </a:p>
          <a:p>
            <a:pPr indent="0" marL="0">
              <a:buNone/>
            </a:pPr>
            <a:r>
              <a:rPr lang="en-US" sz="800" i="1" dirty="0">
                <a:solidFill>
                  <a:srgbClr val="5B6785"/>
                </a:solidFill>
                <a:latin typeface="Segoe UI" pitchFamily="34" charset="0"/>
                <a:ea typeface="Segoe UI" pitchFamily="34" charset="-122"/>
                <a:cs typeface="Segoe UI" pitchFamily="34" charset="-120"/>
              </a:rPr>
              <a:t>❓ Has he ever been able to dance salsa? · When is his wedding?</a:t>
            </a:r>
            <a:endParaRPr lang="en-US" sz="1100" dirty="0"/>
          </a:p>
        </p:txBody>
      </p:sp>
      <p:sp>
        <p:nvSpPr>
          <p:cNvPr id="25" name="R4_sb299"/>
          <p:cNvSpPr/>
          <p:nvPr/>
        </p:nvSpPr>
        <p:spPr>
          <a:xfrm>
            <a:off x="3200400" y="3145536"/>
            <a:ext cx="310896" cy="310896"/>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26" name="R4_sl300"/>
          <p:cNvSpPr/>
          <p:nvPr/>
        </p:nvSpPr>
        <p:spPr>
          <a:xfrm>
            <a:off x="3584448" y="3108960"/>
            <a:ext cx="5303520" cy="499872"/>
          </a:xfrm>
          <a:prstGeom prst="roundRect">
            <a:avLst>
              <a:gd name="adj" fmla="val 21951"/>
            </a:avLst>
          </a:prstGeom>
          <a:solidFill>
            <a:srgbClr val="FFFFFF"/>
          </a:solidFill>
          <a:ln w="19050">
            <a:solidFill>
              <a:srgbClr val="FFE07A"/>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000" dirty="0">
                <a:solidFill>
                  <a:srgbClr val="1B2559"/>
                </a:solidFill>
                <a:latin typeface="Segoe UI Semibold" pitchFamily="34" charset="0"/>
                <a:ea typeface="Segoe UI Semibold" pitchFamily="34" charset="-122"/>
                <a:cs typeface="Segoe UI Semibold" pitchFamily="34" charset="-120"/>
              </a:rPr>
              <a:t>'I'd love </a:t>
            </a:r>
            <a:pPr indent="0" marL="0">
              <a:buNone/>
            </a:pPr>
            <a:r>
              <a:rPr lang="en-US" sz="1000" b="1" dirty="0">
                <a:solidFill>
                  <a:srgbClr val="7B5CD6"/>
                </a:solidFill>
                <a:highlight>
                  <a:srgbClr val="FFF1A8"/>
                </a:highlight>
                <a:latin typeface="Segoe UI Semibold" pitchFamily="34" charset="0"/>
                <a:ea typeface="Segoe UI Semibold" pitchFamily="34" charset="-122"/>
                <a:cs typeface="Segoe UI Semibold" pitchFamily="34" charset="-120"/>
              </a:rPr>
              <a:t>to be able to</a:t>
            </a:r>
            <a:pPr indent="0" marL="0">
              <a:buNone/>
            </a:pPr>
            <a:r>
              <a:rPr lang="en-US" sz="1000" dirty="0">
                <a:solidFill>
                  <a:srgbClr val="1B2559"/>
                </a:solidFill>
                <a:latin typeface="Segoe UI Semibold" pitchFamily="34" charset="0"/>
                <a:ea typeface="Segoe UI Semibold" pitchFamily="34" charset="-122"/>
                <a:cs typeface="Segoe UI Semibold" pitchFamily="34" charset="-120"/>
              </a:rPr>
              <a:t> dance,' he says. So he books 20 hours of lessons.</a:t>
            </a:r>
            <a:endParaRPr lang="en-US" sz="1000" dirty="0"/>
          </a:p>
          <a:p>
            <a:pPr indent="0" marL="0">
              <a:buNone/>
            </a:pPr>
            <a:r>
              <a:rPr lang="en-US" sz="700" i="1" dirty="0">
                <a:solidFill>
                  <a:srgbClr val="5B6785"/>
                </a:solidFill>
                <a:latin typeface="Segoe UI" pitchFamily="34" charset="0"/>
                <a:ea typeface="Segoe UI" pitchFamily="34" charset="-122"/>
                <a:cs typeface="Segoe UI" pitchFamily="34" charset="-120"/>
              </a:rPr>
              <a:t>❓ What would he love to be able to do? · How many hours of lessons?</a:t>
            </a:r>
            <a:endParaRPr lang="en-US" sz="1000" dirty="0"/>
          </a:p>
        </p:txBody>
      </p:sp>
      <p:sp>
        <p:nvSpPr>
          <p:cNvPr id="27" name="R5_sb301"/>
          <p:cNvSpPr/>
          <p:nvPr/>
        </p:nvSpPr>
        <p:spPr>
          <a:xfrm>
            <a:off x="3200400" y="3709416"/>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28" name="R5_sl302"/>
          <p:cNvSpPr/>
          <p:nvPr/>
        </p:nvSpPr>
        <p:spPr>
          <a:xfrm>
            <a:off x="3584448" y="3672840"/>
            <a:ext cx="5303520" cy="499872"/>
          </a:xfrm>
          <a:prstGeom prst="roundRect">
            <a:avLst>
              <a:gd name="adj" fmla="val 21951"/>
            </a:avLst>
          </a:prstGeom>
          <a:solidFill>
            <a:srgbClr val="FFFFFF"/>
          </a:solidFill>
          <a:ln w="19050">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000" dirty="0">
                <a:solidFill>
                  <a:srgbClr val="1B2559"/>
                </a:solidFill>
                <a:latin typeface="Segoe UI Semibold" pitchFamily="34" charset="0"/>
                <a:ea typeface="Segoe UI Semibold" pitchFamily="34" charset="-122"/>
                <a:cs typeface="Segoe UI Semibold" pitchFamily="34" charset="-120"/>
              </a:rPr>
              <a:t>After ten hours he </a:t>
            </a:r>
            <a:pPr indent="0" marL="0">
              <a:buNone/>
            </a:pPr>
            <a:r>
              <a:rPr lang="en-US" sz="1000" b="1" dirty="0">
                <a:solidFill>
                  <a:srgbClr val="7B5CD6"/>
                </a:solidFill>
                <a:highlight>
                  <a:srgbClr val="FFF1A8"/>
                </a:highlight>
                <a:latin typeface="Segoe UI Semibold" pitchFamily="34" charset="0"/>
                <a:ea typeface="Segoe UI Semibold" pitchFamily="34" charset="-122"/>
                <a:cs typeface="Segoe UI Semibold" pitchFamily="34" charset="-120"/>
              </a:rPr>
              <a:t>is able to</a:t>
            </a:r>
            <a:pPr indent="0" marL="0">
              <a:buNone/>
            </a:pPr>
            <a:r>
              <a:rPr lang="en-US" sz="1000" dirty="0">
                <a:solidFill>
                  <a:srgbClr val="1B2559"/>
                </a:solidFill>
                <a:latin typeface="Segoe UI Semibold" pitchFamily="34" charset="0"/>
                <a:ea typeface="Segoe UI Semibold" pitchFamily="34" charset="-122"/>
                <a:cs typeface="Segoe UI Semibold" pitchFamily="34" charset="-120"/>
              </a:rPr>
              <a:t> dance a bit, but he steps on the teacher's feet!</a:t>
            </a:r>
            <a:endParaRPr lang="en-US" sz="1000" dirty="0"/>
          </a:p>
          <a:p>
            <a:pPr indent="0" marL="0">
              <a:buNone/>
            </a:pPr>
            <a:r>
              <a:rPr lang="en-US" sz="700" i="1" dirty="0">
                <a:solidFill>
                  <a:srgbClr val="5B6785"/>
                </a:solidFill>
                <a:latin typeface="Segoe UI" pitchFamily="34" charset="0"/>
                <a:ea typeface="Segoe UI" pitchFamily="34" charset="-122"/>
                <a:cs typeface="Segoe UI" pitchFamily="34" charset="-120"/>
              </a:rPr>
              <a:t>❓ Is he able to dance now? · Whose feet does he step on?</a:t>
            </a:r>
            <a:endParaRPr lang="en-US" sz="1000" dirty="0"/>
          </a:p>
        </p:txBody>
      </p:sp>
      <p:sp>
        <p:nvSpPr>
          <p:cNvPr id="29" name="R6_sb303"/>
          <p:cNvSpPr/>
          <p:nvPr/>
        </p:nvSpPr>
        <p:spPr>
          <a:xfrm>
            <a:off x="3200400" y="4273296"/>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6</a:t>
            </a:r>
            <a:endParaRPr lang="en-US" sz="1000" dirty="0"/>
          </a:p>
        </p:txBody>
      </p:sp>
      <p:sp>
        <p:nvSpPr>
          <p:cNvPr id="30" name="R6_sl304"/>
          <p:cNvSpPr/>
          <p:nvPr/>
        </p:nvSpPr>
        <p:spPr>
          <a:xfrm>
            <a:off x="3584448" y="4236720"/>
            <a:ext cx="5303520" cy="499872"/>
          </a:xfrm>
          <a:prstGeom prst="roundRect">
            <a:avLst>
              <a:gd name="adj" fmla="val 21951"/>
            </a:avLst>
          </a:prstGeom>
          <a:solidFill>
            <a:srgbClr val="FFFFFF"/>
          </a:solidFill>
          <a:ln w="19050">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050" dirty="0">
                <a:solidFill>
                  <a:srgbClr val="1B2559"/>
                </a:solidFill>
                <a:latin typeface="Segoe UI Semibold" pitchFamily="34" charset="0"/>
                <a:ea typeface="Segoe UI Semibold" pitchFamily="34" charset="-122"/>
                <a:cs typeface="Segoe UI Semibold" pitchFamily="34" charset="-120"/>
              </a:rPr>
              <a:t>At the wedding he dances all night. 'Next year I</a:t>
            </a:r>
            <a:pPr indent="0" marL="0">
              <a:buNone/>
            </a:pPr>
            <a:r>
              <a:rPr lang="en-US" sz="1050" b="1" dirty="0">
                <a:solidFill>
                  <a:srgbClr val="7B5CD6"/>
                </a:solidFill>
                <a:highlight>
                  <a:srgbClr val="FFF1A8"/>
                </a:highlight>
                <a:latin typeface="Segoe UI Semibold" pitchFamily="34" charset="0"/>
                <a:ea typeface="Segoe UI Semibold" pitchFamily="34" charset="-122"/>
                <a:cs typeface="Segoe UI Semibold" pitchFamily="34" charset="-120"/>
              </a:rPr>
              <a:t>'ll be able to</a:t>
            </a:r>
            <a:pPr indent="0" marL="0">
              <a:buNone/>
            </a:pPr>
            <a:r>
              <a:rPr lang="en-US" sz="1050" dirty="0">
                <a:solidFill>
                  <a:srgbClr val="1B2559"/>
                </a:solidFill>
                <a:latin typeface="Segoe UI Semibold" pitchFamily="34" charset="0"/>
                <a:ea typeface="Segoe UI Semibold" pitchFamily="34" charset="-122"/>
                <a:cs typeface="Segoe UI Semibold" pitchFamily="34" charset="-120"/>
              </a:rPr>
              <a:t> tango!'</a:t>
            </a:r>
            <a:endParaRPr lang="en-US" sz="1050" dirty="0"/>
          </a:p>
          <a:p>
            <a:pPr indent="0" marL="0">
              <a:buNone/>
            </a:pPr>
            <a:r>
              <a:rPr lang="en-US" sz="750" i="1" dirty="0">
                <a:solidFill>
                  <a:srgbClr val="5B6785"/>
                </a:solidFill>
                <a:latin typeface="Segoe UI" pitchFamily="34" charset="0"/>
                <a:ea typeface="Segoe UI" pitchFamily="34" charset="-122"/>
                <a:cs typeface="Segoe UI" pitchFamily="34" charset="-120"/>
              </a:rPr>
              <a:t>❓ What will he be able to do? · And you – what would you love to be able to do?</a:t>
            </a:r>
            <a:endParaRPr lang="en-US" sz="10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animEffect transition="in" filter="fade">
                                      <p:cBhvr>
                                        <p:cTn id="7" dur="400"/>
                                        <p:tgtEl>
                                          <p:spTgt spid="19"/>
                                        </p:tgtEl>
                                      </p:cBhvr>
                                    </p:animEffect>
                                  </p:childTnLst>
                                </p:cTn>
                              </p:par>
                              <p:par>
                                <p:cTn id="8" presetID="10" presetClass="entr" presetSubtype="0" fill="hold" nodeType="with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fade">
                                      <p:cBhvr>
                                        <p:cTn id="10" dur="400"/>
                                        <p:tgtEl>
                                          <p:spTgt spid="20"/>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1"/>
                                        </p:tgtEl>
                                        <p:attrNameLst>
                                          <p:attrName>style.visibility</p:attrName>
                                        </p:attrNameLst>
                                      </p:cBhvr>
                                      <p:to>
                                        <p:strVal val="visible"/>
                                      </p:to>
                                    </p:set>
                                    <p:animEffect transition="in" filter="fade">
                                      <p:cBhvr>
                                        <p:cTn id="15" dur="400"/>
                                        <p:tgtEl>
                                          <p:spTgt spid="21"/>
                                        </p:tgtEl>
                                      </p:cBhvr>
                                    </p:animEffect>
                                  </p:childTnLst>
                                </p:cTn>
                              </p:par>
                              <p:par>
                                <p:cTn id="16" presetID="10" presetClass="entr" presetSubtype="0" fill="hold" nodeType="withEffect">
                                  <p:stCondLst>
                                    <p:cond delay="0"/>
                                  </p:stCondLst>
                                  <p:childTnLst>
                                    <p:set>
                                      <p:cBhvr>
                                        <p:cTn id="17" dur="1" fill="hold">
                                          <p:stCondLst>
                                            <p:cond delay="0"/>
                                          </p:stCondLst>
                                        </p:cTn>
                                        <p:tgtEl>
                                          <p:spTgt spid="22"/>
                                        </p:tgtEl>
                                        <p:attrNameLst>
                                          <p:attrName>style.visibility</p:attrName>
                                        </p:attrNameLst>
                                      </p:cBhvr>
                                      <p:to>
                                        <p:strVal val="visible"/>
                                      </p:to>
                                    </p:set>
                                    <p:animEffect transition="in" filter="fade">
                                      <p:cBhvr>
                                        <p:cTn id="18" dur="400"/>
                                        <p:tgtEl>
                                          <p:spTgt spid="22"/>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3"/>
                                        </p:tgtEl>
                                        <p:attrNameLst>
                                          <p:attrName>style.visibility</p:attrName>
                                        </p:attrNameLst>
                                      </p:cBhvr>
                                      <p:to>
                                        <p:strVal val="visible"/>
                                      </p:to>
                                    </p:set>
                                    <p:animEffect transition="in" filter="fade">
                                      <p:cBhvr>
                                        <p:cTn id="23" dur="400"/>
                                        <p:tgtEl>
                                          <p:spTgt spid="23"/>
                                        </p:tgtEl>
                                      </p:cBhvr>
                                    </p:animEffect>
                                  </p:childTnLst>
                                </p:cTn>
                              </p:par>
                              <p:par>
                                <p:cTn id="24" presetID="10" presetClass="entr" presetSubtype="0" fill="hold" nodeType="withEffect">
                                  <p:stCondLst>
                                    <p:cond delay="0"/>
                                  </p:stCondLst>
                                  <p:childTnLst>
                                    <p:set>
                                      <p:cBhvr>
                                        <p:cTn id="25" dur="1" fill="hold">
                                          <p:stCondLst>
                                            <p:cond delay="0"/>
                                          </p:stCondLst>
                                        </p:cTn>
                                        <p:tgtEl>
                                          <p:spTgt spid="24"/>
                                        </p:tgtEl>
                                        <p:attrNameLst>
                                          <p:attrName>style.visibility</p:attrName>
                                        </p:attrNameLst>
                                      </p:cBhvr>
                                      <p:to>
                                        <p:strVal val="visible"/>
                                      </p:to>
                                    </p:set>
                                    <p:animEffect transition="in" filter="fade">
                                      <p:cBhvr>
                                        <p:cTn id="26" dur="400"/>
                                        <p:tgtEl>
                                          <p:spTgt spid="24"/>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25"/>
                                        </p:tgtEl>
                                        <p:attrNameLst>
                                          <p:attrName>style.visibility</p:attrName>
                                        </p:attrNameLst>
                                      </p:cBhvr>
                                      <p:to>
                                        <p:strVal val="visible"/>
                                      </p:to>
                                    </p:set>
                                    <p:animEffect transition="in" filter="fade">
                                      <p:cBhvr>
                                        <p:cTn id="31" dur="400"/>
                                        <p:tgtEl>
                                          <p:spTgt spid="25"/>
                                        </p:tgtEl>
                                      </p:cBhvr>
                                    </p:animEffect>
                                  </p:childTnLst>
                                </p:cTn>
                              </p:par>
                              <p:par>
                                <p:cTn id="32" presetID="10" presetClass="entr" presetSubtype="0" fill="hold" nodeType="withEffect">
                                  <p:stCondLst>
                                    <p:cond delay="0"/>
                                  </p:stCondLst>
                                  <p:childTnLst>
                                    <p:set>
                                      <p:cBhvr>
                                        <p:cTn id="33" dur="1" fill="hold">
                                          <p:stCondLst>
                                            <p:cond delay="0"/>
                                          </p:stCondLst>
                                        </p:cTn>
                                        <p:tgtEl>
                                          <p:spTgt spid="26"/>
                                        </p:tgtEl>
                                        <p:attrNameLst>
                                          <p:attrName>style.visibility</p:attrName>
                                        </p:attrNameLst>
                                      </p:cBhvr>
                                      <p:to>
                                        <p:strVal val="visible"/>
                                      </p:to>
                                    </p:set>
                                    <p:animEffect transition="in" filter="fade">
                                      <p:cBhvr>
                                        <p:cTn id="34" dur="400"/>
                                        <p:tgtEl>
                                          <p:spTgt spid="26"/>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27"/>
                                        </p:tgtEl>
                                        <p:attrNameLst>
                                          <p:attrName>style.visibility</p:attrName>
                                        </p:attrNameLst>
                                      </p:cBhvr>
                                      <p:to>
                                        <p:strVal val="visible"/>
                                      </p:to>
                                    </p:set>
                                    <p:animEffect transition="in" filter="fade">
                                      <p:cBhvr>
                                        <p:cTn id="39" dur="400"/>
                                        <p:tgtEl>
                                          <p:spTgt spid="27"/>
                                        </p:tgtEl>
                                      </p:cBhvr>
                                    </p:animEffect>
                                  </p:childTnLst>
                                </p:cTn>
                              </p:par>
                              <p:par>
                                <p:cTn id="40" presetID="10" presetClass="entr" presetSubtype="0" fill="hold" nodeType="withEffect">
                                  <p:stCondLst>
                                    <p:cond delay="0"/>
                                  </p:stCondLst>
                                  <p:childTnLst>
                                    <p:set>
                                      <p:cBhvr>
                                        <p:cTn id="41" dur="1" fill="hold">
                                          <p:stCondLst>
                                            <p:cond delay="0"/>
                                          </p:stCondLst>
                                        </p:cTn>
                                        <p:tgtEl>
                                          <p:spTgt spid="28"/>
                                        </p:tgtEl>
                                        <p:attrNameLst>
                                          <p:attrName>style.visibility</p:attrName>
                                        </p:attrNameLst>
                                      </p:cBhvr>
                                      <p:to>
                                        <p:strVal val="visible"/>
                                      </p:to>
                                    </p:set>
                                    <p:animEffect transition="in" filter="fade">
                                      <p:cBhvr>
                                        <p:cTn id="42" dur="400"/>
                                        <p:tgtEl>
                                          <p:spTgt spid="28"/>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29"/>
                                        </p:tgtEl>
                                        <p:attrNameLst>
                                          <p:attrName>style.visibility</p:attrName>
                                        </p:attrNameLst>
                                      </p:cBhvr>
                                      <p:to>
                                        <p:strVal val="visible"/>
                                      </p:to>
                                    </p:set>
                                    <p:animEffect transition="in" filter="fade">
                                      <p:cBhvr>
                                        <p:cTn id="47" dur="400"/>
                                        <p:tgtEl>
                                          <p:spTgt spid="29"/>
                                        </p:tgtEl>
                                      </p:cBhvr>
                                    </p:animEffect>
                                  </p:childTnLst>
                                </p:cTn>
                              </p:par>
                              <p:par>
                                <p:cTn id="48" presetID="10" presetClass="entr" presetSubtype="0" fill="hold" nodeType="withEffect">
                                  <p:stCondLst>
                                    <p:cond delay="0"/>
                                  </p:stCondLst>
                                  <p:childTnLst>
                                    <p:set>
                                      <p:cBhvr>
                                        <p:cTn id="49" dur="1" fill="hold">
                                          <p:stCondLst>
                                            <p:cond delay="0"/>
                                          </p:stCondLst>
                                        </p:cTn>
                                        <p:tgtEl>
                                          <p:spTgt spid="30"/>
                                        </p:tgtEl>
                                        <p:attrNameLst>
                                          <p:attrName>style.visibility</p:attrName>
                                        </p:attrNameLst>
                                      </p:cBhvr>
                                      <p:to>
                                        <p:strVal val="visible"/>
                                      </p:to>
                                    </p:set>
                                    <p:animEffect transition="in" filter="fade">
                                      <p:cBhvr>
                                        <p:cTn id="50" dur="400"/>
                                        <p:tgtEl>
                                          <p:spTgt spid="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05"/>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10</a:t>
            </a:r>
            <a:endParaRPr lang="en-US" sz="2200" dirty="0"/>
          </a:p>
        </p:txBody>
      </p:sp>
      <p:pic>
        <p:nvPicPr>
          <p:cNvPr id="4" name="brY_306" descr="/home/claude/lls-course/v2/assets/brush-yellow.png">    </p:cNvPr>
          <p:cNvPicPr>
            <a:picLocks noChangeAspect="1"/>
          </p:cNvPicPr>
          <p:nvPr/>
        </p:nvPicPr>
        <p:blipFill>
          <a:blip r:embed="rId2"/>
          <a:stretch>
            <a:fillRect/>
          </a:stretch>
        </p:blipFill>
        <p:spPr>
          <a:xfrm>
            <a:off x="1097280" y="146304"/>
            <a:ext cx="2461565" cy="621792"/>
          </a:xfrm>
          <a:prstGeom prst="rect">
            <a:avLst/>
          </a:prstGeom>
        </p:spPr>
      </p:pic>
      <p:sp>
        <p:nvSpPr>
          <p:cNvPr id="5" name="title_307"/>
          <p:cNvSpPr/>
          <p:nvPr/>
        </p:nvSpPr>
        <p:spPr>
          <a:xfrm>
            <a:off x="1261872" y="164592"/>
            <a:ext cx="2187245"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Which form?</a:t>
            </a:r>
            <a:endParaRPr lang="en-US" sz="2500" dirty="0"/>
          </a:p>
        </p:txBody>
      </p:sp>
      <p:pic>
        <p:nvPicPr>
          <p:cNvPr id="6" name="brP_308" descr="/home/claude/lls-course/v2/assets/brush-pink.png">    </p:cNvPr>
          <p:cNvPicPr>
            <a:picLocks noChangeAspect="1"/>
          </p:cNvPicPr>
          <p:nvPr/>
        </p:nvPicPr>
        <p:blipFill>
          <a:blip r:embed="rId3"/>
          <a:stretch>
            <a:fillRect/>
          </a:stretch>
        </p:blipFill>
        <p:spPr>
          <a:xfrm>
            <a:off x="1207008" y="731520"/>
            <a:ext cx="4032504" cy="402336"/>
          </a:xfrm>
          <a:prstGeom prst="rect">
            <a:avLst/>
          </a:prstGeom>
        </p:spPr>
      </p:pic>
      <p:sp>
        <p:nvSpPr>
          <p:cNvPr id="7" name="ins_309"/>
          <p:cNvSpPr/>
          <p:nvPr/>
        </p:nvSpPr>
        <p:spPr>
          <a:xfrm>
            <a:off x="1353312" y="731520"/>
            <a:ext cx="377647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Which form goes in the gap? Colour it!</a:t>
            </a:r>
            <a:endParaRPr lang="en-US" sz="1250" dirty="0"/>
          </a:p>
        </p:txBody>
      </p:sp>
      <p:sp>
        <p:nvSpPr>
          <p:cNvPr id="8" name="insIT_310"/>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Quale forma va nello spazio? Coloralo!</a:t>
            </a:r>
            <a:endParaRPr lang="en-US" sz="950" dirty="0"/>
          </a:p>
        </p:txBody>
      </p:sp>
      <p:sp>
        <p:nvSpPr>
          <p:cNvPr id="9" name="cmd_311"/>
          <p:cNvSpPr/>
          <p:nvPr/>
        </p:nvSpPr>
        <p:spPr>
          <a:xfrm>
            <a:off x="6510528" y="182880"/>
            <a:ext cx="1901952"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MATCH</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ABBINA</a:t>
            </a:r>
            <a:endParaRPr lang="en-US" sz="1100" dirty="0"/>
          </a:p>
        </p:txBody>
      </p:sp>
      <p:sp>
        <p:nvSpPr>
          <p:cNvPr id="10" name="cmd_312"/>
          <p:cNvSpPr/>
          <p:nvPr/>
        </p:nvSpPr>
        <p:spPr>
          <a:xfrm>
            <a:off x="6510528" y="566928"/>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800" dirty="0">
                <a:solidFill>
                  <a:srgbClr val="000000"/>
                </a:solidFill>
              </a:rPr>
              <a:t>✏️ </a:t>
            </a:r>
            <a:pPr indent="0" marL="0">
              <a:buNone/>
            </a:pPr>
            <a:r>
              <a:rPr lang="en-US" sz="900" dirty="0">
                <a:solidFill>
                  <a:srgbClr val="F2B705"/>
                </a:solidFill>
                <a:latin typeface="Arial Rounded MT Bold" pitchFamily="34" charset="0"/>
                <a:ea typeface="Arial Rounded MT Bold" pitchFamily="34" charset="-122"/>
                <a:cs typeface="Arial Rounded MT Bold" pitchFamily="34" charset="-120"/>
              </a:rPr>
              <a:t>FILL THE GAPS</a:t>
            </a:r>
            <a:pPr indent="0" marL="0">
              <a:buNone/>
            </a:pPr>
            <a:r>
              <a:rPr lang="en-US" sz="700" dirty="0">
                <a:solidFill>
                  <a:srgbClr val="5B6785"/>
                </a:solidFill>
                <a:latin typeface="Segoe UI Semibold" pitchFamily="34" charset="0"/>
                <a:ea typeface="Segoe UI Semibold" pitchFamily="34" charset="-122"/>
                <a:cs typeface="Segoe UI Semibold" pitchFamily="34" charset="-120"/>
              </a:rPr>
              <a:t>  COMPLETA</a:t>
            </a:r>
            <a:endParaRPr lang="en-US" sz="800" dirty="0"/>
          </a:p>
        </p:txBody>
      </p:sp>
      <p:sp>
        <p:nvSpPr>
          <p:cNvPr id="11" name="meta_313"/>
          <p:cNvSpPr/>
          <p:nvPr/>
        </p:nvSpPr>
        <p:spPr>
          <a:xfrm>
            <a:off x="6583680" y="950976"/>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sp>
        <p:nvSpPr>
          <p:cNvPr id="12" name="tag_314"/>
          <p:cNvSpPr/>
          <p:nvPr/>
        </p:nvSpPr>
        <p:spPr>
          <a:xfrm>
            <a:off x="6510528" y="1188720"/>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Grammar</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Guided discovery</a:t>
            </a:r>
            <a:endParaRPr lang="en-US" sz="850" dirty="0"/>
          </a:p>
        </p:txBody>
      </p:sp>
      <p:pic>
        <p:nvPicPr>
          <p:cNvPr id="13" name="logo_315"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316"/>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4B-1 · Grammar · practice   ·   📖 Grammar photocopiable 4B (b 2, 3, 5, 7, 9) · audio 4.13</a:t>
            </a:r>
            <a:endParaRPr lang="en-US" sz="800" dirty="0"/>
          </a:p>
        </p:txBody>
      </p:sp>
      <p:sp>
        <p:nvSpPr>
          <p:cNvPr id="15" name="cd_317"/>
          <p:cNvSpPr/>
          <p:nvPr/>
        </p:nvSpPr>
        <p:spPr>
          <a:xfrm>
            <a:off x="320040" y="1417320"/>
            <a:ext cx="2697480" cy="2295144"/>
          </a:xfrm>
          <a:prstGeom prst="roundRect">
            <a:avLst>
              <a:gd name="adj" fmla="val 5578"/>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6" name="ii_318"/>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7" name="ih_319"/>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The forms</a:t>
            </a:r>
            <a:endParaRPr lang="en-US" sz="1300" dirty="0"/>
          </a:p>
        </p:txBody>
      </p:sp>
      <p:sp>
        <p:nvSpPr>
          <p:cNvPr id="18" name="il_320"/>
          <p:cNvSpPr/>
          <p:nvPr/>
        </p:nvSpPr>
        <p:spPr>
          <a:xfrm>
            <a:off x="886968" y="1892808"/>
            <a:ext cx="2039112" cy="1746504"/>
          </a:xfrm>
          <a:prstGeom prst="rect">
            <a:avLst/>
          </a:prstGeom>
          <a:noFill/>
          <a:ln/>
        </p:spPr>
        <p:txBody>
          <a:bodyPr wrap="square" lIns="0" tIns="0" rIns="0" bIns="0" rtlCol="0" anchor="t">
            <a:normAutofit/>
          </a:bodyPr>
          <a:lstStyle/>
          <a:p>
            <a:pPr indent="0" marL="0">
              <a:spcAft>
                <a:spcPts val="200"/>
              </a:spcAft>
              <a:buNone/>
            </a:pPr>
            <a:endParaRPr lang="en-US" sz="1100" dirty="0"/>
          </a:p>
        </p:txBody>
      </p:sp>
      <p:sp>
        <p:nvSpPr>
          <p:cNvPr id="19" name="lg_321"/>
          <p:cNvSpPr/>
          <p:nvPr/>
        </p:nvSpPr>
        <p:spPr>
          <a:xfrm>
            <a:off x="457200" y="1984248"/>
            <a:ext cx="1188720" cy="310896"/>
          </a:xfrm>
          <a:prstGeom prst="roundRect">
            <a:avLst>
              <a:gd name="adj" fmla="val 50000"/>
            </a:avLst>
          </a:prstGeom>
          <a:solidFill>
            <a:srgbClr val="8FD9A8"/>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can / can't</a:t>
            </a:r>
            <a:endParaRPr lang="en-US" sz="1050" dirty="0"/>
          </a:p>
        </p:txBody>
      </p:sp>
      <p:sp>
        <p:nvSpPr>
          <p:cNvPr id="20" name="lg_322"/>
          <p:cNvSpPr/>
          <p:nvPr/>
        </p:nvSpPr>
        <p:spPr>
          <a:xfrm>
            <a:off x="1719072" y="1984248"/>
            <a:ext cx="1188720" cy="310896"/>
          </a:xfrm>
          <a:prstGeom prst="roundRect">
            <a:avLst>
              <a:gd name="adj" fmla="val 50000"/>
            </a:avLst>
          </a:prstGeom>
          <a:solidFill>
            <a:srgbClr val="8FC9F2"/>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could / couldn't</a:t>
            </a:r>
            <a:endParaRPr lang="en-US" sz="1050" dirty="0"/>
          </a:p>
        </p:txBody>
      </p:sp>
      <p:sp>
        <p:nvSpPr>
          <p:cNvPr id="21" name="lg_323"/>
          <p:cNvSpPr/>
          <p:nvPr/>
        </p:nvSpPr>
        <p:spPr>
          <a:xfrm>
            <a:off x="457200" y="2368296"/>
            <a:ext cx="1188720" cy="310896"/>
          </a:xfrm>
          <a:prstGeom prst="roundRect">
            <a:avLst>
              <a:gd name="adj" fmla="val 50000"/>
            </a:avLst>
          </a:prstGeom>
          <a:solidFill>
            <a:srgbClr val="F7A6C4"/>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be able to</a:t>
            </a:r>
            <a:endParaRPr lang="en-US" sz="1050" dirty="0"/>
          </a:p>
        </p:txBody>
      </p:sp>
      <p:sp>
        <p:nvSpPr>
          <p:cNvPr id="22" name="lg_324"/>
          <p:cNvSpPr/>
          <p:nvPr/>
        </p:nvSpPr>
        <p:spPr>
          <a:xfrm>
            <a:off x="1719072" y="2368296"/>
            <a:ext cx="1188720" cy="310896"/>
          </a:xfrm>
          <a:prstGeom prst="roundRect">
            <a:avLst>
              <a:gd name="adj" fmla="val 50000"/>
            </a:avLst>
          </a:prstGeom>
          <a:solidFill>
            <a:srgbClr val="FFD966"/>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being able to</a:t>
            </a:r>
            <a:endParaRPr lang="en-US" sz="1050" dirty="0"/>
          </a:p>
        </p:txBody>
      </p:sp>
      <p:sp>
        <p:nvSpPr>
          <p:cNvPr id="23" name="lg_325"/>
          <p:cNvSpPr/>
          <p:nvPr/>
        </p:nvSpPr>
        <p:spPr>
          <a:xfrm>
            <a:off x="457200" y="2752344"/>
            <a:ext cx="1188720" cy="310896"/>
          </a:xfrm>
          <a:prstGeom prst="roundRect">
            <a:avLst>
              <a:gd name="adj" fmla="val 50000"/>
            </a:avLst>
          </a:prstGeom>
          <a:solidFill>
            <a:srgbClr val="C8E6FA"/>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been able to</a:t>
            </a:r>
            <a:endParaRPr lang="en-US" sz="1050" dirty="0"/>
          </a:p>
        </p:txBody>
      </p:sp>
      <p:sp>
        <p:nvSpPr>
          <p:cNvPr id="24" name="sq_326"/>
          <p:cNvSpPr/>
          <p:nvPr/>
        </p:nvSpPr>
        <p:spPr>
          <a:xfrm>
            <a:off x="3246120" y="1417320"/>
            <a:ext cx="3840480" cy="475488"/>
          </a:xfrm>
          <a:prstGeom prst="roundRect">
            <a:avLst>
              <a:gd name="adj" fmla="val 19231"/>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1  Jenny ___ come tonight. She's ill.</a:t>
            </a:r>
            <a:endParaRPr lang="en-US" sz="1200" dirty="0"/>
          </a:p>
        </p:txBody>
      </p:sp>
      <p:sp>
        <p:nvSpPr>
          <p:cNvPr id="25" name="R1_tag327"/>
          <p:cNvSpPr/>
          <p:nvPr/>
        </p:nvSpPr>
        <p:spPr>
          <a:xfrm>
            <a:off x="7178040" y="1417320"/>
            <a:ext cx="1691640" cy="475488"/>
          </a:xfrm>
          <a:prstGeom prst="roundRect">
            <a:avLst>
              <a:gd name="adj" fmla="val 48077"/>
            </a:avLst>
          </a:prstGeom>
          <a:solidFill>
            <a:srgbClr val="8FD9A8"/>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can / can't</a:t>
            </a:r>
            <a:endParaRPr lang="en-US" sz="1150" dirty="0"/>
          </a:p>
        </p:txBody>
      </p:sp>
      <p:sp>
        <p:nvSpPr>
          <p:cNvPr id="26" name="sq_328"/>
          <p:cNvSpPr/>
          <p:nvPr/>
        </p:nvSpPr>
        <p:spPr>
          <a:xfrm>
            <a:off x="3246120" y="1956816"/>
            <a:ext cx="3840480" cy="475488"/>
          </a:xfrm>
          <a:prstGeom prst="roundRect">
            <a:avLst>
              <a:gd name="adj" fmla="val 19231"/>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2  Masha called me because she ___ remember how to get to my house.</a:t>
            </a:r>
            <a:endParaRPr lang="en-US" sz="1200" dirty="0"/>
          </a:p>
        </p:txBody>
      </p:sp>
      <p:sp>
        <p:nvSpPr>
          <p:cNvPr id="27" name="R2_tag329"/>
          <p:cNvSpPr/>
          <p:nvPr/>
        </p:nvSpPr>
        <p:spPr>
          <a:xfrm>
            <a:off x="7178040" y="1956816"/>
            <a:ext cx="1691640" cy="475488"/>
          </a:xfrm>
          <a:prstGeom prst="roundRect">
            <a:avLst>
              <a:gd name="adj" fmla="val 48077"/>
            </a:avLst>
          </a:prstGeom>
          <a:solidFill>
            <a:srgbClr val="8FC9F2"/>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could / couldn't</a:t>
            </a:r>
            <a:endParaRPr lang="en-US" sz="1150" dirty="0"/>
          </a:p>
        </p:txBody>
      </p:sp>
      <p:sp>
        <p:nvSpPr>
          <p:cNvPr id="28" name="sq_330"/>
          <p:cNvSpPr/>
          <p:nvPr/>
        </p:nvSpPr>
        <p:spPr>
          <a:xfrm>
            <a:off x="3246120" y="2496312"/>
            <a:ext cx="3840480" cy="475488"/>
          </a:xfrm>
          <a:prstGeom prst="roundRect">
            <a:avLst>
              <a:gd name="adj" fmla="val 19231"/>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3  Simon isn't going to ___ finish the report by the end of the day.</a:t>
            </a:r>
            <a:endParaRPr lang="en-US" sz="1200" dirty="0"/>
          </a:p>
        </p:txBody>
      </p:sp>
      <p:sp>
        <p:nvSpPr>
          <p:cNvPr id="29" name="R3_tag331"/>
          <p:cNvSpPr/>
          <p:nvPr/>
        </p:nvSpPr>
        <p:spPr>
          <a:xfrm>
            <a:off x="7178040" y="2496312"/>
            <a:ext cx="1691640" cy="475488"/>
          </a:xfrm>
          <a:prstGeom prst="roundRect">
            <a:avLst>
              <a:gd name="adj" fmla="val 48077"/>
            </a:avLst>
          </a:prstGeom>
          <a:solidFill>
            <a:srgbClr val="F7A6C4"/>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be able to</a:t>
            </a:r>
            <a:endParaRPr lang="en-US" sz="1150" dirty="0"/>
          </a:p>
        </p:txBody>
      </p:sp>
      <p:sp>
        <p:nvSpPr>
          <p:cNvPr id="30" name="sq_332"/>
          <p:cNvSpPr/>
          <p:nvPr/>
        </p:nvSpPr>
        <p:spPr>
          <a:xfrm>
            <a:off x="3246120" y="3035808"/>
            <a:ext cx="3840480" cy="475488"/>
          </a:xfrm>
          <a:prstGeom prst="roundRect">
            <a:avLst>
              <a:gd name="adj" fmla="val 19231"/>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4  I haven't ___ speak to Harry for over three weeks.</a:t>
            </a:r>
            <a:endParaRPr lang="en-US" sz="1200" dirty="0"/>
          </a:p>
        </p:txBody>
      </p:sp>
      <p:sp>
        <p:nvSpPr>
          <p:cNvPr id="31" name="R4_tag333"/>
          <p:cNvSpPr/>
          <p:nvPr/>
        </p:nvSpPr>
        <p:spPr>
          <a:xfrm>
            <a:off x="7178040" y="3035808"/>
            <a:ext cx="1691640" cy="475488"/>
          </a:xfrm>
          <a:prstGeom prst="roundRect">
            <a:avLst>
              <a:gd name="adj" fmla="val 48077"/>
            </a:avLst>
          </a:prstGeom>
          <a:solidFill>
            <a:srgbClr val="C8E6FA"/>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been able to</a:t>
            </a:r>
            <a:endParaRPr lang="en-US" sz="1150" dirty="0"/>
          </a:p>
        </p:txBody>
      </p:sp>
      <p:sp>
        <p:nvSpPr>
          <p:cNvPr id="32" name="sq_334"/>
          <p:cNvSpPr/>
          <p:nvPr/>
        </p:nvSpPr>
        <p:spPr>
          <a:xfrm>
            <a:off x="3246120" y="3575304"/>
            <a:ext cx="3840480" cy="475488"/>
          </a:xfrm>
          <a:prstGeom prst="roundRect">
            <a:avLst>
              <a:gd name="adj" fmla="val 19231"/>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5  Miriam hates not ___ play chess as well as Luke.</a:t>
            </a:r>
            <a:endParaRPr lang="en-US" sz="1200" dirty="0"/>
          </a:p>
        </p:txBody>
      </p:sp>
      <p:sp>
        <p:nvSpPr>
          <p:cNvPr id="33" name="R5_tag335"/>
          <p:cNvSpPr/>
          <p:nvPr/>
        </p:nvSpPr>
        <p:spPr>
          <a:xfrm>
            <a:off x="7178040" y="3575304"/>
            <a:ext cx="1691640" cy="475488"/>
          </a:xfrm>
          <a:prstGeom prst="roundRect">
            <a:avLst>
              <a:gd name="adj" fmla="val 48077"/>
            </a:avLst>
          </a:prstGeom>
          <a:solidFill>
            <a:srgbClr val="FFD966"/>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being able to</a:t>
            </a:r>
            <a:endParaRPr lang="en-US" sz="1150" dirty="0"/>
          </a:p>
        </p:txBody>
      </p:sp>
      <p:sp>
        <p:nvSpPr>
          <p:cNvPr id="34" name="sq_336"/>
          <p:cNvSpPr/>
          <p:nvPr/>
        </p:nvSpPr>
        <p:spPr>
          <a:xfrm>
            <a:off x="3246120" y="4114800"/>
            <a:ext cx="3840480" cy="475488"/>
          </a:xfrm>
          <a:prstGeom prst="roundRect">
            <a:avLst>
              <a:gd name="adj" fmla="val 19231"/>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6  I'm afraid I won't ___ go away this weekend. I'm too busy.</a:t>
            </a:r>
            <a:endParaRPr lang="en-US" sz="1200" dirty="0"/>
          </a:p>
        </p:txBody>
      </p:sp>
      <p:sp>
        <p:nvSpPr>
          <p:cNvPr id="35" name="R6_tag337"/>
          <p:cNvSpPr/>
          <p:nvPr/>
        </p:nvSpPr>
        <p:spPr>
          <a:xfrm>
            <a:off x="7178040" y="4114800"/>
            <a:ext cx="1691640" cy="475488"/>
          </a:xfrm>
          <a:prstGeom prst="roundRect">
            <a:avLst>
              <a:gd name="adj" fmla="val 48077"/>
            </a:avLst>
          </a:prstGeom>
          <a:solidFill>
            <a:srgbClr val="F7A6C4"/>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be able to</a:t>
            </a:r>
            <a:endParaRPr lang="en-US" sz="1150" dirty="0"/>
          </a:p>
        </p:txBody>
      </p:sp>
      <p:sp>
        <p:nvSpPr>
          <p:cNvPr id="36" name="pf_338"/>
          <p:cNvSpPr/>
          <p:nvPr/>
        </p:nvSpPr>
        <p:spPr>
          <a:xfrm rot="-120000">
            <a:off x="411480" y="3703320"/>
            <a:ext cx="2514600" cy="1051560"/>
          </a:xfrm>
          <a:prstGeom prst="roundRect">
            <a:avLst>
              <a:gd name="adj" fmla="val 1478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37" name="phx_339"/>
          <p:cNvSpPr/>
          <p:nvPr/>
        </p:nvSpPr>
        <p:spPr>
          <a:xfrm>
            <a:off x="457200" y="3749040"/>
            <a:ext cx="2423160" cy="96012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pitchFamily="34" charset="0"/>
                <a:ea typeface="Segoe UI" pitchFamily="34" charset="-122"/>
                <a:cs typeface="Segoe UI" pitchFamily="34" charset="-120"/>
              </a:rPr>
              <a:t>📷 4b1-child-drawing.jpg</a:t>
            </a:r>
            <a:endParaRPr lang="en-US" sz="9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5"/>
                                        </p:tgtEl>
                                        <p:attrNameLst>
                                          <p:attrName>style.visibility</p:attrName>
                                        </p:attrNameLst>
                                      </p:cBhvr>
                                      <p:to>
                                        <p:strVal val="visible"/>
                                      </p:to>
                                    </p:set>
                                    <p:animEffect transition="in" filter="fade">
                                      <p:cBhvr>
                                        <p:cTn id="7" dur="400"/>
                                        <p:tgtEl>
                                          <p:spTgt spid="2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7"/>
                                        </p:tgtEl>
                                        <p:attrNameLst>
                                          <p:attrName>style.visibility</p:attrName>
                                        </p:attrNameLst>
                                      </p:cBhvr>
                                      <p:to>
                                        <p:strVal val="visible"/>
                                      </p:to>
                                    </p:set>
                                    <p:animEffect transition="in" filter="fade">
                                      <p:cBhvr>
                                        <p:cTn id="12" dur="400"/>
                                        <p:tgtEl>
                                          <p:spTgt spid="27"/>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9"/>
                                        </p:tgtEl>
                                        <p:attrNameLst>
                                          <p:attrName>style.visibility</p:attrName>
                                        </p:attrNameLst>
                                      </p:cBhvr>
                                      <p:to>
                                        <p:strVal val="visible"/>
                                      </p:to>
                                    </p:set>
                                    <p:animEffect transition="in" filter="fade">
                                      <p:cBhvr>
                                        <p:cTn id="17" dur="400"/>
                                        <p:tgtEl>
                                          <p:spTgt spid="29"/>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1"/>
                                        </p:tgtEl>
                                        <p:attrNameLst>
                                          <p:attrName>style.visibility</p:attrName>
                                        </p:attrNameLst>
                                      </p:cBhvr>
                                      <p:to>
                                        <p:strVal val="visible"/>
                                      </p:to>
                                    </p:set>
                                    <p:animEffect transition="in" filter="fade">
                                      <p:cBhvr>
                                        <p:cTn id="22" dur="400"/>
                                        <p:tgtEl>
                                          <p:spTgt spid="3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3"/>
                                        </p:tgtEl>
                                        <p:attrNameLst>
                                          <p:attrName>style.visibility</p:attrName>
                                        </p:attrNameLst>
                                      </p:cBhvr>
                                      <p:to>
                                        <p:strVal val="visible"/>
                                      </p:to>
                                    </p:set>
                                    <p:animEffect transition="in" filter="fade">
                                      <p:cBhvr>
                                        <p:cTn id="27" dur="400"/>
                                        <p:tgtEl>
                                          <p:spTgt spid="33"/>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5"/>
                                        </p:tgtEl>
                                        <p:attrNameLst>
                                          <p:attrName>style.visibility</p:attrName>
                                        </p:attrNameLst>
                                      </p:cBhvr>
                                      <p:to>
                                        <p:strVal val="visible"/>
                                      </p:to>
                                    </p:set>
                                    <p:animEffect transition="in" filter="fade">
                                      <p:cBhvr>
                                        <p:cTn id="32"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40"/>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11</a:t>
            </a:r>
            <a:endParaRPr lang="en-US" sz="2200" dirty="0"/>
          </a:p>
        </p:txBody>
      </p:sp>
      <p:pic>
        <p:nvPicPr>
          <p:cNvPr id="4" name="brY_341" descr="/home/claude/lls-course/v2/assets/brush-yellow.png">    </p:cNvPr>
          <p:cNvPicPr>
            <a:picLocks noChangeAspect="1"/>
          </p:cNvPicPr>
          <p:nvPr/>
        </p:nvPicPr>
        <p:blipFill>
          <a:blip r:embed="rId2"/>
          <a:stretch>
            <a:fillRect/>
          </a:stretch>
        </p:blipFill>
        <p:spPr>
          <a:xfrm>
            <a:off x="1097280" y="146304"/>
            <a:ext cx="3090672" cy="621792"/>
          </a:xfrm>
          <a:prstGeom prst="rect">
            <a:avLst/>
          </a:prstGeom>
        </p:spPr>
      </p:pic>
      <p:sp>
        <p:nvSpPr>
          <p:cNvPr id="5" name="title_342"/>
          <p:cNvSpPr/>
          <p:nvPr/>
        </p:nvSpPr>
        <p:spPr>
          <a:xfrm>
            <a:off x="1261872" y="164592"/>
            <a:ext cx="281635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Beat the clock!</a:t>
            </a:r>
            <a:endParaRPr lang="en-US" sz="2500" dirty="0"/>
          </a:p>
        </p:txBody>
      </p:sp>
      <p:pic>
        <p:nvPicPr>
          <p:cNvPr id="6" name="brP_343" descr="/home/claude/lls-course/v2/assets/brush-pink.png">    </p:cNvPr>
          <p:cNvPicPr>
            <a:picLocks noChangeAspect="1"/>
          </p:cNvPicPr>
          <p:nvPr/>
        </p:nvPicPr>
        <p:blipFill>
          <a:blip r:embed="rId3"/>
          <a:stretch>
            <a:fillRect/>
          </a:stretch>
        </p:blipFill>
        <p:spPr>
          <a:xfrm>
            <a:off x="1207008" y="731520"/>
            <a:ext cx="4032504" cy="402336"/>
          </a:xfrm>
          <a:prstGeom prst="rect">
            <a:avLst/>
          </a:prstGeom>
        </p:spPr>
      </p:pic>
      <p:sp>
        <p:nvSpPr>
          <p:cNvPr id="7" name="ins_344"/>
          <p:cNvSpPr/>
          <p:nvPr/>
        </p:nvSpPr>
        <p:spPr>
          <a:xfrm>
            <a:off x="1353312" y="731520"/>
            <a:ext cx="377647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Complete the sentence. Beat the clock!</a:t>
            </a:r>
            <a:endParaRPr lang="en-US" sz="1250" dirty="0"/>
          </a:p>
        </p:txBody>
      </p:sp>
      <p:sp>
        <p:nvSpPr>
          <p:cNvPr id="8" name="insIT_345"/>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Completa la frase. Batti il tempo!</a:t>
            </a:r>
            <a:endParaRPr lang="en-US" sz="950" dirty="0"/>
          </a:p>
        </p:txBody>
      </p:sp>
      <p:sp>
        <p:nvSpPr>
          <p:cNvPr id="9" name="cmd_346"/>
          <p:cNvSpPr/>
          <p:nvPr/>
        </p:nvSpPr>
        <p:spPr>
          <a:xfrm>
            <a:off x="6510528" y="182880"/>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PLAY</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GIOCA</a:t>
            </a:r>
            <a:endParaRPr lang="en-US" sz="1100" dirty="0"/>
          </a:p>
        </p:txBody>
      </p:sp>
      <p:sp>
        <p:nvSpPr>
          <p:cNvPr id="10" name="cmd_347"/>
          <p:cNvSpPr/>
          <p:nvPr/>
        </p:nvSpPr>
        <p:spPr>
          <a:xfrm>
            <a:off x="6510528" y="566928"/>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800" dirty="0">
                <a:solidFill>
                  <a:srgbClr val="000000"/>
                </a:solidFill>
              </a:rPr>
              <a:t>✏️ </a:t>
            </a:r>
            <a:pPr indent="0" marL="0">
              <a:buNone/>
            </a:pPr>
            <a:r>
              <a:rPr lang="en-US" sz="900" dirty="0">
                <a:solidFill>
                  <a:srgbClr val="F2B705"/>
                </a:solidFill>
                <a:latin typeface="Arial Rounded MT Bold" pitchFamily="34" charset="0"/>
                <a:ea typeface="Arial Rounded MT Bold" pitchFamily="34" charset="-122"/>
                <a:cs typeface="Arial Rounded MT Bold" pitchFamily="34" charset="-120"/>
              </a:rPr>
              <a:t>FILL THE GAPS</a:t>
            </a:r>
            <a:pPr indent="0" marL="0">
              <a:buNone/>
            </a:pPr>
            <a:r>
              <a:rPr lang="en-US" sz="700" dirty="0">
                <a:solidFill>
                  <a:srgbClr val="5B6785"/>
                </a:solidFill>
                <a:latin typeface="Segoe UI Semibold" pitchFamily="34" charset="0"/>
                <a:ea typeface="Segoe UI Semibold" pitchFamily="34" charset="-122"/>
                <a:cs typeface="Segoe UI Semibold" pitchFamily="34" charset="-120"/>
              </a:rPr>
              <a:t>  COMPLETA</a:t>
            </a:r>
            <a:endParaRPr lang="en-US" sz="800" dirty="0"/>
          </a:p>
        </p:txBody>
      </p:sp>
      <p:sp>
        <p:nvSpPr>
          <p:cNvPr id="11" name="meta_348"/>
          <p:cNvSpPr/>
          <p:nvPr/>
        </p:nvSpPr>
        <p:spPr>
          <a:xfrm>
            <a:off x="6583680" y="950976"/>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teams</a:t>
            </a:r>
            <a:endParaRPr lang="en-US" sz="950" dirty="0"/>
          </a:p>
        </p:txBody>
      </p:sp>
      <p:sp>
        <p:nvSpPr>
          <p:cNvPr id="12" name="tag_349"/>
          <p:cNvSpPr/>
          <p:nvPr/>
        </p:nvSpPr>
        <p:spPr>
          <a:xfrm>
            <a:off x="6510528" y="1188720"/>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Grammar</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Communicative game</a:t>
            </a:r>
            <a:endParaRPr lang="en-US" sz="850" dirty="0"/>
          </a:p>
        </p:txBody>
      </p:sp>
      <p:pic>
        <p:nvPicPr>
          <p:cNvPr id="13" name="logo_350"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351"/>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4B-1 · Grammar game   ·   📖 Grammar Bank 4B p.139 · b 1–5 (b 6–10 = homework)</a:t>
            </a:r>
            <a:endParaRPr lang="en-US" sz="800" dirty="0"/>
          </a:p>
        </p:txBody>
      </p:sp>
      <p:sp>
        <p:nvSpPr>
          <p:cNvPr id="15" name="cd_352"/>
          <p:cNvSpPr/>
          <p:nvPr/>
        </p:nvSpPr>
        <p:spPr>
          <a:xfrm>
            <a:off x="320040" y="1417320"/>
            <a:ext cx="2697480" cy="2194560"/>
          </a:xfrm>
          <a:prstGeom prst="roundRect">
            <a:avLst>
              <a:gd name="adj" fmla="val 5833"/>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6" name="ii_353"/>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7" name="ih_354"/>
          <p:cNvSpPr/>
          <p:nvPr/>
        </p:nvSpPr>
        <p:spPr>
          <a:xfrm>
            <a:off x="886968" y="1508760"/>
            <a:ext cx="205740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How to play</a:t>
            </a:r>
            <a:endParaRPr lang="en-US" sz="1400" dirty="0"/>
          </a:p>
        </p:txBody>
      </p:sp>
      <p:sp>
        <p:nvSpPr>
          <p:cNvPr id="18" name="il_355"/>
          <p:cNvSpPr/>
          <p:nvPr/>
        </p:nvSpPr>
        <p:spPr>
          <a:xfrm>
            <a:off x="886968" y="1892808"/>
            <a:ext cx="2039112" cy="1645920"/>
          </a:xfrm>
          <a:prstGeom prst="rect">
            <a:avLst/>
          </a:prstGeom>
          <a:noFill/>
          <a:ln/>
        </p:spPr>
        <p:txBody>
          <a:bodyPr wrap="square" lIns="0" tIns="0" rIns="0" bIns="0" rtlCol="0" anchor="t">
            <a:normAutofit/>
          </a:bodyPr>
          <a:lstStyle/>
          <a:p>
            <a:pPr marL="190500" indent="-190500">
              <a:spcAft>
                <a:spcPts val="200"/>
              </a:spcAft>
              <a:buSzPct val="100000"/>
              <a:buChar char="1"/>
            </a:pPr>
            <a:r>
              <a:rPr lang="en-US" sz="1000" dirty="0">
                <a:solidFill>
                  <a:srgbClr val="1B2559"/>
                </a:solidFill>
                <a:latin typeface="Segoe UI" pitchFamily="34" charset="0"/>
                <a:ea typeface="Segoe UI" pitchFamily="34" charset="-122"/>
                <a:cs typeface="Segoe UI" pitchFamily="34" charset="-120"/>
              </a:rPr>
              <a:t>Read the sentence. 15 seconds!</a:t>
            </a:r>
            <a:endParaRPr lang="en-US" sz="1000" dirty="0"/>
          </a:p>
          <a:p>
            <a:pPr marL="190500" indent="-190500">
              <a:spcAft>
                <a:spcPts val="200"/>
              </a:spcAft>
              <a:buSzPct val="100000"/>
              <a:buChar char="​"/>
            </a:pPr>
            <a:r>
              <a:rPr lang="en-US" sz="900" i="1" dirty="0">
                <a:solidFill>
                  <a:srgbClr val="5B6785"/>
                </a:solidFill>
                <a:latin typeface="Segoe UI" pitchFamily="34" charset="0"/>
                <a:ea typeface="Segoe UI" pitchFamily="34" charset="-122"/>
                <a:cs typeface="Segoe UI" pitchFamily="34" charset="-120"/>
              </a:rPr>
              <a:t>Leggi la frase. 15 secondi!</a:t>
            </a:r>
            <a:endParaRPr lang="en-US" sz="1000" dirty="0"/>
          </a:p>
          <a:p>
            <a:pPr marL="190500" indent="-190500">
              <a:spcBef>
                <a:spcPts val="500"/>
              </a:spcBef>
              <a:spcAft>
                <a:spcPts val="200"/>
              </a:spcAft>
              <a:buSzPct val="100000"/>
              <a:buChar char="2"/>
            </a:pPr>
            <a:r>
              <a:rPr lang="en-US" sz="1000" dirty="0">
                <a:solidFill>
                  <a:srgbClr val="1B2559"/>
                </a:solidFill>
                <a:latin typeface="Segoe UI" pitchFamily="34" charset="0"/>
                <a:ea typeface="Segoe UI" pitchFamily="34" charset="-122"/>
                <a:cs typeface="Segoe UI" pitchFamily="34" charset="-120"/>
              </a:rPr>
              <a:t>Teams: write the missing words.</a:t>
            </a:r>
            <a:endParaRPr lang="en-US" sz="1000" dirty="0"/>
          </a:p>
          <a:p>
            <a:pPr marL="190500" indent="-190500">
              <a:spcAft>
                <a:spcPts val="200"/>
              </a:spcAft>
              <a:buSzPct val="100000"/>
              <a:buChar char="​"/>
            </a:pPr>
            <a:r>
              <a:rPr lang="en-US" sz="900" i="1" dirty="0">
                <a:solidFill>
                  <a:srgbClr val="5B6785"/>
                </a:solidFill>
                <a:latin typeface="Segoe UI" pitchFamily="34" charset="0"/>
                <a:ea typeface="Segoe UI" pitchFamily="34" charset="-122"/>
                <a:cs typeface="Segoe UI" pitchFamily="34" charset="-120"/>
              </a:rPr>
              <a:t>Squadre: scrivete le parole mancanti.</a:t>
            </a:r>
            <a:endParaRPr lang="en-US" sz="1000" dirty="0"/>
          </a:p>
          <a:p>
            <a:pPr marL="190500" indent="-190500">
              <a:spcBef>
                <a:spcPts val="500"/>
              </a:spcBef>
              <a:spcAft>
                <a:spcPts val="200"/>
              </a:spcAft>
              <a:buSzPct val="100000"/>
              <a:buChar char="3"/>
            </a:pPr>
            <a:r>
              <a:rPr lang="en-US" sz="1000" dirty="0">
                <a:solidFill>
                  <a:srgbClr val="1B2559"/>
                </a:solidFill>
                <a:latin typeface="Segoe UI" pitchFamily="34" charset="0"/>
                <a:ea typeface="Segoe UI" pitchFamily="34" charset="-122"/>
                <a:cs typeface="Segoe UI" pitchFamily="34" charset="-120"/>
              </a:rPr>
              <a:t>Right form = 1 point.</a:t>
            </a:r>
            <a:endParaRPr lang="en-US" sz="1000" dirty="0"/>
          </a:p>
          <a:p>
            <a:pPr marL="190500" indent="-190500">
              <a:spcAft>
                <a:spcPts val="200"/>
              </a:spcAft>
              <a:buSzPct val="100000"/>
              <a:buChar char="​"/>
            </a:pPr>
            <a:r>
              <a:rPr lang="en-US" sz="900" i="1" dirty="0">
                <a:solidFill>
                  <a:srgbClr val="5B6785"/>
                </a:solidFill>
                <a:latin typeface="Segoe UI" pitchFamily="34" charset="0"/>
                <a:ea typeface="Segoe UI" pitchFamily="34" charset="-122"/>
                <a:cs typeface="Segoe UI" pitchFamily="34" charset="-120"/>
              </a:rPr>
              <a:t>Forma giusta = 1 punto.</a:t>
            </a:r>
            <a:endParaRPr lang="en-US" sz="1000" dirty="0"/>
          </a:p>
        </p:txBody>
      </p:sp>
      <p:sp>
        <p:nvSpPr>
          <p:cNvPr id="19" name="st_356"/>
          <p:cNvSpPr/>
          <p:nvPr/>
        </p:nvSpPr>
        <p:spPr>
          <a:xfrm rot="-180000">
            <a:off x="502920" y="3703320"/>
            <a:ext cx="2286000" cy="777240"/>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TEAM A  ☆☆☆☆☆</a:t>
            </a:r>
            <a:endParaRPr lang="en-US" sz="1250" dirty="0"/>
          </a:p>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TEAM B  ☆☆☆☆☆</a:t>
            </a:r>
            <a:endParaRPr lang="en-US" sz="1250" dirty="0"/>
          </a:p>
        </p:txBody>
      </p:sp>
      <p:sp>
        <p:nvSpPr>
          <p:cNvPr id="20" name="bd_357"/>
          <p:cNvSpPr/>
          <p:nvPr/>
        </p:nvSpPr>
        <p:spPr>
          <a:xfrm>
            <a:off x="3246120" y="1491234"/>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1" name="gq_358"/>
          <p:cNvSpPr/>
          <p:nvPr/>
        </p:nvSpPr>
        <p:spPr>
          <a:xfrm>
            <a:off x="3657600" y="1417320"/>
            <a:ext cx="2514600" cy="477012"/>
          </a:xfrm>
          <a:prstGeom prst="roundRect">
            <a:avLst>
              <a:gd name="adj" fmla="val 19169"/>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My mobile has been off all morning, so I haven't ___ talk to her yet.</a:t>
            </a:r>
            <a:endParaRPr lang="en-US" sz="950" dirty="0"/>
          </a:p>
        </p:txBody>
      </p:sp>
      <p:sp>
        <p:nvSpPr>
          <p:cNvPr id="22" name="R1_chip359"/>
          <p:cNvSpPr/>
          <p:nvPr/>
        </p:nvSpPr>
        <p:spPr>
          <a:xfrm>
            <a:off x="6263640" y="141732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been able to</a:t>
            </a:r>
            <a:endParaRPr lang="en-US" sz="1100" dirty="0"/>
          </a:p>
        </p:txBody>
      </p:sp>
      <p:sp>
        <p:nvSpPr>
          <p:cNvPr id="23" name="bd_360"/>
          <p:cNvSpPr/>
          <p:nvPr/>
        </p:nvSpPr>
        <p:spPr>
          <a:xfrm>
            <a:off x="3246120" y="2032254"/>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4" name="gq_361"/>
          <p:cNvSpPr/>
          <p:nvPr/>
        </p:nvSpPr>
        <p:spPr>
          <a:xfrm>
            <a:off x="3657600" y="1958340"/>
            <a:ext cx="2514600" cy="477012"/>
          </a:xfrm>
          <a:prstGeom prst="roundRect">
            <a:avLst>
              <a:gd name="adj" fmla="val 19169"/>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I like ___ have a conversation without shouting.</a:t>
            </a:r>
            <a:endParaRPr lang="en-US" sz="1100" dirty="0"/>
          </a:p>
        </p:txBody>
      </p:sp>
      <p:sp>
        <p:nvSpPr>
          <p:cNvPr id="25" name="R2_chip362"/>
          <p:cNvSpPr/>
          <p:nvPr/>
        </p:nvSpPr>
        <p:spPr>
          <a:xfrm>
            <a:off x="6263640" y="195834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being able to / to be able to</a:t>
            </a:r>
            <a:endParaRPr lang="en-US" sz="1100" dirty="0"/>
          </a:p>
        </p:txBody>
      </p:sp>
      <p:sp>
        <p:nvSpPr>
          <p:cNvPr id="26" name="bd_363"/>
          <p:cNvSpPr/>
          <p:nvPr/>
        </p:nvSpPr>
        <p:spPr>
          <a:xfrm>
            <a:off x="3246120" y="257327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7" name="gq_364"/>
          <p:cNvSpPr/>
          <p:nvPr/>
        </p:nvSpPr>
        <p:spPr>
          <a:xfrm>
            <a:off x="3657600" y="2499360"/>
            <a:ext cx="2514600" cy="477012"/>
          </a:xfrm>
          <a:prstGeom prst="roundRect">
            <a:avLst>
              <a:gd name="adj" fmla="val 19169"/>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I ___ leave home when I get a job.</a:t>
            </a:r>
            <a:endParaRPr lang="en-US" sz="1100" dirty="0"/>
          </a:p>
        </p:txBody>
      </p:sp>
      <p:sp>
        <p:nvSpPr>
          <p:cNvPr id="28" name="R3_chip365"/>
          <p:cNvSpPr/>
          <p:nvPr/>
        </p:nvSpPr>
        <p:spPr>
          <a:xfrm>
            <a:off x="6263640" y="249936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will / 'll be able to</a:t>
            </a:r>
            <a:endParaRPr lang="en-US" sz="1100" dirty="0"/>
          </a:p>
        </p:txBody>
      </p:sp>
      <p:sp>
        <p:nvSpPr>
          <p:cNvPr id="29" name="bd_366"/>
          <p:cNvSpPr/>
          <p:nvPr/>
        </p:nvSpPr>
        <p:spPr>
          <a:xfrm>
            <a:off x="3246120" y="3114294"/>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30" name="gq_367"/>
          <p:cNvSpPr/>
          <p:nvPr/>
        </p:nvSpPr>
        <p:spPr>
          <a:xfrm>
            <a:off x="3657600" y="3040380"/>
            <a:ext cx="2514600" cy="477012"/>
          </a:xfrm>
          <a:prstGeom prst="roundRect">
            <a:avLst>
              <a:gd name="adj" fmla="val 19169"/>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___ you ___ come to the party? (future)</a:t>
            </a:r>
            <a:endParaRPr lang="en-US" sz="1100" dirty="0"/>
          </a:p>
        </p:txBody>
      </p:sp>
      <p:sp>
        <p:nvSpPr>
          <p:cNvPr id="31" name="R4_chip368"/>
          <p:cNvSpPr/>
          <p:nvPr/>
        </p:nvSpPr>
        <p:spPr>
          <a:xfrm>
            <a:off x="6263640" y="304038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Will … be able to</a:t>
            </a:r>
            <a:endParaRPr lang="en-US" sz="1100" dirty="0"/>
          </a:p>
        </p:txBody>
      </p:sp>
      <p:sp>
        <p:nvSpPr>
          <p:cNvPr id="32" name="bd_369"/>
          <p:cNvSpPr/>
          <p:nvPr/>
        </p:nvSpPr>
        <p:spPr>
          <a:xfrm>
            <a:off x="3246120" y="3655314"/>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33" name="gq_370"/>
          <p:cNvSpPr/>
          <p:nvPr/>
        </p:nvSpPr>
        <p:spPr>
          <a:xfrm>
            <a:off x="3657600" y="3581400"/>
            <a:ext cx="2514600" cy="477012"/>
          </a:xfrm>
          <a:prstGeom prst="roundRect">
            <a:avLst>
              <a:gd name="adj" fmla="val 19169"/>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You need ___ swim before you can go in a canoe.</a:t>
            </a:r>
            <a:endParaRPr lang="en-US" sz="1100" dirty="0"/>
          </a:p>
        </p:txBody>
      </p:sp>
      <p:sp>
        <p:nvSpPr>
          <p:cNvPr id="34" name="R5_chip371"/>
          <p:cNvSpPr/>
          <p:nvPr/>
        </p:nvSpPr>
        <p:spPr>
          <a:xfrm>
            <a:off x="6263640" y="358140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to be able to</a:t>
            </a:r>
            <a:endParaRPr lang="en-US" sz="1100" dirty="0"/>
          </a:p>
        </p:txBody>
      </p:sp>
      <p:sp>
        <p:nvSpPr>
          <p:cNvPr id="35" name="bd_372"/>
          <p:cNvSpPr/>
          <p:nvPr/>
        </p:nvSpPr>
        <p:spPr>
          <a:xfrm>
            <a:off x="3246120" y="4196334"/>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6</a:t>
            </a:r>
            <a:endParaRPr lang="en-US" sz="1100" dirty="0"/>
          </a:p>
        </p:txBody>
      </p:sp>
      <p:sp>
        <p:nvSpPr>
          <p:cNvPr id="36" name="gq_373"/>
          <p:cNvSpPr/>
          <p:nvPr/>
        </p:nvSpPr>
        <p:spPr>
          <a:xfrm>
            <a:off x="3657600" y="4122420"/>
            <a:ext cx="2514600" cy="477012"/>
          </a:xfrm>
          <a:prstGeom prst="roundRect">
            <a:avLst>
              <a:gd name="adj" fmla="val 19169"/>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When I was a child, I ___ draw really well.</a:t>
            </a:r>
            <a:endParaRPr lang="en-US" sz="1100" dirty="0"/>
          </a:p>
        </p:txBody>
      </p:sp>
      <p:sp>
        <p:nvSpPr>
          <p:cNvPr id="37" name="R6_chip374"/>
          <p:cNvSpPr/>
          <p:nvPr/>
        </p:nvSpPr>
        <p:spPr>
          <a:xfrm>
            <a:off x="6263640" y="412242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could</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400"/>
                                        <p:tgtEl>
                                          <p:spTgt spid="2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5"/>
                                        </p:tgtEl>
                                        <p:attrNameLst>
                                          <p:attrName>style.visibility</p:attrName>
                                        </p:attrNameLst>
                                      </p:cBhvr>
                                      <p:to>
                                        <p:strVal val="visible"/>
                                      </p:to>
                                    </p:set>
                                    <p:animEffect transition="in" filter="fade">
                                      <p:cBhvr>
                                        <p:cTn id="12" dur="400"/>
                                        <p:tgtEl>
                                          <p:spTgt spid="2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8"/>
                                        </p:tgtEl>
                                        <p:attrNameLst>
                                          <p:attrName>style.visibility</p:attrName>
                                        </p:attrNameLst>
                                      </p:cBhvr>
                                      <p:to>
                                        <p:strVal val="visible"/>
                                      </p:to>
                                    </p:set>
                                    <p:animEffect transition="in" filter="fade">
                                      <p:cBhvr>
                                        <p:cTn id="17" dur="400"/>
                                        <p:tgtEl>
                                          <p:spTgt spid="28"/>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1"/>
                                        </p:tgtEl>
                                        <p:attrNameLst>
                                          <p:attrName>style.visibility</p:attrName>
                                        </p:attrNameLst>
                                      </p:cBhvr>
                                      <p:to>
                                        <p:strVal val="visible"/>
                                      </p:to>
                                    </p:set>
                                    <p:animEffect transition="in" filter="fade">
                                      <p:cBhvr>
                                        <p:cTn id="22" dur="400"/>
                                        <p:tgtEl>
                                          <p:spTgt spid="3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4"/>
                                        </p:tgtEl>
                                        <p:attrNameLst>
                                          <p:attrName>style.visibility</p:attrName>
                                        </p:attrNameLst>
                                      </p:cBhvr>
                                      <p:to>
                                        <p:strVal val="visible"/>
                                      </p:to>
                                    </p:set>
                                    <p:animEffect transition="in" filter="fade">
                                      <p:cBhvr>
                                        <p:cTn id="27" dur="400"/>
                                        <p:tgtEl>
                                          <p:spTgt spid="34"/>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7"/>
                                        </p:tgtEl>
                                        <p:attrNameLst>
                                          <p:attrName>style.visibility</p:attrName>
                                        </p:attrNameLst>
                                      </p:cBhvr>
                                      <p:to>
                                        <p:strVal val="visible"/>
                                      </p:to>
                                    </p:set>
                                    <p:animEffect transition="in" filter="fade">
                                      <p:cBhvr>
                                        <p:cTn id="32" dur="400"/>
                                        <p:tgtEl>
                                          <p:spTgt spid="3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75"/>
          <p:cNvSpPr/>
          <p:nvPr/>
        </p:nvSpPr>
        <p:spPr>
          <a:xfrm>
            <a:off x="201168" y="164592"/>
            <a:ext cx="841248" cy="841248"/>
          </a:xfrm>
          <a:prstGeom prst="ellipse">
            <a:avLst/>
          </a:prstGeom>
          <a:solidFill>
            <a:srgbClr val="7B5CD6"/>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12</a:t>
            </a:r>
            <a:endParaRPr lang="en-US" sz="2200" dirty="0"/>
          </a:p>
        </p:txBody>
      </p:sp>
      <p:pic>
        <p:nvPicPr>
          <p:cNvPr id="4" name="brY_376" descr="/home/claude/lls-course/v2/assets/brush-yellow.png">    </p:cNvPr>
          <p:cNvPicPr>
            <a:picLocks noChangeAspect="1"/>
          </p:cNvPicPr>
          <p:nvPr/>
        </p:nvPicPr>
        <p:blipFill>
          <a:blip r:embed="rId2"/>
          <a:stretch>
            <a:fillRect/>
          </a:stretch>
        </p:blipFill>
        <p:spPr>
          <a:xfrm>
            <a:off x="1097280" y="146304"/>
            <a:ext cx="3562502" cy="621792"/>
          </a:xfrm>
          <a:prstGeom prst="rect">
            <a:avLst/>
          </a:prstGeom>
        </p:spPr>
      </p:pic>
      <p:sp>
        <p:nvSpPr>
          <p:cNvPr id="5" name="title_377"/>
          <p:cNvSpPr/>
          <p:nvPr/>
        </p:nvSpPr>
        <p:spPr>
          <a:xfrm>
            <a:off x="1261872" y="164592"/>
            <a:ext cx="328818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Hear the BIG words</a:t>
            </a:r>
            <a:endParaRPr lang="en-US" sz="2500" dirty="0"/>
          </a:p>
        </p:txBody>
      </p:sp>
      <p:pic>
        <p:nvPicPr>
          <p:cNvPr id="6" name="brP_378" descr="/home/claude/lls-course/v2/assets/brush-pink.png">    </p:cNvPr>
          <p:cNvPicPr>
            <a:picLocks noChangeAspect="1"/>
          </p:cNvPicPr>
          <p:nvPr/>
        </p:nvPicPr>
        <p:blipFill>
          <a:blip r:embed="rId3"/>
          <a:stretch>
            <a:fillRect/>
          </a:stretch>
        </p:blipFill>
        <p:spPr>
          <a:xfrm>
            <a:off x="1207008" y="731520"/>
            <a:ext cx="3598164" cy="402336"/>
          </a:xfrm>
          <a:prstGeom prst="rect">
            <a:avLst/>
          </a:prstGeom>
        </p:spPr>
      </p:pic>
      <p:sp>
        <p:nvSpPr>
          <p:cNvPr id="7" name="ins_379"/>
          <p:cNvSpPr/>
          <p:nvPr/>
        </p:nvSpPr>
        <p:spPr>
          <a:xfrm>
            <a:off x="1353312" y="731520"/>
            <a:ext cx="334213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Listen. Write only the BIG words.</a:t>
            </a:r>
            <a:endParaRPr lang="en-US" sz="1250" dirty="0"/>
          </a:p>
        </p:txBody>
      </p:sp>
      <p:sp>
        <p:nvSpPr>
          <p:cNvPr id="8" name="insIT_380"/>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Ascolta. Scrivi solo le parole forti.</a:t>
            </a:r>
            <a:endParaRPr lang="en-US" sz="950" dirty="0"/>
          </a:p>
        </p:txBody>
      </p:sp>
      <p:sp>
        <p:nvSpPr>
          <p:cNvPr id="9" name="cmd_381"/>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100" dirty="0"/>
          </a:p>
        </p:txBody>
      </p:sp>
      <p:sp>
        <p:nvSpPr>
          <p:cNvPr id="10" name="cmd_382"/>
          <p:cNvSpPr/>
          <p:nvPr/>
        </p:nvSpPr>
        <p:spPr>
          <a:xfrm>
            <a:off x="6510528" y="566928"/>
            <a:ext cx="1901952" cy="329184"/>
          </a:xfrm>
          <a:prstGeom prst="roundRect">
            <a:avLst>
              <a:gd name="adj" fmla="val 50000"/>
            </a:avLst>
          </a:prstGeom>
          <a:solidFill>
            <a:srgbClr val="FFFFFF"/>
          </a:solidFill>
          <a:ln w="25400">
            <a:solidFill>
              <a:srgbClr val="CDBFF3"/>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7B5CD6"/>
                </a:solidFill>
                <a:latin typeface="Arial Rounded MT Bold" pitchFamily="34" charset="0"/>
                <a:ea typeface="Arial Rounded MT Bold" pitchFamily="34" charset="-122"/>
                <a:cs typeface="Arial Rounded MT Bold" pitchFamily="34" charset="-120"/>
              </a:rPr>
              <a:t>SAY IT</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PRONUNCIA</a:t>
            </a:r>
            <a:endParaRPr lang="en-US" sz="1100" dirty="0"/>
          </a:p>
        </p:txBody>
      </p:sp>
      <p:sp>
        <p:nvSpPr>
          <p:cNvPr id="11" name="meta_383"/>
          <p:cNvSpPr/>
          <p:nvPr/>
        </p:nvSpPr>
        <p:spPr>
          <a:xfrm>
            <a:off x="6583680" y="950976"/>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sp>
        <p:nvSpPr>
          <p:cNvPr id="12" name="tag_384"/>
          <p:cNvSpPr/>
          <p:nvPr/>
        </p:nvSpPr>
        <p:spPr>
          <a:xfrm>
            <a:off x="6510528" y="1188720"/>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Pronunciation</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Drilling</a:t>
            </a:r>
            <a:endParaRPr lang="en-US" sz="850" dirty="0"/>
          </a:p>
        </p:txBody>
      </p:sp>
      <p:pic>
        <p:nvPicPr>
          <p:cNvPr id="13" name="logo_385"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386"/>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4B-1 · Pronunciation · sentence stress   ·   📖 SB p.41 · 2a, 2b, 2c · audio 4.15</a:t>
            </a:r>
            <a:endParaRPr lang="en-US" sz="800" dirty="0"/>
          </a:p>
        </p:txBody>
      </p:sp>
      <p:sp>
        <p:nvSpPr>
          <p:cNvPr id="15" name="ap_387"/>
          <p:cNvSpPr/>
          <p:nvPr/>
        </p:nvSpPr>
        <p:spPr>
          <a:xfrm>
            <a:off x="365760" y="1417320"/>
            <a:ext cx="2331720" cy="402336"/>
          </a:xfrm>
          <a:prstGeom prst="roundRect">
            <a:avLst>
              <a:gd name="adj" fmla="val 50000"/>
            </a:avLst>
          </a:prstGeom>
          <a:solidFill>
            <a:srgbClr val="E3F1FD"/>
          </a:solidFill>
          <a:ln w="19050">
            <a:solidFill>
              <a:srgbClr val="2F8DE4"/>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4.15  ·  pause after each sentence</a:t>
            </a:r>
            <a:endParaRPr lang="en-US" sz="1100" dirty="0"/>
          </a:p>
        </p:txBody>
      </p:sp>
      <p:sp>
        <p:nvSpPr>
          <p:cNvPr id="16" name="ah_388"/>
          <p:cNvSpPr/>
          <p:nvPr/>
        </p:nvSpPr>
        <p:spPr>
          <a:xfrm>
            <a:off x="5925312" y="4572000"/>
            <a:ext cx="1554480" cy="365760"/>
          </a:xfrm>
          <a:prstGeom prst="rect">
            <a:avLst/>
          </a:prstGeom>
          <a:noFill/>
          <a:ln/>
        </p:spPr>
        <p:txBody>
          <a:bodyPr wrap="square" lIns="0" tIns="0" rIns="0" bIns="0" rtlCol="0" anchor="ctr"/>
          <a:lstStyle/>
          <a:p>
            <a:pPr algn="r" indent="0" marL="0">
              <a:buNone/>
            </a:pPr>
            <a:r>
              <a:rPr lang="en-US" sz="950" b="1" dirty="0">
                <a:solidFill>
                  <a:srgbClr val="2F8DE4"/>
                </a:solidFill>
                <a:latin typeface="Segoe UI Semibold" pitchFamily="34" charset="0"/>
                <a:ea typeface="Segoe UI Semibold" pitchFamily="34" charset="-122"/>
                <a:cs typeface="Segoe UI Semibold" pitchFamily="34" charset="-120"/>
              </a:rPr>
              <a:t>▶ normal · 🐢 slower</a:t>
            </a:r>
            <a:endParaRPr lang="en-US" sz="950" dirty="0"/>
          </a:p>
        </p:txBody>
      </p:sp>
      <p:pic>
        <p:nvPicPr>
          <p:cNvPr id="17"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7525512" y="4553712"/>
            <a:ext cx="411480" cy="411480"/>
          </a:xfrm>
          <a:prstGeom prst="rect">
            <a:avLst/>
          </a:prstGeom>
        </p:spPr>
      </p:pic>
      <p:pic>
        <p:nvPicPr>
          <p:cNvPr id="18"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001000" y="4553712"/>
            <a:ext cx="411480" cy="411480"/>
          </a:xfrm>
          <a:prstGeom prst="rect">
            <a:avLst/>
          </a:prstGeom>
        </p:spPr>
      </p:pic>
      <p:sp>
        <p:nvSpPr>
          <p:cNvPr id="19" name="cd_389"/>
          <p:cNvSpPr/>
          <p:nvPr/>
        </p:nvSpPr>
        <p:spPr>
          <a:xfrm>
            <a:off x="320040" y="2011680"/>
            <a:ext cx="2743200" cy="1463040"/>
          </a:xfrm>
          <a:prstGeom prst="roundRect">
            <a:avLst>
              <a:gd name="adj" fmla="val 8750"/>
            </a:avLst>
          </a:prstGeom>
          <a:solidFill>
            <a:srgbClr val="EEE8FB"/>
          </a:solidFill>
          <a:ln w="19050">
            <a:solidFill>
              <a:srgbClr val="CDBFF3"/>
            </a:solidFill>
            <a:prstDash val="solid"/>
          </a:ln>
          <a:effectLst>
            <a:outerShdw sx="100000" sy="100000" kx="0" ky="0" algn="bl" rotWithShape="0" blurRad="88900" dist="31750" dir="5400000">
              <a:srgbClr val="1B2559">
                <a:alpha val="12000"/>
              </a:srgbClr>
            </a:outerShdw>
          </a:effectLst>
        </p:spPr>
      </p:sp>
      <p:sp>
        <p:nvSpPr>
          <p:cNvPr id="20" name="ii_390"/>
          <p:cNvSpPr/>
          <p:nvPr/>
        </p:nvSpPr>
        <p:spPr>
          <a:xfrm>
            <a:off x="411480" y="208483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1" name="ih_391"/>
          <p:cNvSpPr/>
          <p:nvPr/>
        </p:nvSpPr>
        <p:spPr>
          <a:xfrm>
            <a:off x="886968" y="2103120"/>
            <a:ext cx="2103120" cy="365760"/>
          </a:xfrm>
          <a:prstGeom prst="rect">
            <a:avLst/>
          </a:prstGeom>
          <a:noFill/>
          <a:ln/>
        </p:spPr>
        <p:txBody>
          <a:bodyPr wrap="square" lIns="0" tIns="0" rIns="0" bIns="0" rtlCol="0" anchor="ctr"/>
          <a:lstStyle/>
          <a:p>
            <a:pP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Big words = STRESSED</a:t>
            </a:r>
            <a:endParaRPr lang="en-US" sz="1250" dirty="0"/>
          </a:p>
        </p:txBody>
      </p:sp>
      <p:sp>
        <p:nvSpPr>
          <p:cNvPr id="22" name="il_392"/>
          <p:cNvSpPr/>
          <p:nvPr/>
        </p:nvSpPr>
        <p:spPr>
          <a:xfrm>
            <a:off x="886968" y="2487168"/>
            <a:ext cx="2084832" cy="91440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never · able · dance = strong</a:t>
            </a:r>
            <a:endParaRPr lang="en-US" sz="1050" dirty="0"/>
          </a:p>
          <a:p>
            <a:pPr marL="152400" indent="-152400">
              <a:spcBef>
                <a:spcPts val="500"/>
              </a:spcBef>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to · be · been = small, fast</a:t>
            </a:r>
            <a:endParaRPr lang="en-US" sz="1050" dirty="0"/>
          </a:p>
        </p:txBody>
      </p:sp>
      <p:sp>
        <p:nvSpPr>
          <p:cNvPr id="23" name="pf_393"/>
          <p:cNvSpPr/>
          <p:nvPr/>
        </p:nvSpPr>
        <p:spPr>
          <a:xfrm rot="-120000">
            <a:off x="777240" y="3611880"/>
            <a:ext cx="1828800" cy="1143000"/>
          </a:xfrm>
          <a:prstGeom prst="roundRect">
            <a:avLst>
              <a:gd name="adj" fmla="val 136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24" name="phx_394"/>
          <p:cNvSpPr/>
          <p:nvPr/>
        </p:nvSpPr>
        <p:spPr>
          <a:xfrm>
            <a:off x="822960" y="3657600"/>
            <a:ext cx="1737360" cy="105156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pitchFamily="34" charset="0"/>
                <a:ea typeface="Segoe UI" pitchFamily="34" charset="-122"/>
                <a:cs typeface="Segoe UI" pitchFamily="34" charset="-120"/>
              </a:rPr>
              <a:t>📷 4b1-salsa.jpg</a:t>
            </a:r>
            <a:endParaRPr lang="en-US" sz="900" dirty="0"/>
          </a:p>
        </p:txBody>
      </p:sp>
      <p:sp>
        <p:nvSpPr>
          <p:cNvPr id="25" name="bd_395"/>
          <p:cNvSpPr/>
          <p:nvPr/>
        </p:nvSpPr>
        <p:spPr>
          <a:xfrm>
            <a:off x="3291840" y="1444752"/>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6" name="R1_sw396"/>
          <p:cNvSpPr/>
          <p:nvPr/>
        </p:nvSpPr>
        <p:spPr>
          <a:xfrm>
            <a:off x="3749040" y="1417320"/>
            <a:ext cx="960120" cy="365760"/>
          </a:xfrm>
          <a:prstGeom prst="roundRect">
            <a:avLst>
              <a:gd name="adj" fmla="val 25000"/>
            </a:avLst>
          </a:prstGeom>
          <a:solidFill>
            <a:srgbClr val="FFE3EE"/>
          </a:solidFill>
          <a:ln w="19050">
            <a:solidFill>
              <a:srgbClr val="E8508F"/>
            </a:solidFill>
          </a:ln>
        </p:spPr>
        <p:txBody>
          <a:bodyPr wrap="square" lIns="0" tIns="0" rIns="0" bIns="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never</a:t>
            </a:r>
            <a:endParaRPr lang="en-US" sz="1150" dirty="0"/>
          </a:p>
        </p:txBody>
      </p:sp>
      <p:sp>
        <p:nvSpPr>
          <p:cNvPr id="27" name="R1_sw397"/>
          <p:cNvSpPr/>
          <p:nvPr/>
        </p:nvSpPr>
        <p:spPr>
          <a:xfrm>
            <a:off x="4773168" y="1417320"/>
            <a:ext cx="960120" cy="365760"/>
          </a:xfrm>
          <a:prstGeom prst="roundRect">
            <a:avLst>
              <a:gd name="adj" fmla="val 25000"/>
            </a:avLst>
          </a:prstGeom>
          <a:solidFill>
            <a:srgbClr val="FFE3EE"/>
          </a:solidFill>
          <a:ln w="19050">
            <a:solidFill>
              <a:srgbClr val="E8508F"/>
            </a:solidFill>
          </a:ln>
        </p:spPr>
        <p:txBody>
          <a:bodyPr wrap="square" lIns="0" tIns="0" rIns="0" bIns="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able</a:t>
            </a:r>
            <a:endParaRPr lang="en-US" sz="1150" dirty="0"/>
          </a:p>
        </p:txBody>
      </p:sp>
      <p:sp>
        <p:nvSpPr>
          <p:cNvPr id="28" name="R1_sw398"/>
          <p:cNvSpPr/>
          <p:nvPr/>
        </p:nvSpPr>
        <p:spPr>
          <a:xfrm>
            <a:off x="5797296" y="1417320"/>
            <a:ext cx="960120" cy="365760"/>
          </a:xfrm>
          <a:prstGeom prst="roundRect">
            <a:avLst>
              <a:gd name="adj" fmla="val 25000"/>
            </a:avLst>
          </a:prstGeom>
          <a:solidFill>
            <a:srgbClr val="FFE3EE"/>
          </a:solidFill>
          <a:ln w="19050">
            <a:solidFill>
              <a:srgbClr val="E8508F"/>
            </a:solidFill>
          </a:ln>
        </p:spPr>
        <p:txBody>
          <a:bodyPr wrap="square" lIns="0" tIns="0" rIns="0" bIns="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dance</a:t>
            </a:r>
            <a:endParaRPr lang="en-US" sz="1150" dirty="0"/>
          </a:p>
        </p:txBody>
      </p:sp>
      <p:sp>
        <p:nvSpPr>
          <p:cNvPr id="29" name="R2_sf399"/>
          <p:cNvSpPr/>
          <p:nvPr/>
        </p:nvSpPr>
        <p:spPr>
          <a:xfrm>
            <a:off x="3749040" y="1810512"/>
            <a:ext cx="5120640" cy="274320"/>
          </a:xfrm>
          <a:prstGeom prst="rect">
            <a:avLst/>
          </a:prstGeom>
          <a:noFill/>
          <a:ln/>
        </p:spPr>
        <p:txBody>
          <a:bodyPr wrap="square" lIns="0" tIns="0" rIns="0" bIns="0" rtlCol="0" anchor="ctr"/>
          <a:lstStyle/>
          <a:p>
            <a:pPr indent="0" marL="0">
              <a:buNone/>
            </a:pPr>
            <a:r>
              <a:rPr lang="en-US" sz="1100" i="1" dirty="0">
                <a:solidFill>
                  <a:srgbClr val="7B5CD6"/>
                </a:solidFill>
                <a:latin typeface="Segoe UI Semibold" pitchFamily="34" charset="0"/>
                <a:ea typeface="Segoe UI Semibold" pitchFamily="34" charset="-122"/>
                <a:cs typeface="Segoe UI Semibold" pitchFamily="34" charset="-120"/>
              </a:rPr>
              <a:t>He's never been able to dance.</a:t>
            </a:r>
            <a:endParaRPr lang="en-US" sz="1100" dirty="0"/>
          </a:p>
        </p:txBody>
      </p:sp>
      <p:sp>
        <p:nvSpPr>
          <p:cNvPr id="30" name="bd_400"/>
          <p:cNvSpPr/>
          <p:nvPr/>
        </p:nvSpPr>
        <p:spPr>
          <a:xfrm>
            <a:off x="3291840" y="2221992"/>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31" name="R3_sw401"/>
          <p:cNvSpPr/>
          <p:nvPr/>
        </p:nvSpPr>
        <p:spPr>
          <a:xfrm>
            <a:off x="3749040" y="2194560"/>
            <a:ext cx="960120" cy="365760"/>
          </a:xfrm>
          <a:prstGeom prst="roundRect">
            <a:avLst>
              <a:gd name="adj" fmla="val 25000"/>
            </a:avLst>
          </a:prstGeom>
          <a:solidFill>
            <a:srgbClr val="FFE3EE"/>
          </a:solidFill>
          <a:ln w="19050">
            <a:solidFill>
              <a:srgbClr val="E8508F"/>
            </a:solidFill>
          </a:ln>
        </p:spPr>
        <p:txBody>
          <a:bodyPr wrap="square" lIns="0" tIns="0" rIns="0" bIns="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won't</a:t>
            </a:r>
            <a:endParaRPr lang="en-US" sz="1150" dirty="0"/>
          </a:p>
        </p:txBody>
      </p:sp>
      <p:sp>
        <p:nvSpPr>
          <p:cNvPr id="32" name="R3_sw402"/>
          <p:cNvSpPr/>
          <p:nvPr/>
        </p:nvSpPr>
        <p:spPr>
          <a:xfrm>
            <a:off x="4773168" y="2194560"/>
            <a:ext cx="960120" cy="365760"/>
          </a:xfrm>
          <a:prstGeom prst="roundRect">
            <a:avLst>
              <a:gd name="adj" fmla="val 25000"/>
            </a:avLst>
          </a:prstGeom>
          <a:solidFill>
            <a:srgbClr val="FFE3EE"/>
          </a:solidFill>
          <a:ln w="19050">
            <a:solidFill>
              <a:srgbClr val="E8508F"/>
            </a:solidFill>
          </a:ln>
        </p:spPr>
        <p:txBody>
          <a:bodyPr wrap="square" lIns="0" tIns="0" rIns="0" bIns="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able</a:t>
            </a:r>
            <a:endParaRPr lang="en-US" sz="1150" dirty="0"/>
          </a:p>
        </p:txBody>
      </p:sp>
      <p:sp>
        <p:nvSpPr>
          <p:cNvPr id="33" name="R3_sw403"/>
          <p:cNvSpPr/>
          <p:nvPr/>
        </p:nvSpPr>
        <p:spPr>
          <a:xfrm>
            <a:off x="5797296" y="2194560"/>
            <a:ext cx="960120" cy="365760"/>
          </a:xfrm>
          <a:prstGeom prst="roundRect">
            <a:avLst>
              <a:gd name="adj" fmla="val 25000"/>
            </a:avLst>
          </a:prstGeom>
          <a:solidFill>
            <a:srgbClr val="FFE3EE"/>
          </a:solidFill>
          <a:ln w="19050">
            <a:solidFill>
              <a:srgbClr val="E8508F"/>
            </a:solidFill>
          </a:ln>
        </p:spPr>
        <p:txBody>
          <a:bodyPr wrap="square" lIns="0" tIns="0" rIns="0" bIns="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come</a:t>
            </a:r>
            <a:endParaRPr lang="en-US" sz="1150" dirty="0"/>
          </a:p>
        </p:txBody>
      </p:sp>
      <p:sp>
        <p:nvSpPr>
          <p:cNvPr id="34" name="R4_sf404"/>
          <p:cNvSpPr/>
          <p:nvPr/>
        </p:nvSpPr>
        <p:spPr>
          <a:xfrm>
            <a:off x="3749040" y="2587752"/>
            <a:ext cx="5120640" cy="274320"/>
          </a:xfrm>
          <a:prstGeom prst="rect">
            <a:avLst/>
          </a:prstGeom>
          <a:noFill/>
          <a:ln/>
        </p:spPr>
        <p:txBody>
          <a:bodyPr wrap="square" lIns="0" tIns="0" rIns="0" bIns="0" rtlCol="0" anchor="ctr"/>
          <a:lstStyle/>
          <a:p>
            <a:pPr indent="0" marL="0">
              <a:buNone/>
            </a:pPr>
            <a:r>
              <a:rPr lang="en-US" sz="1100" i="1" dirty="0">
                <a:solidFill>
                  <a:srgbClr val="7B5CD6"/>
                </a:solidFill>
                <a:latin typeface="Segoe UI Semibold" pitchFamily="34" charset="0"/>
                <a:ea typeface="Segoe UI Semibold" pitchFamily="34" charset="-122"/>
                <a:cs typeface="Segoe UI Semibold" pitchFamily="34" charset="-120"/>
              </a:rPr>
              <a:t>We won't be able to come.</a:t>
            </a:r>
            <a:endParaRPr lang="en-US" sz="1100" dirty="0"/>
          </a:p>
        </p:txBody>
      </p:sp>
      <p:sp>
        <p:nvSpPr>
          <p:cNvPr id="35" name="bd_405"/>
          <p:cNvSpPr/>
          <p:nvPr/>
        </p:nvSpPr>
        <p:spPr>
          <a:xfrm>
            <a:off x="3291840" y="2999232"/>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36" name="R5_sw406"/>
          <p:cNvSpPr/>
          <p:nvPr/>
        </p:nvSpPr>
        <p:spPr>
          <a:xfrm>
            <a:off x="3749040" y="2971800"/>
            <a:ext cx="960120" cy="365760"/>
          </a:xfrm>
          <a:prstGeom prst="roundRect">
            <a:avLst>
              <a:gd name="adj" fmla="val 25000"/>
            </a:avLst>
          </a:prstGeom>
          <a:solidFill>
            <a:srgbClr val="FFE3EE"/>
          </a:solidFill>
          <a:ln w="19050">
            <a:solidFill>
              <a:srgbClr val="E8508F"/>
            </a:solidFill>
          </a:ln>
        </p:spPr>
        <p:txBody>
          <a:bodyPr wrap="square" lIns="0" tIns="0" rIns="0" bIns="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love</a:t>
            </a:r>
            <a:endParaRPr lang="en-US" sz="1150" dirty="0"/>
          </a:p>
        </p:txBody>
      </p:sp>
      <p:sp>
        <p:nvSpPr>
          <p:cNvPr id="37" name="R5_sw407"/>
          <p:cNvSpPr/>
          <p:nvPr/>
        </p:nvSpPr>
        <p:spPr>
          <a:xfrm>
            <a:off x="4773168" y="2971800"/>
            <a:ext cx="960120" cy="365760"/>
          </a:xfrm>
          <a:prstGeom prst="roundRect">
            <a:avLst>
              <a:gd name="adj" fmla="val 25000"/>
            </a:avLst>
          </a:prstGeom>
          <a:solidFill>
            <a:srgbClr val="FFE3EE"/>
          </a:solidFill>
          <a:ln w="19050">
            <a:solidFill>
              <a:srgbClr val="E8508F"/>
            </a:solidFill>
          </a:ln>
        </p:spPr>
        <p:txBody>
          <a:bodyPr wrap="square" lIns="0" tIns="0" rIns="0" bIns="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able</a:t>
            </a:r>
            <a:endParaRPr lang="en-US" sz="1150" dirty="0"/>
          </a:p>
        </p:txBody>
      </p:sp>
      <p:sp>
        <p:nvSpPr>
          <p:cNvPr id="38" name="R5_sw408"/>
          <p:cNvSpPr/>
          <p:nvPr/>
        </p:nvSpPr>
        <p:spPr>
          <a:xfrm>
            <a:off x="5797296" y="2971800"/>
            <a:ext cx="960120" cy="365760"/>
          </a:xfrm>
          <a:prstGeom prst="roundRect">
            <a:avLst>
              <a:gd name="adj" fmla="val 25000"/>
            </a:avLst>
          </a:prstGeom>
          <a:solidFill>
            <a:srgbClr val="FFE3EE"/>
          </a:solidFill>
          <a:ln w="19050">
            <a:solidFill>
              <a:srgbClr val="E8508F"/>
            </a:solidFill>
          </a:ln>
        </p:spPr>
        <p:txBody>
          <a:bodyPr wrap="square" lIns="0" tIns="0" rIns="0" bIns="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ski</a:t>
            </a:r>
            <a:endParaRPr lang="en-US" sz="1150" dirty="0"/>
          </a:p>
        </p:txBody>
      </p:sp>
      <p:sp>
        <p:nvSpPr>
          <p:cNvPr id="39" name="R6_sf409"/>
          <p:cNvSpPr/>
          <p:nvPr/>
        </p:nvSpPr>
        <p:spPr>
          <a:xfrm>
            <a:off x="3749040" y="3364992"/>
            <a:ext cx="5120640" cy="274320"/>
          </a:xfrm>
          <a:prstGeom prst="rect">
            <a:avLst/>
          </a:prstGeom>
          <a:noFill/>
          <a:ln/>
        </p:spPr>
        <p:txBody>
          <a:bodyPr wrap="square" lIns="0" tIns="0" rIns="0" bIns="0" rtlCol="0" anchor="ctr"/>
          <a:lstStyle/>
          <a:p>
            <a:pPr indent="0" marL="0">
              <a:buNone/>
            </a:pPr>
            <a:r>
              <a:rPr lang="en-US" sz="1100" i="1" dirty="0">
                <a:solidFill>
                  <a:srgbClr val="7B5CD6"/>
                </a:solidFill>
                <a:latin typeface="Segoe UI Semibold" pitchFamily="34" charset="0"/>
                <a:ea typeface="Segoe UI Semibold" pitchFamily="34" charset="-122"/>
                <a:cs typeface="Segoe UI Semibold" pitchFamily="34" charset="-120"/>
              </a:rPr>
              <a:t>I'd love to be able to ski.</a:t>
            </a:r>
            <a:endParaRPr lang="en-US" sz="1100" dirty="0"/>
          </a:p>
        </p:txBody>
      </p:sp>
      <p:sp>
        <p:nvSpPr>
          <p:cNvPr id="40" name="bd_410"/>
          <p:cNvSpPr/>
          <p:nvPr/>
        </p:nvSpPr>
        <p:spPr>
          <a:xfrm>
            <a:off x="3291840" y="3776472"/>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41" name="R7_sw411"/>
          <p:cNvSpPr/>
          <p:nvPr/>
        </p:nvSpPr>
        <p:spPr>
          <a:xfrm>
            <a:off x="3749040" y="3749040"/>
            <a:ext cx="960120" cy="365760"/>
          </a:xfrm>
          <a:prstGeom prst="roundRect">
            <a:avLst>
              <a:gd name="adj" fmla="val 25000"/>
            </a:avLst>
          </a:prstGeom>
          <a:solidFill>
            <a:srgbClr val="FFE3EE"/>
          </a:solidFill>
          <a:ln w="19050">
            <a:solidFill>
              <a:srgbClr val="E8508F"/>
            </a:solidFill>
          </a:ln>
        </p:spPr>
        <p:txBody>
          <a:bodyPr wrap="square" lIns="0" tIns="0" rIns="0" bIns="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hates</a:t>
            </a:r>
            <a:endParaRPr lang="en-US" sz="1150" dirty="0"/>
          </a:p>
        </p:txBody>
      </p:sp>
      <p:sp>
        <p:nvSpPr>
          <p:cNvPr id="42" name="R7_sw412"/>
          <p:cNvSpPr/>
          <p:nvPr/>
        </p:nvSpPr>
        <p:spPr>
          <a:xfrm>
            <a:off x="4773168" y="3749040"/>
            <a:ext cx="960120" cy="365760"/>
          </a:xfrm>
          <a:prstGeom prst="roundRect">
            <a:avLst>
              <a:gd name="adj" fmla="val 25000"/>
            </a:avLst>
          </a:prstGeom>
          <a:solidFill>
            <a:srgbClr val="FFE3EE"/>
          </a:solidFill>
          <a:ln w="19050">
            <a:solidFill>
              <a:srgbClr val="E8508F"/>
            </a:solidFill>
          </a:ln>
        </p:spPr>
        <p:txBody>
          <a:bodyPr wrap="square" lIns="0" tIns="0" rIns="0" bIns="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able</a:t>
            </a:r>
            <a:endParaRPr lang="en-US" sz="1150" dirty="0"/>
          </a:p>
        </p:txBody>
      </p:sp>
      <p:sp>
        <p:nvSpPr>
          <p:cNvPr id="43" name="R7_sw413"/>
          <p:cNvSpPr/>
          <p:nvPr/>
        </p:nvSpPr>
        <p:spPr>
          <a:xfrm>
            <a:off x="5797296" y="3749040"/>
            <a:ext cx="960120" cy="365760"/>
          </a:xfrm>
          <a:prstGeom prst="roundRect">
            <a:avLst>
              <a:gd name="adj" fmla="val 25000"/>
            </a:avLst>
          </a:prstGeom>
          <a:solidFill>
            <a:srgbClr val="FFE3EE"/>
          </a:solidFill>
          <a:ln w="19050">
            <a:solidFill>
              <a:srgbClr val="E8508F"/>
            </a:solidFill>
          </a:ln>
        </p:spPr>
        <p:txBody>
          <a:bodyPr wrap="square" lIns="0" tIns="0" rIns="0" bIns="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drive</a:t>
            </a:r>
            <a:endParaRPr lang="en-US" sz="1150" dirty="0"/>
          </a:p>
        </p:txBody>
      </p:sp>
      <p:sp>
        <p:nvSpPr>
          <p:cNvPr id="44" name="R8_sf414"/>
          <p:cNvSpPr/>
          <p:nvPr/>
        </p:nvSpPr>
        <p:spPr>
          <a:xfrm>
            <a:off x="3749040" y="4142232"/>
            <a:ext cx="5120640" cy="274320"/>
          </a:xfrm>
          <a:prstGeom prst="rect">
            <a:avLst/>
          </a:prstGeom>
          <a:noFill/>
          <a:ln/>
        </p:spPr>
        <p:txBody>
          <a:bodyPr wrap="square" lIns="0" tIns="0" rIns="0" bIns="0" rtlCol="0" anchor="ctr"/>
          <a:lstStyle/>
          <a:p>
            <a:pPr indent="0" marL="0">
              <a:buNone/>
            </a:pPr>
            <a:r>
              <a:rPr lang="en-US" sz="1100" i="1" dirty="0">
                <a:solidFill>
                  <a:srgbClr val="7B5CD6"/>
                </a:solidFill>
                <a:latin typeface="Segoe UI Semibold" pitchFamily="34" charset="0"/>
                <a:ea typeface="Segoe UI Semibold" pitchFamily="34" charset="-122"/>
                <a:cs typeface="Segoe UI Semibold" pitchFamily="34" charset="-120"/>
              </a:rPr>
              <a:t>She hates not being able to drive.</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6"/>
                                        </p:tgtEl>
                                        <p:attrNameLst>
                                          <p:attrName>style.visibility</p:attrName>
                                        </p:attrNameLst>
                                      </p:cBhvr>
                                      <p:to>
                                        <p:strVal val="visible"/>
                                      </p:to>
                                    </p:set>
                                    <p:animEffect transition="in" filter="fade">
                                      <p:cBhvr>
                                        <p:cTn id="7" dur="400"/>
                                        <p:tgtEl>
                                          <p:spTgt spid="26"/>
                                        </p:tgtEl>
                                      </p:cBhvr>
                                    </p:animEffect>
                                  </p:childTnLst>
                                </p:cTn>
                              </p:par>
                              <p:par>
                                <p:cTn id="8" presetID="10" presetClass="entr" presetSubtype="0" fill="hold" nodeType="withEffect">
                                  <p:stCondLst>
                                    <p:cond delay="0"/>
                                  </p:stCondLst>
                                  <p:childTnLst>
                                    <p:set>
                                      <p:cBhvr>
                                        <p:cTn id="9" dur="1" fill="hold">
                                          <p:stCondLst>
                                            <p:cond delay="0"/>
                                          </p:stCondLst>
                                        </p:cTn>
                                        <p:tgtEl>
                                          <p:spTgt spid="27"/>
                                        </p:tgtEl>
                                        <p:attrNameLst>
                                          <p:attrName>style.visibility</p:attrName>
                                        </p:attrNameLst>
                                      </p:cBhvr>
                                      <p:to>
                                        <p:strVal val="visible"/>
                                      </p:to>
                                    </p:set>
                                    <p:animEffect transition="in" filter="fade">
                                      <p:cBhvr>
                                        <p:cTn id="10" dur="400"/>
                                        <p:tgtEl>
                                          <p:spTgt spid="27"/>
                                        </p:tgtEl>
                                      </p:cBhvr>
                                    </p:animEffect>
                                  </p:childTnLst>
                                </p:cTn>
                              </p:par>
                              <p:par>
                                <p:cTn id="11" presetID="10" presetClass="entr" presetSubtype="0" fill="hold" nodeType="withEffect">
                                  <p:stCondLst>
                                    <p:cond delay="0"/>
                                  </p:stCondLst>
                                  <p:childTnLst>
                                    <p:set>
                                      <p:cBhvr>
                                        <p:cTn id="12" dur="1" fill="hold">
                                          <p:stCondLst>
                                            <p:cond delay="0"/>
                                          </p:stCondLst>
                                        </p:cTn>
                                        <p:tgtEl>
                                          <p:spTgt spid="28"/>
                                        </p:tgtEl>
                                        <p:attrNameLst>
                                          <p:attrName>style.visibility</p:attrName>
                                        </p:attrNameLst>
                                      </p:cBhvr>
                                      <p:to>
                                        <p:strVal val="visible"/>
                                      </p:to>
                                    </p:set>
                                    <p:animEffect transition="in" filter="fade">
                                      <p:cBhvr>
                                        <p:cTn id="13" dur="400"/>
                                        <p:tgtEl>
                                          <p:spTgt spid="28"/>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29"/>
                                        </p:tgtEl>
                                        <p:attrNameLst>
                                          <p:attrName>style.visibility</p:attrName>
                                        </p:attrNameLst>
                                      </p:cBhvr>
                                      <p:to>
                                        <p:strVal val="visible"/>
                                      </p:to>
                                    </p:set>
                                    <p:animEffect transition="in" filter="fade">
                                      <p:cBhvr>
                                        <p:cTn id="18" dur="400"/>
                                        <p:tgtEl>
                                          <p:spTgt spid="29"/>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31"/>
                                        </p:tgtEl>
                                        <p:attrNameLst>
                                          <p:attrName>style.visibility</p:attrName>
                                        </p:attrNameLst>
                                      </p:cBhvr>
                                      <p:to>
                                        <p:strVal val="visible"/>
                                      </p:to>
                                    </p:set>
                                    <p:animEffect transition="in" filter="fade">
                                      <p:cBhvr>
                                        <p:cTn id="23" dur="400"/>
                                        <p:tgtEl>
                                          <p:spTgt spid="31"/>
                                        </p:tgtEl>
                                      </p:cBhvr>
                                    </p:animEffect>
                                  </p:childTnLst>
                                </p:cTn>
                              </p:par>
                              <p:par>
                                <p:cTn id="24" presetID="10" presetClass="entr" presetSubtype="0" fill="hold" nodeType="withEffect">
                                  <p:stCondLst>
                                    <p:cond delay="0"/>
                                  </p:stCondLst>
                                  <p:childTnLst>
                                    <p:set>
                                      <p:cBhvr>
                                        <p:cTn id="25" dur="1" fill="hold">
                                          <p:stCondLst>
                                            <p:cond delay="0"/>
                                          </p:stCondLst>
                                        </p:cTn>
                                        <p:tgtEl>
                                          <p:spTgt spid="32"/>
                                        </p:tgtEl>
                                        <p:attrNameLst>
                                          <p:attrName>style.visibility</p:attrName>
                                        </p:attrNameLst>
                                      </p:cBhvr>
                                      <p:to>
                                        <p:strVal val="visible"/>
                                      </p:to>
                                    </p:set>
                                    <p:animEffect transition="in" filter="fade">
                                      <p:cBhvr>
                                        <p:cTn id="26" dur="400"/>
                                        <p:tgtEl>
                                          <p:spTgt spid="32"/>
                                        </p:tgtEl>
                                      </p:cBhvr>
                                    </p:animEffect>
                                  </p:childTnLst>
                                </p:cTn>
                              </p:par>
                              <p:par>
                                <p:cTn id="27" presetID="10" presetClass="entr" presetSubtype="0" fill="hold" nodeType="withEffect">
                                  <p:stCondLst>
                                    <p:cond delay="0"/>
                                  </p:stCondLst>
                                  <p:childTnLst>
                                    <p:set>
                                      <p:cBhvr>
                                        <p:cTn id="28" dur="1" fill="hold">
                                          <p:stCondLst>
                                            <p:cond delay="0"/>
                                          </p:stCondLst>
                                        </p:cTn>
                                        <p:tgtEl>
                                          <p:spTgt spid="33"/>
                                        </p:tgtEl>
                                        <p:attrNameLst>
                                          <p:attrName>style.visibility</p:attrName>
                                        </p:attrNameLst>
                                      </p:cBhvr>
                                      <p:to>
                                        <p:strVal val="visible"/>
                                      </p:to>
                                    </p:set>
                                    <p:animEffect transition="in" filter="fade">
                                      <p:cBhvr>
                                        <p:cTn id="29" dur="400"/>
                                        <p:tgtEl>
                                          <p:spTgt spid="33"/>
                                        </p:tgtEl>
                                      </p:cBhvr>
                                    </p:animEffect>
                                  </p:childTnLst>
                                </p:cTn>
                              </p:par>
                            </p:childTnLst>
                          </p:cTn>
                        </p:par>
                      </p:childTnLst>
                    </p:cTn>
                  </p:par>
                  <p:par>
                    <p:cTn id="30" fill="hold">
                      <p:stCondLst>
                        <p:cond delay="indefinite"/>
                      </p:stCondLst>
                      <p:childTnLst>
                        <p:par>
                          <p:cTn id="31" fill="hold">
                            <p:stCondLst>
                              <p:cond delay="0"/>
                            </p:stCondLst>
                            <p:childTnLst>
                              <p:par>
                                <p:cTn id="32" presetID="10" presetClass="entr" presetSubtype="0" fill="hold" nodeType="clickEffect">
                                  <p:stCondLst>
                                    <p:cond delay="0"/>
                                  </p:stCondLst>
                                  <p:childTnLst>
                                    <p:set>
                                      <p:cBhvr>
                                        <p:cTn id="33" dur="1" fill="hold">
                                          <p:stCondLst>
                                            <p:cond delay="0"/>
                                          </p:stCondLst>
                                        </p:cTn>
                                        <p:tgtEl>
                                          <p:spTgt spid="34"/>
                                        </p:tgtEl>
                                        <p:attrNameLst>
                                          <p:attrName>style.visibility</p:attrName>
                                        </p:attrNameLst>
                                      </p:cBhvr>
                                      <p:to>
                                        <p:strVal val="visible"/>
                                      </p:to>
                                    </p:set>
                                    <p:animEffect transition="in" filter="fade">
                                      <p:cBhvr>
                                        <p:cTn id="34" dur="400"/>
                                        <p:tgtEl>
                                          <p:spTgt spid="34"/>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36"/>
                                        </p:tgtEl>
                                        <p:attrNameLst>
                                          <p:attrName>style.visibility</p:attrName>
                                        </p:attrNameLst>
                                      </p:cBhvr>
                                      <p:to>
                                        <p:strVal val="visible"/>
                                      </p:to>
                                    </p:set>
                                    <p:animEffect transition="in" filter="fade">
                                      <p:cBhvr>
                                        <p:cTn id="39" dur="400"/>
                                        <p:tgtEl>
                                          <p:spTgt spid="36"/>
                                        </p:tgtEl>
                                      </p:cBhvr>
                                    </p:animEffect>
                                  </p:childTnLst>
                                </p:cTn>
                              </p:par>
                              <p:par>
                                <p:cTn id="40" presetID="10" presetClass="entr" presetSubtype="0" fill="hold" nodeType="withEffect">
                                  <p:stCondLst>
                                    <p:cond delay="0"/>
                                  </p:stCondLst>
                                  <p:childTnLst>
                                    <p:set>
                                      <p:cBhvr>
                                        <p:cTn id="41" dur="1" fill="hold">
                                          <p:stCondLst>
                                            <p:cond delay="0"/>
                                          </p:stCondLst>
                                        </p:cTn>
                                        <p:tgtEl>
                                          <p:spTgt spid="37"/>
                                        </p:tgtEl>
                                        <p:attrNameLst>
                                          <p:attrName>style.visibility</p:attrName>
                                        </p:attrNameLst>
                                      </p:cBhvr>
                                      <p:to>
                                        <p:strVal val="visible"/>
                                      </p:to>
                                    </p:set>
                                    <p:animEffect transition="in" filter="fade">
                                      <p:cBhvr>
                                        <p:cTn id="42" dur="400"/>
                                        <p:tgtEl>
                                          <p:spTgt spid="37"/>
                                        </p:tgtEl>
                                      </p:cBhvr>
                                    </p:animEffect>
                                  </p:childTnLst>
                                </p:cTn>
                              </p:par>
                              <p:par>
                                <p:cTn id="43" presetID="10" presetClass="entr" presetSubtype="0" fill="hold" nodeType="withEffect">
                                  <p:stCondLst>
                                    <p:cond delay="0"/>
                                  </p:stCondLst>
                                  <p:childTnLst>
                                    <p:set>
                                      <p:cBhvr>
                                        <p:cTn id="44" dur="1" fill="hold">
                                          <p:stCondLst>
                                            <p:cond delay="0"/>
                                          </p:stCondLst>
                                        </p:cTn>
                                        <p:tgtEl>
                                          <p:spTgt spid="38"/>
                                        </p:tgtEl>
                                        <p:attrNameLst>
                                          <p:attrName>style.visibility</p:attrName>
                                        </p:attrNameLst>
                                      </p:cBhvr>
                                      <p:to>
                                        <p:strVal val="visible"/>
                                      </p:to>
                                    </p:set>
                                    <p:animEffect transition="in" filter="fade">
                                      <p:cBhvr>
                                        <p:cTn id="45" dur="400"/>
                                        <p:tgtEl>
                                          <p:spTgt spid="38"/>
                                        </p:tgtEl>
                                      </p:cBhvr>
                                    </p:animEffect>
                                  </p:childTnLst>
                                </p:cTn>
                              </p:par>
                            </p:childTnLst>
                          </p:cTn>
                        </p:par>
                      </p:childTnLst>
                    </p:cTn>
                  </p:par>
                  <p:par>
                    <p:cTn id="46" fill="hold">
                      <p:stCondLst>
                        <p:cond delay="indefinite"/>
                      </p:stCondLst>
                      <p:childTnLst>
                        <p:par>
                          <p:cTn id="47" fill="hold">
                            <p:stCondLst>
                              <p:cond delay="0"/>
                            </p:stCondLst>
                            <p:childTnLst>
                              <p:par>
                                <p:cTn id="48" presetID="10" presetClass="entr" presetSubtype="0" fill="hold" nodeType="clickEffect">
                                  <p:stCondLst>
                                    <p:cond delay="0"/>
                                  </p:stCondLst>
                                  <p:childTnLst>
                                    <p:set>
                                      <p:cBhvr>
                                        <p:cTn id="49" dur="1" fill="hold">
                                          <p:stCondLst>
                                            <p:cond delay="0"/>
                                          </p:stCondLst>
                                        </p:cTn>
                                        <p:tgtEl>
                                          <p:spTgt spid="39"/>
                                        </p:tgtEl>
                                        <p:attrNameLst>
                                          <p:attrName>style.visibility</p:attrName>
                                        </p:attrNameLst>
                                      </p:cBhvr>
                                      <p:to>
                                        <p:strVal val="visible"/>
                                      </p:to>
                                    </p:set>
                                    <p:animEffect transition="in" filter="fade">
                                      <p:cBhvr>
                                        <p:cTn id="50" dur="400"/>
                                        <p:tgtEl>
                                          <p:spTgt spid="39"/>
                                        </p:tgtEl>
                                      </p:cBhvr>
                                    </p:animEffect>
                                  </p:childTnLst>
                                </p:cTn>
                              </p:par>
                            </p:childTnLst>
                          </p:cTn>
                        </p:par>
                      </p:childTnLst>
                    </p:cTn>
                  </p:par>
                  <p:par>
                    <p:cTn id="51" fill="hold">
                      <p:stCondLst>
                        <p:cond delay="indefinite"/>
                      </p:stCondLst>
                      <p:childTnLst>
                        <p:par>
                          <p:cTn id="52" fill="hold">
                            <p:stCondLst>
                              <p:cond delay="0"/>
                            </p:stCondLst>
                            <p:childTnLst>
                              <p:par>
                                <p:cTn id="53" presetID="10" presetClass="entr" presetSubtype="0" fill="hold" nodeType="clickEffect">
                                  <p:stCondLst>
                                    <p:cond delay="0"/>
                                  </p:stCondLst>
                                  <p:childTnLst>
                                    <p:set>
                                      <p:cBhvr>
                                        <p:cTn id="54" dur="1" fill="hold">
                                          <p:stCondLst>
                                            <p:cond delay="0"/>
                                          </p:stCondLst>
                                        </p:cTn>
                                        <p:tgtEl>
                                          <p:spTgt spid="41"/>
                                        </p:tgtEl>
                                        <p:attrNameLst>
                                          <p:attrName>style.visibility</p:attrName>
                                        </p:attrNameLst>
                                      </p:cBhvr>
                                      <p:to>
                                        <p:strVal val="visible"/>
                                      </p:to>
                                    </p:set>
                                    <p:animEffect transition="in" filter="fade">
                                      <p:cBhvr>
                                        <p:cTn id="55" dur="400"/>
                                        <p:tgtEl>
                                          <p:spTgt spid="41"/>
                                        </p:tgtEl>
                                      </p:cBhvr>
                                    </p:animEffect>
                                  </p:childTnLst>
                                </p:cTn>
                              </p:par>
                              <p:par>
                                <p:cTn id="56" presetID="10" presetClass="entr" presetSubtype="0" fill="hold" nodeType="withEffect">
                                  <p:stCondLst>
                                    <p:cond delay="0"/>
                                  </p:stCondLst>
                                  <p:childTnLst>
                                    <p:set>
                                      <p:cBhvr>
                                        <p:cTn id="57" dur="1" fill="hold">
                                          <p:stCondLst>
                                            <p:cond delay="0"/>
                                          </p:stCondLst>
                                        </p:cTn>
                                        <p:tgtEl>
                                          <p:spTgt spid="42"/>
                                        </p:tgtEl>
                                        <p:attrNameLst>
                                          <p:attrName>style.visibility</p:attrName>
                                        </p:attrNameLst>
                                      </p:cBhvr>
                                      <p:to>
                                        <p:strVal val="visible"/>
                                      </p:to>
                                    </p:set>
                                    <p:animEffect transition="in" filter="fade">
                                      <p:cBhvr>
                                        <p:cTn id="58" dur="400"/>
                                        <p:tgtEl>
                                          <p:spTgt spid="42"/>
                                        </p:tgtEl>
                                      </p:cBhvr>
                                    </p:animEffect>
                                  </p:childTnLst>
                                </p:cTn>
                              </p:par>
                              <p:par>
                                <p:cTn id="59" presetID="10" presetClass="entr" presetSubtype="0" fill="hold" nodeType="withEffect">
                                  <p:stCondLst>
                                    <p:cond delay="0"/>
                                  </p:stCondLst>
                                  <p:childTnLst>
                                    <p:set>
                                      <p:cBhvr>
                                        <p:cTn id="60" dur="1" fill="hold">
                                          <p:stCondLst>
                                            <p:cond delay="0"/>
                                          </p:stCondLst>
                                        </p:cTn>
                                        <p:tgtEl>
                                          <p:spTgt spid="43"/>
                                        </p:tgtEl>
                                        <p:attrNameLst>
                                          <p:attrName>style.visibility</p:attrName>
                                        </p:attrNameLst>
                                      </p:cBhvr>
                                      <p:to>
                                        <p:strVal val="visible"/>
                                      </p:to>
                                    </p:set>
                                    <p:animEffect transition="in" filter="fade">
                                      <p:cBhvr>
                                        <p:cTn id="61" dur="400"/>
                                        <p:tgtEl>
                                          <p:spTgt spid="43"/>
                                        </p:tgtEl>
                                      </p:cBhvr>
                                    </p:animEffect>
                                  </p:childTnLst>
                                </p:cTn>
                              </p:par>
                            </p:childTnLst>
                          </p:cTn>
                        </p:par>
                      </p:childTnLst>
                    </p:cTn>
                  </p:par>
                  <p:par>
                    <p:cTn id="62" fill="hold">
                      <p:stCondLst>
                        <p:cond delay="indefinite"/>
                      </p:stCondLst>
                      <p:childTnLst>
                        <p:par>
                          <p:cTn id="63" fill="hold">
                            <p:stCondLst>
                              <p:cond delay="0"/>
                            </p:stCondLst>
                            <p:childTnLst>
                              <p:par>
                                <p:cTn id="64" presetID="10" presetClass="entr" presetSubtype="0" fill="hold" nodeType="clickEffect">
                                  <p:stCondLst>
                                    <p:cond delay="0"/>
                                  </p:stCondLst>
                                  <p:childTnLst>
                                    <p:set>
                                      <p:cBhvr>
                                        <p:cTn id="65" dur="1" fill="hold">
                                          <p:stCondLst>
                                            <p:cond delay="0"/>
                                          </p:stCondLst>
                                        </p:cTn>
                                        <p:tgtEl>
                                          <p:spTgt spid="44"/>
                                        </p:tgtEl>
                                        <p:attrNameLst>
                                          <p:attrName>style.visibility</p:attrName>
                                        </p:attrNameLst>
                                      </p:cBhvr>
                                      <p:to>
                                        <p:strVal val="visible"/>
                                      </p:to>
                                    </p:set>
                                    <p:animEffect transition="in" filter="fade">
                                      <p:cBhvr>
                                        <p:cTn id="66" dur="400"/>
                                        <p:tgtEl>
                                          <p:spTgt spid="44"/>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67" restart="whenNotActive" fill="hold" evtFilter="cancelBubble" nodeType="interactiveSeq">
                <p:stCondLst>
                  <p:cond evt="onClick" delay="0">
                    <p:tgtEl>
                      <p:spTgt spid="17"/>
                    </p:tgtEl>
                  </p:cond>
                </p:stCondLst>
                <p:endSync evt="end" delay="0">
                  <p:rtn val="all"/>
                </p:endSync>
                <p:childTnLst>
                  <p:par>
                    <p:cTn id="68" fill="hold">
                      <p:stCondLst>
                        <p:cond delay="0"/>
                      </p:stCondLst>
                      <p:childTnLst>
                        <p:par>
                          <p:cTn id="69" fill="hold">
                            <p:stCondLst>
                              <p:cond delay="0"/>
                            </p:stCondLst>
                            <p:childTnLst>
                              <p:par>
                                <p:cTn id="70" presetID="2" presetClass="mediacall" presetSubtype="0" fill="hold" nodeType="clickEffect">
                                  <p:stCondLst>
                                    <p:cond delay="0"/>
                                  </p:stCondLst>
                                  <p:childTnLst>
                                    <p:cmd type="call" cmd="togglePause">
                                      <p:cBhvr>
                                        <p:cTn id="71" dur="1" fill="hold"/>
                                        <p:tgtEl>
                                          <p:spTgt spid="17"/>
                                        </p:tgtEl>
                                      </p:cBhvr>
                                    </p:cmd>
                                  </p:childTnLst>
                                </p:cTn>
                              </p:par>
                            </p:childTnLst>
                          </p:cTn>
                        </p:par>
                      </p:childTnLst>
                    </p:cTn>
                  </p:par>
                </p:childTnLst>
              </p:cTn>
              <p:nextCondLst>
                <p:cond evt="onClick" delay="0">
                  <p:tgtEl>
                    <p:spTgt spid="17"/>
                  </p:tgtEl>
                </p:cond>
              </p:nextCondLst>
            </p:seq>
            <p:seq concurrent="1" nextAc="seek">
              <p:cTn id="72" restart="whenNotActive" fill="hold" evtFilter="cancelBubble" nodeType="interactiveSeq">
                <p:stCondLst>
                  <p:cond evt="onClick" delay="0">
                    <p:tgtEl>
                      <p:spTgt spid="18"/>
                    </p:tgtEl>
                  </p:cond>
                </p:stCondLst>
                <p:endSync evt="end" delay="0">
                  <p:rtn val="all"/>
                </p:endSync>
                <p:childTnLst>
                  <p:par>
                    <p:cTn id="73" fill="hold">
                      <p:stCondLst>
                        <p:cond delay="0"/>
                      </p:stCondLst>
                      <p:childTnLst>
                        <p:par>
                          <p:cTn id="74" fill="hold">
                            <p:stCondLst>
                              <p:cond delay="0"/>
                            </p:stCondLst>
                            <p:childTnLst>
                              <p:par>
                                <p:cTn id="75" presetID="2" presetClass="mediacall" presetSubtype="0" fill="hold" nodeType="clickEffect">
                                  <p:stCondLst>
                                    <p:cond delay="0"/>
                                  </p:stCondLst>
                                  <p:childTnLst>
                                    <p:cmd type="call" cmd="togglePause">
                                      <p:cBhvr>
                                        <p:cTn id="76" dur="1" fill="hold"/>
                                        <p:tgtEl>
                                          <p:spTgt spid="18"/>
                                        </p:tgtEl>
                                      </p:cBhvr>
                                    </p:cmd>
                                  </p:childTnLst>
                                </p:cTn>
                              </p:par>
                            </p:childTnLst>
                          </p:cTn>
                        </p:par>
                      </p:childTnLst>
                    </p:cTn>
                  </p:par>
                </p:childTnLst>
              </p:cTn>
              <p:nextCondLst>
                <p:cond evt="onClick" delay="0">
                  <p:tgtEl>
                    <p:spTgt spid="18"/>
                  </p:tgtEl>
                </p:cond>
              </p:nextCondLst>
            </p:seq>
            <p:audio>
              <p:cMediaNode vol="80000">
                <p:cTn id="77" fill="hold" display="0">
                  <p:stCondLst>
                    <p:cond delay="indefinite"/>
                  </p:stCondLst>
                  <p:endCondLst>
                    <p:cond evt="onStopAudio" delay="0">
                      <p:tgtEl>
                        <p:sldTgt/>
                      </p:tgtEl>
                    </p:cond>
                  </p:endCondLst>
                </p:cTn>
                <p:tgtEl>
                  <p:spTgt spid="17"/>
                </p:tgtEl>
              </p:cMediaNode>
            </p:audio>
            <p:audio>
              <p:cMediaNode vol="80000">
                <p:cTn id="78" fill="hold" display="0">
                  <p:stCondLst>
                    <p:cond delay="indefinite"/>
                  </p:stCondLst>
                  <p:endCondLst>
                    <p:cond evt="onStopAudio" delay="0">
                      <p:tgtEl>
                        <p:sldTgt/>
                      </p:tgtEl>
                    </p:cond>
                  </p:endCondLst>
                </p:cTn>
                <p:tgtEl>
                  <p:spTgt spid="18"/>
                </p:tgtEl>
              </p:cMediaNode>
            </p:audio>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15"/>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13</a:t>
            </a:r>
            <a:endParaRPr lang="en-US" sz="2200" dirty="0"/>
          </a:p>
        </p:txBody>
      </p:sp>
      <p:pic>
        <p:nvPicPr>
          <p:cNvPr id="4" name="brY_416" descr="/home/claude/lls-course/v2/assets/brush-yellow.png">    </p:cNvPr>
          <p:cNvPicPr>
            <a:picLocks noChangeAspect="1"/>
          </p:cNvPicPr>
          <p:nvPr/>
        </p:nvPicPr>
        <p:blipFill>
          <a:blip r:embed="rId2"/>
          <a:stretch>
            <a:fillRect/>
          </a:stretch>
        </p:blipFill>
        <p:spPr>
          <a:xfrm>
            <a:off x="1097280" y="146304"/>
            <a:ext cx="2304288" cy="621792"/>
          </a:xfrm>
          <a:prstGeom prst="rect">
            <a:avLst/>
          </a:prstGeom>
        </p:spPr>
      </p:pic>
      <p:sp>
        <p:nvSpPr>
          <p:cNvPr id="5" name="title_417"/>
          <p:cNvSpPr/>
          <p:nvPr/>
        </p:nvSpPr>
        <p:spPr>
          <a:xfrm>
            <a:off x="1261872" y="164592"/>
            <a:ext cx="2029968"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Change it!</a:t>
            </a:r>
            <a:endParaRPr lang="en-US" sz="2500" dirty="0"/>
          </a:p>
        </p:txBody>
      </p:sp>
      <p:pic>
        <p:nvPicPr>
          <p:cNvPr id="6" name="brP_418" descr="/home/claude/lls-course/v2/assets/brush-pink.png">    </p:cNvPr>
          <p:cNvPicPr>
            <a:picLocks noChangeAspect="1"/>
          </p:cNvPicPr>
          <p:nvPr/>
        </p:nvPicPr>
        <p:blipFill>
          <a:blip r:embed="rId3"/>
          <a:stretch>
            <a:fillRect/>
          </a:stretch>
        </p:blipFill>
        <p:spPr>
          <a:xfrm>
            <a:off x="1207008" y="731520"/>
            <a:ext cx="4206240" cy="402336"/>
          </a:xfrm>
          <a:prstGeom prst="rect">
            <a:avLst/>
          </a:prstGeom>
        </p:spPr>
      </p:pic>
      <p:sp>
        <p:nvSpPr>
          <p:cNvPr id="7" name="ins_419"/>
          <p:cNvSpPr/>
          <p:nvPr/>
        </p:nvSpPr>
        <p:spPr>
          <a:xfrm>
            <a:off x="1353312" y="731520"/>
            <a:ext cx="395020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Hear the new verb. Say the new sentence!</a:t>
            </a:r>
            <a:endParaRPr lang="en-US" sz="1250" dirty="0"/>
          </a:p>
        </p:txBody>
      </p:sp>
      <p:sp>
        <p:nvSpPr>
          <p:cNvPr id="8" name="insIT_420"/>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Ascolta il nuovo verbo. Di' la nuova frase!</a:t>
            </a:r>
            <a:endParaRPr lang="en-US" sz="950" dirty="0"/>
          </a:p>
        </p:txBody>
      </p:sp>
      <p:sp>
        <p:nvSpPr>
          <p:cNvPr id="9" name="cmd_421"/>
          <p:cNvSpPr/>
          <p:nvPr/>
        </p:nvSpPr>
        <p:spPr>
          <a:xfrm>
            <a:off x="6510528" y="182880"/>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PLAY</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GIOCA</a:t>
            </a:r>
            <a:endParaRPr lang="en-US" sz="1100" dirty="0"/>
          </a:p>
        </p:txBody>
      </p:sp>
      <p:sp>
        <p:nvSpPr>
          <p:cNvPr id="10" name="cmd_422"/>
          <p:cNvSpPr/>
          <p:nvPr/>
        </p:nvSpPr>
        <p:spPr>
          <a:xfrm>
            <a:off x="6510528" y="566928"/>
            <a:ext cx="1901952" cy="329184"/>
          </a:xfrm>
          <a:prstGeom prst="roundRect">
            <a:avLst>
              <a:gd name="adj" fmla="val 50000"/>
            </a:avLst>
          </a:prstGeom>
          <a:solidFill>
            <a:srgbClr val="FFFFFF"/>
          </a:solidFill>
          <a:ln w="25400">
            <a:solidFill>
              <a:srgbClr val="CDBFF3"/>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7B5CD6"/>
                </a:solidFill>
                <a:latin typeface="Arial Rounded MT Bold" pitchFamily="34" charset="0"/>
                <a:ea typeface="Arial Rounded MT Bold" pitchFamily="34" charset="-122"/>
                <a:cs typeface="Arial Rounded MT Bold" pitchFamily="34" charset="-120"/>
              </a:rPr>
              <a:t>SAY IT</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PRONUNCIA</a:t>
            </a:r>
            <a:endParaRPr lang="en-US" sz="1100" dirty="0"/>
          </a:p>
        </p:txBody>
      </p:sp>
      <p:sp>
        <p:nvSpPr>
          <p:cNvPr id="11" name="meta_423"/>
          <p:cNvSpPr/>
          <p:nvPr/>
        </p:nvSpPr>
        <p:spPr>
          <a:xfrm>
            <a:off x="6583680" y="950976"/>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teams</a:t>
            </a:r>
            <a:endParaRPr lang="en-US" sz="950" dirty="0"/>
          </a:p>
        </p:txBody>
      </p:sp>
      <p:sp>
        <p:nvSpPr>
          <p:cNvPr id="12" name="tag_424"/>
          <p:cNvSpPr/>
          <p:nvPr/>
        </p:nvSpPr>
        <p:spPr>
          <a:xfrm>
            <a:off x="6510528" y="1188720"/>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Pronunciation</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Communicative game</a:t>
            </a:r>
            <a:endParaRPr lang="en-US" sz="850" dirty="0"/>
          </a:p>
        </p:txBody>
      </p:sp>
      <p:pic>
        <p:nvPicPr>
          <p:cNvPr id="13" name="logo_425"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426"/>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4B-1 · Pronunciation game · audio 4.16   ·   📖 SB p.41 · 2d · audio 4.16 (🎧 play it from the book audio or say the prompts yourself)</a:t>
            </a:r>
            <a:endParaRPr lang="en-US" sz="800" dirty="0"/>
          </a:p>
        </p:txBody>
      </p:sp>
      <p:sp>
        <p:nvSpPr>
          <p:cNvPr id="15" name="cd_427"/>
          <p:cNvSpPr/>
          <p:nvPr/>
        </p:nvSpPr>
        <p:spPr>
          <a:xfrm>
            <a:off x="320040" y="1417320"/>
            <a:ext cx="2697480" cy="2194560"/>
          </a:xfrm>
          <a:prstGeom prst="roundRect">
            <a:avLst>
              <a:gd name="adj" fmla="val 5833"/>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6" name="ii_428"/>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7" name="ih_429"/>
          <p:cNvSpPr/>
          <p:nvPr/>
        </p:nvSpPr>
        <p:spPr>
          <a:xfrm>
            <a:off x="886968" y="1508760"/>
            <a:ext cx="205740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How to play</a:t>
            </a:r>
            <a:endParaRPr lang="en-US" sz="1400" dirty="0"/>
          </a:p>
        </p:txBody>
      </p:sp>
      <p:sp>
        <p:nvSpPr>
          <p:cNvPr id="18" name="il_430"/>
          <p:cNvSpPr/>
          <p:nvPr/>
        </p:nvSpPr>
        <p:spPr>
          <a:xfrm>
            <a:off x="886968" y="1892808"/>
            <a:ext cx="2039112" cy="1645920"/>
          </a:xfrm>
          <a:prstGeom prst="rect">
            <a:avLst/>
          </a:prstGeom>
          <a:noFill/>
          <a:ln/>
        </p:spPr>
        <p:txBody>
          <a:bodyPr wrap="square" lIns="0" tIns="0" rIns="0" bIns="0" rtlCol="0" anchor="t">
            <a:normAutofit/>
          </a:bodyPr>
          <a:lstStyle/>
          <a:p>
            <a:pPr marL="190500" indent="-190500">
              <a:spcAft>
                <a:spcPts val="200"/>
              </a:spcAft>
              <a:buSzPct val="100000"/>
              <a:buChar char="1"/>
            </a:pPr>
            <a:r>
              <a:rPr lang="en-US" sz="1000" dirty="0">
                <a:solidFill>
                  <a:srgbClr val="1B2559"/>
                </a:solidFill>
                <a:latin typeface="Segoe UI" pitchFamily="34" charset="0"/>
                <a:ea typeface="Segoe UI" pitchFamily="34" charset="-122"/>
                <a:cs typeface="Segoe UI" pitchFamily="34" charset="-120"/>
              </a:rPr>
              <a:t>Listen: a sentence + a new verb.</a:t>
            </a:r>
            <a:endParaRPr lang="en-US" sz="1000" dirty="0"/>
          </a:p>
          <a:p>
            <a:pPr marL="190500" indent="-190500">
              <a:spcAft>
                <a:spcPts val="200"/>
              </a:spcAft>
              <a:buSzPct val="100000"/>
              <a:buChar char="​"/>
            </a:pPr>
            <a:r>
              <a:rPr lang="en-US" sz="900" i="1" dirty="0">
                <a:solidFill>
                  <a:srgbClr val="5B6785"/>
                </a:solidFill>
                <a:latin typeface="Segoe UI" pitchFamily="34" charset="0"/>
                <a:ea typeface="Segoe UI" pitchFamily="34" charset="-122"/>
                <a:cs typeface="Segoe UI" pitchFamily="34" charset="-120"/>
              </a:rPr>
              <a:t>Ascolta: una frase + un nuovo verbo.</a:t>
            </a:r>
            <a:endParaRPr lang="en-US" sz="1000" dirty="0"/>
          </a:p>
          <a:p>
            <a:pPr marL="190500" indent="-190500">
              <a:spcBef>
                <a:spcPts val="500"/>
              </a:spcBef>
              <a:spcAft>
                <a:spcPts val="200"/>
              </a:spcAft>
              <a:buSzPct val="100000"/>
              <a:buChar char="2"/>
            </a:pPr>
            <a:r>
              <a:rPr lang="en-US" sz="1000" dirty="0">
                <a:solidFill>
                  <a:srgbClr val="1B2559"/>
                </a:solidFill>
                <a:latin typeface="Segoe UI" pitchFamily="34" charset="0"/>
                <a:ea typeface="Segoe UI" pitchFamily="34" charset="-122"/>
                <a:cs typeface="Segoe UI" pitchFamily="34" charset="-120"/>
              </a:rPr>
              <a:t>Teams: say the NEW sentence.</a:t>
            </a:r>
            <a:endParaRPr lang="en-US" sz="1000" dirty="0"/>
          </a:p>
          <a:p>
            <a:pPr marL="190500" indent="-190500">
              <a:spcAft>
                <a:spcPts val="200"/>
              </a:spcAft>
              <a:buSzPct val="100000"/>
              <a:buChar char="​"/>
            </a:pPr>
            <a:r>
              <a:rPr lang="en-US" sz="900" i="1" dirty="0">
                <a:solidFill>
                  <a:srgbClr val="5B6785"/>
                </a:solidFill>
                <a:latin typeface="Segoe UI" pitchFamily="34" charset="0"/>
                <a:ea typeface="Segoe UI" pitchFamily="34" charset="-122"/>
                <a:cs typeface="Segoe UI" pitchFamily="34" charset="-120"/>
              </a:rPr>
              <a:t>Squadre: dite la NUOVA frase.</a:t>
            </a:r>
            <a:endParaRPr lang="en-US" sz="1000" dirty="0"/>
          </a:p>
          <a:p>
            <a:pPr marL="190500" indent="-190500">
              <a:spcBef>
                <a:spcPts val="500"/>
              </a:spcBef>
              <a:spcAft>
                <a:spcPts val="200"/>
              </a:spcAft>
              <a:buSzPct val="100000"/>
              <a:buChar char="3"/>
            </a:pPr>
            <a:r>
              <a:rPr lang="en-US" sz="1000" dirty="0">
                <a:solidFill>
                  <a:srgbClr val="1B2559"/>
                </a:solidFill>
                <a:latin typeface="Segoe UI" pitchFamily="34" charset="0"/>
                <a:ea typeface="Segoe UI" pitchFamily="34" charset="-122"/>
                <a:cs typeface="Segoe UI" pitchFamily="34" charset="-120"/>
              </a:rPr>
              <a:t>Same rhythm = 1 point.</a:t>
            </a:r>
            <a:endParaRPr lang="en-US" sz="1000" dirty="0"/>
          </a:p>
          <a:p>
            <a:pPr marL="190500" indent="-190500">
              <a:spcAft>
                <a:spcPts val="200"/>
              </a:spcAft>
              <a:buSzPct val="100000"/>
              <a:buChar char="​"/>
            </a:pPr>
            <a:r>
              <a:rPr lang="en-US" sz="900" i="1" dirty="0">
                <a:solidFill>
                  <a:srgbClr val="5B6785"/>
                </a:solidFill>
                <a:latin typeface="Segoe UI" pitchFamily="34" charset="0"/>
                <a:ea typeface="Segoe UI" pitchFamily="34" charset="-122"/>
                <a:cs typeface="Segoe UI" pitchFamily="34" charset="-120"/>
              </a:rPr>
              <a:t>Stesso ritmo = 1 punto.</a:t>
            </a:r>
            <a:endParaRPr lang="en-US" sz="1000" dirty="0"/>
          </a:p>
        </p:txBody>
      </p:sp>
      <p:sp>
        <p:nvSpPr>
          <p:cNvPr id="19" name="ap_431"/>
          <p:cNvSpPr/>
          <p:nvPr/>
        </p:nvSpPr>
        <p:spPr>
          <a:xfrm>
            <a:off x="365760" y="3703320"/>
            <a:ext cx="2606040" cy="402336"/>
          </a:xfrm>
          <a:prstGeom prst="roundRect">
            <a:avLst>
              <a:gd name="adj" fmla="val 50000"/>
            </a:avLst>
          </a:prstGeom>
          <a:solidFill>
            <a:srgbClr val="E3F1FD"/>
          </a:solidFill>
          <a:ln w="19050">
            <a:solidFill>
              <a:srgbClr val="2F8DE4"/>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4.16</a:t>
            </a:r>
            <a:endParaRPr lang="en-US" sz="1100" dirty="0"/>
          </a:p>
        </p:txBody>
      </p:sp>
      <p:sp>
        <p:nvSpPr>
          <p:cNvPr id="20" name="ah_432"/>
          <p:cNvSpPr/>
          <p:nvPr/>
        </p:nvSpPr>
        <p:spPr>
          <a:xfrm>
            <a:off x="5925312" y="4572000"/>
            <a:ext cx="1554480" cy="365760"/>
          </a:xfrm>
          <a:prstGeom prst="rect">
            <a:avLst/>
          </a:prstGeom>
          <a:noFill/>
          <a:ln/>
        </p:spPr>
        <p:txBody>
          <a:bodyPr wrap="square" lIns="0" tIns="0" rIns="0" bIns="0" rtlCol="0" anchor="ctr"/>
          <a:lstStyle/>
          <a:p>
            <a:pPr algn="r" indent="0" marL="0">
              <a:buNone/>
            </a:pPr>
            <a:r>
              <a:rPr lang="en-US" sz="950" b="1" dirty="0">
                <a:solidFill>
                  <a:srgbClr val="2F8DE4"/>
                </a:solidFill>
                <a:latin typeface="Segoe UI Semibold" pitchFamily="34" charset="0"/>
                <a:ea typeface="Segoe UI Semibold" pitchFamily="34" charset="-122"/>
                <a:cs typeface="Segoe UI Semibold" pitchFamily="34" charset="-120"/>
              </a:rPr>
              <a:t>▶ normal · 🐢 slower</a:t>
            </a:r>
            <a:endParaRPr lang="en-US" sz="950" dirty="0"/>
          </a:p>
        </p:txBody>
      </p:sp>
      <p:pic>
        <p:nvPicPr>
          <p:cNvPr id="21"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7525512" y="4553712"/>
            <a:ext cx="411480" cy="411480"/>
          </a:xfrm>
          <a:prstGeom prst="rect">
            <a:avLst/>
          </a:prstGeom>
        </p:spPr>
      </p:pic>
      <p:pic>
        <p:nvPicPr>
          <p:cNvPr id="22"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001000" y="4553712"/>
            <a:ext cx="411480" cy="411480"/>
          </a:xfrm>
          <a:prstGeom prst="rect">
            <a:avLst/>
          </a:prstGeom>
        </p:spPr>
      </p:pic>
      <p:sp>
        <p:nvSpPr>
          <p:cNvPr id="23" name="bd_433"/>
          <p:cNvSpPr/>
          <p:nvPr/>
        </p:nvSpPr>
        <p:spPr>
          <a:xfrm>
            <a:off x="3246120" y="1491234"/>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4" name="gq_434"/>
          <p:cNvSpPr/>
          <p:nvPr/>
        </p:nvSpPr>
        <p:spPr>
          <a:xfrm>
            <a:off x="3657600" y="1417320"/>
            <a:ext cx="2514600" cy="477012"/>
          </a:xfrm>
          <a:prstGeom prst="roundRect">
            <a:avLst>
              <a:gd name="adj" fmla="val 19169"/>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I'd love to be able to ski. → ride a horse</a:t>
            </a:r>
            <a:endParaRPr lang="en-US" sz="1100" dirty="0"/>
          </a:p>
        </p:txBody>
      </p:sp>
      <p:sp>
        <p:nvSpPr>
          <p:cNvPr id="25" name="R1_chip435"/>
          <p:cNvSpPr/>
          <p:nvPr/>
        </p:nvSpPr>
        <p:spPr>
          <a:xfrm>
            <a:off x="6263640" y="141732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I'd love to be able to ride a horse.</a:t>
            </a:r>
            <a:endParaRPr lang="en-US" sz="1100" dirty="0"/>
          </a:p>
        </p:txBody>
      </p:sp>
      <p:sp>
        <p:nvSpPr>
          <p:cNvPr id="26" name="bd_436"/>
          <p:cNvSpPr/>
          <p:nvPr/>
        </p:nvSpPr>
        <p:spPr>
          <a:xfrm>
            <a:off x="3246120" y="2032254"/>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7" name="gq_437"/>
          <p:cNvSpPr/>
          <p:nvPr/>
        </p:nvSpPr>
        <p:spPr>
          <a:xfrm>
            <a:off x="3657600" y="1958340"/>
            <a:ext cx="2514600" cy="477012"/>
          </a:xfrm>
          <a:prstGeom prst="roundRect">
            <a:avLst>
              <a:gd name="adj" fmla="val 19169"/>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We won't be able to come. → park</a:t>
            </a:r>
            <a:endParaRPr lang="en-US" sz="1100" dirty="0"/>
          </a:p>
        </p:txBody>
      </p:sp>
      <p:sp>
        <p:nvSpPr>
          <p:cNvPr id="28" name="R2_chip438"/>
          <p:cNvSpPr/>
          <p:nvPr/>
        </p:nvSpPr>
        <p:spPr>
          <a:xfrm>
            <a:off x="6263640" y="195834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We won't be able to park.</a:t>
            </a:r>
            <a:endParaRPr lang="en-US" sz="1100" dirty="0"/>
          </a:p>
        </p:txBody>
      </p:sp>
      <p:sp>
        <p:nvSpPr>
          <p:cNvPr id="29" name="bd_439"/>
          <p:cNvSpPr/>
          <p:nvPr/>
        </p:nvSpPr>
        <p:spPr>
          <a:xfrm>
            <a:off x="3246120" y="257327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30" name="gq_440"/>
          <p:cNvSpPr/>
          <p:nvPr/>
        </p:nvSpPr>
        <p:spPr>
          <a:xfrm>
            <a:off x="3657600" y="2499360"/>
            <a:ext cx="2514600" cy="477012"/>
          </a:xfrm>
          <a:prstGeom prst="roundRect">
            <a:avLst>
              <a:gd name="adj" fmla="val 19169"/>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I've never been able to dance. → speak French</a:t>
            </a:r>
            <a:endParaRPr lang="en-US" sz="1100" dirty="0"/>
          </a:p>
        </p:txBody>
      </p:sp>
      <p:sp>
        <p:nvSpPr>
          <p:cNvPr id="31" name="R3_chip441"/>
          <p:cNvSpPr/>
          <p:nvPr/>
        </p:nvSpPr>
        <p:spPr>
          <a:xfrm>
            <a:off x="6263640" y="249936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I've never been able to speak French.</a:t>
            </a:r>
            <a:endParaRPr lang="en-US" sz="1100" dirty="0"/>
          </a:p>
        </p:txBody>
      </p:sp>
      <p:sp>
        <p:nvSpPr>
          <p:cNvPr id="32" name="bd_442"/>
          <p:cNvSpPr/>
          <p:nvPr/>
        </p:nvSpPr>
        <p:spPr>
          <a:xfrm>
            <a:off x="3246120" y="3114294"/>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33" name="gq_443"/>
          <p:cNvSpPr/>
          <p:nvPr/>
        </p:nvSpPr>
        <p:spPr>
          <a:xfrm>
            <a:off x="3657600" y="3040380"/>
            <a:ext cx="2514600" cy="477012"/>
          </a:xfrm>
          <a:prstGeom prst="roundRect">
            <a:avLst>
              <a:gd name="adj" fmla="val 19169"/>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She hates not being able to drive. → cook</a:t>
            </a:r>
            <a:endParaRPr lang="en-US" sz="1100" dirty="0"/>
          </a:p>
        </p:txBody>
      </p:sp>
      <p:sp>
        <p:nvSpPr>
          <p:cNvPr id="34" name="R4_chip444"/>
          <p:cNvSpPr/>
          <p:nvPr/>
        </p:nvSpPr>
        <p:spPr>
          <a:xfrm>
            <a:off x="6263640" y="304038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She hates not being able to cook.</a:t>
            </a:r>
            <a:endParaRPr lang="en-US" sz="1100" dirty="0"/>
          </a:p>
        </p:txBody>
      </p:sp>
      <p:sp>
        <p:nvSpPr>
          <p:cNvPr id="35" name="bd_445"/>
          <p:cNvSpPr/>
          <p:nvPr/>
        </p:nvSpPr>
        <p:spPr>
          <a:xfrm>
            <a:off x="3246120" y="3655314"/>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36" name="gq_446"/>
          <p:cNvSpPr/>
          <p:nvPr/>
        </p:nvSpPr>
        <p:spPr>
          <a:xfrm>
            <a:off x="3657600" y="3581400"/>
            <a:ext cx="2514600" cy="477012"/>
          </a:xfrm>
          <a:prstGeom prst="roundRect">
            <a:avLst>
              <a:gd name="adj" fmla="val 19169"/>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Will you be able to find it? → afford it</a:t>
            </a:r>
            <a:endParaRPr lang="en-US" sz="1100" dirty="0"/>
          </a:p>
        </p:txBody>
      </p:sp>
      <p:sp>
        <p:nvSpPr>
          <p:cNvPr id="37" name="R5_chip447"/>
          <p:cNvSpPr/>
          <p:nvPr/>
        </p:nvSpPr>
        <p:spPr>
          <a:xfrm>
            <a:off x="6263640" y="358140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Will you be able to afford it?</a:t>
            </a:r>
            <a:endParaRPr lang="en-US" sz="1100" dirty="0"/>
          </a:p>
        </p:txBody>
      </p:sp>
      <p:sp>
        <p:nvSpPr>
          <p:cNvPr id="38" name="bd_448"/>
          <p:cNvSpPr/>
          <p:nvPr/>
        </p:nvSpPr>
        <p:spPr>
          <a:xfrm>
            <a:off x="3246120" y="4196334"/>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6</a:t>
            </a:r>
            <a:endParaRPr lang="en-US" sz="1100" dirty="0"/>
          </a:p>
        </p:txBody>
      </p:sp>
      <p:sp>
        <p:nvSpPr>
          <p:cNvPr id="39" name="gq_449"/>
          <p:cNvSpPr/>
          <p:nvPr/>
        </p:nvSpPr>
        <p:spPr>
          <a:xfrm>
            <a:off x="3657600" y="4122420"/>
            <a:ext cx="2514600" cy="477012"/>
          </a:xfrm>
          <a:prstGeom prst="roundRect">
            <a:avLst>
              <a:gd name="adj" fmla="val 19169"/>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They haven't been able to finish. → come</a:t>
            </a:r>
            <a:endParaRPr lang="en-US" sz="1100" dirty="0"/>
          </a:p>
        </p:txBody>
      </p:sp>
      <p:sp>
        <p:nvSpPr>
          <p:cNvPr id="40" name="R6_chip450"/>
          <p:cNvSpPr/>
          <p:nvPr/>
        </p:nvSpPr>
        <p:spPr>
          <a:xfrm>
            <a:off x="6263640" y="412242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They haven't been able to come.</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5"/>
                                        </p:tgtEl>
                                        <p:attrNameLst>
                                          <p:attrName>style.visibility</p:attrName>
                                        </p:attrNameLst>
                                      </p:cBhvr>
                                      <p:to>
                                        <p:strVal val="visible"/>
                                      </p:to>
                                    </p:set>
                                    <p:animEffect transition="in" filter="fade">
                                      <p:cBhvr>
                                        <p:cTn id="7" dur="400"/>
                                        <p:tgtEl>
                                          <p:spTgt spid="2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8"/>
                                        </p:tgtEl>
                                        <p:attrNameLst>
                                          <p:attrName>style.visibility</p:attrName>
                                        </p:attrNameLst>
                                      </p:cBhvr>
                                      <p:to>
                                        <p:strVal val="visible"/>
                                      </p:to>
                                    </p:set>
                                    <p:animEffect transition="in" filter="fade">
                                      <p:cBhvr>
                                        <p:cTn id="12" dur="400"/>
                                        <p:tgtEl>
                                          <p:spTgt spid="2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1"/>
                                        </p:tgtEl>
                                        <p:attrNameLst>
                                          <p:attrName>style.visibility</p:attrName>
                                        </p:attrNameLst>
                                      </p:cBhvr>
                                      <p:to>
                                        <p:strVal val="visible"/>
                                      </p:to>
                                    </p:set>
                                    <p:animEffect transition="in" filter="fade">
                                      <p:cBhvr>
                                        <p:cTn id="17" dur="400"/>
                                        <p:tgtEl>
                                          <p:spTgt spid="31"/>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4"/>
                                        </p:tgtEl>
                                        <p:attrNameLst>
                                          <p:attrName>style.visibility</p:attrName>
                                        </p:attrNameLst>
                                      </p:cBhvr>
                                      <p:to>
                                        <p:strVal val="visible"/>
                                      </p:to>
                                    </p:set>
                                    <p:animEffect transition="in" filter="fade">
                                      <p:cBhvr>
                                        <p:cTn id="22" dur="400"/>
                                        <p:tgtEl>
                                          <p:spTgt spid="34"/>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7"/>
                                        </p:tgtEl>
                                        <p:attrNameLst>
                                          <p:attrName>style.visibility</p:attrName>
                                        </p:attrNameLst>
                                      </p:cBhvr>
                                      <p:to>
                                        <p:strVal val="visible"/>
                                      </p:to>
                                    </p:set>
                                    <p:animEffect transition="in" filter="fade">
                                      <p:cBhvr>
                                        <p:cTn id="27" dur="400"/>
                                        <p:tgtEl>
                                          <p:spTgt spid="37"/>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40"/>
                                        </p:tgtEl>
                                        <p:attrNameLst>
                                          <p:attrName>style.visibility</p:attrName>
                                        </p:attrNameLst>
                                      </p:cBhvr>
                                      <p:to>
                                        <p:strVal val="visible"/>
                                      </p:to>
                                    </p:set>
                                    <p:animEffect transition="in" filter="fade">
                                      <p:cBhvr>
                                        <p:cTn id="32" dur="400"/>
                                        <p:tgtEl>
                                          <p:spTgt spid="40"/>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33" restart="whenNotActive" fill="hold" evtFilter="cancelBubble" nodeType="interactiveSeq">
                <p:stCondLst>
                  <p:cond evt="onClick" delay="0">
                    <p:tgtEl>
                      <p:spTgt spid="21"/>
                    </p:tgtEl>
                  </p:cond>
                </p:stCondLst>
                <p:endSync evt="end" delay="0">
                  <p:rtn val="all"/>
                </p:endSync>
                <p:childTnLst>
                  <p:par>
                    <p:cTn id="34" fill="hold">
                      <p:stCondLst>
                        <p:cond delay="0"/>
                      </p:stCondLst>
                      <p:childTnLst>
                        <p:par>
                          <p:cTn id="35" fill="hold">
                            <p:stCondLst>
                              <p:cond delay="0"/>
                            </p:stCondLst>
                            <p:childTnLst>
                              <p:par>
                                <p:cTn id="36" presetID="2" presetClass="mediacall" presetSubtype="0" fill="hold" nodeType="clickEffect">
                                  <p:stCondLst>
                                    <p:cond delay="0"/>
                                  </p:stCondLst>
                                  <p:childTnLst>
                                    <p:cmd type="call" cmd="togglePause">
                                      <p:cBhvr>
                                        <p:cTn id="37" dur="1" fill="hold"/>
                                        <p:tgtEl>
                                          <p:spTgt spid="21"/>
                                        </p:tgtEl>
                                      </p:cBhvr>
                                    </p:cmd>
                                  </p:childTnLst>
                                </p:cTn>
                              </p:par>
                            </p:childTnLst>
                          </p:cTn>
                        </p:par>
                      </p:childTnLst>
                    </p:cTn>
                  </p:par>
                </p:childTnLst>
              </p:cTn>
              <p:nextCondLst>
                <p:cond evt="onClick" delay="0">
                  <p:tgtEl>
                    <p:spTgt spid="21"/>
                  </p:tgtEl>
                </p:cond>
              </p:nextCondLst>
            </p:seq>
            <p:seq concurrent="1" nextAc="seek">
              <p:cTn id="38" restart="whenNotActive" fill="hold" evtFilter="cancelBubble" nodeType="interactiveSeq">
                <p:stCondLst>
                  <p:cond evt="onClick" delay="0">
                    <p:tgtEl>
                      <p:spTgt spid="22"/>
                    </p:tgtEl>
                  </p:cond>
                </p:stCondLst>
                <p:endSync evt="end" delay="0">
                  <p:rtn val="all"/>
                </p:endSync>
                <p:childTnLst>
                  <p:par>
                    <p:cTn id="39" fill="hold">
                      <p:stCondLst>
                        <p:cond delay="0"/>
                      </p:stCondLst>
                      <p:childTnLst>
                        <p:par>
                          <p:cTn id="40" fill="hold">
                            <p:stCondLst>
                              <p:cond delay="0"/>
                            </p:stCondLst>
                            <p:childTnLst>
                              <p:par>
                                <p:cTn id="41" presetID="2" presetClass="mediacall" presetSubtype="0" fill="hold" nodeType="clickEffect">
                                  <p:stCondLst>
                                    <p:cond delay="0"/>
                                  </p:stCondLst>
                                  <p:childTnLst>
                                    <p:cmd type="call" cmd="togglePause">
                                      <p:cBhvr>
                                        <p:cTn id="42" dur="1" fill="hold"/>
                                        <p:tgtEl>
                                          <p:spTgt spid="22"/>
                                        </p:tgtEl>
                                      </p:cBhvr>
                                    </p:cmd>
                                  </p:childTnLst>
                                </p:cTn>
                              </p:par>
                            </p:childTnLst>
                          </p:cTn>
                        </p:par>
                      </p:childTnLst>
                    </p:cTn>
                  </p:par>
                </p:childTnLst>
              </p:cTn>
              <p:nextCondLst>
                <p:cond evt="onClick" delay="0">
                  <p:tgtEl>
                    <p:spTgt spid="22"/>
                  </p:tgtEl>
                </p:cond>
              </p:nextCondLst>
            </p:seq>
            <p:audio>
              <p:cMediaNode vol="80000">
                <p:cTn id="43" fill="hold" display="0">
                  <p:stCondLst>
                    <p:cond delay="indefinite"/>
                  </p:stCondLst>
                  <p:endCondLst>
                    <p:cond evt="onStopAudio" delay="0">
                      <p:tgtEl>
                        <p:sldTgt/>
                      </p:tgtEl>
                    </p:cond>
                  </p:endCondLst>
                </p:cTn>
                <p:tgtEl>
                  <p:spTgt spid="21"/>
                </p:tgtEl>
              </p:cMediaNode>
            </p:audio>
            <p:audio>
              <p:cMediaNode vol="80000">
                <p:cTn id="44" fill="hold" display="0">
                  <p:stCondLst>
                    <p:cond delay="indefinite"/>
                  </p:stCondLst>
                  <p:endCondLst>
                    <p:cond evt="onStopAudio" delay="0">
                      <p:tgtEl>
                        <p:sldTgt/>
                      </p:tgtEl>
                    </p:cond>
                  </p:endCondLst>
                </p:cTn>
                <p:tgtEl>
                  <p:spTgt spid="22"/>
                </p:tgtEl>
              </p:cMediaNode>
            </p:audio>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51"/>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14</a:t>
            </a:r>
            <a:endParaRPr lang="en-US" sz="2200" dirty="0"/>
          </a:p>
        </p:txBody>
      </p:sp>
      <p:pic>
        <p:nvPicPr>
          <p:cNvPr id="4" name="brY_452" descr="/home/claude/lls-course/v2/assets/brush-yellow.png">    </p:cNvPr>
          <p:cNvPicPr>
            <a:picLocks noChangeAspect="1"/>
          </p:cNvPicPr>
          <p:nvPr/>
        </p:nvPicPr>
        <p:blipFill>
          <a:blip r:embed="rId2"/>
          <a:stretch>
            <a:fillRect/>
          </a:stretch>
        </p:blipFill>
        <p:spPr>
          <a:xfrm>
            <a:off x="1097280" y="146304"/>
            <a:ext cx="4348886" cy="621792"/>
          </a:xfrm>
          <a:prstGeom prst="rect">
            <a:avLst/>
          </a:prstGeom>
        </p:spPr>
      </p:pic>
      <p:sp>
        <p:nvSpPr>
          <p:cNvPr id="5" name="title_453"/>
          <p:cNvSpPr/>
          <p:nvPr/>
        </p:nvSpPr>
        <p:spPr>
          <a:xfrm>
            <a:off x="1261872" y="164592"/>
            <a:ext cx="4074566"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I'd love to be able to…</a:t>
            </a:r>
            <a:endParaRPr lang="en-US" sz="2500" dirty="0"/>
          </a:p>
        </p:txBody>
      </p:sp>
      <p:pic>
        <p:nvPicPr>
          <p:cNvPr id="6" name="brP_454" descr="/home/claude/lls-course/v2/assets/brush-pink.png">    </p:cNvPr>
          <p:cNvPicPr>
            <a:picLocks noChangeAspect="1"/>
          </p:cNvPicPr>
          <p:nvPr/>
        </p:nvPicPr>
        <p:blipFill>
          <a:blip r:embed="rId3"/>
          <a:stretch>
            <a:fillRect/>
          </a:stretch>
        </p:blipFill>
        <p:spPr>
          <a:xfrm>
            <a:off x="1207008" y="731520"/>
            <a:ext cx="4119372" cy="402336"/>
          </a:xfrm>
          <a:prstGeom prst="rect">
            <a:avLst/>
          </a:prstGeom>
        </p:spPr>
      </p:pic>
      <p:sp>
        <p:nvSpPr>
          <p:cNvPr id="7" name="ins_455"/>
          <p:cNvSpPr/>
          <p:nvPr/>
        </p:nvSpPr>
        <p:spPr>
          <a:xfrm>
            <a:off x="1353312" y="731520"/>
            <a:ext cx="386334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Choose 2 topics. Tell your partner why.</a:t>
            </a:r>
            <a:endParaRPr lang="en-US" sz="1250" dirty="0"/>
          </a:p>
        </p:txBody>
      </p:sp>
      <p:sp>
        <p:nvSpPr>
          <p:cNvPr id="8" name="insIT_456"/>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Scegli 2 argomenti. Di' al compagno perché.</a:t>
            </a:r>
            <a:endParaRPr lang="en-US" sz="950" dirty="0"/>
          </a:p>
        </p:txBody>
      </p:sp>
      <p:sp>
        <p:nvSpPr>
          <p:cNvPr id="9" name="cmd_457"/>
          <p:cNvSpPr/>
          <p:nvPr/>
        </p:nvSpPr>
        <p:spPr>
          <a:xfrm>
            <a:off x="6510528" y="182880"/>
            <a:ext cx="1901952"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100" dirty="0"/>
          </a:p>
        </p:txBody>
      </p:sp>
      <p:sp>
        <p:nvSpPr>
          <p:cNvPr id="10" name="meta_458"/>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pairs</a:t>
            </a:r>
            <a:endParaRPr lang="en-US" sz="950" dirty="0"/>
          </a:p>
        </p:txBody>
      </p:sp>
      <p:sp>
        <p:nvSpPr>
          <p:cNvPr id="11" name="tag_459"/>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Speaking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Communicative</a:t>
            </a:r>
            <a:endParaRPr lang="en-US" sz="850" dirty="0"/>
          </a:p>
        </p:txBody>
      </p:sp>
      <p:pic>
        <p:nvPicPr>
          <p:cNvPr id="12" name="logo_460"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461"/>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4B-1 · Speaking · your skills   ·   📖 SB p.40 · 1e, 1f</a:t>
            </a:r>
            <a:endParaRPr lang="en-US" sz="800" dirty="0"/>
          </a:p>
        </p:txBody>
      </p:sp>
      <p:sp>
        <p:nvSpPr>
          <p:cNvPr id="14" name="pf_462"/>
          <p:cNvSpPr/>
          <p:nvPr/>
        </p:nvSpPr>
        <p:spPr>
          <a:xfrm rot="-120000">
            <a:off x="320040" y="1371600"/>
            <a:ext cx="2788920" cy="1874520"/>
          </a:xfrm>
          <a:prstGeom prst="roundRect">
            <a:avLst>
              <a:gd name="adj" fmla="val 829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463" descr="/home/claude/lls-course/v2/cache/spare_work_skills_jpg_649x429_31.png">    </p:cNvPr>
          <p:cNvPicPr>
            <a:picLocks noChangeAspect="1"/>
          </p:cNvPicPr>
          <p:nvPr/>
        </p:nvPicPr>
        <p:blipFill>
          <a:blip r:embed="rId5"/>
          <a:stretch>
            <a:fillRect/>
          </a:stretch>
        </p:blipFill>
        <p:spPr>
          <a:xfrm rot="-120000">
            <a:off x="365760" y="1417320"/>
            <a:ext cx="2697480" cy="1783080"/>
          </a:xfrm>
          <a:prstGeom prst="rect">
            <a:avLst/>
          </a:prstGeom>
        </p:spPr>
      </p:pic>
      <p:sp>
        <p:nvSpPr>
          <p:cNvPr id="16" name="cd_464"/>
          <p:cNvSpPr/>
          <p:nvPr/>
        </p:nvSpPr>
        <p:spPr>
          <a:xfrm>
            <a:off x="320040" y="3429000"/>
            <a:ext cx="2788920" cy="1325880"/>
          </a:xfrm>
          <a:prstGeom prst="roundRect">
            <a:avLst>
              <a:gd name="adj" fmla="val 9655"/>
            </a:avLst>
          </a:prstGeom>
          <a:solidFill>
            <a:srgbClr val="EEE8FB"/>
          </a:solidFill>
          <a:ln w="19050">
            <a:solidFill>
              <a:srgbClr val="CDBFF3"/>
            </a:solidFill>
            <a:prstDash val="solid"/>
          </a:ln>
          <a:effectLst>
            <a:outerShdw sx="100000" sy="100000" kx="0" ky="0" algn="bl" rotWithShape="0" blurRad="88900" dist="31750" dir="5400000">
              <a:srgbClr val="1B2559">
                <a:alpha val="12000"/>
              </a:srgbClr>
            </a:outerShdw>
          </a:effectLst>
        </p:spPr>
      </p:sp>
      <p:sp>
        <p:nvSpPr>
          <p:cNvPr id="17" name="ii_465"/>
          <p:cNvSpPr/>
          <p:nvPr/>
        </p:nvSpPr>
        <p:spPr>
          <a:xfrm>
            <a:off x="411480" y="350215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8" name="ih_466"/>
          <p:cNvSpPr/>
          <p:nvPr/>
        </p:nvSpPr>
        <p:spPr>
          <a:xfrm>
            <a:off x="886968" y="3520440"/>
            <a:ext cx="214884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Useful phrases</a:t>
            </a:r>
            <a:endParaRPr lang="en-US" sz="1300" dirty="0"/>
          </a:p>
        </p:txBody>
      </p:sp>
      <p:sp>
        <p:nvSpPr>
          <p:cNvPr id="19" name="il_467"/>
          <p:cNvSpPr/>
          <p:nvPr/>
        </p:nvSpPr>
        <p:spPr>
          <a:xfrm>
            <a:off x="886968" y="3904488"/>
            <a:ext cx="2130552" cy="7772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I'd love to be able to…</a:t>
            </a:r>
            <a:endParaRPr lang="en-US" sz="1050" dirty="0"/>
          </a:p>
          <a:p>
            <a:pPr marL="152400" indent="-152400">
              <a:spcBef>
                <a:spcPts val="500"/>
              </a:spcBef>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I've never been able to…</a:t>
            </a:r>
            <a:endParaRPr lang="en-US" sz="1050" dirty="0"/>
          </a:p>
          <a:p>
            <a:pPr marL="152400" indent="-152400">
              <a:spcBef>
                <a:spcPts val="500"/>
              </a:spcBef>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Lucky you! · Why (not)?</a:t>
            </a:r>
            <a:endParaRPr lang="en-US" sz="1050" dirty="0"/>
          </a:p>
        </p:txBody>
      </p:sp>
      <p:sp>
        <p:nvSpPr>
          <p:cNvPr id="20" name="R1_qb468"/>
          <p:cNvSpPr/>
          <p:nvPr/>
        </p:nvSpPr>
        <p:spPr>
          <a:xfrm>
            <a:off x="3273552" y="1453896"/>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1" name="R1_sq469"/>
          <p:cNvSpPr/>
          <p:nvPr/>
        </p:nvSpPr>
        <p:spPr>
          <a:xfrm>
            <a:off x="3675888" y="1417320"/>
            <a:ext cx="5193792" cy="530352"/>
          </a:xfrm>
          <a:prstGeom prst="roundRect">
            <a:avLst>
              <a:gd name="adj" fmla="val 20690"/>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Something you'd love to be able to do</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I'd love to be able to ski, but I don't live near the mountains.</a:t>
            </a:r>
            <a:endParaRPr lang="en-US" sz="1250" dirty="0"/>
          </a:p>
        </p:txBody>
      </p:sp>
      <p:sp>
        <p:nvSpPr>
          <p:cNvPr id="22" name="R2_qb470"/>
          <p:cNvSpPr/>
          <p:nvPr/>
        </p:nvSpPr>
        <p:spPr>
          <a:xfrm>
            <a:off x="3273552" y="2057400"/>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3" name="R2_sq471"/>
          <p:cNvSpPr/>
          <p:nvPr/>
        </p:nvSpPr>
        <p:spPr>
          <a:xfrm>
            <a:off x="3675888" y="2020824"/>
            <a:ext cx="5193792" cy="530352"/>
          </a:xfrm>
          <a:prstGeom prst="roundRect">
            <a:avLst>
              <a:gd name="adj" fmla="val 20690"/>
            </a:avLst>
          </a:prstGeom>
          <a:solidFill>
            <a:srgbClr val="FFFFFF"/>
          </a:solidFill>
          <a:ln w="2222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050" dirty="0">
                <a:solidFill>
                  <a:srgbClr val="1B2559"/>
                </a:solidFill>
                <a:latin typeface="Segoe UI Semibold" pitchFamily="34" charset="0"/>
                <a:ea typeface="Segoe UI Semibold" pitchFamily="34" charset="-122"/>
                <a:cs typeface="Segoe UI Semibold" pitchFamily="34" charset="-120"/>
              </a:rPr>
              <a:t>Something you've tried to learn, but have never been able to do well</a:t>
            </a:r>
            <a:endParaRPr lang="en-US" sz="1050" dirty="0"/>
          </a:p>
          <a:p>
            <a:pPr indent="0" marL="0">
              <a:buNone/>
            </a:pPr>
            <a:r>
              <a:rPr lang="en-US" sz="850" i="1" dirty="0">
                <a:solidFill>
                  <a:srgbClr val="5B6785"/>
                </a:solidFill>
                <a:latin typeface="Segoe UI" pitchFamily="34" charset="0"/>
                <a:ea typeface="Segoe UI" pitchFamily="34" charset="-122"/>
                <a:cs typeface="Segoe UI" pitchFamily="34" charset="-120"/>
              </a:rPr>
              <a:t>e.g. I've never been able to swim well – I hate putting my face in the water!</a:t>
            </a:r>
            <a:endParaRPr lang="en-US" sz="1050" dirty="0"/>
          </a:p>
        </p:txBody>
      </p:sp>
      <p:sp>
        <p:nvSpPr>
          <p:cNvPr id="24" name="R3_qb472"/>
          <p:cNvSpPr/>
          <p:nvPr/>
        </p:nvSpPr>
        <p:spPr>
          <a:xfrm>
            <a:off x="3273552" y="266090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5" name="R3_sq473"/>
          <p:cNvSpPr/>
          <p:nvPr/>
        </p:nvSpPr>
        <p:spPr>
          <a:xfrm>
            <a:off x="3675888" y="2624328"/>
            <a:ext cx="5193792" cy="530352"/>
          </a:xfrm>
          <a:prstGeom prst="roundRect">
            <a:avLst>
              <a:gd name="adj" fmla="val 20690"/>
            </a:avLst>
          </a:prstGeom>
          <a:solidFill>
            <a:srgbClr val="FFFFFF"/>
          </a:solidFill>
          <a:ln w="22225">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Something you learned to do after a lot of effort</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I learned to ride a bike when I was eight. I fell off a lot!</a:t>
            </a:r>
            <a:endParaRPr lang="en-US" sz="1250" dirty="0"/>
          </a:p>
        </p:txBody>
      </p:sp>
      <p:sp>
        <p:nvSpPr>
          <p:cNvPr id="26" name="R4_qb474"/>
          <p:cNvSpPr/>
          <p:nvPr/>
        </p:nvSpPr>
        <p:spPr>
          <a:xfrm>
            <a:off x="3273552" y="3264408"/>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7" name="R4_sq475"/>
          <p:cNvSpPr/>
          <p:nvPr/>
        </p:nvSpPr>
        <p:spPr>
          <a:xfrm>
            <a:off x="3675888" y="3227832"/>
            <a:ext cx="5193792" cy="530352"/>
          </a:xfrm>
          <a:prstGeom prst="roundRect">
            <a:avLst>
              <a:gd name="adj" fmla="val 20690"/>
            </a:avLst>
          </a:prstGeom>
          <a:solidFill>
            <a:srgbClr val="FFFFFF"/>
          </a:solidFill>
          <a:ln w="22225">
            <a:solidFill>
              <a:srgbClr val="FFE07A"/>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Something you can do, but you'd like to be able to do better</a:t>
            </a:r>
            <a:endParaRPr lang="en-US" sz="1200" dirty="0"/>
          </a:p>
          <a:p>
            <a:pPr indent="0" marL="0">
              <a:buNone/>
            </a:pPr>
            <a:r>
              <a:rPr lang="en-US" sz="950" i="1" dirty="0">
                <a:solidFill>
                  <a:srgbClr val="5B6785"/>
                </a:solidFill>
                <a:latin typeface="Segoe UI" pitchFamily="34" charset="0"/>
                <a:ea typeface="Segoe UI" pitchFamily="34" charset="-122"/>
                <a:cs typeface="Segoe UI" pitchFamily="34" charset="-120"/>
              </a:rPr>
              <a:t>e.g. I can cook pasta, but I'd like to be able to make arancine.</a:t>
            </a:r>
            <a:endParaRPr lang="en-US" sz="1200" dirty="0"/>
          </a:p>
        </p:txBody>
      </p:sp>
      <p:sp>
        <p:nvSpPr>
          <p:cNvPr id="28" name="R5_qb476"/>
          <p:cNvSpPr/>
          <p:nvPr/>
        </p:nvSpPr>
        <p:spPr>
          <a:xfrm>
            <a:off x="3273552" y="3867912"/>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29" name="R5_sq477"/>
          <p:cNvSpPr/>
          <p:nvPr/>
        </p:nvSpPr>
        <p:spPr>
          <a:xfrm>
            <a:off x="3675888" y="3831336"/>
            <a:ext cx="5193792" cy="530352"/>
          </a:xfrm>
          <a:prstGeom prst="roundRect">
            <a:avLst>
              <a:gd name="adj" fmla="val 20690"/>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Something all young people should be able to do before they leave school</a:t>
            </a:r>
            <a:endParaRPr lang="en-US" sz="950" dirty="0"/>
          </a:p>
          <a:p>
            <a:pPr indent="0" marL="0">
              <a:buNone/>
            </a:pPr>
            <a:r>
              <a:rPr lang="en-US" sz="750" i="1" dirty="0">
                <a:solidFill>
                  <a:srgbClr val="5B6785"/>
                </a:solidFill>
                <a:latin typeface="Segoe UI" pitchFamily="34" charset="0"/>
                <a:ea typeface="Segoe UI" pitchFamily="34" charset="-122"/>
                <a:cs typeface="Segoe UI" pitchFamily="34" charset="-120"/>
              </a:rPr>
              <a:t>e.g. I think everyone should be able to cook a simple meal.</a:t>
            </a:r>
            <a:endParaRPr lang="en-US" sz="9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400"/>
                                        <p:tgtEl>
                                          <p:spTgt spid="20"/>
                                        </p:tgtEl>
                                      </p:cBhvr>
                                    </p:animEffect>
                                  </p:childTnLst>
                                </p:cTn>
                              </p:par>
                              <p:par>
                                <p:cTn id="8" presetID="10" presetClass="entr" presetSubtype="0" fill="hold" nodeType="with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fade">
                                      <p:cBhvr>
                                        <p:cTn id="10" dur="400"/>
                                        <p:tgtEl>
                                          <p:spTgt spid="21"/>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2"/>
                                        </p:tgtEl>
                                        <p:attrNameLst>
                                          <p:attrName>style.visibility</p:attrName>
                                        </p:attrNameLst>
                                      </p:cBhvr>
                                      <p:to>
                                        <p:strVal val="visible"/>
                                      </p:to>
                                    </p:set>
                                    <p:animEffect transition="in" filter="fade">
                                      <p:cBhvr>
                                        <p:cTn id="15" dur="400"/>
                                        <p:tgtEl>
                                          <p:spTgt spid="22"/>
                                        </p:tgtEl>
                                      </p:cBhvr>
                                    </p:animEffect>
                                  </p:childTnLst>
                                </p:cTn>
                              </p:par>
                              <p:par>
                                <p:cTn id="16" presetID="10" presetClass="entr" presetSubtype="0" fill="hold" nodeType="withEffect">
                                  <p:stCondLst>
                                    <p:cond delay="0"/>
                                  </p:stCondLst>
                                  <p:childTnLst>
                                    <p:set>
                                      <p:cBhvr>
                                        <p:cTn id="17" dur="1" fill="hold">
                                          <p:stCondLst>
                                            <p:cond delay="0"/>
                                          </p:stCondLst>
                                        </p:cTn>
                                        <p:tgtEl>
                                          <p:spTgt spid="23"/>
                                        </p:tgtEl>
                                        <p:attrNameLst>
                                          <p:attrName>style.visibility</p:attrName>
                                        </p:attrNameLst>
                                      </p:cBhvr>
                                      <p:to>
                                        <p:strVal val="visible"/>
                                      </p:to>
                                    </p:set>
                                    <p:animEffect transition="in" filter="fade">
                                      <p:cBhvr>
                                        <p:cTn id="18" dur="400"/>
                                        <p:tgtEl>
                                          <p:spTgt spid="23"/>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4"/>
                                        </p:tgtEl>
                                        <p:attrNameLst>
                                          <p:attrName>style.visibility</p:attrName>
                                        </p:attrNameLst>
                                      </p:cBhvr>
                                      <p:to>
                                        <p:strVal val="visible"/>
                                      </p:to>
                                    </p:set>
                                    <p:animEffect transition="in" filter="fade">
                                      <p:cBhvr>
                                        <p:cTn id="23" dur="400"/>
                                        <p:tgtEl>
                                          <p:spTgt spid="24"/>
                                        </p:tgtEl>
                                      </p:cBhvr>
                                    </p:animEffect>
                                  </p:childTnLst>
                                </p:cTn>
                              </p:par>
                              <p:par>
                                <p:cTn id="24" presetID="10" presetClass="entr" presetSubtype="0" fill="hold" nodeType="withEffect">
                                  <p:stCondLst>
                                    <p:cond delay="0"/>
                                  </p:stCondLst>
                                  <p:childTnLst>
                                    <p:set>
                                      <p:cBhvr>
                                        <p:cTn id="25" dur="1" fill="hold">
                                          <p:stCondLst>
                                            <p:cond delay="0"/>
                                          </p:stCondLst>
                                        </p:cTn>
                                        <p:tgtEl>
                                          <p:spTgt spid="25"/>
                                        </p:tgtEl>
                                        <p:attrNameLst>
                                          <p:attrName>style.visibility</p:attrName>
                                        </p:attrNameLst>
                                      </p:cBhvr>
                                      <p:to>
                                        <p:strVal val="visible"/>
                                      </p:to>
                                    </p:set>
                                    <p:animEffect transition="in" filter="fade">
                                      <p:cBhvr>
                                        <p:cTn id="26" dur="400"/>
                                        <p:tgtEl>
                                          <p:spTgt spid="25"/>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26"/>
                                        </p:tgtEl>
                                        <p:attrNameLst>
                                          <p:attrName>style.visibility</p:attrName>
                                        </p:attrNameLst>
                                      </p:cBhvr>
                                      <p:to>
                                        <p:strVal val="visible"/>
                                      </p:to>
                                    </p:set>
                                    <p:animEffect transition="in" filter="fade">
                                      <p:cBhvr>
                                        <p:cTn id="31" dur="400"/>
                                        <p:tgtEl>
                                          <p:spTgt spid="26"/>
                                        </p:tgtEl>
                                      </p:cBhvr>
                                    </p:animEffect>
                                  </p:childTnLst>
                                </p:cTn>
                              </p:par>
                              <p:par>
                                <p:cTn id="32" presetID="10" presetClass="entr" presetSubtype="0" fill="hold" nodeType="withEffect">
                                  <p:stCondLst>
                                    <p:cond delay="0"/>
                                  </p:stCondLst>
                                  <p:childTnLst>
                                    <p:set>
                                      <p:cBhvr>
                                        <p:cTn id="33" dur="1" fill="hold">
                                          <p:stCondLst>
                                            <p:cond delay="0"/>
                                          </p:stCondLst>
                                        </p:cTn>
                                        <p:tgtEl>
                                          <p:spTgt spid="27"/>
                                        </p:tgtEl>
                                        <p:attrNameLst>
                                          <p:attrName>style.visibility</p:attrName>
                                        </p:attrNameLst>
                                      </p:cBhvr>
                                      <p:to>
                                        <p:strVal val="visible"/>
                                      </p:to>
                                    </p:set>
                                    <p:animEffect transition="in" filter="fade">
                                      <p:cBhvr>
                                        <p:cTn id="34" dur="400"/>
                                        <p:tgtEl>
                                          <p:spTgt spid="27"/>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28"/>
                                        </p:tgtEl>
                                        <p:attrNameLst>
                                          <p:attrName>style.visibility</p:attrName>
                                        </p:attrNameLst>
                                      </p:cBhvr>
                                      <p:to>
                                        <p:strVal val="visible"/>
                                      </p:to>
                                    </p:set>
                                    <p:animEffect transition="in" filter="fade">
                                      <p:cBhvr>
                                        <p:cTn id="39" dur="400"/>
                                        <p:tgtEl>
                                          <p:spTgt spid="28"/>
                                        </p:tgtEl>
                                      </p:cBhvr>
                                    </p:animEffect>
                                  </p:childTnLst>
                                </p:cTn>
                              </p:par>
                              <p:par>
                                <p:cTn id="40" presetID="10" presetClass="entr" presetSubtype="0" fill="hold" nodeType="withEffect">
                                  <p:stCondLst>
                                    <p:cond delay="0"/>
                                  </p:stCondLst>
                                  <p:childTnLst>
                                    <p:set>
                                      <p:cBhvr>
                                        <p:cTn id="41" dur="1" fill="hold">
                                          <p:stCondLst>
                                            <p:cond delay="0"/>
                                          </p:stCondLst>
                                        </p:cTn>
                                        <p:tgtEl>
                                          <p:spTgt spid="29"/>
                                        </p:tgtEl>
                                        <p:attrNameLst>
                                          <p:attrName>style.visibility</p:attrName>
                                        </p:attrNameLst>
                                      </p:cBhvr>
                                      <p:to>
                                        <p:strVal val="visible"/>
                                      </p:to>
                                    </p:set>
                                    <p:animEffect transition="in" filter="fade">
                                      <p:cBhvr>
                                        <p:cTn id="42" dur="4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78"/>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15</a:t>
            </a:r>
            <a:endParaRPr lang="en-US" sz="2200" dirty="0"/>
          </a:p>
        </p:txBody>
      </p:sp>
      <p:pic>
        <p:nvPicPr>
          <p:cNvPr id="4" name="brY_479" descr="/home/claude/lls-course/v2/assets/brush-yellow.png">    </p:cNvPr>
          <p:cNvPicPr>
            <a:picLocks noChangeAspect="1"/>
          </p:cNvPicPr>
          <p:nvPr/>
        </p:nvPicPr>
        <p:blipFill>
          <a:blip r:embed="rId2"/>
          <a:stretch>
            <a:fillRect/>
          </a:stretch>
        </p:blipFill>
        <p:spPr>
          <a:xfrm>
            <a:off x="1097280" y="146304"/>
            <a:ext cx="3405226" cy="621792"/>
          </a:xfrm>
          <a:prstGeom prst="rect">
            <a:avLst/>
          </a:prstGeom>
        </p:spPr>
      </p:pic>
      <p:sp>
        <p:nvSpPr>
          <p:cNvPr id="5" name="title_480"/>
          <p:cNvSpPr/>
          <p:nvPr/>
        </p:nvSpPr>
        <p:spPr>
          <a:xfrm>
            <a:off x="1261872" y="164592"/>
            <a:ext cx="3130906"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Guess the numbers</a:t>
            </a:r>
            <a:endParaRPr lang="en-US" sz="2400" dirty="0"/>
          </a:p>
        </p:txBody>
      </p:sp>
      <p:pic>
        <p:nvPicPr>
          <p:cNvPr id="6" name="brP_481" descr="/home/claude/lls-course/v2/assets/brush-pink.png">    </p:cNvPr>
          <p:cNvPicPr>
            <a:picLocks noChangeAspect="1"/>
          </p:cNvPicPr>
          <p:nvPr/>
        </p:nvPicPr>
        <p:blipFill>
          <a:blip r:embed="rId3"/>
          <a:stretch>
            <a:fillRect/>
          </a:stretch>
        </p:blipFill>
        <p:spPr>
          <a:xfrm>
            <a:off x="1207008" y="731520"/>
            <a:ext cx="3076956" cy="402336"/>
          </a:xfrm>
          <a:prstGeom prst="rect">
            <a:avLst/>
          </a:prstGeom>
        </p:spPr>
      </p:pic>
      <p:sp>
        <p:nvSpPr>
          <p:cNvPr id="7" name="ins_482"/>
          <p:cNvSpPr/>
          <p:nvPr/>
        </p:nvSpPr>
        <p:spPr>
          <a:xfrm>
            <a:off x="1353312" y="731520"/>
            <a:ext cx="282092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Guess where the numbers go!</a:t>
            </a:r>
            <a:endParaRPr lang="en-US" sz="1250" dirty="0"/>
          </a:p>
        </p:txBody>
      </p:sp>
      <p:sp>
        <p:nvSpPr>
          <p:cNvPr id="8" name="insIT_483"/>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Indovina dove vanno i numeri!</a:t>
            </a:r>
            <a:endParaRPr lang="en-US" sz="950" dirty="0"/>
          </a:p>
        </p:txBody>
      </p:sp>
      <p:sp>
        <p:nvSpPr>
          <p:cNvPr id="9" name="cmd_484"/>
          <p:cNvSpPr/>
          <p:nvPr/>
        </p:nvSpPr>
        <p:spPr>
          <a:xfrm>
            <a:off x="6510528" y="182880"/>
            <a:ext cx="1901952"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READ</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LEGGI</a:t>
            </a:r>
            <a:endParaRPr lang="en-US" sz="1100" dirty="0"/>
          </a:p>
        </p:txBody>
      </p:sp>
      <p:sp>
        <p:nvSpPr>
          <p:cNvPr id="10" name="cmd_485"/>
          <p:cNvSpPr/>
          <p:nvPr/>
        </p:nvSpPr>
        <p:spPr>
          <a:xfrm>
            <a:off x="6510528" y="566928"/>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GUESS</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INDOVINA</a:t>
            </a:r>
            <a:endParaRPr lang="en-US" sz="1100" dirty="0"/>
          </a:p>
        </p:txBody>
      </p:sp>
      <p:sp>
        <p:nvSpPr>
          <p:cNvPr id="11" name="meta_486"/>
          <p:cNvSpPr/>
          <p:nvPr/>
        </p:nvSpPr>
        <p:spPr>
          <a:xfrm>
            <a:off x="6583680" y="950976"/>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pairs</a:t>
            </a:r>
            <a:endParaRPr lang="en-US" sz="950" dirty="0"/>
          </a:p>
        </p:txBody>
      </p:sp>
      <p:sp>
        <p:nvSpPr>
          <p:cNvPr id="12" name="tag_487"/>
          <p:cNvSpPr/>
          <p:nvPr/>
        </p:nvSpPr>
        <p:spPr>
          <a:xfrm>
            <a:off x="6510528" y="1188720"/>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Reading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Prediction</a:t>
            </a:r>
            <a:endParaRPr lang="en-US" sz="850" dirty="0"/>
          </a:p>
        </p:txBody>
      </p:sp>
      <p:pic>
        <p:nvPicPr>
          <p:cNvPr id="13" name="logo_488"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489"/>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4B-1 · Reading · prediction   ·   📖 SB p.41 · 3a, 3b</a:t>
            </a:r>
            <a:endParaRPr lang="en-US" sz="800" dirty="0"/>
          </a:p>
        </p:txBody>
      </p:sp>
      <p:sp>
        <p:nvSpPr>
          <p:cNvPr id="15" name="cd_490"/>
          <p:cNvSpPr/>
          <p:nvPr/>
        </p:nvSpPr>
        <p:spPr>
          <a:xfrm>
            <a:off x="320040" y="1417320"/>
            <a:ext cx="5029200" cy="1965960"/>
          </a:xfrm>
          <a:prstGeom prst="roundRect">
            <a:avLst>
              <a:gd name="adj" fmla="val 6512"/>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16" name="hl_491"/>
          <p:cNvSpPr/>
          <p:nvPr/>
        </p:nvSpPr>
        <p:spPr>
          <a:xfrm>
            <a:off x="502920" y="1508760"/>
            <a:ext cx="4663440" cy="548640"/>
          </a:xfrm>
          <a:prstGeom prst="rect">
            <a:avLst/>
          </a:prstGeom>
          <a:noFill/>
          <a:ln/>
        </p:spPr>
        <p:txBody>
          <a:bodyPr wrap="square" lIns="0" tIns="0" rIns="0" bIns="0" rtlCol="0" anchor="ctr"/>
          <a:lstStyle/>
          <a:p>
            <a:pPr indent="0" marL="0">
              <a:buNone/>
            </a:pPr>
            <a:r>
              <a:rPr lang="en-US" sz="2800" b="1" dirty="0">
                <a:solidFill>
                  <a:srgbClr val="1F6F43"/>
                </a:solidFill>
                <a:latin typeface="Georgia" pitchFamily="34" charset="0"/>
                <a:ea typeface="Georgia" pitchFamily="34" charset="-122"/>
                <a:cs typeface="Georgia" pitchFamily="34" charset="-120"/>
              </a:rPr>
              <a:t>10,000 or 20 hours?</a:t>
            </a:r>
            <a:endParaRPr lang="en-US" sz="2800" dirty="0"/>
          </a:p>
        </p:txBody>
      </p:sp>
      <p:sp>
        <p:nvSpPr>
          <p:cNvPr id="17" name="nx_492"/>
          <p:cNvSpPr/>
          <p:nvPr/>
        </p:nvSpPr>
        <p:spPr>
          <a:xfrm>
            <a:off x="457200" y="2807208"/>
            <a:ext cx="4754880" cy="512064"/>
          </a:xfrm>
          <a:prstGeom prst="roundRect">
            <a:avLst>
              <a:gd name="adj" fmla="val 17857"/>
            </a:avLst>
          </a:prstGeom>
          <a:solidFill>
            <a:srgbClr val="E3F7EA"/>
          </a:solidFill>
          <a:ln>
            <a:solidFill>
              <a:srgbClr val="A8E5BE"/>
            </a:solidFill>
          </a:ln>
        </p:spPr>
        <p:txBody>
          <a:bodyPr wrap="square" lIns="127000" tIns="25400" rIns="127000" bIns="25400" rtlCol="0" anchor="ctr">
            <a:normAutofit/>
          </a:bodyPr>
          <a:lstStyle/>
          <a:p>
            <a:pPr indent="0" marL="0">
              <a:buNone/>
            </a:pPr>
            <a:r>
              <a:rPr lang="en-US" sz="850" dirty="0">
                <a:solidFill>
                  <a:srgbClr val="2EB872"/>
                </a:solidFill>
                <a:latin typeface="Segoe UI Black" pitchFamily="34" charset="0"/>
                <a:ea typeface="Segoe UI Black" pitchFamily="34" charset="-122"/>
                <a:cs typeface="Segoe UI Black" pitchFamily="34" charset="-120"/>
              </a:rPr>
              <a:t>➡ NEXT  </a:t>
            </a:r>
            <a:pPr indent="0" marL="0">
              <a:buNone/>
            </a:pPr>
            <a:r>
              <a:rPr lang="en-US" sz="1000" dirty="0">
                <a:solidFill>
                  <a:srgbClr val="1B2559"/>
                </a:solidFill>
                <a:latin typeface="Segoe UI Semibold" pitchFamily="34" charset="0"/>
                <a:ea typeface="Segoe UI Semibold" pitchFamily="34" charset="-122"/>
                <a:cs typeface="Segoe UI Semibold" pitchFamily="34" charset="-120"/>
              </a:rPr>
              <a:t>The two short texts on the next 2 slides have 5 gaps: 3 numbers from the bank and 2 more words. Guess first!</a:t>
            </a:r>
            <a:endParaRPr lang="en-US" sz="850" dirty="0"/>
          </a:p>
        </p:txBody>
      </p:sp>
      <p:sp>
        <p:nvSpPr>
          <p:cNvPr id="18" name="sf_493"/>
          <p:cNvSpPr/>
          <p:nvPr/>
        </p:nvSpPr>
        <p:spPr>
          <a:xfrm>
            <a:off x="521208" y="2039112"/>
            <a:ext cx="4663440" cy="731520"/>
          </a:xfrm>
          <a:prstGeom prst="rect">
            <a:avLst/>
          </a:prstGeom>
          <a:noFill/>
          <a:ln/>
        </p:spPr>
        <p:txBody>
          <a:bodyPr wrap="square" lIns="0" tIns="0" rIns="0" bIns="0" rtlCol="0" anchor="t">
            <a:normAutofit/>
          </a:bodyPr>
          <a:lstStyle/>
          <a:p>
            <a:pPr indent="0" marL="0">
              <a:buNone/>
            </a:pPr>
            <a:r>
              <a:rPr lang="en-US" sz="1150" i="1" dirty="0">
                <a:solidFill>
                  <a:srgbClr val="1B2559"/>
                </a:solidFill>
                <a:latin typeface="Georgia" pitchFamily="34" charset="0"/>
                <a:ea typeface="Georgia" pitchFamily="34" charset="-122"/>
                <a:cs typeface="Georgia" pitchFamily="34" charset="-120"/>
              </a:rPr>
              <a:t>One writer says you need 10,000 hours of practice to be really good at something. Another says 20 hours is enough. A journalist decided to try it…</a:t>
            </a:r>
            <a:endParaRPr lang="en-US" sz="1150" dirty="0"/>
          </a:p>
        </p:txBody>
      </p:sp>
      <p:sp>
        <p:nvSpPr>
          <p:cNvPr id="19" name="nbl_494"/>
          <p:cNvSpPr/>
          <p:nvPr/>
        </p:nvSpPr>
        <p:spPr>
          <a:xfrm>
            <a:off x="365760" y="3566160"/>
            <a:ext cx="4937760" cy="274320"/>
          </a:xfrm>
          <a:prstGeom prst="rect">
            <a:avLst/>
          </a:prstGeom>
          <a:noFill/>
          <a:ln/>
        </p:spPr>
        <p:txBody>
          <a:bodyPr wrap="square" lIns="0" tIns="0" rIns="0" bIns="0" rtlCol="0" anchor="ctr"/>
          <a:lstStyle/>
          <a:p>
            <a:pPr indent="0" marL="0">
              <a:buNone/>
            </a:pPr>
            <a:r>
              <a:rPr lang="en-US" sz="1100" dirty="0">
                <a:solidFill>
                  <a:srgbClr val="1B2559"/>
                </a:solidFill>
                <a:latin typeface="Arial Rounded MT Bold" pitchFamily="34" charset="0"/>
                <a:ea typeface="Arial Rounded MT Bold" pitchFamily="34" charset="-122"/>
                <a:cs typeface="Arial Rounded MT Bold" pitchFamily="34" charset="-120"/>
              </a:rPr>
              <a:t>🔢 NUMBER BANK · guess where they go!</a:t>
            </a:r>
            <a:endParaRPr lang="en-US" sz="1100" dirty="0"/>
          </a:p>
        </p:txBody>
      </p:sp>
      <p:sp>
        <p:nvSpPr>
          <p:cNvPr id="20" name="bd_495"/>
          <p:cNvSpPr/>
          <p:nvPr/>
        </p:nvSpPr>
        <p:spPr>
          <a:xfrm>
            <a:off x="365760" y="3931920"/>
            <a:ext cx="548640" cy="548640"/>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800" dirty="0">
                <a:solidFill>
                  <a:srgbClr val="FFFFFF"/>
                </a:solidFill>
                <a:latin typeface="Arial Rounded MT Bold" pitchFamily="34" charset="0"/>
                <a:ea typeface="Arial Rounded MT Bold" pitchFamily="34" charset="-122"/>
                <a:cs typeface="Arial Rounded MT Bold" pitchFamily="34" charset="-120"/>
              </a:rPr>
              <a:t>5</a:t>
            </a:r>
            <a:endParaRPr lang="en-US" sz="1800" dirty="0"/>
          </a:p>
        </p:txBody>
      </p:sp>
      <p:sp>
        <p:nvSpPr>
          <p:cNvPr id="21" name="bd_496"/>
          <p:cNvSpPr/>
          <p:nvPr/>
        </p:nvSpPr>
        <p:spPr>
          <a:xfrm>
            <a:off x="987552" y="3931920"/>
            <a:ext cx="548640" cy="548640"/>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800" dirty="0">
                <a:solidFill>
                  <a:srgbClr val="FFFFFF"/>
                </a:solidFill>
                <a:latin typeface="Arial Rounded MT Bold" pitchFamily="34" charset="0"/>
                <a:ea typeface="Arial Rounded MT Bold" pitchFamily="34" charset="-122"/>
                <a:cs typeface="Arial Rounded MT Bold" pitchFamily="34" charset="-120"/>
              </a:rPr>
              <a:t>7</a:t>
            </a:r>
            <a:endParaRPr lang="en-US" sz="1800" dirty="0"/>
          </a:p>
        </p:txBody>
      </p:sp>
      <p:sp>
        <p:nvSpPr>
          <p:cNvPr id="22" name="bd_497"/>
          <p:cNvSpPr/>
          <p:nvPr/>
        </p:nvSpPr>
        <p:spPr>
          <a:xfrm>
            <a:off x="1609344" y="3931920"/>
            <a:ext cx="548640" cy="548640"/>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400" dirty="0">
                <a:solidFill>
                  <a:srgbClr val="FFFFFF"/>
                </a:solidFill>
                <a:latin typeface="Arial Rounded MT Bold" pitchFamily="34" charset="0"/>
                <a:ea typeface="Arial Rounded MT Bold" pitchFamily="34" charset="-122"/>
                <a:cs typeface="Arial Rounded MT Bold" pitchFamily="34" charset="-120"/>
              </a:rPr>
              <a:t>20</a:t>
            </a:r>
            <a:endParaRPr lang="en-US" sz="1400" dirty="0"/>
          </a:p>
        </p:txBody>
      </p:sp>
      <p:sp>
        <p:nvSpPr>
          <p:cNvPr id="23" name="bd_498"/>
          <p:cNvSpPr/>
          <p:nvPr/>
        </p:nvSpPr>
        <p:spPr>
          <a:xfrm>
            <a:off x="2231136" y="3931920"/>
            <a:ext cx="548640" cy="548640"/>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800" dirty="0">
                <a:solidFill>
                  <a:srgbClr val="FFFFFF"/>
                </a:solidFill>
                <a:latin typeface="Arial Rounded MT Bold" pitchFamily="34" charset="0"/>
                <a:ea typeface="Arial Rounded MT Bold" pitchFamily="34" charset="-122"/>
                <a:cs typeface="Arial Rounded MT Bold" pitchFamily="34" charset="-120"/>
              </a:rPr>
              <a:t>10,000</a:t>
            </a:r>
            <a:endParaRPr lang="en-US" sz="800" dirty="0"/>
          </a:p>
        </p:txBody>
      </p:sp>
      <p:sp>
        <p:nvSpPr>
          <p:cNvPr id="24" name="pf_499"/>
          <p:cNvSpPr/>
          <p:nvPr/>
        </p:nvSpPr>
        <p:spPr>
          <a:xfrm rot="90000">
            <a:off x="5577840" y="1234440"/>
            <a:ext cx="3246120" cy="3383280"/>
          </a:xfrm>
          <a:prstGeom prst="roundRect">
            <a:avLst>
              <a:gd name="adj" fmla="val 4789"/>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25" name="phx_500"/>
          <p:cNvSpPr/>
          <p:nvPr/>
        </p:nvSpPr>
        <p:spPr>
          <a:xfrm>
            <a:off x="5623560" y="1280160"/>
            <a:ext cx="3154680" cy="329184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pitchFamily="34" charset="0"/>
                <a:ea typeface="Segoe UI" pitchFamily="34" charset="-122"/>
                <a:cs typeface="Segoe UI" pitchFamily="34" charset="-120"/>
              </a:rPr>
              <a:t>📷 4b1-cover.jpg</a:t>
            </a:r>
            <a:endParaRPr lang="en-US" sz="900" dirty="0"/>
          </a:p>
        </p:txBody>
      </p:sp>
    </p:spTree>
  </p:cSld>
  <p:clrMapOvr>
    <a:masterClrMapping/>
  </p:clrMapOvr>
  <p:transition spd="med">
    <p:push dir="l"/>
  </p:transition>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501"/>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16</a:t>
            </a:r>
            <a:endParaRPr lang="en-US" sz="2200" dirty="0"/>
          </a:p>
        </p:txBody>
      </p:sp>
      <p:pic>
        <p:nvPicPr>
          <p:cNvPr id="4" name="brY_502" descr="/home/claude/lls-course/v2/assets/brush-yellow.png">    </p:cNvPr>
          <p:cNvPicPr>
            <a:picLocks noChangeAspect="1"/>
          </p:cNvPicPr>
          <p:nvPr/>
        </p:nvPicPr>
        <p:blipFill>
          <a:blip r:embed="rId2"/>
          <a:stretch>
            <a:fillRect/>
          </a:stretch>
        </p:blipFill>
        <p:spPr>
          <a:xfrm>
            <a:off x="1097280" y="146304"/>
            <a:ext cx="3562502" cy="621792"/>
          </a:xfrm>
          <a:prstGeom prst="rect">
            <a:avLst/>
          </a:prstGeom>
        </p:spPr>
      </p:pic>
      <p:sp>
        <p:nvSpPr>
          <p:cNvPr id="5" name="title_503"/>
          <p:cNvSpPr/>
          <p:nvPr/>
        </p:nvSpPr>
        <p:spPr>
          <a:xfrm>
            <a:off x="1261872" y="164592"/>
            <a:ext cx="328818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Read and check 1/2</a:t>
            </a:r>
            <a:endParaRPr lang="en-US" sz="2500" dirty="0"/>
          </a:p>
        </p:txBody>
      </p:sp>
      <p:pic>
        <p:nvPicPr>
          <p:cNvPr id="6" name="brP_504" descr="/home/claude/lls-course/v2/assets/brush-pink.png">    </p:cNvPr>
          <p:cNvPicPr>
            <a:picLocks noChangeAspect="1"/>
          </p:cNvPicPr>
          <p:nvPr/>
        </p:nvPicPr>
        <p:blipFill>
          <a:blip r:embed="rId3"/>
          <a:stretch>
            <a:fillRect/>
          </a:stretch>
        </p:blipFill>
        <p:spPr>
          <a:xfrm>
            <a:off x="1207008" y="731520"/>
            <a:ext cx="3945636" cy="402336"/>
          </a:xfrm>
          <a:prstGeom prst="rect">
            <a:avLst/>
          </a:prstGeom>
        </p:spPr>
      </p:pic>
      <p:sp>
        <p:nvSpPr>
          <p:cNvPr id="7" name="ins_505"/>
          <p:cNvSpPr/>
          <p:nvPr/>
        </p:nvSpPr>
        <p:spPr>
          <a:xfrm>
            <a:off x="1353312" y="731520"/>
            <a:ext cx="368960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Guess gaps 1–2. Then click and check.</a:t>
            </a:r>
            <a:endParaRPr lang="en-US" sz="1250" dirty="0"/>
          </a:p>
        </p:txBody>
      </p:sp>
      <p:sp>
        <p:nvSpPr>
          <p:cNvPr id="8" name="insIT_506"/>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Indovina gli spazi 1–2. Poi clicca e controlla.</a:t>
            </a:r>
            <a:endParaRPr lang="en-US" sz="950" dirty="0"/>
          </a:p>
        </p:txBody>
      </p:sp>
      <p:sp>
        <p:nvSpPr>
          <p:cNvPr id="9" name="cmd_507"/>
          <p:cNvSpPr/>
          <p:nvPr/>
        </p:nvSpPr>
        <p:spPr>
          <a:xfrm>
            <a:off x="6510528" y="182880"/>
            <a:ext cx="1901952"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READ</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LEGGI</a:t>
            </a:r>
            <a:endParaRPr lang="en-US" sz="1100" dirty="0"/>
          </a:p>
        </p:txBody>
      </p:sp>
      <p:sp>
        <p:nvSpPr>
          <p:cNvPr id="10" name="meta_508"/>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pairs</a:t>
            </a:r>
            <a:endParaRPr lang="en-US" sz="950" dirty="0"/>
          </a:p>
        </p:txBody>
      </p:sp>
      <p:sp>
        <p:nvSpPr>
          <p:cNvPr id="11" name="tag_509"/>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Reading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TPRS · reading</a:t>
            </a:r>
            <a:endParaRPr lang="en-US" sz="850" dirty="0"/>
          </a:p>
        </p:txBody>
      </p:sp>
      <p:pic>
        <p:nvPicPr>
          <p:cNvPr id="12" name="logo_510"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511"/>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4B-1 · Reading · 10,000 hours?   ·   📖 SB p.41 · 3a</a:t>
            </a:r>
            <a:endParaRPr lang="en-US" sz="800" dirty="0"/>
          </a:p>
        </p:txBody>
      </p:sp>
      <p:sp>
        <p:nvSpPr>
          <p:cNvPr id="14" name="cd_512"/>
          <p:cNvSpPr/>
          <p:nvPr/>
        </p:nvSpPr>
        <p:spPr>
          <a:xfrm>
            <a:off x="320040" y="1417320"/>
            <a:ext cx="5715000" cy="3337560"/>
          </a:xfrm>
          <a:prstGeom prst="roundRect">
            <a:avLst>
              <a:gd name="adj" fmla="val 3836"/>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15" name="sh_513"/>
          <p:cNvSpPr/>
          <p:nvPr/>
        </p:nvSpPr>
        <p:spPr>
          <a:xfrm>
            <a:off x="320040" y="1417320"/>
            <a:ext cx="5715000" cy="438912"/>
          </a:xfrm>
          <a:prstGeom prst="rect">
            <a:avLst/>
          </a:prstGeom>
          <a:solidFill>
            <a:srgbClr val="E3F7EA"/>
          </a:solidFill>
          <a:ln/>
        </p:spPr>
        <p:txBody>
          <a:bodyPr wrap="square" lIns="203200" tIns="0" rIns="203200" bIns="0" rtlCol="0" anchor="ctr"/>
          <a:lstStyle/>
          <a:p>
            <a:pPr indent="0" marL="0">
              <a:buNone/>
            </a:pPr>
            <a:r>
              <a:rPr lang="en-US" sz="1700" b="1" dirty="0">
                <a:solidFill>
                  <a:srgbClr val="1F6F43"/>
                </a:solidFill>
                <a:latin typeface="Georgia" pitchFamily="34" charset="0"/>
                <a:ea typeface="Georgia" pitchFamily="34" charset="-122"/>
                <a:cs typeface="Georgia" pitchFamily="34" charset="-120"/>
              </a:rPr>
              <a:t>Learn a new skill in 20 hours</a:t>
            </a:r>
            <a:endParaRPr lang="en-US" sz="1700" dirty="0"/>
          </a:p>
        </p:txBody>
      </p:sp>
      <p:sp>
        <p:nvSpPr>
          <p:cNvPr id="16" name="ln_514"/>
          <p:cNvSpPr/>
          <p:nvPr/>
        </p:nvSpPr>
        <p:spPr>
          <a:xfrm>
            <a:off x="548640" y="1920240"/>
            <a:ext cx="5349240" cy="548640"/>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It was Malcolm Gladwell, the popular writer on modern psychology, who popularized the idea that it takes </a:t>
            </a:r>
            <a:pPr indent="0" marL="0">
              <a:buNone/>
            </a:pPr>
            <a:r>
              <a:rPr lang="en-US" sz="1200" b="1" dirty="0">
                <a:solidFill>
                  <a:srgbClr val="2EB872"/>
                </a:solidFill>
                <a:latin typeface="Georgia" pitchFamily="34" charset="0"/>
                <a:ea typeface="Georgia" pitchFamily="34" charset="-122"/>
                <a:cs typeface="Georgia" pitchFamily="34" charset="-120"/>
              </a:rPr>
              <a:t> (1) ________ </a:t>
            </a:r>
            <a:pPr indent="0" marL="0">
              <a:buNone/>
            </a:pPr>
            <a:r>
              <a:rPr lang="en-US" sz="1200" dirty="0">
                <a:solidFill>
                  <a:srgbClr val="1B2559"/>
                </a:solidFill>
                <a:latin typeface="Georgia" pitchFamily="34" charset="0"/>
                <a:ea typeface="Georgia" pitchFamily="34" charset="-122"/>
                <a:cs typeface="Georgia" pitchFamily="34" charset="-120"/>
              </a:rPr>
              <a:t> hours of practice to really master a new skill, such as playing the piano.</a:t>
            </a:r>
            <a:endParaRPr lang="en-US" sz="1200" dirty="0"/>
          </a:p>
        </p:txBody>
      </p:sp>
      <p:sp>
        <p:nvSpPr>
          <p:cNvPr id="17" name="R1_lnA515"/>
          <p:cNvSpPr/>
          <p:nvPr/>
        </p:nvSpPr>
        <p:spPr>
          <a:xfrm>
            <a:off x="548640" y="1920240"/>
            <a:ext cx="5349240" cy="548640"/>
          </a:xfrm>
          <a:prstGeom prst="rect">
            <a:avLst/>
          </a:prstGeom>
          <a:solidFill>
            <a:srgbClr val="FFFFFF"/>
          </a:solid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It was Malcolm Gladwell, the popular writer on modern psychology, who popularized the idea that it takes </a:t>
            </a:r>
            <a:pPr indent="0" marL="0">
              <a:buNone/>
            </a:pPr>
            <a:r>
              <a:rPr lang="en-US" sz="1200" b="1" dirty="0">
                <a:solidFill>
                  <a:srgbClr val="1B2559"/>
                </a:solidFill>
                <a:highlight>
                  <a:srgbClr val="FFE066"/>
                </a:highlight>
                <a:latin typeface="Georgia" pitchFamily="34" charset="0"/>
                <a:ea typeface="Georgia" pitchFamily="34" charset="-122"/>
                <a:cs typeface="Georgia" pitchFamily="34" charset="-120"/>
              </a:rPr>
              <a:t>10,000</a:t>
            </a:r>
            <a:pPr indent="0" marL="0">
              <a:buNone/>
            </a:pPr>
            <a:r>
              <a:rPr lang="en-US" sz="1200" dirty="0">
                <a:solidFill>
                  <a:srgbClr val="1B2559"/>
                </a:solidFill>
                <a:latin typeface="Georgia" pitchFamily="34" charset="0"/>
                <a:ea typeface="Georgia" pitchFamily="34" charset="-122"/>
                <a:cs typeface="Georgia" pitchFamily="34" charset="-120"/>
              </a:rPr>
              <a:t> hours of practice to really master a new skill, such as playing the piano.</a:t>
            </a:r>
            <a:endParaRPr lang="en-US" sz="1200" dirty="0"/>
          </a:p>
        </p:txBody>
      </p:sp>
      <p:sp>
        <p:nvSpPr>
          <p:cNvPr id="18" name="ln_516"/>
          <p:cNvSpPr/>
          <p:nvPr/>
        </p:nvSpPr>
        <p:spPr>
          <a:xfrm>
            <a:off x="548640" y="2468880"/>
            <a:ext cx="5349240" cy="548640"/>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But in this non-stop world, who has that kind of time?</a:t>
            </a:r>
            <a:endParaRPr lang="en-US" sz="1200" dirty="0"/>
          </a:p>
        </p:txBody>
      </p:sp>
      <p:sp>
        <p:nvSpPr>
          <p:cNvPr id="19" name="ln_517"/>
          <p:cNvSpPr/>
          <p:nvPr/>
        </p:nvSpPr>
        <p:spPr>
          <a:xfrm>
            <a:off x="548640" y="3017520"/>
            <a:ext cx="5349240" cy="548640"/>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In his book The First 20 Hours, Josh Kaufman tells you how to learn any new skill really quickly.</a:t>
            </a:r>
            <a:endParaRPr lang="en-US" sz="1200" dirty="0"/>
          </a:p>
        </p:txBody>
      </p:sp>
      <p:sp>
        <p:nvSpPr>
          <p:cNvPr id="20" name="ln_518"/>
          <p:cNvSpPr/>
          <p:nvPr/>
        </p:nvSpPr>
        <p:spPr>
          <a:xfrm>
            <a:off x="548640" y="3566160"/>
            <a:ext cx="5349240" cy="548640"/>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By completing just 20 hours of focused practice, you</a:t>
            </a:r>
            <a:pPr indent="0" marL="0">
              <a:buNone/>
            </a:pPr>
            <a:r>
              <a:rPr lang="en-US" sz="1200" b="1" dirty="0">
                <a:solidFill>
                  <a:srgbClr val="2EB872"/>
                </a:solidFill>
                <a:latin typeface="Georgia" pitchFamily="34" charset="0"/>
                <a:ea typeface="Georgia" pitchFamily="34" charset="-122"/>
                <a:cs typeface="Georgia" pitchFamily="34" charset="-120"/>
              </a:rPr>
              <a:t> (2) ________ </a:t>
            </a:r>
            <a:pPr indent="0" marL="0">
              <a:buNone/>
            </a:pPr>
            <a:r>
              <a:rPr lang="en-US" sz="1200" dirty="0">
                <a:solidFill>
                  <a:srgbClr val="1B2559"/>
                </a:solidFill>
                <a:latin typeface="Georgia" pitchFamily="34" charset="0"/>
                <a:ea typeface="Georgia" pitchFamily="34" charset="-122"/>
                <a:cs typeface="Georgia" pitchFamily="34" charset="-120"/>
              </a:rPr>
              <a:t> go from knowing absolutely nothing to performing well.</a:t>
            </a:r>
            <a:endParaRPr lang="en-US" sz="1200" dirty="0"/>
          </a:p>
        </p:txBody>
      </p:sp>
      <p:sp>
        <p:nvSpPr>
          <p:cNvPr id="21" name="R2_lnA519"/>
          <p:cNvSpPr/>
          <p:nvPr/>
        </p:nvSpPr>
        <p:spPr>
          <a:xfrm>
            <a:off x="548640" y="3566160"/>
            <a:ext cx="5349240" cy="548640"/>
          </a:xfrm>
          <a:prstGeom prst="rect">
            <a:avLst/>
          </a:prstGeom>
          <a:solidFill>
            <a:srgbClr val="FFFFFF"/>
          </a:solid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By completing just 20 hours of focused practice, you</a:t>
            </a:r>
            <a:pPr indent="0" marL="0">
              <a:buNone/>
            </a:pPr>
            <a:r>
              <a:rPr lang="en-US" sz="1200" b="1" dirty="0">
                <a:solidFill>
                  <a:srgbClr val="1B2559"/>
                </a:solidFill>
                <a:highlight>
                  <a:srgbClr val="FFE066"/>
                </a:highlight>
                <a:latin typeface="Georgia" pitchFamily="34" charset="0"/>
                <a:ea typeface="Georgia" pitchFamily="34" charset="-122"/>
                <a:cs typeface="Georgia" pitchFamily="34" charset="-120"/>
              </a:rPr>
              <a:t>'ll be able to</a:t>
            </a:r>
            <a:pPr indent="0" marL="0">
              <a:buNone/>
            </a:pPr>
            <a:r>
              <a:rPr lang="en-US" sz="1200" dirty="0">
                <a:solidFill>
                  <a:srgbClr val="1B2559"/>
                </a:solidFill>
                <a:latin typeface="Georgia" pitchFamily="34" charset="0"/>
                <a:ea typeface="Georgia" pitchFamily="34" charset="-122"/>
                <a:cs typeface="Georgia" pitchFamily="34" charset="-120"/>
              </a:rPr>
              <a:t> go from knowing absolutely nothing to performing well.</a:t>
            </a:r>
            <a:endParaRPr lang="en-US" sz="1200" dirty="0"/>
          </a:p>
        </p:txBody>
      </p:sp>
      <p:sp>
        <p:nvSpPr>
          <p:cNvPr id="22" name="ln_520"/>
          <p:cNvSpPr/>
          <p:nvPr/>
        </p:nvSpPr>
        <p:spPr>
          <a:xfrm>
            <a:off x="548640" y="4114800"/>
            <a:ext cx="5349240" cy="548640"/>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But is it really possible? Matt Rudd, a Sunday Times journalist, decided to give it a try.</a:t>
            </a:r>
            <a:endParaRPr lang="en-US" sz="1200" dirty="0"/>
          </a:p>
        </p:txBody>
      </p:sp>
      <p:sp>
        <p:nvSpPr>
          <p:cNvPr id="23" name="pf_521"/>
          <p:cNvSpPr/>
          <p:nvPr/>
        </p:nvSpPr>
        <p:spPr>
          <a:xfrm rot="120000">
            <a:off x="6309360" y="1417320"/>
            <a:ext cx="2560320" cy="1508760"/>
          </a:xfrm>
          <a:prstGeom prst="roundRect">
            <a:avLst>
              <a:gd name="adj" fmla="val 1030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24" name="phx_522"/>
          <p:cNvSpPr/>
          <p:nvPr/>
        </p:nvSpPr>
        <p:spPr>
          <a:xfrm>
            <a:off x="6355080" y="1463040"/>
            <a:ext cx="2468880" cy="141732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pitchFamily="34" charset="0"/>
                <a:ea typeface="Segoe UI" pitchFamily="34" charset="-122"/>
                <a:cs typeface="Segoe UI" pitchFamily="34" charset="-120"/>
              </a:rPr>
              <a:t>📷 4b1-piano-lesson.jpg</a:t>
            </a:r>
            <a:endParaRPr lang="en-US" sz="900" dirty="0"/>
          </a:p>
        </p:txBody>
      </p:sp>
      <p:sp>
        <p:nvSpPr>
          <p:cNvPr id="25" name="cd_523"/>
          <p:cNvSpPr/>
          <p:nvPr/>
        </p:nvSpPr>
        <p:spPr>
          <a:xfrm>
            <a:off x="6263640" y="3794760"/>
            <a:ext cx="2651760" cy="960120"/>
          </a:xfrm>
          <a:prstGeom prst="roundRect">
            <a:avLst>
              <a:gd name="adj" fmla="val 13333"/>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6" name="ii_524"/>
          <p:cNvSpPr/>
          <p:nvPr/>
        </p:nvSpPr>
        <p:spPr>
          <a:xfrm>
            <a:off x="6355080" y="38679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7" name="ih_525"/>
          <p:cNvSpPr/>
          <p:nvPr/>
        </p:nvSpPr>
        <p:spPr>
          <a:xfrm>
            <a:off x="6830568" y="3886200"/>
            <a:ext cx="201168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Remember</a:t>
            </a:r>
            <a:endParaRPr lang="en-US" sz="1200" dirty="0"/>
          </a:p>
        </p:txBody>
      </p:sp>
      <p:sp>
        <p:nvSpPr>
          <p:cNvPr id="28" name="il_526"/>
          <p:cNvSpPr/>
          <p:nvPr/>
        </p:nvSpPr>
        <p:spPr>
          <a:xfrm>
            <a:off x="6830568" y="4270248"/>
            <a:ext cx="1993392" cy="41148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00" dirty="0">
                <a:solidFill>
                  <a:srgbClr val="1B2559"/>
                </a:solidFill>
                <a:latin typeface="Segoe UI" pitchFamily="34" charset="0"/>
                <a:ea typeface="Segoe UI" pitchFamily="34" charset="-122"/>
                <a:cs typeface="Segoe UI" pitchFamily="34" charset="-120"/>
              </a:rPr>
              <a:t>master = diventare bravo in</a:t>
            </a:r>
            <a:endParaRPr lang="en-US" sz="1000" dirty="0"/>
          </a:p>
          <a:p>
            <a:pPr marL="152400" indent="-152400">
              <a:spcBef>
                <a:spcPts val="500"/>
              </a:spcBef>
              <a:spcAft>
                <a:spcPts val="200"/>
              </a:spcAft>
              <a:buSzPct val="100000"/>
              <a:buChar char="•"/>
            </a:pPr>
            <a:r>
              <a:rPr lang="en-US" sz="1000" dirty="0">
                <a:solidFill>
                  <a:srgbClr val="1B2559"/>
                </a:solidFill>
                <a:latin typeface="Segoe UI" pitchFamily="34" charset="0"/>
                <a:ea typeface="Segoe UI" pitchFamily="34" charset="-122"/>
                <a:cs typeface="Segoe UI" pitchFamily="34" charset="-120"/>
              </a:rPr>
              <a:t>give it a try = provarci</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fade">
                                      <p:cBhvr>
                                        <p:cTn id="7" dur="400"/>
                                        <p:tgtEl>
                                          <p:spTgt spid="1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1"/>
                                        </p:tgtEl>
                                        <p:attrNameLst>
                                          <p:attrName>style.visibility</p:attrName>
                                        </p:attrNameLst>
                                      </p:cBhvr>
                                      <p:to>
                                        <p:strVal val="visible"/>
                                      </p:to>
                                    </p:set>
                                    <p:animEffect transition="in" filter="fade">
                                      <p:cBhvr>
                                        <p:cTn id="12" dur="4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527"/>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17</a:t>
            </a:r>
            <a:endParaRPr lang="en-US" sz="2200" dirty="0"/>
          </a:p>
        </p:txBody>
      </p:sp>
      <p:pic>
        <p:nvPicPr>
          <p:cNvPr id="4" name="brY_528" descr="/home/claude/lls-course/v2/assets/brush-yellow.png">    </p:cNvPr>
          <p:cNvPicPr>
            <a:picLocks noChangeAspect="1"/>
          </p:cNvPicPr>
          <p:nvPr/>
        </p:nvPicPr>
        <p:blipFill>
          <a:blip r:embed="rId2"/>
          <a:stretch>
            <a:fillRect/>
          </a:stretch>
        </p:blipFill>
        <p:spPr>
          <a:xfrm>
            <a:off x="1097280" y="146304"/>
            <a:ext cx="3562502" cy="621792"/>
          </a:xfrm>
          <a:prstGeom prst="rect">
            <a:avLst/>
          </a:prstGeom>
        </p:spPr>
      </p:pic>
      <p:sp>
        <p:nvSpPr>
          <p:cNvPr id="5" name="title_529"/>
          <p:cNvSpPr/>
          <p:nvPr/>
        </p:nvSpPr>
        <p:spPr>
          <a:xfrm>
            <a:off x="1261872" y="164592"/>
            <a:ext cx="328818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Read and check 2/2</a:t>
            </a:r>
            <a:endParaRPr lang="en-US" sz="2500" dirty="0"/>
          </a:p>
        </p:txBody>
      </p:sp>
      <p:pic>
        <p:nvPicPr>
          <p:cNvPr id="6" name="brP_530" descr="/home/claude/lls-course/v2/assets/brush-pink.png">    </p:cNvPr>
          <p:cNvPicPr>
            <a:picLocks noChangeAspect="1"/>
          </p:cNvPicPr>
          <p:nvPr/>
        </p:nvPicPr>
        <p:blipFill>
          <a:blip r:embed="rId3"/>
          <a:stretch>
            <a:fillRect/>
          </a:stretch>
        </p:blipFill>
        <p:spPr>
          <a:xfrm>
            <a:off x="1207008" y="731520"/>
            <a:ext cx="3945636" cy="402336"/>
          </a:xfrm>
          <a:prstGeom prst="rect">
            <a:avLst/>
          </a:prstGeom>
        </p:spPr>
      </p:pic>
      <p:sp>
        <p:nvSpPr>
          <p:cNvPr id="7" name="ins_531"/>
          <p:cNvSpPr/>
          <p:nvPr/>
        </p:nvSpPr>
        <p:spPr>
          <a:xfrm>
            <a:off x="1353312" y="731520"/>
            <a:ext cx="368960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Guess gaps 3–5. Then click and check.</a:t>
            </a:r>
            <a:endParaRPr lang="en-US" sz="1250" dirty="0"/>
          </a:p>
        </p:txBody>
      </p:sp>
      <p:sp>
        <p:nvSpPr>
          <p:cNvPr id="8" name="insIT_532"/>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Indovina gli spazi 3–5. Poi clicca e controlla.</a:t>
            </a:r>
            <a:endParaRPr lang="en-US" sz="950" dirty="0"/>
          </a:p>
        </p:txBody>
      </p:sp>
      <p:sp>
        <p:nvSpPr>
          <p:cNvPr id="9" name="cmd_533"/>
          <p:cNvSpPr/>
          <p:nvPr/>
        </p:nvSpPr>
        <p:spPr>
          <a:xfrm>
            <a:off x="6510528" y="182880"/>
            <a:ext cx="1901952"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READ</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LEGGI</a:t>
            </a:r>
            <a:endParaRPr lang="en-US" sz="1100" dirty="0"/>
          </a:p>
        </p:txBody>
      </p:sp>
      <p:sp>
        <p:nvSpPr>
          <p:cNvPr id="10" name="meta_534"/>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pairs</a:t>
            </a:r>
            <a:endParaRPr lang="en-US" sz="950" dirty="0"/>
          </a:p>
        </p:txBody>
      </p:sp>
      <p:sp>
        <p:nvSpPr>
          <p:cNvPr id="11" name="tag_535"/>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Reading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TPRS · reading</a:t>
            </a:r>
            <a:endParaRPr lang="en-US" sz="850" dirty="0"/>
          </a:p>
        </p:txBody>
      </p:sp>
      <p:pic>
        <p:nvPicPr>
          <p:cNvPr id="12" name="logo_536"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537"/>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4B-1 · Reading · Matt's first try   ·   📖 SB p.41 · 3b</a:t>
            </a:r>
            <a:endParaRPr lang="en-US" sz="800" dirty="0"/>
          </a:p>
        </p:txBody>
      </p:sp>
      <p:sp>
        <p:nvSpPr>
          <p:cNvPr id="14" name="cd_538"/>
          <p:cNvSpPr/>
          <p:nvPr/>
        </p:nvSpPr>
        <p:spPr>
          <a:xfrm>
            <a:off x="320040" y="1417320"/>
            <a:ext cx="5715000" cy="3337560"/>
          </a:xfrm>
          <a:prstGeom prst="roundRect">
            <a:avLst>
              <a:gd name="adj" fmla="val 3836"/>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15" name="sh_539"/>
          <p:cNvSpPr/>
          <p:nvPr/>
        </p:nvSpPr>
        <p:spPr>
          <a:xfrm>
            <a:off x="320040" y="1417320"/>
            <a:ext cx="5715000" cy="438912"/>
          </a:xfrm>
          <a:prstGeom prst="rect">
            <a:avLst/>
          </a:prstGeom>
          <a:solidFill>
            <a:srgbClr val="E3F7EA"/>
          </a:solidFill>
          <a:ln/>
        </p:spPr>
        <p:txBody>
          <a:bodyPr wrap="square" lIns="203200" tIns="0" rIns="203200" bIns="0" rtlCol="0" anchor="ctr"/>
          <a:lstStyle/>
          <a:p>
            <a:pPr indent="0" marL="0">
              <a:buNone/>
            </a:pPr>
            <a:r>
              <a:rPr lang="en-US" sz="1700" b="1" dirty="0">
                <a:solidFill>
                  <a:srgbClr val="1F6F43"/>
                </a:solidFill>
                <a:latin typeface="Georgia" pitchFamily="34" charset="0"/>
                <a:ea typeface="Georgia" pitchFamily="34" charset="-122"/>
                <a:cs typeface="Georgia" pitchFamily="34" charset="-120"/>
              </a:rPr>
              <a:t>Matt Rudd learns the trumpet</a:t>
            </a:r>
            <a:endParaRPr lang="en-US" sz="1700" dirty="0"/>
          </a:p>
        </p:txBody>
      </p:sp>
      <p:sp>
        <p:nvSpPr>
          <p:cNvPr id="16" name="ln_540"/>
          <p:cNvSpPr/>
          <p:nvPr/>
        </p:nvSpPr>
        <p:spPr>
          <a:xfrm>
            <a:off x="548640" y="1920240"/>
            <a:ext cx="5349240" cy="548640"/>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Georgia" pitchFamily="34" charset="0"/>
                <a:ea typeface="Georgia" pitchFamily="34" charset="-122"/>
                <a:cs typeface="Georgia" pitchFamily="34" charset="-120"/>
              </a:rPr>
              <a:t>I haven't played a musical instrument for years.</a:t>
            </a:r>
            <a:endParaRPr lang="en-US" sz="1350" dirty="0"/>
          </a:p>
        </p:txBody>
      </p:sp>
      <p:sp>
        <p:nvSpPr>
          <p:cNvPr id="17" name="ln_541"/>
          <p:cNvSpPr/>
          <p:nvPr/>
        </p:nvSpPr>
        <p:spPr>
          <a:xfrm>
            <a:off x="548640" y="2468880"/>
            <a:ext cx="5349240" cy="548640"/>
          </a:xfrm>
          <a:prstGeom prst="rect">
            <a:avLst/>
          </a:prstGeom>
          <a:noFill/>
          <a:ln/>
        </p:spPr>
        <p:txBody>
          <a:bodyPr wrap="square" lIns="0" tIns="0" rIns="0" bIns="0" rtlCol="0" anchor="ctr">
            <a:normAutofit/>
          </a:bodyPr>
          <a:lstStyle/>
          <a:p>
            <a:pPr indent="0" marL="0">
              <a:buNone/>
            </a:pPr>
            <a:r>
              <a:rPr lang="en-US" sz="1350" b="1" dirty="0">
                <a:solidFill>
                  <a:srgbClr val="2EB872"/>
                </a:solidFill>
                <a:latin typeface="Georgia" pitchFamily="34" charset="0"/>
                <a:ea typeface="Georgia" pitchFamily="34" charset="-122"/>
                <a:cs typeface="Georgia" pitchFamily="34" charset="-120"/>
              </a:rPr>
              <a:t> (3) ________ </a:t>
            </a:r>
            <a:pPr indent="0" marL="0">
              <a:buNone/>
            </a:pPr>
            <a:r>
              <a:rPr lang="en-US" sz="1350" dirty="0">
                <a:solidFill>
                  <a:srgbClr val="1B2559"/>
                </a:solidFill>
                <a:latin typeface="Georgia" pitchFamily="34" charset="0"/>
                <a:ea typeface="Georgia" pitchFamily="34" charset="-122"/>
                <a:cs typeface="Georgia" pitchFamily="34" charset="-120"/>
              </a:rPr>
              <a:t> years ago, I got a trumpet for my birthday and I tried to learn it,</a:t>
            </a:r>
            <a:endParaRPr lang="en-US" sz="1350" dirty="0"/>
          </a:p>
        </p:txBody>
      </p:sp>
      <p:sp>
        <p:nvSpPr>
          <p:cNvPr id="18" name="R1_lnA542"/>
          <p:cNvSpPr/>
          <p:nvPr/>
        </p:nvSpPr>
        <p:spPr>
          <a:xfrm>
            <a:off x="548640" y="2468880"/>
            <a:ext cx="5349240" cy="548640"/>
          </a:xfrm>
          <a:prstGeom prst="rect">
            <a:avLst/>
          </a:prstGeom>
          <a:solidFill>
            <a:srgbClr val="FFFFFF"/>
          </a:solidFill>
          <a:ln/>
        </p:spPr>
        <p:txBody>
          <a:bodyPr wrap="square" lIns="0" tIns="0" rIns="0" bIns="0" rtlCol="0" anchor="ctr">
            <a:normAutofit/>
          </a:bodyPr>
          <a:lstStyle/>
          <a:p>
            <a:pPr indent="0" marL="0">
              <a:buNone/>
            </a:pPr>
            <a:r>
              <a:rPr lang="en-US" sz="1350" b="1" dirty="0">
                <a:solidFill>
                  <a:srgbClr val="1B2559"/>
                </a:solidFill>
                <a:highlight>
                  <a:srgbClr val="FFE066"/>
                </a:highlight>
                <a:latin typeface="Georgia" pitchFamily="34" charset="0"/>
                <a:ea typeface="Georgia" pitchFamily="34" charset="-122"/>
                <a:cs typeface="Georgia" pitchFamily="34" charset="-120"/>
              </a:rPr>
              <a:t>Five</a:t>
            </a:r>
            <a:pPr indent="0" marL="0">
              <a:buNone/>
            </a:pPr>
            <a:r>
              <a:rPr lang="en-US" sz="1350" dirty="0">
                <a:solidFill>
                  <a:srgbClr val="1B2559"/>
                </a:solidFill>
                <a:latin typeface="Georgia" pitchFamily="34" charset="0"/>
                <a:ea typeface="Georgia" pitchFamily="34" charset="-122"/>
                <a:cs typeface="Georgia" pitchFamily="34" charset="-120"/>
              </a:rPr>
              <a:t> years ago, I got a trumpet for my birthday and I tried to learn it,</a:t>
            </a:r>
            <a:endParaRPr lang="en-US" sz="1350" dirty="0"/>
          </a:p>
        </p:txBody>
      </p:sp>
      <p:sp>
        <p:nvSpPr>
          <p:cNvPr id="19" name="ln_543"/>
          <p:cNvSpPr/>
          <p:nvPr/>
        </p:nvSpPr>
        <p:spPr>
          <a:xfrm>
            <a:off x="548640" y="3017520"/>
            <a:ext cx="5349240" cy="548640"/>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Georgia" pitchFamily="34" charset="0"/>
                <a:ea typeface="Georgia" pitchFamily="34" charset="-122"/>
                <a:cs typeface="Georgia" pitchFamily="34" charset="-120"/>
              </a:rPr>
              <a:t>but I gave up after </a:t>
            </a:r>
            <a:pPr indent="0" marL="0">
              <a:buNone/>
            </a:pPr>
            <a:r>
              <a:rPr lang="en-US" sz="1350" b="1" dirty="0">
                <a:solidFill>
                  <a:srgbClr val="2EB872"/>
                </a:solidFill>
                <a:latin typeface="Georgia" pitchFamily="34" charset="0"/>
                <a:ea typeface="Georgia" pitchFamily="34" charset="-122"/>
                <a:cs typeface="Georgia" pitchFamily="34" charset="-120"/>
              </a:rPr>
              <a:t> (4) ________ </a:t>
            </a:r>
            <a:pPr indent="0" marL="0">
              <a:buNone/>
            </a:pPr>
            <a:r>
              <a:rPr lang="en-US" sz="1350" dirty="0">
                <a:solidFill>
                  <a:srgbClr val="1B2559"/>
                </a:solidFill>
                <a:latin typeface="Georgia" pitchFamily="34" charset="0"/>
                <a:ea typeface="Georgia" pitchFamily="34" charset="-122"/>
                <a:cs typeface="Georgia" pitchFamily="34" charset="-120"/>
              </a:rPr>
              <a:t> minutes,</a:t>
            </a:r>
            <a:endParaRPr lang="en-US" sz="1350" dirty="0"/>
          </a:p>
        </p:txBody>
      </p:sp>
      <p:sp>
        <p:nvSpPr>
          <p:cNvPr id="20" name="R2_lnA544"/>
          <p:cNvSpPr/>
          <p:nvPr/>
        </p:nvSpPr>
        <p:spPr>
          <a:xfrm>
            <a:off x="548640" y="3017520"/>
            <a:ext cx="5349240" cy="548640"/>
          </a:xfrm>
          <a:prstGeom prst="rect">
            <a:avLst/>
          </a:prstGeom>
          <a:solidFill>
            <a:srgbClr val="FFFFFF"/>
          </a:solidFill>
          <a:ln/>
        </p:spPr>
        <p:txBody>
          <a:bodyPr wrap="square" lIns="0" tIns="0" rIns="0" bIns="0" rtlCol="0" anchor="ctr">
            <a:normAutofit/>
          </a:bodyPr>
          <a:lstStyle/>
          <a:p>
            <a:pPr indent="0" marL="0">
              <a:buNone/>
            </a:pPr>
            <a:r>
              <a:rPr lang="en-US" sz="1350" dirty="0">
                <a:solidFill>
                  <a:srgbClr val="1B2559"/>
                </a:solidFill>
                <a:latin typeface="Georgia" pitchFamily="34" charset="0"/>
                <a:ea typeface="Georgia" pitchFamily="34" charset="-122"/>
                <a:cs typeface="Georgia" pitchFamily="34" charset="-120"/>
              </a:rPr>
              <a:t>but I gave up after </a:t>
            </a:r>
            <a:pPr indent="0" marL="0">
              <a:buNone/>
            </a:pPr>
            <a:r>
              <a:rPr lang="en-US" sz="1350" b="1" dirty="0">
                <a:solidFill>
                  <a:srgbClr val="1B2559"/>
                </a:solidFill>
                <a:highlight>
                  <a:srgbClr val="FFE066"/>
                </a:highlight>
                <a:latin typeface="Georgia" pitchFamily="34" charset="0"/>
                <a:ea typeface="Georgia" pitchFamily="34" charset="-122"/>
                <a:cs typeface="Georgia" pitchFamily="34" charset="-120"/>
              </a:rPr>
              <a:t>seven</a:t>
            </a:r>
            <a:pPr indent="0" marL="0">
              <a:buNone/>
            </a:pPr>
            <a:r>
              <a:rPr lang="en-US" sz="1350" dirty="0">
                <a:solidFill>
                  <a:srgbClr val="1B2559"/>
                </a:solidFill>
                <a:latin typeface="Georgia" pitchFamily="34" charset="0"/>
                <a:ea typeface="Georgia" pitchFamily="34" charset="-122"/>
                <a:cs typeface="Georgia" pitchFamily="34" charset="-120"/>
              </a:rPr>
              <a:t> minutes,</a:t>
            </a:r>
            <a:endParaRPr lang="en-US" sz="1350" dirty="0"/>
          </a:p>
        </p:txBody>
      </p:sp>
      <p:sp>
        <p:nvSpPr>
          <p:cNvPr id="21" name="ln_545"/>
          <p:cNvSpPr/>
          <p:nvPr/>
        </p:nvSpPr>
        <p:spPr>
          <a:xfrm>
            <a:off x="548640" y="3566160"/>
            <a:ext cx="5349240" cy="548640"/>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Georgia" pitchFamily="34" charset="0"/>
                <a:ea typeface="Georgia" pitchFamily="34" charset="-122"/>
                <a:cs typeface="Georgia" pitchFamily="34" charset="-120"/>
              </a:rPr>
              <a:t>and it ended up in the </a:t>
            </a:r>
            <a:pPr indent="0" marL="0">
              <a:buNone/>
            </a:pPr>
            <a:r>
              <a:rPr lang="en-US" sz="1350" b="1" dirty="0">
                <a:solidFill>
                  <a:srgbClr val="2EB872"/>
                </a:solidFill>
                <a:latin typeface="Georgia" pitchFamily="34" charset="0"/>
                <a:ea typeface="Georgia" pitchFamily="34" charset="-122"/>
                <a:cs typeface="Georgia" pitchFamily="34" charset="-120"/>
              </a:rPr>
              <a:t> (5) ________ </a:t>
            </a:r>
            <a:pPr indent="0" marL="0">
              <a:buNone/>
            </a:pPr>
            <a:r>
              <a:rPr lang="en-US" sz="1350" dirty="0">
                <a:solidFill>
                  <a:srgbClr val="1B2559"/>
                </a:solidFill>
                <a:latin typeface="Georgia" pitchFamily="34" charset="0"/>
                <a:ea typeface="Georgia" pitchFamily="34" charset="-122"/>
                <a:cs typeface="Georgia" pitchFamily="34" charset="-120"/>
              </a:rPr>
              <a:t>.</a:t>
            </a:r>
            <a:endParaRPr lang="en-US" sz="1350" dirty="0"/>
          </a:p>
        </p:txBody>
      </p:sp>
      <p:sp>
        <p:nvSpPr>
          <p:cNvPr id="22" name="R3_lnA546"/>
          <p:cNvSpPr/>
          <p:nvPr/>
        </p:nvSpPr>
        <p:spPr>
          <a:xfrm>
            <a:off x="548640" y="3566160"/>
            <a:ext cx="5349240" cy="548640"/>
          </a:xfrm>
          <a:prstGeom prst="rect">
            <a:avLst/>
          </a:prstGeom>
          <a:solidFill>
            <a:srgbClr val="FFFFFF"/>
          </a:solidFill>
          <a:ln/>
        </p:spPr>
        <p:txBody>
          <a:bodyPr wrap="square" lIns="0" tIns="0" rIns="0" bIns="0" rtlCol="0" anchor="ctr">
            <a:normAutofit/>
          </a:bodyPr>
          <a:lstStyle/>
          <a:p>
            <a:pPr indent="0" marL="0">
              <a:buNone/>
            </a:pPr>
            <a:r>
              <a:rPr lang="en-US" sz="1350" dirty="0">
                <a:solidFill>
                  <a:srgbClr val="1B2559"/>
                </a:solidFill>
                <a:latin typeface="Georgia" pitchFamily="34" charset="0"/>
                <a:ea typeface="Georgia" pitchFamily="34" charset="-122"/>
                <a:cs typeface="Georgia" pitchFamily="34" charset="-120"/>
              </a:rPr>
              <a:t>and it ended up in the </a:t>
            </a:r>
            <a:pPr indent="0" marL="0">
              <a:buNone/>
            </a:pPr>
            <a:r>
              <a:rPr lang="en-US" sz="1350" b="1" dirty="0">
                <a:solidFill>
                  <a:srgbClr val="1B2559"/>
                </a:solidFill>
                <a:highlight>
                  <a:srgbClr val="FFE066"/>
                </a:highlight>
                <a:latin typeface="Georgia" pitchFamily="34" charset="0"/>
                <a:ea typeface="Georgia" pitchFamily="34" charset="-122"/>
                <a:cs typeface="Georgia" pitchFamily="34" charset="-120"/>
              </a:rPr>
              <a:t>garage</a:t>
            </a:r>
            <a:pPr indent="0" marL="0">
              <a:buNone/>
            </a:pPr>
            <a:r>
              <a:rPr lang="en-US" sz="1350" dirty="0">
                <a:solidFill>
                  <a:srgbClr val="1B2559"/>
                </a:solidFill>
                <a:latin typeface="Georgia" pitchFamily="34" charset="0"/>
                <a:ea typeface="Georgia" pitchFamily="34" charset="-122"/>
                <a:cs typeface="Georgia" pitchFamily="34" charset="-120"/>
              </a:rPr>
              <a:t>.</a:t>
            </a:r>
            <a:endParaRPr lang="en-US" sz="1350" dirty="0"/>
          </a:p>
        </p:txBody>
      </p:sp>
      <p:sp>
        <p:nvSpPr>
          <p:cNvPr id="23" name="ln_547"/>
          <p:cNvSpPr/>
          <p:nvPr/>
        </p:nvSpPr>
        <p:spPr>
          <a:xfrm>
            <a:off x="548640" y="4114800"/>
            <a:ext cx="5349240" cy="548640"/>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Georgia" pitchFamily="34" charset="0"/>
                <a:ea typeface="Georgia" pitchFamily="34" charset="-122"/>
                <a:cs typeface="Georgia" pitchFamily="34" charset="-120"/>
              </a:rPr>
              <a:t>So here I am, a beginner again.</a:t>
            </a:r>
            <a:endParaRPr lang="en-US" sz="1350" dirty="0"/>
          </a:p>
        </p:txBody>
      </p:sp>
      <p:sp>
        <p:nvSpPr>
          <p:cNvPr id="24" name="pf_548"/>
          <p:cNvSpPr/>
          <p:nvPr/>
        </p:nvSpPr>
        <p:spPr>
          <a:xfrm rot="120000">
            <a:off x="6309360" y="1417320"/>
            <a:ext cx="2560320" cy="1508760"/>
          </a:xfrm>
          <a:prstGeom prst="roundRect">
            <a:avLst>
              <a:gd name="adj" fmla="val 1030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25" name="phx_549"/>
          <p:cNvSpPr/>
          <p:nvPr/>
        </p:nvSpPr>
        <p:spPr>
          <a:xfrm>
            <a:off x="6355080" y="1463040"/>
            <a:ext cx="2468880" cy="141732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pitchFamily="34" charset="0"/>
                <a:ea typeface="Segoe UI" pitchFamily="34" charset="-122"/>
                <a:cs typeface="Segoe UI" pitchFamily="34" charset="-120"/>
              </a:rPr>
              <a:t>📷 4b1-cover.jpg</a:t>
            </a:r>
            <a:endParaRPr lang="en-US" sz="900" dirty="0"/>
          </a:p>
        </p:txBody>
      </p:sp>
      <p:sp>
        <p:nvSpPr>
          <p:cNvPr id="26" name="cd_550"/>
          <p:cNvSpPr/>
          <p:nvPr/>
        </p:nvSpPr>
        <p:spPr>
          <a:xfrm>
            <a:off x="6263640" y="3794760"/>
            <a:ext cx="2651760" cy="960120"/>
          </a:xfrm>
          <a:prstGeom prst="roundRect">
            <a:avLst>
              <a:gd name="adj" fmla="val 13333"/>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7" name="ii_551"/>
          <p:cNvSpPr/>
          <p:nvPr/>
        </p:nvSpPr>
        <p:spPr>
          <a:xfrm>
            <a:off x="6355080" y="38679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8" name="ih_552"/>
          <p:cNvSpPr/>
          <p:nvPr/>
        </p:nvSpPr>
        <p:spPr>
          <a:xfrm>
            <a:off x="6830568" y="3886200"/>
            <a:ext cx="201168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Remember</a:t>
            </a:r>
            <a:endParaRPr lang="en-US" sz="1200" dirty="0"/>
          </a:p>
        </p:txBody>
      </p:sp>
      <p:sp>
        <p:nvSpPr>
          <p:cNvPr id="29" name="il_553"/>
          <p:cNvSpPr/>
          <p:nvPr/>
        </p:nvSpPr>
        <p:spPr>
          <a:xfrm>
            <a:off x="6830568" y="4270248"/>
            <a:ext cx="1993392" cy="41148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00" dirty="0">
                <a:solidFill>
                  <a:srgbClr val="1B2559"/>
                </a:solidFill>
                <a:latin typeface="Segoe UI" pitchFamily="34" charset="0"/>
                <a:ea typeface="Segoe UI" pitchFamily="34" charset="-122"/>
                <a:cs typeface="Segoe UI" pitchFamily="34" charset="-120"/>
              </a:rPr>
              <a:t>give up = smettere</a:t>
            </a:r>
            <a:endParaRPr lang="en-US" sz="1000" dirty="0"/>
          </a:p>
          <a:p>
            <a:pPr marL="152400" indent="-152400">
              <a:spcBef>
                <a:spcPts val="500"/>
              </a:spcBef>
              <a:spcAft>
                <a:spcPts val="200"/>
              </a:spcAft>
              <a:buSzPct val="100000"/>
              <a:buChar char="•"/>
            </a:pPr>
            <a:r>
              <a:rPr lang="en-US" sz="1000" dirty="0">
                <a:solidFill>
                  <a:srgbClr val="1B2559"/>
                </a:solidFill>
                <a:latin typeface="Segoe UI" pitchFamily="34" charset="0"/>
                <a:ea typeface="Segoe UI" pitchFamily="34" charset="-122"/>
                <a:cs typeface="Segoe UI" pitchFamily="34" charset="-120"/>
              </a:rPr>
              <a:t>end up in = finire in</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400"/>
                                        <p:tgtEl>
                                          <p:spTgt spid="1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0"/>
                                        </p:tgtEl>
                                        <p:attrNameLst>
                                          <p:attrName>style.visibility</p:attrName>
                                        </p:attrNameLst>
                                      </p:cBhvr>
                                      <p:to>
                                        <p:strVal val="visible"/>
                                      </p:to>
                                    </p:set>
                                    <p:animEffect transition="in" filter="fade">
                                      <p:cBhvr>
                                        <p:cTn id="12" dur="400"/>
                                        <p:tgtEl>
                                          <p:spTgt spid="20"/>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2"/>
                                        </p:tgtEl>
                                        <p:attrNameLst>
                                          <p:attrName>style.visibility</p:attrName>
                                        </p:attrNameLst>
                                      </p:cBhvr>
                                      <p:to>
                                        <p:strVal val="visible"/>
                                      </p:to>
                                    </p:set>
                                    <p:animEffect transition="in" filter="fade">
                                      <p:cBhvr>
                                        <p:cTn id="17" dur="4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554"/>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18</a:t>
            </a:r>
            <a:endParaRPr lang="en-US" sz="2200" dirty="0"/>
          </a:p>
        </p:txBody>
      </p:sp>
      <p:pic>
        <p:nvPicPr>
          <p:cNvPr id="4" name="brY_555" descr="/home/claude/lls-course/v2/assets/brush-yellow.png">    </p:cNvPr>
          <p:cNvPicPr>
            <a:picLocks noChangeAspect="1"/>
          </p:cNvPicPr>
          <p:nvPr/>
        </p:nvPicPr>
        <p:blipFill>
          <a:blip r:embed="rId2"/>
          <a:stretch>
            <a:fillRect/>
          </a:stretch>
        </p:blipFill>
        <p:spPr>
          <a:xfrm>
            <a:off x="1097280" y="146304"/>
            <a:ext cx="3562502" cy="621792"/>
          </a:xfrm>
          <a:prstGeom prst="rect">
            <a:avLst/>
          </a:prstGeom>
        </p:spPr>
      </p:pic>
      <p:sp>
        <p:nvSpPr>
          <p:cNvPr id="5" name="title_556"/>
          <p:cNvSpPr/>
          <p:nvPr/>
        </p:nvSpPr>
        <p:spPr>
          <a:xfrm>
            <a:off x="1261872" y="164592"/>
            <a:ext cx="328818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What can you hear?</a:t>
            </a:r>
            <a:endParaRPr lang="en-US" sz="2500" dirty="0"/>
          </a:p>
        </p:txBody>
      </p:sp>
      <p:pic>
        <p:nvPicPr>
          <p:cNvPr id="6" name="brP_557" descr="/home/claude/lls-course/v2/assets/brush-pink.png">    </p:cNvPr>
          <p:cNvPicPr>
            <a:picLocks noChangeAspect="1"/>
          </p:cNvPicPr>
          <p:nvPr/>
        </p:nvPicPr>
        <p:blipFill>
          <a:blip r:embed="rId3"/>
          <a:stretch>
            <a:fillRect/>
          </a:stretch>
        </p:blipFill>
        <p:spPr>
          <a:xfrm>
            <a:off x="1207008" y="731520"/>
            <a:ext cx="3424428" cy="402336"/>
          </a:xfrm>
          <a:prstGeom prst="rect">
            <a:avLst/>
          </a:prstGeom>
        </p:spPr>
      </p:pic>
      <p:sp>
        <p:nvSpPr>
          <p:cNvPr id="7" name="ins_558"/>
          <p:cNvSpPr/>
          <p:nvPr/>
        </p:nvSpPr>
        <p:spPr>
          <a:xfrm>
            <a:off x="1353312" y="731520"/>
            <a:ext cx="316839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Listen. Which sound is it: 1–6?</a:t>
            </a:r>
            <a:endParaRPr lang="en-US" sz="1250" dirty="0"/>
          </a:p>
        </p:txBody>
      </p:sp>
      <p:sp>
        <p:nvSpPr>
          <p:cNvPr id="8" name="insIT_559"/>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Ascolta. Quale suono è: 1–6?</a:t>
            </a:r>
            <a:endParaRPr lang="en-US" sz="950" dirty="0"/>
          </a:p>
        </p:txBody>
      </p:sp>
      <p:sp>
        <p:nvSpPr>
          <p:cNvPr id="9" name="cmd_560"/>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100" dirty="0"/>
          </a:p>
        </p:txBody>
      </p:sp>
      <p:sp>
        <p:nvSpPr>
          <p:cNvPr id="10" name="cmd_561"/>
          <p:cNvSpPr/>
          <p:nvPr/>
        </p:nvSpPr>
        <p:spPr>
          <a:xfrm>
            <a:off x="6510528" y="566928"/>
            <a:ext cx="1901952"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MATCH</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ABBINA</a:t>
            </a:r>
            <a:endParaRPr lang="en-US" sz="1100" dirty="0"/>
          </a:p>
        </p:txBody>
      </p:sp>
      <p:sp>
        <p:nvSpPr>
          <p:cNvPr id="11" name="meta_562"/>
          <p:cNvSpPr/>
          <p:nvPr/>
        </p:nvSpPr>
        <p:spPr>
          <a:xfrm>
            <a:off x="6583680" y="950976"/>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sp>
        <p:nvSpPr>
          <p:cNvPr id="12" name="tag_563"/>
          <p:cNvSpPr/>
          <p:nvPr/>
        </p:nvSpPr>
        <p:spPr>
          <a:xfrm>
            <a:off x="6510528" y="1188720"/>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Listening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Listening for detail</a:t>
            </a:r>
            <a:endParaRPr lang="en-US" sz="850" dirty="0"/>
          </a:p>
        </p:txBody>
      </p:sp>
      <p:pic>
        <p:nvPicPr>
          <p:cNvPr id="13" name="logo_564"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565"/>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4B-1 · Listening · music words   ·   📖 SB p.41 · 3c · audio 4.17</a:t>
            </a:r>
            <a:endParaRPr lang="en-US" sz="800" dirty="0"/>
          </a:p>
        </p:txBody>
      </p:sp>
      <p:sp>
        <p:nvSpPr>
          <p:cNvPr id="15" name="ap_566"/>
          <p:cNvSpPr/>
          <p:nvPr/>
        </p:nvSpPr>
        <p:spPr>
          <a:xfrm>
            <a:off x="365760" y="1417320"/>
            <a:ext cx="2194560" cy="402336"/>
          </a:xfrm>
          <a:prstGeom prst="roundRect">
            <a:avLst>
              <a:gd name="adj" fmla="val 50000"/>
            </a:avLst>
          </a:prstGeom>
          <a:solidFill>
            <a:srgbClr val="E3F1FD"/>
          </a:solidFill>
          <a:ln w="19050">
            <a:solidFill>
              <a:srgbClr val="2F8DE4"/>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4.17  ·  play once, pause after each</a:t>
            </a:r>
            <a:endParaRPr lang="en-US" sz="1100" dirty="0"/>
          </a:p>
        </p:txBody>
      </p:sp>
      <p:sp>
        <p:nvSpPr>
          <p:cNvPr id="16" name="ah_567"/>
          <p:cNvSpPr/>
          <p:nvPr/>
        </p:nvSpPr>
        <p:spPr>
          <a:xfrm>
            <a:off x="5925312" y="4572000"/>
            <a:ext cx="1554480" cy="365760"/>
          </a:xfrm>
          <a:prstGeom prst="rect">
            <a:avLst/>
          </a:prstGeom>
          <a:noFill/>
          <a:ln/>
        </p:spPr>
        <p:txBody>
          <a:bodyPr wrap="square" lIns="0" tIns="0" rIns="0" bIns="0" rtlCol="0" anchor="ctr"/>
          <a:lstStyle/>
          <a:p>
            <a:pPr algn="r" indent="0" marL="0">
              <a:buNone/>
            </a:pPr>
            <a:r>
              <a:rPr lang="en-US" sz="950" b="1" dirty="0">
                <a:solidFill>
                  <a:srgbClr val="2F8DE4"/>
                </a:solidFill>
                <a:latin typeface="Segoe UI Semibold" pitchFamily="34" charset="0"/>
                <a:ea typeface="Segoe UI Semibold" pitchFamily="34" charset="-122"/>
                <a:cs typeface="Segoe UI Semibold" pitchFamily="34" charset="-120"/>
              </a:rPr>
              <a:t>▶ normal · 🐢 slower</a:t>
            </a:r>
            <a:endParaRPr lang="en-US" sz="950" dirty="0"/>
          </a:p>
        </p:txBody>
      </p:sp>
      <p:pic>
        <p:nvPicPr>
          <p:cNvPr id="17"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7525512" y="4553712"/>
            <a:ext cx="411480" cy="411480"/>
          </a:xfrm>
          <a:prstGeom prst="rect">
            <a:avLst/>
          </a:prstGeom>
        </p:spPr>
      </p:pic>
      <p:pic>
        <p:nvPicPr>
          <p:cNvPr id="18"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001000" y="4553712"/>
            <a:ext cx="411480" cy="411480"/>
          </a:xfrm>
          <a:prstGeom prst="rect">
            <a:avLst/>
          </a:prstGeom>
        </p:spPr>
      </p:pic>
      <p:sp>
        <p:nvSpPr>
          <p:cNvPr id="19" name="pf_568"/>
          <p:cNvSpPr/>
          <p:nvPr/>
        </p:nvSpPr>
        <p:spPr>
          <a:xfrm rot="-90000">
            <a:off x="411480" y="2057400"/>
            <a:ext cx="2697480" cy="1783080"/>
          </a:xfrm>
          <a:prstGeom prst="roundRect">
            <a:avLst>
              <a:gd name="adj" fmla="val 8718"/>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20" name="phx_569"/>
          <p:cNvSpPr/>
          <p:nvPr/>
        </p:nvSpPr>
        <p:spPr>
          <a:xfrm>
            <a:off x="457200" y="2103120"/>
            <a:ext cx="2606040" cy="169164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pitchFamily="34" charset="0"/>
                <a:ea typeface="Segoe UI" pitchFamily="34" charset="-122"/>
                <a:cs typeface="Segoe UI" pitchFamily="34" charset="-120"/>
              </a:rPr>
              <a:t>📷 4b1-piano-lesson.jpg</a:t>
            </a:r>
            <a:endParaRPr lang="en-US" sz="900" dirty="0"/>
          </a:p>
        </p:txBody>
      </p:sp>
      <p:sp>
        <p:nvSpPr>
          <p:cNvPr id="21" name="cd_570"/>
          <p:cNvSpPr/>
          <p:nvPr/>
        </p:nvSpPr>
        <p:spPr>
          <a:xfrm>
            <a:off x="320040" y="4023360"/>
            <a:ext cx="2788920" cy="731520"/>
          </a:xfrm>
          <a:prstGeom prst="roundRect">
            <a:avLst>
              <a:gd name="adj" fmla="val 17500"/>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2" name="ii_571"/>
          <p:cNvSpPr/>
          <p:nvPr/>
        </p:nvSpPr>
        <p:spPr>
          <a:xfrm>
            <a:off x="411480" y="40965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3" name="ih_572"/>
          <p:cNvSpPr/>
          <p:nvPr/>
        </p:nvSpPr>
        <p:spPr>
          <a:xfrm>
            <a:off x="886968" y="4114800"/>
            <a:ext cx="214884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Guess first, then listen!</a:t>
            </a:r>
            <a:endParaRPr lang="en-US" sz="1200" dirty="0"/>
          </a:p>
        </p:txBody>
      </p:sp>
      <p:sp>
        <p:nvSpPr>
          <p:cNvPr id="24" name="il_573"/>
          <p:cNvSpPr/>
          <p:nvPr/>
        </p:nvSpPr>
        <p:spPr>
          <a:xfrm>
            <a:off x="886968" y="4498848"/>
            <a:ext cx="2130552" cy="182880"/>
          </a:xfrm>
          <a:prstGeom prst="rect">
            <a:avLst/>
          </a:prstGeom>
          <a:noFill/>
          <a:ln/>
        </p:spPr>
        <p:txBody>
          <a:bodyPr wrap="square" lIns="0" tIns="0" rIns="0" bIns="0" rtlCol="0" anchor="t">
            <a:normAutofit/>
          </a:bodyPr>
          <a:lstStyle/>
          <a:p>
            <a:pPr indent="0" marL="0">
              <a:spcAft>
                <a:spcPts val="200"/>
              </a:spcAft>
              <a:buNone/>
            </a:pPr>
            <a:endParaRPr lang="en-US" sz="1100" dirty="0"/>
          </a:p>
        </p:txBody>
      </p:sp>
      <p:sp>
        <p:nvSpPr>
          <p:cNvPr id="25" name="gq_574"/>
          <p:cNvSpPr/>
          <p:nvPr/>
        </p:nvSpPr>
        <p:spPr>
          <a:xfrm>
            <a:off x="3383280" y="1417320"/>
            <a:ext cx="333756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a  three different musical instruments playing together</a:t>
            </a:r>
            <a:endParaRPr lang="en-US" sz="1200" dirty="0"/>
          </a:p>
        </p:txBody>
      </p:sp>
      <p:sp>
        <p:nvSpPr>
          <p:cNvPr id="26" name="R1_chip575"/>
          <p:cNvSpPr/>
          <p:nvPr/>
        </p:nvSpPr>
        <p:spPr>
          <a:xfrm>
            <a:off x="6812280" y="1417320"/>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sound 4 · strumenti</a:t>
            </a:r>
            <a:endParaRPr lang="en-US" sz="1200" dirty="0"/>
          </a:p>
        </p:txBody>
      </p:sp>
      <p:sp>
        <p:nvSpPr>
          <p:cNvPr id="27" name="gq_576"/>
          <p:cNvSpPr/>
          <p:nvPr/>
        </p:nvSpPr>
        <p:spPr>
          <a:xfrm>
            <a:off x="3383280" y="1938528"/>
            <a:ext cx="3337560" cy="457200"/>
          </a:xfrm>
          <a:prstGeom prst="roundRect">
            <a:avLst>
              <a:gd name="adj" fmla="val 20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b  five notes from C to G</a:t>
            </a:r>
            <a:endParaRPr lang="en-US" sz="1200" dirty="0"/>
          </a:p>
        </p:txBody>
      </p:sp>
      <p:sp>
        <p:nvSpPr>
          <p:cNvPr id="28" name="R2_chip577"/>
          <p:cNvSpPr/>
          <p:nvPr/>
        </p:nvSpPr>
        <p:spPr>
          <a:xfrm>
            <a:off x="6812280" y="1938528"/>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sound 5 · note (do → sol)</a:t>
            </a:r>
            <a:endParaRPr lang="en-US" sz="1200" dirty="0"/>
          </a:p>
        </p:txBody>
      </p:sp>
      <p:sp>
        <p:nvSpPr>
          <p:cNvPr id="29" name="gq_578"/>
          <p:cNvSpPr/>
          <p:nvPr/>
        </p:nvSpPr>
        <p:spPr>
          <a:xfrm>
            <a:off x="3383280" y="2459736"/>
            <a:ext cx="3337560" cy="457200"/>
          </a:xfrm>
          <a:prstGeom prst="roundRect">
            <a:avLst>
              <a:gd name="adj" fmla="val 20000"/>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c  a high note and a low note</a:t>
            </a:r>
            <a:endParaRPr lang="en-US" sz="1200" dirty="0"/>
          </a:p>
        </p:txBody>
      </p:sp>
      <p:sp>
        <p:nvSpPr>
          <p:cNvPr id="30" name="R3_chip579"/>
          <p:cNvSpPr/>
          <p:nvPr/>
        </p:nvSpPr>
        <p:spPr>
          <a:xfrm>
            <a:off x="6812280" y="2459736"/>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sound 3 · nota alta / bassa</a:t>
            </a:r>
            <a:endParaRPr lang="en-US" sz="1200" dirty="0"/>
          </a:p>
        </p:txBody>
      </p:sp>
      <p:sp>
        <p:nvSpPr>
          <p:cNvPr id="31" name="gq_580"/>
          <p:cNvSpPr/>
          <p:nvPr/>
        </p:nvSpPr>
        <p:spPr>
          <a:xfrm>
            <a:off x="3383280" y="2980944"/>
            <a:ext cx="3337560" cy="457200"/>
          </a:xfrm>
          <a:prstGeom prst="roundRect">
            <a:avLst>
              <a:gd name="adj" fmla="val 20000"/>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d  an octave</a:t>
            </a:r>
            <a:endParaRPr lang="en-US" sz="1200" dirty="0"/>
          </a:p>
        </p:txBody>
      </p:sp>
      <p:sp>
        <p:nvSpPr>
          <p:cNvPr id="32" name="R4_chip581"/>
          <p:cNvSpPr/>
          <p:nvPr/>
        </p:nvSpPr>
        <p:spPr>
          <a:xfrm>
            <a:off x="6812280" y="2980944"/>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sound 1 · un'ottava</a:t>
            </a:r>
            <a:endParaRPr lang="en-US" sz="1200" dirty="0"/>
          </a:p>
        </p:txBody>
      </p:sp>
      <p:sp>
        <p:nvSpPr>
          <p:cNvPr id="33" name="gq_582"/>
          <p:cNvSpPr/>
          <p:nvPr/>
        </p:nvSpPr>
        <p:spPr>
          <a:xfrm>
            <a:off x="3383280" y="3502152"/>
            <a:ext cx="333756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e  a tune</a:t>
            </a:r>
            <a:endParaRPr lang="en-US" sz="1200" dirty="0"/>
          </a:p>
        </p:txBody>
      </p:sp>
      <p:sp>
        <p:nvSpPr>
          <p:cNvPr id="34" name="R5_chip583"/>
          <p:cNvSpPr/>
          <p:nvPr/>
        </p:nvSpPr>
        <p:spPr>
          <a:xfrm>
            <a:off x="6812280" y="3502152"/>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sound 6 · una melodia</a:t>
            </a:r>
            <a:endParaRPr lang="en-US" sz="1200" dirty="0"/>
          </a:p>
        </p:txBody>
      </p:sp>
      <p:sp>
        <p:nvSpPr>
          <p:cNvPr id="35" name="gq_584"/>
          <p:cNvSpPr/>
          <p:nvPr/>
        </p:nvSpPr>
        <p:spPr>
          <a:xfrm>
            <a:off x="3383280" y="4023360"/>
            <a:ext cx="3337560" cy="457200"/>
          </a:xfrm>
          <a:prstGeom prst="roundRect">
            <a:avLst>
              <a:gd name="adj" fmla="val 20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f  somebody busking</a:t>
            </a:r>
            <a:endParaRPr lang="en-US" sz="1200" dirty="0"/>
          </a:p>
        </p:txBody>
      </p:sp>
      <p:sp>
        <p:nvSpPr>
          <p:cNvPr id="36" name="R6_chip585"/>
          <p:cNvSpPr/>
          <p:nvPr/>
        </p:nvSpPr>
        <p:spPr>
          <a:xfrm>
            <a:off x="6812280" y="4023360"/>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sound 2 · suonare per strada</a:t>
            </a:r>
            <a:endParaRPr lang="en-US" sz="12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6"/>
                                        </p:tgtEl>
                                        <p:attrNameLst>
                                          <p:attrName>style.visibility</p:attrName>
                                        </p:attrNameLst>
                                      </p:cBhvr>
                                      <p:to>
                                        <p:strVal val="visible"/>
                                      </p:to>
                                    </p:set>
                                    <p:animEffect transition="in" filter="fade">
                                      <p:cBhvr>
                                        <p:cTn id="7" dur="400"/>
                                        <p:tgtEl>
                                          <p:spTgt spid="2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8"/>
                                        </p:tgtEl>
                                        <p:attrNameLst>
                                          <p:attrName>style.visibility</p:attrName>
                                        </p:attrNameLst>
                                      </p:cBhvr>
                                      <p:to>
                                        <p:strVal val="visible"/>
                                      </p:to>
                                    </p:set>
                                    <p:animEffect transition="in" filter="fade">
                                      <p:cBhvr>
                                        <p:cTn id="12" dur="400"/>
                                        <p:tgtEl>
                                          <p:spTgt spid="2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0"/>
                                        </p:tgtEl>
                                        <p:attrNameLst>
                                          <p:attrName>style.visibility</p:attrName>
                                        </p:attrNameLst>
                                      </p:cBhvr>
                                      <p:to>
                                        <p:strVal val="visible"/>
                                      </p:to>
                                    </p:set>
                                    <p:animEffect transition="in" filter="fade">
                                      <p:cBhvr>
                                        <p:cTn id="17" dur="400"/>
                                        <p:tgtEl>
                                          <p:spTgt spid="30"/>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2"/>
                                        </p:tgtEl>
                                        <p:attrNameLst>
                                          <p:attrName>style.visibility</p:attrName>
                                        </p:attrNameLst>
                                      </p:cBhvr>
                                      <p:to>
                                        <p:strVal val="visible"/>
                                      </p:to>
                                    </p:set>
                                    <p:animEffect transition="in" filter="fade">
                                      <p:cBhvr>
                                        <p:cTn id="22" dur="400"/>
                                        <p:tgtEl>
                                          <p:spTgt spid="32"/>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4"/>
                                        </p:tgtEl>
                                        <p:attrNameLst>
                                          <p:attrName>style.visibility</p:attrName>
                                        </p:attrNameLst>
                                      </p:cBhvr>
                                      <p:to>
                                        <p:strVal val="visible"/>
                                      </p:to>
                                    </p:set>
                                    <p:animEffect transition="in" filter="fade">
                                      <p:cBhvr>
                                        <p:cTn id="27" dur="400"/>
                                        <p:tgtEl>
                                          <p:spTgt spid="34"/>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6"/>
                                        </p:tgtEl>
                                        <p:attrNameLst>
                                          <p:attrName>style.visibility</p:attrName>
                                        </p:attrNameLst>
                                      </p:cBhvr>
                                      <p:to>
                                        <p:strVal val="visible"/>
                                      </p:to>
                                    </p:set>
                                    <p:animEffect transition="in" filter="fade">
                                      <p:cBhvr>
                                        <p:cTn id="32" dur="400"/>
                                        <p:tgtEl>
                                          <p:spTgt spid="36"/>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33" restart="whenNotActive" fill="hold" evtFilter="cancelBubble" nodeType="interactiveSeq">
                <p:stCondLst>
                  <p:cond evt="onClick" delay="0">
                    <p:tgtEl>
                      <p:spTgt spid="17"/>
                    </p:tgtEl>
                  </p:cond>
                </p:stCondLst>
                <p:endSync evt="end" delay="0">
                  <p:rtn val="all"/>
                </p:endSync>
                <p:childTnLst>
                  <p:par>
                    <p:cTn id="34" fill="hold">
                      <p:stCondLst>
                        <p:cond delay="0"/>
                      </p:stCondLst>
                      <p:childTnLst>
                        <p:par>
                          <p:cTn id="35" fill="hold">
                            <p:stCondLst>
                              <p:cond delay="0"/>
                            </p:stCondLst>
                            <p:childTnLst>
                              <p:par>
                                <p:cTn id="36" presetID="2" presetClass="mediacall" presetSubtype="0" fill="hold" nodeType="clickEffect">
                                  <p:stCondLst>
                                    <p:cond delay="0"/>
                                  </p:stCondLst>
                                  <p:childTnLst>
                                    <p:cmd type="call" cmd="togglePause">
                                      <p:cBhvr>
                                        <p:cTn id="37" dur="1" fill="hold"/>
                                        <p:tgtEl>
                                          <p:spTgt spid="17"/>
                                        </p:tgtEl>
                                      </p:cBhvr>
                                    </p:cmd>
                                  </p:childTnLst>
                                </p:cTn>
                              </p:par>
                            </p:childTnLst>
                          </p:cTn>
                        </p:par>
                      </p:childTnLst>
                    </p:cTn>
                  </p:par>
                </p:childTnLst>
              </p:cTn>
              <p:nextCondLst>
                <p:cond evt="onClick" delay="0">
                  <p:tgtEl>
                    <p:spTgt spid="17"/>
                  </p:tgtEl>
                </p:cond>
              </p:nextCondLst>
            </p:seq>
            <p:seq concurrent="1" nextAc="seek">
              <p:cTn id="38" restart="whenNotActive" fill="hold" evtFilter="cancelBubble" nodeType="interactiveSeq">
                <p:stCondLst>
                  <p:cond evt="onClick" delay="0">
                    <p:tgtEl>
                      <p:spTgt spid="18"/>
                    </p:tgtEl>
                  </p:cond>
                </p:stCondLst>
                <p:endSync evt="end" delay="0">
                  <p:rtn val="all"/>
                </p:endSync>
                <p:childTnLst>
                  <p:par>
                    <p:cTn id="39" fill="hold">
                      <p:stCondLst>
                        <p:cond delay="0"/>
                      </p:stCondLst>
                      <p:childTnLst>
                        <p:par>
                          <p:cTn id="40" fill="hold">
                            <p:stCondLst>
                              <p:cond delay="0"/>
                            </p:stCondLst>
                            <p:childTnLst>
                              <p:par>
                                <p:cTn id="41" presetID="2" presetClass="mediacall" presetSubtype="0" fill="hold" nodeType="clickEffect">
                                  <p:stCondLst>
                                    <p:cond delay="0"/>
                                  </p:stCondLst>
                                  <p:childTnLst>
                                    <p:cmd type="call" cmd="togglePause">
                                      <p:cBhvr>
                                        <p:cTn id="42" dur="1" fill="hold"/>
                                        <p:tgtEl>
                                          <p:spTgt spid="18"/>
                                        </p:tgtEl>
                                      </p:cBhvr>
                                    </p:cmd>
                                  </p:childTnLst>
                                </p:cTn>
                              </p:par>
                            </p:childTnLst>
                          </p:cTn>
                        </p:par>
                      </p:childTnLst>
                    </p:cTn>
                  </p:par>
                </p:childTnLst>
              </p:cTn>
              <p:nextCondLst>
                <p:cond evt="onClick" delay="0">
                  <p:tgtEl>
                    <p:spTgt spid="18"/>
                  </p:tgtEl>
                </p:cond>
              </p:nextCondLst>
            </p:seq>
            <p:audio>
              <p:cMediaNode vol="80000">
                <p:cTn id="43" fill="hold" display="0">
                  <p:stCondLst>
                    <p:cond delay="indefinite"/>
                  </p:stCondLst>
                  <p:endCondLst>
                    <p:cond evt="onStopAudio" delay="0">
                      <p:tgtEl>
                        <p:sldTgt/>
                      </p:tgtEl>
                    </p:cond>
                  </p:endCondLst>
                </p:cTn>
                <p:tgtEl>
                  <p:spTgt spid="17"/>
                </p:tgtEl>
              </p:cMediaNode>
            </p:audio>
            <p:audio>
              <p:cMediaNode vol="80000">
                <p:cTn id="44" fill="hold" display="0">
                  <p:stCondLst>
                    <p:cond delay="indefinite"/>
                  </p:stCondLst>
                  <p:endCondLst>
                    <p:cond evt="onStopAudio" delay="0">
                      <p:tgtEl>
                        <p:sldTgt/>
                      </p:tgtEl>
                    </p:cond>
                  </p:endCondLst>
                </p:cTn>
                <p:tgtEl>
                  <p:spTgt spid="18"/>
                </p:tgtEl>
              </p:cMediaNode>
            </p:audio>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586"/>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19</a:t>
            </a:r>
            <a:endParaRPr lang="en-US" sz="2200" dirty="0"/>
          </a:p>
        </p:txBody>
      </p:sp>
      <p:pic>
        <p:nvPicPr>
          <p:cNvPr id="4" name="brY_587" descr="/home/claude/lls-course/v2/assets/brush-yellow.png">    </p:cNvPr>
          <p:cNvPicPr>
            <a:picLocks noChangeAspect="1"/>
          </p:cNvPicPr>
          <p:nvPr/>
        </p:nvPicPr>
        <p:blipFill>
          <a:blip r:embed="rId2"/>
          <a:stretch>
            <a:fillRect/>
          </a:stretch>
        </p:blipFill>
        <p:spPr>
          <a:xfrm>
            <a:off x="1097280" y="146304"/>
            <a:ext cx="3090672" cy="621792"/>
          </a:xfrm>
          <a:prstGeom prst="rect">
            <a:avLst/>
          </a:prstGeom>
        </p:spPr>
      </p:pic>
      <p:sp>
        <p:nvSpPr>
          <p:cNvPr id="5" name="title_588"/>
          <p:cNvSpPr/>
          <p:nvPr/>
        </p:nvSpPr>
        <p:spPr>
          <a:xfrm>
            <a:off x="1261872" y="164592"/>
            <a:ext cx="281635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Matt's 20 hours</a:t>
            </a:r>
            <a:endParaRPr lang="en-US" sz="2500" dirty="0"/>
          </a:p>
        </p:txBody>
      </p:sp>
      <p:pic>
        <p:nvPicPr>
          <p:cNvPr id="6" name="brP_589" descr="/home/claude/lls-course/v2/assets/brush-pink.png">    </p:cNvPr>
          <p:cNvPicPr>
            <a:picLocks noChangeAspect="1"/>
          </p:cNvPicPr>
          <p:nvPr/>
        </p:nvPicPr>
        <p:blipFill>
          <a:blip r:embed="rId3"/>
          <a:stretch>
            <a:fillRect/>
          </a:stretch>
        </p:blipFill>
        <p:spPr>
          <a:xfrm>
            <a:off x="1207008" y="731520"/>
            <a:ext cx="4119372" cy="402336"/>
          </a:xfrm>
          <a:prstGeom prst="rect">
            <a:avLst/>
          </a:prstGeom>
        </p:spPr>
      </p:pic>
      <p:sp>
        <p:nvSpPr>
          <p:cNvPr id="7" name="ins_590"/>
          <p:cNvSpPr/>
          <p:nvPr/>
        </p:nvSpPr>
        <p:spPr>
          <a:xfrm>
            <a:off x="1353312" y="731520"/>
            <a:ext cx="386334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Listen once. Which is the best summary?</a:t>
            </a:r>
            <a:endParaRPr lang="en-US" sz="1250" dirty="0"/>
          </a:p>
        </p:txBody>
      </p:sp>
      <p:sp>
        <p:nvSpPr>
          <p:cNvPr id="8" name="insIT_591"/>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Ascolta una volta. Qual è il riassunto migliore?</a:t>
            </a:r>
            <a:endParaRPr lang="en-US" sz="950" dirty="0"/>
          </a:p>
        </p:txBody>
      </p:sp>
      <p:sp>
        <p:nvSpPr>
          <p:cNvPr id="9" name="cmd_592"/>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100" dirty="0"/>
          </a:p>
        </p:txBody>
      </p:sp>
      <p:sp>
        <p:nvSpPr>
          <p:cNvPr id="10" name="meta_593"/>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alone</a:t>
            </a:r>
            <a:endParaRPr lang="en-US" sz="950" dirty="0"/>
          </a:p>
        </p:txBody>
      </p:sp>
      <p:sp>
        <p:nvSpPr>
          <p:cNvPr id="11" name="tag_594"/>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Listening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Listening for gist</a:t>
            </a:r>
            <a:endParaRPr lang="en-US" sz="850" dirty="0"/>
          </a:p>
        </p:txBody>
      </p:sp>
      <p:pic>
        <p:nvPicPr>
          <p:cNvPr id="12" name="logo_595"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596"/>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4B-1 · Listening · gist   ·   📖 SB p.41 · 3d · audio 4.18</a:t>
            </a:r>
            <a:endParaRPr lang="en-US" sz="800" dirty="0"/>
          </a:p>
        </p:txBody>
      </p:sp>
      <p:sp>
        <p:nvSpPr>
          <p:cNvPr id="14" name="ap_597"/>
          <p:cNvSpPr/>
          <p:nvPr/>
        </p:nvSpPr>
        <p:spPr>
          <a:xfrm>
            <a:off x="365760" y="1417320"/>
            <a:ext cx="2651760" cy="402336"/>
          </a:xfrm>
          <a:prstGeom prst="roundRect">
            <a:avLst>
              <a:gd name="adj" fmla="val 50000"/>
            </a:avLst>
          </a:prstGeom>
          <a:solidFill>
            <a:srgbClr val="E3F1FD"/>
          </a:solidFill>
          <a:ln w="19050">
            <a:solidFill>
              <a:srgbClr val="2F8DE4"/>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4.18  ·  play once</a:t>
            </a:r>
            <a:endParaRPr lang="en-US" sz="1100" dirty="0"/>
          </a:p>
        </p:txBody>
      </p:sp>
      <p:sp>
        <p:nvSpPr>
          <p:cNvPr id="15" name="ah_598"/>
          <p:cNvSpPr/>
          <p:nvPr/>
        </p:nvSpPr>
        <p:spPr>
          <a:xfrm>
            <a:off x="5925312" y="4572000"/>
            <a:ext cx="1554480" cy="365760"/>
          </a:xfrm>
          <a:prstGeom prst="rect">
            <a:avLst/>
          </a:prstGeom>
          <a:noFill/>
          <a:ln/>
        </p:spPr>
        <p:txBody>
          <a:bodyPr wrap="square" lIns="0" tIns="0" rIns="0" bIns="0" rtlCol="0" anchor="ctr"/>
          <a:lstStyle/>
          <a:p>
            <a:pPr algn="r" indent="0" marL="0">
              <a:buNone/>
            </a:pPr>
            <a:r>
              <a:rPr lang="en-US" sz="950" b="1" dirty="0">
                <a:solidFill>
                  <a:srgbClr val="2F8DE4"/>
                </a:solidFill>
                <a:latin typeface="Segoe UI Semibold" pitchFamily="34" charset="0"/>
                <a:ea typeface="Segoe UI Semibold" pitchFamily="34" charset="-122"/>
                <a:cs typeface="Segoe UI Semibold" pitchFamily="34" charset="-120"/>
              </a:rPr>
              <a:t>▶ normal · 🐢 slower</a:t>
            </a:r>
            <a:endParaRPr lang="en-US" sz="950" dirty="0"/>
          </a:p>
        </p:txBody>
      </p:sp>
      <p:pic>
        <p:nvPicPr>
          <p:cNvPr id="16"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7525512" y="4553712"/>
            <a:ext cx="411480" cy="411480"/>
          </a:xfrm>
          <a:prstGeom prst="rect">
            <a:avLst/>
          </a:prstGeom>
        </p:spPr>
      </p:pic>
      <p:pic>
        <p:nvPicPr>
          <p:cNvPr id="17"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001000" y="4553712"/>
            <a:ext cx="411480" cy="411480"/>
          </a:xfrm>
          <a:prstGeom prst="rect">
            <a:avLst/>
          </a:prstGeom>
        </p:spPr>
      </p:pic>
      <p:sp>
        <p:nvSpPr>
          <p:cNvPr id="18" name="ah2_599"/>
          <p:cNvSpPr/>
          <p:nvPr/>
        </p:nvSpPr>
        <p:spPr>
          <a:xfrm>
            <a:off x="3090672" y="1417320"/>
            <a:ext cx="1737360" cy="402336"/>
          </a:xfrm>
          <a:prstGeom prst="rect">
            <a:avLst/>
          </a:prstGeom>
          <a:noFill/>
          <a:ln/>
        </p:spPr>
        <p:txBody>
          <a:bodyPr wrap="square" lIns="0" tIns="0" rIns="0" bIns="0" rtlCol="0" anchor="ctr"/>
          <a:lstStyle/>
          <a:p>
            <a:pPr indent="0" marL="0">
              <a:buNone/>
            </a:pPr>
            <a:r>
              <a:rPr lang="en-US" sz="900" i="1" dirty="0">
                <a:solidFill>
                  <a:srgbClr val="5B6785"/>
                </a:solidFill>
                <a:latin typeface="Segoe UI" pitchFamily="34" charset="0"/>
                <a:ea typeface="Segoe UI" pitchFamily="34" charset="-122"/>
                <a:cs typeface="Segoe UI" pitchFamily="34" charset="-120"/>
              </a:rPr>
              <a:t>↘ speaker bottom right</a:t>
            </a:r>
            <a:endParaRPr lang="en-US" sz="900" dirty="0"/>
          </a:p>
        </p:txBody>
      </p:sp>
      <p:sp>
        <p:nvSpPr>
          <p:cNvPr id="19" name="pf_600"/>
          <p:cNvSpPr/>
          <p:nvPr/>
        </p:nvSpPr>
        <p:spPr>
          <a:xfrm rot="-90000">
            <a:off x="411480" y="2057400"/>
            <a:ext cx="1783080" cy="1325880"/>
          </a:xfrm>
          <a:prstGeom prst="roundRect">
            <a:avLst>
              <a:gd name="adj" fmla="val 1172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20" name="phx_601"/>
          <p:cNvSpPr/>
          <p:nvPr/>
        </p:nvSpPr>
        <p:spPr>
          <a:xfrm>
            <a:off x="457200" y="2103120"/>
            <a:ext cx="1691640" cy="123444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pitchFamily="34" charset="0"/>
                <a:ea typeface="Segoe UI" pitchFamily="34" charset="-122"/>
                <a:cs typeface="Segoe UI" pitchFamily="34" charset="-120"/>
              </a:rPr>
              <a:t>📷 4b1-cover.jpg</a:t>
            </a:r>
            <a:endParaRPr lang="en-US" sz="900" dirty="0"/>
          </a:p>
        </p:txBody>
      </p:sp>
      <p:sp>
        <p:nvSpPr>
          <p:cNvPr id="21" name="bd_602"/>
          <p:cNvSpPr/>
          <p:nvPr/>
        </p:nvSpPr>
        <p:spPr>
          <a:xfrm>
            <a:off x="310896" y="1956816"/>
            <a:ext cx="420624" cy="42062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400" dirty="0">
                <a:solidFill>
                  <a:srgbClr val="FFFFFF"/>
                </a:solidFill>
                <a:latin typeface="Arial Rounded MT Bold" pitchFamily="34" charset="0"/>
                <a:ea typeface="Arial Rounded MT Bold" pitchFamily="34" charset="-122"/>
                <a:cs typeface="Arial Rounded MT Bold" pitchFamily="34" charset="-120"/>
              </a:rPr>
              <a:t>A</a:t>
            </a:r>
            <a:endParaRPr lang="en-US" sz="1400" dirty="0"/>
          </a:p>
        </p:txBody>
      </p:sp>
      <p:sp>
        <p:nvSpPr>
          <p:cNvPr id="22" name="pf_603"/>
          <p:cNvSpPr/>
          <p:nvPr/>
        </p:nvSpPr>
        <p:spPr>
          <a:xfrm rot="90000">
            <a:off x="2286000" y="2057400"/>
            <a:ext cx="1783080" cy="1325880"/>
          </a:xfrm>
          <a:prstGeom prst="roundRect">
            <a:avLst>
              <a:gd name="adj" fmla="val 1172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23" name="phx_604"/>
          <p:cNvSpPr/>
          <p:nvPr/>
        </p:nvSpPr>
        <p:spPr>
          <a:xfrm>
            <a:off x="2331720" y="2103120"/>
            <a:ext cx="1691640" cy="123444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pitchFamily="34" charset="0"/>
                <a:ea typeface="Segoe UI" pitchFamily="34" charset="-122"/>
                <a:cs typeface="Segoe UI" pitchFamily="34" charset="-120"/>
              </a:rPr>
              <a:t>📷 4b1-trumpet-practice.jpg</a:t>
            </a:r>
            <a:endParaRPr lang="en-US" sz="900" dirty="0"/>
          </a:p>
        </p:txBody>
      </p:sp>
      <p:sp>
        <p:nvSpPr>
          <p:cNvPr id="24" name="bd_605"/>
          <p:cNvSpPr/>
          <p:nvPr/>
        </p:nvSpPr>
        <p:spPr>
          <a:xfrm>
            <a:off x="2185416" y="1956816"/>
            <a:ext cx="420624" cy="42062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400" dirty="0">
                <a:solidFill>
                  <a:srgbClr val="FFFFFF"/>
                </a:solidFill>
                <a:latin typeface="Arial Rounded MT Bold" pitchFamily="34" charset="0"/>
                <a:ea typeface="Arial Rounded MT Bold" pitchFamily="34" charset="-122"/>
                <a:cs typeface="Arial Rounded MT Bold" pitchFamily="34" charset="-120"/>
              </a:rPr>
              <a:t>B</a:t>
            </a:r>
            <a:endParaRPr lang="en-US" sz="1400" dirty="0"/>
          </a:p>
        </p:txBody>
      </p:sp>
      <p:sp>
        <p:nvSpPr>
          <p:cNvPr id="25" name="cd_606"/>
          <p:cNvSpPr/>
          <p:nvPr/>
        </p:nvSpPr>
        <p:spPr>
          <a:xfrm>
            <a:off x="365760" y="3611880"/>
            <a:ext cx="5440680" cy="1097280"/>
          </a:xfrm>
          <a:prstGeom prst="roundRect">
            <a:avLst>
              <a:gd name="adj" fmla="val 11667"/>
            </a:avLst>
          </a:prstGeom>
          <a:solidFill>
            <a:srgbClr val="E3F1FD"/>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26" name="ii_607"/>
          <p:cNvSpPr/>
          <p:nvPr/>
        </p:nvSpPr>
        <p:spPr>
          <a:xfrm>
            <a:off x="457200" y="368503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7" name="ih_608"/>
          <p:cNvSpPr/>
          <p:nvPr/>
        </p:nvSpPr>
        <p:spPr>
          <a:xfrm>
            <a:off x="932688" y="3703320"/>
            <a:ext cx="48006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While you listen</a:t>
            </a:r>
            <a:endParaRPr lang="en-US" sz="1300" dirty="0"/>
          </a:p>
        </p:txBody>
      </p:sp>
      <p:sp>
        <p:nvSpPr>
          <p:cNvPr id="28" name="il_609"/>
          <p:cNvSpPr/>
          <p:nvPr/>
        </p:nvSpPr>
        <p:spPr>
          <a:xfrm>
            <a:off x="932688" y="4087368"/>
            <a:ext cx="4782312" cy="5486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800" dirty="0">
                <a:solidFill>
                  <a:srgbClr val="1B2559"/>
                </a:solidFill>
                <a:latin typeface="Segoe UI" pitchFamily="34" charset="0"/>
                <a:ea typeface="Segoe UI" pitchFamily="34" charset="-122"/>
                <a:cs typeface="Segoe UI" pitchFamily="34" charset="-120"/>
              </a:rPr>
              <a:t>Summary 1: He didn't learn anything at all.</a:t>
            </a:r>
            <a:endParaRPr lang="en-US" sz="800" dirty="0"/>
          </a:p>
          <a:p>
            <a:pPr marL="152400" indent="-152400">
              <a:spcBef>
                <a:spcPts val="500"/>
              </a:spcBef>
              <a:spcAft>
                <a:spcPts val="200"/>
              </a:spcAft>
              <a:buSzPct val="100000"/>
              <a:buChar char="•"/>
            </a:pPr>
            <a:r>
              <a:rPr lang="en-US" sz="800" dirty="0">
                <a:solidFill>
                  <a:srgbClr val="1B2559"/>
                </a:solidFill>
                <a:latin typeface="Segoe UI" pitchFamily="34" charset="0"/>
                <a:ea typeface="Segoe UI" pitchFamily="34" charset="-122"/>
                <a:cs typeface="Segoe UI" pitchFamily="34" charset="-120"/>
              </a:rPr>
              <a:t>Summary 2: He learned something, but not enough.</a:t>
            </a:r>
            <a:endParaRPr lang="en-US" sz="800" dirty="0"/>
          </a:p>
          <a:p>
            <a:pPr marL="152400" indent="-152400">
              <a:spcBef>
                <a:spcPts val="500"/>
              </a:spcBef>
              <a:spcAft>
                <a:spcPts val="200"/>
              </a:spcAft>
              <a:buSzPct val="100000"/>
              <a:buChar char="•"/>
            </a:pPr>
            <a:r>
              <a:rPr lang="en-US" sz="800" dirty="0">
                <a:solidFill>
                  <a:srgbClr val="1B2559"/>
                </a:solidFill>
                <a:latin typeface="Segoe UI" pitchFamily="34" charset="0"/>
                <a:ea typeface="Segoe UI" pitchFamily="34" charset="-122"/>
                <a:cs typeface="Segoe UI" pitchFamily="34" charset="-120"/>
              </a:rPr>
              <a:t>Summary 3: He learned a lot.</a:t>
            </a:r>
            <a:endParaRPr lang="en-US" sz="800" dirty="0"/>
          </a:p>
        </p:txBody>
      </p:sp>
      <p:sp>
        <p:nvSpPr>
          <p:cNvPr id="29" name="lq_610"/>
          <p:cNvSpPr/>
          <p:nvPr/>
        </p:nvSpPr>
        <p:spPr>
          <a:xfrm>
            <a:off x="6035040" y="2103120"/>
            <a:ext cx="1234440" cy="566928"/>
          </a:xfrm>
          <a:prstGeom prst="roundRect">
            <a:avLst>
              <a:gd name="adj" fmla="val 16129"/>
            </a:avLst>
          </a:prstGeom>
          <a:solidFill>
            <a:srgbClr val="FFFFFF"/>
          </a:solidFill>
          <a:ln w="19050">
            <a:solidFill>
              <a:srgbClr val="F7A6C4"/>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Summary 1</a:t>
            </a:r>
            <a:endParaRPr lang="en-US" sz="1100" dirty="0"/>
          </a:p>
        </p:txBody>
      </p:sp>
      <p:sp>
        <p:nvSpPr>
          <p:cNvPr id="30" name="R1_chip611"/>
          <p:cNvSpPr/>
          <p:nvPr/>
        </p:nvSpPr>
        <p:spPr>
          <a:xfrm>
            <a:off x="7315200" y="2103120"/>
            <a:ext cx="1554480" cy="566928"/>
          </a:xfrm>
          <a:prstGeom prst="roundRect">
            <a:avLst>
              <a:gd name="adj" fmla="val 16129"/>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 no</a:t>
            </a:r>
            <a:endParaRPr lang="en-US" sz="1050" dirty="0"/>
          </a:p>
        </p:txBody>
      </p:sp>
      <p:sp>
        <p:nvSpPr>
          <p:cNvPr id="31" name="lq_612"/>
          <p:cNvSpPr/>
          <p:nvPr/>
        </p:nvSpPr>
        <p:spPr>
          <a:xfrm>
            <a:off x="6035040" y="2761488"/>
            <a:ext cx="1234440" cy="566928"/>
          </a:xfrm>
          <a:prstGeom prst="roundRect">
            <a:avLst>
              <a:gd name="adj" fmla="val 16129"/>
            </a:avLst>
          </a:prstGeom>
          <a:solidFill>
            <a:srgbClr val="FFFFFF"/>
          </a:solidFill>
          <a:ln w="19050">
            <a:solidFill>
              <a:srgbClr val="A9D3F5"/>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Summary 2</a:t>
            </a:r>
            <a:endParaRPr lang="en-US" sz="1100" dirty="0"/>
          </a:p>
        </p:txBody>
      </p:sp>
      <p:sp>
        <p:nvSpPr>
          <p:cNvPr id="32" name="R2_chip613"/>
          <p:cNvSpPr/>
          <p:nvPr/>
        </p:nvSpPr>
        <p:spPr>
          <a:xfrm>
            <a:off x="7315200" y="2761488"/>
            <a:ext cx="1554480" cy="566928"/>
          </a:xfrm>
          <a:prstGeom prst="roundRect">
            <a:avLst>
              <a:gd name="adj" fmla="val 16129"/>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 the best!</a:t>
            </a:r>
            <a:endParaRPr lang="en-US" sz="1050" dirty="0"/>
          </a:p>
        </p:txBody>
      </p:sp>
      <p:sp>
        <p:nvSpPr>
          <p:cNvPr id="33" name="lq_614"/>
          <p:cNvSpPr/>
          <p:nvPr/>
        </p:nvSpPr>
        <p:spPr>
          <a:xfrm>
            <a:off x="6035040" y="3419856"/>
            <a:ext cx="1234440" cy="566928"/>
          </a:xfrm>
          <a:prstGeom prst="roundRect">
            <a:avLst>
              <a:gd name="adj" fmla="val 16129"/>
            </a:avLst>
          </a:prstGeom>
          <a:solidFill>
            <a:srgbClr val="FFFFFF"/>
          </a:solidFill>
          <a:ln w="19050">
            <a:solidFill>
              <a:srgbClr val="A8E5BE"/>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Summary 3</a:t>
            </a:r>
            <a:endParaRPr lang="en-US" sz="1100" dirty="0"/>
          </a:p>
        </p:txBody>
      </p:sp>
      <p:sp>
        <p:nvSpPr>
          <p:cNvPr id="34" name="R3_chip615"/>
          <p:cNvSpPr/>
          <p:nvPr/>
        </p:nvSpPr>
        <p:spPr>
          <a:xfrm>
            <a:off x="7315200" y="3419856"/>
            <a:ext cx="1554480" cy="566928"/>
          </a:xfrm>
          <a:prstGeom prst="roundRect">
            <a:avLst>
              <a:gd name="adj" fmla="val 16129"/>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 no</a:t>
            </a:r>
            <a:endParaRPr lang="en-US" sz="1050" dirty="0"/>
          </a:p>
        </p:txBody>
      </p:sp>
      <p:sp>
        <p:nvSpPr>
          <p:cNvPr id="35" name="lq_616"/>
          <p:cNvSpPr/>
          <p:nvPr/>
        </p:nvSpPr>
        <p:spPr>
          <a:xfrm>
            <a:off x="6035040" y="4078224"/>
            <a:ext cx="1234440" cy="566928"/>
          </a:xfrm>
          <a:prstGeom prst="roundRect">
            <a:avLst>
              <a:gd name="adj" fmla="val 16129"/>
            </a:avLst>
          </a:prstGeom>
          <a:solidFill>
            <a:srgbClr val="FFFFFF"/>
          </a:solidFill>
          <a:ln w="19050">
            <a:solidFill>
              <a:srgbClr val="FFE07A"/>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Busking after 20 h?</a:t>
            </a:r>
            <a:endParaRPr lang="en-US" sz="1100" dirty="0"/>
          </a:p>
        </p:txBody>
      </p:sp>
      <p:sp>
        <p:nvSpPr>
          <p:cNvPr id="36" name="R4_chip617"/>
          <p:cNvSpPr/>
          <p:nvPr/>
        </p:nvSpPr>
        <p:spPr>
          <a:xfrm>
            <a:off x="7315200" y="4078224"/>
            <a:ext cx="1554480" cy="566928"/>
          </a:xfrm>
          <a:prstGeom prst="roundRect">
            <a:avLst>
              <a:gd name="adj" fmla="val 16129"/>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No – 20 h is too little</a:t>
            </a:r>
            <a:endParaRPr lang="en-US" sz="10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0"/>
                                        </p:tgtEl>
                                        <p:attrNameLst>
                                          <p:attrName>style.visibility</p:attrName>
                                        </p:attrNameLst>
                                      </p:cBhvr>
                                      <p:to>
                                        <p:strVal val="visible"/>
                                      </p:to>
                                    </p:set>
                                    <p:animEffect transition="in" filter="fade">
                                      <p:cBhvr>
                                        <p:cTn id="7" dur="400"/>
                                        <p:tgtEl>
                                          <p:spTgt spid="30"/>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2"/>
                                        </p:tgtEl>
                                        <p:attrNameLst>
                                          <p:attrName>style.visibility</p:attrName>
                                        </p:attrNameLst>
                                      </p:cBhvr>
                                      <p:to>
                                        <p:strVal val="visible"/>
                                      </p:to>
                                    </p:set>
                                    <p:animEffect transition="in" filter="fade">
                                      <p:cBhvr>
                                        <p:cTn id="12" dur="400"/>
                                        <p:tgtEl>
                                          <p:spTgt spid="32"/>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4"/>
                                        </p:tgtEl>
                                        <p:attrNameLst>
                                          <p:attrName>style.visibility</p:attrName>
                                        </p:attrNameLst>
                                      </p:cBhvr>
                                      <p:to>
                                        <p:strVal val="visible"/>
                                      </p:to>
                                    </p:set>
                                    <p:animEffect transition="in" filter="fade">
                                      <p:cBhvr>
                                        <p:cTn id="17" dur="400"/>
                                        <p:tgtEl>
                                          <p:spTgt spid="34"/>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6"/>
                                        </p:tgtEl>
                                        <p:attrNameLst>
                                          <p:attrName>style.visibility</p:attrName>
                                        </p:attrNameLst>
                                      </p:cBhvr>
                                      <p:to>
                                        <p:strVal val="visible"/>
                                      </p:to>
                                    </p:set>
                                    <p:animEffect transition="in" filter="fade">
                                      <p:cBhvr>
                                        <p:cTn id="22" dur="400"/>
                                        <p:tgtEl>
                                          <p:spTgt spid="36"/>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23" restart="whenNotActive" fill="hold" evtFilter="cancelBubble" nodeType="interactiveSeq">
                <p:stCondLst>
                  <p:cond evt="onClick" delay="0">
                    <p:tgtEl>
                      <p:spTgt spid="16"/>
                    </p:tgtEl>
                  </p:cond>
                </p:stCondLst>
                <p:endSync evt="end" delay="0">
                  <p:rtn val="all"/>
                </p:endSync>
                <p:childTnLst>
                  <p:par>
                    <p:cTn id="24" fill="hold">
                      <p:stCondLst>
                        <p:cond delay="0"/>
                      </p:stCondLst>
                      <p:childTnLst>
                        <p:par>
                          <p:cTn id="25" fill="hold">
                            <p:stCondLst>
                              <p:cond delay="0"/>
                            </p:stCondLst>
                            <p:childTnLst>
                              <p:par>
                                <p:cTn id="26" presetID="2" presetClass="mediacall" presetSubtype="0" fill="hold" nodeType="clickEffect">
                                  <p:stCondLst>
                                    <p:cond delay="0"/>
                                  </p:stCondLst>
                                  <p:childTnLst>
                                    <p:cmd type="call" cmd="togglePause">
                                      <p:cBhvr>
                                        <p:cTn id="27" dur="1" fill="hold"/>
                                        <p:tgtEl>
                                          <p:spTgt spid="16"/>
                                        </p:tgtEl>
                                      </p:cBhvr>
                                    </p:cmd>
                                  </p:childTnLst>
                                </p:cTn>
                              </p:par>
                            </p:childTnLst>
                          </p:cTn>
                        </p:par>
                      </p:childTnLst>
                    </p:cTn>
                  </p:par>
                </p:childTnLst>
              </p:cTn>
              <p:nextCondLst>
                <p:cond evt="onClick" delay="0">
                  <p:tgtEl>
                    <p:spTgt spid="16"/>
                  </p:tgtEl>
                </p:cond>
              </p:nextCondLst>
            </p:seq>
            <p:seq concurrent="1" nextAc="seek">
              <p:cTn id="28" restart="whenNotActive" fill="hold" evtFilter="cancelBubble" nodeType="interactiveSeq">
                <p:stCondLst>
                  <p:cond evt="onClick" delay="0">
                    <p:tgtEl>
                      <p:spTgt spid="17"/>
                    </p:tgtEl>
                  </p:cond>
                </p:stCondLst>
                <p:endSync evt="end" delay="0">
                  <p:rtn val="all"/>
                </p:endSync>
                <p:childTnLst>
                  <p:par>
                    <p:cTn id="29" fill="hold">
                      <p:stCondLst>
                        <p:cond delay="0"/>
                      </p:stCondLst>
                      <p:childTnLst>
                        <p:par>
                          <p:cTn id="30" fill="hold">
                            <p:stCondLst>
                              <p:cond delay="0"/>
                            </p:stCondLst>
                            <p:childTnLst>
                              <p:par>
                                <p:cTn id="31" presetID="2" presetClass="mediacall" presetSubtype="0" fill="hold" nodeType="clickEffect">
                                  <p:stCondLst>
                                    <p:cond delay="0"/>
                                  </p:stCondLst>
                                  <p:childTnLst>
                                    <p:cmd type="call" cmd="togglePause">
                                      <p:cBhvr>
                                        <p:cTn id="32" dur="1" fill="hold"/>
                                        <p:tgtEl>
                                          <p:spTgt spid="17"/>
                                        </p:tgtEl>
                                      </p:cBhvr>
                                    </p:cmd>
                                  </p:childTnLst>
                                </p:cTn>
                              </p:par>
                            </p:childTnLst>
                          </p:cTn>
                        </p:par>
                      </p:childTnLst>
                    </p:cTn>
                  </p:par>
                </p:childTnLst>
              </p:cTn>
              <p:nextCondLst>
                <p:cond evt="onClick" delay="0">
                  <p:tgtEl>
                    <p:spTgt spid="17"/>
                  </p:tgtEl>
                </p:cond>
              </p:nextCondLst>
            </p:seq>
            <p:audio>
              <p:cMediaNode vol="80000">
                <p:cTn id="33" fill="hold" display="0">
                  <p:stCondLst>
                    <p:cond delay="indefinite"/>
                  </p:stCondLst>
                  <p:endCondLst>
                    <p:cond evt="onStopAudio" delay="0">
                      <p:tgtEl>
                        <p:sldTgt/>
                      </p:tgtEl>
                    </p:cond>
                  </p:endCondLst>
                </p:cTn>
                <p:tgtEl>
                  <p:spTgt spid="16"/>
                </p:tgtEl>
              </p:cMediaNode>
            </p:audio>
            <p:audio>
              <p:cMediaNode vol="80000">
                <p:cTn id="34" fill="hold" display="0">
                  <p:stCondLst>
                    <p:cond delay="indefinite"/>
                  </p:stCondLst>
                  <p:endCondLst>
                    <p:cond evt="onStopAudio" delay="0">
                      <p:tgtEl>
                        <p:sldTgt/>
                      </p:tgtEl>
                    </p:cond>
                  </p:endCondLst>
                </p:cTn>
                <p:tgtEl>
                  <p:spTgt spid="17"/>
                </p:tgtEl>
              </p:cMediaNode>
            </p:audio>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618"/>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20</a:t>
            </a:r>
            <a:endParaRPr lang="en-US" sz="2200" dirty="0"/>
          </a:p>
        </p:txBody>
      </p:sp>
      <p:pic>
        <p:nvPicPr>
          <p:cNvPr id="4" name="brY_619" descr="/home/claude/lls-course/v2/assets/brush-yellow.png">    </p:cNvPr>
          <p:cNvPicPr>
            <a:picLocks noChangeAspect="1"/>
          </p:cNvPicPr>
          <p:nvPr/>
        </p:nvPicPr>
        <p:blipFill>
          <a:blip r:embed="rId2"/>
          <a:stretch>
            <a:fillRect/>
          </a:stretch>
        </p:blipFill>
        <p:spPr>
          <a:xfrm>
            <a:off x="1097280" y="146304"/>
            <a:ext cx="4348886" cy="621792"/>
          </a:xfrm>
          <a:prstGeom prst="rect">
            <a:avLst/>
          </a:prstGeom>
        </p:spPr>
      </p:pic>
      <p:sp>
        <p:nvSpPr>
          <p:cNvPr id="5" name="title_620"/>
          <p:cNvSpPr/>
          <p:nvPr/>
        </p:nvSpPr>
        <p:spPr>
          <a:xfrm>
            <a:off x="1261872" y="164592"/>
            <a:ext cx="4074566"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How does Matt feel? 1/2</a:t>
            </a:r>
            <a:endParaRPr lang="en-US" sz="2500" dirty="0"/>
          </a:p>
        </p:txBody>
      </p:sp>
      <p:pic>
        <p:nvPicPr>
          <p:cNvPr id="6" name="brP_621" descr="/home/claude/lls-course/v2/assets/brush-pink.png">    </p:cNvPr>
          <p:cNvPicPr>
            <a:picLocks noChangeAspect="1"/>
          </p:cNvPicPr>
          <p:nvPr/>
        </p:nvPicPr>
        <p:blipFill>
          <a:blip r:embed="rId3"/>
          <a:stretch>
            <a:fillRect/>
          </a:stretch>
        </p:blipFill>
        <p:spPr>
          <a:xfrm>
            <a:off x="1207008" y="731520"/>
            <a:ext cx="4293108" cy="402336"/>
          </a:xfrm>
          <a:prstGeom prst="rect">
            <a:avLst/>
          </a:prstGeom>
        </p:spPr>
      </p:pic>
      <p:sp>
        <p:nvSpPr>
          <p:cNvPr id="7" name="ins_622"/>
          <p:cNvSpPr/>
          <p:nvPr/>
        </p:nvSpPr>
        <p:spPr>
          <a:xfrm>
            <a:off x="1353312" y="731520"/>
            <a:ext cx="403707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Guess Matt's feelings. Then listen again.</a:t>
            </a:r>
            <a:endParaRPr lang="en-US" sz="1250" dirty="0"/>
          </a:p>
        </p:txBody>
      </p:sp>
      <p:sp>
        <p:nvSpPr>
          <p:cNvPr id="8" name="insIT_623"/>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Indovina come si sente Matt. Poi riascolta.</a:t>
            </a:r>
            <a:endParaRPr lang="en-US" sz="950" dirty="0"/>
          </a:p>
        </p:txBody>
      </p:sp>
      <p:sp>
        <p:nvSpPr>
          <p:cNvPr id="9" name="cmd_624"/>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100" dirty="0"/>
          </a:p>
        </p:txBody>
      </p:sp>
      <p:sp>
        <p:nvSpPr>
          <p:cNvPr id="10" name="cmd_625"/>
          <p:cNvSpPr/>
          <p:nvPr/>
        </p:nvSpPr>
        <p:spPr>
          <a:xfrm>
            <a:off x="6510528" y="566928"/>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800" dirty="0">
                <a:solidFill>
                  <a:srgbClr val="000000"/>
                </a:solidFill>
              </a:rPr>
              <a:t>✏️ </a:t>
            </a:r>
            <a:pPr indent="0" marL="0">
              <a:buNone/>
            </a:pPr>
            <a:r>
              <a:rPr lang="en-US" sz="900" dirty="0">
                <a:solidFill>
                  <a:srgbClr val="F2B705"/>
                </a:solidFill>
                <a:latin typeface="Arial Rounded MT Bold" pitchFamily="34" charset="0"/>
                <a:ea typeface="Arial Rounded MT Bold" pitchFamily="34" charset="-122"/>
                <a:cs typeface="Arial Rounded MT Bold" pitchFamily="34" charset="-120"/>
              </a:rPr>
              <a:t>FILL THE GAPS</a:t>
            </a:r>
            <a:pPr indent="0" marL="0">
              <a:buNone/>
            </a:pPr>
            <a:r>
              <a:rPr lang="en-US" sz="700" dirty="0">
                <a:solidFill>
                  <a:srgbClr val="5B6785"/>
                </a:solidFill>
                <a:latin typeface="Segoe UI Semibold" pitchFamily="34" charset="0"/>
                <a:ea typeface="Segoe UI Semibold" pitchFamily="34" charset="-122"/>
                <a:cs typeface="Segoe UI Semibold" pitchFamily="34" charset="-120"/>
              </a:rPr>
              <a:t>  COMPLETA</a:t>
            </a:r>
            <a:endParaRPr lang="en-US" sz="800" dirty="0"/>
          </a:p>
        </p:txBody>
      </p:sp>
      <p:sp>
        <p:nvSpPr>
          <p:cNvPr id="11" name="meta_626"/>
          <p:cNvSpPr/>
          <p:nvPr/>
        </p:nvSpPr>
        <p:spPr>
          <a:xfrm>
            <a:off x="6583680" y="950976"/>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sp>
        <p:nvSpPr>
          <p:cNvPr id="12" name="tag_627"/>
          <p:cNvSpPr/>
          <p:nvPr/>
        </p:nvSpPr>
        <p:spPr>
          <a:xfrm>
            <a:off x="6510528" y="1188720"/>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Listening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Listening for detail</a:t>
            </a:r>
            <a:endParaRPr lang="en-US" sz="850" dirty="0"/>
          </a:p>
        </p:txBody>
      </p:sp>
      <p:pic>
        <p:nvPicPr>
          <p:cNvPr id="13" name="logo_628"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629"/>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4B-1 · Listening · detail   ·   📖 SB p.41 · 3e · audio 4.18</a:t>
            </a:r>
            <a:endParaRPr lang="en-US" sz="800" dirty="0"/>
          </a:p>
        </p:txBody>
      </p:sp>
      <p:sp>
        <p:nvSpPr>
          <p:cNvPr id="15" name="ap_630"/>
          <p:cNvSpPr/>
          <p:nvPr/>
        </p:nvSpPr>
        <p:spPr>
          <a:xfrm>
            <a:off x="365760" y="1417320"/>
            <a:ext cx="2194560" cy="402336"/>
          </a:xfrm>
          <a:prstGeom prst="roundRect">
            <a:avLst>
              <a:gd name="adj" fmla="val 50000"/>
            </a:avLst>
          </a:prstGeom>
          <a:solidFill>
            <a:srgbClr val="E3F1FD"/>
          </a:solidFill>
          <a:ln w="19050">
            <a:solidFill>
              <a:srgbClr val="2F8DE4"/>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4.18  ·  pause after each stage</a:t>
            </a:r>
            <a:endParaRPr lang="en-US" sz="1100" dirty="0"/>
          </a:p>
        </p:txBody>
      </p:sp>
      <p:sp>
        <p:nvSpPr>
          <p:cNvPr id="16" name="ah_631"/>
          <p:cNvSpPr/>
          <p:nvPr/>
        </p:nvSpPr>
        <p:spPr>
          <a:xfrm>
            <a:off x="5925312" y="4572000"/>
            <a:ext cx="1554480" cy="365760"/>
          </a:xfrm>
          <a:prstGeom prst="rect">
            <a:avLst/>
          </a:prstGeom>
          <a:noFill/>
          <a:ln/>
        </p:spPr>
        <p:txBody>
          <a:bodyPr wrap="square" lIns="0" tIns="0" rIns="0" bIns="0" rtlCol="0" anchor="ctr"/>
          <a:lstStyle/>
          <a:p>
            <a:pPr algn="r" indent="0" marL="0">
              <a:buNone/>
            </a:pPr>
            <a:r>
              <a:rPr lang="en-US" sz="950" b="1" dirty="0">
                <a:solidFill>
                  <a:srgbClr val="2F8DE4"/>
                </a:solidFill>
                <a:latin typeface="Segoe UI Semibold" pitchFamily="34" charset="0"/>
                <a:ea typeface="Segoe UI Semibold" pitchFamily="34" charset="-122"/>
                <a:cs typeface="Segoe UI Semibold" pitchFamily="34" charset="-120"/>
              </a:rPr>
              <a:t>▶ normal · 🐢 slower</a:t>
            </a:r>
            <a:endParaRPr lang="en-US" sz="950" dirty="0"/>
          </a:p>
        </p:txBody>
      </p:sp>
      <p:pic>
        <p:nvPicPr>
          <p:cNvPr id="17"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7525512" y="4553712"/>
            <a:ext cx="411480" cy="411480"/>
          </a:xfrm>
          <a:prstGeom prst="rect">
            <a:avLst/>
          </a:prstGeom>
        </p:spPr>
      </p:pic>
      <p:pic>
        <p:nvPicPr>
          <p:cNvPr id="18"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001000" y="4553712"/>
            <a:ext cx="411480" cy="411480"/>
          </a:xfrm>
          <a:prstGeom prst="rect">
            <a:avLst/>
          </a:prstGeom>
        </p:spPr>
      </p:pic>
      <p:sp>
        <p:nvSpPr>
          <p:cNvPr id="19" name="pf_632"/>
          <p:cNvSpPr/>
          <p:nvPr/>
        </p:nvSpPr>
        <p:spPr>
          <a:xfrm rot="-90000">
            <a:off x="411480" y="2057400"/>
            <a:ext cx="2697480" cy="1783080"/>
          </a:xfrm>
          <a:prstGeom prst="roundRect">
            <a:avLst>
              <a:gd name="adj" fmla="val 8718"/>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20" name="phx_633"/>
          <p:cNvSpPr/>
          <p:nvPr/>
        </p:nvSpPr>
        <p:spPr>
          <a:xfrm>
            <a:off x="457200" y="2103120"/>
            <a:ext cx="2606040" cy="169164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pitchFamily="34" charset="0"/>
                <a:ea typeface="Segoe UI" pitchFamily="34" charset="-122"/>
                <a:cs typeface="Segoe UI" pitchFamily="34" charset="-120"/>
              </a:rPr>
              <a:t>📷 4b1-trumpet-practice.jpg</a:t>
            </a:r>
            <a:endParaRPr lang="en-US" sz="900" dirty="0"/>
          </a:p>
        </p:txBody>
      </p:sp>
      <p:sp>
        <p:nvSpPr>
          <p:cNvPr id="21" name="cd_634"/>
          <p:cNvSpPr/>
          <p:nvPr/>
        </p:nvSpPr>
        <p:spPr>
          <a:xfrm>
            <a:off x="320040" y="4023360"/>
            <a:ext cx="2788920" cy="731520"/>
          </a:xfrm>
          <a:prstGeom prst="roundRect">
            <a:avLst>
              <a:gd name="adj" fmla="val 17500"/>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2" name="ii_635"/>
          <p:cNvSpPr/>
          <p:nvPr/>
        </p:nvSpPr>
        <p:spPr>
          <a:xfrm>
            <a:off x="411480" y="40965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3" name="ih_636"/>
          <p:cNvSpPr/>
          <p:nvPr/>
        </p:nvSpPr>
        <p:spPr>
          <a:xfrm>
            <a:off x="886968" y="4114800"/>
            <a:ext cx="214884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Guess first, then listen!</a:t>
            </a:r>
            <a:endParaRPr lang="en-US" sz="1200" dirty="0"/>
          </a:p>
        </p:txBody>
      </p:sp>
      <p:sp>
        <p:nvSpPr>
          <p:cNvPr id="24" name="il_637"/>
          <p:cNvSpPr/>
          <p:nvPr/>
        </p:nvSpPr>
        <p:spPr>
          <a:xfrm>
            <a:off x="886968" y="4498848"/>
            <a:ext cx="2130552" cy="182880"/>
          </a:xfrm>
          <a:prstGeom prst="rect">
            <a:avLst/>
          </a:prstGeom>
          <a:noFill/>
          <a:ln/>
        </p:spPr>
        <p:txBody>
          <a:bodyPr wrap="square" lIns="0" tIns="0" rIns="0" bIns="0" rtlCol="0" anchor="t">
            <a:normAutofit/>
          </a:bodyPr>
          <a:lstStyle/>
          <a:p>
            <a:pPr indent="0" marL="0">
              <a:spcAft>
                <a:spcPts val="200"/>
              </a:spcAft>
              <a:buNone/>
            </a:pPr>
            <a:endParaRPr lang="en-US" sz="1100" dirty="0"/>
          </a:p>
        </p:txBody>
      </p:sp>
      <p:sp>
        <p:nvSpPr>
          <p:cNvPr id="25" name="gq_638"/>
          <p:cNvSpPr/>
          <p:nvPr/>
        </p:nvSpPr>
        <p:spPr>
          <a:xfrm>
            <a:off x="3383280" y="1417320"/>
            <a:ext cx="333756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1 h · optimistic or pessimistic?</a:t>
            </a:r>
            <a:endParaRPr lang="en-US" sz="1200" dirty="0"/>
          </a:p>
        </p:txBody>
      </p:sp>
      <p:sp>
        <p:nvSpPr>
          <p:cNvPr id="26" name="R1_chip639"/>
          <p:cNvSpPr/>
          <p:nvPr/>
        </p:nvSpPr>
        <p:spPr>
          <a:xfrm>
            <a:off x="6812280" y="1417320"/>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optimistic</a:t>
            </a:r>
            <a:endParaRPr lang="en-US" sz="1200" dirty="0"/>
          </a:p>
        </p:txBody>
      </p:sp>
      <p:sp>
        <p:nvSpPr>
          <p:cNvPr id="27" name="gq_640"/>
          <p:cNvSpPr/>
          <p:nvPr/>
        </p:nvSpPr>
        <p:spPr>
          <a:xfrm>
            <a:off x="3383280" y="1938528"/>
            <a:ext cx="3337560" cy="457200"/>
          </a:xfrm>
          <a:prstGeom prst="roundRect">
            <a:avLst>
              <a:gd name="adj" fmla="val 20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2 h · pleased or unhappy with his progress?</a:t>
            </a:r>
            <a:endParaRPr lang="en-US" sz="1200" dirty="0"/>
          </a:p>
        </p:txBody>
      </p:sp>
      <p:sp>
        <p:nvSpPr>
          <p:cNvPr id="28" name="R2_chip641"/>
          <p:cNvSpPr/>
          <p:nvPr/>
        </p:nvSpPr>
        <p:spPr>
          <a:xfrm>
            <a:off x="6812280" y="1938528"/>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unhappy</a:t>
            </a:r>
            <a:endParaRPr lang="en-US" sz="1200" dirty="0"/>
          </a:p>
        </p:txBody>
      </p:sp>
      <p:sp>
        <p:nvSpPr>
          <p:cNvPr id="29" name="gq_642"/>
          <p:cNvSpPr/>
          <p:nvPr/>
        </p:nvSpPr>
        <p:spPr>
          <a:xfrm>
            <a:off x="3383280" y="2459736"/>
            <a:ext cx="3337560" cy="457200"/>
          </a:xfrm>
          <a:prstGeom prst="roundRect">
            <a:avLst>
              <a:gd name="adj" fmla="val 20000"/>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5 h · online teacher: annoying or great?</a:t>
            </a:r>
            <a:endParaRPr lang="en-US" sz="1200" dirty="0"/>
          </a:p>
        </p:txBody>
      </p:sp>
      <p:sp>
        <p:nvSpPr>
          <p:cNvPr id="30" name="R3_chip643"/>
          <p:cNvSpPr/>
          <p:nvPr/>
        </p:nvSpPr>
        <p:spPr>
          <a:xfrm>
            <a:off x="6812280" y="2459736"/>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annoying</a:t>
            </a:r>
            <a:endParaRPr lang="en-US" sz="1200" dirty="0"/>
          </a:p>
        </p:txBody>
      </p:sp>
      <p:sp>
        <p:nvSpPr>
          <p:cNvPr id="31" name="gq_644"/>
          <p:cNvSpPr/>
          <p:nvPr/>
        </p:nvSpPr>
        <p:spPr>
          <a:xfrm>
            <a:off x="3383280" y="2980944"/>
            <a:ext cx="3337560" cy="457200"/>
          </a:xfrm>
          <a:prstGeom prst="roundRect">
            <a:avLst>
              <a:gd name="adj" fmla="val 20000"/>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9 h · frustrated or happy with simple tunes?</a:t>
            </a:r>
            <a:endParaRPr lang="en-US" sz="1200" dirty="0"/>
          </a:p>
        </p:txBody>
      </p:sp>
      <p:sp>
        <p:nvSpPr>
          <p:cNvPr id="32" name="R4_chip645"/>
          <p:cNvSpPr/>
          <p:nvPr/>
        </p:nvSpPr>
        <p:spPr>
          <a:xfrm>
            <a:off x="6812280" y="2980944"/>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frustrated</a:t>
            </a:r>
            <a:endParaRPr lang="en-US" sz="12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6"/>
                                        </p:tgtEl>
                                        <p:attrNameLst>
                                          <p:attrName>style.visibility</p:attrName>
                                        </p:attrNameLst>
                                      </p:cBhvr>
                                      <p:to>
                                        <p:strVal val="visible"/>
                                      </p:to>
                                    </p:set>
                                    <p:animEffect transition="in" filter="fade">
                                      <p:cBhvr>
                                        <p:cTn id="7" dur="400"/>
                                        <p:tgtEl>
                                          <p:spTgt spid="2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8"/>
                                        </p:tgtEl>
                                        <p:attrNameLst>
                                          <p:attrName>style.visibility</p:attrName>
                                        </p:attrNameLst>
                                      </p:cBhvr>
                                      <p:to>
                                        <p:strVal val="visible"/>
                                      </p:to>
                                    </p:set>
                                    <p:animEffect transition="in" filter="fade">
                                      <p:cBhvr>
                                        <p:cTn id="12" dur="400"/>
                                        <p:tgtEl>
                                          <p:spTgt spid="2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0"/>
                                        </p:tgtEl>
                                        <p:attrNameLst>
                                          <p:attrName>style.visibility</p:attrName>
                                        </p:attrNameLst>
                                      </p:cBhvr>
                                      <p:to>
                                        <p:strVal val="visible"/>
                                      </p:to>
                                    </p:set>
                                    <p:animEffect transition="in" filter="fade">
                                      <p:cBhvr>
                                        <p:cTn id="17" dur="400"/>
                                        <p:tgtEl>
                                          <p:spTgt spid="30"/>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2"/>
                                        </p:tgtEl>
                                        <p:attrNameLst>
                                          <p:attrName>style.visibility</p:attrName>
                                        </p:attrNameLst>
                                      </p:cBhvr>
                                      <p:to>
                                        <p:strVal val="visible"/>
                                      </p:to>
                                    </p:set>
                                    <p:animEffect transition="in" filter="fade">
                                      <p:cBhvr>
                                        <p:cTn id="22" dur="4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23" restart="whenNotActive" fill="hold" evtFilter="cancelBubble" nodeType="interactiveSeq">
                <p:stCondLst>
                  <p:cond evt="onClick" delay="0">
                    <p:tgtEl>
                      <p:spTgt spid="17"/>
                    </p:tgtEl>
                  </p:cond>
                </p:stCondLst>
                <p:endSync evt="end" delay="0">
                  <p:rtn val="all"/>
                </p:endSync>
                <p:childTnLst>
                  <p:par>
                    <p:cTn id="24" fill="hold">
                      <p:stCondLst>
                        <p:cond delay="0"/>
                      </p:stCondLst>
                      <p:childTnLst>
                        <p:par>
                          <p:cTn id="25" fill="hold">
                            <p:stCondLst>
                              <p:cond delay="0"/>
                            </p:stCondLst>
                            <p:childTnLst>
                              <p:par>
                                <p:cTn id="26" presetID="2" presetClass="mediacall" presetSubtype="0" fill="hold" nodeType="clickEffect">
                                  <p:stCondLst>
                                    <p:cond delay="0"/>
                                  </p:stCondLst>
                                  <p:childTnLst>
                                    <p:cmd type="call" cmd="togglePause">
                                      <p:cBhvr>
                                        <p:cTn id="27" dur="1" fill="hold"/>
                                        <p:tgtEl>
                                          <p:spTgt spid="17"/>
                                        </p:tgtEl>
                                      </p:cBhvr>
                                    </p:cmd>
                                  </p:childTnLst>
                                </p:cTn>
                              </p:par>
                            </p:childTnLst>
                          </p:cTn>
                        </p:par>
                      </p:childTnLst>
                    </p:cTn>
                  </p:par>
                </p:childTnLst>
              </p:cTn>
              <p:nextCondLst>
                <p:cond evt="onClick" delay="0">
                  <p:tgtEl>
                    <p:spTgt spid="17"/>
                  </p:tgtEl>
                </p:cond>
              </p:nextCondLst>
            </p:seq>
            <p:seq concurrent="1" nextAc="seek">
              <p:cTn id="28" restart="whenNotActive" fill="hold" evtFilter="cancelBubble" nodeType="interactiveSeq">
                <p:stCondLst>
                  <p:cond evt="onClick" delay="0">
                    <p:tgtEl>
                      <p:spTgt spid="18"/>
                    </p:tgtEl>
                  </p:cond>
                </p:stCondLst>
                <p:endSync evt="end" delay="0">
                  <p:rtn val="all"/>
                </p:endSync>
                <p:childTnLst>
                  <p:par>
                    <p:cTn id="29" fill="hold">
                      <p:stCondLst>
                        <p:cond delay="0"/>
                      </p:stCondLst>
                      <p:childTnLst>
                        <p:par>
                          <p:cTn id="30" fill="hold">
                            <p:stCondLst>
                              <p:cond delay="0"/>
                            </p:stCondLst>
                            <p:childTnLst>
                              <p:par>
                                <p:cTn id="31" presetID="2" presetClass="mediacall" presetSubtype="0" fill="hold" nodeType="clickEffect">
                                  <p:stCondLst>
                                    <p:cond delay="0"/>
                                  </p:stCondLst>
                                  <p:childTnLst>
                                    <p:cmd type="call" cmd="togglePause">
                                      <p:cBhvr>
                                        <p:cTn id="32" dur="1" fill="hold"/>
                                        <p:tgtEl>
                                          <p:spTgt spid="18"/>
                                        </p:tgtEl>
                                      </p:cBhvr>
                                    </p:cmd>
                                  </p:childTnLst>
                                </p:cTn>
                              </p:par>
                            </p:childTnLst>
                          </p:cTn>
                        </p:par>
                      </p:childTnLst>
                    </p:cTn>
                  </p:par>
                </p:childTnLst>
              </p:cTn>
              <p:nextCondLst>
                <p:cond evt="onClick" delay="0">
                  <p:tgtEl>
                    <p:spTgt spid="18"/>
                  </p:tgtEl>
                </p:cond>
              </p:nextCondLst>
            </p:seq>
            <p:audio>
              <p:cMediaNode vol="80000">
                <p:cTn id="33" fill="hold" display="0">
                  <p:stCondLst>
                    <p:cond delay="indefinite"/>
                  </p:stCondLst>
                  <p:endCondLst>
                    <p:cond evt="onStopAudio" delay="0">
                      <p:tgtEl>
                        <p:sldTgt/>
                      </p:tgtEl>
                    </p:cond>
                  </p:endCondLst>
                </p:cTn>
                <p:tgtEl>
                  <p:spTgt spid="17"/>
                </p:tgtEl>
              </p:cMediaNode>
            </p:audio>
            <p:audio>
              <p:cMediaNode vol="80000">
                <p:cTn id="34" fill="hold" display="0">
                  <p:stCondLst>
                    <p:cond delay="indefinite"/>
                  </p:stCondLst>
                  <p:endCondLst>
                    <p:cond evt="onStopAudio" delay="0">
                      <p:tgtEl>
                        <p:sldTgt/>
                      </p:tgtEl>
                    </p:cond>
                  </p:endCondLst>
                </p:cTn>
                <p:tgtEl>
                  <p:spTgt spid="18"/>
                </p:tgtEl>
              </p:cMediaNode>
            </p:audio>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name="Slide 21">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646"/>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21</a:t>
            </a:r>
            <a:endParaRPr lang="en-US" sz="2200" dirty="0"/>
          </a:p>
        </p:txBody>
      </p:sp>
      <p:pic>
        <p:nvPicPr>
          <p:cNvPr id="4" name="brY_647" descr="/home/claude/lls-course/v2/assets/brush-yellow.png">    </p:cNvPr>
          <p:cNvPicPr>
            <a:picLocks noChangeAspect="1"/>
          </p:cNvPicPr>
          <p:nvPr/>
        </p:nvPicPr>
        <p:blipFill>
          <a:blip r:embed="rId2"/>
          <a:stretch>
            <a:fillRect/>
          </a:stretch>
        </p:blipFill>
        <p:spPr>
          <a:xfrm>
            <a:off x="1097280" y="146304"/>
            <a:ext cx="4348886" cy="621792"/>
          </a:xfrm>
          <a:prstGeom prst="rect">
            <a:avLst/>
          </a:prstGeom>
        </p:spPr>
      </p:pic>
      <p:sp>
        <p:nvSpPr>
          <p:cNvPr id="5" name="title_648"/>
          <p:cNvSpPr/>
          <p:nvPr/>
        </p:nvSpPr>
        <p:spPr>
          <a:xfrm>
            <a:off x="1261872" y="164592"/>
            <a:ext cx="4074566"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How does Matt feel? 2/2</a:t>
            </a:r>
            <a:endParaRPr lang="en-US" sz="2500" dirty="0"/>
          </a:p>
        </p:txBody>
      </p:sp>
      <p:pic>
        <p:nvPicPr>
          <p:cNvPr id="6" name="brP_649" descr="/home/claude/lls-course/v2/assets/brush-pink.png">    </p:cNvPr>
          <p:cNvPicPr>
            <a:picLocks noChangeAspect="1"/>
          </p:cNvPicPr>
          <p:nvPr/>
        </p:nvPicPr>
        <p:blipFill>
          <a:blip r:embed="rId3"/>
          <a:stretch>
            <a:fillRect/>
          </a:stretch>
        </p:blipFill>
        <p:spPr>
          <a:xfrm>
            <a:off x="1207008" y="731520"/>
            <a:ext cx="3337560" cy="402336"/>
          </a:xfrm>
          <a:prstGeom prst="rect">
            <a:avLst/>
          </a:prstGeom>
        </p:spPr>
      </p:pic>
      <p:sp>
        <p:nvSpPr>
          <p:cNvPr id="7" name="ins_650"/>
          <p:cNvSpPr/>
          <p:nvPr/>
        </p:nvSpPr>
        <p:spPr>
          <a:xfrm>
            <a:off x="1353312" y="731520"/>
            <a:ext cx="308152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Guess. Then listen to the end.</a:t>
            </a:r>
            <a:endParaRPr lang="en-US" sz="1250" dirty="0"/>
          </a:p>
        </p:txBody>
      </p:sp>
      <p:sp>
        <p:nvSpPr>
          <p:cNvPr id="8" name="insIT_651"/>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Indovina. Poi ascolta fino alla fine.</a:t>
            </a:r>
            <a:endParaRPr lang="en-US" sz="950" dirty="0"/>
          </a:p>
        </p:txBody>
      </p:sp>
      <p:sp>
        <p:nvSpPr>
          <p:cNvPr id="9" name="cmd_652"/>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100" dirty="0"/>
          </a:p>
        </p:txBody>
      </p:sp>
      <p:sp>
        <p:nvSpPr>
          <p:cNvPr id="10" name="cmd_653"/>
          <p:cNvSpPr/>
          <p:nvPr/>
        </p:nvSpPr>
        <p:spPr>
          <a:xfrm>
            <a:off x="6510528" y="566928"/>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800" dirty="0">
                <a:solidFill>
                  <a:srgbClr val="000000"/>
                </a:solidFill>
              </a:rPr>
              <a:t>✏️ </a:t>
            </a:r>
            <a:pPr indent="0" marL="0">
              <a:buNone/>
            </a:pPr>
            <a:r>
              <a:rPr lang="en-US" sz="900" dirty="0">
                <a:solidFill>
                  <a:srgbClr val="F2B705"/>
                </a:solidFill>
                <a:latin typeface="Arial Rounded MT Bold" pitchFamily="34" charset="0"/>
                <a:ea typeface="Arial Rounded MT Bold" pitchFamily="34" charset="-122"/>
                <a:cs typeface="Arial Rounded MT Bold" pitchFamily="34" charset="-120"/>
              </a:rPr>
              <a:t>FILL THE GAPS</a:t>
            </a:r>
            <a:pPr indent="0" marL="0">
              <a:buNone/>
            </a:pPr>
            <a:r>
              <a:rPr lang="en-US" sz="700" dirty="0">
                <a:solidFill>
                  <a:srgbClr val="5B6785"/>
                </a:solidFill>
                <a:latin typeface="Segoe UI Semibold" pitchFamily="34" charset="0"/>
                <a:ea typeface="Segoe UI Semibold" pitchFamily="34" charset="-122"/>
                <a:cs typeface="Segoe UI Semibold" pitchFamily="34" charset="-120"/>
              </a:rPr>
              <a:t>  COMPLETA</a:t>
            </a:r>
            <a:endParaRPr lang="en-US" sz="800" dirty="0"/>
          </a:p>
        </p:txBody>
      </p:sp>
      <p:sp>
        <p:nvSpPr>
          <p:cNvPr id="11" name="meta_654"/>
          <p:cNvSpPr/>
          <p:nvPr/>
        </p:nvSpPr>
        <p:spPr>
          <a:xfrm>
            <a:off x="6583680" y="950976"/>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pairs</a:t>
            </a:r>
            <a:endParaRPr lang="en-US" sz="950" dirty="0"/>
          </a:p>
        </p:txBody>
      </p:sp>
      <p:sp>
        <p:nvSpPr>
          <p:cNvPr id="12" name="tag_655"/>
          <p:cNvSpPr/>
          <p:nvPr/>
        </p:nvSpPr>
        <p:spPr>
          <a:xfrm>
            <a:off x="6510528" y="1188720"/>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Listening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Listening for detail</a:t>
            </a:r>
            <a:endParaRPr lang="en-US" sz="850" dirty="0"/>
          </a:p>
        </p:txBody>
      </p:sp>
      <p:pic>
        <p:nvPicPr>
          <p:cNvPr id="13" name="logo_656"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657"/>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4B-1 · Listening · detail   ·   📖 SB p.41 · 3e, 3f · audio 4.18</a:t>
            </a:r>
            <a:endParaRPr lang="en-US" sz="800" dirty="0"/>
          </a:p>
        </p:txBody>
      </p:sp>
      <p:sp>
        <p:nvSpPr>
          <p:cNvPr id="15" name="ap_658"/>
          <p:cNvSpPr/>
          <p:nvPr/>
        </p:nvSpPr>
        <p:spPr>
          <a:xfrm>
            <a:off x="365760" y="1417320"/>
            <a:ext cx="2194560" cy="402336"/>
          </a:xfrm>
          <a:prstGeom prst="roundRect">
            <a:avLst>
              <a:gd name="adj" fmla="val 50000"/>
            </a:avLst>
          </a:prstGeom>
          <a:solidFill>
            <a:srgbClr val="E3F1FD"/>
          </a:solidFill>
          <a:ln w="19050">
            <a:solidFill>
              <a:srgbClr val="2F8DE4"/>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4.18  ·  pause after each stage</a:t>
            </a:r>
            <a:endParaRPr lang="en-US" sz="1100" dirty="0"/>
          </a:p>
        </p:txBody>
      </p:sp>
      <p:sp>
        <p:nvSpPr>
          <p:cNvPr id="16" name="ah_659"/>
          <p:cNvSpPr/>
          <p:nvPr/>
        </p:nvSpPr>
        <p:spPr>
          <a:xfrm>
            <a:off x="5925312" y="4572000"/>
            <a:ext cx="1554480" cy="365760"/>
          </a:xfrm>
          <a:prstGeom prst="rect">
            <a:avLst/>
          </a:prstGeom>
          <a:noFill/>
          <a:ln/>
        </p:spPr>
        <p:txBody>
          <a:bodyPr wrap="square" lIns="0" tIns="0" rIns="0" bIns="0" rtlCol="0" anchor="ctr"/>
          <a:lstStyle/>
          <a:p>
            <a:pPr algn="r" indent="0" marL="0">
              <a:buNone/>
            </a:pPr>
            <a:r>
              <a:rPr lang="en-US" sz="950" b="1" dirty="0">
                <a:solidFill>
                  <a:srgbClr val="2F8DE4"/>
                </a:solidFill>
                <a:latin typeface="Segoe UI Semibold" pitchFamily="34" charset="0"/>
                <a:ea typeface="Segoe UI Semibold" pitchFamily="34" charset="-122"/>
                <a:cs typeface="Segoe UI Semibold" pitchFamily="34" charset="-120"/>
              </a:rPr>
              <a:t>▶ normal · 🐢 slower</a:t>
            </a:r>
            <a:endParaRPr lang="en-US" sz="950" dirty="0"/>
          </a:p>
        </p:txBody>
      </p:sp>
      <p:pic>
        <p:nvPicPr>
          <p:cNvPr id="17"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7525512" y="4553712"/>
            <a:ext cx="411480" cy="411480"/>
          </a:xfrm>
          <a:prstGeom prst="rect">
            <a:avLst/>
          </a:prstGeom>
        </p:spPr>
      </p:pic>
      <p:pic>
        <p:nvPicPr>
          <p:cNvPr id="18"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001000" y="4553712"/>
            <a:ext cx="411480" cy="411480"/>
          </a:xfrm>
          <a:prstGeom prst="rect">
            <a:avLst/>
          </a:prstGeom>
        </p:spPr>
      </p:pic>
      <p:sp>
        <p:nvSpPr>
          <p:cNvPr id="19" name="pf_660"/>
          <p:cNvSpPr/>
          <p:nvPr/>
        </p:nvSpPr>
        <p:spPr>
          <a:xfrm rot="-90000">
            <a:off x="411480" y="2057400"/>
            <a:ext cx="2697480" cy="1783080"/>
          </a:xfrm>
          <a:prstGeom prst="roundRect">
            <a:avLst>
              <a:gd name="adj" fmla="val 8718"/>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20" name="phx_661"/>
          <p:cNvSpPr/>
          <p:nvPr/>
        </p:nvSpPr>
        <p:spPr>
          <a:xfrm>
            <a:off x="457200" y="2103120"/>
            <a:ext cx="2606040" cy="169164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pitchFamily="34" charset="0"/>
                <a:ea typeface="Segoe UI" pitchFamily="34" charset="-122"/>
                <a:cs typeface="Segoe UI" pitchFamily="34" charset="-120"/>
              </a:rPr>
              <a:t>📷 4b1-cover.jpg</a:t>
            </a:r>
            <a:endParaRPr lang="en-US" sz="900" dirty="0"/>
          </a:p>
        </p:txBody>
      </p:sp>
      <p:sp>
        <p:nvSpPr>
          <p:cNvPr id="21" name="cd_662"/>
          <p:cNvSpPr/>
          <p:nvPr/>
        </p:nvSpPr>
        <p:spPr>
          <a:xfrm>
            <a:off x="320040" y="4023360"/>
            <a:ext cx="2788920" cy="731520"/>
          </a:xfrm>
          <a:prstGeom prst="roundRect">
            <a:avLst>
              <a:gd name="adj" fmla="val 17500"/>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2" name="ii_663"/>
          <p:cNvSpPr/>
          <p:nvPr/>
        </p:nvSpPr>
        <p:spPr>
          <a:xfrm>
            <a:off x="411480" y="40965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3" name="ih_664"/>
          <p:cNvSpPr/>
          <p:nvPr/>
        </p:nvSpPr>
        <p:spPr>
          <a:xfrm>
            <a:off x="886968" y="4114800"/>
            <a:ext cx="214884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Guess first, then listen!</a:t>
            </a:r>
            <a:endParaRPr lang="en-US" sz="1200" dirty="0"/>
          </a:p>
        </p:txBody>
      </p:sp>
      <p:sp>
        <p:nvSpPr>
          <p:cNvPr id="24" name="il_665"/>
          <p:cNvSpPr/>
          <p:nvPr/>
        </p:nvSpPr>
        <p:spPr>
          <a:xfrm>
            <a:off x="886968" y="4498848"/>
            <a:ext cx="2130552" cy="182880"/>
          </a:xfrm>
          <a:prstGeom prst="rect">
            <a:avLst/>
          </a:prstGeom>
          <a:noFill/>
          <a:ln/>
        </p:spPr>
        <p:txBody>
          <a:bodyPr wrap="square" lIns="0" tIns="0" rIns="0" bIns="0" rtlCol="0" anchor="t">
            <a:normAutofit/>
          </a:bodyPr>
          <a:lstStyle/>
          <a:p>
            <a:pPr indent="0" marL="0">
              <a:spcAft>
                <a:spcPts val="200"/>
              </a:spcAft>
              <a:buNone/>
            </a:pPr>
            <a:endParaRPr lang="en-US" sz="1100" dirty="0"/>
          </a:p>
        </p:txBody>
      </p:sp>
      <p:sp>
        <p:nvSpPr>
          <p:cNvPr id="25" name="gq_666"/>
          <p:cNvSpPr/>
          <p:nvPr/>
        </p:nvSpPr>
        <p:spPr>
          <a:xfrm>
            <a:off x="3383280" y="1417320"/>
            <a:ext cx="333756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14 h · enjoying himself or depressed?</a:t>
            </a:r>
            <a:endParaRPr lang="en-US" sz="1200" dirty="0"/>
          </a:p>
        </p:txBody>
      </p:sp>
      <p:sp>
        <p:nvSpPr>
          <p:cNvPr id="26" name="R1_chip667"/>
          <p:cNvSpPr/>
          <p:nvPr/>
        </p:nvSpPr>
        <p:spPr>
          <a:xfrm>
            <a:off x="6812280" y="1417320"/>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depressed – wants to give up</a:t>
            </a:r>
            <a:endParaRPr lang="en-US" sz="1200" dirty="0"/>
          </a:p>
        </p:txBody>
      </p:sp>
      <p:sp>
        <p:nvSpPr>
          <p:cNvPr id="27" name="gq_668"/>
          <p:cNvSpPr/>
          <p:nvPr/>
        </p:nvSpPr>
        <p:spPr>
          <a:xfrm>
            <a:off x="3383280" y="1938528"/>
            <a:ext cx="3337560" cy="457200"/>
          </a:xfrm>
          <a:prstGeom prst="roundRect">
            <a:avLst>
              <a:gd name="adj" fmla="val 20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15 h · Matilda says he's doing well or badly?</a:t>
            </a:r>
            <a:endParaRPr lang="en-US" sz="1200" dirty="0"/>
          </a:p>
        </p:txBody>
      </p:sp>
      <p:sp>
        <p:nvSpPr>
          <p:cNvPr id="28" name="R2_chip669"/>
          <p:cNvSpPr/>
          <p:nvPr/>
        </p:nvSpPr>
        <p:spPr>
          <a:xfrm>
            <a:off x="6812280" y="1938528"/>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badly</a:t>
            </a:r>
            <a:endParaRPr lang="en-US" sz="1200" dirty="0"/>
          </a:p>
        </p:txBody>
      </p:sp>
      <p:sp>
        <p:nvSpPr>
          <p:cNvPr id="29" name="gq_670"/>
          <p:cNvSpPr/>
          <p:nvPr/>
        </p:nvSpPr>
        <p:spPr>
          <a:xfrm>
            <a:off x="3383280" y="2459736"/>
            <a:ext cx="3337560" cy="457200"/>
          </a:xfrm>
          <a:prstGeom prst="roundRect">
            <a:avLst>
              <a:gd name="adj" fmla="val 20000"/>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17 h · optimistic again or disappointed?</a:t>
            </a:r>
            <a:endParaRPr lang="en-US" sz="1200" dirty="0"/>
          </a:p>
        </p:txBody>
      </p:sp>
      <p:sp>
        <p:nvSpPr>
          <p:cNvPr id="30" name="R3_chip671"/>
          <p:cNvSpPr/>
          <p:nvPr/>
        </p:nvSpPr>
        <p:spPr>
          <a:xfrm>
            <a:off x="6812280" y="2459736"/>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optimistic again</a:t>
            </a:r>
            <a:endParaRPr lang="en-US" sz="1200" dirty="0"/>
          </a:p>
        </p:txBody>
      </p:sp>
      <p:sp>
        <p:nvSpPr>
          <p:cNvPr id="31" name="gq_672"/>
          <p:cNvSpPr/>
          <p:nvPr/>
        </p:nvSpPr>
        <p:spPr>
          <a:xfrm>
            <a:off x="3383280" y="2980944"/>
            <a:ext cx="3337560" cy="457200"/>
          </a:xfrm>
          <a:prstGeom prst="roundRect">
            <a:avLst>
              <a:gd name="adj" fmla="val 20000"/>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20 h · he'll give up or he'll be able to improve?</a:t>
            </a:r>
            <a:endParaRPr lang="en-US" sz="1200" dirty="0"/>
          </a:p>
        </p:txBody>
      </p:sp>
      <p:sp>
        <p:nvSpPr>
          <p:cNvPr id="32" name="R4_chip673"/>
          <p:cNvSpPr/>
          <p:nvPr/>
        </p:nvSpPr>
        <p:spPr>
          <a:xfrm>
            <a:off x="6812280" y="2980944"/>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he'll be able to improve</a:t>
            </a:r>
            <a:endParaRPr lang="en-US" sz="12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6"/>
                                        </p:tgtEl>
                                        <p:attrNameLst>
                                          <p:attrName>style.visibility</p:attrName>
                                        </p:attrNameLst>
                                      </p:cBhvr>
                                      <p:to>
                                        <p:strVal val="visible"/>
                                      </p:to>
                                    </p:set>
                                    <p:animEffect transition="in" filter="fade">
                                      <p:cBhvr>
                                        <p:cTn id="7" dur="400"/>
                                        <p:tgtEl>
                                          <p:spTgt spid="2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8"/>
                                        </p:tgtEl>
                                        <p:attrNameLst>
                                          <p:attrName>style.visibility</p:attrName>
                                        </p:attrNameLst>
                                      </p:cBhvr>
                                      <p:to>
                                        <p:strVal val="visible"/>
                                      </p:to>
                                    </p:set>
                                    <p:animEffect transition="in" filter="fade">
                                      <p:cBhvr>
                                        <p:cTn id="12" dur="400"/>
                                        <p:tgtEl>
                                          <p:spTgt spid="2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0"/>
                                        </p:tgtEl>
                                        <p:attrNameLst>
                                          <p:attrName>style.visibility</p:attrName>
                                        </p:attrNameLst>
                                      </p:cBhvr>
                                      <p:to>
                                        <p:strVal val="visible"/>
                                      </p:to>
                                    </p:set>
                                    <p:animEffect transition="in" filter="fade">
                                      <p:cBhvr>
                                        <p:cTn id="17" dur="400"/>
                                        <p:tgtEl>
                                          <p:spTgt spid="30"/>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2"/>
                                        </p:tgtEl>
                                        <p:attrNameLst>
                                          <p:attrName>style.visibility</p:attrName>
                                        </p:attrNameLst>
                                      </p:cBhvr>
                                      <p:to>
                                        <p:strVal val="visible"/>
                                      </p:to>
                                    </p:set>
                                    <p:animEffect transition="in" filter="fade">
                                      <p:cBhvr>
                                        <p:cTn id="22" dur="4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23" restart="whenNotActive" fill="hold" evtFilter="cancelBubble" nodeType="interactiveSeq">
                <p:stCondLst>
                  <p:cond evt="onClick" delay="0">
                    <p:tgtEl>
                      <p:spTgt spid="17"/>
                    </p:tgtEl>
                  </p:cond>
                </p:stCondLst>
                <p:endSync evt="end" delay="0">
                  <p:rtn val="all"/>
                </p:endSync>
                <p:childTnLst>
                  <p:par>
                    <p:cTn id="24" fill="hold">
                      <p:stCondLst>
                        <p:cond delay="0"/>
                      </p:stCondLst>
                      <p:childTnLst>
                        <p:par>
                          <p:cTn id="25" fill="hold">
                            <p:stCondLst>
                              <p:cond delay="0"/>
                            </p:stCondLst>
                            <p:childTnLst>
                              <p:par>
                                <p:cTn id="26" presetID="2" presetClass="mediacall" presetSubtype="0" fill="hold" nodeType="clickEffect">
                                  <p:stCondLst>
                                    <p:cond delay="0"/>
                                  </p:stCondLst>
                                  <p:childTnLst>
                                    <p:cmd type="call" cmd="togglePause">
                                      <p:cBhvr>
                                        <p:cTn id="27" dur="1" fill="hold"/>
                                        <p:tgtEl>
                                          <p:spTgt spid="17"/>
                                        </p:tgtEl>
                                      </p:cBhvr>
                                    </p:cmd>
                                  </p:childTnLst>
                                </p:cTn>
                              </p:par>
                            </p:childTnLst>
                          </p:cTn>
                        </p:par>
                      </p:childTnLst>
                    </p:cTn>
                  </p:par>
                </p:childTnLst>
              </p:cTn>
              <p:nextCondLst>
                <p:cond evt="onClick" delay="0">
                  <p:tgtEl>
                    <p:spTgt spid="17"/>
                  </p:tgtEl>
                </p:cond>
              </p:nextCondLst>
            </p:seq>
            <p:seq concurrent="1" nextAc="seek">
              <p:cTn id="28" restart="whenNotActive" fill="hold" evtFilter="cancelBubble" nodeType="interactiveSeq">
                <p:stCondLst>
                  <p:cond evt="onClick" delay="0">
                    <p:tgtEl>
                      <p:spTgt spid="18"/>
                    </p:tgtEl>
                  </p:cond>
                </p:stCondLst>
                <p:endSync evt="end" delay="0">
                  <p:rtn val="all"/>
                </p:endSync>
                <p:childTnLst>
                  <p:par>
                    <p:cTn id="29" fill="hold">
                      <p:stCondLst>
                        <p:cond delay="0"/>
                      </p:stCondLst>
                      <p:childTnLst>
                        <p:par>
                          <p:cTn id="30" fill="hold">
                            <p:stCondLst>
                              <p:cond delay="0"/>
                            </p:stCondLst>
                            <p:childTnLst>
                              <p:par>
                                <p:cTn id="31" presetID="2" presetClass="mediacall" presetSubtype="0" fill="hold" nodeType="clickEffect">
                                  <p:stCondLst>
                                    <p:cond delay="0"/>
                                  </p:stCondLst>
                                  <p:childTnLst>
                                    <p:cmd type="call" cmd="togglePause">
                                      <p:cBhvr>
                                        <p:cTn id="32" dur="1" fill="hold"/>
                                        <p:tgtEl>
                                          <p:spTgt spid="18"/>
                                        </p:tgtEl>
                                      </p:cBhvr>
                                    </p:cmd>
                                  </p:childTnLst>
                                </p:cTn>
                              </p:par>
                            </p:childTnLst>
                          </p:cTn>
                        </p:par>
                      </p:childTnLst>
                    </p:cTn>
                  </p:par>
                </p:childTnLst>
              </p:cTn>
              <p:nextCondLst>
                <p:cond evt="onClick" delay="0">
                  <p:tgtEl>
                    <p:spTgt spid="18"/>
                  </p:tgtEl>
                </p:cond>
              </p:nextCondLst>
            </p:seq>
            <p:audio>
              <p:cMediaNode vol="80000">
                <p:cTn id="33" fill="hold" display="0">
                  <p:stCondLst>
                    <p:cond delay="indefinite"/>
                  </p:stCondLst>
                  <p:endCondLst>
                    <p:cond evt="onStopAudio" delay="0">
                      <p:tgtEl>
                        <p:sldTgt/>
                      </p:tgtEl>
                    </p:cond>
                  </p:endCondLst>
                </p:cTn>
                <p:tgtEl>
                  <p:spTgt spid="17"/>
                </p:tgtEl>
              </p:cMediaNode>
            </p:audio>
            <p:audio>
              <p:cMediaNode vol="80000">
                <p:cTn id="34" fill="hold" display="0">
                  <p:stCondLst>
                    <p:cond delay="indefinite"/>
                  </p:stCondLst>
                  <p:endCondLst>
                    <p:cond evt="onStopAudio" delay="0">
                      <p:tgtEl>
                        <p:sldTgt/>
                      </p:tgtEl>
                    </p:cond>
                  </p:endCondLst>
                </p:cTn>
                <p:tgtEl>
                  <p:spTgt spid="18"/>
                </p:tgtEl>
              </p:cMediaNode>
            </p:audio>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name="Slide 22">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674"/>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22</a:t>
            </a:r>
            <a:endParaRPr lang="en-US" sz="2200" dirty="0"/>
          </a:p>
        </p:txBody>
      </p:sp>
      <p:pic>
        <p:nvPicPr>
          <p:cNvPr id="4" name="brY_675" descr="/home/claude/lls-course/v2/assets/brush-yellow.png">    </p:cNvPr>
          <p:cNvPicPr>
            <a:picLocks noChangeAspect="1"/>
          </p:cNvPicPr>
          <p:nvPr/>
        </p:nvPicPr>
        <p:blipFill>
          <a:blip r:embed="rId2"/>
          <a:stretch>
            <a:fillRect/>
          </a:stretch>
        </p:blipFill>
        <p:spPr>
          <a:xfrm>
            <a:off x="1097280" y="146304"/>
            <a:ext cx="3719779" cy="621792"/>
          </a:xfrm>
          <a:prstGeom prst="rect">
            <a:avLst/>
          </a:prstGeom>
        </p:spPr>
      </p:pic>
      <p:sp>
        <p:nvSpPr>
          <p:cNvPr id="5" name="title_676"/>
          <p:cNvSpPr/>
          <p:nvPr/>
        </p:nvSpPr>
        <p:spPr>
          <a:xfrm>
            <a:off x="1261872" y="164592"/>
            <a:ext cx="3445459"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Is 20 hours enough?</a:t>
            </a:r>
            <a:endParaRPr lang="en-US" sz="2500" dirty="0"/>
          </a:p>
        </p:txBody>
      </p:sp>
      <p:pic>
        <p:nvPicPr>
          <p:cNvPr id="6" name="brP_677" descr="/home/claude/lls-course/v2/assets/brush-pink.png">    </p:cNvPr>
          <p:cNvPicPr>
            <a:picLocks noChangeAspect="1"/>
          </p:cNvPicPr>
          <p:nvPr/>
        </p:nvPicPr>
        <p:blipFill>
          <a:blip r:embed="rId3"/>
          <a:stretch>
            <a:fillRect/>
          </a:stretch>
        </p:blipFill>
        <p:spPr>
          <a:xfrm>
            <a:off x="1207008" y="731520"/>
            <a:ext cx="3424428" cy="402336"/>
          </a:xfrm>
          <a:prstGeom prst="rect">
            <a:avLst/>
          </a:prstGeom>
        </p:spPr>
      </p:pic>
      <p:sp>
        <p:nvSpPr>
          <p:cNvPr id="7" name="ins_678"/>
          <p:cNvSpPr/>
          <p:nvPr/>
        </p:nvSpPr>
        <p:spPr>
          <a:xfrm>
            <a:off x="1353312" y="731520"/>
            <a:ext cx="316839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Decide: YES or NO WAY? Say why.</a:t>
            </a:r>
            <a:endParaRPr lang="en-US" sz="1250" dirty="0"/>
          </a:p>
        </p:txBody>
      </p:sp>
      <p:sp>
        <p:nvSpPr>
          <p:cNvPr id="8" name="insIT_679"/>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Decidete: SÌ o IMPOSSIBILE? Dite perché.</a:t>
            </a:r>
            <a:endParaRPr lang="en-US" sz="950" dirty="0"/>
          </a:p>
        </p:txBody>
      </p:sp>
      <p:sp>
        <p:nvSpPr>
          <p:cNvPr id="9" name="cmd_680"/>
          <p:cNvSpPr/>
          <p:nvPr/>
        </p:nvSpPr>
        <p:spPr>
          <a:xfrm>
            <a:off x="6510528" y="182880"/>
            <a:ext cx="1901952"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100" dirty="0"/>
          </a:p>
        </p:txBody>
      </p:sp>
      <p:sp>
        <p:nvSpPr>
          <p:cNvPr id="10" name="meta_681"/>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groups</a:t>
            </a:r>
            <a:endParaRPr lang="en-US" sz="950" dirty="0"/>
          </a:p>
        </p:txBody>
      </p:sp>
      <p:sp>
        <p:nvSpPr>
          <p:cNvPr id="11" name="tag_682"/>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Speaking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Communicative</a:t>
            </a:r>
            <a:endParaRPr lang="en-US" sz="850" dirty="0"/>
          </a:p>
        </p:txBody>
      </p:sp>
      <p:pic>
        <p:nvPicPr>
          <p:cNvPr id="12" name="logo_683"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684"/>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4B-1 · Speaking · 20 hours   ·   📖 SB p.41 · 4 Speaking</a:t>
            </a:r>
            <a:endParaRPr lang="en-US" sz="800" dirty="0"/>
          </a:p>
        </p:txBody>
      </p:sp>
      <p:sp>
        <p:nvSpPr>
          <p:cNvPr id="14" name="pf_685"/>
          <p:cNvSpPr/>
          <p:nvPr/>
        </p:nvSpPr>
        <p:spPr>
          <a:xfrm rot="-120000">
            <a:off x="320040" y="1371600"/>
            <a:ext cx="2788920" cy="1874520"/>
          </a:xfrm>
          <a:prstGeom prst="roundRect">
            <a:avLst>
              <a:gd name="adj" fmla="val 829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15" name="phx_686"/>
          <p:cNvSpPr/>
          <p:nvPr/>
        </p:nvSpPr>
        <p:spPr>
          <a:xfrm>
            <a:off x="365760" y="1417320"/>
            <a:ext cx="2697480" cy="178308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pitchFamily="34" charset="0"/>
                <a:ea typeface="Segoe UI" pitchFamily="34" charset="-122"/>
                <a:cs typeface="Segoe UI" pitchFamily="34" charset="-120"/>
              </a:rPr>
              <a:t>📷 4b1-cover.jpg</a:t>
            </a:r>
            <a:endParaRPr lang="en-US" sz="900" dirty="0"/>
          </a:p>
        </p:txBody>
      </p:sp>
      <p:sp>
        <p:nvSpPr>
          <p:cNvPr id="16" name="cd_687"/>
          <p:cNvSpPr/>
          <p:nvPr/>
        </p:nvSpPr>
        <p:spPr>
          <a:xfrm>
            <a:off x="320040" y="3429000"/>
            <a:ext cx="2788920" cy="1325880"/>
          </a:xfrm>
          <a:prstGeom prst="roundRect">
            <a:avLst>
              <a:gd name="adj" fmla="val 9655"/>
            </a:avLst>
          </a:prstGeom>
          <a:solidFill>
            <a:srgbClr val="EEE8FB"/>
          </a:solidFill>
          <a:ln w="19050">
            <a:solidFill>
              <a:srgbClr val="CDBFF3"/>
            </a:solidFill>
            <a:prstDash val="solid"/>
          </a:ln>
          <a:effectLst>
            <a:outerShdw sx="100000" sy="100000" kx="0" ky="0" algn="bl" rotWithShape="0" blurRad="88900" dist="31750" dir="5400000">
              <a:srgbClr val="1B2559">
                <a:alpha val="12000"/>
              </a:srgbClr>
            </a:outerShdw>
          </a:effectLst>
        </p:spPr>
      </p:sp>
      <p:sp>
        <p:nvSpPr>
          <p:cNvPr id="17" name="ii_688"/>
          <p:cNvSpPr/>
          <p:nvPr/>
        </p:nvSpPr>
        <p:spPr>
          <a:xfrm>
            <a:off x="411480" y="350215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8" name="ih_689"/>
          <p:cNvSpPr/>
          <p:nvPr/>
        </p:nvSpPr>
        <p:spPr>
          <a:xfrm>
            <a:off x="886968" y="3520440"/>
            <a:ext cx="214884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Useful phrases</a:t>
            </a:r>
            <a:endParaRPr lang="en-US" sz="1300" dirty="0"/>
          </a:p>
        </p:txBody>
      </p:sp>
      <p:sp>
        <p:nvSpPr>
          <p:cNvPr id="19" name="il_690"/>
          <p:cNvSpPr/>
          <p:nvPr/>
        </p:nvSpPr>
        <p:spPr>
          <a:xfrm>
            <a:off x="886968" y="3904488"/>
            <a:ext cx="2130552" cy="7772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900" dirty="0">
                <a:solidFill>
                  <a:srgbClr val="1B2559"/>
                </a:solidFill>
                <a:latin typeface="Segoe UI" pitchFamily="34" charset="0"/>
                <a:ea typeface="Segoe UI" pitchFamily="34" charset="-122"/>
                <a:cs typeface="Segoe UI" pitchFamily="34" charset="-120"/>
              </a:rPr>
              <a:t>I think I'd be able to… (sarei in grado di)</a:t>
            </a:r>
            <a:endParaRPr lang="en-US" sz="900" dirty="0"/>
          </a:p>
          <a:p>
            <a:pPr marL="152400" indent="-152400">
              <a:spcBef>
                <a:spcPts val="500"/>
              </a:spcBef>
              <a:spcAft>
                <a:spcPts val="200"/>
              </a:spcAft>
              <a:buSzPct val="100000"/>
              <a:buChar char="•"/>
            </a:pPr>
            <a:r>
              <a:rPr lang="en-US" sz="900" dirty="0">
                <a:solidFill>
                  <a:srgbClr val="1B2559"/>
                </a:solidFill>
                <a:latin typeface="Segoe UI" pitchFamily="34" charset="0"/>
                <a:ea typeface="Segoe UI" pitchFamily="34" charset="-122"/>
                <a:cs typeface="Segoe UI" pitchFamily="34" charset="-120"/>
              </a:rPr>
              <a:t>…but I wouldn't be able to…</a:t>
            </a:r>
            <a:endParaRPr lang="en-US" sz="900" dirty="0"/>
          </a:p>
          <a:p>
            <a:pPr marL="152400" indent="-152400">
              <a:spcBef>
                <a:spcPts val="500"/>
              </a:spcBef>
              <a:spcAft>
                <a:spcPts val="200"/>
              </a:spcAft>
              <a:buSzPct val="100000"/>
              <a:buChar char="•"/>
            </a:pPr>
            <a:r>
              <a:rPr lang="en-US" sz="900" dirty="0">
                <a:solidFill>
                  <a:srgbClr val="1B2559"/>
                </a:solidFill>
                <a:latin typeface="Segoe UI" pitchFamily="34" charset="0"/>
                <a:ea typeface="Segoe UI" pitchFamily="34" charset="-122"/>
                <a:cs typeface="Segoe UI" pitchFamily="34" charset="-120"/>
              </a:rPr>
              <a:t>No way! · Maybe. · Definitely!</a:t>
            </a:r>
            <a:endParaRPr lang="en-US" sz="900" dirty="0"/>
          </a:p>
        </p:txBody>
      </p:sp>
      <p:sp>
        <p:nvSpPr>
          <p:cNvPr id="20" name="R1_qb691"/>
          <p:cNvSpPr/>
          <p:nvPr/>
        </p:nvSpPr>
        <p:spPr>
          <a:xfrm>
            <a:off x="3273552" y="1453896"/>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1" name="R1_sq692"/>
          <p:cNvSpPr/>
          <p:nvPr/>
        </p:nvSpPr>
        <p:spPr>
          <a:xfrm>
            <a:off x="3675888" y="1417320"/>
            <a:ext cx="5193792" cy="483108"/>
          </a:xfrm>
          <a:prstGeom prst="roundRect">
            <a:avLst>
              <a:gd name="adj" fmla="val 22713"/>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After 20 hours, would you be able to speak a new language?</a:t>
            </a:r>
            <a:endParaRPr lang="en-US" sz="1200" dirty="0"/>
          </a:p>
          <a:p>
            <a:pPr indent="0" marL="0">
              <a:buNone/>
            </a:pPr>
            <a:r>
              <a:rPr lang="en-US" sz="950" i="1" dirty="0">
                <a:solidFill>
                  <a:srgbClr val="5B6785"/>
                </a:solidFill>
                <a:latin typeface="Segoe UI" pitchFamily="34" charset="0"/>
                <a:ea typeface="Segoe UI" pitchFamily="34" charset="-122"/>
                <a:cs typeface="Segoe UI" pitchFamily="34" charset="-120"/>
              </a:rPr>
              <a:t>e.g. I'd be able to order food, but not have a conversation.</a:t>
            </a:r>
            <a:endParaRPr lang="en-US" sz="1200" dirty="0"/>
          </a:p>
        </p:txBody>
      </p:sp>
      <p:sp>
        <p:nvSpPr>
          <p:cNvPr id="22" name="R2_qb693"/>
          <p:cNvSpPr/>
          <p:nvPr/>
        </p:nvSpPr>
        <p:spPr>
          <a:xfrm>
            <a:off x="3273552" y="2010156"/>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3" name="R2_sq694"/>
          <p:cNvSpPr/>
          <p:nvPr/>
        </p:nvSpPr>
        <p:spPr>
          <a:xfrm>
            <a:off x="3675888" y="1973580"/>
            <a:ext cx="5193792" cy="483108"/>
          </a:xfrm>
          <a:prstGeom prst="roundRect">
            <a:avLst>
              <a:gd name="adj" fmla="val 22713"/>
            </a:avLst>
          </a:prstGeom>
          <a:solidFill>
            <a:srgbClr val="FFFFFF"/>
          </a:solidFill>
          <a:ln w="2222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…draw a portrait?</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No way! I can't even draw a horse!</a:t>
            </a:r>
            <a:endParaRPr lang="en-US" sz="1250" dirty="0"/>
          </a:p>
        </p:txBody>
      </p:sp>
      <p:sp>
        <p:nvSpPr>
          <p:cNvPr id="24" name="R3_qb695"/>
          <p:cNvSpPr/>
          <p:nvPr/>
        </p:nvSpPr>
        <p:spPr>
          <a:xfrm>
            <a:off x="3273552" y="2566416"/>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5" name="R3_sq696"/>
          <p:cNvSpPr/>
          <p:nvPr/>
        </p:nvSpPr>
        <p:spPr>
          <a:xfrm>
            <a:off x="3675888" y="2529840"/>
            <a:ext cx="5193792" cy="483108"/>
          </a:xfrm>
          <a:prstGeom prst="roundRect">
            <a:avLst>
              <a:gd name="adj" fmla="val 22713"/>
            </a:avLst>
          </a:prstGeom>
          <a:solidFill>
            <a:srgbClr val="FFFFFF"/>
          </a:solidFill>
          <a:ln w="22225">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…design and build a website?</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Yes – I think I'd be able to make a simple one.</a:t>
            </a:r>
            <a:endParaRPr lang="en-US" sz="1250" dirty="0"/>
          </a:p>
        </p:txBody>
      </p:sp>
      <p:sp>
        <p:nvSpPr>
          <p:cNvPr id="26" name="R4_qb697"/>
          <p:cNvSpPr/>
          <p:nvPr/>
        </p:nvSpPr>
        <p:spPr>
          <a:xfrm>
            <a:off x="3273552" y="3122676"/>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7" name="R4_sq698"/>
          <p:cNvSpPr/>
          <p:nvPr/>
        </p:nvSpPr>
        <p:spPr>
          <a:xfrm>
            <a:off x="3675888" y="3086100"/>
            <a:ext cx="5193792" cy="483108"/>
          </a:xfrm>
          <a:prstGeom prst="roundRect">
            <a:avLst>
              <a:gd name="adj" fmla="val 22713"/>
            </a:avLst>
          </a:prstGeom>
          <a:solidFill>
            <a:srgbClr val="FFFFFF"/>
          </a:solidFill>
          <a:ln w="22225">
            <a:solidFill>
              <a:srgbClr val="FFE07A"/>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…cook a three-course meal?</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Definitely! I can already cook pasta.</a:t>
            </a:r>
            <a:endParaRPr lang="en-US" sz="1250" dirty="0"/>
          </a:p>
        </p:txBody>
      </p:sp>
      <p:sp>
        <p:nvSpPr>
          <p:cNvPr id="28" name="R5_qb699"/>
          <p:cNvSpPr/>
          <p:nvPr/>
        </p:nvSpPr>
        <p:spPr>
          <a:xfrm>
            <a:off x="3273552" y="3678936"/>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29" name="R5_sq700"/>
          <p:cNvSpPr/>
          <p:nvPr/>
        </p:nvSpPr>
        <p:spPr>
          <a:xfrm>
            <a:off x="3675888" y="3642360"/>
            <a:ext cx="5193792" cy="483108"/>
          </a:xfrm>
          <a:prstGeom prst="roundRect">
            <a:avLst>
              <a:gd name="adj" fmla="val 22713"/>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…play a musical instrument, like Matt?</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I'd be able to play a tune, but I wouldn't be able to busk!</a:t>
            </a:r>
            <a:endParaRPr lang="en-US" sz="1250" dirty="0"/>
          </a:p>
        </p:txBody>
      </p:sp>
      <p:sp>
        <p:nvSpPr>
          <p:cNvPr id="30" name="R6_qb701"/>
          <p:cNvSpPr/>
          <p:nvPr/>
        </p:nvSpPr>
        <p:spPr>
          <a:xfrm>
            <a:off x="3273552" y="4235196"/>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6</a:t>
            </a:r>
            <a:endParaRPr lang="en-US" sz="1100" dirty="0"/>
          </a:p>
        </p:txBody>
      </p:sp>
      <p:sp>
        <p:nvSpPr>
          <p:cNvPr id="31" name="R6_sq702"/>
          <p:cNvSpPr/>
          <p:nvPr/>
        </p:nvSpPr>
        <p:spPr>
          <a:xfrm>
            <a:off x="3675888" y="4198620"/>
            <a:ext cx="5193792" cy="483108"/>
          </a:xfrm>
          <a:prstGeom prst="roundRect">
            <a:avLst>
              <a:gd name="adj" fmla="val 22713"/>
            </a:avLst>
          </a:prstGeom>
          <a:solidFill>
            <a:srgbClr val="FFFFFF"/>
          </a:solidFill>
          <a:ln w="2222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Which skill would YOU try for 20 hours? Why?</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Salsa! I've never been able to dance.</a:t>
            </a:r>
            <a:endParaRPr lang="en-US" sz="12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400"/>
                                        <p:tgtEl>
                                          <p:spTgt spid="20"/>
                                        </p:tgtEl>
                                      </p:cBhvr>
                                    </p:animEffect>
                                  </p:childTnLst>
                                </p:cTn>
                              </p:par>
                              <p:par>
                                <p:cTn id="8" presetID="10" presetClass="entr" presetSubtype="0" fill="hold" nodeType="with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fade">
                                      <p:cBhvr>
                                        <p:cTn id="10" dur="400"/>
                                        <p:tgtEl>
                                          <p:spTgt spid="21"/>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2"/>
                                        </p:tgtEl>
                                        <p:attrNameLst>
                                          <p:attrName>style.visibility</p:attrName>
                                        </p:attrNameLst>
                                      </p:cBhvr>
                                      <p:to>
                                        <p:strVal val="visible"/>
                                      </p:to>
                                    </p:set>
                                    <p:animEffect transition="in" filter="fade">
                                      <p:cBhvr>
                                        <p:cTn id="15" dur="400"/>
                                        <p:tgtEl>
                                          <p:spTgt spid="22"/>
                                        </p:tgtEl>
                                      </p:cBhvr>
                                    </p:animEffect>
                                  </p:childTnLst>
                                </p:cTn>
                              </p:par>
                              <p:par>
                                <p:cTn id="16" presetID="10" presetClass="entr" presetSubtype="0" fill="hold" nodeType="withEffect">
                                  <p:stCondLst>
                                    <p:cond delay="0"/>
                                  </p:stCondLst>
                                  <p:childTnLst>
                                    <p:set>
                                      <p:cBhvr>
                                        <p:cTn id="17" dur="1" fill="hold">
                                          <p:stCondLst>
                                            <p:cond delay="0"/>
                                          </p:stCondLst>
                                        </p:cTn>
                                        <p:tgtEl>
                                          <p:spTgt spid="23"/>
                                        </p:tgtEl>
                                        <p:attrNameLst>
                                          <p:attrName>style.visibility</p:attrName>
                                        </p:attrNameLst>
                                      </p:cBhvr>
                                      <p:to>
                                        <p:strVal val="visible"/>
                                      </p:to>
                                    </p:set>
                                    <p:animEffect transition="in" filter="fade">
                                      <p:cBhvr>
                                        <p:cTn id="18" dur="400"/>
                                        <p:tgtEl>
                                          <p:spTgt spid="23"/>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4"/>
                                        </p:tgtEl>
                                        <p:attrNameLst>
                                          <p:attrName>style.visibility</p:attrName>
                                        </p:attrNameLst>
                                      </p:cBhvr>
                                      <p:to>
                                        <p:strVal val="visible"/>
                                      </p:to>
                                    </p:set>
                                    <p:animEffect transition="in" filter="fade">
                                      <p:cBhvr>
                                        <p:cTn id="23" dur="400"/>
                                        <p:tgtEl>
                                          <p:spTgt spid="24"/>
                                        </p:tgtEl>
                                      </p:cBhvr>
                                    </p:animEffect>
                                  </p:childTnLst>
                                </p:cTn>
                              </p:par>
                              <p:par>
                                <p:cTn id="24" presetID="10" presetClass="entr" presetSubtype="0" fill="hold" nodeType="withEffect">
                                  <p:stCondLst>
                                    <p:cond delay="0"/>
                                  </p:stCondLst>
                                  <p:childTnLst>
                                    <p:set>
                                      <p:cBhvr>
                                        <p:cTn id="25" dur="1" fill="hold">
                                          <p:stCondLst>
                                            <p:cond delay="0"/>
                                          </p:stCondLst>
                                        </p:cTn>
                                        <p:tgtEl>
                                          <p:spTgt spid="25"/>
                                        </p:tgtEl>
                                        <p:attrNameLst>
                                          <p:attrName>style.visibility</p:attrName>
                                        </p:attrNameLst>
                                      </p:cBhvr>
                                      <p:to>
                                        <p:strVal val="visible"/>
                                      </p:to>
                                    </p:set>
                                    <p:animEffect transition="in" filter="fade">
                                      <p:cBhvr>
                                        <p:cTn id="26" dur="400"/>
                                        <p:tgtEl>
                                          <p:spTgt spid="25"/>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26"/>
                                        </p:tgtEl>
                                        <p:attrNameLst>
                                          <p:attrName>style.visibility</p:attrName>
                                        </p:attrNameLst>
                                      </p:cBhvr>
                                      <p:to>
                                        <p:strVal val="visible"/>
                                      </p:to>
                                    </p:set>
                                    <p:animEffect transition="in" filter="fade">
                                      <p:cBhvr>
                                        <p:cTn id="31" dur="400"/>
                                        <p:tgtEl>
                                          <p:spTgt spid="26"/>
                                        </p:tgtEl>
                                      </p:cBhvr>
                                    </p:animEffect>
                                  </p:childTnLst>
                                </p:cTn>
                              </p:par>
                              <p:par>
                                <p:cTn id="32" presetID="10" presetClass="entr" presetSubtype="0" fill="hold" nodeType="withEffect">
                                  <p:stCondLst>
                                    <p:cond delay="0"/>
                                  </p:stCondLst>
                                  <p:childTnLst>
                                    <p:set>
                                      <p:cBhvr>
                                        <p:cTn id="33" dur="1" fill="hold">
                                          <p:stCondLst>
                                            <p:cond delay="0"/>
                                          </p:stCondLst>
                                        </p:cTn>
                                        <p:tgtEl>
                                          <p:spTgt spid="27"/>
                                        </p:tgtEl>
                                        <p:attrNameLst>
                                          <p:attrName>style.visibility</p:attrName>
                                        </p:attrNameLst>
                                      </p:cBhvr>
                                      <p:to>
                                        <p:strVal val="visible"/>
                                      </p:to>
                                    </p:set>
                                    <p:animEffect transition="in" filter="fade">
                                      <p:cBhvr>
                                        <p:cTn id="34" dur="400"/>
                                        <p:tgtEl>
                                          <p:spTgt spid="27"/>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28"/>
                                        </p:tgtEl>
                                        <p:attrNameLst>
                                          <p:attrName>style.visibility</p:attrName>
                                        </p:attrNameLst>
                                      </p:cBhvr>
                                      <p:to>
                                        <p:strVal val="visible"/>
                                      </p:to>
                                    </p:set>
                                    <p:animEffect transition="in" filter="fade">
                                      <p:cBhvr>
                                        <p:cTn id="39" dur="400"/>
                                        <p:tgtEl>
                                          <p:spTgt spid="28"/>
                                        </p:tgtEl>
                                      </p:cBhvr>
                                    </p:animEffect>
                                  </p:childTnLst>
                                </p:cTn>
                              </p:par>
                              <p:par>
                                <p:cTn id="40" presetID="10" presetClass="entr" presetSubtype="0" fill="hold" nodeType="withEffect">
                                  <p:stCondLst>
                                    <p:cond delay="0"/>
                                  </p:stCondLst>
                                  <p:childTnLst>
                                    <p:set>
                                      <p:cBhvr>
                                        <p:cTn id="41" dur="1" fill="hold">
                                          <p:stCondLst>
                                            <p:cond delay="0"/>
                                          </p:stCondLst>
                                        </p:cTn>
                                        <p:tgtEl>
                                          <p:spTgt spid="29"/>
                                        </p:tgtEl>
                                        <p:attrNameLst>
                                          <p:attrName>style.visibility</p:attrName>
                                        </p:attrNameLst>
                                      </p:cBhvr>
                                      <p:to>
                                        <p:strVal val="visible"/>
                                      </p:to>
                                    </p:set>
                                    <p:animEffect transition="in" filter="fade">
                                      <p:cBhvr>
                                        <p:cTn id="42" dur="400"/>
                                        <p:tgtEl>
                                          <p:spTgt spid="29"/>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30"/>
                                        </p:tgtEl>
                                        <p:attrNameLst>
                                          <p:attrName>style.visibility</p:attrName>
                                        </p:attrNameLst>
                                      </p:cBhvr>
                                      <p:to>
                                        <p:strVal val="visible"/>
                                      </p:to>
                                    </p:set>
                                    <p:animEffect transition="in" filter="fade">
                                      <p:cBhvr>
                                        <p:cTn id="47" dur="400"/>
                                        <p:tgtEl>
                                          <p:spTgt spid="30"/>
                                        </p:tgtEl>
                                      </p:cBhvr>
                                    </p:animEffect>
                                  </p:childTnLst>
                                </p:cTn>
                              </p:par>
                              <p:par>
                                <p:cTn id="48" presetID="10" presetClass="entr" presetSubtype="0" fill="hold" nodeType="withEffect">
                                  <p:stCondLst>
                                    <p:cond delay="0"/>
                                  </p:stCondLst>
                                  <p:childTnLst>
                                    <p:set>
                                      <p:cBhvr>
                                        <p:cTn id="49" dur="1" fill="hold">
                                          <p:stCondLst>
                                            <p:cond delay="0"/>
                                          </p:stCondLst>
                                        </p:cTn>
                                        <p:tgtEl>
                                          <p:spTgt spid="31"/>
                                        </p:tgtEl>
                                        <p:attrNameLst>
                                          <p:attrName>style.visibility</p:attrName>
                                        </p:attrNameLst>
                                      </p:cBhvr>
                                      <p:to>
                                        <p:strVal val="visible"/>
                                      </p:to>
                                    </p:set>
                                    <p:animEffect transition="in" filter="fade">
                                      <p:cBhvr>
                                        <p:cTn id="50" dur="4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name="Slide 23">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703"/>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23</a:t>
            </a:r>
            <a:endParaRPr lang="en-US" sz="2200" dirty="0"/>
          </a:p>
        </p:txBody>
      </p:sp>
      <p:pic>
        <p:nvPicPr>
          <p:cNvPr id="4" name="brY_704" descr="/home/claude/lls-course/v2/assets/brush-yellow.png">    </p:cNvPr>
          <p:cNvPicPr>
            <a:picLocks noChangeAspect="1"/>
          </p:cNvPicPr>
          <p:nvPr/>
        </p:nvPicPr>
        <p:blipFill>
          <a:blip r:embed="rId2"/>
          <a:stretch>
            <a:fillRect/>
          </a:stretch>
        </p:blipFill>
        <p:spPr>
          <a:xfrm>
            <a:off x="1097280" y="146304"/>
            <a:ext cx="2304288" cy="621792"/>
          </a:xfrm>
          <a:prstGeom prst="rect">
            <a:avLst/>
          </a:prstGeom>
        </p:spPr>
      </p:pic>
      <p:sp>
        <p:nvSpPr>
          <p:cNvPr id="5" name="title_705"/>
          <p:cNvSpPr/>
          <p:nvPr/>
        </p:nvSpPr>
        <p:spPr>
          <a:xfrm>
            <a:off x="1261872" y="164592"/>
            <a:ext cx="2029968"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Today you…</a:t>
            </a:r>
            <a:endParaRPr lang="en-US" sz="2400" dirty="0"/>
          </a:p>
        </p:txBody>
      </p:sp>
      <p:pic>
        <p:nvPicPr>
          <p:cNvPr id="6" name="brP_706" descr="/home/claude/lls-course/v2/assets/brush-pink.png">    </p:cNvPr>
          <p:cNvPicPr>
            <a:picLocks noChangeAspect="1"/>
          </p:cNvPicPr>
          <p:nvPr/>
        </p:nvPicPr>
        <p:blipFill>
          <a:blip r:embed="rId3"/>
          <a:stretch>
            <a:fillRect/>
          </a:stretch>
        </p:blipFill>
        <p:spPr>
          <a:xfrm>
            <a:off x="1207008" y="731520"/>
            <a:ext cx="4553712" cy="402336"/>
          </a:xfrm>
          <a:prstGeom prst="rect">
            <a:avLst/>
          </a:prstGeom>
        </p:spPr>
      </p:pic>
      <p:sp>
        <p:nvSpPr>
          <p:cNvPr id="7" name="ins_707"/>
          <p:cNvSpPr/>
          <p:nvPr/>
        </p:nvSpPr>
        <p:spPr>
          <a:xfrm>
            <a:off x="1353312" y="731520"/>
            <a:ext cx="429768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Can you do it now? Thumbs up or thumbs down!</a:t>
            </a:r>
            <a:endParaRPr lang="en-US" sz="1250" dirty="0"/>
          </a:p>
        </p:txBody>
      </p:sp>
      <p:sp>
        <p:nvSpPr>
          <p:cNvPr id="8" name="insIT_708"/>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Ora sai farlo? Pollice su o pollice giù!</a:t>
            </a:r>
            <a:endParaRPr lang="en-US" sz="950" dirty="0"/>
          </a:p>
        </p:txBody>
      </p:sp>
      <p:sp>
        <p:nvSpPr>
          <p:cNvPr id="9" name="cmd_709"/>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THINK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PENSA</a:t>
            </a:r>
            <a:endParaRPr lang="en-US" sz="1100" dirty="0"/>
          </a:p>
        </p:txBody>
      </p:sp>
      <p:sp>
        <p:nvSpPr>
          <p:cNvPr id="10" name="meta_710"/>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1 min   🙋 whole class</a:t>
            </a:r>
            <a:endParaRPr lang="en-US" sz="950" dirty="0"/>
          </a:p>
        </p:txBody>
      </p:sp>
      <p:sp>
        <p:nvSpPr>
          <p:cNvPr id="11" name="tag_711"/>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Revision</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Reflection</a:t>
            </a:r>
            <a:endParaRPr lang="en-US" sz="850" dirty="0"/>
          </a:p>
        </p:txBody>
      </p:sp>
      <p:pic>
        <p:nvPicPr>
          <p:cNvPr id="12" name="logo_712"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713"/>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4B-1 · Review · what did you do today?</a:t>
            </a:r>
            <a:endParaRPr lang="en-US" sz="800" dirty="0"/>
          </a:p>
        </p:txBody>
      </p:sp>
      <p:sp>
        <p:nvSpPr>
          <p:cNvPr id="14" name="cd_714"/>
          <p:cNvSpPr/>
          <p:nvPr/>
        </p:nvSpPr>
        <p:spPr>
          <a:xfrm>
            <a:off x="548640" y="1417320"/>
            <a:ext cx="6035040" cy="475488"/>
          </a:xfrm>
          <a:prstGeom prst="roundRect">
            <a:avLst>
              <a:gd name="adj" fmla="val 26923"/>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15" name="te_715"/>
          <p:cNvSpPr/>
          <p:nvPr/>
        </p:nvSpPr>
        <p:spPr>
          <a:xfrm>
            <a:off x="640080" y="1453896"/>
            <a:ext cx="457200" cy="402336"/>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16" name="tt_716"/>
          <p:cNvSpPr/>
          <p:nvPr/>
        </p:nvSpPr>
        <p:spPr>
          <a:xfrm>
            <a:off x="1188720" y="1417320"/>
            <a:ext cx="4754880" cy="475488"/>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Talked about what you can and could do</a:t>
            </a:r>
            <a:endParaRPr lang="en-US" sz="1350" dirty="0"/>
          </a:p>
        </p:txBody>
      </p:sp>
      <p:sp>
        <p:nvSpPr>
          <p:cNvPr id="17" name="R1_tk717"/>
          <p:cNvSpPr/>
          <p:nvPr/>
        </p:nvSpPr>
        <p:spPr>
          <a:xfrm>
            <a:off x="5989320" y="1453896"/>
            <a:ext cx="502920" cy="402336"/>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18" name="cd_718"/>
          <p:cNvSpPr/>
          <p:nvPr/>
        </p:nvSpPr>
        <p:spPr>
          <a:xfrm>
            <a:off x="548640" y="1965960"/>
            <a:ext cx="6035040" cy="475488"/>
          </a:xfrm>
          <a:prstGeom prst="roundRect">
            <a:avLst>
              <a:gd name="adj" fmla="val 26923"/>
            </a:avLst>
          </a:prstGeom>
          <a:solidFill>
            <a:srgbClr val="FFFFFF"/>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19" name="te_719"/>
          <p:cNvSpPr/>
          <p:nvPr/>
        </p:nvSpPr>
        <p:spPr>
          <a:xfrm>
            <a:off x="640080" y="2002536"/>
            <a:ext cx="457200" cy="402336"/>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0" name="tt_720"/>
          <p:cNvSpPr/>
          <p:nvPr/>
        </p:nvSpPr>
        <p:spPr>
          <a:xfrm>
            <a:off x="1188720" y="1965960"/>
            <a:ext cx="4754880" cy="475488"/>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Used can, could and be able to</a:t>
            </a:r>
            <a:endParaRPr lang="en-US" sz="1350" dirty="0"/>
          </a:p>
        </p:txBody>
      </p:sp>
      <p:sp>
        <p:nvSpPr>
          <p:cNvPr id="21" name="R2_tk721"/>
          <p:cNvSpPr/>
          <p:nvPr/>
        </p:nvSpPr>
        <p:spPr>
          <a:xfrm>
            <a:off x="5989320" y="2002536"/>
            <a:ext cx="502920" cy="402336"/>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2" name="cd_722"/>
          <p:cNvSpPr/>
          <p:nvPr/>
        </p:nvSpPr>
        <p:spPr>
          <a:xfrm>
            <a:off x="548640" y="2514600"/>
            <a:ext cx="6035040" cy="475488"/>
          </a:xfrm>
          <a:prstGeom prst="roundRect">
            <a:avLst>
              <a:gd name="adj" fmla="val 26923"/>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23" name="te_723"/>
          <p:cNvSpPr/>
          <p:nvPr/>
        </p:nvSpPr>
        <p:spPr>
          <a:xfrm>
            <a:off x="640080" y="2551176"/>
            <a:ext cx="457200" cy="402336"/>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4" name="tt_724"/>
          <p:cNvSpPr/>
          <p:nvPr/>
        </p:nvSpPr>
        <p:spPr>
          <a:xfrm>
            <a:off x="1188720" y="2514600"/>
            <a:ext cx="4754880" cy="475488"/>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Heard and said the stressed words</a:t>
            </a:r>
            <a:endParaRPr lang="en-US" sz="1350" dirty="0"/>
          </a:p>
        </p:txBody>
      </p:sp>
      <p:sp>
        <p:nvSpPr>
          <p:cNvPr id="25" name="R3_tk725"/>
          <p:cNvSpPr/>
          <p:nvPr/>
        </p:nvSpPr>
        <p:spPr>
          <a:xfrm>
            <a:off x="5989320" y="2551176"/>
            <a:ext cx="502920" cy="402336"/>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6" name="cd_726"/>
          <p:cNvSpPr/>
          <p:nvPr/>
        </p:nvSpPr>
        <p:spPr>
          <a:xfrm>
            <a:off x="548640" y="3063240"/>
            <a:ext cx="6035040" cy="475488"/>
          </a:xfrm>
          <a:prstGeom prst="roundRect">
            <a:avLst>
              <a:gd name="adj" fmla="val 26923"/>
            </a:avLst>
          </a:prstGeom>
          <a:solidFill>
            <a:srgbClr val="FFFFFF"/>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7" name="te_727"/>
          <p:cNvSpPr/>
          <p:nvPr/>
        </p:nvSpPr>
        <p:spPr>
          <a:xfrm>
            <a:off x="640080" y="3099816"/>
            <a:ext cx="457200" cy="402336"/>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8" name="tt_728"/>
          <p:cNvSpPr/>
          <p:nvPr/>
        </p:nvSpPr>
        <p:spPr>
          <a:xfrm>
            <a:off x="1188720" y="3063240"/>
            <a:ext cx="4754880" cy="475488"/>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Read about learning a skill in 20 hours</a:t>
            </a:r>
            <a:endParaRPr lang="en-US" sz="1350" dirty="0"/>
          </a:p>
        </p:txBody>
      </p:sp>
      <p:sp>
        <p:nvSpPr>
          <p:cNvPr id="29" name="R4_tk729"/>
          <p:cNvSpPr/>
          <p:nvPr/>
        </p:nvSpPr>
        <p:spPr>
          <a:xfrm>
            <a:off x="5989320" y="3099816"/>
            <a:ext cx="502920" cy="402336"/>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30" name="cd_730"/>
          <p:cNvSpPr/>
          <p:nvPr/>
        </p:nvSpPr>
        <p:spPr>
          <a:xfrm>
            <a:off x="548640" y="3611880"/>
            <a:ext cx="6035040" cy="475488"/>
          </a:xfrm>
          <a:prstGeom prst="roundRect">
            <a:avLst>
              <a:gd name="adj" fmla="val 26923"/>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31" name="te_731"/>
          <p:cNvSpPr/>
          <p:nvPr/>
        </p:nvSpPr>
        <p:spPr>
          <a:xfrm>
            <a:off x="640080" y="3648456"/>
            <a:ext cx="457200" cy="402336"/>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32" name="tt_732"/>
          <p:cNvSpPr/>
          <p:nvPr/>
        </p:nvSpPr>
        <p:spPr>
          <a:xfrm>
            <a:off x="1188720" y="3611880"/>
            <a:ext cx="4754880" cy="475488"/>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Listened to a class story and answered questions</a:t>
            </a:r>
            <a:endParaRPr lang="en-US" sz="1350" dirty="0"/>
          </a:p>
        </p:txBody>
      </p:sp>
      <p:sp>
        <p:nvSpPr>
          <p:cNvPr id="33" name="R5_tk733"/>
          <p:cNvSpPr/>
          <p:nvPr/>
        </p:nvSpPr>
        <p:spPr>
          <a:xfrm>
            <a:off x="5989320" y="3648456"/>
            <a:ext cx="502920" cy="402336"/>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34" name="cd_734"/>
          <p:cNvSpPr/>
          <p:nvPr/>
        </p:nvSpPr>
        <p:spPr>
          <a:xfrm>
            <a:off x="548640" y="4160520"/>
            <a:ext cx="6035040" cy="475488"/>
          </a:xfrm>
          <a:prstGeom prst="roundRect">
            <a:avLst>
              <a:gd name="adj" fmla="val 26923"/>
            </a:avLst>
          </a:prstGeom>
          <a:solidFill>
            <a:srgbClr val="FFFFFF"/>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35" name="te_735"/>
          <p:cNvSpPr/>
          <p:nvPr/>
        </p:nvSpPr>
        <p:spPr>
          <a:xfrm>
            <a:off x="640080" y="4197096"/>
            <a:ext cx="457200" cy="402336"/>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36" name="tt_736"/>
          <p:cNvSpPr/>
          <p:nvPr/>
        </p:nvSpPr>
        <p:spPr>
          <a:xfrm>
            <a:off x="1188720" y="4160520"/>
            <a:ext cx="4754880" cy="475488"/>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Listened to a man learning the trumpet</a:t>
            </a:r>
            <a:endParaRPr lang="en-US" sz="1350" dirty="0"/>
          </a:p>
        </p:txBody>
      </p:sp>
      <p:sp>
        <p:nvSpPr>
          <p:cNvPr id="37" name="R6_tk737"/>
          <p:cNvSpPr/>
          <p:nvPr/>
        </p:nvSpPr>
        <p:spPr>
          <a:xfrm>
            <a:off x="5989320" y="4197096"/>
            <a:ext cx="502920" cy="402336"/>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38" name="st_738"/>
          <p:cNvSpPr/>
          <p:nvPr/>
        </p:nvSpPr>
        <p:spPr>
          <a:xfrm rot="180000">
            <a:off x="6949440" y="1691640"/>
            <a:ext cx="1828800" cy="1188720"/>
          </a:xfrm>
          <a:prstGeom prst="rect">
            <a:avLst/>
          </a:prstGeom>
          <a:solidFill>
            <a:srgbClr val="FFE07A"/>
          </a:solidFill>
          <a:ln>
            <a:solidFill>
              <a:srgbClr val="FFE07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  👌  👎</a:t>
            </a:r>
            <a:endParaRPr lang="en-US" sz="1300" dirty="0"/>
          </a:p>
          <a:p>
            <a:pPr algn="ct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Can you do it now?</a:t>
            </a:r>
            <a:endParaRPr lang="en-US" sz="1300" dirty="0"/>
          </a:p>
          <a:p>
            <a:pPr algn="ct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Ora sai farlo?</a:t>
            </a:r>
            <a:endParaRPr lang="en-US" sz="13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fade">
                                      <p:cBhvr>
                                        <p:cTn id="7" dur="400"/>
                                        <p:tgtEl>
                                          <p:spTgt spid="1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1"/>
                                        </p:tgtEl>
                                        <p:attrNameLst>
                                          <p:attrName>style.visibility</p:attrName>
                                        </p:attrNameLst>
                                      </p:cBhvr>
                                      <p:to>
                                        <p:strVal val="visible"/>
                                      </p:to>
                                    </p:set>
                                    <p:animEffect transition="in" filter="fade">
                                      <p:cBhvr>
                                        <p:cTn id="12" dur="400"/>
                                        <p:tgtEl>
                                          <p:spTgt spid="21"/>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5"/>
                                        </p:tgtEl>
                                        <p:attrNameLst>
                                          <p:attrName>style.visibility</p:attrName>
                                        </p:attrNameLst>
                                      </p:cBhvr>
                                      <p:to>
                                        <p:strVal val="visible"/>
                                      </p:to>
                                    </p:set>
                                    <p:animEffect transition="in" filter="fade">
                                      <p:cBhvr>
                                        <p:cTn id="17" dur="400"/>
                                        <p:tgtEl>
                                          <p:spTgt spid="2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400"/>
                                        <p:tgtEl>
                                          <p:spTgt spid="29"/>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3"/>
                                        </p:tgtEl>
                                        <p:attrNameLst>
                                          <p:attrName>style.visibility</p:attrName>
                                        </p:attrNameLst>
                                      </p:cBhvr>
                                      <p:to>
                                        <p:strVal val="visible"/>
                                      </p:to>
                                    </p:set>
                                    <p:animEffect transition="in" filter="fade">
                                      <p:cBhvr>
                                        <p:cTn id="27" dur="400"/>
                                        <p:tgtEl>
                                          <p:spTgt spid="33"/>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7"/>
                                        </p:tgtEl>
                                        <p:attrNameLst>
                                          <p:attrName>style.visibility</p:attrName>
                                        </p:attrNameLst>
                                      </p:cBhvr>
                                      <p:to>
                                        <p:strVal val="visible"/>
                                      </p:to>
                                    </p:set>
                                    <p:animEffect transition="in" filter="fade">
                                      <p:cBhvr>
                                        <p:cTn id="32" dur="400"/>
                                        <p:tgtEl>
                                          <p:spTgt spid="3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name="Slide 24">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739"/>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24</a:t>
            </a:r>
            <a:endParaRPr lang="en-US" sz="2200" dirty="0"/>
          </a:p>
        </p:txBody>
      </p:sp>
      <p:pic>
        <p:nvPicPr>
          <p:cNvPr id="4" name="brY_740" descr="/home/claude/lls-course/v2/assets/brush-yellow.png">    </p:cNvPr>
          <p:cNvPicPr>
            <a:picLocks noChangeAspect="1"/>
          </p:cNvPicPr>
          <p:nvPr/>
        </p:nvPicPr>
        <p:blipFill>
          <a:blip r:embed="rId2"/>
          <a:stretch>
            <a:fillRect/>
          </a:stretch>
        </p:blipFill>
        <p:spPr>
          <a:xfrm>
            <a:off x="1097280" y="146304"/>
            <a:ext cx="2147011" cy="621792"/>
          </a:xfrm>
          <a:prstGeom prst="rect">
            <a:avLst/>
          </a:prstGeom>
        </p:spPr>
      </p:pic>
      <p:sp>
        <p:nvSpPr>
          <p:cNvPr id="5" name="title_741"/>
          <p:cNvSpPr/>
          <p:nvPr/>
        </p:nvSpPr>
        <p:spPr>
          <a:xfrm>
            <a:off x="1261872" y="164592"/>
            <a:ext cx="1872691"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3 · 2 · 1</a:t>
            </a:r>
            <a:endParaRPr lang="en-US" sz="2500" dirty="0"/>
          </a:p>
        </p:txBody>
      </p:sp>
      <p:pic>
        <p:nvPicPr>
          <p:cNvPr id="6" name="brP_742" descr="/home/claude/lls-course/v2/assets/brush-pink.png">    </p:cNvPr>
          <p:cNvPicPr>
            <a:picLocks noChangeAspect="1"/>
          </p:cNvPicPr>
          <p:nvPr/>
        </p:nvPicPr>
        <p:blipFill>
          <a:blip r:embed="rId3"/>
          <a:stretch>
            <a:fillRect/>
          </a:stretch>
        </p:blipFill>
        <p:spPr>
          <a:xfrm>
            <a:off x="1207008" y="731520"/>
            <a:ext cx="3858768" cy="402336"/>
          </a:xfrm>
          <a:prstGeom prst="rect">
            <a:avLst/>
          </a:prstGeom>
        </p:spPr>
      </p:pic>
      <p:sp>
        <p:nvSpPr>
          <p:cNvPr id="7" name="ins_743"/>
          <p:cNvSpPr/>
          <p:nvPr/>
        </p:nvSpPr>
        <p:spPr>
          <a:xfrm>
            <a:off x="1353312" y="731520"/>
            <a:ext cx="360273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Books closed! What can you remember?</a:t>
            </a:r>
            <a:endParaRPr lang="en-US" sz="1250" dirty="0"/>
          </a:p>
        </p:txBody>
      </p:sp>
      <p:sp>
        <p:nvSpPr>
          <p:cNvPr id="8" name="insIT_744"/>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Libri chiusi! Cosa ricordi?</a:t>
            </a:r>
            <a:endParaRPr lang="en-US" sz="950" dirty="0"/>
          </a:p>
        </p:txBody>
      </p:sp>
      <p:sp>
        <p:nvSpPr>
          <p:cNvPr id="9" name="meta_745"/>
          <p:cNvSpPr/>
          <p:nvPr/>
        </p:nvSpPr>
        <p:spPr>
          <a:xfrm>
            <a:off x="6583680" y="182880"/>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pairs</a:t>
            </a:r>
            <a:endParaRPr lang="en-US" sz="950" dirty="0"/>
          </a:p>
        </p:txBody>
      </p:sp>
      <p:sp>
        <p:nvSpPr>
          <p:cNvPr id="10" name="tag_746"/>
          <p:cNvSpPr/>
          <p:nvPr/>
        </p:nvSpPr>
        <p:spPr>
          <a:xfrm>
            <a:off x="6510528" y="420624"/>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Revision</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Retrieval</a:t>
            </a:r>
            <a:endParaRPr lang="en-US" sz="850" dirty="0"/>
          </a:p>
        </p:txBody>
      </p:sp>
      <p:pic>
        <p:nvPicPr>
          <p:cNvPr id="11" name="logo_747"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2" name="foot_748"/>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4B-1 · Exit · what can you remember?</a:t>
            </a:r>
            <a:endParaRPr lang="en-US" sz="800" dirty="0"/>
          </a:p>
        </p:txBody>
      </p:sp>
      <p:sp>
        <p:nvSpPr>
          <p:cNvPr id="13" name="bd_749"/>
          <p:cNvSpPr/>
          <p:nvPr/>
        </p:nvSpPr>
        <p:spPr>
          <a:xfrm>
            <a:off x="457200" y="1508760"/>
            <a:ext cx="777240" cy="777240"/>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3</a:t>
            </a:r>
            <a:endParaRPr lang="en-US" sz="2600" dirty="0"/>
          </a:p>
        </p:txBody>
      </p:sp>
      <p:sp>
        <p:nvSpPr>
          <p:cNvPr id="14" name="rt_750"/>
          <p:cNvSpPr/>
          <p:nvPr/>
        </p:nvSpPr>
        <p:spPr>
          <a:xfrm>
            <a:off x="1417320" y="1581912"/>
            <a:ext cx="3931920" cy="640080"/>
          </a:xfrm>
          <a:prstGeom prst="roundRect">
            <a:avLst>
              <a:gd name="adj" fmla="val 2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52400" tIns="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skills you'd love to be able to do (no looking!)</a:t>
            </a:r>
            <a:endParaRPr lang="en-US" sz="1400" dirty="0"/>
          </a:p>
        </p:txBody>
      </p:sp>
      <p:sp>
        <p:nvSpPr>
          <p:cNvPr id="15" name="bd_751"/>
          <p:cNvSpPr/>
          <p:nvPr/>
        </p:nvSpPr>
        <p:spPr>
          <a:xfrm>
            <a:off x="457200" y="2468880"/>
            <a:ext cx="777240" cy="777240"/>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2</a:t>
            </a:r>
            <a:endParaRPr lang="en-US" sz="2600" dirty="0"/>
          </a:p>
        </p:txBody>
      </p:sp>
      <p:sp>
        <p:nvSpPr>
          <p:cNvPr id="16" name="rt_752"/>
          <p:cNvSpPr/>
          <p:nvPr/>
        </p:nvSpPr>
        <p:spPr>
          <a:xfrm>
            <a:off x="1417320" y="2542032"/>
            <a:ext cx="3931920" cy="640080"/>
          </a:xfrm>
          <a:prstGeom prst="roundRect">
            <a:avLst>
              <a:gd name="adj" fmla="val 2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52400" tIns="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true sentences: I've never been able to… · I'll be able to…</a:t>
            </a:r>
            <a:endParaRPr lang="en-US" sz="1400" dirty="0"/>
          </a:p>
        </p:txBody>
      </p:sp>
      <p:sp>
        <p:nvSpPr>
          <p:cNvPr id="17" name="bd_753"/>
          <p:cNvSpPr/>
          <p:nvPr/>
        </p:nvSpPr>
        <p:spPr>
          <a:xfrm>
            <a:off x="457200" y="3429000"/>
            <a:ext cx="777240" cy="777240"/>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1</a:t>
            </a:r>
            <a:endParaRPr lang="en-US" sz="2600" dirty="0"/>
          </a:p>
        </p:txBody>
      </p:sp>
      <p:sp>
        <p:nvSpPr>
          <p:cNvPr id="18" name="rt_754"/>
          <p:cNvSpPr/>
          <p:nvPr/>
        </p:nvSpPr>
        <p:spPr>
          <a:xfrm>
            <a:off x="1417320" y="3502152"/>
            <a:ext cx="3931920" cy="640080"/>
          </a:xfrm>
          <a:prstGeom prst="roundRect">
            <a:avLst>
              <a:gd name="adj" fmla="val 2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52400" tIns="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music word from Matt's story</a:t>
            </a:r>
            <a:endParaRPr lang="en-US" sz="1400" dirty="0"/>
          </a:p>
        </p:txBody>
      </p:sp>
      <p:sp>
        <p:nvSpPr>
          <p:cNvPr id="19" name="cd_755"/>
          <p:cNvSpPr/>
          <p:nvPr/>
        </p:nvSpPr>
        <p:spPr>
          <a:xfrm>
            <a:off x="5669280" y="1417320"/>
            <a:ext cx="3200400" cy="2286000"/>
          </a:xfrm>
          <a:prstGeom prst="roundRect">
            <a:avLst>
              <a:gd name="adj" fmla="val 5600"/>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0" name="ii_756"/>
          <p:cNvSpPr/>
          <p:nvPr/>
        </p:nvSpPr>
        <p:spPr>
          <a:xfrm>
            <a:off x="576072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1" name="ih_757"/>
          <p:cNvSpPr/>
          <p:nvPr/>
        </p:nvSpPr>
        <p:spPr>
          <a:xfrm>
            <a:off x="6236208" y="1508760"/>
            <a:ext cx="256032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Homework · Compiti</a:t>
            </a:r>
            <a:endParaRPr lang="en-US" sz="1400" dirty="0"/>
          </a:p>
        </p:txBody>
      </p:sp>
      <p:sp>
        <p:nvSpPr>
          <p:cNvPr id="22" name="il_758"/>
          <p:cNvSpPr/>
          <p:nvPr/>
        </p:nvSpPr>
        <p:spPr>
          <a:xfrm>
            <a:off x="6236208" y="1892808"/>
            <a:ext cx="2542032" cy="173736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150" dirty="0">
                <a:solidFill>
                  <a:srgbClr val="1B2559"/>
                </a:solidFill>
                <a:latin typeface="Segoe UI" pitchFamily="34" charset="0"/>
                <a:ea typeface="Segoe UI" pitchFamily="34" charset="-122"/>
                <a:cs typeface="Segoe UI" pitchFamily="34" charset="-120"/>
              </a:rPr>
              <a:t>Workbook 4B: 1a, 1b, 2a (audio: Online Practice)</a:t>
            </a:r>
            <a:endParaRPr lang="en-US" sz="1150" dirty="0"/>
          </a:p>
          <a:p>
            <a:pPr marL="152400" indent="-152400">
              <a:spcBef>
                <a:spcPts val="500"/>
              </a:spcBef>
              <a:spcAft>
                <a:spcPts val="200"/>
              </a:spcAft>
              <a:buSzPct val="100000"/>
              <a:buChar char="•"/>
            </a:pPr>
            <a:r>
              <a:rPr lang="en-US" sz="1150" dirty="0">
                <a:solidFill>
                  <a:srgbClr val="1B2559"/>
                </a:solidFill>
                <a:latin typeface="Segoe UI" pitchFamily="34" charset="0"/>
                <a:ea typeface="Segoe UI" pitchFamily="34" charset="-122"/>
                <a:cs typeface="Segoe UI" pitchFamily="34" charset="-120"/>
              </a:rPr>
              <a:t>Grammar Bank 4B p.139: a 6–10, b 6–10</a:t>
            </a:r>
            <a:endParaRPr lang="en-US" sz="1150" dirty="0"/>
          </a:p>
          <a:p>
            <a:pPr marL="152400" indent="-152400">
              <a:spcBef>
                <a:spcPts val="500"/>
              </a:spcBef>
              <a:spcAft>
                <a:spcPts val="200"/>
              </a:spcAft>
              <a:buSzPct val="100000"/>
              <a:buChar char="•"/>
            </a:pPr>
            <a:r>
              <a:rPr lang="en-US" sz="1150" dirty="0">
                <a:solidFill>
                  <a:srgbClr val="1B2559"/>
                </a:solidFill>
                <a:latin typeface="Segoe UI" pitchFamily="34" charset="0"/>
                <a:ea typeface="Segoe UI" pitchFamily="34" charset="-122"/>
                <a:cs typeface="Segoe UI" pitchFamily="34" charset="-120"/>
              </a:rPr>
              <a:t>Homework sheet in the LLS app</a:t>
            </a:r>
            <a:endParaRPr lang="en-US" sz="1150" dirty="0"/>
          </a:p>
        </p:txBody>
      </p:sp>
      <p:sp>
        <p:nvSpPr>
          <p:cNvPr id="23" name="st_759"/>
          <p:cNvSpPr/>
          <p:nvPr/>
        </p:nvSpPr>
        <p:spPr>
          <a:xfrm rot="-180000">
            <a:off x="5806440" y="3931920"/>
            <a:ext cx="2926080" cy="685800"/>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00" dirty="0">
                <a:solidFill>
                  <a:srgbClr val="1B2559"/>
                </a:solidFill>
                <a:latin typeface="Arial Rounded MT Bold" pitchFamily="34" charset="0"/>
                <a:ea typeface="Arial Rounded MT Bold" pitchFamily="34" charset="-122"/>
                <a:cs typeface="Arial Rounded MT Bold" pitchFamily="34" charset="-120"/>
              </a:rPr>
              <a:t>Next lesson: 4B part 2 · -ed / -ing adjectives · Learning English</a:t>
            </a:r>
            <a:endParaRPr lang="en-US" sz="1100" dirty="0"/>
          </a:p>
        </p:txBody>
      </p:sp>
    </p:spTree>
  </p:cSld>
  <p:clrMapOvr>
    <a:masterClrMapping/>
  </p:clrMapOvr>
  <p:transition spd="med">
    <p:push dir="l"/>
  </p:transition>
</p:sld>
</file>

<file path=ppt/slides/slide25.xml><?xml version="1.0" encoding="utf-8"?>
<p:sld xmlns:a="http://schemas.openxmlformats.org/drawingml/2006/main" xmlns:r="http://schemas.openxmlformats.org/officeDocument/2006/relationships" xmlns:p="http://schemas.openxmlformats.org/presentationml/2006/main">
  <p:cSld name="Slide 25">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760"/>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25</a:t>
            </a:r>
            <a:endParaRPr lang="en-US" sz="2200" dirty="0"/>
          </a:p>
        </p:txBody>
      </p:sp>
      <p:pic>
        <p:nvPicPr>
          <p:cNvPr id="4" name="brY_761" descr="/home/claude/lls-course/v2/assets/brush-yellow.png">    </p:cNvPr>
          <p:cNvPicPr>
            <a:picLocks noChangeAspect="1"/>
          </p:cNvPicPr>
          <p:nvPr/>
        </p:nvPicPr>
        <p:blipFill>
          <a:blip r:embed="rId2"/>
          <a:stretch>
            <a:fillRect/>
          </a:stretch>
        </p:blipFill>
        <p:spPr>
          <a:xfrm>
            <a:off x="1097280" y="146304"/>
            <a:ext cx="2618842" cy="621792"/>
          </a:xfrm>
          <a:prstGeom prst="rect">
            <a:avLst/>
          </a:prstGeom>
        </p:spPr>
      </p:pic>
      <p:sp>
        <p:nvSpPr>
          <p:cNvPr id="5" name="title_762"/>
          <p:cNvSpPr/>
          <p:nvPr/>
        </p:nvSpPr>
        <p:spPr>
          <a:xfrm>
            <a:off x="1261872" y="164592"/>
            <a:ext cx="234452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Matt's diary</a:t>
            </a:r>
            <a:endParaRPr lang="en-US" sz="2500" dirty="0"/>
          </a:p>
        </p:txBody>
      </p:sp>
      <p:pic>
        <p:nvPicPr>
          <p:cNvPr id="6" name="brP_763" descr="/home/claude/lls-course/v2/assets/brush-pink.png">    </p:cNvPr>
          <p:cNvPicPr>
            <a:picLocks noChangeAspect="1"/>
          </p:cNvPicPr>
          <p:nvPr/>
        </p:nvPicPr>
        <p:blipFill>
          <a:blip r:embed="rId3"/>
          <a:stretch>
            <a:fillRect/>
          </a:stretch>
        </p:blipFill>
        <p:spPr>
          <a:xfrm>
            <a:off x="1207008" y="731520"/>
            <a:ext cx="3424428" cy="402336"/>
          </a:xfrm>
          <a:prstGeom prst="rect">
            <a:avLst/>
          </a:prstGeom>
        </p:spPr>
      </p:pic>
      <p:sp>
        <p:nvSpPr>
          <p:cNvPr id="7" name="ins_764"/>
          <p:cNvSpPr/>
          <p:nvPr/>
        </p:nvSpPr>
        <p:spPr>
          <a:xfrm>
            <a:off x="1353312" y="731520"/>
            <a:ext cx="316839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Find can, can't and be able to.</a:t>
            </a:r>
            <a:endParaRPr lang="en-US" sz="1250" dirty="0"/>
          </a:p>
        </p:txBody>
      </p:sp>
      <p:sp>
        <p:nvSpPr>
          <p:cNvPr id="8" name="insIT_765"/>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Trova can, can't e be able to.</a:t>
            </a:r>
            <a:endParaRPr lang="en-US" sz="950" dirty="0"/>
          </a:p>
        </p:txBody>
      </p:sp>
      <p:sp>
        <p:nvSpPr>
          <p:cNvPr id="9" name="cmd_766"/>
          <p:cNvSpPr/>
          <p:nvPr/>
        </p:nvSpPr>
        <p:spPr>
          <a:xfrm>
            <a:off x="6510528" y="182880"/>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FIND</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TROVA</a:t>
            </a:r>
            <a:endParaRPr lang="en-US" sz="1100" dirty="0"/>
          </a:p>
        </p:txBody>
      </p:sp>
      <p:sp>
        <p:nvSpPr>
          <p:cNvPr id="10" name="meta_767"/>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pairs</a:t>
            </a:r>
            <a:endParaRPr lang="en-US" sz="950" dirty="0"/>
          </a:p>
        </p:txBody>
      </p:sp>
      <p:sp>
        <p:nvSpPr>
          <p:cNvPr id="11" name="tag_768"/>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Listening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Guided discovery</a:t>
            </a:r>
            <a:endParaRPr lang="en-US" sz="850" dirty="0"/>
          </a:p>
        </p:txBody>
      </p:sp>
      <p:pic>
        <p:nvPicPr>
          <p:cNvPr id="12" name="logo_769"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770"/>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4B-1 · Listening · noticing in the script   ·   📖 SB audio script 4.18 (p.127)</a:t>
            </a:r>
            <a:endParaRPr lang="en-US" sz="800" dirty="0"/>
          </a:p>
        </p:txBody>
      </p:sp>
      <p:sp>
        <p:nvSpPr>
          <p:cNvPr id="14" name="st_771"/>
          <p:cNvSpPr/>
          <p:nvPr/>
        </p:nvSpPr>
        <p:spPr>
          <a:xfrm rot="-180000">
            <a:off x="7315200" y="4773168"/>
            <a:ext cx="1600200" cy="292608"/>
          </a:xfrm>
          <a:prstGeom prst="rect">
            <a:avLst/>
          </a:prstGeom>
          <a:solidFill>
            <a:srgbClr val="FFE07A"/>
          </a:solidFill>
          <a:ln>
            <a:solidFill>
              <a:srgbClr val="FFE07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900" dirty="0">
                <a:solidFill>
                  <a:srgbClr val="1B2559"/>
                </a:solidFill>
                <a:latin typeface="Arial Rounded MT Bold" pitchFamily="34" charset="0"/>
                <a:ea typeface="Arial Rounded MT Bold" pitchFamily="34" charset="-122"/>
                <a:cs typeface="Arial Rounded MT Bold" pitchFamily="34" charset="-120"/>
              </a:rPr>
              <a:t>EXTRA · if there's time</a:t>
            </a:r>
            <a:endParaRPr lang="en-US" sz="900" dirty="0"/>
          </a:p>
        </p:txBody>
      </p:sp>
      <p:sp>
        <p:nvSpPr>
          <p:cNvPr id="15" name="pf_772"/>
          <p:cNvSpPr/>
          <p:nvPr/>
        </p:nvSpPr>
        <p:spPr>
          <a:xfrm rot="-120000">
            <a:off x="365760" y="1371600"/>
            <a:ext cx="2468880" cy="1691640"/>
          </a:xfrm>
          <a:prstGeom prst="roundRect">
            <a:avLst>
              <a:gd name="adj" fmla="val 9189"/>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16" name="phx_773"/>
          <p:cNvSpPr/>
          <p:nvPr/>
        </p:nvSpPr>
        <p:spPr>
          <a:xfrm>
            <a:off x="411480" y="1417320"/>
            <a:ext cx="2377440" cy="160020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pitchFamily="34" charset="0"/>
                <a:ea typeface="Segoe UI" pitchFamily="34" charset="-122"/>
                <a:cs typeface="Segoe UI" pitchFamily="34" charset="-120"/>
              </a:rPr>
              <a:t>📷 4b1-trumpet-practice.jpg</a:t>
            </a:r>
            <a:endParaRPr lang="en-US" sz="900" dirty="0"/>
          </a:p>
        </p:txBody>
      </p:sp>
      <p:sp>
        <p:nvSpPr>
          <p:cNvPr id="17" name="cd_774"/>
          <p:cNvSpPr/>
          <p:nvPr/>
        </p:nvSpPr>
        <p:spPr>
          <a:xfrm>
            <a:off x="320040" y="3246120"/>
            <a:ext cx="2606040" cy="1463040"/>
          </a:xfrm>
          <a:prstGeom prst="roundRect">
            <a:avLst>
              <a:gd name="adj" fmla="val 8750"/>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8" name="ii_775"/>
          <p:cNvSpPr/>
          <p:nvPr/>
        </p:nvSpPr>
        <p:spPr>
          <a:xfrm>
            <a:off x="411480" y="33192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9" name="ih_776"/>
          <p:cNvSpPr/>
          <p:nvPr/>
        </p:nvSpPr>
        <p:spPr>
          <a:xfrm>
            <a:off x="886968" y="3337560"/>
            <a:ext cx="196596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Find it!</a:t>
            </a:r>
            <a:endParaRPr lang="en-US" sz="1300" dirty="0"/>
          </a:p>
        </p:txBody>
      </p:sp>
      <p:sp>
        <p:nvSpPr>
          <p:cNvPr id="20" name="il_777"/>
          <p:cNvSpPr/>
          <p:nvPr/>
        </p:nvSpPr>
        <p:spPr>
          <a:xfrm>
            <a:off x="886968" y="3721608"/>
            <a:ext cx="1947672" cy="91440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can / can't + verb</a:t>
            </a:r>
            <a:endParaRPr lang="en-US" sz="1050" dirty="0"/>
          </a:p>
          <a:p>
            <a:pPr marL="152400" indent="-152400">
              <a:spcBef>
                <a:spcPts val="500"/>
              </a:spcBef>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to be able to</a:t>
            </a:r>
            <a:endParaRPr lang="en-US" sz="1050" dirty="0"/>
          </a:p>
          <a:p>
            <a:pPr marL="152400" indent="-152400">
              <a:spcBef>
                <a:spcPts val="500"/>
              </a:spcBef>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How many can you find? (8)</a:t>
            </a:r>
            <a:endParaRPr lang="en-US" sz="1050" dirty="0"/>
          </a:p>
        </p:txBody>
      </p:sp>
      <p:sp>
        <p:nvSpPr>
          <p:cNvPr id="21" name="who_778"/>
          <p:cNvSpPr/>
          <p:nvPr/>
        </p:nvSpPr>
        <p:spPr>
          <a:xfrm>
            <a:off x="3108960" y="1463040"/>
            <a:ext cx="914400" cy="365760"/>
          </a:xfrm>
          <a:prstGeom prst="roundRect">
            <a:avLst>
              <a:gd name="adj" fmla="val 30000"/>
            </a:avLst>
          </a:prstGeom>
          <a:solidFill>
            <a:srgbClr val="FFE3EE"/>
          </a:solidFill>
          <a:ln/>
        </p:spPr>
        <p:txBody>
          <a:bodyPr wrap="square" lIns="0" tIns="0" rIns="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1 hour</a:t>
            </a:r>
            <a:endParaRPr lang="en-US" sz="950" dirty="0"/>
          </a:p>
        </p:txBody>
      </p:sp>
      <p:sp>
        <p:nvSpPr>
          <p:cNvPr id="22" name="sl_779"/>
          <p:cNvSpPr/>
          <p:nvPr/>
        </p:nvSpPr>
        <p:spPr>
          <a:xfrm>
            <a:off x="4114800" y="1444752"/>
            <a:ext cx="4754880" cy="402336"/>
          </a:xfrm>
          <a:prstGeom prst="roundRect">
            <a:avLst>
              <a:gd name="adj" fmla="val 27273"/>
            </a:avLst>
          </a:prstGeom>
          <a:solidFill>
            <a:srgbClr val="FFFFFF"/>
          </a:solidFill>
          <a:ln w="15875">
            <a:solidFill>
              <a:srgbClr val="F7A6C4"/>
            </a:solidFill>
          </a:ln>
        </p:spPr>
        <p:txBody>
          <a:bodyPr wrap="square" lIns="127000" tIns="0" rIns="127000" bIns="0" rtlCol="0" anchor="ctr">
            <a:normAutofit/>
          </a:bodyPr>
          <a:lstStyle/>
          <a:p>
            <a:pPr indent="0" marL="0">
              <a:buNone/>
            </a:pPr>
            <a:r>
              <a:rPr lang="en-US" sz="1150" dirty="0">
                <a:solidFill>
                  <a:srgbClr val="1B2559"/>
                </a:solidFill>
                <a:latin typeface="Segoe UI" pitchFamily="34" charset="0"/>
                <a:ea typeface="Segoe UI" pitchFamily="34" charset="-122"/>
                <a:cs typeface="Segoe UI" pitchFamily="34" charset="-120"/>
              </a:rPr>
              <a:t>I want </a:t>
            </a:r>
            <a:pPr indent="0" marL="0">
              <a:buNone/>
            </a:pPr>
            <a:r>
              <a:rPr lang="en-US" sz="1150" dirty="0">
                <a:solidFill>
                  <a:srgbClr val="1B2559"/>
                </a:solidFill>
                <a:latin typeface="Segoe UI" pitchFamily="34" charset="0"/>
                <a:ea typeface="Segoe UI" pitchFamily="34" charset="-122"/>
                <a:cs typeface="Segoe UI" pitchFamily="34" charset="-120"/>
              </a:rPr>
              <a:t>to be able to play</a:t>
            </a:r>
            <a:pPr indent="0" marL="0">
              <a:buNone/>
            </a:pPr>
            <a:r>
              <a:rPr lang="en-US" sz="1150" dirty="0">
                <a:solidFill>
                  <a:srgbClr val="1B2559"/>
                </a:solidFill>
                <a:latin typeface="Segoe UI" pitchFamily="34" charset="0"/>
                <a:ea typeface="Segoe UI" pitchFamily="34" charset="-122"/>
                <a:cs typeface="Segoe UI" pitchFamily="34" charset="-120"/>
              </a:rPr>
              <a:t> the trumpet, and I want to do it fast!</a:t>
            </a:r>
            <a:endParaRPr lang="en-US" sz="1150" dirty="0"/>
          </a:p>
        </p:txBody>
      </p:sp>
      <p:sp>
        <p:nvSpPr>
          <p:cNvPr id="23" name="R1_slA780"/>
          <p:cNvSpPr/>
          <p:nvPr/>
        </p:nvSpPr>
        <p:spPr>
          <a:xfrm>
            <a:off x="4114800" y="1444752"/>
            <a:ext cx="4754880" cy="402336"/>
          </a:xfrm>
          <a:prstGeom prst="roundRect">
            <a:avLst>
              <a:gd name="adj" fmla="val 27273"/>
            </a:avLst>
          </a:prstGeom>
          <a:solidFill>
            <a:srgbClr val="FFFFFF"/>
          </a:solidFill>
          <a:ln w="15875">
            <a:solidFill>
              <a:srgbClr val="F7A6C4"/>
            </a:solidFill>
          </a:ln>
        </p:spPr>
        <p:txBody>
          <a:bodyPr wrap="square" lIns="127000" tIns="0" rIns="127000" bIns="0" rtlCol="0" anchor="ctr">
            <a:normAutofit/>
          </a:bodyPr>
          <a:lstStyle/>
          <a:p>
            <a:pPr indent="0" marL="0">
              <a:buNone/>
            </a:pPr>
            <a:r>
              <a:rPr lang="en-US" sz="1150" dirty="0">
                <a:solidFill>
                  <a:srgbClr val="1B2559"/>
                </a:solidFill>
                <a:latin typeface="Segoe UI" pitchFamily="34" charset="0"/>
                <a:ea typeface="Segoe UI" pitchFamily="34" charset="-122"/>
                <a:cs typeface="Segoe UI" pitchFamily="34" charset="-120"/>
              </a:rPr>
              <a:t>I want </a:t>
            </a:r>
            <a:pPr indent="0" marL="0">
              <a:buNone/>
            </a:pPr>
            <a:r>
              <a:rPr lang="en-US" sz="1150" b="1" dirty="0">
                <a:solidFill>
                  <a:srgbClr val="1B2559"/>
                </a:solidFill>
                <a:highlight>
                  <a:srgbClr val="FFE066"/>
                </a:highlight>
                <a:latin typeface="Segoe UI" pitchFamily="34" charset="0"/>
                <a:ea typeface="Segoe UI" pitchFamily="34" charset="-122"/>
                <a:cs typeface="Segoe UI" pitchFamily="34" charset="-120"/>
              </a:rPr>
              <a:t>to be able to play</a:t>
            </a:r>
            <a:pPr indent="0" marL="0">
              <a:buNone/>
            </a:pPr>
            <a:r>
              <a:rPr lang="en-US" sz="1150" dirty="0">
                <a:solidFill>
                  <a:srgbClr val="1B2559"/>
                </a:solidFill>
                <a:latin typeface="Segoe UI" pitchFamily="34" charset="0"/>
                <a:ea typeface="Segoe UI" pitchFamily="34" charset="-122"/>
                <a:cs typeface="Segoe UI" pitchFamily="34" charset="-120"/>
              </a:rPr>
              <a:t> the trumpet, and I want to do it fast!</a:t>
            </a:r>
            <a:endParaRPr lang="en-US" sz="1150" dirty="0"/>
          </a:p>
        </p:txBody>
      </p:sp>
      <p:sp>
        <p:nvSpPr>
          <p:cNvPr id="24" name="who_781"/>
          <p:cNvSpPr/>
          <p:nvPr/>
        </p:nvSpPr>
        <p:spPr>
          <a:xfrm>
            <a:off x="3108960" y="1920240"/>
            <a:ext cx="914400" cy="365760"/>
          </a:xfrm>
          <a:prstGeom prst="roundRect">
            <a:avLst>
              <a:gd name="adj" fmla="val 30000"/>
            </a:avLst>
          </a:prstGeom>
          <a:solidFill>
            <a:srgbClr val="E3F1FD"/>
          </a:solidFill>
          <a:ln/>
        </p:spPr>
        <p:txBody>
          <a:bodyPr wrap="square" lIns="0" tIns="0" rIns="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2 hours</a:t>
            </a:r>
            <a:endParaRPr lang="en-US" sz="950" dirty="0"/>
          </a:p>
        </p:txBody>
      </p:sp>
      <p:sp>
        <p:nvSpPr>
          <p:cNvPr id="25" name="sl_782"/>
          <p:cNvSpPr/>
          <p:nvPr/>
        </p:nvSpPr>
        <p:spPr>
          <a:xfrm>
            <a:off x="4114800" y="1901952"/>
            <a:ext cx="4754880" cy="402336"/>
          </a:xfrm>
          <a:prstGeom prst="roundRect">
            <a:avLst>
              <a:gd name="adj" fmla="val 27273"/>
            </a:avLst>
          </a:prstGeom>
          <a:solidFill>
            <a:srgbClr val="FFFFFF"/>
          </a:solidFill>
          <a:ln w="15875">
            <a:solidFill>
              <a:srgbClr val="A9D3F5"/>
            </a:solidFill>
          </a:ln>
        </p:spPr>
        <p:txBody>
          <a:bodyPr wrap="square" lIns="127000" tIns="0" rIns="127000" bIns="0" rtlCol="0" anchor="ctr">
            <a:normAutofit/>
          </a:bodyPr>
          <a:lstStyle/>
          <a:p>
            <a:pPr indent="0" marL="0">
              <a:buNone/>
            </a:pPr>
            <a:r>
              <a:rPr lang="en-US" sz="1150" dirty="0">
                <a:solidFill>
                  <a:srgbClr val="1B2559"/>
                </a:solidFill>
                <a:latin typeface="Segoe UI" pitchFamily="34" charset="0"/>
                <a:ea typeface="Segoe UI" pitchFamily="34" charset="-122"/>
                <a:cs typeface="Segoe UI" pitchFamily="34" charset="-120"/>
              </a:rPr>
              <a:t>I </a:t>
            </a:r>
            <a:pPr indent="0" marL="0">
              <a:buNone/>
            </a:pPr>
            <a:r>
              <a:rPr lang="en-US" sz="1150" dirty="0">
                <a:solidFill>
                  <a:srgbClr val="1B2559"/>
                </a:solidFill>
                <a:latin typeface="Segoe UI" pitchFamily="34" charset="0"/>
                <a:ea typeface="Segoe UI" pitchFamily="34" charset="-122"/>
                <a:cs typeface="Segoe UI" pitchFamily="34" charset="-120"/>
              </a:rPr>
              <a:t>can only play</a:t>
            </a:r>
            <a:pPr indent="0" marL="0">
              <a:buNone/>
            </a:pPr>
            <a:r>
              <a:rPr lang="en-US" sz="1150" dirty="0">
                <a:solidFill>
                  <a:srgbClr val="1B2559"/>
                </a:solidFill>
                <a:latin typeface="Segoe UI" pitchFamily="34" charset="0"/>
                <a:ea typeface="Segoe UI" pitchFamily="34" charset="-122"/>
                <a:cs typeface="Segoe UI" pitchFamily="34" charset="-120"/>
              </a:rPr>
              <a:t> for ten minutes before I start seeing stars.</a:t>
            </a:r>
            <a:endParaRPr lang="en-US" sz="1150" dirty="0"/>
          </a:p>
        </p:txBody>
      </p:sp>
      <p:sp>
        <p:nvSpPr>
          <p:cNvPr id="26" name="R2_slA783"/>
          <p:cNvSpPr/>
          <p:nvPr/>
        </p:nvSpPr>
        <p:spPr>
          <a:xfrm>
            <a:off x="4114800" y="1901952"/>
            <a:ext cx="4754880" cy="402336"/>
          </a:xfrm>
          <a:prstGeom prst="roundRect">
            <a:avLst>
              <a:gd name="adj" fmla="val 27273"/>
            </a:avLst>
          </a:prstGeom>
          <a:solidFill>
            <a:srgbClr val="FFFFFF"/>
          </a:solidFill>
          <a:ln w="15875">
            <a:solidFill>
              <a:srgbClr val="A9D3F5"/>
            </a:solidFill>
          </a:ln>
        </p:spPr>
        <p:txBody>
          <a:bodyPr wrap="square" lIns="127000" tIns="0" rIns="127000" bIns="0" rtlCol="0" anchor="ctr">
            <a:normAutofit/>
          </a:bodyPr>
          <a:lstStyle/>
          <a:p>
            <a:pPr indent="0" marL="0">
              <a:buNone/>
            </a:pPr>
            <a:r>
              <a:rPr lang="en-US" sz="1150" dirty="0">
                <a:solidFill>
                  <a:srgbClr val="1B2559"/>
                </a:solidFill>
                <a:latin typeface="Segoe UI" pitchFamily="34" charset="0"/>
                <a:ea typeface="Segoe UI" pitchFamily="34" charset="-122"/>
                <a:cs typeface="Segoe UI" pitchFamily="34" charset="-120"/>
              </a:rPr>
              <a:t>I </a:t>
            </a:r>
            <a:pPr indent="0" marL="0">
              <a:buNone/>
            </a:pPr>
            <a:r>
              <a:rPr lang="en-US" sz="1150" b="1" dirty="0">
                <a:solidFill>
                  <a:srgbClr val="1B2559"/>
                </a:solidFill>
                <a:highlight>
                  <a:srgbClr val="FFE066"/>
                </a:highlight>
                <a:latin typeface="Segoe UI" pitchFamily="34" charset="0"/>
                <a:ea typeface="Segoe UI" pitchFamily="34" charset="-122"/>
                <a:cs typeface="Segoe UI" pitchFamily="34" charset="-120"/>
              </a:rPr>
              <a:t>can only play</a:t>
            </a:r>
            <a:pPr indent="0" marL="0">
              <a:buNone/>
            </a:pPr>
            <a:r>
              <a:rPr lang="en-US" sz="1150" dirty="0">
                <a:solidFill>
                  <a:srgbClr val="1B2559"/>
                </a:solidFill>
                <a:latin typeface="Segoe UI" pitchFamily="34" charset="0"/>
                <a:ea typeface="Segoe UI" pitchFamily="34" charset="-122"/>
                <a:cs typeface="Segoe UI" pitchFamily="34" charset="-120"/>
              </a:rPr>
              <a:t> for ten minutes before I start seeing stars.</a:t>
            </a:r>
            <a:endParaRPr lang="en-US" sz="1150" dirty="0"/>
          </a:p>
        </p:txBody>
      </p:sp>
      <p:sp>
        <p:nvSpPr>
          <p:cNvPr id="27" name="who_784"/>
          <p:cNvSpPr/>
          <p:nvPr/>
        </p:nvSpPr>
        <p:spPr>
          <a:xfrm>
            <a:off x="3108960" y="2377440"/>
            <a:ext cx="914400" cy="365760"/>
          </a:xfrm>
          <a:prstGeom prst="roundRect">
            <a:avLst>
              <a:gd name="adj" fmla="val 30000"/>
            </a:avLst>
          </a:prstGeom>
          <a:solidFill>
            <a:srgbClr val="E3F1FD"/>
          </a:solidFill>
          <a:ln/>
        </p:spPr>
        <p:txBody>
          <a:bodyPr wrap="square" lIns="0" tIns="0" rIns="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2 hours</a:t>
            </a:r>
            <a:endParaRPr lang="en-US" sz="950" dirty="0"/>
          </a:p>
        </p:txBody>
      </p:sp>
      <p:sp>
        <p:nvSpPr>
          <p:cNvPr id="28" name="sl_785"/>
          <p:cNvSpPr/>
          <p:nvPr/>
        </p:nvSpPr>
        <p:spPr>
          <a:xfrm>
            <a:off x="4114800" y="2359152"/>
            <a:ext cx="4754880" cy="402336"/>
          </a:xfrm>
          <a:prstGeom prst="roundRect">
            <a:avLst>
              <a:gd name="adj" fmla="val 27273"/>
            </a:avLst>
          </a:prstGeom>
          <a:solidFill>
            <a:srgbClr val="FFFFFF"/>
          </a:solidFill>
          <a:ln w="15875">
            <a:solidFill>
              <a:srgbClr val="A9D3F5"/>
            </a:solidFill>
          </a:ln>
        </p:spPr>
        <p:txBody>
          <a:bodyPr wrap="square" lIns="127000" tIns="0" rIns="127000" bIns="0" rtlCol="0" anchor="ctr">
            <a:normAutofit/>
          </a:bodyPr>
          <a:lstStyle/>
          <a:p>
            <a:pPr indent="0" marL="0">
              <a:buNone/>
            </a:pPr>
            <a:r>
              <a:rPr lang="en-US" sz="1150" dirty="0">
                <a:solidFill>
                  <a:srgbClr val="1B2559"/>
                </a:solidFill>
                <a:latin typeface="Segoe UI" pitchFamily="34" charset="0"/>
                <a:ea typeface="Segoe UI" pitchFamily="34" charset="-122"/>
                <a:cs typeface="Segoe UI" pitchFamily="34" charset="-120"/>
              </a:rPr>
              <a:t>I </a:t>
            </a:r>
            <a:pPr indent="0" marL="0">
              <a:buNone/>
            </a:pPr>
            <a:r>
              <a:rPr lang="en-US" sz="1150" dirty="0">
                <a:solidFill>
                  <a:srgbClr val="1B2559"/>
                </a:solidFill>
                <a:latin typeface="Segoe UI" pitchFamily="34" charset="0"/>
                <a:ea typeface="Segoe UI" pitchFamily="34" charset="-122"/>
                <a:cs typeface="Segoe UI" pitchFamily="34" charset="-120"/>
              </a:rPr>
              <a:t>can get</a:t>
            </a:r>
            <a:pPr indent="0" marL="0">
              <a:buNone/>
            </a:pPr>
            <a:r>
              <a:rPr lang="en-US" sz="1150" dirty="0">
                <a:solidFill>
                  <a:srgbClr val="1B2559"/>
                </a:solidFill>
                <a:latin typeface="Segoe UI" pitchFamily="34" charset="0"/>
                <a:ea typeface="Segoe UI" pitchFamily="34" charset="-122"/>
                <a:cs typeface="Segoe UI" pitchFamily="34" charset="-120"/>
              </a:rPr>
              <a:t> from C to G but I </a:t>
            </a:r>
            <a:pPr indent="0" marL="0">
              <a:buNone/>
            </a:pPr>
            <a:r>
              <a:rPr lang="en-US" sz="1150" dirty="0">
                <a:solidFill>
                  <a:srgbClr val="1B2559"/>
                </a:solidFill>
                <a:latin typeface="Segoe UI" pitchFamily="34" charset="0"/>
                <a:ea typeface="Segoe UI" pitchFamily="34" charset="-122"/>
                <a:cs typeface="Segoe UI" pitchFamily="34" charset="-120"/>
              </a:rPr>
              <a:t>can't get</a:t>
            </a:r>
            <a:pPr indent="0" marL="0">
              <a:buNone/>
            </a:pPr>
            <a:r>
              <a:rPr lang="en-US" sz="1150" dirty="0">
                <a:solidFill>
                  <a:srgbClr val="1B2559"/>
                </a:solidFill>
                <a:latin typeface="Segoe UI" pitchFamily="34" charset="0"/>
                <a:ea typeface="Segoe UI" pitchFamily="34" charset="-122"/>
                <a:cs typeface="Segoe UI" pitchFamily="34" charset="-120"/>
              </a:rPr>
              <a:t> any higher.</a:t>
            </a:r>
            <a:endParaRPr lang="en-US" sz="1150" dirty="0"/>
          </a:p>
        </p:txBody>
      </p:sp>
      <p:sp>
        <p:nvSpPr>
          <p:cNvPr id="29" name="R3_slA786"/>
          <p:cNvSpPr/>
          <p:nvPr/>
        </p:nvSpPr>
        <p:spPr>
          <a:xfrm>
            <a:off x="4114800" y="2359152"/>
            <a:ext cx="4754880" cy="402336"/>
          </a:xfrm>
          <a:prstGeom prst="roundRect">
            <a:avLst>
              <a:gd name="adj" fmla="val 27273"/>
            </a:avLst>
          </a:prstGeom>
          <a:solidFill>
            <a:srgbClr val="FFFFFF"/>
          </a:solidFill>
          <a:ln w="15875">
            <a:solidFill>
              <a:srgbClr val="A9D3F5"/>
            </a:solidFill>
          </a:ln>
        </p:spPr>
        <p:txBody>
          <a:bodyPr wrap="square" lIns="127000" tIns="0" rIns="127000" bIns="0" rtlCol="0" anchor="ctr">
            <a:normAutofit/>
          </a:bodyPr>
          <a:lstStyle/>
          <a:p>
            <a:pPr indent="0" marL="0">
              <a:buNone/>
            </a:pPr>
            <a:r>
              <a:rPr lang="en-US" sz="1150" dirty="0">
                <a:solidFill>
                  <a:srgbClr val="1B2559"/>
                </a:solidFill>
                <a:latin typeface="Segoe UI" pitchFamily="34" charset="0"/>
                <a:ea typeface="Segoe UI" pitchFamily="34" charset="-122"/>
                <a:cs typeface="Segoe UI" pitchFamily="34" charset="-120"/>
              </a:rPr>
              <a:t>I </a:t>
            </a:r>
            <a:pPr indent="0" marL="0">
              <a:buNone/>
            </a:pPr>
            <a:r>
              <a:rPr lang="en-US" sz="1150" b="1" dirty="0">
                <a:solidFill>
                  <a:srgbClr val="1B2559"/>
                </a:solidFill>
                <a:highlight>
                  <a:srgbClr val="FFE066"/>
                </a:highlight>
                <a:latin typeface="Segoe UI" pitchFamily="34" charset="0"/>
                <a:ea typeface="Segoe UI" pitchFamily="34" charset="-122"/>
                <a:cs typeface="Segoe UI" pitchFamily="34" charset="-120"/>
              </a:rPr>
              <a:t>can get</a:t>
            </a:r>
            <a:pPr indent="0" marL="0">
              <a:buNone/>
            </a:pPr>
            <a:r>
              <a:rPr lang="en-US" sz="1150" dirty="0">
                <a:solidFill>
                  <a:srgbClr val="1B2559"/>
                </a:solidFill>
                <a:latin typeface="Segoe UI" pitchFamily="34" charset="0"/>
                <a:ea typeface="Segoe UI" pitchFamily="34" charset="-122"/>
                <a:cs typeface="Segoe UI" pitchFamily="34" charset="-120"/>
              </a:rPr>
              <a:t> from C to G but I </a:t>
            </a:r>
            <a:pPr indent="0" marL="0">
              <a:buNone/>
            </a:pPr>
            <a:r>
              <a:rPr lang="en-US" sz="1150" b="1" dirty="0">
                <a:solidFill>
                  <a:srgbClr val="1B2559"/>
                </a:solidFill>
                <a:highlight>
                  <a:srgbClr val="FFE066"/>
                </a:highlight>
                <a:latin typeface="Segoe UI" pitchFamily="34" charset="0"/>
                <a:ea typeface="Segoe UI" pitchFamily="34" charset="-122"/>
                <a:cs typeface="Segoe UI" pitchFamily="34" charset="-120"/>
              </a:rPr>
              <a:t>can't get</a:t>
            </a:r>
            <a:pPr indent="0" marL="0">
              <a:buNone/>
            </a:pPr>
            <a:r>
              <a:rPr lang="en-US" sz="1150" dirty="0">
                <a:solidFill>
                  <a:srgbClr val="1B2559"/>
                </a:solidFill>
                <a:latin typeface="Segoe UI" pitchFamily="34" charset="0"/>
                <a:ea typeface="Segoe UI" pitchFamily="34" charset="-122"/>
                <a:cs typeface="Segoe UI" pitchFamily="34" charset="-120"/>
              </a:rPr>
              <a:t> any higher.</a:t>
            </a:r>
            <a:endParaRPr lang="en-US" sz="1150" dirty="0"/>
          </a:p>
        </p:txBody>
      </p:sp>
      <p:sp>
        <p:nvSpPr>
          <p:cNvPr id="30" name="who_787"/>
          <p:cNvSpPr/>
          <p:nvPr/>
        </p:nvSpPr>
        <p:spPr>
          <a:xfrm>
            <a:off x="3108960" y="2834640"/>
            <a:ext cx="914400" cy="365760"/>
          </a:xfrm>
          <a:prstGeom prst="roundRect">
            <a:avLst>
              <a:gd name="adj" fmla="val 30000"/>
            </a:avLst>
          </a:prstGeom>
          <a:solidFill>
            <a:srgbClr val="E3F1FD"/>
          </a:solidFill>
          <a:ln/>
        </p:spPr>
        <p:txBody>
          <a:bodyPr wrap="square" lIns="0" tIns="0" rIns="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5 hours</a:t>
            </a:r>
            <a:endParaRPr lang="en-US" sz="950" dirty="0"/>
          </a:p>
        </p:txBody>
      </p:sp>
      <p:sp>
        <p:nvSpPr>
          <p:cNvPr id="31" name="sl_788"/>
          <p:cNvSpPr/>
          <p:nvPr/>
        </p:nvSpPr>
        <p:spPr>
          <a:xfrm>
            <a:off x="4114800" y="2816352"/>
            <a:ext cx="4754880" cy="402336"/>
          </a:xfrm>
          <a:prstGeom prst="roundRect">
            <a:avLst>
              <a:gd name="adj" fmla="val 27273"/>
            </a:avLst>
          </a:prstGeom>
          <a:solidFill>
            <a:srgbClr val="FFFFFF"/>
          </a:solidFill>
          <a:ln w="15875">
            <a:solidFill>
              <a:srgbClr val="A9D3F5"/>
            </a:solidFill>
          </a:ln>
        </p:spPr>
        <p:txBody>
          <a:bodyPr wrap="square" lIns="127000" tIns="0" rIns="127000" bIns="0" rtlCol="0" anchor="ctr">
            <a:normAutofit/>
          </a:bodyPr>
          <a:lstStyle/>
          <a:p>
            <a:pPr indent="0" marL="0">
              <a:buNone/>
            </a:pPr>
            <a:r>
              <a:rPr lang="en-US" sz="1150" dirty="0">
                <a:solidFill>
                  <a:srgbClr val="1B2559"/>
                </a:solidFill>
                <a:latin typeface="Segoe UI" pitchFamily="34" charset="0"/>
                <a:ea typeface="Segoe UI" pitchFamily="34" charset="-122"/>
                <a:cs typeface="Segoe UI" pitchFamily="34" charset="-120"/>
              </a:rPr>
              <a:t>I </a:t>
            </a:r>
            <a:pPr indent="0" marL="0">
              <a:buNone/>
            </a:pPr>
            <a:r>
              <a:rPr lang="en-US" sz="1150" dirty="0">
                <a:solidFill>
                  <a:srgbClr val="1B2559"/>
                </a:solidFill>
                <a:latin typeface="Segoe UI" pitchFamily="34" charset="0"/>
                <a:ea typeface="Segoe UI" pitchFamily="34" charset="-122"/>
                <a:cs typeface="Segoe UI" pitchFamily="34" charset="-120"/>
              </a:rPr>
              <a:t>can play</a:t>
            </a:r>
            <a:pPr indent="0" marL="0">
              <a:buNone/>
            </a:pPr>
            <a:r>
              <a:rPr lang="en-US" sz="1150" dirty="0">
                <a:solidFill>
                  <a:srgbClr val="1B2559"/>
                </a:solidFill>
                <a:latin typeface="Segoe UI" pitchFamily="34" charset="0"/>
                <a:ea typeface="Segoe UI" pitchFamily="34" charset="-122"/>
                <a:cs typeface="Segoe UI" pitchFamily="34" charset="-120"/>
              </a:rPr>
              <a:t> a whole octave, from C to C.</a:t>
            </a:r>
            <a:endParaRPr lang="en-US" sz="1150" dirty="0"/>
          </a:p>
        </p:txBody>
      </p:sp>
      <p:sp>
        <p:nvSpPr>
          <p:cNvPr id="32" name="R4_slA789"/>
          <p:cNvSpPr/>
          <p:nvPr/>
        </p:nvSpPr>
        <p:spPr>
          <a:xfrm>
            <a:off x="4114800" y="2816352"/>
            <a:ext cx="4754880" cy="402336"/>
          </a:xfrm>
          <a:prstGeom prst="roundRect">
            <a:avLst>
              <a:gd name="adj" fmla="val 27273"/>
            </a:avLst>
          </a:prstGeom>
          <a:solidFill>
            <a:srgbClr val="FFFFFF"/>
          </a:solidFill>
          <a:ln w="15875">
            <a:solidFill>
              <a:srgbClr val="A9D3F5"/>
            </a:solidFill>
          </a:ln>
        </p:spPr>
        <p:txBody>
          <a:bodyPr wrap="square" lIns="127000" tIns="0" rIns="127000" bIns="0" rtlCol="0" anchor="ctr">
            <a:normAutofit/>
          </a:bodyPr>
          <a:lstStyle/>
          <a:p>
            <a:pPr indent="0" marL="0">
              <a:buNone/>
            </a:pPr>
            <a:r>
              <a:rPr lang="en-US" sz="1150" dirty="0">
                <a:solidFill>
                  <a:srgbClr val="1B2559"/>
                </a:solidFill>
                <a:latin typeface="Segoe UI" pitchFamily="34" charset="0"/>
                <a:ea typeface="Segoe UI" pitchFamily="34" charset="-122"/>
                <a:cs typeface="Segoe UI" pitchFamily="34" charset="-120"/>
              </a:rPr>
              <a:t>I </a:t>
            </a:r>
            <a:pPr indent="0" marL="0">
              <a:buNone/>
            </a:pPr>
            <a:r>
              <a:rPr lang="en-US" sz="1150" b="1" dirty="0">
                <a:solidFill>
                  <a:srgbClr val="1B2559"/>
                </a:solidFill>
                <a:highlight>
                  <a:srgbClr val="FFE066"/>
                </a:highlight>
                <a:latin typeface="Segoe UI" pitchFamily="34" charset="0"/>
                <a:ea typeface="Segoe UI" pitchFamily="34" charset="-122"/>
                <a:cs typeface="Segoe UI" pitchFamily="34" charset="-120"/>
              </a:rPr>
              <a:t>can play</a:t>
            </a:r>
            <a:pPr indent="0" marL="0">
              <a:buNone/>
            </a:pPr>
            <a:r>
              <a:rPr lang="en-US" sz="1150" dirty="0">
                <a:solidFill>
                  <a:srgbClr val="1B2559"/>
                </a:solidFill>
                <a:latin typeface="Segoe UI" pitchFamily="34" charset="0"/>
                <a:ea typeface="Segoe UI" pitchFamily="34" charset="-122"/>
                <a:cs typeface="Segoe UI" pitchFamily="34" charset="-120"/>
              </a:rPr>
              <a:t> a whole octave, from C to C.</a:t>
            </a:r>
            <a:endParaRPr lang="en-US" sz="1150" dirty="0"/>
          </a:p>
        </p:txBody>
      </p:sp>
      <p:sp>
        <p:nvSpPr>
          <p:cNvPr id="33" name="who_790"/>
          <p:cNvSpPr/>
          <p:nvPr/>
        </p:nvSpPr>
        <p:spPr>
          <a:xfrm>
            <a:off x="3108960" y="3291840"/>
            <a:ext cx="914400" cy="365760"/>
          </a:xfrm>
          <a:prstGeom prst="roundRect">
            <a:avLst>
              <a:gd name="adj" fmla="val 30000"/>
            </a:avLst>
          </a:prstGeom>
          <a:solidFill>
            <a:srgbClr val="E3F7EA"/>
          </a:solidFill>
          <a:ln/>
        </p:spPr>
        <p:txBody>
          <a:bodyPr wrap="square" lIns="0" tIns="0" rIns="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9 hours</a:t>
            </a:r>
            <a:endParaRPr lang="en-US" sz="950" dirty="0"/>
          </a:p>
        </p:txBody>
      </p:sp>
      <p:sp>
        <p:nvSpPr>
          <p:cNvPr id="34" name="sl_791"/>
          <p:cNvSpPr/>
          <p:nvPr/>
        </p:nvSpPr>
        <p:spPr>
          <a:xfrm>
            <a:off x="4114800" y="3273552"/>
            <a:ext cx="4754880" cy="402336"/>
          </a:xfrm>
          <a:prstGeom prst="roundRect">
            <a:avLst>
              <a:gd name="adj" fmla="val 27273"/>
            </a:avLst>
          </a:prstGeom>
          <a:solidFill>
            <a:srgbClr val="FFFFFF"/>
          </a:solidFill>
          <a:ln w="15875">
            <a:solidFill>
              <a:srgbClr val="A8E5BE"/>
            </a:solidFill>
          </a:ln>
        </p:spPr>
        <p:txBody>
          <a:bodyPr wrap="square" lIns="127000" tIns="0" rIns="127000" bIns="0" rtlCol="0" anchor="ctr">
            <a:normAutofit/>
          </a:bodyPr>
          <a:lstStyle/>
          <a:p>
            <a:pPr indent="0" marL="0">
              <a:buNone/>
            </a:pPr>
            <a:r>
              <a:rPr lang="en-US" sz="1150" dirty="0">
                <a:solidFill>
                  <a:srgbClr val="1B2559"/>
                </a:solidFill>
                <a:latin typeface="Segoe UI" pitchFamily="34" charset="0"/>
                <a:ea typeface="Segoe UI" pitchFamily="34" charset="-122"/>
                <a:cs typeface="Segoe UI" pitchFamily="34" charset="-120"/>
              </a:rPr>
              <a:t>I still </a:t>
            </a:r>
            <a:pPr indent="0" marL="0">
              <a:buNone/>
            </a:pPr>
            <a:r>
              <a:rPr lang="en-US" sz="1150" dirty="0">
                <a:solidFill>
                  <a:srgbClr val="1B2559"/>
                </a:solidFill>
                <a:latin typeface="Segoe UI" pitchFamily="34" charset="0"/>
                <a:ea typeface="Segoe UI" pitchFamily="34" charset="-122"/>
                <a:cs typeface="Segoe UI" pitchFamily="34" charset="-120"/>
              </a:rPr>
              <a:t>can't play</a:t>
            </a:r>
            <a:pPr indent="0" marL="0">
              <a:buNone/>
            </a:pPr>
            <a:r>
              <a:rPr lang="en-US" sz="1150" dirty="0">
                <a:solidFill>
                  <a:srgbClr val="1B2559"/>
                </a:solidFill>
                <a:latin typeface="Segoe UI" pitchFamily="34" charset="0"/>
                <a:ea typeface="Segoe UI" pitchFamily="34" charset="-122"/>
                <a:cs typeface="Segoe UI" pitchFamily="34" charset="-120"/>
              </a:rPr>
              <a:t> high notes. I </a:t>
            </a:r>
            <a:pPr indent="0" marL="0">
              <a:buNone/>
            </a:pPr>
            <a:r>
              <a:rPr lang="en-US" sz="1150" dirty="0">
                <a:solidFill>
                  <a:srgbClr val="1B2559"/>
                </a:solidFill>
                <a:latin typeface="Segoe UI" pitchFamily="34" charset="0"/>
                <a:ea typeface="Segoe UI" pitchFamily="34" charset="-122"/>
                <a:cs typeface="Segoe UI" pitchFamily="34" charset="-120"/>
              </a:rPr>
              <a:t>can play</a:t>
            </a:r>
            <a:pPr indent="0" marL="0">
              <a:buNone/>
            </a:pPr>
            <a:r>
              <a:rPr lang="en-US" sz="1150" dirty="0">
                <a:solidFill>
                  <a:srgbClr val="1B2559"/>
                </a:solidFill>
                <a:latin typeface="Segoe UI" pitchFamily="34" charset="0"/>
                <a:ea typeface="Segoe UI" pitchFamily="34" charset="-122"/>
                <a:cs typeface="Segoe UI" pitchFamily="34" charset="-120"/>
              </a:rPr>
              <a:t> some very simple tunes.</a:t>
            </a:r>
            <a:endParaRPr lang="en-US" sz="1150" dirty="0"/>
          </a:p>
        </p:txBody>
      </p:sp>
      <p:sp>
        <p:nvSpPr>
          <p:cNvPr id="35" name="R5_slA792"/>
          <p:cNvSpPr/>
          <p:nvPr/>
        </p:nvSpPr>
        <p:spPr>
          <a:xfrm>
            <a:off x="4114800" y="3273552"/>
            <a:ext cx="4754880" cy="402336"/>
          </a:xfrm>
          <a:prstGeom prst="roundRect">
            <a:avLst>
              <a:gd name="adj" fmla="val 27273"/>
            </a:avLst>
          </a:prstGeom>
          <a:solidFill>
            <a:srgbClr val="FFFFFF"/>
          </a:solidFill>
          <a:ln w="15875">
            <a:solidFill>
              <a:srgbClr val="A8E5BE"/>
            </a:solidFill>
          </a:ln>
        </p:spPr>
        <p:txBody>
          <a:bodyPr wrap="square" lIns="127000" tIns="0" rIns="127000" bIns="0" rtlCol="0" anchor="ctr">
            <a:normAutofit/>
          </a:bodyPr>
          <a:lstStyle/>
          <a:p>
            <a:pPr indent="0" marL="0">
              <a:buNone/>
            </a:pPr>
            <a:r>
              <a:rPr lang="en-US" sz="1150" dirty="0">
                <a:solidFill>
                  <a:srgbClr val="1B2559"/>
                </a:solidFill>
                <a:latin typeface="Segoe UI" pitchFamily="34" charset="0"/>
                <a:ea typeface="Segoe UI" pitchFamily="34" charset="-122"/>
                <a:cs typeface="Segoe UI" pitchFamily="34" charset="-120"/>
              </a:rPr>
              <a:t>I still </a:t>
            </a:r>
            <a:pPr indent="0" marL="0">
              <a:buNone/>
            </a:pPr>
            <a:r>
              <a:rPr lang="en-US" sz="1150" b="1" dirty="0">
                <a:solidFill>
                  <a:srgbClr val="1B2559"/>
                </a:solidFill>
                <a:highlight>
                  <a:srgbClr val="FFE066"/>
                </a:highlight>
                <a:latin typeface="Segoe UI" pitchFamily="34" charset="0"/>
                <a:ea typeface="Segoe UI" pitchFamily="34" charset="-122"/>
                <a:cs typeface="Segoe UI" pitchFamily="34" charset="-120"/>
              </a:rPr>
              <a:t>can't play</a:t>
            </a:r>
            <a:pPr indent="0" marL="0">
              <a:buNone/>
            </a:pPr>
            <a:r>
              <a:rPr lang="en-US" sz="1150" dirty="0">
                <a:solidFill>
                  <a:srgbClr val="1B2559"/>
                </a:solidFill>
                <a:latin typeface="Segoe UI" pitchFamily="34" charset="0"/>
                <a:ea typeface="Segoe UI" pitchFamily="34" charset="-122"/>
                <a:cs typeface="Segoe UI" pitchFamily="34" charset="-120"/>
              </a:rPr>
              <a:t> high notes. I </a:t>
            </a:r>
            <a:pPr indent="0" marL="0">
              <a:buNone/>
            </a:pPr>
            <a:r>
              <a:rPr lang="en-US" sz="1150" b="1" dirty="0">
                <a:solidFill>
                  <a:srgbClr val="1B2559"/>
                </a:solidFill>
                <a:highlight>
                  <a:srgbClr val="FFE066"/>
                </a:highlight>
                <a:latin typeface="Segoe UI" pitchFamily="34" charset="0"/>
                <a:ea typeface="Segoe UI" pitchFamily="34" charset="-122"/>
                <a:cs typeface="Segoe UI" pitchFamily="34" charset="-120"/>
              </a:rPr>
              <a:t>can play</a:t>
            </a:r>
            <a:pPr indent="0" marL="0">
              <a:buNone/>
            </a:pPr>
            <a:r>
              <a:rPr lang="en-US" sz="1150" dirty="0">
                <a:solidFill>
                  <a:srgbClr val="1B2559"/>
                </a:solidFill>
                <a:latin typeface="Segoe UI" pitchFamily="34" charset="0"/>
                <a:ea typeface="Segoe UI" pitchFamily="34" charset="-122"/>
                <a:cs typeface="Segoe UI" pitchFamily="34" charset="-120"/>
              </a:rPr>
              <a:t> some very simple tunes.</a:t>
            </a:r>
            <a:endParaRPr lang="en-US" sz="1150" dirty="0"/>
          </a:p>
        </p:txBody>
      </p:sp>
      <p:sp>
        <p:nvSpPr>
          <p:cNvPr id="36" name="who_793"/>
          <p:cNvSpPr/>
          <p:nvPr/>
        </p:nvSpPr>
        <p:spPr>
          <a:xfrm>
            <a:off x="3108960" y="3749040"/>
            <a:ext cx="914400" cy="365760"/>
          </a:xfrm>
          <a:prstGeom prst="roundRect">
            <a:avLst>
              <a:gd name="adj" fmla="val 30000"/>
            </a:avLst>
          </a:prstGeom>
          <a:solidFill>
            <a:srgbClr val="E3F1FD"/>
          </a:solidFill>
          <a:ln/>
        </p:spPr>
        <p:txBody>
          <a:bodyPr wrap="square" lIns="0" tIns="0" rIns="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20 hours</a:t>
            </a:r>
            <a:endParaRPr lang="en-US" sz="950" dirty="0"/>
          </a:p>
        </p:txBody>
      </p:sp>
      <p:sp>
        <p:nvSpPr>
          <p:cNvPr id="37" name="sl_794"/>
          <p:cNvSpPr/>
          <p:nvPr/>
        </p:nvSpPr>
        <p:spPr>
          <a:xfrm>
            <a:off x="4114800" y="3730752"/>
            <a:ext cx="4754880" cy="402336"/>
          </a:xfrm>
          <a:prstGeom prst="roundRect">
            <a:avLst>
              <a:gd name="adj" fmla="val 27273"/>
            </a:avLst>
          </a:prstGeom>
          <a:solidFill>
            <a:srgbClr val="FFFFFF"/>
          </a:solidFill>
          <a:ln w="15875">
            <a:solidFill>
              <a:srgbClr val="A9D3F5"/>
            </a:solidFill>
          </a:ln>
        </p:spPr>
        <p:txBody>
          <a:bodyPr wrap="square" lIns="127000" tIns="0" rIns="127000" bIns="0" rtlCol="0" anchor="ctr">
            <a:normAutofit/>
          </a:bodyPr>
          <a:lstStyle/>
          <a:p>
            <a:pPr indent="0" marL="0">
              <a:buNone/>
            </a:pPr>
            <a:r>
              <a:rPr lang="en-US" sz="1150" dirty="0">
                <a:solidFill>
                  <a:srgbClr val="1B2559"/>
                </a:solidFill>
                <a:latin typeface="Segoe UI" pitchFamily="34" charset="0"/>
                <a:ea typeface="Segoe UI" pitchFamily="34" charset="-122"/>
                <a:cs typeface="Segoe UI" pitchFamily="34" charset="-120"/>
              </a:rPr>
              <a:t>I was planning to finish by busking in the Underground, but I </a:t>
            </a:r>
            <a:pPr indent="0" marL="0">
              <a:buNone/>
            </a:pPr>
            <a:r>
              <a:rPr lang="en-US" sz="1150" dirty="0">
                <a:solidFill>
                  <a:srgbClr val="1B2559"/>
                </a:solidFill>
                <a:latin typeface="Segoe UI" pitchFamily="34" charset="0"/>
                <a:ea typeface="Segoe UI" pitchFamily="34" charset="-122"/>
                <a:cs typeface="Segoe UI" pitchFamily="34" charset="-120"/>
              </a:rPr>
              <a:t>can't do</a:t>
            </a:r>
            <a:pPr indent="0" marL="0">
              <a:buNone/>
            </a:pPr>
            <a:r>
              <a:rPr lang="en-US" sz="1150" dirty="0">
                <a:solidFill>
                  <a:srgbClr val="1B2559"/>
                </a:solidFill>
                <a:latin typeface="Segoe UI" pitchFamily="34" charset="0"/>
                <a:ea typeface="Segoe UI" pitchFamily="34" charset="-122"/>
                <a:cs typeface="Segoe UI" pitchFamily="34" charset="-120"/>
              </a:rPr>
              <a:t> it.</a:t>
            </a:r>
            <a:endParaRPr lang="en-US" sz="1150" dirty="0"/>
          </a:p>
        </p:txBody>
      </p:sp>
      <p:sp>
        <p:nvSpPr>
          <p:cNvPr id="38" name="R6_slA795"/>
          <p:cNvSpPr/>
          <p:nvPr/>
        </p:nvSpPr>
        <p:spPr>
          <a:xfrm>
            <a:off x="4114800" y="3730752"/>
            <a:ext cx="4754880" cy="402336"/>
          </a:xfrm>
          <a:prstGeom prst="roundRect">
            <a:avLst>
              <a:gd name="adj" fmla="val 27273"/>
            </a:avLst>
          </a:prstGeom>
          <a:solidFill>
            <a:srgbClr val="FFFFFF"/>
          </a:solidFill>
          <a:ln w="15875">
            <a:solidFill>
              <a:srgbClr val="A9D3F5"/>
            </a:solidFill>
          </a:ln>
        </p:spPr>
        <p:txBody>
          <a:bodyPr wrap="square" lIns="127000" tIns="0" rIns="127000" bIns="0" rtlCol="0" anchor="ctr">
            <a:normAutofit/>
          </a:bodyPr>
          <a:lstStyle/>
          <a:p>
            <a:pPr indent="0" marL="0">
              <a:buNone/>
            </a:pPr>
            <a:r>
              <a:rPr lang="en-US" sz="1150" dirty="0">
                <a:solidFill>
                  <a:srgbClr val="1B2559"/>
                </a:solidFill>
                <a:latin typeface="Segoe UI" pitchFamily="34" charset="0"/>
                <a:ea typeface="Segoe UI" pitchFamily="34" charset="-122"/>
                <a:cs typeface="Segoe UI" pitchFamily="34" charset="-120"/>
              </a:rPr>
              <a:t>I was planning to finish by busking in the Underground, but I </a:t>
            </a:r>
            <a:pPr indent="0" marL="0">
              <a:buNone/>
            </a:pPr>
            <a:r>
              <a:rPr lang="en-US" sz="1150" b="1" dirty="0">
                <a:solidFill>
                  <a:srgbClr val="1B2559"/>
                </a:solidFill>
                <a:highlight>
                  <a:srgbClr val="FFE066"/>
                </a:highlight>
                <a:latin typeface="Segoe UI" pitchFamily="34" charset="0"/>
                <a:ea typeface="Segoe UI" pitchFamily="34" charset="-122"/>
                <a:cs typeface="Segoe UI" pitchFamily="34" charset="-120"/>
              </a:rPr>
              <a:t>can't do</a:t>
            </a:r>
            <a:pPr indent="0" marL="0">
              <a:buNone/>
            </a:pPr>
            <a:r>
              <a:rPr lang="en-US" sz="1150" dirty="0">
                <a:solidFill>
                  <a:srgbClr val="1B2559"/>
                </a:solidFill>
                <a:latin typeface="Segoe UI" pitchFamily="34" charset="0"/>
                <a:ea typeface="Segoe UI" pitchFamily="34" charset="-122"/>
                <a:cs typeface="Segoe UI" pitchFamily="34" charset="-120"/>
              </a:rPr>
              <a:t> it.</a:t>
            </a:r>
            <a:endParaRPr lang="en-US" sz="11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400"/>
                                        <p:tgtEl>
                                          <p:spTgt spid="2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6"/>
                                        </p:tgtEl>
                                        <p:attrNameLst>
                                          <p:attrName>style.visibility</p:attrName>
                                        </p:attrNameLst>
                                      </p:cBhvr>
                                      <p:to>
                                        <p:strVal val="visible"/>
                                      </p:to>
                                    </p:set>
                                    <p:animEffect transition="in" filter="fade">
                                      <p:cBhvr>
                                        <p:cTn id="12" dur="400"/>
                                        <p:tgtEl>
                                          <p:spTgt spid="2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9"/>
                                        </p:tgtEl>
                                        <p:attrNameLst>
                                          <p:attrName>style.visibility</p:attrName>
                                        </p:attrNameLst>
                                      </p:cBhvr>
                                      <p:to>
                                        <p:strVal val="visible"/>
                                      </p:to>
                                    </p:set>
                                    <p:animEffect transition="in" filter="fade">
                                      <p:cBhvr>
                                        <p:cTn id="17" dur="400"/>
                                        <p:tgtEl>
                                          <p:spTgt spid="29"/>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2"/>
                                        </p:tgtEl>
                                        <p:attrNameLst>
                                          <p:attrName>style.visibility</p:attrName>
                                        </p:attrNameLst>
                                      </p:cBhvr>
                                      <p:to>
                                        <p:strVal val="visible"/>
                                      </p:to>
                                    </p:set>
                                    <p:animEffect transition="in" filter="fade">
                                      <p:cBhvr>
                                        <p:cTn id="22" dur="400"/>
                                        <p:tgtEl>
                                          <p:spTgt spid="32"/>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5"/>
                                        </p:tgtEl>
                                        <p:attrNameLst>
                                          <p:attrName>style.visibility</p:attrName>
                                        </p:attrNameLst>
                                      </p:cBhvr>
                                      <p:to>
                                        <p:strVal val="visible"/>
                                      </p:to>
                                    </p:set>
                                    <p:animEffect transition="in" filter="fade">
                                      <p:cBhvr>
                                        <p:cTn id="27" dur="400"/>
                                        <p:tgtEl>
                                          <p:spTgt spid="35"/>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8"/>
                                        </p:tgtEl>
                                        <p:attrNameLst>
                                          <p:attrName>style.visibility</p:attrName>
                                        </p:attrNameLst>
                                      </p:cBhvr>
                                      <p:to>
                                        <p:strVal val="visible"/>
                                      </p:to>
                                    </p:set>
                                    <p:animEffect transition="in" filter="fade">
                                      <p:cBhvr>
                                        <p:cTn id="32" dur="400"/>
                                        <p:tgtEl>
                                          <p:spTgt spid="3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name="Slide 26">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796"/>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26</a:t>
            </a:r>
            <a:endParaRPr lang="en-US" sz="2200" dirty="0"/>
          </a:p>
        </p:txBody>
      </p:sp>
      <p:pic>
        <p:nvPicPr>
          <p:cNvPr id="4" name="brY_797" descr="/home/claude/lls-course/v2/assets/brush-yellow.png">    </p:cNvPr>
          <p:cNvPicPr>
            <a:picLocks noChangeAspect="1"/>
          </p:cNvPicPr>
          <p:nvPr/>
        </p:nvPicPr>
        <p:blipFill>
          <a:blip r:embed="rId2"/>
          <a:stretch>
            <a:fillRect/>
          </a:stretch>
        </p:blipFill>
        <p:spPr>
          <a:xfrm>
            <a:off x="1097280" y="146304"/>
            <a:ext cx="1989734" cy="621792"/>
          </a:xfrm>
          <a:prstGeom prst="rect">
            <a:avLst/>
          </a:prstGeom>
        </p:spPr>
      </p:pic>
      <p:sp>
        <p:nvSpPr>
          <p:cNvPr id="5" name="title_798"/>
          <p:cNvSpPr/>
          <p:nvPr/>
        </p:nvSpPr>
        <p:spPr>
          <a:xfrm>
            <a:off x="1261872" y="164592"/>
            <a:ext cx="1715414"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Mime it!</a:t>
            </a:r>
            <a:endParaRPr lang="en-US" sz="2500" dirty="0"/>
          </a:p>
        </p:txBody>
      </p:sp>
      <p:pic>
        <p:nvPicPr>
          <p:cNvPr id="6" name="brP_799" descr="/home/claude/lls-course/v2/assets/brush-pink.png">    </p:cNvPr>
          <p:cNvPicPr>
            <a:picLocks noChangeAspect="1"/>
          </p:cNvPicPr>
          <p:nvPr/>
        </p:nvPicPr>
        <p:blipFill>
          <a:blip r:embed="rId3"/>
          <a:stretch>
            <a:fillRect/>
          </a:stretch>
        </p:blipFill>
        <p:spPr>
          <a:xfrm>
            <a:off x="1207008" y="731520"/>
            <a:ext cx="2903220" cy="402336"/>
          </a:xfrm>
          <a:prstGeom prst="rect">
            <a:avLst/>
          </a:prstGeom>
        </p:spPr>
      </p:pic>
      <p:sp>
        <p:nvSpPr>
          <p:cNvPr id="7" name="ins_800"/>
          <p:cNvSpPr/>
          <p:nvPr/>
        </p:nvSpPr>
        <p:spPr>
          <a:xfrm>
            <a:off x="1353312" y="731520"/>
            <a:ext cx="264718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Mime the skill. No words!</a:t>
            </a:r>
            <a:endParaRPr lang="en-US" sz="1250" dirty="0"/>
          </a:p>
        </p:txBody>
      </p:sp>
      <p:sp>
        <p:nvSpPr>
          <p:cNvPr id="8" name="insIT_801"/>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Mima l'abilità. Niente parole!</a:t>
            </a:r>
            <a:endParaRPr lang="en-US" sz="950" dirty="0"/>
          </a:p>
        </p:txBody>
      </p:sp>
      <p:sp>
        <p:nvSpPr>
          <p:cNvPr id="9" name="cmd_802"/>
          <p:cNvSpPr/>
          <p:nvPr/>
        </p:nvSpPr>
        <p:spPr>
          <a:xfrm>
            <a:off x="6510528" y="182880"/>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PLAY</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GIOCA</a:t>
            </a:r>
            <a:endParaRPr lang="en-US" sz="1100" dirty="0"/>
          </a:p>
        </p:txBody>
      </p:sp>
      <p:sp>
        <p:nvSpPr>
          <p:cNvPr id="10" name="meta_803"/>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sp>
        <p:nvSpPr>
          <p:cNvPr id="11" name="tag_804"/>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Vocabulary</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Communicative game</a:t>
            </a:r>
            <a:endParaRPr lang="en-US" sz="850" dirty="0"/>
          </a:p>
        </p:txBody>
      </p:sp>
      <p:pic>
        <p:nvPicPr>
          <p:cNvPr id="12" name="logo_805"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806"/>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4B-1 · Vocabulary game · extra</a:t>
            </a:r>
            <a:endParaRPr lang="en-US" sz="800" dirty="0"/>
          </a:p>
        </p:txBody>
      </p:sp>
      <p:sp>
        <p:nvSpPr>
          <p:cNvPr id="14" name="st_807"/>
          <p:cNvSpPr/>
          <p:nvPr/>
        </p:nvSpPr>
        <p:spPr>
          <a:xfrm rot="-180000">
            <a:off x="7315200" y="4773168"/>
            <a:ext cx="1600200" cy="292608"/>
          </a:xfrm>
          <a:prstGeom prst="rect">
            <a:avLst/>
          </a:prstGeom>
          <a:solidFill>
            <a:srgbClr val="FFE07A"/>
          </a:solidFill>
          <a:ln>
            <a:solidFill>
              <a:srgbClr val="FFE07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900" dirty="0">
                <a:solidFill>
                  <a:srgbClr val="1B2559"/>
                </a:solidFill>
                <a:latin typeface="Arial Rounded MT Bold" pitchFamily="34" charset="0"/>
                <a:ea typeface="Arial Rounded MT Bold" pitchFamily="34" charset="-122"/>
                <a:cs typeface="Arial Rounded MT Bold" pitchFamily="34" charset="-120"/>
              </a:rPr>
              <a:t>EXTRA · if there's time</a:t>
            </a:r>
            <a:endParaRPr lang="en-US" sz="900" dirty="0"/>
          </a:p>
        </p:txBody>
      </p:sp>
      <p:sp>
        <p:nvSpPr>
          <p:cNvPr id="15" name="cd_808"/>
          <p:cNvSpPr/>
          <p:nvPr/>
        </p:nvSpPr>
        <p:spPr>
          <a:xfrm>
            <a:off x="320040" y="1417320"/>
            <a:ext cx="2697480" cy="2194560"/>
          </a:xfrm>
          <a:prstGeom prst="roundRect">
            <a:avLst>
              <a:gd name="adj" fmla="val 5833"/>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6" name="ii_809"/>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7" name="ih_810"/>
          <p:cNvSpPr/>
          <p:nvPr/>
        </p:nvSpPr>
        <p:spPr>
          <a:xfrm>
            <a:off x="886968" y="1508760"/>
            <a:ext cx="205740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How to play</a:t>
            </a:r>
            <a:endParaRPr lang="en-US" sz="1400" dirty="0"/>
          </a:p>
        </p:txBody>
      </p:sp>
      <p:sp>
        <p:nvSpPr>
          <p:cNvPr id="18" name="il_811"/>
          <p:cNvSpPr/>
          <p:nvPr/>
        </p:nvSpPr>
        <p:spPr>
          <a:xfrm>
            <a:off x="886968" y="1892808"/>
            <a:ext cx="2039112" cy="1645920"/>
          </a:xfrm>
          <a:prstGeom prst="rect">
            <a:avLst/>
          </a:prstGeom>
          <a:noFill/>
          <a:ln/>
        </p:spPr>
        <p:txBody>
          <a:bodyPr wrap="square" lIns="0" tIns="0" rIns="0" bIns="0" rtlCol="0" anchor="t">
            <a:normAutofit/>
          </a:bodyPr>
          <a:lstStyle/>
          <a:p>
            <a:pPr marL="190500" indent="-190500">
              <a:spcAft>
                <a:spcPts val="200"/>
              </a:spcAft>
              <a:buSzPct val="100000"/>
              <a:buChar char="1"/>
            </a:pPr>
            <a:r>
              <a:rPr lang="en-US" sz="1000" dirty="0">
                <a:solidFill>
                  <a:srgbClr val="1B2559"/>
                </a:solidFill>
                <a:latin typeface="Segoe UI" pitchFamily="34" charset="0"/>
                <a:ea typeface="Segoe UI" pitchFamily="34" charset="-122"/>
                <a:cs typeface="Segoe UI" pitchFamily="34" charset="-120"/>
              </a:rPr>
              <a:t>A looks at the screen. B turns around.</a:t>
            </a:r>
            <a:endParaRPr lang="en-US" sz="1000" dirty="0"/>
          </a:p>
          <a:p>
            <a:pPr marL="190500" indent="-190500">
              <a:spcAft>
                <a:spcPts val="200"/>
              </a:spcAft>
              <a:buSzPct val="100000"/>
              <a:buChar char="​"/>
            </a:pPr>
            <a:r>
              <a:rPr lang="en-US" sz="900" i="1" dirty="0">
                <a:solidFill>
                  <a:srgbClr val="5B6785"/>
                </a:solidFill>
                <a:latin typeface="Segoe UI" pitchFamily="34" charset="0"/>
                <a:ea typeface="Segoe UI" pitchFamily="34" charset="-122"/>
                <a:cs typeface="Segoe UI" pitchFamily="34" charset="-120"/>
              </a:rPr>
              <a:t>A guarda lo schermo. B si gira.</a:t>
            </a:r>
            <a:endParaRPr lang="en-US" sz="1000" dirty="0"/>
          </a:p>
          <a:p>
            <a:pPr marL="190500" indent="-190500">
              <a:spcBef>
                <a:spcPts val="500"/>
              </a:spcBef>
              <a:spcAft>
                <a:spcPts val="200"/>
              </a:spcAft>
              <a:buSzPct val="100000"/>
              <a:buChar char="2"/>
            </a:pPr>
            <a:r>
              <a:rPr lang="en-US" sz="1000" dirty="0">
                <a:solidFill>
                  <a:srgbClr val="1B2559"/>
                </a:solidFill>
                <a:latin typeface="Segoe UI" pitchFamily="34" charset="0"/>
                <a:ea typeface="Segoe UI" pitchFamily="34" charset="-122"/>
                <a:cs typeface="Segoe UI" pitchFamily="34" charset="-120"/>
              </a:rPr>
              <a:t>A mimes the skill. No words!</a:t>
            </a:r>
            <a:endParaRPr lang="en-US" sz="1000" dirty="0"/>
          </a:p>
          <a:p>
            <a:pPr marL="190500" indent="-190500">
              <a:spcAft>
                <a:spcPts val="200"/>
              </a:spcAft>
              <a:buSzPct val="100000"/>
              <a:buChar char="​"/>
            </a:pPr>
            <a:r>
              <a:rPr lang="en-US" sz="900" i="1" dirty="0">
                <a:solidFill>
                  <a:srgbClr val="5B6785"/>
                </a:solidFill>
                <a:latin typeface="Segoe UI" pitchFamily="34" charset="0"/>
                <a:ea typeface="Segoe UI" pitchFamily="34" charset="-122"/>
                <a:cs typeface="Segoe UI" pitchFamily="34" charset="-120"/>
              </a:rPr>
              <a:t>A mima l'abilità. Niente parole!</a:t>
            </a:r>
            <a:endParaRPr lang="en-US" sz="1000" dirty="0"/>
          </a:p>
          <a:p>
            <a:pPr marL="190500" indent="-190500">
              <a:spcBef>
                <a:spcPts val="500"/>
              </a:spcBef>
              <a:spcAft>
                <a:spcPts val="200"/>
              </a:spcAft>
              <a:buSzPct val="100000"/>
              <a:buChar char="3"/>
            </a:pPr>
            <a:r>
              <a:rPr lang="en-US" sz="1000" dirty="0">
                <a:solidFill>
                  <a:srgbClr val="1B2559"/>
                </a:solidFill>
                <a:latin typeface="Segoe UI" pitchFamily="34" charset="0"/>
                <a:ea typeface="Segoe UI" pitchFamily="34" charset="-122"/>
                <a:cs typeface="Segoe UI" pitchFamily="34" charset="-120"/>
              </a:rPr>
              <a:t>B guesses: You can ride a horse! Then swap.</a:t>
            </a:r>
            <a:endParaRPr lang="en-US" sz="1000" dirty="0"/>
          </a:p>
          <a:p>
            <a:pPr marL="190500" indent="-190500">
              <a:spcAft>
                <a:spcPts val="200"/>
              </a:spcAft>
              <a:buSzPct val="100000"/>
              <a:buChar char="​"/>
            </a:pPr>
            <a:r>
              <a:rPr lang="en-US" sz="900" i="1" dirty="0">
                <a:solidFill>
                  <a:srgbClr val="5B6785"/>
                </a:solidFill>
                <a:latin typeface="Segoe UI" pitchFamily="34" charset="0"/>
                <a:ea typeface="Segoe UI" pitchFamily="34" charset="-122"/>
                <a:cs typeface="Segoe UI" pitchFamily="34" charset="-120"/>
              </a:rPr>
              <a:t>B indovina: You can ride a horse! Poi scambiatevi.</a:t>
            </a:r>
            <a:endParaRPr lang="en-US" sz="1000" dirty="0"/>
          </a:p>
        </p:txBody>
      </p:sp>
      <p:sp>
        <p:nvSpPr>
          <p:cNvPr id="19" name="pf_812"/>
          <p:cNvSpPr/>
          <p:nvPr/>
        </p:nvSpPr>
        <p:spPr>
          <a:xfrm rot="-120000">
            <a:off x="411480" y="3611880"/>
            <a:ext cx="2468880" cy="1143000"/>
          </a:xfrm>
          <a:prstGeom prst="roundRect">
            <a:avLst>
              <a:gd name="adj" fmla="val 136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20" name="phx_813"/>
          <p:cNvSpPr/>
          <p:nvPr/>
        </p:nvSpPr>
        <p:spPr>
          <a:xfrm>
            <a:off x="457200" y="3657600"/>
            <a:ext cx="2377440" cy="105156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pitchFamily="34" charset="0"/>
                <a:ea typeface="Segoe UI" pitchFamily="34" charset="-122"/>
                <a:cs typeface="Segoe UI" pitchFamily="34" charset="-120"/>
              </a:rPr>
              <a:t>📷 4b1-mime.jpg</a:t>
            </a:r>
            <a:endParaRPr lang="en-US" sz="900" dirty="0"/>
          </a:p>
        </p:txBody>
      </p:sp>
      <p:sp>
        <p:nvSpPr>
          <p:cNvPr id="21" name="rl_814"/>
          <p:cNvSpPr/>
          <p:nvPr/>
        </p:nvSpPr>
        <p:spPr>
          <a:xfrm>
            <a:off x="3246120" y="1417320"/>
            <a:ext cx="2651760" cy="310896"/>
          </a:xfrm>
          <a:prstGeom prst="roundRect">
            <a:avLst>
              <a:gd name="adj" fmla="val 50000"/>
            </a:avLst>
          </a:prstGeom>
          <a:solidFill>
            <a:srgbClr val="E8508F"/>
          </a:solidFill>
          <a:ln/>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A mimes</a:t>
            </a:r>
            <a:endParaRPr lang="en-US" sz="1100" dirty="0"/>
          </a:p>
        </p:txBody>
      </p:sp>
      <p:sp>
        <p:nvSpPr>
          <p:cNvPr id="22" name="R1_w815"/>
          <p:cNvSpPr/>
          <p:nvPr/>
        </p:nvSpPr>
        <p:spPr>
          <a:xfrm>
            <a:off x="3246120" y="1856232"/>
            <a:ext cx="2651760" cy="621792"/>
          </a:xfrm>
          <a:prstGeom prst="roundRect">
            <a:avLst>
              <a:gd name="adj" fmla="val 20588"/>
            </a:avLst>
          </a:prstGeom>
          <a:solidFill>
            <a:srgbClr val="FFFFFF"/>
          </a:solidFill>
          <a:ln w="31750">
            <a:solidFill>
              <a:srgbClr val="F7A6C4"/>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ride a horse</a:t>
            </a:r>
            <a:endParaRPr lang="en-US" sz="1700" dirty="0"/>
          </a:p>
        </p:txBody>
      </p:sp>
      <p:sp>
        <p:nvSpPr>
          <p:cNvPr id="23" name="R3_w816"/>
          <p:cNvSpPr/>
          <p:nvPr/>
        </p:nvSpPr>
        <p:spPr>
          <a:xfrm>
            <a:off x="3246120" y="2587752"/>
            <a:ext cx="2651760" cy="621792"/>
          </a:xfrm>
          <a:prstGeom prst="roundRect">
            <a:avLst>
              <a:gd name="adj" fmla="val 20588"/>
            </a:avLst>
          </a:prstGeom>
          <a:solidFill>
            <a:srgbClr val="FFFFFF"/>
          </a:solidFill>
          <a:ln w="31750">
            <a:solidFill>
              <a:srgbClr val="F7A6C4"/>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play the trumpet</a:t>
            </a:r>
            <a:endParaRPr lang="en-US" sz="1700" dirty="0"/>
          </a:p>
        </p:txBody>
      </p:sp>
      <p:sp>
        <p:nvSpPr>
          <p:cNvPr id="24" name="R5_w817"/>
          <p:cNvSpPr/>
          <p:nvPr/>
        </p:nvSpPr>
        <p:spPr>
          <a:xfrm>
            <a:off x="3246120" y="3319272"/>
            <a:ext cx="2651760" cy="621792"/>
          </a:xfrm>
          <a:prstGeom prst="roundRect">
            <a:avLst>
              <a:gd name="adj" fmla="val 20588"/>
            </a:avLst>
          </a:prstGeom>
          <a:solidFill>
            <a:srgbClr val="FFFFFF"/>
          </a:solidFill>
          <a:ln w="31750">
            <a:solidFill>
              <a:srgbClr val="F7A6C4"/>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ski</a:t>
            </a:r>
            <a:endParaRPr lang="en-US" sz="1700" dirty="0"/>
          </a:p>
        </p:txBody>
      </p:sp>
      <p:sp>
        <p:nvSpPr>
          <p:cNvPr id="25" name="R7_w818"/>
          <p:cNvSpPr/>
          <p:nvPr/>
        </p:nvSpPr>
        <p:spPr>
          <a:xfrm>
            <a:off x="3246120" y="4050792"/>
            <a:ext cx="2651760" cy="621792"/>
          </a:xfrm>
          <a:prstGeom prst="roundRect">
            <a:avLst>
              <a:gd name="adj" fmla="val 20588"/>
            </a:avLst>
          </a:prstGeom>
          <a:solidFill>
            <a:srgbClr val="FFFFFF"/>
          </a:solidFill>
          <a:ln w="31750">
            <a:solidFill>
              <a:srgbClr val="F7A6C4"/>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do yoga</a:t>
            </a:r>
            <a:endParaRPr lang="en-US" sz="1700" dirty="0"/>
          </a:p>
        </p:txBody>
      </p:sp>
      <p:sp>
        <p:nvSpPr>
          <p:cNvPr id="26" name="rl_819"/>
          <p:cNvSpPr/>
          <p:nvPr/>
        </p:nvSpPr>
        <p:spPr>
          <a:xfrm>
            <a:off x="6080760" y="1417320"/>
            <a:ext cx="2651760" cy="310896"/>
          </a:xfrm>
          <a:prstGeom prst="roundRect">
            <a:avLst>
              <a:gd name="adj" fmla="val 50000"/>
            </a:avLst>
          </a:prstGeom>
          <a:solidFill>
            <a:srgbClr val="2F8DE4"/>
          </a:solidFill>
          <a:ln/>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B mimes</a:t>
            </a:r>
            <a:endParaRPr lang="en-US" sz="1100" dirty="0"/>
          </a:p>
        </p:txBody>
      </p:sp>
      <p:sp>
        <p:nvSpPr>
          <p:cNvPr id="27" name="R2_w820"/>
          <p:cNvSpPr/>
          <p:nvPr/>
        </p:nvSpPr>
        <p:spPr>
          <a:xfrm>
            <a:off x="6080760" y="1856232"/>
            <a:ext cx="2651760" cy="621792"/>
          </a:xfrm>
          <a:prstGeom prst="roundRect">
            <a:avLst>
              <a:gd name="adj" fmla="val 20588"/>
            </a:avLst>
          </a:prstGeom>
          <a:solidFill>
            <a:srgbClr val="FFFFFF"/>
          </a:solidFill>
          <a:ln w="31750">
            <a:solidFill>
              <a:srgbClr val="A9D3F5"/>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change a car wheel</a:t>
            </a:r>
            <a:endParaRPr lang="en-US" sz="1700" dirty="0"/>
          </a:p>
        </p:txBody>
      </p:sp>
      <p:sp>
        <p:nvSpPr>
          <p:cNvPr id="28" name="R4_w821"/>
          <p:cNvSpPr/>
          <p:nvPr/>
        </p:nvSpPr>
        <p:spPr>
          <a:xfrm>
            <a:off x="6080760" y="2587752"/>
            <a:ext cx="2651760" cy="621792"/>
          </a:xfrm>
          <a:prstGeom prst="roundRect">
            <a:avLst>
              <a:gd name="adj" fmla="val 20588"/>
            </a:avLst>
          </a:prstGeom>
          <a:solidFill>
            <a:srgbClr val="FFFFFF"/>
          </a:solidFill>
          <a:ln w="31750">
            <a:solidFill>
              <a:srgbClr val="A9D3F5"/>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dance salsa</a:t>
            </a:r>
            <a:endParaRPr lang="en-US" sz="1700" dirty="0"/>
          </a:p>
        </p:txBody>
      </p:sp>
      <p:sp>
        <p:nvSpPr>
          <p:cNvPr id="29" name="R6_w822"/>
          <p:cNvSpPr/>
          <p:nvPr/>
        </p:nvSpPr>
        <p:spPr>
          <a:xfrm>
            <a:off x="6080760" y="3319272"/>
            <a:ext cx="2651760" cy="621792"/>
          </a:xfrm>
          <a:prstGeom prst="roundRect">
            <a:avLst>
              <a:gd name="adj" fmla="val 20588"/>
            </a:avLst>
          </a:prstGeom>
          <a:solidFill>
            <a:srgbClr val="FFFFFF"/>
          </a:solidFill>
          <a:ln w="31750">
            <a:solidFill>
              <a:srgbClr val="A9D3F5"/>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sew</a:t>
            </a:r>
            <a:endParaRPr lang="en-US" sz="1700" dirty="0"/>
          </a:p>
        </p:txBody>
      </p:sp>
      <p:sp>
        <p:nvSpPr>
          <p:cNvPr id="30" name="R8_w823"/>
          <p:cNvSpPr/>
          <p:nvPr/>
        </p:nvSpPr>
        <p:spPr>
          <a:xfrm>
            <a:off x="6080760" y="4050792"/>
            <a:ext cx="2651760" cy="621792"/>
          </a:xfrm>
          <a:prstGeom prst="roundRect">
            <a:avLst>
              <a:gd name="adj" fmla="val 20588"/>
            </a:avLst>
          </a:prstGeom>
          <a:solidFill>
            <a:srgbClr val="FFFFFF"/>
          </a:solidFill>
          <a:ln w="31750">
            <a:solidFill>
              <a:srgbClr val="A9D3F5"/>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play tennis</a:t>
            </a:r>
            <a:endParaRPr lang="en-US" sz="17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400"/>
                                        <p:tgtEl>
                                          <p:spTgt spid="2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7"/>
                                        </p:tgtEl>
                                        <p:attrNameLst>
                                          <p:attrName>style.visibility</p:attrName>
                                        </p:attrNameLst>
                                      </p:cBhvr>
                                      <p:to>
                                        <p:strVal val="visible"/>
                                      </p:to>
                                    </p:set>
                                    <p:animEffect transition="in" filter="fade">
                                      <p:cBhvr>
                                        <p:cTn id="12" dur="400"/>
                                        <p:tgtEl>
                                          <p:spTgt spid="27"/>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400"/>
                                        <p:tgtEl>
                                          <p:spTgt spid="23"/>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8"/>
                                        </p:tgtEl>
                                        <p:attrNameLst>
                                          <p:attrName>style.visibility</p:attrName>
                                        </p:attrNameLst>
                                      </p:cBhvr>
                                      <p:to>
                                        <p:strVal val="visible"/>
                                      </p:to>
                                    </p:set>
                                    <p:animEffect transition="in" filter="fade">
                                      <p:cBhvr>
                                        <p:cTn id="22" dur="400"/>
                                        <p:tgtEl>
                                          <p:spTgt spid="28"/>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4"/>
                                        </p:tgtEl>
                                        <p:attrNameLst>
                                          <p:attrName>style.visibility</p:attrName>
                                        </p:attrNameLst>
                                      </p:cBhvr>
                                      <p:to>
                                        <p:strVal val="visible"/>
                                      </p:to>
                                    </p:set>
                                    <p:animEffect transition="in" filter="fade">
                                      <p:cBhvr>
                                        <p:cTn id="27" dur="400"/>
                                        <p:tgtEl>
                                          <p:spTgt spid="24"/>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29"/>
                                        </p:tgtEl>
                                        <p:attrNameLst>
                                          <p:attrName>style.visibility</p:attrName>
                                        </p:attrNameLst>
                                      </p:cBhvr>
                                      <p:to>
                                        <p:strVal val="visible"/>
                                      </p:to>
                                    </p:set>
                                    <p:animEffect transition="in" filter="fade">
                                      <p:cBhvr>
                                        <p:cTn id="32" dur="400"/>
                                        <p:tgtEl>
                                          <p:spTgt spid="29"/>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25"/>
                                        </p:tgtEl>
                                        <p:attrNameLst>
                                          <p:attrName>style.visibility</p:attrName>
                                        </p:attrNameLst>
                                      </p:cBhvr>
                                      <p:to>
                                        <p:strVal val="visible"/>
                                      </p:to>
                                    </p:set>
                                    <p:animEffect transition="in" filter="fade">
                                      <p:cBhvr>
                                        <p:cTn id="37" dur="400"/>
                                        <p:tgtEl>
                                          <p:spTgt spid="25"/>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30"/>
                                        </p:tgtEl>
                                        <p:attrNameLst>
                                          <p:attrName>style.visibility</p:attrName>
                                        </p:attrNameLst>
                                      </p:cBhvr>
                                      <p:to>
                                        <p:strVal val="visible"/>
                                      </p:to>
                                    </p:set>
                                    <p:animEffect transition="in" filter="fade">
                                      <p:cBhvr>
                                        <p:cTn id="42" dur="400"/>
                                        <p:tgtEl>
                                          <p:spTgt spid="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26</Slides>
  <Notes>26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26</vt:i4>
      </vt:variant>
    </vt:vector>
  </HeadingPairs>
  <TitlesOfParts>
    <vt:vector size="2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4B-1 Yes, I can!</dc:title>
  <dc:subject>PptxGenJS Presentation</dc:subject>
  <dc:creator>PptxGenJS</dc:creator>
  <cp:lastModifiedBy>PptxGenJS</cp:lastModifiedBy>
  <cp:revision>1</cp:revision>
  <dcterms:created xsi:type="dcterms:W3CDTF">2026-10-12T10:15:32Z</dcterms:created>
  <dcterms:modified xsi:type="dcterms:W3CDTF">2026-10-12T10:15:32Z</dcterms:modified>
</cp:coreProperties>
</file>