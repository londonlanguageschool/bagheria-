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click once per word to show its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class story (TPRS) (4 min)
TPRS CLASS STORY (4 min) – right after the rule, so students know which form goes where; now they HEAR can / could / be able to many times, in a story, before the practice ('Which form?') and the games. It also sets up Matt Rudd's 20 hours later in the lesson. Click once per line. For each line: 1) say it, 2) ask the questions in grey round the class (yes/no → either/or → who/what) – insist on the full form in the answers ('He's never been able to…', ✗ 'He's never could'), 3) let the CLASS change details: 'Can Salvo dance? No? What CAN'T he do?' – accept their idea and use it in later lines. Students answer with one word or a short phrase – that's fine. Finish: 'What happens next?' – one or two ideas, then move on. Recycles: can / can't, could / couldn't, have never been able to, I'd love to be able to, is able to, will be able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audio" Target="../media/media-8-11.mp3"/><Relationship Id="rId12" Type="http://schemas.microsoft.com/office/2007/relationships/media" Target="../media/media-8-11.mp3"/><Relationship Id="rId13" Type="http://schemas.openxmlformats.org/officeDocument/2006/relationships/image" Target="../media/image-8-13.png"/><Relationship Id="rId14" Type="http://schemas.openxmlformats.org/officeDocument/2006/relationships/audio" Target="../media/media-8-14.mp3"/><Relationship Id="rId15" Type="http://schemas.microsoft.com/office/2007/relationships/media" Target="../media/media-8-14.mp3"/><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slideLayout" Target="../slideLayouts/slideLayout1.xml"/><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talk about what you can and could do</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use can, could and be able to</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hear and say the stressed words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about learning a skill in 20 hours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man learning the trumpet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Revision · last lesson   ·   📖 Recycles 4A part 2 · SB pp.38–39 · audio 4.10</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2_dinner_guest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4A: modern manners – good or bad?</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advice and rules: should, must, have to</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 say how you feel.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 think… · It's rude to… · It's bad manners 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necessary · prohibited · not necessary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rude</a:t>
            </a:r>
            <a:endParaRPr lang="en-US" sz="1050" dirty="0"/>
          </a:p>
        </p:txBody>
      </p:sp>
      <p:sp>
        <p:nvSpPr>
          <p:cNvPr id="28" name="w_42"/>
          <p:cNvSpPr/>
          <p:nvPr/>
        </p:nvSpPr>
        <p:spPr>
          <a:xfrm>
            <a:off x="395020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polite</a:t>
            </a:r>
            <a:endParaRPr lang="en-US" sz="1050" dirty="0"/>
          </a:p>
        </p:txBody>
      </p:sp>
      <p:sp>
        <p:nvSpPr>
          <p:cNvPr id="29" name="w_43"/>
          <p:cNvSpPr/>
          <p:nvPr/>
        </p:nvSpPr>
        <p:spPr>
          <a:xfrm>
            <a:off x="4809744"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manners</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manners</a:t>
            </a:r>
            <a:endParaRPr lang="en-US" sz="1050" dirty="0"/>
          </a:p>
        </p:txBody>
      </p:sp>
      <p:sp>
        <p:nvSpPr>
          <p:cNvPr id="31" name="w_45"/>
          <p:cNvSpPr/>
          <p:nvPr/>
        </p:nvSpPr>
        <p:spPr>
          <a:xfrm>
            <a:off x="738378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host</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permission</a:t>
            </a:r>
            <a:endParaRPr lang="en-US" sz="1050" dirty="0"/>
          </a:p>
        </p:txBody>
      </p:sp>
      <p:sp>
        <p:nvSpPr>
          <p:cNvPr id="33" name="w_47"/>
          <p:cNvSpPr/>
          <p:nvPr/>
        </p:nvSpPr>
        <p:spPr>
          <a:xfrm>
            <a:off x="441655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recline your seat</a:t>
            </a:r>
            <a:endParaRPr lang="en-US" sz="1050" dirty="0"/>
          </a:p>
        </p:txBody>
      </p:sp>
      <p:sp>
        <p:nvSpPr>
          <p:cNvPr id="34" name="w_48"/>
          <p:cNvSpPr/>
          <p:nvPr/>
        </p:nvSpPr>
        <p:spPr>
          <a:xfrm>
            <a:off x="613105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inconsiderate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 il consiglio!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5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Warmer · last lesson   ·   📖 Recycles 4A part 2: modals of obligation and advice, manners</a:t>
            </a:r>
            <a:endParaRPr lang="en-US" sz="80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the advice. One thing is wrong!</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il consiglio. Una cosa è sbagliata!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write the correct sentence.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scrivete la frase corretta.</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Correct sentence = 1 point.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Frase corretta = 1 punto.</a:t>
            </a:r>
            <a:endParaRPr lang="en-US" sz="950" dirty="0"/>
          </a:p>
        </p:txBody>
      </p:sp>
      <p:sp>
        <p:nvSpPr>
          <p:cNvPr id="19" name="st_6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6"/>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3" name="cd_9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050" dirty="0"/>
          </a:p>
        </p:txBody>
      </p:sp>
      <p:sp>
        <p:nvSpPr>
          <p:cNvPr id="16" name="R1_it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7" name="cd_9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20" name="R2_it1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1" name="cd_10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4" name="R3_it1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5" name="cd_10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8" name="R4_it1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800" dirty="0"/>
          </a:p>
        </p:txBody>
      </p:sp>
      <p:sp>
        <p:nvSpPr>
          <p:cNvPr id="29" name="cd_11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000" dirty="0"/>
          </a:p>
        </p:txBody>
      </p:sp>
      <p:sp>
        <p:nvSpPr>
          <p:cNvPr id="32" name="R5_it1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suonare uno strumento</a:t>
            </a:r>
            <a:endParaRPr lang="en-US" sz="850" dirty="0"/>
          </a:p>
        </p:txBody>
      </p:sp>
      <p:sp>
        <p:nvSpPr>
          <p:cNvPr id="33" name="cd_11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6" name="R6_it1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7" name="cd_11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40" name="R7_it1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1" name="cd_12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4" name="R8_it1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5" name="cd_12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8" name="R9_it1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9" name="cd_13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2" name="R10_it1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3" name="cd_13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150" dirty="0"/>
          </a:p>
        </p:txBody>
      </p:sp>
      <p:sp>
        <p:nvSpPr>
          <p:cNvPr id="56" name="R11_it1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7" name="cd_13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60" name="R12_it1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800" dirty="0"/>
          </a:p>
        </p:txBody>
      </p:sp>
      <p:sp>
        <p:nvSpPr>
          <p:cNvPr id="61" name="R13_wc14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1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1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100" dirty="0"/>
          </a:p>
        </p:txBody>
      </p:sp>
      <p:pic>
        <p:nvPicPr>
          <p:cNvPr id="6" name="brP_14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al compagno. Trovane 2 per ognuno.</a:t>
            </a:r>
            <a:endParaRPr lang="en-US" sz="950" dirty="0"/>
          </a:p>
        </p:txBody>
      </p:sp>
      <p:sp>
        <p:nvSpPr>
          <p:cNvPr id="9" name="cmd_1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5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4" name="pf_15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56"/>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4b1-car-wheel.jpg</a:t>
            </a:r>
            <a:endParaRPr lang="en-US" sz="900" dirty="0"/>
          </a:p>
        </p:txBody>
      </p:sp>
      <p:sp>
        <p:nvSpPr>
          <p:cNvPr id="16" name="cd_15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5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6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can… but I can't…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When I was ten, I could…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Me too! · Really?</a:t>
            </a:r>
            <a:endParaRPr lang="en-US" sz="1050" dirty="0"/>
          </a:p>
        </p:txBody>
      </p:sp>
      <p:sp>
        <p:nvSpPr>
          <p:cNvPr id="20" name="R1_qb16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6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can do yoga and I can swim.</a:t>
            </a:r>
            <a:endParaRPr lang="en-US" sz="1250" dirty="0"/>
          </a:p>
        </p:txBody>
      </p:sp>
      <p:sp>
        <p:nvSpPr>
          <p:cNvPr id="22" name="R2_qb16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6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CAN'T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can't sew and I can't change a car wheel.</a:t>
            </a:r>
            <a:endParaRPr lang="en-US" sz="1250" dirty="0"/>
          </a:p>
        </p:txBody>
      </p:sp>
      <p:sp>
        <p:nvSpPr>
          <p:cNvPr id="24" name="R3_qb16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6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When I was ten, I could swim and ride a bike.</a:t>
            </a:r>
            <a:endParaRPr lang="en-US" sz="1250" dirty="0"/>
          </a:p>
        </p:txBody>
      </p:sp>
      <p:sp>
        <p:nvSpPr>
          <p:cNvPr id="26" name="R4_qb16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6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couldn't dance salsa or type fast.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7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7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7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7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mancanti. Poi ascolta.</a:t>
            </a:r>
            <a:endParaRPr lang="en-US" sz="950" dirty="0"/>
          </a:p>
        </p:txBody>
      </p:sp>
      <p:sp>
        <p:nvSpPr>
          <p:cNvPr id="9" name="cmd_1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7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in context   ·   📖 SB p.40 · 1b · audio 4.12</a:t>
            </a:r>
            <a:endParaRPr lang="en-US" sz="800" dirty="0"/>
          </a:p>
        </p:txBody>
      </p:sp>
      <p:sp>
        <p:nvSpPr>
          <p:cNvPr id="15" name="ap_18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6" name="ah_18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8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8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8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4b1-speak-italian.jpg</a:t>
            </a:r>
            <a:endParaRPr lang="en-US" sz="900" dirty="0"/>
          </a:p>
        </p:txBody>
      </p:sp>
      <p:sp>
        <p:nvSpPr>
          <p:cNvPr id="22" name="cd_18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8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8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8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9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7" name="R1_chip19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8" name="gq_19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9" name="R2_chip19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30" name="gq_19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31" name="R3_chip19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32" name="gq_19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33" name="R4_chip19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34" name="gq_19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35" name="R5_chip19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6" name="gq_20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7" name="R6_chip20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0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20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0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2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could e be able to.</a:t>
            </a:r>
            <a:endParaRPr lang="en-US" sz="950" dirty="0"/>
          </a:p>
        </p:txBody>
      </p:sp>
      <p:sp>
        <p:nvSpPr>
          <p:cNvPr id="9" name="cmd_20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noticing   ·   📖 SB p.40 · 1c · audio scripts 4.12, 4.14</a:t>
            </a:r>
            <a:endParaRPr lang="en-US" sz="800" dirty="0"/>
          </a:p>
        </p:txBody>
      </p:sp>
      <p:sp>
        <p:nvSpPr>
          <p:cNvPr id="14" name="pf_213"/>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14"/>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
        <p:nvSpPr>
          <p:cNvPr id="16" name="cd_215"/>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16"/>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17"/>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9" name="il_218"/>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can / could + verb</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be able to – 4 different forms!</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Which word comes BEFORE it?</a:t>
            </a:r>
            <a:endParaRPr lang="en-US" sz="950" dirty="0"/>
          </a:p>
        </p:txBody>
      </p:sp>
      <p:sp>
        <p:nvSpPr>
          <p:cNvPr id="20" name="who_219"/>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21" name="sl_22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22" name="R1_slA22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23" name="who_222"/>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4" name="sl_22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5" name="R2_slA22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6" name="who_225"/>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7" name="sl_226"/>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8" name="R3_slA227"/>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9" name="who_228"/>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30" name="sl_229"/>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slA230"/>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who_231"/>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3" name="sl_23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4" name="R5_slA233"/>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5" name="who_234"/>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6" name="sl_23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
        <p:nvSpPr>
          <p:cNvPr id="37" name="R6_slA236"/>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4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4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e quando?</a:t>
            </a:r>
            <a:endParaRPr lang="en-US" sz="950" dirty="0"/>
          </a:p>
        </p:txBody>
      </p:sp>
      <p:sp>
        <p:nvSpPr>
          <p:cNvPr id="9" name="cmd_24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4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4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the rule   ·   📖 Grammar Bank 4B p.139 · audio 4.13, 4.14</a:t>
            </a:r>
            <a:endParaRPr lang="en-US" sz="800" dirty="0"/>
          </a:p>
        </p:txBody>
      </p:sp>
      <p:sp>
        <p:nvSpPr>
          <p:cNvPr id="14" name="ah_248"/>
          <p:cNvSpPr/>
          <p:nvPr/>
        </p:nvSpPr>
        <p:spPr>
          <a:xfrm>
            <a:off x="267004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4.13 + 4.14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7" name="ah_249"/>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0" name="cd_25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25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22" name="pf_25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53"/>
          <p:cNvSpPr/>
          <p:nvPr/>
        </p:nvSpPr>
        <p:spPr>
          <a:xfrm>
            <a:off x="4754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4b1-speak-italian.jpg</a:t>
            </a:r>
            <a:endParaRPr lang="en-US" sz="900" dirty="0"/>
          </a:p>
        </p:txBody>
      </p:sp>
      <p:sp>
        <p:nvSpPr>
          <p:cNvPr id="24" name="ru_25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5" name="R1_rx25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6" name="R1_ri25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can to speak</a:t>
            </a:r>
            <a:endParaRPr lang="en-US" sz="900" dirty="0"/>
          </a:p>
        </p:txBody>
      </p:sp>
      <p:sp>
        <p:nvSpPr>
          <p:cNvPr id="27" name="cd_25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8" name="rh_25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9" name="pf_25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0" name="phx_260"/>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
        <p:nvSpPr>
          <p:cNvPr id="31" name="ru_26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32" name="R2_rx26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950" dirty="0"/>
          </a:p>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950" dirty="0"/>
          </a:p>
        </p:txBody>
      </p:sp>
      <p:sp>
        <p:nvSpPr>
          <p:cNvPr id="33" name="R2_ri26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could to play</a:t>
            </a:r>
            <a:endParaRPr lang="en-US" sz="900" dirty="0"/>
          </a:p>
        </p:txBody>
      </p:sp>
      <p:sp>
        <p:nvSpPr>
          <p:cNvPr id="34" name="cd_26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5" name="rh_26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6" name="pf_26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267" descr="/home/claude/lls-course/v2/cache/spare_work_dream_job_jpg_415x209_31.png">    </p:cNvPr>
          <p:cNvPicPr>
            <a:picLocks noChangeAspect="1"/>
          </p:cNvPicPr>
          <p:nvPr/>
        </p:nvPicPr>
        <p:blipFill>
          <a:blip r:embed="rId17"/>
          <a:stretch>
            <a:fillRect/>
          </a:stretch>
        </p:blipFill>
        <p:spPr>
          <a:xfrm>
            <a:off x="4818888" y="1984248"/>
            <a:ext cx="1723644" cy="868680"/>
          </a:xfrm>
          <a:prstGeom prst="rect">
            <a:avLst/>
          </a:prstGeom>
        </p:spPr>
      </p:pic>
      <p:sp>
        <p:nvSpPr>
          <p:cNvPr id="38" name="ru_26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9" name="R3_rx26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40" name="R3_ri27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want to can ski</a:t>
            </a:r>
            <a:endParaRPr lang="en-US" sz="900" dirty="0"/>
          </a:p>
        </p:txBody>
      </p:sp>
      <p:sp>
        <p:nvSpPr>
          <p:cNvPr id="41" name="cd_27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2" name="rh_27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43" name="pf_27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274" descr="/home/claude/lls-course/v2/cache/spare_life_childhood_jpg_415x209_31.png">    </p:cNvPr>
          <p:cNvPicPr>
            <a:picLocks noChangeAspect="1"/>
          </p:cNvPicPr>
          <p:nvPr/>
        </p:nvPicPr>
        <p:blipFill>
          <a:blip r:embed="rId18"/>
          <a:stretch>
            <a:fillRect/>
          </a:stretch>
        </p:blipFill>
        <p:spPr>
          <a:xfrm>
            <a:off x="6990588" y="1984248"/>
            <a:ext cx="1723644" cy="868680"/>
          </a:xfrm>
          <a:prstGeom prst="rect">
            <a:avLst/>
          </a:prstGeom>
        </p:spPr>
      </p:pic>
      <p:sp>
        <p:nvSpPr>
          <p:cNvPr id="45" name="ru_27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6" name="R4_rx27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7" name="R4_ri27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400"/>
                                        <p:tgtEl>
                                          <p:spTgt spid="32"/>
                                        </p:tgtEl>
                                      </p:cBhvr>
                                    </p:animEffect>
                                  </p:childTnLst>
                                </p:cTn>
                              </p:par>
                              <p:par>
                                <p:cTn id="16" presetID="10" presetClass="entr" presetSubtype="0" fill="hold" nodeType="with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00"/>
                                        <p:tgtEl>
                                          <p:spTgt spid="39"/>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400"/>
                                        <p:tgtEl>
                                          <p:spTgt spid="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seq concurrent="1" nextAc="seek">
              <p:cTn id="40" restart="whenNotActive" fill="hold" evtFilter="cancelBubble" nodeType="interactiveSeq">
                <p:stCondLst>
                  <p:cond evt="onClick" delay="0">
                    <p:tgtEl>
                      <p:spTgt spid="16"/>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6"/>
                                        </p:tgtEl>
                                      </p:cBhvr>
                                    </p:cmd>
                                  </p:childTnLst>
                                </p:cTn>
                              </p:par>
                            </p:childTnLst>
                          </p:cTn>
                        </p:par>
                      </p:childTnLst>
                    </p:cTn>
                  </p:par>
                </p:childTnLst>
              </p:cTn>
              <p:nextCondLst>
                <p:cond evt="onClick" delay="0">
                  <p:tgtEl>
                    <p:spTgt spid="16"/>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seq concurrent="1" nextAc="seek">
              <p:cTn id="50" restart="whenNotActive" fill="hold" evtFilter="cancelBubble" nodeType="interactiveSeq">
                <p:stCondLst>
                  <p:cond evt="onClick" delay="0">
                    <p:tgtEl>
                      <p:spTgt spid="19"/>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9"/>
                                        </p:tgtEl>
                                      </p:cBhvr>
                                    </p:cmd>
                                  </p:childTnLst>
                                </p:cTn>
                              </p:par>
                            </p:childTnLst>
                          </p:cTn>
                        </p:par>
                      </p:childTnLst>
                    </p:cTn>
                  </p:par>
                </p:childTnLst>
              </p:cTn>
              <p:nextCondLst>
                <p:cond evt="onClick" delay="0">
                  <p:tgtEl>
                    <p:spTgt spid="19"/>
                  </p:tgtEl>
                </p:cond>
              </p:nextCondLst>
            </p:seq>
            <p:audio>
              <p:cMediaNode vol="80000">
                <p:cTn id="55" fill="hold" display="0">
                  <p:stCondLst>
                    <p:cond delay="indefinite"/>
                  </p:stCondLst>
                  <p:endCondLst>
                    <p:cond evt="onStopAudio" delay="0">
                      <p:tgtEl>
                        <p:sldTgt/>
                      </p:tgtEl>
                    </p:cond>
                  </p:endCondLst>
                </p:cTn>
                <p:tgtEl>
                  <p:spTgt spid="15"/>
                </p:tgtEl>
              </p:cMediaNode>
            </p:audio>
            <p:audio>
              <p:cMediaNode vol="80000">
                <p:cTn id="56" fill="hold" display="0">
                  <p:stCondLst>
                    <p:cond delay="indefinite"/>
                  </p:stCondLst>
                  <p:endCondLst>
                    <p:cond evt="onStopAudio" delay="0">
                      <p:tgtEl>
                        <p:sldTgt/>
                      </p:tgtEl>
                    </p:cond>
                  </p:endCondLst>
                </p:cTn>
                <p:tgtEl>
                  <p:spTgt spid="16"/>
                </p:tgtEl>
              </p:cMediaNode>
            </p:audio>
            <p:audio>
              <p:cMediaNode vol="80000">
                <p:cTn id="57" fill="hold" display="0">
                  <p:stCondLst>
                    <p:cond delay="indefinite"/>
                  </p:stCondLst>
                  <p:endCondLst>
                    <p:cond evt="onStopAudio" delay="0">
                      <p:tgtEl>
                        <p:sldTgt/>
                      </p:tgtEl>
                    </p:cond>
                  </p:endCondLst>
                </p:cTn>
                <p:tgtEl>
                  <p:spTgt spid="18"/>
                </p:tgtEl>
              </p:cMediaNode>
            </p:audio>
            <p:audio>
              <p:cMediaNode vol="80000">
                <p:cTn id="58"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8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 can't dance</a:t>
            </a:r>
            <a:endParaRPr lang="en-US" sz="2500" dirty="0"/>
          </a:p>
        </p:txBody>
      </p:sp>
      <p:pic>
        <p:nvPicPr>
          <p:cNvPr id="6" name="brP_28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8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28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8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8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8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class story (TPRS)</a:t>
            </a:r>
            <a:endParaRPr lang="en-US" sz="800" dirty="0"/>
          </a:p>
        </p:txBody>
      </p:sp>
      <p:sp>
        <p:nvSpPr>
          <p:cNvPr id="15" name="cd_290"/>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93"/>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can / can't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so / posso · non 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could / couldn't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sapevo / potevo · non sapevo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I've never been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sono mai riuscito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I'd love to be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mi piacerebbe tanto saper…</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riesce a, è in grado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will be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potrò, saprò</a:t>
            </a:r>
            <a:endParaRPr lang="en-US" sz="1000" dirty="0"/>
          </a:p>
        </p:txBody>
      </p:sp>
      <p:sp>
        <p:nvSpPr>
          <p:cNvPr id="19" name="R1_sb294"/>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95"/>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Salvo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cook amazing arancine, but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dance. Not one step!</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Can Salvo cook? · Can he dance or sing?</a:t>
            </a:r>
            <a:endParaRPr lang="en-US" sz="1050" dirty="0"/>
          </a:p>
        </p:txBody>
      </p:sp>
      <p:sp>
        <p:nvSpPr>
          <p:cNvPr id="21" name="R2_sb296"/>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97"/>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 a child 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couldn't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dance either. He fell over at every party!</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Could he dance as a child? · What happened at parties?</a:t>
            </a:r>
            <a:endParaRPr lang="en-US" sz="1200" dirty="0"/>
          </a:p>
        </p:txBody>
      </p:sp>
      <p:sp>
        <p:nvSpPr>
          <p:cNvPr id="23" name="R3_sb298"/>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99"/>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never been able 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dance salsa – and his wedding is in May!</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Has he ever been able to dance salsa? · When is his wedding?</a:t>
            </a:r>
            <a:endParaRPr lang="en-US" sz="1100" dirty="0"/>
          </a:p>
        </p:txBody>
      </p:sp>
      <p:sp>
        <p:nvSpPr>
          <p:cNvPr id="25" name="R4_sb300"/>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01"/>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'I'd love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to be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he says. So he books 20 hours of lessons.</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What would he love to be able to do? · How many hours of lessons?</a:t>
            </a:r>
            <a:endParaRPr lang="en-US" sz="1000" dirty="0"/>
          </a:p>
        </p:txBody>
      </p:sp>
      <p:sp>
        <p:nvSpPr>
          <p:cNvPr id="27" name="R5_sb302"/>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03"/>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ten hours 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a bit, but he steps on the teacher's feet!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he able to dance now? · Whose feet does he step on?</a:t>
            </a:r>
            <a:endParaRPr lang="en-US" sz="1000" dirty="0"/>
          </a:p>
        </p:txBody>
      </p:sp>
      <p:sp>
        <p:nvSpPr>
          <p:cNvPr id="29" name="R6_sb304"/>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05"/>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the wedding he dances all night. 'Next year I</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'll be able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tango!'</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will he be able to do? · And you – what would you love to be able to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7"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308"/>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30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1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3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va nello spazio? Coloralo!</a:t>
            </a:r>
            <a:endParaRPr lang="en-US" sz="950" dirty="0"/>
          </a:p>
        </p:txBody>
      </p:sp>
      <p:sp>
        <p:nvSpPr>
          <p:cNvPr id="9" name="cmd_31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31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1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3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practice   ·   📖 Grammar photocopiable 4B (b 2, 3, 5, 7, 9) · audio 4.13</a:t>
            </a:r>
            <a:endParaRPr lang="en-US" sz="800" dirty="0"/>
          </a:p>
        </p:txBody>
      </p:sp>
      <p:sp>
        <p:nvSpPr>
          <p:cNvPr id="15" name="cd_31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8" name="il_32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2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20" name="lg_32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21" name="lg_324"/>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22" name="lg_325"/>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23" name="lg_326"/>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4" name="sq_327"/>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5" name="R1_tag328"/>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6" name="sq_329"/>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7" name="R2_tag330"/>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8" name="sq_331"/>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9" name="R3_tag332"/>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0" name="sq_333"/>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31" name="R4_tag334"/>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32" name="sq_335"/>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33" name="R5_tag336"/>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4" name="sq_337"/>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5" name="R6_tag338"/>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6" name="pf_339"/>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7" name="phx_340"/>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4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4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 frase. Batti il tempo!</a:t>
            </a:r>
            <a:endParaRPr lang="en-US" sz="950" dirty="0"/>
          </a:p>
        </p:txBody>
      </p:sp>
      <p:sp>
        <p:nvSpPr>
          <p:cNvPr id="9" name="cmd_34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4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35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3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game   ·   📖 Grammar Bank 4B p.139 · b 1–5 (b 6–10 = homework)</a:t>
            </a:r>
            <a:endParaRPr lang="en-US" sz="800" dirty="0"/>
          </a:p>
        </p:txBody>
      </p:sp>
      <p:sp>
        <p:nvSpPr>
          <p:cNvPr id="15" name="cd_35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5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35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sentence. 15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frase. 15 secondi!</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write the missing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scrivete le parole mancanti.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Right form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Forma giusta = 1 punto.</a:t>
            </a:r>
            <a:endParaRPr lang="en-US" sz="1000" dirty="0"/>
          </a:p>
        </p:txBody>
      </p:sp>
      <p:sp>
        <p:nvSpPr>
          <p:cNvPr id="19" name="st_357"/>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5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5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950" dirty="0"/>
          </a:p>
        </p:txBody>
      </p:sp>
      <p:sp>
        <p:nvSpPr>
          <p:cNvPr id="22" name="R1_chip36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been able to</a:t>
            </a:r>
            <a:endParaRPr lang="en-US" sz="1100" dirty="0"/>
          </a:p>
        </p:txBody>
      </p:sp>
      <p:sp>
        <p:nvSpPr>
          <p:cNvPr id="23" name="bd_36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6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1100" dirty="0"/>
          </a:p>
        </p:txBody>
      </p:sp>
      <p:sp>
        <p:nvSpPr>
          <p:cNvPr id="25" name="R2_chip36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100" dirty="0"/>
          </a:p>
        </p:txBody>
      </p:sp>
      <p:sp>
        <p:nvSpPr>
          <p:cNvPr id="26" name="bd_36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6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1100" dirty="0"/>
          </a:p>
        </p:txBody>
      </p:sp>
      <p:sp>
        <p:nvSpPr>
          <p:cNvPr id="28" name="R3_chip36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'll be able to</a:t>
            </a:r>
            <a:endParaRPr lang="en-US" sz="1100" dirty="0"/>
          </a:p>
        </p:txBody>
      </p:sp>
      <p:sp>
        <p:nvSpPr>
          <p:cNvPr id="29" name="bd_36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6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1100" dirty="0"/>
          </a:p>
        </p:txBody>
      </p:sp>
      <p:sp>
        <p:nvSpPr>
          <p:cNvPr id="31" name="R4_chip36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be able to</a:t>
            </a:r>
            <a:endParaRPr lang="en-US" sz="1100" dirty="0"/>
          </a:p>
        </p:txBody>
      </p:sp>
      <p:sp>
        <p:nvSpPr>
          <p:cNvPr id="32" name="bd_37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7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1100" dirty="0"/>
          </a:p>
        </p:txBody>
      </p:sp>
      <p:sp>
        <p:nvSpPr>
          <p:cNvPr id="34" name="R5_chip37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able to</a:t>
            </a:r>
            <a:endParaRPr lang="en-US" sz="1100" dirty="0"/>
          </a:p>
        </p:txBody>
      </p:sp>
      <p:sp>
        <p:nvSpPr>
          <p:cNvPr id="35" name="bd_37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37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1100" dirty="0"/>
          </a:p>
        </p:txBody>
      </p:sp>
      <p:sp>
        <p:nvSpPr>
          <p:cNvPr id="37" name="R6_chip37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could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7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7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8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cmd_38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Pronunciation · sentence stress   ·   📖 SB p.41 · 2a, 2b, 2c · audio 4.15</a:t>
            </a:r>
            <a:endParaRPr lang="en-US" sz="800" dirty="0"/>
          </a:p>
        </p:txBody>
      </p:sp>
      <p:sp>
        <p:nvSpPr>
          <p:cNvPr id="15" name="ap_38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6" name="ah_3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391"/>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392"/>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393"/>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394"/>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never · able · dance =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 be · been = small, fast</a:t>
            </a:r>
            <a:endParaRPr lang="en-US" sz="1050" dirty="0"/>
          </a:p>
        </p:txBody>
      </p:sp>
      <p:sp>
        <p:nvSpPr>
          <p:cNvPr id="24" name="pf_395"/>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396"/>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4b1-salsa.jpg</a:t>
            </a:r>
            <a:endParaRPr lang="en-US" sz="900" dirty="0"/>
          </a:p>
        </p:txBody>
      </p:sp>
      <p:sp>
        <p:nvSpPr>
          <p:cNvPr id="26" name="bd_397"/>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398"/>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8" name="R1_sw399"/>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9" name="R1_sw400"/>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30" name="R2_sf401"/>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31" name="bd_402"/>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403"/>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33" name="R3_sw404"/>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4" name="R3_sw405"/>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5" name="R4_sf406"/>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6" name="bd_407"/>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7" name="R5_sw408"/>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8" name="R5_sw409"/>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9" name="R5_sw410"/>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40" name="R6_sf411"/>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41" name="bd_412"/>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2" name="R7_sw413"/>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43" name="R7_sw414"/>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44" name="R7_sw415"/>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5" name="R8_sf416"/>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4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par>
                                <p:cTn id="43" presetID="10" presetClass="entr" presetSubtype="0" fill="hold" nodeType="with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fade">
                                      <p:cBhvr>
                                        <p:cTn id="45" dur="400"/>
                                        <p:tgtEl>
                                          <p:spTgt spid="3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par>
                                <p:cTn id="59" presetID="10" presetClass="entr" presetSubtype="0" fill="hold"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00"/>
                                        <p:tgtEl>
                                          <p:spTgt spid="4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7"/>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7"/>
                                        </p:tgtEl>
                                      </p:cBhvr>
                                    </p:cmd>
                                  </p:childTnLst>
                                </p:cTn>
                              </p:par>
                            </p:childTnLst>
                          </p:cTn>
                        </p:par>
                      </p:childTnLst>
                    </p:cTn>
                  </p:par>
                </p:childTnLst>
              </p:cTn>
              <p:nextCondLst>
                <p:cond evt="onClick" delay="0">
                  <p:tgtEl>
                    <p:spTgt spid="17"/>
                  </p:tgtEl>
                </p:cond>
              </p:nextCondLst>
            </p:seq>
            <p:seq concurrent="1" nextAc="seek">
              <p:cTn id="72" restart="whenNotActive" fill="hold" evtFilter="cancelBubble" nodeType="interactiveSeq">
                <p:stCondLst>
                  <p:cond evt="onClick" delay="0">
                    <p:tgtEl>
                      <p:spTgt spid="19"/>
                    </p:tgtEl>
                  </p:cond>
                </p:stCondLst>
                <p:endSync evt="end" delay="0">
                  <p:rtn val="all"/>
                </p:endSync>
                <p:childTnLst>
                  <p:par>
                    <p:cTn id="73" fill="hold">
                      <p:stCondLst>
                        <p:cond delay="0"/>
                      </p:stCondLst>
                      <p:childTnLst>
                        <p:par>
                          <p:cTn id="74" fill="hold">
                            <p:stCondLst>
                              <p:cond delay="0"/>
                            </p:stCondLst>
                            <p:childTnLst>
                              <p:par>
                                <p:cTn id="75" presetID="2" presetClass="mediacall" presetSubtype="0" fill="hold" nodeType="clickEffect">
                                  <p:stCondLst>
                                    <p:cond delay="0"/>
                                  </p:stCondLst>
                                  <p:childTnLst>
                                    <p:cmd type="call" cmd="togglePause">
                                      <p:cBhvr>
                                        <p:cTn id="76" dur="1" fill="hold"/>
                                        <p:tgtEl>
                                          <p:spTgt spid="19"/>
                                        </p:tgtEl>
                                      </p:cBhvr>
                                    </p:cmd>
                                  </p:childTnLst>
                                </p:cTn>
                              </p:par>
                            </p:childTnLst>
                          </p:cTn>
                        </p:par>
                      </p:childTnLst>
                    </p:cTn>
                  </p:par>
                </p:childTnLst>
              </p:cTn>
              <p:nextCondLst>
                <p:cond evt="onClick" delay="0">
                  <p:tgtEl>
                    <p:spTgt spid="19"/>
                  </p:tgtEl>
                </p:cond>
              </p:nextCondLst>
            </p:seq>
            <p:audio>
              <p:cMediaNode vol="80000">
                <p:cTn id="77" fill="hold" display="0">
                  <p:stCondLst>
                    <p:cond delay="indefinite"/>
                  </p:stCondLst>
                  <p:endCondLst>
                    <p:cond evt="onStopAudio" delay="0">
                      <p:tgtEl>
                        <p:sldTgt/>
                      </p:tgtEl>
                    </p:cond>
                  </p:endCondLst>
                </p:cTn>
                <p:tgtEl>
                  <p:spTgt spid="17"/>
                </p:tgtEl>
              </p:cMediaNode>
            </p:audio>
            <p:audio>
              <p:cMediaNode vol="80000">
                <p:cTn id="78"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4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il nuovo verbo. Di' la nuova frase!</a:t>
            </a:r>
            <a:endParaRPr lang="en-US" sz="950" dirty="0"/>
          </a:p>
        </p:txBody>
      </p:sp>
      <p:sp>
        <p:nvSpPr>
          <p:cNvPr id="9" name="cmd_42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2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2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8"/>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4B-1 · Pronunciation game · audio 4.16   ·   📖 SB p.41 · 2d · audio 4.16 (🎧 play it from the book audio or say the prompts yourself)</a:t>
            </a:r>
            <a:endParaRPr lang="en-US" sz="750" dirty="0"/>
          </a:p>
        </p:txBody>
      </p:sp>
      <p:sp>
        <p:nvSpPr>
          <p:cNvPr id="15" name="cd_42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3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Listen: a sentence + a new verb.</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Ascolta: una frase + un nuovo verbo.</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NEW sentence.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la NUOVA frase.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Same rhythm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Stesso ritmo = 1 punto.</a:t>
            </a:r>
            <a:endParaRPr lang="en-US" sz="1000" dirty="0"/>
          </a:p>
        </p:txBody>
      </p:sp>
      <p:sp>
        <p:nvSpPr>
          <p:cNvPr id="19" name="ap_433"/>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4.16</a:t>
            </a:r>
            <a:endParaRPr lang="en-US" sz="1100" dirty="0"/>
          </a:p>
        </p:txBody>
      </p:sp>
      <p:sp>
        <p:nvSpPr>
          <p:cNvPr id="20" name="ah_4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2" name="ah_4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4" name="bd_43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5" name="gq_43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100" dirty="0"/>
          </a:p>
        </p:txBody>
      </p:sp>
      <p:sp>
        <p:nvSpPr>
          <p:cNvPr id="26" name="R1_chip43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100" dirty="0"/>
          </a:p>
        </p:txBody>
      </p:sp>
      <p:sp>
        <p:nvSpPr>
          <p:cNvPr id="27" name="bd_43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gq_44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100" dirty="0"/>
          </a:p>
        </p:txBody>
      </p:sp>
      <p:sp>
        <p:nvSpPr>
          <p:cNvPr id="29" name="R2_chip44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100" dirty="0"/>
          </a:p>
        </p:txBody>
      </p:sp>
      <p:sp>
        <p:nvSpPr>
          <p:cNvPr id="30" name="bd_44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gq_44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100" dirty="0"/>
          </a:p>
        </p:txBody>
      </p:sp>
      <p:sp>
        <p:nvSpPr>
          <p:cNvPr id="32" name="R3_chip44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100" dirty="0"/>
          </a:p>
        </p:txBody>
      </p:sp>
      <p:sp>
        <p:nvSpPr>
          <p:cNvPr id="33" name="bd_44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gq_44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100" dirty="0"/>
          </a:p>
        </p:txBody>
      </p:sp>
      <p:sp>
        <p:nvSpPr>
          <p:cNvPr id="35" name="R4_chip44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100" dirty="0"/>
          </a:p>
        </p:txBody>
      </p:sp>
      <p:sp>
        <p:nvSpPr>
          <p:cNvPr id="36" name="bd_44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7" name="gq_44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100" dirty="0"/>
          </a:p>
        </p:txBody>
      </p:sp>
      <p:sp>
        <p:nvSpPr>
          <p:cNvPr id="38" name="R5_chip45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100" dirty="0"/>
          </a:p>
        </p:txBody>
      </p:sp>
      <p:sp>
        <p:nvSpPr>
          <p:cNvPr id="39" name="bd_45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40" name="gq_45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100" dirty="0"/>
          </a:p>
        </p:txBody>
      </p:sp>
      <p:sp>
        <p:nvSpPr>
          <p:cNvPr id="41" name="R6_chip45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2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1"/>
                                        </p:tgtEl>
                                      </p:cBhvr>
                                    </p:cmd>
                                  </p:childTnLst>
                                </p:cTn>
                              </p:par>
                            </p:childTnLst>
                          </p:cTn>
                        </p:par>
                      </p:childTnLst>
                    </p:cTn>
                  </p:par>
                </p:childTnLst>
              </p:cTn>
              <p:nextCondLst>
                <p:cond evt="onClick" delay="0">
                  <p:tgtEl>
                    <p:spTgt spid="21"/>
                  </p:tgtEl>
                </p:cond>
              </p:nextCondLst>
            </p:seq>
            <p:seq concurrent="1" nextAc="seek">
              <p:cTn id="38" restart="whenNotActive" fill="hold" evtFilter="cancelBubble" nodeType="interactiveSeq">
                <p:stCondLst>
                  <p:cond evt="onClick" delay="0">
                    <p:tgtEl>
                      <p:spTgt spid="23"/>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3"/>
                                        </p:tgtEl>
                                      </p:cBhvr>
                                    </p:cmd>
                                  </p:childTnLst>
                                </p:cTn>
                              </p:par>
                            </p:childTnLst>
                          </p:cTn>
                        </p:par>
                      </p:childTnLst>
                    </p:cTn>
                  </p:par>
                </p:childTnLst>
              </p:cTn>
              <p:nextCondLst>
                <p:cond evt="onClick" delay="0">
                  <p:tgtEl>
                    <p:spTgt spid="23"/>
                  </p:tgtEl>
                </p:cond>
              </p:nextCondLst>
            </p:seq>
            <p:audio>
              <p:cMediaNode vol="80000">
                <p:cTn id="43" fill="hold" display="0">
                  <p:stCondLst>
                    <p:cond delay="indefinite"/>
                  </p:stCondLst>
                  <p:endCondLst>
                    <p:cond evt="onStopAudio" delay="0">
                      <p:tgtEl>
                        <p:sldTgt/>
                      </p:tgtEl>
                    </p:cond>
                  </p:endCondLst>
                </p:cTn>
                <p:tgtEl>
                  <p:spTgt spid="21"/>
                </p:tgtEl>
              </p:cMediaNode>
            </p:audio>
            <p:audio>
              <p:cMediaNode vol="80000">
                <p:cTn id="44" fill="hold" display="0">
                  <p:stCondLst>
                    <p:cond delay="indefinite"/>
                  </p:stCondLst>
                  <p:endCondLst>
                    <p:cond evt="onStopAudio" delay="0">
                      <p:tgtEl>
                        <p:sldTgt/>
                      </p:tgtEl>
                    </p:cond>
                  </p:endCondLst>
                </p:cTn>
                <p:tgtEl>
                  <p:spTgt spid="23"/>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5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5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5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2 argomenti. Di' al compagno perché.</a:t>
            </a:r>
            <a:endParaRPr lang="en-US" sz="950" dirty="0"/>
          </a:p>
        </p:txBody>
      </p:sp>
      <p:sp>
        <p:nvSpPr>
          <p:cNvPr id="9" name="cmd_46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6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6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4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your skills   ·   📖 SB p.40 · 1e, 1f</a:t>
            </a:r>
            <a:endParaRPr lang="en-US" sz="800" dirty="0"/>
          </a:p>
        </p:txBody>
      </p:sp>
      <p:sp>
        <p:nvSpPr>
          <p:cNvPr id="14" name="pf_46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66" descr="/home/claude/lls-course/v2/cache/spare_work_skill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6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6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6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7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I'd love to be able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I've never been able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Lucky you! · Why (not)?</a:t>
            </a:r>
            <a:endParaRPr lang="en-US" sz="1050" dirty="0"/>
          </a:p>
        </p:txBody>
      </p:sp>
      <p:sp>
        <p:nvSpPr>
          <p:cNvPr id="20" name="R1_qb47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7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I'd love to be able to ski, but I don't live near the mountains.</a:t>
            </a:r>
            <a:endParaRPr lang="en-US" sz="1250" dirty="0"/>
          </a:p>
        </p:txBody>
      </p:sp>
      <p:sp>
        <p:nvSpPr>
          <p:cNvPr id="22" name="R2_qb47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I've never been able to swim well – I hate putting my face in the water!</a:t>
            </a:r>
            <a:endParaRPr lang="en-US" sz="1050" dirty="0"/>
          </a:p>
        </p:txBody>
      </p:sp>
      <p:sp>
        <p:nvSpPr>
          <p:cNvPr id="24" name="R3_qb47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7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learned to ride a bike when I was eight. I fell off a lot!</a:t>
            </a:r>
            <a:endParaRPr lang="en-US" sz="1250" dirty="0"/>
          </a:p>
        </p:txBody>
      </p:sp>
      <p:sp>
        <p:nvSpPr>
          <p:cNvPr id="26" name="R4_qb47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7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can cook pasta, but I'd like to be able to make arancine.</a:t>
            </a:r>
            <a:endParaRPr lang="en-US" sz="1200" dirty="0"/>
          </a:p>
        </p:txBody>
      </p:sp>
      <p:sp>
        <p:nvSpPr>
          <p:cNvPr id="28" name="R5_qb47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8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I think everyone should be able to cook a simple meal.</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48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8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dove vanno i numeri!</a:t>
            </a:r>
            <a:endParaRPr lang="en-US" sz="950" dirty="0"/>
          </a:p>
        </p:txBody>
      </p:sp>
      <p:sp>
        <p:nvSpPr>
          <p:cNvPr id="9" name="cmd_48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8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8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9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prediction   ·   📖 SB p.41 · 3a, 3b</a:t>
            </a:r>
            <a:endParaRPr lang="en-US" sz="800" dirty="0"/>
          </a:p>
        </p:txBody>
      </p:sp>
      <p:sp>
        <p:nvSpPr>
          <p:cNvPr id="15" name="cd_493"/>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9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7" name="nx_495"/>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850" dirty="0"/>
          </a:p>
        </p:txBody>
      </p:sp>
      <p:sp>
        <p:nvSpPr>
          <p:cNvPr id="18" name="sf_496"/>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9" name="nbl_497"/>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98"/>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1" name="bd_499"/>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22" name="bd_500"/>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3" name="bd_501"/>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4" name="pf_502"/>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03"/>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50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50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1–2. Poi clicca e controlla.</a:t>
            </a:r>
            <a:endParaRPr lang="en-US" sz="950" dirty="0"/>
          </a:p>
        </p:txBody>
      </p:sp>
      <p:sp>
        <p:nvSpPr>
          <p:cNvPr id="9" name="cmd_51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1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10,000 hours?   ·   📖 SB p.41 · 3a</a:t>
            </a:r>
            <a:endParaRPr lang="en-US" sz="800" dirty="0"/>
          </a:p>
        </p:txBody>
      </p:sp>
      <p:sp>
        <p:nvSpPr>
          <p:cNvPr id="14" name="cd_51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6" name="ln_51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7" name="R1_lnA51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8" name="ln_51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in this non-stop world, who has that kind of time?</a:t>
            </a:r>
            <a:endParaRPr lang="en-US" sz="1200" dirty="0"/>
          </a:p>
        </p:txBody>
      </p:sp>
      <p:sp>
        <p:nvSpPr>
          <p:cNvPr id="19" name="ln_52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200" dirty="0"/>
          </a:p>
        </p:txBody>
      </p:sp>
      <p:sp>
        <p:nvSpPr>
          <p:cNvPr id="20" name="ln_52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1" name="R2_lnA52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2" name="ln_52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200" dirty="0"/>
          </a:p>
        </p:txBody>
      </p:sp>
      <p:sp>
        <p:nvSpPr>
          <p:cNvPr id="23" name="pf_524"/>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25"/>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4b1-piano-lesson.jpg</a:t>
            </a:r>
            <a:endParaRPr lang="en-US" sz="900" dirty="0"/>
          </a:p>
        </p:txBody>
      </p:sp>
      <p:sp>
        <p:nvSpPr>
          <p:cNvPr id="25" name="cd_52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2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2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2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master = diventare bravo in</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give it a try = provarci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53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5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3–5. Poi clicca e controlla.</a:t>
            </a:r>
            <a:endParaRPr lang="en-US" sz="950" dirty="0"/>
          </a:p>
        </p:txBody>
      </p:sp>
      <p:sp>
        <p:nvSpPr>
          <p:cNvPr id="9" name="cmd_53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3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Matt's first try   ·   📖 SB p.41 · 3b</a:t>
            </a:r>
            <a:endParaRPr lang="en-US" sz="800" dirty="0"/>
          </a:p>
        </p:txBody>
      </p:sp>
      <p:sp>
        <p:nvSpPr>
          <p:cNvPr id="14" name="cd_54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4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6" name="ln_54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I haven't played a musical instrument for years.</a:t>
            </a:r>
            <a:endParaRPr lang="en-US" sz="1350" dirty="0"/>
          </a:p>
        </p:txBody>
      </p:sp>
      <p:sp>
        <p:nvSpPr>
          <p:cNvPr id="17" name="ln_54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50" b="1" dirty="0">
                <a:solidFill>
                  <a:srgbClr val="2EB872"/>
                </a:solidFill>
                <a:latin typeface="Georgia" pitchFamily="34" charset="0"/>
                <a:ea typeface="Georgia" pitchFamily="34" charset="-122"/>
                <a:cs typeface="Georgia" pitchFamily="34" charset="-120"/>
              </a:rPr>
              <a:t> (3) ________ </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8" name="R1_lnA54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9" name="ln_54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2EB872"/>
                </a:solidFill>
                <a:latin typeface="Georgia" pitchFamily="34" charset="0"/>
                <a:ea typeface="Georgia" pitchFamily="34" charset="-122"/>
                <a:cs typeface="Georgia" pitchFamily="34" charset="-120"/>
              </a:rPr>
              <a:t> (4) ________ </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0" name="R2_lnA54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1" name="ln_54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2EB872"/>
                </a:solidFill>
                <a:latin typeface="Georgia" pitchFamily="34" charset="0"/>
                <a:ea typeface="Georgia" pitchFamily="34" charset="-122"/>
                <a:cs typeface="Georgia" pitchFamily="34" charset="-120"/>
              </a:rPr>
              <a:t> (5) ________ </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2" name="R3_lnA54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3" name="ln_55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So here I am, a beginner again.</a:t>
            </a:r>
            <a:endParaRPr lang="en-US" sz="1350" dirty="0"/>
          </a:p>
        </p:txBody>
      </p:sp>
      <p:sp>
        <p:nvSpPr>
          <p:cNvPr id="24" name="pf_55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52"/>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6" name="cd_55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5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5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5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give up = smettere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end up in = finire 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6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suono è: 1–6?</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6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56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6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music words   ·   📖 SB p.41 · 3c · audio 4.17</a:t>
            </a:r>
            <a:endParaRPr lang="en-US" sz="800" dirty="0"/>
          </a:p>
        </p:txBody>
      </p:sp>
      <p:sp>
        <p:nvSpPr>
          <p:cNvPr id="15" name="ap_5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6" name="ah_57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7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7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7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4b1-piano-lesson.jpg</a:t>
            </a:r>
            <a:endParaRPr lang="en-US" sz="900" dirty="0"/>
          </a:p>
        </p:txBody>
      </p:sp>
      <p:sp>
        <p:nvSpPr>
          <p:cNvPr id="22" name="cd_57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7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7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7" name="R1_chip57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8" name="gq_58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9" name="R2_chip58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30" name="gq_58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31" name="R3_chip58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32" name="gq_58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33" name="R4_chip58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34" name="gq_58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35" name="R5_chip58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6" name="gq_58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7" name="R6_chip58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9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9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Qual è il riassunto migliore?</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5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gist   ·   📖 SB p.41 · 3d · audio 4.18</a:t>
            </a:r>
            <a:endParaRPr lang="en-US" sz="800" dirty="0"/>
          </a:p>
        </p:txBody>
      </p:sp>
      <p:sp>
        <p:nvSpPr>
          <p:cNvPr id="14" name="ap_60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5" name="ah_60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60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60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60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60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2" name="bd_60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60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60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25" name="bd_61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61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61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61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Summary 1: He didn't learn anything at all.</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Summary 2: He learned something, but not enough.</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Summary 3: He learned a lot.</a:t>
            </a:r>
            <a:endParaRPr lang="en-US" sz="800" dirty="0"/>
          </a:p>
        </p:txBody>
      </p:sp>
      <p:sp>
        <p:nvSpPr>
          <p:cNvPr id="30" name="lq_61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31" name="R1_chip61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2" name="lq_61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33" name="R2_chip61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34" name="lq_61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35" name="R3_chip62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6" name="lq_62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37" name="R4_chip62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62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62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6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si sente Matt. Poi riascolta.</a:t>
            </a:r>
            <a:endParaRPr lang="en-US" sz="950" dirty="0"/>
          </a:p>
        </p:txBody>
      </p:sp>
      <p:sp>
        <p:nvSpPr>
          <p:cNvPr id="9" name="cmd_62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3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3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 audio 4.18</a:t>
            </a:r>
            <a:endParaRPr lang="en-US" sz="800" dirty="0"/>
          </a:p>
        </p:txBody>
      </p:sp>
      <p:sp>
        <p:nvSpPr>
          <p:cNvPr id="15" name="ap_63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3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3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3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63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22" name="cd_64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4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4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4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4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7" name="R1_chip64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8" name="gq_64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9" name="R2_chip64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30" name="gq_64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31" name="R3_chip64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32" name="gq_65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33" name="R4_chip65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9"/>
                                        </p:tgtEl>
                                      </p:cBhvr>
                                    </p:cmd>
                                  </p:childTnLst>
                                </p:cTn>
                              </p:par>
                            </p:childTnLst>
                          </p:cTn>
                        </p:par>
                      </p:childTnLst>
                    </p:cTn>
                  </p:par>
                </p:childTnLst>
              </p:cTn>
              <p:nextCondLst>
                <p:cond evt="onClick" delay="0">
                  <p:tgtEl>
                    <p:spTgt spid="19"/>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9"/>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65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6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ascolta fino alla fine.</a:t>
            </a:r>
            <a:endParaRPr lang="en-US" sz="950" dirty="0"/>
          </a:p>
        </p:txBody>
      </p:sp>
      <p:sp>
        <p:nvSpPr>
          <p:cNvPr id="9" name="cmd_65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5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6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6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3f · audio 4.18</a:t>
            </a:r>
            <a:endParaRPr lang="en-US" sz="800" dirty="0"/>
          </a:p>
        </p:txBody>
      </p:sp>
      <p:sp>
        <p:nvSpPr>
          <p:cNvPr id="15" name="ap_66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66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2" name="cd_6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7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7" name="R1_chip67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8" name="gq_67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9" name="R2_chip67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30" name="gq_67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31" name="R3_chip67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32" name="gq_67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33" name="R4_chip68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9"/>
                                        </p:tgtEl>
                                      </p:cBhvr>
                                    </p:cmd>
                                  </p:childTnLst>
                                </p:cTn>
                              </p:par>
                            </p:childTnLst>
                          </p:cTn>
                        </p:par>
                      </p:childTnLst>
                    </p:cTn>
                  </p:par>
                </p:childTnLst>
              </p:cTn>
              <p:nextCondLst>
                <p:cond evt="onClick" delay="0">
                  <p:tgtEl>
                    <p:spTgt spid="19"/>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9"/>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8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8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8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Decidete: SÌ o IMPOSSIBILE? Dite perché.</a:t>
            </a:r>
            <a:endParaRPr lang="en-US" sz="950" dirty="0"/>
          </a:p>
        </p:txBody>
      </p:sp>
      <p:sp>
        <p:nvSpPr>
          <p:cNvPr id="9" name="cmd_6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6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20 hours   ·   📖 SB p.41 · 4 Speaking</a:t>
            </a:r>
            <a:endParaRPr lang="en-US" sz="800" dirty="0"/>
          </a:p>
        </p:txBody>
      </p:sp>
      <p:sp>
        <p:nvSpPr>
          <p:cNvPr id="14" name="pf_6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93"/>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6" name="cd_6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think I'd be able to… (sarei in grado di)</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…but I wouldn't be able to…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No way! · Maybe. · Definitely!</a:t>
            </a:r>
            <a:endParaRPr lang="en-US" sz="900" dirty="0"/>
          </a:p>
        </p:txBody>
      </p:sp>
      <p:sp>
        <p:nvSpPr>
          <p:cNvPr id="20" name="R1_qb6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9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I'd be able to order food, but not have a conversation.</a:t>
            </a:r>
            <a:endParaRPr lang="en-US" sz="1200" dirty="0"/>
          </a:p>
        </p:txBody>
      </p:sp>
      <p:sp>
        <p:nvSpPr>
          <p:cNvPr id="22" name="R2_qb70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1"/>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…draw a portrait?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way! I can't even draw a horse!</a:t>
            </a:r>
            <a:endParaRPr lang="en-US" sz="1250" dirty="0"/>
          </a:p>
        </p:txBody>
      </p:sp>
      <p:sp>
        <p:nvSpPr>
          <p:cNvPr id="24" name="R3_qb702"/>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3"/>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 and build a website?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 think I'd be able to make a simple one.</a:t>
            </a:r>
            <a:endParaRPr lang="en-US" sz="1250" dirty="0"/>
          </a:p>
        </p:txBody>
      </p:sp>
      <p:sp>
        <p:nvSpPr>
          <p:cNvPr id="26" name="R4_qb70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…cook a three-course meal?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Definitely! I can already cook pasta.</a:t>
            </a:r>
            <a:endParaRPr lang="en-US" sz="1250" dirty="0"/>
          </a:p>
        </p:txBody>
      </p:sp>
      <p:sp>
        <p:nvSpPr>
          <p:cNvPr id="28" name="R5_qb70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0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I'd be able to play a tune, but I wouldn't be able to busk!</a:t>
            </a:r>
            <a:endParaRPr lang="en-US" sz="1250" dirty="0"/>
          </a:p>
        </p:txBody>
      </p:sp>
      <p:sp>
        <p:nvSpPr>
          <p:cNvPr id="30" name="R6_qb70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70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Salsa! I've never been able to dance.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1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1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1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Exit · what can you remember?</a:t>
            </a:r>
            <a:endParaRPr lang="en-US" sz="800" dirty="0"/>
          </a:p>
        </p:txBody>
      </p:sp>
      <p:sp>
        <p:nvSpPr>
          <p:cNvPr id="13" name="bd_72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skills you'd love to be able to do (no looking!)</a:t>
            </a:r>
            <a:endParaRPr lang="en-US" sz="1400" dirty="0"/>
          </a:p>
        </p:txBody>
      </p:sp>
      <p:sp>
        <p:nvSpPr>
          <p:cNvPr id="15" name="bd_72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sentences: I've never been able to… · I'll be able to…</a:t>
            </a:r>
            <a:endParaRPr lang="en-US" sz="1400" dirty="0"/>
          </a:p>
        </p:txBody>
      </p:sp>
      <p:sp>
        <p:nvSpPr>
          <p:cNvPr id="17" name="bd_72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2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music word from Matt's story</a:t>
            </a:r>
            <a:endParaRPr lang="en-US" sz="1400" dirty="0"/>
          </a:p>
        </p:txBody>
      </p:sp>
      <p:sp>
        <p:nvSpPr>
          <p:cNvPr id="19" name="cd_72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2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2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2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4B: 1a, 1b, 2a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4B p.139: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3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3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3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3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3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3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Review · what did you do today?</a:t>
            </a:r>
            <a:endParaRPr lang="en-US" sz="800" dirty="0"/>
          </a:p>
        </p:txBody>
      </p:sp>
      <p:sp>
        <p:nvSpPr>
          <p:cNvPr id="14" name="cd_742"/>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43"/>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44"/>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what you can and could do</a:t>
            </a:r>
            <a:endParaRPr lang="en-US" sz="1350" dirty="0"/>
          </a:p>
        </p:txBody>
      </p:sp>
      <p:sp>
        <p:nvSpPr>
          <p:cNvPr id="17" name="R1_tk745"/>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46"/>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47"/>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48"/>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can, could and be able to</a:t>
            </a:r>
            <a:endParaRPr lang="en-US" sz="1350" dirty="0"/>
          </a:p>
        </p:txBody>
      </p:sp>
      <p:sp>
        <p:nvSpPr>
          <p:cNvPr id="21" name="R2_tk749"/>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50"/>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51"/>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52"/>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and said the stressed words</a:t>
            </a:r>
            <a:endParaRPr lang="en-US" sz="1350" dirty="0"/>
          </a:p>
        </p:txBody>
      </p:sp>
      <p:sp>
        <p:nvSpPr>
          <p:cNvPr id="25" name="R3_tk753"/>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54"/>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55"/>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56"/>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learning a skill in 20 hours</a:t>
            </a:r>
            <a:endParaRPr lang="en-US" sz="1350" dirty="0"/>
          </a:p>
        </p:txBody>
      </p:sp>
      <p:sp>
        <p:nvSpPr>
          <p:cNvPr id="29" name="R4_tk757"/>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58"/>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59"/>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60"/>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61"/>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62"/>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63"/>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64"/>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man learning the trumpet</a:t>
            </a:r>
            <a:endParaRPr lang="en-US" sz="1350" dirty="0"/>
          </a:p>
        </p:txBody>
      </p:sp>
      <p:sp>
        <p:nvSpPr>
          <p:cNvPr id="37" name="R6_tk765"/>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6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6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77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7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7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can't e be able to.</a:t>
            </a:r>
            <a:endParaRPr lang="en-US" sz="950" dirty="0"/>
          </a:p>
        </p:txBody>
      </p:sp>
      <p:sp>
        <p:nvSpPr>
          <p:cNvPr id="9" name="cmd_7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7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7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7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noticing in the script   ·   📖 SB audio script 4.18 (p.127)</a:t>
            </a:r>
            <a:endParaRPr lang="en-US" sz="800" dirty="0"/>
          </a:p>
        </p:txBody>
      </p:sp>
      <p:sp>
        <p:nvSpPr>
          <p:cNvPr id="14" name="st_77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79"/>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780"/>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17" name="cd_781"/>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782"/>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83"/>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784"/>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can / can't + verb</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be able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many can you find? (8)</a:t>
            </a:r>
            <a:endParaRPr lang="en-US" sz="1050" dirty="0"/>
          </a:p>
        </p:txBody>
      </p:sp>
      <p:sp>
        <p:nvSpPr>
          <p:cNvPr id="21" name="who_785"/>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22" name="sl_786"/>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3" name="R1_slA787"/>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4" name="who_788"/>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5" name="sl_789"/>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6" name="R2_slA790"/>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7" name="who_791"/>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8" name="sl_792"/>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29" name="R3_slA793"/>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30" name="who_794"/>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31" name="sl_795"/>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32" name="R4_slA796"/>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33" name="who_797"/>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4" name="sl_798"/>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5" name="R5_slA799"/>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6" name="who_800"/>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7" name="sl_801"/>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
        <p:nvSpPr>
          <p:cNvPr id="38" name="R6_slA802"/>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04"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805"/>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806"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807"/>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8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l'abilità. Niente parole!</a:t>
            </a:r>
            <a:endParaRPr lang="en-US" sz="950" dirty="0"/>
          </a:p>
        </p:txBody>
      </p:sp>
      <p:sp>
        <p:nvSpPr>
          <p:cNvPr id="9" name="cmd_80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1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1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8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Vocabulary game · extra</a:t>
            </a:r>
            <a:endParaRPr lang="en-US" sz="800" dirty="0"/>
          </a:p>
        </p:txBody>
      </p:sp>
      <p:sp>
        <p:nvSpPr>
          <p:cNvPr id="14" name="st_81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1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1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1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mimes the skill. No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mima l'abilità.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guesses: You can ride a horse!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indovina: You can ride a horse! Poi scambiatevi.</a:t>
            </a:r>
            <a:endParaRPr lang="en-US" sz="1000" dirty="0"/>
          </a:p>
        </p:txBody>
      </p:sp>
      <p:sp>
        <p:nvSpPr>
          <p:cNvPr id="19" name="pf_81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82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4b1-mime.jpg</a:t>
            </a:r>
            <a:endParaRPr lang="en-US" sz="900" dirty="0"/>
          </a:p>
        </p:txBody>
      </p:sp>
      <p:sp>
        <p:nvSpPr>
          <p:cNvPr id="21" name="rl_82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2" name="R1_w82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23" name="R3_w82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4" name="R5_w82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5" name="R7_w82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6" name="rl_82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7" name="R2_w82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8" name="R4_w82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9" name="R6_w82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30" name="R8_w83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2026-10-12T17:11:08Z</dcterms:created>
  <dcterms:modified xsi:type="dcterms:W3CDTF">2026-10-12T17:11:08Z</dcterms:modified>
</cp:coreProperties>
</file>