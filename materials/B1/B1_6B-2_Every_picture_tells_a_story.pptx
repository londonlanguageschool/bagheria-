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
HOW TO RUN IT (active recap): pairs. Words: A points at a word, B says what it means (⭐); then a sentence with it (⭐⭐); strong students make it negative or a question (⭐⭐⭐). Grammar: pairs make their own example for each use (offer, plan…) BEFORE you click – then click to show the model answers.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class story (TPRS) (4 min)
TPRS CLASS STORY (4 min) – the story step of the TPRS staging: meaning was established with the body (TPR + 'Teacher says…'), then personal questions (PQA); now the body words and body verbs are heard many times in a story BEFORE the charisma article and the mime game. Click once per line. For each line: 1) say it (and DO the action – bite, whistle, stare, point, clap, nod: students copy), 2) ask the questions in grey round the class (yes/no → either/or → who/what), 3) let the CLASS change details: 'Is it a trumpet solo? No? What does Dario play?' – accept their idea and use it in later lines. Students answer with one word or a short phrase – that's fine. Finish: 'What happens next?' – one or two ideas, then move on. Line 6 = confident body language → leads into 'Can you learn charisma?'. Recycles: bite, knees, stomach, toes, whistle, lips, stare at, point at, clap, chin, shoulders,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OPTIONAL EXTENSIONS
The lesson ended on the previous slide ("Today you…"). Use the next slides only if there is time left, or keep them for a quick start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video" Target="../media/media-22-5.mp4"/><Relationship Id="rId6" Type="http://schemas.microsoft.com/office/2007/relationships/media" Target="../media/media-22-5.mp4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video" Target="../media/media-23-5.mp4"/><Relationship Id="rId6" Type="http://schemas.microsoft.com/office/2007/relationships/media" Target="../media/media-23-5.mp4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🖐️  learn parts of the body and body verbs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'two sounds in one': bike, train, phone…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and listen: can you LEARN charisma?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🎭  play a body-language mime game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5625595" y="777240"/>
            <a:ext cx="2419091" cy="3200400"/>
          </a:xfrm>
          <a:prstGeom prst="roundRect">
            <a:avLst>
              <a:gd name="adj" fmla="val 64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560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5671315" y="822960"/>
            <a:ext cx="2327651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remember? Say it – then use it in a sentence!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 ricordi? Dillo – poi usalo in una frase!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2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645920"/>
          </a:xfrm>
          <a:prstGeom prst="roundRect">
            <a:avLst>
              <a:gd name="adj" fmla="val 9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6B_2_people_jpg_616x374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55448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200400"/>
            <a:ext cx="2743200" cy="1508760"/>
          </a:xfrm>
          <a:prstGeom prst="roundRect">
            <a:avLst>
              <a:gd name="adj" fmla="val 8485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291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694176"/>
            <a:ext cx="208483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 part 1: Every picture tells a story</a:t>
            </a:r>
            <a:endParaRPr lang="en-US" sz="11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Deduction: must · might · can't</a:t>
            </a:r>
            <a:endParaRPr lang="en-US" sz="1100" dirty="0"/>
          </a:p>
        </p:txBody>
      </p:sp>
      <p:sp>
        <p:nvSpPr>
          <p:cNvPr id="20" name="kw_34"/>
          <p:cNvSpPr/>
          <p:nvPr/>
        </p:nvSpPr>
        <p:spPr>
          <a:xfrm>
            <a:off x="3246120" y="1417320"/>
            <a:ext cx="5623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Can you remember these words? What do they mean?</a:t>
            </a:r>
            <a:endParaRPr lang="en-US" sz="1200" dirty="0"/>
          </a:p>
        </p:txBody>
      </p:sp>
      <p:sp>
        <p:nvSpPr>
          <p:cNvPr id="21" name="w_35"/>
          <p:cNvSpPr/>
          <p:nvPr/>
        </p:nvSpPr>
        <p:spPr>
          <a:xfrm>
            <a:off x="3246120" y="1783080"/>
            <a:ext cx="1888236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200" dirty="0"/>
          </a:p>
        </p:txBody>
      </p:sp>
      <p:sp>
        <p:nvSpPr>
          <p:cNvPr id="22" name="w_36"/>
          <p:cNvSpPr/>
          <p:nvPr/>
        </p:nvSpPr>
        <p:spPr>
          <a:xfrm>
            <a:off x="5225796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200" dirty="0"/>
          </a:p>
        </p:txBody>
      </p:sp>
      <p:sp>
        <p:nvSpPr>
          <p:cNvPr id="23" name="w_37"/>
          <p:cNvSpPr/>
          <p:nvPr/>
        </p:nvSpPr>
        <p:spPr>
          <a:xfrm>
            <a:off x="6163056" y="1783080"/>
            <a:ext cx="672084" cy="347472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200" dirty="0"/>
          </a:p>
        </p:txBody>
      </p:sp>
      <p:sp>
        <p:nvSpPr>
          <p:cNvPr id="24" name="w_38"/>
          <p:cNvSpPr/>
          <p:nvPr/>
        </p:nvSpPr>
        <p:spPr>
          <a:xfrm>
            <a:off x="692658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200" dirty="0"/>
          </a:p>
        </p:txBody>
      </p:sp>
      <p:sp>
        <p:nvSpPr>
          <p:cNvPr id="25" name="w_39"/>
          <p:cNvSpPr/>
          <p:nvPr/>
        </p:nvSpPr>
        <p:spPr>
          <a:xfrm>
            <a:off x="7863840" y="1783080"/>
            <a:ext cx="845820" cy="347472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200" dirty="0"/>
          </a:p>
        </p:txBody>
      </p:sp>
      <p:sp>
        <p:nvSpPr>
          <p:cNvPr id="26" name="w_40"/>
          <p:cNvSpPr/>
          <p:nvPr/>
        </p:nvSpPr>
        <p:spPr>
          <a:xfrm>
            <a:off x="3246120" y="2185416"/>
            <a:ext cx="1106424" cy="347472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200" dirty="0"/>
          </a:p>
        </p:txBody>
      </p:sp>
      <p:sp>
        <p:nvSpPr>
          <p:cNvPr id="27" name="lv_41"/>
          <p:cNvSpPr/>
          <p:nvPr/>
        </p:nvSpPr>
        <p:spPr>
          <a:xfrm>
            <a:off x="324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does it mean?</a:t>
            </a:r>
            <a:endParaRPr lang="en-US" sz="1000" dirty="0"/>
          </a:p>
        </p:txBody>
      </p:sp>
      <p:sp>
        <p:nvSpPr>
          <p:cNvPr id="28" name="lv_42"/>
          <p:cNvSpPr/>
          <p:nvPr/>
        </p:nvSpPr>
        <p:spPr>
          <a:xfrm>
            <a:off x="5151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⭐⭐ </a:t>
            </a:r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 it in a sentence.</a:t>
            </a:r>
            <a:endParaRPr lang="en-US" sz="1000" dirty="0"/>
          </a:p>
        </p:txBody>
      </p:sp>
      <p:sp>
        <p:nvSpPr>
          <p:cNvPr id="29" name="lv_43"/>
          <p:cNvSpPr/>
          <p:nvPr/>
        </p:nvSpPr>
        <p:spPr>
          <a:xfrm>
            <a:off x="7056120" y="2642616"/>
            <a:ext cx="1813560" cy="384048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</p:spPr>
        <p:txBody>
          <a:bodyPr wrap="square" lIns="50800" tIns="0" rIns="508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⭐⭐⭐ </a:t>
            </a:r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it negative or a question!</a:t>
            </a:r>
            <a:endParaRPr lang="en-US" sz="950" dirty="0"/>
          </a:p>
        </p:txBody>
      </p:sp>
      <p:sp>
        <p:nvSpPr>
          <p:cNvPr id="30" name="cd_44"/>
          <p:cNvSpPr/>
          <p:nvPr/>
        </p:nvSpPr>
        <p:spPr>
          <a:xfrm>
            <a:off x="3246120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rh_45"/>
          <p:cNvSpPr/>
          <p:nvPr/>
        </p:nvSpPr>
        <p:spPr>
          <a:xfrm>
            <a:off x="3337560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100" dirty="0"/>
          </a:p>
        </p:txBody>
      </p:sp>
      <p:sp>
        <p:nvSpPr>
          <p:cNvPr id="32" name="R1_rl46"/>
          <p:cNvSpPr/>
          <p:nvPr/>
        </p:nvSpPr>
        <p:spPr>
          <a:xfrm>
            <a:off x="3383280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00" dirty="0"/>
          </a:p>
        </p:txBody>
      </p:sp>
      <p:sp>
        <p:nvSpPr>
          <p:cNvPr id="33" name="cd_47"/>
          <p:cNvSpPr/>
          <p:nvPr/>
        </p:nvSpPr>
        <p:spPr>
          <a:xfrm>
            <a:off x="6112764" y="3172968"/>
            <a:ext cx="2756916" cy="1581912"/>
          </a:xfrm>
          <a:prstGeom prst="roundRect">
            <a:avLst>
              <a:gd name="adj" fmla="val 8092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4" name="rh_48"/>
          <p:cNvSpPr/>
          <p:nvPr/>
        </p:nvSpPr>
        <p:spPr>
          <a:xfrm>
            <a:off x="6204204" y="3246120"/>
            <a:ext cx="2574036" cy="310896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Your turn: 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100" dirty="0"/>
          </a:p>
        </p:txBody>
      </p:sp>
      <p:sp>
        <p:nvSpPr>
          <p:cNvPr id="35" name="R2_rl49"/>
          <p:cNvSpPr/>
          <p:nvPr/>
        </p:nvSpPr>
        <p:spPr>
          <a:xfrm>
            <a:off x="6249924" y="3630168"/>
            <a:ext cx="2482596" cy="105156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52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4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61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6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4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correct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frase corretta.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 'Correct' a correct sentence = –1!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Giusta = 1 punto. 'Correggere' una frase giusta = –1!</a:t>
            </a:r>
            <a:endParaRPr lang="en-US" sz="950" dirty="0"/>
          </a:p>
        </p:txBody>
      </p:sp>
      <p:sp>
        <p:nvSpPr>
          <p:cNvPr id="18" name="st_65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6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67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chip_68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200" dirty="0"/>
          </a:p>
        </p:txBody>
      </p:sp>
      <p:sp>
        <p:nvSpPr>
          <p:cNvPr id="22" name="bd_69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70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1_chip71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200" dirty="0"/>
          </a:p>
        </p:txBody>
      </p:sp>
      <p:sp>
        <p:nvSpPr>
          <p:cNvPr id="25" name="bd_72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73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2_chip74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200" dirty="0"/>
          </a:p>
        </p:txBody>
      </p:sp>
      <p:sp>
        <p:nvSpPr>
          <p:cNvPr id="28" name="bd_75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gq_76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3_chip77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200" dirty="0"/>
          </a:p>
        </p:txBody>
      </p:sp>
      <p:sp>
        <p:nvSpPr>
          <p:cNvPr id="31" name="bd_78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gq_79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4_chip80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200" dirty="0"/>
          </a:p>
        </p:txBody>
      </p:sp>
      <p:sp>
        <p:nvSpPr>
          <p:cNvPr id="34" name="bd_81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gq_82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5_chip83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6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8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✅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endParaRPr lang="en-US" sz="950" dirty="0"/>
          </a:p>
        </p:txBody>
      </p:sp>
      <p:sp>
        <p:nvSpPr>
          <p:cNvPr id="10" name="meta_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1" name="tag_9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50" dirty="0"/>
          </a:p>
        </p:txBody>
      </p:sp>
      <p:pic>
        <p:nvPicPr>
          <p:cNvPr id="12" name="logo_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4" name="cd_95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e_96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6" name="en_97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7" name="R1_def98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8" name="R2_it99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19" name="cd_100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e_101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1" name="en_102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2" name="R3_def103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3" name="R4_it104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4" name="cd_105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5" name="e_106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6" name="en_107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7" name="R5_def108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8" name="R6_it109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29" name="cd_110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0" name="e_111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1" name="en_112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2" name="R7_def113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3" name="R8_it114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4" name="cd_115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5" name="e_116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6" name="en_117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7" name="R9_def118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8" name="R10_it119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39" name="cd_120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0" name="e_121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1" name="en_122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2" name="R11_def123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3" name="R12_it124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4" name="cd_125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5" name="e_126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6" name="en_127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7" name="R13_def128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8" name="R14_it129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49" name="cd_130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0" name="e_131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1" name="en_132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2" name="R15_def133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3" name="R16_it134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4" name="ap_135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5" name="ah_13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7" name="ah_13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59" name="R17_wc138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R17_w139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6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4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4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42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4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4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4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5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51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4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→ your teeth (mordere)</a:t>
            </a:r>
            <a:endParaRPr lang="en-US" sz="1050" dirty="0"/>
          </a:p>
        </p:txBody>
      </p:sp>
      <p:sp>
        <p:nvSpPr>
          <p:cNvPr id="18" name="pf_155"/>
          <p:cNvSpPr/>
          <p:nvPr/>
        </p:nvSpPr>
        <p:spPr>
          <a:xfrm rot="-90000">
            <a:off x="365760" y="2368296"/>
            <a:ext cx="2606040" cy="1746504"/>
          </a:xfrm>
          <a:prstGeom prst="roundRect">
            <a:avLst>
              <a:gd name="adj" fmla="val 89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6" descr="/home/claude/lls-course/v2/cache/6B_2_people_jpg_605x39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414016"/>
            <a:ext cx="2514600" cy="1655064"/>
          </a:xfrm>
          <a:prstGeom prst="rect">
            <a:avLst/>
          </a:prstGeom>
        </p:spPr>
      </p:pic>
      <p:sp>
        <p:nvSpPr>
          <p:cNvPr id="20" name="ap_157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58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3" name="ah_159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bd_160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61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7" name="R1_chip162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50" dirty="0"/>
          </a:p>
        </p:txBody>
      </p:sp>
      <p:sp>
        <p:nvSpPr>
          <p:cNvPr id="28" name="bd_163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64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30" name="R2_chip165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50" dirty="0"/>
          </a:p>
        </p:txBody>
      </p:sp>
      <p:sp>
        <p:nvSpPr>
          <p:cNvPr id="31" name="bd_166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67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3" name="R3_chip168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50" dirty="0"/>
          </a:p>
        </p:txBody>
      </p:sp>
      <p:sp>
        <p:nvSpPr>
          <p:cNvPr id="34" name="bd_169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70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6" name="R4_chip171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50" dirty="0"/>
          </a:p>
        </p:txBody>
      </p:sp>
      <p:sp>
        <p:nvSpPr>
          <p:cNvPr id="37" name="bd_172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73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9" name="R5_chip174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50" dirty="0"/>
          </a:p>
        </p:txBody>
      </p:sp>
      <p:sp>
        <p:nvSpPr>
          <p:cNvPr id="40" name="bd_175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q_176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2" name="R6_chip177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50" dirty="0"/>
          </a:p>
        </p:txBody>
      </p:sp>
      <p:sp>
        <p:nvSpPr>
          <p:cNvPr id="43" name="bd_178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q_179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5" name="R7_chip180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50" dirty="0"/>
          </a:p>
        </p:txBody>
      </p:sp>
      <p:sp>
        <p:nvSpPr>
          <p:cNvPr id="46" name="bd_181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7" name="q_182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8" name="R8_chip183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6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88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endParaRPr lang="en-US" sz="950" dirty="0"/>
          </a:p>
        </p:txBody>
      </p:sp>
      <p:sp>
        <p:nvSpPr>
          <p:cNvPr id="10" name="meta_1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1" name="tag_19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1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4" name="cd_19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9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19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19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audio and DO the action.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l'audio e fai l'azione.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Then: 'Teacher says…' – only move if you hear 'Teacher says'!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Poi: muoviti solo se senti 'Teacher says'!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Wrong move? Sit down. The last person standing wins!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Sbagli? Siediti. Vince l'ultimo in piedi!</a:t>
            </a:r>
            <a:endParaRPr lang="en-US" sz="900" dirty="0"/>
          </a:p>
        </p:txBody>
      </p:sp>
      <p:sp>
        <p:nvSpPr>
          <p:cNvPr id="18" name="ap_199"/>
          <p:cNvSpPr/>
          <p:nvPr/>
        </p:nvSpPr>
        <p:spPr>
          <a:xfrm>
            <a:off x="365760" y="411480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19" name="ah_20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0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bd_202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4" name="gq_203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250" dirty="0"/>
          </a:p>
        </p:txBody>
      </p:sp>
      <p:sp>
        <p:nvSpPr>
          <p:cNvPr id="25" name="chip_204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200" dirty="0"/>
          </a:p>
        </p:txBody>
      </p:sp>
      <p:sp>
        <p:nvSpPr>
          <p:cNvPr id="26" name="bd_205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7" name="gq_206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250" dirty="0"/>
          </a:p>
        </p:txBody>
      </p:sp>
      <p:sp>
        <p:nvSpPr>
          <p:cNvPr id="28" name="R1_chip207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200" dirty="0"/>
          </a:p>
        </p:txBody>
      </p:sp>
      <p:sp>
        <p:nvSpPr>
          <p:cNvPr id="29" name="bd_208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gq_209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250" dirty="0"/>
          </a:p>
        </p:txBody>
      </p:sp>
      <p:sp>
        <p:nvSpPr>
          <p:cNvPr id="31" name="R2_chip210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200" dirty="0"/>
          </a:p>
        </p:txBody>
      </p:sp>
      <p:sp>
        <p:nvSpPr>
          <p:cNvPr id="32" name="bd_211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3" name="gq_212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250" dirty="0"/>
          </a:p>
        </p:txBody>
      </p:sp>
      <p:sp>
        <p:nvSpPr>
          <p:cNvPr id="34" name="R3_chip213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200" dirty="0"/>
          </a:p>
        </p:txBody>
      </p:sp>
      <p:sp>
        <p:nvSpPr>
          <p:cNvPr id="35" name="bd_214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6" name="gq_215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250" dirty="0"/>
          </a:p>
        </p:txBody>
      </p:sp>
      <p:sp>
        <p:nvSpPr>
          <p:cNvPr id="37" name="R4_chip216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200" dirty="0"/>
          </a:p>
        </p:txBody>
      </p:sp>
      <p:sp>
        <p:nvSpPr>
          <p:cNvPr id="38" name="bd_217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gq_218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250" dirty="0"/>
          </a:p>
        </p:txBody>
      </p:sp>
      <p:sp>
        <p:nvSpPr>
          <p:cNvPr id="40" name="R5_chip219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3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3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2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2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2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4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endParaRPr lang="en-US" sz="950" dirty="0"/>
          </a:p>
        </p:txBody>
      </p:sp>
      <p:sp>
        <p:nvSpPr>
          <p:cNvPr id="10" name="meta_227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28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2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4" name="cd_231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3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7" name="ap_234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18" name="ah_235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0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1" name="ah_236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3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lg_23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5" name="lg_23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6" name="lg_23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7" name="lg_240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8" name="lg_241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9" name="sq_242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0" name="R1_tag243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1" name="sq_244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2" name="R2_tag245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3" name="sq_246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4" name="R3_tag247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5" name="sq_248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6" name="R4_tag249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7" name="sq_250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38" name="R5_tag251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9" name="sq_252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0" name="R6_tag253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endParaRPr lang="en-US" sz="950" dirty="0"/>
          </a:p>
        </p:txBody>
      </p:sp>
      <p:sp>
        <p:nvSpPr>
          <p:cNvPr id="10" name="meta_26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26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26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6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4" name="cd_265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26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26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7" name="ap_268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18" name="ah_26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0" name="ah_27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2" name="lg_271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3" name="lg_272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4" name="lg_273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5" name="lg_274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6" name="lg_275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7" name="sq_276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28" name="R1_tag277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29" name="sq_278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0" name="R2_tag279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1" name="sq_280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2" name="R3_tag281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3" name="sq_282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4" name="R4_tag283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5" name="sq_284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6" name="R5_tag285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7" name="sq_286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38" name="R6_tag287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90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2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29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9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9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299"/>
          <p:cNvSpPr/>
          <p:nvPr/>
        </p:nvSpPr>
        <p:spPr>
          <a:xfrm rot="-120000">
            <a:off x="742588" y="1371600"/>
            <a:ext cx="1943824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00" descr="/home/claude/lls-course/v2/cache/4a2_meet_parents_jpg_446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788308" y="1417320"/>
            <a:ext cx="1852384" cy="1234440"/>
          </a:xfrm>
          <a:prstGeom prst="rect">
            <a:avLst/>
          </a:prstGeom>
        </p:spPr>
      </p:pic>
      <p:sp>
        <p:nvSpPr>
          <p:cNvPr id="16" name="cd_301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2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3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4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I'm nervous, I usually…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(don't) make eye contact when…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has charisma because…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 too! / Really? I don't.</a:t>
            </a:r>
            <a:endParaRPr lang="en-US" sz="1000" dirty="0"/>
          </a:p>
        </p:txBody>
      </p:sp>
      <p:sp>
        <p:nvSpPr>
          <p:cNvPr id="20" name="R1_qb30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6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07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08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09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10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11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2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15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Dario's big solo</a:t>
            </a:r>
            <a:endParaRPr lang="en-US" sz="2500" dirty="0"/>
          </a:p>
        </p:txBody>
      </p:sp>
      <p:pic>
        <p:nvPicPr>
          <p:cNvPr id="6" name="brP_31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1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1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1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32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32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2" name="logo_32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2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4" name="pf_324"/>
          <p:cNvSpPr/>
          <p:nvPr/>
        </p:nvSpPr>
        <p:spPr>
          <a:xfrm rot="-90000">
            <a:off x="411480" y="1417320"/>
            <a:ext cx="2560320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25" descr="/home/claude/lls-course/v2/cache/6B_2_people_jpg_594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1463040"/>
            <a:ext cx="2468880" cy="1188720"/>
          </a:xfrm>
          <a:prstGeom prst="rect">
            <a:avLst/>
          </a:prstGeom>
        </p:spPr>
      </p:pic>
      <p:sp>
        <p:nvSpPr>
          <p:cNvPr id="16" name="cd_326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27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8" name="ih_328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9" name="il_329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(your nails)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mangiarsi (le unghie)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 · stomach · toes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ginocchia · stomaco · dita dei piedi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· lips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fischiare · labbra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 at · point at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fissare · indicare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 · nod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applaudire · annuire</a:t>
            </a:r>
            <a:endParaRPr lang="en-US" sz="7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7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· shoulders</a:t>
            </a:r>
            <a:pPr indent="0" marL="0">
              <a:spcAft>
                <a:spcPts val="200"/>
              </a:spcAft>
              <a:buNone/>
            </a:pPr>
            <a:r>
              <a:rPr lang="en-US" sz="7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– mento · spalle</a:t>
            </a:r>
            <a:endParaRPr lang="en-US" sz="750" dirty="0"/>
          </a:p>
        </p:txBody>
      </p:sp>
      <p:sp>
        <p:nvSpPr>
          <p:cNvPr id="20" name="R1_sb330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R1_sl331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has a trumpet solo at the school concert. He's so nervous 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nails.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nervous or relaxed? · What does he bite?</a:t>
            </a:r>
            <a:endParaRPr lang="en-US" sz="900" dirty="0"/>
          </a:p>
        </p:txBody>
      </p:sp>
      <p:sp>
        <p:nvSpPr>
          <p:cNvPr id="22" name="R2_sb332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3" name="R2_sl333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shake and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hurts. He can't feel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his knees shake? · What hurts – his head or his stomach?</a:t>
            </a:r>
            <a:endParaRPr lang="en-US" sz="1150" dirty="0"/>
          </a:p>
        </p:txBody>
      </p:sp>
      <p:sp>
        <p:nvSpPr>
          <p:cNvPr id="24" name="R3_sb334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R3_sl335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stage, he can't play a note.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song with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lips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he play or whistle? · What does he whistle with?</a:t>
            </a:r>
            <a:endParaRPr lang="en-US" sz="1050" dirty="0"/>
          </a:p>
        </p:txBody>
      </p:sp>
      <p:sp>
        <p:nvSpPr>
          <p:cNvPr id="26" name="R4_sb336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R4_sl337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boy in the front row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trousers.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the boy stare or smile? · What does he point at?</a:t>
            </a:r>
            <a:endParaRPr lang="en-US" sz="1150" dirty="0"/>
          </a:p>
        </p:txBody>
      </p:sp>
      <p:sp>
        <p:nvSpPr>
          <p:cNvPr id="28" name="R5_sb338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9" name="R5_sl339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Dario's trousers are on back to front! But everybody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his trousers OK? · Does everybody clap or laugh?</a:t>
            </a:r>
            <a:endParaRPr lang="en-US" sz="1100" dirty="0"/>
          </a:p>
        </p:txBody>
      </p:sp>
      <p:sp>
        <p:nvSpPr>
          <p:cNvPr id="30" name="R6_sb340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R6_sl341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lifts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moves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back and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'Thank you!'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sad or proud? · And you – what do you do when you're nervous?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4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4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46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4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4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49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50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950" dirty="0"/>
          </a:p>
        </p:txBody>
      </p:sp>
      <p:pic>
        <p:nvPicPr>
          <p:cNvPr id="12" name="logo_35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53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54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55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56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57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58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59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60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61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62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65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6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67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6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6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37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7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37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74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75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76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77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78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79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80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81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82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83"/>
          <p:cNvSpPr/>
          <p:nvPr/>
        </p:nvSpPr>
        <p:spPr>
          <a:xfrm rot="120000">
            <a:off x="7013233" y="1417320"/>
            <a:ext cx="1152575" cy="1508760"/>
          </a:xfrm>
          <a:prstGeom prst="roundRect">
            <a:avLst>
              <a:gd name="adj" fmla="val 134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84" descr="/home/claude/lls-course/v2/cache/6B_2_colin_jpg_255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7058953" y="1463040"/>
            <a:ext cx="1061135" cy="1417320"/>
          </a:xfrm>
          <a:prstGeom prst="rect">
            <a:avLst/>
          </a:prstGeom>
        </p:spPr>
      </p:pic>
      <p:sp>
        <p:nvSpPr>
          <p:cNvPr id="25" name="cd_385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86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87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88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= correct / repair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plenty of = a lot of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91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93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The article is on the last slide.</a:t>
            </a:r>
            <a:endParaRPr lang="en-US" sz="1250" dirty="0"/>
          </a:p>
        </p:txBody>
      </p:sp>
      <p:sp>
        <p:nvSpPr>
          <p:cNvPr id="8" name="insIT_3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con un compagno. L'articolo è nella slide precedente.</a:t>
            </a:r>
            <a:endParaRPr lang="en-US" sz="950" dirty="0"/>
          </a:p>
        </p:txBody>
      </p:sp>
      <p:sp>
        <p:nvSpPr>
          <p:cNvPr id="9" name="cmd_39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algn="ctr"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endParaRPr lang="en-US" sz="950" dirty="0"/>
          </a:p>
        </p:txBody>
      </p:sp>
      <p:sp>
        <p:nvSpPr>
          <p:cNvPr id="10" name="meta_39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39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3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4" name="cd_400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0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40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403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 coach? → Danish Sheikh</a:t>
            </a:r>
            <a:endParaRPr lang="en-US" sz="1050" dirty="0"/>
          </a:p>
        </p:txBody>
      </p:sp>
      <p:sp>
        <p:nvSpPr>
          <p:cNvPr id="18" name="pf_404"/>
          <p:cNvSpPr/>
          <p:nvPr/>
        </p:nvSpPr>
        <p:spPr>
          <a:xfrm rot="-90000">
            <a:off x="873420" y="2569464"/>
            <a:ext cx="1590721" cy="2093976"/>
          </a:xfrm>
          <a:prstGeom prst="roundRect">
            <a:avLst>
              <a:gd name="adj" fmla="val 97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05" descr="/home/claude/lls-course/v2/cache/6B_2_colin_jpg_361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919140" y="2615184"/>
            <a:ext cx="1499281" cy="2002536"/>
          </a:xfrm>
          <a:prstGeom prst="rect">
            <a:avLst/>
          </a:prstGeom>
        </p:spPr>
      </p:pic>
      <p:sp>
        <p:nvSpPr>
          <p:cNvPr id="20" name="bd_406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q_407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experience does Danish Sheikh have?</a:t>
            </a:r>
            <a:endParaRPr lang="en-US" sz="1150" dirty="0"/>
          </a:p>
        </p:txBody>
      </p:sp>
      <p:sp>
        <p:nvSpPr>
          <p:cNvPr id="22" name="R1_chip408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900" dirty="0"/>
          </a:p>
        </p:txBody>
      </p:sp>
      <p:sp>
        <p:nvSpPr>
          <p:cNvPr id="23" name="bd_409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q_410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he successful?</a:t>
            </a:r>
            <a:endParaRPr lang="en-US" sz="1150" dirty="0"/>
          </a:p>
        </p:txBody>
      </p:sp>
      <p:sp>
        <p:nvSpPr>
          <p:cNvPr id="25" name="R2_chip411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900" dirty="0"/>
          </a:p>
        </p:txBody>
      </p:sp>
      <p:sp>
        <p:nvSpPr>
          <p:cNvPr id="26" name="bd_412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q_413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he do yesterday? Why?</a:t>
            </a:r>
            <a:endParaRPr lang="en-US" sz="1150" dirty="0"/>
          </a:p>
        </p:txBody>
      </p:sp>
      <p:sp>
        <p:nvSpPr>
          <p:cNvPr id="28" name="R3_chip414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900" dirty="0"/>
          </a:p>
        </p:txBody>
      </p:sp>
      <p:sp>
        <p:nvSpPr>
          <p:cNvPr id="29" name="bd_415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q_416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problems does Colin have?</a:t>
            </a:r>
            <a:endParaRPr lang="en-US" sz="1150" dirty="0"/>
          </a:p>
        </p:txBody>
      </p:sp>
      <p:sp>
        <p:nvSpPr>
          <p:cNvPr id="31" name="R4_chip417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1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20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42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2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00" dirty="0"/>
          </a:p>
        </p:txBody>
      </p:sp>
      <p:sp>
        <p:nvSpPr>
          <p:cNvPr id="8" name="insIT_42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42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endParaRPr lang="en-US" sz="950" dirty="0"/>
          </a:p>
        </p:txBody>
      </p:sp>
      <p:sp>
        <p:nvSpPr>
          <p:cNvPr id="10" name="meta_42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1" name="tag_426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2" name="logo_42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2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4" name="cd_429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43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6" name="ih_43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7" name="ap_432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18" name="ah_43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9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0" name="ah_43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2" name="lg_435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3" name="lg_436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4" name="sq_437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100" dirty="0"/>
          </a:p>
        </p:txBody>
      </p:sp>
      <p:sp>
        <p:nvSpPr>
          <p:cNvPr id="25" name="R1_tag438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6" name="sq_439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100" dirty="0"/>
          </a:p>
        </p:txBody>
      </p:sp>
      <p:sp>
        <p:nvSpPr>
          <p:cNvPr id="27" name="R2_tag440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8" name="sq_441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100" dirty="0"/>
          </a:p>
        </p:txBody>
      </p:sp>
      <p:sp>
        <p:nvSpPr>
          <p:cNvPr id="29" name="R3_tag442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0" name="sq_443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00" dirty="0"/>
          </a:p>
        </p:txBody>
      </p:sp>
      <p:sp>
        <p:nvSpPr>
          <p:cNvPr id="31" name="R4_tag444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2" name="sq_445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100" dirty="0"/>
          </a:p>
        </p:txBody>
      </p:sp>
      <p:sp>
        <p:nvSpPr>
          <p:cNvPr id="33" name="R5_tag446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4" name="sq_447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100" dirty="0"/>
          </a:p>
        </p:txBody>
      </p:sp>
      <p:sp>
        <p:nvSpPr>
          <p:cNvPr id="35" name="R6_tag448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6" name="sq_449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100" dirty="0"/>
          </a:p>
        </p:txBody>
      </p:sp>
      <p:sp>
        <p:nvSpPr>
          <p:cNvPr id="37" name="R7_tag450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8" name="sq_451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100" dirty="0"/>
          </a:p>
        </p:txBody>
      </p:sp>
      <p:sp>
        <p:nvSpPr>
          <p:cNvPr id="39" name="R8_tag452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0" name="sq_453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100" dirty="0"/>
          </a:p>
        </p:txBody>
      </p:sp>
      <p:sp>
        <p:nvSpPr>
          <p:cNvPr id="41" name="R9_tag454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2" name="sq_455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100" dirty="0"/>
          </a:p>
        </p:txBody>
      </p:sp>
      <p:sp>
        <p:nvSpPr>
          <p:cNvPr id="43" name="R10_tag456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59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6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61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6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6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meta_464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65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2" name="logo_46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68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6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7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71"/>
          <p:cNvSpPr/>
          <p:nvPr/>
        </p:nvSpPr>
        <p:spPr>
          <a:xfrm rot="-90000">
            <a:off x="1081242" y="2057400"/>
            <a:ext cx="1357956" cy="1783080"/>
          </a:xfrm>
          <a:prstGeom prst="roundRect">
            <a:avLst>
              <a:gd name="adj" fmla="val 114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72" descr="/home/claude/lls-course/v2/cache/6B_2_colin_jpg_305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1126962" y="2103120"/>
            <a:ext cx="1266516" cy="1691640"/>
          </a:xfrm>
          <a:prstGeom prst="rect">
            <a:avLst/>
          </a:prstGeom>
        </p:spPr>
      </p:pic>
      <p:sp>
        <p:nvSpPr>
          <p:cNvPr id="21" name="cd_473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74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75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gq_476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5" name="R1_chip477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6" name="gq_478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7" name="R2_chip479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8" name="gq_480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29" name="R3_chip481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0" name="gq_482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1" name="R4_chip483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86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8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88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8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9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endParaRPr lang="en-US" sz="950" dirty="0"/>
          </a:p>
        </p:txBody>
      </p:sp>
      <p:sp>
        <p:nvSpPr>
          <p:cNvPr id="10" name="meta_491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1" name="tag_492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2" name="logo_4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4" name="ap_495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5" name="ah_49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9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98"/>
          <p:cNvSpPr/>
          <p:nvPr/>
        </p:nvSpPr>
        <p:spPr>
          <a:xfrm rot="-90000">
            <a:off x="1081242" y="2057400"/>
            <a:ext cx="1357956" cy="1783080"/>
          </a:xfrm>
          <a:prstGeom prst="roundRect">
            <a:avLst>
              <a:gd name="adj" fmla="val 114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99" descr="/home/claude/lls-course/v2/cache/6B_2_colin_jpg_305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1126962" y="2103120"/>
            <a:ext cx="1266516" cy="1691640"/>
          </a:xfrm>
          <a:prstGeom prst="rect">
            <a:avLst/>
          </a:prstGeom>
        </p:spPr>
      </p:pic>
      <p:sp>
        <p:nvSpPr>
          <p:cNvPr id="21" name="cd_500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501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502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gq_503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5" name="R1_chip504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6" name="gq_505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7" name="R2_chip506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28" name="gq_507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29" name="R3_chip508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511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5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13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51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51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1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1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520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2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2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523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mimer looks at the screen – the team does NOT.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mimo guarda lo schermo – la squadra NO.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it: no words, no sounds!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Mima: niente parole, niente suoni!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Team: 'You're shaking hands!' Full phrase = 1 point.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Squadra: frase completa = 1 punto.</a:t>
            </a:r>
            <a:endParaRPr lang="en-US" sz="900" dirty="0"/>
          </a:p>
        </p:txBody>
      </p:sp>
      <p:sp>
        <p:nvSpPr>
          <p:cNvPr id="18" name="st_524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2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52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250" dirty="0"/>
          </a:p>
        </p:txBody>
      </p:sp>
      <p:sp>
        <p:nvSpPr>
          <p:cNvPr id="21" name="chip_52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200" dirty="0"/>
          </a:p>
        </p:txBody>
      </p:sp>
      <p:sp>
        <p:nvSpPr>
          <p:cNvPr id="22" name="bd_52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52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250" dirty="0"/>
          </a:p>
        </p:txBody>
      </p:sp>
      <p:sp>
        <p:nvSpPr>
          <p:cNvPr id="24" name="R1_chip53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200" dirty="0"/>
          </a:p>
        </p:txBody>
      </p:sp>
      <p:sp>
        <p:nvSpPr>
          <p:cNvPr id="25" name="bd_53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53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250" dirty="0"/>
          </a:p>
        </p:txBody>
      </p:sp>
      <p:sp>
        <p:nvSpPr>
          <p:cNvPr id="27" name="R2_chip53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200" dirty="0"/>
          </a:p>
        </p:txBody>
      </p:sp>
      <p:sp>
        <p:nvSpPr>
          <p:cNvPr id="28" name="bd_53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gq_53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250" dirty="0"/>
          </a:p>
        </p:txBody>
      </p:sp>
      <p:sp>
        <p:nvSpPr>
          <p:cNvPr id="30" name="R3_chip53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200" dirty="0"/>
          </a:p>
        </p:txBody>
      </p:sp>
      <p:sp>
        <p:nvSpPr>
          <p:cNvPr id="31" name="bd_53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gq_53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50" dirty="0"/>
          </a:p>
        </p:txBody>
      </p:sp>
      <p:sp>
        <p:nvSpPr>
          <p:cNvPr id="33" name="R4_chip53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200" dirty="0"/>
          </a:p>
        </p:txBody>
      </p:sp>
      <p:sp>
        <p:nvSpPr>
          <p:cNvPr id="34" name="bd_54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5" name="gq_54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250" dirty="0"/>
          </a:p>
        </p:txBody>
      </p:sp>
      <p:sp>
        <p:nvSpPr>
          <p:cNvPr id="36" name="R5_chip54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45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4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4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4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algn="ctr"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55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5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54"/>
          <p:cNvSpPr/>
          <p:nvPr/>
        </p:nvSpPr>
        <p:spPr>
          <a:xfrm rot="-120000">
            <a:off x="1206673" y="1371600"/>
            <a:ext cx="1015654" cy="1325880"/>
          </a:xfrm>
          <a:prstGeom prst="roundRect">
            <a:avLst>
              <a:gd name="adj" fmla="val 1530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55" descr="/home/claude/lls-course/v2/cache/6B_2_colin_jpg_222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1252393" y="1417320"/>
            <a:ext cx="924214" cy="1234440"/>
          </a:xfrm>
          <a:prstGeom prst="rect">
            <a:avLst/>
          </a:prstGeom>
        </p:spPr>
      </p:pic>
      <p:sp>
        <p:nvSpPr>
          <p:cNvPr id="16" name="cd_556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57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58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59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 can / can't learn it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pay £150 an hour!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agree / I'm not so sure…</a:t>
            </a:r>
            <a:endParaRPr lang="en-US" sz="1150" dirty="0"/>
          </a:p>
        </p:txBody>
      </p:sp>
      <p:sp>
        <p:nvSpPr>
          <p:cNvPr id="20" name="R1_qb56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6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think you can learn some things, like eye contact.</a:t>
            </a:r>
            <a:endParaRPr lang="en-US" sz="1150" dirty="0"/>
          </a:p>
        </p:txBody>
      </p:sp>
      <p:sp>
        <p:nvSpPr>
          <p:cNvPr id="22" name="R2_qb56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6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Maybe before a job interview.</a:t>
            </a:r>
            <a:endParaRPr lang="en-US" sz="1150" dirty="0"/>
          </a:p>
        </p:txBody>
      </p:sp>
      <p:sp>
        <p:nvSpPr>
          <p:cNvPr id="24" name="R3_qb56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6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can watch videos online!</a:t>
            </a:r>
            <a:endParaRPr lang="en-US" sz="1150" dirty="0"/>
          </a:p>
        </p:txBody>
      </p:sp>
      <p:sp>
        <p:nvSpPr>
          <p:cNvPr id="26" name="R4_qb56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6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make more eye contact.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70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72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7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7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75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57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7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78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79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3 body verbs and the part of the body you use (clap → hands).</a:t>
            </a:r>
            <a:endParaRPr lang="en-US" sz="1400" dirty="0"/>
          </a:p>
        </p:txBody>
      </p:sp>
      <p:sp>
        <p:nvSpPr>
          <p:cNvPr id="15" name="bd_580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81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2 tips from the charisma coach.</a:t>
            </a:r>
            <a:endParaRPr lang="en-US" sz="1400" dirty="0"/>
          </a:p>
        </p:txBody>
      </p:sp>
      <p:sp>
        <p:nvSpPr>
          <p:cNvPr id="17" name="bd_582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83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Tell me 1 word with two sounds in one (like bike, train, phone).</a:t>
            </a:r>
            <a:endParaRPr lang="en-US" sz="1400" dirty="0"/>
          </a:p>
        </p:txBody>
      </p:sp>
      <p:sp>
        <p:nvSpPr>
          <p:cNvPr id="19" name="cd_584"/>
          <p:cNvSpPr/>
          <p:nvPr/>
        </p:nvSpPr>
        <p:spPr>
          <a:xfrm>
            <a:off x="5669280" y="1417320"/>
            <a:ext cx="3200400" cy="1689608"/>
          </a:xfrm>
          <a:prstGeom prst="roundRect">
            <a:avLst>
              <a:gd name="adj" fmla="val 757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85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86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87"/>
          <p:cNvSpPr/>
          <p:nvPr/>
        </p:nvSpPr>
        <p:spPr>
          <a:xfrm>
            <a:off x="6236208" y="1911096"/>
            <a:ext cx="254203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88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91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93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9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59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9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5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600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01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🖐️</a:t>
            </a:r>
            <a:endParaRPr lang="en-US" sz="1800" dirty="0"/>
          </a:p>
        </p:txBody>
      </p:sp>
      <p:sp>
        <p:nvSpPr>
          <p:cNvPr id="16" name="tt_602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parts of the body and body verbs</a:t>
            </a:r>
            <a:endParaRPr lang="en-US" sz="1350" dirty="0"/>
          </a:p>
        </p:txBody>
      </p:sp>
      <p:sp>
        <p:nvSpPr>
          <p:cNvPr id="17" name="R1_tk603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04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05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606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'two sounds in one': bike, train, phone…</a:t>
            </a:r>
            <a:endParaRPr lang="en-US" sz="1350" dirty="0"/>
          </a:p>
        </p:txBody>
      </p:sp>
      <p:sp>
        <p:nvSpPr>
          <p:cNvPr id="21" name="R2_tk607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08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09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610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and listened: can you LEARN charisma?</a:t>
            </a:r>
            <a:endParaRPr lang="en-US" sz="1350" dirty="0"/>
          </a:p>
        </p:txBody>
      </p:sp>
      <p:sp>
        <p:nvSpPr>
          <p:cNvPr id="25" name="R3_tk611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12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13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14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15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16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17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t_618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a body-language mime game</a:t>
            </a:r>
            <a:endParaRPr lang="en-US" sz="1350" dirty="0"/>
          </a:p>
        </p:txBody>
      </p:sp>
      <p:sp>
        <p:nvSpPr>
          <p:cNvPr id="33" name="R5_tk619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20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v_621"/>
          <p:cNvSpPr/>
          <p:nvPr/>
        </p:nvSpPr>
        <p:spPr>
          <a:xfrm>
            <a:off x="4023360" y="9144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⭐</a:t>
            </a:r>
            <a:endParaRPr lang="en-US" sz="5400" dirty="0"/>
          </a:p>
        </p:txBody>
      </p:sp>
      <p:sp>
        <p:nvSpPr>
          <p:cNvPr id="4" name="dvt_622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Optional extensions</a:t>
            </a:r>
            <a:endParaRPr lang="en-US" sz="3400" dirty="0"/>
          </a:p>
        </p:txBody>
      </p:sp>
      <p:sp>
        <p:nvSpPr>
          <p:cNvPr id="5" name="dvs_623"/>
          <p:cNvSpPr/>
          <p:nvPr/>
        </p:nvSpPr>
        <p:spPr>
          <a:xfrm>
            <a:off x="914400" y="26060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Only if there's time – the lesson is finished. · Solo se c'è tempo – la lezione è finita.</a:t>
            </a:r>
            <a:endParaRPr lang="en-US" sz="1250" dirty="0"/>
          </a:p>
        </p:txBody>
      </p:sp>
      <p:pic>
        <p:nvPicPr>
          <p:cNvPr id="6" name="logo_624" descr="/home/claude/lls-course/v2/img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2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627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62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29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63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63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algn="ctr"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0" name="meta_632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633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3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ext_636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37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38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39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40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of Sam's outfits do YOU like best? Why?</a:t>
            </a:r>
            <a:endParaRPr lang="en-US" sz="700" dirty="0"/>
          </a:p>
        </p:txBody>
      </p:sp>
      <p:sp>
        <p:nvSpPr>
          <p:cNvPr id="20" name="vq_641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642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643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644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645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646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647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648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5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65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65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653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65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65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algn="ctr"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→  </a:t>
            </a:r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🎬 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endParaRPr lang="en-US" sz="950" dirty="0"/>
          </a:p>
        </p:txBody>
      </p:sp>
      <p:sp>
        <p:nvSpPr>
          <p:cNvPr id="10" name="meta_656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1" name="tag_657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5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5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4" name="ext_660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61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62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63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64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agree with Elin's rules?</a:t>
            </a:r>
            <a:endParaRPr lang="en-US" sz="700" dirty="0"/>
          </a:p>
        </p:txBody>
      </p:sp>
      <p:sp>
        <p:nvSpPr>
          <p:cNvPr id="20" name="vq_665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1" name="R1_chip666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2" name="vq_667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3" name="R2_chip668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4" name="vq_669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5" name="R3_chip670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6" name="vq_671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7" name="R4_chip672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24</a:t>
            </a:r>
            <a:endParaRPr lang="en-US" sz="2200" dirty="0"/>
          </a:p>
        </p:txBody>
      </p:sp>
      <p:pic>
        <p:nvPicPr>
          <p:cNvPr id="4" name="brY_6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75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77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7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7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algn="ctr"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algn="ctr"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680"/>
          <p:cNvSpPr/>
          <p:nvPr/>
        </p:nvSpPr>
        <p:spPr>
          <a:xfrm>
            <a:off x="6510528" y="54864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81"/>
          <p:cNvSpPr/>
          <p:nvPr/>
        </p:nvSpPr>
        <p:spPr>
          <a:xfrm>
            <a:off x="6510528" y="91440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CDBFF3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68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ext_684"/>
          <p:cNvSpPr/>
          <p:nvPr/>
        </p:nvSpPr>
        <p:spPr>
          <a:xfrm>
            <a:off x="5120640" y="4727448"/>
            <a:ext cx="3291840" cy="310896"/>
          </a:xfrm>
          <a:prstGeom prst="roundRect">
            <a:avLst>
              <a:gd name="adj" fmla="val 50000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⭐ OPTIONAL EXTENSION · only if there's time</a:t>
            </a:r>
            <a:endParaRPr lang="en-US" sz="1050" dirty="0"/>
          </a:p>
        </p:txBody>
      </p:sp>
      <p:sp>
        <p:nvSpPr>
          <p:cNvPr id="15" name="cd_68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8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8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8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secretly draws a funny alien. Don't show it!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disegna un alieno buffo. Non mostrarlo!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it. B draws and asks questions.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descrive. B disegna e fa domande.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Compare. Most similar pair wins! Then swap.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Confrontate. Vince la coppia più simile! Poi scambiate.</a:t>
            </a:r>
            <a:endParaRPr lang="en-US" sz="850" dirty="0"/>
          </a:p>
        </p:txBody>
      </p:sp>
      <p:sp>
        <p:nvSpPr>
          <p:cNvPr id="19" name="bd_689"/>
          <p:cNvSpPr/>
          <p:nvPr/>
        </p:nvSpPr>
        <p:spPr>
          <a:xfrm>
            <a:off x="3246120" y="1572768"/>
            <a:ext cx="329184" cy="329184"/>
          </a:xfrm>
          <a:prstGeom prst="ellipse">
            <a:avLst/>
          </a:prstGeom>
          <a:solidFill>
            <a:srgbClr val="7B5CD6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e.g.</a:t>
            </a:r>
            <a:endParaRPr lang="en-US" sz="500" dirty="0"/>
          </a:p>
        </p:txBody>
      </p:sp>
      <p:sp>
        <p:nvSpPr>
          <p:cNvPr id="20" name="gq_690"/>
          <p:cNvSpPr/>
          <p:nvPr/>
        </p:nvSpPr>
        <p:spPr>
          <a:xfrm>
            <a:off x="3657600" y="1417320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250" dirty="0"/>
          </a:p>
        </p:txBody>
      </p:sp>
      <p:sp>
        <p:nvSpPr>
          <p:cNvPr id="21" name="chip_691"/>
          <p:cNvSpPr/>
          <p:nvPr/>
        </p:nvSpPr>
        <p:spPr>
          <a:xfrm>
            <a:off x="6263640" y="14173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EEE8FB"/>
          </a:solidFill>
          <a:ln w="28575">
            <a:solidFill>
              <a:srgbClr val="CDBFF3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200" dirty="0"/>
          </a:p>
        </p:txBody>
      </p:sp>
      <p:sp>
        <p:nvSpPr>
          <p:cNvPr id="22" name="bd_692"/>
          <p:cNvSpPr/>
          <p:nvPr/>
        </p:nvSpPr>
        <p:spPr>
          <a:xfrm>
            <a:off x="3246120" y="227685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gq_693"/>
          <p:cNvSpPr/>
          <p:nvPr/>
        </p:nvSpPr>
        <p:spPr>
          <a:xfrm>
            <a:off x="3657600" y="2121408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250" dirty="0"/>
          </a:p>
        </p:txBody>
      </p:sp>
      <p:sp>
        <p:nvSpPr>
          <p:cNvPr id="24" name="R1_chip694"/>
          <p:cNvSpPr/>
          <p:nvPr/>
        </p:nvSpPr>
        <p:spPr>
          <a:xfrm>
            <a:off x="6263640" y="212140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200" dirty="0"/>
          </a:p>
        </p:txBody>
      </p:sp>
      <p:sp>
        <p:nvSpPr>
          <p:cNvPr id="25" name="bd_695"/>
          <p:cNvSpPr/>
          <p:nvPr/>
        </p:nvSpPr>
        <p:spPr>
          <a:xfrm>
            <a:off x="3246120" y="298094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gq_696"/>
          <p:cNvSpPr/>
          <p:nvPr/>
        </p:nvSpPr>
        <p:spPr>
          <a:xfrm>
            <a:off x="3657600" y="2825496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250" dirty="0"/>
          </a:p>
        </p:txBody>
      </p:sp>
      <p:sp>
        <p:nvSpPr>
          <p:cNvPr id="27" name="R2_chip697"/>
          <p:cNvSpPr/>
          <p:nvPr/>
        </p:nvSpPr>
        <p:spPr>
          <a:xfrm>
            <a:off x="6263640" y="2825496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2026-10-19T07:38:01Z</dcterms:created>
  <dcterms:modified xsi:type="dcterms:W3CDTF">2026-10-19T07:38:01Z</dcterms:modified>
</cp:coreProperties>
</file>