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OPENING (2 min). Show the photo (Colin Drury and Danish Sheikh, SB p.63). Ask the THINK question; take 3–4 answers. Click: the example. If they don't know 'charismatic': 'a person people like and want to listen to' – the full definition comes later. Read 'Today you're going to…'.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(2 min)
REVISION (2 min). Read the two cards; highlight: must / might / can't + infinitive WITHOUT to, and can't (NOT mustn't) for 'I'm sure it isn't true'. Point at the three people on the slide: 'How old must he be? What might she do?' – quick answers, then the error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Warmer · last lesson (3 min)
RETRIEVAL WARMER (4 min). Two teams, 30 seconds per sentence; click to show the correction. Sentence 4 is the trap (correct). Typical Italian errors (TG): mustn't for impossible, can for possibility, must/might + to, missing 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Vocabulary · the body · 8 new words (5 min)
ESTABLISH MEANING (5 min). Play 6.14 (all 22 body words, Vocabulary Bank p.160) – students point to each part of their own body as they hear it. Then the 8 words on the slide are the ones B1 students usually DON'T know: say the word, everybody points; click 1 = English definition, click 2 = Italian. Drill tongue /tʌŋ/, thumb (silent b), knees (silent k), stomach /ˈstʌmək/. Possessive: in English we say MY knee, YOUR hands (Italian uses the article). Full key VB p.160 in the key.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Vocabulary · body verbs (4 min)
BODY VERBS (5 min). First Vocabulary Bank p.160 ex. 2: complete sentences 1–11, play 6.15 to check (1 bite · 2 kicked · 3 smells · 4 stared · 5 taste · 6 whistle · 7 touch · 8 clapped · 9 pointed · 10 smiles · 11 nodded). Then this slide: pairs say the body part; click once per line. DO each verb as you check it (TPR). bite is irregular: bite – bit – bitten.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Game · Teacher says! (3 min)
TPR GAME (4 min). Everyone stands. Play 6.16 – students follow the instructions (clap, stare at the person next to you, point at the board, nod, whistle, touch your chair, smile). Then play 'Teacher says' (Simon says): say commands fast, sometimes WITHOUT 'Teacher says' – anyone who moves sits down. Click to show the examples. Then let a student lead. Energy change – keep it fast.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Pronunciation · diphthongs (two sounds in one) (3 min)
PRONUNCIATION (3 + 2 min). A diphthong = two short vowel sounds joined (Italians often make it too short or say only one sound). Play 6.17: repeat bike, train, phone, owl, chair. Pairs say each word aloud and decide; click once per word. 6.18 checks all 12 words (both slides). Answers (script): /aɪ/ bite, eyes, smile · /eɪ/ face, taste · /əʊ/ nose, shoulders, throw, toes · /aʊ/ mouth · /eə/ hair, stare.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Pronunciation · diphthongs (2 min)
Play 6.18 to check both slides; repeat. Then 4c phrases: fair hair · narrow shoulders · a wide mouth · brown eyes · a Roman nose (= with a bump) · a round face – pairs say them to each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Speaking · body language and you (3 min)
PQA – PERSONAL QUESTIONS (4 min). Ask 2–3 students question 1 yourself first and circle the answer ('Marco smiles a lot. Does Marco smile a lot? Yes! Who smiles more – Marco or Giulia?'). Then pairs ask all 4 questions using the phrases. Click once per question. Feedback: 'Who in your pair has the best body language?'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Speaking · class story (TPRS) (4 min)
TPRS CLASS STORY (4 min) – the story step of the TPRS staging: meaning was established with the body (TPR + 'Teacher says…'), then personal questions (PQA); now the body words and body verbs are heard many times in a story BEFORE the charisma article and the mime game. Click once per line. For each line: 1) say it (and DO the action – bite, whistle, stare, point, clap, nod: students copy), 2) ask the questions in grey round the class (yes/no → either/or → who/what), 3) let the CLASS change details: 'Is it a trumpet solo? No? What does Dario play?' – accept their idea and use it in later lines. Students answer with one word or a short phrase – that's fine. Finish: 'What happens next?' – one or two ideas, then move on. Line 6 = confident body language → leads into 'Can you learn charisma?'. Recycles: bite, knees, stomach, toes, whistle, lips, stare at, point at, clap, chin, shoulders, nod.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Reading · prediction (2 min)
PREDICTION (2 min). Read the definition (book wording); drill charisma /kəˈrɪzmə/ and charismatic. 5b: who's the journalist and who's the coach? Why? (Colin Drury = journalist, left; Danish Sheikh = coach, right.) Numbers: pairs guess – £150 = what he charges an hour · 2 = two days as his student · 3 = companies he's worked with (Microsoft, Yahoo, BBC). Don't confirm – they read to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Reading · the journalist's article (4 min)
READ THE CLASS TEXT (5 min). Students read alone (3 min) and check the prediction + the numbers. Then read it aloud with the class and CIRCLE: 'Is Danish a journalist? No! Is he a coach? Yes! How much does he charge? £150 a day? No – an hour!' Next slide: the book's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Reading · comprehension (3 min)
COMPREHENSION (3 min). Pairs answer, then click once per answer (TG key). Ask: 'Do YOU know anyone with negative body language? (no names!)'.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Listening · audio 6.19 (5 min)
PREDICT THEN LISTEN (5 min). 5d: pairs decide ✓/✗ for all 10 BEFORE listening (2 min). 5e: play 6.19 (use 🐢 slower if needed). Click once per line. Answers (TG): ✓ 1, 2, 5, 6, 7, 10. From the script: talk about yourself enough, but not too much · 'stand like a gorilla' = feet apart, arms wide · eye contact max. four seconds · don't use hand gestures too much · vary your speed · listening carefully is the most important thing of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Listening · detail · audio 6.19 (4 min)
DETAIL (4 min). Read the 4 prompts together first. Play 6.19 again; students write notes; compare; click once per answer (TG). Then everybody stands 'like a gorilla' for 3 seconds – feet apart, chin up, shoulders back!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Listening · the practical test · audio 6.20 (3 min)
LISTENING (4 min). Pairs guess the endings (1 min) – accept any idea. Play 6.20; click once per answer (TG). Ask: 'Would YOU talk to strangers in a café in Bagheria to practise?'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Game · body-language mime (5 min)
GAME (6 min). The phrases come from 5h (the body phrases in 6.19/6.20). Two teams; one mimer each turn stands facing the screen, everybody else turns round. Click → the phrase appears; mimer mimes; team must say the whole phrase in the present continuous ('hands!' = 0). Click again shows the model sentence. Energy + language upgrade.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Speaking · discussion (3 min)
DISCUSSION (4 min). Groups of 3, 3 minutes. Click once per question. Forced choice for Q1: yes or no, no 'maybe'. Feedback: one person per group reports their group's answer to Q4.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Exit · what can you remember? (2 min)
RETRIEVAL EXIT (2 min). Books closed. Set homework. Extension slides follow (video, describe-and-draw) – use if there is time or start the next lesson with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Extension · video listening · Part 1 (7 min)
EXTENSION VIDEO (7 min). Teach personal stylist and outfit. Read the questions first. Play Part 1; PAUSE when the narrator asks which outfit Sam likes best – class votes. Play on. Click once per answer (video script). 6c order: 1 fills in a questionnaire · 2 meets Elin at the Fashion Lounge · 3 Elin asks about his lifestyle · 4 they go shopping · 5 he tries on four outfits.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Extension · video listening · Part 2 (4 min)
EXTENSION VIDEO (4 min). Pairs guess the gaps first, then play Part 2; click once per answer (TG / video script). Did Sam enjoy the day? 'It exceeded my expectations.'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23. Extension · describe and draw (7 min)
EXTENSION (7 min). Information gap + humour. Practises body words, its / his / her, have got, and plurals (feet, teeth). Click to show model sentences.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audio" Target="../media/media-4-5.mp3"/><Relationship Id="rId6" Type="http://schemas.microsoft.com/office/2007/relationships/media" Target="../media/media-4-5.mp3"/><Relationship Id="rId7" Type="http://schemas.openxmlformats.org/officeDocument/2006/relationships/image" Target="../media/image-4-7.png"/><Relationship Id="rId8" Type="http://schemas.openxmlformats.org/officeDocument/2006/relationships/audio" Target="../media/media-4-8.mp3"/><Relationship Id="rId9" Type="http://schemas.microsoft.com/office/2007/relationships/media" Target="../media/media-4-8.mp3"/><Relationship Id="rId10" Type="http://schemas.openxmlformats.org/officeDocument/2006/relationships/image" Target="../media/image-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audio" Target="../media/media-5-6.mp3"/><Relationship Id="rId7" Type="http://schemas.microsoft.com/office/2007/relationships/media" Target="../media/media-5-6.mp3"/><Relationship Id="rId8" Type="http://schemas.openxmlformats.org/officeDocument/2006/relationships/image" Target="../media/image-5-8.png"/><Relationship Id="rId9" Type="http://schemas.openxmlformats.org/officeDocument/2006/relationships/audio" Target="../media/media-5-9.mp3"/><Relationship Id="rId10" Type="http://schemas.microsoft.com/office/2007/relationships/media" Target="../media/media-5-9.mp3"/><Relationship Id="rId11" Type="http://schemas.openxmlformats.org/officeDocument/2006/relationships/image" Target="../media/image-5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audio" Target="../media/media-6-5.mp3"/><Relationship Id="rId6" Type="http://schemas.microsoft.com/office/2007/relationships/media" Target="../media/media-6-5.mp3"/><Relationship Id="rId7" Type="http://schemas.openxmlformats.org/officeDocument/2006/relationships/image" Target="../media/image-6-7.png"/><Relationship Id="rId8" Type="http://schemas.openxmlformats.org/officeDocument/2006/relationships/audio" Target="../media/media-6-8.mp3"/><Relationship Id="rId9" Type="http://schemas.microsoft.com/office/2007/relationships/media" Target="../media/media-6-8.mp3"/><Relationship Id="rId10" Type="http://schemas.openxmlformats.org/officeDocument/2006/relationships/image" Target="../media/image-6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audio" Target="../media/media-7-5.mp3"/><Relationship Id="rId6" Type="http://schemas.microsoft.com/office/2007/relationships/media" Target="../media/media-7-5.mp3"/><Relationship Id="rId7" Type="http://schemas.openxmlformats.org/officeDocument/2006/relationships/image" Target="../media/image-7-7.png"/><Relationship Id="rId8" Type="http://schemas.openxmlformats.org/officeDocument/2006/relationships/audio" Target="../media/media-7-8.mp3"/><Relationship Id="rId9" Type="http://schemas.microsoft.com/office/2007/relationships/media" Target="../media/media-7-8.mp3"/><Relationship Id="rId10" Type="http://schemas.openxmlformats.org/officeDocument/2006/relationships/image" Target="../media/image-7-10.png"/><Relationship Id="rId11" Type="http://schemas.openxmlformats.org/officeDocument/2006/relationships/audio" Target="../media/media-7-11.mp3"/><Relationship Id="rId12" Type="http://schemas.microsoft.com/office/2007/relationships/media" Target="../media/media-7-11.mp3"/><Relationship Id="rId13" Type="http://schemas.openxmlformats.org/officeDocument/2006/relationships/image" Target="../media/image-7-13.png"/><Relationship Id="rId14" Type="http://schemas.openxmlformats.org/officeDocument/2006/relationships/audio" Target="../media/media-7-14.mp3"/><Relationship Id="rId15" Type="http://schemas.microsoft.com/office/2007/relationships/media" Target="../media/media-7-14.mp3"/><Relationship Id="rId16" Type="http://schemas.openxmlformats.org/officeDocument/2006/relationships/image" Target="../media/image-7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audio" Target="../media/media-8-5.mp3"/><Relationship Id="rId6" Type="http://schemas.microsoft.com/office/2007/relationships/media" Target="../media/media-8-5.mp3"/><Relationship Id="rId7" Type="http://schemas.openxmlformats.org/officeDocument/2006/relationships/image" Target="../media/image-8-7.png"/><Relationship Id="rId8" Type="http://schemas.openxmlformats.org/officeDocument/2006/relationships/audio" Target="../media/media-8-8.mp3"/><Relationship Id="rId9" Type="http://schemas.microsoft.com/office/2007/relationships/media" Target="../media/media-8-8.mp3"/><Relationship Id="rId10" Type="http://schemas.openxmlformats.org/officeDocument/2006/relationships/image" Target="../media/image-8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audio" Target="../media/media-14-5.mp3"/><Relationship Id="rId6" Type="http://schemas.microsoft.com/office/2007/relationships/media" Target="../media/media-14-5.mp3"/><Relationship Id="rId7" Type="http://schemas.openxmlformats.org/officeDocument/2006/relationships/image" Target="../media/image-14-7.png"/><Relationship Id="rId8" Type="http://schemas.openxmlformats.org/officeDocument/2006/relationships/audio" Target="../media/media-14-8.mp3"/><Relationship Id="rId9" Type="http://schemas.microsoft.com/office/2007/relationships/media" Target="../media/media-14-8.mp3"/><Relationship Id="rId10" Type="http://schemas.openxmlformats.org/officeDocument/2006/relationships/image" Target="../media/image-1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audio" Target="../media/media-15-5.mp3"/><Relationship Id="rId6" Type="http://schemas.microsoft.com/office/2007/relationships/media" Target="../media/media-15-5.mp3"/><Relationship Id="rId7" Type="http://schemas.openxmlformats.org/officeDocument/2006/relationships/image" Target="../media/image-15-7.png"/><Relationship Id="rId8" Type="http://schemas.openxmlformats.org/officeDocument/2006/relationships/audio" Target="../media/media-15-8.mp3"/><Relationship Id="rId9" Type="http://schemas.microsoft.com/office/2007/relationships/media" Target="../media/media-15-8.mp3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audio" Target="../media/media-16-5.mp3"/><Relationship Id="rId6" Type="http://schemas.microsoft.com/office/2007/relationships/media" Target="../media/media-16-5.mp3"/><Relationship Id="rId7" Type="http://schemas.openxmlformats.org/officeDocument/2006/relationships/image" Target="../media/image-16-7.png"/><Relationship Id="rId8" Type="http://schemas.openxmlformats.org/officeDocument/2006/relationships/audio" Target="../media/media-16-8.mp3"/><Relationship Id="rId9" Type="http://schemas.microsoft.com/office/2007/relationships/media" Target="../media/media-16-8.mp3"/><Relationship Id="rId10" Type="http://schemas.openxmlformats.org/officeDocument/2006/relationships/image" Target="../media/image-16-10.png"/><Relationship Id="rId11" Type="http://schemas.openxmlformats.org/officeDocument/2006/relationships/image" Target="../media/image-1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video" Target="../media/media-21-5.mp4"/><Relationship Id="rId6" Type="http://schemas.microsoft.com/office/2007/relationships/media" Target="../media/media-21-5.mp4"/><Relationship Id="rId7" Type="http://schemas.openxmlformats.org/officeDocument/2006/relationships/image" Target="../media/image-2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video" Target="../media/media-22-5.mp4"/><Relationship Id="rId6" Type="http://schemas.microsoft.com/office/2007/relationships/media" Target="../media/media-22-5.mp4"/><Relationship Id="rId7" Type="http://schemas.openxmlformats.org/officeDocument/2006/relationships/image" Target="../media/image-2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B1 · SB pp.62–63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6B-2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Every picture tells a story</a:t>
            </a:r>
            <a:endParaRPr lang="en-US" sz="19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body · body language · charisma</a:t>
            </a:r>
            <a:endParaRPr lang="en-US" sz="110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24328"/>
            <a:ext cx="35478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🖐️  learn parts of the body and body verbs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🔊  say 'two sounds in one': bike, train, phone…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📖  read and listen: can you LEARN charisma?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📖  listen to a class story and answer questions</a:t>
            </a:r>
            <a:endParaRPr lang="en-US" sz="1000" dirty="0"/>
          </a:p>
          <a:p>
            <a:pPr indent="0" marL="0">
              <a:spcBef>
                <a:spcPts val="5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🎭  play a body-language mime game</a:t>
            </a:r>
            <a:endParaRPr lang="en-US" sz="100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19050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uncle! He smiles all the time and everybody listens to him.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6B_2_colin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Who is the most charismatic person you know? Why?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we do? Read the examples.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Cosa abbiamo fatto? Leggi gli esempi.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24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950" dirty="0"/>
          </a:p>
        </p:txBody>
      </p:sp>
      <p:sp>
        <p:nvSpPr>
          <p:cNvPr id="11" name="tag_25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Retrieval</a:t>
            </a:r>
            <a:endParaRPr lang="en-US" sz="850" dirty="0"/>
          </a:p>
        </p:txBody>
      </p:sp>
      <p:pic>
        <p:nvPicPr>
          <p:cNvPr id="12" name="logo_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Revision · last lesson</a:t>
            </a:r>
            <a:endParaRPr lang="en-US" sz="800" dirty="0"/>
          </a:p>
        </p:txBody>
      </p:sp>
      <p:sp>
        <p:nvSpPr>
          <p:cNvPr id="14" name="pf_28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29" descr="/home/claude/lls-course/v2/cache/6B_2_people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6" name="cd_30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1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8" name="ih_32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9" name="il_33"/>
          <p:cNvSpPr/>
          <p:nvPr/>
        </p:nvSpPr>
        <p:spPr>
          <a:xfrm>
            <a:off x="886968" y="3858768"/>
            <a:ext cx="2084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 part 1: Every picture tells a story</a:t>
            </a:r>
            <a:endParaRPr lang="en-US" sz="11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Deduction: must · might · can't</a:t>
            </a:r>
            <a:endParaRPr lang="en-US" sz="1100" dirty="0"/>
          </a:p>
        </p:txBody>
      </p:sp>
      <p:sp>
        <p:nvSpPr>
          <p:cNvPr id="20" name="cd_34"/>
          <p:cNvSpPr/>
          <p:nvPr/>
        </p:nvSpPr>
        <p:spPr>
          <a:xfrm>
            <a:off x="324612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h_35"/>
          <p:cNvSpPr/>
          <p:nvPr/>
        </p:nvSpPr>
        <p:spPr>
          <a:xfrm>
            <a:off x="335584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Sure it's true ✓</a:t>
            </a:r>
            <a:endParaRPr lang="en-US" sz="1200" dirty="0"/>
          </a:p>
        </p:txBody>
      </p:sp>
      <p:sp>
        <p:nvSpPr>
          <p:cNvPr id="22" name="rl_36"/>
          <p:cNvSpPr/>
          <p:nvPr/>
        </p:nvSpPr>
        <p:spPr>
          <a:xfrm>
            <a:off x="338328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must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be tired. (I'm sure.)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must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love animals.</a:t>
            </a:r>
            <a:endParaRPr lang="en-US" sz="1150" dirty="0"/>
          </a:p>
        </p:txBody>
      </p:sp>
      <p:sp>
        <p:nvSpPr>
          <p:cNvPr id="23" name="cd_37"/>
          <p:cNvSpPr/>
          <p:nvPr/>
        </p:nvSpPr>
        <p:spPr>
          <a:xfrm>
            <a:off x="612648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540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rh_38"/>
          <p:cNvSpPr/>
          <p:nvPr/>
        </p:nvSpPr>
        <p:spPr>
          <a:xfrm>
            <a:off x="623620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Maybe / Sure it's NOT</a:t>
            </a:r>
            <a:endParaRPr lang="en-US" sz="1200" dirty="0"/>
          </a:p>
        </p:txBody>
      </p:sp>
      <p:sp>
        <p:nvSpPr>
          <p:cNvPr id="25" name="rl_39"/>
          <p:cNvSpPr/>
          <p:nvPr/>
        </p:nvSpPr>
        <p:spPr>
          <a:xfrm>
            <a:off x="626364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might / may / could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be Spanish.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be true! (✗ mustn't)</a:t>
            </a:r>
            <a:endParaRPr lang="en-US" sz="1150" dirty="0"/>
          </a:p>
        </p:txBody>
      </p:sp>
      <p:sp>
        <p:nvSpPr>
          <p:cNvPr id="26" name="kw_40"/>
          <p:cNvSpPr/>
          <p:nvPr/>
        </p:nvSpPr>
        <p:spPr>
          <a:xfrm>
            <a:off x="324612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KEY WORDS</a:t>
            </a:r>
            <a:endParaRPr lang="en-US" sz="1100" dirty="0"/>
          </a:p>
        </p:txBody>
      </p:sp>
      <p:sp>
        <p:nvSpPr>
          <p:cNvPr id="27" name="w_41"/>
          <p:cNvSpPr/>
          <p:nvPr/>
        </p:nvSpPr>
        <p:spPr>
          <a:xfrm>
            <a:off x="3246120" y="4178808"/>
            <a:ext cx="1641348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must + infinitive</a:t>
            </a:r>
            <a:endParaRPr lang="en-US" sz="1050" dirty="0"/>
          </a:p>
        </p:txBody>
      </p:sp>
      <p:sp>
        <p:nvSpPr>
          <p:cNvPr id="28" name="w_42"/>
          <p:cNvSpPr/>
          <p:nvPr/>
        </p:nvSpPr>
        <p:spPr>
          <a:xfrm>
            <a:off x="4960620" y="4178808"/>
            <a:ext cx="708660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might</a:t>
            </a:r>
            <a:endParaRPr lang="en-US" sz="1050" dirty="0"/>
          </a:p>
        </p:txBody>
      </p:sp>
      <p:sp>
        <p:nvSpPr>
          <p:cNvPr id="29" name="w_43"/>
          <p:cNvSpPr/>
          <p:nvPr/>
        </p:nvSpPr>
        <p:spPr>
          <a:xfrm>
            <a:off x="5742432" y="4178808"/>
            <a:ext cx="553212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may</a:t>
            </a:r>
            <a:endParaRPr lang="en-US" sz="1050" dirty="0"/>
          </a:p>
        </p:txBody>
      </p:sp>
      <p:sp>
        <p:nvSpPr>
          <p:cNvPr id="30" name="w_44"/>
          <p:cNvSpPr/>
          <p:nvPr/>
        </p:nvSpPr>
        <p:spPr>
          <a:xfrm>
            <a:off x="6368796" y="4178808"/>
            <a:ext cx="708660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could</a:t>
            </a:r>
            <a:endParaRPr lang="en-US" sz="1050" dirty="0"/>
          </a:p>
        </p:txBody>
      </p:sp>
      <p:sp>
        <p:nvSpPr>
          <p:cNvPr id="31" name="w_45"/>
          <p:cNvSpPr/>
          <p:nvPr/>
        </p:nvSpPr>
        <p:spPr>
          <a:xfrm>
            <a:off x="7150608" y="4178808"/>
            <a:ext cx="708660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</a:t>
            </a:r>
            <a:endParaRPr lang="en-US" sz="1050" dirty="0"/>
          </a:p>
        </p:txBody>
      </p:sp>
      <p:sp>
        <p:nvSpPr>
          <p:cNvPr id="32" name="w_46"/>
          <p:cNvSpPr/>
          <p:nvPr/>
        </p:nvSpPr>
        <p:spPr>
          <a:xfrm>
            <a:off x="3246120" y="4544568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'to'!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49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Spot the error!</a:t>
            </a:r>
            <a:endParaRPr lang="en-US" sz="2500" dirty="0"/>
          </a:p>
        </p:txBody>
      </p:sp>
      <p:pic>
        <p:nvPicPr>
          <p:cNvPr id="6" name="brP_5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161788" cy="402336"/>
          </a:xfrm>
          <a:prstGeom prst="rect">
            <a:avLst/>
          </a:prstGeom>
        </p:spPr>
      </p:pic>
      <p:sp>
        <p:nvSpPr>
          <p:cNvPr id="7" name="ins_51"/>
          <p:cNvSpPr/>
          <p:nvPr/>
        </p:nvSpPr>
        <p:spPr>
          <a:xfrm>
            <a:off x="1353312" y="731520"/>
            <a:ext cx="49057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Find the mistake. Careful: ONE sentence is correct!</a:t>
            </a:r>
            <a:endParaRPr lang="en-US" sz="1250" dirty="0"/>
          </a:p>
        </p:txBody>
      </p:sp>
      <p:sp>
        <p:nvSpPr>
          <p:cNvPr id="8" name="insIT_5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Trova l'errore. Attenzione: UNA frase è giusta!</a:t>
            </a:r>
            <a:endParaRPr lang="en-US" sz="950" dirty="0"/>
          </a:p>
        </p:txBody>
      </p:sp>
      <p:sp>
        <p:nvSpPr>
          <p:cNvPr id="9" name="cmd_5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54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950" dirty="0"/>
          </a:p>
        </p:txBody>
      </p:sp>
      <p:sp>
        <p:nvSpPr>
          <p:cNvPr id="11" name="tag_55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2" name="logo_5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Warmer · last lesson   ·   📖 Recycles 6B part 1 · Grammar Bank 6B p.143</a:t>
            </a:r>
            <a:endParaRPr lang="en-US" sz="800" dirty="0"/>
          </a:p>
        </p:txBody>
      </p:sp>
      <p:sp>
        <p:nvSpPr>
          <p:cNvPr id="14" name="cd_58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5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6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61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sentence.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la frase.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Teams write the correct sentence.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squadre scrivono la frase corretta.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 = 1 point. 'Correct' a correct sentence = –1!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Giusta = 1 punto. 'Correggere' una frase giusta = –1!</a:t>
            </a:r>
            <a:endParaRPr lang="en-US" sz="1000" dirty="0"/>
          </a:p>
        </p:txBody>
      </p:sp>
      <p:sp>
        <p:nvSpPr>
          <p:cNvPr id="18" name="st_62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63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64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that really Jack's wife? It mustn't be true!</a:t>
            </a:r>
            <a:endParaRPr lang="en-US" sz="1100" dirty="0"/>
          </a:p>
        </p:txBody>
      </p:sp>
      <p:sp>
        <p:nvSpPr>
          <p:cNvPr id="21" name="R1_chip65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 can't be true!</a:t>
            </a:r>
            <a:endParaRPr lang="en-US" sz="1100" dirty="0"/>
          </a:p>
        </p:txBody>
      </p:sp>
      <p:sp>
        <p:nvSpPr>
          <p:cNvPr id="22" name="bd_66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67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He's speaking Spanish, so he can be from Spain or Mexico.</a:t>
            </a:r>
            <a:endParaRPr lang="en-US" sz="1100" dirty="0"/>
          </a:p>
        </p:txBody>
      </p:sp>
      <p:sp>
        <p:nvSpPr>
          <p:cNvPr id="24" name="R2_chip68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might / may / could be</a:t>
            </a:r>
            <a:endParaRPr lang="en-US" sz="1100" dirty="0"/>
          </a:p>
        </p:txBody>
      </p:sp>
      <p:sp>
        <p:nvSpPr>
          <p:cNvPr id="25" name="bd_69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70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She's been working all day. She must to be tired.</a:t>
            </a:r>
            <a:endParaRPr lang="en-US" sz="1100" dirty="0"/>
          </a:p>
        </p:txBody>
      </p:sp>
      <p:sp>
        <p:nvSpPr>
          <p:cNvPr id="27" name="R3_chip71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must be tired.</a:t>
            </a:r>
            <a:endParaRPr lang="en-US" sz="1100" dirty="0"/>
          </a:p>
        </p:txBody>
      </p:sp>
      <p:sp>
        <p:nvSpPr>
          <p:cNvPr id="28" name="bd_72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73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Her profile photo is her cat. She must love animals.</a:t>
            </a:r>
            <a:endParaRPr lang="en-US" sz="1100" dirty="0"/>
          </a:p>
        </p:txBody>
      </p:sp>
      <p:sp>
        <p:nvSpPr>
          <p:cNvPr id="30" name="R4_chip74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✓ Correct!</a:t>
            </a:r>
            <a:endParaRPr lang="en-US" sz="1100" dirty="0"/>
          </a:p>
        </p:txBody>
      </p:sp>
      <p:sp>
        <p:nvSpPr>
          <p:cNvPr id="31" name="bd_75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76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Nobody's answering. They might are on holiday.</a:t>
            </a:r>
            <a:endParaRPr lang="en-US" sz="1100" dirty="0"/>
          </a:p>
        </p:txBody>
      </p:sp>
      <p:sp>
        <p:nvSpPr>
          <p:cNvPr id="33" name="R5_chip77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They might be on holiday.</a:t>
            </a:r>
            <a:endParaRPr lang="en-US" sz="1100" dirty="0"/>
          </a:p>
        </p:txBody>
      </p:sp>
      <p:sp>
        <p:nvSpPr>
          <p:cNvPr id="34" name="bd_78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gq_79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Where's Tom? – I'm not sure. He might working.</a:t>
            </a:r>
            <a:endParaRPr lang="en-US" sz="1100" dirty="0"/>
          </a:p>
        </p:txBody>
      </p:sp>
      <p:sp>
        <p:nvSpPr>
          <p:cNvPr id="36" name="R6_chip80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might be working.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8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8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83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Point to your…!</a:t>
            </a:r>
            <a:endParaRPr lang="en-US" sz="2500" dirty="0"/>
          </a:p>
        </p:txBody>
      </p:sp>
      <p:pic>
        <p:nvPicPr>
          <p:cNvPr id="6" name="brP_8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422392" cy="402336"/>
          </a:xfrm>
          <a:prstGeom prst="rect">
            <a:avLst/>
          </a:prstGeom>
        </p:spPr>
      </p:pic>
      <p:sp>
        <p:nvSpPr>
          <p:cNvPr id="7" name="ins_85"/>
          <p:cNvSpPr/>
          <p:nvPr/>
        </p:nvSpPr>
        <p:spPr>
          <a:xfrm>
            <a:off x="1353312" y="731520"/>
            <a:ext cx="5166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and point to the part of your body. Then click!</a:t>
            </a:r>
            <a:endParaRPr lang="en-US" sz="1250" dirty="0"/>
          </a:p>
        </p:txBody>
      </p:sp>
      <p:sp>
        <p:nvSpPr>
          <p:cNvPr id="8" name="insIT_86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Ascolta e indica la parte del corpo. Poi clicca!</a:t>
            </a:r>
            <a:endParaRPr lang="en-US" sz="950" dirty="0"/>
          </a:p>
        </p:txBody>
      </p:sp>
      <p:sp>
        <p:nvSpPr>
          <p:cNvPr id="9" name="cmd_8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88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1100" dirty="0"/>
          </a:p>
        </p:txBody>
      </p:sp>
      <p:sp>
        <p:nvSpPr>
          <p:cNvPr id="11" name="meta_89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🙋 whole class</a:t>
            </a:r>
            <a:endParaRPr lang="en-US" sz="950" dirty="0"/>
          </a:p>
        </p:txBody>
      </p:sp>
      <p:sp>
        <p:nvSpPr>
          <p:cNvPr id="12" name="tag_90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TPRS · meaning</a:t>
            </a:r>
            <a:endParaRPr lang="en-US" sz="850" dirty="0"/>
          </a:p>
        </p:txBody>
      </p:sp>
      <p:pic>
        <p:nvPicPr>
          <p:cNvPr id="13" name="logo_9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9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Vocabulary · the body · 8 new words   ·   📖 SB p.62 · 3b · Vocabulary Bank The body p.160 · audio 6.14</a:t>
            </a:r>
            <a:endParaRPr lang="en-US" sz="800" dirty="0"/>
          </a:p>
        </p:txBody>
      </p:sp>
      <p:sp>
        <p:nvSpPr>
          <p:cNvPr id="15" name="cd_93"/>
          <p:cNvSpPr/>
          <p:nvPr/>
        </p:nvSpPr>
        <p:spPr>
          <a:xfrm>
            <a:off x="320040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e_94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🙂</a:t>
            </a:r>
            <a:endParaRPr lang="en-US" sz="2000" dirty="0"/>
          </a:p>
        </p:txBody>
      </p:sp>
      <p:sp>
        <p:nvSpPr>
          <p:cNvPr id="17" name="en_95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chin</a:t>
            </a:r>
            <a:endParaRPr lang="en-US" sz="1200" dirty="0"/>
          </a:p>
        </p:txBody>
      </p:sp>
      <p:sp>
        <p:nvSpPr>
          <p:cNvPr id="18" name="R1_def96"/>
          <p:cNvSpPr/>
          <p:nvPr/>
        </p:nvSpPr>
        <p:spPr>
          <a:xfrm>
            <a:off x="978408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bottom part of your face, under your mouth</a:t>
            </a:r>
            <a:endParaRPr lang="en-US" sz="850" dirty="0"/>
          </a:p>
        </p:txBody>
      </p:sp>
      <p:sp>
        <p:nvSpPr>
          <p:cNvPr id="19" name="R2_it97"/>
          <p:cNvSpPr/>
          <p:nvPr/>
        </p:nvSpPr>
        <p:spPr>
          <a:xfrm>
            <a:off x="978408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mento</a:t>
            </a:r>
            <a:endParaRPr lang="en-US" sz="900" dirty="0"/>
          </a:p>
        </p:txBody>
      </p:sp>
      <p:sp>
        <p:nvSpPr>
          <p:cNvPr id="20" name="cd_98"/>
          <p:cNvSpPr/>
          <p:nvPr/>
        </p:nvSpPr>
        <p:spPr>
          <a:xfrm>
            <a:off x="2487168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e_99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🤷</a:t>
            </a:r>
            <a:endParaRPr lang="en-US" sz="2000" dirty="0"/>
          </a:p>
        </p:txBody>
      </p:sp>
      <p:sp>
        <p:nvSpPr>
          <p:cNvPr id="22" name="en_100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shoulders</a:t>
            </a:r>
            <a:endParaRPr lang="en-US" sz="1200" dirty="0"/>
          </a:p>
        </p:txBody>
      </p:sp>
      <p:sp>
        <p:nvSpPr>
          <p:cNvPr id="23" name="R3_def101"/>
          <p:cNvSpPr/>
          <p:nvPr/>
        </p:nvSpPr>
        <p:spPr>
          <a:xfrm>
            <a:off x="3145536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your arms join your body</a:t>
            </a:r>
            <a:endParaRPr lang="en-US" sz="850" dirty="0"/>
          </a:p>
        </p:txBody>
      </p:sp>
      <p:sp>
        <p:nvSpPr>
          <p:cNvPr id="24" name="R4_it102"/>
          <p:cNvSpPr/>
          <p:nvPr/>
        </p:nvSpPr>
        <p:spPr>
          <a:xfrm>
            <a:off x="3145536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spalle</a:t>
            </a:r>
            <a:endParaRPr lang="en-US" sz="900" dirty="0"/>
          </a:p>
        </p:txBody>
      </p:sp>
      <p:sp>
        <p:nvSpPr>
          <p:cNvPr id="25" name="cd_103"/>
          <p:cNvSpPr/>
          <p:nvPr/>
        </p:nvSpPr>
        <p:spPr>
          <a:xfrm>
            <a:off x="4654296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6" name="e_104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👅</a:t>
            </a:r>
            <a:endParaRPr lang="en-US" sz="2000" dirty="0"/>
          </a:p>
        </p:txBody>
      </p:sp>
      <p:sp>
        <p:nvSpPr>
          <p:cNvPr id="27" name="en_105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tongue /tʌŋ/</a:t>
            </a:r>
            <a:endParaRPr lang="en-US" sz="1200" dirty="0"/>
          </a:p>
        </p:txBody>
      </p:sp>
      <p:sp>
        <p:nvSpPr>
          <p:cNvPr id="28" name="R5_def106"/>
          <p:cNvSpPr/>
          <p:nvPr/>
        </p:nvSpPr>
        <p:spPr>
          <a:xfrm>
            <a:off x="5312664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it's in your mouth – you taste with it</a:t>
            </a:r>
            <a:endParaRPr lang="en-US" sz="850" dirty="0"/>
          </a:p>
        </p:txBody>
      </p:sp>
      <p:sp>
        <p:nvSpPr>
          <p:cNvPr id="29" name="R6_it107"/>
          <p:cNvSpPr/>
          <p:nvPr/>
        </p:nvSpPr>
        <p:spPr>
          <a:xfrm>
            <a:off x="5312664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lingua</a:t>
            </a:r>
            <a:endParaRPr lang="en-US" sz="900" dirty="0"/>
          </a:p>
        </p:txBody>
      </p:sp>
      <p:sp>
        <p:nvSpPr>
          <p:cNvPr id="30" name="cd_108"/>
          <p:cNvSpPr/>
          <p:nvPr/>
        </p:nvSpPr>
        <p:spPr>
          <a:xfrm>
            <a:off x="6821424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e_109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👍</a:t>
            </a:r>
            <a:endParaRPr lang="en-US" sz="2000" dirty="0"/>
          </a:p>
        </p:txBody>
      </p:sp>
      <p:sp>
        <p:nvSpPr>
          <p:cNvPr id="32" name="en_110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thumb /θʌm/</a:t>
            </a:r>
            <a:endParaRPr lang="en-US" sz="1200" dirty="0"/>
          </a:p>
        </p:txBody>
      </p:sp>
      <p:sp>
        <p:nvSpPr>
          <p:cNvPr id="33" name="R7_def111"/>
          <p:cNvSpPr/>
          <p:nvPr/>
        </p:nvSpPr>
        <p:spPr>
          <a:xfrm>
            <a:off x="7479792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short, thick finger</a:t>
            </a:r>
            <a:endParaRPr lang="en-US" sz="850" dirty="0"/>
          </a:p>
        </p:txBody>
      </p:sp>
      <p:sp>
        <p:nvSpPr>
          <p:cNvPr id="34" name="R8_it112"/>
          <p:cNvSpPr/>
          <p:nvPr/>
        </p:nvSpPr>
        <p:spPr>
          <a:xfrm>
            <a:off x="7479792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pollice</a:t>
            </a:r>
            <a:endParaRPr lang="en-US" sz="900" dirty="0"/>
          </a:p>
        </p:txBody>
      </p:sp>
      <p:sp>
        <p:nvSpPr>
          <p:cNvPr id="35" name="cd_113"/>
          <p:cNvSpPr/>
          <p:nvPr/>
        </p:nvSpPr>
        <p:spPr>
          <a:xfrm>
            <a:off x="320040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6" name="e_114"/>
          <p:cNvSpPr/>
          <p:nvPr/>
        </p:nvSpPr>
        <p:spPr>
          <a:xfrm>
            <a:off x="393192" y="253288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🦵</a:t>
            </a:r>
            <a:endParaRPr lang="en-US" sz="2000" dirty="0"/>
          </a:p>
        </p:txBody>
      </p:sp>
      <p:sp>
        <p:nvSpPr>
          <p:cNvPr id="37" name="en_115"/>
          <p:cNvSpPr/>
          <p:nvPr/>
        </p:nvSpPr>
        <p:spPr>
          <a:xfrm>
            <a:off x="978408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knees (silent k!)</a:t>
            </a:r>
            <a:endParaRPr lang="en-US" sz="1200" dirty="0"/>
          </a:p>
        </p:txBody>
      </p:sp>
      <p:sp>
        <p:nvSpPr>
          <p:cNvPr id="38" name="R9_def116"/>
          <p:cNvSpPr/>
          <p:nvPr/>
        </p:nvSpPr>
        <p:spPr>
          <a:xfrm>
            <a:off x="978408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middle of your legs – they bend</a:t>
            </a:r>
            <a:endParaRPr lang="en-US" sz="850" dirty="0"/>
          </a:p>
        </p:txBody>
      </p:sp>
      <p:sp>
        <p:nvSpPr>
          <p:cNvPr id="39" name="R10_it117"/>
          <p:cNvSpPr/>
          <p:nvPr/>
        </p:nvSpPr>
        <p:spPr>
          <a:xfrm>
            <a:off x="978408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ginocchia</a:t>
            </a:r>
            <a:endParaRPr lang="en-US" sz="900" dirty="0"/>
          </a:p>
        </p:txBody>
      </p:sp>
      <p:sp>
        <p:nvSpPr>
          <p:cNvPr id="40" name="cd_118"/>
          <p:cNvSpPr/>
          <p:nvPr/>
        </p:nvSpPr>
        <p:spPr>
          <a:xfrm>
            <a:off x="2487168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1" name="e_119"/>
          <p:cNvSpPr/>
          <p:nvPr/>
        </p:nvSpPr>
        <p:spPr>
          <a:xfrm>
            <a:off x="2560320" y="253288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🍽️</a:t>
            </a:r>
            <a:endParaRPr lang="en-US" sz="2000" dirty="0"/>
          </a:p>
        </p:txBody>
      </p:sp>
      <p:sp>
        <p:nvSpPr>
          <p:cNvPr id="42" name="en_120"/>
          <p:cNvSpPr/>
          <p:nvPr/>
        </p:nvSpPr>
        <p:spPr>
          <a:xfrm>
            <a:off x="3145536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stomach /ˈstʌmək/</a:t>
            </a:r>
            <a:endParaRPr lang="en-US" sz="1100" dirty="0"/>
          </a:p>
        </p:txBody>
      </p:sp>
      <p:sp>
        <p:nvSpPr>
          <p:cNvPr id="43" name="R11_def121"/>
          <p:cNvSpPr/>
          <p:nvPr/>
        </p:nvSpPr>
        <p:spPr>
          <a:xfrm>
            <a:off x="3145536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food goes here after you eat</a:t>
            </a:r>
            <a:endParaRPr lang="en-US" sz="850" dirty="0"/>
          </a:p>
        </p:txBody>
      </p:sp>
      <p:sp>
        <p:nvSpPr>
          <p:cNvPr id="44" name="R12_it122"/>
          <p:cNvSpPr/>
          <p:nvPr/>
        </p:nvSpPr>
        <p:spPr>
          <a:xfrm>
            <a:off x="3145536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stomaco / pancia</a:t>
            </a:r>
            <a:endParaRPr lang="en-US" sz="900" dirty="0"/>
          </a:p>
        </p:txBody>
      </p:sp>
      <p:sp>
        <p:nvSpPr>
          <p:cNvPr id="45" name="cd_123"/>
          <p:cNvSpPr/>
          <p:nvPr/>
        </p:nvSpPr>
        <p:spPr>
          <a:xfrm>
            <a:off x="4654296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6" name="e_124"/>
          <p:cNvSpPr/>
          <p:nvPr/>
        </p:nvSpPr>
        <p:spPr>
          <a:xfrm>
            <a:off x="4727448" y="253288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🦶</a:t>
            </a:r>
            <a:endParaRPr lang="en-US" sz="2000" dirty="0"/>
          </a:p>
        </p:txBody>
      </p:sp>
      <p:sp>
        <p:nvSpPr>
          <p:cNvPr id="47" name="en_125"/>
          <p:cNvSpPr/>
          <p:nvPr/>
        </p:nvSpPr>
        <p:spPr>
          <a:xfrm>
            <a:off x="5312664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toes</a:t>
            </a:r>
            <a:endParaRPr lang="en-US" sz="1200" dirty="0"/>
          </a:p>
        </p:txBody>
      </p:sp>
      <p:sp>
        <p:nvSpPr>
          <p:cNvPr id="48" name="R13_def126"/>
          <p:cNvSpPr/>
          <p:nvPr/>
        </p:nvSpPr>
        <p:spPr>
          <a:xfrm>
            <a:off x="5312664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'fingers' on your feet</a:t>
            </a:r>
            <a:endParaRPr lang="en-US" sz="850" dirty="0"/>
          </a:p>
        </p:txBody>
      </p:sp>
      <p:sp>
        <p:nvSpPr>
          <p:cNvPr id="49" name="R14_it127"/>
          <p:cNvSpPr/>
          <p:nvPr/>
        </p:nvSpPr>
        <p:spPr>
          <a:xfrm>
            <a:off x="5312664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dita dei piedi</a:t>
            </a:r>
            <a:endParaRPr lang="en-US" sz="900" dirty="0"/>
          </a:p>
        </p:txBody>
      </p:sp>
      <p:sp>
        <p:nvSpPr>
          <p:cNvPr id="50" name="cd_128"/>
          <p:cNvSpPr/>
          <p:nvPr/>
        </p:nvSpPr>
        <p:spPr>
          <a:xfrm>
            <a:off x="6821424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1" name="e_129"/>
          <p:cNvSpPr/>
          <p:nvPr/>
        </p:nvSpPr>
        <p:spPr>
          <a:xfrm>
            <a:off x="6894576" y="253288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👄</a:t>
            </a:r>
            <a:endParaRPr lang="en-US" sz="2000" dirty="0"/>
          </a:p>
        </p:txBody>
      </p:sp>
      <p:sp>
        <p:nvSpPr>
          <p:cNvPr id="52" name="en_130"/>
          <p:cNvSpPr/>
          <p:nvPr/>
        </p:nvSpPr>
        <p:spPr>
          <a:xfrm>
            <a:off x="7479792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lips</a:t>
            </a:r>
            <a:endParaRPr lang="en-US" sz="1200" dirty="0"/>
          </a:p>
        </p:txBody>
      </p:sp>
      <p:sp>
        <p:nvSpPr>
          <p:cNvPr id="53" name="R15_def131"/>
          <p:cNvSpPr/>
          <p:nvPr/>
        </p:nvSpPr>
        <p:spPr>
          <a:xfrm>
            <a:off x="7479792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edges of your mouth</a:t>
            </a:r>
            <a:endParaRPr lang="en-US" sz="850" dirty="0"/>
          </a:p>
        </p:txBody>
      </p:sp>
      <p:sp>
        <p:nvSpPr>
          <p:cNvPr id="54" name="R16_it132"/>
          <p:cNvSpPr/>
          <p:nvPr/>
        </p:nvSpPr>
        <p:spPr>
          <a:xfrm>
            <a:off x="7479792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labbra</a:t>
            </a:r>
            <a:endParaRPr lang="en-US" sz="900" dirty="0"/>
          </a:p>
        </p:txBody>
      </p:sp>
      <p:sp>
        <p:nvSpPr>
          <p:cNvPr id="55" name="ap_133"/>
          <p:cNvSpPr/>
          <p:nvPr/>
        </p:nvSpPr>
        <p:spPr>
          <a:xfrm>
            <a:off x="320040" y="4480560"/>
            <a:ext cx="201168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6.14</a:t>
            </a:r>
            <a:endParaRPr lang="en-US" sz="1100" dirty="0"/>
          </a:p>
        </p:txBody>
      </p:sp>
      <p:sp>
        <p:nvSpPr>
          <p:cNvPr id="56" name="ah_134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5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58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59" name="R17_wc135"/>
          <p:cNvSpPr/>
          <p:nvPr/>
        </p:nvSpPr>
        <p:spPr>
          <a:xfrm>
            <a:off x="320040" y="3474720"/>
            <a:ext cx="8549640" cy="457200"/>
          </a:xfrm>
          <a:prstGeom prst="roundRect">
            <a:avLst>
              <a:gd name="adj" fmla="val 28000"/>
            </a:avLst>
          </a:prstGeom>
          <a:solidFill>
            <a:srgbClr val="FFE3EE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0" name="R17_w136"/>
          <p:cNvSpPr/>
          <p:nvPr/>
        </p:nvSpPr>
        <p:spPr>
          <a:xfrm>
            <a:off x="457200" y="347472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Watch out!  fingers (hands) ≠ toes (feet) – Italian says 'dita' for both!  ·  I've hurt MY knee (✗ the knee)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91" restart="whenNotActive" fill="hold" evtFilter="cancelBubble" nodeType="interactiveSeq">
                <p:stCondLst>
                  <p:cond evt="onClick" delay="0">
                    <p:tgtEl>
                      <p:spTgt spid="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2" fill="hold">
                      <p:stCondLst>
                        <p:cond delay="0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95" dur="1" fill="hold"/>
                                        <p:tgtEl>
                                          <p:spTgt spid="5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7"/>
                  </p:tgtEl>
                </p:cond>
              </p:nextCondLst>
            </p:seq>
            <p:seq concurrent="1" nextAc="seek">
              <p:cTn id="96" restart="whenNotActive" fill="hold" evtFilter="cancelBubble" nodeType="interactiveSeq">
                <p:stCondLst>
                  <p:cond evt="onClick" delay="0">
                    <p:tgtEl>
                      <p:spTgt spid="5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7" fill="hold">
                      <p:stCondLst>
                        <p:cond delay="0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00" dur="1" fill="hold"/>
                                        <p:tgtEl>
                                          <p:spTgt spid="5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8"/>
                  </p:tgtEl>
                </p:cond>
              </p:nextCondLst>
            </p:seq>
            <p:audio>
              <p:cMediaNode vol="80000">
                <p:cTn id="10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7"/>
                </p:tgtEl>
              </p:cMediaNode>
            </p:audio>
            <p:audio>
              <p:cMediaNode vol="80000">
                <p:cTn id="10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8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3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3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139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do you use to…?</a:t>
            </a:r>
            <a:endParaRPr lang="en-US" sz="2400" dirty="0"/>
          </a:p>
        </p:txBody>
      </p:sp>
      <p:pic>
        <p:nvPicPr>
          <p:cNvPr id="6" name="brP_14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335524" cy="402336"/>
          </a:xfrm>
          <a:prstGeom prst="rect">
            <a:avLst/>
          </a:prstGeom>
        </p:spPr>
      </p:pic>
      <p:sp>
        <p:nvSpPr>
          <p:cNvPr id="7" name="ins_141"/>
          <p:cNvSpPr/>
          <p:nvPr/>
        </p:nvSpPr>
        <p:spPr>
          <a:xfrm>
            <a:off x="1353312" y="731520"/>
            <a:ext cx="50794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part of the body do you use? Tell your partner.</a:t>
            </a:r>
            <a:endParaRPr lang="en-US" sz="1250" dirty="0"/>
          </a:p>
        </p:txBody>
      </p:sp>
      <p:sp>
        <p:nvSpPr>
          <p:cNvPr id="8" name="insIT_142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Quale parte del corpo usi? Dillo al compagno.</a:t>
            </a:r>
            <a:endParaRPr lang="en-US" sz="950" dirty="0"/>
          </a:p>
        </p:txBody>
      </p:sp>
      <p:sp>
        <p:nvSpPr>
          <p:cNvPr id="9" name="cmd_143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144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145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Controlled practice</a:t>
            </a:r>
            <a:endParaRPr lang="en-US" sz="850" dirty="0"/>
          </a:p>
        </p:txBody>
      </p:sp>
      <p:pic>
        <p:nvPicPr>
          <p:cNvPr id="12" name="logo_14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4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Vocabulary · body verbs   ·   📖 Vocabulary Bank p.160 · 2 Verbs · audio 6.15</a:t>
            </a:r>
            <a:endParaRPr lang="en-US" sz="800" dirty="0"/>
          </a:p>
        </p:txBody>
      </p:sp>
      <p:sp>
        <p:nvSpPr>
          <p:cNvPr id="14" name="cd_148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14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15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151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bite → your teeth (mordere)</a:t>
            </a:r>
            <a:endParaRPr lang="en-US" sz="1050" dirty="0"/>
          </a:p>
        </p:txBody>
      </p:sp>
      <p:sp>
        <p:nvSpPr>
          <p:cNvPr id="18" name="pf_152"/>
          <p:cNvSpPr/>
          <p:nvPr/>
        </p:nvSpPr>
        <p:spPr>
          <a:xfrm rot="-90000">
            <a:off x="365760" y="2697480"/>
            <a:ext cx="2606040" cy="1417320"/>
          </a:xfrm>
          <a:prstGeom prst="roundRect">
            <a:avLst>
              <a:gd name="adj" fmla="val 1096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153" descr="/home/claude/lls-course/v2/cache/6B_2_people_jpg_605x31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325880"/>
          </a:xfrm>
          <a:prstGeom prst="rect">
            <a:avLst/>
          </a:prstGeom>
        </p:spPr>
      </p:pic>
      <p:sp>
        <p:nvSpPr>
          <p:cNvPr id="20" name="ap_154"/>
          <p:cNvSpPr/>
          <p:nvPr/>
        </p:nvSpPr>
        <p:spPr>
          <a:xfrm>
            <a:off x="365760" y="429768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6.15</a:t>
            </a:r>
            <a:endParaRPr lang="en-US" sz="1100" dirty="0"/>
          </a:p>
        </p:txBody>
      </p:sp>
      <p:sp>
        <p:nvSpPr>
          <p:cNvPr id="21" name="ah_155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22" name="Media 0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23" name="Media 1">
            <a:hlinkClick r:id="" action="ppaction://media"/>
          </p:cNvPr>
          <p:cNvPicPr>
            <a:picLocks noChangeAspect="1"/>
          </p:cNvPicPr>
          <p:nvPr>
            <a:audioFile r:link="rId9"/>
            <p:extLst>
              <p:ext uri="{DAA4B4D4-6D71-4841-9C94-3DE7FCFB9230}">
                <p14:media xmlns:p14="http://schemas.microsoft.com/office/powerpoint/2010/main" r:embed="rId10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24" name="bd_156"/>
          <p:cNvSpPr/>
          <p:nvPr/>
        </p:nvSpPr>
        <p:spPr>
          <a:xfrm>
            <a:off x="3246120" y="144475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5" name="q_157"/>
          <p:cNvSpPr/>
          <p:nvPr/>
        </p:nvSpPr>
        <p:spPr>
          <a:xfrm>
            <a:off x="3630168" y="14173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clap</a:t>
            </a:r>
            <a:endParaRPr lang="en-US" sz="1150" dirty="0"/>
          </a:p>
        </p:txBody>
      </p:sp>
      <p:sp>
        <p:nvSpPr>
          <p:cNvPr id="26" name="R1_chip158"/>
          <p:cNvSpPr/>
          <p:nvPr/>
        </p:nvSpPr>
        <p:spPr>
          <a:xfrm>
            <a:off x="5806440" y="14173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hands – applaudire</a:t>
            </a:r>
            <a:endParaRPr lang="en-US" sz="1000" dirty="0"/>
          </a:p>
        </p:txBody>
      </p:sp>
      <p:sp>
        <p:nvSpPr>
          <p:cNvPr id="27" name="bd_159"/>
          <p:cNvSpPr/>
          <p:nvPr/>
        </p:nvSpPr>
        <p:spPr>
          <a:xfrm>
            <a:off x="3246120" y="185623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8" name="q_160"/>
          <p:cNvSpPr/>
          <p:nvPr/>
        </p:nvSpPr>
        <p:spPr>
          <a:xfrm>
            <a:off x="3630168" y="18288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kick</a:t>
            </a:r>
            <a:endParaRPr lang="en-US" sz="1150" dirty="0"/>
          </a:p>
        </p:txBody>
      </p:sp>
      <p:sp>
        <p:nvSpPr>
          <p:cNvPr id="29" name="R2_chip161"/>
          <p:cNvSpPr/>
          <p:nvPr/>
        </p:nvSpPr>
        <p:spPr>
          <a:xfrm>
            <a:off x="5806440" y="18288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feet – calciare</a:t>
            </a:r>
            <a:endParaRPr lang="en-US" sz="1000" dirty="0"/>
          </a:p>
        </p:txBody>
      </p:sp>
      <p:sp>
        <p:nvSpPr>
          <p:cNvPr id="30" name="bd_162"/>
          <p:cNvSpPr/>
          <p:nvPr/>
        </p:nvSpPr>
        <p:spPr>
          <a:xfrm>
            <a:off x="3246120" y="22677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31" name="q_163"/>
          <p:cNvSpPr/>
          <p:nvPr/>
        </p:nvSpPr>
        <p:spPr>
          <a:xfrm>
            <a:off x="3630168" y="22402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nod</a:t>
            </a:r>
            <a:endParaRPr lang="en-US" sz="1150" dirty="0"/>
          </a:p>
        </p:txBody>
      </p:sp>
      <p:sp>
        <p:nvSpPr>
          <p:cNvPr id="32" name="R3_chip164"/>
          <p:cNvSpPr/>
          <p:nvPr/>
        </p:nvSpPr>
        <p:spPr>
          <a:xfrm>
            <a:off x="5806440" y="22402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head – annuire</a:t>
            </a:r>
            <a:endParaRPr lang="en-US" sz="1000" dirty="0"/>
          </a:p>
        </p:txBody>
      </p:sp>
      <p:sp>
        <p:nvSpPr>
          <p:cNvPr id="33" name="bd_165"/>
          <p:cNvSpPr/>
          <p:nvPr/>
        </p:nvSpPr>
        <p:spPr>
          <a:xfrm>
            <a:off x="3246120" y="267919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4" name="q_166"/>
          <p:cNvSpPr/>
          <p:nvPr/>
        </p:nvSpPr>
        <p:spPr>
          <a:xfrm>
            <a:off x="3630168" y="265176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point</a:t>
            </a:r>
            <a:endParaRPr lang="en-US" sz="1150" dirty="0"/>
          </a:p>
        </p:txBody>
      </p:sp>
      <p:sp>
        <p:nvSpPr>
          <p:cNvPr id="35" name="R4_chip167"/>
          <p:cNvSpPr/>
          <p:nvPr/>
        </p:nvSpPr>
        <p:spPr>
          <a:xfrm>
            <a:off x="5806440" y="265176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finger – indicare</a:t>
            </a:r>
            <a:endParaRPr lang="en-US" sz="1000" dirty="0"/>
          </a:p>
        </p:txBody>
      </p:sp>
      <p:sp>
        <p:nvSpPr>
          <p:cNvPr id="36" name="bd_168"/>
          <p:cNvSpPr/>
          <p:nvPr/>
        </p:nvSpPr>
        <p:spPr>
          <a:xfrm>
            <a:off x="3246120" y="30906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7" name="q_169"/>
          <p:cNvSpPr/>
          <p:nvPr/>
        </p:nvSpPr>
        <p:spPr>
          <a:xfrm>
            <a:off x="3630168" y="306324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smell</a:t>
            </a:r>
            <a:endParaRPr lang="en-US" sz="1150" dirty="0"/>
          </a:p>
        </p:txBody>
      </p:sp>
      <p:sp>
        <p:nvSpPr>
          <p:cNvPr id="38" name="R5_chip170"/>
          <p:cNvSpPr/>
          <p:nvPr/>
        </p:nvSpPr>
        <p:spPr>
          <a:xfrm>
            <a:off x="5806440" y="306324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nose – annusare</a:t>
            </a:r>
            <a:endParaRPr lang="en-US" sz="1000" dirty="0"/>
          </a:p>
        </p:txBody>
      </p:sp>
      <p:sp>
        <p:nvSpPr>
          <p:cNvPr id="39" name="bd_171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40" name="q_172"/>
          <p:cNvSpPr/>
          <p:nvPr/>
        </p:nvSpPr>
        <p:spPr>
          <a:xfrm>
            <a:off x="3630168" y="34747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stare</a:t>
            </a:r>
            <a:endParaRPr lang="en-US" sz="1150" dirty="0"/>
          </a:p>
        </p:txBody>
      </p:sp>
      <p:sp>
        <p:nvSpPr>
          <p:cNvPr id="41" name="R6_chip173"/>
          <p:cNvSpPr/>
          <p:nvPr/>
        </p:nvSpPr>
        <p:spPr>
          <a:xfrm>
            <a:off x="5806440" y="34747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eyes – fissare</a:t>
            </a:r>
            <a:endParaRPr lang="en-US" sz="1000" dirty="0"/>
          </a:p>
        </p:txBody>
      </p:sp>
      <p:sp>
        <p:nvSpPr>
          <p:cNvPr id="42" name="bd_174"/>
          <p:cNvSpPr/>
          <p:nvPr/>
        </p:nvSpPr>
        <p:spPr>
          <a:xfrm>
            <a:off x="3246120" y="391363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43" name="q_175"/>
          <p:cNvSpPr/>
          <p:nvPr/>
        </p:nvSpPr>
        <p:spPr>
          <a:xfrm>
            <a:off x="3630168" y="38862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whistle (silent t!)</a:t>
            </a:r>
            <a:endParaRPr lang="en-US" sz="1150" dirty="0"/>
          </a:p>
        </p:txBody>
      </p:sp>
      <p:sp>
        <p:nvSpPr>
          <p:cNvPr id="44" name="R7_chip176"/>
          <p:cNvSpPr/>
          <p:nvPr/>
        </p:nvSpPr>
        <p:spPr>
          <a:xfrm>
            <a:off x="5806440" y="38862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lips – fischiare</a:t>
            </a:r>
            <a:endParaRPr lang="en-US" sz="1000" dirty="0"/>
          </a:p>
        </p:txBody>
      </p:sp>
      <p:sp>
        <p:nvSpPr>
          <p:cNvPr id="45" name="bd_177"/>
          <p:cNvSpPr/>
          <p:nvPr/>
        </p:nvSpPr>
        <p:spPr>
          <a:xfrm>
            <a:off x="3246120" y="432511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46" name="q_178"/>
          <p:cNvSpPr/>
          <p:nvPr/>
        </p:nvSpPr>
        <p:spPr>
          <a:xfrm>
            <a:off x="3630168" y="42976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taste</a:t>
            </a:r>
            <a:endParaRPr lang="en-US" sz="1150" dirty="0"/>
          </a:p>
        </p:txBody>
      </p:sp>
      <p:sp>
        <p:nvSpPr>
          <p:cNvPr id="47" name="R8_chip179"/>
          <p:cNvSpPr/>
          <p:nvPr/>
        </p:nvSpPr>
        <p:spPr>
          <a:xfrm>
            <a:off x="5806440" y="42976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tongue / mouth – assaggiare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2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audio>
              <p:cMediaNode vol="80000">
                <p:cTn id="5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  <p:audio>
              <p:cMediaNode vol="80000">
                <p:cTn id="5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3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8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8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182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Teacher says…</a:t>
            </a:r>
            <a:endParaRPr lang="en-US" sz="2500" dirty="0"/>
          </a:p>
        </p:txBody>
      </p:sp>
      <p:pic>
        <p:nvPicPr>
          <p:cNvPr id="6" name="brP_18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184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Stand up! Listen and DO it. Don't speak!</a:t>
            </a:r>
            <a:endParaRPr lang="en-US" sz="1250" dirty="0"/>
          </a:p>
        </p:txBody>
      </p:sp>
      <p:sp>
        <p:nvSpPr>
          <p:cNvPr id="8" name="insIT_185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piedi! Ascolta e FALLO. Non parlare!</a:t>
            </a:r>
            <a:endParaRPr lang="en-US" sz="950" dirty="0"/>
          </a:p>
        </p:txBody>
      </p:sp>
      <p:sp>
        <p:nvSpPr>
          <p:cNvPr id="9" name="cmd_18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187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1" name="meta_188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950" dirty="0"/>
          </a:p>
        </p:txBody>
      </p:sp>
      <p:sp>
        <p:nvSpPr>
          <p:cNvPr id="12" name="tag_189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3" name="logo_19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19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Game · Teacher says!   ·   📖 SB p.62 · 3c · audio 6.16</a:t>
            </a:r>
            <a:endParaRPr lang="en-US" sz="800" dirty="0"/>
          </a:p>
        </p:txBody>
      </p:sp>
      <p:sp>
        <p:nvSpPr>
          <p:cNvPr id="15" name="cd_192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19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7" name="ih_19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8" name="il_195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9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Listen to the audio and DO the action.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8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Ascolta l'audio e fai l'azione.</a:t>
            </a:r>
            <a:endParaRPr lang="en-US" sz="9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9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Then: 'Teacher says…' – only move if you hear 'Teacher says'!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8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Poi: muoviti solo se senti 'Teacher says'!</a:t>
            </a:r>
            <a:endParaRPr lang="en-US" sz="9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9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Wrong move? Sit down. The last person standing wins!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8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Sbagli? Siediti. Vince l'ultimo in piedi!</a:t>
            </a:r>
            <a:endParaRPr lang="en-US" sz="900" dirty="0"/>
          </a:p>
        </p:txBody>
      </p:sp>
      <p:sp>
        <p:nvSpPr>
          <p:cNvPr id="19" name="ap_196"/>
          <p:cNvSpPr/>
          <p:nvPr/>
        </p:nvSpPr>
        <p:spPr>
          <a:xfrm>
            <a:off x="365760" y="370332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6.16</a:t>
            </a:r>
            <a:endParaRPr lang="en-US" sz="1100" dirty="0"/>
          </a:p>
        </p:txBody>
      </p:sp>
      <p:sp>
        <p:nvSpPr>
          <p:cNvPr id="20" name="ah_197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21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22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23" name="bd_198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gq_199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says: clap your hands!</a:t>
            </a:r>
            <a:endParaRPr lang="en-US" sz="1100" dirty="0"/>
          </a:p>
        </p:txBody>
      </p:sp>
      <p:sp>
        <p:nvSpPr>
          <p:cNvPr id="25" name="R1_chip200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👏</a:t>
            </a:r>
            <a:endParaRPr lang="en-US" sz="1100" dirty="0"/>
          </a:p>
        </p:txBody>
      </p:sp>
      <p:sp>
        <p:nvSpPr>
          <p:cNvPr id="26" name="bd_201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gq_202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says: nod your head!</a:t>
            </a:r>
            <a:endParaRPr lang="en-US" sz="1100" dirty="0"/>
          </a:p>
        </p:txBody>
      </p:sp>
      <p:sp>
        <p:nvSpPr>
          <p:cNvPr id="28" name="R2_chip203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🙂↕️</a:t>
            </a:r>
            <a:endParaRPr lang="en-US" sz="1100" dirty="0"/>
          </a:p>
        </p:txBody>
      </p:sp>
      <p:sp>
        <p:nvSpPr>
          <p:cNvPr id="29" name="bd_204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gq_205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Point at the board!</a:t>
            </a:r>
            <a:endParaRPr lang="en-US" sz="1100" dirty="0"/>
          </a:p>
        </p:txBody>
      </p:sp>
      <p:sp>
        <p:nvSpPr>
          <p:cNvPr id="31" name="R3_chip206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✗ no 'Teacher says' – sit down!</a:t>
            </a:r>
            <a:endParaRPr lang="en-US" sz="1100" dirty="0"/>
          </a:p>
        </p:txBody>
      </p:sp>
      <p:sp>
        <p:nvSpPr>
          <p:cNvPr id="32" name="bd_207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3" name="gq_208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says: touch your knees!</a:t>
            </a:r>
            <a:endParaRPr lang="en-US" sz="1100" dirty="0"/>
          </a:p>
        </p:txBody>
      </p:sp>
      <p:sp>
        <p:nvSpPr>
          <p:cNvPr id="34" name="R4_chip209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🦵</a:t>
            </a:r>
            <a:endParaRPr lang="en-US" sz="1100" dirty="0"/>
          </a:p>
        </p:txBody>
      </p:sp>
      <p:sp>
        <p:nvSpPr>
          <p:cNvPr id="35" name="bd_210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6" name="gq_211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says: stare at your partner!</a:t>
            </a:r>
            <a:endParaRPr lang="en-US" sz="1100" dirty="0"/>
          </a:p>
        </p:txBody>
      </p:sp>
      <p:sp>
        <p:nvSpPr>
          <p:cNvPr id="37" name="R5_chip212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👀</a:t>
            </a:r>
            <a:endParaRPr lang="en-US" sz="1100" dirty="0"/>
          </a:p>
        </p:txBody>
      </p:sp>
      <p:sp>
        <p:nvSpPr>
          <p:cNvPr id="38" name="bd_213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9" name="gq_214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Whistle a song!</a:t>
            </a:r>
            <a:endParaRPr lang="en-US" sz="1100" dirty="0"/>
          </a:p>
        </p:txBody>
      </p:sp>
      <p:sp>
        <p:nvSpPr>
          <p:cNvPr id="40" name="R6_chip215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✗ sit down!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audio>
              <p:cMediaNode vol="80000">
                <p:cTn id="4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1"/>
                </p:tgtEl>
              </p:cMediaNode>
            </p:audio>
            <p:audio>
              <p:cMediaNode vol="80000">
                <p:cTn id="4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1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21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18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Two sounds in one ①</a:t>
            </a:r>
            <a:endParaRPr lang="en-US" sz="2500" dirty="0"/>
          </a:p>
        </p:txBody>
      </p:sp>
      <p:pic>
        <p:nvPicPr>
          <p:cNvPr id="6" name="brP_21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11296" cy="402336"/>
          </a:xfrm>
          <a:prstGeom prst="rect">
            <a:avLst/>
          </a:prstGeom>
        </p:spPr>
      </p:pic>
      <p:sp>
        <p:nvSpPr>
          <p:cNvPr id="7" name="ins_220"/>
          <p:cNvSpPr/>
          <p:nvPr/>
        </p:nvSpPr>
        <p:spPr>
          <a:xfrm>
            <a:off x="1353312" y="731520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word. Which sound is it?</a:t>
            </a:r>
            <a:endParaRPr lang="en-US" sz="1250" dirty="0"/>
          </a:p>
        </p:txBody>
      </p:sp>
      <p:sp>
        <p:nvSpPr>
          <p:cNvPr id="8" name="insIT_221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Di' la parola. Quale suono è?</a:t>
            </a:r>
            <a:endParaRPr lang="en-US" sz="950" dirty="0"/>
          </a:p>
        </p:txBody>
      </p:sp>
      <p:sp>
        <p:nvSpPr>
          <p:cNvPr id="9" name="cmd_22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223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100" dirty="0"/>
          </a:p>
        </p:txBody>
      </p:sp>
      <p:sp>
        <p:nvSpPr>
          <p:cNvPr id="11" name="meta_224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225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Pronunciation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Guided discovery</a:t>
            </a:r>
            <a:endParaRPr lang="en-US" sz="850" dirty="0"/>
          </a:p>
        </p:txBody>
      </p:sp>
      <p:pic>
        <p:nvPicPr>
          <p:cNvPr id="13" name="logo_2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Pronunciation · diphthongs (two sounds in one)   ·   📖 SB p.62 · 4a–4c · audio 6.17, 6.18</a:t>
            </a:r>
            <a:endParaRPr lang="en-US" sz="800" dirty="0"/>
          </a:p>
        </p:txBody>
      </p:sp>
      <p:sp>
        <p:nvSpPr>
          <p:cNvPr id="15" name="cd_228"/>
          <p:cNvSpPr/>
          <p:nvPr/>
        </p:nvSpPr>
        <p:spPr>
          <a:xfrm>
            <a:off x="320040" y="1417320"/>
            <a:ext cx="2697480" cy="2295144"/>
          </a:xfrm>
          <a:prstGeom prst="roundRect">
            <a:avLst>
              <a:gd name="adj" fmla="val 5578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22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7" name="ih_23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 sounds</a:t>
            </a:r>
            <a:endParaRPr lang="en-US" sz="1300" dirty="0"/>
          </a:p>
        </p:txBody>
      </p:sp>
      <p:sp>
        <p:nvSpPr>
          <p:cNvPr id="18" name="il_231"/>
          <p:cNvSpPr/>
          <p:nvPr/>
        </p:nvSpPr>
        <p:spPr>
          <a:xfrm>
            <a:off x="886968" y="1892808"/>
            <a:ext cx="203911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9" name="ap_232"/>
          <p:cNvSpPr/>
          <p:nvPr/>
        </p:nvSpPr>
        <p:spPr>
          <a:xfrm>
            <a:off x="365760" y="3849624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6.17 + 6.18</a:t>
            </a:r>
            <a:endParaRPr lang="en-US" sz="1100" dirty="0"/>
          </a:p>
        </p:txBody>
      </p:sp>
      <p:sp>
        <p:nvSpPr>
          <p:cNvPr id="20" name="ah_233"/>
          <p:cNvSpPr/>
          <p:nvPr/>
        </p:nvSpPr>
        <p:spPr>
          <a:xfrm>
            <a:off x="4974336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21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6574536" y="4553712"/>
            <a:ext cx="411480" cy="411480"/>
          </a:xfrm>
          <a:prstGeom prst="rect">
            <a:avLst/>
          </a:prstGeom>
        </p:spPr>
      </p:pic>
      <p:pic>
        <p:nvPicPr>
          <p:cNvPr id="22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7050024" y="4553712"/>
            <a:ext cx="411480" cy="411480"/>
          </a:xfrm>
          <a:prstGeom prst="rect">
            <a:avLst/>
          </a:prstGeom>
        </p:spPr>
      </p:pic>
      <p:pic>
        <p:nvPicPr>
          <p:cNvPr id="23" name="Media 2">
            <a:hlinkClick r:id="" action="ppaction://media"/>
          </p:cNvPr>
          <p:cNvPicPr>
            <a:picLocks noChangeAspect="1"/>
          </p:cNvPicPr>
          <p:nvPr>
            <a:audioFile r:link="rId11"/>
            <p:extLst>
              <p:ext uri="{DAA4B4D4-6D71-4841-9C94-3DE7FCFB9230}">
                <p14:media xmlns:p14="http://schemas.microsoft.com/office/powerpoint/2010/main" r:embed="rId12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24" name="Media 3">
            <a:hlinkClick r:id="" action="ppaction://media"/>
          </p:cNvPr>
          <p:cNvPicPr>
            <a:picLocks noChangeAspect="1"/>
          </p:cNvPicPr>
          <p:nvPr>
            <a:audioFile r:link="rId14"/>
            <p:extLst>
              <p:ext uri="{DAA4B4D4-6D71-4841-9C94-3DE7FCFB9230}">
                <p14:media xmlns:p14="http://schemas.microsoft.com/office/powerpoint/2010/main" r:embed="rId15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25" name="lg_234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050" dirty="0"/>
          </a:p>
        </p:txBody>
      </p:sp>
      <p:sp>
        <p:nvSpPr>
          <p:cNvPr id="26" name="lg_235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E6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/eɪ/ train</a:t>
            </a:r>
            <a:endParaRPr lang="en-US" sz="1050" dirty="0"/>
          </a:p>
        </p:txBody>
      </p:sp>
      <p:sp>
        <p:nvSpPr>
          <p:cNvPr id="27" name="lg_236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050" dirty="0"/>
          </a:p>
        </p:txBody>
      </p:sp>
      <p:sp>
        <p:nvSpPr>
          <p:cNvPr id="28" name="lg_237"/>
          <p:cNvSpPr/>
          <p:nvPr/>
        </p:nvSpPr>
        <p:spPr>
          <a:xfrm>
            <a:off x="1719072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F0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/aʊ/ owl</a:t>
            </a:r>
            <a:endParaRPr lang="en-US" sz="1050" dirty="0"/>
          </a:p>
        </p:txBody>
      </p:sp>
      <p:sp>
        <p:nvSpPr>
          <p:cNvPr id="29" name="lg_238"/>
          <p:cNvSpPr/>
          <p:nvPr/>
        </p:nvSpPr>
        <p:spPr>
          <a:xfrm>
            <a:off x="457200" y="275234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2D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/eə/ chair</a:t>
            </a:r>
            <a:endParaRPr lang="en-US" sz="1050" dirty="0"/>
          </a:p>
        </p:txBody>
      </p:sp>
      <p:sp>
        <p:nvSpPr>
          <p:cNvPr id="30" name="sq_239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bite</a:t>
            </a:r>
            <a:endParaRPr lang="en-US" sz="1200" dirty="0"/>
          </a:p>
        </p:txBody>
      </p:sp>
      <p:sp>
        <p:nvSpPr>
          <p:cNvPr id="31" name="R1_tag240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150" dirty="0"/>
          </a:p>
        </p:txBody>
      </p:sp>
      <p:sp>
        <p:nvSpPr>
          <p:cNvPr id="32" name="sq_241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face</a:t>
            </a:r>
            <a:endParaRPr lang="en-US" sz="1200" dirty="0"/>
          </a:p>
        </p:txBody>
      </p:sp>
      <p:sp>
        <p:nvSpPr>
          <p:cNvPr id="33" name="R2_tag242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E6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/eɪ/ train</a:t>
            </a:r>
            <a:endParaRPr lang="en-US" sz="1150" dirty="0"/>
          </a:p>
        </p:txBody>
      </p:sp>
      <p:sp>
        <p:nvSpPr>
          <p:cNvPr id="34" name="sq_243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nose</a:t>
            </a:r>
            <a:endParaRPr lang="en-US" sz="1200" dirty="0"/>
          </a:p>
        </p:txBody>
      </p:sp>
      <p:sp>
        <p:nvSpPr>
          <p:cNvPr id="35" name="R3_tag244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150" dirty="0"/>
          </a:p>
        </p:txBody>
      </p:sp>
      <p:sp>
        <p:nvSpPr>
          <p:cNvPr id="36" name="sq_245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mouth</a:t>
            </a:r>
            <a:endParaRPr lang="en-US" sz="1200" dirty="0"/>
          </a:p>
        </p:txBody>
      </p:sp>
      <p:sp>
        <p:nvSpPr>
          <p:cNvPr id="37" name="R4_tag246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F0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/aʊ/ owl</a:t>
            </a:r>
            <a:endParaRPr lang="en-US" sz="1150" dirty="0"/>
          </a:p>
        </p:txBody>
      </p:sp>
      <p:sp>
        <p:nvSpPr>
          <p:cNvPr id="38" name="sq_247"/>
          <p:cNvSpPr/>
          <p:nvPr/>
        </p:nvSpPr>
        <p:spPr>
          <a:xfrm>
            <a:off x="3246120" y="3575304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hair</a:t>
            </a:r>
            <a:endParaRPr lang="en-US" sz="1200" dirty="0"/>
          </a:p>
        </p:txBody>
      </p:sp>
      <p:sp>
        <p:nvSpPr>
          <p:cNvPr id="39" name="R5_tag248"/>
          <p:cNvSpPr/>
          <p:nvPr/>
        </p:nvSpPr>
        <p:spPr>
          <a:xfrm>
            <a:off x="7178040" y="3575304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E2D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/eə/ chair</a:t>
            </a:r>
            <a:endParaRPr lang="en-US" sz="1150" dirty="0"/>
          </a:p>
        </p:txBody>
      </p:sp>
      <p:sp>
        <p:nvSpPr>
          <p:cNvPr id="40" name="sq_249"/>
          <p:cNvSpPr/>
          <p:nvPr/>
        </p:nvSpPr>
        <p:spPr>
          <a:xfrm>
            <a:off x="3246120" y="411480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eyes</a:t>
            </a:r>
            <a:endParaRPr lang="en-US" sz="1200" dirty="0"/>
          </a:p>
        </p:txBody>
      </p:sp>
      <p:sp>
        <p:nvSpPr>
          <p:cNvPr id="41" name="R6_tag250"/>
          <p:cNvSpPr/>
          <p:nvPr/>
        </p:nvSpPr>
        <p:spPr>
          <a:xfrm>
            <a:off x="7178040" y="411480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2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2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"/>
                  </p:tgtEl>
                </p:cond>
              </p:nextCondLst>
            </p:seq>
            <p:audio>
              <p:cMediaNode vol="80000">
                <p:cTn id="5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1"/>
                </p:tgtEl>
              </p:cMediaNode>
            </p:audio>
            <p:audio>
              <p:cMediaNode vol="80000">
                <p:cTn id="5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  <p:audio>
              <p:cMediaNode vol="80000">
                <p:cTn id="55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3"/>
                </p:tgtEl>
              </p:cMediaNode>
            </p:audio>
            <p:audio>
              <p:cMediaNode vol="80000">
                <p:cTn id="5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4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5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5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53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Two sounds in one ②</a:t>
            </a:r>
            <a:endParaRPr lang="en-US" sz="2500" dirty="0"/>
          </a:p>
        </p:txBody>
      </p:sp>
      <p:pic>
        <p:nvPicPr>
          <p:cNvPr id="6" name="brP_25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255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Now these words. Then listen and check!</a:t>
            </a:r>
            <a:endParaRPr lang="en-US" sz="1250" dirty="0"/>
          </a:p>
        </p:txBody>
      </p:sp>
      <p:sp>
        <p:nvSpPr>
          <p:cNvPr id="8" name="insIT_256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Ora queste parole. Poi ascolta e controlla!</a:t>
            </a:r>
            <a:endParaRPr lang="en-US" sz="950" dirty="0"/>
          </a:p>
        </p:txBody>
      </p:sp>
      <p:sp>
        <p:nvSpPr>
          <p:cNvPr id="9" name="cmd_25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12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1100" dirty="0"/>
          </a:p>
        </p:txBody>
      </p:sp>
      <p:sp>
        <p:nvSpPr>
          <p:cNvPr id="10" name="cmd_258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1" name="meta_259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2" name="tag_260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Pronunciation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Guided discovery</a:t>
            </a:r>
            <a:endParaRPr lang="en-US" sz="850" dirty="0"/>
          </a:p>
        </p:txBody>
      </p:sp>
      <p:pic>
        <p:nvPicPr>
          <p:cNvPr id="13" name="logo_26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6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Pronunciation · diphthongs   ·   📖 SB p.62 · 4b, 4c · audio 6.18</a:t>
            </a:r>
            <a:endParaRPr lang="en-US" sz="800" dirty="0"/>
          </a:p>
        </p:txBody>
      </p:sp>
      <p:sp>
        <p:nvSpPr>
          <p:cNvPr id="15" name="cd_263"/>
          <p:cNvSpPr/>
          <p:nvPr/>
        </p:nvSpPr>
        <p:spPr>
          <a:xfrm>
            <a:off x="320040" y="1417320"/>
            <a:ext cx="2697480" cy="2295144"/>
          </a:xfrm>
          <a:prstGeom prst="roundRect">
            <a:avLst>
              <a:gd name="adj" fmla="val 5578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26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7" name="ih_26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 sounds</a:t>
            </a:r>
            <a:endParaRPr lang="en-US" sz="1300" dirty="0"/>
          </a:p>
        </p:txBody>
      </p:sp>
      <p:sp>
        <p:nvSpPr>
          <p:cNvPr id="18" name="il_266"/>
          <p:cNvSpPr/>
          <p:nvPr/>
        </p:nvSpPr>
        <p:spPr>
          <a:xfrm>
            <a:off x="886968" y="1892808"/>
            <a:ext cx="2039112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9" name="ap_267"/>
          <p:cNvSpPr/>
          <p:nvPr/>
        </p:nvSpPr>
        <p:spPr>
          <a:xfrm>
            <a:off x="365760" y="3849624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6.18</a:t>
            </a:r>
            <a:endParaRPr lang="en-US" sz="1100" dirty="0"/>
          </a:p>
        </p:txBody>
      </p:sp>
      <p:sp>
        <p:nvSpPr>
          <p:cNvPr id="20" name="ah_268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21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22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23" name="lg_269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050" dirty="0"/>
          </a:p>
        </p:txBody>
      </p:sp>
      <p:sp>
        <p:nvSpPr>
          <p:cNvPr id="24" name="lg_270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E6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/eɪ/ train</a:t>
            </a:r>
            <a:endParaRPr lang="en-US" sz="1050" dirty="0"/>
          </a:p>
        </p:txBody>
      </p:sp>
      <p:sp>
        <p:nvSpPr>
          <p:cNvPr id="25" name="lg_271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050" dirty="0"/>
          </a:p>
        </p:txBody>
      </p:sp>
      <p:sp>
        <p:nvSpPr>
          <p:cNvPr id="26" name="lg_272"/>
          <p:cNvSpPr/>
          <p:nvPr/>
        </p:nvSpPr>
        <p:spPr>
          <a:xfrm>
            <a:off x="1719072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F0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/aʊ/ owl</a:t>
            </a:r>
            <a:endParaRPr lang="en-US" sz="1050" dirty="0"/>
          </a:p>
        </p:txBody>
      </p:sp>
      <p:sp>
        <p:nvSpPr>
          <p:cNvPr id="27" name="lg_273"/>
          <p:cNvSpPr/>
          <p:nvPr/>
        </p:nvSpPr>
        <p:spPr>
          <a:xfrm>
            <a:off x="457200" y="275234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2D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/eə/ chair</a:t>
            </a:r>
            <a:endParaRPr lang="en-US" sz="1050" dirty="0"/>
          </a:p>
        </p:txBody>
      </p:sp>
      <p:sp>
        <p:nvSpPr>
          <p:cNvPr id="28" name="sq_274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taste</a:t>
            </a:r>
            <a:endParaRPr lang="en-US" sz="1200" dirty="0"/>
          </a:p>
        </p:txBody>
      </p:sp>
      <p:sp>
        <p:nvSpPr>
          <p:cNvPr id="29" name="R1_tag275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E6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/eɪ/ train</a:t>
            </a:r>
            <a:endParaRPr lang="en-US" sz="1150" dirty="0"/>
          </a:p>
        </p:txBody>
      </p:sp>
      <p:sp>
        <p:nvSpPr>
          <p:cNvPr id="30" name="sq_276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shoulders</a:t>
            </a:r>
            <a:endParaRPr lang="en-US" sz="1200" dirty="0"/>
          </a:p>
        </p:txBody>
      </p:sp>
      <p:sp>
        <p:nvSpPr>
          <p:cNvPr id="31" name="R2_tag277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150" dirty="0"/>
          </a:p>
        </p:txBody>
      </p:sp>
      <p:sp>
        <p:nvSpPr>
          <p:cNvPr id="32" name="sq_278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smile</a:t>
            </a:r>
            <a:endParaRPr lang="en-US" sz="1200" dirty="0"/>
          </a:p>
        </p:txBody>
      </p:sp>
      <p:sp>
        <p:nvSpPr>
          <p:cNvPr id="33" name="R3_tag279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150" dirty="0"/>
          </a:p>
        </p:txBody>
      </p:sp>
      <p:sp>
        <p:nvSpPr>
          <p:cNvPr id="34" name="sq_280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stare</a:t>
            </a:r>
            <a:endParaRPr lang="en-US" sz="1200" dirty="0"/>
          </a:p>
        </p:txBody>
      </p:sp>
      <p:sp>
        <p:nvSpPr>
          <p:cNvPr id="35" name="R4_tag281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E2D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/eə/ chair</a:t>
            </a:r>
            <a:endParaRPr lang="en-US" sz="1150" dirty="0"/>
          </a:p>
        </p:txBody>
      </p:sp>
      <p:sp>
        <p:nvSpPr>
          <p:cNvPr id="36" name="sq_282"/>
          <p:cNvSpPr/>
          <p:nvPr/>
        </p:nvSpPr>
        <p:spPr>
          <a:xfrm>
            <a:off x="3246120" y="3575304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throw</a:t>
            </a:r>
            <a:endParaRPr lang="en-US" sz="1200" dirty="0"/>
          </a:p>
        </p:txBody>
      </p:sp>
      <p:sp>
        <p:nvSpPr>
          <p:cNvPr id="37" name="R5_tag283"/>
          <p:cNvSpPr/>
          <p:nvPr/>
        </p:nvSpPr>
        <p:spPr>
          <a:xfrm>
            <a:off x="7178040" y="3575304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150" dirty="0"/>
          </a:p>
        </p:txBody>
      </p:sp>
      <p:sp>
        <p:nvSpPr>
          <p:cNvPr id="38" name="sq_284"/>
          <p:cNvSpPr/>
          <p:nvPr/>
        </p:nvSpPr>
        <p:spPr>
          <a:xfrm>
            <a:off x="3246120" y="411480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toes</a:t>
            </a:r>
            <a:endParaRPr lang="en-US" sz="1200" dirty="0"/>
          </a:p>
        </p:txBody>
      </p:sp>
      <p:sp>
        <p:nvSpPr>
          <p:cNvPr id="39" name="R6_tag285"/>
          <p:cNvSpPr/>
          <p:nvPr/>
        </p:nvSpPr>
        <p:spPr>
          <a:xfrm>
            <a:off x="7178040" y="411480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audio>
              <p:cMediaNode vol="80000">
                <p:cTn id="4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1"/>
                </p:tgtEl>
              </p:cMediaNode>
            </p:audio>
            <p:audio>
              <p:cMediaNode vol="80000">
                <p:cTn id="4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8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8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506163" cy="621792"/>
          </a:xfrm>
          <a:prstGeom prst="rect">
            <a:avLst/>
          </a:prstGeom>
        </p:spPr>
      </p:pic>
      <p:sp>
        <p:nvSpPr>
          <p:cNvPr id="5" name="title_288"/>
          <p:cNvSpPr/>
          <p:nvPr/>
        </p:nvSpPr>
        <p:spPr>
          <a:xfrm>
            <a:off x="1261872" y="164592"/>
            <a:ext cx="42318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does your body say?</a:t>
            </a:r>
            <a:endParaRPr lang="en-US" sz="2400" dirty="0"/>
          </a:p>
        </p:txBody>
      </p:sp>
      <p:pic>
        <p:nvPicPr>
          <p:cNvPr id="6" name="brP_28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814316" cy="402336"/>
          </a:xfrm>
          <a:prstGeom prst="rect">
            <a:avLst/>
          </a:prstGeom>
        </p:spPr>
      </p:pic>
      <p:sp>
        <p:nvSpPr>
          <p:cNvPr id="7" name="ins_290"/>
          <p:cNvSpPr/>
          <p:nvPr/>
        </p:nvSpPr>
        <p:spPr>
          <a:xfrm>
            <a:off x="1353312" y="731520"/>
            <a:ext cx="45582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and answer with a partner. Use the phrases!</a:t>
            </a:r>
            <a:endParaRPr lang="en-US" sz="1250" dirty="0"/>
          </a:p>
        </p:txBody>
      </p:sp>
      <p:sp>
        <p:nvSpPr>
          <p:cNvPr id="8" name="insIT_291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Fai domande e rispondi con un compagno. Usa le frasi!</a:t>
            </a:r>
            <a:endParaRPr lang="en-US" sz="950" dirty="0"/>
          </a:p>
        </p:txBody>
      </p:sp>
      <p:sp>
        <p:nvSpPr>
          <p:cNvPr id="9" name="cmd_29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293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294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</a:t>
            </a:r>
            <a:endParaRPr lang="en-US" sz="850" dirty="0"/>
          </a:p>
        </p:txBody>
      </p:sp>
      <p:pic>
        <p:nvPicPr>
          <p:cNvPr id="12" name="logo_29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9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Speaking · body language and you   ·   📖 Personalisation before reading (PQA)</a:t>
            </a:r>
            <a:endParaRPr lang="en-US" sz="800" dirty="0"/>
          </a:p>
        </p:txBody>
      </p:sp>
      <p:sp>
        <p:nvSpPr>
          <p:cNvPr id="14" name="pf_297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298" descr="/home/claude/lls-course/v2/cache/4a2_meet_parents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6" name="cd_299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00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301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302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 I'm nervous, I usually…</a:t>
            </a:r>
            <a:endParaRPr lang="en-US" sz="8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(don't) make eye contact when…</a:t>
            </a:r>
            <a:endParaRPr lang="en-US" sz="8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think … has charisma because…</a:t>
            </a:r>
            <a:endParaRPr lang="en-US" sz="8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 too! / Really? I don't.</a:t>
            </a:r>
            <a:endParaRPr lang="en-US" sz="800" dirty="0"/>
          </a:p>
        </p:txBody>
      </p:sp>
      <p:sp>
        <p:nvSpPr>
          <p:cNvPr id="20" name="R1_qb303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304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smile a lot when you meet new people?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Yes, but only when I'm not nervous.</a:t>
            </a:r>
            <a:endParaRPr lang="en-US" sz="1250" dirty="0"/>
          </a:p>
        </p:txBody>
      </p:sp>
      <p:sp>
        <p:nvSpPr>
          <p:cNvPr id="22" name="R2_qb305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306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do you cross your arms?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When I'm cold – or bored!</a:t>
            </a:r>
            <a:endParaRPr lang="en-US" sz="1250" dirty="0"/>
          </a:p>
        </p:txBody>
      </p:sp>
      <p:sp>
        <p:nvSpPr>
          <p:cNvPr id="24" name="R3_qb307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308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look people in the eye when you talk to a teacher?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Not really, I usually look down.</a:t>
            </a:r>
            <a:endParaRPr lang="en-US" sz="1250" dirty="0"/>
          </a:p>
        </p:txBody>
      </p:sp>
      <p:sp>
        <p:nvSpPr>
          <p:cNvPr id="26" name="R4_qb309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310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 YOU do with your hands when you're nervous?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 touch my hair all the time.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1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31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313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Dario's big solo</a:t>
            </a:r>
            <a:endParaRPr lang="en-US" sz="2500" dirty="0"/>
          </a:p>
        </p:txBody>
      </p:sp>
      <p:pic>
        <p:nvPicPr>
          <p:cNvPr id="6" name="brP_31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315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story. Answer the questions!</a:t>
            </a:r>
            <a:endParaRPr lang="en-US" sz="1250" dirty="0"/>
          </a:p>
        </p:txBody>
      </p:sp>
      <p:sp>
        <p:nvSpPr>
          <p:cNvPr id="8" name="insIT_316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Ascolta la storia. Rispondi alle domande!</a:t>
            </a:r>
            <a:endParaRPr lang="en-US" sz="950" dirty="0"/>
          </a:p>
        </p:txBody>
      </p:sp>
      <p:sp>
        <p:nvSpPr>
          <p:cNvPr id="9" name="cmd_31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cmd_318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319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2" name="tag_320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TPRS · story</a:t>
            </a:r>
            <a:endParaRPr lang="en-US" sz="850" dirty="0"/>
          </a:p>
        </p:txBody>
      </p:sp>
      <p:pic>
        <p:nvPicPr>
          <p:cNvPr id="13" name="logo_32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2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Speaking · class story (TPRS)</a:t>
            </a:r>
            <a:endParaRPr lang="en-US" sz="800" dirty="0"/>
          </a:p>
        </p:txBody>
      </p:sp>
      <p:sp>
        <p:nvSpPr>
          <p:cNvPr id="15" name="cd_323"/>
          <p:cNvSpPr/>
          <p:nvPr/>
        </p:nvSpPr>
        <p:spPr>
          <a:xfrm>
            <a:off x="320040" y="1417320"/>
            <a:ext cx="2697480" cy="2852928"/>
          </a:xfrm>
          <a:prstGeom prst="roundRect">
            <a:avLst>
              <a:gd name="adj" fmla="val 4746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2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17" name="ih_32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Story phrases</a:t>
            </a:r>
            <a:endParaRPr lang="en-US" sz="1300" dirty="0"/>
          </a:p>
        </p:txBody>
      </p:sp>
      <p:sp>
        <p:nvSpPr>
          <p:cNvPr id="18" name="il_326"/>
          <p:cNvSpPr/>
          <p:nvPr/>
        </p:nvSpPr>
        <p:spPr>
          <a:xfrm>
            <a:off x="886968" y="1892808"/>
            <a:ext cx="2039112" cy="23042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bite (your nails)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​"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mangiarsi (le unghie)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knees · stomach · toes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​"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ginocchia · stomaco · dita dei piedi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whistle · lips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​"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fischiare · labbra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stare at · point at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​"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fissare · indicare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clap · nod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​"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applaudire · annuire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chin · shoulders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​"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mento · spalle</a:t>
            </a:r>
            <a:endParaRPr lang="en-US" sz="1000" dirty="0"/>
          </a:p>
        </p:txBody>
      </p:sp>
      <p:sp>
        <p:nvSpPr>
          <p:cNvPr id="19" name="R1_sb327"/>
          <p:cNvSpPr/>
          <p:nvPr/>
        </p:nvSpPr>
        <p:spPr>
          <a:xfrm>
            <a:off x="3200400" y="1453896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0" name="R1_sl328"/>
          <p:cNvSpPr/>
          <p:nvPr/>
        </p:nvSpPr>
        <p:spPr>
          <a:xfrm>
            <a:off x="3584448" y="14173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Dario has a trumpet solo at the school concert. He's so nervous he </a:t>
            </a:r>
            <a:pPr indent="0" marL="0">
              <a:buNone/>
            </a:pPr>
            <a:r>
              <a:rPr lang="en-US" sz="9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bites</a:t>
            </a:r>
            <a:pPr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his nails.</a:t>
            </a:r>
            <a:endParaRPr lang="en-US" sz="95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❓ Is Dario nervous or relaxed? · What does he bite?</a:t>
            </a:r>
            <a:endParaRPr lang="en-US" sz="950" dirty="0"/>
          </a:p>
        </p:txBody>
      </p:sp>
      <p:sp>
        <p:nvSpPr>
          <p:cNvPr id="21" name="R2_sb329"/>
          <p:cNvSpPr/>
          <p:nvPr/>
        </p:nvSpPr>
        <p:spPr>
          <a:xfrm>
            <a:off x="3200400" y="201777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R2_sl330"/>
          <p:cNvSpPr/>
          <p:nvPr/>
        </p:nvSpPr>
        <p:spPr>
          <a:xfrm>
            <a:off x="3584448" y="198120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His </a:t>
            </a:r>
            <a:pPr indent="0" marL="0">
              <a:buNone/>
            </a:pPr>
            <a:r>
              <a:rPr lang="en-US" sz="12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knees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shake and his </a:t>
            </a:r>
            <a:pPr indent="0" marL="0">
              <a:buNone/>
            </a:pPr>
            <a:r>
              <a:rPr lang="en-US" sz="12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stomach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hurts. He can't feel his </a:t>
            </a:r>
            <a:pPr indent="0" marL="0">
              <a:buNone/>
            </a:pPr>
            <a:r>
              <a:rPr lang="en-US" sz="12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toes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!</a:t>
            </a:r>
            <a:endParaRPr lang="en-US" sz="12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❓ Do his knees shake? · What hurts – his head or his stomach?</a:t>
            </a:r>
            <a:endParaRPr lang="en-US" sz="1200" dirty="0"/>
          </a:p>
        </p:txBody>
      </p:sp>
      <p:sp>
        <p:nvSpPr>
          <p:cNvPr id="23" name="R3_sb331"/>
          <p:cNvSpPr/>
          <p:nvPr/>
        </p:nvSpPr>
        <p:spPr>
          <a:xfrm>
            <a:off x="3200400" y="2581656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R3_sl332"/>
          <p:cNvSpPr/>
          <p:nvPr/>
        </p:nvSpPr>
        <p:spPr>
          <a:xfrm>
            <a:off x="3584448" y="254508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stage, he can't play a note. So he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whistles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song with his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lips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!</a:t>
            </a:r>
            <a:endParaRPr lang="en-US" sz="1050" dirty="0"/>
          </a:p>
          <a:p>
            <a:pPr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❓ Does he play or whistle? · What does he whistle with?</a:t>
            </a:r>
            <a:endParaRPr lang="en-US" sz="1050" dirty="0"/>
          </a:p>
        </p:txBody>
      </p:sp>
      <p:sp>
        <p:nvSpPr>
          <p:cNvPr id="25" name="R4_sb333"/>
          <p:cNvSpPr/>
          <p:nvPr/>
        </p:nvSpPr>
        <p:spPr>
          <a:xfrm>
            <a:off x="3200400" y="3145536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R4_sl334"/>
          <p:cNvSpPr/>
          <p:nvPr/>
        </p:nvSpPr>
        <p:spPr>
          <a:xfrm>
            <a:off x="3584448" y="310896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boy in the front row </a:t>
            </a:r>
            <a:pPr indent="0" marL="0">
              <a:buNone/>
            </a:pPr>
            <a:r>
              <a:rPr lang="en-US" sz="12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stares at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him and </a:t>
            </a:r>
            <a:pPr indent="0" marL="0">
              <a:buNone/>
            </a:pPr>
            <a:r>
              <a:rPr lang="en-US" sz="12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points at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his trousers.</a:t>
            </a:r>
            <a:endParaRPr lang="en-US" sz="12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❓ Does the boy stare or smile? · What does he point at?</a:t>
            </a:r>
            <a:endParaRPr lang="en-US" sz="1200" dirty="0"/>
          </a:p>
        </p:txBody>
      </p:sp>
      <p:sp>
        <p:nvSpPr>
          <p:cNvPr id="27" name="R5_sb335"/>
          <p:cNvSpPr/>
          <p:nvPr/>
        </p:nvSpPr>
        <p:spPr>
          <a:xfrm>
            <a:off x="3200400" y="3709416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28" name="R5_sl336"/>
          <p:cNvSpPr/>
          <p:nvPr/>
        </p:nvSpPr>
        <p:spPr>
          <a:xfrm>
            <a:off x="3584448" y="367284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Oh no! Dario's trousers are on back to front! But everybody </a:t>
            </a:r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claps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10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❓ Are his trousers OK? · Does everybody clap or laugh?</a:t>
            </a:r>
            <a:endParaRPr lang="en-US" sz="1100" dirty="0"/>
          </a:p>
        </p:txBody>
      </p:sp>
      <p:sp>
        <p:nvSpPr>
          <p:cNvPr id="29" name="R6_sb337"/>
          <p:cNvSpPr/>
          <p:nvPr/>
        </p:nvSpPr>
        <p:spPr>
          <a:xfrm>
            <a:off x="3200400" y="4273296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R6_sl338"/>
          <p:cNvSpPr/>
          <p:nvPr/>
        </p:nvSpPr>
        <p:spPr>
          <a:xfrm>
            <a:off x="3584448" y="42367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Dario lifts his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, moves his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shoulders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back and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nods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: 'Thank you!'</a:t>
            </a:r>
            <a:endParaRPr lang="en-US" sz="1050" dirty="0"/>
          </a:p>
          <a:p>
            <a:pPr indent="0" marL="0">
              <a:buNone/>
            </a:pPr>
            <a:r>
              <a:rPr lang="en-US" sz="7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❓ Is Dario sad or proud? · And you – what do you do when you're nervous?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3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4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341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learn charisma?</a:t>
            </a:r>
            <a:endParaRPr lang="en-US" sz="2400" dirty="0"/>
          </a:p>
        </p:txBody>
      </p:sp>
      <p:pic>
        <p:nvPicPr>
          <p:cNvPr id="6" name="brP_34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11296" cy="402336"/>
          </a:xfrm>
          <a:prstGeom prst="rect">
            <a:avLst/>
          </a:prstGeom>
        </p:spPr>
      </p:pic>
      <p:sp>
        <p:nvSpPr>
          <p:cNvPr id="7" name="ins_343"/>
          <p:cNvSpPr/>
          <p:nvPr/>
        </p:nvSpPr>
        <p:spPr>
          <a:xfrm>
            <a:off x="1353312" y="731520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Guess! What do the numbers mean?</a:t>
            </a:r>
            <a:endParaRPr lang="en-US" sz="1250" dirty="0"/>
          </a:p>
        </p:txBody>
      </p:sp>
      <p:sp>
        <p:nvSpPr>
          <p:cNvPr id="8" name="insIT_344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Indovina! Cosa significano i numeri?</a:t>
            </a:r>
            <a:endParaRPr lang="en-US" sz="950" dirty="0"/>
          </a:p>
        </p:txBody>
      </p:sp>
      <p:sp>
        <p:nvSpPr>
          <p:cNvPr id="9" name="cmd_34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346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1" name="tag_347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Prediction</a:t>
            </a:r>
            <a:endParaRPr lang="en-US" sz="850" dirty="0"/>
          </a:p>
        </p:txBody>
      </p:sp>
      <p:pic>
        <p:nvPicPr>
          <p:cNvPr id="12" name="logo_34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4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Reading · prediction   ·   📖 SB p.62 · 5a, 5b</a:t>
            </a:r>
            <a:endParaRPr lang="en-US" sz="800" dirty="0"/>
          </a:p>
        </p:txBody>
      </p:sp>
      <p:sp>
        <p:nvSpPr>
          <p:cNvPr id="14" name="cd_350"/>
          <p:cNvSpPr/>
          <p:nvPr/>
        </p:nvSpPr>
        <p:spPr>
          <a:xfrm>
            <a:off x="320040" y="1417320"/>
            <a:ext cx="502920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hl_351"/>
          <p:cNvSpPr/>
          <p:nvPr/>
        </p:nvSpPr>
        <p:spPr>
          <a:xfrm>
            <a:off x="502920" y="150876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Charisma</a:t>
            </a:r>
            <a:endParaRPr lang="en-US" sz="2800" dirty="0"/>
          </a:p>
        </p:txBody>
      </p:sp>
      <p:sp>
        <p:nvSpPr>
          <p:cNvPr id="16" name="nx_352"/>
          <p:cNvSpPr/>
          <p:nvPr/>
        </p:nvSpPr>
        <p:spPr>
          <a:xfrm>
            <a:off x="457200" y="2807208"/>
            <a:ext cx="4754880" cy="512064"/>
          </a:xfrm>
          <a:prstGeom prst="roundRect">
            <a:avLst>
              <a:gd name="adj" fmla="val 17857"/>
            </a:avLst>
          </a:prstGeom>
          <a:solidFill>
            <a:srgbClr val="E3F7EA"/>
          </a:solidFill>
          <a:ln>
            <a:solidFill>
              <a:srgbClr val="A8E5BE"/>
            </a:solidFill>
          </a:ln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EB872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➡ NEXT 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man is a journalist, one is a charisma coach. Who's who? Why?</a:t>
            </a:r>
            <a:endParaRPr lang="en-US" sz="1000" dirty="0"/>
          </a:p>
        </p:txBody>
      </p:sp>
      <p:sp>
        <p:nvSpPr>
          <p:cNvPr id="17" name="sf_353"/>
          <p:cNvSpPr/>
          <p:nvPr/>
        </p:nvSpPr>
        <p:spPr>
          <a:xfrm>
            <a:off x="521208" y="203911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i="1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charisma /ˈkærɪzmə/ = the powerful personal quality that some people have which attracts and impresses other people</a:t>
            </a:r>
            <a:endParaRPr lang="en-US" sz="1150" dirty="0"/>
          </a:p>
        </p:txBody>
      </p:sp>
      <p:sp>
        <p:nvSpPr>
          <p:cNvPr id="18" name="nbl_354"/>
          <p:cNvSpPr/>
          <p:nvPr/>
        </p:nvSpPr>
        <p:spPr>
          <a:xfrm>
            <a:off x="365760" y="3566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🔢 NUMBER BANK · guess what they mean!</a:t>
            </a:r>
            <a:endParaRPr lang="en-US" sz="1100" dirty="0"/>
          </a:p>
        </p:txBody>
      </p:sp>
      <p:sp>
        <p:nvSpPr>
          <p:cNvPr id="19" name="bd_355"/>
          <p:cNvSpPr/>
          <p:nvPr/>
        </p:nvSpPr>
        <p:spPr>
          <a:xfrm>
            <a:off x="365760" y="3931920"/>
            <a:ext cx="548640" cy="5486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£150</a:t>
            </a:r>
            <a:endParaRPr lang="en-US" sz="800" dirty="0"/>
          </a:p>
        </p:txBody>
      </p:sp>
      <p:sp>
        <p:nvSpPr>
          <p:cNvPr id="20" name="bd_356"/>
          <p:cNvSpPr/>
          <p:nvPr/>
        </p:nvSpPr>
        <p:spPr>
          <a:xfrm>
            <a:off x="987552" y="3931920"/>
            <a:ext cx="548640" cy="5486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bd_357"/>
          <p:cNvSpPr/>
          <p:nvPr/>
        </p:nvSpPr>
        <p:spPr>
          <a:xfrm>
            <a:off x="1609344" y="3931920"/>
            <a:ext cx="548640" cy="5486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pf_358"/>
          <p:cNvSpPr/>
          <p:nvPr/>
        </p:nvSpPr>
        <p:spPr>
          <a:xfrm rot="90000">
            <a:off x="5577840" y="1234440"/>
            <a:ext cx="3246120" cy="3383280"/>
          </a:xfrm>
          <a:prstGeom prst="roundRect">
            <a:avLst>
              <a:gd name="adj" fmla="val 47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3" name="ph_359" descr="/home/claude/lls-course/v2/cache/6B_2_colin_jpg_759x79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90000">
            <a:off x="5623560" y="1280160"/>
            <a:ext cx="3154680" cy="3291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6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6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760720" cy="621792"/>
          </a:xfrm>
          <a:prstGeom prst="rect">
            <a:avLst/>
          </a:prstGeom>
        </p:spPr>
      </p:pic>
      <p:sp>
        <p:nvSpPr>
          <p:cNvPr id="5" name="title_362"/>
          <p:cNvSpPr/>
          <p:nvPr/>
        </p:nvSpPr>
        <p:spPr>
          <a:xfrm>
            <a:off x="1261872" y="164592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learn charisma? · the article</a:t>
            </a:r>
            <a:endParaRPr lang="en-US" sz="2250" dirty="0"/>
          </a:p>
        </p:txBody>
      </p:sp>
      <p:pic>
        <p:nvPicPr>
          <p:cNvPr id="6" name="brP_36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364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Check your guesses. Who's the coach?</a:t>
            </a:r>
            <a:endParaRPr lang="en-US" sz="1250" dirty="0"/>
          </a:p>
        </p:txBody>
      </p:sp>
      <p:sp>
        <p:nvSpPr>
          <p:cNvPr id="8" name="insIT_365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Leggi. Controlla. Chi è il coach?</a:t>
            </a:r>
            <a:endParaRPr lang="en-US" sz="950" dirty="0"/>
          </a:p>
        </p:txBody>
      </p:sp>
      <p:sp>
        <p:nvSpPr>
          <p:cNvPr id="9" name="cmd_36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meta_367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👤 alone</a:t>
            </a:r>
            <a:endParaRPr lang="en-US" sz="950" dirty="0"/>
          </a:p>
        </p:txBody>
      </p:sp>
      <p:sp>
        <p:nvSpPr>
          <p:cNvPr id="11" name="tag_368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TPRS · reading</a:t>
            </a:r>
            <a:endParaRPr lang="en-US" sz="850" dirty="0"/>
          </a:p>
        </p:txBody>
      </p:sp>
      <p:pic>
        <p:nvPicPr>
          <p:cNvPr id="12" name="logo_36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7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Reading · the journalist's article   ·   📖 SB p.63 · 5c</a:t>
            </a:r>
            <a:endParaRPr lang="en-US" sz="800" dirty="0"/>
          </a:p>
        </p:txBody>
      </p:sp>
      <p:sp>
        <p:nvSpPr>
          <p:cNvPr id="14" name="cd_371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sh_372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Colin Drury and Danish Sheikh</a:t>
            </a:r>
            <a:endParaRPr lang="en-US" sz="1700" dirty="0"/>
          </a:p>
        </p:txBody>
      </p:sp>
      <p:sp>
        <p:nvSpPr>
          <p:cNvPr id="16" name="ln_373"/>
          <p:cNvSpPr/>
          <p:nvPr/>
        </p:nvSpPr>
        <p:spPr>
          <a:xfrm>
            <a:off x="548640" y="1920240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21st century, charisma is the quality that people in all fields of life would most like to have. But can you learn it?</a:t>
            </a:r>
            <a:endParaRPr lang="en-US" sz="1150" dirty="0"/>
          </a:p>
        </p:txBody>
      </p:sp>
      <p:sp>
        <p:nvSpPr>
          <p:cNvPr id="17" name="ln_374"/>
          <p:cNvSpPr/>
          <p:nvPr/>
        </p:nvSpPr>
        <p:spPr>
          <a:xfrm>
            <a:off x="548640" y="2318657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man I have just met thinks so. His name is Danish Sheikh, and he is a charisma coach.</a:t>
            </a:r>
            <a:endParaRPr lang="en-US" sz="1150" dirty="0"/>
          </a:p>
        </p:txBody>
      </p:sp>
      <p:sp>
        <p:nvSpPr>
          <p:cNvPr id="18" name="ln_375"/>
          <p:cNvSpPr/>
          <p:nvPr/>
        </p:nvSpPr>
        <p:spPr>
          <a:xfrm>
            <a:off x="548640" y="2717074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 has worked with Microsoft, Yahoo, and the BBC, and he thinks he can turn anyone into George Clooney.</a:t>
            </a:r>
            <a:endParaRPr lang="en-US" sz="1150" dirty="0"/>
          </a:p>
        </p:txBody>
      </p:sp>
      <p:sp>
        <p:nvSpPr>
          <p:cNvPr id="19" name="ln_376"/>
          <p:cNvSpPr/>
          <p:nvPr/>
        </p:nvSpPr>
        <p:spPr>
          <a:xfrm>
            <a:off x="548640" y="3115491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 charges £150 an hour, and plenty of people are paying. And for two days, I'm going to be his student.</a:t>
            </a:r>
            <a:endParaRPr lang="en-US" sz="1150" dirty="0"/>
          </a:p>
        </p:txBody>
      </p:sp>
      <p:sp>
        <p:nvSpPr>
          <p:cNvPr id="20" name="ln_377"/>
          <p:cNvSpPr/>
          <p:nvPr/>
        </p:nvSpPr>
        <p:spPr>
          <a:xfrm>
            <a:off x="548640" y="3513909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Yesterday, he followed me everywhere and watched how I behaved with people – in shops, at the hairdresser's, and in work meetings.</a:t>
            </a:r>
            <a:endParaRPr lang="en-US" sz="1150" dirty="0"/>
          </a:p>
        </p:txBody>
      </p:sp>
      <p:sp>
        <p:nvSpPr>
          <p:cNvPr id="21" name="ln_378"/>
          <p:cNvSpPr/>
          <p:nvPr/>
        </p:nvSpPr>
        <p:spPr>
          <a:xfrm>
            <a:off x="548640" y="3912326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His impressions of me are not good: I can't make conversation, I have negative body language, and I don't smile enough. I also seem bored.</a:t>
            </a:r>
            <a:endParaRPr lang="en-US" sz="1150" dirty="0"/>
          </a:p>
        </p:txBody>
      </p:sp>
      <p:sp>
        <p:nvSpPr>
          <p:cNvPr id="22" name="ln_379"/>
          <p:cNvSpPr/>
          <p:nvPr/>
        </p:nvSpPr>
        <p:spPr>
          <a:xfrm>
            <a:off x="548640" y="4310743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'But don't worry!' Sheikh says, cheerfully. 'We're going to fix all this.'</a:t>
            </a:r>
            <a:endParaRPr lang="en-US" sz="1150" dirty="0"/>
          </a:p>
        </p:txBody>
      </p:sp>
      <p:sp>
        <p:nvSpPr>
          <p:cNvPr id="23" name="pf_380"/>
          <p:cNvSpPr/>
          <p:nvPr/>
        </p:nvSpPr>
        <p:spPr>
          <a:xfrm rot="120000">
            <a:off x="6309360" y="1417320"/>
            <a:ext cx="2560320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4" name="ph_381" descr="/home/claude/lls-course/v2/cache/6B_2_colin_jpg_594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1463040"/>
            <a:ext cx="2468880" cy="1417320"/>
          </a:xfrm>
          <a:prstGeom prst="rect">
            <a:avLst/>
          </a:prstGeom>
        </p:spPr>
      </p:pic>
      <p:sp>
        <p:nvSpPr>
          <p:cNvPr id="25" name="cd_382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6" name="ii_383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7" name="ih_384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28" name="il_385"/>
          <p:cNvSpPr/>
          <p:nvPr/>
        </p:nvSpPr>
        <p:spPr>
          <a:xfrm>
            <a:off x="6830568" y="4270248"/>
            <a:ext cx="19933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fix = correct / repair</a:t>
            </a:r>
            <a:endParaRPr lang="en-US" sz="10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plenty of = a lot of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8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38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607101" cy="621792"/>
          </a:xfrm>
          <a:prstGeom prst="rect">
            <a:avLst/>
          </a:prstGeom>
        </p:spPr>
      </p:pic>
      <p:sp>
        <p:nvSpPr>
          <p:cNvPr id="5" name="title_388"/>
          <p:cNvSpPr/>
          <p:nvPr/>
        </p:nvSpPr>
        <p:spPr>
          <a:xfrm>
            <a:off x="1261872" y="164592"/>
            <a:ext cx="533278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Check: what did you understand?</a:t>
            </a:r>
            <a:endParaRPr lang="en-US" sz="2400" dirty="0"/>
          </a:p>
        </p:txBody>
      </p:sp>
      <p:pic>
        <p:nvPicPr>
          <p:cNvPr id="6" name="brP_38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390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Answer with a partner. Books open p.63.</a:t>
            </a:r>
            <a:endParaRPr lang="en-US" sz="1250" dirty="0"/>
          </a:p>
        </p:txBody>
      </p:sp>
      <p:sp>
        <p:nvSpPr>
          <p:cNvPr id="8" name="insIT_391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Rispondi con un compagno. Libri aperti p.63.</a:t>
            </a:r>
            <a:endParaRPr lang="en-US" sz="950" dirty="0"/>
          </a:p>
        </p:txBody>
      </p:sp>
      <p:sp>
        <p:nvSpPr>
          <p:cNvPr id="9" name="cmd_39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120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1100" dirty="0"/>
          </a:p>
        </p:txBody>
      </p:sp>
      <p:sp>
        <p:nvSpPr>
          <p:cNvPr id="10" name="cmd_393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1" name="meta_394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395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Controlled practice</a:t>
            </a:r>
            <a:endParaRPr lang="en-US" sz="850" dirty="0"/>
          </a:p>
        </p:txBody>
      </p:sp>
      <p:pic>
        <p:nvPicPr>
          <p:cNvPr id="13" name="logo_39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9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Reading · comprehension   ·   📖 SB p.62 · 5c</a:t>
            </a:r>
            <a:endParaRPr lang="en-US" sz="800" dirty="0"/>
          </a:p>
        </p:txBody>
      </p:sp>
      <p:sp>
        <p:nvSpPr>
          <p:cNvPr id="15" name="cd_398"/>
          <p:cNvSpPr/>
          <p:nvPr/>
        </p:nvSpPr>
        <p:spPr>
          <a:xfrm>
            <a:off x="320040" y="1417320"/>
            <a:ext cx="2697480" cy="1097280"/>
          </a:xfrm>
          <a:prstGeom prst="roundRect">
            <a:avLst>
              <a:gd name="adj" fmla="val 11667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39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40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401"/>
          <p:cNvSpPr/>
          <p:nvPr/>
        </p:nvSpPr>
        <p:spPr>
          <a:xfrm>
            <a:off x="886968" y="1892808"/>
            <a:ext cx="2039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  Who's the coach? → Danish Sheikh</a:t>
            </a:r>
            <a:endParaRPr lang="en-US" sz="1050" dirty="0"/>
          </a:p>
        </p:txBody>
      </p:sp>
      <p:sp>
        <p:nvSpPr>
          <p:cNvPr id="19" name="pf_402"/>
          <p:cNvSpPr/>
          <p:nvPr/>
        </p:nvSpPr>
        <p:spPr>
          <a:xfrm rot="-90000">
            <a:off x="365760" y="2697480"/>
            <a:ext cx="2606040" cy="1965960"/>
          </a:xfrm>
          <a:prstGeom prst="roundRect">
            <a:avLst>
              <a:gd name="adj" fmla="val 790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403" descr="/home/claude/lls-course/v2/cache/6B_2_colin_jpg_605x45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743200"/>
            <a:ext cx="2514600" cy="1874520"/>
          </a:xfrm>
          <a:prstGeom prst="rect">
            <a:avLst/>
          </a:prstGeom>
        </p:spPr>
      </p:pic>
      <p:sp>
        <p:nvSpPr>
          <p:cNvPr id="21" name="bd_404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q_405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What experience does Danish Sheikh have?</a:t>
            </a:r>
            <a:endParaRPr lang="en-US" sz="1100" dirty="0"/>
          </a:p>
        </p:txBody>
      </p:sp>
      <p:sp>
        <p:nvSpPr>
          <p:cNvPr id="23" name="R1_chip406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Microsoft, Yahoo and the BBC</a:t>
            </a:r>
            <a:endParaRPr lang="en-US" sz="1000" dirty="0"/>
          </a:p>
        </p:txBody>
      </p:sp>
      <p:sp>
        <p:nvSpPr>
          <p:cNvPr id="24" name="bd_407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q_408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Is he successful?</a:t>
            </a:r>
            <a:endParaRPr lang="en-US" sz="1150" dirty="0"/>
          </a:p>
        </p:txBody>
      </p:sp>
      <p:sp>
        <p:nvSpPr>
          <p:cNvPr id="26" name="R2_chip409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Yes – £150 an hour, and plenty of people pay</a:t>
            </a:r>
            <a:endParaRPr lang="en-US" sz="1000" dirty="0"/>
          </a:p>
        </p:txBody>
      </p:sp>
      <p:sp>
        <p:nvSpPr>
          <p:cNvPr id="27" name="bd_410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q_411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What did he do yesterday? Why?</a:t>
            </a:r>
            <a:endParaRPr lang="en-US" sz="1150" dirty="0"/>
          </a:p>
        </p:txBody>
      </p:sp>
      <p:sp>
        <p:nvSpPr>
          <p:cNvPr id="29" name="R3_chip412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followed Colin everywhere – to watch how he behaves with people (Colin is going to be his student)</a:t>
            </a:r>
            <a:endParaRPr lang="en-US" sz="850" dirty="0"/>
          </a:p>
        </p:txBody>
      </p:sp>
      <p:sp>
        <p:nvSpPr>
          <p:cNvPr id="30" name="bd_413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q_414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What problems does Colin have?</a:t>
            </a:r>
            <a:endParaRPr lang="en-US" sz="1150" dirty="0"/>
          </a:p>
        </p:txBody>
      </p:sp>
      <p:sp>
        <p:nvSpPr>
          <p:cNvPr id="32" name="R4_chip415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19050">
            <a:solidFill>
              <a:srgbClr val="2EB872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 make conversation · negative body language · doesn't smile enough · seems bored</a:t>
            </a:r>
            <a:endParaRPr lang="en-US" sz="8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1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1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418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person with charisma…</a:t>
            </a:r>
            <a:endParaRPr lang="en-US" sz="2400" dirty="0"/>
          </a:p>
        </p:txBody>
      </p:sp>
      <p:pic>
        <p:nvPicPr>
          <p:cNvPr id="6" name="brP_41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596128" cy="402336"/>
          </a:xfrm>
          <a:prstGeom prst="rect">
            <a:avLst/>
          </a:prstGeom>
        </p:spPr>
      </p:pic>
      <p:sp>
        <p:nvSpPr>
          <p:cNvPr id="7" name="ins_420"/>
          <p:cNvSpPr/>
          <p:nvPr/>
        </p:nvSpPr>
        <p:spPr>
          <a:xfrm>
            <a:off x="1353312" y="731520"/>
            <a:ext cx="53400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Tick ✓ or cross ✗ with a partner. THEN listen and check.</a:t>
            </a:r>
            <a:endParaRPr lang="en-US" sz="1250" dirty="0"/>
          </a:p>
        </p:txBody>
      </p:sp>
      <p:sp>
        <p:nvSpPr>
          <p:cNvPr id="8" name="insIT_421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Segna ✓ o ✗ con un compagno. POI ascolta e controlla.</a:t>
            </a:r>
            <a:endParaRPr lang="en-US" sz="950" dirty="0"/>
          </a:p>
        </p:txBody>
      </p:sp>
      <p:sp>
        <p:nvSpPr>
          <p:cNvPr id="9" name="cmd_42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cmd_423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1" name="meta_424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2" name="tag_425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Guided discovery</a:t>
            </a:r>
            <a:endParaRPr lang="en-US" sz="850" dirty="0"/>
          </a:p>
        </p:txBody>
      </p:sp>
      <p:pic>
        <p:nvPicPr>
          <p:cNvPr id="13" name="logo_4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4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Listening · audio 6.19   ·   📖 SB p.63 · 5d, 5e · audio 6.19</a:t>
            </a:r>
            <a:endParaRPr lang="en-US" sz="800" dirty="0"/>
          </a:p>
        </p:txBody>
      </p:sp>
      <p:sp>
        <p:nvSpPr>
          <p:cNvPr id="15" name="cd_428"/>
          <p:cNvSpPr/>
          <p:nvPr/>
        </p:nvSpPr>
        <p:spPr>
          <a:xfrm>
            <a:off x="320040" y="1417320"/>
            <a:ext cx="2697480" cy="1527048"/>
          </a:xfrm>
          <a:prstGeom prst="roundRect">
            <a:avLst>
              <a:gd name="adj" fmla="val 838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42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7" name="ih_43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Does it?</a:t>
            </a:r>
            <a:endParaRPr lang="en-US" sz="1300" dirty="0"/>
          </a:p>
        </p:txBody>
      </p:sp>
      <p:sp>
        <p:nvSpPr>
          <p:cNvPr id="18" name="il_431"/>
          <p:cNvSpPr/>
          <p:nvPr/>
        </p:nvSpPr>
        <p:spPr>
          <a:xfrm>
            <a:off x="886968" y="1892808"/>
            <a:ext cx="2039112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19" name="ap_432"/>
          <p:cNvSpPr/>
          <p:nvPr/>
        </p:nvSpPr>
        <p:spPr>
          <a:xfrm>
            <a:off x="365760" y="3081528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6.19</a:t>
            </a:r>
            <a:endParaRPr lang="en-US" sz="1100" dirty="0"/>
          </a:p>
        </p:txBody>
      </p:sp>
      <p:sp>
        <p:nvSpPr>
          <p:cNvPr id="20" name="ah_433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21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22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23" name="lg_434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050" dirty="0"/>
          </a:p>
        </p:txBody>
      </p:sp>
      <p:sp>
        <p:nvSpPr>
          <p:cNvPr id="24" name="lg_435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050" dirty="0"/>
          </a:p>
        </p:txBody>
      </p:sp>
      <p:sp>
        <p:nvSpPr>
          <p:cNvPr id="25" name="sq_436"/>
          <p:cNvSpPr/>
          <p:nvPr/>
        </p:nvSpPr>
        <p:spPr>
          <a:xfrm>
            <a:off x="3246120" y="1417320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shows people what he / she is like</a:t>
            </a:r>
            <a:endParaRPr lang="en-US" sz="1200" dirty="0"/>
          </a:p>
        </p:txBody>
      </p:sp>
      <p:sp>
        <p:nvSpPr>
          <p:cNvPr id="26" name="R1_tag437"/>
          <p:cNvSpPr/>
          <p:nvPr/>
        </p:nvSpPr>
        <p:spPr>
          <a:xfrm>
            <a:off x="7178040" y="1417320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27" name="sq_438"/>
          <p:cNvSpPr/>
          <p:nvPr/>
        </p:nvSpPr>
        <p:spPr>
          <a:xfrm>
            <a:off x="3246120" y="1746504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makes other people feel important</a:t>
            </a:r>
            <a:endParaRPr lang="en-US" sz="1200" dirty="0"/>
          </a:p>
        </p:txBody>
      </p:sp>
      <p:sp>
        <p:nvSpPr>
          <p:cNvPr id="28" name="R2_tag439"/>
          <p:cNvSpPr/>
          <p:nvPr/>
        </p:nvSpPr>
        <p:spPr>
          <a:xfrm>
            <a:off x="7178040" y="1746504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29" name="sq_440"/>
          <p:cNvSpPr/>
          <p:nvPr/>
        </p:nvSpPr>
        <p:spPr>
          <a:xfrm>
            <a:off x="3246120" y="2075688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talks a lot about himself / herself</a:t>
            </a:r>
            <a:endParaRPr lang="en-US" sz="1200" dirty="0"/>
          </a:p>
        </p:txBody>
      </p:sp>
      <p:sp>
        <p:nvSpPr>
          <p:cNvPr id="30" name="R3_tag441"/>
          <p:cNvSpPr/>
          <p:nvPr/>
        </p:nvSpPr>
        <p:spPr>
          <a:xfrm>
            <a:off x="7178040" y="2075688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150" dirty="0"/>
          </a:p>
        </p:txBody>
      </p:sp>
      <p:sp>
        <p:nvSpPr>
          <p:cNvPr id="31" name="sq_442"/>
          <p:cNvSpPr/>
          <p:nvPr/>
        </p:nvSpPr>
        <p:spPr>
          <a:xfrm>
            <a:off x="3246120" y="2404872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never says anything about himself / herself</a:t>
            </a:r>
            <a:endParaRPr lang="en-US" sz="1150" dirty="0"/>
          </a:p>
        </p:txBody>
      </p:sp>
      <p:sp>
        <p:nvSpPr>
          <p:cNvPr id="32" name="R4_tag443"/>
          <p:cNvSpPr/>
          <p:nvPr/>
        </p:nvSpPr>
        <p:spPr>
          <a:xfrm>
            <a:off x="7178040" y="2404872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150" dirty="0"/>
          </a:p>
        </p:txBody>
      </p:sp>
      <p:sp>
        <p:nvSpPr>
          <p:cNvPr id="33" name="sq_444"/>
          <p:cNvSpPr/>
          <p:nvPr/>
        </p:nvSpPr>
        <p:spPr>
          <a:xfrm>
            <a:off x="3246120" y="2734056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is self-confident</a:t>
            </a:r>
            <a:endParaRPr lang="en-US" sz="1200" dirty="0"/>
          </a:p>
        </p:txBody>
      </p:sp>
      <p:sp>
        <p:nvSpPr>
          <p:cNvPr id="34" name="R5_tag445"/>
          <p:cNvSpPr/>
          <p:nvPr/>
        </p:nvSpPr>
        <p:spPr>
          <a:xfrm>
            <a:off x="7178040" y="2734056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35" name="sq_446"/>
          <p:cNvSpPr/>
          <p:nvPr/>
        </p:nvSpPr>
        <p:spPr>
          <a:xfrm>
            <a:off x="3246120" y="3063240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stands with feet apart and arms wide</a:t>
            </a:r>
            <a:endParaRPr lang="en-US" sz="1200" dirty="0"/>
          </a:p>
        </p:txBody>
      </p:sp>
      <p:sp>
        <p:nvSpPr>
          <p:cNvPr id="36" name="R6_tag447"/>
          <p:cNvSpPr/>
          <p:nvPr/>
        </p:nvSpPr>
        <p:spPr>
          <a:xfrm>
            <a:off x="7178040" y="3063240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37" name="sq_448"/>
          <p:cNvSpPr/>
          <p:nvPr/>
        </p:nvSpPr>
        <p:spPr>
          <a:xfrm>
            <a:off x="3246120" y="3392424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 makes eye contact, but doesn't stare</a:t>
            </a:r>
            <a:endParaRPr lang="en-US" sz="1200" dirty="0"/>
          </a:p>
        </p:txBody>
      </p:sp>
      <p:sp>
        <p:nvSpPr>
          <p:cNvPr id="38" name="R7_tag449"/>
          <p:cNvSpPr/>
          <p:nvPr/>
        </p:nvSpPr>
        <p:spPr>
          <a:xfrm>
            <a:off x="7178040" y="3392424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39" name="sq_450"/>
          <p:cNvSpPr/>
          <p:nvPr/>
        </p:nvSpPr>
        <p:spPr>
          <a:xfrm>
            <a:off x="3246120" y="3721608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 uses a lot of hand gestures</a:t>
            </a:r>
            <a:endParaRPr lang="en-US" sz="1200" dirty="0"/>
          </a:p>
        </p:txBody>
      </p:sp>
      <p:sp>
        <p:nvSpPr>
          <p:cNvPr id="40" name="R8_tag451"/>
          <p:cNvSpPr/>
          <p:nvPr/>
        </p:nvSpPr>
        <p:spPr>
          <a:xfrm>
            <a:off x="7178040" y="3721608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150" dirty="0"/>
          </a:p>
        </p:txBody>
      </p:sp>
      <p:sp>
        <p:nvSpPr>
          <p:cNvPr id="41" name="sq_452"/>
          <p:cNvSpPr/>
          <p:nvPr/>
        </p:nvSpPr>
        <p:spPr>
          <a:xfrm>
            <a:off x="3246120" y="4050792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 speaks very slowly</a:t>
            </a:r>
            <a:endParaRPr lang="en-US" sz="1200" dirty="0"/>
          </a:p>
        </p:txBody>
      </p:sp>
      <p:sp>
        <p:nvSpPr>
          <p:cNvPr id="42" name="R9_tag453"/>
          <p:cNvSpPr/>
          <p:nvPr/>
        </p:nvSpPr>
        <p:spPr>
          <a:xfrm>
            <a:off x="7178040" y="4050792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150" dirty="0"/>
          </a:p>
        </p:txBody>
      </p:sp>
      <p:sp>
        <p:nvSpPr>
          <p:cNvPr id="43" name="sq_454"/>
          <p:cNvSpPr/>
          <p:nvPr/>
        </p:nvSpPr>
        <p:spPr>
          <a:xfrm>
            <a:off x="3246120" y="4379976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 listens to people carefully</a:t>
            </a:r>
            <a:endParaRPr lang="en-US" sz="1200" dirty="0"/>
          </a:p>
        </p:txBody>
      </p:sp>
      <p:sp>
        <p:nvSpPr>
          <p:cNvPr id="44" name="R10_tag455"/>
          <p:cNvSpPr/>
          <p:nvPr/>
        </p:nvSpPr>
        <p:spPr>
          <a:xfrm>
            <a:off x="7178040" y="4379976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7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58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9" fill="hold">
                      <p:stCondLst>
                        <p:cond delay="0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2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audio>
              <p:cMediaNode vol="80000">
                <p:cTn id="6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1"/>
                </p:tgtEl>
              </p:cMediaNode>
            </p:audio>
            <p:audio>
              <p:cMediaNode vol="80000">
                <p:cTn id="6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5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5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977994" cy="621792"/>
          </a:xfrm>
          <a:prstGeom prst="rect">
            <a:avLst/>
          </a:prstGeom>
        </p:spPr>
      </p:pic>
      <p:sp>
        <p:nvSpPr>
          <p:cNvPr id="5" name="title_458"/>
          <p:cNvSpPr/>
          <p:nvPr/>
        </p:nvSpPr>
        <p:spPr>
          <a:xfrm>
            <a:off x="1261872" y="164592"/>
            <a:ext cx="47036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does Colin say about…?</a:t>
            </a:r>
            <a:endParaRPr lang="en-US" sz="2300" dirty="0"/>
          </a:p>
        </p:txBody>
      </p:sp>
      <p:pic>
        <p:nvPicPr>
          <p:cNvPr id="6" name="brP_45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727448" cy="402336"/>
          </a:xfrm>
          <a:prstGeom prst="rect">
            <a:avLst/>
          </a:prstGeom>
        </p:spPr>
      </p:pic>
      <p:sp>
        <p:nvSpPr>
          <p:cNvPr id="7" name="ins_460"/>
          <p:cNvSpPr/>
          <p:nvPr/>
        </p:nvSpPr>
        <p:spPr>
          <a:xfrm>
            <a:off x="1353312" y="731520"/>
            <a:ext cx="4471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4 questions. Listen again and answer.</a:t>
            </a:r>
            <a:endParaRPr lang="en-US" sz="1250" dirty="0"/>
          </a:p>
        </p:txBody>
      </p:sp>
      <p:sp>
        <p:nvSpPr>
          <p:cNvPr id="8" name="insIT_461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Leggi le 4 domande. Ascolta di nuovo e rispondi.</a:t>
            </a:r>
            <a:endParaRPr lang="en-US" sz="950" dirty="0"/>
          </a:p>
        </p:txBody>
      </p:sp>
      <p:sp>
        <p:nvSpPr>
          <p:cNvPr id="9" name="cmd_462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0" name="meta_463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👤 alone</a:t>
            </a:r>
            <a:endParaRPr lang="en-US" sz="950" dirty="0"/>
          </a:p>
        </p:txBody>
      </p:sp>
      <p:sp>
        <p:nvSpPr>
          <p:cNvPr id="11" name="tag_464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Listening for detail</a:t>
            </a:r>
            <a:endParaRPr lang="en-US" sz="850" dirty="0"/>
          </a:p>
        </p:txBody>
      </p:sp>
      <p:pic>
        <p:nvPicPr>
          <p:cNvPr id="12" name="logo_46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6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Listening · detail · audio 6.19   ·   📖 SB p.63 · 5f · audio 6.19</a:t>
            </a:r>
            <a:endParaRPr lang="en-US" sz="800" dirty="0"/>
          </a:p>
        </p:txBody>
      </p:sp>
      <p:sp>
        <p:nvSpPr>
          <p:cNvPr id="14" name="ap_467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6.19  ·  play 2× · 🐢 = slower</a:t>
            </a:r>
            <a:endParaRPr lang="en-US" sz="1100" dirty="0"/>
          </a:p>
        </p:txBody>
      </p:sp>
      <p:sp>
        <p:nvSpPr>
          <p:cNvPr id="15" name="ah_468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16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17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18" name="pf_469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470" descr="/home/claude/lls-course/v2/cache/6B_2_colin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20" name="cd_471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ii_472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2" name="ih_473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3" name="il_474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4" name="gq_475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talking about yourself</a:t>
            </a:r>
            <a:endParaRPr lang="en-US" sz="1200" dirty="0"/>
          </a:p>
        </p:txBody>
      </p:sp>
      <p:sp>
        <p:nvSpPr>
          <p:cNvPr id="25" name="R1_chip476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enough – but not too much</a:t>
            </a:r>
            <a:endParaRPr lang="en-US" sz="1200" dirty="0"/>
          </a:p>
        </p:txBody>
      </p:sp>
      <p:sp>
        <p:nvSpPr>
          <p:cNvPr id="26" name="gq_477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remembering a past success</a:t>
            </a:r>
            <a:endParaRPr lang="en-US" sz="1200" dirty="0"/>
          </a:p>
        </p:txBody>
      </p:sp>
      <p:sp>
        <p:nvSpPr>
          <p:cNvPr id="27" name="R2_chip478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helps you feel more confident</a:t>
            </a:r>
            <a:endParaRPr lang="en-US" sz="1200" dirty="0"/>
          </a:p>
        </p:txBody>
      </p:sp>
      <p:sp>
        <p:nvSpPr>
          <p:cNvPr id="28" name="gq_479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how to enter a room</a:t>
            </a:r>
            <a:endParaRPr lang="en-US" sz="1200" dirty="0"/>
          </a:p>
        </p:txBody>
      </p:sp>
      <p:sp>
        <p:nvSpPr>
          <p:cNvPr id="29" name="R3_chip480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 up, shoulders back</a:t>
            </a:r>
            <a:endParaRPr lang="en-US" sz="1200" dirty="0"/>
          </a:p>
        </p:txBody>
      </p:sp>
      <p:sp>
        <p:nvSpPr>
          <p:cNvPr id="30" name="gq_481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if you aren't really listening</a:t>
            </a:r>
            <a:endParaRPr lang="en-US" sz="1200" dirty="0"/>
          </a:p>
        </p:txBody>
      </p:sp>
      <p:sp>
        <p:nvSpPr>
          <p:cNvPr id="31" name="R4_chip482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other person notices very quickly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2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audio>
              <p:cMediaNode vol="80000">
                <p:cTn id="3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  <p:audio>
              <p:cMediaNode vol="80000">
                <p:cTn id="3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8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48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618842" cy="621792"/>
          </a:xfrm>
          <a:prstGeom prst="rect">
            <a:avLst/>
          </a:prstGeom>
        </p:spPr>
      </p:pic>
      <p:sp>
        <p:nvSpPr>
          <p:cNvPr id="5" name="title_485"/>
          <p:cNvSpPr/>
          <p:nvPr/>
        </p:nvSpPr>
        <p:spPr>
          <a:xfrm>
            <a:off x="1261872" y="164592"/>
            <a:ext cx="23445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Colin's test</a:t>
            </a:r>
            <a:endParaRPr lang="en-US" sz="2500" dirty="0"/>
          </a:p>
        </p:txBody>
      </p:sp>
      <p:pic>
        <p:nvPicPr>
          <p:cNvPr id="6" name="brP_48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487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first. Then listen and complete.</a:t>
            </a:r>
            <a:endParaRPr lang="en-US" sz="1250" dirty="0"/>
          </a:p>
        </p:txBody>
      </p:sp>
      <p:sp>
        <p:nvSpPr>
          <p:cNvPr id="8" name="insIT_488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Indovina prima. Poi ascolta e completa.</a:t>
            </a:r>
            <a:endParaRPr lang="en-US" sz="950" dirty="0"/>
          </a:p>
        </p:txBody>
      </p:sp>
      <p:sp>
        <p:nvSpPr>
          <p:cNvPr id="9" name="cmd_48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cmd_490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1100" dirty="0"/>
          </a:p>
        </p:txBody>
      </p:sp>
      <p:sp>
        <p:nvSpPr>
          <p:cNvPr id="11" name="meta_491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👤 alone</a:t>
            </a:r>
            <a:endParaRPr lang="en-US" sz="950" dirty="0"/>
          </a:p>
        </p:txBody>
      </p:sp>
      <p:sp>
        <p:nvSpPr>
          <p:cNvPr id="12" name="tag_492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Listening for detail</a:t>
            </a:r>
            <a:endParaRPr lang="en-US" sz="850" dirty="0"/>
          </a:p>
        </p:txBody>
      </p:sp>
      <p:pic>
        <p:nvPicPr>
          <p:cNvPr id="13" name="logo_49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49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Listening · the practical test · audio 6.20   ·   📖 SB p.63 · 5g · audio 6.20</a:t>
            </a:r>
            <a:endParaRPr lang="en-US" sz="800" dirty="0"/>
          </a:p>
        </p:txBody>
      </p:sp>
      <p:sp>
        <p:nvSpPr>
          <p:cNvPr id="15" name="ap_495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19050">
            <a:solidFill>
              <a:srgbClr val="2F8DE4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6.20  ·  play 1–2× · 🐢 = slower</a:t>
            </a:r>
            <a:endParaRPr lang="en-US" sz="1100" dirty="0"/>
          </a:p>
        </p:txBody>
      </p:sp>
      <p:sp>
        <p:nvSpPr>
          <p:cNvPr id="16" name="ah_496"/>
          <p:cNvSpPr/>
          <p:nvPr/>
        </p:nvSpPr>
        <p:spPr>
          <a:xfrm>
            <a:off x="5925312" y="4572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 · 🐢 slower</a:t>
            </a:r>
            <a:endParaRPr lang="en-US" sz="950" dirty="0"/>
          </a:p>
        </p:txBody>
      </p:sp>
      <p:pic>
        <p:nvPicPr>
          <p:cNvPr id="1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7525512" y="4553712"/>
            <a:ext cx="411480" cy="411480"/>
          </a:xfrm>
          <a:prstGeom prst="rect">
            <a:avLst/>
          </a:prstGeom>
        </p:spPr>
      </p:pic>
      <p:pic>
        <p:nvPicPr>
          <p:cNvPr id="18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001000" y="4553712"/>
            <a:ext cx="411480" cy="411480"/>
          </a:xfrm>
          <a:prstGeom prst="rect">
            <a:avLst/>
          </a:prstGeom>
        </p:spPr>
      </p:pic>
      <p:sp>
        <p:nvSpPr>
          <p:cNvPr id="19" name="pf_497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498" descr="/home/claude/lls-course/v2/cache/6B_2_people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21" name="cd_499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ii_500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3" name="ih_501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4" name="il_502"/>
          <p:cNvSpPr/>
          <p:nvPr/>
        </p:nvSpPr>
        <p:spPr>
          <a:xfrm>
            <a:off x="886968" y="4498848"/>
            <a:ext cx="2130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</p:txBody>
      </p:sp>
      <p:sp>
        <p:nvSpPr>
          <p:cNvPr id="25" name="gq_503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In the pub, Colin has to…</a:t>
            </a:r>
            <a:endParaRPr lang="en-US" sz="1200" dirty="0"/>
          </a:p>
        </p:txBody>
      </p:sp>
      <p:sp>
        <p:nvSpPr>
          <p:cNvPr id="26" name="R1_chip504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talk to strangers</a:t>
            </a:r>
            <a:endParaRPr lang="en-US" sz="1200" dirty="0"/>
          </a:p>
        </p:txBody>
      </p:sp>
      <p:sp>
        <p:nvSpPr>
          <p:cNvPr id="27" name="gq_505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Sheikh helps him by…</a:t>
            </a:r>
            <a:endParaRPr lang="en-US" sz="1200" dirty="0"/>
          </a:p>
        </p:txBody>
      </p:sp>
      <p:sp>
        <p:nvSpPr>
          <p:cNvPr id="28" name="R2_chip506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giving advice: make eye contact, don't cross your arms</a:t>
            </a:r>
            <a:endParaRPr lang="en-US" sz="850" dirty="0"/>
          </a:p>
        </p:txBody>
      </p:sp>
      <p:sp>
        <p:nvSpPr>
          <p:cNvPr id="29" name="gq_507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In the end, Colin thinks charisma is about…</a:t>
            </a:r>
            <a:endParaRPr lang="en-US" sz="1200" dirty="0"/>
          </a:p>
        </p:txBody>
      </p:sp>
      <p:sp>
        <p:nvSpPr>
          <p:cNvPr id="30" name="R3_chip508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understanding who you really are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audio>
              <p:cMediaNode vol="80000">
                <p:cTn id="2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  <p:audio>
              <p:cMediaNode vol="80000">
                <p:cTn id="2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8"/>
                </p:tgtEl>
              </p:cMediaNode>
            </p:audio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0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51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1989734" cy="621792"/>
          </a:xfrm>
          <a:prstGeom prst="rect">
            <a:avLst/>
          </a:prstGeom>
        </p:spPr>
      </p:pic>
      <p:sp>
        <p:nvSpPr>
          <p:cNvPr id="5" name="title_511"/>
          <p:cNvSpPr/>
          <p:nvPr/>
        </p:nvSpPr>
        <p:spPr>
          <a:xfrm>
            <a:off x="1261872" y="164592"/>
            <a:ext cx="17154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Mime it!</a:t>
            </a:r>
            <a:endParaRPr lang="en-US" sz="2500" dirty="0"/>
          </a:p>
        </p:txBody>
      </p:sp>
      <p:pic>
        <p:nvPicPr>
          <p:cNvPr id="6" name="brP_51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901184" cy="402336"/>
          </a:xfrm>
          <a:prstGeom prst="rect">
            <a:avLst/>
          </a:prstGeom>
        </p:spPr>
      </p:pic>
      <p:sp>
        <p:nvSpPr>
          <p:cNvPr id="7" name="ins_513"/>
          <p:cNvSpPr/>
          <p:nvPr/>
        </p:nvSpPr>
        <p:spPr>
          <a:xfrm>
            <a:off x="1353312" y="731520"/>
            <a:ext cx="4645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Mime the action. Your team says the FULL phrase!</a:t>
            </a:r>
            <a:endParaRPr lang="en-US" sz="1250" dirty="0"/>
          </a:p>
        </p:txBody>
      </p:sp>
      <p:sp>
        <p:nvSpPr>
          <p:cNvPr id="8" name="insIT_514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Mima l'azione. La tua squadra dice la frase COMPLETA!</a:t>
            </a:r>
            <a:endParaRPr lang="en-US" sz="950" dirty="0"/>
          </a:p>
        </p:txBody>
      </p:sp>
      <p:sp>
        <p:nvSpPr>
          <p:cNvPr id="9" name="cmd_515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516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🏆 teams</a:t>
            </a:r>
            <a:endParaRPr lang="en-US" sz="950" dirty="0"/>
          </a:p>
        </p:txBody>
      </p:sp>
      <p:sp>
        <p:nvSpPr>
          <p:cNvPr id="11" name="tag_517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2" name="logo_51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1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Game · body-language mime   ·   📖 SB p.63 · 5h</a:t>
            </a:r>
            <a:endParaRPr lang="en-US" sz="800" dirty="0"/>
          </a:p>
        </p:txBody>
      </p:sp>
      <p:sp>
        <p:nvSpPr>
          <p:cNvPr id="14" name="cd_520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521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522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523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mimer looks at the screen – the team does NOT.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 mimo guarda lo schermo – la squadra NO.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Mime it: no words, no sounds!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Mima: niente parole, niente suoni!</a:t>
            </a:r>
            <a:endParaRPr lang="en-US" sz="10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10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Team: 'You're shaking hands!' Full phrase = 1 point.</a:t>
            </a:r>
            <a:endParaRPr lang="en-US" sz="10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9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Squadra: frase completa = 1 punto.</a:t>
            </a:r>
            <a:endParaRPr lang="en-US" sz="1000" dirty="0"/>
          </a:p>
        </p:txBody>
      </p:sp>
      <p:sp>
        <p:nvSpPr>
          <p:cNvPr id="18" name="st_524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525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526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SHAKE HANDS</a:t>
            </a:r>
            <a:endParaRPr lang="en-US" sz="1100" dirty="0"/>
          </a:p>
        </p:txBody>
      </p:sp>
      <p:sp>
        <p:nvSpPr>
          <p:cNvPr id="21" name="R1_chip527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shaking hands!</a:t>
            </a:r>
            <a:endParaRPr lang="en-US" sz="1100" dirty="0"/>
          </a:p>
        </p:txBody>
      </p:sp>
      <p:sp>
        <p:nvSpPr>
          <p:cNvPr id="22" name="bd_528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529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CROSS YOUR ARMS</a:t>
            </a:r>
            <a:endParaRPr lang="en-US" sz="1100" dirty="0"/>
          </a:p>
        </p:txBody>
      </p:sp>
      <p:sp>
        <p:nvSpPr>
          <p:cNvPr id="24" name="R2_chip530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crossing your arms!</a:t>
            </a:r>
            <a:endParaRPr lang="en-US" sz="1100" dirty="0"/>
          </a:p>
        </p:txBody>
      </p:sp>
      <p:sp>
        <p:nvSpPr>
          <p:cNvPr id="25" name="bd_531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532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GIVE A THUMBS UP</a:t>
            </a:r>
            <a:endParaRPr lang="en-US" sz="1100" dirty="0"/>
          </a:p>
        </p:txBody>
      </p:sp>
      <p:sp>
        <p:nvSpPr>
          <p:cNvPr id="27" name="R3_chip533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giving a thumbs up!</a:t>
            </a:r>
            <a:endParaRPr lang="en-US" sz="1100" dirty="0"/>
          </a:p>
        </p:txBody>
      </p:sp>
      <p:sp>
        <p:nvSpPr>
          <p:cNvPr id="28" name="bd_534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535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STAND WITH YOUR FEET APART</a:t>
            </a:r>
            <a:endParaRPr lang="en-US" sz="1100" dirty="0"/>
          </a:p>
        </p:txBody>
      </p:sp>
      <p:sp>
        <p:nvSpPr>
          <p:cNvPr id="30" name="R4_chip536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standing with your feet apart!</a:t>
            </a:r>
            <a:endParaRPr lang="en-US" sz="1100" dirty="0"/>
          </a:p>
        </p:txBody>
      </p:sp>
      <p:sp>
        <p:nvSpPr>
          <p:cNvPr id="31" name="bd_537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538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 UP, SHOULDERS BACK</a:t>
            </a:r>
            <a:endParaRPr lang="en-US" sz="1100" dirty="0"/>
          </a:p>
        </p:txBody>
      </p:sp>
      <p:sp>
        <p:nvSpPr>
          <p:cNvPr id="33" name="R5_chip539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You've got your chin up and your shoulders back!</a:t>
            </a:r>
            <a:endParaRPr lang="en-US" sz="1100" dirty="0"/>
          </a:p>
        </p:txBody>
      </p:sp>
      <p:sp>
        <p:nvSpPr>
          <p:cNvPr id="34" name="bd_540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gq_541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EYE CONTACT</a:t>
            </a:r>
            <a:endParaRPr lang="en-US" sz="1100" dirty="0"/>
          </a:p>
        </p:txBody>
      </p:sp>
      <p:sp>
        <p:nvSpPr>
          <p:cNvPr id="36" name="R6_chip542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making eye contact!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4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18</a:t>
            </a:r>
            <a:endParaRPr lang="en-US" sz="2200" dirty="0"/>
          </a:p>
        </p:txBody>
      </p:sp>
      <p:pic>
        <p:nvPicPr>
          <p:cNvPr id="4" name="brY_54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449824" cy="621792"/>
          </a:xfrm>
          <a:prstGeom prst="rect">
            <a:avLst/>
          </a:prstGeom>
        </p:spPr>
      </p:pic>
      <p:sp>
        <p:nvSpPr>
          <p:cNvPr id="5" name="title_545"/>
          <p:cNvSpPr/>
          <p:nvPr/>
        </p:nvSpPr>
        <p:spPr>
          <a:xfrm>
            <a:off x="1261872" y="164592"/>
            <a:ext cx="5175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really learn charisma?</a:t>
            </a:r>
            <a:endParaRPr lang="en-US" sz="2500" dirty="0"/>
          </a:p>
        </p:txBody>
      </p:sp>
      <p:pic>
        <p:nvPicPr>
          <p:cNvPr id="6" name="brP_54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547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 in groups of 3. Give reasons!</a:t>
            </a:r>
            <a:endParaRPr lang="en-US" sz="1250" dirty="0"/>
          </a:p>
        </p:txBody>
      </p:sp>
      <p:sp>
        <p:nvSpPr>
          <p:cNvPr id="8" name="insIT_548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Discuti in gruppi di 3. Spiega perché!</a:t>
            </a:r>
            <a:endParaRPr lang="en-US" sz="950" dirty="0"/>
          </a:p>
        </p:txBody>
      </p:sp>
      <p:sp>
        <p:nvSpPr>
          <p:cNvPr id="9" name="cmd_549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120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1100" dirty="0"/>
          </a:p>
        </p:txBody>
      </p:sp>
      <p:sp>
        <p:nvSpPr>
          <p:cNvPr id="10" name="meta_550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👨‍👩‍👧 groups</a:t>
            </a:r>
            <a:endParaRPr lang="en-US" sz="950" dirty="0"/>
          </a:p>
        </p:txBody>
      </p:sp>
      <p:sp>
        <p:nvSpPr>
          <p:cNvPr id="11" name="tag_551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</a:t>
            </a:r>
            <a:endParaRPr lang="en-US" sz="850" dirty="0"/>
          </a:p>
        </p:txBody>
      </p:sp>
      <p:pic>
        <p:nvPicPr>
          <p:cNvPr id="12" name="logo_55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5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Speaking · discussion   ·   📖 SB p.63 · 5i</a:t>
            </a:r>
            <a:endParaRPr lang="en-US" sz="800" dirty="0"/>
          </a:p>
        </p:txBody>
      </p:sp>
      <p:sp>
        <p:nvSpPr>
          <p:cNvPr id="14" name="pf_554"/>
          <p:cNvSpPr/>
          <p:nvPr/>
        </p:nvSpPr>
        <p:spPr>
          <a:xfrm rot="-120000">
            <a:off x="320040" y="1371600"/>
            <a:ext cx="2788920" cy="1874520"/>
          </a:xfrm>
          <a:prstGeom prst="roundRect">
            <a:avLst>
              <a:gd name="adj" fmla="val 829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555" descr="/home/claude/lls-course/v2/cache/6B_2_colin_jpg_649x429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783080"/>
          </a:xfrm>
          <a:prstGeom prst="rect">
            <a:avLst/>
          </a:prstGeom>
        </p:spPr>
      </p:pic>
      <p:sp>
        <p:nvSpPr>
          <p:cNvPr id="16" name="cd_556"/>
          <p:cNvSpPr/>
          <p:nvPr/>
        </p:nvSpPr>
        <p:spPr>
          <a:xfrm>
            <a:off x="320040" y="3429000"/>
            <a:ext cx="2788920" cy="1325880"/>
          </a:xfrm>
          <a:prstGeom prst="roundRect">
            <a:avLst>
              <a:gd name="adj" fmla="val 9655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557"/>
          <p:cNvSpPr/>
          <p:nvPr/>
        </p:nvSpPr>
        <p:spPr>
          <a:xfrm>
            <a:off x="411480" y="3502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558"/>
          <p:cNvSpPr/>
          <p:nvPr/>
        </p:nvSpPr>
        <p:spPr>
          <a:xfrm>
            <a:off x="886968" y="35204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559"/>
          <p:cNvSpPr/>
          <p:nvPr/>
        </p:nvSpPr>
        <p:spPr>
          <a:xfrm>
            <a:off x="886968" y="3904488"/>
            <a:ext cx="2130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think you can / can't learn it because…</a:t>
            </a:r>
            <a:endParaRPr lang="en-US" sz="8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depends on…</a:t>
            </a:r>
            <a:endParaRPr lang="en-US" sz="8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I'd never pay £150 an hour!</a:t>
            </a:r>
            <a:endParaRPr lang="en-US" sz="80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 agree / I'm not so sure…</a:t>
            </a:r>
            <a:endParaRPr lang="en-US" sz="800" dirty="0"/>
          </a:p>
        </p:txBody>
      </p:sp>
      <p:sp>
        <p:nvSpPr>
          <p:cNvPr id="20" name="R1_qb560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561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it possible to teach people to have charisma?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 think you can learn some things, like eye contact.</a:t>
            </a:r>
            <a:endParaRPr lang="en-US" sz="1250" dirty="0"/>
          </a:p>
        </p:txBody>
      </p:sp>
      <p:sp>
        <p:nvSpPr>
          <p:cNvPr id="22" name="R2_qb562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563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Would you ever do a course like this? Why (not)?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Maybe before a job interview.</a:t>
            </a:r>
            <a:endParaRPr lang="en-US" sz="1250" dirty="0"/>
          </a:p>
        </p:txBody>
      </p:sp>
      <p:sp>
        <p:nvSpPr>
          <p:cNvPr id="24" name="R3_qb564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565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£150 an hour worth it?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No way – I can watch videos online!</a:t>
            </a:r>
            <a:endParaRPr lang="en-US" sz="1250" dirty="0"/>
          </a:p>
        </p:txBody>
      </p:sp>
      <p:sp>
        <p:nvSpPr>
          <p:cNvPr id="26" name="R4_qb566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567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222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tip will YOU try this week?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e.g. I'm going to make more eye contact.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6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19</a:t>
            </a:r>
            <a:endParaRPr lang="en-US" sz="2200" dirty="0"/>
          </a:p>
        </p:txBody>
      </p:sp>
      <p:pic>
        <p:nvPicPr>
          <p:cNvPr id="4" name="brY_56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570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57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572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573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cmd_574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meta_575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950" dirty="0"/>
          </a:p>
        </p:txBody>
      </p:sp>
      <p:sp>
        <p:nvSpPr>
          <p:cNvPr id="11" name="tag_576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Reflection</a:t>
            </a:r>
            <a:endParaRPr lang="en-US" sz="850" dirty="0"/>
          </a:p>
        </p:txBody>
      </p:sp>
      <p:pic>
        <p:nvPicPr>
          <p:cNvPr id="12" name="logo_57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7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Review · what did you do today?</a:t>
            </a:r>
            <a:endParaRPr lang="en-US" sz="800" dirty="0"/>
          </a:p>
        </p:txBody>
      </p:sp>
      <p:sp>
        <p:nvSpPr>
          <p:cNvPr id="14" name="cd_579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te_580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🖐️</a:t>
            </a:r>
            <a:endParaRPr lang="en-US" sz="1800" dirty="0"/>
          </a:p>
        </p:txBody>
      </p:sp>
      <p:sp>
        <p:nvSpPr>
          <p:cNvPr id="16" name="tt_581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Learnt parts of the body and body verbs</a:t>
            </a:r>
            <a:endParaRPr lang="en-US" sz="1350" dirty="0"/>
          </a:p>
        </p:txBody>
      </p:sp>
      <p:sp>
        <p:nvSpPr>
          <p:cNvPr id="17" name="R1_tk582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8" name="cd_583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te_584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🔊</a:t>
            </a:r>
            <a:endParaRPr lang="en-US" sz="1800" dirty="0"/>
          </a:p>
        </p:txBody>
      </p:sp>
      <p:sp>
        <p:nvSpPr>
          <p:cNvPr id="20" name="tt_585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Said 'two sounds in one': bike, train, phone…</a:t>
            </a:r>
            <a:endParaRPr lang="en-US" sz="1350" dirty="0"/>
          </a:p>
        </p:txBody>
      </p:sp>
      <p:sp>
        <p:nvSpPr>
          <p:cNvPr id="21" name="R2_tk586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2" name="cd_587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te_588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24" name="tt_589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and listened: can you LEARN charisma?</a:t>
            </a:r>
            <a:endParaRPr lang="en-US" sz="1350" dirty="0"/>
          </a:p>
        </p:txBody>
      </p:sp>
      <p:sp>
        <p:nvSpPr>
          <p:cNvPr id="25" name="R3_tk590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6" name="cd_591"/>
          <p:cNvSpPr/>
          <p:nvPr/>
        </p:nvSpPr>
        <p:spPr>
          <a:xfrm>
            <a:off x="548640" y="3227832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te_592"/>
          <p:cNvSpPr/>
          <p:nvPr/>
        </p:nvSpPr>
        <p:spPr>
          <a:xfrm>
            <a:off x="64008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28" name="tt_593"/>
          <p:cNvSpPr/>
          <p:nvPr/>
        </p:nvSpPr>
        <p:spPr>
          <a:xfrm>
            <a:off x="1188720" y="322783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a class story and answered questions</a:t>
            </a:r>
            <a:endParaRPr lang="en-US" sz="1350" dirty="0"/>
          </a:p>
        </p:txBody>
      </p:sp>
      <p:sp>
        <p:nvSpPr>
          <p:cNvPr id="29" name="R4_tk594"/>
          <p:cNvSpPr/>
          <p:nvPr/>
        </p:nvSpPr>
        <p:spPr>
          <a:xfrm>
            <a:off x="5989320" y="326440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0" name="cd_595"/>
          <p:cNvSpPr/>
          <p:nvPr/>
        </p:nvSpPr>
        <p:spPr>
          <a:xfrm>
            <a:off x="548640" y="3831336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19050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te_596"/>
          <p:cNvSpPr/>
          <p:nvPr/>
        </p:nvSpPr>
        <p:spPr>
          <a:xfrm>
            <a:off x="640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🎭</a:t>
            </a:r>
            <a:endParaRPr lang="en-US" sz="1800" dirty="0"/>
          </a:p>
        </p:txBody>
      </p:sp>
      <p:sp>
        <p:nvSpPr>
          <p:cNvPr id="32" name="tt_597"/>
          <p:cNvSpPr/>
          <p:nvPr/>
        </p:nvSpPr>
        <p:spPr>
          <a:xfrm>
            <a:off x="1188720" y="3831336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Played a body-language mime game</a:t>
            </a:r>
            <a:endParaRPr lang="en-US" sz="1350" dirty="0"/>
          </a:p>
        </p:txBody>
      </p:sp>
      <p:sp>
        <p:nvSpPr>
          <p:cNvPr id="33" name="R5_tk598"/>
          <p:cNvSpPr/>
          <p:nvPr/>
        </p:nvSpPr>
        <p:spPr>
          <a:xfrm>
            <a:off x="5989320" y="38679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st_599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0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20</a:t>
            </a:r>
            <a:endParaRPr lang="en-US" sz="2200" dirty="0"/>
          </a:p>
        </p:txBody>
      </p:sp>
      <p:pic>
        <p:nvPicPr>
          <p:cNvPr id="4" name="brY_60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602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60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604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605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meta_606"/>
          <p:cNvSpPr/>
          <p:nvPr/>
        </p:nvSpPr>
        <p:spPr>
          <a:xfrm>
            <a:off x="6583680" y="182880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0" name="tag_607"/>
          <p:cNvSpPr/>
          <p:nvPr/>
        </p:nvSpPr>
        <p:spPr>
          <a:xfrm>
            <a:off x="6510528" y="420624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Revision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Retrieval</a:t>
            </a:r>
            <a:endParaRPr lang="en-US" sz="850" dirty="0"/>
          </a:p>
        </p:txBody>
      </p:sp>
      <p:pic>
        <p:nvPicPr>
          <p:cNvPr id="11" name="logo_60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60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Exit · what can you remember?</a:t>
            </a:r>
            <a:endParaRPr lang="en-US" sz="800" dirty="0"/>
          </a:p>
        </p:txBody>
      </p:sp>
      <p:sp>
        <p:nvSpPr>
          <p:cNvPr id="13" name="bd_610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rt_611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body verbs (clap, nod…) + the part of the body</a:t>
            </a:r>
            <a:endParaRPr lang="en-US" sz="1400" dirty="0"/>
          </a:p>
        </p:txBody>
      </p:sp>
      <p:sp>
        <p:nvSpPr>
          <p:cNvPr id="15" name="bd_612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rt_613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tips from the charisma coach</a:t>
            </a:r>
            <a:endParaRPr lang="en-US" sz="1400" dirty="0"/>
          </a:p>
        </p:txBody>
      </p:sp>
      <p:sp>
        <p:nvSpPr>
          <p:cNvPr id="17" name="bd_614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rt_615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word with a diphthong: bike, train, phone, owl, chair</a:t>
            </a:r>
            <a:endParaRPr lang="en-US" sz="1400" dirty="0"/>
          </a:p>
        </p:txBody>
      </p:sp>
      <p:sp>
        <p:nvSpPr>
          <p:cNvPr id="19" name="cd_616"/>
          <p:cNvSpPr/>
          <p:nvPr/>
        </p:nvSpPr>
        <p:spPr>
          <a:xfrm>
            <a:off x="5669280" y="1417320"/>
            <a:ext cx="3200400" cy="2286000"/>
          </a:xfrm>
          <a:prstGeom prst="roundRect">
            <a:avLst>
              <a:gd name="adj" fmla="val 5600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617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1" name="ih_618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2" name="il_619"/>
          <p:cNvSpPr/>
          <p:nvPr/>
        </p:nvSpPr>
        <p:spPr>
          <a:xfrm>
            <a:off x="6236208" y="1892808"/>
            <a:ext cx="254203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Workbook 6B: 2a, 2b, 2c, 2d, 3a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Vocabulary Bank p.160: test yourself</a:t>
            </a:r>
            <a:endParaRPr lang="en-US" sz="1150" dirty="0"/>
          </a:p>
          <a:p>
            <a:pPr marL="152400" indent="-152400">
              <a:spcBef>
                <a:spcPts val="5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Homework sheet in the LLS app</a:t>
            </a:r>
            <a:endParaRPr lang="en-US" sz="1150" dirty="0"/>
          </a:p>
        </p:txBody>
      </p:sp>
      <p:sp>
        <p:nvSpPr>
          <p:cNvPr id="23" name="st_620"/>
          <p:cNvSpPr/>
          <p:nvPr/>
        </p:nvSpPr>
        <p:spPr>
          <a:xfrm rot="-180000">
            <a:off x="5806440" y="3931920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Revise and Check 5 &amp; 6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2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21</a:t>
            </a:r>
            <a:endParaRPr lang="en-US" sz="2200" dirty="0"/>
          </a:p>
        </p:txBody>
      </p:sp>
      <p:pic>
        <p:nvPicPr>
          <p:cNvPr id="4" name="brY_62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292547" cy="621792"/>
          </a:xfrm>
          <a:prstGeom prst="rect">
            <a:avLst/>
          </a:prstGeom>
        </p:spPr>
      </p:pic>
      <p:sp>
        <p:nvSpPr>
          <p:cNvPr id="5" name="title_623"/>
          <p:cNvSpPr/>
          <p:nvPr/>
        </p:nvSpPr>
        <p:spPr>
          <a:xfrm>
            <a:off x="1261872" y="164592"/>
            <a:ext cx="50182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day with a personal stylist</a:t>
            </a:r>
            <a:endParaRPr lang="en-US" sz="2500" dirty="0"/>
          </a:p>
        </p:txBody>
      </p:sp>
      <p:pic>
        <p:nvPicPr>
          <p:cNvPr id="6" name="brP_62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625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Watch Part 1. Answer the questions.</a:t>
            </a:r>
            <a:endParaRPr lang="en-US" sz="1250" dirty="0"/>
          </a:p>
        </p:txBody>
      </p:sp>
      <p:sp>
        <p:nvSpPr>
          <p:cNvPr id="8" name="insIT_626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Guarda la Parte 1. Rispondi alle domande.</a:t>
            </a:r>
            <a:endParaRPr lang="en-US" sz="950" dirty="0"/>
          </a:p>
        </p:txBody>
      </p:sp>
      <p:sp>
        <p:nvSpPr>
          <p:cNvPr id="9" name="cmd_627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</a:rPr>
              <a:t>🎬 </a:t>
            </a:r>
            <a:pPr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WATCH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 IL VIDEO</a:t>
            </a:r>
            <a:endParaRPr lang="en-US" sz="900" dirty="0"/>
          </a:p>
        </p:txBody>
      </p:sp>
      <p:sp>
        <p:nvSpPr>
          <p:cNvPr id="10" name="meta_628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🙋 whole class</a:t>
            </a:r>
            <a:endParaRPr lang="en-US" sz="950" dirty="0"/>
          </a:p>
        </p:txBody>
      </p:sp>
      <p:sp>
        <p:nvSpPr>
          <p:cNvPr id="11" name="tag_629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Authentic video</a:t>
            </a:r>
            <a:endParaRPr lang="en-US" sz="850" dirty="0"/>
          </a:p>
        </p:txBody>
      </p:sp>
      <p:pic>
        <p:nvPicPr>
          <p:cNvPr id="12" name="logo_63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3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Extension · video listening · Part 1   ·   📖 SB p.63 · 6a–6c · video Part 1 (4'42")</a:t>
            </a:r>
            <a:endParaRPr lang="en-US" sz="800" dirty="0"/>
          </a:p>
        </p:txBody>
      </p:sp>
      <p:sp>
        <p:nvSpPr>
          <p:cNvPr id="14" name="st_632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pic>
        <p:nvPicPr>
          <p:cNvPr id="15" name="Media 0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365760" y="1417320"/>
            <a:ext cx="4480560" cy="2523744"/>
          </a:xfrm>
          <a:prstGeom prst="rect">
            <a:avLst/>
          </a:prstGeom>
        </p:spPr>
      </p:pic>
      <p:sp>
        <p:nvSpPr>
          <p:cNvPr id="16" name="cd_633"/>
          <p:cNvSpPr/>
          <p:nvPr/>
        </p:nvSpPr>
        <p:spPr>
          <a:xfrm>
            <a:off x="320040" y="4069080"/>
            <a:ext cx="4572000" cy="685800"/>
          </a:xfrm>
          <a:prstGeom prst="roundRect">
            <a:avLst>
              <a:gd name="adj" fmla="val 18667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634"/>
          <p:cNvSpPr/>
          <p:nvPr/>
        </p:nvSpPr>
        <p:spPr>
          <a:xfrm>
            <a:off x="411480" y="4142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635"/>
          <p:cNvSpPr/>
          <p:nvPr/>
        </p:nvSpPr>
        <p:spPr>
          <a:xfrm>
            <a:off x="886968" y="4160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After watching</a:t>
            </a:r>
            <a:endParaRPr lang="en-US" sz="1200" dirty="0"/>
          </a:p>
        </p:txBody>
      </p:sp>
      <p:sp>
        <p:nvSpPr>
          <p:cNvPr id="19" name="il_636"/>
          <p:cNvSpPr/>
          <p:nvPr/>
        </p:nvSpPr>
        <p:spPr>
          <a:xfrm>
            <a:off x="886968" y="4544568"/>
            <a:ext cx="39136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of Sam's outfits do YOU like best? Why?</a:t>
            </a:r>
            <a:endParaRPr lang="en-US" sz="800" dirty="0"/>
          </a:p>
        </p:txBody>
      </p:sp>
      <p:sp>
        <p:nvSpPr>
          <p:cNvPr id="20" name="vq_637"/>
          <p:cNvSpPr/>
          <p:nvPr/>
        </p:nvSpPr>
        <p:spPr>
          <a:xfrm>
            <a:off x="5074920" y="1417320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Sam's job?</a:t>
            </a:r>
            <a:endParaRPr lang="en-US" sz="1100" dirty="0"/>
          </a:p>
        </p:txBody>
      </p:sp>
      <p:sp>
        <p:nvSpPr>
          <p:cNvPr id="21" name="R1_chip638"/>
          <p:cNvSpPr/>
          <p:nvPr/>
        </p:nvSpPr>
        <p:spPr>
          <a:xfrm>
            <a:off x="7269480" y="1417320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actor</a:t>
            </a:r>
            <a:endParaRPr lang="en-US" sz="1000" dirty="0"/>
          </a:p>
        </p:txBody>
      </p:sp>
      <p:sp>
        <p:nvSpPr>
          <p:cNvPr id="22" name="vq_639"/>
          <p:cNvSpPr/>
          <p:nvPr/>
        </p:nvSpPr>
        <p:spPr>
          <a:xfrm>
            <a:off x="5074920" y="2075688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did he want a stylist?</a:t>
            </a:r>
            <a:endParaRPr lang="en-US" sz="1100" dirty="0"/>
          </a:p>
        </p:txBody>
      </p:sp>
      <p:sp>
        <p:nvSpPr>
          <p:cNvPr id="23" name="R2_chip640"/>
          <p:cNvSpPr/>
          <p:nvPr/>
        </p:nvSpPr>
        <p:spPr>
          <a:xfrm>
            <a:off x="7269480" y="2075688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his wardrobe was boring – he wanted a new opinion</a:t>
            </a:r>
            <a:endParaRPr lang="en-US" sz="1000" dirty="0"/>
          </a:p>
        </p:txBody>
      </p:sp>
      <p:sp>
        <p:nvSpPr>
          <p:cNvPr id="24" name="vq_641"/>
          <p:cNvSpPr/>
          <p:nvPr/>
        </p:nvSpPr>
        <p:spPr>
          <a:xfrm>
            <a:off x="5074920" y="2734056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outfit did Sam like best?</a:t>
            </a:r>
            <a:endParaRPr lang="en-US" sz="1100" dirty="0"/>
          </a:p>
        </p:txBody>
      </p:sp>
      <p:sp>
        <p:nvSpPr>
          <p:cNvPr id="25" name="R3_chip642"/>
          <p:cNvSpPr/>
          <p:nvPr/>
        </p:nvSpPr>
        <p:spPr>
          <a:xfrm>
            <a:off x="7269480" y="2734056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– quite bold; he felt very smart</a:t>
            </a:r>
            <a:endParaRPr lang="en-US" sz="1000" dirty="0"/>
          </a:p>
        </p:txBody>
      </p:sp>
      <p:sp>
        <p:nvSpPr>
          <p:cNvPr id="26" name="vq_643"/>
          <p:cNvSpPr/>
          <p:nvPr/>
        </p:nvSpPr>
        <p:spPr>
          <a:xfrm>
            <a:off x="5074920" y="3392424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First thing he did?</a:t>
            </a:r>
            <a:endParaRPr lang="en-US" sz="1100" dirty="0"/>
          </a:p>
        </p:txBody>
      </p:sp>
      <p:sp>
        <p:nvSpPr>
          <p:cNvPr id="27" name="R4_chip644"/>
          <p:cNvSpPr/>
          <p:nvPr/>
        </p:nvSpPr>
        <p:spPr>
          <a:xfrm>
            <a:off x="7269480" y="3392424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filled in a questionnaire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video>
              <p:cMediaNode vol="80000">
                <p:cTn id="28" fill="hold" display="0">
                  <p:stCondLst>
                    <p:cond delay="indefinite"/>
                  </p:stCondLst>
                </p:cTn>
                <p:tgtEl>
                  <p:spTgt spid="15"/>
                </p:tgtEl>
              </p:cMediaNode>
            </p:video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4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22</a:t>
            </a:r>
            <a:endParaRPr lang="en-US" sz="2200" dirty="0"/>
          </a:p>
        </p:txBody>
      </p:sp>
      <p:pic>
        <p:nvPicPr>
          <p:cNvPr id="4" name="brY_64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647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Elin's golden rules</a:t>
            </a:r>
            <a:endParaRPr lang="en-US" sz="2500" dirty="0"/>
          </a:p>
        </p:txBody>
      </p:sp>
      <p:pic>
        <p:nvPicPr>
          <p:cNvPr id="6" name="brP_64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466844" cy="402336"/>
          </a:xfrm>
          <a:prstGeom prst="rect">
            <a:avLst/>
          </a:prstGeom>
        </p:spPr>
      </p:pic>
      <p:sp>
        <p:nvSpPr>
          <p:cNvPr id="7" name="ins_649"/>
          <p:cNvSpPr/>
          <p:nvPr/>
        </p:nvSpPr>
        <p:spPr>
          <a:xfrm>
            <a:off x="1353312" y="731520"/>
            <a:ext cx="42108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the missing words. Then watch Part 2.</a:t>
            </a:r>
            <a:endParaRPr lang="en-US" sz="1250" dirty="0"/>
          </a:p>
        </p:txBody>
      </p:sp>
      <p:sp>
        <p:nvSpPr>
          <p:cNvPr id="8" name="insIT_650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Indovina le parole mancanti. Poi guarda la Parte 2.</a:t>
            </a:r>
            <a:endParaRPr lang="en-US" sz="950" dirty="0"/>
          </a:p>
        </p:txBody>
      </p:sp>
      <p:sp>
        <p:nvSpPr>
          <p:cNvPr id="9" name="cmd_651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120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1100" dirty="0"/>
          </a:p>
        </p:txBody>
      </p:sp>
      <p:sp>
        <p:nvSpPr>
          <p:cNvPr id="10" name="cmd_652"/>
          <p:cNvSpPr/>
          <p:nvPr/>
        </p:nvSpPr>
        <p:spPr>
          <a:xfrm>
            <a:off x="6510528" y="566928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000000"/>
                </a:solidFill>
              </a:rPr>
              <a:t>🎬 </a:t>
            </a:r>
            <a:pPr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WATCH</a:t>
            </a:r>
            <a:pPr indent="0" marL="0">
              <a:buNone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 IL VIDEO</a:t>
            </a:r>
            <a:endParaRPr lang="en-US" sz="900" dirty="0"/>
          </a:p>
        </p:txBody>
      </p:sp>
      <p:sp>
        <p:nvSpPr>
          <p:cNvPr id="11" name="meta_653"/>
          <p:cNvSpPr/>
          <p:nvPr/>
        </p:nvSpPr>
        <p:spPr>
          <a:xfrm>
            <a:off x="6583680" y="950976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2" name="tag_654"/>
          <p:cNvSpPr/>
          <p:nvPr/>
        </p:nvSpPr>
        <p:spPr>
          <a:xfrm>
            <a:off x="6510528" y="1188720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Authentic video</a:t>
            </a:r>
            <a:endParaRPr lang="en-US" sz="850" dirty="0"/>
          </a:p>
        </p:txBody>
      </p:sp>
      <p:pic>
        <p:nvPicPr>
          <p:cNvPr id="13" name="logo_65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65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Extension · video listening · Part 2   ·   📖 SB p.63 · 6d, 6e · video Part 2 (1'27")</a:t>
            </a:r>
            <a:endParaRPr lang="en-US" sz="800" dirty="0"/>
          </a:p>
        </p:txBody>
      </p:sp>
      <p:sp>
        <p:nvSpPr>
          <p:cNvPr id="15" name="st_657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pic>
        <p:nvPicPr>
          <p:cNvPr id="16" name="Media 0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365760" y="1417320"/>
            <a:ext cx="4480560" cy="2523744"/>
          </a:xfrm>
          <a:prstGeom prst="rect">
            <a:avLst/>
          </a:prstGeom>
        </p:spPr>
      </p:pic>
      <p:sp>
        <p:nvSpPr>
          <p:cNvPr id="17" name="cd_658"/>
          <p:cNvSpPr/>
          <p:nvPr/>
        </p:nvSpPr>
        <p:spPr>
          <a:xfrm>
            <a:off x="320040" y="4069080"/>
            <a:ext cx="4572000" cy="685800"/>
          </a:xfrm>
          <a:prstGeom prst="roundRect">
            <a:avLst>
              <a:gd name="adj" fmla="val 18667"/>
            </a:avLst>
          </a:prstGeom>
          <a:solidFill>
            <a:srgbClr val="EEE8FB"/>
          </a:solidFill>
          <a:ln w="19050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8" name="ii_659"/>
          <p:cNvSpPr/>
          <p:nvPr/>
        </p:nvSpPr>
        <p:spPr>
          <a:xfrm>
            <a:off x="411480" y="4142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9" name="ih_660"/>
          <p:cNvSpPr/>
          <p:nvPr/>
        </p:nvSpPr>
        <p:spPr>
          <a:xfrm>
            <a:off x="886968" y="4160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After watching</a:t>
            </a:r>
            <a:endParaRPr lang="en-US" sz="1200" dirty="0"/>
          </a:p>
        </p:txBody>
      </p:sp>
      <p:sp>
        <p:nvSpPr>
          <p:cNvPr id="20" name="il_661"/>
          <p:cNvSpPr/>
          <p:nvPr/>
        </p:nvSpPr>
        <p:spPr>
          <a:xfrm>
            <a:off x="886968" y="4544568"/>
            <a:ext cx="39136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 you agree with Elin's rules?</a:t>
            </a:r>
            <a:endParaRPr lang="en-US" sz="800" dirty="0"/>
          </a:p>
        </p:txBody>
      </p:sp>
      <p:sp>
        <p:nvSpPr>
          <p:cNvPr id="21" name="vq_662"/>
          <p:cNvSpPr/>
          <p:nvPr/>
        </p:nvSpPr>
        <p:spPr>
          <a:xfrm>
            <a:off x="5074920" y="1417320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Look at ___ before you go shopping.</a:t>
            </a:r>
            <a:endParaRPr lang="en-US" sz="1100" dirty="0"/>
          </a:p>
        </p:txBody>
      </p:sp>
      <p:sp>
        <p:nvSpPr>
          <p:cNvPr id="22" name="R1_chip663"/>
          <p:cNvSpPr/>
          <p:nvPr/>
        </p:nvSpPr>
        <p:spPr>
          <a:xfrm>
            <a:off x="7269480" y="1417320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own wardrobe</a:t>
            </a:r>
            <a:endParaRPr lang="en-US" sz="1000" dirty="0"/>
          </a:p>
        </p:txBody>
      </p:sp>
      <p:sp>
        <p:nvSpPr>
          <p:cNvPr id="23" name="vq_664"/>
          <p:cNvSpPr/>
          <p:nvPr/>
        </p:nvSpPr>
        <p:spPr>
          <a:xfrm>
            <a:off x="5074920" y="2075688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Stay ___ when you go shopping.</a:t>
            </a:r>
            <a:endParaRPr lang="en-US" sz="1100" dirty="0"/>
          </a:p>
        </p:txBody>
      </p:sp>
      <p:sp>
        <p:nvSpPr>
          <p:cNvPr id="24" name="R2_chip665"/>
          <p:cNvSpPr/>
          <p:nvPr/>
        </p:nvSpPr>
        <p:spPr>
          <a:xfrm>
            <a:off x="7269480" y="2075688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true to yourself</a:t>
            </a:r>
            <a:endParaRPr lang="en-US" sz="1000" dirty="0"/>
          </a:p>
        </p:txBody>
      </p:sp>
      <p:sp>
        <p:nvSpPr>
          <p:cNvPr id="25" name="vq_666"/>
          <p:cNvSpPr/>
          <p:nvPr/>
        </p:nvSpPr>
        <p:spPr>
          <a:xfrm>
            <a:off x="5074920" y="2734056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It doesn't matter ___ you've got.</a:t>
            </a:r>
            <a:endParaRPr lang="en-US" sz="1100" dirty="0"/>
          </a:p>
        </p:txBody>
      </p:sp>
      <p:sp>
        <p:nvSpPr>
          <p:cNvPr id="26" name="R3_chip667"/>
          <p:cNvSpPr/>
          <p:nvPr/>
        </p:nvSpPr>
        <p:spPr>
          <a:xfrm>
            <a:off x="7269480" y="2734056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much money</a:t>
            </a:r>
            <a:endParaRPr lang="en-US" sz="1000" dirty="0"/>
          </a:p>
        </p:txBody>
      </p:sp>
      <p:sp>
        <p:nvSpPr>
          <p:cNvPr id="27" name="vq_668"/>
          <p:cNvSpPr/>
          <p:nvPr/>
        </p:nvSpPr>
        <p:spPr>
          <a:xfrm>
            <a:off x="5074920" y="3392424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19050">
            <a:solidFill>
              <a:srgbClr val="FFE07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Everyone should have ___.</a:t>
            </a:r>
            <a:endParaRPr lang="en-US" sz="1100" dirty="0"/>
          </a:p>
        </p:txBody>
      </p:sp>
      <p:sp>
        <p:nvSpPr>
          <p:cNvPr id="28" name="R4_chip669"/>
          <p:cNvSpPr/>
          <p:nvPr/>
        </p:nvSpPr>
        <p:spPr>
          <a:xfrm>
            <a:off x="7269480" y="3392424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19050">
            <a:solidFill>
              <a:srgbClr val="F2B70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good pair of jeans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video>
              <p:cMediaNode vol="80000">
                <p:cTn id="28" fill="hold" display="0">
                  <p:stCondLst>
                    <p:cond delay="indefinite"/>
                  </p:stCondLst>
                </p:cTn>
                <p:tgtEl>
                  <p:spTgt spid="16"/>
                </p:tgtEl>
              </p:cMediaNode>
            </p:video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7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23</a:t>
            </a:r>
            <a:endParaRPr lang="en-US" sz="2200" dirty="0"/>
          </a:p>
        </p:txBody>
      </p:sp>
      <p:pic>
        <p:nvPicPr>
          <p:cNvPr id="4" name="brY_67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672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Draw the alien!</a:t>
            </a:r>
            <a:endParaRPr lang="en-US" sz="2500" dirty="0"/>
          </a:p>
        </p:txBody>
      </p:sp>
      <p:pic>
        <p:nvPicPr>
          <p:cNvPr id="6" name="brP_67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640580" cy="402336"/>
          </a:xfrm>
          <a:prstGeom prst="rect">
            <a:avLst/>
          </a:prstGeom>
        </p:spPr>
      </p:pic>
      <p:sp>
        <p:nvSpPr>
          <p:cNvPr id="7" name="ins_674"/>
          <p:cNvSpPr/>
          <p:nvPr/>
        </p:nvSpPr>
        <p:spPr>
          <a:xfrm>
            <a:off x="1353312" y="731520"/>
            <a:ext cx="43845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describes an alien. B draws it. No looking!</a:t>
            </a:r>
            <a:endParaRPr lang="en-US" sz="1250" dirty="0"/>
          </a:p>
        </p:txBody>
      </p:sp>
      <p:sp>
        <p:nvSpPr>
          <p:cNvPr id="8" name="insIT_675"/>
          <p:cNvSpPr/>
          <p:nvPr/>
        </p:nvSpPr>
        <p:spPr>
          <a:xfrm>
            <a:off x="1371600" y="1115568"/>
            <a:ext cx="5852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descrive un alieno. B lo disegna. Senza guardare!</a:t>
            </a:r>
            <a:endParaRPr lang="en-US" sz="950" dirty="0"/>
          </a:p>
        </p:txBody>
      </p:sp>
      <p:sp>
        <p:nvSpPr>
          <p:cNvPr id="9" name="cmd_676"/>
          <p:cNvSpPr/>
          <p:nvPr/>
        </p:nvSpPr>
        <p:spPr>
          <a:xfrm>
            <a:off x="6510528" y="182880"/>
            <a:ext cx="190195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5400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120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1100" dirty="0"/>
          </a:p>
        </p:txBody>
      </p:sp>
      <p:sp>
        <p:nvSpPr>
          <p:cNvPr id="10" name="meta_677"/>
          <p:cNvSpPr/>
          <p:nvPr/>
        </p:nvSpPr>
        <p:spPr>
          <a:xfrm>
            <a:off x="6583680" y="566928"/>
            <a:ext cx="2286000" cy="256032"/>
          </a:xfrm>
          <a:prstGeom prst="rect">
            <a:avLst/>
          </a:prstGeom>
          <a:noFill/>
          <a:ln/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👥 pairs</a:t>
            </a:r>
            <a:endParaRPr lang="en-US" sz="950" dirty="0"/>
          </a:p>
        </p:txBody>
      </p:sp>
      <p:sp>
        <p:nvSpPr>
          <p:cNvPr id="11" name="tag_678"/>
          <p:cNvSpPr/>
          <p:nvPr/>
        </p:nvSpPr>
        <p:spPr>
          <a:xfrm>
            <a:off x="6510528" y="804672"/>
            <a:ext cx="2514600" cy="237744"/>
          </a:xfrm>
          <a:prstGeom prst="rect">
            <a:avLst/>
          </a:prstGeom>
          <a:noFill/>
          <a:ln/>
        </p:spPr>
        <p:txBody>
          <a:bodyPr wrap="square" lIns="101600" tIns="0" rIns="5080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Speaking</a:t>
            </a:r>
            <a:pPr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· Communicative game</a:t>
            </a:r>
            <a:endParaRPr lang="en-US" sz="850" dirty="0"/>
          </a:p>
        </p:txBody>
      </p:sp>
      <p:pic>
        <p:nvPicPr>
          <p:cNvPr id="12" name="logo_67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8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6B-2 · Extension · describe and draw   ·   📖 Extension · body vocabulary</a:t>
            </a:r>
            <a:endParaRPr lang="en-US" sz="800" dirty="0"/>
          </a:p>
        </p:txBody>
      </p:sp>
      <p:sp>
        <p:nvSpPr>
          <p:cNvPr id="14" name="st_681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5" name="cd_682"/>
          <p:cNvSpPr/>
          <p:nvPr/>
        </p:nvSpPr>
        <p:spPr>
          <a:xfrm>
            <a:off x="320040" y="1417320"/>
            <a:ext cx="2697480" cy="2194560"/>
          </a:xfrm>
          <a:prstGeom prst="roundRect">
            <a:avLst>
              <a:gd name="adj" fmla="val 5833"/>
            </a:avLst>
          </a:prstGeom>
          <a:solidFill>
            <a:srgbClr val="FFF6CC"/>
          </a:solidFill>
          <a:ln w="19050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683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7" name="ih_684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8" name="il_685"/>
          <p:cNvSpPr/>
          <p:nvPr/>
        </p:nvSpPr>
        <p:spPr>
          <a:xfrm>
            <a:off x="886968" y="1892808"/>
            <a:ext cx="203911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90500" indent="-190500">
              <a:spcAft>
                <a:spcPts val="200"/>
              </a:spcAft>
              <a:buSzPct val="100000"/>
              <a:buChar char="1"/>
            </a:pPr>
            <a:r>
              <a:rPr lang="en-US" sz="9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secretly draws a funny alien. Don't show it!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8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disegna un alieno buffo. Non mostrarlo!</a:t>
            </a:r>
            <a:endParaRPr lang="en-US" sz="9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2"/>
            </a:pPr>
            <a:r>
              <a:rPr lang="en-US" sz="9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describes it. B draws and asks questions.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8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lo descrive. B disegna e fa domande.</a:t>
            </a:r>
            <a:endParaRPr lang="en-US" sz="900" dirty="0"/>
          </a:p>
          <a:p>
            <a:pPr marL="190500" indent="-190500">
              <a:spcBef>
                <a:spcPts val="500"/>
              </a:spcBef>
              <a:spcAft>
                <a:spcPts val="200"/>
              </a:spcAft>
              <a:buSzPct val="100000"/>
              <a:buChar char="3"/>
            </a:pPr>
            <a:r>
              <a:rPr lang="en-US" sz="900" dirty="0">
                <a:solidFill>
                  <a:srgbClr val="1B2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Compare. Most similar pair wins! Then swap.</a:t>
            </a:r>
            <a:endParaRPr lang="en-US" sz="900" dirty="0"/>
          </a:p>
          <a:p>
            <a:pPr marL="190500" indent="-190500">
              <a:spcAft>
                <a:spcPts val="200"/>
              </a:spcAft>
              <a:buSzPct val="100000"/>
              <a:buChar char="​"/>
            </a:pPr>
            <a:r>
              <a:rPr lang="en-US" sz="800" i="1" dirty="0">
                <a:solidFill>
                  <a:srgbClr val="5B67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Confrontate. Vince la coppia più simile! Poi scambiate.</a:t>
            </a:r>
            <a:endParaRPr lang="en-US" sz="900" dirty="0"/>
          </a:p>
        </p:txBody>
      </p:sp>
      <p:sp>
        <p:nvSpPr>
          <p:cNvPr id="19" name="st_686"/>
          <p:cNvSpPr/>
          <p:nvPr/>
        </p:nvSpPr>
        <p:spPr>
          <a:xfrm rot="-180000">
            <a:off x="502920" y="3703320"/>
            <a:ext cx="2286000" cy="77724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20" name="bd_687"/>
          <p:cNvSpPr/>
          <p:nvPr/>
        </p:nvSpPr>
        <p:spPr>
          <a:xfrm>
            <a:off x="3246120" y="1508760"/>
            <a:ext cx="329184" cy="329184"/>
          </a:xfrm>
          <a:prstGeom prst="ellipse">
            <a:avLst/>
          </a:prstGeom>
          <a:solidFill>
            <a:srgbClr val="E8508F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gq_688"/>
          <p:cNvSpPr/>
          <p:nvPr/>
        </p:nvSpPr>
        <p:spPr>
          <a:xfrm>
            <a:off x="3657600" y="1417320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Describe the head</a:t>
            </a:r>
            <a:endParaRPr lang="en-US" sz="1100" dirty="0"/>
          </a:p>
        </p:txBody>
      </p:sp>
      <p:sp>
        <p:nvSpPr>
          <p:cNvPr id="22" name="R1_chip689"/>
          <p:cNvSpPr/>
          <p:nvPr/>
        </p:nvSpPr>
        <p:spPr>
          <a:xfrm>
            <a:off x="6263640" y="1417320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It's got three eyes and a very long tongue.</a:t>
            </a:r>
            <a:endParaRPr lang="en-US" sz="1100" dirty="0"/>
          </a:p>
        </p:txBody>
      </p:sp>
      <p:sp>
        <p:nvSpPr>
          <p:cNvPr id="23" name="bd_690"/>
          <p:cNvSpPr/>
          <p:nvPr/>
        </p:nvSpPr>
        <p:spPr>
          <a:xfrm>
            <a:off x="3246120" y="2084832"/>
            <a:ext cx="329184" cy="329184"/>
          </a:xfrm>
          <a:prstGeom prst="ellipse">
            <a:avLst/>
          </a:prstGeom>
          <a:solidFill>
            <a:srgbClr val="2F8DE4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gq_691"/>
          <p:cNvSpPr/>
          <p:nvPr/>
        </p:nvSpPr>
        <p:spPr>
          <a:xfrm>
            <a:off x="3657600" y="1993392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Describe the body</a:t>
            </a:r>
            <a:endParaRPr lang="en-US" sz="1100" dirty="0"/>
          </a:p>
        </p:txBody>
      </p:sp>
      <p:sp>
        <p:nvSpPr>
          <p:cNvPr id="25" name="R2_chip692"/>
          <p:cNvSpPr/>
          <p:nvPr/>
        </p:nvSpPr>
        <p:spPr>
          <a:xfrm>
            <a:off x="6263640" y="1993392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It's got four arms and six thumbs on each hand.</a:t>
            </a:r>
            <a:endParaRPr lang="en-US" sz="1100" dirty="0"/>
          </a:p>
        </p:txBody>
      </p:sp>
      <p:sp>
        <p:nvSpPr>
          <p:cNvPr id="26" name="bd_693"/>
          <p:cNvSpPr/>
          <p:nvPr/>
        </p:nvSpPr>
        <p:spPr>
          <a:xfrm>
            <a:off x="3246120" y="2660904"/>
            <a:ext cx="329184" cy="329184"/>
          </a:xfrm>
          <a:prstGeom prst="ellipse">
            <a:avLst/>
          </a:prstGeom>
          <a:solidFill>
            <a:srgbClr val="2EB872"/>
          </a:solidFill>
          <a:ln w="25400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gq_694"/>
          <p:cNvSpPr/>
          <p:nvPr/>
        </p:nvSpPr>
        <p:spPr>
          <a:xfrm>
            <a:off x="3657600" y="2569464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9050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a question</a:t>
            </a:r>
            <a:endParaRPr lang="en-US" sz="1100" dirty="0"/>
          </a:p>
        </p:txBody>
      </p:sp>
      <p:sp>
        <p:nvSpPr>
          <p:cNvPr id="28" name="R3_chip695"/>
          <p:cNvSpPr/>
          <p:nvPr/>
        </p:nvSpPr>
        <p:spPr>
          <a:xfrm>
            <a:off x="6263640" y="2569464"/>
            <a:ext cx="2560320" cy="512064"/>
          </a:xfrm>
          <a:prstGeom prst="roundRect">
            <a:avLst>
              <a:gd name="adj" fmla="val 17857"/>
            </a:avLst>
          </a:prstGeom>
          <a:solidFill>
            <a:srgbClr val="FFE3EE"/>
          </a:solidFill>
          <a:ln w="19050">
            <a:solidFill>
              <a:srgbClr val="E8508F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How many toes has it got? Where are its knees?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6B-2 Every picture tells a story</dc:title>
  <dc:subject>PptxGenJS Presentation</dc:subject>
  <dc:creator>PptxGenJS</dc:creator>
  <cp:lastModifiedBy>PptxGenJS</cp:lastModifiedBy>
  <cp:revision>1</cp:revision>
  <dcterms:created xsi:type="dcterms:W3CDTF">2026-10-12T10:15:43Z</dcterms:created>
  <dcterms:modified xsi:type="dcterms:W3CDTF">2026-10-12T10:15:43Z</dcterms:modified>
</cp:coreProperties>
</file>