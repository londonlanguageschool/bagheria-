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mp3" ContentType="audio/mpeg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OPENING (2 min)
OPENING (2 min). Show the photo (Colin Drury and Danish Sheikh, SB p.63). Ask the THINK question; take 3–4 answers. Click: the example. If they don't know 'charismatic': 'a person people like and want to listen to' – the full definition comes later. Read 'Today you're going to…'.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 Revision · last lesson (2 min)
REVISION (2 min). Read the two cards; highlight: must / might / can't + infinitive WITHOUT to, and can't (NOT mustn't) for 'I'm sure it isn't true'. Point at the three people on the slide: 'How old must he be? What might she do?' – quick answers, then the error game.
HOW TO RUN IT (active recap): pairs. Words: A points at a word, B says what it means (⭐); then a sentence with it (⭐⭐); strong students make it negative or a question (⭐⭐⭐). Grammar: pairs make their own example for each use (offer, plan…) BEFORE you click – then click to show the model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Warmer · last lesson (3 min)
RETRIEVAL WARMER (4 min). Two teams, 30 seconds per sentence; click to show the correction. Sentence 4 is the trap (correct). Typical Italian errors (TG): mustn't for impossible, can for possibility, must/might + to, missing 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 Vocabulary · the body · 8 new words (5 min)
ESTABLISH MEANING (5 min). Play 6.14 (all 22 body words, Vocabulary Bank p.160) – students point to each part of their own body as they hear it. Then the 8 words on the slide are the ones B1 students usually DON'T know: say the word, everybody points; click 1 = English definition, click 2 = Italian. Drill tongue /tʌŋ/, thumb (silent b), knees (silent k), stomach /ˈstʌmək/. Possessive: in English we say MY knee, YOUR hands (Italian uses the article). Full key VB p.160 in the key.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 Vocabulary · body verbs (4 min)
BODY VERBS (5 min). First Vocabulary Bank p.160 ex. 2: complete sentences 1–11, play 6.15 to check (1 bite · 2 kicked · 3 smells · 4 stared · 5 taste · 6 whistle · 7 touch · 8 clapped · 9 pointed · 10 smiles · 11 nodded). Then this slide: pairs say the body part; click once per line. DO each verb as you check it (TPR). bite is irregular: bite – bit – bitten.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 Game · Teacher says! (3 min)
TPR GAME (4 min). Everyone stands. Play 6.16 – students follow the instructions (clap, stare at the person next to you, point at the board, nod, whistle, touch your chair, smile). Then play 'Teacher says' (Simon says): say commands fast, sometimes WITHOUT 'Teacher says' – anyone who moves sits down. Click to show the examples. Then let a student lead. Energy change – keep it fast.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 Pronunciation · diphthongs (two sounds in one) (3 min)
PRONUNCIATION (3 + 2 min). A diphthong = two short vowel sounds joined (Italians often make it too short or say only one sound). Play 6.17: repeat bike, train, phone, owl, chair. Pairs say each word aloud and decide; click once per word. 6.18 checks all 12 words (both slides). Answers (script): /aɪ/ bite, eyes, smile · /eɪ/ face, taste · /əʊ/ nose, shoulders, throw, toes · /aʊ/ mouth · /eə/ hair, stare.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8. Pronunciation · diphthongs (2 min)
Play 6.18 to check both slides; repeat. Then 4c phrases: fair hair · narrow shoulders · a wide mouth · brown eyes · a Roman nose (= with a bump) · a round face – pairs say them to each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9. Speaking · body language and you (3 min)
PQA – PERSONAL QUESTIONS (4 min). Ask 2–3 students question 1 yourself first and circle the answer ('Marco smiles a lot. Does Marco smile a lot? Yes! Who smiles more – Marco or Giulia?'). Then pairs ask all 4 questions using the phrases. Click once per question. Feedback: 'Who in your pair has the best body language?'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10. Speaking · class story (TPRS) (4 min)
TPRS CLASS STORY (4 min) – the story step of the TPRS staging: meaning was established with the body (TPR + 'Teacher says…'), then personal questions (PQA); now the body words and body verbs are heard many times in a story BEFORE the charisma article and the mime game. Click once per line. For each line: 1) say it (and DO the action – bite, whistle, stare, point, clap, nod: students copy), 2) ask the questions in grey round the class (yes/no → either/or → who/what), 3) let the CLASS change details: 'Is it a trumpet solo? No? What does Dario play?' – accept their idea and use it in later lines. Students answer with one word or a short phrase – that's fine. Finish: 'What happens next?' – one or two ideas, then move on. Line 6 = confident body language → leads into 'Can you learn charisma?'. Recycles: bite, knees, stomach, toes, whistle, lips, stare at, point at, clap, chin, shoulders, nod.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11. Reading · prediction (2 min)
PREDICTION (2 min). Read the definition (book wording); drill charisma /kəˈrɪzmə/ and charismatic. 5b: who's the journalist and who's the coach? Why? (Colin Drury = journalist, left; Danish Sheikh = coach, right.) Numbers: pairs guess – £150 = what he charges an hour · 2 = two days as his student · 3 = companies he's worked with (Microsoft, Yahoo, BBC). Don't confirm – they read to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12. Reading · the journalist's article (4 min)
READ THE CLASS TEXT (5 min). Students read alone (3 min) and check the prediction + the numbers. Then read it aloud with the class and CIRCLE: 'Is Danish a journalist? No! Is he a coach? Yes! How much does he charge? £150 a day? No – an hour!' Next slide: the book's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13. Reading · comprehension (3 min)
COMPREHENSION (3 min). Pairs answer, then click once per answer (TG key). Ask: 'Do YOU know anyone with negative body language? (no names!)'.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14. Listening · audio 6.19 (5 min)
PREDICT THEN LISTEN (5 min). 5d: pairs decide ✓/✗ for all 10 BEFORE listening (2 min). 5e: play 6.19 (use 🐢 slower if needed). Click once per line. Answers (TG): ✓ 1, 2, 5, 6, 7, 10. From the script: talk about yourself enough, but not too much · 'stand like a gorilla' = feet apart, arms wide · eye contact max. four seconds · don't use hand gestures too much · vary your speed · listening carefully is the most important thing of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15. Listening · detail · audio 6.19 (4 min)
DETAIL (4 min). Read the 4 prompts together first. Play 6.19 again; students write notes; compare; click once per answer (TG). Then everybody stands 'like a gorilla' for 3 seconds – feet apart, chin up, shoulders back!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16. Listening · the practical test · audio 6.20 (3 min)
LISTENING (4 min). Pairs guess the endings (1 min) – accept any idea. Play 6.20; click once per answer (TG). Ask: 'Would YOU talk to strangers in a café in Bagheria to practise?'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17. Game · body-language mime (5 min)
GAME (6 min). The phrases come from 5h (the body phrases in 6.19/6.20). Two teams; one mimer each turn stands facing the screen, everybody else turns round. Click → the phrase appears; mimer mimes; team must say the whole phrase in the present continuous ('hands!' = 0). Click again shows the model sentence. Energy + language upgrade.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18. Speaking · discussion (3 min)
DISCUSSION (4 min). Groups of 3, 3 minutes. Click once per question. Forced choice for Q1: yes or no, no 'maybe'. Feedback: one person per group reports their group's answer to Q4.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19. Exit · what can you remember? (2 min)
RETRIEVAL EXIT (2 min). Books closed. Set homework. Extension slides follow (video, describe-and-draw) – use if there is time or start the next lesson with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20. Review · what did you do today? (1 min)
TODAY YOU… (1 min). Read each line (one per click: the tick appears). Students show thumbs up / middle / down: can they do it now? Note any thumbs down for the next lesson's recap.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21. OPTIONAL EXTENSIONS
The lesson ended on the previous slide ("Today you…"). Use the next slides only if there is time left, or keep them for a quick start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22. Extension · video listening · Part 1 (7 min)
EXTENSION VIDEO (7 min). Teach personal stylist and outfit. Read the questions first. Play Part 1; PAUSE when the narrator asks which outfit Sam likes best – class votes. Play on. Click once per answer (video script). 6c order: 1 fills in a questionnaire · 2 meets Elin at the Fashion Lounge · 3 Elin asks about his lifestyle · 4 they go shopping · 5 he tries on four outfits.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23. Extension · video listening · Part 2 (4 min)
EXTENSION VIDEO (4 min). Pairs guess the gaps first, then play Part 2; click once per answer (TG / video script). Did Sam enjoy the day? 'It exceeded my expectations.'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24. Extension · describe and draw (7 min)
EXTENSION (7 min). Information gap + humour. Practises body words, its / his / her, have got, and plurals (feet, teeth). Click to show model sentences.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audio" Target="../media/media-4-5.mp3"/><Relationship Id="rId6" Type="http://schemas.microsoft.com/office/2007/relationships/media" Target="../media/media-4-5.mp3"/><Relationship Id="rId7" Type="http://schemas.openxmlformats.org/officeDocument/2006/relationships/image" Target="../media/image-4-7.png"/><Relationship Id="rId8" Type="http://schemas.openxmlformats.org/officeDocument/2006/relationships/audio" Target="../media/media-4-8.mp3"/><Relationship Id="rId9" Type="http://schemas.microsoft.com/office/2007/relationships/media" Target="../media/media-4-8.mp3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audio" Target="../media/media-5-6.mp3"/><Relationship Id="rId7" Type="http://schemas.microsoft.com/office/2007/relationships/media" Target="../media/media-5-6.mp3"/><Relationship Id="rId8" Type="http://schemas.openxmlformats.org/officeDocument/2006/relationships/image" Target="../media/image-5-8.png"/><Relationship Id="rId9" Type="http://schemas.openxmlformats.org/officeDocument/2006/relationships/audio" Target="../media/media-5-9.mp3"/><Relationship Id="rId10" Type="http://schemas.microsoft.com/office/2007/relationships/media" Target="../media/media-5-9.mp3"/><Relationship Id="rId11" Type="http://schemas.openxmlformats.org/officeDocument/2006/relationships/image" Target="../media/image-5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audio" Target="../media/media-6-5.mp3"/><Relationship Id="rId6" Type="http://schemas.microsoft.com/office/2007/relationships/media" Target="../media/media-6-5.mp3"/><Relationship Id="rId7" Type="http://schemas.openxmlformats.org/officeDocument/2006/relationships/image" Target="../media/image-6-7.png"/><Relationship Id="rId8" Type="http://schemas.openxmlformats.org/officeDocument/2006/relationships/audio" Target="../media/media-6-8.mp3"/><Relationship Id="rId9" Type="http://schemas.microsoft.com/office/2007/relationships/media" Target="../media/media-6-8.mp3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audio" Target="../media/media-7-5.mp3"/><Relationship Id="rId6" Type="http://schemas.microsoft.com/office/2007/relationships/media" Target="../media/media-7-5.mp3"/><Relationship Id="rId7" Type="http://schemas.openxmlformats.org/officeDocument/2006/relationships/image" Target="../media/image-7-7.png"/><Relationship Id="rId8" Type="http://schemas.openxmlformats.org/officeDocument/2006/relationships/audio" Target="../media/media-7-8.mp3"/><Relationship Id="rId9" Type="http://schemas.microsoft.com/office/2007/relationships/media" Target="../media/media-7-8.mp3"/><Relationship Id="rId10" Type="http://schemas.openxmlformats.org/officeDocument/2006/relationships/image" Target="../media/image-7-10.png"/><Relationship Id="rId11" Type="http://schemas.openxmlformats.org/officeDocument/2006/relationships/audio" Target="../media/media-7-11.mp3"/><Relationship Id="rId12" Type="http://schemas.microsoft.com/office/2007/relationships/media" Target="../media/media-7-11.mp3"/><Relationship Id="rId13" Type="http://schemas.openxmlformats.org/officeDocument/2006/relationships/image" Target="../media/image-7-13.png"/><Relationship Id="rId14" Type="http://schemas.openxmlformats.org/officeDocument/2006/relationships/audio" Target="../media/media-7-14.mp3"/><Relationship Id="rId15" Type="http://schemas.microsoft.com/office/2007/relationships/media" Target="../media/media-7-14.mp3"/><Relationship Id="rId16" Type="http://schemas.openxmlformats.org/officeDocument/2006/relationships/image" Target="../media/image-7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audio" Target="../media/media-8-5.mp3"/><Relationship Id="rId6" Type="http://schemas.microsoft.com/office/2007/relationships/media" Target="../media/media-8-5.mp3"/><Relationship Id="rId7" Type="http://schemas.openxmlformats.org/officeDocument/2006/relationships/image" Target="../media/image-8-7.png"/><Relationship Id="rId8" Type="http://schemas.openxmlformats.org/officeDocument/2006/relationships/audio" Target="../media/media-8-8.mp3"/><Relationship Id="rId9" Type="http://schemas.microsoft.com/office/2007/relationships/media" Target="../media/media-8-8.mp3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audio" Target="../media/media-14-5.mp3"/><Relationship Id="rId6" Type="http://schemas.microsoft.com/office/2007/relationships/media" Target="../media/media-14-5.mp3"/><Relationship Id="rId7" Type="http://schemas.openxmlformats.org/officeDocument/2006/relationships/image" Target="../media/image-14-7.png"/><Relationship Id="rId8" Type="http://schemas.openxmlformats.org/officeDocument/2006/relationships/audio" Target="../media/media-14-8.mp3"/><Relationship Id="rId9" Type="http://schemas.microsoft.com/office/2007/relationships/media" Target="../media/media-14-8.mp3"/><Relationship Id="rId10" Type="http://schemas.openxmlformats.org/officeDocument/2006/relationships/image" Target="../media/image-1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audio" Target="../media/media-15-5.mp3"/><Relationship Id="rId6" Type="http://schemas.microsoft.com/office/2007/relationships/media" Target="../media/media-15-5.mp3"/><Relationship Id="rId7" Type="http://schemas.openxmlformats.org/officeDocument/2006/relationships/image" Target="../media/image-15-7.png"/><Relationship Id="rId8" Type="http://schemas.openxmlformats.org/officeDocument/2006/relationships/audio" Target="../media/media-15-8.mp3"/><Relationship Id="rId9" Type="http://schemas.microsoft.com/office/2007/relationships/media" Target="../media/media-15-8.mp3"/><Relationship Id="rId10" Type="http://schemas.openxmlformats.org/officeDocument/2006/relationships/image" Target="../media/image-15-10.png"/><Relationship Id="rId11" Type="http://schemas.openxmlformats.org/officeDocument/2006/relationships/image" Target="../media/image-15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audio" Target="../media/media-16-5.mp3"/><Relationship Id="rId6" Type="http://schemas.microsoft.com/office/2007/relationships/media" Target="../media/media-16-5.mp3"/><Relationship Id="rId7" Type="http://schemas.openxmlformats.org/officeDocument/2006/relationships/image" Target="../media/image-16-7.png"/><Relationship Id="rId8" Type="http://schemas.openxmlformats.org/officeDocument/2006/relationships/audio" Target="../media/media-16-8.mp3"/><Relationship Id="rId9" Type="http://schemas.microsoft.com/office/2007/relationships/media" Target="../media/media-16-8.mp3"/><Relationship Id="rId10" Type="http://schemas.openxmlformats.org/officeDocument/2006/relationships/image" Target="../media/image-16-10.png"/><Relationship Id="rId11" Type="http://schemas.openxmlformats.org/officeDocument/2006/relationships/image" Target="../media/image-1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jpe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jpe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jpe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jpe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video" Target="../media/media-22-5.mp4"/><Relationship Id="rId6" Type="http://schemas.microsoft.com/office/2007/relationships/media" Target="../media/media-22-5.mp4"/><Relationship Id="rId7" Type="http://schemas.openxmlformats.org/officeDocument/2006/relationships/image" Target="../media/image-2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video" Target="../media/media-23-5.mp4"/><Relationship Id="rId6" Type="http://schemas.microsoft.com/office/2007/relationships/media" Target="../media/media-23-5.mp4"/><Relationship Id="rId7" Type="http://schemas.openxmlformats.org/officeDocument/2006/relationships/image" Target="../media/image-2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jpe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rs_1"/>
          <p:cNvSpPr/>
          <p:nvPr/>
        </p:nvSpPr>
        <p:spPr>
          <a:xfrm>
            <a:off x="411480" y="2926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English File B1 · SB pp.62–63</a:t>
            </a:r>
            <a:endParaRPr lang="en-US" sz="1000" dirty="0"/>
          </a:p>
        </p:txBody>
      </p:sp>
      <p:sp>
        <p:nvSpPr>
          <p:cNvPr id="4" name="bd_2"/>
          <p:cNvSpPr/>
          <p:nvPr/>
        </p:nvSpPr>
        <p:spPr>
          <a:xfrm>
            <a:off x="365760" y="640080"/>
            <a:ext cx="1051560" cy="1051560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6B-2</a:t>
            </a:r>
            <a:endParaRPr lang="en-US" sz="1600" dirty="0"/>
          </a:p>
        </p:txBody>
      </p:sp>
      <p:pic>
        <p:nvPicPr>
          <p:cNvPr id="5" name="bry_3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713232"/>
            <a:ext cx="3566160" cy="868680"/>
          </a:xfrm>
          <a:prstGeom prst="rect">
            <a:avLst/>
          </a:prstGeom>
        </p:spPr>
      </p:pic>
      <p:sp>
        <p:nvSpPr>
          <p:cNvPr id="6" name="t_4"/>
          <p:cNvSpPr/>
          <p:nvPr/>
        </p:nvSpPr>
        <p:spPr>
          <a:xfrm>
            <a:off x="1645920" y="7315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Every picture tells a story</a:t>
            </a:r>
            <a:endParaRPr lang="en-US" sz="1900" dirty="0"/>
          </a:p>
        </p:txBody>
      </p:sp>
      <p:pic>
        <p:nvPicPr>
          <p:cNvPr id="7" name="brp_5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517904"/>
            <a:ext cx="3017520" cy="384048"/>
          </a:xfrm>
          <a:prstGeom prst="rect">
            <a:avLst/>
          </a:prstGeom>
        </p:spPr>
      </p:pic>
      <p:sp>
        <p:nvSpPr>
          <p:cNvPr id="8" name="st_6"/>
          <p:cNvSpPr/>
          <p:nvPr/>
        </p:nvSpPr>
        <p:spPr>
          <a:xfrm>
            <a:off x="1691640" y="151790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body · body language · charisma</a:t>
            </a:r>
            <a:endParaRPr lang="en-US" sz="1100" dirty="0"/>
          </a:p>
        </p:txBody>
      </p:sp>
      <p:sp>
        <p:nvSpPr>
          <p:cNvPr id="9" name="cd_7"/>
          <p:cNvSpPr/>
          <p:nvPr/>
        </p:nvSpPr>
        <p:spPr>
          <a:xfrm>
            <a:off x="365760" y="2148840"/>
            <a:ext cx="4206240" cy="1691640"/>
          </a:xfrm>
          <a:prstGeom prst="roundRect">
            <a:avLst>
              <a:gd name="adj" fmla="val 7568"/>
            </a:avLst>
          </a:prstGeom>
          <a:solidFill>
            <a:srgbClr val="E3F1FD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0" name="ii_8"/>
          <p:cNvSpPr/>
          <p:nvPr/>
        </p:nvSpPr>
        <p:spPr>
          <a:xfrm>
            <a:off x="45720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1" name="ih_9"/>
          <p:cNvSpPr/>
          <p:nvPr/>
        </p:nvSpPr>
        <p:spPr>
          <a:xfrm>
            <a:off x="932688" y="2240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 you're going to…</a:t>
            </a:r>
            <a:endParaRPr lang="en-US" sz="1600" dirty="0"/>
          </a:p>
        </p:txBody>
      </p:sp>
      <p:sp>
        <p:nvSpPr>
          <p:cNvPr id="12" name="il_10"/>
          <p:cNvSpPr/>
          <p:nvPr/>
        </p:nvSpPr>
        <p:spPr>
          <a:xfrm>
            <a:off x="932688" y="2642616"/>
            <a:ext cx="354787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🖐️  learn parts of the body and body verbs</a:t>
            </a:r>
            <a:endParaRPr lang="en-US" sz="8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🔊  say 'two sounds in one': bike, train, phone…</a:t>
            </a:r>
            <a:endParaRPr lang="en-US" sz="8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📖  read and listen: can you LEARN charisma?</a:t>
            </a:r>
            <a:endParaRPr lang="en-US" sz="8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📖  listen to a class story and answer questions</a:t>
            </a:r>
            <a:endParaRPr lang="en-US" sz="8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🎭  play a body-language mime game</a:t>
            </a:r>
            <a:endParaRPr lang="en-US" sz="850" dirty="0"/>
          </a:p>
        </p:txBody>
      </p:sp>
      <p:sp>
        <p:nvSpPr>
          <p:cNvPr id="13" name="R1_ex11"/>
          <p:cNvSpPr/>
          <p:nvPr/>
        </p:nvSpPr>
        <p:spPr>
          <a:xfrm>
            <a:off x="365760" y="3950208"/>
            <a:ext cx="4206240" cy="603504"/>
          </a:xfrm>
          <a:prstGeom prst="roundRect">
            <a:avLst>
              <a:gd name="adj" fmla="val 18182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52400" tIns="25400" rIns="152400" bIns="2540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8508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EXAMPLE  </a:t>
            </a:r>
            <a:pPr indent="0" marL="0">
              <a:buNone/>
            </a:pPr>
            <a:r>
              <a:rPr lang="en-US" sz="13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My uncle! He smiles all the time and everybody listens to him.</a:t>
            </a:r>
            <a:endParaRPr lang="en-US" sz="1000" dirty="0"/>
          </a:p>
        </p:txBody>
      </p:sp>
      <p:sp>
        <p:nvSpPr>
          <p:cNvPr id="14" name="pf_12"/>
          <p:cNvSpPr/>
          <p:nvPr/>
        </p:nvSpPr>
        <p:spPr>
          <a:xfrm rot="90000">
            <a:off x="5625595" y="777240"/>
            <a:ext cx="2419091" cy="3200400"/>
          </a:xfrm>
          <a:prstGeom prst="roundRect">
            <a:avLst>
              <a:gd name="adj" fmla="val 64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5" name="ph_13" descr="/home/claude/lls-course/v2/cache/6B_2_colin_jpg_560x748_3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0000">
            <a:off x="5671315" y="822960"/>
            <a:ext cx="2327651" cy="3108960"/>
          </a:xfrm>
          <a:prstGeom prst="rect">
            <a:avLst/>
          </a:prstGeom>
        </p:spPr>
      </p:pic>
      <p:sp>
        <p:nvSpPr>
          <p:cNvPr id="16" name="bb_14"/>
          <p:cNvSpPr/>
          <p:nvPr/>
        </p:nvSpPr>
        <p:spPr>
          <a:xfrm>
            <a:off x="5120640" y="3611880"/>
            <a:ext cx="3566160" cy="822960"/>
          </a:xfrm>
          <a:prstGeom prst="wedgeRoundRectCallout">
            <a:avLst/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0000"/>
              </a:srgbClr>
            </a:outerShdw>
          </a:effectLst>
        </p:spPr>
        <p:txBody>
          <a:bodyPr wrap="square" lIns="127000" tIns="50800" rIns="1270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Who is the most charismatic person you know? Why?</a:t>
            </a:r>
            <a:endParaRPr lang="en-US" sz="1600" dirty="0"/>
          </a:p>
        </p:txBody>
      </p:sp>
      <p:sp>
        <p:nvSpPr>
          <p:cNvPr id="17" name="st_15"/>
          <p:cNvSpPr/>
          <p:nvPr/>
        </p:nvSpPr>
        <p:spPr>
          <a:xfrm rot="360000">
            <a:off x="7543800" y="502920"/>
            <a:ext cx="1325880" cy="38404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 · PENSA</a:t>
            </a:r>
            <a:endParaRPr lang="en-US" sz="950" dirty="0"/>
          </a:p>
        </p:txBody>
      </p:sp>
      <p:pic>
        <p:nvPicPr>
          <p:cNvPr id="18" name="logo_16" descr="/home/claude/lls-course/v2/img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4526280"/>
            <a:ext cx="502920" cy="50292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2800" dirty="0"/>
          </a:p>
        </p:txBody>
      </p:sp>
      <p:pic>
        <p:nvPicPr>
          <p:cNvPr id="4" name="brY_1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034333" cy="621792"/>
          </a:xfrm>
          <a:prstGeom prst="rect">
            <a:avLst/>
          </a:prstGeom>
        </p:spPr>
      </p:pic>
      <p:sp>
        <p:nvSpPr>
          <p:cNvPr id="5" name="title_19"/>
          <p:cNvSpPr/>
          <p:nvPr/>
        </p:nvSpPr>
        <p:spPr>
          <a:xfrm>
            <a:off x="1261872" y="164592"/>
            <a:ext cx="376001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Remember last lesson?</a:t>
            </a:r>
            <a:endParaRPr lang="en-US" sz="2400" dirty="0"/>
          </a:p>
        </p:txBody>
      </p:sp>
      <p:pic>
        <p:nvPicPr>
          <p:cNvPr id="6" name="brP_2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21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you remember? Say it – then use it in a sentence!</a:t>
            </a:r>
            <a:endParaRPr lang="en-US" sz="1250" dirty="0"/>
          </a:p>
        </p:txBody>
      </p:sp>
      <p:sp>
        <p:nvSpPr>
          <p:cNvPr id="8" name="insIT_22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Ti ricordi? Dillo – poi usalo in una frase!</a:t>
            </a:r>
            <a:endParaRPr lang="en-US" sz="950" dirty="0"/>
          </a:p>
        </p:txBody>
      </p:sp>
      <p:sp>
        <p:nvSpPr>
          <p:cNvPr id="9" name="note_23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2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 · Retrieval</a:t>
            </a:r>
            <a:endParaRPr lang="en-US" sz="1150" dirty="0"/>
          </a:p>
        </p:txBody>
      </p:sp>
      <p:pic>
        <p:nvPicPr>
          <p:cNvPr id="10" name="logo_24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5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6B-2 · Revision · last lesson</a:t>
            </a:r>
            <a:endParaRPr lang="en-US" sz="800" dirty="0"/>
          </a:p>
        </p:txBody>
      </p:sp>
      <p:sp>
        <p:nvSpPr>
          <p:cNvPr id="12" name="pf_26"/>
          <p:cNvSpPr/>
          <p:nvPr/>
        </p:nvSpPr>
        <p:spPr>
          <a:xfrm rot="-120000">
            <a:off x="365760" y="1371600"/>
            <a:ext cx="2651760" cy="1645920"/>
          </a:xfrm>
          <a:prstGeom prst="roundRect">
            <a:avLst>
              <a:gd name="adj" fmla="val 9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3" name="ph_27" descr="/home/claude/lls-course/v2/cache/6B_2_people_jpg_616x374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411480" y="1417320"/>
            <a:ext cx="2560320" cy="1554480"/>
          </a:xfrm>
          <a:prstGeom prst="rect">
            <a:avLst/>
          </a:prstGeom>
        </p:spPr>
      </p:pic>
      <p:sp>
        <p:nvSpPr>
          <p:cNvPr id="14" name="cd_28"/>
          <p:cNvSpPr/>
          <p:nvPr/>
        </p:nvSpPr>
        <p:spPr>
          <a:xfrm>
            <a:off x="320040" y="3200400"/>
            <a:ext cx="2743200" cy="1508760"/>
          </a:xfrm>
          <a:prstGeom prst="roundRect">
            <a:avLst>
              <a:gd name="adj" fmla="val 8485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29"/>
          <p:cNvSpPr/>
          <p:nvPr/>
        </p:nvSpPr>
        <p:spPr>
          <a:xfrm>
            <a:off x="411480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6" name="ih_30"/>
          <p:cNvSpPr/>
          <p:nvPr/>
        </p:nvSpPr>
        <p:spPr>
          <a:xfrm>
            <a:off x="886968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Last lesson…</a:t>
            </a:r>
            <a:endParaRPr lang="en-US" sz="1300" dirty="0"/>
          </a:p>
        </p:txBody>
      </p:sp>
      <p:sp>
        <p:nvSpPr>
          <p:cNvPr id="17" name="il_31"/>
          <p:cNvSpPr/>
          <p:nvPr/>
        </p:nvSpPr>
        <p:spPr>
          <a:xfrm>
            <a:off x="886968" y="3694176"/>
            <a:ext cx="208483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6B part 1: Every picture tells a story</a:t>
            </a:r>
            <a:endParaRPr lang="en-US" sz="11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Deduction: must · might · can't</a:t>
            </a:r>
            <a:endParaRPr lang="en-US" sz="1100" dirty="0"/>
          </a:p>
        </p:txBody>
      </p:sp>
      <p:sp>
        <p:nvSpPr>
          <p:cNvPr id="18" name="kw_32"/>
          <p:cNvSpPr/>
          <p:nvPr/>
        </p:nvSpPr>
        <p:spPr>
          <a:xfrm>
            <a:off x="3246120" y="1417320"/>
            <a:ext cx="5623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🔤 Can you remember these words? What do they mean?</a:t>
            </a:r>
            <a:endParaRPr lang="en-US" sz="1200" dirty="0"/>
          </a:p>
        </p:txBody>
      </p:sp>
      <p:sp>
        <p:nvSpPr>
          <p:cNvPr id="19" name="w_33"/>
          <p:cNvSpPr/>
          <p:nvPr/>
        </p:nvSpPr>
        <p:spPr>
          <a:xfrm>
            <a:off x="3246120" y="1783080"/>
            <a:ext cx="1888236" cy="347472"/>
          </a:xfrm>
          <a:prstGeom prst="roundRect">
            <a:avLst>
              <a:gd name="adj" fmla="val 50000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must + infinitive</a:t>
            </a:r>
            <a:endParaRPr lang="en-US" sz="1200" dirty="0"/>
          </a:p>
        </p:txBody>
      </p:sp>
      <p:sp>
        <p:nvSpPr>
          <p:cNvPr id="20" name="w_34"/>
          <p:cNvSpPr/>
          <p:nvPr/>
        </p:nvSpPr>
        <p:spPr>
          <a:xfrm>
            <a:off x="5225796" y="1783080"/>
            <a:ext cx="845820" cy="347472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might</a:t>
            </a:r>
            <a:endParaRPr lang="en-US" sz="1200" dirty="0"/>
          </a:p>
        </p:txBody>
      </p:sp>
      <p:sp>
        <p:nvSpPr>
          <p:cNvPr id="21" name="w_35"/>
          <p:cNvSpPr/>
          <p:nvPr/>
        </p:nvSpPr>
        <p:spPr>
          <a:xfrm>
            <a:off x="6163056" y="1783080"/>
            <a:ext cx="672084" cy="347472"/>
          </a:xfrm>
          <a:prstGeom prst="roundRect">
            <a:avLst>
              <a:gd name="adj" fmla="val 5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may</a:t>
            </a:r>
            <a:endParaRPr lang="en-US" sz="1200" dirty="0"/>
          </a:p>
        </p:txBody>
      </p:sp>
      <p:sp>
        <p:nvSpPr>
          <p:cNvPr id="22" name="w_36"/>
          <p:cNvSpPr/>
          <p:nvPr/>
        </p:nvSpPr>
        <p:spPr>
          <a:xfrm>
            <a:off x="6926580" y="1783080"/>
            <a:ext cx="845820" cy="347472"/>
          </a:xfrm>
          <a:prstGeom prst="roundRect">
            <a:avLst>
              <a:gd name="adj" fmla="val 5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could</a:t>
            </a:r>
            <a:endParaRPr lang="en-US" sz="1200" dirty="0"/>
          </a:p>
        </p:txBody>
      </p:sp>
      <p:sp>
        <p:nvSpPr>
          <p:cNvPr id="23" name="w_37"/>
          <p:cNvSpPr/>
          <p:nvPr/>
        </p:nvSpPr>
        <p:spPr>
          <a:xfrm>
            <a:off x="7863840" y="1783080"/>
            <a:ext cx="845820" cy="347472"/>
          </a:xfrm>
          <a:prstGeom prst="roundRect">
            <a:avLst>
              <a:gd name="adj" fmla="val 50000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can't</a:t>
            </a:r>
            <a:endParaRPr lang="en-US" sz="1200" dirty="0"/>
          </a:p>
        </p:txBody>
      </p:sp>
      <p:sp>
        <p:nvSpPr>
          <p:cNvPr id="24" name="w_38"/>
          <p:cNvSpPr/>
          <p:nvPr/>
        </p:nvSpPr>
        <p:spPr>
          <a:xfrm>
            <a:off x="3246120" y="2185416"/>
            <a:ext cx="1106424" cy="347472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 'to'!</a:t>
            </a:r>
            <a:endParaRPr lang="en-US" sz="1200" dirty="0"/>
          </a:p>
        </p:txBody>
      </p:sp>
      <p:sp>
        <p:nvSpPr>
          <p:cNvPr id="25" name="lv_39"/>
          <p:cNvSpPr/>
          <p:nvPr/>
        </p:nvSpPr>
        <p:spPr>
          <a:xfrm>
            <a:off x="3246120" y="2642616"/>
            <a:ext cx="181356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28575">
            <a:solidFill>
              <a:srgbClr val="CDBFF3"/>
            </a:solidFill>
          </a:ln>
        </p:spPr>
        <p:txBody>
          <a:bodyPr wrap="square" lIns="50800" tIns="0" rIns="50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⭐ </a:t>
            </a:r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does it mean?</a:t>
            </a:r>
            <a:endParaRPr lang="en-US" sz="1000" dirty="0"/>
          </a:p>
        </p:txBody>
      </p:sp>
      <p:sp>
        <p:nvSpPr>
          <p:cNvPr id="26" name="lv_40"/>
          <p:cNvSpPr/>
          <p:nvPr/>
        </p:nvSpPr>
        <p:spPr>
          <a:xfrm>
            <a:off x="5151120" y="2642616"/>
            <a:ext cx="181356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28575">
            <a:solidFill>
              <a:srgbClr val="CDBFF3"/>
            </a:solidFill>
          </a:ln>
        </p:spPr>
        <p:txBody>
          <a:bodyPr wrap="square" lIns="50800" tIns="0" rIns="50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⭐⭐ </a:t>
            </a:r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 it in a sentence.</a:t>
            </a:r>
            <a:endParaRPr lang="en-US" sz="1000" dirty="0"/>
          </a:p>
        </p:txBody>
      </p:sp>
      <p:sp>
        <p:nvSpPr>
          <p:cNvPr id="27" name="lv_41"/>
          <p:cNvSpPr/>
          <p:nvPr/>
        </p:nvSpPr>
        <p:spPr>
          <a:xfrm>
            <a:off x="7056120" y="2642616"/>
            <a:ext cx="181356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28575">
            <a:solidFill>
              <a:srgbClr val="CDBFF3"/>
            </a:solidFill>
          </a:ln>
        </p:spPr>
        <p:txBody>
          <a:bodyPr wrap="square" lIns="50800" tIns="0" rIns="50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⭐⭐⭐ 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Make it negative or a question!</a:t>
            </a:r>
            <a:endParaRPr lang="en-US" sz="950" dirty="0"/>
          </a:p>
        </p:txBody>
      </p:sp>
      <p:sp>
        <p:nvSpPr>
          <p:cNvPr id="28" name="cd_42"/>
          <p:cNvSpPr/>
          <p:nvPr/>
        </p:nvSpPr>
        <p:spPr>
          <a:xfrm>
            <a:off x="3246120" y="3172968"/>
            <a:ext cx="2756916" cy="1581912"/>
          </a:xfrm>
          <a:prstGeom prst="roundRect">
            <a:avLst>
              <a:gd name="adj" fmla="val 8092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9" name="rh_43"/>
          <p:cNvSpPr/>
          <p:nvPr/>
        </p:nvSpPr>
        <p:spPr>
          <a:xfrm>
            <a:off x="3337560" y="3246120"/>
            <a:ext cx="2574036" cy="310896"/>
          </a:xfrm>
          <a:prstGeom prst="roundRect">
            <a:avLst>
              <a:gd name="adj" fmla="val 50000"/>
            </a:avLst>
          </a:prstGeom>
          <a:solidFill>
            <a:srgbClr val="2EB872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Your turn: 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Sure it's true ✓</a:t>
            </a:r>
            <a:endParaRPr lang="en-US" sz="1100" dirty="0"/>
          </a:p>
        </p:txBody>
      </p:sp>
      <p:sp>
        <p:nvSpPr>
          <p:cNvPr id="30" name="R1_rl44"/>
          <p:cNvSpPr/>
          <p:nvPr/>
        </p:nvSpPr>
        <p:spPr>
          <a:xfrm>
            <a:off x="3383280" y="3630168"/>
            <a:ext cx="2482596" cy="10515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She </a:t>
            </a:r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EB872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must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be tired. (I'm sure.)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 </a:t>
            </a:r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EB872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must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love animals.</a:t>
            </a:r>
            <a:endParaRPr lang="en-US" sz="1100" dirty="0"/>
          </a:p>
        </p:txBody>
      </p:sp>
      <p:sp>
        <p:nvSpPr>
          <p:cNvPr id="31" name="cd_45"/>
          <p:cNvSpPr/>
          <p:nvPr/>
        </p:nvSpPr>
        <p:spPr>
          <a:xfrm>
            <a:off x="6112764" y="3172968"/>
            <a:ext cx="2756916" cy="1581912"/>
          </a:xfrm>
          <a:prstGeom prst="roundRect">
            <a:avLst>
              <a:gd name="adj" fmla="val 8092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2" name="rh_46"/>
          <p:cNvSpPr/>
          <p:nvPr/>
        </p:nvSpPr>
        <p:spPr>
          <a:xfrm>
            <a:off x="6204204" y="3246120"/>
            <a:ext cx="2574036" cy="310896"/>
          </a:xfrm>
          <a:prstGeom prst="roundRect">
            <a:avLst>
              <a:gd name="adj" fmla="val 50000"/>
            </a:avLst>
          </a:prstGeom>
          <a:solidFill>
            <a:srgbClr val="E8508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Your turn: 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Maybe / Sure it's NOT</a:t>
            </a:r>
            <a:endParaRPr lang="en-US" sz="1100" dirty="0"/>
          </a:p>
        </p:txBody>
      </p:sp>
      <p:sp>
        <p:nvSpPr>
          <p:cNvPr id="33" name="R2_rl47"/>
          <p:cNvSpPr/>
          <p:nvPr/>
        </p:nvSpPr>
        <p:spPr>
          <a:xfrm>
            <a:off x="6249924" y="3630168"/>
            <a:ext cx="2482596" cy="10515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 </a:t>
            </a:r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might / may / could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be Spanish.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 </a:t>
            </a:r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can't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be true! (✗ mustn't)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8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2800" dirty="0"/>
          </a:p>
        </p:txBody>
      </p:sp>
      <p:pic>
        <p:nvPicPr>
          <p:cNvPr id="4" name="brY_49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090672" cy="621792"/>
          </a:xfrm>
          <a:prstGeom prst="rect">
            <a:avLst/>
          </a:prstGeom>
        </p:spPr>
      </p:pic>
      <p:sp>
        <p:nvSpPr>
          <p:cNvPr id="5" name="title_50"/>
          <p:cNvSpPr/>
          <p:nvPr/>
        </p:nvSpPr>
        <p:spPr>
          <a:xfrm>
            <a:off x="1261872" y="164592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Spot the error!</a:t>
            </a:r>
            <a:endParaRPr lang="en-US" sz="2500" dirty="0"/>
          </a:p>
        </p:txBody>
      </p:sp>
      <p:pic>
        <p:nvPicPr>
          <p:cNvPr id="6" name="brP_51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161788" cy="402336"/>
          </a:xfrm>
          <a:prstGeom prst="rect">
            <a:avLst/>
          </a:prstGeom>
        </p:spPr>
      </p:pic>
      <p:sp>
        <p:nvSpPr>
          <p:cNvPr id="7" name="ins_52"/>
          <p:cNvSpPr/>
          <p:nvPr/>
        </p:nvSpPr>
        <p:spPr>
          <a:xfrm>
            <a:off x="1353312" y="731520"/>
            <a:ext cx="49057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Find the mistake. Careful: ONE sentence is correct!</a:t>
            </a:r>
            <a:endParaRPr lang="en-US" sz="1250" dirty="0"/>
          </a:p>
        </p:txBody>
      </p:sp>
      <p:sp>
        <p:nvSpPr>
          <p:cNvPr id="8" name="insIT_53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Trova l'errore. Attenzione: UNA frase è giusta!</a:t>
            </a:r>
            <a:endParaRPr lang="en-US" sz="950" dirty="0"/>
          </a:p>
        </p:txBody>
      </p:sp>
      <p:sp>
        <p:nvSpPr>
          <p:cNvPr id="9" name="note_54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🎲 PLAY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GIOCA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🏆 teams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 · Communicative game</a:t>
            </a:r>
            <a:endParaRPr lang="en-US" sz="1250" dirty="0"/>
          </a:p>
        </p:txBody>
      </p:sp>
      <p:pic>
        <p:nvPicPr>
          <p:cNvPr id="10" name="logo_55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56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6B-2 · Warmer · last lesson   ·   📖 Recycles 6B part 1 · Grammar Bank 6B p.143</a:t>
            </a:r>
            <a:endParaRPr lang="en-US" sz="800" dirty="0"/>
          </a:p>
        </p:txBody>
      </p:sp>
      <p:sp>
        <p:nvSpPr>
          <p:cNvPr id="12" name="cd_57"/>
          <p:cNvSpPr/>
          <p:nvPr/>
        </p:nvSpPr>
        <p:spPr>
          <a:xfrm>
            <a:off x="320040" y="1417320"/>
            <a:ext cx="2697480" cy="2514600"/>
          </a:xfrm>
          <a:prstGeom prst="roundRect">
            <a:avLst>
              <a:gd name="adj" fmla="val 5091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58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🎲</a:t>
            </a:r>
            <a:endParaRPr lang="en-US" sz="2200" dirty="0"/>
          </a:p>
        </p:txBody>
      </p:sp>
      <p:sp>
        <p:nvSpPr>
          <p:cNvPr id="14" name="ih_59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to play</a:t>
            </a:r>
            <a:endParaRPr lang="en-US" sz="1400" dirty="0"/>
          </a:p>
        </p:txBody>
      </p:sp>
      <p:sp>
        <p:nvSpPr>
          <p:cNvPr id="15" name="il_60"/>
          <p:cNvSpPr/>
          <p:nvPr/>
        </p:nvSpPr>
        <p:spPr>
          <a:xfrm>
            <a:off x="886968" y="1911096"/>
            <a:ext cx="2039112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the sentence.</a:t>
            </a:r>
            <a:endParaRPr lang="en-US" sz="950" dirty="0"/>
          </a:p>
          <a:p>
            <a:pPr marL="152400" indent="-152400">
              <a:spcAft>
                <a:spcPts val="200"/>
              </a:spcAft>
              <a:buSzPct val="100000"/>
              <a:buChar char=" "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Leggi la frase.</a:t>
            </a:r>
            <a:endParaRPr lang="en-US" sz="9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Teams write the correct sentence.</a:t>
            </a:r>
            <a:endParaRPr lang="en-US" sz="950" dirty="0"/>
          </a:p>
          <a:p>
            <a:pPr marL="152400" indent="-152400">
              <a:spcAft>
                <a:spcPts val="200"/>
              </a:spcAft>
              <a:buSzPct val="100000"/>
              <a:buChar char=" "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 squadre scrivono la frase corretta.</a:t>
            </a:r>
            <a:endParaRPr lang="en-US" sz="9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Correct = 1 point. 'Correct' a correct sentence = –1!</a:t>
            </a:r>
            <a:endParaRPr lang="en-US" sz="950" dirty="0"/>
          </a:p>
          <a:p>
            <a:pPr marL="152400" indent="-152400">
              <a:spcAft>
                <a:spcPts val="200"/>
              </a:spcAft>
              <a:buSzPct val="100000"/>
              <a:buChar char=" "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Giusta = 1 punto. 'Correggere' una frase giusta = –1!</a:t>
            </a:r>
            <a:endParaRPr lang="en-US" sz="950" dirty="0"/>
          </a:p>
        </p:txBody>
      </p:sp>
      <p:sp>
        <p:nvSpPr>
          <p:cNvPr id="16" name="st_61"/>
          <p:cNvSpPr/>
          <p:nvPr/>
        </p:nvSpPr>
        <p:spPr>
          <a:xfrm rot="-180000">
            <a:off x="502920" y="4114800"/>
            <a:ext cx="2286000" cy="594360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TEAM A  ☆☆☆☆☆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TEAM B  ☆☆☆☆☆</a:t>
            </a:r>
            <a:endParaRPr lang="en-US" sz="1250" dirty="0"/>
          </a:p>
        </p:txBody>
      </p:sp>
      <p:sp>
        <p:nvSpPr>
          <p:cNvPr id="17" name="bd_62"/>
          <p:cNvSpPr/>
          <p:nvPr/>
        </p:nvSpPr>
        <p:spPr>
          <a:xfrm>
            <a:off x="3246120" y="1491234"/>
            <a:ext cx="329184" cy="329184"/>
          </a:xfrm>
          <a:prstGeom prst="ellipse">
            <a:avLst/>
          </a:prstGeom>
          <a:solidFill>
            <a:srgbClr val="7B5CD6"/>
          </a:solidFill>
          <a:ln w="28575">
            <a:solidFill>
              <a:srgbClr val="CDBFF3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e.g.</a:t>
            </a:r>
            <a:endParaRPr lang="en-US" sz="500" dirty="0"/>
          </a:p>
        </p:txBody>
      </p:sp>
      <p:sp>
        <p:nvSpPr>
          <p:cNvPr id="18" name="gq_63"/>
          <p:cNvSpPr/>
          <p:nvPr/>
        </p:nvSpPr>
        <p:spPr>
          <a:xfrm>
            <a:off x="3657600" y="141732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EEE8FB"/>
          </a:solidFill>
          <a:ln w="28575">
            <a:solidFill>
              <a:srgbClr val="CDBFF3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Is that really Jack's wife? It mustn't be true!</a:t>
            </a:r>
            <a:endParaRPr lang="en-US" sz="1100" dirty="0"/>
          </a:p>
        </p:txBody>
      </p:sp>
      <p:sp>
        <p:nvSpPr>
          <p:cNvPr id="19" name="chip_64"/>
          <p:cNvSpPr/>
          <p:nvPr/>
        </p:nvSpPr>
        <p:spPr>
          <a:xfrm>
            <a:off x="6263640" y="141732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EEE8FB"/>
          </a:solidFill>
          <a:ln w="28575">
            <a:solidFill>
              <a:srgbClr val="CDBFF3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It can't be true!</a:t>
            </a:r>
            <a:endParaRPr lang="en-US" sz="1200" dirty="0"/>
          </a:p>
        </p:txBody>
      </p:sp>
      <p:sp>
        <p:nvSpPr>
          <p:cNvPr id="20" name="bd_65"/>
          <p:cNvSpPr/>
          <p:nvPr/>
        </p:nvSpPr>
        <p:spPr>
          <a:xfrm>
            <a:off x="3246120" y="2032254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gq_66"/>
          <p:cNvSpPr/>
          <p:nvPr/>
        </p:nvSpPr>
        <p:spPr>
          <a:xfrm>
            <a:off x="3657600" y="195834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He's speaking Spanish, so he can be from Spain or Mexico.</a:t>
            </a:r>
            <a:endParaRPr lang="en-US" sz="1100" dirty="0"/>
          </a:p>
        </p:txBody>
      </p:sp>
      <p:sp>
        <p:nvSpPr>
          <p:cNvPr id="22" name="R1_chip67"/>
          <p:cNvSpPr/>
          <p:nvPr/>
        </p:nvSpPr>
        <p:spPr>
          <a:xfrm>
            <a:off x="6263640" y="195834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he might / may / could be</a:t>
            </a:r>
            <a:endParaRPr lang="en-US" sz="1200" dirty="0"/>
          </a:p>
        </p:txBody>
      </p:sp>
      <p:sp>
        <p:nvSpPr>
          <p:cNvPr id="23" name="bd_68"/>
          <p:cNvSpPr/>
          <p:nvPr/>
        </p:nvSpPr>
        <p:spPr>
          <a:xfrm>
            <a:off x="3246120" y="2573274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gq_69"/>
          <p:cNvSpPr/>
          <p:nvPr/>
        </p:nvSpPr>
        <p:spPr>
          <a:xfrm>
            <a:off x="3657600" y="249936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She's been working all day. She must to be tired.</a:t>
            </a:r>
            <a:endParaRPr lang="en-US" sz="1100" dirty="0"/>
          </a:p>
        </p:txBody>
      </p:sp>
      <p:sp>
        <p:nvSpPr>
          <p:cNvPr id="25" name="R2_chip70"/>
          <p:cNvSpPr/>
          <p:nvPr/>
        </p:nvSpPr>
        <p:spPr>
          <a:xfrm>
            <a:off x="6263640" y="249936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She must be tired.</a:t>
            </a:r>
            <a:endParaRPr lang="en-US" sz="1200" dirty="0"/>
          </a:p>
        </p:txBody>
      </p:sp>
      <p:sp>
        <p:nvSpPr>
          <p:cNvPr id="26" name="bd_71"/>
          <p:cNvSpPr/>
          <p:nvPr/>
        </p:nvSpPr>
        <p:spPr>
          <a:xfrm>
            <a:off x="3246120" y="3114294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gq_72"/>
          <p:cNvSpPr/>
          <p:nvPr/>
        </p:nvSpPr>
        <p:spPr>
          <a:xfrm>
            <a:off x="3657600" y="304038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Her profile photo is her cat. She must love animals.</a:t>
            </a:r>
            <a:endParaRPr lang="en-US" sz="1100" dirty="0"/>
          </a:p>
        </p:txBody>
      </p:sp>
      <p:sp>
        <p:nvSpPr>
          <p:cNvPr id="28" name="R3_chip73"/>
          <p:cNvSpPr/>
          <p:nvPr/>
        </p:nvSpPr>
        <p:spPr>
          <a:xfrm>
            <a:off x="6263640" y="304038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✓ Correct!</a:t>
            </a:r>
            <a:endParaRPr lang="en-US" sz="1200" dirty="0"/>
          </a:p>
        </p:txBody>
      </p:sp>
      <p:sp>
        <p:nvSpPr>
          <p:cNvPr id="29" name="bd_74"/>
          <p:cNvSpPr/>
          <p:nvPr/>
        </p:nvSpPr>
        <p:spPr>
          <a:xfrm>
            <a:off x="3246120" y="3655314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gq_75"/>
          <p:cNvSpPr/>
          <p:nvPr/>
        </p:nvSpPr>
        <p:spPr>
          <a:xfrm>
            <a:off x="3657600" y="358140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Nobody's answering. They might are on holiday.</a:t>
            </a:r>
            <a:endParaRPr lang="en-US" sz="1100" dirty="0"/>
          </a:p>
        </p:txBody>
      </p:sp>
      <p:sp>
        <p:nvSpPr>
          <p:cNvPr id="31" name="R4_chip76"/>
          <p:cNvSpPr/>
          <p:nvPr/>
        </p:nvSpPr>
        <p:spPr>
          <a:xfrm>
            <a:off x="6263640" y="358140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They might be on holiday.</a:t>
            </a:r>
            <a:endParaRPr lang="en-US" sz="1200" dirty="0"/>
          </a:p>
        </p:txBody>
      </p:sp>
      <p:sp>
        <p:nvSpPr>
          <p:cNvPr id="32" name="bd_77"/>
          <p:cNvSpPr/>
          <p:nvPr/>
        </p:nvSpPr>
        <p:spPr>
          <a:xfrm>
            <a:off x="3246120" y="4196334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gq_78"/>
          <p:cNvSpPr/>
          <p:nvPr/>
        </p:nvSpPr>
        <p:spPr>
          <a:xfrm>
            <a:off x="3657600" y="412242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Where's Tom? – I'm not sure. He might working.</a:t>
            </a:r>
            <a:endParaRPr lang="en-US" sz="1100" dirty="0"/>
          </a:p>
        </p:txBody>
      </p:sp>
      <p:sp>
        <p:nvSpPr>
          <p:cNvPr id="34" name="R5_chip79"/>
          <p:cNvSpPr/>
          <p:nvPr/>
        </p:nvSpPr>
        <p:spPr>
          <a:xfrm>
            <a:off x="6263640" y="412242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He might be working.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80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2800" dirty="0"/>
          </a:p>
        </p:txBody>
      </p:sp>
      <p:pic>
        <p:nvPicPr>
          <p:cNvPr id="4" name="brY_81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090672" cy="621792"/>
          </a:xfrm>
          <a:prstGeom prst="rect">
            <a:avLst/>
          </a:prstGeom>
        </p:spPr>
      </p:pic>
      <p:sp>
        <p:nvSpPr>
          <p:cNvPr id="5" name="title_82"/>
          <p:cNvSpPr/>
          <p:nvPr/>
        </p:nvSpPr>
        <p:spPr>
          <a:xfrm>
            <a:off x="1261872" y="164592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Point to your…!</a:t>
            </a:r>
            <a:endParaRPr lang="en-US" sz="2500" dirty="0"/>
          </a:p>
        </p:txBody>
      </p:sp>
      <p:pic>
        <p:nvPicPr>
          <p:cNvPr id="6" name="brP_83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84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 and point to the part of your body. Then click!</a:t>
            </a:r>
            <a:endParaRPr lang="en-US" sz="1250" dirty="0"/>
          </a:p>
        </p:txBody>
      </p:sp>
      <p:sp>
        <p:nvSpPr>
          <p:cNvPr id="8" name="insIT_85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Ascolta e indica la parte del corpo. Poi clicca!</a:t>
            </a:r>
            <a:endParaRPr lang="en-US" sz="950" dirty="0"/>
          </a:p>
        </p:txBody>
      </p:sp>
      <p:sp>
        <p:nvSpPr>
          <p:cNvPr id="9" name="note_86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🎧 LISTEN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CHECK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🙋 whole class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Vocabulary · TPRS · meaning</a:t>
            </a:r>
            <a:endParaRPr lang="en-US" sz="1150" dirty="0"/>
          </a:p>
        </p:txBody>
      </p:sp>
      <p:pic>
        <p:nvPicPr>
          <p:cNvPr id="10" name="logo_87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88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6B-2 · Vocabulary · the body · 8 new words   ·   📖 SB p.62 · 3b · Vocabulary Bank The body p.160 · audio 6.14</a:t>
            </a:r>
            <a:endParaRPr lang="en-US" sz="800" dirty="0"/>
          </a:p>
        </p:txBody>
      </p:sp>
      <p:sp>
        <p:nvSpPr>
          <p:cNvPr id="12" name="cd_89"/>
          <p:cNvSpPr/>
          <p:nvPr/>
        </p:nvSpPr>
        <p:spPr>
          <a:xfrm>
            <a:off x="320040" y="1417320"/>
            <a:ext cx="207568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e_90"/>
          <p:cNvSpPr/>
          <p:nvPr/>
        </p:nvSpPr>
        <p:spPr>
          <a:xfrm>
            <a:off x="393192" y="1527048"/>
            <a:ext cx="512064" cy="512064"/>
          </a:xfrm>
          <a:prstGeom prst="ellipse">
            <a:avLst/>
          </a:prstGeom>
          <a:solidFill>
            <a:srgbClr val="FFE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🙂</a:t>
            </a:r>
            <a:endParaRPr lang="en-US" sz="2000" dirty="0"/>
          </a:p>
        </p:txBody>
      </p:sp>
      <p:sp>
        <p:nvSpPr>
          <p:cNvPr id="14" name="en_91"/>
          <p:cNvSpPr/>
          <p:nvPr/>
        </p:nvSpPr>
        <p:spPr>
          <a:xfrm>
            <a:off x="978408" y="147218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chin</a:t>
            </a:r>
            <a:endParaRPr lang="en-US" sz="1200" dirty="0"/>
          </a:p>
        </p:txBody>
      </p:sp>
      <p:sp>
        <p:nvSpPr>
          <p:cNvPr id="15" name="R1_def92"/>
          <p:cNvSpPr/>
          <p:nvPr/>
        </p:nvSpPr>
        <p:spPr>
          <a:xfrm>
            <a:off x="978408" y="1783080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bottom part of your face, under your mouth</a:t>
            </a:r>
            <a:endParaRPr lang="en-US" sz="850" dirty="0"/>
          </a:p>
        </p:txBody>
      </p:sp>
      <p:sp>
        <p:nvSpPr>
          <p:cNvPr id="16" name="R2_it93"/>
          <p:cNvSpPr/>
          <p:nvPr/>
        </p:nvSpPr>
        <p:spPr>
          <a:xfrm>
            <a:off x="978408" y="2121408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mento</a:t>
            </a:r>
            <a:endParaRPr lang="en-US" sz="900" dirty="0"/>
          </a:p>
        </p:txBody>
      </p:sp>
      <p:sp>
        <p:nvSpPr>
          <p:cNvPr id="17" name="cd_94"/>
          <p:cNvSpPr/>
          <p:nvPr/>
        </p:nvSpPr>
        <p:spPr>
          <a:xfrm>
            <a:off x="2487168" y="1417320"/>
            <a:ext cx="207568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8" name="e_95"/>
          <p:cNvSpPr/>
          <p:nvPr/>
        </p:nvSpPr>
        <p:spPr>
          <a:xfrm>
            <a:off x="2560320" y="1527048"/>
            <a:ext cx="512064" cy="512064"/>
          </a:xfrm>
          <a:prstGeom prst="ellipse">
            <a:avLst/>
          </a:prstGeom>
          <a:solidFill>
            <a:srgbClr val="E3F1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🤷</a:t>
            </a:r>
            <a:endParaRPr lang="en-US" sz="2000" dirty="0"/>
          </a:p>
        </p:txBody>
      </p:sp>
      <p:sp>
        <p:nvSpPr>
          <p:cNvPr id="19" name="en_96"/>
          <p:cNvSpPr/>
          <p:nvPr/>
        </p:nvSpPr>
        <p:spPr>
          <a:xfrm>
            <a:off x="3145536" y="147218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shoulders</a:t>
            </a:r>
            <a:endParaRPr lang="en-US" sz="1200" dirty="0"/>
          </a:p>
        </p:txBody>
      </p:sp>
      <p:sp>
        <p:nvSpPr>
          <p:cNvPr id="20" name="R3_def97"/>
          <p:cNvSpPr/>
          <p:nvPr/>
        </p:nvSpPr>
        <p:spPr>
          <a:xfrm>
            <a:off x="3145536" y="1783080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where your arms join your body</a:t>
            </a:r>
            <a:endParaRPr lang="en-US" sz="850" dirty="0"/>
          </a:p>
        </p:txBody>
      </p:sp>
      <p:sp>
        <p:nvSpPr>
          <p:cNvPr id="21" name="R4_it98"/>
          <p:cNvSpPr/>
          <p:nvPr/>
        </p:nvSpPr>
        <p:spPr>
          <a:xfrm>
            <a:off x="3145536" y="2121408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spalle</a:t>
            </a:r>
            <a:endParaRPr lang="en-US" sz="900" dirty="0"/>
          </a:p>
        </p:txBody>
      </p:sp>
      <p:sp>
        <p:nvSpPr>
          <p:cNvPr id="22" name="cd_99"/>
          <p:cNvSpPr/>
          <p:nvPr/>
        </p:nvSpPr>
        <p:spPr>
          <a:xfrm>
            <a:off x="4654296" y="1417320"/>
            <a:ext cx="207568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3" name="e_100"/>
          <p:cNvSpPr/>
          <p:nvPr/>
        </p:nvSpPr>
        <p:spPr>
          <a:xfrm>
            <a:off x="4727448" y="1527048"/>
            <a:ext cx="512064" cy="512064"/>
          </a:xfrm>
          <a:prstGeom prst="ellipse">
            <a:avLst/>
          </a:prstGeom>
          <a:solidFill>
            <a:srgbClr val="E3F7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👅</a:t>
            </a:r>
            <a:endParaRPr lang="en-US" sz="2000" dirty="0"/>
          </a:p>
        </p:txBody>
      </p:sp>
      <p:sp>
        <p:nvSpPr>
          <p:cNvPr id="24" name="en_101"/>
          <p:cNvSpPr/>
          <p:nvPr/>
        </p:nvSpPr>
        <p:spPr>
          <a:xfrm>
            <a:off x="5312664" y="147218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tongue /tʌŋ/</a:t>
            </a:r>
            <a:endParaRPr lang="en-US" sz="1200" dirty="0"/>
          </a:p>
        </p:txBody>
      </p:sp>
      <p:sp>
        <p:nvSpPr>
          <p:cNvPr id="25" name="R5_def102"/>
          <p:cNvSpPr/>
          <p:nvPr/>
        </p:nvSpPr>
        <p:spPr>
          <a:xfrm>
            <a:off x="5312664" y="1783080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it's in your mouth – you taste with it</a:t>
            </a:r>
            <a:endParaRPr lang="en-US" sz="850" dirty="0"/>
          </a:p>
        </p:txBody>
      </p:sp>
      <p:sp>
        <p:nvSpPr>
          <p:cNvPr id="26" name="R6_it103"/>
          <p:cNvSpPr/>
          <p:nvPr/>
        </p:nvSpPr>
        <p:spPr>
          <a:xfrm>
            <a:off x="5312664" y="2121408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lingua</a:t>
            </a:r>
            <a:endParaRPr lang="en-US" sz="900" dirty="0"/>
          </a:p>
        </p:txBody>
      </p:sp>
      <p:sp>
        <p:nvSpPr>
          <p:cNvPr id="27" name="cd_104"/>
          <p:cNvSpPr/>
          <p:nvPr/>
        </p:nvSpPr>
        <p:spPr>
          <a:xfrm>
            <a:off x="6821424" y="1417320"/>
            <a:ext cx="207568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8575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8" name="e_105"/>
          <p:cNvSpPr/>
          <p:nvPr/>
        </p:nvSpPr>
        <p:spPr>
          <a:xfrm>
            <a:off x="6894576" y="1527048"/>
            <a:ext cx="512064" cy="512064"/>
          </a:xfrm>
          <a:prstGeom prst="ellipse">
            <a:avLst/>
          </a:prstGeom>
          <a:solidFill>
            <a:srgbClr val="FFF6C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👍</a:t>
            </a:r>
            <a:endParaRPr lang="en-US" sz="2000" dirty="0"/>
          </a:p>
        </p:txBody>
      </p:sp>
      <p:sp>
        <p:nvSpPr>
          <p:cNvPr id="29" name="en_106"/>
          <p:cNvSpPr/>
          <p:nvPr/>
        </p:nvSpPr>
        <p:spPr>
          <a:xfrm>
            <a:off x="7479792" y="147218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thumb /θʌm/</a:t>
            </a:r>
            <a:endParaRPr lang="en-US" sz="1200" dirty="0"/>
          </a:p>
        </p:txBody>
      </p:sp>
      <p:sp>
        <p:nvSpPr>
          <p:cNvPr id="30" name="R7_def107"/>
          <p:cNvSpPr/>
          <p:nvPr/>
        </p:nvSpPr>
        <p:spPr>
          <a:xfrm>
            <a:off x="7479792" y="1783080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short, thick finger</a:t>
            </a:r>
            <a:endParaRPr lang="en-US" sz="850" dirty="0"/>
          </a:p>
        </p:txBody>
      </p:sp>
      <p:sp>
        <p:nvSpPr>
          <p:cNvPr id="31" name="R8_it108"/>
          <p:cNvSpPr/>
          <p:nvPr/>
        </p:nvSpPr>
        <p:spPr>
          <a:xfrm>
            <a:off x="7479792" y="2121408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pollice</a:t>
            </a:r>
            <a:endParaRPr lang="en-US" sz="900" dirty="0"/>
          </a:p>
        </p:txBody>
      </p:sp>
      <p:sp>
        <p:nvSpPr>
          <p:cNvPr id="32" name="cd_109"/>
          <p:cNvSpPr/>
          <p:nvPr/>
        </p:nvSpPr>
        <p:spPr>
          <a:xfrm>
            <a:off x="320040" y="2423160"/>
            <a:ext cx="207568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3" name="e_110"/>
          <p:cNvSpPr/>
          <p:nvPr/>
        </p:nvSpPr>
        <p:spPr>
          <a:xfrm>
            <a:off x="393192" y="2532888"/>
            <a:ext cx="512064" cy="512064"/>
          </a:xfrm>
          <a:prstGeom prst="ellipse">
            <a:avLst/>
          </a:prstGeom>
          <a:solidFill>
            <a:srgbClr val="FFE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🦵</a:t>
            </a:r>
            <a:endParaRPr lang="en-US" sz="2000" dirty="0"/>
          </a:p>
        </p:txBody>
      </p:sp>
      <p:sp>
        <p:nvSpPr>
          <p:cNvPr id="34" name="en_111"/>
          <p:cNvSpPr/>
          <p:nvPr/>
        </p:nvSpPr>
        <p:spPr>
          <a:xfrm>
            <a:off x="978408" y="247802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knees (silent k!)</a:t>
            </a:r>
            <a:endParaRPr lang="en-US" sz="1200" dirty="0"/>
          </a:p>
        </p:txBody>
      </p:sp>
      <p:sp>
        <p:nvSpPr>
          <p:cNvPr id="35" name="R9_def112"/>
          <p:cNvSpPr/>
          <p:nvPr/>
        </p:nvSpPr>
        <p:spPr>
          <a:xfrm>
            <a:off x="978408" y="2788920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middle of your legs – they bend</a:t>
            </a:r>
            <a:endParaRPr lang="en-US" sz="850" dirty="0"/>
          </a:p>
        </p:txBody>
      </p:sp>
      <p:sp>
        <p:nvSpPr>
          <p:cNvPr id="36" name="R10_it113"/>
          <p:cNvSpPr/>
          <p:nvPr/>
        </p:nvSpPr>
        <p:spPr>
          <a:xfrm>
            <a:off x="978408" y="3127248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ginocchia</a:t>
            </a:r>
            <a:endParaRPr lang="en-US" sz="900" dirty="0"/>
          </a:p>
        </p:txBody>
      </p:sp>
      <p:sp>
        <p:nvSpPr>
          <p:cNvPr id="37" name="cd_114"/>
          <p:cNvSpPr/>
          <p:nvPr/>
        </p:nvSpPr>
        <p:spPr>
          <a:xfrm>
            <a:off x="2487168" y="2423160"/>
            <a:ext cx="207568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8" name="e_115"/>
          <p:cNvSpPr/>
          <p:nvPr/>
        </p:nvSpPr>
        <p:spPr>
          <a:xfrm>
            <a:off x="2560320" y="2532888"/>
            <a:ext cx="512064" cy="512064"/>
          </a:xfrm>
          <a:prstGeom prst="ellipse">
            <a:avLst/>
          </a:prstGeom>
          <a:solidFill>
            <a:srgbClr val="E3F1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🍽️</a:t>
            </a:r>
            <a:endParaRPr lang="en-US" sz="2000" dirty="0"/>
          </a:p>
        </p:txBody>
      </p:sp>
      <p:sp>
        <p:nvSpPr>
          <p:cNvPr id="39" name="en_116"/>
          <p:cNvSpPr/>
          <p:nvPr/>
        </p:nvSpPr>
        <p:spPr>
          <a:xfrm>
            <a:off x="3145536" y="247802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stomach /ˈstʌmək/</a:t>
            </a:r>
            <a:endParaRPr lang="en-US" sz="1100" dirty="0"/>
          </a:p>
        </p:txBody>
      </p:sp>
      <p:sp>
        <p:nvSpPr>
          <p:cNvPr id="40" name="R11_def117"/>
          <p:cNvSpPr/>
          <p:nvPr/>
        </p:nvSpPr>
        <p:spPr>
          <a:xfrm>
            <a:off x="3145536" y="2788920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food goes here after you eat</a:t>
            </a:r>
            <a:endParaRPr lang="en-US" sz="850" dirty="0"/>
          </a:p>
        </p:txBody>
      </p:sp>
      <p:sp>
        <p:nvSpPr>
          <p:cNvPr id="41" name="R12_it118"/>
          <p:cNvSpPr/>
          <p:nvPr/>
        </p:nvSpPr>
        <p:spPr>
          <a:xfrm>
            <a:off x="3145536" y="3127248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stomaco / pancia</a:t>
            </a:r>
            <a:endParaRPr lang="en-US" sz="900" dirty="0"/>
          </a:p>
        </p:txBody>
      </p:sp>
      <p:sp>
        <p:nvSpPr>
          <p:cNvPr id="42" name="cd_119"/>
          <p:cNvSpPr/>
          <p:nvPr/>
        </p:nvSpPr>
        <p:spPr>
          <a:xfrm>
            <a:off x="4654296" y="2423160"/>
            <a:ext cx="207568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43" name="e_120"/>
          <p:cNvSpPr/>
          <p:nvPr/>
        </p:nvSpPr>
        <p:spPr>
          <a:xfrm>
            <a:off x="4727448" y="2532888"/>
            <a:ext cx="512064" cy="512064"/>
          </a:xfrm>
          <a:prstGeom prst="ellipse">
            <a:avLst/>
          </a:prstGeom>
          <a:solidFill>
            <a:srgbClr val="E3F7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🦶</a:t>
            </a:r>
            <a:endParaRPr lang="en-US" sz="2000" dirty="0"/>
          </a:p>
        </p:txBody>
      </p:sp>
      <p:sp>
        <p:nvSpPr>
          <p:cNvPr id="44" name="en_121"/>
          <p:cNvSpPr/>
          <p:nvPr/>
        </p:nvSpPr>
        <p:spPr>
          <a:xfrm>
            <a:off x="5312664" y="247802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toes</a:t>
            </a:r>
            <a:endParaRPr lang="en-US" sz="1200" dirty="0"/>
          </a:p>
        </p:txBody>
      </p:sp>
      <p:sp>
        <p:nvSpPr>
          <p:cNvPr id="45" name="R13_def122"/>
          <p:cNvSpPr/>
          <p:nvPr/>
        </p:nvSpPr>
        <p:spPr>
          <a:xfrm>
            <a:off x="5312664" y="2788920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'fingers' on your feet</a:t>
            </a:r>
            <a:endParaRPr lang="en-US" sz="850" dirty="0"/>
          </a:p>
        </p:txBody>
      </p:sp>
      <p:sp>
        <p:nvSpPr>
          <p:cNvPr id="46" name="R14_it123"/>
          <p:cNvSpPr/>
          <p:nvPr/>
        </p:nvSpPr>
        <p:spPr>
          <a:xfrm>
            <a:off x="5312664" y="3127248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dita dei piedi</a:t>
            </a:r>
            <a:endParaRPr lang="en-US" sz="900" dirty="0"/>
          </a:p>
        </p:txBody>
      </p:sp>
      <p:sp>
        <p:nvSpPr>
          <p:cNvPr id="47" name="cd_124"/>
          <p:cNvSpPr/>
          <p:nvPr/>
        </p:nvSpPr>
        <p:spPr>
          <a:xfrm>
            <a:off x="6821424" y="2423160"/>
            <a:ext cx="207568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8575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48" name="e_125"/>
          <p:cNvSpPr/>
          <p:nvPr/>
        </p:nvSpPr>
        <p:spPr>
          <a:xfrm>
            <a:off x="6894576" y="2532888"/>
            <a:ext cx="512064" cy="512064"/>
          </a:xfrm>
          <a:prstGeom prst="ellipse">
            <a:avLst/>
          </a:prstGeom>
          <a:solidFill>
            <a:srgbClr val="FFF6C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👄</a:t>
            </a:r>
            <a:endParaRPr lang="en-US" sz="2000" dirty="0"/>
          </a:p>
        </p:txBody>
      </p:sp>
      <p:sp>
        <p:nvSpPr>
          <p:cNvPr id="49" name="en_126"/>
          <p:cNvSpPr/>
          <p:nvPr/>
        </p:nvSpPr>
        <p:spPr>
          <a:xfrm>
            <a:off x="7479792" y="247802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lips</a:t>
            </a:r>
            <a:endParaRPr lang="en-US" sz="1200" dirty="0"/>
          </a:p>
        </p:txBody>
      </p:sp>
      <p:sp>
        <p:nvSpPr>
          <p:cNvPr id="50" name="R15_def127"/>
          <p:cNvSpPr/>
          <p:nvPr/>
        </p:nvSpPr>
        <p:spPr>
          <a:xfrm>
            <a:off x="7479792" y="2788920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edges of your mouth</a:t>
            </a:r>
            <a:endParaRPr lang="en-US" sz="850" dirty="0"/>
          </a:p>
        </p:txBody>
      </p:sp>
      <p:sp>
        <p:nvSpPr>
          <p:cNvPr id="51" name="R16_it128"/>
          <p:cNvSpPr/>
          <p:nvPr/>
        </p:nvSpPr>
        <p:spPr>
          <a:xfrm>
            <a:off x="7479792" y="3127248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labbra</a:t>
            </a:r>
            <a:endParaRPr lang="en-US" sz="900" dirty="0"/>
          </a:p>
        </p:txBody>
      </p:sp>
      <p:sp>
        <p:nvSpPr>
          <p:cNvPr id="52" name="ap_129"/>
          <p:cNvSpPr/>
          <p:nvPr/>
        </p:nvSpPr>
        <p:spPr>
          <a:xfrm>
            <a:off x="320040" y="4480560"/>
            <a:ext cx="201168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6.14</a:t>
            </a:r>
            <a:endParaRPr lang="en-US" sz="1100" dirty="0"/>
          </a:p>
        </p:txBody>
      </p:sp>
      <p:sp>
        <p:nvSpPr>
          <p:cNvPr id="53" name="ah_130"/>
          <p:cNvSpPr/>
          <p:nvPr/>
        </p:nvSpPr>
        <p:spPr>
          <a:xfrm>
            <a:off x="4636008" y="4572000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▶ normal</a:t>
            </a:r>
            <a:endParaRPr lang="en-US" sz="1000" dirty="0"/>
          </a:p>
        </p:txBody>
      </p:sp>
      <p:pic>
        <p:nvPicPr>
          <p:cNvPr id="54" name="Media 0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687568" y="4553712"/>
            <a:ext cx="411480" cy="411480"/>
          </a:xfrm>
          <a:prstGeom prst="rect">
            <a:avLst/>
          </a:prstGeom>
        </p:spPr>
      </p:pic>
      <p:sp>
        <p:nvSpPr>
          <p:cNvPr id="55" name="ah_131"/>
          <p:cNvSpPr/>
          <p:nvPr/>
        </p:nvSpPr>
        <p:spPr>
          <a:xfrm>
            <a:off x="7470648" y="457200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🐢 slower</a:t>
            </a:r>
            <a:endParaRPr lang="en-US" sz="1000" dirty="0"/>
          </a:p>
        </p:txBody>
      </p:sp>
      <p:pic>
        <p:nvPicPr>
          <p:cNvPr id="56" name="Media 1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476488" y="4553712"/>
            <a:ext cx="411480" cy="411480"/>
          </a:xfrm>
          <a:prstGeom prst="rect">
            <a:avLst/>
          </a:prstGeom>
        </p:spPr>
      </p:pic>
      <p:sp>
        <p:nvSpPr>
          <p:cNvPr id="57" name="R17_wc132"/>
          <p:cNvSpPr/>
          <p:nvPr/>
        </p:nvSpPr>
        <p:spPr>
          <a:xfrm>
            <a:off x="320040" y="3474720"/>
            <a:ext cx="8549640" cy="457200"/>
          </a:xfrm>
          <a:prstGeom prst="roundRect">
            <a:avLst>
              <a:gd name="adj" fmla="val 28000"/>
            </a:avLst>
          </a:prstGeom>
          <a:solidFill>
            <a:srgbClr val="FFE3EE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58" name="R17_w133"/>
          <p:cNvSpPr/>
          <p:nvPr/>
        </p:nvSpPr>
        <p:spPr>
          <a:xfrm>
            <a:off x="457200" y="347472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⚠ Watch out!  fingers (hands) ≠ toes (feet) – Italian says 'dita' for both!  ·  I've hurt MY knee (✗ the knee)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1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" fill="hold">
                      <p:stCondLst>
                        <p:cond delay="0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95" dur="1" fill="hold"/>
                                        <p:tgtEl>
                                          <p:spTgt spid="5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9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" fill="hold">
                      <p:stCondLst>
                        <p:cond delay="0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00" dur="1" fill="hold"/>
                                        <p:tgtEl>
                                          <p:spTgt spid="5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audio>
              <p:cMediaNode vol="80000">
                <p:cTn id="10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4"/>
                </p:tgtEl>
              </p:cMediaNode>
            </p:audio>
            <p:audio>
              <p:cMediaNode vol="80000">
                <p:cTn id="10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34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2800" dirty="0"/>
          </a:p>
        </p:txBody>
      </p:sp>
      <p:pic>
        <p:nvPicPr>
          <p:cNvPr id="4" name="brY_135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877056" cy="621792"/>
          </a:xfrm>
          <a:prstGeom prst="rect">
            <a:avLst/>
          </a:prstGeom>
        </p:spPr>
      </p:pic>
      <p:sp>
        <p:nvSpPr>
          <p:cNvPr id="5" name="title_136"/>
          <p:cNvSpPr/>
          <p:nvPr/>
        </p:nvSpPr>
        <p:spPr>
          <a:xfrm>
            <a:off x="1261872" y="164592"/>
            <a:ext cx="3602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do you use to…?</a:t>
            </a:r>
            <a:endParaRPr lang="en-US" sz="2400" dirty="0"/>
          </a:p>
        </p:txBody>
      </p:sp>
      <p:pic>
        <p:nvPicPr>
          <p:cNvPr id="6" name="brP_137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138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Which part of the body do you use? Tell your partner.</a:t>
            </a:r>
            <a:endParaRPr lang="en-US" sz="1250" dirty="0"/>
          </a:p>
        </p:txBody>
      </p:sp>
      <p:sp>
        <p:nvSpPr>
          <p:cNvPr id="8" name="insIT_139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Quale parte del corpo usi? Dillo al compagno.</a:t>
            </a:r>
            <a:endParaRPr lang="en-US" sz="950" dirty="0"/>
          </a:p>
        </p:txBody>
      </p:sp>
      <p:sp>
        <p:nvSpPr>
          <p:cNvPr id="9" name="note_140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PENSA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👥 pairs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Vocabulary · Controlled practice</a:t>
            </a:r>
            <a:endParaRPr lang="en-US" sz="1250" dirty="0"/>
          </a:p>
        </p:txBody>
      </p:sp>
      <p:pic>
        <p:nvPicPr>
          <p:cNvPr id="10" name="logo_141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142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6B-2 · Vocabulary · body verbs   ·   📖 Vocabulary Bank p.160 · 2 Verbs · audio 6.15</a:t>
            </a:r>
            <a:endParaRPr lang="en-US" sz="800" dirty="0"/>
          </a:p>
        </p:txBody>
      </p:sp>
      <p:sp>
        <p:nvSpPr>
          <p:cNvPr id="12" name="cd_143"/>
          <p:cNvSpPr/>
          <p:nvPr/>
        </p:nvSpPr>
        <p:spPr>
          <a:xfrm>
            <a:off x="320040" y="1417320"/>
            <a:ext cx="2697480" cy="768096"/>
          </a:xfrm>
          <a:prstGeom prst="roundRect">
            <a:avLst>
              <a:gd name="adj" fmla="val 16667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144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4" name="ih_145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Example</a:t>
            </a:r>
            <a:endParaRPr lang="en-US" sz="1300" dirty="0"/>
          </a:p>
        </p:txBody>
      </p:sp>
      <p:sp>
        <p:nvSpPr>
          <p:cNvPr id="15" name="il_146"/>
          <p:cNvSpPr/>
          <p:nvPr/>
        </p:nvSpPr>
        <p:spPr>
          <a:xfrm>
            <a:off x="886968" y="1911096"/>
            <a:ext cx="2039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bite → your teeth (mordere)</a:t>
            </a:r>
            <a:endParaRPr lang="en-US" sz="1050" dirty="0"/>
          </a:p>
        </p:txBody>
      </p:sp>
      <p:sp>
        <p:nvSpPr>
          <p:cNvPr id="16" name="pf_147"/>
          <p:cNvSpPr/>
          <p:nvPr/>
        </p:nvSpPr>
        <p:spPr>
          <a:xfrm rot="-90000">
            <a:off x="365760" y="2368296"/>
            <a:ext cx="2606040" cy="1746504"/>
          </a:xfrm>
          <a:prstGeom prst="roundRect">
            <a:avLst>
              <a:gd name="adj" fmla="val 890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7" name="ph_148" descr="/home/claude/lls-course/v2/cache/6B_2_people_jpg_605x398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90000">
            <a:off x="411480" y="2414016"/>
            <a:ext cx="2514600" cy="1655064"/>
          </a:xfrm>
          <a:prstGeom prst="rect">
            <a:avLst/>
          </a:prstGeom>
        </p:spPr>
      </p:pic>
      <p:sp>
        <p:nvSpPr>
          <p:cNvPr id="18" name="ap_149"/>
          <p:cNvSpPr/>
          <p:nvPr/>
        </p:nvSpPr>
        <p:spPr>
          <a:xfrm>
            <a:off x="365760" y="4297680"/>
            <a:ext cx="260604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6.15</a:t>
            </a:r>
            <a:endParaRPr lang="en-US" sz="1100" dirty="0"/>
          </a:p>
        </p:txBody>
      </p:sp>
      <p:sp>
        <p:nvSpPr>
          <p:cNvPr id="19" name="ah_150"/>
          <p:cNvSpPr/>
          <p:nvPr/>
        </p:nvSpPr>
        <p:spPr>
          <a:xfrm>
            <a:off x="4636008" y="4572000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▶ normal</a:t>
            </a:r>
            <a:endParaRPr lang="en-US" sz="1000" dirty="0"/>
          </a:p>
        </p:txBody>
      </p:sp>
      <p:pic>
        <p:nvPicPr>
          <p:cNvPr id="20" name="Media 0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5687568" y="4553712"/>
            <a:ext cx="411480" cy="411480"/>
          </a:xfrm>
          <a:prstGeom prst="rect">
            <a:avLst/>
          </a:prstGeom>
        </p:spPr>
      </p:pic>
      <p:sp>
        <p:nvSpPr>
          <p:cNvPr id="21" name="ah_151"/>
          <p:cNvSpPr/>
          <p:nvPr/>
        </p:nvSpPr>
        <p:spPr>
          <a:xfrm>
            <a:off x="7470648" y="457200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🐢 slower</a:t>
            </a:r>
            <a:endParaRPr lang="en-US" sz="1000" dirty="0"/>
          </a:p>
        </p:txBody>
      </p:sp>
      <p:pic>
        <p:nvPicPr>
          <p:cNvPr id="22" name="Media 1">
            <a:hlinkClick r:id="" action="ppaction://media"/>
          </p:cNvPr>
          <p:cNvPicPr>
            <a:picLocks noChangeAspect="1"/>
          </p:cNvPicPr>
          <p:nvPr>
            <a:audioFile r:link="rId9"/>
            <p:extLst>
              <p:ext uri="{DAA4B4D4-6D71-4841-9C94-3DE7FCFB9230}">
                <p14:media xmlns:p14="http://schemas.microsoft.com/office/powerpoint/2010/main" r:embed="rId10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8476488" y="4553712"/>
            <a:ext cx="411480" cy="411480"/>
          </a:xfrm>
          <a:prstGeom prst="rect">
            <a:avLst/>
          </a:prstGeom>
        </p:spPr>
      </p:pic>
      <p:sp>
        <p:nvSpPr>
          <p:cNvPr id="23" name="bd_152"/>
          <p:cNvSpPr/>
          <p:nvPr/>
        </p:nvSpPr>
        <p:spPr>
          <a:xfrm>
            <a:off x="3246120" y="144475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24" name="q_153"/>
          <p:cNvSpPr/>
          <p:nvPr/>
        </p:nvSpPr>
        <p:spPr>
          <a:xfrm>
            <a:off x="3630168" y="141732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clap</a:t>
            </a:r>
            <a:endParaRPr lang="en-US" sz="1150" dirty="0"/>
          </a:p>
        </p:txBody>
      </p:sp>
      <p:sp>
        <p:nvSpPr>
          <p:cNvPr id="25" name="R1_chip154"/>
          <p:cNvSpPr/>
          <p:nvPr/>
        </p:nvSpPr>
        <p:spPr>
          <a:xfrm>
            <a:off x="5806440" y="1417320"/>
            <a:ext cx="306324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your hands – applaudire</a:t>
            </a:r>
            <a:endParaRPr lang="en-US" sz="1050" dirty="0"/>
          </a:p>
        </p:txBody>
      </p:sp>
      <p:sp>
        <p:nvSpPr>
          <p:cNvPr id="26" name="bd_155"/>
          <p:cNvSpPr/>
          <p:nvPr/>
        </p:nvSpPr>
        <p:spPr>
          <a:xfrm>
            <a:off x="3246120" y="185623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q_156"/>
          <p:cNvSpPr/>
          <p:nvPr/>
        </p:nvSpPr>
        <p:spPr>
          <a:xfrm>
            <a:off x="3630168" y="182880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kick</a:t>
            </a:r>
            <a:endParaRPr lang="en-US" sz="1150" dirty="0"/>
          </a:p>
        </p:txBody>
      </p:sp>
      <p:sp>
        <p:nvSpPr>
          <p:cNvPr id="28" name="R2_chip157"/>
          <p:cNvSpPr/>
          <p:nvPr/>
        </p:nvSpPr>
        <p:spPr>
          <a:xfrm>
            <a:off x="5806440" y="1828800"/>
            <a:ext cx="306324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your feet – calciare</a:t>
            </a:r>
            <a:endParaRPr lang="en-US" sz="1050" dirty="0"/>
          </a:p>
        </p:txBody>
      </p:sp>
      <p:sp>
        <p:nvSpPr>
          <p:cNvPr id="29" name="bd_158"/>
          <p:cNvSpPr/>
          <p:nvPr/>
        </p:nvSpPr>
        <p:spPr>
          <a:xfrm>
            <a:off x="3246120" y="2267712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q_159"/>
          <p:cNvSpPr/>
          <p:nvPr/>
        </p:nvSpPr>
        <p:spPr>
          <a:xfrm>
            <a:off x="3630168" y="224028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nod</a:t>
            </a:r>
            <a:endParaRPr lang="en-US" sz="1150" dirty="0"/>
          </a:p>
        </p:txBody>
      </p:sp>
      <p:sp>
        <p:nvSpPr>
          <p:cNvPr id="31" name="R3_chip160"/>
          <p:cNvSpPr/>
          <p:nvPr/>
        </p:nvSpPr>
        <p:spPr>
          <a:xfrm>
            <a:off x="5806440" y="2240280"/>
            <a:ext cx="306324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your head – annuire</a:t>
            </a:r>
            <a:endParaRPr lang="en-US" sz="1050" dirty="0"/>
          </a:p>
        </p:txBody>
      </p:sp>
      <p:sp>
        <p:nvSpPr>
          <p:cNvPr id="32" name="bd_161"/>
          <p:cNvSpPr/>
          <p:nvPr/>
        </p:nvSpPr>
        <p:spPr>
          <a:xfrm>
            <a:off x="3246120" y="2679192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33" name="q_162"/>
          <p:cNvSpPr/>
          <p:nvPr/>
        </p:nvSpPr>
        <p:spPr>
          <a:xfrm>
            <a:off x="3630168" y="265176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point</a:t>
            </a:r>
            <a:endParaRPr lang="en-US" sz="1150" dirty="0"/>
          </a:p>
        </p:txBody>
      </p:sp>
      <p:sp>
        <p:nvSpPr>
          <p:cNvPr id="34" name="R4_chip163"/>
          <p:cNvSpPr/>
          <p:nvPr/>
        </p:nvSpPr>
        <p:spPr>
          <a:xfrm>
            <a:off x="5806440" y="2651760"/>
            <a:ext cx="306324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your finger – indicare</a:t>
            </a:r>
            <a:endParaRPr lang="en-US" sz="1050" dirty="0"/>
          </a:p>
        </p:txBody>
      </p:sp>
      <p:sp>
        <p:nvSpPr>
          <p:cNvPr id="35" name="bd_164"/>
          <p:cNvSpPr/>
          <p:nvPr/>
        </p:nvSpPr>
        <p:spPr>
          <a:xfrm>
            <a:off x="3246120" y="309067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36" name="q_165"/>
          <p:cNvSpPr/>
          <p:nvPr/>
        </p:nvSpPr>
        <p:spPr>
          <a:xfrm>
            <a:off x="3630168" y="306324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smell</a:t>
            </a:r>
            <a:endParaRPr lang="en-US" sz="1150" dirty="0"/>
          </a:p>
        </p:txBody>
      </p:sp>
      <p:sp>
        <p:nvSpPr>
          <p:cNvPr id="37" name="R5_chip166"/>
          <p:cNvSpPr/>
          <p:nvPr/>
        </p:nvSpPr>
        <p:spPr>
          <a:xfrm>
            <a:off x="5806440" y="3063240"/>
            <a:ext cx="306324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your nose – annusare</a:t>
            </a:r>
            <a:endParaRPr lang="en-US" sz="1050" dirty="0"/>
          </a:p>
        </p:txBody>
      </p:sp>
      <p:sp>
        <p:nvSpPr>
          <p:cNvPr id="38" name="bd_167"/>
          <p:cNvSpPr/>
          <p:nvPr/>
        </p:nvSpPr>
        <p:spPr>
          <a:xfrm>
            <a:off x="3246120" y="350215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000" dirty="0"/>
          </a:p>
        </p:txBody>
      </p:sp>
      <p:sp>
        <p:nvSpPr>
          <p:cNvPr id="39" name="q_168"/>
          <p:cNvSpPr/>
          <p:nvPr/>
        </p:nvSpPr>
        <p:spPr>
          <a:xfrm>
            <a:off x="3630168" y="347472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stare</a:t>
            </a:r>
            <a:endParaRPr lang="en-US" sz="1150" dirty="0"/>
          </a:p>
        </p:txBody>
      </p:sp>
      <p:sp>
        <p:nvSpPr>
          <p:cNvPr id="40" name="R6_chip169"/>
          <p:cNvSpPr/>
          <p:nvPr/>
        </p:nvSpPr>
        <p:spPr>
          <a:xfrm>
            <a:off x="5806440" y="3474720"/>
            <a:ext cx="306324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your eyes – fissare</a:t>
            </a:r>
            <a:endParaRPr lang="en-US" sz="1050" dirty="0"/>
          </a:p>
        </p:txBody>
      </p:sp>
      <p:sp>
        <p:nvSpPr>
          <p:cNvPr id="41" name="bd_170"/>
          <p:cNvSpPr/>
          <p:nvPr/>
        </p:nvSpPr>
        <p:spPr>
          <a:xfrm>
            <a:off x="3246120" y="3913632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</a:t>
            </a:r>
            <a:endParaRPr lang="en-US" sz="1000" dirty="0"/>
          </a:p>
        </p:txBody>
      </p:sp>
      <p:sp>
        <p:nvSpPr>
          <p:cNvPr id="42" name="q_171"/>
          <p:cNvSpPr/>
          <p:nvPr/>
        </p:nvSpPr>
        <p:spPr>
          <a:xfrm>
            <a:off x="3630168" y="388620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whistle (silent t!)</a:t>
            </a:r>
            <a:endParaRPr lang="en-US" sz="1150" dirty="0"/>
          </a:p>
        </p:txBody>
      </p:sp>
      <p:sp>
        <p:nvSpPr>
          <p:cNvPr id="43" name="R7_chip172"/>
          <p:cNvSpPr/>
          <p:nvPr/>
        </p:nvSpPr>
        <p:spPr>
          <a:xfrm>
            <a:off x="5806440" y="3886200"/>
            <a:ext cx="306324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your lips – fischiare</a:t>
            </a:r>
            <a:endParaRPr lang="en-US" sz="1050" dirty="0"/>
          </a:p>
        </p:txBody>
      </p:sp>
      <p:sp>
        <p:nvSpPr>
          <p:cNvPr id="44" name="bd_173"/>
          <p:cNvSpPr/>
          <p:nvPr/>
        </p:nvSpPr>
        <p:spPr>
          <a:xfrm>
            <a:off x="3246120" y="4325112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8</a:t>
            </a:r>
            <a:endParaRPr lang="en-US" sz="1000" dirty="0"/>
          </a:p>
        </p:txBody>
      </p:sp>
      <p:sp>
        <p:nvSpPr>
          <p:cNvPr id="45" name="q_174"/>
          <p:cNvSpPr/>
          <p:nvPr/>
        </p:nvSpPr>
        <p:spPr>
          <a:xfrm>
            <a:off x="3630168" y="4297680"/>
            <a:ext cx="2103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taste</a:t>
            </a:r>
            <a:endParaRPr lang="en-US" sz="1150" dirty="0"/>
          </a:p>
        </p:txBody>
      </p:sp>
      <p:sp>
        <p:nvSpPr>
          <p:cNvPr id="46" name="R8_chip175"/>
          <p:cNvSpPr/>
          <p:nvPr/>
        </p:nvSpPr>
        <p:spPr>
          <a:xfrm>
            <a:off x="5806440" y="4297680"/>
            <a:ext cx="3063240" cy="365760"/>
          </a:xfrm>
          <a:prstGeom prst="roundRect">
            <a:avLst>
              <a:gd name="adj" fmla="val 25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your tongue / mouth – assaggiare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7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52" dur="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audio>
              <p:cMediaNode vol="80000">
                <p:cTn id="5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  <p:audio>
              <p:cMediaNode vol="80000">
                <p:cTn id="5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76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2800" dirty="0"/>
          </a:p>
        </p:txBody>
      </p:sp>
      <p:pic>
        <p:nvPicPr>
          <p:cNvPr id="4" name="brY_177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776118" cy="621792"/>
          </a:xfrm>
          <a:prstGeom prst="rect">
            <a:avLst/>
          </a:prstGeom>
        </p:spPr>
      </p:pic>
      <p:sp>
        <p:nvSpPr>
          <p:cNvPr id="5" name="title_178"/>
          <p:cNvSpPr/>
          <p:nvPr/>
        </p:nvSpPr>
        <p:spPr>
          <a:xfrm>
            <a:off x="1261872" y="164592"/>
            <a:ext cx="25017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Teacher says…</a:t>
            </a:r>
            <a:endParaRPr lang="en-US" sz="2500" dirty="0"/>
          </a:p>
        </p:txBody>
      </p:sp>
      <p:pic>
        <p:nvPicPr>
          <p:cNvPr id="6" name="brP_179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206240" cy="402336"/>
          </a:xfrm>
          <a:prstGeom prst="rect">
            <a:avLst/>
          </a:prstGeom>
        </p:spPr>
      </p:pic>
      <p:sp>
        <p:nvSpPr>
          <p:cNvPr id="7" name="ins_180"/>
          <p:cNvSpPr/>
          <p:nvPr/>
        </p:nvSpPr>
        <p:spPr>
          <a:xfrm>
            <a:off x="1353312" y="731520"/>
            <a:ext cx="3950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Stand up! Listen and DO it. Don't speak!</a:t>
            </a:r>
            <a:endParaRPr lang="en-US" sz="1250" dirty="0"/>
          </a:p>
        </p:txBody>
      </p:sp>
      <p:sp>
        <p:nvSpPr>
          <p:cNvPr id="8" name="insIT_181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 piedi! Ascolta e FALLO. Non parlare!</a:t>
            </a:r>
            <a:endParaRPr lang="en-US" sz="950" dirty="0"/>
          </a:p>
        </p:txBody>
      </p:sp>
      <p:sp>
        <p:nvSpPr>
          <p:cNvPr id="9" name="note_182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🎧 LISTEN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🎲 PLAY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🙋 whole class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 · Communicative game</a:t>
            </a:r>
            <a:endParaRPr lang="en-US" sz="1150" dirty="0"/>
          </a:p>
        </p:txBody>
      </p:sp>
      <p:pic>
        <p:nvPicPr>
          <p:cNvPr id="10" name="logo_183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184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6B-2 · Game · Teacher says!   ·   📖 SB p.62 · 3c · audio 6.16</a:t>
            </a:r>
            <a:endParaRPr lang="en-US" sz="800" dirty="0"/>
          </a:p>
        </p:txBody>
      </p:sp>
      <p:sp>
        <p:nvSpPr>
          <p:cNvPr id="12" name="cd_185"/>
          <p:cNvSpPr/>
          <p:nvPr/>
        </p:nvSpPr>
        <p:spPr>
          <a:xfrm>
            <a:off x="320040" y="1417320"/>
            <a:ext cx="2697480" cy="2514600"/>
          </a:xfrm>
          <a:prstGeom prst="roundRect">
            <a:avLst>
              <a:gd name="adj" fmla="val 5091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186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🎲</a:t>
            </a:r>
            <a:endParaRPr lang="en-US" sz="2200" dirty="0"/>
          </a:p>
        </p:txBody>
      </p:sp>
      <p:sp>
        <p:nvSpPr>
          <p:cNvPr id="14" name="ih_187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to play</a:t>
            </a:r>
            <a:endParaRPr lang="en-US" sz="1400" dirty="0"/>
          </a:p>
        </p:txBody>
      </p:sp>
      <p:sp>
        <p:nvSpPr>
          <p:cNvPr id="15" name="il_188"/>
          <p:cNvSpPr/>
          <p:nvPr/>
        </p:nvSpPr>
        <p:spPr>
          <a:xfrm>
            <a:off x="886968" y="1911096"/>
            <a:ext cx="2039112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 to the audio and DO the action.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 "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Ascolta l'audio e fai l'azione.</a:t>
            </a:r>
            <a:endParaRPr lang="en-US" sz="9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Then: 'Teacher says…' – only move if you hear 'Teacher says'!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 "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Poi: muoviti solo se senti 'Teacher says'!</a:t>
            </a:r>
            <a:endParaRPr lang="en-US" sz="9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Wrong move? Sit down. The last person standing wins!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 "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Sbagli? Siediti. Vince l'ultimo in piedi!</a:t>
            </a:r>
            <a:endParaRPr lang="en-US" sz="900" dirty="0"/>
          </a:p>
        </p:txBody>
      </p:sp>
      <p:sp>
        <p:nvSpPr>
          <p:cNvPr id="16" name="ap_189"/>
          <p:cNvSpPr/>
          <p:nvPr/>
        </p:nvSpPr>
        <p:spPr>
          <a:xfrm>
            <a:off x="365760" y="4114800"/>
            <a:ext cx="260604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6.16</a:t>
            </a:r>
            <a:endParaRPr lang="en-US" sz="1100" dirty="0"/>
          </a:p>
        </p:txBody>
      </p:sp>
      <p:sp>
        <p:nvSpPr>
          <p:cNvPr id="17" name="ah_190"/>
          <p:cNvSpPr/>
          <p:nvPr/>
        </p:nvSpPr>
        <p:spPr>
          <a:xfrm>
            <a:off x="4636008" y="4572000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▶ normal</a:t>
            </a:r>
            <a:endParaRPr lang="en-US" sz="1000" dirty="0"/>
          </a:p>
        </p:txBody>
      </p:sp>
      <p:pic>
        <p:nvPicPr>
          <p:cNvPr id="18" name="Media 0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687568" y="4553712"/>
            <a:ext cx="411480" cy="411480"/>
          </a:xfrm>
          <a:prstGeom prst="rect">
            <a:avLst/>
          </a:prstGeom>
        </p:spPr>
      </p:pic>
      <p:sp>
        <p:nvSpPr>
          <p:cNvPr id="19" name="ah_191"/>
          <p:cNvSpPr/>
          <p:nvPr/>
        </p:nvSpPr>
        <p:spPr>
          <a:xfrm>
            <a:off x="7470648" y="457200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🐢 slower</a:t>
            </a:r>
            <a:endParaRPr lang="en-US" sz="1000" dirty="0"/>
          </a:p>
        </p:txBody>
      </p:sp>
      <p:pic>
        <p:nvPicPr>
          <p:cNvPr id="20" name="Media 1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476488" y="4553712"/>
            <a:ext cx="411480" cy="411480"/>
          </a:xfrm>
          <a:prstGeom prst="rect">
            <a:avLst/>
          </a:prstGeom>
        </p:spPr>
      </p:pic>
      <p:sp>
        <p:nvSpPr>
          <p:cNvPr id="21" name="bd_192"/>
          <p:cNvSpPr/>
          <p:nvPr/>
        </p:nvSpPr>
        <p:spPr>
          <a:xfrm>
            <a:off x="3246120" y="1491234"/>
            <a:ext cx="329184" cy="329184"/>
          </a:xfrm>
          <a:prstGeom prst="ellipse">
            <a:avLst/>
          </a:prstGeom>
          <a:solidFill>
            <a:srgbClr val="7B5CD6"/>
          </a:solidFill>
          <a:ln w="28575">
            <a:solidFill>
              <a:srgbClr val="CDBFF3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e.g.</a:t>
            </a:r>
            <a:endParaRPr lang="en-US" sz="500" dirty="0"/>
          </a:p>
        </p:txBody>
      </p:sp>
      <p:sp>
        <p:nvSpPr>
          <p:cNvPr id="22" name="gq_193"/>
          <p:cNvSpPr/>
          <p:nvPr/>
        </p:nvSpPr>
        <p:spPr>
          <a:xfrm>
            <a:off x="3657600" y="141732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EEE8FB"/>
          </a:solidFill>
          <a:ln w="28575">
            <a:solidFill>
              <a:srgbClr val="CDBFF3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Teacher says: clap your hands!</a:t>
            </a:r>
            <a:endParaRPr lang="en-US" sz="1250" dirty="0"/>
          </a:p>
        </p:txBody>
      </p:sp>
      <p:sp>
        <p:nvSpPr>
          <p:cNvPr id="23" name="chip_194"/>
          <p:cNvSpPr/>
          <p:nvPr/>
        </p:nvSpPr>
        <p:spPr>
          <a:xfrm>
            <a:off x="6263640" y="141732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EEE8FB"/>
          </a:solidFill>
          <a:ln w="28575">
            <a:solidFill>
              <a:srgbClr val="CDBFF3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👏</a:t>
            </a:r>
            <a:endParaRPr lang="en-US" sz="1200" dirty="0"/>
          </a:p>
        </p:txBody>
      </p:sp>
      <p:sp>
        <p:nvSpPr>
          <p:cNvPr id="24" name="bd_195"/>
          <p:cNvSpPr/>
          <p:nvPr/>
        </p:nvSpPr>
        <p:spPr>
          <a:xfrm>
            <a:off x="3246120" y="2032254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25" name="gq_196"/>
          <p:cNvSpPr/>
          <p:nvPr/>
        </p:nvSpPr>
        <p:spPr>
          <a:xfrm>
            <a:off x="3657600" y="195834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Teacher says: nod your head!</a:t>
            </a:r>
            <a:endParaRPr lang="en-US" sz="1250" dirty="0"/>
          </a:p>
        </p:txBody>
      </p:sp>
      <p:sp>
        <p:nvSpPr>
          <p:cNvPr id="26" name="R1_chip197"/>
          <p:cNvSpPr/>
          <p:nvPr/>
        </p:nvSpPr>
        <p:spPr>
          <a:xfrm>
            <a:off x="6263640" y="195834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🙂↕️</a:t>
            </a:r>
            <a:endParaRPr lang="en-US" sz="1200" dirty="0"/>
          </a:p>
        </p:txBody>
      </p:sp>
      <p:sp>
        <p:nvSpPr>
          <p:cNvPr id="27" name="bd_198"/>
          <p:cNvSpPr/>
          <p:nvPr/>
        </p:nvSpPr>
        <p:spPr>
          <a:xfrm>
            <a:off x="3246120" y="2573274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8" name="gq_199"/>
          <p:cNvSpPr/>
          <p:nvPr/>
        </p:nvSpPr>
        <p:spPr>
          <a:xfrm>
            <a:off x="3657600" y="249936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Point at the board!</a:t>
            </a:r>
            <a:endParaRPr lang="en-US" sz="1250" dirty="0"/>
          </a:p>
        </p:txBody>
      </p:sp>
      <p:sp>
        <p:nvSpPr>
          <p:cNvPr id="29" name="R2_chip200"/>
          <p:cNvSpPr/>
          <p:nvPr/>
        </p:nvSpPr>
        <p:spPr>
          <a:xfrm>
            <a:off x="6263640" y="249936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✗ no 'Teacher says' – sit down!</a:t>
            </a:r>
            <a:endParaRPr lang="en-US" sz="1200" dirty="0"/>
          </a:p>
        </p:txBody>
      </p:sp>
      <p:sp>
        <p:nvSpPr>
          <p:cNvPr id="30" name="bd_201"/>
          <p:cNvSpPr/>
          <p:nvPr/>
        </p:nvSpPr>
        <p:spPr>
          <a:xfrm>
            <a:off x="3246120" y="3114294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gq_202"/>
          <p:cNvSpPr/>
          <p:nvPr/>
        </p:nvSpPr>
        <p:spPr>
          <a:xfrm>
            <a:off x="3657600" y="304038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Teacher says: touch your knees!</a:t>
            </a:r>
            <a:endParaRPr lang="en-US" sz="1250" dirty="0"/>
          </a:p>
        </p:txBody>
      </p:sp>
      <p:sp>
        <p:nvSpPr>
          <p:cNvPr id="32" name="R3_chip203"/>
          <p:cNvSpPr/>
          <p:nvPr/>
        </p:nvSpPr>
        <p:spPr>
          <a:xfrm>
            <a:off x="6263640" y="304038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🦵</a:t>
            </a:r>
            <a:endParaRPr lang="en-US" sz="1200" dirty="0"/>
          </a:p>
        </p:txBody>
      </p:sp>
      <p:sp>
        <p:nvSpPr>
          <p:cNvPr id="33" name="bd_204"/>
          <p:cNvSpPr/>
          <p:nvPr/>
        </p:nvSpPr>
        <p:spPr>
          <a:xfrm>
            <a:off x="3246120" y="3655314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gq_205"/>
          <p:cNvSpPr/>
          <p:nvPr/>
        </p:nvSpPr>
        <p:spPr>
          <a:xfrm>
            <a:off x="3657600" y="358140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Teacher says: stare at your partner!</a:t>
            </a:r>
            <a:endParaRPr lang="en-US" sz="1250" dirty="0"/>
          </a:p>
        </p:txBody>
      </p:sp>
      <p:sp>
        <p:nvSpPr>
          <p:cNvPr id="35" name="R4_chip206"/>
          <p:cNvSpPr/>
          <p:nvPr/>
        </p:nvSpPr>
        <p:spPr>
          <a:xfrm>
            <a:off x="6263640" y="358140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👀</a:t>
            </a:r>
            <a:endParaRPr lang="en-US" sz="1200" dirty="0"/>
          </a:p>
        </p:txBody>
      </p:sp>
      <p:sp>
        <p:nvSpPr>
          <p:cNvPr id="36" name="bd_207"/>
          <p:cNvSpPr/>
          <p:nvPr/>
        </p:nvSpPr>
        <p:spPr>
          <a:xfrm>
            <a:off x="3246120" y="4196334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100" dirty="0"/>
          </a:p>
        </p:txBody>
      </p:sp>
      <p:sp>
        <p:nvSpPr>
          <p:cNvPr id="37" name="gq_208"/>
          <p:cNvSpPr/>
          <p:nvPr/>
        </p:nvSpPr>
        <p:spPr>
          <a:xfrm>
            <a:off x="3657600" y="412242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Whistle a song!</a:t>
            </a:r>
            <a:endParaRPr lang="en-US" sz="1250" dirty="0"/>
          </a:p>
        </p:txBody>
      </p:sp>
      <p:sp>
        <p:nvSpPr>
          <p:cNvPr id="38" name="R5_chip209"/>
          <p:cNvSpPr/>
          <p:nvPr/>
        </p:nvSpPr>
        <p:spPr>
          <a:xfrm>
            <a:off x="6263640" y="412242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✗ sit down!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2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7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audio>
              <p:cMediaNode vol="80000">
                <p:cTn id="3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  <p:audio>
              <p:cMediaNode vol="80000">
                <p:cTn id="3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10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</a:t>
            </a:r>
            <a:endParaRPr lang="en-US" sz="2800" dirty="0"/>
          </a:p>
        </p:txBody>
      </p:sp>
      <p:pic>
        <p:nvPicPr>
          <p:cNvPr id="4" name="brY_211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719779" cy="621792"/>
          </a:xfrm>
          <a:prstGeom prst="rect">
            <a:avLst/>
          </a:prstGeom>
        </p:spPr>
      </p:pic>
      <p:sp>
        <p:nvSpPr>
          <p:cNvPr id="5" name="title_212"/>
          <p:cNvSpPr/>
          <p:nvPr/>
        </p:nvSpPr>
        <p:spPr>
          <a:xfrm>
            <a:off x="1261872" y="164592"/>
            <a:ext cx="34454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Two sounds in one ①</a:t>
            </a:r>
            <a:endParaRPr lang="en-US" sz="2500" dirty="0"/>
          </a:p>
        </p:txBody>
      </p:sp>
      <p:pic>
        <p:nvPicPr>
          <p:cNvPr id="6" name="brP_213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511296" cy="402336"/>
          </a:xfrm>
          <a:prstGeom prst="rect">
            <a:avLst/>
          </a:prstGeom>
        </p:spPr>
      </p:pic>
      <p:sp>
        <p:nvSpPr>
          <p:cNvPr id="7" name="ins_214"/>
          <p:cNvSpPr/>
          <p:nvPr/>
        </p:nvSpPr>
        <p:spPr>
          <a:xfrm>
            <a:off x="1353312" y="731520"/>
            <a:ext cx="3255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Say the word. Which sound is it?</a:t>
            </a:r>
            <a:endParaRPr lang="en-US" sz="1250" dirty="0"/>
          </a:p>
        </p:txBody>
      </p:sp>
      <p:sp>
        <p:nvSpPr>
          <p:cNvPr id="8" name="insIT_215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Di' la parola. Quale suono è?</a:t>
            </a:r>
            <a:endParaRPr lang="en-US" sz="950" dirty="0"/>
          </a:p>
        </p:txBody>
      </p:sp>
      <p:sp>
        <p:nvSpPr>
          <p:cNvPr id="9" name="note_216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🎧 LISTEN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🔊 SAY IT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Pronunciation · Guided discovery</a:t>
            </a:r>
            <a:endParaRPr lang="en-US" sz="1150" dirty="0"/>
          </a:p>
        </p:txBody>
      </p:sp>
      <p:pic>
        <p:nvPicPr>
          <p:cNvPr id="10" name="logo_217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18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6B-2 · Pronunciation · diphthongs (two sounds in one)   ·   📖 SB p.62 · 4a–4c · audio 6.17, 6.18</a:t>
            </a:r>
            <a:endParaRPr lang="en-US" sz="800" dirty="0"/>
          </a:p>
        </p:txBody>
      </p:sp>
      <p:sp>
        <p:nvSpPr>
          <p:cNvPr id="12" name="cd_219"/>
          <p:cNvSpPr/>
          <p:nvPr/>
        </p:nvSpPr>
        <p:spPr>
          <a:xfrm>
            <a:off x="320040" y="1417320"/>
            <a:ext cx="2697480" cy="2295144"/>
          </a:xfrm>
          <a:prstGeom prst="roundRect">
            <a:avLst>
              <a:gd name="adj" fmla="val 5578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220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🏷️</a:t>
            </a:r>
            <a:endParaRPr lang="en-US" sz="2200" dirty="0"/>
          </a:p>
        </p:txBody>
      </p:sp>
      <p:sp>
        <p:nvSpPr>
          <p:cNvPr id="14" name="ih_221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 sounds</a:t>
            </a:r>
            <a:endParaRPr lang="en-US" sz="1300" dirty="0"/>
          </a:p>
        </p:txBody>
      </p:sp>
      <p:sp>
        <p:nvSpPr>
          <p:cNvPr id="15" name="ap_222"/>
          <p:cNvSpPr/>
          <p:nvPr/>
        </p:nvSpPr>
        <p:spPr>
          <a:xfrm>
            <a:off x="365760" y="3849624"/>
            <a:ext cx="260604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6.17 + 6.18</a:t>
            </a:r>
            <a:endParaRPr lang="en-US" sz="1100" dirty="0"/>
          </a:p>
        </p:txBody>
      </p:sp>
      <p:sp>
        <p:nvSpPr>
          <p:cNvPr id="16" name="ah_223"/>
          <p:cNvSpPr/>
          <p:nvPr/>
        </p:nvSpPr>
        <p:spPr>
          <a:xfrm>
            <a:off x="3630168" y="4572000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▶ normal</a:t>
            </a:r>
            <a:endParaRPr lang="en-US" sz="1000" dirty="0"/>
          </a:p>
        </p:txBody>
      </p:sp>
      <p:pic>
        <p:nvPicPr>
          <p:cNvPr id="17" name="Media 0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681728" y="4553712"/>
            <a:ext cx="411480" cy="411480"/>
          </a:xfrm>
          <a:prstGeom prst="rect">
            <a:avLst/>
          </a:prstGeom>
        </p:spPr>
      </p:pic>
      <p:pic>
        <p:nvPicPr>
          <p:cNvPr id="18" name="Media 1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5184648" y="4553712"/>
            <a:ext cx="411480" cy="411480"/>
          </a:xfrm>
          <a:prstGeom prst="rect">
            <a:avLst/>
          </a:prstGeom>
        </p:spPr>
      </p:pic>
      <p:sp>
        <p:nvSpPr>
          <p:cNvPr id="19" name="ah_224"/>
          <p:cNvSpPr/>
          <p:nvPr/>
        </p:nvSpPr>
        <p:spPr>
          <a:xfrm>
            <a:off x="6967728" y="457200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🐢 slower</a:t>
            </a:r>
            <a:endParaRPr lang="en-US" sz="1000" dirty="0"/>
          </a:p>
        </p:txBody>
      </p:sp>
      <p:pic>
        <p:nvPicPr>
          <p:cNvPr id="20" name="Media 2">
            <a:hlinkClick r:id="" action="ppaction://media"/>
          </p:cNvPr>
          <p:cNvPicPr>
            <a:picLocks noChangeAspect="1"/>
          </p:cNvPicPr>
          <p:nvPr>
            <a:audioFile r:link="rId11"/>
            <p:extLst>
              <p:ext uri="{DAA4B4D4-6D71-4841-9C94-3DE7FCFB9230}">
                <p14:media xmlns:p14="http://schemas.microsoft.com/office/powerpoint/2010/main" r:embed="rId12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7973568" y="4553712"/>
            <a:ext cx="411480" cy="411480"/>
          </a:xfrm>
          <a:prstGeom prst="rect">
            <a:avLst/>
          </a:prstGeom>
        </p:spPr>
      </p:pic>
      <p:pic>
        <p:nvPicPr>
          <p:cNvPr id="21" name="Media 3">
            <a:hlinkClick r:id="" action="ppaction://media"/>
          </p:cNvPr>
          <p:cNvPicPr>
            <a:picLocks noChangeAspect="1"/>
          </p:cNvPicPr>
          <p:nvPr>
            <a:audioFile r:link="rId14"/>
            <p:extLst>
              <p:ext uri="{DAA4B4D4-6D71-4841-9C94-3DE7FCFB9230}">
                <p14:media xmlns:p14="http://schemas.microsoft.com/office/powerpoint/2010/main" r:embed="rId15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8476488" y="4553712"/>
            <a:ext cx="411480" cy="411480"/>
          </a:xfrm>
          <a:prstGeom prst="rect">
            <a:avLst/>
          </a:prstGeom>
        </p:spPr>
      </p:pic>
      <p:sp>
        <p:nvSpPr>
          <p:cNvPr id="22" name="lg_225"/>
          <p:cNvSpPr/>
          <p:nvPr/>
        </p:nvSpPr>
        <p:spPr>
          <a:xfrm>
            <a:off x="457200" y="19842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FD1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/aɪ/ bike</a:t>
            </a:r>
            <a:endParaRPr lang="en-US" sz="1050" dirty="0"/>
          </a:p>
        </p:txBody>
      </p:sp>
      <p:sp>
        <p:nvSpPr>
          <p:cNvPr id="23" name="lg_226"/>
          <p:cNvSpPr/>
          <p:nvPr/>
        </p:nvSpPr>
        <p:spPr>
          <a:xfrm>
            <a:off x="1719072" y="19842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CFE6F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/eɪ/ train</a:t>
            </a:r>
            <a:endParaRPr lang="en-US" sz="1050" dirty="0"/>
          </a:p>
        </p:txBody>
      </p:sp>
      <p:sp>
        <p:nvSpPr>
          <p:cNvPr id="24" name="lg_227"/>
          <p:cNvSpPr/>
          <p:nvPr/>
        </p:nvSpPr>
        <p:spPr>
          <a:xfrm>
            <a:off x="457200" y="2368296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CFF2D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/əʊ/ phone</a:t>
            </a:r>
            <a:endParaRPr lang="en-US" sz="1050" dirty="0"/>
          </a:p>
        </p:txBody>
      </p:sp>
      <p:sp>
        <p:nvSpPr>
          <p:cNvPr id="25" name="lg_228"/>
          <p:cNvSpPr/>
          <p:nvPr/>
        </p:nvSpPr>
        <p:spPr>
          <a:xfrm>
            <a:off x="1719072" y="2368296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FF0A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/aʊ/ owl</a:t>
            </a:r>
            <a:endParaRPr lang="en-US" sz="1050" dirty="0"/>
          </a:p>
        </p:txBody>
      </p:sp>
      <p:sp>
        <p:nvSpPr>
          <p:cNvPr id="26" name="lg_229"/>
          <p:cNvSpPr/>
          <p:nvPr/>
        </p:nvSpPr>
        <p:spPr>
          <a:xfrm>
            <a:off x="457200" y="2752344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2D9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/eə/ chair</a:t>
            </a:r>
            <a:endParaRPr lang="en-US" sz="1050" dirty="0"/>
          </a:p>
        </p:txBody>
      </p:sp>
      <p:sp>
        <p:nvSpPr>
          <p:cNvPr id="27" name="sq_230"/>
          <p:cNvSpPr/>
          <p:nvPr/>
        </p:nvSpPr>
        <p:spPr>
          <a:xfrm>
            <a:off x="3246120" y="1417320"/>
            <a:ext cx="38404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bite</a:t>
            </a:r>
            <a:endParaRPr lang="en-US" sz="1200" dirty="0"/>
          </a:p>
        </p:txBody>
      </p:sp>
      <p:sp>
        <p:nvSpPr>
          <p:cNvPr id="28" name="R1_tag231"/>
          <p:cNvSpPr/>
          <p:nvPr/>
        </p:nvSpPr>
        <p:spPr>
          <a:xfrm>
            <a:off x="7178040" y="1417320"/>
            <a:ext cx="1691640" cy="475488"/>
          </a:xfrm>
          <a:prstGeom prst="roundRect">
            <a:avLst>
              <a:gd name="adj" fmla="val 48077"/>
            </a:avLst>
          </a:prstGeom>
          <a:solidFill>
            <a:srgbClr val="FFD1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/aɪ/ bike</a:t>
            </a:r>
            <a:endParaRPr lang="en-US" sz="1150" dirty="0"/>
          </a:p>
        </p:txBody>
      </p:sp>
      <p:sp>
        <p:nvSpPr>
          <p:cNvPr id="29" name="sq_232"/>
          <p:cNvSpPr/>
          <p:nvPr/>
        </p:nvSpPr>
        <p:spPr>
          <a:xfrm>
            <a:off x="3246120" y="1956816"/>
            <a:ext cx="38404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face</a:t>
            </a:r>
            <a:endParaRPr lang="en-US" sz="1200" dirty="0"/>
          </a:p>
        </p:txBody>
      </p:sp>
      <p:sp>
        <p:nvSpPr>
          <p:cNvPr id="30" name="R2_tag233"/>
          <p:cNvSpPr/>
          <p:nvPr/>
        </p:nvSpPr>
        <p:spPr>
          <a:xfrm>
            <a:off x="7178040" y="1956816"/>
            <a:ext cx="1691640" cy="475488"/>
          </a:xfrm>
          <a:prstGeom prst="roundRect">
            <a:avLst>
              <a:gd name="adj" fmla="val 48077"/>
            </a:avLst>
          </a:prstGeom>
          <a:solidFill>
            <a:srgbClr val="CFE6F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/eɪ/ train</a:t>
            </a:r>
            <a:endParaRPr lang="en-US" sz="1150" dirty="0"/>
          </a:p>
        </p:txBody>
      </p:sp>
      <p:sp>
        <p:nvSpPr>
          <p:cNvPr id="31" name="sq_234"/>
          <p:cNvSpPr/>
          <p:nvPr/>
        </p:nvSpPr>
        <p:spPr>
          <a:xfrm>
            <a:off x="3246120" y="2496312"/>
            <a:ext cx="38404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nose</a:t>
            </a:r>
            <a:endParaRPr lang="en-US" sz="1200" dirty="0"/>
          </a:p>
        </p:txBody>
      </p:sp>
      <p:sp>
        <p:nvSpPr>
          <p:cNvPr id="32" name="R3_tag235"/>
          <p:cNvSpPr/>
          <p:nvPr/>
        </p:nvSpPr>
        <p:spPr>
          <a:xfrm>
            <a:off x="7178040" y="2496312"/>
            <a:ext cx="1691640" cy="475488"/>
          </a:xfrm>
          <a:prstGeom prst="roundRect">
            <a:avLst>
              <a:gd name="adj" fmla="val 48077"/>
            </a:avLst>
          </a:prstGeom>
          <a:solidFill>
            <a:srgbClr val="CFF2D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/əʊ/ phone</a:t>
            </a:r>
            <a:endParaRPr lang="en-US" sz="1150" dirty="0"/>
          </a:p>
        </p:txBody>
      </p:sp>
      <p:sp>
        <p:nvSpPr>
          <p:cNvPr id="33" name="sq_236"/>
          <p:cNvSpPr/>
          <p:nvPr/>
        </p:nvSpPr>
        <p:spPr>
          <a:xfrm>
            <a:off x="3246120" y="3035808"/>
            <a:ext cx="38404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mouth</a:t>
            </a:r>
            <a:endParaRPr lang="en-US" sz="1200" dirty="0"/>
          </a:p>
        </p:txBody>
      </p:sp>
      <p:sp>
        <p:nvSpPr>
          <p:cNvPr id="34" name="R4_tag237"/>
          <p:cNvSpPr/>
          <p:nvPr/>
        </p:nvSpPr>
        <p:spPr>
          <a:xfrm>
            <a:off x="7178040" y="3035808"/>
            <a:ext cx="1691640" cy="475488"/>
          </a:xfrm>
          <a:prstGeom prst="roundRect">
            <a:avLst>
              <a:gd name="adj" fmla="val 48077"/>
            </a:avLst>
          </a:prstGeom>
          <a:solidFill>
            <a:srgbClr val="FFF0A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/aʊ/ owl</a:t>
            </a:r>
            <a:endParaRPr lang="en-US" sz="1150" dirty="0"/>
          </a:p>
        </p:txBody>
      </p:sp>
      <p:sp>
        <p:nvSpPr>
          <p:cNvPr id="35" name="sq_238"/>
          <p:cNvSpPr/>
          <p:nvPr/>
        </p:nvSpPr>
        <p:spPr>
          <a:xfrm>
            <a:off x="3246120" y="3575304"/>
            <a:ext cx="38404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hair</a:t>
            </a:r>
            <a:endParaRPr lang="en-US" sz="1200" dirty="0"/>
          </a:p>
        </p:txBody>
      </p:sp>
      <p:sp>
        <p:nvSpPr>
          <p:cNvPr id="36" name="R5_tag239"/>
          <p:cNvSpPr/>
          <p:nvPr/>
        </p:nvSpPr>
        <p:spPr>
          <a:xfrm>
            <a:off x="7178040" y="3575304"/>
            <a:ext cx="1691640" cy="475488"/>
          </a:xfrm>
          <a:prstGeom prst="roundRect">
            <a:avLst>
              <a:gd name="adj" fmla="val 48077"/>
            </a:avLst>
          </a:prstGeom>
          <a:solidFill>
            <a:srgbClr val="E2D9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/eə/ chair</a:t>
            </a:r>
            <a:endParaRPr lang="en-US" sz="1150" dirty="0"/>
          </a:p>
        </p:txBody>
      </p:sp>
      <p:sp>
        <p:nvSpPr>
          <p:cNvPr id="37" name="sq_240"/>
          <p:cNvSpPr/>
          <p:nvPr/>
        </p:nvSpPr>
        <p:spPr>
          <a:xfrm>
            <a:off x="3246120" y="4114800"/>
            <a:ext cx="38404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eyes</a:t>
            </a:r>
            <a:endParaRPr lang="en-US" sz="1200" dirty="0"/>
          </a:p>
        </p:txBody>
      </p:sp>
      <p:sp>
        <p:nvSpPr>
          <p:cNvPr id="38" name="R6_tag241"/>
          <p:cNvSpPr/>
          <p:nvPr/>
        </p:nvSpPr>
        <p:spPr>
          <a:xfrm>
            <a:off x="7178040" y="4114800"/>
            <a:ext cx="1691640" cy="475488"/>
          </a:xfrm>
          <a:prstGeom prst="roundRect">
            <a:avLst>
              <a:gd name="adj" fmla="val 48077"/>
            </a:avLst>
          </a:prstGeom>
          <a:solidFill>
            <a:srgbClr val="FFD1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/aɪ/ bike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7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2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7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52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audio>
              <p:cMediaNode vol="80000">
                <p:cTn id="5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  <p:audio>
              <p:cMediaNode vol="80000">
                <p:cTn id="5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  <p:audio>
              <p:cMediaNode vol="80000">
                <p:cTn id="5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  <p:audio>
              <p:cMediaNode vol="80000">
                <p:cTn id="5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42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8</a:t>
            </a:r>
            <a:endParaRPr lang="en-US" sz="2800" dirty="0"/>
          </a:p>
        </p:txBody>
      </p:sp>
      <p:pic>
        <p:nvPicPr>
          <p:cNvPr id="4" name="brY_243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719779" cy="621792"/>
          </a:xfrm>
          <a:prstGeom prst="rect">
            <a:avLst/>
          </a:prstGeom>
        </p:spPr>
      </p:pic>
      <p:sp>
        <p:nvSpPr>
          <p:cNvPr id="5" name="title_244"/>
          <p:cNvSpPr/>
          <p:nvPr/>
        </p:nvSpPr>
        <p:spPr>
          <a:xfrm>
            <a:off x="1261872" y="164592"/>
            <a:ext cx="34454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Two sounds in one ②</a:t>
            </a:r>
            <a:endParaRPr lang="en-US" sz="2500" dirty="0"/>
          </a:p>
        </p:txBody>
      </p:sp>
      <p:pic>
        <p:nvPicPr>
          <p:cNvPr id="6" name="brP_245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119372" cy="402336"/>
          </a:xfrm>
          <a:prstGeom prst="rect">
            <a:avLst/>
          </a:prstGeom>
        </p:spPr>
      </p:pic>
      <p:sp>
        <p:nvSpPr>
          <p:cNvPr id="7" name="ins_246"/>
          <p:cNvSpPr/>
          <p:nvPr/>
        </p:nvSpPr>
        <p:spPr>
          <a:xfrm>
            <a:off x="1353312" y="731520"/>
            <a:ext cx="38633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Now these words. Then listen and check!</a:t>
            </a:r>
            <a:endParaRPr lang="en-US" sz="1250" dirty="0"/>
          </a:p>
        </p:txBody>
      </p:sp>
      <p:sp>
        <p:nvSpPr>
          <p:cNvPr id="8" name="insIT_247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Ora queste parole. Poi ascolta e controlla!</a:t>
            </a:r>
            <a:endParaRPr lang="en-US" sz="950" dirty="0"/>
          </a:p>
        </p:txBody>
      </p:sp>
      <p:sp>
        <p:nvSpPr>
          <p:cNvPr id="9" name="note_248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🔊 SAY IT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🎧 LISTEN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2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Pronunciation · Guided discovery</a:t>
            </a:r>
            <a:endParaRPr lang="en-US" sz="1150" dirty="0"/>
          </a:p>
        </p:txBody>
      </p:sp>
      <p:pic>
        <p:nvPicPr>
          <p:cNvPr id="10" name="logo_249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50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6B-2 · Pronunciation · diphthongs   ·   📖 SB p.62 · 4b, 4c · audio 6.18</a:t>
            </a:r>
            <a:endParaRPr lang="en-US" sz="800" dirty="0"/>
          </a:p>
        </p:txBody>
      </p:sp>
      <p:sp>
        <p:nvSpPr>
          <p:cNvPr id="12" name="cd_251"/>
          <p:cNvSpPr/>
          <p:nvPr/>
        </p:nvSpPr>
        <p:spPr>
          <a:xfrm>
            <a:off x="320040" y="1417320"/>
            <a:ext cx="2697480" cy="2295144"/>
          </a:xfrm>
          <a:prstGeom prst="roundRect">
            <a:avLst>
              <a:gd name="adj" fmla="val 5578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252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🏷️</a:t>
            </a:r>
            <a:endParaRPr lang="en-US" sz="2200" dirty="0"/>
          </a:p>
        </p:txBody>
      </p:sp>
      <p:sp>
        <p:nvSpPr>
          <p:cNvPr id="14" name="ih_253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 sounds</a:t>
            </a:r>
            <a:endParaRPr lang="en-US" sz="1300" dirty="0"/>
          </a:p>
        </p:txBody>
      </p:sp>
      <p:sp>
        <p:nvSpPr>
          <p:cNvPr id="15" name="ap_254"/>
          <p:cNvSpPr/>
          <p:nvPr/>
        </p:nvSpPr>
        <p:spPr>
          <a:xfrm>
            <a:off x="365760" y="3849624"/>
            <a:ext cx="260604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6.18</a:t>
            </a:r>
            <a:endParaRPr lang="en-US" sz="1100" dirty="0"/>
          </a:p>
        </p:txBody>
      </p:sp>
      <p:sp>
        <p:nvSpPr>
          <p:cNvPr id="16" name="ah_255"/>
          <p:cNvSpPr/>
          <p:nvPr/>
        </p:nvSpPr>
        <p:spPr>
          <a:xfrm>
            <a:off x="4636008" y="4572000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▶ normal</a:t>
            </a:r>
            <a:endParaRPr lang="en-US" sz="1000" dirty="0"/>
          </a:p>
        </p:txBody>
      </p:sp>
      <p:pic>
        <p:nvPicPr>
          <p:cNvPr id="17" name="Media 0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687568" y="4553712"/>
            <a:ext cx="411480" cy="411480"/>
          </a:xfrm>
          <a:prstGeom prst="rect">
            <a:avLst/>
          </a:prstGeom>
        </p:spPr>
      </p:pic>
      <p:sp>
        <p:nvSpPr>
          <p:cNvPr id="18" name="ah_256"/>
          <p:cNvSpPr/>
          <p:nvPr/>
        </p:nvSpPr>
        <p:spPr>
          <a:xfrm>
            <a:off x="7470648" y="457200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🐢 slower</a:t>
            </a:r>
            <a:endParaRPr lang="en-US" sz="1000" dirty="0"/>
          </a:p>
        </p:txBody>
      </p:sp>
      <p:pic>
        <p:nvPicPr>
          <p:cNvPr id="19" name="Media 1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476488" y="4553712"/>
            <a:ext cx="411480" cy="411480"/>
          </a:xfrm>
          <a:prstGeom prst="rect">
            <a:avLst/>
          </a:prstGeom>
        </p:spPr>
      </p:pic>
      <p:sp>
        <p:nvSpPr>
          <p:cNvPr id="20" name="lg_257"/>
          <p:cNvSpPr/>
          <p:nvPr/>
        </p:nvSpPr>
        <p:spPr>
          <a:xfrm>
            <a:off x="457200" y="19842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FD1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/aɪ/ bike</a:t>
            </a:r>
            <a:endParaRPr lang="en-US" sz="1050" dirty="0"/>
          </a:p>
        </p:txBody>
      </p:sp>
      <p:sp>
        <p:nvSpPr>
          <p:cNvPr id="21" name="lg_258"/>
          <p:cNvSpPr/>
          <p:nvPr/>
        </p:nvSpPr>
        <p:spPr>
          <a:xfrm>
            <a:off x="1719072" y="19842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CFE6F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/eɪ/ train</a:t>
            </a:r>
            <a:endParaRPr lang="en-US" sz="1050" dirty="0"/>
          </a:p>
        </p:txBody>
      </p:sp>
      <p:sp>
        <p:nvSpPr>
          <p:cNvPr id="22" name="lg_259"/>
          <p:cNvSpPr/>
          <p:nvPr/>
        </p:nvSpPr>
        <p:spPr>
          <a:xfrm>
            <a:off x="457200" y="2368296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CFF2D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/əʊ/ phone</a:t>
            </a:r>
            <a:endParaRPr lang="en-US" sz="1050" dirty="0"/>
          </a:p>
        </p:txBody>
      </p:sp>
      <p:sp>
        <p:nvSpPr>
          <p:cNvPr id="23" name="lg_260"/>
          <p:cNvSpPr/>
          <p:nvPr/>
        </p:nvSpPr>
        <p:spPr>
          <a:xfrm>
            <a:off x="1719072" y="2368296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FF0A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/aʊ/ owl</a:t>
            </a:r>
            <a:endParaRPr lang="en-US" sz="1050" dirty="0"/>
          </a:p>
        </p:txBody>
      </p:sp>
      <p:sp>
        <p:nvSpPr>
          <p:cNvPr id="24" name="lg_261"/>
          <p:cNvSpPr/>
          <p:nvPr/>
        </p:nvSpPr>
        <p:spPr>
          <a:xfrm>
            <a:off x="457200" y="2752344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2D9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/eə/ chair</a:t>
            </a:r>
            <a:endParaRPr lang="en-US" sz="1050" dirty="0"/>
          </a:p>
        </p:txBody>
      </p:sp>
      <p:sp>
        <p:nvSpPr>
          <p:cNvPr id="25" name="sq_262"/>
          <p:cNvSpPr/>
          <p:nvPr/>
        </p:nvSpPr>
        <p:spPr>
          <a:xfrm>
            <a:off x="3246120" y="1417320"/>
            <a:ext cx="38404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taste</a:t>
            </a:r>
            <a:endParaRPr lang="en-US" sz="1200" dirty="0"/>
          </a:p>
        </p:txBody>
      </p:sp>
      <p:sp>
        <p:nvSpPr>
          <p:cNvPr id="26" name="R1_tag263"/>
          <p:cNvSpPr/>
          <p:nvPr/>
        </p:nvSpPr>
        <p:spPr>
          <a:xfrm>
            <a:off x="7178040" y="1417320"/>
            <a:ext cx="1691640" cy="475488"/>
          </a:xfrm>
          <a:prstGeom prst="roundRect">
            <a:avLst>
              <a:gd name="adj" fmla="val 48077"/>
            </a:avLst>
          </a:prstGeom>
          <a:solidFill>
            <a:srgbClr val="CFE6F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/eɪ/ train</a:t>
            </a:r>
            <a:endParaRPr lang="en-US" sz="1150" dirty="0"/>
          </a:p>
        </p:txBody>
      </p:sp>
      <p:sp>
        <p:nvSpPr>
          <p:cNvPr id="27" name="sq_264"/>
          <p:cNvSpPr/>
          <p:nvPr/>
        </p:nvSpPr>
        <p:spPr>
          <a:xfrm>
            <a:off x="3246120" y="1956816"/>
            <a:ext cx="38404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shoulders</a:t>
            </a:r>
            <a:endParaRPr lang="en-US" sz="1200" dirty="0"/>
          </a:p>
        </p:txBody>
      </p:sp>
      <p:sp>
        <p:nvSpPr>
          <p:cNvPr id="28" name="R2_tag265"/>
          <p:cNvSpPr/>
          <p:nvPr/>
        </p:nvSpPr>
        <p:spPr>
          <a:xfrm>
            <a:off x="7178040" y="1956816"/>
            <a:ext cx="1691640" cy="475488"/>
          </a:xfrm>
          <a:prstGeom prst="roundRect">
            <a:avLst>
              <a:gd name="adj" fmla="val 48077"/>
            </a:avLst>
          </a:prstGeom>
          <a:solidFill>
            <a:srgbClr val="CFF2D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/əʊ/ phone</a:t>
            </a:r>
            <a:endParaRPr lang="en-US" sz="1150" dirty="0"/>
          </a:p>
        </p:txBody>
      </p:sp>
      <p:sp>
        <p:nvSpPr>
          <p:cNvPr id="29" name="sq_266"/>
          <p:cNvSpPr/>
          <p:nvPr/>
        </p:nvSpPr>
        <p:spPr>
          <a:xfrm>
            <a:off x="3246120" y="2496312"/>
            <a:ext cx="38404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smile</a:t>
            </a:r>
            <a:endParaRPr lang="en-US" sz="1200" dirty="0"/>
          </a:p>
        </p:txBody>
      </p:sp>
      <p:sp>
        <p:nvSpPr>
          <p:cNvPr id="30" name="R3_tag267"/>
          <p:cNvSpPr/>
          <p:nvPr/>
        </p:nvSpPr>
        <p:spPr>
          <a:xfrm>
            <a:off x="7178040" y="2496312"/>
            <a:ext cx="1691640" cy="475488"/>
          </a:xfrm>
          <a:prstGeom prst="roundRect">
            <a:avLst>
              <a:gd name="adj" fmla="val 48077"/>
            </a:avLst>
          </a:prstGeom>
          <a:solidFill>
            <a:srgbClr val="FFD1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/aɪ/ bike</a:t>
            </a:r>
            <a:endParaRPr lang="en-US" sz="1150" dirty="0"/>
          </a:p>
        </p:txBody>
      </p:sp>
      <p:sp>
        <p:nvSpPr>
          <p:cNvPr id="31" name="sq_268"/>
          <p:cNvSpPr/>
          <p:nvPr/>
        </p:nvSpPr>
        <p:spPr>
          <a:xfrm>
            <a:off x="3246120" y="3035808"/>
            <a:ext cx="38404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stare</a:t>
            </a:r>
            <a:endParaRPr lang="en-US" sz="1200" dirty="0"/>
          </a:p>
        </p:txBody>
      </p:sp>
      <p:sp>
        <p:nvSpPr>
          <p:cNvPr id="32" name="R4_tag269"/>
          <p:cNvSpPr/>
          <p:nvPr/>
        </p:nvSpPr>
        <p:spPr>
          <a:xfrm>
            <a:off x="7178040" y="3035808"/>
            <a:ext cx="1691640" cy="475488"/>
          </a:xfrm>
          <a:prstGeom prst="roundRect">
            <a:avLst>
              <a:gd name="adj" fmla="val 48077"/>
            </a:avLst>
          </a:prstGeom>
          <a:solidFill>
            <a:srgbClr val="E2D9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/eə/ chair</a:t>
            </a:r>
            <a:endParaRPr lang="en-US" sz="1150" dirty="0"/>
          </a:p>
        </p:txBody>
      </p:sp>
      <p:sp>
        <p:nvSpPr>
          <p:cNvPr id="33" name="sq_270"/>
          <p:cNvSpPr/>
          <p:nvPr/>
        </p:nvSpPr>
        <p:spPr>
          <a:xfrm>
            <a:off x="3246120" y="3575304"/>
            <a:ext cx="38404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throw</a:t>
            </a:r>
            <a:endParaRPr lang="en-US" sz="1200" dirty="0"/>
          </a:p>
        </p:txBody>
      </p:sp>
      <p:sp>
        <p:nvSpPr>
          <p:cNvPr id="34" name="R5_tag271"/>
          <p:cNvSpPr/>
          <p:nvPr/>
        </p:nvSpPr>
        <p:spPr>
          <a:xfrm>
            <a:off x="7178040" y="3575304"/>
            <a:ext cx="1691640" cy="475488"/>
          </a:xfrm>
          <a:prstGeom prst="roundRect">
            <a:avLst>
              <a:gd name="adj" fmla="val 48077"/>
            </a:avLst>
          </a:prstGeom>
          <a:solidFill>
            <a:srgbClr val="CFF2D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/əʊ/ phone</a:t>
            </a:r>
            <a:endParaRPr lang="en-US" sz="1150" dirty="0"/>
          </a:p>
        </p:txBody>
      </p:sp>
      <p:sp>
        <p:nvSpPr>
          <p:cNvPr id="35" name="sq_272"/>
          <p:cNvSpPr/>
          <p:nvPr/>
        </p:nvSpPr>
        <p:spPr>
          <a:xfrm>
            <a:off x="3246120" y="4114800"/>
            <a:ext cx="38404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toes</a:t>
            </a:r>
            <a:endParaRPr lang="en-US" sz="1200" dirty="0"/>
          </a:p>
        </p:txBody>
      </p:sp>
      <p:sp>
        <p:nvSpPr>
          <p:cNvPr id="36" name="R6_tag273"/>
          <p:cNvSpPr/>
          <p:nvPr/>
        </p:nvSpPr>
        <p:spPr>
          <a:xfrm>
            <a:off x="7178040" y="4114800"/>
            <a:ext cx="1691640" cy="475488"/>
          </a:xfrm>
          <a:prstGeom prst="roundRect">
            <a:avLst>
              <a:gd name="adj" fmla="val 48077"/>
            </a:avLst>
          </a:prstGeom>
          <a:solidFill>
            <a:srgbClr val="CFF2D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/əʊ/ phone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7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2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audio>
              <p:cMediaNode vol="80000">
                <p:cTn id="4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  <p:audio>
              <p:cMediaNode vol="80000">
                <p:cTn id="4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74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9</a:t>
            </a:r>
            <a:endParaRPr lang="en-US" sz="2800" dirty="0"/>
          </a:p>
        </p:txBody>
      </p:sp>
      <p:pic>
        <p:nvPicPr>
          <p:cNvPr id="4" name="brY_275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506163" cy="621792"/>
          </a:xfrm>
          <a:prstGeom prst="rect">
            <a:avLst/>
          </a:prstGeom>
        </p:spPr>
      </p:pic>
      <p:sp>
        <p:nvSpPr>
          <p:cNvPr id="5" name="title_276"/>
          <p:cNvSpPr/>
          <p:nvPr/>
        </p:nvSpPr>
        <p:spPr>
          <a:xfrm>
            <a:off x="1261872" y="164592"/>
            <a:ext cx="42318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does your body say?</a:t>
            </a:r>
            <a:endParaRPr lang="en-US" sz="2400" dirty="0"/>
          </a:p>
        </p:txBody>
      </p:sp>
      <p:pic>
        <p:nvPicPr>
          <p:cNvPr id="6" name="brP_277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814316" cy="402336"/>
          </a:xfrm>
          <a:prstGeom prst="rect">
            <a:avLst/>
          </a:prstGeom>
        </p:spPr>
      </p:pic>
      <p:sp>
        <p:nvSpPr>
          <p:cNvPr id="7" name="ins_278"/>
          <p:cNvSpPr/>
          <p:nvPr/>
        </p:nvSpPr>
        <p:spPr>
          <a:xfrm>
            <a:off x="1353312" y="731520"/>
            <a:ext cx="45582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Ask and answer with a partner. Use the phrases!</a:t>
            </a:r>
            <a:endParaRPr lang="en-US" sz="1250" dirty="0"/>
          </a:p>
        </p:txBody>
      </p:sp>
      <p:sp>
        <p:nvSpPr>
          <p:cNvPr id="8" name="insIT_279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Fai domande e rispondi con un compagno. Usa le frasi!</a:t>
            </a:r>
            <a:endParaRPr lang="en-US" sz="950" dirty="0"/>
          </a:p>
        </p:txBody>
      </p:sp>
      <p:sp>
        <p:nvSpPr>
          <p:cNvPr id="9" name="note_280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PARLA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 · Communicative</a:t>
            </a:r>
            <a:endParaRPr lang="en-US" sz="1250" dirty="0"/>
          </a:p>
        </p:txBody>
      </p:sp>
      <p:pic>
        <p:nvPicPr>
          <p:cNvPr id="10" name="logo_281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82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6B-2 · Speaking · body language and you   ·   📖 Personalisation before reading (PQA)</a:t>
            </a:r>
            <a:endParaRPr lang="en-US" sz="800" dirty="0"/>
          </a:p>
        </p:txBody>
      </p:sp>
      <p:sp>
        <p:nvSpPr>
          <p:cNvPr id="12" name="pf_283"/>
          <p:cNvSpPr/>
          <p:nvPr/>
        </p:nvSpPr>
        <p:spPr>
          <a:xfrm rot="-120000">
            <a:off x="742588" y="1371600"/>
            <a:ext cx="1943824" cy="1325880"/>
          </a:xfrm>
          <a:prstGeom prst="roundRect">
            <a:avLst>
              <a:gd name="adj" fmla="val 117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3" name="ph_284" descr="/home/claude/lls-course/v2/cache/4a2_meet_parents_jpg_446x297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788308" y="1417320"/>
            <a:ext cx="1852384" cy="1234440"/>
          </a:xfrm>
          <a:prstGeom prst="rect">
            <a:avLst/>
          </a:prstGeom>
        </p:spPr>
      </p:pic>
      <p:sp>
        <p:nvSpPr>
          <p:cNvPr id="14" name="cd_285"/>
          <p:cNvSpPr/>
          <p:nvPr/>
        </p:nvSpPr>
        <p:spPr>
          <a:xfrm>
            <a:off x="320040" y="2880360"/>
            <a:ext cx="2788920" cy="1874520"/>
          </a:xfrm>
          <a:prstGeom prst="roundRect">
            <a:avLst>
              <a:gd name="adj" fmla="val 6829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286"/>
          <p:cNvSpPr/>
          <p:nvPr/>
        </p:nvSpPr>
        <p:spPr>
          <a:xfrm>
            <a:off x="41148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6" name="ih_287"/>
          <p:cNvSpPr/>
          <p:nvPr/>
        </p:nvSpPr>
        <p:spPr>
          <a:xfrm>
            <a:off x="886968" y="2971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Useful phrases</a:t>
            </a:r>
            <a:endParaRPr lang="en-US" sz="1300" dirty="0"/>
          </a:p>
        </p:txBody>
      </p:sp>
      <p:sp>
        <p:nvSpPr>
          <p:cNvPr id="17" name="il_288"/>
          <p:cNvSpPr/>
          <p:nvPr/>
        </p:nvSpPr>
        <p:spPr>
          <a:xfrm>
            <a:off x="886968" y="3374136"/>
            <a:ext cx="2130552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When I'm nervous, I usually…</a:t>
            </a:r>
            <a:endParaRPr lang="en-US" sz="10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(don't) make eye contact when…</a:t>
            </a:r>
            <a:endParaRPr lang="en-US" sz="10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think … has charisma because…</a:t>
            </a:r>
            <a:endParaRPr lang="en-US" sz="10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 too! / Really? I don't.</a:t>
            </a:r>
            <a:endParaRPr lang="en-US" sz="1000" dirty="0"/>
          </a:p>
        </p:txBody>
      </p:sp>
      <p:sp>
        <p:nvSpPr>
          <p:cNvPr id="18" name="R1_qb289"/>
          <p:cNvSpPr/>
          <p:nvPr/>
        </p:nvSpPr>
        <p:spPr>
          <a:xfrm>
            <a:off x="3273552" y="1453896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R1_sq290"/>
          <p:cNvSpPr/>
          <p:nvPr/>
        </p:nvSpPr>
        <p:spPr>
          <a:xfrm>
            <a:off x="3675888" y="1417320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you smile a lot when you meet new people?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Yes, but only when I'm not nervous.</a:t>
            </a:r>
            <a:endParaRPr lang="en-US" sz="1250" dirty="0"/>
          </a:p>
        </p:txBody>
      </p:sp>
      <p:sp>
        <p:nvSpPr>
          <p:cNvPr id="20" name="R2_qb291"/>
          <p:cNvSpPr/>
          <p:nvPr/>
        </p:nvSpPr>
        <p:spPr>
          <a:xfrm>
            <a:off x="3273552" y="2057400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R2_sq292"/>
          <p:cNvSpPr/>
          <p:nvPr/>
        </p:nvSpPr>
        <p:spPr>
          <a:xfrm>
            <a:off x="3675888" y="2020824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When do you cross your arms?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When I'm cold – or bored!</a:t>
            </a:r>
            <a:endParaRPr lang="en-US" sz="1250" dirty="0"/>
          </a:p>
        </p:txBody>
      </p:sp>
      <p:sp>
        <p:nvSpPr>
          <p:cNvPr id="22" name="R3_qb293"/>
          <p:cNvSpPr/>
          <p:nvPr/>
        </p:nvSpPr>
        <p:spPr>
          <a:xfrm>
            <a:off x="3273552" y="2660904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R3_sq294"/>
          <p:cNvSpPr/>
          <p:nvPr/>
        </p:nvSpPr>
        <p:spPr>
          <a:xfrm>
            <a:off x="3675888" y="2624328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you look people in the eye when you talk to a teacher?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Not really, I usually look down.</a:t>
            </a:r>
            <a:endParaRPr lang="en-US" sz="1250" dirty="0"/>
          </a:p>
        </p:txBody>
      </p:sp>
      <p:sp>
        <p:nvSpPr>
          <p:cNvPr id="24" name="R4_qb295"/>
          <p:cNvSpPr/>
          <p:nvPr/>
        </p:nvSpPr>
        <p:spPr>
          <a:xfrm>
            <a:off x="3273552" y="3264408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R4_sq296"/>
          <p:cNvSpPr/>
          <p:nvPr/>
        </p:nvSpPr>
        <p:spPr>
          <a:xfrm>
            <a:off x="3675888" y="3227832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do YOU do with your hands when you're nervous?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I touch my hair all the time.</a:t>
            </a:r>
            <a:endParaRPr lang="en-US" sz="12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9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7B5CD6"/>
          </a:solidFill>
          <a:ln w="28575">
            <a:solidFill>
              <a:srgbClr val="CDBFF3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10</a:t>
            </a:r>
            <a:endParaRPr lang="en-US" sz="2200" dirty="0"/>
          </a:p>
        </p:txBody>
      </p:sp>
      <p:pic>
        <p:nvPicPr>
          <p:cNvPr id="4" name="brY_29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247949" cy="621792"/>
          </a:xfrm>
          <a:prstGeom prst="rect">
            <a:avLst/>
          </a:prstGeom>
        </p:spPr>
      </p:pic>
      <p:sp>
        <p:nvSpPr>
          <p:cNvPr id="5" name="title_299"/>
          <p:cNvSpPr/>
          <p:nvPr/>
        </p:nvSpPr>
        <p:spPr>
          <a:xfrm>
            <a:off x="1261872" y="164592"/>
            <a:ext cx="297362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Dario's big solo</a:t>
            </a:r>
            <a:endParaRPr lang="en-US" sz="2500" dirty="0"/>
          </a:p>
        </p:txBody>
      </p:sp>
      <p:pic>
        <p:nvPicPr>
          <p:cNvPr id="6" name="brP_30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379976" cy="402336"/>
          </a:xfrm>
          <a:prstGeom prst="rect">
            <a:avLst/>
          </a:prstGeom>
        </p:spPr>
      </p:pic>
      <p:sp>
        <p:nvSpPr>
          <p:cNvPr id="7" name="ins_301"/>
          <p:cNvSpPr/>
          <p:nvPr/>
        </p:nvSpPr>
        <p:spPr>
          <a:xfrm>
            <a:off x="1353312" y="731520"/>
            <a:ext cx="4123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 to the story. Answer the questions!</a:t>
            </a:r>
            <a:endParaRPr lang="en-US" sz="1250" dirty="0"/>
          </a:p>
        </p:txBody>
      </p:sp>
      <p:sp>
        <p:nvSpPr>
          <p:cNvPr id="8" name="insIT_302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Ascolta la storia. Rispondi alle domande!</a:t>
            </a:r>
            <a:endParaRPr lang="en-US" sz="950" dirty="0"/>
          </a:p>
        </p:txBody>
      </p:sp>
      <p:sp>
        <p:nvSpPr>
          <p:cNvPr id="9" name="note_303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👀 READ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🙋 whole class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 · TPRS · story</a:t>
            </a:r>
            <a:endParaRPr lang="en-US" sz="1150" dirty="0"/>
          </a:p>
        </p:txBody>
      </p:sp>
      <p:pic>
        <p:nvPicPr>
          <p:cNvPr id="10" name="logo_304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305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6B-2 · Speaking · class story (TPRS)</a:t>
            </a:r>
            <a:endParaRPr lang="en-US" sz="800" dirty="0"/>
          </a:p>
        </p:txBody>
      </p:sp>
      <p:sp>
        <p:nvSpPr>
          <p:cNvPr id="12" name="pf_306"/>
          <p:cNvSpPr/>
          <p:nvPr/>
        </p:nvSpPr>
        <p:spPr>
          <a:xfrm rot="-90000">
            <a:off x="411480" y="1417320"/>
            <a:ext cx="2560320" cy="1280160"/>
          </a:xfrm>
          <a:prstGeom prst="roundRect">
            <a:avLst>
              <a:gd name="adj" fmla="val 12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3" name="ph_307" descr="/home/claude/lls-course/v2/cache/6B_2_people_jpg_594x286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90000">
            <a:off x="457200" y="1463040"/>
            <a:ext cx="2468880" cy="1188720"/>
          </a:xfrm>
          <a:prstGeom prst="rect">
            <a:avLst/>
          </a:prstGeom>
        </p:spPr>
      </p:pic>
      <p:sp>
        <p:nvSpPr>
          <p:cNvPr id="14" name="cd_308"/>
          <p:cNvSpPr/>
          <p:nvPr/>
        </p:nvSpPr>
        <p:spPr>
          <a:xfrm>
            <a:off x="320040" y="2834640"/>
            <a:ext cx="2697480" cy="1920240"/>
          </a:xfrm>
          <a:prstGeom prst="roundRect">
            <a:avLst>
              <a:gd name="adj" fmla="val 6667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309"/>
          <p:cNvSpPr/>
          <p:nvPr/>
        </p:nvSpPr>
        <p:spPr>
          <a:xfrm>
            <a:off x="411480" y="2907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16" name="ih_310"/>
          <p:cNvSpPr/>
          <p:nvPr/>
        </p:nvSpPr>
        <p:spPr>
          <a:xfrm>
            <a:off x="886968" y="29260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Story phrases</a:t>
            </a:r>
            <a:endParaRPr lang="en-US" sz="1300" dirty="0"/>
          </a:p>
        </p:txBody>
      </p:sp>
      <p:sp>
        <p:nvSpPr>
          <p:cNvPr id="17" name="il_311"/>
          <p:cNvSpPr/>
          <p:nvPr/>
        </p:nvSpPr>
        <p:spPr>
          <a:xfrm>
            <a:off x="886968" y="3328416"/>
            <a:ext cx="203911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bite (your nails)</a:t>
            </a:r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– mangiarsi (le unghie)</a:t>
            </a:r>
            <a:endParaRPr lang="en-US" sz="7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7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knees · stomach · toes</a:t>
            </a:r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– ginocchia · stomaco · dita dei piedi</a:t>
            </a:r>
            <a:endParaRPr lang="en-US" sz="7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7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whistle · lips</a:t>
            </a:r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– fischiare · labbra</a:t>
            </a:r>
            <a:endParaRPr lang="en-US" sz="7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7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stare at · point at</a:t>
            </a:r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– fissare · indicare</a:t>
            </a:r>
            <a:endParaRPr lang="en-US" sz="7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7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clap · nod</a:t>
            </a:r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– applaudire · annuire</a:t>
            </a:r>
            <a:endParaRPr lang="en-US" sz="7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7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chin · shoulders</a:t>
            </a:r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– mento · spalle</a:t>
            </a:r>
            <a:endParaRPr lang="en-US" sz="750" dirty="0"/>
          </a:p>
        </p:txBody>
      </p:sp>
      <p:sp>
        <p:nvSpPr>
          <p:cNvPr id="18" name="R1_sb312"/>
          <p:cNvSpPr/>
          <p:nvPr/>
        </p:nvSpPr>
        <p:spPr>
          <a:xfrm>
            <a:off x="3200400" y="1453896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R1_sl313"/>
          <p:cNvSpPr/>
          <p:nvPr/>
        </p:nvSpPr>
        <p:spPr>
          <a:xfrm>
            <a:off x="3584448" y="1417320"/>
            <a:ext cx="5303520" cy="499872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Dario has a trumpet solo at the school concert. He's so nervous he </a:t>
            </a:r>
            <a:pPr indent="0" marL="0">
              <a:buNone/>
            </a:pPr>
            <a:r>
              <a:rPr lang="en-US" sz="90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bites</a:t>
            </a:r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his nails.</a:t>
            </a:r>
            <a:endParaRPr lang="en-US" sz="900" dirty="0"/>
          </a:p>
          <a:p>
            <a:pPr indent="0" marL="0">
              <a:buNone/>
            </a:pPr>
            <a:r>
              <a:rPr lang="en-US" sz="7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❓ Is Dario nervous or relaxed? · What does he bite?</a:t>
            </a:r>
            <a:endParaRPr lang="en-US" sz="900" dirty="0"/>
          </a:p>
        </p:txBody>
      </p:sp>
      <p:sp>
        <p:nvSpPr>
          <p:cNvPr id="20" name="R2_sb314"/>
          <p:cNvSpPr/>
          <p:nvPr/>
        </p:nvSpPr>
        <p:spPr>
          <a:xfrm>
            <a:off x="3200400" y="2017776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R2_sl315"/>
          <p:cNvSpPr/>
          <p:nvPr/>
        </p:nvSpPr>
        <p:spPr>
          <a:xfrm>
            <a:off x="3584448" y="1981200"/>
            <a:ext cx="5303520" cy="499872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His </a:t>
            </a:r>
            <a:pPr indent="0" marL="0">
              <a:buNone/>
            </a:pPr>
            <a:r>
              <a:rPr lang="en-US" sz="11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knees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shake and his </a:t>
            </a:r>
            <a:pPr indent="0" marL="0">
              <a:buNone/>
            </a:pPr>
            <a:r>
              <a:rPr lang="en-US" sz="11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stomach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hurts. He can't feel his </a:t>
            </a:r>
            <a:pPr indent="0" marL="0">
              <a:buNone/>
            </a:pPr>
            <a:r>
              <a:rPr lang="en-US" sz="11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toes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!</a:t>
            </a:r>
            <a:endParaRPr lang="en-US" sz="1150" dirty="0"/>
          </a:p>
          <a:p>
            <a:pPr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❓ Do his knees shake? · What hurts – his head or his stomach?</a:t>
            </a:r>
            <a:endParaRPr lang="en-US" sz="1150" dirty="0"/>
          </a:p>
        </p:txBody>
      </p:sp>
      <p:sp>
        <p:nvSpPr>
          <p:cNvPr id="22" name="R3_sb316"/>
          <p:cNvSpPr/>
          <p:nvPr/>
        </p:nvSpPr>
        <p:spPr>
          <a:xfrm>
            <a:off x="3200400" y="2581656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R3_sl317"/>
          <p:cNvSpPr/>
          <p:nvPr/>
        </p:nvSpPr>
        <p:spPr>
          <a:xfrm>
            <a:off x="3584448" y="2545080"/>
            <a:ext cx="5303520" cy="499872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 stage, he can't play a note. So he </a:t>
            </a:r>
            <a:pPr indent="0" marL="0">
              <a:buNone/>
            </a:pPr>
            <a:r>
              <a:rPr lang="en-US" sz="10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whistles</a:t>
            </a:r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the song with his </a:t>
            </a:r>
            <a:pPr indent="0" marL="0">
              <a:buNone/>
            </a:pPr>
            <a:r>
              <a:rPr lang="en-US" sz="10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lips</a:t>
            </a:r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!</a:t>
            </a:r>
            <a:endParaRPr lang="en-US" sz="1050" dirty="0"/>
          </a:p>
          <a:p>
            <a:pPr indent="0" marL="0">
              <a:buNone/>
            </a:pPr>
            <a:r>
              <a:rPr lang="en-US" sz="8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❓ Does he play or whistle? · What does he whistle with?</a:t>
            </a:r>
            <a:endParaRPr lang="en-US" sz="1050" dirty="0"/>
          </a:p>
        </p:txBody>
      </p:sp>
      <p:sp>
        <p:nvSpPr>
          <p:cNvPr id="24" name="R4_sb318"/>
          <p:cNvSpPr/>
          <p:nvPr/>
        </p:nvSpPr>
        <p:spPr>
          <a:xfrm>
            <a:off x="3200400" y="3145536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R4_sl319"/>
          <p:cNvSpPr/>
          <p:nvPr/>
        </p:nvSpPr>
        <p:spPr>
          <a:xfrm>
            <a:off x="3584448" y="3108960"/>
            <a:ext cx="5303520" cy="499872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boy in the front row </a:t>
            </a:r>
            <a:pPr indent="0" marL="0">
              <a:buNone/>
            </a:pPr>
            <a:r>
              <a:rPr lang="en-US" sz="11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stares at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him and </a:t>
            </a:r>
            <a:pPr indent="0" marL="0">
              <a:buNone/>
            </a:pPr>
            <a:r>
              <a:rPr lang="en-US" sz="11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points at</a:t>
            </a:r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his trousers.</a:t>
            </a:r>
            <a:endParaRPr lang="en-US" sz="1150" dirty="0"/>
          </a:p>
          <a:p>
            <a:pPr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❓ Does the boy stare or smile? · What does he point at?</a:t>
            </a:r>
            <a:endParaRPr lang="en-US" sz="1150" dirty="0"/>
          </a:p>
        </p:txBody>
      </p:sp>
      <p:sp>
        <p:nvSpPr>
          <p:cNvPr id="26" name="R5_sb320"/>
          <p:cNvSpPr/>
          <p:nvPr/>
        </p:nvSpPr>
        <p:spPr>
          <a:xfrm>
            <a:off x="3200400" y="3709416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R5_sl321"/>
          <p:cNvSpPr/>
          <p:nvPr/>
        </p:nvSpPr>
        <p:spPr>
          <a:xfrm>
            <a:off x="3584448" y="3672840"/>
            <a:ext cx="5303520" cy="499872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Oh no! Dario's trousers are on back to front! But everybody </a:t>
            </a:r>
            <a:pPr indent="0" marL="0">
              <a:buNone/>
            </a:pPr>
            <a:r>
              <a:rPr lang="en-US" sz="110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claps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.</a:t>
            </a:r>
            <a:endParaRPr lang="en-US" sz="1100" dirty="0"/>
          </a:p>
          <a:p>
            <a:pPr indent="0" marL="0">
              <a:buNone/>
            </a:pPr>
            <a:r>
              <a:rPr lang="en-US" sz="8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❓ Are his trousers OK? · Does everybody clap or laugh?</a:t>
            </a:r>
            <a:endParaRPr lang="en-US" sz="1100" dirty="0"/>
          </a:p>
        </p:txBody>
      </p:sp>
      <p:sp>
        <p:nvSpPr>
          <p:cNvPr id="28" name="R6_sb322"/>
          <p:cNvSpPr/>
          <p:nvPr/>
        </p:nvSpPr>
        <p:spPr>
          <a:xfrm>
            <a:off x="3200400" y="4273296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000" dirty="0"/>
          </a:p>
        </p:txBody>
      </p:sp>
      <p:sp>
        <p:nvSpPr>
          <p:cNvPr id="29" name="R6_sl323"/>
          <p:cNvSpPr/>
          <p:nvPr/>
        </p:nvSpPr>
        <p:spPr>
          <a:xfrm>
            <a:off x="3584448" y="4236720"/>
            <a:ext cx="5303520" cy="499872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Dario lifts his </a:t>
            </a:r>
            <a:pPr indent="0" marL="0">
              <a:buNone/>
            </a:pPr>
            <a:r>
              <a:rPr lang="en-US" sz="10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chin</a:t>
            </a:r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, moves his </a:t>
            </a:r>
            <a:pPr indent="0" marL="0">
              <a:buNone/>
            </a:pPr>
            <a:r>
              <a:rPr lang="en-US" sz="10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shoulders</a:t>
            </a:r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back and </a:t>
            </a:r>
            <a:pPr indent="0" marL="0">
              <a:buNone/>
            </a:pPr>
            <a:r>
              <a:rPr lang="en-US" sz="10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nods</a:t>
            </a:r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: 'Thank you!'</a:t>
            </a:r>
            <a:endParaRPr lang="en-US" sz="1050" dirty="0"/>
          </a:p>
          <a:p>
            <a:pPr indent="0" marL="0">
              <a:buNone/>
            </a:pPr>
            <a:r>
              <a:rPr lang="en-US" sz="8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❓ Is Dario sad or proud? · And you – what do you do when you're nervous?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24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11</a:t>
            </a:r>
            <a:endParaRPr lang="en-US" sz="2200" dirty="0"/>
          </a:p>
        </p:txBody>
      </p:sp>
      <p:pic>
        <p:nvPicPr>
          <p:cNvPr id="4" name="brY_325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348886" cy="621792"/>
          </a:xfrm>
          <a:prstGeom prst="rect">
            <a:avLst/>
          </a:prstGeom>
        </p:spPr>
      </p:pic>
      <p:sp>
        <p:nvSpPr>
          <p:cNvPr id="5" name="title_326"/>
          <p:cNvSpPr/>
          <p:nvPr/>
        </p:nvSpPr>
        <p:spPr>
          <a:xfrm>
            <a:off x="1261872" y="164592"/>
            <a:ext cx="40745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Can you learn charisma?</a:t>
            </a:r>
            <a:endParaRPr lang="en-US" sz="2400" dirty="0"/>
          </a:p>
        </p:txBody>
      </p:sp>
      <p:pic>
        <p:nvPicPr>
          <p:cNvPr id="6" name="brP_327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511296" cy="402336"/>
          </a:xfrm>
          <a:prstGeom prst="rect">
            <a:avLst/>
          </a:prstGeom>
        </p:spPr>
      </p:pic>
      <p:sp>
        <p:nvSpPr>
          <p:cNvPr id="7" name="ins_328"/>
          <p:cNvSpPr/>
          <p:nvPr/>
        </p:nvSpPr>
        <p:spPr>
          <a:xfrm>
            <a:off x="1353312" y="731520"/>
            <a:ext cx="3255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Guess! What do the numbers mean?</a:t>
            </a:r>
            <a:endParaRPr lang="en-US" sz="1250" dirty="0"/>
          </a:p>
        </p:txBody>
      </p:sp>
      <p:sp>
        <p:nvSpPr>
          <p:cNvPr id="8" name="insIT_329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Indovina! Cosa significano i numeri?</a:t>
            </a:r>
            <a:endParaRPr lang="en-US" sz="950" dirty="0"/>
          </a:p>
        </p:txBody>
      </p:sp>
      <p:sp>
        <p:nvSpPr>
          <p:cNvPr id="9" name="note_330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PENSA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2 min   👥 pairs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Reading · Prediction</a:t>
            </a:r>
            <a:endParaRPr lang="en-US" sz="1250" dirty="0"/>
          </a:p>
        </p:txBody>
      </p:sp>
      <p:pic>
        <p:nvPicPr>
          <p:cNvPr id="10" name="logo_331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332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6B-2 · Reading · prediction   ·   📖 SB p.62 · 5a, 5b</a:t>
            </a:r>
            <a:endParaRPr lang="en-US" sz="800" dirty="0"/>
          </a:p>
        </p:txBody>
      </p:sp>
      <p:sp>
        <p:nvSpPr>
          <p:cNvPr id="12" name="cd_333"/>
          <p:cNvSpPr/>
          <p:nvPr/>
        </p:nvSpPr>
        <p:spPr>
          <a:xfrm>
            <a:off x="320040" y="1417320"/>
            <a:ext cx="502920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hl_334"/>
          <p:cNvSpPr/>
          <p:nvPr/>
        </p:nvSpPr>
        <p:spPr>
          <a:xfrm>
            <a:off x="502920" y="15087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Charisma</a:t>
            </a:r>
            <a:endParaRPr lang="en-US" sz="2800" dirty="0"/>
          </a:p>
        </p:txBody>
      </p:sp>
      <p:sp>
        <p:nvSpPr>
          <p:cNvPr id="14" name="nx_335"/>
          <p:cNvSpPr/>
          <p:nvPr/>
        </p:nvSpPr>
        <p:spPr>
          <a:xfrm>
            <a:off x="457200" y="2807208"/>
            <a:ext cx="4754880" cy="512064"/>
          </a:xfrm>
          <a:prstGeom prst="roundRect">
            <a:avLst>
              <a:gd name="adj" fmla="val 17857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EB872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➡ NEXT  </a:t>
            </a:r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man is a journalist, one is a charisma coach. Who's who? Why?</a:t>
            </a:r>
            <a:endParaRPr lang="en-US" sz="1000" dirty="0"/>
          </a:p>
        </p:txBody>
      </p:sp>
      <p:sp>
        <p:nvSpPr>
          <p:cNvPr id="15" name="sf_336"/>
          <p:cNvSpPr/>
          <p:nvPr/>
        </p:nvSpPr>
        <p:spPr>
          <a:xfrm>
            <a:off x="521208" y="2039112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i="1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charisma /ˈkærɪzmə/ = the powerful personal quality that some people have which attracts and impresses other people</a:t>
            </a:r>
            <a:endParaRPr lang="en-US" sz="1150" dirty="0"/>
          </a:p>
        </p:txBody>
      </p:sp>
      <p:sp>
        <p:nvSpPr>
          <p:cNvPr id="16" name="nbl_337"/>
          <p:cNvSpPr/>
          <p:nvPr/>
        </p:nvSpPr>
        <p:spPr>
          <a:xfrm>
            <a:off x="365760" y="35661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🔢 NUMBER BANK · guess what they mean!</a:t>
            </a:r>
            <a:endParaRPr lang="en-US" sz="1100" dirty="0"/>
          </a:p>
        </p:txBody>
      </p:sp>
      <p:sp>
        <p:nvSpPr>
          <p:cNvPr id="17" name="bd_338"/>
          <p:cNvSpPr/>
          <p:nvPr/>
        </p:nvSpPr>
        <p:spPr>
          <a:xfrm>
            <a:off x="365760" y="3931920"/>
            <a:ext cx="548640" cy="548640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£150</a:t>
            </a:r>
            <a:endParaRPr lang="en-US" sz="800" dirty="0"/>
          </a:p>
        </p:txBody>
      </p:sp>
      <p:sp>
        <p:nvSpPr>
          <p:cNvPr id="18" name="bd_339"/>
          <p:cNvSpPr/>
          <p:nvPr/>
        </p:nvSpPr>
        <p:spPr>
          <a:xfrm>
            <a:off x="987552" y="3931920"/>
            <a:ext cx="548640" cy="548640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bd_340"/>
          <p:cNvSpPr/>
          <p:nvPr/>
        </p:nvSpPr>
        <p:spPr>
          <a:xfrm>
            <a:off x="1609344" y="3931920"/>
            <a:ext cx="548640" cy="548640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pf_341"/>
          <p:cNvSpPr/>
          <p:nvPr/>
        </p:nvSpPr>
        <p:spPr>
          <a:xfrm rot="90000">
            <a:off x="5577840" y="1234440"/>
            <a:ext cx="3246120" cy="3383280"/>
          </a:xfrm>
          <a:prstGeom prst="roundRect">
            <a:avLst>
              <a:gd name="adj" fmla="val 47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21" name="ph_342" descr="/home/claude/lls-course/v2/cache/6B_2_colin_jpg_759x792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90000">
            <a:off x="5623560" y="1280160"/>
            <a:ext cx="3154680" cy="329184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43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12</a:t>
            </a:r>
            <a:endParaRPr lang="en-US" sz="2200" dirty="0"/>
          </a:p>
        </p:txBody>
      </p:sp>
      <p:pic>
        <p:nvPicPr>
          <p:cNvPr id="4" name="brY_344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5760720" cy="621792"/>
          </a:xfrm>
          <a:prstGeom prst="rect">
            <a:avLst/>
          </a:prstGeom>
        </p:spPr>
      </p:pic>
      <p:sp>
        <p:nvSpPr>
          <p:cNvPr id="5" name="title_345"/>
          <p:cNvSpPr/>
          <p:nvPr/>
        </p:nvSpPr>
        <p:spPr>
          <a:xfrm>
            <a:off x="1261872" y="164592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Can you learn charisma? · the article</a:t>
            </a:r>
            <a:endParaRPr lang="en-US" sz="2250" dirty="0"/>
          </a:p>
        </p:txBody>
      </p:sp>
      <p:pic>
        <p:nvPicPr>
          <p:cNvPr id="6" name="brP_346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379976" cy="402336"/>
          </a:xfrm>
          <a:prstGeom prst="rect">
            <a:avLst/>
          </a:prstGeom>
        </p:spPr>
      </p:pic>
      <p:sp>
        <p:nvSpPr>
          <p:cNvPr id="7" name="ins_347"/>
          <p:cNvSpPr/>
          <p:nvPr/>
        </p:nvSpPr>
        <p:spPr>
          <a:xfrm>
            <a:off x="1353312" y="731520"/>
            <a:ext cx="4123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Read. Check your guesses. Who's the coach?</a:t>
            </a:r>
            <a:endParaRPr lang="en-US" sz="1250" dirty="0"/>
          </a:p>
        </p:txBody>
      </p:sp>
      <p:sp>
        <p:nvSpPr>
          <p:cNvPr id="8" name="insIT_348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Leggi. Controlla. Chi è il coach?</a:t>
            </a:r>
            <a:endParaRPr lang="en-US" sz="950" dirty="0"/>
          </a:p>
        </p:txBody>
      </p:sp>
      <p:sp>
        <p:nvSpPr>
          <p:cNvPr id="9" name="note_349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👀 READ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LEGGI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👤 alone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Reading · TPRS · reading</a:t>
            </a:r>
            <a:endParaRPr lang="en-US" sz="1250" dirty="0"/>
          </a:p>
        </p:txBody>
      </p:sp>
      <p:pic>
        <p:nvPicPr>
          <p:cNvPr id="10" name="logo_350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351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6B-2 · Reading · the journalist's article   ·   📖 SB p.63 · 5c</a:t>
            </a:r>
            <a:endParaRPr lang="en-US" sz="800" dirty="0"/>
          </a:p>
        </p:txBody>
      </p:sp>
      <p:sp>
        <p:nvSpPr>
          <p:cNvPr id="12" name="cd_352"/>
          <p:cNvSpPr/>
          <p:nvPr/>
        </p:nvSpPr>
        <p:spPr>
          <a:xfrm>
            <a:off x="320040" y="1417320"/>
            <a:ext cx="5715000" cy="3337560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sh_353"/>
          <p:cNvSpPr/>
          <p:nvPr/>
        </p:nvSpPr>
        <p:spPr>
          <a:xfrm>
            <a:off x="320040" y="1417320"/>
            <a:ext cx="5715000" cy="438912"/>
          </a:xfrm>
          <a:prstGeom prst="rect">
            <a:avLst/>
          </a:prstGeom>
          <a:solidFill>
            <a:srgbClr val="E3F7EA"/>
          </a:solidFill>
          <a:ln/>
        </p:spPr>
        <p:txBody>
          <a:bodyPr wrap="square" lIns="203200" tIns="0" rIns="20320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Colin Drury and Danish Sheikh</a:t>
            </a:r>
            <a:endParaRPr lang="en-US" sz="1700" dirty="0"/>
          </a:p>
        </p:txBody>
      </p:sp>
      <p:sp>
        <p:nvSpPr>
          <p:cNvPr id="14" name="ln_354"/>
          <p:cNvSpPr/>
          <p:nvPr/>
        </p:nvSpPr>
        <p:spPr>
          <a:xfrm>
            <a:off x="548640" y="1920240"/>
            <a:ext cx="5349240" cy="45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the 21st century, charisma is the quality that people in all fields of life would most like to have. But can you learn it?</a:t>
            </a:r>
            <a:endParaRPr lang="en-US" sz="950" dirty="0"/>
          </a:p>
        </p:txBody>
      </p:sp>
      <p:sp>
        <p:nvSpPr>
          <p:cNvPr id="15" name="ln_355"/>
          <p:cNvSpPr/>
          <p:nvPr/>
        </p:nvSpPr>
        <p:spPr>
          <a:xfrm>
            <a:off x="548640" y="2377140"/>
            <a:ext cx="5349240" cy="32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man I have just met thinks so. His name is Danish Sheikh, and he is a charisma coach.</a:t>
            </a:r>
            <a:endParaRPr lang="en-US" sz="950" dirty="0"/>
          </a:p>
        </p:txBody>
      </p:sp>
      <p:sp>
        <p:nvSpPr>
          <p:cNvPr id="16" name="ln_356"/>
          <p:cNvSpPr/>
          <p:nvPr/>
        </p:nvSpPr>
        <p:spPr>
          <a:xfrm>
            <a:off x="548640" y="2702453"/>
            <a:ext cx="5349240" cy="376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 has worked with Microsoft, Yahoo, and the BBC, and he thinks he can turn anyone into George Clooney.</a:t>
            </a:r>
            <a:endParaRPr lang="en-US" sz="950" dirty="0"/>
          </a:p>
        </p:txBody>
      </p:sp>
      <p:sp>
        <p:nvSpPr>
          <p:cNvPr id="17" name="ln_357"/>
          <p:cNvSpPr/>
          <p:nvPr/>
        </p:nvSpPr>
        <p:spPr>
          <a:xfrm>
            <a:off x="548640" y="3078939"/>
            <a:ext cx="5349240" cy="380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 charges £150 an hour, and plenty of people are paying. And for two days, I'm going to be his student.</a:t>
            </a:r>
            <a:endParaRPr lang="en-US" sz="950" dirty="0"/>
          </a:p>
        </p:txBody>
      </p:sp>
      <p:sp>
        <p:nvSpPr>
          <p:cNvPr id="18" name="ln_358"/>
          <p:cNvSpPr/>
          <p:nvPr/>
        </p:nvSpPr>
        <p:spPr>
          <a:xfrm>
            <a:off x="548640" y="3459081"/>
            <a:ext cx="5349240" cy="47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Yesterday, he followed me everywhere and watched how I behaved with people – in shops, at the hairdresser's, and in work meetings.</a:t>
            </a:r>
            <a:endParaRPr lang="en-US" sz="950" dirty="0"/>
          </a:p>
        </p:txBody>
      </p:sp>
      <p:sp>
        <p:nvSpPr>
          <p:cNvPr id="19" name="ln_359"/>
          <p:cNvSpPr/>
          <p:nvPr/>
        </p:nvSpPr>
        <p:spPr>
          <a:xfrm>
            <a:off x="548640" y="3934257"/>
            <a:ext cx="5349240" cy="504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 impressions of me are not good: I can't make conversation, I have negative body language, and I don't smile enough. I also seem bored.</a:t>
            </a:r>
            <a:endParaRPr lang="en-US" sz="950" dirty="0"/>
          </a:p>
        </p:txBody>
      </p:sp>
      <p:sp>
        <p:nvSpPr>
          <p:cNvPr id="20" name="ln_360"/>
          <p:cNvSpPr/>
          <p:nvPr/>
        </p:nvSpPr>
        <p:spPr>
          <a:xfrm>
            <a:off x="548640" y="4438675"/>
            <a:ext cx="5349240" cy="27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'But don't worry!' Sheikh says, cheerfully. 'We're going to fix all this.'</a:t>
            </a:r>
            <a:endParaRPr lang="en-US" sz="950" dirty="0"/>
          </a:p>
        </p:txBody>
      </p:sp>
      <p:sp>
        <p:nvSpPr>
          <p:cNvPr id="21" name="pf_361"/>
          <p:cNvSpPr/>
          <p:nvPr/>
        </p:nvSpPr>
        <p:spPr>
          <a:xfrm rot="120000">
            <a:off x="7013233" y="1417320"/>
            <a:ext cx="1152575" cy="1508760"/>
          </a:xfrm>
          <a:prstGeom prst="roundRect">
            <a:avLst>
              <a:gd name="adj" fmla="val 1348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22" name="ph_362" descr="/home/claude/lls-course/v2/cache/6B_2_colin_jpg_255x341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20000">
            <a:off x="7058953" y="1463040"/>
            <a:ext cx="1061135" cy="1417320"/>
          </a:xfrm>
          <a:prstGeom prst="rect">
            <a:avLst/>
          </a:prstGeom>
        </p:spPr>
      </p:pic>
      <p:sp>
        <p:nvSpPr>
          <p:cNvPr id="23" name="cd_363"/>
          <p:cNvSpPr/>
          <p:nvPr/>
        </p:nvSpPr>
        <p:spPr>
          <a:xfrm>
            <a:off x="6263640" y="3794760"/>
            <a:ext cx="2651760" cy="960120"/>
          </a:xfrm>
          <a:prstGeom prst="roundRect">
            <a:avLst>
              <a:gd name="adj" fmla="val 13333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4" name="ii_364"/>
          <p:cNvSpPr/>
          <p:nvPr/>
        </p:nvSpPr>
        <p:spPr>
          <a:xfrm>
            <a:off x="635508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25" name="ih_365"/>
          <p:cNvSpPr/>
          <p:nvPr/>
        </p:nvSpPr>
        <p:spPr>
          <a:xfrm>
            <a:off x="6830568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Remember</a:t>
            </a:r>
            <a:endParaRPr lang="en-US" sz="1200" dirty="0"/>
          </a:p>
        </p:txBody>
      </p:sp>
      <p:sp>
        <p:nvSpPr>
          <p:cNvPr id="26" name="il_366"/>
          <p:cNvSpPr/>
          <p:nvPr/>
        </p:nvSpPr>
        <p:spPr>
          <a:xfrm>
            <a:off x="6830568" y="4288536"/>
            <a:ext cx="19933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fix = correct / repair</a:t>
            </a:r>
            <a:endParaRPr lang="en-US" sz="9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plenty of = a lot of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6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13</a:t>
            </a:r>
            <a:endParaRPr lang="en-US" sz="2200" dirty="0"/>
          </a:p>
        </p:txBody>
      </p:sp>
      <p:pic>
        <p:nvPicPr>
          <p:cNvPr id="4" name="brY_36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5607101" cy="621792"/>
          </a:xfrm>
          <a:prstGeom prst="rect">
            <a:avLst/>
          </a:prstGeom>
        </p:spPr>
      </p:pic>
      <p:sp>
        <p:nvSpPr>
          <p:cNvPr id="5" name="title_369"/>
          <p:cNvSpPr/>
          <p:nvPr/>
        </p:nvSpPr>
        <p:spPr>
          <a:xfrm>
            <a:off x="1261872" y="164592"/>
            <a:ext cx="533278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Check: what did you understand?</a:t>
            </a:r>
            <a:endParaRPr lang="en-US" sz="2400" dirty="0"/>
          </a:p>
        </p:txBody>
      </p:sp>
      <p:pic>
        <p:nvPicPr>
          <p:cNvPr id="6" name="brP_37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371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Answer with a partner. The article is on the last slide.</a:t>
            </a:r>
            <a:endParaRPr lang="en-US" sz="1250" dirty="0"/>
          </a:p>
        </p:txBody>
      </p:sp>
      <p:sp>
        <p:nvSpPr>
          <p:cNvPr id="8" name="insIT_372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Rispondi con un compagno. L'articolo è nella slide precedente.</a:t>
            </a:r>
            <a:endParaRPr lang="en-US" sz="950" dirty="0"/>
          </a:p>
        </p:txBody>
      </p:sp>
      <p:sp>
        <p:nvSpPr>
          <p:cNvPr id="9" name="note_373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👀 READ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Reading · Controlled practice</a:t>
            </a:r>
            <a:endParaRPr lang="en-US" sz="1150" dirty="0"/>
          </a:p>
        </p:txBody>
      </p:sp>
      <p:pic>
        <p:nvPicPr>
          <p:cNvPr id="10" name="logo_374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375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6B-2 · Reading · comprehension   ·   📖 SB p.62 · 5c</a:t>
            </a:r>
            <a:endParaRPr lang="en-US" sz="800" dirty="0"/>
          </a:p>
        </p:txBody>
      </p:sp>
      <p:sp>
        <p:nvSpPr>
          <p:cNvPr id="12" name="cd_376"/>
          <p:cNvSpPr/>
          <p:nvPr/>
        </p:nvSpPr>
        <p:spPr>
          <a:xfrm>
            <a:off x="320040" y="1417320"/>
            <a:ext cx="2697480" cy="969264"/>
          </a:xfrm>
          <a:prstGeom prst="roundRect">
            <a:avLst>
              <a:gd name="adj" fmla="val 13208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377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4" name="ih_378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Example</a:t>
            </a:r>
            <a:endParaRPr lang="en-US" sz="1300" dirty="0"/>
          </a:p>
        </p:txBody>
      </p:sp>
      <p:sp>
        <p:nvSpPr>
          <p:cNvPr id="15" name="il_379"/>
          <p:cNvSpPr/>
          <p:nvPr/>
        </p:nvSpPr>
        <p:spPr>
          <a:xfrm>
            <a:off x="886968" y="1911096"/>
            <a:ext cx="2039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Who's the coach? → Danish Sheikh</a:t>
            </a:r>
            <a:endParaRPr lang="en-US" sz="1050" dirty="0"/>
          </a:p>
        </p:txBody>
      </p:sp>
      <p:sp>
        <p:nvSpPr>
          <p:cNvPr id="16" name="pf_380"/>
          <p:cNvSpPr/>
          <p:nvPr/>
        </p:nvSpPr>
        <p:spPr>
          <a:xfrm rot="-90000">
            <a:off x="873420" y="2569464"/>
            <a:ext cx="1590721" cy="2093976"/>
          </a:xfrm>
          <a:prstGeom prst="roundRect">
            <a:avLst>
              <a:gd name="adj" fmla="val 977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7" name="ph_381" descr="/home/claude/lls-course/v2/cache/6B_2_colin_jpg_361x482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90000">
            <a:off x="919140" y="2615184"/>
            <a:ext cx="1499281" cy="2002536"/>
          </a:xfrm>
          <a:prstGeom prst="rect">
            <a:avLst/>
          </a:prstGeom>
        </p:spPr>
      </p:pic>
      <p:sp>
        <p:nvSpPr>
          <p:cNvPr id="18" name="bd_382"/>
          <p:cNvSpPr/>
          <p:nvPr/>
        </p:nvSpPr>
        <p:spPr>
          <a:xfrm>
            <a:off x="3246120" y="149047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q_383"/>
          <p:cNvSpPr/>
          <p:nvPr/>
        </p:nvSpPr>
        <p:spPr>
          <a:xfrm>
            <a:off x="3630168" y="14173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experience does Danish Sheikh have?</a:t>
            </a:r>
            <a:endParaRPr lang="en-US" sz="1150" dirty="0"/>
          </a:p>
        </p:txBody>
      </p:sp>
      <p:sp>
        <p:nvSpPr>
          <p:cNvPr id="20" name="R1_chip384"/>
          <p:cNvSpPr/>
          <p:nvPr/>
        </p:nvSpPr>
        <p:spPr>
          <a:xfrm>
            <a:off x="5806440" y="14173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Microsoft, Yahoo and the BBC</a:t>
            </a:r>
            <a:endParaRPr lang="en-US" sz="900" dirty="0"/>
          </a:p>
        </p:txBody>
      </p:sp>
      <p:sp>
        <p:nvSpPr>
          <p:cNvPr id="21" name="bd_385"/>
          <p:cNvSpPr/>
          <p:nvPr/>
        </p:nvSpPr>
        <p:spPr>
          <a:xfrm>
            <a:off x="3246120" y="199339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q_386"/>
          <p:cNvSpPr/>
          <p:nvPr/>
        </p:nvSpPr>
        <p:spPr>
          <a:xfrm>
            <a:off x="3630168" y="192024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Is he successful?</a:t>
            </a:r>
            <a:endParaRPr lang="en-US" sz="1150" dirty="0"/>
          </a:p>
        </p:txBody>
      </p:sp>
      <p:sp>
        <p:nvSpPr>
          <p:cNvPr id="23" name="R2_chip387"/>
          <p:cNvSpPr/>
          <p:nvPr/>
        </p:nvSpPr>
        <p:spPr>
          <a:xfrm>
            <a:off x="5806440" y="192024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Yes – £150 an hour, and plenty of people pay</a:t>
            </a:r>
            <a:endParaRPr lang="en-US" sz="900" dirty="0"/>
          </a:p>
        </p:txBody>
      </p:sp>
      <p:sp>
        <p:nvSpPr>
          <p:cNvPr id="24" name="bd_388"/>
          <p:cNvSpPr/>
          <p:nvPr/>
        </p:nvSpPr>
        <p:spPr>
          <a:xfrm>
            <a:off x="3246120" y="2496312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q_389"/>
          <p:cNvSpPr/>
          <p:nvPr/>
        </p:nvSpPr>
        <p:spPr>
          <a:xfrm>
            <a:off x="3630168" y="242316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did he do yesterday? Why?</a:t>
            </a:r>
            <a:endParaRPr lang="en-US" sz="1150" dirty="0"/>
          </a:p>
        </p:txBody>
      </p:sp>
      <p:sp>
        <p:nvSpPr>
          <p:cNvPr id="26" name="R3_chip390"/>
          <p:cNvSpPr/>
          <p:nvPr/>
        </p:nvSpPr>
        <p:spPr>
          <a:xfrm>
            <a:off x="5806440" y="242316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followed Colin everywhere – to watch how he behaves with people (Colin is going to be his student)</a:t>
            </a:r>
            <a:endParaRPr lang="en-US" sz="900" dirty="0"/>
          </a:p>
        </p:txBody>
      </p:sp>
      <p:sp>
        <p:nvSpPr>
          <p:cNvPr id="27" name="bd_391"/>
          <p:cNvSpPr/>
          <p:nvPr/>
        </p:nvSpPr>
        <p:spPr>
          <a:xfrm>
            <a:off x="3246120" y="2999232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q_392"/>
          <p:cNvSpPr/>
          <p:nvPr/>
        </p:nvSpPr>
        <p:spPr>
          <a:xfrm>
            <a:off x="3630168" y="292608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problems does Colin have?</a:t>
            </a:r>
            <a:endParaRPr lang="en-US" sz="1150" dirty="0"/>
          </a:p>
        </p:txBody>
      </p:sp>
      <p:sp>
        <p:nvSpPr>
          <p:cNvPr id="29" name="R4_chip393"/>
          <p:cNvSpPr/>
          <p:nvPr/>
        </p:nvSpPr>
        <p:spPr>
          <a:xfrm>
            <a:off x="5806440" y="292608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can't make conversation · negative body language · doesn't smile enough · seems bored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94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14</a:t>
            </a:r>
            <a:endParaRPr lang="en-US" sz="2200" dirty="0"/>
          </a:p>
        </p:txBody>
      </p:sp>
      <p:pic>
        <p:nvPicPr>
          <p:cNvPr id="4" name="brY_395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348886" cy="621792"/>
          </a:xfrm>
          <a:prstGeom prst="rect">
            <a:avLst/>
          </a:prstGeom>
        </p:spPr>
      </p:pic>
      <p:sp>
        <p:nvSpPr>
          <p:cNvPr id="5" name="title_396"/>
          <p:cNvSpPr/>
          <p:nvPr/>
        </p:nvSpPr>
        <p:spPr>
          <a:xfrm>
            <a:off x="1261872" y="164592"/>
            <a:ext cx="40745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person with charisma…</a:t>
            </a:r>
            <a:endParaRPr lang="en-US" sz="2400" dirty="0"/>
          </a:p>
        </p:txBody>
      </p:sp>
      <p:pic>
        <p:nvPicPr>
          <p:cNvPr id="6" name="brP_397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398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Tick ✓ or cross ✗ with a partner. THEN listen and check.</a:t>
            </a:r>
            <a:endParaRPr lang="en-US" sz="1200" dirty="0"/>
          </a:p>
        </p:txBody>
      </p:sp>
      <p:sp>
        <p:nvSpPr>
          <p:cNvPr id="8" name="insIT_399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Segna ✓ o ✗ con un compagno. POI ascolta e controlla.</a:t>
            </a:r>
            <a:endParaRPr lang="en-US" sz="950" dirty="0"/>
          </a:p>
        </p:txBody>
      </p:sp>
      <p:sp>
        <p:nvSpPr>
          <p:cNvPr id="9" name="note_400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🎧 LISTEN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Listening · Guided discovery</a:t>
            </a:r>
            <a:endParaRPr lang="en-US" sz="1150" dirty="0"/>
          </a:p>
        </p:txBody>
      </p:sp>
      <p:pic>
        <p:nvPicPr>
          <p:cNvPr id="10" name="logo_401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402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6B-2 · Listening · audio 6.19   ·   📖 SB p.63 · 5d, 5e · audio 6.19</a:t>
            </a:r>
            <a:endParaRPr lang="en-US" sz="800" dirty="0"/>
          </a:p>
        </p:txBody>
      </p:sp>
      <p:sp>
        <p:nvSpPr>
          <p:cNvPr id="12" name="cd_403"/>
          <p:cNvSpPr/>
          <p:nvPr/>
        </p:nvSpPr>
        <p:spPr>
          <a:xfrm>
            <a:off x="320040" y="1417320"/>
            <a:ext cx="2697480" cy="1527048"/>
          </a:xfrm>
          <a:prstGeom prst="roundRect">
            <a:avLst>
              <a:gd name="adj" fmla="val 8383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404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🏷️</a:t>
            </a:r>
            <a:endParaRPr lang="en-US" sz="2200" dirty="0"/>
          </a:p>
        </p:txBody>
      </p:sp>
      <p:sp>
        <p:nvSpPr>
          <p:cNvPr id="14" name="ih_405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Does it?</a:t>
            </a:r>
            <a:endParaRPr lang="en-US" sz="1300" dirty="0"/>
          </a:p>
        </p:txBody>
      </p:sp>
      <p:sp>
        <p:nvSpPr>
          <p:cNvPr id="15" name="ap_406"/>
          <p:cNvSpPr/>
          <p:nvPr/>
        </p:nvSpPr>
        <p:spPr>
          <a:xfrm>
            <a:off x="365760" y="3081528"/>
            <a:ext cx="260604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6.19</a:t>
            </a:r>
            <a:endParaRPr lang="en-US" sz="1100" dirty="0"/>
          </a:p>
        </p:txBody>
      </p:sp>
      <p:sp>
        <p:nvSpPr>
          <p:cNvPr id="16" name="ah_407"/>
          <p:cNvSpPr/>
          <p:nvPr/>
        </p:nvSpPr>
        <p:spPr>
          <a:xfrm>
            <a:off x="4636008" y="4572000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▶ normal</a:t>
            </a:r>
            <a:endParaRPr lang="en-US" sz="1000" dirty="0"/>
          </a:p>
        </p:txBody>
      </p:sp>
      <p:pic>
        <p:nvPicPr>
          <p:cNvPr id="17" name="Media 0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687568" y="4553712"/>
            <a:ext cx="411480" cy="411480"/>
          </a:xfrm>
          <a:prstGeom prst="rect">
            <a:avLst/>
          </a:prstGeom>
        </p:spPr>
      </p:pic>
      <p:sp>
        <p:nvSpPr>
          <p:cNvPr id="18" name="ah_408"/>
          <p:cNvSpPr/>
          <p:nvPr/>
        </p:nvSpPr>
        <p:spPr>
          <a:xfrm>
            <a:off x="7470648" y="457200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🐢 slower</a:t>
            </a:r>
            <a:endParaRPr lang="en-US" sz="1000" dirty="0"/>
          </a:p>
        </p:txBody>
      </p:sp>
      <p:pic>
        <p:nvPicPr>
          <p:cNvPr id="19" name="Media 1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476488" y="4553712"/>
            <a:ext cx="411480" cy="411480"/>
          </a:xfrm>
          <a:prstGeom prst="rect">
            <a:avLst/>
          </a:prstGeom>
        </p:spPr>
      </p:pic>
      <p:sp>
        <p:nvSpPr>
          <p:cNvPr id="20" name="lg_409"/>
          <p:cNvSpPr/>
          <p:nvPr/>
        </p:nvSpPr>
        <p:spPr>
          <a:xfrm>
            <a:off x="457200" y="19842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CFF2D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✓ yes</a:t>
            </a:r>
            <a:endParaRPr lang="en-US" sz="1050" dirty="0"/>
          </a:p>
        </p:txBody>
      </p:sp>
      <p:sp>
        <p:nvSpPr>
          <p:cNvPr id="21" name="lg_410"/>
          <p:cNvSpPr/>
          <p:nvPr/>
        </p:nvSpPr>
        <p:spPr>
          <a:xfrm>
            <a:off x="1719072" y="19842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FD1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✗ no</a:t>
            </a:r>
            <a:endParaRPr lang="en-US" sz="1050" dirty="0"/>
          </a:p>
        </p:txBody>
      </p:sp>
      <p:sp>
        <p:nvSpPr>
          <p:cNvPr id="22" name="sq_411"/>
          <p:cNvSpPr/>
          <p:nvPr/>
        </p:nvSpPr>
        <p:spPr>
          <a:xfrm>
            <a:off x="3246120" y="1417320"/>
            <a:ext cx="3840480" cy="265176"/>
          </a:xfrm>
          <a:prstGeom prst="roundRect">
            <a:avLst>
              <a:gd name="adj" fmla="val 34483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 shows people what he / she is like</a:t>
            </a:r>
            <a:endParaRPr lang="en-US" sz="1100" dirty="0"/>
          </a:p>
        </p:txBody>
      </p:sp>
      <p:sp>
        <p:nvSpPr>
          <p:cNvPr id="23" name="R1_tag412"/>
          <p:cNvSpPr/>
          <p:nvPr/>
        </p:nvSpPr>
        <p:spPr>
          <a:xfrm>
            <a:off x="7178040" y="1417320"/>
            <a:ext cx="1691640" cy="265176"/>
          </a:xfrm>
          <a:prstGeom prst="roundRect">
            <a:avLst>
              <a:gd name="adj" fmla="val 86207"/>
            </a:avLst>
          </a:prstGeom>
          <a:solidFill>
            <a:srgbClr val="CFF2D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✓ yes</a:t>
            </a:r>
            <a:endParaRPr lang="en-US" sz="1150" dirty="0"/>
          </a:p>
        </p:txBody>
      </p:sp>
      <p:sp>
        <p:nvSpPr>
          <p:cNvPr id="24" name="sq_413"/>
          <p:cNvSpPr/>
          <p:nvPr/>
        </p:nvSpPr>
        <p:spPr>
          <a:xfrm>
            <a:off x="3246120" y="1746504"/>
            <a:ext cx="3840480" cy="265176"/>
          </a:xfrm>
          <a:prstGeom prst="roundRect">
            <a:avLst>
              <a:gd name="adj" fmla="val 34483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 makes other people feel important</a:t>
            </a:r>
            <a:endParaRPr lang="en-US" sz="1100" dirty="0"/>
          </a:p>
        </p:txBody>
      </p:sp>
      <p:sp>
        <p:nvSpPr>
          <p:cNvPr id="25" name="R2_tag414"/>
          <p:cNvSpPr/>
          <p:nvPr/>
        </p:nvSpPr>
        <p:spPr>
          <a:xfrm>
            <a:off x="7178040" y="1746504"/>
            <a:ext cx="1691640" cy="265176"/>
          </a:xfrm>
          <a:prstGeom prst="roundRect">
            <a:avLst>
              <a:gd name="adj" fmla="val 86207"/>
            </a:avLst>
          </a:prstGeom>
          <a:solidFill>
            <a:srgbClr val="CFF2D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✓ yes</a:t>
            </a:r>
            <a:endParaRPr lang="en-US" sz="1150" dirty="0"/>
          </a:p>
        </p:txBody>
      </p:sp>
      <p:sp>
        <p:nvSpPr>
          <p:cNvPr id="26" name="sq_415"/>
          <p:cNvSpPr/>
          <p:nvPr/>
        </p:nvSpPr>
        <p:spPr>
          <a:xfrm>
            <a:off x="3246120" y="2075688"/>
            <a:ext cx="3840480" cy="265176"/>
          </a:xfrm>
          <a:prstGeom prst="roundRect">
            <a:avLst>
              <a:gd name="adj" fmla="val 34483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 talks a lot about himself / herself</a:t>
            </a:r>
            <a:endParaRPr lang="en-US" sz="1100" dirty="0"/>
          </a:p>
        </p:txBody>
      </p:sp>
      <p:sp>
        <p:nvSpPr>
          <p:cNvPr id="27" name="R3_tag416"/>
          <p:cNvSpPr/>
          <p:nvPr/>
        </p:nvSpPr>
        <p:spPr>
          <a:xfrm>
            <a:off x="7178040" y="2075688"/>
            <a:ext cx="1691640" cy="265176"/>
          </a:xfrm>
          <a:prstGeom prst="roundRect">
            <a:avLst>
              <a:gd name="adj" fmla="val 86207"/>
            </a:avLst>
          </a:prstGeom>
          <a:solidFill>
            <a:srgbClr val="FFD1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✗ no</a:t>
            </a:r>
            <a:endParaRPr lang="en-US" sz="1150" dirty="0"/>
          </a:p>
        </p:txBody>
      </p:sp>
      <p:sp>
        <p:nvSpPr>
          <p:cNvPr id="28" name="sq_417"/>
          <p:cNvSpPr/>
          <p:nvPr/>
        </p:nvSpPr>
        <p:spPr>
          <a:xfrm>
            <a:off x="3246120" y="2404872"/>
            <a:ext cx="3840480" cy="265176"/>
          </a:xfrm>
          <a:prstGeom prst="roundRect">
            <a:avLst>
              <a:gd name="adj" fmla="val 34483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 never says anything about himself / herself</a:t>
            </a:r>
            <a:endParaRPr lang="en-US" sz="1100" dirty="0"/>
          </a:p>
        </p:txBody>
      </p:sp>
      <p:sp>
        <p:nvSpPr>
          <p:cNvPr id="29" name="R4_tag418"/>
          <p:cNvSpPr/>
          <p:nvPr/>
        </p:nvSpPr>
        <p:spPr>
          <a:xfrm>
            <a:off x="7178040" y="2404872"/>
            <a:ext cx="1691640" cy="265176"/>
          </a:xfrm>
          <a:prstGeom prst="roundRect">
            <a:avLst>
              <a:gd name="adj" fmla="val 86207"/>
            </a:avLst>
          </a:prstGeom>
          <a:solidFill>
            <a:srgbClr val="FFD1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✗ no</a:t>
            </a:r>
            <a:endParaRPr lang="en-US" sz="1150" dirty="0"/>
          </a:p>
        </p:txBody>
      </p:sp>
      <p:sp>
        <p:nvSpPr>
          <p:cNvPr id="30" name="sq_419"/>
          <p:cNvSpPr/>
          <p:nvPr/>
        </p:nvSpPr>
        <p:spPr>
          <a:xfrm>
            <a:off x="3246120" y="2734056"/>
            <a:ext cx="3840480" cy="265176"/>
          </a:xfrm>
          <a:prstGeom prst="roundRect">
            <a:avLst>
              <a:gd name="adj" fmla="val 34483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 is self-confident</a:t>
            </a:r>
            <a:endParaRPr lang="en-US" sz="1100" dirty="0"/>
          </a:p>
        </p:txBody>
      </p:sp>
      <p:sp>
        <p:nvSpPr>
          <p:cNvPr id="31" name="R5_tag420"/>
          <p:cNvSpPr/>
          <p:nvPr/>
        </p:nvSpPr>
        <p:spPr>
          <a:xfrm>
            <a:off x="7178040" y="2734056"/>
            <a:ext cx="1691640" cy="265176"/>
          </a:xfrm>
          <a:prstGeom prst="roundRect">
            <a:avLst>
              <a:gd name="adj" fmla="val 86207"/>
            </a:avLst>
          </a:prstGeom>
          <a:solidFill>
            <a:srgbClr val="CFF2D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✓ yes</a:t>
            </a:r>
            <a:endParaRPr lang="en-US" sz="1150" dirty="0"/>
          </a:p>
        </p:txBody>
      </p:sp>
      <p:sp>
        <p:nvSpPr>
          <p:cNvPr id="32" name="sq_421"/>
          <p:cNvSpPr/>
          <p:nvPr/>
        </p:nvSpPr>
        <p:spPr>
          <a:xfrm>
            <a:off x="3246120" y="3063240"/>
            <a:ext cx="3840480" cy="265176"/>
          </a:xfrm>
          <a:prstGeom prst="roundRect">
            <a:avLst>
              <a:gd name="adj" fmla="val 34483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 stands with feet apart and arms wide</a:t>
            </a:r>
            <a:endParaRPr lang="en-US" sz="1100" dirty="0"/>
          </a:p>
        </p:txBody>
      </p:sp>
      <p:sp>
        <p:nvSpPr>
          <p:cNvPr id="33" name="R6_tag422"/>
          <p:cNvSpPr/>
          <p:nvPr/>
        </p:nvSpPr>
        <p:spPr>
          <a:xfrm>
            <a:off x="7178040" y="3063240"/>
            <a:ext cx="1691640" cy="265176"/>
          </a:xfrm>
          <a:prstGeom prst="roundRect">
            <a:avLst>
              <a:gd name="adj" fmla="val 86207"/>
            </a:avLst>
          </a:prstGeom>
          <a:solidFill>
            <a:srgbClr val="CFF2D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✓ yes</a:t>
            </a:r>
            <a:endParaRPr lang="en-US" sz="1150" dirty="0"/>
          </a:p>
        </p:txBody>
      </p:sp>
      <p:sp>
        <p:nvSpPr>
          <p:cNvPr id="34" name="sq_423"/>
          <p:cNvSpPr/>
          <p:nvPr/>
        </p:nvSpPr>
        <p:spPr>
          <a:xfrm>
            <a:off x="3246120" y="3392424"/>
            <a:ext cx="3840480" cy="265176"/>
          </a:xfrm>
          <a:prstGeom prst="roundRect">
            <a:avLst>
              <a:gd name="adj" fmla="val 34483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 makes eye contact, but doesn't stare</a:t>
            </a:r>
            <a:endParaRPr lang="en-US" sz="1100" dirty="0"/>
          </a:p>
        </p:txBody>
      </p:sp>
      <p:sp>
        <p:nvSpPr>
          <p:cNvPr id="35" name="R7_tag424"/>
          <p:cNvSpPr/>
          <p:nvPr/>
        </p:nvSpPr>
        <p:spPr>
          <a:xfrm>
            <a:off x="7178040" y="3392424"/>
            <a:ext cx="1691640" cy="265176"/>
          </a:xfrm>
          <a:prstGeom prst="roundRect">
            <a:avLst>
              <a:gd name="adj" fmla="val 86207"/>
            </a:avLst>
          </a:prstGeom>
          <a:solidFill>
            <a:srgbClr val="CFF2D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✓ yes</a:t>
            </a:r>
            <a:endParaRPr lang="en-US" sz="1150" dirty="0"/>
          </a:p>
        </p:txBody>
      </p:sp>
      <p:sp>
        <p:nvSpPr>
          <p:cNvPr id="36" name="sq_425"/>
          <p:cNvSpPr/>
          <p:nvPr/>
        </p:nvSpPr>
        <p:spPr>
          <a:xfrm>
            <a:off x="3246120" y="3721608"/>
            <a:ext cx="3840480" cy="265176"/>
          </a:xfrm>
          <a:prstGeom prst="roundRect">
            <a:avLst>
              <a:gd name="adj" fmla="val 34483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 uses a lot of hand gestures</a:t>
            </a:r>
            <a:endParaRPr lang="en-US" sz="1100" dirty="0"/>
          </a:p>
        </p:txBody>
      </p:sp>
      <p:sp>
        <p:nvSpPr>
          <p:cNvPr id="37" name="R8_tag426"/>
          <p:cNvSpPr/>
          <p:nvPr/>
        </p:nvSpPr>
        <p:spPr>
          <a:xfrm>
            <a:off x="7178040" y="3721608"/>
            <a:ext cx="1691640" cy="265176"/>
          </a:xfrm>
          <a:prstGeom prst="roundRect">
            <a:avLst>
              <a:gd name="adj" fmla="val 86207"/>
            </a:avLst>
          </a:prstGeom>
          <a:solidFill>
            <a:srgbClr val="FFD1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✗ no</a:t>
            </a:r>
            <a:endParaRPr lang="en-US" sz="1150" dirty="0"/>
          </a:p>
        </p:txBody>
      </p:sp>
      <p:sp>
        <p:nvSpPr>
          <p:cNvPr id="38" name="sq_427"/>
          <p:cNvSpPr/>
          <p:nvPr/>
        </p:nvSpPr>
        <p:spPr>
          <a:xfrm>
            <a:off x="3246120" y="4050792"/>
            <a:ext cx="3840480" cy="265176"/>
          </a:xfrm>
          <a:prstGeom prst="roundRect">
            <a:avLst>
              <a:gd name="adj" fmla="val 34483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9 speaks very slowly</a:t>
            </a:r>
            <a:endParaRPr lang="en-US" sz="1100" dirty="0"/>
          </a:p>
        </p:txBody>
      </p:sp>
      <p:sp>
        <p:nvSpPr>
          <p:cNvPr id="39" name="R9_tag428"/>
          <p:cNvSpPr/>
          <p:nvPr/>
        </p:nvSpPr>
        <p:spPr>
          <a:xfrm>
            <a:off x="7178040" y="4050792"/>
            <a:ext cx="1691640" cy="265176"/>
          </a:xfrm>
          <a:prstGeom prst="roundRect">
            <a:avLst>
              <a:gd name="adj" fmla="val 86207"/>
            </a:avLst>
          </a:prstGeom>
          <a:solidFill>
            <a:srgbClr val="FFD1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✗ no</a:t>
            </a:r>
            <a:endParaRPr lang="en-US" sz="1150" dirty="0"/>
          </a:p>
        </p:txBody>
      </p:sp>
      <p:sp>
        <p:nvSpPr>
          <p:cNvPr id="40" name="sq_429"/>
          <p:cNvSpPr/>
          <p:nvPr/>
        </p:nvSpPr>
        <p:spPr>
          <a:xfrm>
            <a:off x="3246120" y="4379976"/>
            <a:ext cx="3840480" cy="265176"/>
          </a:xfrm>
          <a:prstGeom prst="roundRect">
            <a:avLst>
              <a:gd name="adj" fmla="val 34483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 listens to people carefully</a:t>
            </a:r>
            <a:endParaRPr lang="en-US" sz="1100" dirty="0"/>
          </a:p>
        </p:txBody>
      </p:sp>
      <p:sp>
        <p:nvSpPr>
          <p:cNvPr id="41" name="R10_tag430"/>
          <p:cNvSpPr/>
          <p:nvPr/>
        </p:nvSpPr>
        <p:spPr>
          <a:xfrm>
            <a:off x="7178040" y="4379976"/>
            <a:ext cx="1691640" cy="265176"/>
          </a:xfrm>
          <a:prstGeom prst="roundRect">
            <a:avLst>
              <a:gd name="adj" fmla="val 86207"/>
            </a:avLst>
          </a:prstGeom>
          <a:solidFill>
            <a:srgbClr val="CFF2D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✓ yes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57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2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audio>
              <p:cMediaNode vol="80000">
                <p:cTn id="6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  <p:audio>
              <p:cMediaNode vol="80000">
                <p:cTn id="6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31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15</a:t>
            </a:r>
            <a:endParaRPr lang="en-US" sz="2200" dirty="0"/>
          </a:p>
        </p:txBody>
      </p:sp>
      <p:pic>
        <p:nvPicPr>
          <p:cNvPr id="4" name="brY_432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977994" cy="621792"/>
          </a:xfrm>
          <a:prstGeom prst="rect">
            <a:avLst/>
          </a:prstGeom>
        </p:spPr>
      </p:pic>
      <p:sp>
        <p:nvSpPr>
          <p:cNvPr id="5" name="title_433"/>
          <p:cNvSpPr/>
          <p:nvPr/>
        </p:nvSpPr>
        <p:spPr>
          <a:xfrm>
            <a:off x="1261872" y="164592"/>
            <a:ext cx="47036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does Colin say about…?</a:t>
            </a:r>
            <a:endParaRPr lang="en-US" sz="2300" dirty="0"/>
          </a:p>
        </p:txBody>
      </p:sp>
      <p:pic>
        <p:nvPicPr>
          <p:cNvPr id="6" name="brP_434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727448" cy="402336"/>
          </a:xfrm>
          <a:prstGeom prst="rect">
            <a:avLst/>
          </a:prstGeom>
        </p:spPr>
      </p:pic>
      <p:sp>
        <p:nvSpPr>
          <p:cNvPr id="7" name="ins_435"/>
          <p:cNvSpPr/>
          <p:nvPr/>
        </p:nvSpPr>
        <p:spPr>
          <a:xfrm>
            <a:off x="1353312" y="731520"/>
            <a:ext cx="4471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the 4 questions. Listen again and answer.</a:t>
            </a:r>
            <a:endParaRPr lang="en-US" sz="1250" dirty="0"/>
          </a:p>
        </p:txBody>
      </p:sp>
      <p:sp>
        <p:nvSpPr>
          <p:cNvPr id="8" name="insIT_436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Leggi le 4 domande. Ascolta di nuovo e rispondi.</a:t>
            </a:r>
            <a:endParaRPr lang="en-US" sz="950" dirty="0"/>
          </a:p>
        </p:txBody>
      </p:sp>
      <p:sp>
        <p:nvSpPr>
          <p:cNvPr id="9" name="note_437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🎧 LISTEN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ASCOLTA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👤 alone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Listening · for detail</a:t>
            </a:r>
            <a:endParaRPr lang="en-US" sz="1250" dirty="0"/>
          </a:p>
        </p:txBody>
      </p:sp>
      <p:pic>
        <p:nvPicPr>
          <p:cNvPr id="10" name="logo_438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439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6B-2 · Listening · detail · audio 6.19   ·   📖 SB p.63 · 5f · audio 6.19</a:t>
            </a:r>
            <a:endParaRPr lang="en-US" sz="800" dirty="0"/>
          </a:p>
        </p:txBody>
      </p:sp>
      <p:sp>
        <p:nvSpPr>
          <p:cNvPr id="12" name="ap_440"/>
          <p:cNvSpPr/>
          <p:nvPr/>
        </p:nvSpPr>
        <p:spPr>
          <a:xfrm>
            <a:off x="365760" y="1417320"/>
            <a:ext cx="219456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6.19  ·  play 2× · 🐢 = slower</a:t>
            </a:r>
            <a:endParaRPr lang="en-US" sz="1100" dirty="0"/>
          </a:p>
        </p:txBody>
      </p:sp>
      <p:sp>
        <p:nvSpPr>
          <p:cNvPr id="13" name="ah_441"/>
          <p:cNvSpPr/>
          <p:nvPr/>
        </p:nvSpPr>
        <p:spPr>
          <a:xfrm>
            <a:off x="4636008" y="4572000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▶ normal</a:t>
            </a:r>
            <a:endParaRPr lang="en-US" sz="1000" dirty="0"/>
          </a:p>
        </p:txBody>
      </p:sp>
      <p:pic>
        <p:nvPicPr>
          <p:cNvPr id="14" name="Media 0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687568" y="4553712"/>
            <a:ext cx="411480" cy="411480"/>
          </a:xfrm>
          <a:prstGeom prst="rect">
            <a:avLst/>
          </a:prstGeom>
        </p:spPr>
      </p:pic>
      <p:sp>
        <p:nvSpPr>
          <p:cNvPr id="15" name="ah_442"/>
          <p:cNvSpPr/>
          <p:nvPr/>
        </p:nvSpPr>
        <p:spPr>
          <a:xfrm>
            <a:off x="7470648" y="457200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🐢 slower</a:t>
            </a:r>
            <a:endParaRPr lang="en-US" sz="1000" dirty="0"/>
          </a:p>
        </p:txBody>
      </p:sp>
      <p:pic>
        <p:nvPicPr>
          <p:cNvPr id="16" name="Media 1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476488" y="4553712"/>
            <a:ext cx="411480" cy="411480"/>
          </a:xfrm>
          <a:prstGeom prst="rect">
            <a:avLst/>
          </a:prstGeom>
        </p:spPr>
      </p:pic>
      <p:sp>
        <p:nvSpPr>
          <p:cNvPr id="17" name="pf_443"/>
          <p:cNvSpPr/>
          <p:nvPr/>
        </p:nvSpPr>
        <p:spPr>
          <a:xfrm rot="-90000">
            <a:off x="1081242" y="2057400"/>
            <a:ext cx="1357956" cy="1783080"/>
          </a:xfrm>
          <a:prstGeom prst="roundRect">
            <a:avLst>
              <a:gd name="adj" fmla="val 114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8" name="ph_444" descr="/home/claude/lls-course/v2/cache/6B_2_colin_jpg_305x407_31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-90000">
            <a:off x="1126962" y="2103120"/>
            <a:ext cx="1266516" cy="1691640"/>
          </a:xfrm>
          <a:prstGeom prst="rect">
            <a:avLst/>
          </a:prstGeom>
        </p:spPr>
      </p:pic>
      <p:sp>
        <p:nvSpPr>
          <p:cNvPr id="19" name="cd_445"/>
          <p:cNvSpPr/>
          <p:nvPr/>
        </p:nvSpPr>
        <p:spPr>
          <a:xfrm>
            <a:off x="320040" y="4023360"/>
            <a:ext cx="2788920" cy="731520"/>
          </a:xfrm>
          <a:prstGeom prst="roundRect">
            <a:avLst>
              <a:gd name="adj" fmla="val 17500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0" name="ii_446"/>
          <p:cNvSpPr/>
          <p:nvPr/>
        </p:nvSpPr>
        <p:spPr>
          <a:xfrm>
            <a:off x="41148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21" name="ih_447"/>
          <p:cNvSpPr/>
          <p:nvPr/>
        </p:nvSpPr>
        <p:spPr>
          <a:xfrm>
            <a:off x="886968" y="4114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Guess first, then listen!</a:t>
            </a:r>
            <a:endParaRPr lang="en-US" sz="1200" dirty="0"/>
          </a:p>
        </p:txBody>
      </p:sp>
      <p:sp>
        <p:nvSpPr>
          <p:cNvPr id="22" name="gq_448"/>
          <p:cNvSpPr/>
          <p:nvPr/>
        </p:nvSpPr>
        <p:spPr>
          <a:xfrm>
            <a:off x="3383280" y="1417320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  talking about yourself</a:t>
            </a:r>
            <a:endParaRPr lang="en-US" sz="1200" dirty="0"/>
          </a:p>
        </p:txBody>
      </p:sp>
      <p:sp>
        <p:nvSpPr>
          <p:cNvPr id="23" name="R1_chip449"/>
          <p:cNvSpPr/>
          <p:nvPr/>
        </p:nvSpPr>
        <p:spPr>
          <a:xfrm>
            <a:off x="6812280" y="1417320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enough – but not too much</a:t>
            </a:r>
            <a:endParaRPr lang="en-US" sz="1200" dirty="0"/>
          </a:p>
        </p:txBody>
      </p:sp>
      <p:sp>
        <p:nvSpPr>
          <p:cNvPr id="24" name="gq_450"/>
          <p:cNvSpPr/>
          <p:nvPr/>
        </p:nvSpPr>
        <p:spPr>
          <a:xfrm>
            <a:off x="3383280" y="1938528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  remembering a past success</a:t>
            </a:r>
            <a:endParaRPr lang="en-US" sz="1200" dirty="0"/>
          </a:p>
        </p:txBody>
      </p:sp>
      <p:sp>
        <p:nvSpPr>
          <p:cNvPr id="25" name="R2_chip451"/>
          <p:cNvSpPr/>
          <p:nvPr/>
        </p:nvSpPr>
        <p:spPr>
          <a:xfrm>
            <a:off x="6812280" y="1938528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 helps you feel more confident</a:t>
            </a:r>
            <a:endParaRPr lang="en-US" sz="1200" dirty="0"/>
          </a:p>
        </p:txBody>
      </p:sp>
      <p:sp>
        <p:nvSpPr>
          <p:cNvPr id="26" name="gq_452"/>
          <p:cNvSpPr/>
          <p:nvPr/>
        </p:nvSpPr>
        <p:spPr>
          <a:xfrm>
            <a:off x="3383280" y="2459736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  how to enter a room</a:t>
            </a:r>
            <a:endParaRPr lang="en-US" sz="1200" dirty="0"/>
          </a:p>
        </p:txBody>
      </p:sp>
      <p:sp>
        <p:nvSpPr>
          <p:cNvPr id="27" name="R3_chip453"/>
          <p:cNvSpPr/>
          <p:nvPr/>
        </p:nvSpPr>
        <p:spPr>
          <a:xfrm>
            <a:off x="6812280" y="2459736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chin up, shoulders back</a:t>
            </a:r>
            <a:endParaRPr lang="en-US" sz="1200" dirty="0"/>
          </a:p>
        </p:txBody>
      </p:sp>
      <p:sp>
        <p:nvSpPr>
          <p:cNvPr id="28" name="gq_454"/>
          <p:cNvSpPr/>
          <p:nvPr/>
        </p:nvSpPr>
        <p:spPr>
          <a:xfrm>
            <a:off x="3383280" y="2980944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  if you aren't really listening</a:t>
            </a:r>
            <a:endParaRPr lang="en-US" sz="1200" dirty="0"/>
          </a:p>
        </p:txBody>
      </p:sp>
      <p:sp>
        <p:nvSpPr>
          <p:cNvPr id="29" name="R4_chip455"/>
          <p:cNvSpPr/>
          <p:nvPr/>
        </p:nvSpPr>
        <p:spPr>
          <a:xfrm>
            <a:off x="6812280" y="2980944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other person notices very quickly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7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2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audio>
              <p:cMediaNode vol="80000">
                <p:cTn id="3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  <p:audio>
              <p:cMediaNode vol="80000">
                <p:cTn id="3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56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16</a:t>
            </a:r>
            <a:endParaRPr lang="en-US" sz="2200" dirty="0"/>
          </a:p>
        </p:txBody>
      </p:sp>
      <p:pic>
        <p:nvPicPr>
          <p:cNvPr id="4" name="brY_457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618842" cy="621792"/>
          </a:xfrm>
          <a:prstGeom prst="rect">
            <a:avLst/>
          </a:prstGeom>
        </p:spPr>
      </p:pic>
      <p:sp>
        <p:nvSpPr>
          <p:cNvPr id="5" name="title_458"/>
          <p:cNvSpPr/>
          <p:nvPr/>
        </p:nvSpPr>
        <p:spPr>
          <a:xfrm>
            <a:off x="1261872" y="164592"/>
            <a:ext cx="23445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Colin's test</a:t>
            </a:r>
            <a:endParaRPr lang="en-US" sz="2500" dirty="0"/>
          </a:p>
        </p:txBody>
      </p:sp>
      <p:pic>
        <p:nvPicPr>
          <p:cNvPr id="6" name="brP_459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032504" cy="402336"/>
          </a:xfrm>
          <a:prstGeom prst="rect">
            <a:avLst/>
          </a:prstGeom>
        </p:spPr>
      </p:pic>
      <p:sp>
        <p:nvSpPr>
          <p:cNvPr id="7" name="ins_460"/>
          <p:cNvSpPr/>
          <p:nvPr/>
        </p:nvSpPr>
        <p:spPr>
          <a:xfrm>
            <a:off x="1353312" y="731520"/>
            <a:ext cx="3776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Guess first. Then listen and complete.</a:t>
            </a:r>
            <a:endParaRPr lang="en-US" sz="1250" dirty="0"/>
          </a:p>
        </p:txBody>
      </p:sp>
      <p:sp>
        <p:nvSpPr>
          <p:cNvPr id="8" name="insIT_461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Indovina prima. Poi ascolta e completa.</a:t>
            </a:r>
            <a:endParaRPr lang="en-US" sz="950" dirty="0"/>
          </a:p>
        </p:txBody>
      </p:sp>
      <p:sp>
        <p:nvSpPr>
          <p:cNvPr id="9" name="note_462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🎧 LISTEN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👤 alone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Listening · for detail</a:t>
            </a:r>
            <a:endParaRPr lang="en-US" sz="1150" dirty="0"/>
          </a:p>
        </p:txBody>
      </p:sp>
      <p:pic>
        <p:nvPicPr>
          <p:cNvPr id="10" name="logo_463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464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6B-2 · Listening · the practical test · audio 6.20   ·   📖 SB p.63 · 5g · audio 6.20</a:t>
            </a:r>
            <a:endParaRPr lang="en-US" sz="800" dirty="0"/>
          </a:p>
        </p:txBody>
      </p:sp>
      <p:sp>
        <p:nvSpPr>
          <p:cNvPr id="12" name="ap_465"/>
          <p:cNvSpPr/>
          <p:nvPr/>
        </p:nvSpPr>
        <p:spPr>
          <a:xfrm>
            <a:off x="365760" y="1417320"/>
            <a:ext cx="219456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6.20  ·  play 1–2× · 🐢 = slower</a:t>
            </a:r>
            <a:endParaRPr lang="en-US" sz="1100" dirty="0"/>
          </a:p>
        </p:txBody>
      </p:sp>
      <p:sp>
        <p:nvSpPr>
          <p:cNvPr id="13" name="ah_466"/>
          <p:cNvSpPr/>
          <p:nvPr/>
        </p:nvSpPr>
        <p:spPr>
          <a:xfrm>
            <a:off x="4636008" y="4572000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▶ normal</a:t>
            </a:r>
            <a:endParaRPr lang="en-US" sz="1000" dirty="0"/>
          </a:p>
        </p:txBody>
      </p:sp>
      <p:pic>
        <p:nvPicPr>
          <p:cNvPr id="14" name="Media 0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687568" y="4553712"/>
            <a:ext cx="411480" cy="411480"/>
          </a:xfrm>
          <a:prstGeom prst="rect">
            <a:avLst/>
          </a:prstGeom>
        </p:spPr>
      </p:pic>
      <p:sp>
        <p:nvSpPr>
          <p:cNvPr id="15" name="ah_467"/>
          <p:cNvSpPr/>
          <p:nvPr/>
        </p:nvSpPr>
        <p:spPr>
          <a:xfrm>
            <a:off x="7470648" y="457200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🐢 slower</a:t>
            </a:r>
            <a:endParaRPr lang="en-US" sz="1000" dirty="0"/>
          </a:p>
        </p:txBody>
      </p:sp>
      <p:pic>
        <p:nvPicPr>
          <p:cNvPr id="16" name="Media 1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476488" y="4553712"/>
            <a:ext cx="411480" cy="411480"/>
          </a:xfrm>
          <a:prstGeom prst="rect">
            <a:avLst/>
          </a:prstGeom>
        </p:spPr>
      </p:pic>
      <p:sp>
        <p:nvSpPr>
          <p:cNvPr id="17" name="pf_468"/>
          <p:cNvSpPr/>
          <p:nvPr/>
        </p:nvSpPr>
        <p:spPr>
          <a:xfrm rot="-90000">
            <a:off x="1081242" y="2057400"/>
            <a:ext cx="1357956" cy="1783080"/>
          </a:xfrm>
          <a:prstGeom prst="roundRect">
            <a:avLst>
              <a:gd name="adj" fmla="val 114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8" name="ph_469" descr="/home/claude/lls-course/v2/cache/6B_2_colin_jpg_305x407_31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-90000">
            <a:off x="1126962" y="2103120"/>
            <a:ext cx="1266516" cy="1691640"/>
          </a:xfrm>
          <a:prstGeom prst="rect">
            <a:avLst/>
          </a:prstGeom>
        </p:spPr>
      </p:pic>
      <p:sp>
        <p:nvSpPr>
          <p:cNvPr id="19" name="cd_470"/>
          <p:cNvSpPr/>
          <p:nvPr/>
        </p:nvSpPr>
        <p:spPr>
          <a:xfrm>
            <a:off x="320040" y="4023360"/>
            <a:ext cx="2788920" cy="731520"/>
          </a:xfrm>
          <a:prstGeom prst="roundRect">
            <a:avLst>
              <a:gd name="adj" fmla="val 17500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0" name="ii_471"/>
          <p:cNvSpPr/>
          <p:nvPr/>
        </p:nvSpPr>
        <p:spPr>
          <a:xfrm>
            <a:off x="41148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21" name="ih_472"/>
          <p:cNvSpPr/>
          <p:nvPr/>
        </p:nvSpPr>
        <p:spPr>
          <a:xfrm>
            <a:off x="886968" y="4114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Guess first, then listen!</a:t>
            </a:r>
            <a:endParaRPr lang="en-US" sz="1200" dirty="0"/>
          </a:p>
        </p:txBody>
      </p:sp>
      <p:sp>
        <p:nvSpPr>
          <p:cNvPr id="22" name="gq_473"/>
          <p:cNvSpPr/>
          <p:nvPr/>
        </p:nvSpPr>
        <p:spPr>
          <a:xfrm>
            <a:off x="3383280" y="1417320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  In the pub, Colin has to…</a:t>
            </a:r>
            <a:endParaRPr lang="en-US" sz="1200" dirty="0"/>
          </a:p>
        </p:txBody>
      </p:sp>
      <p:sp>
        <p:nvSpPr>
          <p:cNvPr id="23" name="R1_chip474"/>
          <p:cNvSpPr/>
          <p:nvPr/>
        </p:nvSpPr>
        <p:spPr>
          <a:xfrm>
            <a:off x="6812280" y="1417320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talk to strangers</a:t>
            </a:r>
            <a:endParaRPr lang="en-US" sz="1200" dirty="0"/>
          </a:p>
        </p:txBody>
      </p:sp>
      <p:sp>
        <p:nvSpPr>
          <p:cNvPr id="24" name="gq_475"/>
          <p:cNvSpPr/>
          <p:nvPr/>
        </p:nvSpPr>
        <p:spPr>
          <a:xfrm>
            <a:off x="3383280" y="1938528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  Sheikh helps him by…</a:t>
            </a:r>
            <a:endParaRPr lang="en-US" sz="1200" dirty="0"/>
          </a:p>
        </p:txBody>
      </p:sp>
      <p:sp>
        <p:nvSpPr>
          <p:cNvPr id="25" name="R2_chip476"/>
          <p:cNvSpPr/>
          <p:nvPr/>
        </p:nvSpPr>
        <p:spPr>
          <a:xfrm>
            <a:off x="6812280" y="1938528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giving advice: make eye contact, don't cross your arms</a:t>
            </a:r>
            <a:endParaRPr lang="en-US" sz="850" dirty="0"/>
          </a:p>
        </p:txBody>
      </p:sp>
      <p:sp>
        <p:nvSpPr>
          <p:cNvPr id="26" name="gq_477"/>
          <p:cNvSpPr/>
          <p:nvPr/>
        </p:nvSpPr>
        <p:spPr>
          <a:xfrm>
            <a:off x="3383280" y="2459736"/>
            <a:ext cx="3337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  In the end, Colin thinks charisma is about…</a:t>
            </a:r>
            <a:endParaRPr lang="en-US" sz="1200" dirty="0"/>
          </a:p>
        </p:txBody>
      </p:sp>
      <p:sp>
        <p:nvSpPr>
          <p:cNvPr id="27" name="R3_chip478"/>
          <p:cNvSpPr/>
          <p:nvPr/>
        </p:nvSpPr>
        <p:spPr>
          <a:xfrm>
            <a:off x="6812280" y="2459736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understanding who you really are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7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audio>
              <p:cMediaNode vol="80000">
                <p:cTn id="2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  <p:audio>
              <p:cMediaNode vol="80000">
                <p:cTn id="2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79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17</a:t>
            </a:r>
            <a:endParaRPr lang="en-US" sz="2200" dirty="0"/>
          </a:p>
        </p:txBody>
      </p:sp>
      <p:pic>
        <p:nvPicPr>
          <p:cNvPr id="4" name="brY_480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1989734" cy="621792"/>
          </a:xfrm>
          <a:prstGeom prst="rect">
            <a:avLst/>
          </a:prstGeom>
        </p:spPr>
      </p:pic>
      <p:sp>
        <p:nvSpPr>
          <p:cNvPr id="5" name="title_481"/>
          <p:cNvSpPr/>
          <p:nvPr/>
        </p:nvSpPr>
        <p:spPr>
          <a:xfrm>
            <a:off x="1261872" y="164592"/>
            <a:ext cx="17154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Mime it!</a:t>
            </a:r>
            <a:endParaRPr lang="en-US" sz="2500" dirty="0"/>
          </a:p>
        </p:txBody>
      </p:sp>
      <p:pic>
        <p:nvPicPr>
          <p:cNvPr id="6" name="brP_482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901184" cy="402336"/>
          </a:xfrm>
          <a:prstGeom prst="rect">
            <a:avLst/>
          </a:prstGeom>
        </p:spPr>
      </p:pic>
      <p:sp>
        <p:nvSpPr>
          <p:cNvPr id="7" name="ins_483"/>
          <p:cNvSpPr/>
          <p:nvPr/>
        </p:nvSpPr>
        <p:spPr>
          <a:xfrm>
            <a:off x="1353312" y="731520"/>
            <a:ext cx="4645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Mime the action. Your team says the FULL phrase!</a:t>
            </a:r>
            <a:endParaRPr lang="en-US" sz="1250" dirty="0"/>
          </a:p>
        </p:txBody>
      </p:sp>
      <p:sp>
        <p:nvSpPr>
          <p:cNvPr id="8" name="insIT_484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Mima l'azione. La tua squadra dice la frase COMPLETA!</a:t>
            </a:r>
            <a:endParaRPr lang="en-US" sz="950" dirty="0"/>
          </a:p>
        </p:txBody>
      </p:sp>
      <p:sp>
        <p:nvSpPr>
          <p:cNvPr id="9" name="note_485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🎲 PLAY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GIOCA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🏆 teams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 · Communicative game</a:t>
            </a:r>
            <a:endParaRPr lang="en-US" sz="1250" dirty="0"/>
          </a:p>
        </p:txBody>
      </p:sp>
      <p:pic>
        <p:nvPicPr>
          <p:cNvPr id="10" name="logo_486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487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6B-2 · Game · body-language mime   ·   📖 SB p.63 · 5h</a:t>
            </a:r>
            <a:endParaRPr lang="en-US" sz="800" dirty="0"/>
          </a:p>
        </p:txBody>
      </p:sp>
      <p:sp>
        <p:nvSpPr>
          <p:cNvPr id="12" name="cd_488"/>
          <p:cNvSpPr/>
          <p:nvPr/>
        </p:nvSpPr>
        <p:spPr>
          <a:xfrm>
            <a:off x="320040" y="1417320"/>
            <a:ext cx="2697480" cy="2514600"/>
          </a:xfrm>
          <a:prstGeom prst="roundRect">
            <a:avLst>
              <a:gd name="adj" fmla="val 5091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489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🎲</a:t>
            </a:r>
            <a:endParaRPr lang="en-US" sz="2200" dirty="0"/>
          </a:p>
        </p:txBody>
      </p:sp>
      <p:sp>
        <p:nvSpPr>
          <p:cNvPr id="14" name="ih_490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to play</a:t>
            </a:r>
            <a:endParaRPr lang="en-US" sz="1400" dirty="0"/>
          </a:p>
        </p:txBody>
      </p:sp>
      <p:sp>
        <p:nvSpPr>
          <p:cNvPr id="15" name="il_491"/>
          <p:cNvSpPr/>
          <p:nvPr/>
        </p:nvSpPr>
        <p:spPr>
          <a:xfrm>
            <a:off x="886968" y="1911096"/>
            <a:ext cx="2039112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mimer looks at the screen – the team does NOT.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 "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Il mimo guarda lo schermo – la squadra NO.</a:t>
            </a:r>
            <a:endParaRPr lang="en-US" sz="9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Mime it: no words, no sounds!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 "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Mima: niente parole, niente suoni!</a:t>
            </a:r>
            <a:endParaRPr lang="en-US" sz="9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Team: 'You're shaking hands!' Full phrase = 1 point.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 "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Squadra: frase completa = 1 punto.</a:t>
            </a:r>
            <a:endParaRPr lang="en-US" sz="900" dirty="0"/>
          </a:p>
        </p:txBody>
      </p:sp>
      <p:sp>
        <p:nvSpPr>
          <p:cNvPr id="16" name="st_492"/>
          <p:cNvSpPr/>
          <p:nvPr/>
        </p:nvSpPr>
        <p:spPr>
          <a:xfrm rot="-180000">
            <a:off x="502920" y="4114800"/>
            <a:ext cx="2286000" cy="594360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TEAM A  ☆☆☆☆☆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TEAM B  ☆☆☆☆☆</a:t>
            </a:r>
            <a:endParaRPr lang="en-US" sz="1250" dirty="0"/>
          </a:p>
        </p:txBody>
      </p:sp>
      <p:sp>
        <p:nvSpPr>
          <p:cNvPr id="17" name="bd_493"/>
          <p:cNvSpPr/>
          <p:nvPr/>
        </p:nvSpPr>
        <p:spPr>
          <a:xfrm>
            <a:off x="3246120" y="1491234"/>
            <a:ext cx="329184" cy="329184"/>
          </a:xfrm>
          <a:prstGeom prst="ellipse">
            <a:avLst/>
          </a:prstGeom>
          <a:solidFill>
            <a:srgbClr val="7B5CD6"/>
          </a:solidFill>
          <a:ln w="28575">
            <a:solidFill>
              <a:srgbClr val="CDBFF3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e.g.</a:t>
            </a:r>
            <a:endParaRPr lang="en-US" sz="500" dirty="0"/>
          </a:p>
        </p:txBody>
      </p:sp>
      <p:sp>
        <p:nvSpPr>
          <p:cNvPr id="18" name="gq_494"/>
          <p:cNvSpPr/>
          <p:nvPr/>
        </p:nvSpPr>
        <p:spPr>
          <a:xfrm>
            <a:off x="3657600" y="141732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EEE8FB"/>
          </a:solidFill>
          <a:ln w="28575">
            <a:solidFill>
              <a:srgbClr val="CDBFF3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SHAKE HANDS</a:t>
            </a:r>
            <a:endParaRPr lang="en-US" sz="1250" dirty="0"/>
          </a:p>
        </p:txBody>
      </p:sp>
      <p:sp>
        <p:nvSpPr>
          <p:cNvPr id="19" name="chip_495"/>
          <p:cNvSpPr/>
          <p:nvPr/>
        </p:nvSpPr>
        <p:spPr>
          <a:xfrm>
            <a:off x="6263640" y="141732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EEE8FB"/>
          </a:solidFill>
          <a:ln w="28575">
            <a:solidFill>
              <a:srgbClr val="CDBFF3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You're shaking hands!</a:t>
            </a:r>
            <a:endParaRPr lang="en-US" sz="1200" dirty="0"/>
          </a:p>
        </p:txBody>
      </p:sp>
      <p:sp>
        <p:nvSpPr>
          <p:cNvPr id="20" name="bd_496"/>
          <p:cNvSpPr/>
          <p:nvPr/>
        </p:nvSpPr>
        <p:spPr>
          <a:xfrm>
            <a:off x="3246120" y="2032254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gq_497"/>
          <p:cNvSpPr/>
          <p:nvPr/>
        </p:nvSpPr>
        <p:spPr>
          <a:xfrm>
            <a:off x="3657600" y="195834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CROSS YOUR ARMS</a:t>
            </a:r>
            <a:endParaRPr lang="en-US" sz="1250" dirty="0"/>
          </a:p>
        </p:txBody>
      </p:sp>
      <p:sp>
        <p:nvSpPr>
          <p:cNvPr id="22" name="R1_chip498"/>
          <p:cNvSpPr/>
          <p:nvPr/>
        </p:nvSpPr>
        <p:spPr>
          <a:xfrm>
            <a:off x="6263640" y="195834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You're crossing your arms!</a:t>
            </a:r>
            <a:endParaRPr lang="en-US" sz="1200" dirty="0"/>
          </a:p>
        </p:txBody>
      </p:sp>
      <p:sp>
        <p:nvSpPr>
          <p:cNvPr id="23" name="bd_499"/>
          <p:cNvSpPr/>
          <p:nvPr/>
        </p:nvSpPr>
        <p:spPr>
          <a:xfrm>
            <a:off x="3246120" y="2573274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gq_500"/>
          <p:cNvSpPr/>
          <p:nvPr/>
        </p:nvSpPr>
        <p:spPr>
          <a:xfrm>
            <a:off x="3657600" y="249936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GIVE A THUMBS UP</a:t>
            </a:r>
            <a:endParaRPr lang="en-US" sz="1250" dirty="0"/>
          </a:p>
        </p:txBody>
      </p:sp>
      <p:sp>
        <p:nvSpPr>
          <p:cNvPr id="25" name="R2_chip501"/>
          <p:cNvSpPr/>
          <p:nvPr/>
        </p:nvSpPr>
        <p:spPr>
          <a:xfrm>
            <a:off x="6263640" y="249936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You're giving a thumbs up!</a:t>
            </a:r>
            <a:endParaRPr lang="en-US" sz="1200" dirty="0"/>
          </a:p>
        </p:txBody>
      </p:sp>
      <p:sp>
        <p:nvSpPr>
          <p:cNvPr id="26" name="bd_502"/>
          <p:cNvSpPr/>
          <p:nvPr/>
        </p:nvSpPr>
        <p:spPr>
          <a:xfrm>
            <a:off x="3246120" y="3114294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gq_503"/>
          <p:cNvSpPr/>
          <p:nvPr/>
        </p:nvSpPr>
        <p:spPr>
          <a:xfrm>
            <a:off x="3657600" y="304038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STAND WITH YOUR FEET APART</a:t>
            </a:r>
            <a:endParaRPr lang="en-US" sz="1250" dirty="0"/>
          </a:p>
        </p:txBody>
      </p:sp>
      <p:sp>
        <p:nvSpPr>
          <p:cNvPr id="28" name="R3_chip504"/>
          <p:cNvSpPr/>
          <p:nvPr/>
        </p:nvSpPr>
        <p:spPr>
          <a:xfrm>
            <a:off x="6263640" y="304038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You're standing with your feet apart!</a:t>
            </a:r>
            <a:endParaRPr lang="en-US" sz="1200" dirty="0"/>
          </a:p>
        </p:txBody>
      </p:sp>
      <p:sp>
        <p:nvSpPr>
          <p:cNvPr id="29" name="bd_505"/>
          <p:cNvSpPr/>
          <p:nvPr/>
        </p:nvSpPr>
        <p:spPr>
          <a:xfrm>
            <a:off x="3246120" y="3655314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gq_506"/>
          <p:cNvSpPr/>
          <p:nvPr/>
        </p:nvSpPr>
        <p:spPr>
          <a:xfrm>
            <a:off x="3657600" y="358140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CHIN UP, SHOULDERS BACK</a:t>
            </a:r>
            <a:endParaRPr lang="en-US" sz="1250" dirty="0"/>
          </a:p>
        </p:txBody>
      </p:sp>
      <p:sp>
        <p:nvSpPr>
          <p:cNvPr id="31" name="R4_chip507"/>
          <p:cNvSpPr/>
          <p:nvPr/>
        </p:nvSpPr>
        <p:spPr>
          <a:xfrm>
            <a:off x="6263640" y="358140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You've got your chin up and your shoulders back!</a:t>
            </a:r>
            <a:endParaRPr lang="en-US" sz="1200" dirty="0"/>
          </a:p>
        </p:txBody>
      </p:sp>
      <p:sp>
        <p:nvSpPr>
          <p:cNvPr id="32" name="bd_508"/>
          <p:cNvSpPr/>
          <p:nvPr/>
        </p:nvSpPr>
        <p:spPr>
          <a:xfrm>
            <a:off x="3246120" y="4196334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gq_509"/>
          <p:cNvSpPr/>
          <p:nvPr/>
        </p:nvSpPr>
        <p:spPr>
          <a:xfrm>
            <a:off x="3657600" y="412242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MAKE EYE CONTACT</a:t>
            </a:r>
            <a:endParaRPr lang="en-US" sz="1250" dirty="0"/>
          </a:p>
        </p:txBody>
      </p:sp>
      <p:sp>
        <p:nvSpPr>
          <p:cNvPr id="34" name="R5_chip510"/>
          <p:cNvSpPr/>
          <p:nvPr/>
        </p:nvSpPr>
        <p:spPr>
          <a:xfrm>
            <a:off x="6263640" y="412242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You're making eye contact!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511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18</a:t>
            </a:r>
            <a:endParaRPr lang="en-US" sz="2200" dirty="0"/>
          </a:p>
        </p:txBody>
      </p:sp>
      <p:pic>
        <p:nvPicPr>
          <p:cNvPr id="4" name="brY_512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5449824" cy="621792"/>
          </a:xfrm>
          <a:prstGeom prst="rect">
            <a:avLst/>
          </a:prstGeom>
        </p:spPr>
      </p:pic>
      <p:sp>
        <p:nvSpPr>
          <p:cNvPr id="5" name="title_513"/>
          <p:cNvSpPr/>
          <p:nvPr/>
        </p:nvSpPr>
        <p:spPr>
          <a:xfrm>
            <a:off x="1261872" y="164592"/>
            <a:ext cx="5175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Can you really learn charisma?</a:t>
            </a:r>
            <a:endParaRPr lang="en-US" sz="2500" dirty="0"/>
          </a:p>
        </p:txBody>
      </p:sp>
      <p:pic>
        <p:nvPicPr>
          <p:cNvPr id="6" name="brP_514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945636" cy="402336"/>
          </a:xfrm>
          <a:prstGeom prst="rect">
            <a:avLst/>
          </a:prstGeom>
        </p:spPr>
      </p:pic>
      <p:sp>
        <p:nvSpPr>
          <p:cNvPr id="7" name="ins_515"/>
          <p:cNvSpPr/>
          <p:nvPr/>
        </p:nvSpPr>
        <p:spPr>
          <a:xfrm>
            <a:off x="1353312" y="731520"/>
            <a:ext cx="36896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Discuss in groups of 3. Give reasons!</a:t>
            </a:r>
            <a:endParaRPr lang="en-US" sz="1250" dirty="0"/>
          </a:p>
        </p:txBody>
      </p:sp>
      <p:sp>
        <p:nvSpPr>
          <p:cNvPr id="8" name="insIT_516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Discuti in gruppi di 3. Spiega perché!</a:t>
            </a:r>
            <a:endParaRPr lang="en-US" sz="950" dirty="0"/>
          </a:p>
        </p:txBody>
      </p:sp>
      <p:sp>
        <p:nvSpPr>
          <p:cNvPr id="9" name="note_517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PARLA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👨‍👩‍👧 groups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 · Communicative</a:t>
            </a:r>
            <a:endParaRPr lang="en-US" sz="1250" dirty="0"/>
          </a:p>
        </p:txBody>
      </p:sp>
      <p:pic>
        <p:nvPicPr>
          <p:cNvPr id="10" name="logo_518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519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6B-2 · Speaking · discussion   ·   📖 SB p.63 · 5i</a:t>
            </a:r>
            <a:endParaRPr lang="en-US" sz="800" dirty="0"/>
          </a:p>
        </p:txBody>
      </p:sp>
      <p:sp>
        <p:nvSpPr>
          <p:cNvPr id="12" name="pf_520"/>
          <p:cNvSpPr/>
          <p:nvPr/>
        </p:nvSpPr>
        <p:spPr>
          <a:xfrm rot="-120000">
            <a:off x="1206673" y="1371600"/>
            <a:ext cx="1015654" cy="1325880"/>
          </a:xfrm>
          <a:prstGeom prst="roundRect">
            <a:avLst>
              <a:gd name="adj" fmla="val 153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3" name="ph_521" descr="/home/claude/lls-course/v2/cache/6B_2_colin_jpg_222x297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1252393" y="1417320"/>
            <a:ext cx="924214" cy="1234440"/>
          </a:xfrm>
          <a:prstGeom prst="rect">
            <a:avLst/>
          </a:prstGeom>
        </p:spPr>
      </p:pic>
      <p:sp>
        <p:nvSpPr>
          <p:cNvPr id="14" name="cd_522"/>
          <p:cNvSpPr/>
          <p:nvPr/>
        </p:nvSpPr>
        <p:spPr>
          <a:xfrm>
            <a:off x="320040" y="2880360"/>
            <a:ext cx="2788920" cy="1874520"/>
          </a:xfrm>
          <a:prstGeom prst="roundRect">
            <a:avLst>
              <a:gd name="adj" fmla="val 6829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523"/>
          <p:cNvSpPr/>
          <p:nvPr/>
        </p:nvSpPr>
        <p:spPr>
          <a:xfrm>
            <a:off x="41148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6" name="ih_524"/>
          <p:cNvSpPr/>
          <p:nvPr/>
        </p:nvSpPr>
        <p:spPr>
          <a:xfrm>
            <a:off x="886968" y="2971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Useful phrases</a:t>
            </a:r>
            <a:endParaRPr lang="en-US" sz="1300" dirty="0"/>
          </a:p>
        </p:txBody>
      </p:sp>
      <p:sp>
        <p:nvSpPr>
          <p:cNvPr id="17" name="il_525"/>
          <p:cNvSpPr/>
          <p:nvPr/>
        </p:nvSpPr>
        <p:spPr>
          <a:xfrm>
            <a:off x="886968" y="3374136"/>
            <a:ext cx="2130552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think you can / can't learn it because…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 depends on…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I'd never pay £150 an hour!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agree / I'm not so sure…</a:t>
            </a:r>
            <a:endParaRPr lang="en-US" sz="1150" dirty="0"/>
          </a:p>
        </p:txBody>
      </p:sp>
      <p:sp>
        <p:nvSpPr>
          <p:cNvPr id="18" name="R1_qb526"/>
          <p:cNvSpPr/>
          <p:nvPr/>
        </p:nvSpPr>
        <p:spPr>
          <a:xfrm>
            <a:off x="3273552" y="1453896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R1_sq527"/>
          <p:cNvSpPr/>
          <p:nvPr/>
        </p:nvSpPr>
        <p:spPr>
          <a:xfrm>
            <a:off x="3675888" y="1417320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Is it possible to teach people to have charisma?</a:t>
            </a:r>
            <a:endParaRPr lang="en-US" sz="1150" dirty="0"/>
          </a:p>
          <a:p>
            <a:pPr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I think you can learn some things, like eye contact.</a:t>
            </a:r>
            <a:endParaRPr lang="en-US" sz="1150" dirty="0"/>
          </a:p>
        </p:txBody>
      </p:sp>
      <p:sp>
        <p:nvSpPr>
          <p:cNvPr id="20" name="R2_qb528"/>
          <p:cNvSpPr/>
          <p:nvPr/>
        </p:nvSpPr>
        <p:spPr>
          <a:xfrm>
            <a:off x="3273552" y="2057400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R2_sq529"/>
          <p:cNvSpPr/>
          <p:nvPr/>
        </p:nvSpPr>
        <p:spPr>
          <a:xfrm>
            <a:off x="3675888" y="2020824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Would you ever do a course like this? Why (not)?</a:t>
            </a:r>
            <a:endParaRPr lang="en-US" sz="1150" dirty="0"/>
          </a:p>
          <a:p>
            <a:pPr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Maybe before a job interview.</a:t>
            </a:r>
            <a:endParaRPr lang="en-US" sz="1150" dirty="0"/>
          </a:p>
        </p:txBody>
      </p:sp>
      <p:sp>
        <p:nvSpPr>
          <p:cNvPr id="22" name="R3_qb530"/>
          <p:cNvSpPr/>
          <p:nvPr/>
        </p:nvSpPr>
        <p:spPr>
          <a:xfrm>
            <a:off x="3273552" y="2660904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R3_sq531"/>
          <p:cNvSpPr/>
          <p:nvPr/>
        </p:nvSpPr>
        <p:spPr>
          <a:xfrm>
            <a:off x="3675888" y="2624328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Is £150 an hour worth it?</a:t>
            </a:r>
            <a:endParaRPr lang="en-US" sz="1150" dirty="0"/>
          </a:p>
          <a:p>
            <a:pPr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No way – I can watch videos online!</a:t>
            </a:r>
            <a:endParaRPr lang="en-US" sz="1150" dirty="0"/>
          </a:p>
        </p:txBody>
      </p:sp>
      <p:sp>
        <p:nvSpPr>
          <p:cNvPr id="24" name="R4_qb532"/>
          <p:cNvSpPr/>
          <p:nvPr/>
        </p:nvSpPr>
        <p:spPr>
          <a:xfrm>
            <a:off x="3273552" y="3264408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R4_sq533"/>
          <p:cNvSpPr/>
          <p:nvPr/>
        </p:nvSpPr>
        <p:spPr>
          <a:xfrm>
            <a:off x="3675888" y="3227832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Which tip will YOU try this week?</a:t>
            </a:r>
            <a:endParaRPr lang="en-US" sz="1150" dirty="0"/>
          </a:p>
          <a:p>
            <a:pPr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I'm going to make more eye contact.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534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19</a:t>
            </a:r>
            <a:endParaRPr lang="en-US" sz="2200" dirty="0"/>
          </a:p>
        </p:txBody>
      </p:sp>
      <p:pic>
        <p:nvPicPr>
          <p:cNvPr id="4" name="brY_535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147011" cy="621792"/>
          </a:xfrm>
          <a:prstGeom prst="rect">
            <a:avLst/>
          </a:prstGeom>
        </p:spPr>
      </p:pic>
      <p:sp>
        <p:nvSpPr>
          <p:cNvPr id="5" name="title_536"/>
          <p:cNvSpPr/>
          <p:nvPr/>
        </p:nvSpPr>
        <p:spPr>
          <a:xfrm>
            <a:off x="1261872" y="164592"/>
            <a:ext cx="187269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· 2 · 1</a:t>
            </a:r>
            <a:endParaRPr lang="en-US" sz="2500" dirty="0"/>
          </a:p>
        </p:txBody>
      </p:sp>
      <p:pic>
        <p:nvPicPr>
          <p:cNvPr id="6" name="brP_537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858768" cy="402336"/>
          </a:xfrm>
          <a:prstGeom prst="rect">
            <a:avLst/>
          </a:prstGeom>
        </p:spPr>
      </p:pic>
      <p:sp>
        <p:nvSpPr>
          <p:cNvPr id="7" name="ins_538"/>
          <p:cNvSpPr/>
          <p:nvPr/>
        </p:nvSpPr>
        <p:spPr>
          <a:xfrm>
            <a:off x="1353312" y="731520"/>
            <a:ext cx="3602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Books closed! What can you remember?</a:t>
            </a:r>
            <a:endParaRPr lang="en-US" sz="1250" dirty="0"/>
          </a:p>
        </p:txBody>
      </p:sp>
      <p:sp>
        <p:nvSpPr>
          <p:cNvPr id="8" name="insIT_539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Libri chiusi! Cosa ricordi?</a:t>
            </a:r>
            <a:endParaRPr lang="en-US" sz="950" dirty="0"/>
          </a:p>
        </p:txBody>
      </p:sp>
      <p:sp>
        <p:nvSpPr>
          <p:cNvPr id="9" name="note_540"/>
          <p:cNvSpPr/>
          <p:nvPr/>
        </p:nvSpPr>
        <p:spPr>
          <a:xfrm rot="180000">
            <a:off x="6382512" y="128016"/>
            <a:ext cx="2029968" cy="74980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2 min   👥 pairs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 · Retrieval</a:t>
            </a:r>
            <a:endParaRPr lang="en-US" sz="1100" dirty="0"/>
          </a:p>
        </p:txBody>
      </p:sp>
      <p:pic>
        <p:nvPicPr>
          <p:cNvPr id="10" name="logo_541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542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6B-2 · Exit · what can you remember?</a:t>
            </a:r>
            <a:endParaRPr lang="en-US" sz="800" dirty="0"/>
          </a:p>
        </p:txBody>
      </p:sp>
      <p:sp>
        <p:nvSpPr>
          <p:cNvPr id="12" name="bd_543"/>
          <p:cNvSpPr/>
          <p:nvPr/>
        </p:nvSpPr>
        <p:spPr>
          <a:xfrm>
            <a:off x="457200" y="1508760"/>
            <a:ext cx="777240" cy="777240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rt_544"/>
          <p:cNvSpPr/>
          <p:nvPr/>
        </p:nvSpPr>
        <p:spPr>
          <a:xfrm>
            <a:off x="1417320" y="158191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Tell me 3 body verbs and the part of the body you use (clap → hands).</a:t>
            </a:r>
            <a:endParaRPr lang="en-US" sz="1400" dirty="0"/>
          </a:p>
        </p:txBody>
      </p:sp>
      <p:sp>
        <p:nvSpPr>
          <p:cNvPr id="14" name="bd_545"/>
          <p:cNvSpPr/>
          <p:nvPr/>
        </p:nvSpPr>
        <p:spPr>
          <a:xfrm>
            <a:off x="457200" y="2468880"/>
            <a:ext cx="777240" cy="777240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rt_546"/>
          <p:cNvSpPr/>
          <p:nvPr/>
        </p:nvSpPr>
        <p:spPr>
          <a:xfrm>
            <a:off x="1417320" y="254203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Tell me 2 tips from the charisma coach.</a:t>
            </a:r>
            <a:endParaRPr lang="en-US" sz="1400" dirty="0"/>
          </a:p>
        </p:txBody>
      </p:sp>
      <p:sp>
        <p:nvSpPr>
          <p:cNvPr id="16" name="bd_547"/>
          <p:cNvSpPr/>
          <p:nvPr/>
        </p:nvSpPr>
        <p:spPr>
          <a:xfrm>
            <a:off x="457200" y="3429000"/>
            <a:ext cx="777240" cy="777240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2600" dirty="0"/>
          </a:p>
        </p:txBody>
      </p:sp>
      <p:sp>
        <p:nvSpPr>
          <p:cNvPr id="17" name="rt_548"/>
          <p:cNvSpPr/>
          <p:nvPr/>
        </p:nvSpPr>
        <p:spPr>
          <a:xfrm>
            <a:off x="1417320" y="350215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Tell me 1 word with two sounds in one (like bike, train, phone).</a:t>
            </a:r>
            <a:endParaRPr lang="en-US" sz="1400" dirty="0"/>
          </a:p>
        </p:txBody>
      </p:sp>
      <p:sp>
        <p:nvSpPr>
          <p:cNvPr id="18" name="cd_549"/>
          <p:cNvSpPr/>
          <p:nvPr/>
        </p:nvSpPr>
        <p:spPr>
          <a:xfrm>
            <a:off x="5669280" y="1417320"/>
            <a:ext cx="3200400" cy="1689608"/>
          </a:xfrm>
          <a:prstGeom prst="roundRect">
            <a:avLst>
              <a:gd name="adj" fmla="val 7577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9" name="ii_550"/>
          <p:cNvSpPr/>
          <p:nvPr/>
        </p:nvSpPr>
        <p:spPr>
          <a:xfrm>
            <a:off x="576072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20" name="ih_551"/>
          <p:cNvSpPr/>
          <p:nvPr/>
        </p:nvSpPr>
        <p:spPr>
          <a:xfrm>
            <a:off x="6236208" y="1508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Homework · Compiti</a:t>
            </a:r>
            <a:endParaRPr lang="en-US" sz="1400" dirty="0"/>
          </a:p>
        </p:txBody>
      </p:sp>
      <p:sp>
        <p:nvSpPr>
          <p:cNvPr id="21" name="il_552"/>
          <p:cNvSpPr/>
          <p:nvPr/>
        </p:nvSpPr>
        <p:spPr>
          <a:xfrm>
            <a:off x="6236208" y="1911096"/>
            <a:ext cx="2542032" cy="1122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Workbook 6B: 2a, 2b, 2c, 2d, 3a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Vocabulary Bank p.160: test yourself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Homework sheet in the LLS app</a:t>
            </a:r>
            <a:endParaRPr lang="en-US" sz="1150" dirty="0"/>
          </a:p>
        </p:txBody>
      </p:sp>
      <p:sp>
        <p:nvSpPr>
          <p:cNvPr id="22" name="st_553"/>
          <p:cNvSpPr/>
          <p:nvPr/>
        </p:nvSpPr>
        <p:spPr>
          <a:xfrm rot="-180000">
            <a:off x="5806440" y="3483864"/>
            <a:ext cx="2926080" cy="685800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Next lesson: Revise and Check 5 &amp; 6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554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20</a:t>
            </a:r>
            <a:endParaRPr lang="en-US" sz="2200" dirty="0"/>
          </a:p>
        </p:txBody>
      </p:sp>
      <p:pic>
        <p:nvPicPr>
          <p:cNvPr id="4" name="brY_555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304288" cy="621792"/>
          </a:xfrm>
          <a:prstGeom prst="rect">
            <a:avLst/>
          </a:prstGeom>
        </p:spPr>
      </p:pic>
      <p:sp>
        <p:nvSpPr>
          <p:cNvPr id="5" name="title_556"/>
          <p:cNvSpPr/>
          <p:nvPr/>
        </p:nvSpPr>
        <p:spPr>
          <a:xfrm>
            <a:off x="1261872" y="164592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 you…</a:t>
            </a:r>
            <a:endParaRPr lang="en-US" sz="2400" dirty="0"/>
          </a:p>
        </p:txBody>
      </p:sp>
      <p:pic>
        <p:nvPicPr>
          <p:cNvPr id="6" name="brP_557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553712" cy="402336"/>
          </a:xfrm>
          <a:prstGeom prst="rect">
            <a:avLst/>
          </a:prstGeom>
        </p:spPr>
      </p:pic>
      <p:sp>
        <p:nvSpPr>
          <p:cNvPr id="7" name="ins_558"/>
          <p:cNvSpPr/>
          <p:nvPr/>
        </p:nvSpPr>
        <p:spPr>
          <a:xfrm>
            <a:off x="1353312" y="731520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you do it now? Thumbs up or thumbs down!</a:t>
            </a:r>
            <a:endParaRPr lang="en-US" sz="1250" dirty="0"/>
          </a:p>
        </p:txBody>
      </p:sp>
      <p:sp>
        <p:nvSpPr>
          <p:cNvPr id="8" name="insIT_559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Ora sai farlo? Pollice su o pollice giù!</a:t>
            </a:r>
            <a:endParaRPr lang="en-US" sz="950" dirty="0"/>
          </a:p>
        </p:txBody>
      </p:sp>
      <p:sp>
        <p:nvSpPr>
          <p:cNvPr id="9" name="note_560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PENSA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1 min   🙋 whole class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 · Reflection</a:t>
            </a:r>
            <a:endParaRPr lang="en-US" sz="1250" dirty="0"/>
          </a:p>
        </p:txBody>
      </p:sp>
      <p:pic>
        <p:nvPicPr>
          <p:cNvPr id="10" name="logo_561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562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6B-2 · Review · what did you do today?</a:t>
            </a:r>
            <a:endParaRPr lang="en-US" sz="800" dirty="0"/>
          </a:p>
        </p:txBody>
      </p:sp>
      <p:sp>
        <p:nvSpPr>
          <p:cNvPr id="12" name="cd_563"/>
          <p:cNvSpPr/>
          <p:nvPr/>
        </p:nvSpPr>
        <p:spPr>
          <a:xfrm>
            <a:off x="548640" y="1417320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te_564"/>
          <p:cNvSpPr/>
          <p:nvPr/>
        </p:nvSpPr>
        <p:spPr>
          <a:xfrm>
            <a:off x="640080" y="1453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🖐️</a:t>
            </a:r>
            <a:endParaRPr lang="en-US" sz="1800" dirty="0"/>
          </a:p>
        </p:txBody>
      </p:sp>
      <p:sp>
        <p:nvSpPr>
          <p:cNvPr id="14" name="tt_565"/>
          <p:cNvSpPr/>
          <p:nvPr/>
        </p:nvSpPr>
        <p:spPr>
          <a:xfrm>
            <a:off x="1188720" y="141732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Learnt parts of the body and body verbs</a:t>
            </a:r>
            <a:endParaRPr lang="en-US" sz="1350" dirty="0"/>
          </a:p>
        </p:txBody>
      </p:sp>
      <p:sp>
        <p:nvSpPr>
          <p:cNvPr id="15" name="R1_tk566"/>
          <p:cNvSpPr/>
          <p:nvPr/>
        </p:nvSpPr>
        <p:spPr>
          <a:xfrm>
            <a:off x="5989320" y="145389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6" name="cd_567"/>
          <p:cNvSpPr/>
          <p:nvPr/>
        </p:nvSpPr>
        <p:spPr>
          <a:xfrm>
            <a:off x="548640" y="2020824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7" name="te_568"/>
          <p:cNvSpPr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🔊</a:t>
            </a:r>
            <a:endParaRPr lang="en-US" sz="1800" dirty="0"/>
          </a:p>
        </p:txBody>
      </p:sp>
      <p:sp>
        <p:nvSpPr>
          <p:cNvPr id="18" name="tt_569"/>
          <p:cNvSpPr/>
          <p:nvPr/>
        </p:nvSpPr>
        <p:spPr>
          <a:xfrm>
            <a:off x="1188720" y="2020824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Said 'two sounds in one': bike, train, phone…</a:t>
            </a:r>
            <a:endParaRPr lang="en-US" sz="1350" dirty="0"/>
          </a:p>
        </p:txBody>
      </p:sp>
      <p:sp>
        <p:nvSpPr>
          <p:cNvPr id="19" name="R2_tk570"/>
          <p:cNvSpPr/>
          <p:nvPr/>
        </p:nvSpPr>
        <p:spPr>
          <a:xfrm>
            <a:off x="5989320" y="20574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0" name="cd_571"/>
          <p:cNvSpPr/>
          <p:nvPr/>
        </p:nvSpPr>
        <p:spPr>
          <a:xfrm>
            <a:off x="548640" y="2624328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1" name="te_572"/>
          <p:cNvSpPr/>
          <p:nvPr/>
        </p:nvSpPr>
        <p:spPr>
          <a:xfrm>
            <a:off x="640080" y="2660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📖</a:t>
            </a:r>
            <a:endParaRPr lang="en-US" sz="1800" dirty="0"/>
          </a:p>
        </p:txBody>
      </p:sp>
      <p:sp>
        <p:nvSpPr>
          <p:cNvPr id="22" name="tt_573"/>
          <p:cNvSpPr/>
          <p:nvPr/>
        </p:nvSpPr>
        <p:spPr>
          <a:xfrm>
            <a:off x="1188720" y="2624328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and listened: can you LEARN charisma?</a:t>
            </a:r>
            <a:endParaRPr lang="en-US" sz="1350" dirty="0"/>
          </a:p>
        </p:txBody>
      </p:sp>
      <p:sp>
        <p:nvSpPr>
          <p:cNvPr id="23" name="R3_tk574"/>
          <p:cNvSpPr/>
          <p:nvPr/>
        </p:nvSpPr>
        <p:spPr>
          <a:xfrm>
            <a:off x="5989320" y="266090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4" name="cd_575"/>
          <p:cNvSpPr/>
          <p:nvPr/>
        </p:nvSpPr>
        <p:spPr>
          <a:xfrm>
            <a:off x="548640" y="3227832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5" name="te_576"/>
          <p:cNvSpPr/>
          <p:nvPr/>
        </p:nvSpPr>
        <p:spPr>
          <a:xfrm>
            <a:off x="640080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📖</a:t>
            </a:r>
            <a:endParaRPr lang="en-US" sz="1800" dirty="0"/>
          </a:p>
        </p:txBody>
      </p:sp>
      <p:sp>
        <p:nvSpPr>
          <p:cNvPr id="26" name="tt_577"/>
          <p:cNvSpPr/>
          <p:nvPr/>
        </p:nvSpPr>
        <p:spPr>
          <a:xfrm>
            <a:off x="1188720" y="3227832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Listened to a class story and answered questions</a:t>
            </a:r>
            <a:endParaRPr lang="en-US" sz="1350" dirty="0"/>
          </a:p>
        </p:txBody>
      </p:sp>
      <p:sp>
        <p:nvSpPr>
          <p:cNvPr id="27" name="R4_tk578"/>
          <p:cNvSpPr/>
          <p:nvPr/>
        </p:nvSpPr>
        <p:spPr>
          <a:xfrm>
            <a:off x="5989320" y="326440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8" name="cd_579"/>
          <p:cNvSpPr/>
          <p:nvPr/>
        </p:nvSpPr>
        <p:spPr>
          <a:xfrm>
            <a:off x="548640" y="3831336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9" name="te_580"/>
          <p:cNvSpPr/>
          <p:nvPr/>
        </p:nvSpPr>
        <p:spPr>
          <a:xfrm>
            <a:off x="64008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🎭</a:t>
            </a:r>
            <a:endParaRPr lang="en-US" sz="1800" dirty="0"/>
          </a:p>
        </p:txBody>
      </p:sp>
      <p:sp>
        <p:nvSpPr>
          <p:cNvPr id="30" name="tt_581"/>
          <p:cNvSpPr/>
          <p:nvPr/>
        </p:nvSpPr>
        <p:spPr>
          <a:xfrm>
            <a:off x="1188720" y="3831336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Played a body-language mime game</a:t>
            </a:r>
            <a:endParaRPr lang="en-US" sz="1350" dirty="0"/>
          </a:p>
        </p:txBody>
      </p:sp>
      <p:sp>
        <p:nvSpPr>
          <p:cNvPr id="31" name="R5_tk582"/>
          <p:cNvSpPr/>
          <p:nvPr/>
        </p:nvSpPr>
        <p:spPr>
          <a:xfrm>
            <a:off x="5989320" y="38679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2" name="st_583"/>
          <p:cNvSpPr/>
          <p:nvPr/>
        </p:nvSpPr>
        <p:spPr>
          <a:xfrm rot="180000">
            <a:off x="6949440" y="1691640"/>
            <a:ext cx="1828800" cy="1188720"/>
          </a:xfrm>
          <a:prstGeom prst="rect">
            <a:avLst/>
          </a:prstGeom>
          <a:solidFill>
            <a:srgbClr val="FFE07A"/>
          </a:solidFill>
          <a:ln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👍  👌  👎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Can you do it now?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Ora sai farlo?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v_584"/>
          <p:cNvSpPr/>
          <p:nvPr/>
        </p:nvSpPr>
        <p:spPr>
          <a:xfrm>
            <a:off x="4023360" y="91440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⭐</a:t>
            </a:r>
            <a:endParaRPr lang="en-US" sz="5400" dirty="0"/>
          </a:p>
        </p:txBody>
      </p:sp>
      <p:sp>
        <p:nvSpPr>
          <p:cNvPr id="4" name="dvt_585"/>
          <p:cNvSpPr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Optional extensions</a:t>
            </a:r>
            <a:endParaRPr lang="en-US" sz="3400" dirty="0"/>
          </a:p>
        </p:txBody>
      </p:sp>
      <p:sp>
        <p:nvSpPr>
          <p:cNvPr id="5" name="dvs_586"/>
          <p:cNvSpPr/>
          <p:nvPr/>
        </p:nvSpPr>
        <p:spPr>
          <a:xfrm>
            <a:off x="914400" y="2606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Only if there's time – the lesson is finished. · Solo se c'è tempo – la lezione è finita.</a:t>
            </a:r>
            <a:endParaRPr lang="en-US" sz="1250" dirty="0"/>
          </a:p>
        </p:txBody>
      </p:sp>
      <p:pic>
        <p:nvPicPr>
          <p:cNvPr id="6" name="logo_587" descr="/home/claude/lls-course/v2/img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5632" y="4526280"/>
            <a:ext cx="502920" cy="50292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588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7B5CD6"/>
          </a:solidFill>
          <a:ln w="28575">
            <a:solidFill>
              <a:srgbClr val="CDBFF3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22</a:t>
            </a:r>
            <a:endParaRPr lang="en-US" sz="2200" dirty="0"/>
          </a:p>
        </p:txBody>
      </p:sp>
      <p:pic>
        <p:nvPicPr>
          <p:cNvPr id="4" name="brY_589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5292547" cy="621792"/>
          </a:xfrm>
          <a:prstGeom prst="rect">
            <a:avLst/>
          </a:prstGeom>
        </p:spPr>
      </p:pic>
      <p:sp>
        <p:nvSpPr>
          <p:cNvPr id="5" name="title_590"/>
          <p:cNvSpPr/>
          <p:nvPr/>
        </p:nvSpPr>
        <p:spPr>
          <a:xfrm>
            <a:off x="1261872" y="164592"/>
            <a:ext cx="501822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day with a personal stylist</a:t>
            </a:r>
            <a:endParaRPr lang="en-US" sz="2500" dirty="0"/>
          </a:p>
        </p:txBody>
      </p:sp>
      <p:pic>
        <p:nvPicPr>
          <p:cNvPr id="6" name="brP_591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771900" cy="402336"/>
          </a:xfrm>
          <a:prstGeom prst="rect">
            <a:avLst/>
          </a:prstGeom>
        </p:spPr>
      </p:pic>
      <p:sp>
        <p:nvSpPr>
          <p:cNvPr id="7" name="ins_592"/>
          <p:cNvSpPr/>
          <p:nvPr/>
        </p:nvSpPr>
        <p:spPr>
          <a:xfrm>
            <a:off x="1353312" y="731520"/>
            <a:ext cx="35158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Watch Part 1. Answer the questions.</a:t>
            </a:r>
            <a:endParaRPr lang="en-US" sz="1250" dirty="0"/>
          </a:p>
        </p:txBody>
      </p:sp>
      <p:sp>
        <p:nvSpPr>
          <p:cNvPr id="8" name="insIT_593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Guarda la Parte 1. Rispondi alle domande.</a:t>
            </a:r>
            <a:endParaRPr lang="en-US" sz="950" dirty="0"/>
          </a:p>
        </p:txBody>
      </p:sp>
      <p:sp>
        <p:nvSpPr>
          <p:cNvPr id="9" name="note_594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🎬 WATCH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GUARDA IL VIDEO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7 min   🙋 whole class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Listening · Authentic video</a:t>
            </a:r>
            <a:endParaRPr lang="en-US" sz="1250" dirty="0"/>
          </a:p>
        </p:txBody>
      </p:sp>
      <p:pic>
        <p:nvPicPr>
          <p:cNvPr id="10" name="logo_595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596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6B-2 · Extension · video listening · Part 1   ·   📖 SB p.63 · 6a–6c · video Part 1 (4'42")</a:t>
            </a:r>
            <a:endParaRPr lang="en-US" sz="800" dirty="0"/>
          </a:p>
        </p:txBody>
      </p:sp>
      <p:sp>
        <p:nvSpPr>
          <p:cNvPr id="12" name="ext_597"/>
          <p:cNvSpPr/>
          <p:nvPr/>
        </p:nvSpPr>
        <p:spPr>
          <a:xfrm>
            <a:off x="5120640" y="4727448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EEE8FB"/>
          </a:solidFill>
          <a:ln w="28575">
            <a:solidFill>
              <a:srgbClr val="CDBF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B5CD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OPTIONAL EXTENSION · only if there's time</a:t>
            </a:r>
            <a:endParaRPr lang="en-US" sz="1050" dirty="0"/>
          </a:p>
        </p:txBody>
      </p:sp>
      <p:pic>
        <p:nvPicPr>
          <p:cNvPr id="13" name="Media 0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365760" y="1417320"/>
            <a:ext cx="4480560" cy="2523744"/>
          </a:xfrm>
          <a:prstGeom prst="rect">
            <a:avLst/>
          </a:prstGeom>
        </p:spPr>
      </p:pic>
      <p:sp>
        <p:nvSpPr>
          <p:cNvPr id="14" name="cd_598"/>
          <p:cNvSpPr/>
          <p:nvPr/>
        </p:nvSpPr>
        <p:spPr>
          <a:xfrm>
            <a:off x="320040" y="4069080"/>
            <a:ext cx="4572000" cy="685800"/>
          </a:xfrm>
          <a:prstGeom prst="roundRect">
            <a:avLst>
              <a:gd name="adj" fmla="val 18667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599"/>
          <p:cNvSpPr/>
          <p:nvPr/>
        </p:nvSpPr>
        <p:spPr>
          <a:xfrm>
            <a:off x="411480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6" name="ih_600"/>
          <p:cNvSpPr/>
          <p:nvPr/>
        </p:nvSpPr>
        <p:spPr>
          <a:xfrm>
            <a:off x="886968" y="4160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After watching</a:t>
            </a:r>
            <a:endParaRPr lang="en-US" sz="1200" dirty="0"/>
          </a:p>
        </p:txBody>
      </p:sp>
      <p:sp>
        <p:nvSpPr>
          <p:cNvPr id="17" name="il_601"/>
          <p:cNvSpPr/>
          <p:nvPr/>
        </p:nvSpPr>
        <p:spPr>
          <a:xfrm>
            <a:off x="886968" y="4562856"/>
            <a:ext cx="39136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Which of Sam's outfits do YOU like best? Why?</a:t>
            </a:r>
            <a:endParaRPr lang="en-US" sz="700" dirty="0"/>
          </a:p>
        </p:txBody>
      </p:sp>
      <p:sp>
        <p:nvSpPr>
          <p:cNvPr id="18" name="vq_602"/>
          <p:cNvSpPr/>
          <p:nvPr/>
        </p:nvSpPr>
        <p:spPr>
          <a:xfrm>
            <a:off x="5074920" y="1417320"/>
            <a:ext cx="21031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What's Sam's job?</a:t>
            </a:r>
            <a:endParaRPr lang="en-US" sz="1100" dirty="0"/>
          </a:p>
        </p:txBody>
      </p:sp>
      <p:sp>
        <p:nvSpPr>
          <p:cNvPr id="19" name="R1_chip603"/>
          <p:cNvSpPr/>
          <p:nvPr/>
        </p:nvSpPr>
        <p:spPr>
          <a:xfrm>
            <a:off x="7269480" y="1417320"/>
            <a:ext cx="1600200" cy="566928"/>
          </a:xfrm>
          <a:prstGeom prst="roundRect">
            <a:avLst>
              <a:gd name="adj" fmla="val 16129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 actor</a:t>
            </a:r>
            <a:endParaRPr lang="en-US" sz="1000" dirty="0"/>
          </a:p>
        </p:txBody>
      </p:sp>
      <p:sp>
        <p:nvSpPr>
          <p:cNvPr id="20" name="vq_604"/>
          <p:cNvSpPr/>
          <p:nvPr/>
        </p:nvSpPr>
        <p:spPr>
          <a:xfrm>
            <a:off x="5074920" y="2075688"/>
            <a:ext cx="21031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did he want a stylist?</a:t>
            </a:r>
            <a:endParaRPr lang="en-US" sz="1100" dirty="0"/>
          </a:p>
        </p:txBody>
      </p:sp>
      <p:sp>
        <p:nvSpPr>
          <p:cNvPr id="21" name="R2_chip605"/>
          <p:cNvSpPr/>
          <p:nvPr/>
        </p:nvSpPr>
        <p:spPr>
          <a:xfrm>
            <a:off x="7269480" y="2075688"/>
            <a:ext cx="1600200" cy="566928"/>
          </a:xfrm>
          <a:prstGeom prst="roundRect">
            <a:avLst>
              <a:gd name="adj" fmla="val 16129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his wardrobe was boring – he wanted a new opinion</a:t>
            </a:r>
            <a:endParaRPr lang="en-US" sz="1000" dirty="0"/>
          </a:p>
        </p:txBody>
      </p:sp>
      <p:sp>
        <p:nvSpPr>
          <p:cNvPr id="22" name="vq_606"/>
          <p:cNvSpPr/>
          <p:nvPr/>
        </p:nvSpPr>
        <p:spPr>
          <a:xfrm>
            <a:off x="5074920" y="2734056"/>
            <a:ext cx="21031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Which outfit did Sam like best?</a:t>
            </a:r>
            <a:endParaRPr lang="en-US" sz="1100" dirty="0"/>
          </a:p>
        </p:txBody>
      </p:sp>
      <p:sp>
        <p:nvSpPr>
          <p:cNvPr id="23" name="R3_chip607"/>
          <p:cNvSpPr/>
          <p:nvPr/>
        </p:nvSpPr>
        <p:spPr>
          <a:xfrm>
            <a:off x="7269480" y="2734056"/>
            <a:ext cx="1600200" cy="566928"/>
          </a:xfrm>
          <a:prstGeom prst="roundRect">
            <a:avLst>
              <a:gd name="adj" fmla="val 16129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 – quite bold; he felt very smart</a:t>
            </a:r>
            <a:endParaRPr lang="en-US" sz="1000" dirty="0"/>
          </a:p>
        </p:txBody>
      </p:sp>
      <p:sp>
        <p:nvSpPr>
          <p:cNvPr id="24" name="vq_608"/>
          <p:cNvSpPr/>
          <p:nvPr/>
        </p:nvSpPr>
        <p:spPr>
          <a:xfrm>
            <a:off x="5074920" y="3392424"/>
            <a:ext cx="21031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First thing he did?</a:t>
            </a:r>
            <a:endParaRPr lang="en-US" sz="1100" dirty="0"/>
          </a:p>
        </p:txBody>
      </p:sp>
      <p:sp>
        <p:nvSpPr>
          <p:cNvPr id="25" name="R4_chip609"/>
          <p:cNvSpPr/>
          <p:nvPr/>
        </p:nvSpPr>
        <p:spPr>
          <a:xfrm>
            <a:off x="7269480" y="3392424"/>
            <a:ext cx="1600200" cy="566928"/>
          </a:xfrm>
          <a:prstGeom prst="roundRect">
            <a:avLst>
              <a:gd name="adj" fmla="val 16129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filled in a questionnaire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7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video>
              <p:cMediaNode vol="80000">
                <p:cTn id="28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610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7B5CD6"/>
          </a:solidFill>
          <a:ln w="28575">
            <a:solidFill>
              <a:srgbClr val="CDBFF3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23</a:t>
            </a:r>
            <a:endParaRPr lang="en-US" sz="2200" dirty="0"/>
          </a:p>
        </p:txBody>
      </p:sp>
      <p:pic>
        <p:nvPicPr>
          <p:cNvPr id="4" name="brY_611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719779" cy="621792"/>
          </a:xfrm>
          <a:prstGeom prst="rect">
            <a:avLst/>
          </a:prstGeom>
        </p:spPr>
      </p:pic>
      <p:sp>
        <p:nvSpPr>
          <p:cNvPr id="5" name="title_612"/>
          <p:cNvSpPr/>
          <p:nvPr/>
        </p:nvSpPr>
        <p:spPr>
          <a:xfrm>
            <a:off x="1261872" y="164592"/>
            <a:ext cx="34454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Elin's golden rules</a:t>
            </a:r>
            <a:endParaRPr lang="en-US" sz="2500" dirty="0"/>
          </a:p>
        </p:txBody>
      </p:sp>
      <p:pic>
        <p:nvPicPr>
          <p:cNvPr id="6" name="brP_613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466844" cy="402336"/>
          </a:xfrm>
          <a:prstGeom prst="rect">
            <a:avLst/>
          </a:prstGeom>
        </p:spPr>
      </p:pic>
      <p:sp>
        <p:nvSpPr>
          <p:cNvPr id="7" name="ins_614"/>
          <p:cNvSpPr/>
          <p:nvPr/>
        </p:nvSpPr>
        <p:spPr>
          <a:xfrm>
            <a:off x="1353312" y="731520"/>
            <a:ext cx="42108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Guess the missing words. Then watch Part 2.</a:t>
            </a:r>
            <a:endParaRPr lang="en-US" sz="1250" dirty="0"/>
          </a:p>
        </p:txBody>
      </p:sp>
      <p:sp>
        <p:nvSpPr>
          <p:cNvPr id="8" name="insIT_615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Indovina le parole mancanti. Poi guarda la Parte 2.</a:t>
            </a:r>
            <a:endParaRPr lang="en-US" sz="950" dirty="0"/>
          </a:p>
        </p:txBody>
      </p:sp>
      <p:sp>
        <p:nvSpPr>
          <p:cNvPr id="9" name="note_616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🎬 WATCH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🙋 whole class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Listening · Authentic video</a:t>
            </a:r>
            <a:endParaRPr lang="en-US" sz="1150" dirty="0"/>
          </a:p>
        </p:txBody>
      </p:sp>
      <p:pic>
        <p:nvPicPr>
          <p:cNvPr id="10" name="logo_617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618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6B-2 · Extension · video listening · Part 2   ·   📖 SB p.63 · 6d, 6e · video Part 2 (1'27")</a:t>
            </a:r>
            <a:endParaRPr lang="en-US" sz="800" dirty="0"/>
          </a:p>
        </p:txBody>
      </p:sp>
      <p:sp>
        <p:nvSpPr>
          <p:cNvPr id="12" name="ext_619"/>
          <p:cNvSpPr/>
          <p:nvPr/>
        </p:nvSpPr>
        <p:spPr>
          <a:xfrm>
            <a:off x="5120640" y="4727448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EEE8FB"/>
          </a:solidFill>
          <a:ln w="28575">
            <a:solidFill>
              <a:srgbClr val="CDBF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B5CD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OPTIONAL EXTENSION · only if there's time</a:t>
            </a:r>
            <a:endParaRPr lang="en-US" sz="1050" dirty="0"/>
          </a:p>
        </p:txBody>
      </p:sp>
      <p:pic>
        <p:nvPicPr>
          <p:cNvPr id="13" name="Media 0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365760" y="1417320"/>
            <a:ext cx="4480560" cy="2523744"/>
          </a:xfrm>
          <a:prstGeom prst="rect">
            <a:avLst/>
          </a:prstGeom>
        </p:spPr>
      </p:pic>
      <p:sp>
        <p:nvSpPr>
          <p:cNvPr id="14" name="cd_620"/>
          <p:cNvSpPr/>
          <p:nvPr/>
        </p:nvSpPr>
        <p:spPr>
          <a:xfrm>
            <a:off x="320040" y="4069080"/>
            <a:ext cx="4572000" cy="685800"/>
          </a:xfrm>
          <a:prstGeom prst="roundRect">
            <a:avLst>
              <a:gd name="adj" fmla="val 18667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621"/>
          <p:cNvSpPr/>
          <p:nvPr/>
        </p:nvSpPr>
        <p:spPr>
          <a:xfrm>
            <a:off x="411480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6" name="ih_622"/>
          <p:cNvSpPr/>
          <p:nvPr/>
        </p:nvSpPr>
        <p:spPr>
          <a:xfrm>
            <a:off x="886968" y="4160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After watching</a:t>
            </a:r>
            <a:endParaRPr lang="en-US" sz="1200" dirty="0"/>
          </a:p>
        </p:txBody>
      </p:sp>
      <p:sp>
        <p:nvSpPr>
          <p:cNvPr id="17" name="il_623"/>
          <p:cNvSpPr/>
          <p:nvPr/>
        </p:nvSpPr>
        <p:spPr>
          <a:xfrm>
            <a:off x="886968" y="4562856"/>
            <a:ext cx="39136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you agree with Elin's rules?</a:t>
            </a:r>
            <a:endParaRPr lang="en-US" sz="700" dirty="0"/>
          </a:p>
        </p:txBody>
      </p:sp>
      <p:sp>
        <p:nvSpPr>
          <p:cNvPr id="18" name="vq_624"/>
          <p:cNvSpPr/>
          <p:nvPr/>
        </p:nvSpPr>
        <p:spPr>
          <a:xfrm>
            <a:off x="5074920" y="1417320"/>
            <a:ext cx="21031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 Look at ___ before you go shopping.</a:t>
            </a:r>
            <a:endParaRPr lang="en-US" sz="1100" dirty="0"/>
          </a:p>
        </p:txBody>
      </p:sp>
      <p:sp>
        <p:nvSpPr>
          <p:cNvPr id="19" name="R1_chip625"/>
          <p:cNvSpPr/>
          <p:nvPr/>
        </p:nvSpPr>
        <p:spPr>
          <a:xfrm>
            <a:off x="7269480" y="1417320"/>
            <a:ext cx="1600200" cy="566928"/>
          </a:xfrm>
          <a:prstGeom prst="roundRect">
            <a:avLst>
              <a:gd name="adj" fmla="val 16129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your own wardrobe</a:t>
            </a:r>
            <a:endParaRPr lang="en-US" sz="1000" dirty="0"/>
          </a:p>
        </p:txBody>
      </p:sp>
      <p:sp>
        <p:nvSpPr>
          <p:cNvPr id="20" name="vq_626"/>
          <p:cNvSpPr/>
          <p:nvPr/>
        </p:nvSpPr>
        <p:spPr>
          <a:xfrm>
            <a:off x="5074920" y="2075688"/>
            <a:ext cx="21031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 Stay ___ when you go shopping.</a:t>
            </a:r>
            <a:endParaRPr lang="en-US" sz="1100" dirty="0"/>
          </a:p>
        </p:txBody>
      </p:sp>
      <p:sp>
        <p:nvSpPr>
          <p:cNvPr id="21" name="R2_chip627"/>
          <p:cNvSpPr/>
          <p:nvPr/>
        </p:nvSpPr>
        <p:spPr>
          <a:xfrm>
            <a:off x="7269480" y="2075688"/>
            <a:ext cx="1600200" cy="566928"/>
          </a:xfrm>
          <a:prstGeom prst="roundRect">
            <a:avLst>
              <a:gd name="adj" fmla="val 16129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true to yourself</a:t>
            </a:r>
            <a:endParaRPr lang="en-US" sz="1000" dirty="0"/>
          </a:p>
        </p:txBody>
      </p:sp>
      <p:sp>
        <p:nvSpPr>
          <p:cNvPr id="22" name="vq_628"/>
          <p:cNvSpPr/>
          <p:nvPr/>
        </p:nvSpPr>
        <p:spPr>
          <a:xfrm>
            <a:off x="5074920" y="2734056"/>
            <a:ext cx="21031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 It doesn't matter ___ you've got.</a:t>
            </a:r>
            <a:endParaRPr lang="en-US" sz="1100" dirty="0"/>
          </a:p>
        </p:txBody>
      </p:sp>
      <p:sp>
        <p:nvSpPr>
          <p:cNvPr id="23" name="R3_chip629"/>
          <p:cNvSpPr/>
          <p:nvPr/>
        </p:nvSpPr>
        <p:spPr>
          <a:xfrm>
            <a:off x="7269480" y="2734056"/>
            <a:ext cx="1600200" cy="566928"/>
          </a:xfrm>
          <a:prstGeom prst="roundRect">
            <a:avLst>
              <a:gd name="adj" fmla="val 16129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much money</a:t>
            </a:r>
            <a:endParaRPr lang="en-US" sz="1000" dirty="0"/>
          </a:p>
        </p:txBody>
      </p:sp>
      <p:sp>
        <p:nvSpPr>
          <p:cNvPr id="24" name="vq_630"/>
          <p:cNvSpPr/>
          <p:nvPr/>
        </p:nvSpPr>
        <p:spPr>
          <a:xfrm>
            <a:off x="5074920" y="3392424"/>
            <a:ext cx="21031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 Everyone should have ___.</a:t>
            </a:r>
            <a:endParaRPr lang="en-US" sz="1100" dirty="0"/>
          </a:p>
        </p:txBody>
      </p:sp>
      <p:sp>
        <p:nvSpPr>
          <p:cNvPr id="25" name="R4_chip631"/>
          <p:cNvSpPr/>
          <p:nvPr/>
        </p:nvSpPr>
        <p:spPr>
          <a:xfrm>
            <a:off x="7269480" y="3392424"/>
            <a:ext cx="1600200" cy="566928"/>
          </a:xfrm>
          <a:prstGeom prst="roundRect">
            <a:avLst>
              <a:gd name="adj" fmla="val 16129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good pair of jeans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7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video>
              <p:cMediaNode vol="80000">
                <p:cTn id="28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632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24</a:t>
            </a:r>
            <a:endParaRPr lang="en-US" sz="2200" dirty="0"/>
          </a:p>
        </p:txBody>
      </p:sp>
      <p:pic>
        <p:nvPicPr>
          <p:cNvPr id="4" name="brY_633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090672" cy="621792"/>
          </a:xfrm>
          <a:prstGeom prst="rect">
            <a:avLst/>
          </a:prstGeom>
        </p:spPr>
      </p:pic>
      <p:sp>
        <p:nvSpPr>
          <p:cNvPr id="5" name="title_634"/>
          <p:cNvSpPr/>
          <p:nvPr/>
        </p:nvSpPr>
        <p:spPr>
          <a:xfrm>
            <a:off x="1261872" y="164592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Draw the alien!</a:t>
            </a:r>
            <a:endParaRPr lang="en-US" sz="2500" dirty="0"/>
          </a:p>
        </p:txBody>
      </p:sp>
      <p:pic>
        <p:nvPicPr>
          <p:cNvPr id="6" name="brP_635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640580" cy="402336"/>
          </a:xfrm>
          <a:prstGeom prst="rect">
            <a:avLst/>
          </a:prstGeom>
        </p:spPr>
      </p:pic>
      <p:sp>
        <p:nvSpPr>
          <p:cNvPr id="7" name="ins_636"/>
          <p:cNvSpPr/>
          <p:nvPr/>
        </p:nvSpPr>
        <p:spPr>
          <a:xfrm>
            <a:off x="1353312" y="731520"/>
            <a:ext cx="43845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describes an alien. B draws it. No looking!</a:t>
            </a:r>
            <a:endParaRPr lang="en-US" sz="1250" dirty="0"/>
          </a:p>
        </p:txBody>
      </p:sp>
      <p:sp>
        <p:nvSpPr>
          <p:cNvPr id="8" name="insIT_637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descrive un alieno. B lo disegna. Senza guardare!</a:t>
            </a:r>
            <a:endParaRPr lang="en-US" sz="950" dirty="0"/>
          </a:p>
        </p:txBody>
      </p:sp>
      <p:sp>
        <p:nvSpPr>
          <p:cNvPr id="9" name="note_638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🎲 PLAY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GIOCA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7 min   👥 pairs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 · Communicative game</a:t>
            </a:r>
            <a:endParaRPr lang="en-US" sz="1250" dirty="0"/>
          </a:p>
        </p:txBody>
      </p:sp>
      <p:pic>
        <p:nvPicPr>
          <p:cNvPr id="10" name="logo_639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640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6B-2 · Extension · describe and draw   ·   📖 Extension · body vocabulary</a:t>
            </a:r>
            <a:endParaRPr lang="en-US" sz="800" dirty="0"/>
          </a:p>
        </p:txBody>
      </p:sp>
      <p:sp>
        <p:nvSpPr>
          <p:cNvPr id="12" name="ext_641"/>
          <p:cNvSpPr/>
          <p:nvPr/>
        </p:nvSpPr>
        <p:spPr>
          <a:xfrm>
            <a:off x="5120640" y="4727448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EEE8FB"/>
          </a:solidFill>
          <a:ln w="28575">
            <a:solidFill>
              <a:srgbClr val="CDBF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B5CD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OPTIONAL EXTENSION · only if there's time</a:t>
            </a:r>
            <a:endParaRPr lang="en-US" sz="1050" dirty="0"/>
          </a:p>
        </p:txBody>
      </p:sp>
      <p:sp>
        <p:nvSpPr>
          <p:cNvPr id="13" name="cd_642"/>
          <p:cNvSpPr/>
          <p:nvPr/>
        </p:nvSpPr>
        <p:spPr>
          <a:xfrm>
            <a:off x="320040" y="1417320"/>
            <a:ext cx="2697480" cy="2514600"/>
          </a:xfrm>
          <a:prstGeom prst="roundRect">
            <a:avLst>
              <a:gd name="adj" fmla="val 5091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4" name="ii_643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🎲</a:t>
            </a:r>
            <a:endParaRPr lang="en-US" sz="2200" dirty="0"/>
          </a:p>
        </p:txBody>
      </p:sp>
      <p:sp>
        <p:nvSpPr>
          <p:cNvPr id="15" name="ih_644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to play</a:t>
            </a:r>
            <a:endParaRPr lang="en-US" sz="1400" dirty="0"/>
          </a:p>
        </p:txBody>
      </p:sp>
      <p:sp>
        <p:nvSpPr>
          <p:cNvPr id="16" name="il_645"/>
          <p:cNvSpPr/>
          <p:nvPr/>
        </p:nvSpPr>
        <p:spPr>
          <a:xfrm>
            <a:off x="886968" y="1911096"/>
            <a:ext cx="2039112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secretly draws a funny alien. Don't show it!</a:t>
            </a:r>
            <a:endParaRPr lang="en-US" sz="850" dirty="0"/>
          </a:p>
          <a:p>
            <a:pPr marL="152400" indent="-152400">
              <a:spcAft>
                <a:spcPts val="200"/>
              </a:spcAft>
              <a:buSzPct val="100000"/>
              <a:buChar char=" "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disegna un alieno buffo. Non mostrarlo!</a:t>
            </a:r>
            <a:endParaRPr lang="en-US" sz="8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describes it. B draws and asks questions.</a:t>
            </a:r>
            <a:endParaRPr lang="en-US" sz="850" dirty="0"/>
          </a:p>
          <a:p>
            <a:pPr marL="152400" indent="-152400">
              <a:spcAft>
                <a:spcPts val="200"/>
              </a:spcAft>
              <a:buSzPct val="100000"/>
              <a:buChar char=" "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lo descrive. B disegna e fa domande.</a:t>
            </a:r>
            <a:endParaRPr lang="en-US" sz="8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Compare. Most similar pair wins! Then swap.</a:t>
            </a:r>
            <a:endParaRPr lang="en-US" sz="850" dirty="0"/>
          </a:p>
          <a:p>
            <a:pPr marL="152400" indent="-152400">
              <a:spcAft>
                <a:spcPts val="200"/>
              </a:spcAft>
              <a:buSzPct val="100000"/>
              <a:buChar char=" "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Confrontate. Vince la coppia più simile! Poi scambiate.</a:t>
            </a:r>
            <a:endParaRPr lang="en-US" sz="850" dirty="0"/>
          </a:p>
        </p:txBody>
      </p:sp>
      <p:sp>
        <p:nvSpPr>
          <p:cNvPr id="17" name="bd_646"/>
          <p:cNvSpPr/>
          <p:nvPr/>
        </p:nvSpPr>
        <p:spPr>
          <a:xfrm>
            <a:off x="3246120" y="1572768"/>
            <a:ext cx="329184" cy="329184"/>
          </a:xfrm>
          <a:prstGeom prst="ellipse">
            <a:avLst/>
          </a:prstGeom>
          <a:solidFill>
            <a:srgbClr val="7B5CD6"/>
          </a:solidFill>
          <a:ln w="28575">
            <a:solidFill>
              <a:srgbClr val="CDBFF3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e.g.</a:t>
            </a:r>
            <a:endParaRPr lang="en-US" sz="500" dirty="0"/>
          </a:p>
        </p:txBody>
      </p:sp>
      <p:sp>
        <p:nvSpPr>
          <p:cNvPr id="18" name="gq_647"/>
          <p:cNvSpPr/>
          <p:nvPr/>
        </p:nvSpPr>
        <p:spPr>
          <a:xfrm>
            <a:off x="3657600" y="1417320"/>
            <a:ext cx="2514600" cy="640080"/>
          </a:xfrm>
          <a:prstGeom prst="roundRect">
            <a:avLst>
              <a:gd name="adj" fmla="val 14286"/>
            </a:avLst>
          </a:prstGeom>
          <a:solidFill>
            <a:srgbClr val="EEE8FB"/>
          </a:solidFill>
          <a:ln w="28575">
            <a:solidFill>
              <a:srgbClr val="CDBFF3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Describe the head</a:t>
            </a:r>
            <a:endParaRPr lang="en-US" sz="1250" dirty="0"/>
          </a:p>
        </p:txBody>
      </p:sp>
      <p:sp>
        <p:nvSpPr>
          <p:cNvPr id="19" name="chip_648"/>
          <p:cNvSpPr/>
          <p:nvPr/>
        </p:nvSpPr>
        <p:spPr>
          <a:xfrm>
            <a:off x="6263640" y="141732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EEE8FB"/>
          </a:solidFill>
          <a:ln w="28575">
            <a:solidFill>
              <a:srgbClr val="CDBFF3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It's got three eyes and a very long tongue.</a:t>
            </a:r>
            <a:endParaRPr lang="en-US" sz="1200" dirty="0"/>
          </a:p>
        </p:txBody>
      </p:sp>
      <p:sp>
        <p:nvSpPr>
          <p:cNvPr id="20" name="bd_649"/>
          <p:cNvSpPr/>
          <p:nvPr/>
        </p:nvSpPr>
        <p:spPr>
          <a:xfrm>
            <a:off x="3246120" y="2276856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gq_650"/>
          <p:cNvSpPr/>
          <p:nvPr/>
        </p:nvSpPr>
        <p:spPr>
          <a:xfrm>
            <a:off x="3657600" y="2121408"/>
            <a:ext cx="2514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Describe the body</a:t>
            </a:r>
            <a:endParaRPr lang="en-US" sz="1250" dirty="0"/>
          </a:p>
        </p:txBody>
      </p:sp>
      <p:sp>
        <p:nvSpPr>
          <p:cNvPr id="22" name="R1_chip651"/>
          <p:cNvSpPr/>
          <p:nvPr/>
        </p:nvSpPr>
        <p:spPr>
          <a:xfrm>
            <a:off x="6263640" y="2121408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It's got four arms and six thumbs on each hand.</a:t>
            </a:r>
            <a:endParaRPr lang="en-US" sz="1200" dirty="0"/>
          </a:p>
        </p:txBody>
      </p:sp>
      <p:sp>
        <p:nvSpPr>
          <p:cNvPr id="23" name="bd_652"/>
          <p:cNvSpPr/>
          <p:nvPr/>
        </p:nvSpPr>
        <p:spPr>
          <a:xfrm>
            <a:off x="3246120" y="2980944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gq_653"/>
          <p:cNvSpPr/>
          <p:nvPr/>
        </p:nvSpPr>
        <p:spPr>
          <a:xfrm>
            <a:off x="3657600" y="2825496"/>
            <a:ext cx="2514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Ask a question</a:t>
            </a:r>
            <a:endParaRPr lang="en-US" sz="1250" dirty="0"/>
          </a:p>
        </p:txBody>
      </p:sp>
      <p:sp>
        <p:nvSpPr>
          <p:cNvPr id="25" name="R2_chip654"/>
          <p:cNvSpPr/>
          <p:nvPr/>
        </p:nvSpPr>
        <p:spPr>
          <a:xfrm>
            <a:off x="6263640" y="2825496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How many toes has it got? Where are its knees?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6B-2 Every picture tells a story</dc:title>
  <dc:subject>PptxGenJS Presentation</dc:subject>
  <dc:creator>PptxGenJS</dc:creator>
  <cp:lastModifiedBy>PptxGenJS</cp:lastModifiedBy>
  <cp:revision>1</cp:revision>
  <dcterms:created xsi:type="dcterms:W3CDTF">2026-10-21T09:55:37Z</dcterms:created>
  <dcterms:modified xsi:type="dcterms:W3CDTF">2026-10-21T09:55:37Z</dcterms:modified>
</cp:coreProperties>
</file>