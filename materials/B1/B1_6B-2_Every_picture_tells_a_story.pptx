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 (Colin Drury and Danish Sheikh, SB p.63). Ask the THINK question; take 3–4 answers. Click: the example. If they don't know 'charismatic': 'a person people like and want to listen to' – the full definition comes later.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min). Read the two cards; highlight: must / might / can't + infinitive WITHOUT to, and can't (NOT mustn't) for 'I'm sure it isn't true'. Point at the three people on the slide: 'How old must he be? What might she do?' – quick answers, then the error game.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min). Two teams, 30 seconds per sentence; click to show the correction. Sentence 4 is the trap (correct). Typical Italian errors (TG): mustn't for impossible, can for possibility, must/might + to, missing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the body · 8 new words (5 min)
ESTABLISH MEANING (5 min). Play 6.14 (all 22 body words, Vocabulary Bank p.160) – students point to each part of their own body as they hear it. Then the 8 words on the slide are the ones B1 students usually DON'T know: say the word, everybody points; click 1 = English definition, click 2 = Italian. Drill tongue /tʌŋ/, thumb (silent b), knees (silent k), stomach /ˈstʌmək/. Possessive: in English we say MY knee, YOUR hands (Italian uses the article). Full key VB p.160 in the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body verbs (4 min)
BODY VERBS (5 min). First Vocabulary Bank p.160 ex. 2: complete sentences 1–11, play 6.15 to check (1 bite · 2 kicked · 3 smells · 4 stared · 5 taste · 6 whistle · 7 touch · 8 clapped · 9 pointed · 10 smiles · 11 nodded). Then this slide: pairs say the body part; click once per line. DO each verb as you check it (TPR). bite is irregular: bite – bit – bitten.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Game · Teacher says! (3 min)
TPR GAME (4 min). Everyone stands. Play 6.16 – students follow the instructions (clap, stare at the person next to you, point at the board, nod, whistle, touch your chair, smile). Then play 'Teacher says' (Simon says): say commands fast, sometimes WITHOUT 'Teacher says' – anyone who moves sits down. Click to show the examples. Then let a student lead. Energy change – keep it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diphthongs (two sounds in one) (3 min)
PRONUNCIATION (3 + 2 min). A diphthong = two short vowel sounds joined (Italians often make it too short or say only one sound). Play 6.17: repeat bike, train, phone, owl, chair. Pairs say each word aloud and decide; click once per word. 6.18 checks all 12 words (both slides). Answers (script): /aɪ/ bite, eyes, smile · /eɪ/ face, taste · /əʊ/ nose, shoulders, throw, toes · /aʊ/ mouth · /eə/ hair, stare.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Pronunciation · diphthongs (2 min)
Play 6.18 to check both slides; repeat. Then 4c phrases: fair hair · narrow shoulders · a wide mouth · brown eyes · a Roman nose (= with a bump) · a round face – pairs say them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body language and you (3 min)
PQA – PERSONAL QUESTIONS (4 min). Ask 2–3 students question 1 yourself first and circle the answer ('Marco smiles a lot. Does Marco smile a lot? Yes! Who smiles more – Marco or Giulia?'). Then pairs ask all 4 questions using the phrases. Click once per question. Feedback: 'Who in your pair has the best body language?'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· class story (TPRS) (4 min)
TPRS CLASS STORY (4 min) – the story step of the TPRS staging: meaning was established with the body (TPR + 'Teacher says…'), then personal questions (PQA); now the body words and body verbs are heard many times in a story BEFORE the charisma article and the mime game. Click once per line. For each line: 1) say it (and DO the action – bite, whistle, stare, point, clap, nod: students copy), 2) ask the questions in grey round the class (yes/no → either/or → who/what), 3) let the CLASS change details: 'Is it a trumpet solo? No? What does Dario play?' – accept their idea and use it in later lines. Students answer with one word or a short phrase – that's fine. Finish: 'What happens next?' – one or two ideas, then move on. Line 6 = confident body language → leads into 'Can you learn charisma?'. Recycles: bite, knees, stomach, toes, whistle, lips, stare at, point at, clap, chin, shoulders, nod.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Reading · prediction (2 min)
PREDICTION (2 min). Read the definition (book wording); drill charisma /kəˈrɪzmə/ and charismatic. 5b: who's the journalist and who's the coach? Why? (Colin Drury = journalist, left; Danish Sheikh = coach, right.) Numbers: pairs guess – £150 = what he charges an hour · 2 = two days as his student · 3 = companies he's worked with (Microsoft, Yahoo, BBC). Don't confirm – they read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· the journalist's article (4 min)
READ THE CLASS TEXT (5 min). Students read alone (3 min) and check the prediction + the numbers. Then read it aloud with the class and CIRCLE: 'Is Danish a journalist? No! Is he a coach? Yes! How much does he charge? £150 a day? No – an hour!' Next slide: the book's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comprehension (3 min)
COMPREHENSION (3 min). Pairs answer, then click once per answer (TG key). Ask: 'Do YOU know anyone with negative body language?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Listening · audio 6.19 (5 min)
PREDICT THEN LISTEN (5 min). 5d: pairs decide ✓/✗ for all 10 BEFORE listening (2 min). 5e: play 6.19 (use 🐢 slower if needed). Click once per line. Answers (TG): ✓ 1, 2, 5, 6, 7, 10. From the script: talk about yourself enough, but not too much · 'stand like a gorilla' = feet apart, arms wide · eye contact max. four seconds · don't use hand gestures too much · vary your speed · listening carefully is the most important thing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detail · audio 6.19 (4 min)
DETAIL (4 min). Read the 4 prompts together first. Play 6.19 again; students write notes; compare; click once per answer (TG). Then everybody stands 'like a gorilla' for 3 seconds – feet apart, chin up, shoulders back!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the practical test · audio 6.20 (3 min)
LISTENING (4 min). Pairs guess the endings (1 min) – accept any idea. Play 6.20; click once per answer (TG). Ask: 'Would YOU talk to strangers in a café in Bagheria to practise?'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Game · body-language mime (5 min)
GAME (6 min). The phrases come from 5h (the body phrases in 6.19/6.20). Two teams; one mimer each turn stands facing the screen, everybody else turns round. Click → the phrase appears; mimer mimes; team must say the whole phrase in the present continuous ('hands!' = 0). Click again shows the model sentence. Energy + language upgrade.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Speaking · discussion (3 min)
DISCUSSION (4 min). Groups of 3, 3 minutes. Click once per question. Forced choice for Q1: yes or no, no 'maybe'. Feedback: one person per group reports their group's answer to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Exit · what can you remember? (2 min)
RETRIEVAL EXIT (2 min). Books closed. Set homework. Extension slides follow (video, describe-and-draw) – use if there is time or start the next lesson with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Extension · video listening · Part 1 (7 min)
EXTENSION VIDEO (7 min). Teach personal stylist and outfit. Read the questions first. Play Part 1; PAUSE when the narrator asks which outfit Sam likes best – class votes. Play on. Click once per answer (video script). 6c order: 1 fills in a questionnaire · 2 meets Elin at the Fashion Lounge · 3 Elin asks about his lifestyle · 4 they go shopping · 5 he tries on four outfits.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Extension · video listening · Part 2 (4 min)
EXTENSION VIDEO (4 min). Pairs guess the gaps first, then play Part 2; click once per answer (TG / video script). Did Sam enjoy the day? 'It exceeded my expectations.'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Extension · describe and draw (7 min)
EXTENSION (7 min). Information gap + humour. Practises body words, its / his / her, have got, and plurals (feet, teeth). Click to show model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audio" Target="../media/media-5-6.mp3"/><Relationship Id="rId7" Type="http://schemas.microsoft.com/office/2007/relationships/media" Target="../media/media-5-6.mp3"/><Relationship Id="rId8" Type="http://schemas.openxmlformats.org/officeDocument/2006/relationships/image" Target="../media/image-5-8.png"/><Relationship Id="rId9" Type="http://schemas.openxmlformats.org/officeDocument/2006/relationships/audio" Target="../media/media-5-9.mp3"/><Relationship Id="rId10" Type="http://schemas.microsoft.com/office/2007/relationships/media" Target="../media/media-5-9.mp3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audio" Target="../media/media-7-11.mp3"/><Relationship Id="rId12" Type="http://schemas.microsoft.com/office/2007/relationships/media" Target="../media/media-7-11.mp3"/><Relationship Id="rId13" Type="http://schemas.openxmlformats.org/officeDocument/2006/relationships/image" Target="../media/image-7-13.png"/><Relationship Id="rId14" Type="http://schemas.openxmlformats.org/officeDocument/2006/relationships/audio" Target="../media/media-7-14.mp3"/><Relationship Id="rId15" Type="http://schemas.microsoft.com/office/2007/relationships/media" Target="../media/media-7-14.mp3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audio" Target="../media/media-14-5.mp3"/><Relationship Id="rId6" Type="http://schemas.microsoft.com/office/2007/relationships/media" Target="../media/media-14-5.mp3"/><Relationship Id="rId7" Type="http://schemas.openxmlformats.org/officeDocument/2006/relationships/image" Target="../media/image-14-7.png"/><Relationship Id="rId8" Type="http://schemas.openxmlformats.org/officeDocument/2006/relationships/audio" Target="../media/media-14-8.mp3"/><Relationship Id="rId9" Type="http://schemas.microsoft.com/office/2007/relationships/media" Target="../media/media-14-8.mp3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audio" Target="../media/media-15-5.mp3"/><Relationship Id="rId6" Type="http://schemas.microsoft.com/office/2007/relationships/media" Target="../media/media-15-5.mp3"/><Relationship Id="rId7" Type="http://schemas.openxmlformats.org/officeDocument/2006/relationships/image" Target="../media/image-15-7.png"/><Relationship Id="rId8" Type="http://schemas.openxmlformats.org/officeDocument/2006/relationships/audio" Target="../media/media-15-8.mp3"/><Relationship Id="rId9" Type="http://schemas.microsoft.com/office/2007/relationships/media" Target="../media/media-15-8.mp3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video" Target="../media/media-21-5.mp4"/><Relationship Id="rId6" Type="http://schemas.microsoft.com/office/2007/relationships/media" Target="../media/media-21-5.mp4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video" Target="../media/media-22-5.mp4"/><Relationship Id="rId6" Type="http://schemas.microsoft.com/office/2007/relationships/media" Target="../media/media-22-5.mp4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pp.62–63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Every picture tells a story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body · body language · charisma</a:t>
            </a:r>
            <a:endParaRPr lang="en-US" sz="110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🖐️  learn parts of the body and body verbs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'two sounds in one': bike, train, phone…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read and listen: can you LEARN charisma?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🎭  play a body-language mime game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uncle! He smiles all the time and everybody listens to him.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5625595" y="777240"/>
            <a:ext cx="2419091" cy="3200400"/>
          </a:xfrm>
          <a:prstGeom prst="roundRect">
            <a:avLst>
              <a:gd name="adj" fmla="val 64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6B_2_colin_jpg_560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5671315" y="822960"/>
            <a:ext cx="2327651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is the most charismatic person you know? Why?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endParaRPr lang="en-US" sz="950" dirty="0"/>
          </a:p>
        </p:txBody>
      </p:sp>
      <p:sp>
        <p:nvSpPr>
          <p:cNvPr id="10" name="meta_2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6B_2_people_jpg_616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55448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200400"/>
            <a:ext cx="2743200" cy="1508760"/>
          </a:xfrm>
          <a:prstGeom prst="roundRect">
            <a:avLst>
              <a:gd name="adj" fmla="val 848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694176"/>
            <a:ext cx="20848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 part 1: Every picture tells a story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Deduction: must · might · can't</a:t>
            </a:r>
            <a:endParaRPr lang="en-US" sz="1100" dirty="0"/>
          </a:p>
        </p:txBody>
      </p:sp>
      <p:sp>
        <p:nvSpPr>
          <p:cNvPr id="20" name="kw_34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3246120" y="1783080"/>
            <a:ext cx="1888236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+ infinitive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5225796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6163056" y="1783080"/>
            <a:ext cx="672084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6926580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</a:t>
            </a:r>
            <a:endParaRPr lang="en-US" sz="1200" dirty="0"/>
          </a:p>
        </p:txBody>
      </p:sp>
      <p:sp>
        <p:nvSpPr>
          <p:cNvPr id="25" name="w_39"/>
          <p:cNvSpPr/>
          <p:nvPr/>
        </p:nvSpPr>
        <p:spPr>
          <a:xfrm>
            <a:off x="7863840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endParaRPr lang="en-US" sz="1200" dirty="0"/>
          </a:p>
        </p:txBody>
      </p:sp>
      <p:sp>
        <p:nvSpPr>
          <p:cNvPr id="26" name="w_40"/>
          <p:cNvSpPr/>
          <p:nvPr/>
        </p:nvSpPr>
        <p:spPr>
          <a:xfrm>
            <a:off x="3246120" y="2185416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'to'!</a:t>
            </a:r>
            <a:endParaRPr lang="en-US" sz="1200" dirty="0"/>
          </a:p>
        </p:txBody>
      </p:sp>
      <p:sp>
        <p:nvSpPr>
          <p:cNvPr id="27" name="lv_41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8" name="lv_42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9" name="lv_43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30" name="cd_44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45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Sure it's true ✓</a:t>
            </a:r>
            <a:endParaRPr lang="en-US" sz="1100" dirty="0"/>
          </a:p>
        </p:txBody>
      </p:sp>
      <p:sp>
        <p:nvSpPr>
          <p:cNvPr id="32" name="R1_rl46"/>
          <p:cNvSpPr/>
          <p:nvPr/>
        </p:nvSpPr>
        <p:spPr>
          <a:xfrm>
            <a:off x="3383280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tired. (I'm sure.)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love animals.</a:t>
            </a:r>
            <a:endParaRPr lang="en-US" sz="1100" dirty="0"/>
          </a:p>
        </p:txBody>
      </p:sp>
      <p:sp>
        <p:nvSpPr>
          <p:cNvPr id="33" name="cd_47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rh_48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Maybe / Sure it's NOT</a:t>
            </a:r>
            <a:endParaRPr lang="en-US" sz="1100" dirty="0"/>
          </a:p>
        </p:txBody>
      </p:sp>
      <p:sp>
        <p:nvSpPr>
          <p:cNvPr id="35" name="R2_rl49"/>
          <p:cNvSpPr/>
          <p:nvPr/>
        </p:nvSpPr>
        <p:spPr>
          <a:xfrm>
            <a:off x="6249924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/ may / could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Spanish.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true! (✗ mustn't)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52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Spot the error!</a:t>
            </a:r>
            <a:endParaRPr lang="en-US" sz="2500" dirty="0"/>
          </a:p>
        </p:txBody>
      </p:sp>
      <p:pic>
        <p:nvPicPr>
          <p:cNvPr id="6" name="brP_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54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Careful: ONE sentence is correct!</a:t>
            </a:r>
            <a:endParaRPr lang="en-US" sz="1250" dirty="0"/>
          </a:p>
        </p:txBody>
      </p:sp>
      <p:sp>
        <p:nvSpPr>
          <p:cNvPr id="8" name="insIT_5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l'errore. Attenzione: UNA frase è giusta!</a:t>
            </a:r>
            <a:endParaRPr lang="en-US" sz="950" dirty="0"/>
          </a:p>
        </p:txBody>
      </p:sp>
      <p:sp>
        <p:nvSpPr>
          <p:cNvPr id="9" name="cmd_5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5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Warmer · last lesson   ·   📖 Recycles 6B part 1 · Grammar Bank 6B p.143</a:t>
            </a:r>
            <a:endParaRPr lang="en-US" sz="800" dirty="0"/>
          </a:p>
        </p:txBody>
      </p:sp>
      <p:sp>
        <p:nvSpPr>
          <p:cNvPr id="14" name="cd_61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4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 write the correct sentence.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squadre scrivono la frase corretta.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= 1 point. 'Correct' a correct sentence = –1!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Giusta = 1 punto. 'Correggere' una frase giusta = –1!</a:t>
            </a:r>
            <a:endParaRPr lang="en-US" sz="950" dirty="0"/>
          </a:p>
        </p:txBody>
      </p:sp>
      <p:sp>
        <p:nvSpPr>
          <p:cNvPr id="18" name="st_65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6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0" name="gq_67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that really Jack's wife? It mustn't be true!</a:t>
            </a:r>
            <a:endParaRPr lang="en-US" sz="1100" dirty="0"/>
          </a:p>
        </p:txBody>
      </p:sp>
      <p:sp>
        <p:nvSpPr>
          <p:cNvPr id="21" name="chip_68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can't be true!</a:t>
            </a:r>
            <a:endParaRPr lang="en-US" sz="1200" dirty="0"/>
          </a:p>
        </p:txBody>
      </p:sp>
      <p:sp>
        <p:nvSpPr>
          <p:cNvPr id="22" name="bd_69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gq_70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speaking Spanish, so he can be from Spain or Mexico.</a:t>
            </a:r>
            <a:endParaRPr lang="en-US" sz="1100" dirty="0"/>
          </a:p>
        </p:txBody>
      </p:sp>
      <p:sp>
        <p:nvSpPr>
          <p:cNvPr id="24" name="R1_chip71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/ may / could be</a:t>
            </a:r>
            <a:endParaRPr lang="en-US" sz="1200" dirty="0"/>
          </a:p>
        </p:txBody>
      </p:sp>
      <p:sp>
        <p:nvSpPr>
          <p:cNvPr id="25" name="bd_72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gq_73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been working all day. She must to be tired.</a:t>
            </a:r>
            <a:endParaRPr lang="en-US" sz="1100" dirty="0"/>
          </a:p>
        </p:txBody>
      </p:sp>
      <p:sp>
        <p:nvSpPr>
          <p:cNvPr id="27" name="R2_chip74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must be tired.</a:t>
            </a:r>
            <a:endParaRPr lang="en-US" sz="1200" dirty="0"/>
          </a:p>
        </p:txBody>
      </p:sp>
      <p:sp>
        <p:nvSpPr>
          <p:cNvPr id="28" name="bd_75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gq_76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profile photo is her cat. She must love animals.</a:t>
            </a:r>
            <a:endParaRPr lang="en-US" sz="1100" dirty="0"/>
          </a:p>
        </p:txBody>
      </p:sp>
      <p:sp>
        <p:nvSpPr>
          <p:cNvPr id="30" name="R3_chip77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Correct!</a:t>
            </a:r>
            <a:endParaRPr lang="en-US" sz="1200" dirty="0"/>
          </a:p>
        </p:txBody>
      </p:sp>
      <p:sp>
        <p:nvSpPr>
          <p:cNvPr id="31" name="bd_78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gq_79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Nobody's answering. They might are on holiday.</a:t>
            </a:r>
            <a:endParaRPr lang="en-US" sz="1100" dirty="0"/>
          </a:p>
        </p:txBody>
      </p:sp>
      <p:sp>
        <p:nvSpPr>
          <p:cNvPr id="33" name="R4_chip80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might be on holiday.</a:t>
            </a:r>
            <a:endParaRPr lang="en-US" sz="1200" dirty="0"/>
          </a:p>
        </p:txBody>
      </p:sp>
      <p:sp>
        <p:nvSpPr>
          <p:cNvPr id="34" name="bd_81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gq_82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Tom? – I'm not sure. He might working.</a:t>
            </a:r>
            <a:endParaRPr lang="en-US" sz="1100" dirty="0"/>
          </a:p>
        </p:txBody>
      </p:sp>
      <p:sp>
        <p:nvSpPr>
          <p:cNvPr id="36" name="R5_chip83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be working.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86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 to your…!</a:t>
            </a:r>
            <a:endParaRPr lang="en-US" sz="2500" dirty="0"/>
          </a:p>
        </p:txBody>
      </p:sp>
      <p:pic>
        <p:nvPicPr>
          <p:cNvPr id="6" name="brP_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8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point to the part of your body. Then click!</a:t>
            </a:r>
            <a:endParaRPr lang="en-US" sz="1250" dirty="0"/>
          </a:p>
        </p:txBody>
      </p:sp>
      <p:sp>
        <p:nvSpPr>
          <p:cNvPr id="8" name="insIT_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e indica la parte del corpo. Poi clicca!</a:t>
            </a:r>
            <a:endParaRPr lang="en-US" sz="950" dirty="0"/>
          </a:p>
        </p:txBody>
      </p:sp>
      <p:sp>
        <p:nvSpPr>
          <p:cNvPr id="9" name="cmd_9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✅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endParaRPr lang="en-US" sz="950" dirty="0"/>
          </a:p>
        </p:txBody>
      </p:sp>
      <p:sp>
        <p:nvSpPr>
          <p:cNvPr id="10" name="meta_9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1" name="tag_9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50" dirty="0"/>
          </a:p>
        </p:txBody>
      </p:sp>
      <p:pic>
        <p:nvPicPr>
          <p:cNvPr id="12" name="logo_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the body · 8 new words   ·   📖 SB p.62 · 3b · Vocabulary Bank The body p.160 · audio 6.14</a:t>
            </a:r>
            <a:endParaRPr lang="en-US" sz="800" dirty="0"/>
          </a:p>
        </p:txBody>
      </p:sp>
      <p:sp>
        <p:nvSpPr>
          <p:cNvPr id="14" name="cd_95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96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🙂</a:t>
            </a:r>
            <a:endParaRPr lang="en-US" sz="2000" dirty="0"/>
          </a:p>
        </p:txBody>
      </p:sp>
      <p:sp>
        <p:nvSpPr>
          <p:cNvPr id="16" name="en_97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chin</a:t>
            </a:r>
            <a:endParaRPr lang="en-US" sz="1200" dirty="0"/>
          </a:p>
        </p:txBody>
      </p:sp>
      <p:sp>
        <p:nvSpPr>
          <p:cNvPr id="17" name="R1_def98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bottom part of your face, under your mouth</a:t>
            </a:r>
            <a:endParaRPr lang="en-US" sz="850" dirty="0"/>
          </a:p>
        </p:txBody>
      </p:sp>
      <p:sp>
        <p:nvSpPr>
          <p:cNvPr id="18" name="R2_it99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mento</a:t>
            </a:r>
            <a:endParaRPr lang="en-US" sz="900" dirty="0"/>
          </a:p>
        </p:txBody>
      </p:sp>
      <p:sp>
        <p:nvSpPr>
          <p:cNvPr id="19" name="cd_100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e_101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🤷</a:t>
            </a:r>
            <a:endParaRPr lang="en-US" sz="2000" dirty="0"/>
          </a:p>
        </p:txBody>
      </p:sp>
      <p:sp>
        <p:nvSpPr>
          <p:cNvPr id="21" name="en_102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22" name="R3_def103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your arms join your body</a:t>
            </a:r>
            <a:endParaRPr lang="en-US" sz="850" dirty="0"/>
          </a:p>
        </p:txBody>
      </p:sp>
      <p:sp>
        <p:nvSpPr>
          <p:cNvPr id="23" name="R4_it104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spalle</a:t>
            </a:r>
            <a:endParaRPr lang="en-US" sz="900" dirty="0"/>
          </a:p>
        </p:txBody>
      </p:sp>
      <p:sp>
        <p:nvSpPr>
          <p:cNvPr id="24" name="cd_105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106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👅</a:t>
            </a:r>
            <a:endParaRPr lang="en-US" sz="2000" dirty="0"/>
          </a:p>
        </p:txBody>
      </p:sp>
      <p:sp>
        <p:nvSpPr>
          <p:cNvPr id="26" name="en_107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tongue /tʌŋ/</a:t>
            </a:r>
            <a:endParaRPr lang="en-US" sz="1200" dirty="0"/>
          </a:p>
        </p:txBody>
      </p:sp>
      <p:sp>
        <p:nvSpPr>
          <p:cNvPr id="27" name="R5_def108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in your mouth – you taste with it</a:t>
            </a:r>
            <a:endParaRPr lang="en-US" sz="850" dirty="0"/>
          </a:p>
        </p:txBody>
      </p:sp>
      <p:sp>
        <p:nvSpPr>
          <p:cNvPr id="28" name="R6_it109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lingua</a:t>
            </a:r>
            <a:endParaRPr lang="en-US" sz="900" dirty="0"/>
          </a:p>
        </p:txBody>
      </p:sp>
      <p:sp>
        <p:nvSpPr>
          <p:cNvPr id="29" name="cd_110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111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1" name="en_112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thumb /θʌm/</a:t>
            </a:r>
            <a:endParaRPr lang="en-US" sz="1200" dirty="0"/>
          </a:p>
        </p:txBody>
      </p:sp>
      <p:sp>
        <p:nvSpPr>
          <p:cNvPr id="32" name="R7_def113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short, thick finger</a:t>
            </a:r>
            <a:endParaRPr lang="en-US" sz="850" dirty="0"/>
          </a:p>
        </p:txBody>
      </p:sp>
      <p:sp>
        <p:nvSpPr>
          <p:cNvPr id="33" name="R8_it114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pollice</a:t>
            </a:r>
            <a:endParaRPr lang="en-US" sz="900" dirty="0"/>
          </a:p>
        </p:txBody>
      </p:sp>
      <p:sp>
        <p:nvSpPr>
          <p:cNvPr id="34" name="cd_115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116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🦵</a:t>
            </a:r>
            <a:endParaRPr lang="en-US" sz="2000" dirty="0"/>
          </a:p>
        </p:txBody>
      </p:sp>
      <p:sp>
        <p:nvSpPr>
          <p:cNvPr id="36" name="en_117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knees (silent k!)</a:t>
            </a:r>
            <a:endParaRPr lang="en-US" sz="1200" dirty="0"/>
          </a:p>
        </p:txBody>
      </p:sp>
      <p:sp>
        <p:nvSpPr>
          <p:cNvPr id="37" name="R9_def118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middle of your legs – they bend</a:t>
            </a:r>
            <a:endParaRPr lang="en-US" sz="850" dirty="0"/>
          </a:p>
        </p:txBody>
      </p:sp>
      <p:sp>
        <p:nvSpPr>
          <p:cNvPr id="38" name="R10_it119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ginocchia</a:t>
            </a:r>
            <a:endParaRPr lang="en-US" sz="900" dirty="0"/>
          </a:p>
        </p:txBody>
      </p:sp>
      <p:sp>
        <p:nvSpPr>
          <p:cNvPr id="39" name="cd_120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e_121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🍽️</a:t>
            </a:r>
            <a:endParaRPr lang="en-US" sz="2000" dirty="0"/>
          </a:p>
        </p:txBody>
      </p:sp>
      <p:sp>
        <p:nvSpPr>
          <p:cNvPr id="41" name="en_122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stomach /ˈstʌmək/</a:t>
            </a:r>
            <a:endParaRPr lang="en-US" sz="1100" dirty="0"/>
          </a:p>
        </p:txBody>
      </p:sp>
      <p:sp>
        <p:nvSpPr>
          <p:cNvPr id="42" name="R11_def123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food goes here after you eat</a:t>
            </a:r>
            <a:endParaRPr lang="en-US" sz="850" dirty="0"/>
          </a:p>
        </p:txBody>
      </p:sp>
      <p:sp>
        <p:nvSpPr>
          <p:cNvPr id="43" name="R12_it124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stomaco / pancia</a:t>
            </a:r>
            <a:endParaRPr lang="en-US" sz="900" dirty="0"/>
          </a:p>
        </p:txBody>
      </p:sp>
      <p:sp>
        <p:nvSpPr>
          <p:cNvPr id="44" name="cd_125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126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🦶</a:t>
            </a:r>
            <a:endParaRPr lang="en-US" sz="2000" dirty="0"/>
          </a:p>
        </p:txBody>
      </p:sp>
      <p:sp>
        <p:nvSpPr>
          <p:cNvPr id="46" name="en_127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toes</a:t>
            </a:r>
            <a:endParaRPr lang="en-US" sz="1200" dirty="0"/>
          </a:p>
        </p:txBody>
      </p:sp>
      <p:sp>
        <p:nvSpPr>
          <p:cNvPr id="47" name="R13_def128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'fingers' on your feet</a:t>
            </a:r>
            <a:endParaRPr lang="en-US" sz="850" dirty="0"/>
          </a:p>
        </p:txBody>
      </p:sp>
      <p:sp>
        <p:nvSpPr>
          <p:cNvPr id="48" name="R14_it129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dita dei piedi</a:t>
            </a:r>
            <a:endParaRPr lang="en-US" sz="900" dirty="0"/>
          </a:p>
        </p:txBody>
      </p:sp>
      <p:sp>
        <p:nvSpPr>
          <p:cNvPr id="49" name="cd_130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131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👄</a:t>
            </a:r>
            <a:endParaRPr lang="en-US" sz="2000" dirty="0"/>
          </a:p>
        </p:txBody>
      </p:sp>
      <p:sp>
        <p:nvSpPr>
          <p:cNvPr id="51" name="en_132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lips</a:t>
            </a:r>
            <a:endParaRPr lang="en-US" sz="1200" dirty="0"/>
          </a:p>
        </p:txBody>
      </p:sp>
      <p:sp>
        <p:nvSpPr>
          <p:cNvPr id="52" name="R15_def133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edges of your mouth</a:t>
            </a:r>
            <a:endParaRPr lang="en-US" sz="850" dirty="0"/>
          </a:p>
        </p:txBody>
      </p:sp>
      <p:sp>
        <p:nvSpPr>
          <p:cNvPr id="53" name="R16_it134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labbra</a:t>
            </a:r>
            <a:endParaRPr lang="en-US" sz="900" dirty="0"/>
          </a:p>
        </p:txBody>
      </p:sp>
      <p:sp>
        <p:nvSpPr>
          <p:cNvPr id="54" name="ap_135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6.14</a:t>
            </a:r>
            <a:endParaRPr lang="en-US" sz="1100" dirty="0"/>
          </a:p>
        </p:txBody>
      </p:sp>
      <p:sp>
        <p:nvSpPr>
          <p:cNvPr id="55" name="ah_136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5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57" name="ah_137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5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59" name="R17_wc138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0" name="R17_w139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fingers (hands) ≠ toes (feet) – Italian says 'dita' for both!  ·  I've hurt MY knee (✗ the knee)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5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96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" fill="hold">
                      <p:stCondLst>
                        <p:cond delay="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0" dur="1" fill="hold"/>
                                        <p:tgtEl>
                                          <p:spTgt spid="5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audio>
              <p:cMediaNode vol="80000">
                <p:cTn id="10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6"/>
                </p:tgtEl>
              </p:cMediaNode>
            </p:audio>
            <p:audio>
              <p:cMediaNode vol="80000">
                <p:cTn id="10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8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42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you use to…?</a:t>
            </a:r>
            <a:endParaRPr lang="en-US" sz="2400" dirty="0"/>
          </a:p>
        </p:txBody>
      </p:sp>
      <p:pic>
        <p:nvPicPr>
          <p:cNvPr id="6" name="brP_1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44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part of the body do you use? Tell your partner.</a:t>
            </a:r>
            <a:endParaRPr lang="en-US" sz="1250" dirty="0"/>
          </a:p>
        </p:txBody>
      </p:sp>
      <p:sp>
        <p:nvSpPr>
          <p:cNvPr id="8" name="insIT_14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parte del corpo usi? Dillo al compagno.</a:t>
            </a:r>
            <a:endParaRPr lang="en-US" sz="950" dirty="0"/>
          </a:p>
        </p:txBody>
      </p:sp>
      <p:sp>
        <p:nvSpPr>
          <p:cNvPr id="9" name="cmd_14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14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4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body verbs   ·   📖 Vocabulary Bank p.160 · 2 Verbs · audio 6.15</a:t>
            </a:r>
            <a:endParaRPr lang="en-US" sz="800" dirty="0"/>
          </a:p>
        </p:txBody>
      </p:sp>
      <p:sp>
        <p:nvSpPr>
          <p:cNvPr id="14" name="cd_151"/>
          <p:cNvSpPr/>
          <p:nvPr/>
        </p:nvSpPr>
        <p:spPr>
          <a:xfrm>
            <a:off x="320040" y="1417320"/>
            <a:ext cx="2697480" cy="768096"/>
          </a:xfrm>
          <a:prstGeom prst="roundRect">
            <a:avLst>
              <a:gd name="adj" fmla="val 1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4"/>
          <p:cNvSpPr/>
          <p:nvPr/>
        </p:nvSpPr>
        <p:spPr>
          <a:xfrm>
            <a:off x="886968" y="191109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→ your teeth (mordere)</a:t>
            </a:r>
            <a:endParaRPr lang="en-US" sz="1050" dirty="0"/>
          </a:p>
        </p:txBody>
      </p:sp>
      <p:sp>
        <p:nvSpPr>
          <p:cNvPr id="18" name="pf_155"/>
          <p:cNvSpPr/>
          <p:nvPr/>
        </p:nvSpPr>
        <p:spPr>
          <a:xfrm rot="-90000">
            <a:off x="365760" y="2368296"/>
            <a:ext cx="2606040" cy="1746504"/>
          </a:xfrm>
          <a:prstGeom prst="roundRect">
            <a:avLst>
              <a:gd name="adj" fmla="val 890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6" descr="/home/claude/lls-course/v2/cache/6B_2_people_jpg_605x39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414016"/>
            <a:ext cx="2514600" cy="1655064"/>
          </a:xfrm>
          <a:prstGeom prst="rect">
            <a:avLst/>
          </a:prstGeom>
        </p:spPr>
      </p:pic>
      <p:sp>
        <p:nvSpPr>
          <p:cNvPr id="20" name="ap_157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6.15</a:t>
            </a:r>
            <a:endParaRPr lang="en-US" sz="1100" dirty="0"/>
          </a:p>
        </p:txBody>
      </p:sp>
      <p:sp>
        <p:nvSpPr>
          <p:cNvPr id="21" name="ah_158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2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3" name="ah_159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4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5" name="bd_160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q_161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</a:t>
            </a:r>
            <a:endParaRPr lang="en-US" sz="1150" dirty="0"/>
          </a:p>
        </p:txBody>
      </p:sp>
      <p:sp>
        <p:nvSpPr>
          <p:cNvPr id="27" name="R1_chip162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hands – applaudire</a:t>
            </a:r>
            <a:endParaRPr lang="en-US" sz="1050" dirty="0"/>
          </a:p>
        </p:txBody>
      </p:sp>
      <p:sp>
        <p:nvSpPr>
          <p:cNvPr id="28" name="bd_163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q_164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kick</a:t>
            </a:r>
            <a:endParaRPr lang="en-US" sz="1150" dirty="0"/>
          </a:p>
        </p:txBody>
      </p:sp>
      <p:sp>
        <p:nvSpPr>
          <p:cNvPr id="30" name="R2_chip165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feet – calciare</a:t>
            </a:r>
            <a:endParaRPr lang="en-US" sz="1050" dirty="0"/>
          </a:p>
        </p:txBody>
      </p:sp>
      <p:sp>
        <p:nvSpPr>
          <p:cNvPr id="31" name="bd_166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q_167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</a:t>
            </a:r>
            <a:endParaRPr lang="en-US" sz="1150" dirty="0"/>
          </a:p>
        </p:txBody>
      </p:sp>
      <p:sp>
        <p:nvSpPr>
          <p:cNvPr id="33" name="R3_chip168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head – annuire</a:t>
            </a:r>
            <a:endParaRPr lang="en-US" sz="1050" dirty="0"/>
          </a:p>
        </p:txBody>
      </p:sp>
      <p:sp>
        <p:nvSpPr>
          <p:cNvPr id="34" name="bd_169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q_170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</a:t>
            </a:r>
            <a:endParaRPr lang="en-US" sz="1150" dirty="0"/>
          </a:p>
        </p:txBody>
      </p:sp>
      <p:sp>
        <p:nvSpPr>
          <p:cNvPr id="36" name="R4_chip171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finger – indicare</a:t>
            </a:r>
            <a:endParaRPr lang="en-US" sz="1050" dirty="0"/>
          </a:p>
        </p:txBody>
      </p:sp>
      <p:sp>
        <p:nvSpPr>
          <p:cNvPr id="37" name="bd_172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q_173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smell</a:t>
            </a:r>
            <a:endParaRPr lang="en-US" sz="1150" dirty="0"/>
          </a:p>
        </p:txBody>
      </p:sp>
      <p:sp>
        <p:nvSpPr>
          <p:cNvPr id="39" name="R5_chip174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nose – annusare</a:t>
            </a:r>
            <a:endParaRPr lang="en-US" sz="1050" dirty="0"/>
          </a:p>
        </p:txBody>
      </p:sp>
      <p:sp>
        <p:nvSpPr>
          <p:cNvPr id="40" name="bd_175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1" name="q_176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150" dirty="0"/>
          </a:p>
        </p:txBody>
      </p:sp>
      <p:sp>
        <p:nvSpPr>
          <p:cNvPr id="42" name="R6_chip177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– fissare</a:t>
            </a:r>
            <a:endParaRPr lang="en-US" sz="1050" dirty="0"/>
          </a:p>
        </p:txBody>
      </p:sp>
      <p:sp>
        <p:nvSpPr>
          <p:cNvPr id="43" name="bd_178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4" name="q_179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(silent t!)</a:t>
            </a:r>
            <a:endParaRPr lang="en-US" sz="1150" dirty="0"/>
          </a:p>
        </p:txBody>
      </p:sp>
      <p:sp>
        <p:nvSpPr>
          <p:cNvPr id="45" name="R7_chip180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lips – fischiare</a:t>
            </a:r>
            <a:endParaRPr lang="en-US" sz="1050" dirty="0"/>
          </a:p>
        </p:txBody>
      </p:sp>
      <p:sp>
        <p:nvSpPr>
          <p:cNvPr id="46" name="bd_181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7" name="q_182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150" dirty="0"/>
          </a:p>
        </p:txBody>
      </p:sp>
      <p:sp>
        <p:nvSpPr>
          <p:cNvPr id="48" name="R8_chip183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tongue / mouth – assaggiare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86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Teacher says…</a:t>
            </a:r>
            <a:endParaRPr lang="en-US" sz="2500" dirty="0"/>
          </a:p>
        </p:txBody>
      </p:sp>
      <p:pic>
        <p:nvPicPr>
          <p:cNvPr id="6" name="brP_1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88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up! Listen and DO it. Don't speak!</a:t>
            </a:r>
            <a:endParaRPr lang="en-US" sz="1250" dirty="0"/>
          </a:p>
        </p:txBody>
      </p:sp>
      <p:sp>
        <p:nvSpPr>
          <p:cNvPr id="8" name="insIT_1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piedi! Ascolta e FALLO. Non parlare!</a:t>
            </a:r>
            <a:endParaRPr lang="en-US" sz="950" dirty="0"/>
          </a:p>
        </p:txBody>
      </p:sp>
      <p:sp>
        <p:nvSpPr>
          <p:cNvPr id="9" name="cmd_19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endParaRPr lang="en-US" sz="950" dirty="0"/>
          </a:p>
        </p:txBody>
      </p:sp>
      <p:sp>
        <p:nvSpPr>
          <p:cNvPr id="10" name="meta_19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19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1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Teacher says!   ·   📖 SB p.62 · 3c · audio 6.16</a:t>
            </a:r>
            <a:endParaRPr lang="en-US" sz="800" dirty="0"/>
          </a:p>
        </p:txBody>
      </p:sp>
      <p:sp>
        <p:nvSpPr>
          <p:cNvPr id="14" name="cd_195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9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19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198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audio and DO the action.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l'audio e fai l'azione.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Then: 'Teacher says…' – only move if you hear 'Teacher says'!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Poi: muoviti solo se senti 'Teacher says'!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Wrong move? Sit down. The last person standing wins!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Sbagli? Siediti. Vince l'ultimo in piedi!</a:t>
            </a:r>
            <a:endParaRPr lang="en-US" sz="900" dirty="0"/>
          </a:p>
        </p:txBody>
      </p:sp>
      <p:sp>
        <p:nvSpPr>
          <p:cNvPr id="18" name="ap_199"/>
          <p:cNvSpPr/>
          <p:nvPr/>
        </p:nvSpPr>
        <p:spPr>
          <a:xfrm>
            <a:off x="365760" y="411480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</a:t>
            </a:r>
            <a:endParaRPr lang="en-US" sz="1100" dirty="0"/>
          </a:p>
        </p:txBody>
      </p:sp>
      <p:sp>
        <p:nvSpPr>
          <p:cNvPr id="19" name="ah_20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20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bd_202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4" name="gq_203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clap your hands!</a:t>
            </a:r>
            <a:endParaRPr lang="en-US" sz="1250" dirty="0"/>
          </a:p>
        </p:txBody>
      </p:sp>
      <p:sp>
        <p:nvSpPr>
          <p:cNvPr id="25" name="chip_204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👏</a:t>
            </a:r>
            <a:endParaRPr lang="en-US" sz="1200" dirty="0"/>
          </a:p>
        </p:txBody>
      </p:sp>
      <p:sp>
        <p:nvSpPr>
          <p:cNvPr id="26" name="bd_205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gq_206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nod your head!</a:t>
            </a:r>
            <a:endParaRPr lang="en-US" sz="1250" dirty="0"/>
          </a:p>
        </p:txBody>
      </p:sp>
      <p:sp>
        <p:nvSpPr>
          <p:cNvPr id="28" name="R1_chip207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🙂↕️</a:t>
            </a:r>
            <a:endParaRPr lang="en-US" sz="1200" dirty="0"/>
          </a:p>
        </p:txBody>
      </p:sp>
      <p:sp>
        <p:nvSpPr>
          <p:cNvPr id="29" name="bd_208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gq_209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at the board!</a:t>
            </a:r>
            <a:endParaRPr lang="en-US" sz="1250" dirty="0"/>
          </a:p>
        </p:txBody>
      </p:sp>
      <p:sp>
        <p:nvSpPr>
          <p:cNvPr id="31" name="R2_chip210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no 'Teacher says' – sit down!</a:t>
            </a:r>
            <a:endParaRPr lang="en-US" sz="1200" dirty="0"/>
          </a:p>
        </p:txBody>
      </p:sp>
      <p:sp>
        <p:nvSpPr>
          <p:cNvPr id="32" name="bd_211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gq_212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touch your knees!</a:t>
            </a:r>
            <a:endParaRPr lang="en-US" sz="1250" dirty="0"/>
          </a:p>
        </p:txBody>
      </p:sp>
      <p:sp>
        <p:nvSpPr>
          <p:cNvPr id="34" name="R3_chip213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🦵</a:t>
            </a:r>
            <a:endParaRPr lang="en-US" sz="1200" dirty="0"/>
          </a:p>
        </p:txBody>
      </p:sp>
      <p:sp>
        <p:nvSpPr>
          <p:cNvPr id="35" name="bd_214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gq_215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stare at your partner!</a:t>
            </a:r>
            <a:endParaRPr lang="en-US" sz="1250" dirty="0"/>
          </a:p>
        </p:txBody>
      </p:sp>
      <p:sp>
        <p:nvSpPr>
          <p:cNvPr id="37" name="R4_chip216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👀</a:t>
            </a:r>
            <a:endParaRPr lang="en-US" sz="1200" dirty="0"/>
          </a:p>
        </p:txBody>
      </p:sp>
      <p:sp>
        <p:nvSpPr>
          <p:cNvPr id="38" name="bd_217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gq_218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a song!</a:t>
            </a:r>
            <a:endParaRPr lang="en-US" sz="1250" dirty="0"/>
          </a:p>
        </p:txBody>
      </p:sp>
      <p:sp>
        <p:nvSpPr>
          <p:cNvPr id="40" name="R5_chip219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sit down!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2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①</a:t>
            </a:r>
            <a:endParaRPr lang="en-US" sz="2500" dirty="0"/>
          </a:p>
        </p:txBody>
      </p:sp>
      <p:pic>
        <p:nvPicPr>
          <p:cNvPr id="6" name="brP_2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224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sound is it?</a:t>
            </a:r>
            <a:endParaRPr lang="en-US" sz="1250" dirty="0"/>
          </a:p>
        </p:txBody>
      </p:sp>
      <p:sp>
        <p:nvSpPr>
          <p:cNvPr id="8" name="insIT_2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parola. Quale suono è?</a:t>
            </a:r>
            <a:endParaRPr lang="en-US" sz="950" dirty="0"/>
          </a:p>
        </p:txBody>
      </p:sp>
      <p:sp>
        <p:nvSpPr>
          <p:cNvPr id="9" name="cmd_22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🔊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endParaRPr lang="en-US" sz="950" dirty="0"/>
          </a:p>
        </p:txBody>
      </p:sp>
      <p:sp>
        <p:nvSpPr>
          <p:cNvPr id="10" name="meta_22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2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2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(two sounds in one)   ·   📖 SB p.62 · 4a–4c · audio 6.17, 6.18</a:t>
            </a:r>
            <a:endParaRPr lang="en-US" sz="800" dirty="0"/>
          </a:p>
        </p:txBody>
      </p:sp>
      <p:sp>
        <p:nvSpPr>
          <p:cNvPr id="14" name="cd_231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3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23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7" name="ap_234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6.17 + 6.18</a:t>
            </a:r>
            <a:endParaRPr lang="en-US" sz="1100" dirty="0"/>
          </a:p>
        </p:txBody>
      </p:sp>
      <p:sp>
        <p:nvSpPr>
          <p:cNvPr id="18" name="ah_235"/>
          <p:cNvSpPr/>
          <p:nvPr/>
        </p:nvSpPr>
        <p:spPr>
          <a:xfrm>
            <a:off x="363016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9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20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21" name="ah_236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4" name="lg_23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5" name="lg_23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6" name="lg_239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7" name="lg_240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8" name="lg_241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29" name="sq_242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</a:t>
            </a:r>
            <a:endParaRPr lang="en-US" sz="1200" dirty="0"/>
          </a:p>
        </p:txBody>
      </p:sp>
      <p:sp>
        <p:nvSpPr>
          <p:cNvPr id="30" name="R1_tag243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1" name="sq_244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face</a:t>
            </a:r>
            <a:endParaRPr lang="en-US" sz="1200" dirty="0"/>
          </a:p>
        </p:txBody>
      </p:sp>
      <p:sp>
        <p:nvSpPr>
          <p:cNvPr id="32" name="R2_tag245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3" name="sq_246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nose</a:t>
            </a:r>
            <a:endParaRPr lang="en-US" sz="1200" dirty="0"/>
          </a:p>
        </p:txBody>
      </p:sp>
      <p:sp>
        <p:nvSpPr>
          <p:cNvPr id="34" name="R3_tag247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5" name="sq_248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mouth</a:t>
            </a:r>
            <a:endParaRPr lang="en-US" sz="1200" dirty="0"/>
          </a:p>
        </p:txBody>
      </p:sp>
      <p:sp>
        <p:nvSpPr>
          <p:cNvPr id="36" name="R4_tag249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150" dirty="0"/>
          </a:p>
        </p:txBody>
      </p:sp>
      <p:sp>
        <p:nvSpPr>
          <p:cNvPr id="37" name="sq_250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hair</a:t>
            </a:r>
            <a:endParaRPr lang="en-US" sz="1200" dirty="0"/>
          </a:p>
        </p:txBody>
      </p:sp>
      <p:sp>
        <p:nvSpPr>
          <p:cNvPr id="38" name="R5_tag251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39" name="sq_252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eyes</a:t>
            </a:r>
            <a:endParaRPr lang="en-US" sz="1200" dirty="0"/>
          </a:p>
        </p:txBody>
      </p:sp>
      <p:sp>
        <p:nvSpPr>
          <p:cNvPr id="40" name="R6_tag253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②</a:t>
            </a:r>
            <a:endParaRPr lang="en-US" sz="2500" dirty="0"/>
          </a:p>
        </p:txBody>
      </p:sp>
      <p:pic>
        <p:nvPicPr>
          <p:cNvPr id="6" name="brP_2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5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these words. Then listen and check!</a:t>
            </a:r>
            <a:endParaRPr lang="en-US" sz="1250" dirty="0"/>
          </a:p>
        </p:txBody>
      </p:sp>
      <p:sp>
        <p:nvSpPr>
          <p:cNvPr id="8" name="insIT_25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queste parole. Poi ascolta e controlla!</a:t>
            </a:r>
            <a:endParaRPr lang="en-US" sz="950" dirty="0"/>
          </a:p>
        </p:txBody>
      </p:sp>
      <p:sp>
        <p:nvSpPr>
          <p:cNvPr id="9" name="cmd_26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🔊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endParaRPr lang="en-US" sz="950" dirty="0"/>
          </a:p>
        </p:txBody>
      </p:sp>
      <p:sp>
        <p:nvSpPr>
          <p:cNvPr id="10" name="meta_26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26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2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  ·   📖 SB p.62 · 4b, 4c · audio 6.18</a:t>
            </a:r>
            <a:endParaRPr lang="en-US" sz="800" dirty="0"/>
          </a:p>
        </p:txBody>
      </p:sp>
      <p:sp>
        <p:nvSpPr>
          <p:cNvPr id="14" name="cd_265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6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26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7" name="ap_268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</a:t>
            </a:r>
            <a:endParaRPr lang="en-US" sz="1100" dirty="0"/>
          </a:p>
        </p:txBody>
      </p:sp>
      <p:sp>
        <p:nvSpPr>
          <p:cNvPr id="18" name="ah_26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9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0" name="ah_27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1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2" name="lg_271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3" name="lg_272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4" name="lg_273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5" name="lg_274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6" name="lg_275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27" name="sq_276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200" dirty="0"/>
          </a:p>
        </p:txBody>
      </p:sp>
      <p:sp>
        <p:nvSpPr>
          <p:cNvPr id="28" name="R1_tag277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29" name="sq_278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30" name="R2_tag279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1" name="sq_280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smile</a:t>
            </a:r>
            <a:endParaRPr lang="en-US" sz="1200" dirty="0"/>
          </a:p>
        </p:txBody>
      </p:sp>
      <p:sp>
        <p:nvSpPr>
          <p:cNvPr id="32" name="R3_tag281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3" name="sq_282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200" dirty="0"/>
          </a:p>
        </p:txBody>
      </p:sp>
      <p:sp>
        <p:nvSpPr>
          <p:cNvPr id="34" name="R4_tag283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35" name="sq_284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throw</a:t>
            </a:r>
            <a:endParaRPr lang="en-US" sz="1200" dirty="0"/>
          </a:p>
        </p:txBody>
      </p:sp>
      <p:sp>
        <p:nvSpPr>
          <p:cNvPr id="36" name="R5_tag285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7" name="sq_286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endParaRPr lang="en-US" sz="1200" dirty="0"/>
          </a:p>
        </p:txBody>
      </p:sp>
      <p:sp>
        <p:nvSpPr>
          <p:cNvPr id="38" name="R6_tag287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290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your body say?</a:t>
            </a:r>
            <a:endParaRPr lang="en-US" sz="2400" dirty="0"/>
          </a:p>
        </p:txBody>
      </p:sp>
      <p:pic>
        <p:nvPicPr>
          <p:cNvPr id="6" name="brP_2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292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 with a partner. Use the phrases!</a:t>
            </a:r>
            <a:endParaRPr lang="en-US" sz="1250" dirty="0"/>
          </a:p>
        </p:txBody>
      </p:sp>
      <p:sp>
        <p:nvSpPr>
          <p:cNvPr id="8" name="insIT_2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domande e rispondi con un compagno. Usa le frasi!</a:t>
            </a:r>
            <a:endParaRPr lang="en-US" sz="950" dirty="0"/>
          </a:p>
        </p:txBody>
      </p:sp>
      <p:sp>
        <p:nvSpPr>
          <p:cNvPr id="9" name="cmd_29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29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9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body language and you   ·   📖 Personalisation before reading (PQA)</a:t>
            </a:r>
            <a:endParaRPr lang="en-US" sz="800" dirty="0"/>
          </a:p>
        </p:txBody>
      </p:sp>
      <p:sp>
        <p:nvSpPr>
          <p:cNvPr id="14" name="pf_299"/>
          <p:cNvSpPr/>
          <p:nvPr/>
        </p:nvSpPr>
        <p:spPr>
          <a:xfrm rot="-120000">
            <a:off x="742588" y="1371600"/>
            <a:ext cx="1943824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00" descr="/home/claude/lls-course/v2/cache/4a2_meet_parents_jpg_446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88308" y="1417320"/>
            <a:ext cx="1852384" cy="1234440"/>
          </a:xfrm>
          <a:prstGeom prst="rect">
            <a:avLst/>
          </a:prstGeom>
        </p:spPr>
      </p:pic>
      <p:sp>
        <p:nvSpPr>
          <p:cNvPr id="16" name="cd_301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02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03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04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I'm nervous, I usually…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(don't) make eye contact when…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… has charisma because…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 too! / Really? I don't.</a:t>
            </a:r>
            <a:endParaRPr lang="en-US" sz="1000" dirty="0"/>
          </a:p>
        </p:txBody>
      </p:sp>
      <p:sp>
        <p:nvSpPr>
          <p:cNvPr id="20" name="R1_qb305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06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smile a lot when you meet new people?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but only when I'm not nervous.</a:t>
            </a:r>
            <a:endParaRPr lang="en-US" sz="1250" dirty="0"/>
          </a:p>
        </p:txBody>
      </p:sp>
      <p:sp>
        <p:nvSpPr>
          <p:cNvPr id="22" name="R2_qb307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08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do you cross your arms?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When I'm cold – or bored!</a:t>
            </a:r>
            <a:endParaRPr lang="en-US" sz="1250" dirty="0"/>
          </a:p>
        </p:txBody>
      </p:sp>
      <p:sp>
        <p:nvSpPr>
          <p:cNvPr id="24" name="R3_qb309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10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look people in the eye when you talk to a teacher?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really, I usually look down.</a:t>
            </a:r>
            <a:endParaRPr lang="en-US" sz="1250" dirty="0"/>
          </a:p>
        </p:txBody>
      </p:sp>
      <p:sp>
        <p:nvSpPr>
          <p:cNvPr id="26" name="R4_qb311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12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do with your hands when you're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touch my hair all the time.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15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Dario's big solo</a:t>
            </a:r>
            <a:endParaRPr lang="en-US" sz="2500" dirty="0"/>
          </a:p>
        </p:txBody>
      </p:sp>
      <p:pic>
        <p:nvPicPr>
          <p:cNvPr id="6" name="brP_3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17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1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1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endParaRPr lang="en-US" sz="950" dirty="0"/>
          </a:p>
        </p:txBody>
      </p:sp>
      <p:sp>
        <p:nvSpPr>
          <p:cNvPr id="10" name="meta_32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32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2" name="logo_3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class story (TPRS)</a:t>
            </a:r>
            <a:endParaRPr lang="en-US" sz="800" dirty="0"/>
          </a:p>
        </p:txBody>
      </p:sp>
      <p:sp>
        <p:nvSpPr>
          <p:cNvPr id="14" name="pf_324"/>
          <p:cNvSpPr/>
          <p:nvPr/>
        </p:nvSpPr>
        <p:spPr>
          <a:xfrm rot="-90000">
            <a:off x="411480" y="1417320"/>
            <a:ext cx="2560320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25" descr="/home/claude/lls-course/v2/cache/6B_2_people_jpg_594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1463040"/>
            <a:ext cx="2468880" cy="1188720"/>
          </a:xfrm>
          <a:prstGeom prst="rect">
            <a:avLst/>
          </a:prstGeom>
        </p:spPr>
      </p:pic>
      <p:sp>
        <p:nvSpPr>
          <p:cNvPr id="16" name="cd_326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27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8" name="ih_328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9" name="il_329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(your nails)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mangiarsi (le unghie)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 · stomach · toes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ginocchia · stomaco · dita dei piedi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· lips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fischiare · labbra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 at · point at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fissare · indicare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 · nod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applaudire · annuire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· shoulders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mento · spalle</a:t>
            </a:r>
            <a:endParaRPr lang="en-US" sz="750" dirty="0"/>
          </a:p>
        </p:txBody>
      </p:sp>
      <p:sp>
        <p:nvSpPr>
          <p:cNvPr id="20" name="R1_sb330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R1_sl331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has a trumpet solo at the school concert. He's so nervous he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nails.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nervous or relaxed? · What does he bite?</a:t>
            </a:r>
            <a:endParaRPr lang="en-US" sz="900" dirty="0"/>
          </a:p>
        </p:txBody>
      </p:sp>
      <p:sp>
        <p:nvSpPr>
          <p:cNvPr id="22" name="R2_sb332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R2_sl333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shake and 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stomach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hurts. He can't feel 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 his knees shake? · What hurts – his head or his stomach?</a:t>
            </a:r>
            <a:endParaRPr lang="en-US" sz="1150" dirty="0"/>
          </a:p>
        </p:txBody>
      </p:sp>
      <p:sp>
        <p:nvSpPr>
          <p:cNvPr id="24" name="R3_sb334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R3_sl335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stage, he can't play a note. So 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song with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lips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he play or whistle? · What does he whistle with?</a:t>
            </a:r>
            <a:endParaRPr lang="en-US" sz="1050" dirty="0"/>
          </a:p>
        </p:txBody>
      </p:sp>
      <p:sp>
        <p:nvSpPr>
          <p:cNvPr id="26" name="R4_sb336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R4_sl337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boy in the front row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stares at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and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points at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trousers.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the boy stare or smile? · What does he point at?</a:t>
            </a:r>
            <a:endParaRPr lang="en-US" sz="1150" dirty="0"/>
          </a:p>
        </p:txBody>
      </p:sp>
      <p:sp>
        <p:nvSpPr>
          <p:cNvPr id="28" name="R5_sb338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R5_sl339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Oh no! Dario's trousers are on back to front! But everybody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Are his trousers OK? · Does everybody clap or laugh?</a:t>
            </a:r>
            <a:endParaRPr lang="en-US" sz="1100" dirty="0"/>
          </a:p>
        </p:txBody>
      </p:sp>
      <p:sp>
        <p:nvSpPr>
          <p:cNvPr id="30" name="R6_sb340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R6_sl341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lifts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moves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back and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'Thank you!'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sad or proud? · And you – what do you do when you're nervous?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44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</a:t>
            </a:r>
            <a:endParaRPr lang="en-US" sz="2400" dirty="0"/>
          </a:p>
        </p:txBody>
      </p:sp>
      <p:pic>
        <p:nvPicPr>
          <p:cNvPr id="6" name="brP_34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46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Guess! What do the numbers mean?</a:t>
            </a:r>
            <a:endParaRPr lang="en-US" sz="1250" dirty="0"/>
          </a:p>
        </p:txBody>
      </p:sp>
      <p:sp>
        <p:nvSpPr>
          <p:cNvPr id="8" name="insIT_34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Indovina! Cosa significano i numeri?</a:t>
            </a:r>
            <a:endParaRPr lang="en-US" sz="950" dirty="0"/>
          </a:p>
        </p:txBody>
      </p:sp>
      <p:sp>
        <p:nvSpPr>
          <p:cNvPr id="9" name="cmd_348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349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350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Prediction</a:t>
            </a:r>
            <a:endParaRPr lang="en-US" sz="950" dirty="0"/>
          </a:p>
        </p:txBody>
      </p:sp>
      <p:pic>
        <p:nvPicPr>
          <p:cNvPr id="12" name="logo_35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5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prediction   ·   📖 SB p.62 · 5a, 5b</a:t>
            </a:r>
            <a:endParaRPr lang="en-US" sz="800" dirty="0"/>
          </a:p>
        </p:txBody>
      </p:sp>
      <p:sp>
        <p:nvSpPr>
          <p:cNvPr id="14" name="cd_353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hl_354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</a:t>
            </a:r>
            <a:endParaRPr lang="en-US" sz="2800" dirty="0"/>
          </a:p>
        </p:txBody>
      </p:sp>
      <p:sp>
        <p:nvSpPr>
          <p:cNvPr id="16" name="nx_355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man is a journalist, one is a charisma coach. Who's who? Why?</a:t>
            </a:r>
            <a:endParaRPr lang="en-US" sz="1000" dirty="0"/>
          </a:p>
        </p:txBody>
      </p:sp>
      <p:sp>
        <p:nvSpPr>
          <p:cNvPr id="17" name="sf_356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 /ˈkærɪzmə/ = the powerful personal quality that some people have which attracts and impresses other people</a:t>
            </a:r>
            <a:endParaRPr lang="en-US" sz="1150" dirty="0"/>
          </a:p>
        </p:txBody>
      </p:sp>
      <p:sp>
        <p:nvSpPr>
          <p:cNvPr id="18" name="nbl_357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what they mean!</a:t>
            </a:r>
            <a:endParaRPr lang="en-US" sz="1100" dirty="0"/>
          </a:p>
        </p:txBody>
      </p:sp>
      <p:sp>
        <p:nvSpPr>
          <p:cNvPr id="19" name="bd_358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£150</a:t>
            </a:r>
            <a:endParaRPr lang="en-US" sz="800" dirty="0"/>
          </a:p>
        </p:txBody>
      </p:sp>
      <p:sp>
        <p:nvSpPr>
          <p:cNvPr id="20" name="bd_359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bd_360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pf_361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362" descr="/home/claude/lls-course/v2/cache/6B_2_colin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5" name="title_365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 · the article</a:t>
            </a:r>
            <a:endParaRPr lang="en-US" sz="2250" dirty="0"/>
          </a:p>
        </p:txBody>
      </p:sp>
      <p:pic>
        <p:nvPicPr>
          <p:cNvPr id="6" name="brP_3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67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Check your guesses. Who's the coach?</a:t>
            </a:r>
            <a:endParaRPr lang="en-US" sz="1250" dirty="0"/>
          </a:p>
        </p:txBody>
      </p:sp>
      <p:sp>
        <p:nvSpPr>
          <p:cNvPr id="8" name="insIT_36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Controlla. Chi è il coach?</a:t>
            </a:r>
            <a:endParaRPr lang="en-US" sz="950" dirty="0"/>
          </a:p>
        </p:txBody>
      </p:sp>
      <p:sp>
        <p:nvSpPr>
          <p:cNvPr id="9" name="cmd_36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meta_37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37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3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the journalist's article   ·   📖 SB p.63 · 5c</a:t>
            </a:r>
            <a:endParaRPr lang="en-US" sz="800" dirty="0"/>
          </a:p>
        </p:txBody>
      </p:sp>
      <p:sp>
        <p:nvSpPr>
          <p:cNvPr id="14" name="cd_374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375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Colin Drury and Danish Sheikh</a:t>
            </a:r>
            <a:endParaRPr lang="en-US" sz="1700" dirty="0"/>
          </a:p>
        </p:txBody>
      </p:sp>
      <p:sp>
        <p:nvSpPr>
          <p:cNvPr id="16" name="ln_376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21st century, charisma is the quality that people in all fields of life would most like to have. But can you learn it?</a:t>
            </a:r>
            <a:endParaRPr lang="en-US" sz="1150" dirty="0"/>
          </a:p>
        </p:txBody>
      </p:sp>
      <p:sp>
        <p:nvSpPr>
          <p:cNvPr id="17" name="ln_377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 I have just met thinks so. His name is Danish Sheikh, and he is a charisma coach.</a:t>
            </a:r>
            <a:endParaRPr lang="en-US" sz="1150" dirty="0"/>
          </a:p>
        </p:txBody>
      </p:sp>
      <p:sp>
        <p:nvSpPr>
          <p:cNvPr id="18" name="ln_378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has worked with Microsoft, Yahoo, and the BBC, and he thinks he can turn anyone into George Clooney.</a:t>
            </a:r>
            <a:endParaRPr lang="en-US" sz="1150" dirty="0"/>
          </a:p>
        </p:txBody>
      </p:sp>
      <p:sp>
        <p:nvSpPr>
          <p:cNvPr id="19" name="ln_379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charges £150 an hour, and plenty of people are paying. And for two days, I'm going to be his student.</a:t>
            </a:r>
            <a:endParaRPr lang="en-US" sz="1150" dirty="0"/>
          </a:p>
        </p:txBody>
      </p:sp>
      <p:sp>
        <p:nvSpPr>
          <p:cNvPr id="20" name="ln_380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Yesterday, he followed me everywhere and watched how I behaved with people – in shops, at the hairdresser's, and in work meetings.</a:t>
            </a:r>
            <a:endParaRPr lang="en-US" sz="1150" dirty="0"/>
          </a:p>
        </p:txBody>
      </p:sp>
      <p:sp>
        <p:nvSpPr>
          <p:cNvPr id="21" name="ln_381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impressions of me are not good: I can't make conversation, I have negative body language, and I don't smile enough. I also seem bored.</a:t>
            </a:r>
            <a:endParaRPr lang="en-US" sz="1150" dirty="0"/>
          </a:p>
        </p:txBody>
      </p:sp>
      <p:sp>
        <p:nvSpPr>
          <p:cNvPr id="22" name="ln_382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'But don't worry!' Sheikh says, cheerfully. 'We're going to fix all this.'</a:t>
            </a:r>
            <a:endParaRPr lang="en-US" sz="1150" dirty="0"/>
          </a:p>
        </p:txBody>
      </p:sp>
      <p:sp>
        <p:nvSpPr>
          <p:cNvPr id="23" name="pf_383"/>
          <p:cNvSpPr/>
          <p:nvPr/>
        </p:nvSpPr>
        <p:spPr>
          <a:xfrm rot="120000">
            <a:off x="7013233" y="1417320"/>
            <a:ext cx="1152575" cy="1508760"/>
          </a:xfrm>
          <a:prstGeom prst="roundRect">
            <a:avLst>
              <a:gd name="adj" fmla="val 134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84" descr="/home/claude/lls-course/v2/cache/6B_2_colin_jpg_255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7058953" y="1463040"/>
            <a:ext cx="1061135" cy="1417320"/>
          </a:xfrm>
          <a:prstGeom prst="rect">
            <a:avLst/>
          </a:prstGeom>
        </p:spPr>
      </p:pic>
      <p:sp>
        <p:nvSpPr>
          <p:cNvPr id="25" name="cd_385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ii_386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7" name="ih_387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8" name="il_388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fix = correct / repair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plenty of = a lot of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391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Check: what did you understand?</a:t>
            </a:r>
            <a:endParaRPr lang="en-US" sz="2400" dirty="0"/>
          </a:p>
        </p:txBody>
      </p:sp>
      <p:pic>
        <p:nvPicPr>
          <p:cNvPr id="6" name="brP_3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93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with a partner. The article is on the last slide.</a:t>
            </a:r>
            <a:endParaRPr lang="en-US" sz="1250" dirty="0"/>
          </a:p>
        </p:txBody>
      </p:sp>
      <p:sp>
        <p:nvSpPr>
          <p:cNvPr id="8" name="insIT_39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 con un compagno. L'articolo è nella slide precedente.</a:t>
            </a:r>
            <a:endParaRPr lang="en-US" sz="950" dirty="0"/>
          </a:p>
        </p:txBody>
      </p:sp>
      <p:sp>
        <p:nvSpPr>
          <p:cNvPr id="9" name="cmd_39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endParaRPr lang="en-US" sz="950" dirty="0"/>
          </a:p>
        </p:txBody>
      </p:sp>
      <p:sp>
        <p:nvSpPr>
          <p:cNvPr id="10" name="meta_39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39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3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comprehension   ·   📖 SB p.62 · 5c</a:t>
            </a:r>
            <a:endParaRPr lang="en-US" sz="800" dirty="0"/>
          </a:p>
        </p:txBody>
      </p:sp>
      <p:sp>
        <p:nvSpPr>
          <p:cNvPr id="14" name="cd_400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0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40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403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Who's the coach? → Danish Sheikh</a:t>
            </a:r>
            <a:endParaRPr lang="en-US" sz="1050" dirty="0"/>
          </a:p>
        </p:txBody>
      </p:sp>
      <p:sp>
        <p:nvSpPr>
          <p:cNvPr id="18" name="pf_404"/>
          <p:cNvSpPr/>
          <p:nvPr/>
        </p:nvSpPr>
        <p:spPr>
          <a:xfrm rot="-90000">
            <a:off x="873420" y="2569464"/>
            <a:ext cx="1590721" cy="2093976"/>
          </a:xfrm>
          <a:prstGeom prst="roundRect">
            <a:avLst>
              <a:gd name="adj" fmla="val 97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05" descr="/home/claude/lls-course/v2/cache/6B_2_colin_jpg_361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919140" y="2615184"/>
            <a:ext cx="1499281" cy="2002536"/>
          </a:xfrm>
          <a:prstGeom prst="rect">
            <a:avLst/>
          </a:prstGeom>
        </p:spPr>
      </p:pic>
      <p:sp>
        <p:nvSpPr>
          <p:cNvPr id="20" name="bd_40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40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experience does Danish Sheikh have?</a:t>
            </a:r>
            <a:endParaRPr lang="en-US" sz="1150" dirty="0"/>
          </a:p>
        </p:txBody>
      </p:sp>
      <p:sp>
        <p:nvSpPr>
          <p:cNvPr id="22" name="R1_chip40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Microsoft, Yahoo and the BBC</a:t>
            </a:r>
            <a:endParaRPr lang="en-US" sz="900" dirty="0"/>
          </a:p>
        </p:txBody>
      </p:sp>
      <p:sp>
        <p:nvSpPr>
          <p:cNvPr id="23" name="bd_40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41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he successful?</a:t>
            </a:r>
            <a:endParaRPr lang="en-US" sz="1150" dirty="0"/>
          </a:p>
        </p:txBody>
      </p:sp>
      <p:sp>
        <p:nvSpPr>
          <p:cNvPr id="25" name="R2_chip41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 – £150 an hour, and plenty of people pay</a:t>
            </a:r>
            <a:endParaRPr lang="en-US" sz="900" dirty="0"/>
          </a:p>
        </p:txBody>
      </p:sp>
      <p:sp>
        <p:nvSpPr>
          <p:cNvPr id="26" name="bd_41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41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he do yesterday? Why?</a:t>
            </a:r>
            <a:endParaRPr lang="en-US" sz="1150" dirty="0"/>
          </a:p>
        </p:txBody>
      </p:sp>
      <p:sp>
        <p:nvSpPr>
          <p:cNvPr id="28" name="R3_chip41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followed Colin everywhere – to watch how he behaves with people (Colin is going to be his student)</a:t>
            </a:r>
            <a:endParaRPr lang="en-US" sz="900" dirty="0"/>
          </a:p>
        </p:txBody>
      </p:sp>
      <p:sp>
        <p:nvSpPr>
          <p:cNvPr id="29" name="bd_41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41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problems does Colin have?</a:t>
            </a:r>
            <a:endParaRPr lang="en-US" sz="1150" dirty="0"/>
          </a:p>
        </p:txBody>
      </p:sp>
      <p:sp>
        <p:nvSpPr>
          <p:cNvPr id="31" name="R4_chip41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make conversation · negative body language · doesn't smile enough · seems bored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420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person with charisma…</a:t>
            </a:r>
            <a:endParaRPr lang="en-US" sz="2400" dirty="0"/>
          </a:p>
        </p:txBody>
      </p:sp>
      <p:pic>
        <p:nvPicPr>
          <p:cNvPr id="6" name="brP_4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22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or cross ✗ with a partner. THEN listen and check.</a:t>
            </a:r>
            <a:endParaRPr lang="en-US" sz="1200" dirty="0"/>
          </a:p>
        </p:txBody>
      </p:sp>
      <p:sp>
        <p:nvSpPr>
          <p:cNvPr id="8" name="insIT_4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Segna ✓ o ✗ con un compagno. POI ascolta e controlla.</a:t>
            </a:r>
            <a:endParaRPr lang="en-US" sz="950" dirty="0"/>
          </a:p>
        </p:txBody>
      </p:sp>
      <p:sp>
        <p:nvSpPr>
          <p:cNvPr id="9" name="cmd_42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endParaRPr lang="en-US" sz="950" dirty="0"/>
          </a:p>
        </p:txBody>
      </p:sp>
      <p:sp>
        <p:nvSpPr>
          <p:cNvPr id="10" name="meta_42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2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4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audio 6.19   ·   📖 SB p.63 · 5d, 5e · audio 6.19</a:t>
            </a:r>
            <a:endParaRPr lang="en-US" sz="800" dirty="0"/>
          </a:p>
        </p:txBody>
      </p:sp>
      <p:sp>
        <p:nvSpPr>
          <p:cNvPr id="14" name="cd_429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3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43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Does it?</a:t>
            </a:r>
            <a:endParaRPr lang="en-US" sz="1300" dirty="0"/>
          </a:p>
        </p:txBody>
      </p:sp>
      <p:sp>
        <p:nvSpPr>
          <p:cNvPr id="17" name="ap_432"/>
          <p:cNvSpPr/>
          <p:nvPr/>
        </p:nvSpPr>
        <p:spPr>
          <a:xfrm>
            <a:off x="365760" y="3081528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</a:t>
            </a:r>
            <a:endParaRPr lang="en-US" sz="1100" dirty="0"/>
          </a:p>
        </p:txBody>
      </p:sp>
      <p:sp>
        <p:nvSpPr>
          <p:cNvPr id="18" name="ah_433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9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0" name="ah_434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1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2" name="lg_435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050" dirty="0"/>
          </a:p>
        </p:txBody>
      </p:sp>
      <p:sp>
        <p:nvSpPr>
          <p:cNvPr id="23" name="lg_436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050" dirty="0"/>
          </a:p>
        </p:txBody>
      </p:sp>
      <p:sp>
        <p:nvSpPr>
          <p:cNvPr id="24" name="sq_437"/>
          <p:cNvSpPr/>
          <p:nvPr/>
        </p:nvSpPr>
        <p:spPr>
          <a:xfrm>
            <a:off x="3246120" y="141732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shows people what he / she is like</a:t>
            </a:r>
            <a:endParaRPr lang="en-US" sz="1100" dirty="0"/>
          </a:p>
        </p:txBody>
      </p:sp>
      <p:sp>
        <p:nvSpPr>
          <p:cNvPr id="25" name="R1_tag438"/>
          <p:cNvSpPr/>
          <p:nvPr/>
        </p:nvSpPr>
        <p:spPr>
          <a:xfrm>
            <a:off x="7178040" y="141732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6" name="sq_439"/>
          <p:cNvSpPr/>
          <p:nvPr/>
        </p:nvSpPr>
        <p:spPr>
          <a:xfrm>
            <a:off x="3246120" y="174650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makes other people feel important</a:t>
            </a:r>
            <a:endParaRPr lang="en-US" sz="1100" dirty="0"/>
          </a:p>
        </p:txBody>
      </p:sp>
      <p:sp>
        <p:nvSpPr>
          <p:cNvPr id="27" name="R2_tag440"/>
          <p:cNvSpPr/>
          <p:nvPr/>
        </p:nvSpPr>
        <p:spPr>
          <a:xfrm>
            <a:off x="7178040" y="174650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8" name="sq_441"/>
          <p:cNvSpPr/>
          <p:nvPr/>
        </p:nvSpPr>
        <p:spPr>
          <a:xfrm>
            <a:off x="3246120" y="207568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talks a lot about himself / herself</a:t>
            </a:r>
            <a:endParaRPr lang="en-US" sz="1100" dirty="0"/>
          </a:p>
        </p:txBody>
      </p:sp>
      <p:sp>
        <p:nvSpPr>
          <p:cNvPr id="29" name="R3_tag442"/>
          <p:cNvSpPr/>
          <p:nvPr/>
        </p:nvSpPr>
        <p:spPr>
          <a:xfrm>
            <a:off x="7178040" y="207568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0" name="sq_443"/>
          <p:cNvSpPr/>
          <p:nvPr/>
        </p:nvSpPr>
        <p:spPr>
          <a:xfrm>
            <a:off x="3246120" y="240487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never says anything about himself / herself</a:t>
            </a:r>
            <a:endParaRPr lang="en-US" sz="1100" dirty="0"/>
          </a:p>
        </p:txBody>
      </p:sp>
      <p:sp>
        <p:nvSpPr>
          <p:cNvPr id="31" name="R4_tag444"/>
          <p:cNvSpPr/>
          <p:nvPr/>
        </p:nvSpPr>
        <p:spPr>
          <a:xfrm>
            <a:off x="7178040" y="240487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2" name="sq_445"/>
          <p:cNvSpPr/>
          <p:nvPr/>
        </p:nvSpPr>
        <p:spPr>
          <a:xfrm>
            <a:off x="3246120" y="273405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is self-confident</a:t>
            </a:r>
            <a:endParaRPr lang="en-US" sz="1100" dirty="0"/>
          </a:p>
        </p:txBody>
      </p:sp>
      <p:sp>
        <p:nvSpPr>
          <p:cNvPr id="33" name="R5_tag446"/>
          <p:cNvSpPr/>
          <p:nvPr/>
        </p:nvSpPr>
        <p:spPr>
          <a:xfrm>
            <a:off x="7178040" y="273405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4" name="sq_447"/>
          <p:cNvSpPr/>
          <p:nvPr/>
        </p:nvSpPr>
        <p:spPr>
          <a:xfrm>
            <a:off x="3246120" y="306324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stands with feet apart and arms wide</a:t>
            </a:r>
            <a:endParaRPr lang="en-US" sz="1100" dirty="0"/>
          </a:p>
        </p:txBody>
      </p:sp>
      <p:sp>
        <p:nvSpPr>
          <p:cNvPr id="35" name="R6_tag448"/>
          <p:cNvSpPr/>
          <p:nvPr/>
        </p:nvSpPr>
        <p:spPr>
          <a:xfrm>
            <a:off x="7178040" y="306324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6" name="sq_449"/>
          <p:cNvSpPr/>
          <p:nvPr/>
        </p:nvSpPr>
        <p:spPr>
          <a:xfrm>
            <a:off x="3246120" y="339242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makes eye contact, but doesn't stare</a:t>
            </a:r>
            <a:endParaRPr lang="en-US" sz="1100" dirty="0"/>
          </a:p>
        </p:txBody>
      </p:sp>
      <p:sp>
        <p:nvSpPr>
          <p:cNvPr id="37" name="R7_tag450"/>
          <p:cNvSpPr/>
          <p:nvPr/>
        </p:nvSpPr>
        <p:spPr>
          <a:xfrm>
            <a:off x="7178040" y="339242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8" name="sq_451"/>
          <p:cNvSpPr/>
          <p:nvPr/>
        </p:nvSpPr>
        <p:spPr>
          <a:xfrm>
            <a:off x="3246120" y="372160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uses a lot of hand gestures</a:t>
            </a:r>
            <a:endParaRPr lang="en-US" sz="1100" dirty="0"/>
          </a:p>
        </p:txBody>
      </p:sp>
      <p:sp>
        <p:nvSpPr>
          <p:cNvPr id="39" name="R8_tag452"/>
          <p:cNvSpPr/>
          <p:nvPr/>
        </p:nvSpPr>
        <p:spPr>
          <a:xfrm>
            <a:off x="7178040" y="372160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0" name="sq_453"/>
          <p:cNvSpPr/>
          <p:nvPr/>
        </p:nvSpPr>
        <p:spPr>
          <a:xfrm>
            <a:off x="3246120" y="405079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speaks very slowly</a:t>
            </a:r>
            <a:endParaRPr lang="en-US" sz="1100" dirty="0"/>
          </a:p>
        </p:txBody>
      </p:sp>
      <p:sp>
        <p:nvSpPr>
          <p:cNvPr id="41" name="R9_tag454"/>
          <p:cNvSpPr/>
          <p:nvPr/>
        </p:nvSpPr>
        <p:spPr>
          <a:xfrm>
            <a:off x="7178040" y="405079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2" name="sq_455"/>
          <p:cNvSpPr/>
          <p:nvPr/>
        </p:nvSpPr>
        <p:spPr>
          <a:xfrm>
            <a:off x="3246120" y="437997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listens to people carefully</a:t>
            </a:r>
            <a:endParaRPr lang="en-US" sz="1100" dirty="0"/>
          </a:p>
        </p:txBody>
      </p:sp>
      <p:sp>
        <p:nvSpPr>
          <p:cNvPr id="43" name="R10_tag456"/>
          <p:cNvSpPr/>
          <p:nvPr/>
        </p:nvSpPr>
        <p:spPr>
          <a:xfrm>
            <a:off x="7178040" y="437997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5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459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Colin say about…?</a:t>
            </a:r>
            <a:endParaRPr lang="en-US" sz="2300" dirty="0"/>
          </a:p>
        </p:txBody>
      </p:sp>
      <p:pic>
        <p:nvPicPr>
          <p:cNvPr id="6" name="brP_46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461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4 questions. Listen again and answer.</a:t>
            </a:r>
            <a:endParaRPr lang="en-US" sz="1250" dirty="0"/>
          </a:p>
        </p:txBody>
      </p:sp>
      <p:sp>
        <p:nvSpPr>
          <p:cNvPr id="8" name="insIT_46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4 domande. Ascolta di nuovo e rispondi.</a:t>
            </a:r>
            <a:endParaRPr lang="en-US" sz="950" dirty="0"/>
          </a:p>
        </p:txBody>
      </p:sp>
      <p:sp>
        <p:nvSpPr>
          <p:cNvPr id="9" name="cmd_46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meta_46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46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950" dirty="0"/>
          </a:p>
        </p:txBody>
      </p:sp>
      <p:pic>
        <p:nvPicPr>
          <p:cNvPr id="12" name="logo_46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detail · audio 6.19   ·   📖 SB p.63 · 5f · audio 6.19</a:t>
            </a:r>
            <a:endParaRPr lang="en-US" sz="800" dirty="0"/>
          </a:p>
        </p:txBody>
      </p:sp>
      <p:sp>
        <p:nvSpPr>
          <p:cNvPr id="14" name="ap_468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  ·  play 2× · 🐢 = slower</a:t>
            </a:r>
            <a:endParaRPr lang="en-US" sz="1100" dirty="0"/>
          </a:p>
        </p:txBody>
      </p:sp>
      <p:sp>
        <p:nvSpPr>
          <p:cNvPr id="15" name="ah_46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47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pf_471"/>
          <p:cNvSpPr/>
          <p:nvPr/>
        </p:nvSpPr>
        <p:spPr>
          <a:xfrm rot="-90000">
            <a:off x="1081242" y="2057400"/>
            <a:ext cx="1357956" cy="1783080"/>
          </a:xfrm>
          <a:prstGeom prst="roundRect">
            <a:avLst>
              <a:gd name="adj" fmla="val 114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72" descr="/home/claude/lls-course/v2/cache/6B_2_colin_jpg_305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1126962" y="2103120"/>
            <a:ext cx="1266516" cy="1691640"/>
          </a:xfrm>
          <a:prstGeom prst="rect">
            <a:avLst/>
          </a:prstGeom>
        </p:spPr>
      </p:pic>
      <p:sp>
        <p:nvSpPr>
          <p:cNvPr id="21" name="cd_473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474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475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gq_476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talking about yourself</a:t>
            </a:r>
            <a:endParaRPr lang="en-US" sz="1200" dirty="0"/>
          </a:p>
        </p:txBody>
      </p:sp>
      <p:sp>
        <p:nvSpPr>
          <p:cNvPr id="25" name="R1_chip477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enough – but not too much</a:t>
            </a:r>
            <a:endParaRPr lang="en-US" sz="1200" dirty="0"/>
          </a:p>
        </p:txBody>
      </p:sp>
      <p:sp>
        <p:nvSpPr>
          <p:cNvPr id="26" name="gq_478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remembering a past success</a:t>
            </a:r>
            <a:endParaRPr lang="en-US" sz="1200" dirty="0"/>
          </a:p>
        </p:txBody>
      </p:sp>
      <p:sp>
        <p:nvSpPr>
          <p:cNvPr id="27" name="R2_chip479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helps you feel more confident</a:t>
            </a:r>
            <a:endParaRPr lang="en-US" sz="1200" dirty="0"/>
          </a:p>
        </p:txBody>
      </p:sp>
      <p:sp>
        <p:nvSpPr>
          <p:cNvPr id="28" name="gq_480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how to enter a room</a:t>
            </a:r>
            <a:endParaRPr lang="en-US" sz="1200" dirty="0"/>
          </a:p>
        </p:txBody>
      </p:sp>
      <p:sp>
        <p:nvSpPr>
          <p:cNvPr id="29" name="R3_chip481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00" dirty="0"/>
          </a:p>
        </p:txBody>
      </p:sp>
      <p:sp>
        <p:nvSpPr>
          <p:cNvPr id="30" name="gq_482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if you aren't really listening</a:t>
            </a:r>
            <a:endParaRPr lang="en-US" sz="1200" dirty="0"/>
          </a:p>
        </p:txBody>
      </p:sp>
      <p:sp>
        <p:nvSpPr>
          <p:cNvPr id="31" name="R4_chip483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other person notices very quickly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486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Colin's test</a:t>
            </a:r>
            <a:endParaRPr lang="en-US" sz="2500" dirty="0"/>
          </a:p>
        </p:txBody>
      </p:sp>
      <p:pic>
        <p:nvPicPr>
          <p:cNvPr id="6" name="brP_4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88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first. Then listen and complete.</a:t>
            </a:r>
            <a:endParaRPr lang="en-US" sz="1250" dirty="0"/>
          </a:p>
        </p:txBody>
      </p:sp>
      <p:sp>
        <p:nvSpPr>
          <p:cNvPr id="8" name="insIT_4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prima. Poi ascolta e completa.</a:t>
            </a:r>
            <a:endParaRPr lang="en-US" sz="950" dirty="0"/>
          </a:p>
        </p:txBody>
      </p:sp>
      <p:sp>
        <p:nvSpPr>
          <p:cNvPr id="9" name="cmd_49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endParaRPr lang="en-US" sz="950" dirty="0"/>
          </a:p>
        </p:txBody>
      </p:sp>
      <p:sp>
        <p:nvSpPr>
          <p:cNvPr id="10" name="meta_49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1" name="tag_49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950" dirty="0"/>
          </a:p>
        </p:txBody>
      </p:sp>
      <p:pic>
        <p:nvPicPr>
          <p:cNvPr id="12" name="logo_4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the practical test · audio 6.20   ·   📖 SB p.63 · 5g · audio 6.20</a:t>
            </a:r>
            <a:endParaRPr lang="en-US" sz="800" dirty="0"/>
          </a:p>
        </p:txBody>
      </p:sp>
      <p:sp>
        <p:nvSpPr>
          <p:cNvPr id="14" name="ap_495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6.20  ·  play 1–2× · 🐢 = slower</a:t>
            </a:r>
            <a:endParaRPr lang="en-US" sz="1100" dirty="0"/>
          </a:p>
        </p:txBody>
      </p:sp>
      <p:sp>
        <p:nvSpPr>
          <p:cNvPr id="15" name="ah_496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497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pf_498"/>
          <p:cNvSpPr/>
          <p:nvPr/>
        </p:nvSpPr>
        <p:spPr>
          <a:xfrm rot="-90000">
            <a:off x="1081242" y="2057400"/>
            <a:ext cx="1357956" cy="1783080"/>
          </a:xfrm>
          <a:prstGeom prst="roundRect">
            <a:avLst>
              <a:gd name="adj" fmla="val 114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99" descr="/home/claude/lls-course/v2/cache/6B_2_colin_jpg_305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1126962" y="2103120"/>
            <a:ext cx="1266516" cy="1691640"/>
          </a:xfrm>
          <a:prstGeom prst="rect">
            <a:avLst/>
          </a:prstGeom>
        </p:spPr>
      </p:pic>
      <p:sp>
        <p:nvSpPr>
          <p:cNvPr id="21" name="cd_500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501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502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gq_503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In the pub, Colin has to…</a:t>
            </a:r>
            <a:endParaRPr lang="en-US" sz="1200" dirty="0"/>
          </a:p>
        </p:txBody>
      </p:sp>
      <p:sp>
        <p:nvSpPr>
          <p:cNvPr id="25" name="R1_chip504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strangers</a:t>
            </a:r>
            <a:endParaRPr lang="en-US" sz="1200" dirty="0"/>
          </a:p>
        </p:txBody>
      </p:sp>
      <p:sp>
        <p:nvSpPr>
          <p:cNvPr id="26" name="gq_505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Sheikh helps him by…</a:t>
            </a:r>
            <a:endParaRPr lang="en-US" sz="1200" dirty="0"/>
          </a:p>
        </p:txBody>
      </p:sp>
      <p:sp>
        <p:nvSpPr>
          <p:cNvPr id="27" name="R2_chip506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giving advice: make eye contact, don't cross your arms</a:t>
            </a:r>
            <a:endParaRPr lang="en-US" sz="850" dirty="0"/>
          </a:p>
        </p:txBody>
      </p:sp>
      <p:sp>
        <p:nvSpPr>
          <p:cNvPr id="28" name="gq_507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In the end, Colin thinks charisma is about…</a:t>
            </a:r>
            <a:endParaRPr lang="en-US" sz="1200" dirty="0"/>
          </a:p>
        </p:txBody>
      </p:sp>
      <p:sp>
        <p:nvSpPr>
          <p:cNvPr id="29" name="R3_chip508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understanding who you really are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989734" cy="621792"/>
          </a:xfrm>
          <a:prstGeom prst="rect">
            <a:avLst/>
          </a:prstGeom>
        </p:spPr>
      </p:pic>
      <p:sp>
        <p:nvSpPr>
          <p:cNvPr id="5" name="title_511"/>
          <p:cNvSpPr/>
          <p:nvPr/>
        </p:nvSpPr>
        <p:spPr>
          <a:xfrm>
            <a:off x="1261872" y="164592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Mime it!</a:t>
            </a:r>
            <a:endParaRPr lang="en-US" sz="2500" dirty="0"/>
          </a:p>
        </p:txBody>
      </p:sp>
      <p:pic>
        <p:nvPicPr>
          <p:cNvPr id="6" name="brP_51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513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the action. Your team says the FULL phrase!</a:t>
            </a:r>
            <a:endParaRPr lang="en-US" sz="1250" dirty="0"/>
          </a:p>
        </p:txBody>
      </p:sp>
      <p:sp>
        <p:nvSpPr>
          <p:cNvPr id="8" name="insIT_51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 l'azione. La tua squadra dice la frase COMPLETA!</a:t>
            </a:r>
            <a:endParaRPr lang="en-US" sz="950" dirty="0"/>
          </a:p>
        </p:txBody>
      </p:sp>
      <p:sp>
        <p:nvSpPr>
          <p:cNvPr id="9" name="cmd_51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51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51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5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body-language mime   ·   📖 SB p.63 · 5h</a:t>
            </a:r>
            <a:endParaRPr lang="en-US" sz="800" dirty="0"/>
          </a:p>
        </p:txBody>
      </p:sp>
      <p:sp>
        <p:nvSpPr>
          <p:cNvPr id="14" name="cd_520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2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52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523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mimer looks at the screen – the team does NOT.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mimo guarda lo schermo – la squadra NO.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it: no words, no sounds!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Mima: niente parole, niente suoni!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Team: 'You're shaking hands!' Full phrase = 1 point.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Squadra: frase completa = 1 punto.</a:t>
            </a:r>
            <a:endParaRPr lang="en-US" sz="900" dirty="0"/>
          </a:p>
        </p:txBody>
      </p:sp>
      <p:sp>
        <p:nvSpPr>
          <p:cNvPr id="18" name="st_524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52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0" name="gq_52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SHAKE HANDS</a:t>
            </a:r>
            <a:endParaRPr lang="en-US" sz="1250" dirty="0"/>
          </a:p>
        </p:txBody>
      </p:sp>
      <p:sp>
        <p:nvSpPr>
          <p:cNvPr id="21" name="chip_52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shaking hands!</a:t>
            </a:r>
            <a:endParaRPr lang="en-US" sz="1200" dirty="0"/>
          </a:p>
        </p:txBody>
      </p:sp>
      <p:sp>
        <p:nvSpPr>
          <p:cNvPr id="22" name="bd_52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gq_52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 YOUR ARMS</a:t>
            </a:r>
            <a:endParaRPr lang="en-US" sz="1250" dirty="0"/>
          </a:p>
        </p:txBody>
      </p:sp>
      <p:sp>
        <p:nvSpPr>
          <p:cNvPr id="24" name="R1_chip53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crossing your arms!</a:t>
            </a:r>
            <a:endParaRPr lang="en-US" sz="1200" dirty="0"/>
          </a:p>
        </p:txBody>
      </p:sp>
      <p:sp>
        <p:nvSpPr>
          <p:cNvPr id="25" name="bd_53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gq_53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A THUMBS UP</a:t>
            </a:r>
            <a:endParaRPr lang="en-US" sz="1250" dirty="0"/>
          </a:p>
        </p:txBody>
      </p:sp>
      <p:sp>
        <p:nvSpPr>
          <p:cNvPr id="27" name="R2_chip53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giving a thumbs up!</a:t>
            </a:r>
            <a:endParaRPr lang="en-US" sz="1200" dirty="0"/>
          </a:p>
        </p:txBody>
      </p:sp>
      <p:sp>
        <p:nvSpPr>
          <p:cNvPr id="28" name="bd_53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gq_53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WITH YOUR FEET APART</a:t>
            </a:r>
            <a:endParaRPr lang="en-US" sz="1250" dirty="0"/>
          </a:p>
        </p:txBody>
      </p:sp>
      <p:sp>
        <p:nvSpPr>
          <p:cNvPr id="30" name="R3_chip53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standing with your feet apart!</a:t>
            </a:r>
            <a:endParaRPr lang="en-US" sz="1200" dirty="0"/>
          </a:p>
        </p:txBody>
      </p:sp>
      <p:sp>
        <p:nvSpPr>
          <p:cNvPr id="31" name="bd_53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gq_53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50" dirty="0"/>
          </a:p>
        </p:txBody>
      </p:sp>
      <p:sp>
        <p:nvSpPr>
          <p:cNvPr id="33" name="R4_chip53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You've got your chin up and your shoulders back!</a:t>
            </a:r>
            <a:endParaRPr lang="en-US" sz="1200" dirty="0"/>
          </a:p>
        </p:txBody>
      </p:sp>
      <p:sp>
        <p:nvSpPr>
          <p:cNvPr id="34" name="bd_54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gq_54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EYE CONTACT</a:t>
            </a:r>
            <a:endParaRPr lang="en-US" sz="1250" dirty="0"/>
          </a:p>
        </p:txBody>
      </p:sp>
      <p:sp>
        <p:nvSpPr>
          <p:cNvPr id="36" name="R5_chip54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making eye contact!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449824" cy="621792"/>
          </a:xfrm>
          <a:prstGeom prst="rect">
            <a:avLst/>
          </a:prstGeom>
        </p:spPr>
      </p:pic>
      <p:sp>
        <p:nvSpPr>
          <p:cNvPr id="5" name="title_545"/>
          <p:cNvSpPr/>
          <p:nvPr/>
        </p:nvSpPr>
        <p:spPr>
          <a:xfrm>
            <a:off x="1261872" y="164592"/>
            <a:ext cx="5175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really learn charisma?</a:t>
            </a:r>
            <a:endParaRPr lang="en-US" sz="2500" dirty="0"/>
          </a:p>
        </p:txBody>
      </p:sp>
      <p:pic>
        <p:nvPicPr>
          <p:cNvPr id="6" name="brP_5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547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 in groups of 3. Give reasons!</a:t>
            </a:r>
            <a:endParaRPr lang="en-US" sz="1250" dirty="0"/>
          </a:p>
        </p:txBody>
      </p:sp>
      <p:sp>
        <p:nvSpPr>
          <p:cNvPr id="8" name="insIT_5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Discuti in gruppi di 3. Spiega perché!</a:t>
            </a:r>
            <a:endParaRPr lang="en-US" sz="950" dirty="0"/>
          </a:p>
        </p:txBody>
      </p:sp>
      <p:sp>
        <p:nvSpPr>
          <p:cNvPr id="9" name="cmd_54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55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👨‍👩‍👧 groups</a:t>
            </a:r>
            <a:endParaRPr lang="en-US" sz="950" dirty="0"/>
          </a:p>
        </p:txBody>
      </p:sp>
      <p:sp>
        <p:nvSpPr>
          <p:cNvPr id="11" name="tag_55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5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discussion   ·   📖 SB p.63 · 5i</a:t>
            </a:r>
            <a:endParaRPr lang="en-US" sz="800" dirty="0"/>
          </a:p>
        </p:txBody>
      </p:sp>
      <p:sp>
        <p:nvSpPr>
          <p:cNvPr id="14" name="pf_554"/>
          <p:cNvSpPr/>
          <p:nvPr/>
        </p:nvSpPr>
        <p:spPr>
          <a:xfrm rot="-120000">
            <a:off x="1206673" y="1371600"/>
            <a:ext cx="1015654" cy="1325880"/>
          </a:xfrm>
          <a:prstGeom prst="roundRect">
            <a:avLst>
              <a:gd name="adj" fmla="val 153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55" descr="/home/claude/lls-course/v2/cache/6B_2_colin_jpg_222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252393" y="1417320"/>
            <a:ext cx="924214" cy="1234440"/>
          </a:xfrm>
          <a:prstGeom prst="rect">
            <a:avLst/>
          </a:prstGeom>
        </p:spPr>
      </p:pic>
      <p:sp>
        <p:nvSpPr>
          <p:cNvPr id="16" name="cd_556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57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58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59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you can / can't learn it because…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 on…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never pay £150 an hour!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agree / I'm not so sure…</a:t>
            </a:r>
            <a:endParaRPr lang="en-US" sz="1150" dirty="0"/>
          </a:p>
        </p:txBody>
      </p:sp>
      <p:sp>
        <p:nvSpPr>
          <p:cNvPr id="20" name="R1_qb56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61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possible to teach people to have charisma?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think you can learn some things, like eye contact.</a:t>
            </a:r>
            <a:endParaRPr lang="en-US" sz="1150" dirty="0"/>
          </a:p>
        </p:txBody>
      </p:sp>
      <p:sp>
        <p:nvSpPr>
          <p:cNvPr id="22" name="R2_qb562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63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ever do a course like this? Why (not)?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Maybe before a job interview.</a:t>
            </a:r>
            <a:endParaRPr lang="en-US" sz="1150" dirty="0"/>
          </a:p>
        </p:txBody>
      </p:sp>
      <p:sp>
        <p:nvSpPr>
          <p:cNvPr id="24" name="R3_qb564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65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£150 an hour worth it?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 way – I can watch videos online!</a:t>
            </a:r>
            <a:endParaRPr lang="en-US" sz="1150" dirty="0"/>
          </a:p>
        </p:txBody>
      </p:sp>
      <p:sp>
        <p:nvSpPr>
          <p:cNvPr id="26" name="R4_qb566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67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tip will YOU try this week?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make more eye contact.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6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7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7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7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7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7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7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1" name="logo_5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Exit · what can you remember?</a:t>
            </a:r>
            <a:endParaRPr lang="en-US" sz="800" dirty="0"/>
          </a:p>
        </p:txBody>
      </p:sp>
      <p:sp>
        <p:nvSpPr>
          <p:cNvPr id="13" name="bd_578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79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body verbs and the part of the body you use (clap → hands).</a:t>
            </a:r>
            <a:endParaRPr lang="en-US" sz="1400" dirty="0"/>
          </a:p>
        </p:txBody>
      </p:sp>
      <p:sp>
        <p:nvSpPr>
          <p:cNvPr id="15" name="bd_580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81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tips from the charisma coach.</a:t>
            </a:r>
            <a:endParaRPr lang="en-US" sz="1400" dirty="0"/>
          </a:p>
        </p:txBody>
      </p:sp>
      <p:sp>
        <p:nvSpPr>
          <p:cNvPr id="17" name="bd_582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83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word with two sounds in one (like bike, train, phone).</a:t>
            </a:r>
            <a:endParaRPr lang="en-US" sz="1400" dirty="0"/>
          </a:p>
        </p:txBody>
      </p:sp>
      <p:sp>
        <p:nvSpPr>
          <p:cNvPr id="19" name="cd_584"/>
          <p:cNvSpPr/>
          <p:nvPr/>
        </p:nvSpPr>
        <p:spPr>
          <a:xfrm>
            <a:off x="5669280" y="1417320"/>
            <a:ext cx="320040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85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86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87"/>
          <p:cNvSpPr/>
          <p:nvPr/>
        </p:nvSpPr>
        <p:spPr>
          <a:xfrm>
            <a:off x="6236208" y="1911096"/>
            <a:ext cx="254203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2a, 2b, 2c, 2d, 3a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p.160: test yourself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588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Revise and Check 5 &amp; 6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91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93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9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9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59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9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950" dirty="0"/>
          </a:p>
        </p:txBody>
      </p:sp>
      <p:pic>
        <p:nvPicPr>
          <p:cNvPr id="12" name="logo_5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Review · what did you do today?</a:t>
            </a:r>
            <a:endParaRPr lang="en-US" sz="800" dirty="0"/>
          </a:p>
        </p:txBody>
      </p:sp>
      <p:sp>
        <p:nvSpPr>
          <p:cNvPr id="14" name="cd_600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601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🖐️</a:t>
            </a:r>
            <a:endParaRPr lang="en-US" sz="1800" dirty="0"/>
          </a:p>
        </p:txBody>
      </p:sp>
      <p:sp>
        <p:nvSpPr>
          <p:cNvPr id="16" name="tt_602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parts of the body and body verbs</a:t>
            </a:r>
            <a:endParaRPr lang="en-US" sz="1350" dirty="0"/>
          </a:p>
        </p:txBody>
      </p:sp>
      <p:sp>
        <p:nvSpPr>
          <p:cNvPr id="17" name="R1_tk603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604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605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0" name="tt_606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'two sounds in one': bike, train, phone…</a:t>
            </a:r>
            <a:endParaRPr lang="en-US" sz="1350" dirty="0"/>
          </a:p>
        </p:txBody>
      </p:sp>
      <p:sp>
        <p:nvSpPr>
          <p:cNvPr id="21" name="R2_tk607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608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609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4" name="tt_610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and listened: can you LEARN charisma?</a:t>
            </a:r>
            <a:endParaRPr lang="en-US" sz="1350" dirty="0"/>
          </a:p>
        </p:txBody>
      </p:sp>
      <p:sp>
        <p:nvSpPr>
          <p:cNvPr id="25" name="R3_tk611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612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613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614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615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616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617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32" name="tt_618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Played a body-language mime game</a:t>
            </a:r>
            <a:endParaRPr lang="en-US" sz="1350" dirty="0"/>
          </a:p>
        </p:txBody>
      </p:sp>
      <p:sp>
        <p:nvSpPr>
          <p:cNvPr id="33" name="R5_tk619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620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623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day with a personal stylist</a:t>
            </a:r>
            <a:endParaRPr lang="en-US" sz="2500" dirty="0"/>
          </a:p>
        </p:txBody>
      </p:sp>
      <p:pic>
        <p:nvPicPr>
          <p:cNvPr id="6" name="brP_6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625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Part 1. Answer the questions.</a:t>
            </a:r>
            <a:endParaRPr lang="en-US" sz="1250" dirty="0"/>
          </a:p>
        </p:txBody>
      </p:sp>
      <p:sp>
        <p:nvSpPr>
          <p:cNvPr id="8" name="insIT_62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la Parte 1. Rispondi alle domande.</a:t>
            </a:r>
            <a:endParaRPr lang="en-US" sz="950" dirty="0"/>
          </a:p>
        </p:txBody>
      </p:sp>
      <p:sp>
        <p:nvSpPr>
          <p:cNvPr id="9" name="cmd_627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🎬 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algn="ctr"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800" dirty="0"/>
          </a:p>
        </p:txBody>
      </p:sp>
      <p:sp>
        <p:nvSpPr>
          <p:cNvPr id="10" name="meta_628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950" dirty="0"/>
          </a:p>
        </p:txBody>
      </p:sp>
      <p:sp>
        <p:nvSpPr>
          <p:cNvPr id="11" name="tag_629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2" name="logo_6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1   ·   📖 SB p.63 · 6a–6c · video Part 1 (4'42")</a:t>
            </a:r>
            <a:endParaRPr lang="en-US" sz="800" dirty="0"/>
          </a:p>
        </p:txBody>
      </p:sp>
      <p:sp>
        <p:nvSpPr>
          <p:cNvPr id="14" name="st_632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6" name="cd_633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34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35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9" name="il_636"/>
          <p:cNvSpPr/>
          <p:nvPr/>
        </p:nvSpPr>
        <p:spPr>
          <a:xfrm>
            <a:off x="886968" y="4562856"/>
            <a:ext cx="3913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of Sam's outfits do YOU like best? Why?</a:t>
            </a:r>
            <a:endParaRPr lang="en-US" sz="700" dirty="0"/>
          </a:p>
        </p:txBody>
      </p:sp>
      <p:sp>
        <p:nvSpPr>
          <p:cNvPr id="20" name="vq_637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Sam's job?</a:t>
            </a:r>
            <a:endParaRPr lang="en-US" sz="1100" dirty="0"/>
          </a:p>
        </p:txBody>
      </p:sp>
      <p:sp>
        <p:nvSpPr>
          <p:cNvPr id="21" name="R1_chip638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actor</a:t>
            </a:r>
            <a:endParaRPr lang="en-US" sz="1000" dirty="0"/>
          </a:p>
        </p:txBody>
      </p:sp>
      <p:sp>
        <p:nvSpPr>
          <p:cNvPr id="22" name="vq_639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he want a stylist?</a:t>
            </a:r>
            <a:endParaRPr lang="en-US" sz="1100" dirty="0"/>
          </a:p>
        </p:txBody>
      </p:sp>
      <p:sp>
        <p:nvSpPr>
          <p:cNvPr id="23" name="R2_chip640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wardrobe was boring – he wanted a new opinion</a:t>
            </a:r>
            <a:endParaRPr lang="en-US" sz="1000" dirty="0"/>
          </a:p>
        </p:txBody>
      </p:sp>
      <p:sp>
        <p:nvSpPr>
          <p:cNvPr id="24" name="vq_641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outfit did Sam like best?</a:t>
            </a:r>
            <a:endParaRPr lang="en-US" sz="1100" dirty="0"/>
          </a:p>
        </p:txBody>
      </p:sp>
      <p:sp>
        <p:nvSpPr>
          <p:cNvPr id="25" name="R3_chip642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quite bold; he felt very smart</a:t>
            </a:r>
            <a:endParaRPr lang="en-US" sz="1000" dirty="0"/>
          </a:p>
        </p:txBody>
      </p:sp>
      <p:sp>
        <p:nvSpPr>
          <p:cNvPr id="26" name="vq_643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thing he did?</a:t>
            </a:r>
            <a:endParaRPr lang="en-US" sz="1100" dirty="0"/>
          </a:p>
        </p:txBody>
      </p:sp>
      <p:sp>
        <p:nvSpPr>
          <p:cNvPr id="27" name="R4_chip644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filled in a questionnaire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4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4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647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Elin's golden rules</a:t>
            </a:r>
            <a:endParaRPr lang="en-US" sz="2500" dirty="0"/>
          </a:p>
        </p:txBody>
      </p:sp>
      <p:pic>
        <p:nvPicPr>
          <p:cNvPr id="6" name="brP_64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649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missing words. Then watch Part 2.</a:t>
            </a:r>
            <a:endParaRPr lang="en-US" sz="1250" dirty="0"/>
          </a:p>
        </p:txBody>
      </p:sp>
      <p:sp>
        <p:nvSpPr>
          <p:cNvPr id="8" name="insIT_65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le parole mancanti. Poi guarda la Parte 2.</a:t>
            </a:r>
            <a:endParaRPr lang="en-US" sz="950" dirty="0"/>
          </a:p>
        </p:txBody>
      </p:sp>
      <p:sp>
        <p:nvSpPr>
          <p:cNvPr id="9" name="cmd_65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🎬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endParaRPr lang="en-US" sz="950" dirty="0"/>
          </a:p>
        </p:txBody>
      </p:sp>
      <p:sp>
        <p:nvSpPr>
          <p:cNvPr id="10" name="meta_652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653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2" name="logo_65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5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2   ·   📖 SB p.63 · 6d, 6e · video Part 2 (1'27")</a:t>
            </a:r>
            <a:endParaRPr lang="en-US" sz="800" dirty="0"/>
          </a:p>
        </p:txBody>
      </p:sp>
      <p:sp>
        <p:nvSpPr>
          <p:cNvPr id="14" name="st_656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6" name="cd_657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58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59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9" name="il_660"/>
          <p:cNvSpPr/>
          <p:nvPr/>
        </p:nvSpPr>
        <p:spPr>
          <a:xfrm>
            <a:off x="886968" y="4562856"/>
            <a:ext cx="3913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agree with Elin's rules?</a:t>
            </a:r>
            <a:endParaRPr lang="en-US" sz="700" dirty="0"/>
          </a:p>
        </p:txBody>
      </p:sp>
      <p:sp>
        <p:nvSpPr>
          <p:cNvPr id="20" name="vq_661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Look at ___ before you go shopping.</a:t>
            </a:r>
            <a:endParaRPr lang="en-US" sz="1100" dirty="0"/>
          </a:p>
        </p:txBody>
      </p:sp>
      <p:sp>
        <p:nvSpPr>
          <p:cNvPr id="21" name="R1_chip662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own wardrobe</a:t>
            </a:r>
            <a:endParaRPr lang="en-US" sz="1000" dirty="0"/>
          </a:p>
        </p:txBody>
      </p:sp>
      <p:sp>
        <p:nvSpPr>
          <p:cNvPr id="22" name="vq_663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Stay ___ when you go shopping.</a:t>
            </a:r>
            <a:endParaRPr lang="en-US" sz="1100" dirty="0"/>
          </a:p>
        </p:txBody>
      </p:sp>
      <p:sp>
        <p:nvSpPr>
          <p:cNvPr id="23" name="R2_chip664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to yourself</a:t>
            </a:r>
            <a:endParaRPr lang="en-US" sz="1000" dirty="0"/>
          </a:p>
        </p:txBody>
      </p:sp>
      <p:sp>
        <p:nvSpPr>
          <p:cNvPr id="24" name="vq_665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It doesn't matter ___ you've got.</a:t>
            </a:r>
            <a:endParaRPr lang="en-US" sz="1100" dirty="0"/>
          </a:p>
        </p:txBody>
      </p:sp>
      <p:sp>
        <p:nvSpPr>
          <p:cNvPr id="25" name="R3_chip666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money</a:t>
            </a:r>
            <a:endParaRPr lang="en-US" sz="1000" dirty="0"/>
          </a:p>
        </p:txBody>
      </p:sp>
      <p:sp>
        <p:nvSpPr>
          <p:cNvPr id="26" name="vq_667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Everyone should have ___.</a:t>
            </a:r>
            <a:endParaRPr lang="en-US" sz="1100" dirty="0"/>
          </a:p>
        </p:txBody>
      </p:sp>
      <p:sp>
        <p:nvSpPr>
          <p:cNvPr id="27" name="R4_chip668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good pair of jeans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6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67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671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Draw the alien!</a:t>
            </a:r>
            <a:endParaRPr lang="en-US" sz="2500" dirty="0"/>
          </a:p>
        </p:txBody>
      </p:sp>
      <p:pic>
        <p:nvPicPr>
          <p:cNvPr id="6" name="brP_67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673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an alien. B draws it. No looking!</a:t>
            </a:r>
            <a:endParaRPr lang="en-US" sz="1250" dirty="0"/>
          </a:p>
        </p:txBody>
      </p:sp>
      <p:sp>
        <p:nvSpPr>
          <p:cNvPr id="8" name="insIT_67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descrive un alieno. B lo disegna. Senza guardare!</a:t>
            </a:r>
            <a:endParaRPr lang="en-US" sz="950" dirty="0"/>
          </a:p>
        </p:txBody>
      </p:sp>
      <p:sp>
        <p:nvSpPr>
          <p:cNvPr id="9" name="cmd_67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67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67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6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describe and draw   ·   📖 Extension · body vocabulary</a:t>
            </a:r>
            <a:endParaRPr lang="en-US" sz="800" dirty="0"/>
          </a:p>
        </p:txBody>
      </p:sp>
      <p:sp>
        <p:nvSpPr>
          <p:cNvPr id="14" name="st_680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81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8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8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84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secretly draws a funny alien. Don't show it!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disegna un alieno buffo. Non mostrarlo!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it. B draws and asks questions.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 descrive. B disegna e fa domande.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Compare. Most similar pair wins! Then swap.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Confrontate. Vince la coppia più simile! Poi scambiate.</a:t>
            </a:r>
            <a:endParaRPr lang="en-US" sz="850" dirty="0"/>
          </a:p>
        </p:txBody>
      </p:sp>
      <p:sp>
        <p:nvSpPr>
          <p:cNvPr id="19" name="bd_685"/>
          <p:cNvSpPr/>
          <p:nvPr/>
        </p:nvSpPr>
        <p:spPr>
          <a:xfrm>
            <a:off x="3246120" y="1572768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0" name="gq_686"/>
          <p:cNvSpPr/>
          <p:nvPr/>
        </p:nvSpPr>
        <p:spPr>
          <a:xfrm>
            <a:off x="3657600" y="1417320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head</a:t>
            </a:r>
            <a:endParaRPr lang="en-US" sz="1250" dirty="0"/>
          </a:p>
        </p:txBody>
      </p:sp>
      <p:sp>
        <p:nvSpPr>
          <p:cNvPr id="21" name="chip_687"/>
          <p:cNvSpPr/>
          <p:nvPr/>
        </p:nvSpPr>
        <p:spPr>
          <a:xfrm>
            <a:off x="6263640" y="141732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three eyes and a very long tongue.</a:t>
            </a:r>
            <a:endParaRPr lang="en-US" sz="1200" dirty="0"/>
          </a:p>
        </p:txBody>
      </p:sp>
      <p:sp>
        <p:nvSpPr>
          <p:cNvPr id="22" name="bd_688"/>
          <p:cNvSpPr/>
          <p:nvPr/>
        </p:nvSpPr>
        <p:spPr>
          <a:xfrm>
            <a:off x="3246120" y="227685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gq_689"/>
          <p:cNvSpPr/>
          <p:nvPr/>
        </p:nvSpPr>
        <p:spPr>
          <a:xfrm>
            <a:off x="3657600" y="2121408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body</a:t>
            </a:r>
            <a:endParaRPr lang="en-US" sz="1250" dirty="0"/>
          </a:p>
        </p:txBody>
      </p:sp>
      <p:sp>
        <p:nvSpPr>
          <p:cNvPr id="24" name="R1_chip690"/>
          <p:cNvSpPr/>
          <p:nvPr/>
        </p:nvSpPr>
        <p:spPr>
          <a:xfrm>
            <a:off x="6263640" y="2121408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four arms and six thumbs on each hand.</a:t>
            </a:r>
            <a:endParaRPr lang="en-US" sz="1200" dirty="0"/>
          </a:p>
        </p:txBody>
      </p:sp>
      <p:sp>
        <p:nvSpPr>
          <p:cNvPr id="25" name="bd_691"/>
          <p:cNvSpPr/>
          <p:nvPr/>
        </p:nvSpPr>
        <p:spPr>
          <a:xfrm>
            <a:off x="3246120" y="298094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gq_692"/>
          <p:cNvSpPr/>
          <p:nvPr/>
        </p:nvSpPr>
        <p:spPr>
          <a:xfrm>
            <a:off x="3657600" y="2825496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 question</a:t>
            </a:r>
            <a:endParaRPr lang="en-US" sz="1250" dirty="0"/>
          </a:p>
        </p:txBody>
      </p:sp>
      <p:sp>
        <p:nvSpPr>
          <p:cNvPr id="27" name="R2_chip693"/>
          <p:cNvSpPr/>
          <p:nvPr/>
        </p:nvSpPr>
        <p:spPr>
          <a:xfrm>
            <a:off x="6263640" y="2825496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many toes has it got? Where are its knees?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6B-2 Every picture tells a story</dc:title>
  <dc:subject>PptxGenJS Presentation</dc:subject>
  <dc:creator>PptxGenJS</dc:creator>
  <cp:lastModifiedBy>PptxGenJS</cp:lastModifiedBy>
  <cp:revision>1</cp:revision>
  <dcterms:created xsi:type="dcterms:W3CDTF">2026-10-19T07:33:41Z</dcterms:created>
  <dcterms:modified xsi:type="dcterms:W3CDTF">2026-10-19T07:33:41Z</dcterms:modified>
</cp:coreProperties>
</file>