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mp3" ContentType="audio/mpeg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1. OPENING (2 min)
OPENING (2 min). Show the photo (Colin Drury and Danish Sheikh, SB p.63). Ask the THINK question; take 3–4 answers. Click: the example. If they don't know 'charismatic': 'a person people like and want to listen to' – the full definition comes later. Read 'Today you're going to…'.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2. Revision · last lesson (2 min)
REVISION (2 min). Read the two cards; highlight: must / might / can't + infinitive WITHOUT to, and can't (NOT mustn't) for 'I'm sure it isn't true'. Point at the three people on the slide: 'How old must he be? What might she do?' – quick answers, then the error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3. Warmer · last lesson (3 min)
RETRIEVAL WARMER (4 min). Two teams, 30 seconds per sentence; click to show the correction. Sentence 4 is the trap (correct). Typical Italian errors (TG): mustn't for impossible, can for possibility, must/might + to, missing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4. Vocabulary · the body · 8 new words (5 min)
ESTABLISH MEANING (5 min). Play 6.14 (all 22 body words, Vocabulary Bank p.160) – students point to each part of their own body as they hear it. Then the 8 words on the slide are the ones B1 students usually DON'T know: say the word, everybody points; click 1 = English definition, click 2 = Italian. Drill tongue /tʌŋ/, thumb (silent b), knees (silent k), stomach /ˈstʌmək/. Possessive: in English we say MY knee, YOUR hands (Italian uses the article). Full key VB p.160 in the key.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5. Vocabulary · body verbs (4 min)
BODY VERBS (5 min). First Vocabulary Bank p.160 ex. 2: complete sentences 1–11, play 6.15 to check (1 bite · 2 kicked · 3 smells · 4 stared · 5 taste · 6 whistle · 7 touch · 8 clapped · 9 pointed · 10 smiles · 11 nodded). Then this slide: pairs say the body part; click once per line. DO each verb as you check it (TPR). bite is irregular: bite – bit – bitten.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6. Game · Teacher says! (3 min)
TPR GAME (4 min). Everyone stands. Play 6.16 – students follow the instructions (clap, stare at the person next to you, point at the board, nod, whistle, touch your chair, smile). Then play 'Teacher says' (Simon says): say commands fast, sometimes WITHOUT 'Teacher says' – anyone who moves sits down. Click to show the examples. Then let a student lead. Energy change – keep it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7. Pronunciation · diphthongs (two sounds in one) (3 min)
PRONUNCIATION (3 + 2 min). A diphthong = two short vowel sounds joined (Italians often make it too short or say only one sound). Play 6.17: repeat bike, train, phone, owl, chair. Pairs say each word aloud and decide; click once per word. 6.18 checks all 12 words (both slides). Answers (script): /aɪ/ bite, eyes, smile · /eɪ/ face, taste · /əʊ/ nose, shoulders, throw, toes · /aʊ/ mouth · /eə/ hair, stare.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8. Pronunciation · diphthongs (2 min)
Play 6.18 to check both slides; repeat. Then 4c phrases: fair hair · narrow shoulders · a wide mouth · brown eyes · a Roman nose (= with a bump) · a round face – pairs say them to each other.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9. Speaking · body language and you (3 min)
PQA – PERSONAL QUESTIONS (4 min). Ask 2–3 students question 1 yourself first and circle the answer ('Marco smiles a lot. Does Marco smile a lot? Yes! Who smiles more – Marco or Giulia?'). Then pairs ask all 4 questions using the phrases. Click once per question. Feedback: 'Who in your pair has the best body language?'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10. Speaking · class story (TPRS) (4 min)
TPRS CLASS STORY (4 min) – the story step of the TPRS staging: meaning was established with the body (TPR + 'Teacher says…'), then personal questions (PQA); now the body words and body verbs are heard many times in a story BEFORE the charisma article and the mime game. Click once per line. For each line: 1) say it (and DO the action – bite, whistle, stare, point, clap, nod: students copy), 2) ask the questions in grey round the class (yes/no → either/or → who/what), 3) let the CLASS change details: 'Is it a trumpet solo? No? What does Dario play?' – accept their idea and use it in later lines. Students answer with one word or a short phrase – that's fine. Finish: 'What happens next?' – one or two ideas, then move on. Line 6 = confident body language → leads into 'Can you learn charisma?'. Recycles: bite, knees, stomach, toes, whistle, lips, stare at, point at, clap, chin, shoulders, nod.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11. Reading · prediction (2 min)
PREDICTION (2 min). Read the definition (book wording); drill charisma /kəˈrɪzmə/ and charismatic. 5b: who's the journalist and who's the coach? Why? (Colin Drury = journalist, left; Danish Sheikh = coach, right.) Numbers: pairs guess – £150 = what he charges an hour · 2 = two days as his student · 3 = companies he's worked with (Microsoft, Yahoo, BBC). Don't confirm – they read to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12. Reading · the journalist's article (4 min)
READ THE CLASS TEXT (5 min). Students read alone (3 min) and check the prediction + the numbers. Then read it aloud with the class and CIRCLE: 'Is Danish a journalist? No! Is he a coach? Yes! How much does he charge? £150 a day? No – an hour!' Next slide: the book's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13. Reading · comprehension (3 min)
COMPREHENSION (3 min). Pairs answer, then click once per answer (TG key). Ask: 'Do YOU know anyone with negative body language? (no names!)'.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14. Listening · audio 6.19 (5 min)
PREDICT THEN LISTEN (5 min). 5d: pairs decide ✓/✗ for all 10 BEFORE listening (2 min). 5e: play 6.19 (use 🐢 slower if needed). Click once per line. Answers (TG): ✓ 1, 2, 5, 6, 7, 10. From the script: talk about yourself enough, but not too much · 'stand like a gorilla' = feet apart, arms wide · eye contact max. four seconds · don't use hand gestures too much · vary your speed · listening carefully is the most important thing of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15. Listening · detail · audio 6.19 (4 min)
DETAIL (4 min). Read the 4 prompts together first. Play 6.19 again; students write notes; compare; click once per answer (TG). Then everybody stands 'like a gorilla' for 3 seconds – feet apart, chin up, shoulders back!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16. Listening · the practical test · audio 6.20 (3 min)
LISTENING (4 min). Pairs guess the endings (1 min) – accept any idea. Play 6.20; click once per answer (TG). Ask: 'Would YOU talk to strangers in a café in Bagheria to practise?'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17. Game · body-language mime (5 min)
GAME (6 min). The phrases come from 5h (the body phrases in 6.19/6.20). Two teams; one mimer each turn stands facing the screen, everybody else turns round. Click → the phrase appears; mimer mimes; team must say the whole phrase in the present continuous ('hands!' = 0). Click again shows the model sentence. Energy + language upgrade.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 Speaking · discussion (3 min)
DISCUSSION (4 min). Groups of 3, 3 minutes. Click once per question. Forced choice for Q1: yes or no, no 'maybe'. Feedback: one person per group reports their group's answer to Q4.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19. Exit · what can you remember? (2 min)
RETRIEVAL EXIT (2 min). Books closed. Set homework. Extension slides follow (video, describe-and-draw) – use if there is time or start the next lesson with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20. Review · what did you do today? (1 min)
TODAY YOU… (1 min). Read each line (one per click: the tick appears). Students show thumbs up / middle / down: can they do it now? Note any thumbs down for the next lesson's recap.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21. Extension · video listening · Part 1 (7 min)
EXTENSION VIDEO (7 min). Teach personal stylist and outfit. Read the questions first. Play Part 1; PAUSE when the narrator asks which outfit Sam likes best – class votes. Play on. Click once per answer (video script). 6c order: 1 fills in a questionnaire · 2 meets Elin at the Fashion Lounge · 3 Elin asks about his lifestyle · 4 they go shopping · 5 he tries on four outfits.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22. Extension · video listening · Part 2 (4 min)
EXTENSION VIDEO (4 min). Pairs guess the gaps first, then play Part 2; click once per answer (TG / video script). Did Sam enjoy the day? 'It exceeded my expectations.'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23. Extension · describe and draw (7 min)
EXTENSION (7 min). Information gap + humour. Practises body words, its / his / her, have got, and plurals (feet, teeth). Click to show model sentences.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audio" Target="../media/media-4-5.mp3"/><Relationship Id="rId6" Type="http://schemas.microsoft.com/office/2007/relationships/media" Target="../media/media-4-5.mp3"/><Relationship Id="rId7" Type="http://schemas.openxmlformats.org/officeDocument/2006/relationships/image" Target="../media/image-4-7.png"/><Relationship Id="rId8" Type="http://schemas.openxmlformats.org/officeDocument/2006/relationships/audio" Target="../media/media-4-8.mp3"/><Relationship Id="rId9" Type="http://schemas.microsoft.com/office/2007/relationships/media" Target="../media/media-4-8.mp3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audio" Target="../media/media-5-6.mp3"/><Relationship Id="rId7" Type="http://schemas.microsoft.com/office/2007/relationships/media" Target="../media/media-5-6.mp3"/><Relationship Id="rId8" Type="http://schemas.openxmlformats.org/officeDocument/2006/relationships/image" Target="../media/image-5-8.png"/><Relationship Id="rId9" Type="http://schemas.openxmlformats.org/officeDocument/2006/relationships/audio" Target="../media/media-5-9.mp3"/><Relationship Id="rId10" Type="http://schemas.microsoft.com/office/2007/relationships/media" Target="../media/media-5-9.mp3"/><Relationship Id="rId11" Type="http://schemas.openxmlformats.org/officeDocument/2006/relationships/image" Target="../media/image-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audio" Target="../media/media-6-5.mp3"/><Relationship Id="rId6" Type="http://schemas.microsoft.com/office/2007/relationships/media" Target="../media/media-6-5.mp3"/><Relationship Id="rId7" Type="http://schemas.openxmlformats.org/officeDocument/2006/relationships/image" Target="../media/image-6-7.png"/><Relationship Id="rId8" Type="http://schemas.openxmlformats.org/officeDocument/2006/relationships/audio" Target="../media/media-6-8.mp3"/><Relationship Id="rId9" Type="http://schemas.microsoft.com/office/2007/relationships/media" Target="../media/media-6-8.mp3"/><Relationship Id="rId10" Type="http://schemas.openxmlformats.org/officeDocument/2006/relationships/image" Target="../media/image-6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audio" Target="../media/media-7-5.mp3"/><Relationship Id="rId6" Type="http://schemas.microsoft.com/office/2007/relationships/media" Target="../media/media-7-5.mp3"/><Relationship Id="rId7" Type="http://schemas.openxmlformats.org/officeDocument/2006/relationships/image" Target="../media/image-7-7.png"/><Relationship Id="rId8" Type="http://schemas.openxmlformats.org/officeDocument/2006/relationships/audio" Target="../media/media-7-8.mp3"/><Relationship Id="rId9" Type="http://schemas.microsoft.com/office/2007/relationships/media" Target="../media/media-7-8.mp3"/><Relationship Id="rId10" Type="http://schemas.openxmlformats.org/officeDocument/2006/relationships/image" Target="../media/image-7-10.png"/><Relationship Id="rId11" Type="http://schemas.openxmlformats.org/officeDocument/2006/relationships/audio" Target="../media/media-7-11.mp3"/><Relationship Id="rId12" Type="http://schemas.microsoft.com/office/2007/relationships/media" Target="../media/media-7-11.mp3"/><Relationship Id="rId13" Type="http://schemas.openxmlformats.org/officeDocument/2006/relationships/image" Target="../media/image-7-13.png"/><Relationship Id="rId14" Type="http://schemas.openxmlformats.org/officeDocument/2006/relationships/audio" Target="../media/media-7-14.mp3"/><Relationship Id="rId15" Type="http://schemas.microsoft.com/office/2007/relationships/media" Target="../media/media-7-14.mp3"/><Relationship Id="rId16" Type="http://schemas.openxmlformats.org/officeDocument/2006/relationships/image" Target="../media/image-7-16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audio" Target="../media/media-8-5.mp3"/><Relationship Id="rId6" Type="http://schemas.microsoft.com/office/2007/relationships/media" Target="../media/media-8-5.mp3"/><Relationship Id="rId7" Type="http://schemas.openxmlformats.org/officeDocument/2006/relationships/image" Target="../media/image-8-7.png"/><Relationship Id="rId8" Type="http://schemas.openxmlformats.org/officeDocument/2006/relationships/audio" Target="../media/media-8-8.mp3"/><Relationship Id="rId9" Type="http://schemas.microsoft.com/office/2007/relationships/media" Target="../media/media-8-8.mp3"/><Relationship Id="rId10" Type="http://schemas.openxmlformats.org/officeDocument/2006/relationships/image" Target="../media/image-8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audio" Target="../media/media-14-5.mp3"/><Relationship Id="rId6" Type="http://schemas.microsoft.com/office/2007/relationships/media" Target="../media/media-14-5.mp3"/><Relationship Id="rId7" Type="http://schemas.openxmlformats.org/officeDocument/2006/relationships/image" Target="../media/image-14-7.png"/><Relationship Id="rId8" Type="http://schemas.openxmlformats.org/officeDocument/2006/relationships/audio" Target="../media/media-14-8.mp3"/><Relationship Id="rId9" Type="http://schemas.microsoft.com/office/2007/relationships/media" Target="../media/media-14-8.mp3"/><Relationship Id="rId10" Type="http://schemas.openxmlformats.org/officeDocument/2006/relationships/image" Target="../media/image-1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audio" Target="../media/media-15-5.mp3"/><Relationship Id="rId6" Type="http://schemas.microsoft.com/office/2007/relationships/media" Target="../media/media-15-5.mp3"/><Relationship Id="rId7" Type="http://schemas.openxmlformats.org/officeDocument/2006/relationships/image" Target="../media/image-15-7.png"/><Relationship Id="rId8" Type="http://schemas.openxmlformats.org/officeDocument/2006/relationships/audio" Target="../media/media-15-8.mp3"/><Relationship Id="rId9" Type="http://schemas.microsoft.com/office/2007/relationships/media" Target="../media/media-15-8.mp3"/><Relationship Id="rId10" Type="http://schemas.openxmlformats.org/officeDocument/2006/relationships/image" Target="../media/image-15-10.png"/><Relationship Id="rId11" Type="http://schemas.openxmlformats.org/officeDocument/2006/relationships/image" Target="../media/image-15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audio" Target="../media/media-16-5.mp3"/><Relationship Id="rId6" Type="http://schemas.microsoft.com/office/2007/relationships/media" Target="../media/media-16-5.mp3"/><Relationship Id="rId7" Type="http://schemas.openxmlformats.org/officeDocument/2006/relationships/image" Target="../media/image-16-7.png"/><Relationship Id="rId8" Type="http://schemas.openxmlformats.org/officeDocument/2006/relationships/audio" Target="../media/media-16-8.mp3"/><Relationship Id="rId9" Type="http://schemas.microsoft.com/office/2007/relationships/media" Target="../media/media-16-8.mp3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jpe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video" Target="../media/media-21-5.mp4"/><Relationship Id="rId6" Type="http://schemas.microsoft.com/office/2007/relationships/media" Target="../media/media-21-5.mp4"/><Relationship Id="rId7" Type="http://schemas.openxmlformats.org/officeDocument/2006/relationships/image" Target="../media/image-2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video" Target="../media/media-22-5.mp4"/><Relationship Id="rId6" Type="http://schemas.microsoft.com/office/2007/relationships/media" Target="../media/media-22-5.mp4"/><Relationship Id="rId7" Type="http://schemas.openxmlformats.org/officeDocument/2006/relationships/image" Target="../media/image-2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jpe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rs_1"/>
          <p:cNvSpPr/>
          <p:nvPr/>
        </p:nvSpPr>
        <p:spPr>
          <a:xfrm>
            <a:off x="411480" y="29260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100" kern="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English File B1 · SB pp.62–63</a:t>
            </a:r>
            <a:endParaRPr lang="en-US" sz="1000" dirty="0"/>
          </a:p>
        </p:txBody>
      </p:sp>
      <p:sp>
        <p:nvSpPr>
          <p:cNvPr id="4" name="bd_2"/>
          <p:cNvSpPr/>
          <p:nvPr/>
        </p:nvSpPr>
        <p:spPr>
          <a:xfrm>
            <a:off x="365760" y="640080"/>
            <a:ext cx="1051560" cy="105156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6B-2</a:t>
            </a:r>
            <a:endParaRPr lang="en-US" sz="1600" dirty="0"/>
          </a:p>
        </p:txBody>
      </p:sp>
      <p:pic>
        <p:nvPicPr>
          <p:cNvPr id="5" name="bry_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713232"/>
            <a:ext cx="3566160" cy="868680"/>
          </a:xfrm>
          <a:prstGeom prst="rect">
            <a:avLst/>
          </a:prstGeom>
        </p:spPr>
      </p:pic>
      <p:sp>
        <p:nvSpPr>
          <p:cNvPr id="6" name="t_4"/>
          <p:cNvSpPr/>
          <p:nvPr/>
        </p:nvSpPr>
        <p:spPr>
          <a:xfrm>
            <a:off x="1645920" y="73152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Every picture tells a story</a:t>
            </a:r>
            <a:endParaRPr lang="en-US" sz="1900" dirty="0"/>
          </a:p>
        </p:txBody>
      </p:sp>
      <p:pic>
        <p:nvPicPr>
          <p:cNvPr id="7" name="brp_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4480" y="1517904"/>
            <a:ext cx="3017520" cy="384048"/>
          </a:xfrm>
          <a:prstGeom prst="rect">
            <a:avLst/>
          </a:prstGeom>
        </p:spPr>
      </p:pic>
      <p:sp>
        <p:nvSpPr>
          <p:cNvPr id="8" name="st_6"/>
          <p:cNvSpPr/>
          <p:nvPr/>
        </p:nvSpPr>
        <p:spPr>
          <a:xfrm>
            <a:off x="1691640" y="1517904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body · body language · charisma</a:t>
            </a:r>
            <a:endParaRPr lang="en-US" sz="1100" dirty="0"/>
          </a:p>
        </p:txBody>
      </p:sp>
      <p:sp>
        <p:nvSpPr>
          <p:cNvPr id="9" name="cd_7"/>
          <p:cNvSpPr/>
          <p:nvPr/>
        </p:nvSpPr>
        <p:spPr>
          <a:xfrm>
            <a:off x="365760" y="2148840"/>
            <a:ext cx="4206240" cy="1691640"/>
          </a:xfrm>
          <a:prstGeom prst="roundRect">
            <a:avLst>
              <a:gd name="adj" fmla="val 7568"/>
            </a:avLst>
          </a:prstGeom>
          <a:solidFill>
            <a:srgbClr val="E3F1FD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0" name="ii_8"/>
          <p:cNvSpPr/>
          <p:nvPr/>
        </p:nvSpPr>
        <p:spPr>
          <a:xfrm>
            <a:off x="457200" y="22219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🎯</a:t>
            </a:r>
            <a:endParaRPr lang="en-US" sz="2200" dirty="0"/>
          </a:p>
        </p:txBody>
      </p:sp>
      <p:sp>
        <p:nvSpPr>
          <p:cNvPr id="11" name="ih_9"/>
          <p:cNvSpPr/>
          <p:nvPr/>
        </p:nvSpPr>
        <p:spPr>
          <a:xfrm>
            <a:off x="932688" y="22402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you're going to…</a:t>
            </a:r>
            <a:endParaRPr lang="en-US" sz="1600" dirty="0"/>
          </a:p>
        </p:txBody>
      </p:sp>
      <p:sp>
        <p:nvSpPr>
          <p:cNvPr id="12" name="il_10"/>
          <p:cNvSpPr/>
          <p:nvPr/>
        </p:nvSpPr>
        <p:spPr>
          <a:xfrm>
            <a:off x="932688" y="2642616"/>
            <a:ext cx="3547872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🖐️  learn parts of the body and body verbs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🔊  say 'two sounds in one': bike, train, phone…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read and listen: can you LEARN charisma?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📖  listen to a class story and answer questions</a:t>
            </a:r>
            <a:endParaRPr lang="en-US" sz="850" dirty="0"/>
          </a:p>
          <a:p>
            <a:pPr indent="0" marL="0">
              <a:spcBef>
                <a:spcPts val="600"/>
              </a:spcBef>
              <a:spcAft>
                <a:spcPts val="200"/>
              </a:spcAft>
              <a:buNone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🎭  play a body-language mime game</a:t>
            </a:r>
            <a:endParaRPr lang="en-US" sz="850" dirty="0"/>
          </a:p>
        </p:txBody>
      </p:sp>
      <p:sp>
        <p:nvSpPr>
          <p:cNvPr id="13" name="R1_ex11"/>
          <p:cNvSpPr/>
          <p:nvPr/>
        </p:nvSpPr>
        <p:spPr>
          <a:xfrm>
            <a:off x="365760" y="3950208"/>
            <a:ext cx="4206240" cy="603504"/>
          </a:xfrm>
          <a:prstGeom prst="roundRect">
            <a:avLst>
              <a:gd name="adj" fmla="val 18182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52400" tIns="25400" rIns="1524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E8508F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EXAMPLE  </a:t>
            </a:r>
            <a:pPr indent="0" marL="0">
              <a:buNone/>
            </a:pPr>
            <a:r>
              <a:rPr lang="en-US" sz="13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My uncle! He smiles all the time and everybody listens to him.</a:t>
            </a:r>
            <a:endParaRPr lang="en-US" sz="1000" dirty="0"/>
          </a:p>
        </p:txBody>
      </p:sp>
      <p:sp>
        <p:nvSpPr>
          <p:cNvPr id="14" name="pf_12"/>
          <p:cNvSpPr/>
          <p:nvPr/>
        </p:nvSpPr>
        <p:spPr>
          <a:xfrm rot="90000">
            <a:off x="4846320" y="777240"/>
            <a:ext cx="3977640" cy="3200400"/>
          </a:xfrm>
          <a:prstGeom prst="roundRect">
            <a:avLst>
              <a:gd name="adj" fmla="val 4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13" descr="/home/claude/lls-course/v2/cache/6B_2_colin_jpg_935x748_3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90000">
            <a:off x="4892040" y="822960"/>
            <a:ext cx="3886200" cy="3108960"/>
          </a:xfrm>
          <a:prstGeom prst="rect">
            <a:avLst/>
          </a:prstGeom>
        </p:spPr>
      </p:pic>
      <p:sp>
        <p:nvSpPr>
          <p:cNvPr id="16" name="bb_14"/>
          <p:cNvSpPr/>
          <p:nvPr/>
        </p:nvSpPr>
        <p:spPr>
          <a:xfrm>
            <a:off x="5120640" y="3611880"/>
            <a:ext cx="3566160" cy="822960"/>
          </a:xfrm>
          <a:prstGeom prst="wedgeRoundRectCallout">
            <a:avLst/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10000"/>
              </a:srgbClr>
            </a:outerShdw>
          </a:effectLst>
        </p:spPr>
        <p:txBody>
          <a:bodyPr wrap="square" lIns="127000" tIns="50800" rIns="1270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Who is the most charismatic person you know? Why?</a:t>
            </a:r>
            <a:endParaRPr lang="en-US" sz="1600" dirty="0"/>
          </a:p>
        </p:txBody>
      </p:sp>
      <p:sp>
        <p:nvSpPr>
          <p:cNvPr id="17" name="st_15"/>
          <p:cNvSpPr/>
          <p:nvPr/>
        </p:nvSpPr>
        <p:spPr>
          <a:xfrm rot="360000">
            <a:off x="7543800" y="502920"/>
            <a:ext cx="1325880" cy="384048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💡 THINK · PENSA</a:t>
            </a:r>
            <a:endParaRPr lang="en-US" sz="950" dirty="0"/>
          </a:p>
        </p:txBody>
      </p:sp>
      <p:pic>
        <p:nvPicPr>
          <p:cNvPr id="18" name="logo_16" descr="/home/claude/lls-course/v2/img/logo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85632" y="4526280"/>
            <a:ext cx="502920" cy="50292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800" dirty="0"/>
          </a:p>
        </p:txBody>
      </p:sp>
      <p:pic>
        <p:nvPicPr>
          <p:cNvPr id="4" name="brY_1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034333" cy="621792"/>
          </a:xfrm>
          <a:prstGeom prst="rect">
            <a:avLst/>
          </a:prstGeom>
        </p:spPr>
      </p:pic>
      <p:sp>
        <p:nvSpPr>
          <p:cNvPr id="5" name="title_19"/>
          <p:cNvSpPr/>
          <p:nvPr/>
        </p:nvSpPr>
        <p:spPr>
          <a:xfrm>
            <a:off x="1261872" y="164592"/>
            <a:ext cx="376001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 last lesson?</a:t>
            </a:r>
            <a:endParaRPr lang="en-US" sz="2400" dirty="0"/>
          </a:p>
        </p:txBody>
      </p:sp>
      <p:pic>
        <p:nvPicPr>
          <p:cNvPr id="6" name="brP_2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685032" cy="402336"/>
          </a:xfrm>
          <a:prstGeom prst="rect">
            <a:avLst/>
          </a:prstGeom>
        </p:spPr>
      </p:pic>
      <p:sp>
        <p:nvSpPr>
          <p:cNvPr id="7" name="ins_21"/>
          <p:cNvSpPr/>
          <p:nvPr/>
        </p:nvSpPr>
        <p:spPr>
          <a:xfrm>
            <a:off x="1353312" y="731520"/>
            <a:ext cx="3429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we do? Read the examples.</a:t>
            </a:r>
            <a:endParaRPr lang="en-US" sz="1250" dirty="0"/>
          </a:p>
        </p:txBody>
      </p:sp>
      <p:sp>
        <p:nvSpPr>
          <p:cNvPr id="8" name="insIT_2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Cosa abbiamo fatto? Leggi gli esempi.</a:t>
            </a:r>
            <a:endParaRPr lang="en-US" sz="950" dirty="0"/>
          </a:p>
        </p:txBody>
      </p:sp>
      <p:sp>
        <p:nvSpPr>
          <p:cNvPr id="9" name="cmd_2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24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🙋 whole class</a:t>
            </a:r>
            <a:endParaRPr lang="en-US" sz="950" dirty="0"/>
          </a:p>
        </p:txBody>
      </p:sp>
      <p:sp>
        <p:nvSpPr>
          <p:cNvPr id="11" name="tag_25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2" name="logo_2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Revision · last lesson</a:t>
            </a:r>
            <a:endParaRPr lang="en-US" sz="800" dirty="0"/>
          </a:p>
        </p:txBody>
      </p:sp>
      <p:sp>
        <p:nvSpPr>
          <p:cNvPr id="14" name="pf_28"/>
          <p:cNvSpPr/>
          <p:nvPr/>
        </p:nvSpPr>
        <p:spPr>
          <a:xfrm rot="-120000">
            <a:off x="365760" y="1371600"/>
            <a:ext cx="2651760" cy="1828800"/>
          </a:xfrm>
          <a:prstGeom prst="roundRect">
            <a:avLst>
              <a:gd name="adj" fmla="val 85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29" descr="/home/claude/lls-course/v2/cache/6B_2_people_jpg_616x41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411480" y="1417320"/>
            <a:ext cx="2560320" cy="1737360"/>
          </a:xfrm>
          <a:prstGeom prst="rect">
            <a:avLst/>
          </a:prstGeom>
        </p:spPr>
      </p:pic>
      <p:sp>
        <p:nvSpPr>
          <p:cNvPr id="16" name="cd_30"/>
          <p:cNvSpPr/>
          <p:nvPr/>
        </p:nvSpPr>
        <p:spPr>
          <a:xfrm>
            <a:off x="320040" y="3383280"/>
            <a:ext cx="2743200" cy="1325880"/>
          </a:xfrm>
          <a:prstGeom prst="roundRect">
            <a:avLst>
              <a:gd name="adj" fmla="val 9655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1"/>
          <p:cNvSpPr/>
          <p:nvPr/>
        </p:nvSpPr>
        <p:spPr>
          <a:xfrm>
            <a:off x="411480" y="34564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8" name="ih_32"/>
          <p:cNvSpPr/>
          <p:nvPr/>
        </p:nvSpPr>
        <p:spPr>
          <a:xfrm>
            <a:off x="886968" y="34747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Last lesson…</a:t>
            </a:r>
            <a:endParaRPr lang="en-US" sz="1300" dirty="0"/>
          </a:p>
        </p:txBody>
      </p:sp>
      <p:sp>
        <p:nvSpPr>
          <p:cNvPr id="19" name="il_33"/>
          <p:cNvSpPr/>
          <p:nvPr/>
        </p:nvSpPr>
        <p:spPr>
          <a:xfrm>
            <a:off x="886968" y="3877056"/>
            <a:ext cx="208483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 part 1: Every picture tells a story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Deduction: must · might · can't</a:t>
            </a:r>
            <a:endParaRPr lang="en-US" sz="950" dirty="0"/>
          </a:p>
        </p:txBody>
      </p:sp>
      <p:sp>
        <p:nvSpPr>
          <p:cNvPr id="20" name="cd_34"/>
          <p:cNvSpPr/>
          <p:nvPr/>
        </p:nvSpPr>
        <p:spPr>
          <a:xfrm>
            <a:off x="324612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rh_35"/>
          <p:cNvSpPr/>
          <p:nvPr/>
        </p:nvSpPr>
        <p:spPr>
          <a:xfrm>
            <a:off x="335584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2EB872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Sure it's true ✓</a:t>
            </a:r>
            <a:endParaRPr lang="en-US" sz="1200" dirty="0"/>
          </a:p>
        </p:txBody>
      </p:sp>
      <p:sp>
        <p:nvSpPr>
          <p:cNvPr id="22" name="rl_36"/>
          <p:cNvSpPr/>
          <p:nvPr/>
        </p:nvSpPr>
        <p:spPr>
          <a:xfrm>
            <a:off x="338328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tired. (I'm sure.)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2EB872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love animals.</a:t>
            </a:r>
            <a:endParaRPr lang="en-US" sz="1150" dirty="0"/>
          </a:p>
        </p:txBody>
      </p:sp>
      <p:sp>
        <p:nvSpPr>
          <p:cNvPr id="23" name="cd_37"/>
          <p:cNvSpPr/>
          <p:nvPr/>
        </p:nvSpPr>
        <p:spPr>
          <a:xfrm>
            <a:off x="6126480" y="1417320"/>
            <a:ext cx="278892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4" name="rh_38"/>
          <p:cNvSpPr/>
          <p:nvPr/>
        </p:nvSpPr>
        <p:spPr>
          <a:xfrm>
            <a:off x="6236208" y="1508760"/>
            <a:ext cx="2569464" cy="347472"/>
          </a:xfrm>
          <a:prstGeom prst="roundRect">
            <a:avLst>
              <a:gd name="adj" fmla="val 50000"/>
            </a:avLst>
          </a:prstGeom>
          <a:solidFill>
            <a:srgbClr val="E8508F"/>
          </a:solidFill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Maybe / Sure it's NOT</a:t>
            </a:r>
            <a:endParaRPr lang="en-US" sz="1200" dirty="0"/>
          </a:p>
        </p:txBody>
      </p:sp>
      <p:sp>
        <p:nvSpPr>
          <p:cNvPr id="25" name="rl_39"/>
          <p:cNvSpPr/>
          <p:nvPr/>
        </p:nvSpPr>
        <p:spPr>
          <a:xfrm>
            <a:off x="6263640" y="1920240"/>
            <a:ext cx="2514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 / may / could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Spanish.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</a:t>
            </a:r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E8508F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be true! (✗ mustn't)</a:t>
            </a:r>
            <a:endParaRPr lang="en-US" sz="1150" dirty="0"/>
          </a:p>
        </p:txBody>
      </p:sp>
      <p:sp>
        <p:nvSpPr>
          <p:cNvPr id="26" name="kw_40"/>
          <p:cNvSpPr/>
          <p:nvPr/>
        </p:nvSpPr>
        <p:spPr>
          <a:xfrm>
            <a:off x="3246120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🔤 KEY WORDS</a:t>
            </a:r>
            <a:endParaRPr lang="en-US" sz="1100" dirty="0"/>
          </a:p>
        </p:txBody>
      </p:sp>
      <p:sp>
        <p:nvSpPr>
          <p:cNvPr id="27" name="w_41"/>
          <p:cNvSpPr/>
          <p:nvPr/>
        </p:nvSpPr>
        <p:spPr>
          <a:xfrm>
            <a:off x="3246120" y="4178808"/>
            <a:ext cx="1641348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must + infinitive</a:t>
            </a:r>
            <a:endParaRPr lang="en-US" sz="1050" dirty="0"/>
          </a:p>
        </p:txBody>
      </p:sp>
      <p:sp>
        <p:nvSpPr>
          <p:cNvPr id="28" name="w_42"/>
          <p:cNvSpPr/>
          <p:nvPr/>
        </p:nvSpPr>
        <p:spPr>
          <a:xfrm>
            <a:off x="4960620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might</a:t>
            </a:r>
            <a:endParaRPr lang="en-US" sz="1050" dirty="0"/>
          </a:p>
        </p:txBody>
      </p:sp>
      <p:sp>
        <p:nvSpPr>
          <p:cNvPr id="29" name="w_43"/>
          <p:cNvSpPr/>
          <p:nvPr/>
        </p:nvSpPr>
        <p:spPr>
          <a:xfrm>
            <a:off x="5742432" y="4178808"/>
            <a:ext cx="553212" cy="310896"/>
          </a:xfrm>
          <a:prstGeom prst="roundRect">
            <a:avLst>
              <a:gd name="adj" fmla="val 5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may</a:t>
            </a:r>
            <a:endParaRPr lang="en-US" sz="1050" dirty="0"/>
          </a:p>
        </p:txBody>
      </p:sp>
      <p:sp>
        <p:nvSpPr>
          <p:cNvPr id="30" name="w_44"/>
          <p:cNvSpPr/>
          <p:nvPr/>
        </p:nvSpPr>
        <p:spPr>
          <a:xfrm>
            <a:off x="6368796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could</a:t>
            </a:r>
            <a:endParaRPr lang="en-US" sz="1050" dirty="0"/>
          </a:p>
        </p:txBody>
      </p:sp>
      <p:sp>
        <p:nvSpPr>
          <p:cNvPr id="31" name="w_45"/>
          <p:cNvSpPr/>
          <p:nvPr/>
        </p:nvSpPr>
        <p:spPr>
          <a:xfrm>
            <a:off x="7150608" y="4178808"/>
            <a:ext cx="708660" cy="310896"/>
          </a:xfrm>
          <a:prstGeom prst="roundRect">
            <a:avLst>
              <a:gd name="adj" fmla="val 50000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</a:t>
            </a:r>
            <a:endParaRPr lang="en-US" sz="1050" dirty="0"/>
          </a:p>
        </p:txBody>
      </p:sp>
      <p:sp>
        <p:nvSpPr>
          <p:cNvPr id="32" name="w_46"/>
          <p:cNvSpPr/>
          <p:nvPr/>
        </p:nvSpPr>
        <p:spPr>
          <a:xfrm>
            <a:off x="3246120" y="4544568"/>
            <a:ext cx="941832" cy="31089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 'to'!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7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800" dirty="0"/>
          </a:p>
        </p:txBody>
      </p:sp>
      <p:pic>
        <p:nvPicPr>
          <p:cNvPr id="4" name="brY_48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49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Spot the error!</a:t>
            </a:r>
            <a:endParaRPr lang="en-US" sz="2500" dirty="0"/>
          </a:p>
        </p:txBody>
      </p:sp>
      <p:pic>
        <p:nvPicPr>
          <p:cNvPr id="6" name="brP_50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161788" cy="402336"/>
          </a:xfrm>
          <a:prstGeom prst="rect">
            <a:avLst/>
          </a:prstGeom>
        </p:spPr>
      </p:pic>
      <p:sp>
        <p:nvSpPr>
          <p:cNvPr id="7" name="ins_51"/>
          <p:cNvSpPr/>
          <p:nvPr/>
        </p:nvSpPr>
        <p:spPr>
          <a:xfrm>
            <a:off x="1353312" y="731520"/>
            <a:ext cx="49057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Find the mistake. Careful: ONE sentence is correct!</a:t>
            </a:r>
            <a:endParaRPr lang="en-US" sz="1250" dirty="0"/>
          </a:p>
        </p:txBody>
      </p:sp>
      <p:sp>
        <p:nvSpPr>
          <p:cNvPr id="8" name="insIT_52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Trova l'errore. Attenzione: UNA frase è giusta!</a:t>
            </a:r>
            <a:endParaRPr lang="en-US" sz="950" dirty="0"/>
          </a:p>
        </p:txBody>
      </p:sp>
      <p:sp>
        <p:nvSpPr>
          <p:cNvPr id="9" name="cmd_53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54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🏆 teams</a:t>
            </a:r>
            <a:endParaRPr lang="en-US" sz="950" dirty="0"/>
          </a:p>
        </p:txBody>
      </p:sp>
      <p:sp>
        <p:nvSpPr>
          <p:cNvPr id="11" name="tag_55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56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7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Warmer · last lesson   ·   📖 Recycles 6B part 1 · Grammar Bank 6B p.143</a:t>
            </a:r>
            <a:endParaRPr lang="en-US" sz="800" dirty="0"/>
          </a:p>
        </p:txBody>
      </p:sp>
      <p:sp>
        <p:nvSpPr>
          <p:cNvPr id="14" name="cd_58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9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60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61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sentence.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la frase.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Teams write the correct sentence.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 squadre scrivono la frase corretta.</a:t>
            </a:r>
            <a:endParaRPr lang="en-US" sz="9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Correct = 1 point. 'Correct' a correct sentence = –1!</a:t>
            </a:r>
            <a:endParaRPr lang="en-US" sz="9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Giusta = 1 punto. 'Correggere' una frase giusta = –1!</a:t>
            </a:r>
            <a:endParaRPr lang="en-US" sz="950" dirty="0"/>
          </a:p>
        </p:txBody>
      </p:sp>
      <p:sp>
        <p:nvSpPr>
          <p:cNvPr id="18" name="st_62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63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4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that really Jack's wife? It mustn't be true!</a:t>
            </a:r>
            <a:endParaRPr lang="en-US" sz="1100" dirty="0"/>
          </a:p>
        </p:txBody>
      </p:sp>
      <p:sp>
        <p:nvSpPr>
          <p:cNvPr id="21" name="R1_chip65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 can't be true!</a:t>
            </a:r>
            <a:endParaRPr lang="en-US" sz="1200" dirty="0"/>
          </a:p>
        </p:txBody>
      </p:sp>
      <p:sp>
        <p:nvSpPr>
          <p:cNvPr id="22" name="bd_66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7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He's speaking Spanish, so he can be from Spain or Mexico.</a:t>
            </a:r>
            <a:endParaRPr lang="en-US" sz="1100" dirty="0"/>
          </a:p>
        </p:txBody>
      </p:sp>
      <p:sp>
        <p:nvSpPr>
          <p:cNvPr id="24" name="R2_chip68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/ may / could be</a:t>
            </a:r>
            <a:endParaRPr lang="en-US" sz="1200" dirty="0"/>
          </a:p>
        </p:txBody>
      </p:sp>
      <p:sp>
        <p:nvSpPr>
          <p:cNvPr id="25" name="bd_69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70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She's been working all day. She must to be tired.</a:t>
            </a:r>
            <a:endParaRPr lang="en-US" sz="1100" dirty="0"/>
          </a:p>
        </p:txBody>
      </p:sp>
      <p:sp>
        <p:nvSpPr>
          <p:cNvPr id="27" name="R3_chip71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She must be tired.</a:t>
            </a:r>
            <a:endParaRPr lang="en-US" sz="1200" dirty="0"/>
          </a:p>
        </p:txBody>
      </p:sp>
      <p:sp>
        <p:nvSpPr>
          <p:cNvPr id="28" name="bd_72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73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Her profile photo is her cat. She must love animals.</a:t>
            </a:r>
            <a:endParaRPr lang="en-US" sz="1100" dirty="0"/>
          </a:p>
        </p:txBody>
      </p:sp>
      <p:sp>
        <p:nvSpPr>
          <p:cNvPr id="30" name="R4_chip74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✓ Correct!</a:t>
            </a:r>
            <a:endParaRPr lang="en-US" sz="1200" dirty="0"/>
          </a:p>
        </p:txBody>
      </p:sp>
      <p:sp>
        <p:nvSpPr>
          <p:cNvPr id="31" name="bd_75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76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Nobody's answering. They might are on holiday.</a:t>
            </a:r>
            <a:endParaRPr lang="en-US" sz="1100" dirty="0"/>
          </a:p>
        </p:txBody>
      </p:sp>
      <p:sp>
        <p:nvSpPr>
          <p:cNvPr id="33" name="R5_chip77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They might be on holiday.</a:t>
            </a:r>
            <a:endParaRPr lang="en-US" sz="1200" dirty="0"/>
          </a:p>
        </p:txBody>
      </p:sp>
      <p:sp>
        <p:nvSpPr>
          <p:cNvPr id="34" name="bd_78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79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Where's Tom? – I'm not sure. He might working.</a:t>
            </a:r>
            <a:endParaRPr lang="en-US" sz="1100" dirty="0"/>
          </a:p>
        </p:txBody>
      </p:sp>
      <p:sp>
        <p:nvSpPr>
          <p:cNvPr id="36" name="R6_chip80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He might be working.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8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2800" dirty="0"/>
          </a:p>
        </p:txBody>
      </p:sp>
      <p:pic>
        <p:nvPicPr>
          <p:cNvPr id="4" name="brY_8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83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Point to your…!</a:t>
            </a:r>
            <a:endParaRPr lang="en-US" sz="2500" dirty="0"/>
          </a:p>
        </p:txBody>
      </p:sp>
      <p:pic>
        <p:nvPicPr>
          <p:cNvPr id="6" name="brP_8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8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and point to the part of your body. Then click!</a:t>
            </a:r>
            <a:endParaRPr lang="en-US" sz="1250" dirty="0"/>
          </a:p>
        </p:txBody>
      </p:sp>
      <p:sp>
        <p:nvSpPr>
          <p:cNvPr id="8" name="insIT_8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e indica la parte del corpo. Poi clicca!</a:t>
            </a:r>
            <a:endParaRPr lang="en-US" sz="950" dirty="0"/>
          </a:p>
        </p:txBody>
      </p:sp>
      <p:sp>
        <p:nvSpPr>
          <p:cNvPr id="9" name="cmd_8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cmd_88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✅ </a:t>
            </a:r>
            <a:pPr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CONTROLLA</a:t>
            </a:r>
            <a:endParaRPr lang="en-US" sz="950" dirty="0"/>
          </a:p>
        </p:txBody>
      </p:sp>
      <p:sp>
        <p:nvSpPr>
          <p:cNvPr id="11" name="meta_89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🙋 whole class</a:t>
            </a:r>
            <a:endParaRPr lang="en-US" sz="950" dirty="0"/>
          </a:p>
        </p:txBody>
      </p:sp>
      <p:sp>
        <p:nvSpPr>
          <p:cNvPr id="12" name="tag_90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meaning</a:t>
            </a:r>
            <a:endParaRPr lang="en-US" sz="750" dirty="0"/>
          </a:p>
        </p:txBody>
      </p:sp>
      <p:pic>
        <p:nvPicPr>
          <p:cNvPr id="13" name="logo_9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9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the body · 8 new words   ·   📖 SB p.62 · 3b · Vocabulary Bank The body p.160 · audio 6.14</a:t>
            </a:r>
            <a:endParaRPr lang="en-US" sz="800" dirty="0"/>
          </a:p>
        </p:txBody>
      </p:sp>
      <p:sp>
        <p:nvSpPr>
          <p:cNvPr id="15" name="cd_93"/>
          <p:cNvSpPr/>
          <p:nvPr/>
        </p:nvSpPr>
        <p:spPr>
          <a:xfrm>
            <a:off x="320040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e_94"/>
          <p:cNvSpPr/>
          <p:nvPr/>
        </p:nvSpPr>
        <p:spPr>
          <a:xfrm>
            <a:off x="393192" y="152704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🙂</a:t>
            </a:r>
            <a:endParaRPr lang="en-US" sz="2000" dirty="0"/>
          </a:p>
        </p:txBody>
      </p:sp>
      <p:sp>
        <p:nvSpPr>
          <p:cNvPr id="17" name="en_95"/>
          <p:cNvSpPr/>
          <p:nvPr/>
        </p:nvSpPr>
        <p:spPr>
          <a:xfrm>
            <a:off x="978408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chin</a:t>
            </a:r>
            <a:endParaRPr lang="en-US" sz="1200" dirty="0"/>
          </a:p>
        </p:txBody>
      </p:sp>
      <p:sp>
        <p:nvSpPr>
          <p:cNvPr id="18" name="R1_def96"/>
          <p:cNvSpPr/>
          <p:nvPr/>
        </p:nvSpPr>
        <p:spPr>
          <a:xfrm>
            <a:off x="978408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bottom part of your face, under your mouth</a:t>
            </a:r>
            <a:endParaRPr lang="en-US" sz="850" dirty="0"/>
          </a:p>
        </p:txBody>
      </p:sp>
      <p:sp>
        <p:nvSpPr>
          <p:cNvPr id="19" name="R2_it97"/>
          <p:cNvSpPr/>
          <p:nvPr/>
        </p:nvSpPr>
        <p:spPr>
          <a:xfrm>
            <a:off x="978408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</a:t>
            </a:r>
            <a:endParaRPr lang="en-US" sz="900" dirty="0"/>
          </a:p>
        </p:txBody>
      </p:sp>
      <p:sp>
        <p:nvSpPr>
          <p:cNvPr id="20" name="cd_98"/>
          <p:cNvSpPr/>
          <p:nvPr/>
        </p:nvSpPr>
        <p:spPr>
          <a:xfrm>
            <a:off x="2487168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1" name="e_99"/>
          <p:cNvSpPr/>
          <p:nvPr/>
        </p:nvSpPr>
        <p:spPr>
          <a:xfrm>
            <a:off x="2560320" y="152704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🤷</a:t>
            </a:r>
            <a:endParaRPr lang="en-US" sz="2000" dirty="0"/>
          </a:p>
        </p:txBody>
      </p:sp>
      <p:sp>
        <p:nvSpPr>
          <p:cNvPr id="22" name="en_100"/>
          <p:cNvSpPr/>
          <p:nvPr/>
        </p:nvSpPr>
        <p:spPr>
          <a:xfrm>
            <a:off x="3145536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23" name="R3_def101"/>
          <p:cNvSpPr/>
          <p:nvPr/>
        </p:nvSpPr>
        <p:spPr>
          <a:xfrm>
            <a:off x="3145536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where your arms join your body</a:t>
            </a:r>
            <a:endParaRPr lang="en-US" sz="850" dirty="0"/>
          </a:p>
        </p:txBody>
      </p:sp>
      <p:sp>
        <p:nvSpPr>
          <p:cNvPr id="24" name="R4_it102"/>
          <p:cNvSpPr/>
          <p:nvPr/>
        </p:nvSpPr>
        <p:spPr>
          <a:xfrm>
            <a:off x="3145536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spalle</a:t>
            </a:r>
            <a:endParaRPr lang="en-US" sz="900" dirty="0"/>
          </a:p>
        </p:txBody>
      </p:sp>
      <p:sp>
        <p:nvSpPr>
          <p:cNvPr id="25" name="cd_103"/>
          <p:cNvSpPr/>
          <p:nvPr/>
        </p:nvSpPr>
        <p:spPr>
          <a:xfrm>
            <a:off x="4654296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e_104"/>
          <p:cNvSpPr/>
          <p:nvPr/>
        </p:nvSpPr>
        <p:spPr>
          <a:xfrm>
            <a:off x="4727448" y="152704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👅</a:t>
            </a:r>
            <a:endParaRPr lang="en-US" sz="2000" dirty="0"/>
          </a:p>
        </p:txBody>
      </p:sp>
      <p:sp>
        <p:nvSpPr>
          <p:cNvPr id="27" name="en_105"/>
          <p:cNvSpPr/>
          <p:nvPr/>
        </p:nvSpPr>
        <p:spPr>
          <a:xfrm>
            <a:off x="5312664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tongue /tʌŋ/</a:t>
            </a:r>
            <a:endParaRPr lang="en-US" sz="1200" dirty="0"/>
          </a:p>
        </p:txBody>
      </p:sp>
      <p:sp>
        <p:nvSpPr>
          <p:cNvPr id="28" name="R5_def106"/>
          <p:cNvSpPr/>
          <p:nvPr/>
        </p:nvSpPr>
        <p:spPr>
          <a:xfrm>
            <a:off x="5312664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it's in your mouth – you taste with it</a:t>
            </a:r>
            <a:endParaRPr lang="en-US" sz="850" dirty="0"/>
          </a:p>
        </p:txBody>
      </p:sp>
      <p:sp>
        <p:nvSpPr>
          <p:cNvPr id="29" name="R6_it107"/>
          <p:cNvSpPr/>
          <p:nvPr/>
        </p:nvSpPr>
        <p:spPr>
          <a:xfrm>
            <a:off x="5312664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lingua</a:t>
            </a:r>
            <a:endParaRPr lang="en-US" sz="900" dirty="0"/>
          </a:p>
        </p:txBody>
      </p:sp>
      <p:sp>
        <p:nvSpPr>
          <p:cNvPr id="30" name="cd_108"/>
          <p:cNvSpPr/>
          <p:nvPr/>
        </p:nvSpPr>
        <p:spPr>
          <a:xfrm>
            <a:off x="6821424" y="141732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e_109"/>
          <p:cNvSpPr/>
          <p:nvPr/>
        </p:nvSpPr>
        <p:spPr>
          <a:xfrm>
            <a:off x="6894576" y="152704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👍</a:t>
            </a:r>
            <a:endParaRPr lang="en-US" sz="2000" dirty="0"/>
          </a:p>
        </p:txBody>
      </p:sp>
      <p:sp>
        <p:nvSpPr>
          <p:cNvPr id="32" name="en_110"/>
          <p:cNvSpPr/>
          <p:nvPr/>
        </p:nvSpPr>
        <p:spPr>
          <a:xfrm>
            <a:off x="7479792" y="147218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thumb /θʌm/</a:t>
            </a:r>
            <a:endParaRPr lang="en-US" sz="1200" dirty="0"/>
          </a:p>
        </p:txBody>
      </p:sp>
      <p:sp>
        <p:nvSpPr>
          <p:cNvPr id="33" name="R7_def111"/>
          <p:cNvSpPr/>
          <p:nvPr/>
        </p:nvSpPr>
        <p:spPr>
          <a:xfrm>
            <a:off x="7479792" y="178308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short, thick finger</a:t>
            </a:r>
            <a:endParaRPr lang="en-US" sz="850" dirty="0"/>
          </a:p>
        </p:txBody>
      </p:sp>
      <p:sp>
        <p:nvSpPr>
          <p:cNvPr id="34" name="R8_it112"/>
          <p:cNvSpPr/>
          <p:nvPr/>
        </p:nvSpPr>
        <p:spPr>
          <a:xfrm>
            <a:off x="7479792" y="212140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pollice</a:t>
            </a:r>
            <a:endParaRPr lang="en-US" sz="900" dirty="0"/>
          </a:p>
        </p:txBody>
      </p:sp>
      <p:sp>
        <p:nvSpPr>
          <p:cNvPr id="35" name="cd_113"/>
          <p:cNvSpPr/>
          <p:nvPr/>
        </p:nvSpPr>
        <p:spPr>
          <a:xfrm>
            <a:off x="320040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6" name="e_114"/>
          <p:cNvSpPr/>
          <p:nvPr/>
        </p:nvSpPr>
        <p:spPr>
          <a:xfrm>
            <a:off x="393192" y="2532888"/>
            <a:ext cx="512064" cy="512064"/>
          </a:xfrm>
          <a:prstGeom prst="ellipse">
            <a:avLst/>
          </a:prstGeom>
          <a:solidFill>
            <a:srgbClr val="FFE3E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🦵</a:t>
            </a:r>
            <a:endParaRPr lang="en-US" sz="2000" dirty="0"/>
          </a:p>
        </p:txBody>
      </p:sp>
      <p:sp>
        <p:nvSpPr>
          <p:cNvPr id="37" name="en_115"/>
          <p:cNvSpPr/>
          <p:nvPr/>
        </p:nvSpPr>
        <p:spPr>
          <a:xfrm>
            <a:off x="978408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knees (silent k!)</a:t>
            </a:r>
            <a:endParaRPr lang="en-US" sz="1200" dirty="0"/>
          </a:p>
        </p:txBody>
      </p:sp>
      <p:sp>
        <p:nvSpPr>
          <p:cNvPr id="38" name="R9_def116"/>
          <p:cNvSpPr/>
          <p:nvPr/>
        </p:nvSpPr>
        <p:spPr>
          <a:xfrm>
            <a:off x="978408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middle of your legs – they bend</a:t>
            </a:r>
            <a:endParaRPr lang="en-US" sz="850" dirty="0"/>
          </a:p>
        </p:txBody>
      </p:sp>
      <p:sp>
        <p:nvSpPr>
          <p:cNvPr id="39" name="R10_it117"/>
          <p:cNvSpPr/>
          <p:nvPr/>
        </p:nvSpPr>
        <p:spPr>
          <a:xfrm>
            <a:off x="978408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</a:t>
            </a:r>
            <a:endParaRPr lang="en-US" sz="900" dirty="0"/>
          </a:p>
        </p:txBody>
      </p:sp>
      <p:sp>
        <p:nvSpPr>
          <p:cNvPr id="40" name="cd_118"/>
          <p:cNvSpPr/>
          <p:nvPr/>
        </p:nvSpPr>
        <p:spPr>
          <a:xfrm>
            <a:off x="2487168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1" name="e_119"/>
          <p:cNvSpPr/>
          <p:nvPr/>
        </p:nvSpPr>
        <p:spPr>
          <a:xfrm>
            <a:off x="2560320" y="2532888"/>
            <a:ext cx="512064" cy="512064"/>
          </a:xfrm>
          <a:prstGeom prst="ellipse">
            <a:avLst/>
          </a:prstGeom>
          <a:solidFill>
            <a:srgbClr val="E3F1F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🍽️</a:t>
            </a:r>
            <a:endParaRPr lang="en-US" sz="2000" dirty="0"/>
          </a:p>
        </p:txBody>
      </p:sp>
      <p:sp>
        <p:nvSpPr>
          <p:cNvPr id="42" name="en_120"/>
          <p:cNvSpPr/>
          <p:nvPr/>
        </p:nvSpPr>
        <p:spPr>
          <a:xfrm>
            <a:off x="3145536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stomach /ˈstʌmək/</a:t>
            </a:r>
            <a:endParaRPr lang="en-US" sz="1100" dirty="0"/>
          </a:p>
        </p:txBody>
      </p:sp>
      <p:sp>
        <p:nvSpPr>
          <p:cNvPr id="43" name="R11_def121"/>
          <p:cNvSpPr/>
          <p:nvPr/>
        </p:nvSpPr>
        <p:spPr>
          <a:xfrm>
            <a:off x="3145536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food goes here after you eat</a:t>
            </a:r>
            <a:endParaRPr lang="en-US" sz="850" dirty="0"/>
          </a:p>
        </p:txBody>
      </p:sp>
      <p:sp>
        <p:nvSpPr>
          <p:cNvPr id="44" name="R12_it122"/>
          <p:cNvSpPr/>
          <p:nvPr/>
        </p:nvSpPr>
        <p:spPr>
          <a:xfrm>
            <a:off x="3145536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stomaco / pancia</a:t>
            </a:r>
            <a:endParaRPr lang="en-US" sz="900" dirty="0"/>
          </a:p>
        </p:txBody>
      </p:sp>
      <p:sp>
        <p:nvSpPr>
          <p:cNvPr id="45" name="cd_123"/>
          <p:cNvSpPr/>
          <p:nvPr/>
        </p:nvSpPr>
        <p:spPr>
          <a:xfrm>
            <a:off x="4654296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46" name="e_124"/>
          <p:cNvSpPr/>
          <p:nvPr/>
        </p:nvSpPr>
        <p:spPr>
          <a:xfrm>
            <a:off x="4727448" y="2532888"/>
            <a:ext cx="512064" cy="512064"/>
          </a:xfrm>
          <a:prstGeom prst="ellipse">
            <a:avLst/>
          </a:prstGeom>
          <a:solidFill>
            <a:srgbClr val="E3F7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🦶</a:t>
            </a:r>
            <a:endParaRPr lang="en-US" sz="2000" dirty="0"/>
          </a:p>
        </p:txBody>
      </p:sp>
      <p:sp>
        <p:nvSpPr>
          <p:cNvPr id="47" name="en_125"/>
          <p:cNvSpPr/>
          <p:nvPr/>
        </p:nvSpPr>
        <p:spPr>
          <a:xfrm>
            <a:off x="5312664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toes</a:t>
            </a:r>
            <a:endParaRPr lang="en-US" sz="1200" dirty="0"/>
          </a:p>
        </p:txBody>
      </p:sp>
      <p:sp>
        <p:nvSpPr>
          <p:cNvPr id="48" name="R13_def126"/>
          <p:cNvSpPr/>
          <p:nvPr/>
        </p:nvSpPr>
        <p:spPr>
          <a:xfrm>
            <a:off x="5312664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'fingers' on your feet</a:t>
            </a:r>
            <a:endParaRPr lang="en-US" sz="850" dirty="0"/>
          </a:p>
        </p:txBody>
      </p:sp>
      <p:sp>
        <p:nvSpPr>
          <p:cNvPr id="49" name="R14_it127"/>
          <p:cNvSpPr/>
          <p:nvPr/>
        </p:nvSpPr>
        <p:spPr>
          <a:xfrm>
            <a:off x="5312664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dita dei piedi</a:t>
            </a:r>
            <a:endParaRPr lang="en-US" sz="900" dirty="0"/>
          </a:p>
        </p:txBody>
      </p:sp>
      <p:sp>
        <p:nvSpPr>
          <p:cNvPr id="50" name="cd_128"/>
          <p:cNvSpPr/>
          <p:nvPr/>
        </p:nvSpPr>
        <p:spPr>
          <a:xfrm>
            <a:off x="6821424" y="2423160"/>
            <a:ext cx="2075688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51" name="e_129"/>
          <p:cNvSpPr/>
          <p:nvPr/>
        </p:nvSpPr>
        <p:spPr>
          <a:xfrm>
            <a:off x="6894576" y="2532888"/>
            <a:ext cx="512064" cy="512064"/>
          </a:xfrm>
          <a:prstGeom prst="ellipse">
            <a:avLst/>
          </a:prstGeom>
          <a:solidFill>
            <a:srgbClr val="FFF6C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👄</a:t>
            </a:r>
            <a:endParaRPr lang="en-US" sz="2000" dirty="0"/>
          </a:p>
        </p:txBody>
      </p:sp>
      <p:sp>
        <p:nvSpPr>
          <p:cNvPr id="52" name="en_130"/>
          <p:cNvSpPr/>
          <p:nvPr/>
        </p:nvSpPr>
        <p:spPr>
          <a:xfrm>
            <a:off x="7479792" y="2478024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lips</a:t>
            </a:r>
            <a:endParaRPr lang="en-US" sz="1200" dirty="0"/>
          </a:p>
        </p:txBody>
      </p:sp>
      <p:sp>
        <p:nvSpPr>
          <p:cNvPr id="53" name="R15_def131"/>
          <p:cNvSpPr/>
          <p:nvPr/>
        </p:nvSpPr>
        <p:spPr>
          <a:xfrm>
            <a:off x="7479792" y="2788920"/>
            <a:ext cx="13624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edges of your mouth</a:t>
            </a:r>
            <a:endParaRPr lang="en-US" sz="850" dirty="0"/>
          </a:p>
        </p:txBody>
      </p:sp>
      <p:sp>
        <p:nvSpPr>
          <p:cNvPr id="54" name="R16_it132"/>
          <p:cNvSpPr/>
          <p:nvPr/>
        </p:nvSpPr>
        <p:spPr>
          <a:xfrm>
            <a:off x="7479792" y="3127248"/>
            <a:ext cx="13624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i="1" dirty="0">
                <a:solidFill>
                  <a:srgbClr val="2EB872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labbra</a:t>
            </a:r>
            <a:endParaRPr lang="en-US" sz="900" dirty="0"/>
          </a:p>
        </p:txBody>
      </p:sp>
      <p:sp>
        <p:nvSpPr>
          <p:cNvPr id="55" name="ap_133"/>
          <p:cNvSpPr/>
          <p:nvPr/>
        </p:nvSpPr>
        <p:spPr>
          <a:xfrm>
            <a:off x="320040" y="4480560"/>
            <a:ext cx="201168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6.14</a:t>
            </a:r>
            <a:endParaRPr lang="en-US" sz="1100" dirty="0"/>
          </a:p>
        </p:txBody>
      </p:sp>
      <p:sp>
        <p:nvSpPr>
          <p:cNvPr id="56" name="ah_134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5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58" name="ah_135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5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60" name="R17_wc136"/>
          <p:cNvSpPr/>
          <p:nvPr/>
        </p:nvSpPr>
        <p:spPr>
          <a:xfrm>
            <a:off x="320040" y="3474720"/>
            <a:ext cx="8549640" cy="457200"/>
          </a:xfrm>
          <a:prstGeom prst="roundRect">
            <a:avLst>
              <a:gd name="adj" fmla="val 28000"/>
            </a:avLst>
          </a:prstGeom>
          <a:solidFill>
            <a:srgbClr val="FFE3EE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61" name="R17_w137"/>
          <p:cNvSpPr/>
          <p:nvPr/>
        </p:nvSpPr>
        <p:spPr>
          <a:xfrm>
            <a:off x="457200" y="347472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⚠ Watch out!  fingers (hands) ≠ toes (feet) – Italian says 'dita' for both!  ·  I've hurt MY knee (✗ the knee)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4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" dur="4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91" restart="whenNotActive" fill="hold" evtFilter="cancelBubble" nodeType="interactiveSeq">
                <p:stCondLst>
                  <p:cond evt="onClick" delay="0">
                    <p:tgtEl>
                      <p:spTgt spid="5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2" fill="hold">
                      <p:stCondLst>
                        <p:cond delay="0"/>
                      </p:stCondLst>
                      <p:childTnLst>
                        <p:par>
                          <p:cTn id="93" fill="hold">
                            <p:stCondLst>
                              <p:cond delay="0"/>
                            </p:stCondLst>
                            <p:childTnLst>
                              <p:par>
                                <p:cTn id="9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95" dur="1" fill="hold"/>
                                        <p:tgtEl>
                                          <p:spTgt spid="5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7"/>
                  </p:tgtEl>
                </p:cond>
              </p:nextCondLst>
            </p:seq>
            <p:seq concurrent="1" nextAc="seek">
              <p:cTn id="96" restart="whenNotActive" fill="hold" evtFilter="cancelBubble" nodeType="interactiveSeq">
                <p:stCondLst>
                  <p:cond evt="onClick" delay="0">
                    <p:tgtEl>
                      <p:spTgt spid="5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7" fill="hold">
                      <p:stCondLst>
                        <p:cond delay="0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00" dur="1" fill="hold"/>
                                        <p:tgtEl>
                                          <p:spTgt spid="5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9"/>
                  </p:tgtEl>
                </p:cond>
              </p:nextCondLst>
            </p:seq>
            <p:audio>
              <p:cMediaNode vol="80000">
                <p:cTn id="101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7"/>
                </p:tgtEl>
              </p:cMediaNode>
            </p:audio>
            <p:audio>
              <p:cMediaNode vol="80000">
                <p:cTn id="10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9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3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2800" dirty="0"/>
          </a:p>
        </p:txBody>
      </p:sp>
      <p:pic>
        <p:nvPicPr>
          <p:cNvPr id="4" name="brY_13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877056" cy="621792"/>
          </a:xfrm>
          <a:prstGeom prst="rect">
            <a:avLst/>
          </a:prstGeom>
        </p:spPr>
      </p:pic>
      <p:sp>
        <p:nvSpPr>
          <p:cNvPr id="5" name="title_140"/>
          <p:cNvSpPr/>
          <p:nvPr/>
        </p:nvSpPr>
        <p:spPr>
          <a:xfrm>
            <a:off x="1261872" y="164592"/>
            <a:ext cx="36027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 you use to…?</a:t>
            </a:r>
            <a:endParaRPr lang="en-US" sz="2400" dirty="0"/>
          </a:p>
        </p:txBody>
      </p:sp>
      <p:pic>
        <p:nvPicPr>
          <p:cNvPr id="6" name="brP_14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142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part of the body do you use? Tell your partner.</a:t>
            </a:r>
            <a:endParaRPr lang="en-US" sz="1250" dirty="0"/>
          </a:p>
        </p:txBody>
      </p:sp>
      <p:sp>
        <p:nvSpPr>
          <p:cNvPr id="8" name="insIT_14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Quale parte del corpo usi? Dillo al compagno.</a:t>
            </a:r>
            <a:endParaRPr lang="en-US" sz="950" dirty="0"/>
          </a:p>
        </p:txBody>
      </p:sp>
      <p:sp>
        <p:nvSpPr>
          <p:cNvPr id="9" name="cmd_14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14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👥 pairs</a:t>
            </a:r>
            <a:endParaRPr lang="en-US" sz="950" dirty="0"/>
          </a:p>
        </p:txBody>
      </p:sp>
      <p:sp>
        <p:nvSpPr>
          <p:cNvPr id="11" name="tag_14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Vocabulary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2" name="logo_14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14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Vocabulary · body verbs   ·   📖 Vocabulary Bank p.160 · 2 Verbs · audio 6.15</a:t>
            </a:r>
            <a:endParaRPr lang="en-US" sz="800" dirty="0"/>
          </a:p>
        </p:txBody>
      </p:sp>
      <p:sp>
        <p:nvSpPr>
          <p:cNvPr id="14" name="cd_149"/>
          <p:cNvSpPr/>
          <p:nvPr/>
        </p:nvSpPr>
        <p:spPr>
          <a:xfrm>
            <a:off x="320040" y="1417320"/>
            <a:ext cx="2697480" cy="768096"/>
          </a:xfrm>
          <a:prstGeom prst="roundRect">
            <a:avLst>
              <a:gd name="adj" fmla="val 16667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150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6" name="ih_151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7" name="il_152"/>
          <p:cNvSpPr/>
          <p:nvPr/>
        </p:nvSpPr>
        <p:spPr>
          <a:xfrm>
            <a:off x="886968" y="1911096"/>
            <a:ext cx="203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→ your teeth (mordere)</a:t>
            </a:r>
            <a:endParaRPr lang="en-US" sz="1050" dirty="0"/>
          </a:p>
        </p:txBody>
      </p:sp>
      <p:sp>
        <p:nvSpPr>
          <p:cNvPr id="18" name="pf_153"/>
          <p:cNvSpPr/>
          <p:nvPr/>
        </p:nvSpPr>
        <p:spPr>
          <a:xfrm rot="-90000">
            <a:off x="365760" y="2368296"/>
            <a:ext cx="2606040" cy="1746504"/>
          </a:xfrm>
          <a:prstGeom prst="roundRect">
            <a:avLst>
              <a:gd name="adj" fmla="val 890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9" name="ph_154" descr="/home/claude/lls-course/v2/cache/6B_2_people_jpg_605x398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414016"/>
            <a:ext cx="2514600" cy="1655064"/>
          </a:xfrm>
          <a:prstGeom prst="rect">
            <a:avLst/>
          </a:prstGeom>
        </p:spPr>
      </p:pic>
      <p:sp>
        <p:nvSpPr>
          <p:cNvPr id="20" name="ap_155"/>
          <p:cNvSpPr/>
          <p:nvPr/>
        </p:nvSpPr>
        <p:spPr>
          <a:xfrm>
            <a:off x="365760" y="429768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6.15</a:t>
            </a:r>
            <a:endParaRPr lang="en-US" sz="1100" dirty="0"/>
          </a:p>
        </p:txBody>
      </p:sp>
      <p:sp>
        <p:nvSpPr>
          <p:cNvPr id="21" name="ah_156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2" name="Media 0">
            <a:hlinkClick r:id="" action="ppaction://media"/>
          </p:cNvPr>
          <p:cNvPicPr>
            <a:picLocks noChangeAspect="1"/>
          </p:cNvPicPr>
          <p:nvPr>
            <a:audioFile r:link="rId6"/>
            <p:extLst>
              <p:ext uri="{DAA4B4D4-6D71-4841-9C94-3DE7FCFB9230}">
                <p14:media xmlns:p14="http://schemas.microsoft.com/office/powerpoint/2010/main" r:embed="rId7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3" name="ah_157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4" name="Media 1">
            <a:hlinkClick r:id="" action="ppaction://media"/>
          </p:cNvPr>
          <p:cNvPicPr>
            <a:picLocks noChangeAspect="1"/>
          </p:cNvPicPr>
          <p:nvPr>
            <a:audioFile r:link="rId9"/>
            <p:extLst>
              <p:ext uri="{DAA4B4D4-6D71-4841-9C94-3DE7FCFB9230}">
                <p14:media xmlns:p14="http://schemas.microsoft.com/office/powerpoint/2010/main" r:embed="rId10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5" name="bd_158"/>
          <p:cNvSpPr/>
          <p:nvPr/>
        </p:nvSpPr>
        <p:spPr>
          <a:xfrm>
            <a:off x="3246120" y="144475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6" name="q_159"/>
          <p:cNvSpPr/>
          <p:nvPr/>
        </p:nvSpPr>
        <p:spPr>
          <a:xfrm>
            <a:off x="3630168" y="14173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</a:t>
            </a:r>
            <a:endParaRPr lang="en-US" sz="1150" dirty="0"/>
          </a:p>
        </p:txBody>
      </p:sp>
      <p:sp>
        <p:nvSpPr>
          <p:cNvPr id="27" name="R1_chip160"/>
          <p:cNvSpPr/>
          <p:nvPr/>
        </p:nvSpPr>
        <p:spPr>
          <a:xfrm>
            <a:off x="5806440" y="14173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hands – applaudire</a:t>
            </a:r>
            <a:endParaRPr lang="en-US" sz="1050" dirty="0"/>
          </a:p>
        </p:txBody>
      </p:sp>
      <p:sp>
        <p:nvSpPr>
          <p:cNvPr id="28" name="bd_161"/>
          <p:cNvSpPr/>
          <p:nvPr/>
        </p:nvSpPr>
        <p:spPr>
          <a:xfrm>
            <a:off x="3246120" y="185623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9" name="q_162"/>
          <p:cNvSpPr/>
          <p:nvPr/>
        </p:nvSpPr>
        <p:spPr>
          <a:xfrm>
            <a:off x="3630168" y="18288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kick</a:t>
            </a:r>
            <a:endParaRPr lang="en-US" sz="1150" dirty="0"/>
          </a:p>
        </p:txBody>
      </p:sp>
      <p:sp>
        <p:nvSpPr>
          <p:cNvPr id="30" name="R2_chip163"/>
          <p:cNvSpPr/>
          <p:nvPr/>
        </p:nvSpPr>
        <p:spPr>
          <a:xfrm>
            <a:off x="5806440" y="18288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feet – calciare</a:t>
            </a:r>
            <a:endParaRPr lang="en-US" sz="1050" dirty="0"/>
          </a:p>
        </p:txBody>
      </p:sp>
      <p:sp>
        <p:nvSpPr>
          <p:cNvPr id="31" name="bd_164"/>
          <p:cNvSpPr/>
          <p:nvPr/>
        </p:nvSpPr>
        <p:spPr>
          <a:xfrm>
            <a:off x="3246120" y="22677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q_165"/>
          <p:cNvSpPr/>
          <p:nvPr/>
        </p:nvSpPr>
        <p:spPr>
          <a:xfrm>
            <a:off x="3630168" y="22402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</a:t>
            </a:r>
            <a:endParaRPr lang="en-US" sz="1150" dirty="0"/>
          </a:p>
        </p:txBody>
      </p:sp>
      <p:sp>
        <p:nvSpPr>
          <p:cNvPr id="33" name="R3_chip166"/>
          <p:cNvSpPr/>
          <p:nvPr/>
        </p:nvSpPr>
        <p:spPr>
          <a:xfrm>
            <a:off x="5806440" y="22402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head – annuire</a:t>
            </a:r>
            <a:endParaRPr lang="en-US" sz="1050" dirty="0"/>
          </a:p>
        </p:txBody>
      </p:sp>
      <p:sp>
        <p:nvSpPr>
          <p:cNvPr id="34" name="bd_167"/>
          <p:cNvSpPr/>
          <p:nvPr/>
        </p:nvSpPr>
        <p:spPr>
          <a:xfrm>
            <a:off x="3246120" y="267919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5" name="q_168"/>
          <p:cNvSpPr/>
          <p:nvPr/>
        </p:nvSpPr>
        <p:spPr>
          <a:xfrm>
            <a:off x="3630168" y="265176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</a:t>
            </a:r>
            <a:endParaRPr lang="en-US" sz="1150" dirty="0"/>
          </a:p>
        </p:txBody>
      </p:sp>
      <p:sp>
        <p:nvSpPr>
          <p:cNvPr id="36" name="R4_chip169"/>
          <p:cNvSpPr/>
          <p:nvPr/>
        </p:nvSpPr>
        <p:spPr>
          <a:xfrm>
            <a:off x="5806440" y="265176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finger – indicare</a:t>
            </a:r>
            <a:endParaRPr lang="en-US" sz="1050" dirty="0"/>
          </a:p>
        </p:txBody>
      </p:sp>
      <p:sp>
        <p:nvSpPr>
          <p:cNvPr id="37" name="bd_170"/>
          <p:cNvSpPr/>
          <p:nvPr/>
        </p:nvSpPr>
        <p:spPr>
          <a:xfrm>
            <a:off x="3246120" y="30906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8" name="q_171"/>
          <p:cNvSpPr/>
          <p:nvPr/>
        </p:nvSpPr>
        <p:spPr>
          <a:xfrm>
            <a:off x="3630168" y="306324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smell</a:t>
            </a:r>
            <a:endParaRPr lang="en-US" sz="1150" dirty="0"/>
          </a:p>
        </p:txBody>
      </p:sp>
      <p:sp>
        <p:nvSpPr>
          <p:cNvPr id="39" name="R5_chip172"/>
          <p:cNvSpPr/>
          <p:nvPr/>
        </p:nvSpPr>
        <p:spPr>
          <a:xfrm>
            <a:off x="5806440" y="306324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nose – annusare</a:t>
            </a:r>
            <a:endParaRPr lang="en-US" sz="1050" dirty="0"/>
          </a:p>
        </p:txBody>
      </p:sp>
      <p:sp>
        <p:nvSpPr>
          <p:cNvPr id="40" name="bd_173"/>
          <p:cNvSpPr/>
          <p:nvPr/>
        </p:nvSpPr>
        <p:spPr>
          <a:xfrm>
            <a:off x="3246120" y="350215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41" name="q_174"/>
          <p:cNvSpPr/>
          <p:nvPr/>
        </p:nvSpPr>
        <p:spPr>
          <a:xfrm>
            <a:off x="3630168" y="347472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150" dirty="0"/>
          </a:p>
        </p:txBody>
      </p:sp>
      <p:sp>
        <p:nvSpPr>
          <p:cNvPr id="42" name="R6_chip175"/>
          <p:cNvSpPr/>
          <p:nvPr/>
        </p:nvSpPr>
        <p:spPr>
          <a:xfrm>
            <a:off x="5806440" y="347472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eyes – fissare</a:t>
            </a:r>
            <a:endParaRPr lang="en-US" sz="1050" dirty="0"/>
          </a:p>
        </p:txBody>
      </p:sp>
      <p:sp>
        <p:nvSpPr>
          <p:cNvPr id="43" name="bd_176"/>
          <p:cNvSpPr/>
          <p:nvPr/>
        </p:nvSpPr>
        <p:spPr>
          <a:xfrm>
            <a:off x="3246120" y="391363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1000" dirty="0"/>
          </a:p>
        </p:txBody>
      </p:sp>
      <p:sp>
        <p:nvSpPr>
          <p:cNvPr id="44" name="q_177"/>
          <p:cNvSpPr/>
          <p:nvPr/>
        </p:nvSpPr>
        <p:spPr>
          <a:xfrm>
            <a:off x="3630168" y="388620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(silent t!)</a:t>
            </a:r>
            <a:endParaRPr lang="en-US" sz="1150" dirty="0"/>
          </a:p>
        </p:txBody>
      </p:sp>
      <p:sp>
        <p:nvSpPr>
          <p:cNvPr id="45" name="R7_chip178"/>
          <p:cNvSpPr/>
          <p:nvPr/>
        </p:nvSpPr>
        <p:spPr>
          <a:xfrm>
            <a:off x="5806440" y="388620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lips – fischiare</a:t>
            </a:r>
            <a:endParaRPr lang="en-US" sz="1050" dirty="0"/>
          </a:p>
        </p:txBody>
      </p:sp>
      <p:sp>
        <p:nvSpPr>
          <p:cNvPr id="46" name="bd_179"/>
          <p:cNvSpPr/>
          <p:nvPr/>
        </p:nvSpPr>
        <p:spPr>
          <a:xfrm>
            <a:off x="3246120" y="432511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1000" dirty="0"/>
          </a:p>
        </p:txBody>
      </p:sp>
      <p:sp>
        <p:nvSpPr>
          <p:cNvPr id="47" name="q_180"/>
          <p:cNvSpPr/>
          <p:nvPr/>
        </p:nvSpPr>
        <p:spPr>
          <a:xfrm>
            <a:off x="3630168" y="4297680"/>
            <a:ext cx="2103120" cy="36576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150" dirty="0"/>
          </a:p>
        </p:txBody>
      </p:sp>
      <p:sp>
        <p:nvSpPr>
          <p:cNvPr id="48" name="R8_chip181"/>
          <p:cNvSpPr/>
          <p:nvPr/>
        </p:nvSpPr>
        <p:spPr>
          <a:xfrm>
            <a:off x="5806440" y="4297680"/>
            <a:ext cx="3063240" cy="365760"/>
          </a:xfrm>
          <a:prstGeom prst="roundRect">
            <a:avLst>
              <a:gd name="adj" fmla="val 25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tongue / mouth – assaggiare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182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2800" dirty="0"/>
          </a:p>
        </p:txBody>
      </p:sp>
      <p:pic>
        <p:nvPicPr>
          <p:cNvPr id="4" name="brY_183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776118" cy="621792"/>
          </a:xfrm>
          <a:prstGeom prst="rect">
            <a:avLst/>
          </a:prstGeom>
        </p:spPr>
      </p:pic>
      <p:sp>
        <p:nvSpPr>
          <p:cNvPr id="5" name="title_184"/>
          <p:cNvSpPr/>
          <p:nvPr/>
        </p:nvSpPr>
        <p:spPr>
          <a:xfrm>
            <a:off x="1261872" y="164592"/>
            <a:ext cx="250179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Teacher says…</a:t>
            </a:r>
            <a:endParaRPr lang="en-US" sz="2500" dirty="0"/>
          </a:p>
        </p:txBody>
      </p:sp>
      <p:pic>
        <p:nvPicPr>
          <p:cNvPr id="6" name="brP_185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206240" cy="402336"/>
          </a:xfrm>
          <a:prstGeom prst="rect">
            <a:avLst/>
          </a:prstGeom>
        </p:spPr>
      </p:pic>
      <p:sp>
        <p:nvSpPr>
          <p:cNvPr id="7" name="ins_186"/>
          <p:cNvSpPr/>
          <p:nvPr/>
        </p:nvSpPr>
        <p:spPr>
          <a:xfrm>
            <a:off x="1353312" y="731520"/>
            <a:ext cx="39502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up! Listen and DO it. Don't speak!</a:t>
            </a:r>
            <a:endParaRPr lang="en-US" sz="1250" dirty="0"/>
          </a:p>
        </p:txBody>
      </p:sp>
      <p:sp>
        <p:nvSpPr>
          <p:cNvPr id="8" name="insIT_187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 piedi! Ascolta e FALLO. Non parlare!</a:t>
            </a:r>
            <a:endParaRPr lang="en-US" sz="950" dirty="0"/>
          </a:p>
        </p:txBody>
      </p:sp>
      <p:sp>
        <p:nvSpPr>
          <p:cNvPr id="9" name="cmd_188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cmd_189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1" name="meta_190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🙋 whole class</a:t>
            </a:r>
            <a:endParaRPr lang="en-US" sz="950" dirty="0"/>
          </a:p>
        </p:txBody>
      </p:sp>
      <p:sp>
        <p:nvSpPr>
          <p:cNvPr id="12" name="tag_191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3" name="logo_192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193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Teacher says!   ·   📖 SB p.62 · 3c · audio 6.16</a:t>
            </a:r>
            <a:endParaRPr lang="en-US" sz="800" dirty="0"/>
          </a:p>
        </p:txBody>
      </p:sp>
      <p:sp>
        <p:nvSpPr>
          <p:cNvPr id="15" name="cd_194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195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196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197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audio and DO the action.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l'audio e fai l'azione.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Then: 'Teacher says…' – only move if you hear 'Teacher says'!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Poi: muoviti solo se senti 'Teacher says'!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Wrong move? Sit down. The last person standing wins!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Sbagli? Siediti. Vince l'ultimo in piedi!</a:t>
            </a:r>
            <a:endParaRPr lang="en-US" sz="900" dirty="0"/>
          </a:p>
        </p:txBody>
      </p:sp>
      <p:sp>
        <p:nvSpPr>
          <p:cNvPr id="19" name="ap_198"/>
          <p:cNvSpPr/>
          <p:nvPr/>
        </p:nvSpPr>
        <p:spPr>
          <a:xfrm>
            <a:off x="365760" y="4114800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6.16</a:t>
            </a:r>
            <a:endParaRPr lang="en-US" sz="1100" dirty="0"/>
          </a:p>
        </p:txBody>
      </p:sp>
      <p:sp>
        <p:nvSpPr>
          <p:cNvPr id="20" name="ah_199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1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2" name="ah_200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4" name="bd_201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5" name="gq_202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clap your hands!</a:t>
            </a:r>
            <a:endParaRPr lang="en-US" sz="1250" dirty="0"/>
          </a:p>
        </p:txBody>
      </p:sp>
      <p:sp>
        <p:nvSpPr>
          <p:cNvPr id="26" name="R1_chip203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👏</a:t>
            </a:r>
            <a:endParaRPr lang="en-US" sz="1200" dirty="0"/>
          </a:p>
        </p:txBody>
      </p:sp>
      <p:sp>
        <p:nvSpPr>
          <p:cNvPr id="27" name="bd_204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gq_205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nod your head!</a:t>
            </a:r>
            <a:endParaRPr lang="en-US" sz="1250" dirty="0"/>
          </a:p>
        </p:txBody>
      </p:sp>
      <p:sp>
        <p:nvSpPr>
          <p:cNvPr id="29" name="R2_chip206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🙂↕️</a:t>
            </a:r>
            <a:endParaRPr lang="en-US" sz="1200" dirty="0"/>
          </a:p>
        </p:txBody>
      </p:sp>
      <p:sp>
        <p:nvSpPr>
          <p:cNvPr id="30" name="bd_207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31" name="gq_208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 at the board!</a:t>
            </a:r>
            <a:endParaRPr lang="en-US" sz="1250" dirty="0"/>
          </a:p>
        </p:txBody>
      </p:sp>
      <p:sp>
        <p:nvSpPr>
          <p:cNvPr id="32" name="R3_chip209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no 'Teacher says' – sit down!</a:t>
            </a:r>
            <a:endParaRPr lang="en-US" sz="1200" dirty="0"/>
          </a:p>
        </p:txBody>
      </p:sp>
      <p:sp>
        <p:nvSpPr>
          <p:cNvPr id="33" name="bd_210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34" name="gq_211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touch your knees!</a:t>
            </a:r>
            <a:endParaRPr lang="en-US" sz="1250" dirty="0"/>
          </a:p>
        </p:txBody>
      </p:sp>
      <p:sp>
        <p:nvSpPr>
          <p:cNvPr id="35" name="R4_chip212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🦵</a:t>
            </a:r>
            <a:endParaRPr lang="en-US" sz="1200" dirty="0"/>
          </a:p>
        </p:txBody>
      </p:sp>
      <p:sp>
        <p:nvSpPr>
          <p:cNvPr id="36" name="bd_213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7" name="gq_214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Teacher says: stare at your partner!</a:t>
            </a:r>
            <a:endParaRPr lang="en-US" sz="1250" dirty="0"/>
          </a:p>
        </p:txBody>
      </p:sp>
      <p:sp>
        <p:nvSpPr>
          <p:cNvPr id="38" name="R5_chip215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👀</a:t>
            </a:r>
            <a:endParaRPr lang="en-US" sz="1200" dirty="0"/>
          </a:p>
        </p:txBody>
      </p:sp>
      <p:sp>
        <p:nvSpPr>
          <p:cNvPr id="39" name="bd_216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40" name="gq_217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a song!</a:t>
            </a:r>
            <a:endParaRPr lang="en-US" sz="1250" dirty="0"/>
          </a:p>
        </p:txBody>
      </p:sp>
      <p:sp>
        <p:nvSpPr>
          <p:cNvPr id="41" name="R6_chip218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✗ sit down!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1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7</a:t>
            </a:r>
            <a:endParaRPr lang="en-US" sz="2800" dirty="0"/>
          </a:p>
        </p:txBody>
      </p:sp>
      <p:pic>
        <p:nvPicPr>
          <p:cNvPr id="4" name="brY_22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21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①</a:t>
            </a:r>
            <a:endParaRPr lang="en-US" sz="2500" dirty="0"/>
          </a:p>
        </p:txBody>
      </p:sp>
      <p:pic>
        <p:nvPicPr>
          <p:cNvPr id="6" name="brP_22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223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Say the word. Which sound is it?</a:t>
            </a:r>
            <a:endParaRPr lang="en-US" sz="1250" dirty="0"/>
          </a:p>
        </p:txBody>
      </p:sp>
      <p:sp>
        <p:nvSpPr>
          <p:cNvPr id="8" name="insIT_22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Di' la parola. Quale suono è?</a:t>
            </a:r>
            <a:endParaRPr lang="en-US" sz="950" dirty="0"/>
          </a:p>
        </p:txBody>
      </p:sp>
      <p:sp>
        <p:nvSpPr>
          <p:cNvPr id="9" name="cmd_22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cmd_226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950" dirty="0"/>
          </a:p>
        </p:txBody>
      </p:sp>
      <p:sp>
        <p:nvSpPr>
          <p:cNvPr id="11" name="meta_227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228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3" name="logo_229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30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(two sounds in one)   ·   📖 SB p.62 · 4a–4c · audio 6.17, 6.18</a:t>
            </a:r>
            <a:endParaRPr lang="en-US" sz="800" dirty="0"/>
          </a:p>
        </p:txBody>
      </p:sp>
      <p:sp>
        <p:nvSpPr>
          <p:cNvPr id="15" name="cd_231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32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33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ap_234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6.17 + 6.18</a:t>
            </a:r>
            <a:endParaRPr lang="en-US" sz="1100" dirty="0"/>
          </a:p>
        </p:txBody>
      </p:sp>
      <p:sp>
        <p:nvSpPr>
          <p:cNvPr id="19" name="ah_235"/>
          <p:cNvSpPr/>
          <p:nvPr/>
        </p:nvSpPr>
        <p:spPr>
          <a:xfrm>
            <a:off x="363016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4681728" y="4553712"/>
            <a:ext cx="411480" cy="411480"/>
          </a:xfrm>
          <a:prstGeom prst="rect">
            <a:avLst/>
          </a:prstGeom>
        </p:spPr>
      </p:pic>
      <p:pic>
        <p:nvPicPr>
          <p:cNvPr id="21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5184648" y="4553712"/>
            <a:ext cx="411480" cy="411480"/>
          </a:xfrm>
          <a:prstGeom prst="rect">
            <a:avLst/>
          </a:prstGeom>
        </p:spPr>
      </p:pic>
      <p:sp>
        <p:nvSpPr>
          <p:cNvPr id="22" name="ah_236"/>
          <p:cNvSpPr/>
          <p:nvPr/>
        </p:nvSpPr>
        <p:spPr>
          <a:xfrm>
            <a:off x="696772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3" name="Media 2">
            <a:hlinkClick r:id="" action="ppaction://media"/>
          </p:cNvPr>
          <p:cNvPicPr>
            <a:picLocks noChangeAspect="1"/>
          </p:cNvPicPr>
          <p:nvPr>
            <a:audioFile r:link="rId11"/>
            <p:extLst>
              <p:ext uri="{DAA4B4D4-6D71-4841-9C94-3DE7FCFB9230}">
                <p14:media xmlns:p14="http://schemas.microsoft.com/office/powerpoint/2010/main" r:embed="rId12"/>
              </p:ext>
            </p:extLst>
          </p:nvPr>
        </p:nvPicPr>
        <p:blipFill>
          <a:blip r:embed="rId13"/>
          <a:stretch>
            <a:fillRect/>
          </a:stretch>
        </p:blipFill>
        <p:spPr>
          <a:xfrm>
            <a:off x="7973568" y="4553712"/>
            <a:ext cx="411480" cy="411480"/>
          </a:xfrm>
          <a:prstGeom prst="rect">
            <a:avLst/>
          </a:prstGeom>
        </p:spPr>
      </p:pic>
      <p:pic>
        <p:nvPicPr>
          <p:cNvPr id="24" name="Media 3">
            <a:hlinkClick r:id="" action="ppaction://media"/>
          </p:cNvPr>
          <p:cNvPicPr>
            <a:picLocks noChangeAspect="1"/>
          </p:cNvPicPr>
          <p:nvPr>
            <a:audioFile r:link="rId14"/>
            <p:extLst>
              <p:ext uri="{DAA4B4D4-6D71-4841-9C94-3DE7FCFB9230}">
                <p14:media xmlns:p14="http://schemas.microsoft.com/office/powerpoint/2010/main" r:embed="rId15"/>
              </p:ext>
            </p:extLst>
          </p:nvPr>
        </p:nvPicPr>
        <p:blipFill>
          <a:blip r:embed="rId16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5" name="lg_237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6" name="lg_238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7" name="lg_239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8" name="lg_240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9" name="lg_241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30" name="sq_242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</a:t>
            </a:r>
            <a:endParaRPr lang="en-US" sz="1200" dirty="0"/>
          </a:p>
        </p:txBody>
      </p:sp>
      <p:sp>
        <p:nvSpPr>
          <p:cNvPr id="31" name="R1_tag243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2" name="sq_244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face</a:t>
            </a:r>
            <a:endParaRPr lang="en-US" sz="1200" dirty="0"/>
          </a:p>
        </p:txBody>
      </p:sp>
      <p:sp>
        <p:nvSpPr>
          <p:cNvPr id="33" name="R2_tag245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4" name="sq_246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nose</a:t>
            </a:r>
            <a:endParaRPr lang="en-US" sz="1200" dirty="0"/>
          </a:p>
        </p:txBody>
      </p:sp>
      <p:sp>
        <p:nvSpPr>
          <p:cNvPr id="35" name="R3_tag247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6" name="sq_248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mouth</a:t>
            </a:r>
            <a:endParaRPr lang="en-US" sz="1200" dirty="0"/>
          </a:p>
        </p:txBody>
      </p:sp>
      <p:sp>
        <p:nvSpPr>
          <p:cNvPr id="37" name="R4_tag249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150" dirty="0"/>
          </a:p>
        </p:txBody>
      </p:sp>
      <p:sp>
        <p:nvSpPr>
          <p:cNvPr id="38" name="sq_250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hair</a:t>
            </a:r>
            <a:endParaRPr lang="en-US" sz="1200" dirty="0"/>
          </a:p>
        </p:txBody>
      </p:sp>
      <p:sp>
        <p:nvSpPr>
          <p:cNvPr id="39" name="R5_tag251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40" name="sq_252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eyes</a:t>
            </a:r>
            <a:endParaRPr lang="en-US" sz="1200" dirty="0"/>
          </a:p>
        </p:txBody>
      </p:sp>
      <p:sp>
        <p:nvSpPr>
          <p:cNvPr id="41" name="R6_tag253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1"/>
                  </p:tgtEl>
                </p:cond>
              </p:nextCondLst>
            </p:seq>
            <p:seq concurrent="1" nextAc="seek">
              <p:cTn id="43" restart="whenNotActive" fill="hold" evtFilter="cancelBubble" nodeType="interactiveSeq">
                <p:stCondLst>
                  <p:cond evt="onClick" delay="0">
                    <p:tgtEl>
                      <p:spTgt spid="2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4" fill="hold">
                      <p:stCondLst>
                        <p:cond delay="0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7" dur="1" fill="hold"/>
                                        <p:tgtEl>
                                          <p:spTgt spid="2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3"/>
                  </p:tgtEl>
                </p:cond>
              </p:nextCondLst>
            </p:seq>
            <p:seq concurrent="1" nextAc="seek">
              <p:cTn id="48" restart="whenNotActive" fill="hold" evtFilter="cancelBubble" nodeType="interactiveSeq">
                <p:stCondLst>
                  <p:cond evt="onClick" delay="0">
                    <p:tgtEl>
                      <p:spTgt spid="2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49" fill="hold">
                      <p:stCondLst>
                        <p:cond delay="0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2" dur="1" fill="hold"/>
                                        <p:tgtEl>
                                          <p:spTgt spid="2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4"/>
                  </p:tgtEl>
                </p:cond>
              </p:nextCondLst>
            </p:seq>
            <p:audio>
              <p:cMediaNode vol="80000">
                <p:cTn id="5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5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1"/>
                </p:tgtEl>
              </p:cMediaNode>
            </p:audio>
            <p:audio>
              <p:cMediaNode vol="80000">
                <p:cTn id="55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3"/>
                </p:tgtEl>
              </p:cMediaNode>
            </p:audio>
            <p:audio>
              <p:cMediaNode vol="80000">
                <p:cTn id="56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4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5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8</a:t>
            </a:r>
            <a:endParaRPr lang="en-US" sz="2800" dirty="0"/>
          </a:p>
        </p:txBody>
      </p:sp>
      <p:pic>
        <p:nvPicPr>
          <p:cNvPr id="4" name="brY_25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256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Two sounds in one ②</a:t>
            </a:r>
            <a:endParaRPr lang="en-US" sz="2500" dirty="0"/>
          </a:p>
        </p:txBody>
      </p:sp>
      <p:pic>
        <p:nvPicPr>
          <p:cNvPr id="6" name="brP_25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119372" cy="402336"/>
          </a:xfrm>
          <a:prstGeom prst="rect">
            <a:avLst/>
          </a:prstGeom>
        </p:spPr>
      </p:pic>
      <p:sp>
        <p:nvSpPr>
          <p:cNvPr id="7" name="ins_258"/>
          <p:cNvSpPr/>
          <p:nvPr/>
        </p:nvSpPr>
        <p:spPr>
          <a:xfrm>
            <a:off x="1353312" y="731520"/>
            <a:ext cx="38633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Now these words. Then listen and check!</a:t>
            </a:r>
            <a:endParaRPr lang="en-US" sz="1250" dirty="0"/>
          </a:p>
        </p:txBody>
      </p:sp>
      <p:sp>
        <p:nvSpPr>
          <p:cNvPr id="8" name="insIT_25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queste parole. Poi ascolta e controlla!</a:t>
            </a:r>
            <a:endParaRPr lang="en-US" sz="950" dirty="0"/>
          </a:p>
        </p:txBody>
      </p:sp>
      <p:sp>
        <p:nvSpPr>
          <p:cNvPr id="9" name="cmd_26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🔊 </a:t>
            </a:r>
            <a:pPr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SAY IT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PRONUNCIA</a:t>
            </a:r>
            <a:endParaRPr lang="en-US" sz="950" dirty="0"/>
          </a:p>
        </p:txBody>
      </p:sp>
      <p:sp>
        <p:nvSpPr>
          <p:cNvPr id="10" name="cmd_261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1" name="meta_262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2" name="tag_263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Pronunciation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3" name="logo_26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26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Pronunciation · diphthongs   ·   📖 SB p.62 · 4b, 4c · audio 6.18</a:t>
            </a:r>
            <a:endParaRPr lang="en-US" sz="800" dirty="0"/>
          </a:p>
        </p:txBody>
      </p:sp>
      <p:sp>
        <p:nvSpPr>
          <p:cNvPr id="15" name="cd_266"/>
          <p:cNvSpPr/>
          <p:nvPr/>
        </p:nvSpPr>
        <p:spPr>
          <a:xfrm>
            <a:off x="320040" y="1417320"/>
            <a:ext cx="2697480" cy="2295144"/>
          </a:xfrm>
          <a:prstGeom prst="roundRect">
            <a:avLst>
              <a:gd name="adj" fmla="val 5578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267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268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 sounds</a:t>
            </a:r>
            <a:endParaRPr lang="en-US" sz="1300" dirty="0"/>
          </a:p>
        </p:txBody>
      </p:sp>
      <p:sp>
        <p:nvSpPr>
          <p:cNvPr id="18" name="ap_269"/>
          <p:cNvSpPr/>
          <p:nvPr/>
        </p:nvSpPr>
        <p:spPr>
          <a:xfrm>
            <a:off x="365760" y="3849624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6.18</a:t>
            </a:r>
            <a:endParaRPr lang="en-US" sz="1100" dirty="0"/>
          </a:p>
        </p:txBody>
      </p:sp>
      <p:sp>
        <p:nvSpPr>
          <p:cNvPr id="19" name="ah_270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271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lg_272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050" dirty="0"/>
          </a:p>
        </p:txBody>
      </p:sp>
      <p:sp>
        <p:nvSpPr>
          <p:cNvPr id="24" name="lg_273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050" dirty="0"/>
          </a:p>
        </p:txBody>
      </p:sp>
      <p:sp>
        <p:nvSpPr>
          <p:cNvPr id="25" name="lg_274"/>
          <p:cNvSpPr/>
          <p:nvPr/>
        </p:nvSpPr>
        <p:spPr>
          <a:xfrm>
            <a:off x="457200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050" dirty="0"/>
          </a:p>
        </p:txBody>
      </p:sp>
      <p:sp>
        <p:nvSpPr>
          <p:cNvPr id="26" name="lg_275"/>
          <p:cNvSpPr/>
          <p:nvPr/>
        </p:nvSpPr>
        <p:spPr>
          <a:xfrm>
            <a:off x="1719072" y="2368296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0A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/aʊ/ owl</a:t>
            </a:r>
            <a:endParaRPr lang="en-US" sz="1050" dirty="0"/>
          </a:p>
        </p:txBody>
      </p:sp>
      <p:sp>
        <p:nvSpPr>
          <p:cNvPr id="27" name="lg_276"/>
          <p:cNvSpPr/>
          <p:nvPr/>
        </p:nvSpPr>
        <p:spPr>
          <a:xfrm>
            <a:off x="457200" y="2752344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050" dirty="0"/>
          </a:p>
        </p:txBody>
      </p:sp>
      <p:sp>
        <p:nvSpPr>
          <p:cNvPr id="28" name="sq_277"/>
          <p:cNvSpPr/>
          <p:nvPr/>
        </p:nvSpPr>
        <p:spPr>
          <a:xfrm>
            <a:off x="3246120" y="141732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taste</a:t>
            </a:r>
            <a:endParaRPr lang="en-US" sz="1200" dirty="0"/>
          </a:p>
        </p:txBody>
      </p:sp>
      <p:sp>
        <p:nvSpPr>
          <p:cNvPr id="29" name="R1_tag278"/>
          <p:cNvSpPr/>
          <p:nvPr/>
        </p:nvSpPr>
        <p:spPr>
          <a:xfrm>
            <a:off x="7178040" y="141732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E6F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/eɪ/ train</a:t>
            </a:r>
            <a:endParaRPr lang="en-US" sz="1150" dirty="0"/>
          </a:p>
        </p:txBody>
      </p:sp>
      <p:sp>
        <p:nvSpPr>
          <p:cNvPr id="30" name="sq_279"/>
          <p:cNvSpPr/>
          <p:nvPr/>
        </p:nvSpPr>
        <p:spPr>
          <a:xfrm>
            <a:off x="3246120" y="1956816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endParaRPr lang="en-US" sz="1200" dirty="0"/>
          </a:p>
        </p:txBody>
      </p:sp>
      <p:sp>
        <p:nvSpPr>
          <p:cNvPr id="31" name="R2_tag280"/>
          <p:cNvSpPr/>
          <p:nvPr/>
        </p:nvSpPr>
        <p:spPr>
          <a:xfrm>
            <a:off x="7178040" y="1956816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2" name="sq_281"/>
          <p:cNvSpPr/>
          <p:nvPr/>
        </p:nvSpPr>
        <p:spPr>
          <a:xfrm>
            <a:off x="3246120" y="2496312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smile</a:t>
            </a:r>
            <a:endParaRPr lang="en-US" sz="1200" dirty="0"/>
          </a:p>
        </p:txBody>
      </p:sp>
      <p:sp>
        <p:nvSpPr>
          <p:cNvPr id="33" name="R3_tag282"/>
          <p:cNvSpPr/>
          <p:nvPr/>
        </p:nvSpPr>
        <p:spPr>
          <a:xfrm>
            <a:off x="7178040" y="2496312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/aɪ/ bike</a:t>
            </a:r>
            <a:endParaRPr lang="en-US" sz="1150" dirty="0"/>
          </a:p>
        </p:txBody>
      </p:sp>
      <p:sp>
        <p:nvSpPr>
          <p:cNvPr id="34" name="sq_283"/>
          <p:cNvSpPr/>
          <p:nvPr/>
        </p:nvSpPr>
        <p:spPr>
          <a:xfrm>
            <a:off x="3246120" y="3035808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</a:t>
            </a:r>
            <a:endParaRPr lang="en-US" sz="1200" dirty="0"/>
          </a:p>
        </p:txBody>
      </p:sp>
      <p:sp>
        <p:nvSpPr>
          <p:cNvPr id="35" name="R4_tag284"/>
          <p:cNvSpPr/>
          <p:nvPr/>
        </p:nvSpPr>
        <p:spPr>
          <a:xfrm>
            <a:off x="7178040" y="3035808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E2D9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/eə/ chair</a:t>
            </a:r>
            <a:endParaRPr lang="en-US" sz="1150" dirty="0"/>
          </a:p>
        </p:txBody>
      </p:sp>
      <p:sp>
        <p:nvSpPr>
          <p:cNvPr id="36" name="sq_285"/>
          <p:cNvSpPr/>
          <p:nvPr/>
        </p:nvSpPr>
        <p:spPr>
          <a:xfrm>
            <a:off x="3246120" y="3575304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throw</a:t>
            </a:r>
            <a:endParaRPr lang="en-US" sz="1200" dirty="0"/>
          </a:p>
        </p:txBody>
      </p:sp>
      <p:sp>
        <p:nvSpPr>
          <p:cNvPr id="37" name="R5_tag286"/>
          <p:cNvSpPr/>
          <p:nvPr/>
        </p:nvSpPr>
        <p:spPr>
          <a:xfrm>
            <a:off x="7178040" y="3575304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  <p:sp>
        <p:nvSpPr>
          <p:cNvPr id="38" name="sq_287"/>
          <p:cNvSpPr/>
          <p:nvPr/>
        </p:nvSpPr>
        <p:spPr>
          <a:xfrm>
            <a:off x="3246120" y="4114800"/>
            <a:ext cx="384048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endParaRPr lang="en-US" sz="1200" dirty="0"/>
          </a:p>
        </p:txBody>
      </p:sp>
      <p:sp>
        <p:nvSpPr>
          <p:cNvPr id="39" name="R6_tag288"/>
          <p:cNvSpPr/>
          <p:nvPr/>
        </p:nvSpPr>
        <p:spPr>
          <a:xfrm>
            <a:off x="7178040" y="4114800"/>
            <a:ext cx="1691640" cy="475488"/>
          </a:xfrm>
          <a:prstGeom prst="roundRect">
            <a:avLst>
              <a:gd name="adj" fmla="val 4807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/əʊ/ phone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3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4" fill="hold">
                      <p:stCondLst>
                        <p:cond delay="0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3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9" fill="hold">
                      <p:stCondLst>
                        <p:cond delay="0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4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4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4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289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9</a:t>
            </a:r>
            <a:endParaRPr lang="en-US" sz="2800" dirty="0"/>
          </a:p>
        </p:txBody>
      </p:sp>
      <p:pic>
        <p:nvPicPr>
          <p:cNvPr id="4" name="brY_290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506163" cy="621792"/>
          </a:xfrm>
          <a:prstGeom prst="rect">
            <a:avLst/>
          </a:prstGeom>
        </p:spPr>
      </p:pic>
      <p:sp>
        <p:nvSpPr>
          <p:cNvPr id="5" name="title_291"/>
          <p:cNvSpPr/>
          <p:nvPr/>
        </p:nvSpPr>
        <p:spPr>
          <a:xfrm>
            <a:off x="1261872" y="164592"/>
            <a:ext cx="423184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your body say?</a:t>
            </a:r>
            <a:endParaRPr lang="en-US" sz="2400" dirty="0"/>
          </a:p>
        </p:txBody>
      </p:sp>
      <p:pic>
        <p:nvPicPr>
          <p:cNvPr id="6" name="brP_292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814316" cy="402336"/>
          </a:xfrm>
          <a:prstGeom prst="rect">
            <a:avLst/>
          </a:prstGeom>
        </p:spPr>
      </p:pic>
      <p:sp>
        <p:nvSpPr>
          <p:cNvPr id="7" name="ins_293"/>
          <p:cNvSpPr/>
          <p:nvPr/>
        </p:nvSpPr>
        <p:spPr>
          <a:xfrm>
            <a:off x="1353312" y="731520"/>
            <a:ext cx="45582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and answer with a partner. Use the phrases!</a:t>
            </a:r>
            <a:endParaRPr lang="en-US" sz="1250" dirty="0"/>
          </a:p>
        </p:txBody>
      </p:sp>
      <p:sp>
        <p:nvSpPr>
          <p:cNvPr id="8" name="insIT_294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Fai domande e rispondi con un compagno. Usa le frasi!</a:t>
            </a:r>
            <a:endParaRPr lang="en-US" sz="950" dirty="0"/>
          </a:p>
        </p:txBody>
      </p:sp>
      <p:sp>
        <p:nvSpPr>
          <p:cNvPr id="9" name="cmd_295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296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1" name="tag_297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2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2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body language and you   ·   📖 Personalisation before reading (PQA)</a:t>
            </a:r>
            <a:endParaRPr lang="en-US" sz="800" dirty="0"/>
          </a:p>
        </p:txBody>
      </p:sp>
      <p:sp>
        <p:nvSpPr>
          <p:cNvPr id="14" name="pf_300"/>
          <p:cNvSpPr/>
          <p:nvPr/>
        </p:nvSpPr>
        <p:spPr>
          <a:xfrm rot="-120000">
            <a:off x="320040" y="1371600"/>
            <a:ext cx="278892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301" descr="/home/claude/lls-course/v2/cache/4a2_meet_parents_jpg_649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234440"/>
          </a:xfrm>
          <a:prstGeom prst="rect">
            <a:avLst/>
          </a:prstGeom>
        </p:spPr>
      </p:pic>
      <p:sp>
        <p:nvSpPr>
          <p:cNvPr id="16" name="cd_302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303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304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305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I'm nervous, I usually…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(don't) make eye contact when…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… has charisma because…</a:t>
            </a:r>
            <a:endParaRPr lang="en-US" sz="10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0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 too! / Really? I don't.</a:t>
            </a:r>
            <a:endParaRPr lang="en-US" sz="1000" dirty="0"/>
          </a:p>
        </p:txBody>
      </p:sp>
      <p:sp>
        <p:nvSpPr>
          <p:cNvPr id="20" name="R1_qb306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307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smile a lot when you meet new people?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Yes, but only when I'm not nervous.</a:t>
            </a:r>
            <a:endParaRPr lang="en-US" sz="1250" dirty="0"/>
          </a:p>
        </p:txBody>
      </p:sp>
      <p:sp>
        <p:nvSpPr>
          <p:cNvPr id="22" name="R2_qb308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309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When do you cross your arms?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When I'm cold – or bored!</a:t>
            </a:r>
            <a:endParaRPr lang="en-US" sz="1250" dirty="0"/>
          </a:p>
        </p:txBody>
      </p:sp>
      <p:sp>
        <p:nvSpPr>
          <p:cNvPr id="24" name="R3_qb310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311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look people in the eye when you talk to a teacher?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Not really, I usually look down.</a:t>
            </a:r>
            <a:endParaRPr lang="en-US" sz="1250" dirty="0"/>
          </a:p>
        </p:txBody>
      </p:sp>
      <p:sp>
        <p:nvSpPr>
          <p:cNvPr id="26" name="R4_qb312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313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do YOU do with your hands when you're nervous?</a:t>
            </a:r>
            <a:endParaRPr lang="en-US" sz="1250" dirty="0"/>
          </a:p>
          <a:p>
            <a:pPr indent="0" marL="0">
              <a:buNone/>
            </a:pPr>
            <a:r>
              <a:rPr lang="en-US" sz="10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touch my hair all the time.</a:t>
            </a:r>
            <a:endParaRPr lang="en-US" sz="12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1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10</a:t>
            </a:r>
            <a:endParaRPr lang="en-US" sz="2200" dirty="0"/>
          </a:p>
        </p:txBody>
      </p:sp>
      <p:pic>
        <p:nvPicPr>
          <p:cNvPr id="4" name="brY_31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247949" cy="621792"/>
          </a:xfrm>
          <a:prstGeom prst="rect">
            <a:avLst/>
          </a:prstGeom>
        </p:spPr>
      </p:pic>
      <p:sp>
        <p:nvSpPr>
          <p:cNvPr id="5" name="title_316"/>
          <p:cNvSpPr/>
          <p:nvPr/>
        </p:nvSpPr>
        <p:spPr>
          <a:xfrm>
            <a:off x="1261872" y="164592"/>
            <a:ext cx="297362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Dario's big solo</a:t>
            </a:r>
            <a:endParaRPr lang="en-US" sz="2500" dirty="0"/>
          </a:p>
        </p:txBody>
      </p:sp>
      <p:pic>
        <p:nvPicPr>
          <p:cNvPr id="6" name="brP_31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18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 to the story. Answer the questions!</a:t>
            </a:r>
            <a:endParaRPr lang="en-US" sz="1250" dirty="0"/>
          </a:p>
        </p:txBody>
      </p:sp>
      <p:sp>
        <p:nvSpPr>
          <p:cNvPr id="8" name="insIT_31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Ascolta la storia. Rispondi alle domande!</a:t>
            </a:r>
            <a:endParaRPr lang="en-US" sz="950" dirty="0"/>
          </a:p>
        </p:txBody>
      </p:sp>
      <p:sp>
        <p:nvSpPr>
          <p:cNvPr id="9" name="cmd_32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cmd_321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1" name="meta_322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323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story</a:t>
            </a:r>
            <a:endParaRPr lang="en-US" sz="850" dirty="0"/>
          </a:p>
        </p:txBody>
      </p:sp>
      <p:pic>
        <p:nvPicPr>
          <p:cNvPr id="13" name="logo_32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32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class story (TPRS)</a:t>
            </a:r>
            <a:endParaRPr lang="en-US" sz="800" dirty="0"/>
          </a:p>
        </p:txBody>
      </p:sp>
      <p:sp>
        <p:nvSpPr>
          <p:cNvPr id="15" name="pf_326"/>
          <p:cNvSpPr/>
          <p:nvPr/>
        </p:nvSpPr>
        <p:spPr>
          <a:xfrm rot="-90000">
            <a:off x="411480" y="1417320"/>
            <a:ext cx="2560320" cy="1280160"/>
          </a:xfrm>
          <a:prstGeom prst="roundRect">
            <a:avLst>
              <a:gd name="adj" fmla="val 1214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6" name="ph_327" descr="/home/claude/lls-course/v2/cache/6B_2_people_jpg_594x286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57200" y="1463040"/>
            <a:ext cx="2468880" cy="1188720"/>
          </a:xfrm>
          <a:prstGeom prst="rect">
            <a:avLst/>
          </a:prstGeom>
        </p:spPr>
      </p:pic>
      <p:sp>
        <p:nvSpPr>
          <p:cNvPr id="17" name="cd_328"/>
          <p:cNvSpPr/>
          <p:nvPr/>
        </p:nvSpPr>
        <p:spPr>
          <a:xfrm>
            <a:off x="320040" y="2834640"/>
            <a:ext cx="2697480" cy="1920240"/>
          </a:xfrm>
          <a:prstGeom prst="roundRect">
            <a:avLst>
              <a:gd name="adj" fmla="val 6667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329"/>
          <p:cNvSpPr/>
          <p:nvPr/>
        </p:nvSpPr>
        <p:spPr>
          <a:xfrm>
            <a:off x="411480" y="2907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🔑</a:t>
            </a:r>
            <a:endParaRPr lang="en-US" sz="2200" dirty="0"/>
          </a:p>
        </p:txBody>
      </p:sp>
      <p:sp>
        <p:nvSpPr>
          <p:cNvPr id="19" name="ih_330"/>
          <p:cNvSpPr/>
          <p:nvPr/>
        </p:nvSpPr>
        <p:spPr>
          <a:xfrm>
            <a:off x="886968" y="292608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Story phrases</a:t>
            </a:r>
            <a:endParaRPr lang="en-US" sz="1300" dirty="0"/>
          </a:p>
        </p:txBody>
      </p:sp>
      <p:sp>
        <p:nvSpPr>
          <p:cNvPr id="20" name="il_331"/>
          <p:cNvSpPr/>
          <p:nvPr/>
        </p:nvSpPr>
        <p:spPr>
          <a:xfrm>
            <a:off x="886968" y="3328416"/>
            <a:ext cx="2039112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 (your nails)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mangiarsi (le unghie)</a:t>
            </a:r>
            <a:endParaRPr lang="en-US" sz="7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 · stomach · toes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ginocchia · stomaco · dita dei piedi</a:t>
            </a:r>
            <a:endParaRPr lang="en-US" sz="7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 · lips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fischiare · labbra</a:t>
            </a:r>
            <a:endParaRPr lang="en-US" sz="7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 at · point at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fissare · indicare</a:t>
            </a:r>
            <a:endParaRPr lang="en-US" sz="7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 · nod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applaudire · annuire</a:t>
            </a:r>
            <a:endParaRPr lang="en-US" sz="7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· shoulders</a:t>
            </a:r>
            <a:endParaRPr lang="en-US" sz="7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7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mento · spalle</a:t>
            </a:r>
            <a:endParaRPr lang="en-US" sz="700" dirty="0"/>
          </a:p>
        </p:txBody>
      </p:sp>
      <p:sp>
        <p:nvSpPr>
          <p:cNvPr id="21" name="R1_sb332"/>
          <p:cNvSpPr/>
          <p:nvPr/>
        </p:nvSpPr>
        <p:spPr>
          <a:xfrm>
            <a:off x="3200400" y="145389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R1_sl333"/>
          <p:cNvSpPr/>
          <p:nvPr/>
        </p:nvSpPr>
        <p:spPr>
          <a:xfrm>
            <a:off x="3584448" y="14173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has a trumpet solo at the school concert. He's so nervous he </a:t>
            </a:r>
            <a:pPr indent="0" marL="0">
              <a:buNone/>
            </a:pPr>
            <a:r>
              <a:rPr lang="en-US" sz="9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bites</a:t>
            </a:r>
            <a:pPr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nails.</a:t>
            </a:r>
            <a:endParaRPr lang="en-US" sz="900" dirty="0"/>
          </a:p>
          <a:p>
            <a:pPr indent="0" marL="0">
              <a:buNone/>
            </a:pPr>
            <a:r>
              <a:rPr lang="en-US" sz="7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nervous or relaxed? · What does he bite?</a:t>
            </a:r>
            <a:endParaRPr lang="en-US" sz="900" dirty="0"/>
          </a:p>
        </p:txBody>
      </p:sp>
      <p:sp>
        <p:nvSpPr>
          <p:cNvPr id="23" name="R2_sb334"/>
          <p:cNvSpPr/>
          <p:nvPr/>
        </p:nvSpPr>
        <p:spPr>
          <a:xfrm>
            <a:off x="3200400" y="201777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R2_sl335"/>
          <p:cNvSpPr/>
          <p:nvPr/>
        </p:nvSpPr>
        <p:spPr>
          <a:xfrm>
            <a:off x="3584448" y="198120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knees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shake and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stomach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hurts. He can't feel his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toes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 his knees shake? · What hurts – his head or his stomach?</a:t>
            </a:r>
            <a:endParaRPr lang="en-US" sz="1150" dirty="0"/>
          </a:p>
        </p:txBody>
      </p:sp>
      <p:sp>
        <p:nvSpPr>
          <p:cNvPr id="25" name="R3_sb336"/>
          <p:cNvSpPr/>
          <p:nvPr/>
        </p:nvSpPr>
        <p:spPr>
          <a:xfrm>
            <a:off x="3200400" y="2581656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R3_sl337"/>
          <p:cNvSpPr/>
          <p:nvPr/>
        </p:nvSpPr>
        <p:spPr>
          <a:xfrm>
            <a:off x="3584448" y="254508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 stage, he can't play a note. So he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whistles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the song with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lips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!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he play or whistle? · What does he whistle with?</a:t>
            </a:r>
            <a:endParaRPr lang="en-US" sz="1050" dirty="0"/>
          </a:p>
        </p:txBody>
      </p:sp>
      <p:sp>
        <p:nvSpPr>
          <p:cNvPr id="27" name="R4_sb338"/>
          <p:cNvSpPr/>
          <p:nvPr/>
        </p:nvSpPr>
        <p:spPr>
          <a:xfrm>
            <a:off x="3200400" y="3145536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R4_sl339"/>
          <p:cNvSpPr/>
          <p:nvPr/>
        </p:nvSpPr>
        <p:spPr>
          <a:xfrm>
            <a:off x="3584448" y="310896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boy in the front row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stares at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him and </a:t>
            </a:r>
            <a:pPr indent="0" marL="0">
              <a:buNone/>
            </a:pPr>
            <a:r>
              <a:rPr lang="en-US" sz="11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points at</a:t>
            </a:r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his trousers.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Does the boy stare or smile? · What does he point at?</a:t>
            </a:r>
            <a:endParaRPr lang="en-US" sz="1150" dirty="0"/>
          </a:p>
        </p:txBody>
      </p:sp>
      <p:sp>
        <p:nvSpPr>
          <p:cNvPr id="29" name="R5_sb340"/>
          <p:cNvSpPr/>
          <p:nvPr/>
        </p:nvSpPr>
        <p:spPr>
          <a:xfrm>
            <a:off x="3200400" y="3709416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000" dirty="0"/>
          </a:p>
        </p:txBody>
      </p:sp>
      <p:sp>
        <p:nvSpPr>
          <p:cNvPr id="30" name="R5_sl341"/>
          <p:cNvSpPr/>
          <p:nvPr/>
        </p:nvSpPr>
        <p:spPr>
          <a:xfrm>
            <a:off x="3584448" y="367284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Oh no! Dario's trousers are on back to front! But everybody </a:t>
            </a:r>
            <a:pPr indent="0" marL="0">
              <a:buNone/>
            </a:pPr>
            <a:r>
              <a:rPr lang="en-US" sz="110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claps</a:t>
            </a:r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.</a:t>
            </a:r>
            <a:endParaRPr lang="en-US" sz="1100" dirty="0"/>
          </a:p>
          <a:p>
            <a:pPr indent="0" marL="0">
              <a:buNone/>
            </a:pPr>
            <a:r>
              <a:rPr lang="en-US" sz="8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Are his trousers OK? · Does everybody clap or laugh?</a:t>
            </a:r>
            <a:endParaRPr lang="en-US" sz="1100" dirty="0"/>
          </a:p>
        </p:txBody>
      </p:sp>
      <p:sp>
        <p:nvSpPr>
          <p:cNvPr id="31" name="R6_sb342"/>
          <p:cNvSpPr/>
          <p:nvPr/>
        </p:nvSpPr>
        <p:spPr>
          <a:xfrm>
            <a:off x="3200400" y="4273296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000" dirty="0"/>
          </a:p>
        </p:txBody>
      </p:sp>
      <p:sp>
        <p:nvSpPr>
          <p:cNvPr id="32" name="R6_sl343"/>
          <p:cNvSpPr/>
          <p:nvPr/>
        </p:nvSpPr>
        <p:spPr>
          <a:xfrm>
            <a:off x="3584448" y="4236720"/>
            <a:ext cx="5303520" cy="499872"/>
          </a:xfrm>
          <a:prstGeom prst="roundRect">
            <a:avLst>
              <a:gd name="adj" fmla="val 21951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Dario lifts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, moves his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shoulders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back and </a:t>
            </a:r>
            <a:pPr indent="0" marL="0">
              <a:buNone/>
            </a:pPr>
            <a:r>
              <a:rPr lang="en-US" sz="1050" b="1" dirty="0">
                <a:solidFill>
                  <a:srgbClr val="7B5CD6"/>
                </a:solidFill>
                <a:highlight>
                  <a:srgbClr val="FFF1A8"/>
                </a:highlight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nods</a:t>
            </a:r>
            <a:pPr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: 'Thank you!'</a:t>
            </a:r>
            <a:endParaRPr lang="en-US" sz="1050" dirty="0"/>
          </a:p>
          <a:p>
            <a:pPr indent="0" marL="0">
              <a:buNone/>
            </a:pPr>
            <a:r>
              <a:rPr lang="en-US" sz="8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❓ Is Dario sad or proud? · And you – what do you do when you're nervous?</a:t>
            </a:r>
            <a:endParaRPr lang="en-US" sz="10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4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11</a:t>
            </a:r>
            <a:endParaRPr lang="en-US" sz="2200" dirty="0"/>
          </a:p>
        </p:txBody>
      </p:sp>
      <p:pic>
        <p:nvPicPr>
          <p:cNvPr id="4" name="brY_34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346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</a:t>
            </a:r>
            <a:endParaRPr lang="en-US" sz="2400" dirty="0"/>
          </a:p>
        </p:txBody>
      </p:sp>
      <p:pic>
        <p:nvPicPr>
          <p:cNvPr id="6" name="brP_34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511296" cy="402336"/>
          </a:xfrm>
          <a:prstGeom prst="rect">
            <a:avLst/>
          </a:prstGeom>
        </p:spPr>
      </p:pic>
      <p:sp>
        <p:nvSpPr>
          <p:cNvPr id="7" name="ins_348"/>
          <p:cNvSpPr/>
          <p:nvPr/>
        </p:nvSpPr>
        <p:spPr>
          <a:xfrm>
            <a:off x="1353312" y="731520"/>
            <a:ext cx="3255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Guess! What do the numbers mean?</a:t>
            </a:r>
            <a:endParaRPr lang="en-US" sz="1250" dirty="0"/>
          </a:p>
        </p:txBody>
      </p:sp>
      <p:sp>
        <p:nvSpPr>
          <p:cNvPr id="8" name="insIT_34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Indovina! Cosa significano i numeri?</a:t>
            </a:r>
            <a:endParaRPr lang="en-US" sz="950" dirty="0"/>
          </a:p>
        </p:txBody>
      </p:sp>
      <p:sp>
        <p:nvSpPr>
          <p:cNvPr id="9" name="cmd_35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351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1" name="tag_352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Prediction</a:t>
            </a:r>
            <a:endParaRPr lang="en-US" sz="950" dirty="0"/>
          </a:p>
        </p:txBody>
      </p:sp>
      <p:pic>
        <p:nvPicPr>
          <p:cNvPr id="12" name="logo_35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5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prediction   ·   📖 SB p.62 · 5a, 5b</a:t>
            </a:r>
            <a:endParaRPr lang="en-US" sz="800" dirty="0"/>
          </a:p>
        </p:txBody>
      </p:sp>
      <p:sp>
        <p:nvSpPr>
          <p:cNvPr id="14" name="cd_355"/>
          <p:cNvSpPr/>
          <p:nvPr/>
        </p:nvSpPr>
        <p:spPr>
          <a:xfrm>
            <a:off x="320040" y="1417320"/>
            <a:ext cx="5029200" cy="19659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hl_356"/>
          <p:cNvSpPr/>
          <p:nvPr/>
        </p:nvSpPr>
        <p:spPr>
          <a:xfrm>
            <a:off x="502920" y="15087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</a:t>
            </a:r>
            <a:endParaRPr lang="en-US" sz="2800" dirty="0"/>
          </a:p>
        </p:txBody>
      </p:sp>
      <p:sp>
        <p:nvSpPr>
          <p:cNvPr id="16" name="nx_357"/>
          <p:cNvSpPr/>
          <p:nvPr/>
        </p:nvSpPr>
        <p:spPr>
          <a:xfrm>
            <a:off x="457200" y="2807208"/>
            <a:ext cx="4754880" cy="512064"/>
          </a:xfrm>
          <a:prstGeom prst="roundRect">
            <a:avLst>
              <a:gd name="adj" fmla="val 17857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2EB872"/>
                </a:solidFill>
                <a:latin typeface="Segoe UI Black" pitchFamily="34" charset="0"/>
                <a:ea typeface="Segoe UI Black" pitchFamily="34" charset="-122"/>
                <a:cs typeface="Segoe UI Black" pitchFamily="34" charset="-120"/>
              </a:rPr>
              <a:t>➡ NEXT  </a:t>
            </a:r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One man is a journalist, one is a charisma coach. Who's who? Why?</a:t>
            </a:r>
            <a:endParaRPr lang="en-US" sz="1000" dirty="0"/>
          </a:p>
        </p:txBody>
      </p:sp>
      <p:sp>
        <p:nvSpPr>
          <p:cNvPr id="17" name="sf_358"/>
          <p:cNvSpPr/>
          <p:nvPr/>
        </p:nvSpPr>
        <p:spPr>
          <a:xfrm>
            <a:off x="521208" y="2039112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i="1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charisma /ˈkærɪzmə/ = the powerful personal quality that some people have which attracts and impresses other people</a:t>
            </a:r>
            <a:endParaRPr lang="en-US" sz="1150" dirty="0"/>
          </a:p>
        </p:txBody>
      </p:sp>
      <p:sp>
        <p:nvSpPr>
          <p:cNvPr id="18" name="nbl_359"/>
          <p:cNvSpPr/>
          <p:nvPr/>
        </p:nvSpPr>
        <p:spPr>
          <a:xfrm>
            <a:off x="365760" y="35661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🔢 NUMBER BANK · guess what they mean!</a:t>
            </a:r>
            <a:endParaRPr lang="en-US" sz="1100" dirty="0"/>
          </a:p>
        </p:txBody>
      </p:sp>
      <p:sp>
        <p:nvSpPr>
          <p:cNvPr id="19" name="bd_360"/>
          <p:cNvSpPr/>
          <p:nvPr/>
        </p:nvSpPr>
        <p:spPr>
          <a:xfrm>
            <a:off x="365760" y="3931920"/>
            <a:ext cx="548640" cy="5486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£150</a:t>
            </a:r>
            <a:endParaRPr lang="en-US" sz="800" dirty="0"/>
          </a:p>
        </p:txBody>
      </p:sp>
      <p:sp>
        <p:nvSpPr>
          <p:cNvPr id="20" name="bd_361"/>
          <p:cNvSpPr/>
          <p:nvPr/>
        </p:nvSpPr>
        <p:spPr>
          <a:xfrm>
            <a:off x="987552" y="3931920"/>
            <a:ext cx="548640" cy="5486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800" dirty="0"/>
          </a:p>
        </p:txBody>
      </p:sp>
      <p:sp>
        <p:nvSpPr>
          <p:cNvPr id="21" name="bd_362"/>
          <p:cNvSpPr/>
          <p:nvPr/>
        </p:nvSpPr>
        <p:spPr>
          <a:xfrm>
            <a:off x="1609344" y="3931920"/>
            <a:ext cx="548640" cy="5486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800" dirty="0"/>
          </a:p>
        </p:txBody>
      </p:sp>
      <p:sp>
        <p:nvSpPr>
          <p:cNvPr id="22" name="pf_363"/>
          <p:cNvSpPr/>
          <p:nvPr/>
        </p:nvSpPr>
        <p:spPr>
          <a:xfrm rot="90000">
            <a:off x="5577840" y="1234440"/>
            <a:ext cx="3246120" cy="3383280"/>
          </a:xfrm>
          <a:prstGeom prst="roundRect">
            <a:avLst>
              <a:gd name="adj" fmla="val 478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3" name="ph_364" descr="/home/claude/lls-course/v2/cache/6B_2_colin_jpg_759x79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90000">
            <a:off x="5623560" y="1280160"/>
            <a:ext cx="3154680" cy="3291840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6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12</a:t>
            </a:r>
            <a:endParaRPr lang="en-US" sz="2200" dirty="0"/>
          </a:p>
        </p:txBody>
      </p:sp>
      <p:pic>
        <p:nvPicPr>
          <p:cNvPr id="4" name="brY_36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760720" cy="621792"/>
          </a:xfrm>
          <a:prstGeom prst="rect">
            <a:avLst/>
          </a:prstGeom>
        </p:spPr>
      </p:pic>
      <p:sp>
        <p:nvSpPr>
          <p:cNvPr id="5" name="title_367"/>
          <p:cNvSpPr/>
          <p:nvPr/>
        </p:nvSpPr>
        <p:spPr>
          <a:xfrm>
            <a:off x="1261872" y="16459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learn charisma? · the article</a:t>
            </a:r>
            <a:endParaRPr lang="en-US" sz="2250" dirty="0"/>
          </a:p>
        </p:txBody>
      </p:sp>
      <p:pic>
        <p:nvPicPr>
          <p:cNvPr id="6" name="brP_36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379976" cy="402336"/>
          </a:xfrm>
          <a:prstGeom prst="rect">
            <a:avLst/>
          </a:prstGeom>
        </p:spPr>
      </p:pic>
      <p:sp>
        <p:nvSpPr>
          <p:cNvPr id="7" name="ins_369"/>
          <p:cNvSpPr/>
          <p:nvPr/>
        </p:nvSpPr>
        <p:spPr>
          <a:xfrm>
            <a:off x="1353312" y="731520"/>
            <a:ext cx="41239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Read. Check your guesses. Who's the coach?</a:t>
            </a:r>
            <a:endParaRPr lang="en-US" sz="1250" dirty="0"/>
          </a:p>
        </p:txBody>
      </p:sp>
      <p:sp>
        <p:nvSpPr>
          <p:cNvPr id="8" name="insIT_37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Leggi. Controlla. Chi è il coach?</a:t>
            </a:r>
            <a:endParaRPr lang="en-US" sz="950" dirty="0"/>
          </a:p>
        </p:txBody>
      </p:sp>
      <p:sp>
        <p:nvSpPr>
          <p:cNvPr id="9" name="cmd_37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meta_372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373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8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TPRS · reading</a:t>
            </a:r>
            <a:endParaRPr lang="en-US" sz="850" dirty="0"/>
          </a:p>
        </p:txBody>
      </p:sp>
      <p:pic>
        <p:nvPicPr>
          <p:cNvPr id="12" name="logo_37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37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the journalist's article   ·   📖 SB p.63 · 5c</a:t>
            </a:r>
            <a:endParaRPr lang="en-US" sz="800" dirty="0"/>
          </a:p>
        </p:txBody>
      </p:sp>
      <p:sp>
        <p:nvSpPr>
          <p:cNvPr id="14" name="cd_376"/>
          <p:cNvSpPr/>
          <p:nvPr/>
        </p:nvSpPr>
        <p:spPr>
          <a:xfrm>
            <a:off x="320040" y="1417320"/>
            <a:ext cx="5715000" cy="3337560"/>
          </a:xfrm>
          <a:prstGeom prst="roundRect">
            <a:avLst>
              <a:gd name="adj" fmla="val 3836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sh_377"/>
          <p:cNvSpPr/>
          <p:nvPr/>
        </p:nvSpPr>
        <p:spPr>
          <a:xfrm>
            <a:off x="320040" y="1417320"/>
            <a:ext cx="5715000" cy="438912"/>
          </a:xfrm>
          <a:prstGeom prst="rect">
            <a:avLst/>
          </a:prstGeom>
          <a:solidFill>
            <a:srgbClr val="E3F7EA"/>
          </a:solidFill>
          <a:ln/>
        </p:spPr>
        <p:txBody>
          <a:bodyPr wrap="square" lIns="203200" tIns="0" rIns="20320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6F4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Colin Drury and Danish Sheikh</a:t>
            </a:r>
            <a:endParaRPr lang="en-US" sz="1700" dirty="0"/>
          </a:p>
        </p:txBody>
      </p:sp>
      <p:sp>
        <p:nvSpPr>
          <p:cNvPr id="16" name="ln_378"/>
          <p:cNvSpPr/>
          <p:nvPr/>
        </p:nvSpPr>
        <p:spPr>
          <a:xfrm>
            <a:off x="548640" y="1920240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the 21st century, charisma is the quality that people in all fields of life would most like to have. But can you learn it?</a:t>
            </a:r>
            <a:endParaRPr lang="en-US" sz="1150" dirty="0"/>
          </a:p>
        </p:txBody>
      </p:sp>
      <p:sp>
        <p:nvSpPr>
          <p:cNvPr id="17" name="ln_379"/>
          <p:cNvSpPr/>
          <p:nvPr/>
        </p:nvSpPr>
        <p:spPr>
          <a:xfrm>
            <a:off x="548640" y="2318657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 I have just met thinks so. His name is Danish Sheikh, and he is a charisma coach.</a:t>
            </a:r>
            <a:endParaRPr lang="en-US" sz="1150" dirty="0"/>
          </a:p>
        </p:txBody>
      </p:sp>
      <p:sp>
        <p:nvSpPr>
          <p:cNvPr id="18" name="ln_380"/>
          <p:cNvSpPr/>
          <p:nvPr/>
        </p:nvSpPr>
        <p:spPr>
          <a:xfrm>
            <a:off x="548640" y="2717074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has worked with Microsoft, Yahoo, and the BBC, and he thinks he can turn anyone into George Clooney.</a:t>
            </a:r>
            <a:endParaRPr lang="en-US" sz="1150" dirty="0"/>
          </a:p>
        </p:txBody>
      </p:sp>
      <p:sp>
        <p:nvSpPr>
          <p:cNvPr id="19" name="ln_381"/>
          <p:cNvSpPr/>
          <p:nvPr/>
        </p:nvSpPr>
        <p:spPr>
          <a:xfrm>
            <a:off x="548640" y="3115491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 charges £150 an hour, and plenty of people are paying. And for two days, I'm going to be his student.</a:t>
            </a:r>
            <a:endParaRPr lang="en-US" sz="1150" dirty="0"/>
          </a:p>
        </p:txBody>
      </p:sp>
      <p:sp>
        <p:nvSpPr>
          <p:cNvPr id="20" name="ln_382"/>
          <p:cNvSpPr/>
          <p:nvPr/>
        </p:nvSpPr>
        <p:spPr>
          <a:xfrm>
            <a:off x="548640" y="3513909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Yesterday, he followed me everywhere and watched how I behaved with people – in shops, at the hairdresser's, and in work meetings.</a:t>
            </a:r>
            <a:endParaRPr lang="en-US" sz="1150" dirty="0"/>
          </a:p>
        </p:txBody>
      </p:sp>
      <p:sp>
        <p:nvSpPr>
          <p:cNvPr id="21" name="ln_383"/>
          <p:cNvSpPr/>
          <p:nvPr/>
        </p:nvSpPr>
        <p:spPr>
          <a:xfrm>
            <a:off x="548640" y="3912326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His impressions of me are not good: I can't make conversation, I have negative body language, and I don't smile enough. I also seem bored.</a:t>
            </a:r>
            <a:endParaRPr lang="en-US" sz="1150" dirty="0"/>
          </a:p>
        </p:txBody>
      </p:sp>
      <p:sp>
        <p:nvSpPr>
          <p:cNvPr id="22" name="ln_384"/>
          <p:cNvSpPr/>
          <p:nvPr/>
        </p:nvSpPr>
        <p:spPr>
          <a:xfrm>
            <a:off x="548640" y="4310743"/>
            <a:ext cx="5349240" cy="39841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'But don't worry!' Sheikh says, cheerfully. 'We're going to fix all this.'</a:t>
            </a:r>
            <a:endParaRPr lang="en-US" sz="1150" dirty="0"/>
          </a:p>
        </p:txBody>
      </p:sp>
      <p:sp>
        <p:nvSpPr>
          <p:cNvPr id="23" name="pf_385"/>
          <p:cNvSpPr/>
          <p:nvPr/>
        </p:nvSpPr>
        <p:spPr>
          <a:xfrm rot="120000">
            <a:off x="6309360" y="1417320"/>
            <a:ext cx="2560320" cy="1508760"/>
          </a:xfrm>
          <a:prstGeom prst="roundRect">
            <a:avLst>
              <a:gd name="adj" fmla="val 1030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4" name="ph_386" descr="/home/claude/lls-course/v2/cache/6B_2_colin_jpg_594x341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20000">
            <a:off x="6355080" y="1463040"/>
            <a:ext cx="2468880" cy="1417320"/>
          </a:xfrm>
          <a:prstGeom prst="rect">
            <a:avLst/>
          </a:prstGeom>
        </p:spPr>
      </p:pic>
      <p:sp>
        <p:nvSpPr>
          <p:cNvPr id="25" name="cd_387"/>
          <p:cNvSpPr/>
          <p:nvPr/>
        </p:nvSpPr>
        <p:spPr>
          <a:xfrm>
            <a:off x="6263640" y="3794760"/>
            <a:ext cx="2651760" cy="960120"/>
          </a:xfrm>
          <a:prstGeom prst="roundRect">
            <a:avLst>
              <a:gd name="adj" fmla="val 13333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6" name="ii_388"/>
          <p:cNvSpPr/>
          <p:nvPr/>
        </p:nvSpPr>
        <p:spPr>
          <a:xfrm>
            <a:off x="6355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7" name="ih_389"/>
          <p:cNvSpPr/>
          <p:nvPr/>
        </p:nvSpPr>
        <p:spPr>
          <a:xfrm>
            <a:off x="6830568" y="38862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Remember</a:t>
            </a:r>
            <a:endParaRPr lang="en-US" sz="1200" dirty="0"/>
          </a:p>
        </p:txBody>
      </p:sp>
      <p:sp>
        <p:nvSpPr>
          <p:cNvPr id="28" name="il_390"/>
          <p:cNvSpPr/>
          <p:nvPr/>
        </p:nvSpPr>
        <p:spPr>
          <a:xfrm>
            <a:off x="6830568" y="4288536"/>
            <a:ext cx="199339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fix = correct / repair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plenty of = a lot of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39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13</a:t>
            </a:r>
            <a:endParaRPr lang="en-US" sz="2200" dirty="0"/>
          </a:p>
        </p:txBody>
      </p:sp>
      <p:pic>
        <p:nvPicPr>
          <p:cNvPr id="4" name="brY_39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607101" cy="621792"/>
          </a:xfrm>
          <a:prstGeom prst="rect">
            <a:avLst/>
          </a:prstGeom>
        </p:spPr>
      </p:pic>
      <p:sp>
        <p:nvSpPr>
          <p:cNvPr id="5" name="title_393"/>
          <p:cNvSpPr/>
          <p:nvPr/>
        </p:nvSpPr>
        <p:spPr>
          <a:xfrm>
            <a:off x="1261872" y="164592"/>
            <a:ext cx="533278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Check: what did you understand?</a:t>
            </a:r>
            <a:endParaRPr lang="en-US" sz="2400" dirty="0"/>
          </a:p>
        </p:txBody>
      </p:sp>
      <p:pic>
        <p:nvPicPr>
          <p:cNvPr id="6" name="brP_39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39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Answer with a partner. The article is on the last slide.</a:t>
            </a:r>
            <a:endParaRPr lang="en-US" sz="1250" dirty="0"/>
          </a:p>
        </p:txBody>
      </p:sp>
      <p:sp>
        <p:nvSpPr>
          <p:cNvPr id="8" name="insIT_39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Rispondi con un compagno. L'articolo è nella slide precedente.</a:t>
            </a:r>
            <a:endParaRPr lang="en-US" sz="950" dirty="0"/>
          </a:p>
        </p:txBody>
      </p:sp>
      <p:sp>
        <p:nvSpPr>
          <p:cNvPr id="9" name="cmd_39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👀 </a:t>
            </a:r>
            <a:pPr indent="0" marL="0">
              <a:buNone/>
            </a:pPr>
            <a:r>
              <a:rPr lang="en-US" sz="950" dirty="0">
                <a:solidFill>
                  <a:srgbClr val="2EB872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READ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LEGGI</a:t>
            </a:r>
            <a:endParaRPr lang="en-US" sz="950" dirty="0"/>
          </a:p>
        </p:txBody>
      </p:sp>
      <p:sp>
        <p:nvSpPr>
          <p:cNvPr id="10" name="cmd_398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1" name="meta_399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👥 pairs</a:t>
            </a:r>
            <a:endParaRPr lang="en-US" sz="950" dirty="0"/>
          </a:p>
        </p:txBody>
      </p:sp>
      <p:sp>
        <p:nvSpPr>
          <p:cNvPr id="12" name="tag_400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Reading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Controlled practice</a:t>
            </a:r>
            <a:endParaRPr lang="en-US" sz="750" dirty="0"/>
          </a:p>
        </p:txBody>
      </p:sp>
      <p:pic>
        <p:nvPicPr>
          <p:cNvPr id="13" name="logo_40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0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Reading · comprehension   ·   📖 SB p.62 · 5c</a:t>
            </a:r>
            <a:endParaRPr lang="en-US" sz="800" dirty="0"/>
          </a:p>
        </p:txBody>
      </p:sp>
      <p:sp>
        <p:nvSpPr>
          <p:cNvPr id="15" name="cd_403"/>
          <p:cNvSpPr/>
          <p:nvPr/>
        </p:nvSpPr>
        <p:spPr>
          <a:xfrm>
            <a:off x="320040" y="1417320"/>
            <a:ext cx="2697480" cy="969264"/>
          </a:xfrm>
          <a:prstGeom prst="roundRect">
            <a:avLst>
              <a:gd name="adj" fmla="val 13208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0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⭐</a:t>
            </a:r>
            <a:endParaRPr lang="en-US" sz="2200" dirty="0"/>
          </a:p>
        </p:txBody>
      </p:sp>
      <p:sp>
        <p:nvSpPr>
          <p:cNvPr id="17" name="ih_40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Example</a:t>
            </a:r>
            <a:endParaRPr lang="en-US" sz="1300" dirty="0"/>
          </a:p>
        </p:txBody>
      </p:sp>
      <p:sp>
        <p:nvSpPr>
          <p:cNvPr id="18" name="il_406"/>
          <p:cNvSpPr/>
          <p:nvPr/>
        </p:nvSpPr>
        <p:spPr>
          <a:xfrm>
            <a:off x="886968" y="1911096"/>
            <a:ext cx="20391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200"/>
              </a:spcAft>
              <a:buNone/>
            </a:pPr>
            <a:r>
              <a:rPr lang="en-US" sz="10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Who's the coach? → Danish Sheikh</a:t>
            </a:r>
            <a:endParaRPr lang="en-US" sz="1050" dirty="0"/>
          </a:p>
        </p:txBody>
      </p:sp>
      <p:sp>
        <p:nvSpPr>
          <p:cNvPr id="19" name="pf_407"/>
          <p:cNvSpPr/>
          <p:nvPr/>
        </p:nvSpPr>
        <p:spPr>
          <a:xfrm rot="-90000">
            <a:off x="365760" y="2569464"/>
            <a:ext cx="2606040" cy="2093976"/>
          </a:xfrm>
          <a:prstGeom prst="roundRect">
            <a:avLst>
              <a:gd name="adj" fmla="val 74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08" descr="/home/claude/lls-course/v2/cache/6B_2_colin_jpg_605x482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90000">
            <a:off x="411480" y="2615184"/>
            <a:ext cx="2514600" cy="2002536"/>
          </a:xfrm>
          <a:prstGeom prst="rect">
            <a:avLst/>
          </a:prstGeom>
        </p:spPr>
      </p:pic>
      <p:sp>
        <p:nvSpPr>
          <p:cNvPr id="21" name="bd_409"/>
          <p:cNvSpPr/>
          <p:nvPr/>
        </p:nvSpPr>
        <p:spPr>
          <a:xfrm>
            <a:off x="3246120" y="1490472"/>
            <a:ext cx="310896" cy="310896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000" dirty="0"/>
          </a:p>
        </p:txBody>
      </p:sp>
      <p:sp>
        <p:nvSpPr>
          <p:cNvPr id="22" name="q_410"/>
          <p:cNvSpPr/>
          <p:nvPr/>
        </p:nvSpPr>
        <p:spPr>
          <a:xfrm>
            <a:off x="3630168" y="141732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experience does Danish Sheikh have?</a:t>
            </a:r>
            <a:endParaRPr lang="en-US" sz="1150" dirty="0"/>
          </a:p>
        </p:txBody>
      </p:sp>
      <p:sp>
        <p:nvSpPr>
          <p:cNvPr id="23" name="R1_chip411"/>
          <p:cNvSpPr/>
          <p:nvPr/>
        </p:nvSpPr>
        <p:spPr>
          <a:xfrm>
            <a:off x="5806440" y="141732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Microsoft, Yahoo and the BBC</a:t>
            </a:r>
            <a:endParaRPr lang="en-US" sz="900" dirty="0"/>
          </a:p>
        </p:txBody>
      </p:sp>
      <p:sp>
        <p:nvSpPr>
          <p:cNvPr id="24" name="bd_412"/>
          <p:cNvSpPr/>
          <p:nvPr/>
        </p:nvSpPr>
        <p:spPr>
          <a:xfrm>
            <a:off x="3246120" y="1993392"/>
            <a:ext cx="310896" cy="310896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000" dirty="0"/>
          </a:p>
        </p:txBody>
      </p:sp>
      <p:sp>
        <p:nvSpPr>
          <p:cNvPr id="25" name="q_413"/>
          <p:cNvSpPr/>
          <p:nvPr/>
        </p:nvSpPr>
        <p:spPr>
          <a:xfrm>
            <a:off x="3630168" y="192024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he successful?</a:t>
            </a:r>
            <a:endParaRPr lang="en-US" sz="1150" dirty="0"/>
          </a:p>
        </p:txBody>
      </p:sp>
      <p:sp>
        <p:nvSpPr>
          <p:cNvPr id="26" name="R2_chip414"/>
          <p:cNvSpPr/>
          <p:nvPr/>
        </p:nvSpPr>
        <p:spPr>
          <a:xfrm>
            <a:off x="5806440" y="192024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Yes – £150 an hour, and plenty of people pay</a:t>
            </a:r>
            <a:endParaRPr lang="en-US" sz="900" dirty="0"/>
          </a:p>
        </p:txBody>
      </p:sp>
      <p:sp>
        <p:nvSpPr>
          <p:cNvPr id="27" name="bd_415"/>
          <p:cNvSpPr/>
          <p:nvPr/>
        </p:nvSpPr>
        <p:spPr>
          <a:xfrm>
            <a:off x="3246120" y="2496312"/>
            <a:ext cx="310896" cy="310896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000" dirty="0"/>
          </a:p>
        </p:txBody>
      </p:sp>
      <p:sp>
        <p:nvSpPr>
          <p:cNvPr id="28" name="q_416"/>
          <p:cNvSpPr/>
          <p:nvPr/>
        </p:nvSpPr>
        <p:spPr>
          <a:xfrm>
            <a:off x="3630168" y="242316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did he do yesterday? Why?</a:t>
            </a:r>
            <a:endParaRPr lang="en-US" sz="1150" dirty="0"/>
          </a:p>
        </p:txBody>
      </p:sp>
      <p:sp>
        <p:nvSpPr>
          <p:cNvPr id="29" name="R3_chip417"/>
          <p:cNvSpPr/>
          <p:nvPr/>
        </p:nvSpPr>
        <p:spPr>
          <a:xfrm>
            <a:off x="5806440" y="242316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followed Colin everywhere – to watch how he behaves with people (Colin is going to be his student)</a:t>
            </a:r>
            <a:endParaRPr lang="en-US" sz="900" dirty="0"/>
          </a:p>
        </p:txBody>
      </p:sp>
      <p:sp>
        <p:nvSpPr>
          <p:cNvPr id="30" name="bd_418"/>
          <p:cNvSpPr/>
          <p:nvPr/>
        </p:nvSpPr>
        <p:spPr>
          <a:xfrm>
            <a:off x="3246120" y="2999232"/>
            <a:ext cx="310896" cy="310896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q_419"/>
          <p:cNvSpPr/>
          <p:nvPr/>
        </p:nvSpPr>
        <p:spPr>
          <a:xfrm>
            <a:off x="3630168" y="292608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1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 problems does Colin have?</a:t>
            </a:r>
            <a:endParaRPr lang="en-US" sz="1150" dirty="0"/>
          </a:p>
        </p:txBody>
      </p:sp>
      <p:sp>
        <p:nvSpPr>
          <p:cNvPr id="32" name="R4_chip420"/>
          <p:cNvSpPr/>
          <p:nvPr/>
        </p:nvSpPr>
        <p:spPr>
          <a:xfrm>
            <a:off x="5806440" y="2926080"/>
            <a:ext cx="3063240" cy="457200"/>
          </a:xfrm>
          <a:prstGeom prst="roundRect">
            <a:avLst>
              <a:gd name="adj" fmla="val 20000"/>
            </a:avLst>
          </a:prstGeom>
          <a:solidFill>
            <a:srgbClr val="E3F7EA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can't make conversation · negative body language · doesn't smile enough · seems bored</a:t>
            </a:r>
            <a:endParaRPr lang="en-US" sz="9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2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14</a:t>
            </a:r>
            <a:endParaRPr lang="en-US" sz="2200" dirty="0"/>
          </a:p>
        </p:txBody>
      </p:sp>
      <p:pic>
        <p:nvPicPr>
          <p:cNvPr id="4" name="brY_42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348886" cy="621792"/>
          </a:xfrm>
          <a:prstGeom prst="rect">
            <a:avLst/>
          </a:prstGeom>
        </p:spPr>
      </p:pic>
      <p:sp>
        <p:nvSpPr>
          <p:cNvPr id="5" name="title_423"/>
          <p:cNvSpPr/>
          <p:nvPr/>
        </p:nvSpPr>
        <p:spPr>
          <a:xfrm>
            <a:off x="1261872" y="164592"/>
            <a:ext cx="407456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person with charisma…</a:t>
            </a:r>
            <a:endParaRPr lang="en-US" sz="2400" dirty="0"/>
          </a:p>
        </p:txBody>
      </p:sp>
      <p:pic>
        <p:nvPicPr>
          <p:cNvPr id="6" name="brP_42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5257800" cy="402336"/>
          </a:xfrm>
          <a:prstGeom prst="rect">
            <a:avLst/>
          </a:prstGeom>
        </p:spPr>
      </p:pic>
      <p:sp>
        <p:nvSpPr>
          <p:cNvPr id="7" name="ins_425"/>
          <p:cNvSpPr/>
          <p:nvPr/>
        </p:nvSpPr>
        <p:spPr>
          <a:xfrm>
            <a:off x="1353312" y="731520"/>
            <a:ext cx="50017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Tick ✓ or cross ✗ with a partner. THEN listen and check.</a:t>
            </a:r>
            <a:endParaRPr lang="en-US" sz="1200" dirty="0"/>
          </a:p>
        </p:txBody>
      </p:sp>
      <p:sp>
        <p:nvSpPr>
          <p:cNvPr id="8" name="insIT_42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Segna ✓ o ✗ con un compagno. POI ascolta e controlla.</a:t>
            </a:r>
            <a:endParaRPr lang="en-US" sz="950" dirty="0"/>
          </a:p>
        </p:txBody>
      </p:sp>
      <p:sp>
        <p:nvSpPr>
          <p:cNvPr id="9" name="cmd_42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cmd_428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1" name="meta_429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👥 pairs</a:t>
            </a:r>
            <a:endParaRPr lang="en-US" sz="950" dirty="0"/>
          </a:p>
        </p:txBody>
      </p:sp>
      <p:sp>
        <p:nvSpPr>
          <p:cNvPr id="12" name="tag_430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Guided discovery</a:t>
            </a:r>
            <a:endParaRPr lang="en-US" sz="750" dirty="0"/>
          </a:p>
        </p:txBody>
      </p:sp>
      <p:pic>
        <p:nvPicPr>
          <p:cNvPr id="13" name="logo_43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3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audio 6.19   ·   📖 SB p.63 · 5d, 5e · audio 6.19</a:t>
            </a:r>
            <a:endParaRPr lang="en-US" sz="800" dirty="0"/>
          </a:p>
        </p:txBody>
      </p:sp>
      <p:sp>
        <p:nvSpPr>
          <p:cNvPr id="15" name="cd_433"/>
          <p:cNvSpPr/>
          <p:nvPr/>
        </p:nvSpPr>
        <p:spPr>
          <a:xfrm>
            <a:off x="320040" y="1417320"/>
            <a:ext cx="2697480" cy="1527048"/>
          </a:xfrm>
          <a:prstGeom prst="roundRect">
            <a:avLst>
              <a:gd name="adj" fmla="val 8383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434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🏷️</a:t>
            </a:r>
            <a:endParaRPr lang="en-US" sz="2200" dirty="0"/>
          </a:p>
        </p:txBody>
      </p:sp>
      <p:sp>
        <p:nvSpPr>
          <p:cNvPr id="17" name="ih_435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Does it?</a:t>
            </a:r>
            <a:endParaRPr lang="en-US" sz="1300" dirty="0"/>
          </a:p>
        </p:txBody>
      </p:sp>
      <p:sp>
        <p:nvSpPr>
          <p:cNvPr id="18" name="ap_436"/>
          <p:cNvSpPr/>
          <p:nvPr/>
        </p:nvSpPr>
        <p:spPr>
          <a:xfrm>
            <a:off x="365760" y="3081528"/>
            <a:ext cx="260604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</a:t>
            </a:r>
            <a:endParaRPr lang="en-US" sz="1100" dirty="0"/>
          </a:p>
        </p:txBody>
      </p:sp>
      <p:sp>
        <p:nvSpPr>
          <p:cNvPr id="19" name="ah_437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20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21" name="ah_438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22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3" name="lg_439"/>
          <p:cNvSpPr/>
          <p:nvPr/>
        </p:nvSpPr>
        <p:spPr>
          <a:xfrm>
            <a:off x="457200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050" dirty="0"/>
          </a:p>
        </p:txBody>
      </p:sp>
      <p:sp>
        <p:nvSpPr>
          <p:cNvPr id="24" name="lg_440"/>
          <p:cNvSpPr/>
          <p:nvPr/>
        </p:nvSpPr>
        <p:spPr>
          <a:xfrm>
            <a:off x="1719072" y="198424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050" dirty="0"/>
          </a:p>
        </p:txBody>
      </p:sp>
      <p:sp>
        <p:nvSpPr>
          <p:cNvPr id="25" name="sq_441"/>
          <p:cNvSpPr/>
          <p:nvPr/>
        </p:nvSpPr>
        <p:spPr>
          <a:xfrm>
            <a:off x="3246120" y="141732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shows people what he / she is like</a:t>
            </a:r>
            <a:endParaRPr lang="en-US" sz="1100" dirty="0"/>
          </a:p>
        </p:txBody>
      </p:sp>
      <p:sp>
        <p:nvSpPr>
          <p:cNvPr id="26" name="R1_tag442"/>
          <p:cNvSpPr/>
          <p:nvPr/>
        </p:nvSpPr>
        <p:spPr>
          <a:xfrm>
            <a:off x="7178040" y="141732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7" name="sq_443"/>
          <p:cNvSpPr/>
          <p:nvPr/>
        </p:nvSpPr>
        <p:spPr>
          <a:xfrm>
            <a:off x="3246120" y="174650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makes other people feel important</a:t>
            </a:r>
            <a:endParaRPr lang="en-US" sz="1100" dirty="0"/>
          </a:p>
        </p:txBody>
      </p:sp>
      <p:sp>
        <p:nvSpPr>
          <p:cNvPr id="28" name="R2_tag444"/>
          <p:cNvSpPr/>
          <p:nvPr/>
        </p:nvSpPr>
        <p:spPr>
          <a:xfrm>
            <a:off x="7178040" y="174650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29" name="sq_445"/>
          <p:cNvSpPr/>
          <p:nvPr/>
        </p:nvSpPr>
        <p:spPr>
          <a:xfrm>
            <a:off x="3246120" y="207568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talks a lot about himself / herself</a:t>
            </a:r>
            <a:endParaRPr lang="en-US" sz="1100" dirty="0"/>
          </a:p>
        </p:txBody>
      </p:sp>
      <p:sp>
        <p:nvSpPr>
          <p:cNvPr id="30" name="R3_tag446"/>
          <p:cNvSpPr/>
          <p:nvPr/>
        </p:nvSpPr>
        <p:spPr>
          <a:xfrm>
            <a:off x="7178040" y="207568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1" name="sq_447"/>
          <p:cNvSpPr/>
          <p:nvPr/>
        </p:nvSpPr>
        <p:spPr>
          <a:xfrm>
            <a:off x="3246120" y="240487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never says anything about himself / herself</a:t>
            </a:r>
            <a:endParaRPr lang="en-US" sz="1100" dirty="0"/>
          </a:p>
        </p:txBody>
      </p:sp>
      <p:sp>
        <p:nvSpPr>
          <p:cNvPr id="32" name="R4_tag448"/>
          <p:cNvSpPr/>
          <p:nvPr/>
        </p:nvSpPr>
        <p:spPr>
          <a:xfrm>
            <a:off x="7178040" y="240487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33" name="sq_449"/>
          <p:cNvSpPr/>
          <p:nvPr/>
        </p:nvSpPr>
        <p:spPr>
          <a:xfrm>
            <a:off x="3246120" y="273405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5 is self-confident</a:t>
            </a:r>
            <a:endParaRPr lang="en-US" sz="1100" dirty="0"/>
          </a:p>
        </p:txBody>
      </p:sp>
      <p:sp>
        <p:nvSpPr>
          <p:cNvPr id="34" name="R5_tag450"/>
          <p:cNvSpPr/>
          <p:nvPr/>
        </p:nvSpPr>
        <p:spPr>
          <a:xfrm>
            <a:off x="7178040" y="273405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5" name="sq_451"/>
          <p:cNvSpPr/>
          <p:nvPr/>
        </p:nvSpPr>
        <p:spPr>
          <a:xfrm>
            <a:off x="3246120" y="3063240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 stands with feet apart and arms wide</a:t>
            </a:r>
            <a:endParaRPr lang="en-US" sz="1100" dirty="0"/>
          </a:p>
        </p:txBody>
      </p:sp>
      <p:sp>
        <p:nvSpPr>
          <p:cNvPr id="36" name="R6_tag452"/>
          <p:cNvSpPr/>
          <p:nvPr/>
        </p:nvSpPr>
        <p:spPr>
          <a:xfrm>
            <a:off x="7178040" y="3063240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7" name="sq_453"/>
          <p:cNvSpPr/>
          <p:nvPr/>
        </p:nvSpPr>
        <p:spPr>
          <a:xfrm>
            <a:off x="3246120" y="3392424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7 makes eye contact, but doesn't stare</a:t>
            </a:r>
            <a:endParaRPr lang="en-US" sz="1100" dirty="0"/>
          </a:p>
        </p:txBody>
      </p:sp>
      <p:sp>
        <p:nvSpPr>
          <p:cNvPr id="38" name="R7_tag454"/>
          <p:cNvSpPr/>
          <p:nvPr/>
        </p:nvSpPr>
        <p:spPr>
          <a:xfrm>
            <a:off x="7178040" y="3392424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  <p:sp>
        <p:nvSpPr>
          <p:cNvPr id="39" name="sq_455"/>
          <p:cNvSpPr/>
          <p:nvPr/>
        </p:nvSpPr>
        <p:spPr>
          <a:xfrm>
            <a:off x="3246120" y="3721608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8 uses a lot of hand gestures</a:t>
            </a:r>
            <a:endParaRPr lang="en-US" sz="1100" dirty="0"/>
          </a:p>
        </p:txBody>
      </p:sp>
      <p:sp>
        <p:nvSpPr>
          <p:cNvPr id="40" name="R8_tag456"/>
          <p:cNvSpPr/>
          <p:nvPr/>
        </p:nvSpPr>
        <p:spPr>
          <a:xfrm>
            <a:off x="7178040" y="3721608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1" name="sq_457"/>
          <p:cNvSpPr/>
          <p:nvPr/>
        </p:nvSpPr>
        <p:spPr>
          <a:xfrm>
            <a:off x="3246120" y="4050792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9 speaks very slowly</a:t>
            </a:r>
            <a:endParaRPr lang="en-US" sz="1100" dirty="0"/>
          </a:p>
        </p:txBody>
      </p:sp>
      <p:sp>
        <p:nvSpPr>
          <p:cNvPr id="42" name="R9_tag458"/>
          <p:cNvSpPr/>
          <p:nvPr/>
        </p:nvSpPr>
        <p:spPr>
          <a:xfrm>
            <a:off x="7178040" y="4050792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FFD1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✗ no</a:t>
            </a:r>
            <a:endParaRPr lang="en-US" sz="1150" dirty="0"/>
          </a:p>
        </p:txBody>
      </p:sp>
      <p:sp>
        <p:nvSpPr>
          <p:cNvPr id="43" name="sq_459"/>
          <p:cNvSpPr/>
          <p:nvPr/>
        </p:nvSpPr>
        <p:spPr>
          <a:xfrm>
            <a:off x="3246120" y="4379976"/>
            <a:ext cx="3840480" cy="265176"/>
          </a:xfrm>
          <a:prstGeom prst="roundRect">
            <a:avLst>
              <a:gd name="adj" fmla="val 34483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10 listens to people carefully</a:t>
            </a:r>
            <a:endParaRPr lang="en-US" sz="1100" dirty="0"/>
          </a:p>
        </p:txBody>
      </p:sp>
      <p:sp>
        <p:nvSpPr>
          <p:cNvPr id="44" name="R10_tag460"/>
          <p:cNvSpPr/>
          <p:nvPr/>
        </p:nvSpPr>
        <p:spPr>
          <a:xfrm>
            <a:off x="7178040" y="4379976"/>
            <a:ext cx="1691640" cy="265176"/>
          </a:xfrm>
          <a:prstGeom prst="roundRect">
            <a:avLst>
              <a:gd name="adj" fmla="val 86207"/>
            </a:avLst>
          </a:prstGeom>
          <a:solidFill>
            <a:srgbClr val="CFF2D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✓ yes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53" restart="whenNotActive" fill="hold" evtFilter="cancelBubble" nodeType="interactiveSeq">
                <p:stCondLst>
                  <p:cond evt="onClick" delay="0">
                    <p:tgtEl>
                      <p:spTgt spid="20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4" fill="hold">
                      <p:stCondLst>
                        <p:cond delay="0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57" dur="1" fill="hold"/>
                                        <p:tgtEl>
                                          <p:spTgt spid="20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0"/>
                  </p:tgtEl>
                </p:cond>
              </p:nextCondLst>
            </p:seq>
            <p:seq concurrent="1" nextAc="seek">
              <p:cTn id="5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59" fill="hold">
                      <p:stCondLst>
                        <p:cond delay="0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6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  <p:audio>
              <p:cMediaNode vol="80000">
                <p:cTn id="6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0"/>
                </p:tgtEl>
              </p:cMediaNode>
            </p:audio>
            <p:audio>
              <p:cMediaNode vol="80000">
                <p:cTn id="6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22"/>
                </p:tgtEl>
              </p:cMediaNode>
            </p:audio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61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15</a:t>
            </a:r>
            <a:endParaRPr lang="en-US" sz="2200" dirty="0"/>
          </a:p>
        </p:txBody>
      </p:sp>
      <p:pic>
        <p:nvPicPr>
          <p:cNvPr id="4" name="brY_462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4977994" cy="621792"/>
          </a:xfrm>
          <a:prstGeom prst="rect">
            <a:avLst/>
          </a:prstGeom>
        </p:spPr>
      </p:pic>
      <p:sp>
        <p:nvSpPr>
          <p:cNvPr id="5" name="title_463"/>
          <p:cNvSpPr/>
          <p:nvPr/>
        </p:nvSpPr>
        <p:spPr>
          <a:xfrm>
            <a:off x="1261872" y="164592"/>
            <a:ext cx="470367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What does Colin say about…?</a:t>
            </a:r>
            <a:endParaRPr lang="en-US" sz="2300" dirty="0"/>
          </a:p>
        </p:txBody>
      </p:sp>
      <p:pic>
        <p:nvPicPr>
          <p:cNvPr id="6" name="brP_464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727448" cy="402336"/>
          </a:xfrm>
          <a:prstGeom prst="rect">
            <a:avLst/>
          </a:prstGeom>
        </p:spPr>
      </p:pic>
      <p:sp>
        <p:nvSpPr>
          <p:cNvPr id="7" name="ins_465"/>
          <p:cNvSpPr/>
          <p:nvPr/>
        </p:nvSpPr>
        <p:spPr>
          <a:xfrm>
            <a:off x="1353312" y="731520"/>
            <a:ext cx="4471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the 4 questions. Listen again and answer.</a:t>
            </a:r>
            <a:endParaRPr lang="en-US" sz="1250" dirty="0"/>
          </a:p>
        </p:txBody>
      </p:sp>
      <p:sp>
        <p:nvSpPr>
          <p:cNvPr id="8" name="insIT_466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Leggi le 4 domande. Ascolta di nuovo e rispondi.</a:t>
            </a:r>
            <a:endParaRPr lang="en-US" sz="950" dirty="0"/>
          </a:p>
        </p:txBody>
      </p:sp>
      <p:sp>
        <p:nvSpPr>
          <p:cNvPr id="9" name="cmd_467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0" name="meta_468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👤 alone</a:t>
            </a:r>
            <a:endParaRPr lang="en-US" sz="950" dirty="0"/>
          </a:p>
        </p:txBody>
      </p:sp>
      <p:sp>
        <p:nvSpPr>
          <p:cNvPr id="11" name="tag_469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950" dirty="0"/>
          </a:p>
        </p:txBody>
      </p:sp>
      <p:pic>
        <p:nvPicPr>
          <p:cNvPr id="12" name="logo_47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47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detail · audio 6.19   ·   📖 SB p.63 · 5f · audio 6.19</a:t>
            </a:r>
            <a:endParaRPr lang="en-US" sz="800" dirty="0"/>
          </a:p>
        </p:txBody>
      </p:sp>
      <p:sp>
        <p:nvSpPr>
          <p:cNvPr id="14" name="ap_472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6.19  ·  play 2× · 🐢 = slower</a:t>
            </a:r>
            <a:endParaRPr lang="en-US" sz="1100" dirty="0"/>
          </a:p>
        </p:txBody>
      </p:sp>
      <p:sp>
        <p:nvSpPr>
          <p:cNvPr id="15" name="ah_473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7" name="ah_474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8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19" name="pf_475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0" name="ph_476" descr="/home/claude/lls-course/v2/cache/6B_2_colin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1" name="cd_477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2" name="ii_478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3" name="ih_479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4" name="gq_480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talking about yourself</a:t>
            </a:r>
            <a:endParaRPr lang="en-US" sz="1200" dirty="0"/>
          </a:p>
        </p:txBody>
      </p:sp>
      <p:sp>
        <p:nvSpPr>
          <p:cNvPr id="25" name="R1_chip481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enough – but not too much</a:t>
            </a:r>
            <a:endParaRPr lang="en-US" sz="1200" dirty="0"/>
          </a:p>
        </p:txBody>
      </p:sp>
      <p:sp>
        <p:nvSpPr>
          <p:cNvPr id="26" name="gq_482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remembering a past success</a:t>
            </a:r>
            <a:endParaRPr lang="en-US" sz="1200" dirty="0"/>
          </a:p>
        </p:txBody>
      </p:sp>
      <p:sp>
        <p:nvSpPr>
          <p:cNvPr id="27" name="R2_chip483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helps you feel more confident</a:t>
            </a:r>
            <a:endParaRPr lang="en-US" sz="1200" dirty="0"/>
          </a:p>
        </p:txBody>
      </p:sp>
      <p:sp>
        <p:nvSpPr>
          <p:cNvPr id="28" name="gq_484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how to enter a room</a:t>
            </a:r>
            <a:endParaRPr lang="en-US" sz="1200" dirty="0"/>
          </a:p>
        </p:txBody>
      </p:sp>
      <p:sp>
        <p:nvSpPr>
          <p:cNvPr id="29" name="R3_chip485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00" dirty="0"/>
          </a:p>
        </p:txBody>
      </p:sp>
      <p:sp>
        <p:nvSpPr>
          <p:cNvPr id="30" name="gq_486"/>
          <p:cNvSpPr/>
          <p:nvPr/>
        </p:nvSpPr>
        <p:spPr>
          <a:xfrm>
            <a:off x="3383280" y="2980944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 if you aren't really listening</a:t>
            </a:r>
            <a:endParaRPr lang="en-US" sz="1200" dirty="0"/>
          </a:p>
        </p:txBody>
      </p:sp>
      <p:sp>
        <p:nvSpPr>
          <p:cNvPr id="31" name="R4_chip487"/>
          <p:cNvSpPr/>
          <p:nvPr/>
        </p:nvSpPr>
        <p:spPr>
          <a:xfrm>
            <a:off x="6812280" y="2980944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other person notices very quickly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seq concurrent="1" nextAc="seek">
              <p:cTn id="28" restart="whenNotActive" fill="hold" evtFilter="cancelBubble" nodeType="interactiveSeq">
                <p:stCondLst>
                  <p:cond evt="onClick" delay="0">
                    <p:tgtEl>
                      <p:spTgt spid="18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9" fill="hold">
                      <p:stCondLst>
                        <p:cond delay="0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32" dur="1" fill="hold"/>
                                        <p:tgtEl>
                                          <p:spTgt spid="1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8"/>
                  </p:tgtEl>
                </p:cond>
              </p:nextCondLst>
            </p:seq>
            <p:audio>
              <p:cMediaNode vol="80000">
                <p:cTn id="33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6"/>
                </p:tgtEl>
              </p:cMediaNode>
            </p:audio>
            <p:audio>
              <p:cMediaNode vol="80000">
                <p:cTn id="34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8"/>
                </p:tgtEl>
              </p:cMediaNode>
            </p:audio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48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16</a:t>
            </a:r>
            <a:endParaRPr lang="en-US" sz="2200" dirty="0"/>
          </a:p>
        </p:txBody>
      </p:sp>
      <p:pic>
        <p:nvPicPr>
          <p:cNvPr id="4" name="brY_48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618842" cy="621792"/>
          </a:xfrm>
          <a:prstGeom prst="rect">
            <a:avLst/>
          </a:prstGeom>
        </p:spPr>
      </p:pic>
      <p:sp>
        <p:nvSpPr>
          <p:cNvPr id="5" name="title_490"/>
          <p:cNvSpPr/>
          <p:nvPr/>
        </p:nvSpPr>
        <p:spPr>
          <a:xfrm>
            <a:off x="1261872" y="164592"/>
            <a:ext cx="234452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Colin's test</a:t>
            </a:r>
            <a:endParaRPr lang="en-US" sz="2500" dirty="0"/>
          </a:p>
        </p:txBody>
      </p:sp>
      <p:pic>
        <p:nvPicPr>
          <p:cNvPr id="6" name="brP_49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032504" cy="402336"/>
          </a:xfrm>
          <a:prstGeom prst="rect">
            <a:avLst/>
          </a:prstGeom>
        </p:spPr>
      </p:pic>
      <p:sp>
        <p:nvSpPr>
          <p:cNvPr id="7" name="ins_492"/>
          <p:cNvSpPr/>
          <p:nvPr/>
        </p:nvSpPr>
        <p:spPr>
          <a:xfrm>
            <a:off x="1353312" y="731520"/>
            <a:ext cx="37764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first. Then listen and complete.</a:t>
            </a:r>
            <a:endParaRPr lang="en-US" sz="1250" dirty="0"/>
          </a:p>
        </p:txBody>
      </p:sp>
      <p:sp>
        <p:nvSpPr>
          <p:cNvPr id="8" name="insIT_49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prima. Poi ascolta e completa.</a:t>
            </a:r>
            <a:endParaRPr lang="en-US" sz="950" dirty="0"/>
          </a:p>
        </p:txBody>
      </p:sp>
      <p:sp>
        <p:nvSpPr>
          <p:cNvPr id="9" name="cmd_49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cmd_49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🎧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LISTEN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ASCOLTA</a:t>
            </a:r>
            <a:endParaRPr lang="en-US" sz="950" dirty="0"/>
          </a:p>
        </p:txBody>
      </p:sp>
      <p:sp>
        <p:nvSpPr>
          <p:cNvPr id="11" name="meta_49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👤 alone</a:t>
            </a:r>
            <a:endParaRPr lang="en-US" sz="950" dirty="0"/>
          </a:p>
        </p:txBody>
      </p:sp>
      <p:sp>
        <p:nvSpPr>
          <p:cNvPr id="12" name="tag_497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for detail</a:t>
            </a:r>
            <a:endParaRPr lang="en-US" sz="950" dirty="0"/>
          </a:p>
        </p:txBody>
      </p:sp>
      <p:pic>
        <p:nvPicPr>
          <p:cNvPr id="13" name="logo_498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499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Listening · the practical test · audio 6.20   ·   📖 SB p.63 · 5g · audio 6.20</a:t>
            </a:r>
            <a:endParaRPr lang="en-US" sz="800" dirty="0"/>
          </a:p>
        </p:txBody>
      </p:sp>
      <p:sp>
        <p:nvSpPr>
          <p:cNvPr id="15" name="ap_500"/>
          <p:cNvSpPr/>
          <p:nvPr/>
        </p:nvSpPr>
        <p:spPr>
          <a:xfrm>
            <a:off x="365760" y="1417320"/>
            <a:ext cx="2194560" cy="402336"/>
          </a:xfrm>
          <a:prstGeom prst="roundRect">
            <a:avLst>
              <a:gd name="adj" fmla="val 50000"/>
            </a:avLst>
          </a:prstGeom>
          <a:solidFill>
            <a:srgbClr val="E3F1FD"/>
          </a:solidFill>
          <a:ln w="28575">
            <a:solidFill>
              <a:srgbClr val="A9D3F5"/>
            </a:solidFill>
          </a:ln>
        </p:spPr>
        <p:txBody>
          <a:bodyPr wrap="square" lIns="127000" tIns="0" rIns="12700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🎧 6.20  ·  play 1–2× · 🐢 = slower</a:t>
            </a:r>
            <a:endParaRPr lang="en-US" sz="1100" dirty="0"/>
          </a:p>
        </p:txBody>
      </p:sp>
      <p:sp>
        <p:nvSpPr>
          <p:cNvPr id="16" name="ah_501"/>
          <p:cNvSpPr/>
          <p:nvPr/>
        </p:nvSpPr>
        <p:spPr>
          <a:xfrm>
            <a:off x="4636008" y="4572000"/>
            <a:ext cx="978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▶ normal</a:t>
            </a:r>
            <a:endParaRPr lang="en-US" sz="1000" dirty="0"/>
          </a:p>
        </p:txBody>
      </p:sp>
      <p:pic>
        <p:nvPicPr>
          <p:cNvPr id="17" name="Media 0">
            <a:hlinkClick r:id="" action="ppaction://media"/>
          </p:cNvPr>
          <p:cNvPicPr>
            <a:picLocks noChangeAspect="1"/>
          </p:cNvPicPr>
          <p:nvPr>
            <a:audi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5687568" y="4553712"/>
            <a:ext cx="411480" cy="411480"/>
          </a:xfrm>
          <a:prstGeom prst="rect">
            <a:avLst/>
          </a:prstGeom>
        </p:spPr>
      </p:pic>
      <p:sp>
        <p:nvSpPr>
          <p:cNvPr id="18" name="ah_502"/>
          <p:cNvSpPr/>
          <p:nvPr/>
        </p:nvSpPr>
        <p:spPr>
          <a:xfrm>
            <a:off x="7470648" y="4572000"/>
            <a:ext cx="9326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F8DE4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🐢 slower</a:t>
            </a:r>
            <a:endParaRPr lang="en-US" sz="1000" dirty="0"/>
          </a:p>
        </p:txBody>
      </p:sp>
      <p:pic>
        <p:nvPicPr>
          <p:cNvPr id="19" name="Media 1">
            <a:hlinkClick r:id="" action="ppaction://media"/>
          </p:cNvPr>
          <p:cNvPicPr>
            <a:picLocks noChangeAspect="1"/>
          </p:cNvPicPr>
          <p:nvPr>
            <a:audioFile r:link="rId8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0"/>
          <a:stretch>
            <a:fillRect/>
          </a:stretch>
        </p:blipFill>
        <p:spPr>
          <a:xfrm>
            <a:off x="8476488" y="4553712"/>
            <a:ext cx="411480" cy="411480"/>
          </a:xfrm>
          <a:prstGeom prst="rect">
            <a:avLst/>
          </a:prstGeom>
        </p:spPr>
      </p:pic>
      <p:sp>
        <p:nvSpPr>
          <p:cNvPr id="20" name="pf_503"/>
          <p:cNvSpPr/>
          <p:nvPr/>
        </p:nvSpPr>
        <p:spPr>
          <a:xfrm rot="-90000">
            <a:off x="411480" y="2057400"/>
            <a:ext cx="2697480" cy="1783080"/>
          </a:xfrm>
          <a:prstGeom prst="roundRect">
            <a:avLst>
              <a:gd name="adj" fmla="val 871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21" name="ph_504" descr="/home/claude/lls-course/v2/cache/6B_2_people_jpg_627x407_31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-90000">
            <a:off x="457200" y="2103120"/>
            <a:ext cx="2606040" cy="1691640"/>
          </a:xfrm>
          <a:prstGeom prst="rect">
            <a:avLst/>
          </a:prstGeom>
        </p:spPr>
      </p:pic>
      <p:sp>
        <p:nvSpPr>
          <p:cNvPr id="22" name="cd_505"/>
          <p:cNvSpPr/>
          <p:nvPr/>
        </p:nvSpPr>
        <p:spPr>
          <a:xfrm>
            <a:off x="320040" y="4023360"/>
            <a:ext cx="2788920" cy="731520"/>
          </a:xfrm>
          <a:prstGeom prst="roundRect">
            <a:avLst>
              <a:gd name="adj" fmla="val 17500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ii_506"/>
          <p:cNvSpPr/>
          <p:nvPr/>
        </p:nvSpPr>
        <p:spPr>
          <a:xfrm>
            <a:off x="41148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💡</a:t>
            </a:r>
            <a:endParaRPr lang="en-US" sz="2200" dirty="0"/>
          </a:p>
        </p:txBody>
      </p:sp>
      <p:sp>
        <p:nvSpPr>
          <p:cNvPr id="24" name="ih_507"/>
          <p:cNvSpPr/>
          <p:nvPr/>
        </p:nvSpPr>
        <p:spPr>
          <a:xfrm>
            <a:off x="886968" y="4114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Guess first, then listen!</a:t>
            </a:r>
            <a:endParaRPr lang="en-US" sz="1200" dirty="0"/>
          </a:p>
        </p:txBody>
      </p:sp>
      <p:sp>
        <p:nvSpPr>
          <p:cNvPr id="25" name="gq_508"/>
          <p:cNvSpPr/>
          <p:nvPr/>
        </p:nvSpPr>
        <p:spPr>
          <a:xfrm>
            <a:off x="3383280" y="1417320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 In the pub, Colin has to…</a:t>
            </a:r>
            <a:endParaRPr lang="en-US" sz="1200" dirty="0"/>
          </a:p>
        </p:txBody>
      </p:sp>
      <p:sp>
        <p:nvSpPr>
          <p:cNvPr id="26" name="R1_chip509"/>
          <p:cNvSpPr/>
          <p:nvPr/>
        </p:nvSpPr>
        <p:spPr>
          <a:xfrm>
            <a:off x="6812280" y="1417320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talk to strangers</a:t>
            </a:r>
            <a:endParaRPr lang="en-US" sz="1200" dirty="0"/>
          </a:p>
        </p:txBody>
      </p:sp>
      <p:sp>
        <p:nvSpPr>
          <p:cNvPr id="27" name="gq_510"/>
          <p:cNvSpPr/>
          <p:nvPr/>
        </p:nvSpPr>
        <p:spPr>
          <a:xfrm>
            <a:off x="3383280" y="1938528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 Sheikh helps him by…</a:t>
            </a:r>
            <a:endParaRPr lang="en-US" sz="1200" dirty="0"/>
          </a:p>
        </p:txBody>
      </p:sp>
      <p:sp>
        <p:nvSpPr>
          <p:cNvPr id="28" name="R2_chip511"/>
          <p:cNvSpPr/>
          <p:nvPr/>
        </p:nvSpPr>
        <p:spPr>
          <a:xfrm>
            <a:off x="6812280" y="1938528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giving advice: make eye contact, don't cross your arms</a:t>
            </a:r>
            <a:endParaRPr lang="en-US" sz="850" dirty="0"/>
          </a:p>
        </p:txBody>
      </p:sp>
      <p:sp>
        <p:nvSpPr>
          <p:cNvPr id="29" name="gq_512"/>
          <p:cNvSpPr/>
          <p:nvPr/>
        </p:nvSpPr>
        <p:spPr>
          <a:xfrm>
            <a:off x="3383280" y="2459736"/>
            <a:ext cx="333756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 In the end, Colin thinks charisma is about…</a:t>
            </a:r>
            <a:endParaRPr lang="en-US" sz="1200" dirty="0"/>
          </a:p>
        </p:txBody>
      </p:sp>
      <p:sp>
        <p:nvSpPr>
          <p:cNvPr id="30" name="R3_chip513"/>
          <p:cNvSpPr/>
          <p:nvPr/>
        </p:nvSpPr>
        <p:spPr>
          <a:xfrm>
            <a:off x="6812280" y="2459736"/>
            <a:ext cx="2057400" cy="457200"/>
          </a:xfrm>
          <a:prstGeom prst="roundRect">
            <a:avLst>
              <a:gd name="adj" fmla="val 20000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understanding who you really are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18" restart="whenNotActive" fill="hold" evtFilter="cancelBubble" nodeType="interactiveSeq">
                <p:stCondLst>
                  <p:cond evt="onClick" delay="0">
                    <p:tgtEl>
                      <p:spTgt spid="1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9" fill="hold">
                      <p:stCondLst>
                        <p:cond delay="0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2" dur="1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7"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"/>
                  </p:tgtEl>
                </p:cond>
              </p:nextCondLst>
            </p:seq>
            <p:audio>
              <p:cMediaNode vol="80000">
                <p:cTn id="28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7"/>
                </p:tgtEl>
              </p:cMediaNode>
            </p:audio>
            <p:audio>
              <p:cMediaNode vol="80000">
                <p:cTn id="29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19"/>
                </p:tgtEl>
              </p:cMediaNode>
            </p:audio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1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17</a:t>
            </a:r>
            <a:endParaRPr lang="en-US" sz="2200" dirty="0"/>
          </a:p>
        </p:txBody>
      </p:sp>
      <p:pic>
        <p:nvPicPr>
          <p:cNvPr id="4" name="brY_51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1989734" cy="621792"/>
          </a:xfrm>
          <a:prstGeom prst="rect">
            <a:avLst/>
          </a:prstGeom>
        </p:spPr>
      </p:pic>
      <p:sp>
        <p:nvSpPr>
          <p:cNvPr id="5" name="title_516"/>
          <p:cNvSpPr/>
          <p:nvPr/>
        </p:nvSpPr>
        <p:spPr>
          <a:xfrm>
            <a:off x="1261872" y="164592"/>
            <a:ext cx="17154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Mime it!</a:t>
            </a:r>
            <a:endParaRPr lang="en-US" sz="2500" dirty="0"/>
          </a:p>
        </p:txBody>
      </p:sp>
      <p:pic>
        <p:nvPicPr>
          <p:cNvPr id="6" name="brP_51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901184" cy="402336"/>
          </a:xfrm>
          <a:prstGeom prst="rect">
            <a:avLst/>
          </a:prstGeom>
        </p:spPr>
      </p:pic>
      <p:sp>
        <p:nvSpPr>
          <p:cNvPr id="7" name="ins_518"/>
          <p:cNvSpPr/>
          <p:nvPr/>
        </p:nvSpPr>
        <p:spPr>
          <a:xfrm>
            <a:off x="1353312" y="731520"/>
            <a:ext cx="464515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the action. Your team says the FULL phrase!</a:t>
            </a:r>
            <a:endParaRPr lang="en-US" sz="1250" dirty="0"/>
          </a:p>
        </p:txBody>
      </p:sp>
      <p:sp>
        <p:nvSpPr>
          <p:cNvPr id="8" name="insIT_51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 l'azione. La tua squadra dice la frase COMPLETA!</a:t>
            </a:r>
            <a:endParaRPr lang="en-US" sz="950" dirty="0"/>
          </a:p>
        </p:txBody>
      </p:sp>
      <p:sp>
        <p:nvSpPr>
          <p:cNvPr id="9" name="cmd_52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521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5 min   🏆 teams</a:t>
            </a:r>
            <a:endParaRPr lang="en-US" sz="950" dirty="0"/>
          </a:p>
        </p:txBody>
      </p:sp>
      <p:sp>
        <p:nvSpPr>
          <p:cNvPr id="11" name="tag_522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52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2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Game · body-language mime   ·   📖 SB p.63 · 5h</a:t>
            </a:r>
            <a:endParaRPr lang="en-US" sz="800" dirty="0"/>
          </a:p>
        </p:txBody>
      </p:sp>
      <p:sp>
        <p:nvSpPr>
          <p:cNvPr id="14" name="cd_525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ii_526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6" name="ih_527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7" name="il_528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The mimer looks at the screen – the team does NOT.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Il mimo guarda lo schermo – la squadra NO.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Mime it: no words, no sounds!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Mima: niente parole, niente suoni!</a:t>
            </a:r>
            <a:endParaRPr lang="en-US" sz="90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Team: 'You're shaking hands!' Full phrase = 1 point.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9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Squadra: frase completa = 1 punto.</a:t>
            </a:r>
            <a:endParaRPr lang="en-US" sz="900" dirty="0"/>
          </a:p>
        </p:txBody>
      </p:sp>
      <p:sp>
        <p:nvSpPr>
          <p:cNvPr id="18" name="st_529"/>
          <p:cNvSpPr/>
          <p:nvPr/>
        </p:nvSpPr>
        <p:spPr>
          <a:xfrm rot="-180000">
            <a:off x="502920" y="4114800"/>
            <a:ext cx="2286000" cy="59436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A  ☆☆☆☆☆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TEAM B  ☆☆☆☆☆</a:t>
            </a:r>
            <a:endParaRPr lang="en-US" sz="1250" dirty="0"/>
          </a:p>
        </p:txBody>
      </p:sp>
      <p:sp>
        <p:nvSpPr>
          <p:cNvPr id="19" name="bd_530"/>
          <p:cNvSpPr/>
          <p:nvPr/>
        </p:nvSpPr>
        <p:spPr>
          <a:xfrm>
            <a:off x="3246120" y="149123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531"/>
          <p:cNvSpPr/>
          <p:nvPr/>
        </p:nvSpPr>
        <p:spPr>
          <a:xfrm>
            <a:off x="3657600" y="14173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SHAKE HANDS</a:t>
            </a:r>
            <a:endParaRPr lang="en-US" sz="1250" dirty="0"/>
          </a:p>
        </p:txBody>
      </p:sp>
      <p:sp>
        <p:nvSpPr>
          <p:cNvPr id="21" name="R1_chip532"/>
          <p:cNvSpPr/>
          <p:nvPr/>
        </p:nvSpPr>
        <p:spPr>
          <a:xfrm>
            <a:off x="6263640" y="14173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shaking hands!</a:t>
            </a:r>
            <a:endParaRPr lang="en-US" sz="1200" dirty="0"/>
          </a:p>
        </p:txBody>
      </p:sp>
      <p:sp>
        <p:nvSpPr>
          <p:cNvPr id="22" name="bd_533"/>
          <p:cNvSpPr/>
          <p:nvPr/>
        </p:nvSpPr>
        <p:spPr>
          <a:xfrm>
            <a:off x="3246120" y="203225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534"/>
          <p:cNvSpPr/>
          <p:nvPr/>
        </p:nvSpPr>
        <p:spPr>
          <a:xfrm>
            <a:off x="3657600" y="195834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CROSS YOUR ARMS</a:t>
            </a:r>
            <a:endParaRPr lang="en-US" sz="1250" dirty="0"/>
          </a:p>
        </p:txBody>
      </p:sp>
      <p:sp>
        <p:nvSpPr>
          <p:cNvPr id="24" name="R2_chip535"/>
          <p:cNvSpPr/>
          <p:nvPr/>
        </p:nvSpPr>
        <p:spPr>
          <a:xfrm>
            <a:off x="6263640" y="195834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crossing your arms!</a:t>
            </a:r>
            <a:endParaRPr lang="en-US" sz="1200" dirty="0"/>
          </a:p>
        </p:txBody>
      </p:sp>
      <p:sp>
        <p:nvSpPr>
          <p:cNvPr id="25" name="bd_536"/>
          <p:cNvSpPr/>
          <p:nvPr/>
        </p:nvSpPr>
        <p:spPr>
          <a:xfrm>
            <a:off x="3246120" y="257327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537"/>
          <p:cNvSpPr/>
          <p:nvPr/>
        </p:nvSpPr>
        <p:spPr>
          <a:xfrm>
            <a:off x="3657600" y="249936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GIVE A THUMBS UP</a:t>
            </a:r>
            <a:endParaRPr lang="en-US" sz="1250" dirty="0"/>
          </a:p>
        </p:txBody>
      </p:sp>
      <p:sp>
        <p:nvSpPr>
          <p:cNvPr id="27" name="R3_chip538"/>
          <p:cNvSpPr/>
          <p:nvPr/>
        </p:nvSpPr>
        <p:spPr>
          <a:xfrm>
            <a:off x="6263640" y="249936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giving a thumbs up!</a:t>
            </a:r>
            <a:endParaRPr lang="en-US" sz="1200" dirty="0"/>
          </a:p>
        </p:txBody>
      </p:sp>
      <p:sp>
        <p:nvSpPr>
          <p:cNvPr id="28" name="bd_539"/>
          <p:cNvSpPr/>
          <p:nvPr/>
        </p:nvSpPr>
        <p:spPr>
          <a:xfrm>
            <a:off x="3246120" y="3114294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9" name="gq_540"/>
          <p:cNvSpPr/>
          <p:nvPr/>
        </p:nvSpPr>
        <p:spPr>
          <a:xfrm>
            <a:off x="3657600" y="304038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STAND WITH YOUR FEET APART</a:t>
            </a:r>
            <a:endParaRPr lang="en-US" sz="1250" dirty="0"/>
          </a:p>
        </p:txBody>
      </p:sp>
      <p:sp>
        <p:nvSpPr>
          <p:cNvPr id="30" name="R4_chip541"/>
          <p:cNvSpPr/>
          <p:nvPr/>
        </p:nvSpPr>
        <p:spPr>
          <a:xfrm>
            <a:off x="6263640" y="304038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standing with your feet apart!</a:t>
            </a:r>
            <a:endParaRPr lang="en-US" sz="1200" dirty="0"/>
          </a:p>
        </p:txBody>
      </p:sp>
      <p:sp>
        <p:nvSpPr>
          <p:cNvPr id="31" name="bd_542"/>
          <p:cNvSpPr/>
          <p:nvPr/>
        </p:nvSpPr>
        <p:spPr>
          <a:xfrm>
            <a:off x="3246120" y="3655314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5</a:t>
            </a:r>
            <a:endParaRPr lang="en-US" sz="1100" dirty="0"/>
          </a:p>
        </p:txBody>
      </p:sp>
      <p:sp>
        <p:nvSpPr>
          <p:cNvPr id="32" name="gq_543"/>
          <p:cNvSpPr/>
          <p:nvPr/>
        </p:nvSpPr>
        <p:spPr>
          <a:xfrm>
            <a:off x="3657600" y="358140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CHIN UP, SHOULDERS BACK</a:t>
            </a:r>
            <a:endParaRPr lang="en-US" sz="1250" dirty="0"/>
          </a:p>
        </p:txBody>
      </p:sp>
      <p:sp>
        <p:nvSpPr>
          <p:cNvPr id="33" name="R5_chip544"/>
          <p:cNvSpPr/>
          <p:nvPr/>
        </p:nvSpPr>
        <p:spPr>
          <a:xfrm>
            <a:off x="6263640" y="358140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You've got your chin up and your shoulders back!</a:t>
            </a:r>
            <a:endParaRPr lang="en-US" sz="1200" dirty="0"/>
          </a:p>
        </p:txBody>
      </p:sp>
      <p:sp>
        <p:nvSpPr>
          <p:cNvPr id="34" name="bd_545"/>
          <p:cNvSpPr/>
          <p:nvPr/>
        </p:nvSpPr>
        <p:spPr>
          <a:xfrm>
            <a:off x="3246120" y="4196334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6</a:t>
            </a:r>
            <a:endParaRPr lang="en-US" sz="1100" dirty="0"/>
          </a:p>
        </p:txBody>
      </p:sp>
      <p:sp>
        <p:nvSpPr>
          <p:cNvPr id="35" name="gq_546"/>
          <p:cNvSpPr/>
          <p:nvPr/>
        </p:nvSpPr>
        <p:spPr>
          <a:xfrm>
            <a:off x="3657600" y="4122420"/>
            <a:ext cx="2514600" cy="477012"/>
          </a:xfrm>
          <a:prstGeom prst="roundRect">
            <a:avLst>
              <a:gd name="adj" fmla="val 1916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MAKE EYE CONTACT</a:t>
            </a:r>
            <a:endParaRPr lang="en-US" sz="1250" dirty="0"/>
          </a:p>
        </p:txBody>
      </p:sp>
      <p:sp>
        <p:nvSpPr>
          <p:cNvPr id="36" name="R6_chip547"/>
          <p:cNvSpPr/>
          <p:nvPr/>
        </p:nvSpPr>
        <p:spPr>
          <a:xfrm>
            <a:off x="6263640" y="4122420"/>
            <a:ext cx="2560320" cy="477012"/>
          </a:xfrm>
          <a:prstGeom prst="roundRect">
            <a:avLst>
              <a:gd name="adj" fmla="val 19169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You're making eye contact!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48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18</a:t>
            </a:r>
            <a:endParaRPr lang="en-US" sz="2200" dirty="0"/>
          </a:p>
        </p:txBody>
      </p:sp>
      <p:pic>
        <p:nvPicPr>
          <p:cNvPr id="4" name="brY_549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449824" cy="621792"/>
          </a:xfrm>
          <a:prstGeom prst="rect">
            <a:avLst/>
          </a:prstGeom>
        </p:spPr>
      </p:pic>
      <p:sp>
        <p:nvSpPr>
          <p:cNvPr id="5" name="title_550"/>
          <p:cNvSpPr/>
          <p:nvPr/>
        </p:nvSpPr>
        <p:spPr>
          <a:xfrm>
            <a:off x="1261872" y="164592"/>
            <a:ext cx="5175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really learn charisma?</a:t>
            </a:r>
            <a:endParaRPr lang="en-US" sz="2500" dirty="0"/>
          </a:p>
        </p:txBody>
      </p:sp>
      <p:pic>
        <p:nvPicPr>
          <p:cNvPr id="6" name="brP_551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945636" cy="402336"/>
          </a:xfrm>
          <a:prstGeom prst="rect">
            <a:avLst/>
          </a:prstGeom>
        </p:spPr>
      </p:pic>
      <p:sp>
        <p:nvSpPr>
          <p:cNvPr id="7" name="ins_552"/>
          <p:cNvSpPr/>
          <p:nvPr/>
        </p:nvSpPr>
        <p:spPr>
          <a:xfrm>
            <a:off x="1353312" y="731520"/>
            <a:ext cx="36896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Discuss in groups of 3. Give reasons!</a:t>
            </a:r>
            <a:endParaRPr lang="en-US" sz="1250" dirty="0"/>
          </a:p>
        </p:txBody>
      </p:sp>
      <p:sp>
        <p:nvSpPr>
          <p:cNvPr id="8" name="insIT_553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Discuti in gruppi di 3. Spiega perché!</a:t>
            </a:r>
            <a:endParaRPr lang="en-US" sz="950" dirty="0"/>
          </a:p>
        </p:txBody>
      </p:sp>
      <p:sp>
        <p:nvSpPr>
          <p:cNvPr id="9" name="cmd_554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💬 </a:t>
            </a:r>
            <a:pPr indent="0" marL="0">
              <a:buNone/>
            </a:pPr>
            <a:r>
              <a:rPr lang="en-US" sz="950" dirty="0">
                <a:solidFill>
                  <a:srgbClr val="E8508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TALK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PARLA</a:t>
            </a:r>
            <a:endParaRPr lang="en-US" sz="950" dirty="0"/>
          </a:p>
        </p:txBody>
      </p:sp>
      <p:sp>
        <p:nvSpPr>
          <p:cNvPr id="10" name="meta_555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3 min   👨‍👩‍👧 groups</a:t>
            </a:r>
            <a:endParaRPr lang="en-US" sz="950" dirty="0"/>
          </a:p>
        </p:txBody>
      </p:sp>
      <p:sp>
        <p:nvSpPr>
          <p:cNvPr id="11" name="tag_556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</a:t>
            </a:r>
            <a:endParaRPr lang="en-US" sz="800" dirty="0"/>
          </a:p>
        </p:txBody>
      </p:sp>
      <p:pic>
        <p:nvPicPr>
          <p:cNvPr id="12" name="logo_557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558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Speaking · discussion   ·   📖 SB p.63 · 5i</a:t>
            </a:r>
            <a:endParaRPr lang="en-US" sz="800" dirty="0"/>
          </a:p>
        </p:txBody>
      </p:sp>
      <p:sp>
        <p:nvSpPr>
          <p:cNvPr id="14" name="pf_559"/>
          <p:cNvSpPr/>
          <p:nvPr/>
        </p:nvSpPr>
        <p:spPr>
          <a:xfrm rot="-120000">
            <a:off x="320040" y="1371600"/>
            <a:ext cx="2788920" cy="1325880"/>
          </a:xfrm>
          <a:prstGeom prst="roundRect">
            <a:avLst>
              <a:gd name="adj" fmla="val 1172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20000"/>
              </a:srgbClr>
            </a:outerShdw>
          </a:effectLst>
        </p:spPr>
      </p:sp>
      <p:pic>
        <p:nvPicPr>
          <p:cNvPr id="15" name="ph_560" descr="/home/claude/lls-course/v2/cache/6B_2_colin_jpg_649x297_3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365760" y="1417320"/>
            <a:ext cx="2697480" cy="1234440"/>
          </a:xfrm>
          <a:prstGeom prst="rect">
            <a:avLst/>
          </a:prstGeom>
        </p:spPr>
      </p:pic>
      <p:sp>
        <p:nvSpPr>
          <p:cNvPr id="16" name="cd_561"/>
          <p:cNvSpPr/>
          <p:nvPr/>
        </p:nvSpPr>
        <p:spPr>
          <a:xfrm>
            <a:off x="320040" y="2880360"/>
            <a:ext cx="2788920" cy="1874520"/>
          </a:xfrm>
          <a:prstGeom prst="roundRect">
            <a:avLst>
              <a:gd name="adj" fmla="val 6829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562"/>
          <p:cNvSpPr/>
          <p:nvPr/>
        </p:nvSpPr>
        <p:spPr>
          <a:xfrm>
            <a:off x="411480" y="2953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563"/>
          <p:cNvSpPr/>
          <p:nvPr/>
        </p:nvSpPr>
        <p:spPr>
          <a:xfrm>
            <a:off x="886968" y="297180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Useful phrases</a:t>
            </a:r>
            <a:endParaRPr lang="en-US" sz="1300" dirty="0"/>
          </a:p>
        </p:txBody>
      </p:sp>
      <p:sp>
        <p:nvSpPr>
          <p:cNvPr id="19" name="il_564"/>
          <p:cNvSpPr/>
          <p:nvPr/>
        </p:nvSpPr>
        <p:spPr>
          <a:xfrm>
            <a:off x="886968" y="3374136"/>
            <a:ext cx="2130552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think you can / can't learn it because…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It depends on…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I'd never pay £150 an hour!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 agree / I'm not so sure…</a:t>
            </a:r>
            <a:endParaRPr lang="en-US" sz="1150" dirty="0"/>
          </a:p>
        </p:txBody>
      </p:sp>
      <p:sp>
        <p:nvSpPr>
          <p:cNvPr id="20" name="R1_qb565"/>
          <p:cNvSpPr/>
          <p:nvPr/>
        </p:nvSpPr>
        <p:spPr>
          <a:xfrm>
            <a:off x="3273552" y="1453896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R1_sq566"/>
          <p:cNvSpPr/>
          <p:nvPr/>
        </p:nvSpPr>
        <p:spPr>
          <a:xfrm>
            <a:off x="3675888" y="1417320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it possible to teach people to have charisma?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 think you can learn some things, like eye contact.</a:t>
            </a:r>
            <a:endParaRPr lang="en-US" sz="1150" dirty="0"/>
          </a:p>
        </p:txBody>
      </p:sp>
      <p:sp>
        <p:nvSpPr>
          <p:cNvPr id="22" name="R2_qb567"/>
          <p:cNvSpPr/>
          <p:nvPr/>
        </p:nvSpPr>
        <p:spPr>
          <a:xfrm>
            <a:off x="3273552" y="2057400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R2_sq568"/>
          <p:cNvSpPr/>
          <p:nvPr/>
        </p:nvSpPr>
        <p:spPr>
          <a:xfrm>
            <a:off x="3675888" y="2020824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Would you ever do a course like this? Why (not)?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Maybe before a job interview.</a:t>
            </a:r>
            <a:endParaRPr lang="en-US" sz="1150" dirty="0"/>
          </a:p>
        </p:txBody>
      </p:sp>
      <p:sp>
        <p:nvSpPr>
          <p:cNvPr id="24" name="R3_qb569"/>
          <p:cNvSpPr/>
          <p:nvPr/>
        </p:nvSpPr>
        <p:spPr>
          <a:xfrm>
            <a:off x="3273552" y="266090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5" name="R3_sq570"/>
          <p:cNvSpPr/>
          <p:nvPr/>
        </p:nvSpPr>
        <p:spPr>
          <a:xfrm>
            <a:off x="3675888" y="2624328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Is £150 an hour worth it?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No way – I can watch videos online!</a:t>
            </a:r>
            <a:endParaRPr lang="en-US" sz="1150" dirty="0"/>
          </a:p>
        </p:txBody>
      </p:sp>
      <p:sp>
        <p:nvSpPr>
          <p:cNvPr id="26" name="R4_qb571"/>
          <p:cNvSpPr/>
          <p:nvPr/>
        </p:nvSpPr>
        <p:spPr>
          <a:xfrm>
            <a:off x="3273552" y="3264408"/>
            <a:ext cx="329184" cy="329184"/>
          </a:xfrm>
          <a:prstGeom prst="ellipse">
            <a:avLst/>
          </a:prstGeom>
          <a:solidFill>
            <a:srgbClr val="F2B705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4</a:t>
            </a:r>
            <a:endParaRPr lang="en-US" sz="1100" dirty="0"/>
          </a:p>
        </p:txBody>
      </p:sp>
      <p:sp>
        <p:nvSpPr>
          <p:cNvPr id="27" name="R4_sq572"/>
          <p:cNvSpPr/>
          <p:nvPr/>
        </p:nvSpPr>
        <p:spPr>
          <a:xfrm>
            <a:off x="3675888" y="3227832"/>
            <a:ext cx="5193792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27000" tIns="25400" rIns="127000" bIns="2540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tip will YOU try this week?</a:t>
            </a:r>
            <a:endParaRPr lang="en-US" sz="1150" dirty="0"/>
          </a:p>
          <a:p>
            <a:pPr indent="0" marL="0">
              <a:buNone/>
            </a:pPr>
            <a:r>
              <a:rPr lang="en-US" sz="90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e.g. I'm going to make more eye contact.</a:t>
            </a:r>
            <a:endParaRPr lang="en-US" sz="115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73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19</a:t>
            </a:r>
            <a:endParaRPr lang="en-US" sz="2200" dirty="0"/>
          </a:p>
        </p:txBody>
      </p:sp>
      <p:pic>
        <p:nvPicPr>
          <p:cNvPr id="4" name="brY_574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147011" cy="621792"/>
          </a:xfrm>
          <a:prstGeom prst="rect">
            <a:avLst/>
          </a:prstGeom>
        </p:spPr>
      </p:pic>
      <p:sp>
        <p:nvSpPr>
          <p:cNvPr id="5" name="title_575"/>
          <p:cNvSpPr/>
          <p:nvPr/>
        </p:nvSpPr>
        <p:spPr>
          <a:xfrm>
            <a:off x="1261872" y="164592"/>
            <a:ext cx="187269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 · 2 · 1</a:t>
            </a:r>
            <a:endParaRPr lang="en-US" sz="2500" dirty="0"/>
          </a:p>
        </p:txBody>
      </p:sp>
      <p:pic>
        <p:nvPicPr>
          <p:cNvPr id="6" name="brP_576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858768" cy="402336"/>
          </a:xfrm>
          <a:prstGeom prst="rect">
            <a:avLst/>
          </a:prstGeom>
        </p:spPr>
      </p:pic>
      <p:sp>
        <p:nvSpPr>
          <p:cNvPr id="7" name="ins_577"/>
          <p:cNvSpPr/>
          <p:nvPr/>
        </p:nvSpPr>
        <p:spPr>
          <a:xfrm>
            <a:off x="1353312" y="731520"/>
            <a:ext cx="3602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Books closed! What can you remember?</a:t>
            </a:r>
            <a:endParaRPr lang="en-US" sz="1250" dirty="0"/>
          </a:p>
        </p:txBody>
      </p:sp>
      <p:sp>
        <p:nvSpPr>
          <p:cNvPr id="8" name="insIT_578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Libri chiusi! Cosa ricordi?</a:t>
            </a:r>
            <a:endParaRPr lang="en-US" sz="950" dirty="0"/>
          </a:p>
        </p:txBody>
      </p:sp>
      <p:sp>
        <p:nvSpPr>
          <p:cNvPr id="9" name="meta_579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2 min   👥 pairs</a:t>
            </a:r>
            <a:endParaRPr lang="en-US" sz="950" dirty="0"/>
          </a:p>
        </p:txBody>
      </p:sp>
      <p:sp>
        <p:nvSpPr>
          <p:cNvPr id="10" name="tag_580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Retrieval</a:t>
            </a:r>
            <a:endParaRPr lang="en-US" sz="950" dirty="0"/>
          </a:p>
        </p:txBody>
      </p:sp>
      <p:pic>
        <p:nvPicPr>
          <p:cNvPr id="11" name="logo_581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2" name="foot_582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Exit · what can you remember?</a:t>
            </a:r>
            <a:endParaRPr lang="en-US" sz="800" dirty="0"/>
          </a:p>
        </p:txBody>
      </p:sp>
      <p:sp>
        <p:nvSpPr>
          <p:cNvPr id="13" name="bd_583"/>
          <p:cNvSpPr/>
          <p:nvPr/>
        </p:nvSpPr>
        <p:spPr>
          <a:xfrm>
            <a:off x="457200" y="1508760"/>
            <a:ext cx="777240" cy="777240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rt_584"/>
          <p:cNvSpPr/>
          <p:nvPr/>
        </p:nvSpPr>
        <p:spPr>
          <a:xfrm>
            <a:off x="1417320" y="158191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body verbs (clap, nod…) + the part of the body</a:t>
            </a:r>
            <a:endParaRPr lang="en-US" sz="1400" dirty="0"/>
          </a:p>
        </p:txBody>
      </p:sp>
      <p:sp>
        <p:nvSpPr>
          <p:cNvPr id="15" name="bd_585"/>
          <p:cNvSpPr/>
          <p:nvPr/>
        </p:nvSpPr>
        <p:spPr>
          <a:xfrm>
            <a:off x="457200" y="2468880"/>
            <a:ext cx="777240" cy="777240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2600" dirty="0"/>
          </a:p>
        </p:txBody>
      </p:sp>
      <p:sp>
        <p:nvSpPr>
          <p:cNvPr id="16" name="rt_586"/>
          <p:cNvSpPr/>
          <p:nvPr/>
        </p:nvSpPr>
        <p:spPr>
          <a:xfrm>
            <a:off x="1417320" y="254203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tips from the charisma coach</a:t>
            </a:r>
            <a:endParaRPr lang="en-US" sz="1400" dirty="0"/>
          </a:p>
        </p:txBody>
      </p:sp>
      <p:sp>
        <p:nvSpPr>
          <p:cNvPr id="17" name="bd_587"/>
          <p:cNvSpPr/>
          <p:nvPr/>
        </p:nvSpPr>
        <p:spPr>
          <a:xfrm>
            <a:off x="457200" y="3429000"/>
            <a:ext cx="777240" cy="777240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2600" dirty="0"/>
          </a:p>
        </p:txBody>
      </p:sp>
      <p:sp>
        <p:nvSpPr>
          <p:cNvPr id="18" name="rt_588"/>
          <p:cNvSpPr/>
          <p:nvPr/>
        </p:nvSpPr>
        <p:spPr>
          <a:xfrm>
            <a:off x="1417320" y="3502152"/>
            <a:ext cx="3931920" cy="64008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52400" tIns="0" rIns="152400" bIns="0" rtlCol="0" anchor="ctr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word with a diphthong: bike, train, phone, owl, chair</a:t>
            </a:r>
            <a:endParaRPr lang="en-US" sz="1400" dirty="0"/>
          </a:p>
        </p:txBody>
      </p:sp>
      <p:sp>
        <p:nvSpPr>
          <p:cNvPr id="19" name="cd_589"/>
          <p:cNvSpPr/>
          <p:nvPr/>
        </p:nvSpPr>
        <p:spPr>
          <a:xfrm>
            <a:off x="5669280" y="1417320"/>
            <a:ext cx="3200400" cy="1689608"/>
          </a:xfrm>
          <a:prstGeom prst="roundRect">
            <a:avLst>
              <a:gd name="adj" fmla="val 7577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0" name="ii_590"/>
          <p:cNvSpPr/>
          <p:nvPr/>
        </p:nvSpPr>
        <p:spPr>
          <a:xfrm>
            <a:off x="576072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📝</a:t>
            </a:r>
            <a:endParaRPr lang="en-US" sz="2200" dirty="0"/>
          </a:p>
        </p:txBody>
      </p:sp>
      <p:sp>
        <p:nvSpPr>
          <p:cNvPr id="21" name="ih_591"/>
          <p:cNvSpPr/>
          <p:nvPr/>
        </p:nvSpPr>
        <p:spPr>
          <a:xfrm>
            <a:off x="6236208" y="150876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Homework · Compiti</a:t>
            </a:r>
            <a:endParaRPr lang="en-US" sz="1400" dirty="0"/>
          </a:p>
        </p:txBody>
      </p:sp>
      <p:sp>
        <p:nvSpPr>
          <p:cNvPr id="22" name="il_592"/>
          <p:cNvSpPr/>
          <p:nvPr/>
        </p:nvSpPr>
        <p:spPr>
          <a:xfrm>
            <a:off x="6236208" y="1911096"/>
            <a:ext cx="2542032" cy="1122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Workbook 6B: 2a, 2b, 2c, 2d, 3a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Vocabulary Bank p.160: test yourself</a:t>
            </a:r>
            <a:endParaRPr lang="en-US" sz="11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11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Homework sheet in the LLS app</a:t>
            </a:r>
            <a:endParaRPr lang="en-US" sz="1150" dirty="0"/>
          </a:p>
        </p:txBody>
      </p:sp>
      <p:sp>
        <p:nvSpPr>
          <p:cNvPr id="23" name="st_593"/>
          <p:cNvSpPr/>
          <p:nvPr/>
        </p:nvSpPr>
        <p:spPr>
          <a:xfrm rot="-180000">
            <a:off x="5806440" y="3483864"/>
            <a:ext cx="2926080" cy="685800"/>
          </a:xfrm>
          <a:prstGeom prst="rect">
            <a:avLst/>
          </a:prstGeom>
          <a:solidFill>
            <a:srgbClr val="FFC2DA"/>
          </a:solidFill>
          <a:ln>
            <a:solidFill>
              <a:srgbClr val="FFC2D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Next lesson: Revise and Check 5 &amp; 6</a:t>
            </a:r>
            <a:endParaRPr lang="en-US" sz="1100" dirty="0"/>
          </a:p>
        </p:txBody>
      </p:sp>
    </p:spTree>
  </p:cSld>
  <p:clrMapOvr>
    <a:masterClrMapping/>
  </p:clrMapOvr>
  <p:transition spd="med">
    <p:push dir="l"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594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20</a:t>
            </a:r>
            <a:endParaRPr lang="en-US" sz="2200" dirty="0"/>
          </a:p>
        </p:txBody>
      </p:sp>
      <p:pic>
        <p:nvPicPr>
          <p:cNvPr id="4" name="brY_595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2304288" cy="621792"/>
          </a:xfrm>
          <a:prstGeom prst="rect">
            <a:avLst/>
          </a:prstGeom>
        </p:spPr>
      </p:pic>
      <p:sp>
        <p:nvSpPr>
          <p:cNvPr id="5" name="title_596"/>
          <p:cNvSpPr/>
          <p:nvPr/>
        </p:nvSpPr>
        <p:spPr>
          <a:xfrm>
            <a:off x="1261872" y="164592"/>
            <a:ext cx="20299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Today you…</a:t>
            </a:r>
            <a:endParaRPr lang="en-US" sz="2400" dirty="0"/>
          </a:p>
        </p:txBody>
      </p:sp>
      <p:pic>
        <p:nvPicPr>
          <p:cNvPr id="6" name="brP_597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553712" cy="402336"/>
          </a:xfrm>
          <a:prstGeom prst="rect">
            <a:avLst/>
          </a:prstGeom>
        </p:spPr>
      </p:pic>
      <p:sp>
        <p:nvSpPr>
          <p:cNvPr id="7" name="ins_598"/>
          <p:cNvSpPr/>
          <p:nvPr/>
        </p:nvSpPr>
        <p:spPr>
          <a:xfrm>
            <a:off x="1353312" y="731520"/>
            <a:ext cx="4297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Can you do it now? Thumbs up or thumbs down!</a:t>
            </a:r>
            <a:endParaRPr lang="en-US" sz="1250" dirty="0"/>
          </a:p>
        </p:txBody>
      </p:sp>
      <p:sp>
        <p:nvSpPr>
          <p:cNvPr id="8" name="insIT_599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Ora sai farlo? Pollice su o pollice giù!</a:t>
            </a:r>
            <a:endParaRPr lang="en-US" sz="950" dirty="0"/>
          </a:p>
        </p:txBody>
      </p:sp>
      <p:sp>
        <p:nvSpPr>
          <p:cNvPr id="9" name="cmd_600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meta_601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1 min   🙋 whole class</a:t>
            </a:r>
            <a:endParaRPr lang="en-US" sz="950" dirty="0"/>
          </a:p>
        </p:txBody>
      </p:sp>
      <p:sp>
        <p:nvSpPr>
          <p:cNvPr id="11" name="tag_602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Revision</a:t>
            </a:r>
            <a:pPr algn="ctr" indent="0" marL="0">
              <a:buNone/>
            </a:pPr>
            <a:r>
              <a:rPr lang="en-US" sz="9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Reflection</a:t>
            </a:r>
            <a:endParaRPr lang="en-US" sz="950" dirty="0"/>
          </a:p>
        </p:txBody>
      </p:sp>
      <p:pic>
        <p:nvPicPr>
          <p:cNvPr id="12" name="logo_603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04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Review · what did you do today?</a:t>
            </a:r>
            <a:endParaRPr lang="en-US" sz="800" dirty="0"/>
          </a:p>
        </p:txBody>
      </p:sp>
      <p:sp>
        <p:nvSpPr>
          <p:cNvPr id="14" name="cd_605"/>
          <p:cNvSpPr/>
          <p:nvPr/>
        </p:nvSpPr>
        <p:spPr>
          <a:xfrm>
            <a:off x="548640" y="1417320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5" name="te_606"/>
          <p:cNvSpPr/>
          <p:nvPr/>
        </p:nvSpPr>
        <p:spPr>
          <a:xfrm>
            <a:off x="640080" y="14538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🖐️</a:t>
            </a:r>
            <a:endParaRPr lang="en-US" sz="1800" dirty="0"/>
          </a:p>
        </p:txBody>
      </p:sp>
      <p:sp>
        <p:nvSpPr>
          <p:cNvPr id="16" name="tt_607"/>
          <p:cNvSpPr/>
          <p:nvPr/>
        </p:nvSpPr>
        <p:spPr>
          <a:xfrm>
            <a:off x="1188720" y="1417320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Learnt parts of the body and body verbs</a:t>
            </a:r>
            <a:endParaRPr lang="en-US" sz="1350" dirty="0"/>
          </a:p>
        </p:txBody>
      </p:sp>
      <p:sp>
        <p:nvSpPr>
          <p:cNvPr id="17" name="R1_tk608"/>
          <p:cNvSpPr/>
          <p:nvPr/>
        </p:nvSpPr>
        <p:spPr>
          <a:xfrm>
            <a:off x="5989320" y="145389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18" name="cd_609"/>
          <p:cNvSpPr/>
          <p:nvPr/>
        </p:nvSpPr>
        <p:spPr>
          <a:xfrm>
            <a:off x="548640" y="2020824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9D3F5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9" name="te_610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🔊</a:t>
            </a:r>
            <a:endParaRPr lang="en-US" sz="1800" dirty="0"/>
          </a:p>
        </p:txBody>
      </p:sp>
      <p:sp>
        <p:nvSpPr>
          <p:cNvPr id="20" name="tt_611"/>
          <p:cNvSpPr/>
          <p:nvPr/>
        </p:nvSpPr>
        <p:spPr>
          <a:xfrm>
            <a:off x="1188720" y="2020824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Said 'two sounds in one': bike, train, phone…</a:t>
            </a:r>
            <a:endParaRPr lang="en-US" sz="1350" dirty="0"/>
          </a:p>
        </p:txBody>
      </p:sp>
      <p:sp>
        <p:nvSpPr>
          <p:cNvPr id="21" name="R2_tk612"/>
          <p:cNvSpPr/>
          <p:nvPr/>
        </p:nvSpPr>
        <p:spPr>
          <a:xfrm>
            <a:off x="5989320" y="205740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2" name="cd_613"/>
          <p:cNvSpPr/>
          <p:nvPr/>
        </p:nvSpPr>
        <p:spPr>
          <a:xfrm>
            <a:off x="548640" y="2624328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A8E5BE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3" name="te_614"/>
          <p:cNvSpPr/>
          <p:nvPr/>
        </p:nvSpPr>
        <p:spPr>
          <a:xfrm>
            <a:off x="64008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4" name="tt_615"/>
          <p:cNvSpPr/>
          <p:nvPr/>
        </p:nvSpPr>
        <p:spPr>
          <a:xfrm>
            <a:off x="1188720" y="2624328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Read and listened: can you LEARN charisma?</a:t>
            </a:r>
            <a:endParaRPr lang="en-US" sz="1350" dirty="0"/>
          </a:p>
        </p:txBody>
      </p:sp>
      <p:sp>
        <p:nvSpPr>
          <p:cNvPr id="25" name="R3_tk616"/>
          <p:cNvSpPr/>
          <p:nvPr/>
        </p:nvSpPr>
        <p:spPr>
          <a:xfrm>
            <a:off x="5989320" y="266090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26" name="cd_617"/>
          <p:cNvSpPr/>
          <p:nvPr/>
        </p:nvSpPr>
        <p:spPr>
          <a:xfrm>
            <a:off x="548640" y="3227832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27" name="te_618"/>
          <p:cNvSpPr/>
          <p:nvPr/>
        </p:nvSpPr>
        <p:spPr>
          <a:xfrm>
            <a:off x="640080" y="32644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📖</a:t>
            </a:r>
            <a:endParaRPr lang="en-US" sz="1800" dirty="0"/>
          </a:p>
        </p:txBody>
      </p:sp>
      <p:sp>
        <p:nvSpPr>
          <p:cNvPr id="28" name="tt_619"/>
          <p:cNvSpPr/>
          <p:nvPr/>
        </p:nvSpPr>
        <p:spPr>
          <a:xfrm>
            <a:off x="1188720" y="3227832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Listened to a class story and answered questions</a:t>
            </a:r>
            <a:endParaRPr lang="en-US" sz="1350" dirty="0"/>
          </a:p>
        </p:txBody>
      </p:sp>
      <p:sp>
        <p:nvSpPr>
          <p:cNvPr id="29" name="R4_tk620"/>
          <p:cNvSpPr/>
          <p:nvPr/>
        </p:nvSpPr>
        <p:spPr>
          <a:xfrm>
            <a:off x="5989320" y="326440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0" name="cd_621"/>
          <p:cNvSpPr/>
          <p:nvPr/>
        </p:nvSpPr>
        <p:spPr>
          <a:xfrm>
            <a:off x="548640" y="3831336"/>
            <a:ext cx="6035040" cy="530352"/>
          </a:xfrm>
          <a:prstGeom prst="roundRect">
            <a:avLst>
              <a:gd name="adj" fmla="val 24138"/>
            </a:avLst>
          </a:prstGeom>
          <a:solidFill>
            <a:srgbClr val="FFFFFF"/>
          </a:solidFill>
          <a:ln w="28575">
            <a:solidFill>
              <a:srgbClr val="F7A6C4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31" name="te_622"/>
          <p:cNvSpPr/>
          <p:nvPr/>
        </p:nvSpPr>
        <p:spPr>
          <a:xfrm>
            <a:off x="640080" y="38679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🎭</a:t>
            </a:r>
            <a:endParaRPr lang="en-US" sz="1800" dirty="0"/>
          </a:p>
        </p:txBody>
      </p:sp>
      <p:sp>
        <p:nvSpPr>
          <p:cNvPr id="32" name="tt_623"/>
          <p:cNvSpPr/>
          <p:nvPr/>
        </p:nvSpPr>
        <p:spPr>
          <a:xfrm>
            <a:off x="1188720" y="3831336"/>
            <a:ext cx="47548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Played a body-language mime game</a:t>
            </a:r>
            <a:endParaRPr lang="en-US" sz="1350" dirty="0"/>
          </a:p>
        </p:txBody>
      </p:sp>
      <p:sp>
        <p:nvSpPr>
          <p:cNvPr id="33" name="R5_tk624"/>
          <p:cNvSpPr/>
          <p:nvPr/>
        </p:nvSpPr>
        <p:spPr>
          <a:xfrm>
            <a:off x="5989320" y="386791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✅</a:t>
            </a:r>
            <a:endParaRPr lang="en-US" sz="1800" dirty="0"/>
          </a:p>
        </p:txBody>
      </p:sp>
      <p:sp>
        <p:nvSpPr>
          <p:cNvPr id="34" name="st_625"/>
          <p:cNvSpPr/>
          <p:nvPr/>
        </p:nvSpPr>
        <p:spPr>
          <a:xfrm rot="180000">
            <a:off x="6949440" y="1691640"/>
            <a:ext cx="1828800" cy="1188720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👍  👌  👎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Can you do it now?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Ora sai farlo?</a:t>
            </a:r>
            <a:endParaRPr lang="en-US" sz="13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26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21</a:t>
            </a:r>
            <a:endParaRPr lang="en-US" sz="2200" dirty="0"/>
          </a:p>
        </p:txBody>
      </p:sp>
      <p:pic>
        <p:nvPicPr>
          <p:cNvPr id="4" name="brY_627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5292547" cy="621792"/>
          </a:xfrm>
          <a:prstGeom prst="rect">
            <a:avLst/>
          </a:prstGeom>
        </p:spPr>
      </p:pic>
      <p:sp>
        <p:nvSpPr>
          <p:cNvPr id="5" name="title_628"/>
          <p:cNvSpPr/>
          <p:nvPr/>
        </p:nvSpPr>
        <p:spPr>
          <a:xfrm>
            <a:off x="1261872" y="164592"/>
            <a:ext cx="501822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 day with a personal stylist</a:t>
            </a:r>
            <a:endParaRPr lang="en-US" sz="2500" dirty="0"/>
          </a:p>
        </p:txBody>
      </p:sp>
      <p:pic>
        <p:nvPicPr>
          <p:cNvPr id="6" name="brP_629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3771900" cy="402336"/>
          </a:xfrm>
          <a:prstGeom prst="rect">
            <a:avLst/>
          </a:prstGeom>
        </p:spPr>
      </p:pic>
      <p:sp>
        <p:nvSpPr>
          <p:cNvPr id="7" name="ins_630"/>
          <p:cNvSpPr/>
          <p:nvPr/>
        </p:nvSpPr>
        <p:spPr>
          <a:xfrm>
            <a:off x="1353312" y="731520"/>
            <a:ext cx="35158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Watch Part 1. Answer the questions.</a:t>
            </a:r>
            <a:endParaRPr lang="en-US" sz="1250" dirty="0"/>
          </a:p>
        </p:txBody>
      </p:sp>
      <p:sp>
        <p:nvSpPr>
          <p:cNvPr id="8" name="insIT_631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Guarda la Parte 1. Rispondi alle domande.</a:t>
            </a:r>
            <a:endParaRPr lang="en-US" sz="950" dirty="0"/>
          </a:p>
        </p:txBody>
      </p:sp>
      <p:sp>
        <p:nvSpPr>
          <p:cNvPr id="9" name="cmd_632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800" dirty="0"/>
          </a:p>
        </p:txBody>
      </p:sp>
      <p:sp>
        <p:nvSpPr>
          <p:cNvPr id="10" name="meta_633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🙋 whole class</a:t>
            </a:r>
            <a:endParaRPr lang="en-US" sz="950" dirty="0"/>
          </a:p>
        </p:txBody>
      </p:sp>
      <p:sp>
        <p:nvSpPr>
          <p:cNvPr id="11" name="tag_634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2" name="logo_635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36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1   ·   📖 SB p.63 · 6a–6c · video Part 1 (4'42")</a:t>
            </a:r>
            <a:endParaRPr lang="en-US" sz="800" dirty="0"/>
          </a:p>
        </p:txBody>
      </p:sp>
      <p:sp>
        <p:nvSpPr>
          <p:cNvPr id="14" name="st_637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5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6" name="cd_638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7" name="ii_639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8" name="ih_640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19" name="il_641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of Sam's outfits do YOU like best? Why?</a:t>
            </a:r>
            <a:endParaRPr lang="en-US" sz="700" dirty="0"/>
          </a:p>
        </p:txBody>
      </p:sp>
      <p:sp>
        <p:nvSpPr>
          <p:cNvPr id="20" name="vq_642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What's Sam's job?</a:t>
            </a:r>
            <a:endParaRPr lang="en-US" sz="1100" dirty="0"/>
          </a:p>
        </p:txBody>
      </p:sp>
      <p:sp>
        <p:nvSpPr>
          <p:cNvPr id="21" name="R1_chip643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an actor</a:t>
            </a:r>
            <a:endParaRPr lang="en-US" sz="1000" dirty="0"/>
          </a:p>
        </p:txBody>
      </p:sp>
      <p:sp>
        <p:nvSpPr>
          <p:cNvPr id="22" name="vq_644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Why did he want a stylist?</a:t>
            </a:r>
            <a:endParaRPr lang="en-US" sz="1100" dirty="0"/>
          </a:p>
        </p:txBody>
      </p:sp>
      <p:sp>
        <p:nvSpPr>
          <p:cNvPr id="23" name="R2_chip645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his wardrobe was boring – he wanted a new opinion</a:t>
            </a:r>
            <a:endParaRPr lang="en-US" sz="1000" dirty="0"/>
          </a:p>
        </p:txBody>
      </p:sp>
      <p:sp>
        <p:nvSpPr>
          <p:cNvPr id="24" name="vq_646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Which outfit did Sam like best?</a:t>
            </a:r>
            <a:endParaRPr lang="en-US" sz="1100" dirty="0"/>
          </a:p>
        </p:txBody>
      </p:sp>
      <p:sp>
        <p:nvSpPr>
          <p:cNvPr id="25" name="R3_chip647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– quite bold; he felt very smart</a:t>
            </a:r>
            <a:endParaRPr lang="en-US" sz="1000" dirty="0"/>
          </a:p>
        </p:txBody>
      </p:sp>
      <p:sp>
        <p:nvSpPr>
          <p:cNvPr id="26" name="vq_648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First thing he did?</a:t>
            </a:r>
            <a:endParaRPr lang="en-US" sz="1100" dirty="0"/>
          </a:p>
        </p:txBody>
      </p:sp>
      <p:sp>
        <p:nvSpPr>
          <p:cNvPr id="27" name="R4_chip649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filled in a questionnaire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5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50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7B5CD6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22</a:t>
            </a:r>
            <a:endParaRPr lang="en-US" sz="2200" dirty="0"/>
          </a:p>
        </p:txBody>
      </p:sp>
      <p:pic>
        <p:nvPicPr>
          <p:cNvPr id="4" name="brY_651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719779" cy="621792"/>
          </a:xfrm>
          <a:prstGeom prst="rect">
            <a:avLst/>
          </a:prstGeom>
        </p:spPr>
      </p:pic>
      <p:sp>
        <p:nvSpPr>
          <p:cNvPr id="5" name="title_652"/>
          <p:cNvSpPr/>
          <p:nvPr/>
        </p:nvSpPr>
        <p:spPr>
          <a:xfrm>
            <a:off x="1261872" y="164592"/>
            <a:ext cx="34454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Elin's golden rules</a:t>
            </a:r>
            <a:endParaRPr lang="en-US" sz="2500" dirty="0"/>
          </a:p>
        </p:txBody>
      </p:sp>
      <p:pic>
        <p:nvPicPr>
          <p:cNvPr id="6" name="brP_653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466844" cy="402336"/>
          </a:xfrm>
          <a:prstGeom prst="rect">
            <a:avLst/>
          </a:prstGeom>
        </p:spPr>
      </p:pic>
      <p:sp>
        <p:nvSpPr>
          <p:cNvPr id="7" name="ins_654"/>
          <p:cNvSpPr/>
          <p:nvPr/>
        </p:nvSpPr>
        <p:spPr>
          <a:xfrm>
            <a:off x="1353312" y="731520"/>
            <a:ext cx="42108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Guess the missing words. Then watch Part 2.</a:t>
            </a:r>
            <a:endParaRPr lang="en-US" sz="1250" dirty="0"/>
          </a:p>
        </p:txBody>
      </p:sp>
      <p:sp>
        <p:nvSpPr>
          <p:cNvPr id="8" name="insIT_655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Indovina le parole mancanti. Poi guarda la Parte 2.</a:t>
            </a:r>
            <a:endParaRPr lang="en-US" sz="950" dirty="0"/>
          </a:p>
        </p:txBody>
      </p:sp>
      <p:sp>
        <p:nvSpPr>
          <p:cNvPr id="9" name="cmd_656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💡 </a:t>
            </a:r>
            <a:pPr indent="0" marL="0">
              <a:buNone/>
            </a:pPr>
            <a:r>
              <a:rPr lang="en-US" sz="950" dirty="0">
                <a:solidFill>
                  <a:srgbClr val="2F8DE4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THINK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PENSA</a:t>
            </a:r>
            <a:endParaRPr lang="en-US" sz="950" dirty="0"/>
          </a:p>
        </p:txBody>
      </p:sp>
      <p:sp>
        <p:nvSpPr>
          <p:cNvPr id="10" name="cmd_657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DBFF3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🎬 </a:t>
            </a:r>
            <a:pPr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WATCH</a:t>
            </a:r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GUARDA IL VIDEO</a:t>
            </a:r>
            <a:endParaRPr lang="en-US" sz="800" dirty="0"/>
          </a:p>
        </p:txBody>
      </p:sp>
      <p:sp>
        <p:nvSpPr>
          <p:cNvPr id="11" name="meta_658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4 min   🙋 whole class</a:t>
            </a:r>
            <a:endParaRPr lang="en-US" sz="950" dirty="0"/>
          </a:p>
        </p:txBody>
      </p:sp>
      <p:sp>
        <p:nvSpPr>
          <p:cNvPr id="12" name="tag_659"/>
          <p:cNvSpPr/>
          <p:nvPr/>
        </p:nvSpPr>
        <p:spPr>
          <a:xfrm>
            <a:off x="6510528" y="1115568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Listening</a:t>
            </a:r>
            <a:pPr algn="ctr" indent="0" marL="0">
              <a:buNone/>
            </a:pPr>
            <a:r>
              <a:rPr lang="en-US" sz="80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Authentic video</a:t>
            </a:r>
            <a:endParaRPr lang="en-US" sz="800" dirty="0"/>
          </a:p>
        </p:txBody>
      </p:sp>
      <p:pic>
        <p:nvPicPr>
          <p:cNvPr id="13" name="logo_660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4" name="foot_661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video listening · Part 2   ·   📖 SB p.63 · 6d, 6e · video Part 2 (1'27")</a:t>
            </a:r>
            <a:endParaRPr lang="en-US" sz="800" dirty="0"/>
          </a:p>
        </p:txBody>
      </p:sp>
      <p:sp>
        <p:nvSpPr>
          <p:cNvPr id="15" name="st_662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pic>
        <p:nvPicPr>
          <p:cNvPr id="16" name="Media 0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365760" y="1417320"/>
            <a:ext cx="4480560" cy="2523744"/>
          </a:xfrm>
          <a:prstGeom prst="rect">
            <a:avLst/>
          </a:prstGeom>
        </p:spPr>
      </p:pic>
      <p:sp>
        <p:nvSpPr>
          <p:cNvPr id="17" name="cd_663"/>
          <p:cNvSpPr/>
          <p:nvPr/>
        </p:nvSpPr>
        <p:spPr>
          <a:xfrm>
            <a:off x="320040" y="4069080"/>
            <a:ext cx="4572000" cy="685800"/>
          </a:xfrm>
          <a:prstGeom prst="roundRect">
            <a:avLst>
              <a:gd name="adj" fmla="val 18667"/>
            </a:avLst>
          </a:prstGeom>
          <a:solidFill>
            <a:srgbClr val="EEE8FB"/>
          </a:solidFill>
          <a:ln w="28575">
            <a:solidFill>
              <a:srgbClr val="CDBFF3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8" name="ii_664"/>
          <p:cNvSpPr/>
          <p:nvPr/>
        </p:nvSpPr>
        <p:spPr>
          <a:xfrm>
            <a:off x="411480" y="41422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💬</a:t>
            </a:r>
            <a:endParaRPr lang="en-US" sz="2200" dirty="0"/>
          </a:p>
        </p:txBody>
      </p:sp>
      <p:sp>
        <p:nvSpPr>
          <p:cNvPr id="19" name="ih_665"/>
          <p:cNvSpPr/>
          <p:nvPr/>
        </p:nvSpPr>
        <p:spPr>
          <a:xfrm>
            <a:off x="886968" y="4160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After watching</a:t>
            </a:r>
            <a:endParaRPr lang="en-US" sz="1200" dirty="0"/>
          </a:p>
        </p:txBody>
      </p:sp>
      <p:sp>
        <p:nvSpPr>
          <p:cNvPr id="20" name="il_666"/>
          <p:cNvSpPr/>
          <p:nvPr/>
        </p:nvSpPr>
        <p:spPr>
          <a:xfrm>
            <a:off x="886968" y="4562856"/>
            <a:ext cx="3913632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7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Do you agree with Elin's rules?</a:t>
            </a:r>
            <a:endParaRPr lang="en-US" sz="700" dirty="0"/>
          </a:p>
        </p:txBody>
      </p:sp>
      <p:sp>
        <p:nvSpPr>
          <p:cNvPr id="21" name="vq_667"/>
          <p:cNvSpPr/>
          <p:nvPr/>
        </p:nvSpPr>
        <p:spPr>
          <a:xfrm>
            <a:off x="5074920" y="1417320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1 Look at ___ before you go shopping.</a:t>
            </a:r>
            <a:endParaRPr lang="en-US" sz="1100" dirty="0"/>
          </a:p>
        </p:txBody>
      </p:sp>
      <p:sp>
        <p:nvSpPr>
          <p:cNvPr id="22" name="R1_chip668"/>
          <p:cNvSpPr/>
          <p:nvPr/>
        </p:nvSpPr>
        <p:spPr>
          <a:xfrm>
            <a:off x="7269480" y="1417320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your own wardrobe</a:t>
            </a:r>
            <a:endParaRPr lang="en-US" sz="1000" dirty="0"/>
          </a:p>
        </p:txBody>
      </p:sp>
      <p:sp>
        <p:nvSpPr>
          <p:cNvPr id="23" name="vq_669"/>
          <p:cNvSpPr/>
          <p:nvPr/>
        </p:nvSpPr>
        <p:spPr>
          <a:xfrm>
            <a:off x="5074920" y="2075688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2 Stay ___ when you go shopping.</a:t>
            </a:r>
            <a:endParaRPr lang="en-US" sz="1100" dirty="0"/>
          </a:p>
        </p:txBody>
      </p:sp>
      <p:sp>
        <p:nvSpPr>
          <p:cNvPr id="24" name="R2_chip670"/>
          <p:cNvSpPr/>
          <p:nvPr/>
        </p:nvSpPr>
        <p:spPr>
          <a:xfrm>
            <a:off x="7269480" y="2075688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true to yourself</a:t>
            </a:r>
            <a:endParaRPr lang="en-US" sz="1000" dirty="0"/>
          </a:p>
        </p:txBody>
      </p:sp>
      <p:sp>
        <p:nvSpPr>
          <p:cNvPr id="25" name="vq_671"/>
          <p:cNvSpPr/>
          <p:nvPr/>
        </p:nvSpPr>
        <p:spPr>
          <a:xfrm>
            <a:off x="5074920" y="2734056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3 It doesn't matter ___ you've got.</a:t>
            </a:r>
            <a:endParaRPr lang="en-US" sz="1100" dirty="0"/>
          </a:p>
        </p:txBody>
      </p:sp>
      <p:sp>
        <p:nvSpPr>
          <p:cNvPr id="26" name="R3_chip672"/>
          <p:cNvSpPr/>
          <p:nvPr/>
        </p:nvSpPr>
        <p:spPr>
          <a:xfrm>
            <a:off x="7269480" y="2734056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how much money</a:t>
            </a:r>
            <a:endParaRPr lang="en-US" sz="1000" dirty="0"/>
          </a:p>
        </p:txBody>
      </p:sp>
      <p:sp>
        <p:nvSpPr>
          <p:cNvPr id="27" name="vq_673"/>
          <p:cNvSpPr/>
          <p:nvPr/>
        </p:nvSpPr>
        <p:spPr>
          <a:xfrm>
            <a:off x="5074920" y="3392424"/>
            <a:ext cx="2103120" cy="566928"/>
          </a:xfrm>
          <a:prstGeom prst="roundRect">
            <a:avLst>
              <a:gd name="adj" fmla="val 16129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4 Everyone should have ___.</a:t>
            </a:r>
            <a:endParaRPr lang="en-US" sz="1100" dirty="0"/>
          </a:p>
        </p:txBody>
      </p:sp>
      <p:sp>
        <p:nvSpPr>
          <p:cNvPr id="28" name="R4_chip674"/>
          <p:cNvSpPr/>
          <p:nvPr/>
        </p:nvSpPr>
        <p:spPr>
          <a:xfrm>
            <a:off x="7269480" y="3392424"/>
            <a:ext cx="1600200" cy="566928"/>
          </a:xfrm>
          <a:prstGeom prst="roundRect">
            <a:avLst>
              <a:gd name="adj" fmla="val 16129"/>
            </a:avLst>
          </a:prstGeom>
          <a:solidFill>
            <a:srgbClr val="FFF6CC"/>
          </a:solidFill>
          <a:ln w="28575">
            <a:solidFill>
              <a:srgbClr val="FFE07A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good pair of jeans</a:t>
            </a:r>
            <a:endParaRPr lang="en-US" sz="10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seq concurrent="1" nextAc="seek">
              <p:cTn id="23" restart="whenNotActive" fill="hold" evtFilter="cancelBubble" nodeType="interactiveSeq">
                <p:stCondLst>
                  <p:cond evt="onClick" delay="0">
                    <p:tgtEl>
                      <p:spTgt spid="1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7" dur="1" fill="hold"/>
                                        <p:tgtEl>
                                          <p:spTgt spid="1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6"/>
                  </p:tgtEl>
                </p:cond>
              </p:nextCondLst>
            </p:seq>
            <p:video>
              <p:cMediaNode vol="80000">
                <p:cTn id="28" fill="hold" display="0">
                  <p:stCondLst>
                    <p:cond delay="indefinite"/>
                  </p:stCondLst>
                </p:cTn>
                <p:tgtEl>
                  <p:spTgt spid="16"/>
                </p:tgtEl>
              </p:cMediaNode>
            </p:video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d_675"/>
          <p:cNvSpPr/>
          <p:nvPr/>
        </p:nvSpPr>
        <p:spPr>
          <a:xfrm>
            <a:off x="201168" y="164592"/>
            <a:ext cx="841248" cy="841248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23</a:t>
            </a:r>
            <a:endParaRPr lang="en-US" sz="2200" dirty="0"/>
          </a:p>
        </p:txBody>
      </p:sp>
      <p:pic>
        <p:nvPicPr>
          <p:cNvPr id="4" name="brY_676" descr="/home/claude/lls-course/v2/assets/brush-yell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146304"/>
            <a:ext cx="3090672" cy="621792"/>
          </a:xfrm>
          <a:prstGeom prst="rect">
            <a:avLst/>
          </a:prstGeom>
        </p:spPr>
      </p:pic>
      <p:sp>
        <p:nvSpPr>
          <p:cNvPr id="5" name="title_677"/>
          <p:cNvSpPr/>
          <p:nvPr/>
        </p:nvSpPr>
        <p:spPr>
          <a:xfrm>
            <a:off x="1261872" y="164592"/>
            <a:ext cx="2816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Draw the alien!</a:t>
            </a:r>
            <a:endParaRPr lang="en-US" sz="2500" dirty="0"/>
          </a:p>
        </p:txBody>
      </p:sp>
      <p:pic>
        <p:nvPicPr>
          <p:cNvPr id="6" name="brP_678" descr="/home/claude/lls-course/v2/assets/brush-pin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7008" y="731520"/>
            <a:ext cx="4640580" cy="402336"/>
          </a:xfrm>
          <a:prstGeom prst="rect">
            <a:avLst/>
          </a:prstGeom>
        </p:spPr>
      </p:pic>
      <p:sp>
        <p:nvSpPr>
          <p:cNvPr id="7" name="ins_679"/>
          <p:cNvSpPr/>
          <p:nvPr/>
        </p:nvSpPr>
        <p:spPr>
          <a:xfrm>
            <a:off x="1353312" y="731520"/>
            <a:ext cx="43845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i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an alien. B draws it. No looking!</a:t>
            </a:r>
            <a:endParaRPr lang="en-US" sz="1250" dirty="0"/>
          </a:p>
        </p:txBody>
      </p:sp>
      <p:sp>
        <p:nvSpPr>
          <p:cNvPr id="8" name="insIT_680"/>
          <p:cNvSpPr/>
          <p:nvPr/>
        </p:nvSpPr>
        <p:spPr>
          <a:xfrm>
            <a:off x="1371600" y="1115568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i="1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descrive un alieno. B lo disegna. Senza guardare!</a:t>
            </a:r>
            <a:endParaRPr lang="en-US" sz="950" dirty="0"/>
          </a:p>
        </p:txBody>
      </p:sp>
      <p:sp>
        <p:nvSpPr>
          <p:cNvPr id="9" name="cmd_681"/>
          <p:cNvSpPr/>
          <p:nvPr/>
        </p:nvSpPr>
        <p:spPr>
          <a:xfrm>
            <a:off x="6510528" y="182880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8000"/>
              </a:srgbClr>
            </a:outerShdw>
          </a:effectLst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000000"/>
                </a:solidFill>
              </a:rPr>
              <a:t>🎲 </a:t>
            </a:r>
            <a:pPr indent="0" marL="0">
              <a:buNone/>
            </a:pPr>
            <a:r>
              <a:rPr lang="en-US" sz="950" dirty="0">
                <a:solidFill>
                  <a:srgbClr val="F2B705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PLAY</a:t>
            </a:r>
            <a:pPr indent="0" marL="0">
              <a:buNone/>
            </a:pPr>
            <a:r>
              <a:rPr lang="en-US" sz="9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GIOCA</a:t>
            </a:r>
            <a:endParaRPr lang="en-US" sz="950" dirty="0"/>
          </a:p>
        </p:txBody>
      </p:sp>
      <p:sp>
        <p:nvSpPr>
          <p:cNvPr id="10" name="meta_682"/>
          <p:cNvSpPr/>
          <p:nvPr/>
        </p:nvSpPr>
        <p:spPr>
          <a:xfrm>
            <a:off x="6510528" y="493776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28575">
            <a:solidFill>
              <a:srgbClr val="C9D3E2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⏱ 7 min   👥 pairs</a:t>
            </a:r>
            <a:endParaRPr lang="en-US" sz="950" dirty="0"/>
          </a:p>
        </p:txBody>
      </p:sp>
      <p:sp>
        <p:nvSpPr>
          <p:cNvPr id="11" name="tag_683"/>
          <p:cNvSpPr/>
          <p:nvPr/>
        </p:nvSpPr>
        <p:spPr>
          <a:xfrm>
            <a:off x="6510528" y="804672"/>
            <a:ext cx="1901952" cy="274320"/>
          </a:xfrm>
          <a:prstGeom prst="roundRect">
            <a:avLst>
              <a:gd name="adj" fmla="val 50000"/>
            </a:avLst>
          </a:prstGeom>
          <a:solidFill>
            <a:srgbClr val="F3EEFF"/>
          </a:solidFill>
          <a:ln w="28575">
            <a:solidFill>
              <a:srgbClr val="D9CCF5"/>
            </a:solidFill>
          </a:ln>
        </p:spPr>
        <p:txBody>
          <a:bodyPr wrap="square" lIns="76200" tIns="0" rIns="7620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🎯 Speaking</a:t>
            </a:r>
            <a:pPr algn="ctr" indent="0" marL="0">
              <a:buNone/>
            </a:pPr>
            <a:r>
              <a:rPr lang="en-US" sz="750" dirty="0">
                <a:solidFill>
                  <a:srgbClr val="7B5CD6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  ·  Communicative game</a:t>
            </a:r>
            <a:endParaRPr lang="en-US" sz="750" dirty="0"/>
          </a:p>
        </p:txBody>
      </p:sp>
      <p:pic>
        <p:nvPicPr>
          <p:cNvPr id="12" name="logo_684" descr="/home/claude/lls-course/v2/img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128016"/>
            <a:ext cx="502920" cy="502920"/>
          </a:xfrm>
          <a:prstGeom prst="rect">
            <a:avLst/>
          </a:prstGeom>
        </p:spPr>
      </p:pic>
      <p:sp>
        <p:nvSpPr>
          <p:cNvPr id="13" name="foot_685"/>
          <p:cNvSpPr/>
          <p:nvPr/>
        </p:nvSpPr>
        <p:spPr>
          <a:xfrm>
            <a:off x="274320" y="48737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6B-2 · Extension · describe and draw   ·   📖 Extension · body vocabulary</a:t>
            </a:r>
            <a:endParaRPr lang="en-US" sz="800" dirty="0"/>
          </a:p>
        </p:txBody>
      </p:sp>
      <p:sp>
        <p:nvSpPr>
          <p:cNvPr id="14" name="st_686"/>
          <p:cNvSpPr/>
          <p:nvPr/>
        </p:nvSpPr>
        <p:spPr>
          <a:xfrm rot="-180000">
            <a:off x="7315200" y="4773168"/>
            <a:ext cx="1600200" cy="292608"/>
          </a:xfrm>
          <a:prstGeom prst="rect">
            <a:avLst/>
          </a:prstGeom>
          <a:solidFill>
            <a:srgbClr val="FFE07A"/>
          </a:solidFill>
          <a:ln>
            <a:solidFill>
              <a:srgbClr val="FFE07A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50800" tIns="50800" rIns="50800" bIns="5080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EXTRA · if there's time</a:t>
            </a:r>
            <a:endParaRPr lang="en-US" sz="900" dirty="0"/>
          </a:p>
        </p:txBody>
      </p:sp>
      <p:sp>
        <p:nvSpPr>
          <p:cNvPr id="15" name="cd_687"/>
          <p:cNvSpPr/>
          <p:nvPr/>
        </p:nvSpPr>
        <p:spPr>
          <a:xfrm>
            <a:off x="320040" y="1417320"/>
            <a:ext cx="2697480" cy="2514600"/>
          </a:xfrm>
          <a:prstGeom prst="roundRect">
            <a:avLst>
              <a:gd name="adj" fmla="val 5091"/>
            </a:avLst>
          </a:prstGeom>
          <a:solidFill>
            <a:srgbClr val="FFF6CC"/>
          </a:solidFill>
          <a:ln w="28575">
            <a:solidFill>
              <a:srgbClr val="FFE07A"/>
            </a:solidFill>
            <a:prstDash val="solid"/>
          </a:ln>
          <a:effectLst>
            <a:outerShdw sx="100000" sy="100000" kx="0" ky="0" algn="bl" rotWithShape="0" blurRad="88900" dist="31750" dir="5400000">
              <a:srgbClr val="1B2559">
                <a:alpha val="12000"/>
              </a:srgbClr>
            </a:outerShdw>
          </a:effectLst>
        </p:spPr>
      </p:sp>
      <p:sp>
        <p:nvSpPr>
          <p:cNvPr id="16" name="ii_688"/>
          <p:cNvSpPr/>
          <p:nvPr/>
        </p:nvSpPr>
        <p:spPr>
          <a:xfrm>
            <a:off x="411480" y="1490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17" name="ih_689"/>
          <p:cNvSpPr/>
          <p:nvPr/>
        </p:nvSpPr>
        <p:spPr>
          <a:xfrm>
            <a:off x="886968" y="1508760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559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How to play</a:t>
            </a:r>
            <a:endParaRPr lang="en-US" sz="1400" dirty="0"/>
          </a:p>
        </p:txBody>
      </p:sp>
      <p:sp>
        <p:nvSpPr>
          <p:cNvPr id="18" name="il_690"/>
          <p:cNvSpPr/>
          <p:nvPr/>
        </p:nvSpPr>
        <p:spPr>
          <a:xfrm>
            <a:off x="886968" y="1911096"/>
            <a:ext cx="2039112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secretly draws a funny alien. Don't show it!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disegna un alieno buffo. Non mostrarlo!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describes it. B draws and asks questions.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 lo descrive. B disegna e fa domande.</a:t>
            </a:r>
            <a:endParaRPr lang="en-US" sz="850" dirty="0"/>
          </a:p>
          <a:p>
            <a:pPr marL="152400" indent="-152400">
              <a:spcBef>
                <a:spcPts val="600"/>
              </a:spcBef>
              <a:spcAft>
                <a:spcPts val="200"/>
              </a:spcAft>
              <a:buSzPct val="100000"/>
              <a:buChar char="•"/>
            </a:pPr>
            <a:r>
              <a:rPr lang="en-US" sz="8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Compare. Most similar pair wins! Then swap.</a:t>
            </a:r>
            <a:endParaRPr lang="en-US" sz="850" dirty="0"/>
          </a:p>
          <a:p>
            <a:pPr marL="152400" indent="-152400">
              <a:spcAft>
                <a:spcPts val="200"/>
              </a:spcAft>
              <a:buSzPct val="100000"/>
              <a:buChar char=" "/>
            </a:pPr>
            <a:r>
              <a:rPr lang="en-US" sz="850" dirty="0">
                <a:solidFill>
                  <a:srgbClr val="5B6785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Confrontate. Vince la coppia più simile! Poi scambiate.</a:t>
            </a:r>
            <a:endParaRPr lang="en-US" sz="850" dirty="0"/>
          </a:p>
        </p:txBody>
      </p:sp>
      <p:sp>
        <p:nvSpPr>
          <p:cNvPr id="19" name="bd_691"/>
          <p:cNvSpPr/>
          <p:nvPr/>
        </p:nvSpPr>
        <p:spPr>
          <a:xfrm>
            <a:off x="3246120" y="1572768"/>
            <a:ext cx="329184" cy="329184"/>
          </a:xfrm>
          <a:prstGeom prst="ellipse">
            <a:avLst/>
          </a:prstGeom>
          <a:solidFill>
            <a:srgbClr val="E8508F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gq_692"/>
          <p:cNvSpPr/>
          <p:nvPr/>
        </p:nvSpPr>
        <p:spPr>
          <a:xfrm>
            <a:off x="3657600" y="1417320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head</a:t>
            </a:r>
            <a:endParaRPr lang="en-US" sz="1250" dirty="0"/>
          </a:p>
        </p:txBody>
      </p:sp>
      <p:sp>
        <p:nvSpPr>
          <p:cNvPr id="21" name="R1_chip693"/>
          <p:cNvSpPr/>
          <p:nvPr/>
        </p:nvSpPr>
        <p:spPr>
          <a:xfrm>
            <a:off x="6263640" y="1417320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three eyes and a very long tongue.</a:t>
            </a:r>
            <a:endParaRPr lang="en-US" sz="1200" dirty="0"/>
          </a:p>
        </p:txBody>
      </p:sp>
      <p:sp>
        <p:nvSpPr>
          <p:cNvPr id="22" name="bd_694"/>
          <p:cNvSpPr/>
          <p:nvPr/>
        </p:nvSpPr>
        <p:spPr>
          <a:xfrm>
            <a:off x="3246120" y="2276856"/>
            <a:ext cx="329184" cy="329184"/>
          </a:xfrm>
          <a:prstGeom prst="ellipse">
            <a:avLst/>
          </a:prstGeom>
          <a:solidFill>
            <a:srgbClr val="2F8DE4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2</a:t>
            </a:r>
            <a:endParaRPr lang="en-US" sz="1100" dirty="0"/>
          </a:p>
        </p:txBody>
      </p:sp>
      <p:sp>
        <p:nvSpPr>
          <p:cNvPr id="23" name="gq_695"/>
          <p:cNvSpPr/>
          <p:nvPr/>
        </p:nvSpPr>
        <p:spPr>
          <a:xfrm>
            <a:off x="3657600" y="2121408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A9D3F5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Describe the body</a:t>
            </a:r>
            <a:endParaRPr lang="en-US" sz="1250" dirty="0"/>
          </a:p>
        </p:txBody>
      </p:sp>
      <p:sp>
        <p:nvSpPr>
          <p:cNvPr id="24" name="R2_chip696"/>
          <p:cNvSpPr/>
          <p:nvPr/>
        </p:nvSpPr>
        <p:spPr>
          <a:xfrm>
            <a:off x="6263640" y="2121408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It's got four arms and six thumbs on each hand.</a:t>
            </a:r>
            <a:endParaRPr lang="en-US" sz="1200" dirty="0"/>
          </a:p>
        </p:txBody>
      </p:sp>
      <p:sp>
        <p:nvSpPr>
          <p:cNvPr id="25" name="bd_697"/>
          <p:cNvSpPr/>
          <p:nvPr/>
        </p:nvSpPr>
        <p:spPr>
          <a:xfrm>
            <a:off x="3246120" y="2980944"/>
            <a:ext cx="329184" cy="329184"/>
          </a:xfrm>
          <a:prstGeom prst="ellipse">
            <a:avLst/>
          </a:prstGeom>
          <a:solidFill>
            <a:srgbClr val="2EB872"/>
          </a:solidFill>
          <a:ln w="28575">
            <a:solidFill>
              <a:srgbClr val="FFFFFF"/>
            </a:solidFill>
          </a:ln>
          <a:effectLst>
            <a:outerShdw sx="100000" sy="100000" kx="0" ky="0" algn="bl" rotWithShape="0" blurRad="88900" dist="31750" dir="5400000">
              <a:srgbClr val="1B2559">
                <a:alpha val="15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 Rounded MT Bold" pitchFamily="34" charset="0"/>
                <a:ea typeface="Arial Rounded MT Bold" pitchFamily="34" charset="-122"/>
                <a:cs typeface="Arial Rounded MT Bold" pitchFamily="34" charset="-120"/>
              </a:rPr>
              <a:t>3</a:t>
            </a:r>
            <a:endParaRPr lang="en-US" sz="1100" dirty="0"/>
          </a:p>
        </p:txBody>
      </p:sp>
      <p:sp>
        <p:nvSpPr>
          <p:cNvPr id="26" name="gq_698"/>
          <p:cNvSpPr/>
          <p:nvPr/>
        </p:nvSpPr>
        <p:spPr>
          <a:xfrm>
            <a:off x="3657600" y="2825496"/>
            <a:ext cx="25146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28575">
            <a:solidFill>
              <a:srgbClr val="A8E5BE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Ask a question</a:t>
            </a:r>
            <a:endParaRPr lang="en-US" sz="1250" dirty="0"/>
          </a:p>
        </p:txBody>
      </p:sp>
      <p:sp>
        <p:nvSpPr>
          <p:cNvPr id="27" name="R3_chip699"/>
          <p:cNvSpPr/>
          <p:nvPr/>
        </p:nvSpPr>
        <p:spPr>
          <a:xfrm>
            <a:off x="6263640" y="2825496"/>
            <a:ext cx="2560320" cy="640080"/>
          </a:xfrm>
          <a:prstGeom prst="roundRect">
            <a:avLst>
              <a:gd name="adj" fmla="val 14286"/>
            </a:avLst>
          </a:prstGeom>
          <a:solidFill>
            <a:srgbClr val="FFE3EE"/>
          </a:solidFill>
          <a:ln w="28575">
            <a:solidFill>
              <a:srgbClr val="F7A6C4"/>
            </a:solidFill>
          </a:ln>
        </p:spPr>
        <p:txBody>
          <a:bodyPr wrap="square" lIns="101600" tIns="0" rIns="10160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B2559"/>
                </a:solidFill>
                <a:latin typeface="Segoe UI Semibold" pitchFamily="34" charset="0"/>
                <a:ea typeface="Segoe UI Semibold" pitchFamily="34" charset="-122"/>
                <a:cs typeface="Segoe UI Semibold" pitchFamily="34" charset="-120"/>
              </a:rPr>
              <a:t>→ How many toes has it got? Where are its knees?</a:t>
            </a:r>
            <a:endParaRPr lang="en-US" sz="1200" dirty="0"/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6B-2 Every picture tells a story</dc:title>
  <dc:subject>PptxGenJS Presentation</dc:subject>
  <dc:creator>PptxGenJS</dc:creator>
  <cp:lastModifiedBy>PptxGenJS</cp:lastModifiedBy>
  <cp:revision>1</cp:revision>
  <dcterms:created xsi:type="dcterms:W3CDTF">2026-10-19T06:52:06Z</dcterms:created>
  <dcterms:modified xsi:type="dcterms:W3CDTF">2026-10-19T06:52:06Z</dcterms:modified>
</cp:coreProperties>
</file>