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mp3" ContentType="audio/mpeg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</p:sldIdLst>
  <p:notesMasterIdLst>
    <p:notesMasterId r:id="rId2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notesMaster" Target="notesMasters/notesMaster1.xml"/><Relationship Id="rId24" Type="http://schemas.openxmlformats.org/officeDocument/2006/relationships/presProps" Target="presProps.xml"/><Relationship Id="rId25" Type="http://schemas.openxmlformats.org/officeDocument/2006/relationships/viewProps" Target="viewProps.xml"/><Relationship Id="rId26" Type="http://schemas.openxmlformats.org/officeDocument/2006/relationships/theme" Target="theme/theme1.xml"/><Relationship Id="rId2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1. OPENING (2 min)
OPENING (2 min). Show the photo (Colin Drury and Danish Sheikh, SB p.63). Ask the THINK question; take 3–4 answers. Click: the example. If they don't know 'charismatic': 'a person people like and want to listen to' – the full definition comes later. Read 'Today you're going to…'.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2. Revision · last lesson (2 min)
REVISION (2 min). Read the two cards; highlight: must / might / can't + infinitive WITHOUT to, and can't (NOT mustn't) for 'I'm sure it isn't true'. Point at the three people on the slide: 'How old must he be? What might she do?' – quick answers, then the error game.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3. Warmer · last lesson (3 min)
RETRIEVAL WARMER (4 min). Two teams, 30 seconds per sentence; click to show the correction. Sentence 4 is the trap (correct). Typical Italian errors (TG): mustn't for impossible, can for possibility, must/might + to, missing be.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4. Vocabulary · the body · 8 new words (5 min)
ESTABLISH MEANING (5 min). Play 6.14 (all 22 body words, Vocabulary Bank p.160) – students point to each part of their own body as they hear it. Then the 8 words on the slide are the ones B1 students usually DON'T know: say the word, everybody points; click 1 = English definition, click 2 = Italian. Drill tongue /tʌŋ/, thumb (silent b), knees (silent k), stomach /ˈstʌmək/. Possessive: in English we say MY knee, YOUR hands (Italian uses the article). Full key VB p.160 in the key.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5. Vocabulary · body verbs (4 min)
BODY VERBS (5 min). First Vocabulary Bank p.160 ex. 2: complete sentences 1–11, play 6.15 to check (1 bite · 2 kicked · 3 smells · 4 stared · 5 taste · 6 whistle · 7 touch · 8 clapped · 9 pointed · 10 smiles · 11 nodded). Then this slide: pairs say the body part; click once per line. DO each verb as you check it (TPR). bite is irregular: bite – bit – bitten.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6. Game · Teacher says! (3 min)
TPR GAME (4 min). Everyone stands. Play 6.16 – students follow the instructions (clap, stare at the person next to you, point at the board, nod, whistle, touch your chair, smile). Then play 'Teacher says' (Simon says): say commands fast, sometimes WITHOUT 'Teacher says' – anyone who moves sits down. Click to show the examples. Then let a student lead. Energy change – keep it fast.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7. Pronunciation · diphthongs (two sounds in one) (3 min)
PRONUNCIATION (3 + 2 min). A diphthong = two short vowel sounds joined (Italians often make it too short or say only one sound). Play 6.17: repeat bike, train, phone, owl, chair. Pairs say each word aloud and decide; click once per word. 6.18 checks all 12 words (both slides). Answers (script): /aɪ/ bite, eyes, smile · /eɪ/ face, taste · /əʊ/ nose, shoulders, throw, toes · /aʊ/ mouth · /eə/ hair, stare.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8. Pronunciation · diphthongs (2 min)
Play 6.18 to check both slides; repeat. Then 4c phrases: fair hair · narrow shoulders · a wide mouth · brown eyes · a Roman nose (= with a bump) · a round face – pairs say them to each other.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9. Speaking · body language and you (3 min)
PQA – PERSONAL QUESTIONS (4 min). Ask 2–3 students question 1 yourself first and circle the answer ('Marco smiles a lot. Does Marco smile a lot? Yes! Who smiles more – Marco or Giulia?'). Then pairs ask all 4 questions using the phrases. Click once per question. Feedback: 'Who in your pair has the best body language?'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10. Reading · prediction (2 min)
PREDICTION (2 min). Read the definition (book wording); drill charisma /kəˈrɪzmə/ and charismatic. 5b: who's the journalist and who's the coach? Why? (Colin Drury = journalist, left; Danish Sheikh = coach, right.) Numbers: pairs guess – £150 = what he charges an hour · 2 = two days as his student · 3 = companies he's worked with (Microsoft, Yahoo, BBC). Don't confirm – they read to check.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11. Reading · the journalist's article (4 min)
READ THE CLASS TEXT (5 min). Students read alone (3 min) and check the prediction + the numbers. Then read it aloud with the class and CIRCLE: 'Is Danish a journalist? No! Is he a coach? Yes! How much does he charge? £150 a day? No – an hour!' Next slide: the book's questions.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12. Reading · comprehension (3 min)
COMPREHENSION (3 min). Pairs answer, then click once per answer (TG key). Ask: 'Do YOU know anyone with negative body language? (no names!)'.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13. Listening · audio 6.19 (5 min)
PREDICT THEN LISTEN (5 min). 5d: pairs decide ✓/✗ for all 10 BEFORE listening (2 min). 5e: play 6.19 (use 🐢 slower if needed). Click once per line. Answers (TG): ✓ 1, 2, 5, 6, 7, 10. From the script: talk about yourself enough, but not too much · 'stand like a gorilla' = feet apart, arms wide · eye contact max. four seconds · don't use hand gestures too much · vary your speed · listening carefully is the most important thing of all.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14. Listening · detail · audio 6.19 (4 min)
DETAIL (4 min). Read the 4 prompts together first. Play 6.19 again; students write notes; compare; click once per answer (TG). Then everybody stands 'like a gorilla' for 3 seconds – feet apart, chin up, shoulders back!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15. Listening · the practical test · audio 6.20 (3 min)
LISTENING (4 min). Pairs guess the endings (1 min) – accept any idea. Play 6.20; click once per answer (TG). Ask: 'Would YOU talk to strangers in a café in Bagheria to practise?'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16. Game · body-language mime (5 min)
GAME (6 min). The phrases come from 5h (the body phrases in 6.19/6.20). Two teams; one mimer each turn stands facing the screen, everybody else turns round. Click → the phrase appears; mimer mimes; team must say the whole phrase in the present continuous ('hands!' = 0). Click again shows the model sentence. Energy + language upgrade.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17. Speaking · discussion (3 min)
DISCUSSION (4 min). Groups of 3, 3 minutes. Click once per question. Forced choice for Q1: yes or no, no 'maybe'. Feedback: one person per group reports their group's answer to Q4.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18. Exit · what can you remember? (2 min)
RETRIEVAL EXIT (2 min). Books closed. Set homework. Extension slides follow (video, describe-and-draw) – use if there is time or start the next lesson with one.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19. Extension · video listening · Part 1 (7 min)
EXTENSION VIDEO (7 min). Teach personal stylist and outfit. Read the questions first. Play Part 1; PAUSE when the narrator asks which outfit Sam likes best – class votes. Play on. Click once per answer (video script). 6c order: 1 fills in a questionnaire · 2 meets Elin at the Fashion Lounge · 3 Elin asks about his lifestyle · 4 they go shopping · 5 he tries on four outfits.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20. Extension · video listening · Part 2 (4 min)
EXTENSION VIDEO (4 min). Pairs guess the gaps first, then play Part 2; click once per answer (TG / video script). Did Sam enjoy the day? 'It exceeded my expectations.'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21. Extension · describe and draw (7 min)
EXTENSION (7 min). Information gap + humour. Practises body words, its / his / her, have got, and plurals (feet, teeth). Click to show model sentences.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jpe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image" Target="../media/image-1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jpe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jpe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jpe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audio" Target="../media/media-4-5.mp3"/><Relationship Id="rId6" Type="http://schemas.microsoft.com/office/2007/relationships/media" Target="../media/media-4-5.mp3"/><Relationship Id="rId7" Type="http://schemas.openxmlformats.org/officeDocument/2006/relationships/image" Target="../media/image-4-7.png"/><Relationship Id="rId8" Type="http://schemas.openxmlformats.org/officeDocument/2006/relationships/audio" Target="../media/media-4-8.mp3"/><Relationship Id="rId9" Type="http://schemas.microsoft.com/office/2007/relationships/media" Target="../media/media-4-8.mp3"/><Relationship Id="rId10" Type="http://schemas.openxmlformats.org/officeDocument/2006/relationships/image" Target="../media/image-4-10.png"/><Relationship Id="rId11" Type="http://schemas.openxmlformats.org/officeDocument/2006/relationships/slideLayout" Target="../slideLayouts/slideLayout1.xml"/><Relationship Id="rId1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jpe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image" Target="../media/image-5-5.png"/><Relationship Id="rId6" Type="http://schemas.openxmlformats.org/officeDocument/2006/relationships/audio" Target="../media/media-5-6.mp3"/><Relationship Id="rId7" Type="http://schemas.microsoft.com/office/2007/relationships/media" Target="../media/media-5-6.mp3"/><Relationship Id="rId8" Type="http://schemas.openxmlformats.org/officeDocument/2006/relationships/image" Target="../media/image-5-8.png"/><Relationship Id="rId9" Type="http://schemas.openxmlformats.org/officeDocument/2006/relationships/audio" Target="../media/media-5-9.mp3"/><Relationship Id="rId10" Type="http://schemas.microsoft.com/office/2007/relationships/media" Target="../media/media-5-9.mp3"/><Relationship Id="rId11" Type="http://schemas.openxmlformats.org/officeDocument/2006/relationships/image" Target="../media/image-5-11.png"/><Relationship Id="rId12" Type="http://schemas.openxmlformats.org/officeDocument/2006/relationships/slideLayout" Target="../slideLayouts/slideLayout1.xml"/><Relationship Id="rId1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jpe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audio" Target="../media/media-6-5.mp3"/><Relationship Id="rId6" Type="http://schemas.microsoft.com/office/2007/relationships/media" Target="../media/media-6-5.mp3"/><Relationship Id="rId7" Type="http://schemas.openxmlformats.org/officeDocument/2006/relationships/image" Target="../media/image-6-7.png"/><Relationship Id="rId8" Type="http://schemas.openxmlformats.org/officeDocument/2006/relationships/audio" Target="../media/media-6-8.mp3"/><Relationship Id="rId9" Type="http://schemas.microsoft.com/office/2007/relationships/media" Target="../media/media-6-8.mp3"/><Relationship Id="rId10" Type="http://schemas.openxmlformats.org/officeDocument/2006/relationships/image" Target="../media/image-6-10.png"/><Relationship Id="rId11" Type="http://schemas.openxmlformats.org/officeDocument/2006/relationships/slideLayout" Target="../slideLayouts/slideLayout1.xml"/><Relationship Id="rId1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jpe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audio" Target="../media/media-7-5.mp3"/><Relationship Id="rId6" Type="http://schemas.microsoft.com/office/2007/relationships/media" Target="../media/media-7-5.mp3"/><Relationship Id="rId7" Type="http://schemas.openxmlformats.org/officeDocument/2006/relationships/image" Target="../media/image-7-7.png"/><Relationship Id="rId8" Type="http://schemas.openxmlformats.org/officeDocument/2006/relationships/audio" Target="../media/media-7-8.mp3"/><Relationship Id="rId9" Type="http://schemas.microsoft.com/office/2007/relationships/media" Target="../media/media-7-8.mp3"/><Relationship Id="rId10" Type="http://schemas.openxmlformats.org/officeDocument/2006/relationships/image" Target="../media/image-7-10.png"/><Relationship Id="rId11" Type="http://schemas.openxmlformats.org/officeDocument/2006/relationships/audio" Target="../media/media-7-11.mp3"/><Relationship Id="rId12" Type="http://schemas.microsoft.com/office/2007/relationships/media" Target="../media/media-7-11.mp3"/><Relationship Id="rId13" Type="http://schemas.openxmlformats.org/officeDocument/2006/relationships/image" Target="../media/image-7-13.png"/><Relationship Id="rId14" Type="http://schemas.openxmlformats.org/officeDocument/2006/relationships/audio" Target="../media/media-7-14.mp3"/><Relationship Id="rId15" Type="http://schemas.microsoft.com/office/2007/relationships/media" Target="../media/media-7-14.mp3"/><Relationship Id="rId16" Type="http://schemas.openxmlformats.org/officeDocument/2006/relationships/image" Target="../media/image-7-16.png"/><Relationship Id="rId17" Type="http://schemas.openxmlformats.org/officeDocument/2006/relationships/slideLayout" Target="../slideLayouts/slideLayout1.xml"/><Relationship Id="rId18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jpe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audio" Target="../media/media-8-5.mp3"/><Relationship Id="rId6" Type="http://schemas.microsoft.com/office/2007/relationships/media" Target="../media/media-8-5.mp3"/><Relationship Id="rId7" Type="http://schemas.openxmlformats.org/officeDocument/2006/relationships/image" Target="../media/image-8-7.png"/><Relationship Id="rId8" Type="http://schemas.openxmlformats.org/officeDocument/2006/relationships/audio" Target="../media/media-8-8.mp3"/><Relationship Id="rId9" Type="http://schemas.microsoft.com/office/2007/relationships/media" Target="../media/media-8-8.mp3"/><Relationship Id="rId10" Type="http://schemas.openxmlformats.org/officeDocument/2006/relationships/image" Target="../media/image-8-10.png"/><Relationship Id="rId11" Type="http://schemas.openxmlformats.org/officeDocument/2006/relationships/slideLayout" Target="../slideLayouts/slideLayout1.xml"/><Relationship Id="rId1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jpe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image" Target="../media/image-9-4.png"/><Relationship Id="rId5" Type="http://schemas.openxmlformats.org/officeDocument/2006/relationships/image" Target="../media/image-9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jpe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jpe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jpe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image" Target="../media/image-12-4.png"/><Relationship Id="rId5" Type="http://schemas.openxmlformats.org/officeDocument/2006/relationships/image" Target="../media/image-12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jpe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image" Target="../media/image-13-4.png"/><Relationship Id="rId5" Type="http://schemas.openxmlformats.org/officeDocument/2006/relationships/audio" Target="../media/media-13-5.mp3"/><Relationship Id="rId6" Type="http://schemas.microsoft.com/office/2007/relationships/media" Target="../media/media-13-5.mp3"/><Relationship Id="rId7" Type="http://schemas.openxmlformats.org/officeDocument/2006/relationships/image" Target="../media/image-13-7.png"/><Relationship Id="rId8" Type="http://schemas.openxmlformats.org/officeDocument/2006/relationships/audio" Target="../media/media-13-8.mp3"/><Relationship Id="rId9" Type="http://schemas.microsoft.com/office/2007/relationships/media" Target="../media/media-13-8.mp3"/><Relationship Id="rId10" Type="http://schemas.openxmlformats.org/officeDocument/2006/relationships/image" Target="../media/image-13-10.png"/><Relationship Id="rId11" Type="http://schemas.openxmlformats.org/officeDocument/2006/relationships/slideLayout" Target="../slideLayouts/slideLayout1.xml"/><Relationship Id="rId1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jpeg"/><Relationship Id="rId2" Type="http://schemas.openxmlformats.org/officeDocument/2006/relationships/image" Target="../media/image-14-2.png"/><Relationship Id="rId3" Type="http://schemas.openxmlformats.org/officeDocument/2006/relationships/image" Target="../media/image-14-3.png"/><Relationship Id="rId4" Type="http://schemas.openxmlformats.org/officeDocument/2006/relationships/image" Target="../media/image-14-4.png"/><Relationship Id="rId5" Type="http://schemas.openxmlformats.org/officeDocument/2006/relationships/audio" Target="../media/media-14-5.mp3"/><Relationship Id="rId6" Type="http://schemas.microsoft.com/office/2007/relationships/media" Target="../media/media-14-5.mp3"/><Relationship Id="rId7" Type="http://schemas.openxmlformats.org/officeDocument/2006/relationships/image" Target="../media/image-14-7.png"/><Relationship Id="rId8" Type="http://schemas.openxmlformats.org/officeDocument/2006/relationships/audio" Target="../media/media-14-8.mp3"/><Relationship Id="rId9" Type="http://schemas.microsoft.com/office/2007/relationships/media" Target="../media/media-14-8.mp3"/><Relationship Id="rId10" Type="http://schemas.openxmlformats.org/officeDocument/2006/relationships/image" Target="../media/image-14-10.png"/><Relationship Id="rId11" Type="http://schemas.openxmlformats.org/officeDocument/2006/relationships/image" Target="../media/image-14-11.png"/><Relationship Id="rId12" Type="http://schemas.openxmlformats.org/officeDocument/2006/relationships/slideLayout" Target="../slideLayouts/slideLayout1.xml"/><Relationship Id="rId1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jpeg"/><Relationship Id="rId2" Type="http://schemas.openxmlformats.org/officeDocument/2006/relationships/image" Target="../media/image-15-2.png"/><Relationship Id="rId3" Type="http://schemas.openxmlformats.org/officeDocument/2006/relationships/image" Target="../media/image-15-3.png"/><Relationship Id="rId4" Type="http://schemas.openxmlformats.org/officeDocument/2006/relationships/image" Target="../media/image-15-4.png"/><Relationship Id="rId5" Type="http://schemas.openxmlformats.org/officeDocument/2006/relationships/audio" Target="../media/media-15-5.mp3"/><Relationship Id="rId6" Type="http://schemas.microsoft.com/office/2007/relationships/media" Target="../media/media-15-5.mp3"/><Relationship Id="rId7" Type="http://schemas.openxmlformats.org/officeDocument/2006/relationships/image" Target="../media/image-15-7.png"/><Relationship Id="rId8" Type="http://schemas.openxmlformats.org/officeDocument/2006/relationships/audio" Target="../media/media-15-8.mp3"/><Relationship Id="rId9" Type="http://schemas.microsoft.com/office/2007/relationships/media" Target="../media/media-15-8.mp3"/><Relationship Id="rId10" Type="http://schemas.openxmlformats.org/officeDocument/2006/relationships/image" Target="../media/image-15-10.png"/><Relationship Id="rId11" Type="http://schemas.openxmlformats.org/officeDocument/2006/relationships/image" Target="../media/image-15-11.png"/><Relationship Id="rId12" Type="http://schemas.openxmlformats.org/officeDocument/2006/relationships/slideLayout" Target="../slideLayouts/slideLayout1.xml"/><Relationship Id="rId1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jpeg"/><Relationship Id="rId2" Type="http://schemas.openxmlformats.org/officeDocument/2006/relationships/image" Target="../media/image-16-2.png"/><Relationship Id="rId3" Type="http://schemas.openxmlformats.org/officeDocument/2006/relationships/image" Target="../media/image-16-3.png"/><Relationship Id="rId4" Type="http://schemas.openxmlformats.org/officeDocument/2006/relationships/image" Target="../media/image-16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jpeg"/><Relationship Id="rId2" Type="http://schemas.openxmlformats.org/officeDocument/2006/relationships/image" Target="../media/image-17-2.png"/><Relationship Id="rId3" Type="http://schemas.openxmlformats.org/officeDocument/2006/relationships/image" Target="../media/image-17-3.png"/><Relationship Id="rId4" Type="http://schemas.openxmlformats.org/officeDocument/2006/relationships/image" Target="../media/image-17-4.png"/><Relationship Id="rId5" Type="http://schemas.openxmlformats.org/officeDocument/2006/relationships/image" Target="../media/image-17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jpeg"/><Relationship Id="rId2" Type="http://schemas.openxmlformats.org/officeDocument/2006/relationships/image" Target="../media/image-18-2.png"/><Relationship Id="rId3" Type="http://schemas.openxmlformats.org/officeDocument/2006/relationships/image" Target="../media/image-18-3.png"/><Relationship Id="rId4" Type="http://schemas.openxmlformats.org/officeDocument/2006/relationships/image" Target="../media/image-18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jpeg"/><Relationship Id="rId2" Type="http://schemas.openxmlformats.org/officeDocument/2006/relationships/image" Target="../media/image-19-2.png"/><Relationship Id="rId3" Type="http://schemas.openxmlformats.org/officeDocument/2006/relationships/image" Target="../media/image-19-3.png"/><Relationship Id="rId4" Type="http://schemas.openxmlformats.org/officeDocument/2006/relationships/image" Target="../media/image-19-4.png"/><Relationship Id="rId5" Type="http://schemas.openxmlformats.org/officeDocument/2006/relationships/video" Target="../media/media-19-5.mp4"/><Relationship Id="rId6" Type="http://schemas.microsoft.com/office/2007/relationships/media" Target="../media/media-19-5.mp4"/><Relationship Id="rId7" Type="http://schemas.openxmlformats.org/officeDocument/2006/relationships/image" Target="../media/image-19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-image-1.jpeg"/><Relationship Id="rId2" Type="http://schemas.openxmlformats.org/officeDocument/2006/relationships/image" Target="../media/image-20-2.png"/><Relationship Id="rId3" Type="http://schemas.openxmlformats.org/officeDocument/2006/relationships/image" Target="../media/image-20-3.png"/><Relationship Id="rId4" Type="http://schemas.openxmlformats.org/officeDocument/2006/relationships/image" Target="../media/image-20-4.png"/><Relationship Id="rId5" Type="http://schemas.openxmlformats.org/officeDocument/2006/relationships/video" Target="../media/media-20-5.mp4"/><Relationship Id="rId6" Type="http://schemas.microsoft.com/office/2007/relationships/media" Target="../media/media-20-5.mp4"/><Relationship Id="rId7" Type="http://schemas.openxmlformats.org/officeDocument/2006/relationships/image" Target="../media/image-20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1-image-1.jpeg"/><Relationship Id="rId2" Type="http://schemas.openxmlformats.org/officeDocument/2006/relationships/image" Target="../media/image-21-2.png"/><Relationship Id="rId3" Type="http://schemas.openxmlformats.org/officeDocument/2006/relationships/image" Target="../media/image-21-3.png"/><Relationship Id="rId4" Type="http://schemas.openxmlformats.org/officeDocument/2006/relationships/image" Target="../media/image-21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rs_1"/>
          <p:cNvSpPr/>
          <p:nvPr/>
        </p:nvSpPr>
        <p:spPr>
          <a:xfrm>
            <a:off x="411480" y="292608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00" kern="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English File B1 · SB pp.62–63</a:t>
            </a:r>
            <a:endParaRPr lang="en-US" sz="1000" dirty="0"/>
          </a:p>
        </p:txBody>
      </p:sp>
      <p:sp>
        <p:nvSpPr>
          <p:cNvPr id="4" name="bd_2"/>
          <p:cNvSpPr/>
          <p:nvPr/>
        </p:nvSpPr>
        <p:spPr>
          <a:xfrm>
            <a:off x="365760" y="640080"/>
            <a:ext cx="1051560" cy="1051560"/>
          </a:xfrm>
          <a:prstGeom prst="ellipse">
            <a:avLst/>
          </a:prstGeom>
          <a:solidFill>
            <a:srgbClr val="E8508F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6B-2</a:t>
            </a:r>
            <a:endParaRPr lang="en-US" sz="1600" dirty="0"/>
          </a:p>
        </p:txBody>
      </p:sp>
      <p:pic>
        <p:nvPicPr>
          <p:cNvPr id="5" name="bry_3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63040" y="713232"/>
            <a:ext cx="3566160" cy="868680"/>
          </a:xfrm>
          <a:prstGeom prst="rect">
            <a:avLst/>
          </a:prstGeom>
        </p:spPr>
      </p:pic>
      <p:sp>
        <p:nvSpPr>
          <p:cNvPr id="6" name="t_4"/>
          <p:cNvSpPr/>
          <p:nvPr/>
        </p:nvSpPr>
        <p:spPr>
          <a:xfrm>
            <a:off x="1645920" y="731520"/>
            <a:ext cx="3108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9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Every picture tells a story</a:t>
            </a:r>
            <a:endParaRPr lang="en-US" sz="1900" dirty="0"/>
          </a:p>
        </p:txBody>
      </p:sp>
      <p:pic>
        <p:nvPicPr>
          <p:cNvPr id="7" name="brp_5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54480" y="1517904"/>
            <a:ext cx="3017520" cy="384048"/>
          </a:xfrm>
          <a:prstGeom prst="rect">
            <a:avLst/>
          </a:prstGeom>
        </p:spPr>
      </p:pic>
      <p:sp>
        <p:nvSpPr>
          <p:cNvPr id="8" name="st_6"/>
          <p:cNvSpPr/>
          <p:nvPr/>
        </p:nvSpPr>
        <p:spPr>
          <a:xfrm>
            <a:off x="1691640" y="1517904"/>
            <a:ext cx="2834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The body · body language · charisma</a:t>
            </a:r>
            <a:endParaRPr lang="en-US" sz="1100" dirty="0"/>
          </a:p>
        </p:txBody>
      </p:sp>
      <p:sp>
        <p:nvSpPr>
          <p:cNvPr id="9" name="cd_7"/>
          <p:cNvSpPr/>
          <p:nvPr/>
        </p:nvSpPr>
        <p:spPr>
          <a:xfrm>
            <a:off x="365760" y="2148840"/>
            <a:ext cx="4206240" cy="1691640"/>
          </a:xfrm>
          <a:prstGeom prst="roundRect">
            <a:avLst>
              <a:gd name="adj" fmla="val 7568"/>
            </a:avLst>
          </a:prstGeom>
          <a:solidFill>
            <a:srgbClr val="E3F1FD"/>
          </a:solidFill>
          <a:ln w="19050">
            <a:solidFill>
              <a:srgbClr val="A9D3F5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0" name="ii_8"/>
          <p:cNvSpPr/>
          <p:nvPr/>
        </p:nvSpPr>
        <p:spPr>
          <a:xfrm>
            <a:off x="457200" y="222199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🎯</a:t>
            </a:r>
            <a:endParaRPr lang="en-US" sz="2200" dirty="0"/>
          </a:p>
        </p:txBody>
      </p:sp>
      <p:sp>
        <p:nvSpPr>
          <p:cNvPr id="11" name="ih_9"/>
          <p:cNvSpPr/>
          <p:nvPr/>
        </p:nvSpPr>
        <p:spPr>
          <a:xfrm>
            <a:off x="932688" y="224028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Today you're going to…</a:t>
            </a:r>
            <a:endParaRPr lang="en-US" sz="1600" dirty="0"/>
          </a:p>
        </p:txBody>
      </p:sp>
      <p:sp>
        <p:nvSpPr>
          <p:cNvPr id="12" name="il_10"/>
          <p:cNvSpPr/>
          <p:nvPr/>
        </p:nvSpPr>
        <p:spPr>
          <a:xfrm>
            <a:off x="932688" y="2624328"/>
            <a:ext cx="354787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rgbClr val="1B25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🖐️  learn parts of the body and body verbs</a:t>
            </a:r>
            <a:endParaRPr lang="en-US" sz="1100" dirty="0"/>
          </a:p>
          <a:p>
            <a:pPr indent="0" marL="0">
              <a:spcBef>
                <a:spcPts val="500"/>
              </a:spcBef>
              <a:spcAft>
                <a:spcPts val="200"/>
              </a:spcAft>
              <a:buNone/>
            </a:pPr>
            <a:r>
              <a:rPr lang="en-US" sz="1100" dirty="0">
                <a:solidFill>
                  <a:srgbClr val="1B25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🔊  say 'two sounds in one': bike, train, phone…</a:t>
            </a:r>
            <a:endParaRPr lang="en-US" sz="1100" dirty="0"/>
          </a:p>
          <a:p>
            <a:pPr indent="0" marL="0">
              <a:spcBef>
                <a:spcPts val="500"/>
              </a:spcBef>
              <a:spcAft>
                <a:spcPts val="200"/>
              </a:spcAft>
              <a:buNone/>
            </a:pPr>
            <a:r>
              <a:rPr lang="en-US" sz="1100" dirty="0">
                <a:solidFill>
                  <a:srgbClr val="1B25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📖  read and listen: can you LEARN charisma?</a:t>
            </a:r>
            <a:endParaRPr lang="en-US" sz="1100" dirty="0"/>
          </a:p>
          <a:p>
            <a:pPr indent="0" marL="0">
              <a:spcBef>
                <a:spcPts val="500"/>
              </a:spcBef>
              <a:spcAft>
                <a:spcPts val="200"/>
              </a:spcAft>
              <a:buNone/>
            </a:pPr>
            <a:r>
              <a:rPr lang="en-US" sz="1100" dirty="0">
                <a:solidFill>
                  <a:srgbClr val="1B25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🎭  play a body-language mime game</a:t>
            </a:r>
            <a:endParaRPr lang="en-US" sz="1100" dirty="0"/>
          </a:p>
        </p:txBody>
      </p:sp>
      <p:sp>
        <p:nvSpPr>
          <p:cNvPr id="13" name="R1_ex11"/>
          <p:cNvSpPr/>
          <p:nvPr/>
        </p:nvSpPr>
        <p:spPr>
          <a:xfrm>
            <a:off x="365760" y="3950208"/>
            <a:ext cx="4206240" cy="603504"/>
          </a:xfrm>
          <a:prstGeom prst="roundRect">
            <a:avLst>
              <a:gd name="adj" fmla="val 18182"/>
            </a:avLst>
          </a:prstGeom>
          <a:solidFill>
            <a:srgbClr val="FFF6CC"/>
          </a:solidFill>
          <a:ln w="19050">
            <a:solidFill>
              <a:srgbClr val="FFE07A"/>
            </a:solidFill>
          </a:ln>
        </p:spPr>
        <p:txBody>
          <a:bodyPr wrap="square" lIns="152400" tIns="25400" rIns="152400" bIns="25400" rtlCol="0" anchor="ctr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E8508F"/>
                </a:solidFill>
                <a:latin typeface="Segoe UI Black" pitchFamily="34" charset="0"/>
                <a:ea typeface="Segoe UI Black" pitchFamily="34" charset="-122"/>
                <a:cs typeface="Segoe UI Black" pitchFamily="34" charset="-120"/>
              </a:rPr>
              <a:t>EXAMPLE  </a:t>
            </a:r>
            <a:pPr indent="0" marL="0">
              <a:buNone/>
            </a:pPr>
            <a:r>
              <a:rPr lang="en-US" sz="130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My uncle! He smiles all the time and everybody listens to him.</a:t>
            </a:r>
            <a:endParaRPr lang="en-US" sz="1000" dirty="0"/>
          </a:p>
        </p:txBody>
      </p:sp>
      <p:sp>
        <p:nvSpPr>
          <p:cNvPr id="14" name="pf_12"/>
          <p:cNvSpPr/>
          <p:nvPr/>
        </p:nvSpPr>
        <p:spPr>
          <a:xfrm rot="90000">
            <a:off x="4846320" y="777240"/>
            <a:ext cx="3977640" cy="3200400"/>
          </a:xfrm>
          <a:prstGeom prst="roundRect">
            <a:avLst>
              <a:gd name="adj" fmla="val 485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20000"/>
              </a:srgbClr>
            </a:outerShdw>
          </a:effectLst>
        </p:spPr>
      </p:sp>
      <p:pic>
        <p:nvPicPr>
          <p:cNvPr id="15" name="ph_13" descr="/home/claude/lls-course/v2/cache/6B_2_colin_jpg_935x748_31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rot="90000">
            <a:off x="4892040" y="822960"/>
            <a:ext cx="3886200" cy="3108960"/>
          </a:xfrm>
          <a:prstGeom prst="rect">
            <a:avLst/>
          </a:prstGeom>
        </p:spPr>
      </p:pic>
      <p:sp>
        <p:nvSpPr>
          <p:cNvPr id="16" name="bb_14"/>
          <p:cNvSpPr/>
          <p:nvPr/>
        </p:nvSpPr>
        <p:spPr>
          <a:xfrm>
            <a:off x="5120640" y="3611880"/>
            <a:ext cx="3566160" cy="822960"/>
          </a:xfrm>
          <a:prstGeom prst="wedgeRoundRectCallout">
            <a:avLst/>
          </a:prstGeom>
          <a:solidFill>
            <a:srgbClr val="FFFFFF"/>
          </a:solidFill>
          <a:ln w="25400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10000"/>
              </a:srgbClr>
            </a:outerShdw>
          </a:effectLst>
        </p:spPr>
        <p:txBody>
          <a:bodyPr wrap="square" lIns="127000" tIns="50800" rIns="127000" bIns="50800" rtlCol="0" anchor="ctr">
            <a:normAutofit/>
          </a:bodyPr>
          <a:lstStyle/>
          <a:p>
            <a:pPr algn="ctr" indent="0" marL="0">
              <a:buNone/>
            </a:pPr>
            <a:r>
              <a:rPr lang="en-US" sz="16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Who is the most charismatic person you know? Why?</a:t>
            </a:r>
            <a:endParaRPr lang="en-US" sz="1600" dirty="0"/>
          </a:p>
        </p:txBody>
      </p:sp>
      <p:sp>
        <p:nvSpPr>
          <p:cNvPr id="17" name="st_15"/>
          <p:cNvSpPr/>
          <p:nvPr/>
        </p:nvSpPr>
        <p:spPr>
          <a:xfrm rot="360000">
            <a:off x="7543800" y="502920"/>
            <a:ext cx="1325880" cy="384048"/>
          </a:xfrm>
          <a:prstGeom prst="rect">
            <a:avLst/>
          </a:prstGeom>
          <a:solidFill>
            <a:srgbClr val="FFC2DA"/>
          </a:solidFill>
          <a:ln>
            <a:solidFill>
              <a:srgbClr val="FFC2DA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50800" tIns="50800" rIns="50800" bIns="50800" rtlCol="0" anchor="ctr">
            <a:norm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💡 THINK · PENSA</a:t>
            </a:r>
            <a:endParaRPr lang="en-US" sz="950" dirty="0"/>
          </a:p>
        </p:txBody>
      </p:sp>
      <p:pic>
        <p:nvPicPr>
          <p:cNvPr id="18" name="logo_16" descr="/home/claude/lls-course/v2/img/logo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485632" y="4526280"/>
            <a:ext cx="502920" cy="502920"/>
          </a:xfrm>
          <a:prstGeom prst="rect">
            <a:avLst/>
          </a:prstGeom>
        </p:spPr>
      </p:pic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17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2F8DE4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2</a:t>
            </a:r>
            <a:endParaRPr lang="en-US" sz="2800" dirty="0"/>
          </a:p>
        </p:txBody>
      </p:sp>
      <p:pic>
        <p:nvPicPr>
          <p:cNvPr id="4" name="brY_18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4034333" cy="621792"/>
          </a:xfrm>
          <a:prstGeom prst="rect">
            <a:avLst/>
          </a:prstGeom>
        </p:spPr>
      </p:pic>
      <p:sp>
        <p:nvSpPr>
          <p:cNvPr id="5" name="title_19"/>
          <p:cNvSpPr/>
          <p:nvPr/>
        </p:nvSpPr>
        <p:spPr>
          <a:xfrm>
            <a:off x="1261872" y="164592"/>
            <a:ext cx="3760013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Remember last lesson?</a:t>
            </a:r>
            <a:endParaRPr lang="en-US" sz="2400" dirty="0"/>
          </a:p>
        </p:txBody>
      </p:sp>
      <p:pic>
        <p:nvPicPr>
          <p:cNvPr id="6" name="brP_20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3685032" cy="402336"/>
          </a:xfrm>
          <a:prstGeom prst="rect">
            <a:avLst/>
          </a:prstGeom>
        </p:spPr>
      </p:pic>
      <p:sp>
        <p:nvSpPr>
          <p:cNvPr id="7" name="ins_21"/>
          <p:cNvSpPr/>
          <p:nvPr/>
        </p:nvSpPr>
        <p:spPr>
          <a:xfrm>
            <a:off x="1353312" y="731520"/>
            <a:ext cx="34290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What did we do? Read the examples.</a:t>
            </a:r>
            <a:endParaRPr lang="en-US" sz="1250" dirty="0"/>
          </a:p>
        </p:txBody>
      </p:sp>
      <p:sp>
        <p:nvSpPr>
          <p:cNvPr id="8" name="insIT_22"/>
          <p:cNvSpPr/>
          <p:nvPr/>
        </p:nvSpPr>
        <p:spPr>
          <a:xfrm>
            <a:off x="1371600" y="1115568"/>
            <a:ext cx="5852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Cosa abbiamo fatto? Leggi gli esempi.</a:t>
            </a:r>
            <a:endParaRPr lang="en-US" sz="950" dirty="0"/>
          </a:p>
        </p:txBody>
      </p:sp>
      <p:sp>
        <p:nvSpPr>
          <p:cNvPr id="9" name="cmd_23"/>
          <p:cNvSpPr/>
          <p:nvPr/>
        </p:nvSpPr>
        <p:spPr>
          <a:xfrm>
            <a:off x="6510528" y="182880"/>
            <a:ext cx="1901952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💡 </a:t>
            </a:r>
            <a:pPr indent="0" marL="0">
              <a:buNone/>
            </a:pPr>
            <a:r>
              <a:rPr lang="en-US" sz="1200" dirty="0">
                <a:solidFill>
                  <a:srgbClr val="2F8DE4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THINK</a:t>
            </a:r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PENSA</a:t>
            </a:r>
            <a:endParaRPr lang="en-US" sz="1100" dirty="0"/>
          </a:p>
        </p:txBody>
      </p:sp>
      <p:sp>
        <p:nvSpPr>
          <p:cNvPr id="10" name="meta_24"/>
          <p:cNvSpPr/>
          <p:nvPr/>
        </p:nvSpPr>
        <p:spPr>
          <a:xfrm>
            <a:off x="6583680" y="566928"/>
            <a:ext cx="2286000" cy="256032"/>
          </a:xfrm>
          <a:prstGeom prst="rect">
            <a:avLst/>
          </a:prstGeom>
          <a:noFill/>
          <a:ln/>
        </p:spPr>
        <p:txBody>
          <a:bodyPr wrap="square" lIns="101600" tIns="0" rIns="10160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2 min   🙋 whole class</a:t>
            </a:r>
            <a:endParaRPr lang="en-US" sz="950" dirty="0"/>
          </a:p>
        </p:txBody>
      </p:sp>
      <p:sp>
        <p:nvSpPr>
          <p:cNvPr id="11" name="tag_25"/>
          <p:cNvSpPr/>
          <p:nvPr/>
        </p:nvSpPr>
        <p:spPr>
          <a:xfrm>
            <a:off x="6510528" y="804672"/>
            <a:ext cx="2514600" cy="237744"/>
          </a:xfrm>
          <a:prstGeom prst="rect">
            <a:avLst/>
          </a:prstGeom>
          <a:noFill/>
          <a:ln/>
        </p:spPr>
        <p:txBody>
          <a:bodyPr wrap="square" lIns="101600" tIns="0" rIns="5080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Revision</a:t>
            </a:r>
            <a:pPr indent="0" marL="0">
              <a:buNone/>
            </a:pPr>
            <a:r>
              <a:rPr lang="en-US" sz="850" dirty="0">
                <a:solidFill>
                  <a:srgbClr val="7B5CD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· Retrieval</a:t>
            </a:r>
            <a:endParaRPr lang="en-US" sz="850" dirty="0"/>
          </a:p>
        </p:txBody>
      </p:sp>
      <p:pic>
        <p:nvPicPr>
          <p:cNvPr id="12" name="logo_26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3" name="foot_27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6B-2 · Revision · last lesson</a:t>
            </a:r>
            <a:endParaRPr lang="en-US" sz="800" dirty="0"/>
          </a:p>
        </p:txBody>
      </p:sp>
      <p:sp>
        <p:nvSpPr>
          <p:cNvPr id="14" name="pf_28"/>
          <p:cNvSpPr/>
          <p:nvPr/>
        </p:nvSpPr>
        <p:spPr>
          <a:xfrm rot="-120000">
            <a:off x="365760" y="1371600"/>
            <a:ext cx="2651760" cy="1828800"/>
          </a:xfrm>
          <a:prstGeom prst="roundRect">
            <a:avLst>
              <a:gd name="adj" fmla="val 85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20000"/>
              </a:srgbClr>
            </a:outerShdw>
          </a:effectLst>
        </p:spPr>
      </p:sp>
      <p:pic>
        <p:nvPicPr>
          <p:cNvPr id="15" name="ph_29" descr="/home/claude/lls-course/v2/cache/6B_2_people_jpg_616x418_31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rot="-120000">
            <a:off x="411480" y="1417320"/>
            <a:ext cx="2560320" cy="1737360"/>
          </a:xfrm>
          <a:prstGeom prst="rect">
            <a:avLst/>
          </a:prstGeom>
        </p:spPr>
      </p:pic>
      <p:sp>
        <p:nvSpPr>
          <p:cNvPr id="16" name="cd_30"/>
          <p:cNvSpPr/>
          <p:nvPr/>
        </p:nvSpPr>
        <p:spPr>
          <a:xfrm>
            <a:off x="320040" y="3383280"/>
            <a:ext cx="2743200" cy="1325880"/>
          </a:xfrm>
          <a:prstGeom prst="roundRect">
            <a:avLst>
              <a:gd name="adj" fmla="val 9655"/>
            </a:avLst>
          </a:prstGeom>
          <a:solidFill>
            <a:srgbClr val="FFF6CC"/>
          </a:solidFill>
          <a:ln w="19050">
            <a:solidFill>
              <a:srgbClr val="FFE07A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7" name="ii_31"/>
          <p:cNvSpPr/>
          <p:nvPr/>
        </p:nvSpPr>
        <p:spPr>
          <a:xfrm>
            <a:off x="411480" y="345643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📅</a:t>
            </a:r>
            <a:endParaRPr lang="en-US" sz="2200" dirty="0"/>
          </a:p>
        </p:txBody>
      </p:sp>
      <p:sp>
        <p:nvSpPr>
          <p:cNvPr id="18" name="ih_32"/>
          <p:cNvSpPr/>
          <p:nvPr/>
        </p:nvSpPr>
        <p:spPr>
          <a:xfrm>
            <a:off x="886968" y="347472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Last lesson…</a:t>
            </a:r>
            <a:endParaRPr lang="en-US" sz="1300" dirty="0"/>
          </a:p>
        </p:txBody>
      </p:sp>
      <p:sp>
        <p:nvSpPr>
          <p:cNvPr id="19" name="il_33"/>
          <p:cNvSpPr/>
          <p:nvPr/>
        </p:nvSpPr>
        <p:spPr>
          <a:xfrm>
            <a:off x="886968" y="3858768"/>
            <a:ext cx="208483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100" dirty="0">
                <a:solidFill>
                  <a:srgbClr val="1B25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6B part 1: Every picture tells a story</a:t>
            </a:r>
            <a:endParaRPr lang="en-US" sz="1100" dirty="0"/>
          </a:p>
          <a:p>
            <a:pPr marL="152400" indent="-152400">
              <a:spcBef>
                <a:spcPts val="500"/>
              </a:spcBef>
              <a:spcAft>
                <a:spcPts val="200"/>
              </a:spcAft>
              <a:buSzPct val="100000"/>
              <a:buChar char="•"/>
            </a:pPr>
            <a:r>
              <a:rPr lang="en-US" sz="1100" dirty="0">
                <a:solidFill>
                  <a:srgbClr val="1B25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Deduction: must · might · can't</a:t>
            </a:r>
            <a:endParaRPr lang="en-US" sz="1100" dirty="0"/>
          </a:p>
        </p:txBody>
      </p:sp>
      <p:sp>
        <p:nvSpPr>
          <p:cNvPr id="20" name="cd_34"/>
          <p:cNvSpPr/>
          <p:nvPr/>
        </p:nvSpPr>
        <p:spPr>
          <a:xfrm>
            <a:off x="3246120" y="1417320"/>
            <a:ext cx="2788920" cy="2331720"/>
          </a:xfrm>
          <a:prstGeom prst="roundRect">
            <a:avLst>
              <a:gd name="adj" fmla="val 5490"/>
            </a:avLst>
          </a:prstGeom>
          <a:solidFill>
            <a:srgbClr val="FFFFFF"/>
          </a:solidFill>
          <a:ln w="25400">
            <a:solidFill>
              <a:srgbClr val="A8E5BE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21" name="rh_35"/>
          <p:cNvSpPr/>
          <p:nvPr/>
        </p:nvSpPr>
        <p:spPr>
          <a:xfrm>
            <a:off x="3355848" y="1508760"/>
            <a:ext cx="2569464" cy="347472"/>
          </a:xfrm>
          <a:prstGeom prst="roundRect">
            <a:avLst>
              <a:gd name="adj" fmla="val 50000"/>
            </a:avLst>
          </a:prstGeom>
          <a:solidFill>
            <a:srgbClr val="2EB872"/>
          </a:solidFill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Sure it's true ✓</a:t>
            </a:r>
            <a:endParaRPr lang="en-US" sz="1200" dirty="0"/>
          </a:p>
        </p:txBody>
      </p:sp>
      <p:sp>
        <p:nvSpPr>
          <p:cNvPr id="22" name="rl_36"/>
          <p:cNvSpPr/>
          <p:nvPr/>
        </p:nvSpPr>
        <p:spPr>
          <a:xfrm>
            <a:off x="3383280" y="1920240"/>
            <a:ext cx="25146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She </a:t>
            </a:r>
            <a:pPr indent="0" marL="0">
              <a:spcAft>
                <a:spcPts val="400"/>
              </a:spcAft>
              <a:buNone/>
            </a:pPr>
            <a:r>
              <a:rPr lang="en-US" sz="1150" b="1" dirty="0">
                <a:solidFill>
                  <a:srgbClr val="2EB872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must</a:t>
            </a:r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be tired. (I'm sure.)</a:t>
            </a:r>
            <a:endParaRPr lang="en-US" sz="11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He </a:t>
            </a:r>
            <a:pPr indent="0" marL="0">
              <a:spcAft>
                <a:spcPts val="400"/>
              </a:spcAft>
              <a:buNone/>
            </a:pPr>
            <a:r>
              <a:rPr lang="en-US" sz="1150" b="1" dirty="0">
                <a:solidFill>
                  <a:srgbClr val="2EB872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must</a:t>
            </a:r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love animals.</a:t>
            </a:r>
            <a:endParaRPr lang="en-US" sz="1150" dirty="0"/>
          </a:p>
        </p:txBody>
      </p:sp>
      <p:sp>
        <p:nvSpPr>
          <p:cNvPr id="23" name="cd_37"/>
          <p:cNvSpPr/>
          <p:nvPr/>
        </p:nvSpPr>
        <p:spPr>
          <a:xfrm>
            <a:off x="6126480" y="1417320"/>
            <a:ext cx="2788920" cy="2331720"/>
          </a:xfrm>
          <a:prstGeom prst="roundRect">
            <a:avLst>
              <a:gd name="adj" fmla="val 5490"/>
            </a:avLst>
          </a:prstGeom>
          <a:solidFill>
            <a:srgbClr val="FFFFFF"/>
          </a:solidFill>
          <a:ln w="25400">
            <a:solidFill>
              <a:srgbClr val="F7A6C4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24" name="rh_38"/>
          <p:cNvSpPr/>
          <p:nvPr/>
        </p:nvSpPr>
        <p:spPr>
          <a:xfrm>
            <a:off x="6236208" y="1508760"/>
            <a:ext cx="2569464" cy="347472"/>
          </a:xfrm>
          <a:prstGeom prst="roundRect">
            <a:avLst>
              <a:gd name="adj" fmla="val 50000"/>
            </a:avLst>
          </a:prstGeom>
          <a:solidFill>
            <a:srgbClr val="E8508F"/>
          </a:solidFill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Maybe / Sure it's NOT</a:t>
            </a:r>
            <a:endParaRPr lang="en-US" sz="1200" dirty="0"/>
          </a:p>
        </p:txBody>
      </p:sp>
      <p:sp>
        <p:nvSpPr>
          <p:cNvPr id="25" name="rl_39"/>
          <p:cNvSpPr/>
          <p:nvPr/>
        </p:nvSpPr>
        <p:spPr>
          <a:xfrm>
            <a:off x="6263640" y="1920240"/>
            <a:ext cx="25146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He </a:t>
            </a:r>
            <a:pPr indent="0" marL="0">
              <a:spcAft>
                <a:spcPts val="400"/>
              </a:spcAft>
              <a:buNone/>
            </a:pPr>
            <a:r>
              <a:rPr lang="en-US" sz="1150" b="1" dirty="0">
                <a:solidFill>
                  <a:srgbClr val="E8508F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might / may / could</a:t>
            </a:r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be Spanish.</a:t>
            </a:r>
            <a:endParaRPr lang="en-US" sz="11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It </a:t>
            </a:r>
            <a:pPr indent="0" marL="0">
              <a:spcAft>
                <a:spcPts val="400"/>
              </a:spcAft>
              <a:buNone/>
            </a:pPr>
            <a:r>
              <a:rPr lang="en-US" sz="1150" b="1" dirty="0">
                <a:solidFill>
                  <a:srgbClr val="E8508F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can't</a:t>
            </a:r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be true! (✗ mustn't)</a:t>
            </a:r>
            <a:endParaRPr lang="en-US" sz="1150" dirty="0"/>
          </a:p>
        </p:txBody>
      </p:sp>
      <p:sp>
        <p:nvSpPr>
          <p:cNvPr id="26" name="kw_40"/>
          <p:cNvSpPr/>
          <p:nvPr/>
        </p:nvSpPr>
        <p:spPr>
          <a:xfrm>
            <a:off x="3246120" y="3867912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🔤 KEY WORDS</a:t>
            </a:r>
            <a:endParaRPr lang="en-US" sz="1100" dirty="0"/>
          </a:p>
        </p:txBody>
      </p:sp>
      <p:sp>
        <p:nvSpPr>
          <p:cNvPr id="27" name="w_41"/>
          <p:cNvSpPr/>
          <p:nvPr/>
        </p:nvSpPr>
        <p:spPr>
          <a:xfrm>
            <a:off x="3246120" y="4178808"/>
            <a:ext cx="1641348" cy="310896"/>
          </a:xfrm>
          <a:prstGeom prst="roundRect">
            <a:avLst>
              <a:gd name="adj" fmla="val 50000"/>
            </a:avLst>
          </a:prstGeom>
          <a:solidFill>
            <a:srgbClr val="FFE3EE"/>
          </a:solidFill>
          <a:ln>
            <a:solidFill>
              <a:srgbClr val="F7A6C4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must + infinitive</a:t>
            </a:r>
            <a:endParaRPr lang="en-US" sz="1050" dirty="0"/>
          </a:p>
        </p:txBody>
      </p:sp>
      <p:sp>
        <p:nvSpPr>
          <p:cNvPr id="28" name="w_42"/>
          <p:cNvSpPr/>
          <p:nvPr/>
        </p:nvSpPr>
        <p:spPr>
          <a:xfrm>
            <a:off x="4960620" y="4178808"/>
            <a:ext cx="708660" cy="310896"/>
          </a:xfrm>
          <a:prstGeom prst="roundRect">
            <a:avLst>
              <a:gd name="adj" fmla="val 50000"/>
            </a:avLst>
          </a:prstGeom>
          <a:solidFill>
            <a:srgbClr val="E3F1FD"/>
          </a:solidFill>
          <a:ln>
            <a:solidFill>
              <a:srgbClr val="A9D3F5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might</a:t>
            </a:r>
            <a:endParaRPr lang="en-US" sz="1050" dirty="0"/>
          </a:p>
        </p:txBody>
      </p:sp>
      <p:sp>
        <p:nvSpPr>
          <p:cNvPr id="29" name="w_43"/>
          <p:cNvSpPr/>
          <p:nvPr/>
        </p:nvSpPr>
        <p:spPr>
          <a:xfrm>
            <a:off x="5742432" y="4178808"/>
            <a:ext cx="553212" cy="310896"/>
          </a:xfrm>
          <a:prstGeom prst="roundRect">
            <a:avLst>
              <a:gd name="adj" fmla="val 50000"/>
            </a:avLst>
          </a:prstGeom>
          <a:solidFill>
            <a:srgbClr val="E3F7EA"/>
          </a:solidFill>
          <a:ln>
            <a:solidFill>
              <a:srgbClr val="A8E5BE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may</a:t>
            </a:r>
            <a:endParaRPr lang="en-US" sz="1050" dirty="0"/>
          </a:p>
        </p:txBody>
      </p:sp>
      <p:sp>
        <p:nvSpPr>
          <p:cNvPr id="30" name="w_44"/>
          <p:cNvSpPr/>
          <p:nvPr/>
        </p:nvSpPr>
        <p:spPr>
          <a:xfrm>
            <a:off x="6368796" y="4178808"/>
            <a:ext cx="708660" cy="310896"/>
          </a:xfrm>
          <a:prstGeom prst="roundRect">
            <a:avLst>
              <a:gd name="adj" fmla="val 50000"/>
            </a:avLst>
          </a:prstGeom>
          <a:solidFill>
            <a:srgbClr val="FFF6CC"/>
          </a:solidFill>
          <a:ln>
            <a:solidFill>
              <a:srgbClr val="FFE07A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could</a:t>
            </a:r>
            <a:endParaRPr lang="en-US" sz="1050" dirty="0"/>
          </a:p>
        </p:txBody>
      </p:sp>
      <p:sp>
        <p:nvSpPr>
          <p:cNvPr id="31" name="w_45"/>
          <p:cNvSpPr/>
          <p:nvPr/>
        </p:nvSpPr>
        <p:spPr>
          <a:xfrm>
            <a:off x="7150608" y="4178808"/>
            <a:ext cx="708660" cy="310896"/>
          </a:xfrm>
          <a:prstGeom prst="roundRect">
            <a:avLst>
              <a:gd name="adj" fmla="val 50000"/>
            </a:avLst>
          </a:prstGeom>
          <a:solidFill>
            <a:srgbClr val="FFE3EE"/>
          </a:solidFill>
          <a:ln>
            <a:solidFill>
              <a:srgbClr val="F7A6C4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can't</a:t>
            </a:r>
            <a:endParaRPr lang="en-US" sz="1050" dirty="0"/>
          </a:p>
        </p:txBody>
      </p:sp>
      <p:sp>
        <p:nvSpPr>
          <p:cNvPr id="32" name="w_46"/>
          <p:cNvSpPr/>
          <p:nvPr/>
        </p:nvSpPr>
        <p:spPr>
          <a:xfrm>
            <a:off x="3246120" y="4544568"/>
            <a:ext cx="941832" cy="310896"/>
          </a:xfrm>
          <a:prstGeom prst="roundRect">
            <a:avLst>
              <a:gd name="adj" fmla="val 50000"/>
            </a:avLst>
          </a:prstGeom>
          <a:solidFill>
            <a:srgbClr val="E3F1FD"/>
          </a:solidFill>
          <a:ln>
            <a:solidFill>
              <a:srgbClr val="A9D3F5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no 'to'!</a:t>
            </a:r>
            <a:endParaRPr lang="en-US" sz="1050" dirty="0"/>
          </a:p>
        </p:txBody>
      </p:sp>
    </p:spTree>
  </p:cSld>
  <p:clrMapOvr>
    <a:masterClrMapping/>
  </p:clrMapOvr>
  <p:transition spd="med">
    <p:push dir="l"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47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E8508F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3</a:t>
            </a:r>
            <a:endParaRPr lang="en-US" sz="2800" dirty="0"/>
          </a:p>
        </p:txBody>
      </p:sp>
      <p:pic>
        <p:nvPicPr>
          <p:cNvPr id="4" name="brY_48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3090672" cy="621792"/>
          </a:xfrm>
          <a:prstGeom prst="rect">
            <a:avLst/>
          </a:prstGeom>
        </p:spPr>
      </p:pic>
      <p:sp>
        <p:nvSpPr>
          <p:cNvPr id="5" name="title_49"/>
          <p:cNvSpPr/>
          <p:nvPr/>
        </p:nvSpPr>
        <p:spPr>
          <a:xfrm>
            <a:off x="1261872" y="164592"/>
            <a:ext cx="28163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Spot the error!</a:t>
            </a:r>
            <a:endParaRPr lang="en-US" sz="2500" dirty="0"/>
          </a:p>
        </p:txBody>
      </p:sp>
      <p:pic>
        <p:nvPicPr>
          <p:cNvPr id="6" name="brP_50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5161788" cy="402336"/>
          </a:xfrm>
          <a:prstGeom prst="rect">
            <a:avLst/>
          </a:prstGeom>
        </p:spPr>
      </p:pic>
      <p:sp>
        <p:nvSpPr>
          <p:cNvPr id="7" name="ins_51"/>
          <p:cNvSpPr/>
          <p:nvPr/>
        </p:nvSpPr>
        <p:spPr>
          <a:xfrm>
            <a:off x="1353312" y="731520"/>
            <a:ext cx="490575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Find the mistake. Careful: ONE sentence is correct!</a:t>
            </a:r>
            <a:endParaRPr lang="en-US" sz="1250" dirty="0"/>
          </a:p>
        </p:txBody>
      </p:sp>
      <p:sp>
        <p:nvSpPr>
          <p:cNvPr id="8" name="insIT_52"/>
          <p:cNvSpPr/>
          <p:nvPr/>
        </p:nvSpPr>
        <p:spPr>
          <a:xfrm>
            <a:off x="1371600" y="1115568"/>
            <a:ext cx="5852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Trova l'errore. Attenzione: UNA frase è giusta!</a:t>
            </a:r>
            <a:endParaRPr lang="en-US" sz="950" dirty="0"/>
          </a:p>
        </p:txBody>
      </p:sp>
      <p:sp>
        <p:nvSpPr>
          <p:cNvPr id="9" name="cmd_53"/>
          <p:cNvSpPr/>
          <p:nvPr/>
        </p:nvSpPr>
        <p:spPr>
          <a:xfrm>
            <a:off x="6510528" y="182880"/>
            <a:ext cx="1901952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FFE07A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🎲 </a:t>
            </a:r>
            <a:pPr indent="0" marL="0">
              <a:buNone/>
            </a:pPr>
            <a:r>
              <a:rPr lang="en-US" sz="1200" dirty="0">
                <a:solidFill>
                  <a:srgbClr val="F2B705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PLAY</a:t>
            </a:r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GIOCA</a:t>
            </a:r>
            <a:endParaRPr lang="en-US" sz="1100" dirty="0"/>
          </a:p>
        </p:txBody>
      </p:sp>
      <p:sp>
        <p:nvSpPr>
          <p:cNvPr id="10" name="meta_54"/>
          <p:cNvSpPr/>
          <p:nvPr/>
        </p:nvSpPr>
        <p:spPr>
          <a:xfrm>
            <a:off x="6583680" y="566928"/>
            <a:ext cx="2286000" cy="256032"/>
          </a:xfrm>
          <a:prstGeom prst="rect">
            <a:avLst/>
          </a:prstGeom>
          <a:noFill/>
          <a:ln/>
        </p:spPr>
        <p:txBody>
          <a:bodyPr wrap="square" lIns="101600" tIns="0" rIns="10160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3 min   🏆 teams</a:t>
            </a:r>
            <a:endParaRPr lang="en-US" sz="950" dirty="0"/>
          </a:p>
        </p:txBody>
      </p:sp>
      <p:sp>
        <p:nvSpPr>
          <p:cNvPr id="11" name="tag_55"/>
          <p:cNvSpPr/>
          <p:nvPr/>
        </p:nvSpPr>
        <p:spPr>
          <a:xfrm>
            <a:off x="6510528" y="804672"/>
            <a:ext cx="2514600" cy="237744"/>
          </a:xfrm>
          <a:prstGeom prst="rect">
            <a:avLst/>
          </a:prstGeom>
          <a:noFill/>
          <a:ln/>
        </p:spPr>
        <p:txBody>
          <a:bodyPr wrap="square" lIns="101600" tIns="0" rIns="5080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Revision</a:t>
            </a:r>
            <a:pPr indent="0" marL="0">
              <a:buNone/>
            </a:pPr>
            <a:r>
              <a:rPr lang="en-US" sz="850" dirty="0">
                <a:solidFill>
                  <a:srgbClr val="7B5CD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· Communicative game</a:t>
            </a:r>
            <a:endParaRPr lang="en-US" sz="850" dirty="0"/>
          </a:p>
        </p:txBody>
      </p:sp>
      <p:pic>
        <p:nvPicPr>
          <p:cNvPr id="12" name="logo_56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3" name="foot_57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6B-2 · Warmer · last lesson   ·   📖 Recycles 6B part 1 · Grammar Bank 6B p.143</a:t>
            </a:r>
            <a:endParaRPr lang="en-US" sz="800" dirty="0"/>
          </a:p>
        </p:txBody>
      </p:sp>
      <p:sp>
        <p:nvSpPr>
          <p:cNvPr id="14" name="cd_58"/>
          <p:cNvSpPr/>
          <p:nvPr/>
        </p:nvSpPr>
        <p:spPr>
          <a:xfrm>
            <a:off x="320040" y="1417320"/>
            <a:ext cx="2697480" cy="2194560"/>
          </a:xfrm>
          <a:prstGeom prst="roundRect">
            <a:avLst>
              <a:gd name="adj" fmla="val 5833"/>
            </a:avLst>
          </a:prstGeom>
          <a:solidFill>
            <a:srgbClr val="FFF6CC"/>
          </a:solidFill>
          <a:ln w="19050">
            <a:solidFill>
              <a:srgbClr val="FFE07A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5" name="ii_59"/>
          <p:cNvSpPr/>
          <p:nvPr/>
        </p:nvSpPr>
        <p:spPr>
          <a:xfrm>
            <a:off x="411480" y="14904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🎲</a:t>
            </a:r>
            <a:endParaRPr lang="en-US" sz="2200" dirty="0"/>
          </a:p>
        </p:txBody>
      </p:sp>
      <p:sp>
        <p:nvSpPr>
          <p:cNvPr id="16" name="ih_60"/>
          <p:cNvSpPr/>
          <p:nvPr/>
        </p:nvSpPr>
        <p:spPr>
          <a:xfrm>
            <a:off x="886968" y="1508760"/>
            <a:ext cx="2057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How to play</a:t>
            </a:r>
            <a:endParaRPr lang="en-US" sz="1400" dirty="0"/>
          </a:p>
        </p:txBody>
      </p:sp>
      <p:sp>
        <p:nvSpPr>
          <p:cNvPr id="17" name="il_61"/>
          <p:cNvSpPr/>
          <p:nvPr/>
        </p:nvSpPr>
        <p:spPr>
          <a:xfrm>
            <a:off x="886968" y="1892808"/>
            <a:ext cx="203911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90500" indent="-190500">
              <a:spcAft>
                <a:spcPts val="200"/>
              </a:spcAft>
              <a:buSzPct val="100000"/>
              <a:buChar char="1"/>
            </a:pPr>
            <a:r>
              <a:rPr lang="en-US" sz="1000" dirty="0">
                <a:solidFill>
                  <a:srgbClr val="1B25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Read the sentence.</a:t>
            </a:r>
            <a:endParaRPr lang="en-US" sz="1000" dirty="0"/>
          </a:p>
          <a:p>
            <a:pPr marL="190500" indent="-190500">
              <a:spcAft>
                <a:spcPts val="200"/>
              </a:spcAft>
              <a:buSzPct val="100000"/>
              <a:buChar char="​"/>
            </a:pPr>
            <a:r>
              <a:rPr lang="en-US" sz="900" i="1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Leggi la frase.</a:t>
            </a:r>
            <a:endParaRPr lang="en-US" sz="1000" dirty="0"/>
          </a:p>
          <a:p>
            <a:pPr marL="190500" indent="-190500">
              <a:spcBef>
                <a:spcPts val="500"/>
              </a:spcBef>
              <a:spcAft>
                <a:spcPts val="200"/>
              </a:spcAft>
              <a:buSzPct val="100000"/>
              <a:buChar char="2"/>
            </a:pPr>
            <a:r>
              <a:rPr lang="en-US" sz="1000" dirty="0">
                <a:solidFill>
                  <a:srgbClr val="1B25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Teams write the correct sentence.</a:t>
            </a:r>
            <a:endParaRPr lang="en-US" sz="1000" dirty="0"/>
          </a:p>
          <a:p>
            <a:pPr marL="190500" indent="-190500">
              <a:spcAft>
                <a:spcPts val="200"/>
              </a:spcAft>
              <a:buSzPct val="100000"/>
              <a:buChar char="​"/>
            </a:pPr>
            <a:r>
              <a:rPr lang="en-US" sz="900" i="1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Le squadre scrivono la frase corretta.</a:t>
            </a:r>
            <a:endParaRPr lang="en-US" sz="1000" dirty="0"/>
          </a:p>
          <a:p>
            <a:pPr marL="190500" indent="-190500">
              <a:spcBef>
                <a:spcPts val="500"/>
              </a:spcBef>
              <a:spcAft>
                <a:spcPts val="200"/>
              </a:spcAft>
              <a:buSzPct val="100000"/>
              <a:buChar char="3"/>
            </a:pPr>
            <a:r>
              <a:rPr lang="en-US" sz="1000" dirty="0">
                <a:solidFill>
                  <a:srgbClr val="1B25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Correct = 1 point. 'Correct' a correct sentence = –1!</a:t>
            </a:r>
            <a:endParaRPr lang="en-US" sz="1000" dirty="0"/>
          </a:p>
          <a:p>
            <a:pPr marL="190500" indent="-190500">
              <a:spcAft>
                <a:spcPts val="200"/>
              </a:spcAft>
              <a:buSzPct val="100000"/>
              <a:buChar char="​"/>
            </a:pPr>
            <a:r>
              <a:rPr lang="en-US" sz="900" i="1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Giusta = 1 punto. 'Correggere' una frase giusta = –1!</a:t>
            </a:r>
            <a:endParaRPr lang="en-US" sz="1000" dirty="0"/>
          </a:p>
        </p:txBody>
      </p:sp>
      <p:sp>
        <p:nvSpPr>
          <p:cNvPr id="18" name="st_62"/>
          <p:cNvSpPr/>
          <p:nvPr/>
        </p:nvSpPr>
        <p:spPr>
          <a:xfrm rot="-180000">
            <a:off x="502920" y="3703320"/>
            <a:ext cx="2286000" cy="777240"/>
          </a:xfrm>
          <a:prstGeom prst="rect">
            <a:avLst/>
          </a:prstGeom>
          <a:solidFill>
            <a:srgbClr val="FFC2DA"/>
          </a:solidFill>
          <a:ln>
            <a:solidFill>
              <a:srgbClr val="FFC2DA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50800" tIns="50800" rIns="50800" bIns="50800" rtlCol="0" anchor="ctr">
            <a:normAutofit/>
          </a:bodyPr>
          <a:lstStyle/>
          <a:p>
            <a:pPr algn="ctr"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TEAM A  ☆☆☆☆☆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TEAM B  ☆☆☆☆☆</a:t>
            </a:r>
            <a:endParaRPr lang="en-US" sz="1250" dirty="0"/>
          </a:p>
        </p:txBody>
      </p:sp>
      <p:sp>
        <p:nvSpPr>
          <p:cNvPr id="19" name="bd_63"/>
          <p:cNvSpPr/>
          <p:nvPr/>
        </p:nvSpPr>
        <p:spPr>
          <a:xfrm>
            <a:off x="3246120" y="1491234"/>
            <a:ext cx="329184" cy="329184"/>
          </a:xfrm>
          <a:prstGeom prst="ellipse">
            <a:avLst/>
          </a:prstGeom>
          <a:solidFill>
            <a:srgbClr val="E8508F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</a:t>
            </a:r>
            <a:endParaRPr lang="en-US" sz="1100" dirty="0"/>
          </a:p>
        </p:txBody>
      </p:sp>
      <p:sp>
        <p:nvSpPr>
          <p:cNvPr id="20" name="gq_64"/>
          <p:cNvSpPr/>
          <p:nvPr/>
        </p:nvSpPr>
        <p:spPr>
          <a:xfrm>
            <a:off x="3657600" y="1417320"/>
            <a:ext cx="2514600" cy="477012"/>
          </a:xfrm>
          <a:prstGeom prst="roundRect">
            <a:avLst>
              <a:gd name="adj" fmla="val 19169"/>
            </a:avLst>
          </a:prstGeom>
          <a:solidFill>
            <a:srgbClr val="FFFFFF"/>
          </a:solidFill>
          <a:ln w="19050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Is that really Jack's wife? It mustn't be true!</a:t>
            </a:r>
            <a:endParaRPr lang="en-US" sz="1100" dirty="0"/>
          </a:p>
        </p:txBody>
      </p:sp>
      <p:sp>
        <p:nvSpPr>
          <p:cNvPr id="21" name="R1_chip65"/>
          <p:cNvSpPr/>
          <p:nvPr/>
        </p:nvSpPr>
        <p:spPr>
          <a:xfrm>
            <a:off x="6263640" y="1417320"/>
            <a:ext cx="2560320" cy="477012"/>
          </a:xfrm>
          <a:prstGeom prst="roundRect">
            <a:avLst>
              <a:gd name="adj" fmla="val 19169"/>
            </a:avLst>
          </a:prstGeom>
          <a:solidFill>
            <a:srgbClr val="FFE3EE"/>
          </a:solidFill>
          <a:ln w="19050">
            <a:solidFill>
              <a:srgbClr val="E8508F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 It can't be true!</a:t>
            </a:r>
            <a:endParaRPr lang="en-US" sz="1100" dirty="0"/>
          </a:p>
        </p:txBody>
      </p:sp>
      <p:sp>
        <p:nvSpPr>
          <p:cNvPr id="22" name="bd_66"/>
          <p:cNvSpPr/>
          <p:nvPr/>
        </p:nvSpPr>
        <p:spPr>
          <a:xfrm>
            <a:off x="3246120" y="2032254"/>
            <a:ext cx="329184" cy="329184"/>
          </a:xfrm>
          <a:prstGeom prst="ellipse">
            <a:avLst/>
          </a:prstGeom>
          <a:solidFill>
            <a:srgbClr val="2F8DE4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2</a:t>
            </a:r>
            <a:endParaRPr lang="en-US" sz="1100" dirty="0"/>
          </a:p>
        </p:txBody>
      </p:sp>
      <p:sp>
        <p:nvSpPr>
          <p:cNvPr id="23" name="gq_67"/>
          <p:cNvSpPr/>
          <p:nvPr/>
        </p:nvSpPr>
        <p:spPr>
          <a:xfrm>
            <a:off x="3657600" y="1958340"/>
            <a:ext cx="2514600" cy="477012"/>
          </a:xfrm>
          <a:prstGeom prst="roundRect">
            <a:avLst>
              <a:gd name="adj" fmla="val 19169"/>
            </a:avLst>
          </a:prstGeom>
          <a:solidFill>
            <a:srgbClr val="FFFFFF"/>
          </a:solidFill>
          <a:ln w="19050">
            <a:solidFill>
              <a:srgbClr val="A9D3F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He's speaking Spanish, so he can be from Spain or Mexico.</a:t>
            </a:r>
            <a:endParaRPr lang="en-US" sz="1100" dirty="0"/>
          </a:p>
        </p:txBody>
      </p:sp>
      <p:sp>
        <p:nvSpPr>
          <p:cNvPr id="24" name="R2_chip68"/>
          <p:cNvSpPr/>
          <p:nvPr/>
        </p:nvSpPr>
        <p:spPr>
          <a:xfrm>
            <a:off x="6263640" y="1958340"/>
            <a:ext cx="2560320" cy="477012"/>
          </a:xfrm>
          <a:prstGeom prst="roundRect">
            <a:avLst>
              <a:gd name="adj" fmla="val 19169"/>
            </a:avLst>
          </a:prstGeom>
          <a:solidFill>
            <a:srgbClr val="FFE3EE"/>
          </a:solidFill>
          <a:ln w="19050">
            <a:solidFill>
              <a:srgbClr val="E8508F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 he might / may / could be</a:t>
            </a:r>
            <a:endParaRPr lang="en-US" sz="1100" dirty="0"/>
          </a:p>
        </p:txBody>
      </p:sp>
      <p:sp>
        <p:nvSpPr>
          <p:cNvPr id="25" name="bd_69"/>
          <p:cNvSpPr/>
          <p:nvPr/>
        </p:nvSpPr>
        <p:spPr>
          <a:xfrm>
            <a:off x="3246120" y="2573274"/>
            <a:ext cx="329184" cy="329184"/>
          </a:xfrm>
          <a:prstGeom prst="ellipse">
            <a:avLst/>
          </a:prstGeom>
          <a:solidFill>
            <a:srgbClr val="2EB872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3</a:t>
            </a:r>
            <a:endParaRPr lang="en-US" sz="1100" dirty="0"/>
          </a:p>
        </p:txBody>
      </p:sp>
      <p:sp>
        <p:nvSpPr>
          <p:cNvPr id="26" name="gq_70"/>
          <p:cNvSpPr/>
          <p:nvPr/>
        </p:nvSpPr>
        <p:spPr>
          <a:xfrm>
            <a:off x="3657600" y="2499360"/>
            <a:ext cx="2514600" cy="477012"/>
          </a:xfrm>
          <a:prstGeom prst="roundRect">
            <a:avLst>
              <a:gd name="adj" fmla="val 19169"/>
            </a:avLst>
          </a:prstGeom>
          <a:solidFill>
            <a:srgbClr val="FFFFFF"/>
          </a:solidFill>
          <a:ln w="19050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She's been working all day. She must to be tired.</a:t>
            </a:r>
            <a:endParaRPr lang="en-US" sz="1100" dirty="0"/>
          </a:p>
        </p:txBody>
      </p:sp>
      <p:sp>
        <p:nvSpPr>
          <p:cNvPr id="27" name="R3_chip71"/>
          <p:cNvSpPr/>
          <p:nvPr/>
        </p:nvSpPr>
        <p:spPr>
          <a:xfrm>
            <a:off x="6263640" y="2499360"/>
            <a:ext cx="2560320" cy="477012"/>
          </a:xfrm>
          <a:prstGeom prst="roundRect">
            <a:avLst>
              <a:gd name="adj" fmla="val 19169"/>
            </a:avLst>
          </a:prstGeom>
          <a:solidFill>
            <a:srgbClr val="FFE3EE"/>
          </a:solidFill>
          <a:ln w="19050">
            <a:solidFill>
              <a:srgbClr val="E8508F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 She must be tired.</a:t>
            </a:r>
            <a:endParaRPr lang="en-US" sz="1100" dirty="0"/>
          </a:p>
        </p:txBody>
      </p:sp>
      <p:sp>
        <p:nvSpPr>
          <p:cNvPr id="28" name="bd_72"/>
          <p:cNvSpPr/>
          <p:nvPr/>
        </p:nvSpPr>
        <p:spPr>
          <a:xfrm>
            <a:off x="3246120" y="3114294"/>
            <a:ext cx="329184" cy="329184"/>
          </a:xfrm>
          <a:prstGeom prst="ellipse">
            <a:avLst/>
          </a:prstGeom>
          <a:solidFill>
            <a:srgbClr val="F2B705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4</a:t>
            </a:r>
            <a:endParaRPr lang="en-US" sz="1100" dirty="0"/>
          </a:p>
        </p:txBody>
      </p:sp>
      <p:sp>
        <p:nvSpPr>
          <p:cNvPr id="29" name="gq_73"/>
          <p:cNvSpPr/>
          <p:nvPr/>
        </p:nvSpPr>
        <p:spPr>
          <a:xfrm>
            <a:off x="3657600" y="3040380"/>
            <a:ext cx="2514600" cy="477012"/>
          </a:xfrm>
          <a:prstGeom prst="roundRect">
            <a:avLst>
              <a:gd name="adj" fmla="val 19169"/>
            </a:avLst>
          </a:prstGeom>
          <a:solidFill>
            <a:srgbClr val="FFFFFF"/>
          </a:solidFill>
          <a:ln w="19050">
            <a:solidFill>
              <a:srgbClr val="FFE07A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Her profile photo is her cat. She must love animals.</a:t>
            </a:r>
            <a:endParaRPr lang="en-US" sz="1100" dirty="0"/>
          </a:p>
        </p:txBody>
      </p:sp>
      <p:sp>
        <p:nvSpPr>
          <p:cNvPr id="30" name="R4_chip74"/>
          <p:cNvSpPr/>
          <p:nvPr/>
        </p:nvSpPr>
        <p:spPr>
          <a:xfrm>
            <a:off x="6263640" y="3040380"/>
            <a:ext cx="2560320" cy="477012"/>
          </a:xfrm>
          <a:prstGeom prst="roundRect">
            <a:avLst>
              <a:gd name="adj" fmla="val 19169"/>
            </a:avLst>
          </a:prstGeom>
          <a:solidFill>
            <a:srgbClr val="FFE3EE"/>
          </a:solidFill>
          <a:ln w="19050">
            <a:solidFill>
              <a:srgbClr val="E8508F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 ✓ Correct!</a:t>
            </a:r>
            <a:endParaRPr lang="en-US" sz="1100" dirty="0"/>
          </a:p>
        </p:txBody>
      </p:sp>
      <p:sp>
        <p:nvSpPr>
          <p:cNvPr id="31" name="bd_75"/>
          <p:cNvSpPr/>
          <p:nvPr/>
        </p:nvSpPr>
        <p:spPr>
          <a:xfrm>
            <a:off x="3246120" y="3655314"/>
            <a:ext cx="329184" cy="329184"/>
          </a:xfrm>
          <a:prstGeom prst="ellipse">
            <a:avLst/>
          </a:prstGeom>
          <a:solidFill>
            <a:srgbClr val="E8508F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5</a:t>
            </a:r>
            <a:endParaRPr lang="en-US" sz="1100" dirty="0"/>
          </a:p>
        </p:txBody>
      </p:sp>
      <p:sp>
        <p:nvSpPr>
          <p:cNvPr id="32" name="gq_76"/>
          <p:cNvSpPr/>
          <p:nvPr/>
        </p:nvSpPr>
        <p:spPr>
          <a:xfrm>
            <a:off x="3657600" y="3581400"/>
            <a:ext cx="2514600" cy="477012"/>
          </a:xfrm>
          <a:prstGeom prst="roundRect">
            <a:avLst>
              <a:gd name="adj" fmla="val 19169"/>
            </a:avLst>
          </a:prstGeom>
          <a:solidFill>
            <a:srgbClr val="FFFFFF"/>
          </a:solidFill>
          <a:ln w="19050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Nobody's answering. They might are on holiday.</a:t>
            </a:r>
            <a:endParaRPr lang="en-US" sz="1100" dirty="0"/>
          </a:p>
        </p:txBody>
      </p:sp>
      <p:sp>
        <p:nvSpPr>
          <p:cNvPr id="33" name="R5_chip77"/>
          <p:cNvSpPr/>
          <p:nvPr/>
        </p:nvSpPr>
        <p:spPr>
          <a:xfrm>
            <a:off x="6263640" y="3581400"/>
            <a:ext cx="2560320" cy="477012"/>
          </a:xfrm>
          <a:prstGeom prst="roundRect">
            <a:avLst>
              <a:gd name="adj" fmla="val 19169"/>
            </a:avLst>
          </a:prstGeom>
          <a:solidFill>
            <a:srgbClr val="FFE3EE"/>
          </a:solidFill>
          <a:ln w="19050">
            <a:solidFill>
              <a:srgbClr val="E8508F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 They might be on holiday.</a:t>
            </a:r>
            <a:endParaRPr lang="en-US" sz="1100" dirty="0"/>
          </a:p>
        </p:txBody>
      </p:sp>
      <p:sp>
        <p:nvSpPr>
          <p:cNvPr id="34" name="bd_78"/>
          <p:cNvSpPr/>
          <p:nvPr/>
        </p:nvSpPr>
        <p:spPr>
          <a:xfrm>
            <a:off x="3246120" y="4196334"/>
            <a:ext cx="329184" cy="329184"/>
          </a:xfrm>
          <a:prstGeom prst="ellipse">
            <a:avLst/>
          </a:prstGeom>
          <a:solidFill>
            <a:srgbClr val="2F8DE4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6</a:t>
            </a:r>
            <a:endParaRPr lang="en-US" sz="1100" dirty="0"/>
          </a:p>
        </p:txBody>
      </p:sp>
      <p:sp>
        <p:nvSpPr>
          <p:cNvPr id="35" name="gq_79"/>
          <p:cNvSpPr/>
          <p:nvPr/>
        </p:nvSpPr>
        <p:spPr>
          <a:xfrm>
            <a:off x="3657600" y="4122420"/>
            <a:ext cx="2514600" cy="477012"/>
          </a:xfrm>
          <a:prstGeom prst="roundRect">
            <a:avLst>
              <a:gd name="adj" fmla="val 19169"/>
            </a:avLst>
          </a:prstGeom>
          <a:solidFill>
            <a:srgbClr val="FFFFFF"/>
          </a:solidFill>
          <a:ln w="19050">
            <a:solidFill>
              <a:srgbClr val="A9D3F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Where's Tom? – I'm not sure. He might working.</a:t>
            </a:r>
            <a:endParaRPr lang="en-US" sz="1100" dirty="0"/>
          </a:p>
        </p:txBody>
      </p:sp>
      <p:sp>
        <p:nvSpPr>
          <p:cNvPr id="36" name="R6_chip80"/>
          <p:cNvSpPr/>
          <p:nvPr/>
        </p:nvSpPr>
        <p:spPr>
          <a:xfrm>
            <a:off x="6263640" y="4122420"/>
            <a:ext cx="2560320" cy="477012"/>
          </a:xfrm>
          <a:prstGeom prst="roundRect">
            <a:avLst>
              <a:gd name="adj" fmla="val 19169"/>
            </a:avLst>
          </a:prstGeom>
          <a:solidFill>
            <a:srgbClr val="FFE3EE"/>
          </a:solidFill>
          <a:ln w="19050">
            <a:solidFill>
              <a:srgbClr val="E8508F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 He might be working.</a:t>
            </a:r>
            <a:endParaRPr lang="en-US" sz="110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81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2EB872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4</a:t>
            </a:r>
            <a:endParaRPr lang="en-US" sz="2800" dirty="0"/>
          </a:p>
        </p:txBody>
      </p:sp>
      <p:pic>
        <p:nvPicPr>
          <p:cNvPr id="4" name="brY_82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3090672" cy="621792"/>
          </a:xfrm>
          <a:prstGeom prst="rect">
            <a:avLst/>
          </a:prstGeom>
        </p:spPr>
      </p:pic>
      <p:sp>
        <p:nvSpPr>
          <p:cNvPr id="5" name="title_83"/>
          <p:cNvSpPr/>
          <p:nvPr/>
        </p:nvSpPr>
        <p:spPr>
          <a:xfrm>
            <a:off x="1261872" y="164592"/>
            <a:ext cx="28163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Point to your…!</a:t>
            </a:r>
            <a:endParaRPr lang="en-US" sz="2500" dirty="0"/>
          </a:p>
        </p:txBody>
      </p:sp>
      <p:pic>
        <p:nvPicPr>
          <p:cNvPr id="6" name="brP_84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5422392" cy="402336"/>
          </a:xfrm>
          <a:prstGeom prst="rect">
            <a:avLst/>
          </a:prstGeom>
        </p:spPr>
      </p:pic>
      <p:sp>
        <p:nvSpPr>
          <p:cNvPr id="7" name="ins_85"/>
          <p:cNvSpPr/>
          <p:nvPr/>
        </p:nvSpPr>
        <p:spPr>
          <a:xfrm>
            <a:off x="1353312" y="731520"/>
            <a:ext cx="51663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Listen and point to the part of your body. Then click!</a:t>
            </a:r>
            <a:endParaRPr lang="en-US" sz="1250" dirty="0"/>
          </a:p>
        </p:txBody>
      </p:sp>
      <p:sp>
        <p:nvSpPr>
          <p:cNvPr id="8" name="insIT_86"/>
          <p:cNvSpPr/>
          <p:nvPr/>
        </p:nvSpPr>
        <p:spPr>
          <a:xfrm>
            <a:off x="1371600" y="1115568"/>
            <a:ext cx="5852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Ascolta e indica la parte del corpo. Poi clicca!</a:t>
            </a:r>
            <a:endParaRPr lang="en-US" sz="950" dirty="0"/>
          </a:p>
        </p:txBody>
      </p:sp>
      <p:sp>
        <p:nvSpPr>
          <p:cNvPr id="9" name="cmd_87"/>
          <p:cNvSpPr/>
          <p:nvPr/>
        </p:nvSpPr>
        <p:spPr>
          <a:xfrm>
            <a:off x="6510528" y="182880"/>
            <a:ext cx="1901952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🎧 </a:t>
            </a:r>
            <a:pPr indent="0" marL="0">
              <a:buNone/>
            </a:pPr>
            <a:r>
              <a:rPr lang="en-US" sz="1200" dirty="0">
                <a:solidFill>
                  <a:srgbClr val="2F8DE4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LISTEN</a:t>
            </a:r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ASCOLTA</a:t>
            </a:r>
            <a:endParaRPr lang="en-US" sz="1100" dirty="0"/>
          </a:p>
        </p:txBody>
      </p:sp>
      <p:sp>
        <p:nvSpPr>
          <p:cNvPr id="10" name="cmd_88"/>
          <p:cNvSpPr/>
          <p:nvPr/>
        </p:nvSpPr>
        <p:spPr>
          <a:xfrm>
            <a:off x="6510528" y="566928"/>
            <a:ext cx="1901952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A8E5BE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✅ </a:t>
            </a:r>
            <a:pPr indent="0" marL="0">
              <a:buNone/>
            </a:pPr>
            <a:r>
              <a:rPr lang="en-US" sz="1200" dirty="0">
                <a:solidFill>
                  <a:srgbClr val="2EB872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CHECK</a:t>
            </a:r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CONTROLLA</a:t>
            </a:r>
            <a:endParaRPr lang="en-US" sz="1100" dirty="0"/>
          </a:p>
        </p:txBody>
      </p:sp>
      <p:sp>
        <p:nvSpPr>
          <p:cNvPr id="11" name="meta_89"/>
          <p:cNvSpPr/>
          <p:nvPr/>
        </p:nvSpPr>
        <p:spPr>
          <a:xfrm>
            <a:off x="6583680" y="950976"/>
            <a:ext cx="2286000" cy="256032"/>
          </a:xfrm>
          <a:prstGeom prst="rect">
            <a:avLst/>
          </a:prstGeom>
          <a:noFill/>
          <a:ln/>
        </p:spPr>
        <p:txBody>
          <a:bodyPr wrap="square" lIns="101600" tIns="0" rIns="10160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5 min   🙋 whole class</a:t>
            </a:r>
            <a:endParaRPr lang="en-US" sz="950" dirty="0"/>
          </a:p>
        </p:txBody>
      </p:sp>
      <p:sp>
        <p:nvSpPr>
          <p:cNvPr id="12" name="tag_90"/>
          <p:cNvSpPr/>
          <p:nvPr/>
        </p:nvSpPr>
        <p:spPr>
          <a:xfrm>
            <a:off x="6510528" y="1188720"/>
            <a:ext cx="2514600" cy="237744"/>
          </a:xfrm>
          <a:prstGeom prst="rect">
            <a:avLst/>
          </a:prstGeom>
          <a:noFill/>
          <a:ln/>
        </p:spPr>
        <p:txBody>
          <a:bodyPr wrap="square" lIns="101600" tIns="0" rIns="5080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Vocabulary</a:t>
            </a:r>
            <a:pPr indent="0" marL="0">
              <a:buNone/>
            </a:pPr>
            <a:r>
              <a:rPr lang="en-US" sz="850" dirty="0">
                <a:solidFill>
                  <a:srgbClr val="7B5CD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· TPRS · meaning</a:t>
            </a:r>
            <a:endParaRPr lang="en-US" sz="850" dirty="0"/>
          </a:p>
        </p:txBody>
      </p:sp>
      <p:pic>
        <p:nvPicPr>
          <p:cNvPr id="13" name="logo_91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4" name="foot_92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6B-2 · Vocabulary · the body · 8 new words   ·   📖 SB p.62 · 3b · Vocabulary Bank The body p.160 · audio 6.14</a:t>
            </a:r>
            <a:endParaRPr lang="en-US" sz="800" dirty="0"/>
          </a:p>
        </p:txBody>
      </p:sp>
      <p:sp>
        <p:nvSpPr>
          <p:cNvPr id="15" name="cd_93"/>
          <p:cNvSpPr/>
          <p:nvPr/>
        </p:nvSpPr>
        <p:spPr>
          <a:xfrm>
            <a:off x="320040" y="1417320"/>
            <a:ext cx="2075688" cy="91440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9050">
            <a:solidFill>
              <a:srgbClr val="F7A6C4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6" name="e_94"/>
          <p:cNvSpPr/>
          <p:nvPr/>
        </p:nvSpPr>
        <p:spPr>
          <a:xfrm>
            <a:off x="393192" y="1527048"/>
            <a:ext cx="512064" cy="512064"/>
          </a:xfrm>
          <a:prstGeom prst="ellipse">
            <a:avLst/>
          </a:prstGeom>
          <a:solidFill>
            <a:srgbClr val="FFE3E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🙂</a:t>
            </a:r>
            <a:endParaRPr lang="en-US" sz="2000" dirty="0"/>
          </a:p>
        </p:txBody>
      </p:sp>
      <p:sp>
        <p:nvSpPr>
          <p:cNvPr id="17" name="en_95"/>
          <p:cNvSpPr/>
          <p:nvPr/>
        </p:nvSpPr>
        <p:spPr>
          <a:xfrm>
            <a:off x="978408" y="1472184"/>
            <a:ext cx="13624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chin</a:t>
            </a:r>
            <a:endParaRPr lang="en-US" sz="1200" dirty="0"/>
          </a:p>
        </p:txBody>
      </p:sp>
      <p:sp>
        <p:nvSpPr>
          <p:cNvPr id="18" name="R1_def96"/>
          <p:cNvSpPr/>
          <p:nvPr/>
        </p:nvSpPr>
        <p:spPr>
          <a:xfrm>
            <a:off x="978408" y="1783080"/>
            <a:ext cx="13624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bottom part of your face, under your mouth</a:t>
            </a:r>
            <a:endParaRPr lang="en-US" sz="850" dirty="0"/>
          </a:p>
        </p:txBody>
      </p:sp>
      <p:sp>
        <p:nvSpPr>
          <p:cNvPr id="19" name="R2_it97"/>
          <p:cNvSpPr/>
          <p:nvPr/>
        </p:nvSpPr>
        <p:spPr>
          <a:xfrm>
            <a:off x="978408" y="2121408"/>
            <a:ext cx="136245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00" i="1" dirty="0">
                <a:solidFill>
                  <a:srgbClr val="2EB872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mento</a:t>
            </a:r>
            <a:endParaRPr lang="en-US" sz="900" dirty="0"/>
          </a:p>
        </p:txBody>
      </p:sp>
      <p:sp>
        <p:nvSpPr>
          <p:cNvPr id="20" name="cd_98"/>
          <p:cNvSpPr/>
          <p:nvPr/>
        </p:nvSpPr>
        <p:spPr>
          <a:xfrm>
            <a:off x="2487168" y="1417320"/>
            <a:ext cx="2075688" cy="91440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9050">
            <a:solidFill>
              <a:srgbClr val="A9D3F5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21" name="e_99"/>
          <p:cNvSpPr/>
          <p:nvPr/>
        </p:nvSpPr>
        <p:spPr>
          <a:xfrm>
            <a:off x="2560320" y="1527048"/>
            <a:ext cx="512064" cy="512064"/>
          </a:xfrm>
          <a:prstGeom prst="ellipse">
            <a:avLst/>
          </a:prstGeom>
          <a:solidFill>
            <a:srgbClr val="E3F1FD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🤷</a:t>
            </a:r>
            <a:endParaRPr lang="en-US" sz="2000" dirty="0"/>
          </a:p>
        </p:txBody>
      </p:sp>
      <p:sp>
        <p:nvSpPr>
          <p:cNvPr id="22" name="en_100"/>
          <p:cNvSpPr/>
          <p:nvPr/>
        </p:nvSpPr>
        <p:spPr>
          <a:xfrm>
            <a:off x="3145536" y="1472184"/>
            <a:ext cx="13624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shoulders</a:t>
            </a:r>
            <a:endParaRPr lang="en-US" sz="1200" dirty="0"/>
          </a:p>
        </p:txBody>
      </p:sp>
      <p:sp>
        <p:nvSpPr>
          <p:cNvPr id="23" name="R3_def101"/>
          <p:cNvSpPr/>
          <p:nvPr/>
        </p:nvSpPr>
        <p:spPr>
          <a:xfrm>
            <a:off x="3145536" y="1783080"/>
            <a:ext cx="13624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where your arms join your body</a:t>
            </a:r>
            <a:endParaRPr lang="en-US" sz="850" dirty="0"/>
          </a:p>
        </p:txBody>
      </p:sp>
      <p:sp>
        <p:nvSpPr>
          <p:cNvPr id="24" name="R4_it102"/>
          <p:cNvSpPr/>
          <p:nvPr/>
        </p:nvSpPr>
        <p:spPr>
          <a:xfrm>
            <a:off x="3145536" y="2121408"/>
            <a:ext cx="136245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00" i="1" dirty="0">
                <a:solidFill>
                  <a:srgbClr val="2EB872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spalle</a:t>
            </a:r>
            <a:endParaRPr lang="en-US" sz="900" dirty="0"/>
          </a:p>
        </p:txBody>
      </p:sp>
      <p:sp>
        <p:nvSpPr>
          <p:cNvPr id="25" name="cd_103"/>
          <p:cNvSpPr/>
          <p:nvPr/>
        </p:nvSpPr>
        <p:spPr>
          <a:xfrm>
            <a:off x="4654296" y="1417320"/>
            <a:ext cx="2075688" cy="91440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9050">
            <a:solidFill>
              <a:srgbClr val="A8E5BE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26" name="e_104"/>
          <p:cNvSpPr/>
          <p:nvPr/>
        </p:nvSpPr>
        <p:spPr>
          <a:xfrm>
            <a:off x="4727448" y="1527048"/>
            <a:ext cx="512064" cy="512064"/>
          </a:xfrm>
          <a:prstGeom prst="ellipse">
            <a:avLst/>
          </a:prstGeom>
          <a:solidFill>
            <a:srgbClr val="E3F7EA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👅</a:t>
            </a:r>
            <a:endParaRPr lang="en-US" sz="2000" dirty="0"/>
          </a:p>
        </p:txBody>
      </p:sp>
      <p:sp>
        <p:nvSpPr>
          <p:cNvPr id="27" name="en_105"/>
          <p:cNvSpPr/>
          <p:nvPr/>
        </p:nvSpPr>
        <p:spPr>
          <a:xfrm>
            <a:off x="5312664" y="1472184"/>
            <a:ext cx="13624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tongue /tʌŋ/</a:t>
            </a:r>
            <a:endParaRPr lang="en-US" sz="1200" dirty="0"/>
          </a:p>
        </p:txBody>
      </p:sp>
      <p:sp>
        <p:nvSpPr>
          <p:cNvPr id="28" name="R5_def106"/>
          <p:cNvSpPr/>
          <p:nvPr/>
        </p:nvSpPr>
        <p:spPr>
          <a:xfrm>
            <a:off x="5312664" y="1783080"/>
            <a:ext cx="13624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it's in your mouth – you taste with it</a:t>
            </a:r>
            <a:endParaRPr lang="en-US" sz="850" dirty="0"/>
          </a:p>
        </p:txBody>
      </p:sp>
      <p:sp>
        <p:nvSpPr>
          <p:cNvPr id="29" name="R6_it107"/>
          <p:cNvSpPr/>
          <p:nvPr/>
        </p:nvSpPr>
        <p:spPr>
          <a:xfrm>
            <a:off x="5312664" y="2121408"/>
            <a:ext cx="136245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00" i="1" dirty="0">
                <a:solidFill>
                  <a:srgbClr val="2EB872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lingua</a:t>
            </a:r>
            <a:endParaRPr lang="en-US" sz="900" dirty="0"/>
          </a:p>
        </p:txBody>
      </p:sp>
      <p:sp>
        <p:nvSpPr>
          <p:cNvPr id="30" name="cd_108"/>
          <p:cNvSpPr/>
          <p:nvPr/>
        </p:nvSpPr>
        <p:spPr>
          <a:xfrm>
            <a:off x="6821424" y="1417320"/>
            <a:ext cx="2075688" cy="91440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9050">
            <a:solidFill>
              <a:srgbClr val="FFE07A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31" name="e_109"/>
          <p:cNvSpPr/>
          <p:nvPr/>
        </p:nvSpPr>
        <p:spPr>
          <a:xfrm>
            <a:off x="6894576" y="1527048"/>
            <a:ext cx="512064" cy="512064"/>
          </a:xfrm>
          <a:prstGeom prst="ellipse">
            <a:avLst/>
          </a:prstGeom>
          <a:solidFill>
            <a:srgbClr val="FFF6C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👍</a:t>
            </a:r>
            <a:endParaRPr lang="en-US" sz="2000" dirty="0"/>
          </a:p>
        </p:txBody>
      </p:sp>
      <p:sp>
        <p:nvSpPr>
          <p:cNvPr id="32" name="en_110"/>
          <p:cNvSpPr/>
          <p:nvPr/>
        </p:nvSpPr>
        <p:spPr>
          <a:xfrm>
            <a:off x="7479792" y="1472184"/>
            <a:ext cx="13624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thumb /θʌm/</a:t>
            </a:r>
            <a:endParaRPr lang="en-US" sz="1200" dirty="0"/>
          </a:p>
        </p:txBody>
      </p:sp>
      <p:sp>
        <p:nvSpPr>
          <p:cNvPr id="33" name="R7_def111"/>
          <p:cNvSpPr/>
          <p:nvPr/>
        </p:nvSpPr>
        <p:spPr>
          <a:xfrm>
            <a:off x="7479792" y="1783080"/>
            <a:ext cx="13624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short, thick finger</a:t>
            </a:r>
            <a:endParaRPr lang="en-US" sz="850" dirty="0"/>
          </a:p>
        </p:txBody>
      </p:sp>
      <p:sp>
        <p:nvSpPr>
          <p:cNvPr id="34" name="R8_it112"/>
          <p:cNvSpPr/>
          <p:nvPr/>
        </p:nvSpPr>
        <p:spPr>
          <a:xfrm>
            <a:off x="7479792" y="2121408"/>
            <a:ext cx="136245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00" i="1" dirty="0">
                <a:solidFill>
                  <a:srgbClr val="2EB872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pollice</a:t>
            </a:r>
            <a:endParaRPr lang="en-US" sz="900" dirty="0"/>
          </a:p>
        </p:txBody>
      </p:sp>
      <p:sp>
        <p:nvSpPr>
          <p:cNvPr id="35" name="cd_113"/>
          <p:cNvSpPr/>
          <p:nvPr/>
        </p:nvSpPr>
        <p:spPr>
          <a:xfrm>
            <a:off x="320040" y="2423160"/>
            <a:ext cx="2075688" cy="91440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9050">
            <a:solidFill>
              <a:srgbClr val="F7A6C4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36" name="e_114"/>
          <p:cNvSpPr/>
          <p:nvPr/>
        </p:nvSpPr>
        <p:spPr>
          <a:xfrm>
            <a:off x="393192" y="2532888"/>
            <a:ext cx="512064" cy="512064"/>
          </a:xfrm>
          <a:prstGeom prst="ellipse">
            <a:avLst/>
          </a:prstGeom>
          <a:solidFill>
            <a:srgbClr val="FFE3E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🦵</a:t>
            </a:r>
            <a:endParaRPr lang="en-US" sz="2000" dirty="0"/>
          </a:p>
        </p:txBody>
      </p:sp>
      <p:sp>
        <p:nvSpPr>
          <p:cNvPr id="37" name="en_115"/>
          <p:cNvSpPr/>
          <p:nvPr/>
        </p:nvSpPr>
        <p:spPr>
          <a:xfrm>
            <a:off x="978408" y="2478024"/>
            <a:ext cx="13624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knees (silent k!)</a:t>
            </a:r>
            <a:endParaRPr lang="en-US" sz="1200" dirty="0"/>
          </a:p>
        </p:txBody>
      </p:sp>
      <p:sp>
        <p:nvSpPr>
          <p:cNvPr id="38" name="R9_def116"/>
          <p:cNvSpPr/>
          <p:nvPr/>
        </p:nvSpPr>
        <p:spPr>
          <a:xfrm>
            <a:off x="978408" y="2788920"/>
            <a:ext cx="13624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middle of your legs – they bend</a:t>
            </a:r>
            <a:endParaRPr lang="en-US" sz="850" dirty="0"/>
          </a:p>
        </p:txBody>
      </p:sp>
      <p:sp>
        <p:nvSpPr>
          <p:cNvPr id="39" name="R10_it117"/>
          <p:cNvSpPr/>
          <p:nvPr/>
        </p:nvSpPr>
        <p:spPr>
          <a:xfrm>
            <a:off x="978408" y="3127248"/>
            <a:ext cx="136245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00" i="1" dirty="0">
                <a:solidFill>
                  <a:srgbClr val="2EB872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ginocchia</a:t>
            </a:r>
            <a:endParaRPr lang="en-US" sz="900" dirty="0"/>
          </a:p>
        </p:txBody>
      </p:sp>
      <p:sp>
        <p:nvSpPr>
          <p:cNvPr id="40" name="cd_118"/>
          <p:cNvSpPr/>
          <p:nvPr/>
        </p:nvSpPr>
        <p:spPr>
          <a:xfrm>
            <a:off x="2487168" y="2423160"/>
            <a:ext cx="2075688" cy="91440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9050">
            <a:solidFill>
              <a:srgbClr val="A9D3F5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41" name="e_119"/>
          <p:cNvSpPr/>
          <p:nvPr/>
        </p:nvSpPr>
        <p:spPr>
          <a:xfrm>
            <a:off x="2560320" y="2532888"/>
            <a:ext cx="512064" cy="512064"/>
          </a:xfrm>
          <a:prstGeom prst="ellipse">
            <a:avLst/>
          </a:prstGeom>
          <a:solidFill>
            <a:srgbClr val="E3F1FD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🍽️</a:t>
            </a:r>
            <a:endParaRPr lang="en-US" sz="2000" dirty="0"/>
          </a:p>
        </p:txBody>
      </p:sp>
      <p:sp>
        <p:nvSpPr>
          <p:cNvPr id="42" name="en_120"/>
          <p:cNvSpPr/>
          <p:nvPr/>
        </p:nvSpPr>
        <p:spPr>
          <a:xfrm>
            <a:off x="3145536" y="2478024"/>
            <a:ext cx="13624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stomach /ˈstʌmək/</a:t>
            </a:r>
            <a:endParaRPr lang="en-US" sz="1100" dirty="0"/>
          </a:p>
        </p:txBody>
      </p:sp>
      <p:sp>
        <p:nvSpPr>
          <p:cNvPr id="43" name="R11_def121"/>
          <p:cNvSpPr/>
          <p:nvPr/>
        </p:nvSpPr>
        <p:spPr>
          <a:xfrm>
            <a:off x="3145536" y="2788920"/>
            <a:ext cx="13624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food goes here after you eat</a:t>
            </a:r>
            <a:endParaRPr lang="en-US" sz="850" dirty="0"/>
          </a:p>
        </p:txBody>
      </p:sp>
      <p:sp>
        <p:nvSpPr>
          <p:cNvPr id="44" name="R12_it122"/>
          <p:cNvSpPr/>
          <p:nvPr/>
        </p:nvSpPr>
        <p:spPr>
          <a:xfrm>
            <a:off x="3145536" y="3127248"/>
            <a:ext cx="136245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00" i="1" dirty="0">
                <a:solidFill>
                  <a:srgbClr val="2EB872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stomaco / pancia</a:t>
            </a:r>
            <a:endParaRPr lang="en-US" sz="900" dirty="0"/>
          </a:p>
        </p:txBody>
      </p:sp>
      <p:sp>
        <p:nvSpPr>
          <p:cNvPr id="45" name="cd_123"/>
          <p:cNvSpPr/>
          <p:nvPr/>
        </p:nvSpPr>
        <p:spPr>
          <a:xfrm>
            <a:off x="4654296" y="2423160"/>
            <a:ext cx="2075688" cy="91440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9050">
            <a:solidFill>
              <a:srgbClr val="A8E5BE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46" name="e_124"/>
          <p:cNvSpPr/>
          <p:nvPr/>
        </p:nvSpPr>
        <p:spPr>
          <a:xfrm>
            <a:off x="4727448" y="2532888"/>
            <a:ext cx="512064" cy="512064"/>
          </a:xfrm>
          <a:prstGeom prst="ellipse">
            <a:avLst/>
          </a:prstGeom>
          <a:solidFill>
            <a:srgbClr val="E3F7EA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🦶</a:t>
            </a:r>
            <a:endParaRPr lang="en-US" sz="2000" dirty="0"/>
          </a:p>
        </p:txBody>
      </p:sp>
      <p:sp>
        <p:nvSpPr>
          <p:cNvPr id="47" name="en_125"/>
          <p:cNvSpPr/>
          <p:nvPr/>
        </p:nvSpPr>
        <p:spPr>
          <a:xfrm>
            <a:off x="5312664" y="2478024"/>
            <a:ext cx="13624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toes</a:t>
            </a:r>
            <a:endParaRPr lang="en-US" sz="1200" dirty="0"/>
          </a:p>
        </p:txBody>
      </p:sp>
      <p:sp>
        <p:nvSpPr>
          <p:cNvPr id="48" name="R13_def126"/>
          <p:cNvSpPr/>
          <p:nvPr/>
        </p:nvSpPr>
        <p:spPr>
          <a:xfrm>
            <a:off x="5312664" y="2788920"/>
            <a:ext cx="13624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'fingers' on your feet</a:t>
            </a:r>
            <a:endParaRPr lang="en-US" sz="850" dirty="0"/>
          </a:p>
        </p:txBody>
      </p:sp>
      <p:sp>
        <p:nvSpPr>
          <p:cNvPr id="49" name="R14_it127"/>
          <p:cNvSpPr/>
          <p:nvPr/>
        </p:nvSpPr>
        <p:spPr>
          <a:xfrm>
            <a:off x="5312664" y="3127248"/>
            <a:ext cx="136245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00" i="1" dirty="0">
                <a:solidFill>
                  <a:srgbClr val="2EB872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dita dei piedi</a:t>
            </a:r>
            <a:endParaRPr lang="en-US" sz="900" dirty="0"/>
          </a:p>
        </p:txBody>
      </p:sp>
      <p:sp>
        <p:nvSpPr>
          <p:cNvPr id="50" name="cd_128"/>
          <p:cNvSpPr/>
          <p:nvPr/>
        </p:nvSpPr>
        <p:spPr>
          <a:xfrm>
            <a:off x="6821424" y="2423160"/>
            <a:ext cx="2075688" cy="91440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9050">
            <a:solidFill>
              <a:srgbClr val="FFE07A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51" name="e_129"/>
          <p:cNvSpPr/>
          <p:nvPr/>
        </p:nvSpPr>
        <p:spPr>
          <a:xfrm>
            <a:off x="6894576" y="2532888"/>
            <a:ext cx="512064" cy="512064"/>
          </a:xfrm>
          <a:prstGeom prst="ellipse">
            <a:avLst/>
          </a:prstGeom>
          <a:solidFill>
            <a:srgbClr val="FFF6C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👄</a:t>
            </a:r>
            <a:endParaRPr lang="en-US" sz="2000" dirty="0"/>
          </a:p>
        </p:txBody>
      </p:sp>
      <p:sp>
        <p:nvSpPr>
          <p:cNvPr id="52" name="en_130"/>
          <p:cNvSpPr/>
          <p:nvPr/>
        </p:nvSpPr>
        <p:spPr>
          <a:xfrm>
            <a:off x="7479792" y="2478024"/>
            <a:ext cx="13624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lips</a:t>
            </a:r>
            <a:endParaRPr lang="en-US" sz="1200" dirty="0"/>
          </a:p>
        </p:txBody>
      </p:sp>
      <p:sp>
        <p:nvSpPr>
          <p:cNvPr id="53" name="R15_def131"/>
          <p:cNvSpPr/>
          <p:nvPr/>
        </p:nvSpPr>
        <p:spPr>
          <a:xfrm>
            <a:off x="7479792" y="2788920"/>
            <a:ext cx="13624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edges of your mouth</a:t>
            </a:r>
            <a:endParaRPr lang="en-US" sz="850" dirty="0"/>
          </a:p>
        </p:txBody>
      </p:sp>
      <p:sp>
        <p:nvSpPr>
          <p:cNvPr id="54" name="R16_it132"/>
          <p:cNvSpPr/>
          <p:nvPr/>
        </p:nvSpPr>
        <p:spPr>
          <a:xfrm>
            <a:off x="7479792" y="3127248"/>
            <a:ext cx="136245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00" i="1" dirty="0">
                <a:solidFill>
                  <a:srgbClr val="2EB872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labbra</a:t>
            </a:r>
            <a:endParaRPr lang="en-US" sz="900" dirty="0"/>
          </a:p>
        </p:txBody>
      </p:sp>
      <p:sp>
        <p:nvSpPr>
          <p:cNvPr id="55" name="ap_133"/>
          <p:cNvSpPr/>
          <p:nvPr/>
        </p:nvSpPr>
        <p:spPr>
          <a:xfrm>
            <a:off x="320040" y="4480560"/>
            <a:ext cx="2011680" cy="402336"/>
          </a:xfrm>
          <a:prstGeom prst="roundRect">
            <a:avLst>
              <a:gd name="adj" fmla="val 50000"/>
            </a:avLst>
          </a:prstGeom>
          <a:solidFill>
            <a:srgbClr val="E3F1FD"/>
          </a:solidFill>
          <a:ln w="19050">
            <a:solidFill>
              <a:srgbClr val="2F8DE4"/>
            </a:solidFill>
          </a:ln>
        </p:spPr>
        <p:txBody>
          <a:bodyPr wrap="square" lIns="127000" tIns="0" rIns="127000" bIns="0" rtlCol="0" anchor="ctr">
            <a:normAutofit/>
          </a:bodyPr>
          <a:lstStyle/>
          <a:p>
            <a:pPr indent="0" marL="0">
              <a:buNone/>
            </a:pPr>
            <a:r>
              <a:rPr lang="en-US" sz="11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🎧 6.14</a:t>
            </a:r>
            <a:endParaRPr lang="en-US" sz="1100" dirty="0"/>
          </a:p>
        </p:txBody>
      </p:sp>
      <p:sp>
        <p:nvSpPr>
          <p:cNvPr id="56" name="ah_134"/>
          <p:cNvSpPr/>
          <p:nvPr/>
        </p:nvSpPr>
        <p:spPr>
          <a:xfrm>
            <a:off x="5925312" y="4572000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2F8DE4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▶ normal · 🐢 slower</a:t>
            </a:r>
            <a:endParaRPr lang="en-US" sz="950" dirty="0"/>
          </a:p>
        </p:txBody>
      </p:sp>
      <p:pic>
        <p:nvPicPr>
          <p:cNvPr id="57" name="Media 0">
            <a:hlinkClick r:id="" action="ppaction://media"/>
          </p:cNvPr>
          <p:cNvPicPr>
            <a:picLocks noChangeAspect="1"/>
          </p:cNvPicPr>
          <p:nvPr>
            <a:audioFile r:link="rId5"/>
            <p:extLst>
              <p:ext uri="{DAA4B4D4-6D71-4841-9C94-3DE7FCFB9230}">
                <p14:media xmlns:p14="http://schemas.microsoft.com/office/powerpoint/2010/main" r:embed="rId6"/>
              </p:ext>
            </p:extLst>
          </p:nvPr>
        </p:nvPicPr>
        <p:blipFill>
          <a:blip r:embed="rId7"/>
          <a:stretch>
            <a:fillRect/>
          </a:stretch>
        </p:blipFill>
        <p:spPr>
          <a:xfrm>
            <a:off x="7525512" y="4553712"/>
            <a:ext cx="411480" cy="411480"/>
          </a:xfrm>
          <a:prstGeom prst="rect">
            <a:avLst/>
          </a:prstGeom>
        </p:spPr>
      </p:pic>
      <p:pic>
        <p:nvPicPr>
          <p:cNvPr id="58" name="Media 1">
            <a:hlinkClick r:id="" action="ppaction://media"/>
          </p:cNvPr>
          <p:cNvPicPr>
            <a:picLocks noChangeAspect="1"/>
          </p:cNvPicPr>
          <p:nvPr>
            <a:audioFile r:link="rId8"/>
            <p:extLst>
              <p:ext uri="{DAA4B4D4-6D71-4841-9C94-3DE7FCFB9230}">
                <p14:media xmlns:p14="http://schemas.microsoft.com/office/powerpoint/2010/main" r:embed="rId9"/>
              </p:ext>
            </p:extLst>
          </p:nvPr>
        </p:nvPicPr>
        <p:blipFill>
          <a:blip r:embed="rId10"/>
          <a:stretch>
            <a:fillRect/>
          </a:stretch>
        </p:blipFill>
        <p:spPr>
          <a:xfrm>
            <a:off x="8001000" y="4553712"/>
            <a:ext cx="411480" cy="411480"/>
          </a:xfrm>
          <a:prstGeom prst="rect">
            <a:avLst/>
          </a:prstGeom>
        </p:spPr>
      </p:pic>
      <p:sp>
        <p:nvSpPr>
          <p:cNvPr id="59" name="R17_wc135"/>
          <p:cNvSpPr/>
          <p:nvPr/>
        </p:nvSpPr>
        <p:spPr>
          <a:xfrm>
            <a:off x="320040" y="3474720"/>
            <a:ext cx="8549640" cy="457200"/>
          </a:xfrm>
          <a:prstGeom prst="roundRect">
            <a:avLst>
              <a:gd name="adj" fmla="val 28000"/>
            </a:avLst>
          </a:prstGeom>
          <a:solidFill>
            <a:srgbClr val="FFE3EE"/>
          </a:solidFill>
          <a:ln w="19050">
            <a:solidFill>
              <a:srgbClr val="F7A6C4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60" name="R17_w136"/>
          <p:cNvSpPr/>
          <p:nvPr/>
        </p:nvSpPr>
        <p:spPr>
          <a:xfrm>
            <a:off x="457200" y="3474720"/>
            <a:ext cx="8321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⚠ Watch out!  fingers (hands) ≠ toes (feet) – Italian says 'dita' for both!  ·  I've hurt MY knee (✗ the knee)</a:t>
            </a:r>
            <a:endParaRPr lang="en-US" sz="110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4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4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4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4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4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4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4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4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>
                      <p:stCondLst>
                        <p:cond delay="indefinite"/>
                      </p:stCondLst>
                      <p:childTnLst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7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" dur="4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8" fill="hold">
                      <p:stCondLst>
                        <p:cond delay="indefinite"/>
                      </p:stCondLst>
                      <p:childTnLst>
                        <p:par>
                          <p:cTn id="79" fill="hold">
                            <p:stCondLst>
                              <p:cond delay="0"/>
                            </p:stCondLst>
                            <p:childTnLst>
                              <p:par>
                                <p:cTn id="8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2" dur="400"/>
                                        <p:tgtEl>
                                          <p:spTgt spid="5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3" fill="hold">
                      <p:stCondLst>
                        <p:cond delay="indefinite"/>
                      </p:stCondLst>
                      <p:childTnLst>
                        <p:par>
                          <p:cTn id="84" fill="hold">
                            <p:stCondLst>
                              <p:cond delay="0"/>
                            </p:stCondLst>
                            <p:childTnLst>
                              <p:par>
                                <p:cTn id="8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7" dur="400"/>
                                        <p:tgtEl>
                                          <p:spTgt spid="5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0" dur="40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seq concurrent="1" nextAc="seek">
              <p:cTn id="91" restart="whenNotActive" fill="hold" evtFilter="cancelBubble" nodeType="interactiveSeq">
                <p:stCondLst>
                  <p:cond evt="onClick" delay="0">
                    <p:tgtEl>
                      <p:spTgt spid="57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92" fill="hold">
                      <p:stCondLst>
                        <p:cond delay="0"/>
                      </p:stCondLst>
                      <p:childTnLst>
                        <p:par>
                          <p:cTn id="93" fill="hold">
                            <p:stCondLst>
                              <p:cond delay="0"/>
                            </p:stCondLst>
                            <p:childTnLst>
                              <p:par>
                                <p:cTn id="94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95" dur="1" fill="hold"/>
                                        <p:tgtEl>
                                          <p:spTgt spid="57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57"/>
                  </p:tgtEl>
                </p:cond>
              </p:nextCondLst>
            </p:seq>
            <p:seq concurrent="1" nextAc="seek">
              <p:cTn id="96" restart="whenNotActive" fill="hold" evtFilter="cancelBubble" nodeType="interactiveSeq">
                <p:stCondLst>
                  <p:cond evt="onClick" delay="0">
                    <p:tgtEl>
                      <p:spTgt spid="58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97" fill="hold">
                      <p:stCondLst>
                        <p:cond delay="0"/>
                      </p:stCondLst>
                      <p:childTnLst>
                        <p:par>
                          <p:cTn id="98" fill="hold">
                            <p:stCondLst>
                              <p:cond delay="0"/>
                            </p:stCondLst>
                            <p:childTnLst>
                              <p:par>
                                <p:cTn id="99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100" dur="1" fill="hold"/>
                                        <p:tgtEl>
                                          <p:spTgt spid="58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58"/>
                  </p:tgtEl>
                </p:cond>
              </p:nextCondLst>
            </p:seq>
            <p:audio>
              <p:cMediaNode vol="80000">
                <p:cTn id="101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57"/>
                </p:tgtEl>
              </p:cMediaNode>
            </p:audio>
            <p:audio>
              <p:cMediaNode vol="80000">
                <p:cTn id="102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58"/>
                </p:tgtEl>
              </p:cMediaNode>
            </p:audio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137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2F8DE4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5</a:t>
            </a:r>
            <a:endParaRPr lang="en-US" sz="2800" dirty="0"/>
          </a:p>
        </p:txBody>
      </p:sp>
      <p:pic>
        <p:nvPicPr>
          <p:cNvPr id="4" name="brY_138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3877056" cy="621792"/>
          </a:xfrm>
          <a:prstGeom prst="rect">
            <a:avLst/>
          </a:prstGeom>
        </p:spPr>
      </p:pic>
      <p:sp>
        <p:nvSpPr>
          <p:cNvPr id="5" name="title_139"/>
          <p:cNvSpPr/>
          <p:nvPr/>
        </p:nvSpPr>
        <p:spPr>
          <a:xfrm>
            <a:off x="1261872" y="164592"/>
            <a:ext cx="360273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What do you use to…?</a:t>
            </a:r>
            <a:endParaRPr lang="en-US" sz="2400" dirty="0"/>
          </a:p>
        </p:txBody>
      </p:sp>
      <p:pic>
        <p:nvPicPr>
          <p:cNvPr id="6" name="brP_140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5335524" cy="402336"/>
          </a:xfrm>
          <a:prstGeom prst="rect">
            <a:avLst/>
          </a:prstGeom>
        </p:spPr>
      </p:pic>
      <p:sp>
        <p:nvSpPr>
          <p:cNvPr id="7" name="ins_141"/>
          <p:cNvSpPr/>
          <p:nvPr/>
        </p:nvSpPr>
        <p:spPr>
          <a:xfrm>
            <a:off x="1353312" y="731520"/>
            <a:ext cx="507949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Which part of the body do you use? Tell your partner.</a:t>
            </a:r>
            <a:endParaRPr lang="en-US" sz="1250" dirty="0"/>
          </a:p>
        </p:txBody>
      </p:sp>
      <p:sp>
        <p:nvSpPr>
          <p:cNvPr id="8" name="insIT_142"/>
          <p:cNvSpPr/>
          <p:nvPr/>
        </p:nvSpPr>
        <p:spPr>
          <a:xfrm>
            <a:off x="1371600" y="1115568"/>
            <a:ext cx="5852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Quale parte del corpo usi? Dillo al compagno.</a:t>
            </a:r>
            <a:endParaRPr lang="en-US" sz="950" dirty="0"/>
          </a:p>
        </p:txBody>
      </p:sp>
      <p:sp>
        <p:nvSpPr>
          <p:cNvPr id="9" name="cmd_143"/>
          <p:cNvSpPr/>
          <p:nvPr/>
        </p:nvSpPr>
        <p:spPr>
          <a:xfrm>
            <a:off x="6510528" y="182880"/>
            <a:ext cx="1901952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💡 </a:t>
            </a:r>
            <a:pPr indent="0" marL="0">
              <a:buNone/>
            </a:pPr>
            <a:r>
              <a:rPr lang="en-US" sz="1200" dirty="0">
                <a:solidFill>
                  <a:srgbClr val="2F8DE4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THINK</a:t>
            </a:r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PENSA</a:t>
            </a:r>
            <a:endParaRPr lang="en-US" sz="1100" dirty="0"/>
          </a:p>
        </p:txBody>
      </p:sp>
      <p:sp>
        <p:nvSpPr>
          <p:cNvPr id="10" name="meta_144"/>
          <p:cNvSpPr/>
          <p:nvPr/>
        </p:nvSpPr>
        <p:spPr>
          <a:xfrm>
            <a:off x="6583680" y="566928"/>
            <a:ext cx="2286000" cy="256032"/>
          </a:xfrm>
          <a:prstGeom prst="rect">
            <a:avLst/>
          </a:prstGeom>
          <a:noFill/>
          <a:ln/>
        </p:spPr>
        <p:txBody>
          <a:bodyPr wrap="square" lIns="101600" tIns="0" rIns="10160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4 min   👥 pairs</a:t>
            </a:r>
            <a:endParaRPr lang="en-US" sz="950" dirty="0"/>
          </a:p>
        </p:txBody>
      </p:sp>
      <p:sp>
        <p:nvSpPr>
          <p:cNvPr id="11" name="tag_145"/>
          <p:cNvSpPr/>
          <p:nvPr/>
        </p:nvSpPr>
        <p:spPr>
          <a:xfrm>
            <a:off x="6510528" y="804672"/>
            <a:ext cx="2514600" cy="237744"/>
          </a:xfrm>
          <a:prstGeom prst="rect">
            <a:avLst/>
          </a:prstGeom>
          <a:noFill/>
          <a:ln/>
        </p:spPr>
        <p:txBody>
          <a:bodyPr wrap="square" lIns="101600" tIns="0" rIns="5080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Vocabulary</a:t>
            </a:r>
            <a:pPr indent="0" marL="0">
              <a:buNone/>
            </a:pPr>
            <a:r>
              <a:rPr lang="en-US" sz="850" dirty="0">
                <a:solidFill>
                  <a:srgbClr val="7B5CD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· Controlled practice</a:t>
            </a:r>
            <a:endParaRPr lang="en-US" sz="850" dirty="0"/>
          </a:p>
        </p:txBody>
      </p:sp>
      <p:pic>
        <p:nvPicPr>
          <p:cNvPr id="12" name="logo_146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3" name="foot_147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6B-2 · Vocabulary · body verbs   ·   📖 Vocabulary Bank p.160 · 2 Verbs · audio 6.15</a:t>
            </a:r>
            <a:endParaRPr lang="en-US" sz="800" dirty="0"/>
          </a:p>
        </p:txBody>
      </p:sp>
      <p:sp>
        <p:nvSpPr>
          <p:cNvPr id="14" name="cd_148"/>
          <p:cNvSpPr/>
          <p:nvPr/>
        </p:nvSpPr>
        <p:spPr>
          <a:xfrm>
            <a:off x="320040" y="1417320"/>
            <a:ext cx="2697480" cy="1097280"/>
          </a:xfrm>
          <a:prstGeom prst="roundRect">
            <a:avLst>
              <a:gd name="adj" fmla="val 11667"/>
            </a:avLst>
          </a:prstGeom>
          <a:solidFill>
            <a:srgbClr val="FFF6CC"/>
          </a:solidFill>
          <a:ln w="19050">
            <a:solidFill>
              <a:srgbClr val="FFE07A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5" name="ii_149"/>
          <p:cNvSpPr/>
          <p:nvPr/>
        </p:nvSpPr>
        <p:spPr>
          <a:xfrm>
            <a:off x="411480" y="14904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⭐</a:t>
            </a:r>
            <a:endParaRPr lang="en-US" sz="2200" dirty="0"/>
          </a:p>
        </p:txBody>
      </p:sp>
      <p:sp>
        <p:nvSpPr>
          <p:cNvPr id="16" name="ih_150"/>
          <p:cNvSpPr/>
          <p:nvPr/>
        </p:nvSpPr>
        <p:spPr>
          <a:xfrm>
            <a:off x="886968" y="1508760"/>
            <a:ext cx="2057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Example</a:t>
            </a:r>
            <a:endParaRPr lang="en-US" sz="1300" dirty="0"/>
          </a:p>
        </p:txBody>
      </p:sp>
      <p:sp>
        <p:nvSpPr>
          <p:cNvPr id="17" name="il_151"/>
          <p:cNvSpPr/>
          <p:nvPr/>
        </p:nvSpPr>
        <p:spPr>
          <a:xfrm>
            <a:off x="886968" y="1892808"/>
            <a:ext cx="20391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B25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  bite → your teeth (mordere)</a:t>
            </a:r>
            <a:endParaRPr lang="en-US" sz="1050" dirty="0"/>
          </a:p>
        </p:txBody>
      </p:sp>
      <p:sp>
        <p:nvSpPr>
          <p:cNvPr id="18" name="pf_152"/>
          <p:cNvSpPr/>
          <p:nvPr/>
        </p:nvSpPr>
        <p:spPr>
          <a:xfrm rot="-90000">
            <a:off x="365760" y="2697480"/>
            <a:ext cx="2606040" cy="1417320"/>
          </a:xfrm>
          <a:prstGeom prst="roundRect">
            <a:avLst>
              <a:gd name="adj" fmla="val 1096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20000"/>
              </a:srgbClr>
            </a:outerShdw>
          </a:effectLst>
        </p:spPr>
      </p:sp>
      <p:pic>
        <p:nvPicPr>
          <p:cNvPr id="19" name="ph_153" descr="/home/claude/lls-course/v2/cache/6B_2_people_jpg_605x319_31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rot="-90000">
            <a:off x="411480" y="2743200"/>
            <a:ext cx="2514600" cy="1325880"/>
          </a:xfrm>
          <a:prstGeom prst="rect">
            <a:avLst/>
          </a:prstGeom>
        </p:spPr>
      </p:pic>
      <p:sp>
        <p:nvSpPr>
          <p:cNvPr id="20" name="ap_154"/>
          <p:cNvSpPr/>
          <p:nvPr/>
        </p:nvSpPr>
        <p:spPr>
          <a:xfrm>
            <a:off x="365760" y="4297680"/>
            <a:ext cx="2606040" cy="402336"/>
          </a:xfrm>
          <a:prstGeom prst="roundRect">
            <a:avLst>
              <a:gd name="adj" fmla="val 50000"/>
            </a:avLst>
          </a:prstGeom>
          <a:solidFill>
            <a:srgbClr val="E3F1FD"/>
          </a:solidFill>
          <a:ln w="19050">
            <a:solidFill>
              <a:srgbClr val="2F8DE4"/>
            </a:solidFill>
          </a:ln>
        </p:spPr>
        <p:txBody>
          <a:bodyPr wrap="square" lIns="127000" tIns="0" rIns="127000" bIns="0" rtlCol="0" anchor="ctr">
            <a:normAutofit/>
          </a:bodyPr>
          <a:lstStyle/>
          <a:p>
            <a:pPr indent="0" marL="0">
              <a:buNone/>
            </a:pPr>
            <a:r>
              <a:rPr lang="en-US" sz="11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🎧 6.15</a:t>
            </a:r>
            <a:endParaRPr lang="en-US" sz="1100" dirty="0"/>
          </a:p>
        </p:txBody>
      </p:sp>
      <p:sp>
        <p:nvSpPr>
          <p:cNvPr id="21" name="ah_155"/>
          <p:cNvSpPr/>
          <p:nvPr/>
        </p:nvSpPr>
        <p:spPr>
          <a:xfrm>
            <a:off x="5925312" y="4572000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2F8DE4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▶ normal · 🐢 slower</a:t>
            </a:r>
            <a:endParaRPr lang="en-US" sz="950" dirty="0"/>
          </a:p>
        </p:txBody>
      </p:sp>
      <p:pic>
        <p:nvPicPr>
          <p:cNvPr id="22" name="Media 0">
            <a:hlinkClick r:id="" action="ppaction://media"/>
          </p:cNvPr>
          <p:cNvPicPr>
            <a:picLocks noChangeAspect="1"/>
          </p:cNvPicPr>
          <p:nvPr>
            <a:audioFile r:link="rId6"/>
            <p:extLst>
              <p:ext uri="{DAA4B4D4-6D71-4841-9C94-3DE7FCFB9230}">
                <p14:media xmlns:p14="http://schemas.microsoft.com/office/powerpoint/2010/main" r:embed="rId7"/>
              </p:ext>
            </p:extLst>
          </p:nvPr>
        </p:nvPicPr>
        <p:blipFill>
          <a:blip r:embed="rId8"/>
          <a:stretch>
            <a:fillRect/>
          </a:stretch>
        </p:blipFill>
        <p:spPr>
          <a:xfrm>
            <a:off x="7525512" y="4553712"/>
            <a:ext cx="411480" cy="411480"/>
          </a:xfrm>
          <a:prstGeom prst="rect">
            <a:avLst/>
          </a:prstGeom>
        </p:spPr>
      </p:pic>
      <p:pic>
        <p:nvPicPr>
          <p:cNvPr id="23" name="Media 1">
            <a:hlinkClick r:id="" action="ppaction://media"/>
          </p:cNvPr>
          <p:cNvPicPr>
            <a:picLocks noChangeAspect="1"/>
          </p:cNvPicPr>
          <p:nvPr>
            <a:audioFile r:link="rId9"/>
            <p:extLst>
              <p:ext uri="{DAA4B4D4-6D71-4841-9C94-3DE7FCFB9230}">
                <p14:media xmlns:p14="http://schemas.microsoft.com/office/powerpoint/2010/main" r:embed="rId10"/>
              </p:ext>
            </p:extLst>
          </p:nvPr>
        </p:nvPicPr>
        <p:blipFill>
          <a:blip r:embed="rId11"/>
          <a:stretch>
            <a:fillRect/>
          </a:stretch>
        </p:blipFill>
        <p:spPr>
          <a:xfrm>
            <a:off x="8001000" y="4553712"/>
            <a:ext cx="411480" cy="411480"/>
          </a:xfrm>
          <a:prstGeom prst="rect">
            <a:avLst/>
          </a:prstGeom>
        </p:spPr>
      </p:pic>
      <p:sp>
        <p:nvSpPr>
          <p:cNvPr id="24" name="bd_156"/>
          <p:cNvSpPr/>
          <p:nvPr/>
        </p:nvSpPr>
        <p:spPr>
          <a:xfrm>
            <a:off x="3246120" y="1444752"/>
            <a:ext cx="310896" cy="310896"/>
          </a:xfrm>
          <a:prstGeom prst="ellipse">
            <a:avLst/>
          </a:prstGeom>
          <a:solidFill>
            <a:srgbClr val="E8508F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</a:t>
            </a:r>
            <a:endParaRPr lang="en-US" sz="1000" dirty="0"/>
          </a:p>
        </p:txBody>
      </p:sp>
      <p:sp>
        <p:nvSpPr>
          <p:cNvPr id="25" name="q_157"/>
          <p:cNvSpPr/>
          <p:nvPr/>
        </p:nvSpPr>
        <p:spPr>
          <a:xfrm>
            <a:off x="3630168" y="1417320"/>
            <a:ext cx="2103120" cy="36576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9050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clap</a:t>
            </a:r>
            <a:endParaRPr lang="en-US" sz="1150" dirty="0"/>
          </a:p>
        </p:txBody>
      </p:sp>
      <p:sp>
        <p:nvSpPr>
          <p:cNvPr id="26" name="R1_chip158"/>
          <p:cNvSpPr/>
          <p:nvPr/>
        </p:nvSpPr>
        <p:spPr>
          <a:xfrm>
            <a:off x="5806440" y="1417320"/>
            <a:ext cx="3063240" cy="365760"/>
          </a:xfrm>
          <a:prstGeom prst="roundRect">
            <a:avLst>
              <a:gd name="adj" fmla="val 25000"/>
            </a:avLst>
          </a:prstGeom>
          <a:solidFill>
            <a:srgbClr val="E3F7EA"/>
          </a:solidFill>
          <a:ln w="19050">
            <a:solidFill>
              <a:srgbClr val="2EB872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your hands – applaudire</a:t>
            </a:r>
            <a:endParaRPr lang="en-US" sz="1000" dirty="0"/>
          </a:p>
        </p:txBody>
      </p:sp>
      <p:sp>
        <p:nvSpPr>
          <p:cNvPr id="27" name="bd_159"/>
          <p:cNvSpPr/>
          <p:nvPr/>
        </p:nvSpPr>
        <p:spPr>
          <a:xfrm>
            <a:off x="3246120" y="1856232"/>
            <a:ext cx="310896" cy="310896"/>
          </a:xfrm>
          <a:prstGeom prst="ellipse">
            <a:avLst/>
          </a:prstGeom>
          <a:solidFill>
            <a:srgbClr val="2F8DE4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2</a:t>
            </a:r>
            <a:endParaRPr lang="en-US" sz="1000" dirty="0"/>
          </a:p>
        </p:txBody>
      </p:sp>
      <p:sp>
        <p:nvSpPr>
          <p:cNvPr id="28" name="q_160"/>
          <p:cNvSpPr/>
          <p:nvPr/>
        </p:nvSpPr>
        <p:spPr>
          <a:xfrm>
            <a:off x="3630168" y="1828800"/>
            <a:ext cx="2103120" cy="36576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9050">
            <a:solidFill>
              <a:srgbClr val="A9D3F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kick</a:t>
            </a:r>
            <a:endParaRPr lang="en-US" sz="1150" dirty="0"/>
          </a:p>
        </p:txBody>
      </p:sp>
      <p:sp>
        <p:nvSpPr>
          <p:cNvPr id="29" name="R2_chip161"/>
          <p:cNvSpPr/>
          <p:nvPr/>
        </p:nvSpPr>
        <p:spPr>
          <a:xfrm>
            <a:off x="5806440" y="1828800"/>
            <a:ext cx="3063240" cy="365760"/>
          </a:xfrm>
          <a:prstGeom prst="roundRect">
            <a:avLst>
              <a:gd name="adj" fmla="val 25000"/>
            </a:avLst>
          </a:prstGeom>
          <a:solidFill>
            <a:srgbClr val="E3F7EA"/>
          </a:solidFill>
          <a:ln w="19050">
            <a:solidFill>
              <a:srgbClr val="2EB872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your feet – calciare</a:t>
            </a:r>
            <a:endParaRPr lang="en-US" sz="1000" dirty="0"/>
          </a:p>
        </p:txBody>
      </p:sp>
      <p:sp>
        <p:nvSpPr>
          <p:cNvPr id="30" name="bd_162"/>
          <p:cNvSpPr/>
          <p:nvPr/>
        </p:nvSpPr>
        <p:spPr>
          <a:xfrm>
            <a:off x="3246120" y="2267712"/>
            <a:ext cx="310896" cy="310896"/>
          </a:xfrm>
          <a:prstGeom prst="ellipse">
            <a:avLst/>
          </a:prstGeom>
          <a:solidFill>
            <a:srgbClr val="2EB872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3</a:t>
            </a:r>
            <a:endParaRPr lang="en-US" sz="1000" dirty="0"/>
          </a:p>
        </p:txBody>
      </p:sp>
      <p:sp>
        <p:nvSpPr>
          <p:cNvPr id="31" name="q_163"/>
          <p:cNvSpPr/>
          <p:nvPr/>
        </p:nvSpPr>
        <p:spPr>
          <a:xfrm>
            <a:off x="3630168" y="2240280"/>
            <a:ext cx="2103120" cy="36576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9050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nod</a:t>
            </a:r>
            <a:endParaRPr lang="en-US" sz="1150" dirty="0"/>
          </a:p>
        </p:txBody>
      </p:sp>
      <p:sp>
        <p:nvSpPr>
          <p:cNvPr id="32" name="R3_chip164"/>
          <p:cNvSpPr/>
          <p:nvPr/>
        </p:nvSpPr>
        <p:spPr>
          <a:xfrm>
            <a:off x="5806440" y="2240280"/>
            <a:ext cx="3063240" cy="365760"/>
          </a:xfrm>
          <a:prstGeom prst="roundRect">
            <a:avLst>
              <a:gd name="adj" fmla="val 25000"/>
            </a:avLst>
          </a:prstGeom>
          <a:solidFill>
            <a:srgbClr val="E3F7EA"/>
          </a:solidFill>
          <a:ln w="19050">
            <a:solidFill>
              <a:srgbClr val="2EB872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your head – annuire</a:t>
            </a:r>
            <a:endParaRPr lang="en-US" sz="1000" dirty="0"/>
          </a:p>
        </p:txBody>
      </p:sp>
      <p:sp>
        <p:nvSpPr>
          <p:cNvPr id="33" name="bd_165"/>
          <p:cNvSpPr/>
          <p:nvPr/>
        </p:nvSpPr>
        <p:spPr>
          <a:xfrm>
            <a:off x="3246120" y="2679192"/>
            <a:ext cx="310896" cy="310896"/>
          </a:xfrm>
          <a:prstGeom prst="ellipse">
            <a:avLst/>
          </a:prstGeom>
          <a:solidFill>
            <a:srgbClr val="F2B705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4</a:t>
            </a:r>
            <a:endParaRPr lang="en-US" sz="1000" dirty="0"/>
          </a:p>
        </p:txBody>
      </p:sp>
      <p:sp>
        <p:nvSpPr>
          <p:cNvPr id="34" name="q_166"/>
          <p:cNvSpPr/>
          <p:nvPr/>
        </p:nvSpPr>
        <p:spPr>
          <a:xfrm>
            <a:off x="3630168" y="2651760"/>
            <a:ext cx="2103120" cy="36576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9050">
            <a:solidFill>
              <a:srgbClr val="FFE07A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point</a:t>
            </a:r>
            <a:endParaRPr lang="en-US" sz="1150" dirty="0"/>
          </a:p>
        </p:txBody>
      </p:sp>
      <p:sp>
        <p:nvSpPr>
          <p:cNvPr id="35" name="R4_chip167"/>
          <p:cNvSpPr/>
          <p:nvPr/>
        </p:nvSpPr>
        <p:spPr>
          <a:xfrm>
            <a:off x="5806440" y="2651760"/>
            <a:ext cx="3063240" cy="365760"/>
          </a:xfrm>
          <a:prstGeom prst="roundRect">
            <a:avLst>
              <a:gd name="adj" fmla="val 25000"/>
            </a:avLst>
          </a:prstGeom>
          <a:solidFill>
            <a:srgbClr val="E3F7EA"/>
          </a:solidFill>
          <a:ln w="19050">
            <a:solidFill>
              <a:srgbClr val="2EB872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your finger – indicare</a:t>
            </a:r>
            <a:endParaRPr lang="en-US" sz="1000" dirty="0"/>
          </a:p>
        </p:txBody>
      </p:sp>
      <p:sp>
        <p:nvSpPr>
          <p:cNvPr id="36" name="bd_168"/>
          <p:cNvSpPr/>
          <p:nvPr/>
        </p:nvSpPr>
        <p:spPr>
          <a:xfrm>
            <a:off x="3246120" y="3090672"/>
            <a:ext cx="310896" cy="310896"/>
          </a:xfrm>
          <a:prstGeom prst="ellipse">
            <a:avLst/>
          </a:prstGeom>
          <a:solidFill>
            <a:srgbClr val="E8508F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5</a:t>
            </a:r>
            <a:endParaRPr lang="en-US" sz="1000" dirty="0"/>
          </a:p>
        </p:txBody>
      </p:sp>
      <p:sp>
        <p:nvSpPr>
          <p:cNvPr id="37" name="q_169"/>
          <p:cNvSpPr/>
          <p:nvPr/>
        </p:nvSpPr>
        <p:spPr>
          <a:xfrm>
            <a:off x="3630168" y="3063240"/>
            <a:ext cx="2103120" cy="36576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9050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smell</a:t>
            </a:r>
            <a:endParaRPr lang="en-US" sz="1150" dirty="0"/>
          </a:p>
        </p:txBody>
      </p:sp>
      <p:sp>
        <p:nvSpPr>
          <p:cNvPr id="38" name="R5_chip170"/>
          <p:cNvSpPr/>
          <p:nvPr/>
        </p:nvSpPr>
        <p:spPr>
          <a:xfrm>
            <a:off x="5806440" y="3063240"/>
            <a:ext cx="3063240" cy="365760"/>
          </a:xfrm>
          <a:prstGeom prst="roundRect">
            <a:avLst>
              <a:gd name="adj" fmla="val 25000"/>
            </a:avLst>
          </a:prstGeom>
          <a:solidFill>
            <a:srgbClr val="E3F7EA"/>
          </a:solidFill>
          <a:ln w="19050">
            <a:solidFill>
              <a:srgbClr val="2EB872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your nose – annusare</a:t>
            </a:r>
            <a:endParaRPr lang="en-US" sz="1000" dirty="0"/>
          </a:p>
        </p:txBody>
      </p:sp>
      <p:sp>
        <p:nvSpPr>
          <p:cNvPr id="39" name="bd_171"/>
          <p:cNvSpPr/>
          <p:nvPr/>
        </p:nvSpPr>
        <p:spPr>
          <a:xfrm>
            <a:off x="3246120" y="3502152"/>
            <a:ext cx="310896" cy="310896"/>
          </a:xfrm>
          <a:prstGeom prst="ellipse">
            <a:avLst/>
          </a:prstGeom>
          <a:solidFill>
            <a:srgbClr val="2F8DE4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6</a:t>
            </a:r>
            <a:endParaRPr lang="en-US" sz="1000" dirty="0"/>
          </a:p>
        </p:txBody>
      </p:sp>
      <p:sp>
        <p:nvSpPr>
          <p:cNvPr id="40" name="q_172"/>
          <p:cNvSpPr/>
          <p:nvPr/>
        </p:nvSpPr>
        <p:spPr>
          <a:xfrm>
            <a:off x="3630168" y="3474720"/>
            <a:ext cx="2103120" cy="36576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9050">
            <a:solidFill>
              <a:srgbClr val="A9D3F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stare</a:t>
            </a:r>
            <a:endParaRPr lang="en-US" sz="1150" dirty="0"/>
          </a:p>
        </p:txBody>
      </p:sp>
      <p:sp>
        <p:nvSpPr>
          <p:cNvPr id="41" name="R6_chip173"/>
          <p:cNvSpPr/>
          <p:nvPr/>
        </p:nvSpPr>
        <p:spPr>
          <a:xfrm>
            <a:off x="5806440" y="3474720"/>
            <a:ext cx="3063240" cy="365760"/>
          </a:xfrm>
          <a:prstGeom prst="roundRect">
            <a:avLst>
              <a:gd name="adj" fmla="val 25000"/>
            </a:avLst>
          </a:prstGeom>
          <a:solidFill>
            <a:srgbClr val="E3F7EA"/>
          </a:solidFill>
          <a:ln w="19050">
            <a:solidFill>
              <a:srgbClr val="2EB872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your eyes – fissare</a:t>
            </a:r>
            <a:endParaRPr lang="en-US" sz="1000" dirty="0"/>
          </a:p>
        </p:txBody>
      </p:sp>
      <p:sp>
        <p:nvSpPr>
          <p:cNvPr id="42" name="bd_174"/>
          <p:cNvSpPr/>
          <p:nvPr/>
        </p:nvSpPr>
        <p:spPr>
          <a:xfrm>
            <a:off x="3246120" y="3913632"/>
            <a:ext cx="310896" cy="310896"/>
          </a:xfrm>
          <a:prstGeom prst="ellipse">
            <a:avLst/>
          </a:prstGeom>
          <a:solidFill>
            <a:srgbClr val="2EB872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7</a:t>
            </a:r>
            <a:endParaRPr lang="en-US" sz="1000" dirty="0"/>
          </a:p>
        </p:txBody>
      </p:sp>
      <p:sp>
        <p:nvSpPr>
          <p:cNvPr id="43" name="q_175"/>
          <p:cNvSpPr/>
          <p:nvPr/>
        </p:nvSpPr>
        <p:spPr>
          <a:xfrm>
            <a:off x="3630168" y="3886200"/>
            <a:ext cx="2103120" cy="36576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9050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whistle (silent t!)</a:t>
            </a:r>
            <a:endParaRPr lang="en-US" sz="1150" dirty="0"/>
          </a:p>
        </p:txBody>
      </p:sp>
      <p:sp>
        <p:nvSpPr>
          <p:cNvPr id="44" name="R7_chip176"/>
          <p:cNvSpPr/>
          <p:nvPr/>
        </p:nvSpPr>
        <p:spPr>
          <a:xfrm>
            <a:off x="5806440" y="3886200"/>
            <a:ext cx="3063240" cy="365760"/>
          </a:xfrm>
          <a:prstGeom prst="roundRect">
            <a:avLst>
              <a:gd name="adj" fmla="val 25000"/>
            </a:avLst>
          </a:prstGeom>
          <a:solidFill>
            <a:srgbClr val="E3F7EA"/>
          </a:solidFill>
          <a:ln w="19050">
            <a:solidFill>
              <a:srgbClr val="2EB872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your lips – fischiare</a:t>
            </a:r>
            <a:endParaRPr lang="en-US" sz="1000" dirty="0"/>
          </a:p>
        </p:txBody>
      </p:sp>
      <p:sp>
        <p:nvSpPr>
          <p:cNvPr id="45" name="bd_177"/>
          <p:cNvSpPr/>
          <p:nvPr/>
        </p:nvSpPr>
        <p:spPr>
          <a:xfrm>
            <a:off x="3246120" y="4325112"/>
            <a:ext cx="310896" cy="310896"/>
          </a:xfrm>
          <a:prstGeom prst="ellipse">
            <a:avLst/>
          </a:prstGeom>
          <a:solidFill>
            <a:srgbClr val="F2B705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8</a:t>
            </a:r>
            <a:endParaRPr lang="en-US" sz="1000" dirty="0"/>
          </a:p>
        </p:txBody>
      </p:sp>
      <p:sp>
        <p:nvSpPr>
          <p:cNvPr id="46" name="q_178"/>
          <p:cNvSpPr/>
          <p:nvPr/>
        </p:nvSpPr>
        <p:spPr>
          <a:xfrm>
            <a:off x="3630168" y="4297680"/>
            <a:ext cx="2103120" cy="36576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9050">
            <a:solidFill>
              <a:srgbClr val="FFE07A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taste</a:t>
            </a:r>
            <a:endParaRPr lang="en-US" sz="1150" dirty="0"/>
          </a:p>
        </p:txBody>
      </p:sp>
      <p:sp>
        <p:nvSpPr>
          <p:cNvPr id="47" name="R8_chip179"/>
          <p:cNvSpPr/>
          <p:nvPr/>
        </p:nvSpPr>
        <p:spPr>
          <a:xfrm>
            <a:off x="5806440" y="4297680"/>
            <a:ext cx="3063240" cy="365760"/>
          </a:xfrm>
          <a:prstGeom prst="roundRect">
            <a:avLst>
              <a:gd name="adj" fmla="val 25000"/>
            </a:avLst>
          </a:prstGeom>
          <a:solidFill>
            <a:srgbClr val="E3F7EA"/>
          </a:solidFill>
          <a:ln w="19050">
            <a:solidFill>
              <a:srgbClr val="2EB872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your tongue / mouth – assaggiare</a:t>
            </a:r>
            <a:endParaRPr lang="en-US" sz="100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4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4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seq concurrent="1" nextAc="seek">
              <p:cTn id="43" restart="whenNotActive" fill="hold" evtFilter="cancelBubble" nodeType="interactiveSeq">
                <p:stCondLst>
                  <p:cond evt="onClick" delay="0">
                    <p:tgtEl>
                      <p:spTgt spid="22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44" fill="hold">
                      <p:stCondLst>
                        <p:cond delay="0"/>
                      </p:stCondLst>
                      <p:childTnLst>
                        <p:par>
                          <p:cTn id="45" fill="hold">
                            <p:stCondLst>
                              <p:cond delay="0"/>
                            </p:stCondLst>
                            <p:childTnLst>
                              <p:par>
                                <p:cTn id="46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47" dur="1" fill="hold"/>
                                        <p:tgtEl>
                                          <p:spTgt spid="22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2"/>
                  </p:tgtEl>
                </p:cond>
              </p:nextCondLst>
            </p:seq>
            <p:seq concurrent="1" nextAc="seek">
              <p:cTn id="48" restart="whenNotActive" fill="hold" evtFilter="cancelBubble" nodeType="interactiveSeq">
                <p:stCondLst>
                  <p:cond evt="onClick" delay="0">
                    <p:tgtEl>
                      <p:spTgt spid="23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49" fill="hold">
                      <p:stCondLst>
                        <p:cond delay="0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52" dur="1" fill="hold"/>
                                        <p:tgtEl>
                                          <p:spTgt spid="23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3"/>
                  </p:tgtEl>
                </p:cond>
              </p:nextCondLst>
            </p:seq>
            <p:audio>
              <p:cMediaNode vol="80000">
                <p:cTn id="53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22"/>
                </p:tgtEl>
              </p:cMediaNode>
            </p:audio>
            <p:audio>
              <p:cMediaNode vol="80000">
                <p:cTn id="54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23"/>
                </p:tgtEl>
              </p:cMediaNode>
            </p:audio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180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E8508F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6</a:t>
            </a:r>
            <a:endParaRPr lang="en-US" sz="2800" dirty="0"/>
          </a:p>
        </p:txBody>
      </p:sp>
      <p:pic>
        <p:nvPicPr>
          <p:cNvPr id="4" name="brY_181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2776118" cy="621792"/>
          </a:xfrm>
          <a:prstGeom prst="rect">
            <a:avLst/>
          </a:prstGeom>
        </p:spPr>
      </p:pic>
      <p:sp>
        <p:nvSpPr>
          <p:cNvPr id="5" name="title_182"/>
          <p:cNvSpPr/>
          <p:nvPr/>
        </p:nvSpPr>
        <p:spPr>
          <a:xfrm>
            <a:off x="1261872" y="164592"/>
            <a:ext cx="250179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Teacher says…</a:t>
            </a:r>
            <a:endParaRPr lang="en-US" sz="2500" dirty="0"/>
          </a:p>
        </p:txBody>
      </p:sp>
      <p:pic>
        <p:nvPicPr>
          <p:cNvPr id="6" name="brP_183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4206240" cy="402336"/>
          </a:xfrm>
          <a:prstGeom prst="rect">
            <a:avLst/>
          </a:prstGeom>
        </p:spPr>
      </p:pic>
      <p:sp>
        <p:nvSpPr>
          <p:cNvPr id="7" name="ins_184"/>
          <p:cNvSpPr/>
          <p:nvPr/>
        </p:nvSpPr>
        <p:spPr>
          <a:xfrm>
            <a:off x="1353312" y="731520"/>
            <a:ext cx="39502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Stand up! Listen and DO it. Don't speak!</a:t>
            </a:r>
            <a:endParaRPr lang="en-US" sz="1250" dirty="0"/>
          </a:p>
        </p:txBody>
      </p:sp>
      <p:sp>
        <p:nvSpPr>
          <p:cNvPr id="8" name="insIT_185"/>
          <p:cNvSpPr/>
          <p:nvPr/>
        </p:nvSpPr>
        <p:spPr>
          <a:xfrm>
            <a:off x="1371600" y="1115568"/>
            <a:ext cx="5852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 piedi! Ascolta e FALLO. Non parlare!</a:t>
            </a:r>
            <a:endParaRPr lang="en-US" sz="950" dirty="0"/>
          </a:p>
        </p:txBody>
      </p:sp>
      <p:sp>
        <p:nvSpPr>
          <p:cNvPr id="9" name="cmd_186"/>
          <p:cNvSpPr/>
          <p:nvPr/>
        </p:nvSpPr>
        <p:spPr>
          <a:xfrm>
            <a:off x="6510528" y="182880"/>
            <a:ext cx="1901952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🎧 </a:t>
            </a:r>
            <a:pPr indent="0" marL="0">
              <a:buNone/>
            </a:pPr>
            <a:r>
              <a:rPr lang="en-US" sz="1200" dirty="0">
                <a:solidFill>
                  <a:srgbClr val="2F8DE4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LISTEN</a:t>
            </a:r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ASCOLTA</a:t>
            </a:r>
            <a:endParaRPr lang="en-US" sz="1100" dirty="0"/>
          </a:p>
        </p:txBody>
      </p:sp>
      <p:sp>
        <p:nvSpPr>
          <p:cNvPr id="10" name="cmd_187"/>
          <p:cNvSpPr/>
          <p:nvPr/>
        </p:nvSpPr>
        <p:spPr>
          <a:xfrm>
            <a:off x="6510528" y="566928"/>
            <a:ext cx="1901952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FFE07A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🎲 </a:t>
            </a:r>
            <a:pPr indent="0" marL="0">
              <a:buNone/>
            </a:pPr>
            <a:r>
              <a:rPr lang="en-US" sz="1200" dirty="0">
                <a:solidFill>
                  <a:srgbClr val="F2B705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PLAY</a:t>
            </a:r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GIOCA</a:t>
            </a:r>
            <a:endParaRPr lang="en-US" sz="1100" dirty="0"/>
          </a:p>
        </p:txBody>
      </p:sp>
      <p:sp>
        <p:nvSpPr>
          <p:cNvPr id="11" name="meta_188"/>
          <p:cNvSpPr/>
          <p:nvPr/>
        </p:nvSpPr>
        <p:spPr>
          <a:xfrm>
            <a:off x="6583680" y="950976"/>
            <a:ext cx="2286000" cy="256032"/>
          </a:xfrm>
          <a:prstGeom prst="rect">
            <a:avLst/>
          </a:prstGeom>
          <a:noFill/>
          <a:ln/>
        </p:spPr>
        <p:txBody>
          <a:bodyPr wrap="square" lIns="101600" tIns="0" rIns="10160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3 min   🙋 whole class</a:t>
            </a:r>
            <a:endParaRPr lang="en-US" sz="950" dirty="0"/>
          </a:p>
        </p:txBody>
      </p:sp>
      <p:sp>
        <p:nvSpPr>
          <p:cNvPr id="12" name="tag_189"/>
          <p:cNvSpPr/>
          <p:nvPr/>
        </p:nvSpPr>
        <p:spPr>
          <a:xfrm>
            <a:off x="6510528" y="1188720"/>
            <a:ext cx="2514600" cy="237744"/>
          </a:xfrm>
          <a:prstGeom prst="rect">
            <a:avLst/>
          </a:prstGeom>
          <a:noFill/>
          <a:ln/>
        </p:spPr>
        <p:txBody>
          <a:bodyPr wrap="square" lIns="101600" tIns="0" rIns="5080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Speaking</a:t>
            </a:r>
            <a:pPr indent="0" marL="0">
              <a:buNone/>
            </a:pPr>
            <a:r>
              <a:rPr lang="en-US" sz="850" dirty="0">
                <a:solidFill>
                  <a:srgbClr val="7B5CD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· Communicative game</a:t>
            </a:r>
            <a:endParaRPr lang="en-US" sz="850" dirty="0"/>
          </a:p>
        </p:txBody>
      </p:sp>
      <p:pic>
        <p:nvPicPr>
          <p:cNvPr id="13" name="logo_190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4" name="foot_191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6B-2 · Game · Teacher says!   ·   📖 SB p.62 · 3c · audio 6.16</a:t>
            </a:r>
            <a:endParaRPr lang="en-US" sz="800" dirty="0"/>
          </a:p>
        </p:txBody>
      </p:sp>
      <p:sp>
        <p:nvSpPr>
          <p:cNvPr id="15" name="cd_192"/>
          <p:cNvSpPr/>
          <p:nvPr/>
        </p:nvSpPr>
        <p:spPr>
          <a:xfrm>
            <a:off x="320040" y="1417320"/>
            <a:ext cx="2697480" cy="2194560"/>
          </a:xfrm>
          <a:prstGeom prst="roundRect">
            <a:avLst>
              <a:gd name="adj" fmla="val 5833"/>
            </a:avLst>
          </a:prstGeom>
          <a:solidFill>
            <a:srgbClr val="FFF6CC"/>
          </a:solidFill>
          <a:ln w="19050">
            <a:solidFill>
              <a:srgbClr val="FFE07A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6" name="ii_193"/>
          <p:cNvSpPr/>
          <p:nvPr/>
        </p:nvSpPr>
        <p:spPr>
          <a:xfrm>
            <a:off x="411480" y="14904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🎲</a:t>
            </a:r>
            <a:endParaRPr lang="en-US" sz="2200" dirty="0"/>
          </a:p>
        </p:txBody>
      </p:sp>
      <p:sp>
        <p:nvSpPr>
          <p:cNvPr id="17" name="ih_194"/>
          <p:cNvSpPr/>
          <p:nvPr/>
        </p:nvSpPr>
        <p:spPr>
          <a:xfrm>
            <a:off x="886968" y="1508760"/>
            <a:ext cx="2057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How to play</a:t>
            </a:r>
            <a:endParaRPr lang="en-US" sz="1400" dirty="0"/>
          </a:p>
        </p:txBody>
      </p:sp>
      <p:sp>
        <p:nvSpPr>
          <p:cNvPr id="18" name="il_195"/>
          <p:cNvSpPr/>
          <p:nvPr/>
        </p:nvSpPr>
        <p:spPr>
          <a:xfrm>
            <a:off x="886968" y="1892808"/>
            <a:ext cx="203911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90500" indent="-190500">
              <a:spcAft>
                <a:spcPts val="200"/>
              </a:spcAft>
              <a:buSzPct val="100000"/>
              <a:buChar char="1"/>
            </a:pPr>
            <a:r>
              <a:rPr lang="en-US" sz="900" dirty="0">
                <a:solidFill>
                  <a:srgbClr val="1B25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Listen to the audio and DO the action.</a:t>
            </a:r>
            <a:endParaRPr lang="en-US" sz="900" dirty="0"/>
          </a:p>
          <a:p>
            <a:pPr marL="190500" indent="-190500">
              <a:spcAft>
                <a:spcPts val="200"/>
              </a:spcAft>
              <a:buSzPct val="100000"/>
              <a:buChar char="​"/>
            </a:pPr>
            <a:r>
              <a:rPr lang="en-US" sz="800" i="1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Ascolta l'audio e fai l'azione.</a:t>
            </a:r>
            <a:endParaRPr lang="en-US" sz="900" dirty="0"/>
          </a:p>
          <a:p>
            <a:pPr marL="190500" indent="-190500">
              <a:spcBef>
                <a:spcPts val="500"/>
              </a:spcBef>
              <a:spcAft>
                <a:spcPts val="200"/>
              </a:spcAft>
              <a:buSzPct val="100000"/>
              <a:buChar char="2"/>
            </a:pPr>
            <a:r>
              <a:rPr lang="en-US" sz="900" dirty="0">
                <a:solidFill>
                  <a:srgbClr val="1B25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Then: 'Teacher says…' – only move if you hear 'Teacher says'!</a:t>
            </a:r>
            <a:endParaRPr lang="en-US" sz="900" dirty="0"/>
          </a:p>
          <a:p>
            <a:pPr marL="190500" indent="-190500">
              <a:spcAft>
                <a:spcPts val="200"/>
              </a:spcAft>
              <a:buSzPct val="100000"/>
              <a:buChar char="​"/>
            </a:pPr>
            <a:r>
              <a:rPr lang="en-US" sz="800" i="1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Poi: muoviti solo se senti 'Teacher says'!</a:t>
            </a:r>
            <a:endParaRPr lang="en-US" sz="900" dirty="0"/>
          </a:p>
          <a:p>
            <a:pPr marL="190500" indent="-190500">
              <a:spcBef>
                <a:spcPts val="500"/>
              </a:spcBef>
              <a:spcAft>
                <a:spcPts val="200"/>
              </a:spcAft>
              <a:buSzPct val="100000"/>
              <a:buChar char="3"/>
            </a:pPr>
            <a:r>
              <a:rPr lang="en-US" sz="900" dirty="0">
                <a:solidFill>
                  <a:srgbClr val="1B25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Wrong move? Sit down. The last person standing wins!</a:t>
            </a:r>
            <a:endParaRPr lang="en-US" sz="900" dirty="0"/>
          </a:p>
          <a:p>
            <a:pPr marL="190500" indent="-190500">
              <a:spcAft>
                <a:spcPts val="200"/>
              </a:spcAft>
              <a:buSzPct val="100000"/>
              <a:buChar char="​"/>
            </a:pPr>
            <a:r>
              <a:rPr lang="en-US" sz="800" i="1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Sbagli? Siediti. Vince l'ultimo in piedi!</a:t>
            </a:r>
            <a:endParaRPr lang="en-US" sz="900" dirty="0"/>
          </a:p>
        </p:txBody>
      </p:sp>
      <p:sp>
        <p:nvSpPr>
          <p:cNvPr id="19" name="ap_196"/>
          <p:cNvSpPr/>
          <p:nvPr/>
        </p:nvSpPr>
        <p:spPr>
          <a:xfrm>
            <a:off x="365760" y="3703320"/>
            <a:ext cx="2606040" cy="402336"/>
          </a:xfrm>
          <a:prstGeom prst="roundRect">
            <a:avLst>
              <a:gd name="adj" fmla="val 50000"/>
            </a:avLst>
          </a:prstGeom>
          <a:solidFill>
            <a:srgbClr val="E3F1FD"/>
          </a:solidFill>
          <a:ln w="19050">
            <a:solidFill>
              <a:srgbClr val="2F8DE4"/>
            </a:solidFill>
          </a:ln>
        </p:spPr>
        <p:txBody>
          <a:bodyPr wrap="square" lIns="127000" tIns="0" rIns="127000" bIns="0" rtlCol="0" anchor="ctr">
            <a:normAutofit/>
          </a:bodyPr>
          <a:lstStyle/>
          <a:p>
            <a:pPr indent="0" marL="0">
              <a:buNone/>
            </a:pPr>
            <a:r>
              <a:rPr lang="en-US" sz="11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🎧 6.16</a:t>
            </a:r>
            <a:endParaRPr lang="en-US" sz="1100" dirty="0"/>
          </a:p>
        </p:txBody>
      </p:sp>
      <p:sp>
        <p:nvSpPr>
          <p:cNvPr id="20" name="ah_197"/>
          <p:cNvSpPr/>
          <p:nvPr/>
        </p:nvSpPr>
        <p:spPr>
          <a:xfrm>
            <a:off x="5925312" y="4572000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2F8DE4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▶ normal · 🐢 slower</a:t>
            </a:r>
            <a:endParaRPr lang="en-US" sz="950" dirty="0"/>
          </a:p>
        </p:txBody>
      </p:sp>
      <p:pic>
        <p:nvPicPr>
          <p:cNvPr id="21" name="Media 0">
            <a:hlinkClick r:id="" action="ppaction://media"/>
          </p:cNvPr>
          <p:cNvPicPr>
            <a:picLocks noChangeAspect="1"/>
          </p:cNvPicPr>
          <p:nvPr>
            <a:audioFile r:link="rId5"/>
            <p:extLst>
              <p:ext uri="{DAA4B4D4-6D71-4841-9C94-3DE7FCFB9230}">
                <p14:media xmlns:p14="http://schemas.microsoft.com/office/powerpoint/2010/main" r:embed="rId6"/>
              </p:ext>
            </p:extLst>
          </p:nvPr>
        </p:nvPicPr>
        <p:blipFill>
          <a:blip r:embed="rId7"/>
          <a:stretch>
            <a:fillRect/>
          </a:stretch>
        </p:blipFill>
        <p:spPr>
          <a:xfrm>
            <a:off x="7525512" y="4553712"/>
            <a:ext cx="411480" cy="411480"/>
          </a:xfrm>
          <a:prstGeom prst="rect">
            <a:avLst/>
          </a:prstGeom>
        </p:spPr>
      </p:pic>
      <p:pic>
        <p:nvPicPr>
          <p:cNvPr id="22" name="Media 1">
            <a:hlinkClick r:id="" action="ppaction://media"/>
          </p:cNvPr>
          <p:cNvPicPr>
            <a:picLocks noChangeAspect="1"/>
          </p:cNvPicPr>
          <p:nvPr>
            <a:audioFile r:link="rId8"/>
            <p:extLst>
              <p:ext uri="{DAA4B4D4-6D71-4841-9C94-3DE7FCFB9230}">
                <p14:media xmlns:p14="http://schemas.microsoft.com/office/powerpoint/2010/main" r:embed="rId9"/>
              </p:ext>
            </p:extLst>
          </p:nvPr>
        </p:nvPicPr>
        <p:blipFill>
          <a:blip r:embed="rId10"/>
          <a:stretch>
            <a:fillRect/>
          </a:stretch>
        </p:blipFill>
        <p:spPr>
          <a:xfrm>
            <a:off x="8001000" y="4553712"/>
            <a:ext cx="411480" cy="411480"/>
          </a:xfrm>
          <a:prstGeom prst="rect">
            <a:avLst/>
          </a:prstGeom>
        </p:spPr>
      </p:pic>
      <p:sp>
        <p:nvSpPr>
          <p:cNvPr id="23" name="bd_198"/>
          <p:cNvSpPr/>
          <p:nvPr/>
        </p:nvSpPr>
        <p:spPr>
          <a:xfrm>
            <a:off x="3246120" y="1491234"/>
            <a:ext cx="329184" cy="329184"/>
          </a:xfrm>
          <a:prstGeom prst="ellipse">
            <a:avLst/>
          </a:prstGeom>
          <a:solidFill>
            <a:srgbClr val="E8508F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</a:t>
            </a:r>
            <a:endParaRPr lang="en-US" sz="1100" dirty="0"/>
          </a:p>
        </p:txBody>
      </p:sp>
      <p:sp>
        <p:nvSpPr>
          <p:cNvPr id="24" name="gq_199"/>
          <p:cNvSpPr/>
          <p:nvPr/>
        </p:nvSpPr>
        <p:spPr>
          <a:xfrm>
            <a:off x="3657600" y="1417320"/>
            <a:ext cx="2514600" cy="477012"/>
          </a:xfrm>
          <a:prstGeom prst="roundRect">
            <a:avLst>
              <a:gd name="adj" fmla="val 19169"/>
            </a:avLst>
          </a:prstGeom>
          <a:solidFill>
            <a:srgbClr val="FFFFFF"/>
          </a:solidFill>
          <a:ln w="19050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Teacher says: clap your hands!</a:t>
            </a:r>
            <a:endParaRPr lang="en-US" sz="1100" dirty="0"/>
          </a:p>
        </p:txBody>
      </p:sp>
      <p:sp>
        <p:nvSpPr>
          <p:cNvPr id="25" name="R1_chip200"/>
          <p:cNvSpPr/>
          <p:nvPr/>
        </p:nvSpPr>
        <p:spPr>
          <a:xfrm>
            <a:off x="6263640" y="1417320"/>
            <a:ext cx="2560320" cy="477012"/>
          </a:xfrm>
          <a:prstGeom prst="roundRect">
            <a:avLst>
              <a:gd name="adj" fmla="val 19169"/>
            </a:avLst>
          </a:prstGeom>
          <a:solidFill>
            <a:srgbClr val="FFE3EE"/>
          </a:solidFill>
          <a:ln w="19050">
            <a:solidFill>
              <a:srgbClr val="E8508F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 👏</a:t>
            </a:r>
            <a:endParaRPr lang="en-US" sz="1100" dirty="0"/>
          </a:p>
        </p:txBody>
      </p:sp>
      <p:sp>
        <p:nvSpPr>
          <p:cNvPr id="26" name="bd_201"/>
          <p:cNvSpPr/>
          <p:nvPr/>
        </p:nvSpPr>
        <p:spPr>
          <a:xfrm>
            <a:off x="3246120" y="2032254"/>
            <a:ext cx="329184" cy="329184"/>
          </a:xfrm>
          <a:prstGeom prst="ellipse">
            <a:avLst/>
          </a:prstGeom>
          <a:solidFill>
            <a:srgbClr val="2F8DE4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2</a:t>
            </a:r>
            <a:endParaRPr lang="en-US" sz="1100" dirty="0"/>
          </a:p>
        </p:txBody>
      </p:sp>
      <p:sp>
        <p:nvSpPr>
          <p:cNvPr id="27" name="gq_202"/>
          <p:cNvSpPr/>
          <p:nvPr/>
        </p:nvSpPr>
        <p:spPr>
          <a:xfrm>
            <a:off x="3657600" y="1958340"/>
            <a:ext cx="2514600" cy="477012"/>
          </a:xfrm>
          <a:prstGeom prst="roundRect">
            <a:avLst>
              <a:gd name="adj" fmla="val 19169"/>
            </a:avLst>
          </a:prstGeom>
          <a:solidFill>
            <a:srgbClr val="FFFFFF"/>
          </a:solidFill>
          <a:ln w="19050">
            <a:solidFill>
              <a:srgbClr val="A9D3F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Teacher says: nod your head!</a:t>
            </a:r>
            <a:endParaRPr lang="en-US" sz="1100" dirty="0"/>
          </a:p>
        </p:txBody>
      </p:sp>
      <p:sp>
        <p:nvSpPr>
          <p:cNvPr id="28" name="R2_chip203"/>
          <p:cNvSpPr/>
          <p:nvPr/>
        </p:nvSpPr>
        <p:spPr>
          <a:xfrm>
            <a:off x="6263640" y="1958340"/>
            <a:ext cx="2560320" cy="477012"/>
          </a:xfrm>
          <a:prstGeom prst="roundRect">
            <a:avLst>
              <a:gd name="adj" fmla="val 19169"/>
            </a:avLst>
          </a:prstGeom>
          <a:solidFill>
            <a:srgbClr val="FFE3EE"/>
          </a:solidFill>
          <a:ln w="19050">
            <a:solidFill>
              <a:srgbClr val="E8508F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 🙂↕️</a:t>
            </a:r>
            <a:endParaRPr lang="en-US" sz="1100" dirty="0"/>
          </a:p>
        </p:txBody>
      </p:sp>
      <p:sp>
        <p:nvSpPr>
          <p:cNvPr id="29" name="bd_204"/>
          <p:cNvSpPr/>
          <p:nvPr/>
        </p:nvSpPr>
        <p:spPr>
          <a:xfrm>
            <a:off x="3246120" y="2573274"/>
            <a:ext cx="329184" cy="329184"/>
          </a:xfrm>
          <a:prstGeom prst="ellipse">
            <a:avLst/>
          </a:prstGeom>
          <a:solidFill>
            <a:srgbClr val="2EB872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3</a:t>
            </a:r>
            <a:endParaRPr lang="en-US" sz="1100" dirty="0"/>
          </a:p>
        </p:txBody>
      </p:sp>
      <p:sp>
        <p:nvSpPr>
          <p:cNvPr id="30" name="gq_205"/>
          <p:cNvSpPr/>
          <p:nvPr/>
        </p:nvSpPr>
        <p:spPr>
          <a:xfrm>
            <a:off x="3657600" y="2499360"/>
            <a:ext cx="2514600" cy="477012"/>
          </a:xfrm>
          <a:prstGeom prst="roundRect">
            <a:avLst>
              <a:gd name="adj" fmla="val 19169"/>
            </a:avLst>
          </a:prstGeom>
          <a:solidFill>
            <a:srgbClr val="FFFFFF"/>
          </a:solidFill>
          <a:ln w="19050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Point at the board!</a:t>
            </a:r>
            <a:endParaRPr lang="en-US" sz="1100" dirty="0"/>
          </a:p>
        </p:txBody>
      </p:sp>
      <p:sp>
        <p:nvSpPr>
          <p:cNvPr id="31" name="R3_chip206"/>
          <p:cNvSpPr/>
          <p:nvPr/>
        </p:nvSpPr>
        <p:spPr>
          <a:xfrm>
            <a:off x="6263640" y="2499360"/>
            <a:ext cx="2560320" cy="477012"/>
          </a:xfrm>
          <a:prstGeom prst="roundRect">
            <a:avLst>
              <a:gd name="adj" fmla="val 19169"/>
            </a:avLst>
          </a:prstGeom>
          <a:solidFill>
            <a:srgbClr val="FFE3EE"/>
          </a:solidFill>
          <a:ln w="19050">
            <a:solidFill>
              <a:srgbClr val="E8508F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 ✗ no 'Teacher says' – sit down!</a:t>
            </a:r>
            <a:endParaRPr lang="en-US" sz="1100" dirty="0"/>
          </a:p>
        </p:txBody>
      </p:sp>
      <p:sp>
        <p:nvSpPr>
          <p:cNvPr id="32" name="bd_207"/>
          <p:cNvSpPr/>
          <p:nvPr/>
        </p:nvSpPr>
        <p:spPr>
          <a:xfrm>
            <a:off x="3246120" y="3114294"/>
            <a:ext cx="329184" cy="329184"/>
          </a:xfrm>
          <a:prstGeom prst="ellipse">
            <a:avLst/>
          </a:prstGeom>
          <a:solidFill>
            <a:srgbClr val="F2B705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4</a:t>
            </a:r>
            <a:endParaRPr lang="en-US" sz="1100" dirty="0"/>
          </a:p>
        </p:txBody>
      </p:sp>
      <p:sp>
        <p:nvSpPr>
          <p:cNvPr id="33" name="gq_208"/>
          <p:cNvSpPr/>
          <p:nvPr/>
        </p:nvSpPr>
        <p:spPr>
          <a:xfrm>
            <a:off x="3657600" y="3040380"/>
            <a:ext cx="2514600" cy="477012"/>
          </a:xfrm>
          <a:prstGeom prst="roundRect">
            <a:avLst>
              <a:gd name="adj" fmla="val 19169"/>
            </a:avLst>
          </a:prstGeom>
          <a:solidFill>
            <a:srgbClr val="FFFFFF"/>
          </a:solidFill>
          <a:ln w="19050">
            <a:solidFill>
              <a:srgbClr val="FFE07A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Teacher says: touch your knees!</a:t>
            </a:r>
            <a:endParaRPr lang="en-US" sz="1100" dirty="0"/>
          </a:p>
        </p:txBody>
      </p:sp>
      <p:sp>
        <p:nvSpPr>
          <p:cNvPr id="34" name="R4_chip209"/>
          <p:cNvSpPr/>
          <p:nvPr/>
        </p:nvSpPr>
        <p:spPr>
          <a:xfrm>
            <a:off x="6263640" y="3040380"/>
            <a:ext cx="2560320" cy="477012"/>
          </a:xfrm>
          <a:prstGeom prst="roundRect">
            <a:avLst>
              <a:gd name="adj" fmla="val 19169"/>
            </a:avLst>
          </a:prstGeom>
          <a:solidFill>
            <a:srgbClr val="FFE3EE"/>
          </a:solidFill>
          <a:ln w="19050">
            <a:solidFill>
              <a:srgbClr val="E8508F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 🦵</a:t>
            </a:r>
            <a:endParaRPr lang="en-US" sz="1100" dirty="0"/>
          </a:p>
        </p:txBody>
      </p:sp>
      <p:sp>
        <p:nvSpPr>
          <p:cNvPr id="35" name="bd_210"/>
          <p:cNvSpPr/>
          <p:nvPr/>
        </p:nvSpPr>
        <p:spPr>
          <a:xfrm>
            <a:off x="3246120" y="3655314"/>
            <a:ext cx="329184" cy="329184"/>
          </a:xfrm>
          <a:prstGeom prst="ellipse">
            <a:avLst/>
          </a:prstGeom>
          <a:solidFill>
            <a:srgbClr val="E8508F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5</a:t>
            </a:r>
            <a:endParaRPr lang="en-US" sz="1100" dirty="0"/>
          </a:p>
        </p:txBody>
      </p:sp>
      <p:sp>
        <p:nvSpPr>
          <p:cNvPr id="36" name="gq_211"/>
          <p:cNvSpPr/>
          <p:nvPr/>
        </p:nvSpPr>
        <p:spPr>
          <a:xfrm>
            <a:off x="3657600" y="3581400"/>
            <a:ext cx="2514600" cy="477012"/>
          </a:xfrm>
          <a:prstGeom prst="roundRect">
            <a:avLst>
              <a:gd name="adj" fmla="val 19169"/>
            </a:avLst>
          </a:prstGeom>
          <a:solidFill>
            <a:srgbClr val="FFFFFF"/>
          </a:solidFill>
          <a:ln w="19050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Teacher says: stare at your partner!</a:t>
            </a:r>
            <a:endParaRPr lang="en-US" sz="1100" dirty="0"/>
          </a:p>
        </p:txBody>
      </p:sp>
      <p:sp>
        <p:nvSpPr>
          <p:cNvPr id="37" name="R5_chip212"/>
          <p:cNvSpPr/>
          <p:nvPr/>
        </p:nvSpPr>
        <p:spPr>
          <a:xfrm>
            <a:off x="6263640" y="3581400"/>
            <a:ext cx="2560320" cy="477012"/>
          </a:xfrm>
          <a:prstGeom prst="roundRect">
            <a:avLst>
              <a:gd name="adj" fmla="val 19169"/>
            </a:avLst>
          </a:prstGeom>
          <a:solidFill>
            <a:srgbClr val="FFE3EE"/>
          </a:solidFill>
          <a:ln w="19050">
            <a:solidFill>
              <a:srgbClr val="E8508F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 👀</a:t>
            </a:r>
            <a:endParaRPr lang="en-US" sz="1100" dirty="0"/>
          </a:p>
        </p:txBody>
      </p:sp>
      <p:sp>
        <p:nvSpPr>
          <p:cNvPr id="38" name="bd_213"/>
          <p:cNvSpPr/>
          <p:nvPr/>
        </p:nvSpPr>
        <p:spPr>
          <a:xfrm>
            <a:off x="3246120" y="4196334"/>
            <a:ext cx="329184" cy="329184"/>
          </a:xfrm>
          <a:prstGeom prst="ellipse">
            <a:avLst/>
          </a:prstGeom>
          <a:solidFill>
            <a:srgbClr val="2F8DE4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6</a:t>
            </a:r>
            <a:endParaRPr lang="en-US" sz="1100" dirty="0"/>
          </a:p>
        </p:txBody>
      </p:sp>
      <p:sp>
        <p:nvSpPr>
          <p:cNvPr id="39" name="gq_214"/>
          <p:cNvSpPr/>
          <p:nvPr/>
        </p:nvSpPr>
        <p:spPr>
          <a:xfrm>
            <a:off x="3657600" y="4122420"/>
            <a:ext cx="2514600" cy="477012"/>
          </a:xfrm>
          <a:prstGeom prst="roundRect">
            <a:avLst>
              <a:gd name="adj" fmla="val 19169"/>
            </a:avLst>
          </a:prstGeom>
          <a:solidFill>
            <a:srgbClr val="FFFFFF"/>
          </a:solidFill>
          <a:ln w="19050">
            <a:solidFill>
              <a:srgbClr val="A9D3F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Whistle a song!</a:t>
            </a:r>
            <a:endParaRPr lang="en-US" sz="1100" dirty="0"/>
          </a:p>
        </p:txBody>
      </p:sp>
      <p:sp>
        <p:nvSpPr>
          <p:cNvPr id="40" name="R6_chip215"/>
          <p:cNvSpPr/>
          <p:nvPr/>
        </p:nvSpPr>
        <p:spPr>
          <a:xfrm>
            <a:off x="6263640" y="4122420"/>
            <a:ext cx="2560320" cy="477012"/>
          </a:xfrm>
          <a:prstGeom prst="roundRect">
            <a:avLst>
              <a:gd name="adj" fmla="val 19169"/>
            </a:avLst>
          </a:prstGeom>
          <a:solidFill>
            <a:srgbClr val="FFE3EE"/>
          </a:solidFill>
          <a:ln w="19050">
            <a:solidFill>
              <a:srgbClr val="E8508F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 ✗ sit down!</a:t>
            </a:r>
            <a:endParaRPr lang="en-US" sz="110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seq concurrent="1" nextAc="seek">
              <p:cTn id="33" restart="whenNotActive" fill="hold" evtFilter="cancelBubble" nodeType="interactiveSeq">
                <p:stCondLst>
                  <p:cond evt="onClick" delay="0">
                    <p:tgtEl>
                      <p:spTgt spid="21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4" fill="hold">
                      <p:stCondLst>
                        <p:cond delay="0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37" dur="1" fill="hold"/>
                                        <p:tgtEl>
                                          <p:spTgt spid="21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1"/>
                  </p:tgtEl>
                </p:cond>
              </p:nextCondLst>
            </p:seq>
            <p:seq concurrent="1" nextAc="seek">
              <p:cTn id="38" restart="whenNotActive" fill="hold" evtFilter="cancelBubble" nodeType="interactiveSeq">
                <p:stCondLst>
                  <p:cond evt="onClick" delay="0">
                    <p:tgtEl>
                      <p:spTgt spid="22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9" fill="hold">
                      <p:stCondLst>
                        <p:cond delay="0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42" dur="1" fill="hold"/>
                                        <p:tgtEl>
                                          <p:spTgt spid="22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2"/>
                  </p:tgtEl>
                </p:cond>
              </p:nextCondLst>
            </p:seq>
            <p:audio>
              <p:cMediaNode vol="80000">
                <p:cTn id="43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21"/>
                </p:tgtEl>
              </p:cMediaNode>
            </p:audio>
            <p:audio>
              <p:cMediaNode vol="80000">
                <p:cTn id="44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22"/>
                </p:tgtEl>
              </p:cMediaNode>
            </p:audio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216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E8508F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7</a:t>
            </a:r>
            <a:endParaRPr lang="en-US" sz="2800" dirty="0"/>
          </a:p>
        </p:txBody>
      </p:sp>
      <p:pic>
        <p:nvPicPr>
          <p:cNvPr id="4" name="brY_217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3719779" cy="621792"/>
          </a:xfrm>
          <a:prstGeom prst="rect">
            <a:avLst/>
          </a:prstGeom>
        </p:spPr>
      </p:pic>
      <p:sp>
        <p:nvSpPr>
          <p:cNvPr id="5" name="title_218"/>
          <p:cNvSpPr/>
          <p:nvPr/>
        </p:nvSpPr>
        <p:spPr>
          <a:xfrm>
            <a:off x="1261872" y="164592"/>
            <a:ext cx="344545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Two sounds in one ①</a:t>
            </a:r>
            <a:endParaRPr lang="en-US" sz="2500" dirty="0"/>
          </a:p>
        </p:txBody>
      </p:sp>
      <p:pic>
        <p:nvPicPr>
          <p:cNvPr id="6" name="brP_219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3511296" cy="402336"/>
          </a:xfrm>
          <a:prstGeom prst="rect">
            <a:avLst/>
          </a:prstGeom>
        </p:spPr>
      </p:pic>
      <p:sp>
        <p:nvSpPr>
          <p:cNvPr id="7" name="ins_220"/>
          <p:cNvSpPr/>
          <p:nvPr/>
        </p:nvSpPr>
        <p:spPr>
          <a:xfrm>
            <a:off x="1353312" y="731520"/>
            <a:ext cx="3255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Say the word. Which sound is it?</a:t>
            </a:r>
            <a:endParaRPr lang="en-US" sz="1250" dirty="0"/>
          </a:p>
        </p:txBody>
      </p:sp>
      <p:sp>
        <p:nvSpPr>
          <p:cNvPr id="8" name="insIT_221"/>
          <p:cNvSpPr/>
          <p:nvPr/>
        </p:nvSpPr>
        <p:spPr>
          <a:xfrm>
            <a:off x="1371600" y="1115568"/>
            <a:ext cx="5852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Di' la parola. Quale suono è?</a:t>
            </a:r>
            <a:endParaRPr lang="en-US" sz="950" dirty="0"/>
          </a:p>
        </p:txBody>
      </p:sp>
      <p:sp>
        <p:nvSpPr>
          <p:cNvPr id="9" name="cmd_222"/>
          <p:cNvSpPr/>
          <p:nvPr/>
        </p:nvSpPr>
        <p:spPr>
          <a:xfrm>
            <a:off x="6510528" y="182880"/>
            <a:ext cx="1901952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🎧 </a:t>
            </a:r>
            <a:pPr indent="0" marL="0">
              <a:buNone/>
            </a:pPr>
            <a:r>
              <a:rPr lang="en-US" sz="1200" dirty="0">
                <a:solidFill>
                  <a:srgbClr val="2F8DE4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LISTEN</a:t>
            </a:r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ASCOLTA</a:t>
            </a:r>
            <a:endParaRPr lang="en-US" sz="1100" dirty="0"/>
          </a:p>
        </p:txBody>
      </p:sp>
      <p:sp>
        <p:nvSpPr>
          <p:cNvPr id="10" name="cmd_223"/>
          <p:cNvSpPr/>
          <p:nvPr/>
        </p:nvSpPr>
        <p:spPr>
          <a:xfrm>
            <a:off x="6510528" y="566928"/>
            <a:ext cx="1901952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CDBFF3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🔊 </a:t>
            </a:r>
            <a:pPr indent="0" marL="0">
              <a:buNone/>
            </a:pPr>
            <a:r>
              <a:rPr lang="en-US" sz="1200" dirty="0">
                <a:solidFill>
                  <a:srgbClr val="7B5CD6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SAY IT</a:t>
            </a:r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PRONUNCIA</a:t>
            </a:r>
            <a:endParaRPr lang="en-US" sz="1100" dirty="0"/>
          </a:p>
        </p:txBody>
      </p:sp>
      <p:sp>
        <p:nvSpPr>
          <p:cNvPr id="11" name="meta_224"/>
          <p:cNvSpPr/>
          <p:nvPr/>
        </p:nvSpPr>
        <p:spPr>
          <a:xfrm>
            <a:off x="6583680" y="950976"/>
            <a:ext cx="2286000" cy="256032"/>
          </a:xfrm>
          <a:prstGeom prst="rect">
            <a:avLst/>
          </a:prstGeom>
          <a:noFill/>
          <a:ln/>
        </p:spPr>
        <p:txBody>
          <a:bodyPr wrap="square" lIns="101600" tIns="0" rIns="10160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3 min   👥 pairs</a:t>
            </a:r>
            <a:endParaRPr lang="en-US" sz="950" dirty="0"/>
          </a:p>
        </p:txBody>
      </p:sp>
      <p:sp>
        <p:nvSpPr>
          <p:cNvPr id="12" name="tag_225"/>
          <p:cNvSpPr/>
          <p:nvPr/>
        </p:nvSpPr>
        <p:spPr>
          <a:xfrm>
            <a:off x="6510528" y="1188720"/>
            <a:ext cx="2514600" cy="237744"/>
          </a:xfrm>
          <a:prstGeom prst="rect">
            <a:avLst/>
          </a:prstGeom>
          <a:noFill/>
          <a:ln/>
        </p:spPr>
        <p:txBody>
          <a:bodyPr wrap="square" lIns="101600" tIns="0" rIns="5080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Pronunciation</a:t>
            </a:r>
            <a:pPr indent="0" marL="0">
              <a:buNone/>
            </a:pPr>
            <a:r>
              <a:rPr lang="en-US" sz="850" dirty="0">
                <a:solidFill>
                  <a:srgbClr val="7B5CD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· Guided discovery</a:t>
            </a:r>
            <a:endParaRPr lang="en-US" sz="850" dirty="0"/>
          </a:p>
        </p:txBody>
      </p:sp>
      <p:pic>
        <p:nvPicPr>
          <p:cNvPr id="13" name="logo_226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4" name="foot_227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6B-2 · Pronunciation · diphthongs (two sounds in one)   ·   📖 SB p.62 · 4a–4c · audio 6.17, 6.18</a:t>
            </a:r>
            <a:endParaRPr lang="en-US" sz="800" dirty="0"/>
          </a:p>
        </p:txBody>
      </p:sp>
      <p:sp>
        <p:nvSpPr>
          <p:cNvPr id="15" name="cd_228"/>
          <p:cNvSpPr/>
          <p:nvPr/>
        </p:nvSpPr>
        <p:spPr>
          <a:xfrm>
            <a:off x="320040" y="1417320"/>
            <a:ext cx="2697480" cy="2295144"/>
          </a:xfrm>
          <a:prstGeom prst="roundRect">
            <a:avLst>
              <a:gd name="adj" fmla="val 5578"/>
            </a:avLst>
          </a:prstGeom>
          <a:solidFill>
            <a:srgbClr val="FFF6CC"/>
          </a:solidFill>
          <a:ln w="19050">
            <a:solidFill>
              <a:srgbClr val="FFE07A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6" name="ii_229"/>
          <p:cNvSpPr/>
          <p:nvPr/>
        </p:nvSpPr>
        <p:spPr>
          <a:xfrm>
            <a:off x="411480" y="14904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🏷️</a:t>
            </a:r>
            <a:endParaRPr lang="en-US" sz="2200" dirty="0"/>
          </a:p>
        </p:txBody>
      </p:sp>
      <p:sp>
        <p:nvSpPr>
          <p:cNvPr id="17" name="ih_230"/>
          <p:cNvSpPr/>
          <p:nvPr/>
        </p:nvSpPr>
        <p:spPr>
          <a:xfrm>
            <a:off x="886968" y="1508760"/>
            <a:ext cx="2057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5 sounds</a:t>
            </a:r>
            <a:endParaRPr lang="en-US" sz="1300" dirty="0"/>
          </a:p>
        </p:txBody>
      </p:sp>
      <p:sp>
        <p:nvSpPr>
          <p:cNvPr id="18" name="il_231"/>
          <p:cNvSpPr/>
          <p:nvPr/>
        </p:nvSpPr>
        <p:spPr>
          <a:xfrm>
            <a:off x="886968" y="1892808"/>
            <a:ext cx="2039112" cy="17465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spcAft>
                <a:spcPts val="200"/>
              </a:spcAft>
              <a:buNone/>
            </a:pPr>
            <a:endParaRPr lang="en-US" sz="1100" dirty="0"/>
          </a:p>
        </p:txBody>
      </p:sp>
      <p:sp>
        <p:nvSpPr>
          <p:cNvPr id="19" name="ap_232"/>
          <p:cNvSpPr/>
          <p:nvPr/>
        </p:nvSpPr>
        <p:spPr>
          <a:xfrm>
            <a:off x="365760" y="3849624"/>
            <a:ext cx="2606040" cy="402336"/>
          </a:xfrm>
          <a:prstGeom prst="roundRect">
            <a:avLst>
              <a:gd name="adj" fmla="val 50000"/>
            </a:avLst>
          </a:prstGeom>
          <a:solidFill>
            <a:srgbClr val="E3F1FD"/>
          </a:solidFill>
          <a:ln w="19050">
            <a:solidFill>
              <a:srgbClr val="2F8DE4"/>
            </a:solidFill>
          </a:ln>
        </p:spPr>
        <p:txBody>
          <a:bodyPr wrap="square" lIns="127000" tIns="0" rIns="127000" bIns="0" rtlCol="0" anchor="ctr">
            <a:normAutofit/>
          </a:bodyPr>
          <a:lstStyle/>
          <a:p>
            <a:pPr indent="0" marL="0">
              <a:buNone/>
            </a:pPr>
            <a:r>
              <a:rPr lang="en-US" sz="11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🎧 6.17 + 6.18</a:t>
            </a:r>
            <a:endParaRPr lang="en-US" sz="1100" dirty="0"/>
          </a:p>
        </p:txBody>
      </p:sp>
      <p:sp>
        <p:nvSpPr>
          <p:cNvPr id="20" name="ah_233"/>
          <p:cNvSpPr/>
          <p:nvPr/>
        </p:nvSpPr>
        <p:spPr>
          <a:xfrm>
            <a:off x="4974336" y="4572000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2F8DE4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▶ normal · 🐢 slower</a:t>
            </a:r>
            <a:endParaRPr lang="en-US" sz="950" dirty="0"/>
          </a:p>
        </p:txBody>
      </p:sp>
      <p:pic>
        <p:nvPicPr>
          <p:cNvPr id="21" name="Media 0">
            <a:hlinkClick r:id="" action="ppaction://media"/>
          </p:cNvPr>
          <p:cNvPicPr>
            <a:picLocks noChangeAspect="1"/>
          </p:cNvPicPr>
          <p:nvPr>
            <a:audioFile r:link="rId5"/>
            <p:extLst>
              <p:ext uri="{DAA4B4D4-6D71-4841-9C94-3DE7FCFB9230}">
                <p14:media xmlns:p14="http://schemas.microsoft.com/office/powerpoint/2010/main" r:embed="rId6"/>
              </p:ext>
            </p:extLst>
          </p:nvPr>
        </p:nvPicPr>
        <p:blipFill>
          <a:blip r:embed="rId7"/>
          <a:stretch>
            <a:fillRect/>
          </a:stretch>
        </p:blipFill>
        <p:spPr>
          <a:xfrm>
            <a:off x="6574536" y="4553712"/>
            <a:ext cx="411480" cy="411480"/>
          </a:xfrm>
          <a:prstGeom prst="rect">
            <a:avLst/>
          </a:prstGeom>
        </p:spPr>
      </p:pic>
      <p:pic>
        <p:nvPicPr>
          <p:cNvPr id="22" name="Media 1">
            <a:hlinkClick r:id="" action="ppaction://media"/>
          </p:cNvPr>
          <p:cNvPicPr>
            <a:picLocks noChangeAspect="1"/>
          </p:cNvPicPr>
          <p:nvPr>
            <a:audioFile r:link="rId8"/>
            <p:extLst>
              <p:ext uri="{DAA4B4D4-6D71-4841-9C94-3DE7FCFB9230}">
                <p14:media xmlns:p14="http://schemas.microsoft.com/office/powerpoint/2010/main" r:embed="rId9"/>
              </p:ext>
            </p:extLst>
          </p:nvPr>
        </p:nvPicPr>
        <p:blipFill>
          <a:blip r:embed="rId10"/>
          <a:stretch>
            <a:fillRect/>
          </a:stretch>
        </p:blipFill>
        <p:spPr>
          <a:xfrm>
            <a:off x="7050024" y="4553712"/>
            <a:ext cx="411480" cy="411480"/>
          </a:xfrm>
          <a:prstGeom prst="rect">
            <a:avLst/>
          </a:prstGeom>
        </p:spPr>
      </p:pic>
      <p:pic>
        <p:nvPicPr>
          <p:cNvPr id="23" name="Media 2">
            <a:hlinkClick r:id="" action="ppaction://media"/>
          </p:cNvPr>
          <p:cNvPicPr>
            <a:picLocks noChangeAspect="1"/>
          </p:cNvPicPr>
          <p:nvPr>
            <a:audioFile r:link="rId11"/>
            <p:extLst>
              <p:ext uri="{DAA4B4D4-6D71-4841-9C94-3DE7FCFB9230}">
                <p14:media xmlns:p14="http://schemas.microsoft.com/office/powerpoint/2010/main" r:embed="rId12"/>
              </p:ext>
            </p:extLst>
          </p:nvPr>
        </p:nvPicPr>
        <p:blipFill>
          <a:blip r:embed="rId13"/>
          <a:stretch>
            <a:fillRect/>
          </a:stretch>
        </p:blipFill>
        <p:spPr>
          <a:xfrm>
            <a:off x="7525512" y="4553712"/>
            <a:ext cx="411480" cy="411480"/>
          </a:xfrm>
          <a:prstGeom prst="rect">
            <a:avLst/>
          </a:prstGeom>
        </p:spPr>
      </p:pic>
      <p:pic>
        <p:nvPicPr>
          <p:cNvPr id="24" name="Media 3">
            <a:hlinkClick r:id="" action="ppaction://media"/>
          </p:cNvPr>
          <p:cNvPicPr>
            <a:picLocks noChangeAspect="1"/>
          </p:cNvPicPr>
          <p:nvPr>
            <a:audioFile r:link="rId14"/>
            <p:extLst>
              <p:ext uri="{DAA4B4D4-6D71-4841-9C94-3DE7FCFB9230}">
                <p14:media xmlns:p14="http://schemas.microsoft.com/office/powerpoint/2010/main" r:embed="rId15"/>
              </p:ext>
            </p:extLst>
          </p:nvPr>
        </p:nvPicPr>
        <p:blipFill>
          <a:blip r:embed="rId16"/>
          <a:stretch>
            <a:fillRect/>
          </a:stretch>
        </p:blipFill>
        <p:spPr>
          <a:xfrm>
            <a:off x="8001000" y="4553712"/>
            <a:ext cx="411480" cy="411480"/>
          </a:xfrm>
          <a:prstGeom prst="rect">
            <a:avLst/>
          </a:prstGeom>
        </p:spPr>
      </p:pic>
      <p:sp>
        <p:nvSpPr>
          <p:cNvPr id="25" name="lg_234"/>
          <p:cNvSpPr/>
          <p:nvPr/>
        </p:nvSpPr>
        <p:spPr>
          <a:xfrm>
            <a:off x="457200" y="1984248"/>
            <a:ext cx="1188720" cy="310896"/>
          </a:xfrm>
          <a:prstGeom prst="roundRect">
            <a:avLst>
              <a:gd name="adj" fmla="val 50000"/>
            </a:avLst>
          </a:prstGeom>
          <a:solidFill>
            <a:srgbClr val="FFD1E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/aɪ/ bike</a:t>
            </a:r>
            <a:endParaRPr lang="en-US" sz="1050" dirty="0"/>
          </a:p>
        </p:txBody>
      </p:sp>
      <p:sp>
        <p:nvSpPr>
          <p:cNvPr id="26" name="lg_235"/>
          <p:cNvSpPr/>
          <p:nvPr/>
        </p:nvSpPr>
        <p:spPr>
          <a:xfrm>
            <a:off x="1719072" y="1984248"/>
            <a:ext cx="1188720" cy="310896"/>
          </a:xfrm>
          <a:prstGeom prst="roundRect">
            <a:avLst>
              <a:gd name="adj" fmla="val 50000"/>
            </a:avLst>
          </a:prstGeom>
          <a:solidFill>
            <a:srgbClr val="CFE6F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/eɪ/ train</a:t>
            </a:r>
            <a:endParaRPr lang="en-US" sz="1050" dirty="0"/>
          </a:p>
        </p:txBody>
      </p:sp>
      <p:sp>
        <p:nvSpPr>
          <p:cNvPr id="27" name="lg_236"/>
          <p:cNvSpPr/>
          <p:nvPr/>
        </p:nvSpPr>
        <p:spPr>
          <a:xfrm>
            <a:off x="457200" y="2368296"/>
            <a:ext cx="1188720" cy="310896"/>
          </a:xfrm>
          <a:prstGeom prst="roundRect">
            <a:avLst>
              <a:gd name="adj" fmla="val 50000"/>
            </a:avLst>
          </a:prstGeom>
          <a:solidFill>
            <a:srgbClr val="CFF2D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/əʊ/ phone</a:t>
            </a:r>
            <a:endParaRPr lang="en-US" sz="1050" dirty="0"/>
          </a:p>
        </p:txBody>
      </p:sp>
      <p:sp>
        <p:nvSpPr>
          <p:cNvPr id="28" name="lg_237"/>
          <p:cNvSpPr/>
          <p:nvPr/>
        </p:nvSpPr>
        <p:spPr>
          <a:xfrm>
            <a:off x="1719072" y="2368296"/>
            <a:ext cx="1188720" cy="310896"/>
          </a:xfrm>
          <a:prstGeom prst="roundRect">
            <a:avLst>
              <a:gd name="adj" fmla="val 50000"/>
            </a:avLst>
          </a:prstGeom>
          <a:solidFill>
            <a:srgbClr val="FFF0A8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/aʊ/ owl</a:t>
            </a:r>
            <a:endParaRPr lang="en-US" sz="1050" dirty="0"/>
          </a:p>
        </p:txBody>
      </p:sp>
      <p:sp>
        <p:nvSpPr>
          <p:cNvPr id="29" name="lg_238"/>
          <p:cNvSpPr/>
          <p:nvPr/>
        </p:nvSpPr>
        <p:spPr>
          <a:xfrm>
            <a:off x="457200" y="2752344"/>
            <a:ext cx="1188720" cy="310896"/>
          </a:xfrm>
          <a:prstGeom prst="roundRect">
            <a:avLst>
              <a:gd name="adj" fmla="val 50000"/>
            </a:avLst>
          </a:prstGeom>
          <a:solidFill>
            <a:srgbClr val="E2D9FA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/eə/ chair</a:t>
            </a:r>
            <a:endParaRPr lang="en-US" sz="1050" dirty="0"/>
          </a:p>
        </p:txBody>
      </p:sp>
      <p:sp>
        <p:nvSpPr>
          <p:cNvPr id="30" name="sq_239"/>
          <p:cNvSpPr/>
          <p:nvPr/>
        </p:nvSpPr>
        <p:spPr>
          <a:xfrm>
            <a:off x="3246120" y="1417320"/>
            <a:ext cx="3840480" cy="475488"/>
          </a:xfrm>
          <a:prstGeom prst="roundRect">
            <a:avLst>
              <a:gd name="adj" fmla="val 19231"/>
            </a:avLst>
          </a:prstGeom>
          <a:solidFill>
            <a:srgbClr val="FFFFFF"/>
          </a:solidFill>
          <a:ln w="19050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bite</a:t>
            </a:r>
            <a:endParaRPr lang="en-US" sz="1200" dirty="0"/>
          </a:p>
        </p:txBody>
      </p:sp>
      <p:sp>
        <p:nvSpPr>
          <p:cNvPr id="31" name="R1_tag240"/>
          <p:cNvSpPr/>
          <p:nvPr/>
        </p:nvSpPr>
        <p:spPr>
          <a:xfrm>
            <a:off x="7178040" y="1417320"/>
            <a:ext cx="1691640" cy="475488"/>
          </a:xfrm>
          <a:prstGeom prst="roundRect">
            <a:avLst>
              <a:gd name="adj" fmla="val 48077"/>
            </a:avLst>
          </a:prstGeom>
          <a:solidFill>
            <a:srgbClr val="FFD1E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/aɪ/ bike</a:t>
            </a:r>
            <a:endParaRPr lang="en-US" sz="1150" dirty="0"/>
          </a:p>
        </p:txBody>
      </p:sp>
      <p:sp>
        <p:nvSpPr>
          <p:cNvPr id="32" name="sq_241"/>
          <p:cNvSpPr/>
          <p:nvPr/>
        </p:nvSpPr>
        <p:spPr>
          <a:xfrm>
            <a:off x="3246120" y="1956816"/>
            <a:ext cx="3840480" cy="475488"/>
          </a:xfrm>
          <a:prstGeom prst="roundRect">
            <a:avLst>
              <a:gd name="adj" fmla="val 19231"/>
            </a:avLst>
          </a:prstGeom>
          <a:solidFill>
            <a:srgbClr val="FFFFFF"/>
          </a:solidFill>
          <a:ln w="19050">
            <a:solidFill>
              <a:srgbClr val="A9D3F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face</a:t>
            </a:r>
            <a:endParaRPr lang="en-US" sz="1200" dirty="0"/>
          </a:p>
        </p:txBody>
      </p:sp>
      <p:sp>
        <p:nvSpPr>
          <p:cNvPr id="33" name="R2_tag242"/>
          <p:cNvSpPr/>
          <p:nvPr/>
        </p:nvSpPr>
        <p:spPr>
          <a:xfrm>
            <a:off x="7178040" y="1956816"/>
            <a:ext cx="1691640" cy="475488"/>
          </a:xfrm>
          <a:prstGeom prst="roundRect">
            <a:avLst>
              <a:gd name="adj" fmla="val 48077"/>
            </a:avLst>
          </a:prstGeom>
          <a:solidFill>
            <a:srgbClr val="CFE6F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/eɪ/ train</a:t>
            </a:r>
            <a:endParaRPr lang="en-US" sz="1150" dirty="0"/>
          </a:p>
        </p:txBody>
      </p:sp>
      <p:sp>
        <p:nvSpPr>
          <p:cNvPr id="34" name="sq_243"/>
          <p:cNvSpPr/>
          <p:nvPr/>
        </p:nvSpPr>
        <p:spPr>
          <a:xfrm>
            <a:off x="3246120" y="2496312"/>
            <a:ext cx="3840480" cy="475488"/>
          </a:xfrm>
          <a:prstGeom prst="roundRect">
            <a:avLst>
              <a:gd name="adj" fmla="val 19231"/>
            </a:avLst>
          </a:prstGeom>
          <a:solidFill>
            <a:srgbClr val="FFFFFF"/>
          </a:solidFill>
          <a:ln w="19050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nose</a:t>
            </a:r>
            <a:endParaRPr lang="en-US" sz="1200" dirty="0"/>
          </a:p>
        </p:txBody>
      </p:sp>
      <p:sp>
        <p:nvSpPr>
          <p:cNvPr id="35" name="R3_tag244"/>
          <p:cNvSpPr/>
          <p:nvPr/>
        </p:nvSpPr>
        <p:spPr>
          <a:xfrm>
            <a:off x="7178040" y="2496312"/>
            <a:ext cx="1691640" cy="475488"/>
          </a:xfrm>
          <a:prstGeom prst="roundRect">
            <a:avLst>
              <a:gd name="adj" fmla="val 48077"/>
            </a:avLst>
          </a:prstGeom>
          <a:solidFill>
            <a:srgbClr val="CFF2D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/əʊ/ phone</a:t>
            </a:r>
            <a:endParaRPr lang="en-US" sz="1150" dirty="0"/>
          </a:p>
        </p:txBody>
      </p:sp>
      <p:sp>
        <p:nvSpPr>
          <p:cNvPr id="36" name="sq_245"/>
          <p:cNvSpPr/>
          <p:nvPr/>
        </p:nvSpPr>
        <p:spPr>
          <a:xfrm>
            <a:off x="3246120" y="3035808"/>
            <a:ext cx="3840480" cy="475488"/>
          </a:xfrm>
          <a:prstGeom prst="roundRect">
            <a:avLst>
              <a:gd name="adj" fmla="val 19231"/>
            </a:avLst>
          </a:prstGeom>
          <a:solidFill>
            <a:srgbClr val="FFFFFF"/>
          </a:solidFill>
          <a:ln w="19050">
            <a:solidFill>
              <a:srgbClr val="FFE07A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mouth</a:t>
            </a:r>
            <a:endParaRPr lang="en-US" sz="1200" dirty="0"/>
          </a:p>
        </p:txBody>
      </p:sp>
      <p:sp>
        <p:nvSpPr>
          <p:cNvPr id="37" name="R4_tag246"/>
          <p:cNvSpPr/>
          <p:nvPr/>
        </p:nvSpPr>
        <p:spPr>
          <a:xfrm>
            <a:off x="7178040" y="3035808"/>
            <a:ext cx="1691640" cy="475488"/>
          </a:xfrm>
          <a:prstGeom prst="roundRect">
            <a:avLst>
              <a:gd name="adj" fmla="val 48077"/>
            </a:avLst>
          </a:prstGeom>
          <a:solidFill>
            <a:srgbClr val="FFF0A8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/aʊ/ owl</a:t>
            </a:r>
            <a:endParaRPr lang="en-US" sz="1150" dirty="0"/>
          </a:p>
        </p:txBody>
      </p:sp>
      <p:sp>
        <p:nvSpPr>
          <p:cNvPr id="38" name="sq_247"/>
          <p:cNvSpPr/>
          <p:nvPr/>
        </p:nvSpPr>
        <p:spPr>
          <a:xfrm>
            <a:off x="3246120" y="3575304"/>
            <a:ext cx="3840480" cy="475488"/>
          </a:xfrm>
          <a:prstGeom prst="roundRect">
            <a:avLst>
              <a:gd name="adj" fmla="val 19231"/>
            </a:avLst>
          </a:prstGeom>
          <a:solidFill>
            <a:srgbClr val="FFFFFF"/>
          </a:solidFill>
          <a:ln w="19050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hair</a:t>
            </a:r>
            <a:endParaRPr lang="en-US" sz="1200" dirty="0"/>
          </a:p>
        </p:txBody>
      </p:sp>
      <p:sp>
        <p:nvSpPr>
          <p:cNvPr id="39" name="R5_tag248"/>
          <p:cNvSpPr/>
          <p:nvPr/>
        </p:nvSpPr>
        <p:spPr>
          <a:xfrm>
            <a:off x="7178040" y="3575304"/>
            <a:ext cx="1691640" cy="475488"/>
          </a:xfrm>
          <a:prstGeom prst="roundRect">
            <a:avLst>
              <a:gd name="adj" fmla="val 48077"/>
            </a:avLst>
          </a:prstGeom>
          <a:solidFill>
            <a:srgbClr val="E2D9FA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/eə/ chair</a:t>
            </a:r>
            <a:endParaRPr lang="en-US" sz="1150" dirty="0"/>
          </a:p>
        </p:txBody>
      </p:sp>
      <p:sp>
        <p:nvSpPr>
          <p:cNvPr id="40" name="sq_249"/>
          <p:cNvSpPr/>
          <p:nvPr/>
        </p:nvSpPr>
        <p:spPr>
          <a:xfrm>
            <a:off x="3246120" y="4114800"/>
            <a:ext cx="3840480" cy="475488"/>
          </a:xfrm>
          <a:prstGeom prst="roundRect">
            <a:avLst>
              <a:gd name="adj" fmla="val 19231"/>
            </a:avLst>
          </a:prstGeom>
          <a:solidFill>
            <a:srgbClr val="FFFFFF"/>
          </a:solidFill>
          <a:ln w="19050">
            <a:solidFill>
              <a:srgbClr val="A9D3F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eyes</a:t>
            </a:r>
            <a:endParaRPr lang="en-US" sz="1200" dirty="0"/>
          </a:p>
        </p:txBody>
      </p:sp>
      <p:sp>
        <p:nvSpPr>
          <p:cNvPr id="41" name="R6_tag250"/>
          <p:cNvSpPr/>
          <p:nvPr/>
        </p:nvSpPr>
        <p:spPr>
          <a:xfrm>
            <a:off x="7178040" y="4114800"/>
            <a:ext cx="1691640" cy="475488"/>
          </a:xfrm>
          <a:prstGeom prst="roundRect">
            <a:avLst>
              <a:gd name="adj" fmla="val 48077"/>
            </a:avLst>
          </a:prstGeom>
          <a:solidFill>
            <a:srgbClr val="FFD1E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/aɪ/ bike</a:t>
            </a:r>
            <a:endParaRPr lang="en-US" sz="115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seq concurrent="1" nextAc="seek">
              <p:cTn id="33" restart="whenNotActive" fill="hold" evtFilter="cancelBubble" nodeType="interactiveSeq">
                <p:stCondLst>
                  <p:cond evt="onClick" delay="0">
                    <p:tgtEl>
                      <p:spTgt spid="21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4" fill="hold">
                      <p:stCondLst>
                        <p:cond delay="0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37" dur="1" fill="hold"/>
                                        <p:tgtEl>
                                          <p:spTgt spid="21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1"/>
                  </p:tgtEl>
                </p:cond>
              </p:nextCondLst>
            </p:seq>
            <p:seq concurrent="1" nextAc="seek">
              <p:cTn id="38" restart="whenNotActive" fill="hold" evtFilter="cancelBubble" nodeType="interactiveSeq">
                <p:stCondLst>
                  <p:cond evt="onClick" delay="0">
                    <p:tgtEl>
                      <p:spTgt spid="22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9" fill="hold">
                      <p:stCondLst>
                        <p:cond delay="0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42" dur="1" fill="hold"/>
                                        <p:tgtEl>
                                          <p:spTgt spid="22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2"/>
                  </p:tgtEl>
                </p:cond>
              </p:nextCondLst>
            </p:seq>
            <p:seq concurrent="1" nextAc="seek">
              <p:cTn id="43" restart="whenNotActive" fill="hold" evtFilter="cancelBubble" nodeType="interactiveSeq">
                <p:stCondLst>
                  <p:cond evt="onClick" delay="0">
                    <p:tgtEl>
                      <p:spTgt spid="23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44" fill="hold">
                      <p:stCondLst>
                        <p:cond delay="0"/>
                      </p:stCondLst>
                      <p:childTnLst>
                        <p:par>
                          <p:cTn id="45" fill="hold">
                            <p:stCondLst>
                              <p:cond delay="0"/>
                            </p:stCondLst>
                            <p:childTnLst>
                              <p:par>
                                <p:cTn id="46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47" dur="1" fill="hold"/>
                                        <p:tgtEl>
                                          <p:spTgt spid="23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3"/>
                  </p:tgtEl>
                </p:cond>
              </p:nextCondLst>
            </p:seq>
            <p:seq concurrent="1" nextAc="seek">
              <p:cTn id="48" restart="whenNotActive" fill="hold" evtFilter="cancelBubble" nodeType="interactiveSeq">
                <p:stCondLst>
                  <p:cond evt="onClick" delay="0">
                    <p:tgtEl>
                      <p:spTgt spid="24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49" fill="hold">
                      <p:stCondLst>
                        <p:cond delay="0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52" dur="1" fill="hold"/>
                                        <p:tgtEl>
                                          <p:spTgt spid="24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4"/>
                  </p:tgtEl>
                </p:cond>
              </p:nextCondLst>
            </p:seq>
            <p:audio>
              <p:cMediaNode vol="80000">
                <p:cTn id="53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21"/>
                </p:tgtEl>
              </p:cMediaNode>
            </p:audio>
            <p:audio>
              <p:cMediaNode vol="80000">
                <p:cTn id="54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22"/>
                </p:tgtEl>
              </p:cMediaNode>
            </p:audio>
            <p:audio>
              <p:cMediaNode vol="80000">
                <p:cTn id="55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23"/>
                </p:tgtEl>
              </p:cMediaNode>
            </p:audio>
            <p:audio>
              <p:cMediaNode vol="80000">
                <p:cTn id="56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24"/>
                </p:tgtEl>
              </p:cMediaNode>
            </p:audio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251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E8508F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8</a:t>
            </a:r>
            <a:endParaRPr lang="en-US" sz="2800" dirty="0"/>
          </a:p>
        </p:txBody>
      </p:sp>
      <p:pic>
        <p:nvPicPr>
          <p:cNvPr id="4" name="brY_252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3719779" cy="621792"/>
          </a:xfrm>
          <a:prstGeom prst="rect">
            <a:avLst/>
          </a:prstGeom>
        </p:spPr>
      </p:pic>
      <p:sp>
        <p:nvSpPr>
          <p:cNvPr id="5" name="title_253"/>
          <p:cNvSpPr/>
          <p:nvPr/>
        </p:nvSpPr>
        <p:spPr>
          <a:xfrm>
            <a:off x="1261872" y="164592"/>
            <a:ext cx="344545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Two sounds in one ②</a:t>
            </a:r>
            <a:endParaRPr lang="en-US" sz="2500" dirty="0"/>
          </a:p>
        </p:txBody>
      </p:sp>
      <p:pic>
        <p:nvPicPr>
          <p:cNvPr id="6" name="brP_254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4119372" cy="402336"/>
          </a:xfrm>
          <a:prstGeom prst="rect">
            <a:avLst/>
          </a:prstGeom>
        </p:spPr>
      </p:pic>
      <p:sp>
        <p:nvSpPr>
          <p:cNvPr id="7" name="ins_255"/>
          <p:cNvSpPr/>
          <p:nvPr/>
        </p:nvSpPr>
        <p:spPr>
          <a:xfrm>
            <a:off x="1353312" y="731520"/>
            <a:ext cx="38633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Now these words. Then listen and check!</a:t>
            </a:r>
            <a:endParaRPr lang="en-US" sz="1250" dirty="0"/>
          </a:p>
        </p:txBody>
      </p:sp>
      <p:sp>
        <p:nvSpPr>
          <p:cNvPr id="8" name="insIT_256"/>
          <p:cNvSpPr/>
          <p:nvPr/>
        </p:nvSpPr>
        <p:spPr>
          <a:xfrm>
            <a:off x="1371600" y="1115568"/>
            <a:ext cx="5852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Ora queste parole. Poi ascolta e controlla!</a:t>
            </a:r>
            <a:endParaRPr lang="en-US" sz="950" dirty="0"/>
          </a:p>
        </p:txBody>
      </p:sp>
      <p:sp>
        <p:nvSpPr>
          <p:cNvPr id="9" name="cmd_257"/>
          <p:cNvSpPr/>
          <p:nvPr/>
        </p:nvSpPr>
        <p:spPr>
          <a:xfrm>
            <a:off x="6510528" y="182880"/>
            <a:ext cx="1901952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CDBFF3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🔊 </a:t>
            </a:r>
            <a:pPr indent="0" marL="0">
              <a:buNone/>
            </a:pPr>
            <a:r>
              <a:rPr lang="en-US" sz="1200" dirty="0">
                <a:solidFill>
                  <a:srgbClr val="7B5CD6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SAY IT</a:t>
            </a:r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PRONUNCIA</a:t>
            </a:r>
            <a:endParaRPr lang="en-US" sz="1100" dirty="0"/>
          </a:p>
        </p:txBody>
      </p:sp>
      <p:sp>
        <p:nvSpPr>
          <p:cNvPr id="10" name="cmd_258"/>
          <p:cNvSpPr/>
          <p:nvPr/>
        </p:nvSpPr>
        <p:spPr>
          <a:xfrm>
            <a:off x="6510528" y="566928"/>
            <a:ext cx="1901952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🎧 </a:t>
            </a:r>
            <a:pPr indent="0" marL="0">
              <a:buNone/>
            </a:pPr>
            <a:r>
              <a:rPr lang="en-US" sz="1200" dirty="0">
                <a:solidFill>
                  <a:srgbClr val="2F8DE4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LISTEN</a:t>
            </a:r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ASCOLTA</a:t>
            </a:r>
            <a:endParaRPr lang="en-US" sz="1100" dirty="0"/>
          </a:p>
        </p:txBody>
      </p:sp>
      <p:sp>
        <p:nvSpPr>
          <p:cNvPr id="11" name="meta_259"/>
          <p:cNvSpPr/>
          <p:nvPr/>
        </p:nvSpPr>
        <p:spPr>
          <a:xfrm>
            <a:off x="6583680" y="950976"/>
            <a:ext cx="2286000" cy="256032"/>
          </a:xfrm>
          <a:prstGeom prst="rect">
            <a:avLst/>
          </a:prstGeom>
          <a:noFill/>
          <a:ln/>
        </p:spPr>
        <p:txBody>
          <a:bodyPr wrap="square" lIns="101600" tIns="0" rIns="10160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2 min   👥 pairs</a:t>
            </a:r>
            <a:endParaRPr lang="en-US" sz="950" dirty="0"/>
          </a:p>
        </p:txBody>
      </p:sp>
      <p:sp>
        <p:nvSpPr>
          <p:cNvPr id="12" name="tag_260"/>
          <p:cNvSpPr/>
          <p:nvPr/>
        </p:nvSpPr>
        <p:spPr>
          <a:xfrm>
            <a:off x="6510528" y="1188720"/>
            <a:ext cx="2514600" cy="237744"/>
          </a:xfrm>
          <a:prstGeom prst="rect">
            <a:avLst/>
          </a:prstGeom>
          <a:noFill/>
          <a:ln/>
        </p:spPr>
        <p:txBody>
          <a:bodyPr wrap="square" lIns="101600" tIns="0" rIns="5080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Pronunciation</a:t>
            </a:r>
            <a:pPr indent="0" marL="0">
              <a:buNone/>
            </a:pPr>
            <a:r>
              <a:rPr lang="en-US" sz="850" dirty="0">
                <a:solidFill>
                  <a:srgbClr val="7B5CD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· Guided discovery</a:t>
            </a:r>
            <a:endParaRPr lang="en-US" sz="850" dirty="0"/>
          </a:p>
        </p:txBody>
      </p:sp>
      <p:pic>
        <p:nvPicPr>
          <p:cNvPr id="13" name="logo_261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4" name="foot_262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6B-2 · Pronunciation · diphthongs   ·   📖 SB p.62 · 4b, 4c · audio 6.18</a:t>
            </a:r>
            <a:endParaRPr lang="en-US" sz="800" dirty="0"/>
          </a:p>
        </p:txBody>
      </p:sp>
      <p:sp>
        <p:nvSpPr>
          <p:cNvPr id="15" name="cd_263"/>
          <p:cNvSpPr/>
          <p:nvPr/>
        </p:nvSpPr>
        <p:spPr>
          <a:xfrm>
            <a:off x="320040" y="1417320"/>
            <a:ext cx="2697480" cy="2295144"/>
          </a:xfrm>
          <a:prstGeom prst="roundRect">
            <a:avLst>
              <a:gd name="adj" fmla="val 5578"/>
            </a:avLst>
          </a:prstGeom>
          <a:solidFill>
            <a:srgbClr val="FFF6CC"/>
          </a:solidFill>
          <a:ln w="19050">
            <a:solidFill>
              <a:srgbClr val="FFE07A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6" name="ii_264"/>
          <p:cNvSpPr/>
          <p:nvPr/>
        </p:nvSpPr>
        <p:spPr>
          <a:xfrm>
            <a:off x="411480" y="14904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🏷️</a:t>
            </a:r>
            <a:endParaRPr lang="en-US" sz="2200" dirty="0"/>
          </a:p>
        </p:txBody>
      </p:sp>
      <p:sp>
        <p:nvSpPr>
          <p:cNvPr id="17" name="ih_265"/>
          <p:cNvSpPr/>
          <p:nvPr/>
        </p:nvSpPr>
        <p:spPr>
          <a:xfrm>
            <a:off x="886968" y="1508760"/>
            <a:ext cx="2057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5 sounds</a:t>
            </a:r>
            <a:endParaRPr lang="en-US" sz="1300" dirty="0"/>
          </a:p>
        </p:txBody>
      </p:sp>
      <p:sp>
        <p:nvSpPr>
          <p:cNvPr id="18" name="il_266"/>
          <p:cNvSpPr/>
          <p:nvPr/>
        </p:nvSpPr>
        <p:spPr>
          <a:xfrm>
            <a:off x="886968" y="1892808"/>
            <a:ext cx="2039112" cy="17465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spcAft>
                <a:spcPts val="200"/>
              </a:spcAft>
              <a:buNone/>
            </a:pPr>
            <a:endParaRPr lang="en-US" sz="1100" dirty="0"/>
          </a:p>
        </p:txBody>
      </p:sp>
      <p:sp>
        <p:nvSpPr>
          <p:cNvPr id="19" name="ap_267"/>
          <p:cNvSpPr/>
          <p:nvPr/>
        </p:nvSpPr>
        <p:spPr>
          <a:xfrm>
            <a:off x="365760" y="3849624"/>
            <a:ext cx="2606040" cy="402336"/>
          </a:xfrm>
          <a:prstGeom prst="roundRect">
            <a:avLst>
              <a:gd name="adj" fmla="val 50000"/>
            </a:avLst>
          </a:prstGeom>
          <a:solidFill>
            <a:srgbClr val="E3F1FD"/>
          </a:solidFill>
          <a:ln w="19050">
            <a:solidFill>
              <a:srgbClr val="2F8DE4"/>
            </a:solidFill>
          </a:ln>
        </p:spPr>
        <p:txBody>
          <a:bodyPr wrap="square" lIns="127000" tIns="0" rIns="127000" bIns="0" rtlCol="0" anchor="ctr">
            <a:normAutofit/>
          </a:bodyPr>
          <a:lstStyle/>
          <a:p>
            <a:pPr indent="0" marL="0">
              <a:buNone/>
            </a:pPr>
            <a:r>
              <a:rPr lang="en-US" sz="11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🎧 6.18</a:t>
            </a:r>
            <a:endParaRPr lang="en-US" sz="1100" dirty="0"/>
          </a:p>
        </p:txBody>
      </p:sp>
      <p:sp>
        <p:nvSpPr>
          <p:cNvPr id="20" name="ah_268"/>
          <p:cNvSpPr/>
          <p:nvPr/>
        </p:nvSpPr>
        <p:spPr>
          <a:xfrm>
            <a:off x="5925312" y="4572000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2F8DE4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▶ normal · 🐢 slower</a:t>
            </a:r>
            <a:endParaRPr lang="en-US" sz="950" dirty="0"/>
          </a:p>
        </p:txBody>
      </p:sp>
      <p:pic>
        <p:nvPicPr>
          <p:cNvPr id="21" name="Media 0">
            <a:hlinkClick r:id="" action="ppaction://media"/>
          </p:cNvPr>
          <p:cNvPicPr>
            <a:picLocks noChangeAspect="1"/>
          </p:cNvPicPr>
          <p:nvPr>
            <a:audioFile r:link="rId5"/>
            <p:extLst>
              <p:ext uri="{DAA4B4D4-6D71-4841-9C94-3DE7FCFB9230}">
                <p14:media xmlns:p14="http://schemas.microsoft.com/office/powerpoint/2010/main" r:embed="rId6"/>
              </p:ext>
            </p:extLst>
          </p:nvPr>
        </p:nvPicPr>
        <p:blipFill>
          <a:blip r:embed="rId7"/>
          <a:stretch>
            <a:fillRect/>
          </a:stretch>
        </p:blipFill>
        <p:spPr>
          <a:xfrm>
            <a:off x="7525512" y="4553712"/>
            <a:ext cx="411480" cy="411480"/>
          </a:xfrm>
          <a:prstGeom prst="rect">
            <a:avLst/>
          </a:prstGeom>
        </p:spPr>
      </p:pic>
      <p:pic>
        <p:nvPicPr>
          <p:cNvPr id="22" name="Media 1">
            <a:hlinkClick r:id="" action="ppaction://media"/>
          </p:cNvPr>
          <p:cNvPicPr>
            <a:picLocks noChangeAspect="1"/>
          </p:cNvPicPr>
          <p:nvPr>
            <a:audioFile r:link="rId8"/>
            <p:extLst>
              <p:ext uri="{DAA4B4D4-6D71-4841-9C94-3DE7FCFB9230}">
                <p14:media xmlns:p14="http://schemas.microsoft.com/office/powerpoint/2010/main" r:embed="rId9"/>
              </p:ext>
            </p:extLst>
          </p:nvPr>
        </p:nvPicPr>
        <p:blipFill>
          <a:blip r:embed="rId10"/>
          <a:stretch>
            <a:fillRect/>
          </a:stretch>
        </p:blipFill>
        <p:spPr>
          <a:xfrm>
            <a:off x="8001000" y="4553712"/>
            <a:ext cx="411480" cy="411480"/>
          </a:xfrm>
          <a:prstGeom prst="rect">
            <a:avLst/>
          </a:prstGeom>
        </p:spPr>
      </p:pic>
      <p:sp>
        <p:nvSpPr>
          <p:cNvPr id="23" name="lg_269"/>
          <p:cNvSpPr/>
          <p:nvPr/>
        </p:nvSpPr>
        <p:spPr>
          <a:xfrm>
            <a:off x="457200" y="1984248"/>
            <a:ext cx="1188720" cy="310896"/>
          </a:xfrm>
          <a:prstGeom prst="roundRect">
            <a:avLst>
              <a:gd name="adj" fmla="val 50000"/>
            </a:avLst>
          </a:prstGeom>
          <a:solidFill>
            <a:srgbClr val="FFD1E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/aɪ/ bike</a:t>
            </a:r>
            <a:endParaRPr lang="en-US" sz="1050" dirty="0"/>
          </a:p>
        </p:txBody>
      </p:sp>
      <p:sp>
        <p:nvSpPr>
          <p:cNvPr id="24" name="lg_270"/>
          <p:cNvSpPr/>
          <p:nvPr/>
        </p:nvSpPr>
        <p:spPr>
          <a:xfrm>
            <a:off x="1719072" y="1984248"/>
            <a:ext cx="1188720" cy="310896"/>
          </a:xfrm>
          <a:prstGeom prst="roundRect">
            <a:avLst>
              <a:gd name="adj" fmla="val 50000"/>
            </a:avLst>
          </a:prstGeom>
          <a:solidFill>
            <a:srgbClr val="CFE6F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/eɪ/ train</a:t>
            </a:r>
            <a:endParaRPr lang="en-US" sz="1050" dirty="0"/>
          </a:p>
        </p:txBody>
      </p:sp>
      <p:sp>
        <p:nvSpPr>
          <p:cNvPr id="25" name="lg_271"/>
          <p:cNvSpPr/>
          <p:nvPr/>
        </p:nvSpPr>
        <p:spPr>
          <a:xfrm>
            <a:off x="457200" y="2368296"/>
            <a:ext cx="1188720" cy="310896"/>
          </a:xfrm>
          <a:prstGeom prst="roundRect">
            <a:avLst>
              <a:gd name="adj" fmla="val 50000"/>
            </a:avLst>
          </a:prstGeom>
          <a:solidFill>
            <a:srgbClr val="CFF2D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/əʊ/ phone</a:t>
            </a:r>
            <a:endParaRPr lang="en-US" sz="1050" dirty="0"/>
          </a:p>
        </p:txBody>
      </p:sp>
      <p:sp>
        <p:nvSpPr>
          <p:cNvPr id="26" name="lg_272"/>
          <p:cNvSpPr/>
          <p:nvPr/>
        </p:nvSpPr>
        <p:spPr>
          <a:xfrm>
            <a:off x="1719072" y="2368296"/>
            <a:ext cx="1188720" cy="310896"/>
          </a:xfrm>
          <a:prstGeom prst="roundRect">
            <a:avLst>
              <a:gd name="adj" fmla="val 50000"/>
            </a:avLst>
          </a:prstGeom>
          <a:solidFill>
            <a:srgbClr val="FFF0A8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/aʊ/ owl</a:t>
            </a:r>
            <a:endParaRPr lang="en-US" sz="1050" dirty="0"/>
          </a:p>
        </p:txBody>
      </p:sp>
      <p:sp>
        <p:nvSpPr>
          <p:cNvPr id="27" name="lg_273"/>
          <p:cNvSpPr/>
          <p:nvPr/>
        </p:nvSpPr>
        <p:spPr>
          <a:xfrm>
            <a:off x="457200" y="2752344"/>
            <a:ext cx="1188720" cy="310896"/>
          </a:xfrm>
          <a:prstGeom prst="roundRect">
            <a:avLst>
              <a:gd name="adj" fmla="val 50000"/>
            </a:avLst>
          </a:prstGeom>
          <a:solidFill>
            <a:srgbClr val="E2D9FA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/eə/ chair</a:t>
            </a:r>
            <a:endParaRPr lang="en-US" sz="1050" dirty="0"/>
          </a:p>
        </p:txBody>
      </p:sp>
      <p:sp>
        <p:nvSpPr>
          <p:cNvPr id="28" name="sq_274"/>
          <p:cNvSpPr/>
          <p:nvPr/>
        </p:nvSpPr>
        <p:spPr>
          <a:xfrm>
            <a:off x="3246120" y="1417320"/>
            <a:ext cx="3840480" cy="475488"/>
          </a:xfrm>
          <a:prstGeom prst="roundRect">
            <a:avLst>
              <a:gd name="adj" fmla="val 19231"/>
            </a:avLst>
          </a:prstGeom>
          <a:solidFill>
            <a:srgbClr val="FFFFFF"/>
          </a:solidFill>
          <a:ln w="19050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taste</a:t>
            </a:r>
            <a:endParaRPr lang="en-US" sz="1200" dirty="0"/>
          </a:p>
        </p:txBody>
      </p:sp>
      <p:sp>
        <p:nvSpPr>
          <p:cNvPr id="29" name="R1_tag275"/>
          <p:cNvSpPr/>
          <p:nvPr/>
        </p:nvSpPr>
        <p:spPr>
          <a:xfrm>
            <a:off x="7178040" y="1417320"/>
            <a:ext cx="1691640" cy="475488"/>
          </a:xfrm>
          <a:prstGeom prst="roundRect">
            <a:avLst>
              <a:gd name="adj" fmla="val 48077"/>
            </a:avLst>
          </a:prstGeom>
          <a:solidFill>
            <a:srgbClr val="CFE6F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/eɪ/ train</a:t>
            </a:r>
            <a:endParaRPr lang="en-US" sz="1150" dirty="0"/>
          </a:p>
        </p:txBody>
      </p:sp>
      <p:sp>
        <p:nvSpPr>
          <p:cNvPr id="30" name="sq_276"/>
          <p:cNvSpPr/>
          <p:nvPr/>
        </p:nvSpPr>
        <p:spPr>
          <a:xfrm>
            <a:off x="3246120" y="1956816"/>
            <a:ext cx="3840480" cy="475488"/>
          </a:xfrm>
          <a:prstGeom prst="roundRect">
            <a:avLst>
              <a:gd name="adj" fmla="val 19231"/>
            </a:avLst>
          </a:prstGeom>
          <a:solidFill>
            <a:srgbClr val="FFFFFF"/>
          </a:solidFill>
          <a:ln w="19050">
            <a:solidFill>
              <a:srgbClr val="A9D3F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shoulders</a:t>
            </a:r>
            <a:endParaRPr lang="en-US" sz="1200" dirty="0"/>
          </a:p>
        </p:txBody>
      </p:sp>
      <p:sp>
        <p:nvSpPr>
          <p:cNvPr id="31" name="R2_tag277"/>
          <p:cNvSpPr/>
          <p:nvPr/>
        </p:nvSpPr>
        <p:spPr>
          <a:xfrm>
            <a:off x="7178040" y="1956816"/>
            <a:ext cx="1691640" cy="475488"/>
          </a:xfrm>
          <a:prstGeom prst="roundRect">
            <a:avLst>
              <a:gd name="adj" fmla="val 48077"/>
            </a:avLst>
          </a:prstGeom>
          <a:solidFill>
            <a:srgbClr val="CFF2D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/əʊ/ phone</a:t>
            </a:r>
            <a:endParaRPr lang="en-US" sz="1150" dirty="0"/>
          </a:p>
        </p:txBody>
      </p:sp>
      <p:sp>
        <p:nvSpPr>
          <p:cNvPr id="32" name="sq_278"/>
          <p:cNvSpPr/>
          <p:nvPr/>
        </p:nvSpPr>
        <p:spPr>
          <a:xfrm>
            <a:off x="3246120" y="2496312"/>
            <a:ext cx="3840480" cy="475488"/>
          </a:xfrm>
          <a:prstGeom prst="roundRect">
            <a:avLst>
              <a:gd name="adj" fmla="val 19231"/>
            </a:avLst>
          </a:prstGeom>
          <a:solidFill>
            <a:srgbClr val="FFFFFF"/>
          </a:solidFill>
          <a:ln w="19050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smile</a:t>
            </a:r>
            <a:endParaRPr lang="en-US" sz="1200" dirty="0"/>
          </a:p>
        </p:txBody>
      </p:sp>
      <p:sp>
        <p:nvSpPr>
          <p:cNvPr id="33" name="R3_tag279"/>
          <p:cNvSpPr/>
          <p:nvPr/>
        </p:nvSpPr>
        <p:spPr>
          <a:xfrm>
            <a:off x="7178040" y="2496312"/>
            <a:ext cx="1691640" cy="475488"/>
          </a:xfrm>
          <a:prstGeom prst="roundRect">
            <a:avLst>
              <a:gd name="adj" fmla="val 48077"/>
            </a:avLst>
          </a:prstGeom>
          <a:solidFill>
            <a:srgbClr val="FFD1E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/aɪ/ bike</a:t>
            </a:r>
            <a:endParaRPr lang="en-US" sz="1150" dirty="0"/>
          </a:p>
        </p:txBody>
      </p:sp>
      <p:sp>
        <p:nvSpPr>
          <p:cNvPr id="34" name="sq_280"/>
          <p:cNvSpPr/>
          <p:nvPr/>
        </p:nvSpPr>
        <p:spPr>
          <a:xfrm>
            <a:off x="3246120" y="3035808"/>
            <a:ext cx="3840480" cy="475488"/>
          </a:xfrm>
          <a:prstGeom prst="roundRect">
            <a:avLst>
              <a:gd name="adj" fmla="val 19231"/>
            </a:avLst>
          </a:prstGeom>
          <a:solidFill>
            <a:srgbClr val="FFFFFF"/>
          </a:solidFill>
          <a:ln w="19050">
            <a:solidFill>
              <a:srgbClr val="FFE07A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stare</a:t>
            </a:r>
            <a:endParaRPr lang="en-US" sz="1200" dirty="0"/>
          </a:p>
        </p:txBody>
      </p:sp>
      <p:sp>
        <p:nvSpPr>
          <p:cNvPr id="35" name="R4_tag281"/>
          <p:cNvSpPr/>
          <p:nvPr/>
        </p:nvSpPr>
        <p:spPr>
          <a:xfrm>
            <a:off x="7178040" y="3035808"/>
            <a:ext cx="1691640" cy="475488"/>
          </a:xfrm>
          <a:prstGeom prst="roundRect">
            <a:avLst>
              <a:gd name="adj" fmla="val 48077"/>
            </a:avLst>
          </a:prstGeom>
          <a:solidFill>
            <a:srgbClr val="E2D9FA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/eə/ chair</a:t>
            </a:r>
            <a:endParaRPr lang="en-US" sz="1150" dirty="0"/>
          </a:p>
        </p:txBody>
      </p:sp>
      <p:sp>
        <p:nvSpPr>
          <p:cNvPr id="36" name="sq_282"/>
          <p:cNvSpPr/>
          <p:nvPr/>
        </p:nvSpPr>
        <p:spPr>
          <a:xfrm>
            <a:off x="3246120" y="3575304"/>
            <a:ext cx="3840480" cy="475488"/>
          </a:xfrm>
          <a:prstGeom prst="roundRect">
            <a:avLst>
              <a:gd name="adj" fmla="val 19231"/>
            </a:avLst>
          </a:prstGeom>
          <a:solidFill>
            <a:srgbClr val="FFFFFF"/>
          </a:solidFill>
          <a:ln w="19050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throw</a:t>
            </a:r>
            <a:endParaRPr lang="en-US" sz="1200" dirty="0"/>
          </a:p>
        </p:txBody>
      </p:sp>
      <p:sp>
        <p:nvSpPr>
          <p:cNvPr id="37" name="R5_tag283"/>
          <p:cNvSpPr/>
          <p:nvPr/>
        </p:nvSpPr>
        <p:spPr>
          <a:xfrm>
            <a:off x="7178040" y="3575304"/>
            <a:ext cx="1691640" cy="475488"/>
          </a:xfrm>
          <a:prstGeom prst="roundRect">
            <a:avLst>
              <a:gd name="adj" fmla="val 48077"/>
            </a:avLst>
          </a:prstGeom>
          <a:solidFill>
            <a:srgbClr val="CFF2D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/əʊ/ phone</a:t>
            </a:r>
            <a:endParaRPr lang="en-US" sz="1150" dirty="0"/>
          </a:p>
        </p:txBody>
      </p:sp>
      <p:sp>
        <p:nvSpPr>
          <p:cNvPr id="38" name="sq_284"/>
          <p:cNvSpPr/>
          <p:nvPr/>
        </p:nvSpPr>
        <p:spPr>
          <a:xfrm>
            <a:off x="3246120" y="4114800"/>
            <a:ext cx="3840480" cy="475488"/>
          </a:xfrm>
          <a:prstGeom prst="roundRect">
            <a:avLst>
              <a:gd name="adj" fmla="val 19231"/>
            </a:avLst>
          </a:prstGeom>
          <a:solidFill>
            <a:srgbClr val="FFFFFF"/>
          </a:solidFill>
          <a:ln w="19050">
            <a:solidFill>
              <a:srgbClr val="A9D3F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toes</a:t>
            </a:r>
            <a:endParaRPr lang="en-US" sz="1200" dirty="0"/>
          </a:p>
        </p:txBody>
      </p:sp>
      <p:sp>
        <p:nvSpPr>
          <p:cNvPr id="39" name="R6_tag285"/>
          <p:cNvSpPr/>
          <p:nvPr/>
        </p:nvSpPr>
        <p:spPr>
          <a:xfrm>
            <a:off x="7178040" y="4114800"/>
            <a:ext cx="1691640" cy="475488"/>
          </a:xfrm>
          <a:prstGeom prst="roundRect">
            <a:avLst>
              <a:gd name="adj" fmla="val 48077"/>
            </a:avLst>
          </a:prstGeom>
          <a:solidFill>
            <a:srgbClr val="CFF2D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/əʊ/ phone</a:t>
            </a:r>
            <a:endParaRPr lang="en-US" sz="115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seq concurrent="1" nextAc="seek">
              <p:cTn id="33" restart="whenNotActive" fill="hold" evtFilter="cancelBubble" nodeType="interactiveSeq">
                <p:stCondLst>
                  <p:cond evt="onClick" delay="0">
                    <p:tgtEl>
                      <p:spTgt spid="21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4" fill="hold">
                      <p:stCondLst>
                        <p:cond delay="0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37" dur="1" fill="hold"/>
                                        <p:tgtEl>
                                          <p:spTgt spid="21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1"/>
                  </p:tgtEl>
                </p:cond>
              </p:nextCondLst>
            </p:seq>
            <p:seq concurrent="1" nextAc="seek">
              <p:cTn id="38" restart="whenNotActive" fill="hold" evtFilter="cancelBubble" nodeType="interactiveSeq">
                <p:stCondLst>
                  <p:cond evt="onClick" delay="0">
                    <p:tgtEl>
                      <p:spTgt spid="22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9" fill="hold">
                      <p:stCondLst>
                        <p:cond delay="0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42" dur="1" fill="hold"/>
                                        <p:tgtEl>
                                          <p:spTgt spid="22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2"/>
                  </p:tgtEl>
                </p:cond>
              </p:nextCondLst>
            </p:seq>
            <p:audio>
              <p:cMediaNode vol="80000">
                <p:cTn id="43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21"/>
                </p:tgtEl>
              </p:cMediaNode>
            </p:audio>
            <p:audio>
              <p:cMediaNode vol="80000">
                <p:cTn id="44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22"/>
                </p:tgtEl>
              </p:cMediaNode>
            </p:audio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286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E8508F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9</a:t>
            </a:r>
            <a:endParaRPr lang="en-US" sz="2800" dirty="0"/>
          </a:p>
        </p:txBody>
      </p:sp>
      <p:pic>
        <p:nvPicPr>
          <p:cNvPr id="4" name="brY_287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4506163" cy="621792"/>
          </a:xfrm>
          <a:prstGeom prst="rect">
            <a:avLst/>
          </a:prstGeom>
        </p:spPr>
      </p:pic>
      <p:sp>
        <p:nvSpPr>
          <p:cNvPr id="5" name="title_288"/>
          <p:cNvSpPr/>
          <p:nvPr/>
        </p:nvSpPr>
        <p:spPr>
          <a:xfrm>
            <a:off x="1261872" y="164592"/>
            <a:ext cx="4231843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What does your body say?</a:t>
            </a:r>
            <a:endParaRPr lang="en-US" sz="2400" dirty="0"/>
          </a:p>
        </p:txBody>
      </p:sp>
      <p:pic>
        <p:nvPicPr>
          <p:cNvPr id="6" name="brP_289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4814316" cy="402336"/>
          </a:xfrm>
          <a:prstGeom prst="rect">
            <a:avLst/>
          </a:prstGeom>
        </p:spPr>
      </p:pic>
      <p:sp>
        <p:nvSpPr>
          <p:cNvPr id="7" name="ins_290"/>
          <p:cNvSpPr/>
          <p:nvPr/>
        </p:nvSpPr>
        <p:spPr>
          <a:xfrm>
            <a:off x="1353312" y="731520"/>
            <a:ext cx="455828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Ask and answer with a partner. Use the phrases!</a:t>
            </a:r>
            <a:endParaRPr lang="en-US" sz="1250" dirty="0"/>
          </a:p>
        </p:txBody>
      </p:sp>
      <p:sp>
        <p:nvSpPr>
          <p:cNvPr id="8" name="insIT_291"/>
          <p:cNvSpPr/>
          <p:nvPr/>
        </p:nvSpPr>
        <p:spPr>
          <a:xfrm>
            <a:off x="1371600" y="1115568"/>
            <a:ext cx="5852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Fai domande e rispondi con un compagno. Usa le frasi!</a:t>
            </a:r>
            <a:endParaRPr lang="en-US" sz="950" dirty="0"/>
          </a:p>
        </p:txBody>
      </p:sp>
      <p:sp>
        <p:nvSpPr>
          <p:cNvPr id="9" name="cmd_292"/>
          <p:cNvSpPr/>
          <p:nvPr/>
        </p:nvSpPr>
        <p:spPr>
          <a:xfrm>
            <a:off x="6510528" y="182880"/>
            <a:ext cx="1901952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💬 </a:t>
            </a:r>
            <a:pPr indent="0" marL="0">
              <a:buNone/>
            </a:pPr>
            <a:r>
              <a:rPr lang="en-US" sz="1200" dirty="0">
                <a:solidFill>
                  <a:srgbClr val="E8508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TALK</a:t>
            </a:r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PARLA</a:t>
            </a:r>
            <a:endParaRPr lang="en-US" sz="1100" dirty="0"/>
          </a:p>
        </p:txBody>
      </p:sp>
      <p:sp>
        <p:nvSpPr>
          <p:cNvPr id="10" name="meta_293"/>
          <p:cNvSpPr/>
          <p:nvPr/>
        </p:nvSpPr>
        <p:spPr>
          <a:xfrm>
            <a:off x="6583680" y="566928"/>
            <a:ext cx="2286000" cy="256032"/>
          </a:xfrm>
          <a:prstGeom prst="rect">
            <a:avLst/>
          </a:prstGeom>
          <a:noFill/>
          <a:ln/>
        </p:spPr>
        <p:txBody>
          <a:bodyPr wrap="square" lIns="101600" tIns="0" rIns="10160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3 min   👥 pairs</a:t>
            </a:r>
            <a:endParaRPr lang="en-US" sz="950" dirty="0"/>
          </a:p>
        </p:txBody>
      </p:sp>
      <p:sp>
        <p:nvSpPr>
          <p:cNvPr id="11" name="tag_294"/>
          <p:cNvSpPr/>
          <p:nvPr/>
        </p:nvSpPr>
        <p:spPr>
          <a:xfrm>
            <a:off x="6510528" y="804672"/>
            <a:ext cx="2514600" cy="237744"/>
          </a:xfrm>
          <a:prstGeom prst="rect">
            <a:avLst/>
          </a:prstGeom>
          <a:noFill/>
          <a:ln/>
        </p:spPr>
        <p:txBody>
          <a:bodyPr wrap="square" lIns="101600" tIns="0" rIns="5080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Speaking</a:t>
            </a:r>
            <a:pPr indent="0" marL="0">
              <a:buNone/>
            </a:pPr>
            <a:r>
              <a:rPr lang="en-US" sz="850" dirty="0">
                <a:solidFill>
                  <a:srgbClr val="7B5CD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· Communicative</a:t>
            </a:r>
            <a:endParaRPr lang="en-US" sz="850" dirty="0"/>
          </a:p>
        </p:txBody>
      </p:sp>
      <p:pic>
        <p:nvPicPr>
          <p:cNvPr id="12" name="logo_295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3" name="foot_296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6B-2 · Speaking · body language and you   ·   📖 Personalisation before reading (PQA)</a:t>
            </a:r>
            <a:endParaRPr lang="en-US" sz="800" dirty="0"/>
          </a:p>
        </p:txBody>
      </p:sp>
      <p:sp>
        <p:nvSpPr>
          <p:cNvPr id="14" name="pf_297"/>
          <p:cNvSpPr/>
          <p:nvPr/>
        </p:nvSpPr>
        <p:spPr>
          <a:xfrm rot="-120000">
            <a:off x="320040" y="1371600"/>
            <a:ext cx="2788920" cy="1874520"/>
          </a:xfrm>
          <a:prstGeom prst="roundRect">
            <a:avLst>
              <a:gd name="adj" fmla="val 829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20000"/>
              </a:srgbClr>
            </a:outerShdw>
          </a:effectLst>
        </p:spPr>
      </p:sp>
      <p:pic>
        <p:nvPicPr>
          <p:cNvPr id="15" name="ph_298" descr="/home/claude/lls-course/v2/cache/4a2_meet_parents_jpg_649x429_31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rot="-120000">
            <a:off x="365760" y="1417320"/>
            <a:ext cx="2697480" cy="1783080"/>
          </a:xfrm>
          <a:prstGeom prst="rect">
            <a:avLst/>
          </a:prstGeom>
        </p:spPr>
      </p:pic>
      <p:sp>
        <p:nvSpPr>
          <p:cNvPr id="16" name="cd_299"/>
          <p:cNvSpPr/>
          <p:nvPr/>
        </p:nvSpPr>
        <p:spPr>
          <a:xfrm>
            <a:off x="320040" y="3429000"/>
            <a:ext cx="2788920" cy="1325880"/>
          </a:xfrm>
          <a:prstGeom prst="roundRect">
            <a:avLst>
              <a:gd name="adj" fmla="val 9655"/>
            </a:avLst>
          </a:prstGeom>
          <a:solidFill>
            <a:srgbClr val="EEE8FB"/>
          </a:solidFill>
          <a:ln w="19050">
            <a:solidFill>
              <a:srgbClr val="CDBFF3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7" name="ii_300"/>
          <p:cNvSpPr/>
          <p:nvPr/>
        </p:nvSpPr>
        <p:spPr>
          <a:xfrm>
            <a:off x="411480" y="350215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💬</a:t>
            </a:r>
            <a:endParaRPr lang="en-US" sz="2200" dirty="0"/>
          </a:p>
        </p:txBody>
      </p:sp>
      <p:sp>
        <p:nvSpPr>
          <p:cNvPr id="18" name="ih_301"/>
          <p:cNvSpPr/>
          <p:nvPr/>
        </p:nvSpPr>
        <p:spPr>
          <a:xfrm>
            <a:off x="886968" y="3520440"/>
            <a:ext cx="2148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Useful phrases</a:t>
            </a:r>
            <a:endParaRPr lang="en-US" sz="1300" dirty="0"/>
          </a:p>
        </p:txBody>
      </p:sp>
      <p:sp>
        <p:nvSpPr>
          <p:cNvPr id="19" name="il_302"/>
          <p:cNvSpPr/>
          <p:nvPr/>
        </p:nvSpPr>
        <p:spPr>
          <a:xfrm>
            <a:off x="886968" y="3904488"/>
            <a:ext cx="2130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800" dirty="0">
                <a:solidFill>
                  <a:srgbClr val="1B25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When I'm nervous, I usually…</a:t>
            </a:r>
            <a:endParaRPr lang="en-US" sz="800" dirty="0"/>
          </a:p>
          <a:p>
            <a:pPr marL="152400" indent="-152400">
              <a:spcBef>
                <a:spcPts val="500"/>
              </a:spcBef>
              <a:spcAft>
                <a:spcPts val="200"/>
              </a:spcAft>
              <a:buSzPct val="100000"/>
              <a:buChar char="•"/>
            </a:pPr>
            <a:r>
              <a:rPr lang="en-US" sz="800" dirty="0">
                <a:solidFill>
                  <a:srgbClr val="1B25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 (don't) make eye contact when…</a:t>
            </a:r>
            <a:endParaRPr lang="en-US" sz="800" dirty="0"/>
          </a:p>
          <a:p>
            <a:pPr marL="152400" indent="-152400">
              <a:spcBef>
                <a:spcPts val="500"/>
              </a:spcBef>
              <a:spcAft>
                <a:spcPts val="200"/>
              </a:spcAft>
              <a:buSzPct val="100000"/>
              <a:buChar char="•"/>
            </a:pPr>
            <a:r>
              <a:rPr lang="en-US" sz="800" dirty="0">
                <a:solidFill>
                  <a:srgbClr val="1B25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 think … has charisma because…</a:t>
            </a:r>
            <a:endParaRPr lang="en-US" sz="800" dirty="0"/>
          </a:p>
          <a:p>
            <a:pPr marL="152400" indent="-152400">
              <a:spcBef>
                <a:spcPts val="500"/>
              </a:spcBef>
              <a:spcAft>
                <a:spcPts val="200"/>
              </a:spcAft>
              <a:buSzPct val="100000"/>
              <a:buChar char="•"/>
            </a:pPr>
            <a:r>
              <a:rPr lang="en-US" sz="800" dirty="0">
                <a:solidFill>
                  <a:srgbClr val="1B25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Me too! / Really? I don't.</a:t>
            </a:r>
            <a:endParaRPr lang="en-US" sz="800" dirty="0"/>
          </a:p>
        </p:txBody>
      </p:sp>
      <p:sp>
        <p:nvSpPr>
          <p:cNvPr id="20" name="R1_qb303"/>
          <p:cNvSpPr/>
          <p:nvPr/>
        </p:nvSpPr>
        <p:spPr>
          <a:xfrm>
            <a:off x="3273552" y="1453896"/>
            <a:ext cx="329184" cy="329184"/>
          </a:xfrm>
          <a:prstGeom prst="ellipse">
            <a:avLst/>
          </a:prstGeom>
          <a:solidFill>
            <a:srgbClr val="E8508F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</a:t>
            </a:r>
            <a:endParaRPr lang="en-US" sz="1100" dirty="0"/>
          </a:p>
        </p:txBody>
      </p:sp>
      <p:sp>
        <p:nvSpPr>
          <p:cNvPr id="21" name="R1_sq304"/>
          <p:cNvSpPr/>
          <p:nvPr/>
        </p:nvSpPr>
        <p:spPr>
          <a:xfrm>
            <a:off x="3675888" y="1417320"/>
            <a:ext cx="5193792" cy="530352"/>
          </a:xfrm>
          <a:prstGeom prst="roundRect">
            <a:avLst>
              <a:gd name="adj" fmla="val 20690"/>
            </a:avLst>
          </a:prstGeom>
          <a:solidFill>
            <a:srgbClr val="FFFFFF"/>
          </a:solidFill>
          <a:ln w="2222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27000" tIns="25400" rIns="127000" bIns="2540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Do you smile a lot when you meet new people?</a:t>
            </a:r>
            <a:endParaRPr lang="en-US" sz="1250" dirty="0"/>
          </a:p>
          <a:p>
            <a:pPr indent="0" marL="0">
              <a:buNone/>
            </a:pPr>
            <a:r>
              <a:rPr lang="en-US" sz="1000" i="1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e.g. Yes, but only when I'm not nervous.</a:t>
            </a:r>
            <a:endParaRPr lang="en-US" sz="1250" dirty="0"/>
          </a:p>
        </p:txBody>
      </p:sp>
      <p:sp>
        <p:nvSpPr>
          <p:cNvPr id="22" name="R2_qb305"/>
          <p:cNvSpPr/>
          <p:nvPr/>
        </p:nvSpPr>
        <p:spPr>
          <a:xfrm>
            <a:off x="3273552" y="2057400"/>
            <a:ext cx="329184" cy="329184"/>
          </a:xfrm>
          <a:prstGeom prst="ellipse">
            <a:avLst/>
          </a:prstGeom>
          <a:solidFill>
            <a:srgbClr val="2F8DE4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2</a:t>
            </a:r>
            <a:endParaRPr lang="en-US" sz="1100" dirty="0"/>
          </a:p>
        </p:txBody>
      </p:sp>
      <p:sp>
        <p:nvSpPr>
          <p:cNvPr id="23" name="R2_sq306"/>
          <p:cNvSpPr/>
          <p:nvPr/>
        </p:nvSpPr>
        <p:spPr>
          <a:xfrm>
            <a:off x="3675888" y="2020824"/>
            <a:ext cx="5193792" cy="530352"/>
          </a:xfrm>
          <a:prstGeom prst="roundRect">
            <a:avLst>
              <a:gd name="adj" fmla="val 20690"/>
            </a:avLst>
          </a:prstGeom>
          <a:solidFill>
            <a:srgbClr val="FFFFFF"/>
          </a:solidFill>
          <a:ln w="22225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27000" tIns="25400" rIns="127000" bIns="2540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When do you cross your arms?</a:t>
            </a:r>
            <a:endParaRPr lang="en-US" sz="1250" dirty="0"/>
          </a:p>
          <a:p>
            <a:pPr indent="0" marL="0">
              <a:buNone/>
            </a:pPr>
            <a:r>
              <a:rPr lang="en-US" sz="1000" i="1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e.g. When I'm cold – or bored!</a:t>
            </a:r>
            <a:endParaRPr lang="en-US" sz="1250" dirty="0"/>
          </a:p>
        </p:txBody>
      </p:sp>
      <p:sp>
        <p:nvSpPr>
          <p:cNvPr id="24" name="R3_qb307"/>
          <p:cNvSpPr/>
          <p:nvPr/>
        </p:nvSpPr>
        <p:spPr>
          <a:xfrm>
            <a:off x="3273552" y="2660904"/>
            <a:ext cx="329184" cy="329184"/>
          </a:xfrm>
          <a:prstGeom prst="ellipse">
            <a:avLst/>
          </a:prstGeom>
          <a:solidFill>
            <a:srgbClr val="2EB872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3</a:t>
            </a:r>
            <a:endParaRPr lang="en-US" sz="1100" dirty="0"/>
          </a:p>
        </p:txBody>
      </p:sp>
      <p:sp>
        <p:nvSpPr>
          <p:cNvPr id="25" name="R3_sq308"/>
          <p:cNvSpPr/>
          <p:nvPr/>
        </p:nvSpPr>
        <p:spPr>
          <a:xfrm>
            <a:off x="3675888" y="2624328"/>
            <a:ext cx="5193792" cy="530352"/>
          </a:xfrm>
          <a:prstGeom prst="roundRect">
            <a:avLst>
              <a:gd name="adj" fmla="val 20690"/>
            </a:avLst>
          </a:prstGeom>
          <a:solidFill>
            <a:srgbClr val="FFFFFF"/>
          </a:solidFill>
          <a:ln w="22225">
            <a:solidFill>
              <a:srgbClr val="A8E5BE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27000" tIns="25400" rIns="127000" bIns="2540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Do you look people in the eye when you talk to a teacher?</a:t>
            </a:r>
            <a:endParaRPr lang="en-US" sz="1250" dirty="0"/>
          </a:p>
          <a:p>
            <a:pPr indent="0" marL="0">
              <a:buNone/>
            </a:pPr>
            <a:r>
              <a:rPr lang="en-US" sz="1000" i="1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e.g. Not really, I usually look down.</a:t>
            </a:r>
            <a:endParaRPr lang="en-US" sz="1250" dirty="0"/>
          </a:p>
        </p:txBody>
      </p:sp>
      <p:sp>
        <p:nvSpPr>
          <p:cNvPr id="26" name="R4_qb309"/>
          <p:cNvSpPr/>
          <p:nvPr/>
        </p:nvSpPr>
        <p:spPr>
          <a:xfrm>
            <a:off x="3273552" y="3264408"/>
            <a:ext cx="329184" cy="329184"/>
          </a:xfrm>
          <a:prstGeom prst="ellipse">
            <a:avLst/>
          </a:prstGeom>
          <a:solidFill>
            <a:srgbClr val="F2B705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4</a:t>
            </a:r>
            <a:endParaRPr lang="en-US" sz="1100" dirty="0"/>
          </a:p>
        </p:txBody>
      </p:sp>
      <p:sp>
        <p:nvSpPr>
          <p:cNvPr id="27" name="R4_sq310"/>
          <p:cNvSpPr/>
          <p:nvPr/>
        </p:nvSpPr>
        <p:spPr>
          <a:xfrm>
            <a:off x="3675888" y="3227832"/>
            <a:ext cx="5193792" cy="530352"/>
          </a:xfrm>
          <a:prstGeom prst="roundRect">
            <a:avLst>
              <a:gd name="adj" fmla="val 20690"/>
            </a:avLst>
          </a:prstGeom>
          <a:solidFill>
            <a:srgbClr val="FFFFFF"/>
          </a:solidFill>
          <a:ln w="22225">
            <a:solidFill>
              <a:srgbClr val="FFE07A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27000" tIns="25400" rIns="127000" bIns="2540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What do YOU do with your hands when you're nervous?</a:t>
            </a:r>
            <a:endParaRPr lang="en-US" sz="1250" dirty="0"/>
          </a:p>
          <a:p>
            <a:pPr indent="0" marL="0">
              <a:buNone/>
            </a:pPr>
            <a:r>
              <a:rPr lang="en-US" sz="1000" i="1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e.g. I touch my hair all the time.</a:t>
            </a:r>
            <a:endParaRPr lang="en-US" sz="125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311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2EB872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10</a:t>
            </a:r>
            <a:endParaRPr lang="en-US" sz="2200" dirty="0"/>
          </a:p>
        </p:txBody>
      </p:sp>
      <p:pic>
        <p:nvPicPr>
          <p:cNvPr id="4" name="brY_312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4348886" cy="621792"/>
          </a:xfrm>
          <a:prstGeom prst="rect">
            <a:avLst/>
          </a:prstGeom>
        </p:spPr>
      </p:pic>
      <p:sp>
        <p:nvSpPr>
          <p:cNvPr id="5" name="title_313"/>
          <p:cNvSpPr/>
          <p:nvPr/>
        </p:nvSpPr>
        <p:spPr>
          <a:xfrm>
            <a:off x="1261872" y="164592"/>
            <a:ext cx="40745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Can you learn charisma?</a:t>
            </a:r>
            <a:endParaRPr lang="en-US" sz="2400" dirty="0"/>
          </a:p>
        </p:txBody>
      </p:sp>
      <p:pic>
        <p:nvPicPr>
          <p:cNvPr id="6" name="brP_314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3511296" cy="402336"/>
          </a:xfrm>
          <a:prstGeom prst="rect">
            <a:avLst/>
          </a:prstGeom>
        </p:spPr>
      </p:pic>
      <p:sp>
        <p:nvSpPr>
          <p:cNvPr id="7" name="ins_315"/>
          <p:cNvSpPr/>
          <p:nvPr/>
        </p:nvSpPr>
        <p:spPr>
          <a:xfrm>
            <a:off x="1353312" y="731520"/>
            <a:ext cx="3255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Guess! What do the numbers mean?</a:t>
            </a:r>
            <a:endParaRPr lang="en-US" sz="1250" dirty="0"/>
          </a:p>
        </p:txBody>
      </p:sp>
      <p:sp>
        <p:nvSpPr>
          <p:cNvPr id="8" name="insIT_316"/>
          <p:cNvSpPr/>
          <p:nvPr/>
        </p:nvSpPr>
        <p:spPr>
          <a:xfrm>
            <a:off x="1371600" y="1115568"/>
            <a:ext cx="5852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Indovina! Cosa significano i numeri?</a:t>
            </a:r>
            <a:endParaRPr lang="en-US" sz="950" dirty="0"/>
          </a:p>
        </p:txBody>
      </p:sp>
      <p:sp>
        <p:nvSpPr>
          <p:cNvPr id="9" name="cmd_317"/>
          <p:cNvSpPr/>
          <p:nvPr/>
        </p:nvSpPr>
        <p:spPr>
          <a:xfrm>
            <a:off x="6510528" y="182880"/>
            <a:ext cx="1901952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💡 </a:t>
            </a:r>
            <a:pPr indent="0" marL="0">
              <a:buNone/>
            </a:pPr>
            <a:r>
              <a:rPr lang="en-US" sz="1200" dirty="0">
                <a:solidFill>
                  <a:srgbClr val="2F8DE4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THINK</a:t>
            </a:r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PENSA</a:t>
            </a:r>
            <a:endParaRPr lang="en-US" sz="1100" dirty="0"/>
          </a:p>
        </p:txBody>
      </p:sp>
      <p:sp>
        <p:nvSpPr>
          <p:cNvPr id="10" name="meta_318"/>
          <p:cNvSpPr/>
          <p:nvPr/>
        </p:nvSpPr>
        <p:spPr>
          <a:xfrm>
            <a:off x="6583680" y="566928"/>
            <a:ext cx="2286000" cy="256032"/>
          </a:xfrm>
          <a:prstGeom prst="rect">
            <a:avLst/>
          </a:prstGeom>
          <a:noFill/>
          <a:ln/>
        </p:spPr>
        <p:txBody>
          <a:bodyPr wrap="square" lIns="101600" tIns="0" rIns="10160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2 min   👥 pairs</a:t>
            </a:r>
            <a:endParaRPr lang="en-US" sz="950" dirty="0"/>
          </a:p>
        </p:txBody>
      </p:sp>
      <p:sp>
        <p:nvSpPr>
          <p:cNvPr id="11" name="tag_319"/>
          <p:cNvSpPr/>
          <p:nvPr/>
        </p:nvSpPr>
        <p:spPr>
          <a:xfrm>
            <a:off x="6510528" y="804672"/>
            <a:ext cx="2514600" cy="237744"/>
          </a:xfrm>
          <a:prstGeom prst="rect">
            <a:avLst/>
          </a:prstGeom>
          <a:noFill/>
          <a:ln/>
        </p:spPr>
        <p:txBody>
          <a:bodyPr wrap="square" lIns="101600" tIns="0" rIns="5080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Reading</a:t>
            </a:r>
            <a:pPr indent="0" marL="0">
              <a:buNone/>
            </a:pPr>
            <a:r>
              <a:rPr lang="en-US" sz="850" dirty="0">
                <a:solidFill>
                  <a:srgbClr val="7B5CD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· Prediction</a:t>
            </a:r>
            <a:endParaRPr lang="en-US" sz="850" dirty="0"/>
          </a:p>
        </p:txBody>
      </p:sp>
      <p:pic>
        <p:nvPicPr>
          <p:cNvPr id="12" name="logo_320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3" name="foot_321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6B-2 · Reading · prediction   ·   📖 SB p.62 · 5a, 5b</a:t>
            </a:r>
            <a:endParaRPr lang="en-US" sz="800" dirty="0"/>
          </a:p>
        </p:txBody>
      </p:sp>
      <p:sp>
        <p:nvSpPr>
          <p:cNvPr id="14" name="cd_322"/>
          <p:cNvSpPr/>
          <p:nvPr/>
        </p:nvSpPr>
        <p:spPr>
          <a:xfrm>
            <a:off x="320040" y="1417320"/>
            <a:ext cx="5029200" cy="1965960"/>
          </a:xfrm>
          <a:prstGeom prst="roundRect">
            <a:avLst>
              <a:gd name="adj" fmla="val 6512"/>
            </a:avLst>
          </a:prstGeom>
          <a:solidFill>
            <a:srgbClr val="FFFFFF"/>
          </a:solidFill>
          <a:ln w="19050">
            <a:solidFill>
              <a:srgbClr val="A8E5BE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5" name="hl_323"/>
          <p:cNvSpPr/>
          <p:nvPr/>
        </p:nvSpPr>
        <p:spPr>
          <a:xfrm>
            <a:off x="502920" y="1508760"/>
            <a:ext cx="4663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F6F4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Charisma</a:t>
            </a:r>
            <a:endParaRPr lang="en-US" sz="2800" dirty="0"/>
          </a:p>
        </p:txBody>
      </p:sp>
      <p:sp>
        <p:nvSpPr>
          <p:cNvPr id="16" name="nx_324"/>
          <p:cNvSpPr/>
          <p:nvPr/>
        </p:nvSpPr>
        <p:spPr>
          <a:xfrm>
            <a:off x="457200" y="2807208"/>
            <a:ext cx="4754880" cy="512064"/>
          </a:xfrm>
          <a:prstGeom prst="roundRect">
            <a:avLst>
              <a:gd name="adj" fmla="val 17857"/>
            </a:avLst>
          </a:prstGeom>
          <a:solidFill>
            <a:srgbClr val="E3F7EA"/>
          </a:solidFill>
          <a:ln>
            <a:solidFill>
              <a:srgbClr val="A8E5BE"/>
            </a:solidFill>
          </a:ln>
        </p:spPr>
        <p:txBody>
          <a:bodyPr wrap="square" lIns="127000" tIns="25400" rIns="127000" bIns="25400" rtlCol="0" anchor="ctr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2EB872"/>
                </a:solidFill>
                <a:latin typeface="Segoe UI Black" pitchFamily="34" charset="0"/>
                <a:ea typeface="Segoe UI Black" pitchFamily="34" charset="-122"/>
                <a:cs typeface="Segoe UI Black" pitchFamily="34" charset="-120"/>
              </a:rPr>
              <a:t>➡ NEXT  </a:t>
            </a:r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One man is a journalist, one is a charisma coach. Who's who? Why?</a:t>
            </a:r>
            <a:endParaRPr lang="en-US" sz="1000" dirty="0"/>
          </a:p>
        </p:txBody>
      </p:sp>
      <p:sp>
        <p:nvSpPr>
          <p:cNvPr id="17" name="sf_325"/>
          <p:cNvSpPr/>
          <p:nvPr/>
        </p:nvSpPr>
        <p:spPr>
          <a:xfrm>
            <a:off x="521208" y="2039112"/>
            <a:ext cx="4663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50" i="1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charisma /ˈkærɪzmə/ = the powerful personal quality that some people have which attracts and impresses other people</a:t>
            </a:r>
            <a:endParaRPr lang="en-US" sz="1150" dirty="0"/>
          </a:p>
        </p:txBody>
      </p:sp>
      <p:sp>
        <p:nvSpPr>
          <p:cNvPr id="18" name="nbl_326"/>
          <p:cNvSpPr/>
          <p:nvPr/>
        </p:nvSpPr>
        <p:spPr>
          <a:xfrm>
            <a:off x="365760" y="3566160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🔢 NUMBER BANK · guess what they mean!</a:t>
            </a:r>
            <a:endParaRPr lang="en-US" sz="1100" dirty="0"/>
          </a:p>
        </p:txBody>
      </p:sp>
      <p:sp>
        <p:nvSpPr>
          <p:cNvPr id="19" name="bd_327"/>
          <p:cNvSpPr/>
          <p:nvPr/>
        </p:nvSpPr>
        <p:spPr>
          <a:xfrm>
            <a:off x="365760" y="3931920"/>
            <a:ext cx="548640" cy="548640"/>
          </a:xfrm>
          <a:prstGeom prst="ellipse">
            <a:avLst/>
          </a:prstGeom>
          <a:solidFill>
            <a:srgbClr val="E8508F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£150</a:t>
            </a:r>
            <a:endParaRPr lang="en-US" sz="800" dirty="0"/>
          </a:p>
        </p:txBody>
      </p:sp>
      <p:sp>
        <p:nvSpPr>
          <p:cNvPr id="20" name="bd_328"/>
          <p:cNvSpPr/>
          <p:nvPr/>
        </p:nvSpPr>
        <p:spPr>
          <a:xfrm>
            <a:off x="987552" y="3931920"/>
            <a:ext cx="548640" cy="548640"/>
          </a:xfrm>
          <a:prstGeom prst="ellipse">
            <a:avLst/>
          </a:prstGeom>
          <a:solidFill>
            <a:srgbClr val="2F8DE4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2</a:t>
            </a:r>
            <a:endParaRPr lang="en-US" sz="1800" dirty="0"/>
          </a:p>
        </p:txBody>
      </p:sp>
      <p:sp>
        <p:nvSpPr>
          <p:cNvPr id="21" name="bd_329"/>
          <p:cNvSpPr/>
          <p:nvPr/>
        </p:nvSpPr>
        <p:spPr>
          <a:xfrm>
            <a:off x="1609344" y="3931920"/>
            <a:ext cx="548640" cy="548640"/>
          </a:xfrm>
          <a:prstGeom prst="ellipse">
            <a:avLst/>
          </a:prstGeom>
          <a:solidFill>
            <a:srgbClr val="2EB872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3</a:t>
            </a:r>
            <a:endParaRPr lang="en-US" sz="1800" dirty="0"/>
          </a:p>
        </p:txBody>
      </p:sp>
      <p:sp>
        <p:nvSpPr>
          <p:cNvPr id="22" name="pf_330"/>
          <p:cNvSpPr/>
          <p:nvPr/>
        </p:nvSpPr>
        <p:spPr>
          <a:xfrm rot="90000">
            <a:off x="5577840" y="1234440"/>
            <a:ext cx="3246120" cy="3383280"/>
          </a:xfrm>
          <a:prstGeom prst="roundRect">
            <a:avLst>
              <a:gd name="adj" fmla="val 478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20000"/>
              </a:srgbClr>
            </a:outerShdw>
          </a:effectLst>
        </p:spPr>
      </p:sp>
      <p:pic>
        <p:nvPicPr>
          <p:cNvPr id="23" name="ph_331" descr="/home/claude/lls-course/v2/cache/6B_2_colin_jpg_759x792_31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rot="90000">
            <a:off x="5623560" y="1280160"/>
            <a:ext cx="3154680" cy="3291840"/>
          </a:xfrm>
          <a:prstGeom prst="rect">
            <a:avLst/>
          </a:prstGeom>
        </p:spPr>
      </p:pic>
    </p:spTree>
  </p:cSld>
  <p:clrMapOvr>
    <a:masterClrMapping/>
  </p:clrMapOvr>
  <p:transition spd="med">
    <p:push dir="l"/>
  </p:transition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332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2EB872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11</a:t>
            </a:r>
            <a:endParaRPr lang="en-US" sz="2200" dirty="0"/>
          </a:p>
        </p:txBody>
      </p:sp>
      <p:pic>
        <p:nvPicPr>
          <p:cNvPr id="4" name="brY_333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5760720" cy="621792"/>
          </a:xfrm>
          <a:prstGeom prst="rect">
            <a:avLst/>
          </a:prstGeom>
        </p:spPr>
      </p:pic>
      <p:sp>
        <p:nvSpPr>
          <p:cNvPr id="5" name="title_334"/>
          <p:cNvSpPr/>
          <p:nvPr/>
        </p:nvSpPr>
        <p:spPr>
          <a:xfrm>
            <a:off x="1261872" y="164592"/>
            <a:ext cx="5486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2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Can you learn charisma? · the article</a:t>
            </a:r>
            <a:endParaRPr lang="en-US" sz="2250" dirty="0"/>
          </a:p>
        </p:txBody>
      </p:sp>
      <p:pic>
        <p:nvPicPr>
          <p:cNvPr id="6" name="brP_335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4379976" cy="402336"/>
          </a:xfrm>
          <a:prstGeom prst="rect">
            <a:avLst/>
          </a:prstGeom>
        </p:spPr>
      </p:pic>
      <p:sp>
        <p:nvSpPr>
          <p:cNvPr id="7" name="ins_336"/>
          <p:cNvSpPr/>
          <p:nvPr/>
        </p:nvSpPr>
        <p:spPr>
          <a:xfrm>
            <a:off x="1353312" y="731520"/>
            <a:ext cx="412394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Read. Check your guesses. Who's the coach?</a:t>
            </a:r>
            <a:endParaRPr lang="en-US" sz="1250" dirty="0"/>
          </a:p>
        </p:txBody>
      </p:sp>
      <p:sp>
        <p:nvSpPr>
          <p:cNvPr id="8" name="insIT_337"/>
          <p:cNvSpPr/>
          <p:nvPr/>
        </p:nvSpPr>
        <p:spPr>
          <a:xfrm>
            <a:off x="1371600" y="1115568"/>
            <a:ext cx="5852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Leggi. Controlla. Chi è il coach?</a:t>
            </a:r>
            <a:endParaRPr lang="en-US" sz="950" dirty="0"/>
          </a:p>
        </p:txBody>
      </p:sp>
      <p:sp>
        <p:nvSpPr>
          <p:cNvPr id="9" name="cmd_338"/>
          <p:cNvSpPr/>
          <p:nvPr/>
        </p:nvSpPr>
        <p:spPr>
          <a:xfrm>
            <a:off x="6510528" y="182880"/>
            <a:ext cx="1901952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A8E5BE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👀 </a:t>
            </a:r>
            <a:pPr indent="0" marL="0">
              <a:buNone/>
            </a:pPr>
            <a:r>
              <a:rPr lang="en-US" sz="1200" dirty="0">
                <a:solidFill>
                  <a:srgbClr val="2EB872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READ</a:t>
            </a:r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LEGGI</a:t>
            </a:r>
            <a:endParaRPr lang="en-US" sz="1100" dirty="0"/>
          </a:p>
        </p:txBody>
      </p:sp>
      <p:sp>
        <p:nvSpPr>
          <p:cNvPr id="10" name="meta_339"/>
          <p:cNvSpPr/>
          <p:nvPr/>
        </p:nvSpPr>
        <p:spPr>
          <a:xfrm>
            <a:off x="6583680" y="566928"/>
            <a:ext cx="2286000" cy="256032"/>
          </a:xfrm>
          <a:prstGeom prst="rect">
            <a:avLst/>
          </a:prstGeom>
          <a:noFill/>
          <a:ln/>
        </p:spPr>
        <p:txBody>
          <a:bodyPr wrap="square" lIns="101600" tIns="0" rIns="10160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4 min   👤 alone</a:t>
            </a:r>
            <a:endParaRPr lang="en-US" sz="950" dirty="0"/>
          </a:p>
        </p:txBody>
      </p:sp>
      <p:sp>
        <p:nvSpPr>
          <p:cNvPr id="11" name="tag_340"/>
          <p:cNvSpPr/>
          <p:nvPr/>
        </p:nvSpPr>
        <p:spPr>
          <a:xfrm>
            <a:off x="6510528" y="804672"/>
            <a:ext cx="2514600" cy="237744"/>
          </a:xfrm>
          <a:prstGeom prst="rect">
            <a:avLst/>
          </a:prstGeom>
          <a:noFill/>
          <a:ln/>
        </p:spPr>
        <p:txBody>
          <a:bodyPr wrap="square" lIns="101600" tIns="0" rIns="5080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Reading</a:t>
            </a:r>
            <a:pPr indent="0" marL="0">
              <a:buNone/>
            </a:pPr>
            <a:r>
              <a:rPr lang="en-US" sz="850" dirty="0">
                <a:solidFill>
                  <a:srgbClr val="7B5CD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· TPRS · reading</a:t>
            </a:r>
            <a:endParaRPr lang="en-US" sz="850" dirty="0"/>
          </a:p>
        </p:txBody>
      </p:sp>
      <p:pic>
        <p:nvPicPr>
          <p:cNvPr id="12" name="logo_341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3" name="foot_342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6B-2 · Reading · the journalist's article   ·   📖 SB p.63 · 5c</a:t>
            </a:r>
            <a:endParaRPr lang="en-US" sz="800" dirty="0"/>
          </a:p>
        </p:txBody>
      </p:sp>
      <p:sp>
        <p:nvSpPr>
          <p:cNvPr id="14" name="cd_343"/>
          <p:cNvSpPr/>
          <p:nvPr/>
        </p:nvSpPr>
        <p:spPr>
          <a:xfrm>
            <a:off x="320040" y="1417320"/>
            <a:ext cx="5715000" cy="3337560"/>
          </a:xfrm>
          <a:prstGeom prst="roundRect">
            <a:avLst>
              <a:gd name="adj" fmla="val 3836"/>
            </a:avLst>
          </a:prstGeom>
          <a:solidFill>
            <a:srgbClr val="FFFFFF"/>
          </a:solidFill>
          <a:ln w="19050">
            <a:solidFill>
              <a:srgbClr val="A8E5BE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5" name="sh_344"/>
          <p:cNvSpPr/>
          <p:nvPr/>
        </p:nvSpPr>
        <p:spPr>
          <a:xfrm>
            <a:off x="320040" y="1417320"/>
            <a:ext cx="5715000" cy="438912"/>
          </a:xfrm>
          <a:prstGeom prst="rect">
            <a:avLst/>
          </a:prstGeom>
          <a:solidFill>
            <a:srgbClr val="E3F7EA"/>
          </a:solidFill>
          <a:ln/>
        </p:spPr>
        <p:txBody>
          <a:bodyPr wrap="square" lIns="203200" tIns="0" rIns="20320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6F4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Colin Drury and Danish Sheikh</a:t>
            </a:r>
            <a:endParaRPr lang="en-US" sz="1700" dirty="0"/>
          </a:p>
        </p:txBody>
      </p:sp>
      <p:sp>
        <p:nvSpPr>
          <p:cNvPr id="16" name="ln_345"/>
          <p:cNvSpPr/>
          <p:nvPr/>
        </p:nvSpPr>
        <p:spPr>
          <a:xfrm>
            <a:off x="548640" y="1920240"/>
            <a:ext cx="5349240" cy="398417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 the 21st century, charisma is the quality that people in all fields of life would most like to have. But can you learn it?</a:t>
            </a:r>
            <a:endParaRPr lang="en-US" sz="1150" dirty="0"/>
          </a:p>
        </p:txBody>
      </p:sp>
      <p:sp>
        <p:nvSpPr>
          <p:cNvPr id="17" name="ln_346"/>
          <p:cNvSpPr/>
          <p:nvPr/>
        </p:nvSpPr>
        <p:spPr>
          <a:xfrm>
            <a:off x="548640" y="2318657"/>
            <a:ext cx="5349240" cy="398417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man I have just met thinks so. His name is Danish Sheikh, and he is a charisma coach.</a:t>
            </a:r>
            <a:endParaRPr lang="en-US" sz="1150" dirty="0"/>
          </a:p>
        </p:txBody>
      </p:sp>
      <p:sp>
        <p:nvSpPr>
          <p:cNvPr id="18" name="ln_347"/>
          <p:cNvSpPr/>
          <p:nvPr/>
        </p:nvSpPr>
        <p:spPr>
          <a:xfrm>
            <a:off x="548640" y="2717074"/>
            <a:ext cx="5349240" cy="398417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He has worked with Microsoft, Yahoo, and the BBC, and he thinks he can turn anyone into George Clooney.</a:t>
            </a:r>
            <a:endParaRPr lang="en-US" sz="1150" dirty="0"/>
          </a:p>
        </p:txBody>
      </p:sp>
      <p:sp>
        <p:nvSpPr>
          <p:cNvPr id="19" name="ln_348"/>
          <p:cNvSpPr/>
          <p:nvPr/>
        </p:nvSpPr>
        <p:spPr>
          <a:xfrm>
            <a:off x="548640" y="3115491"/>
            <a:ext cx="5349240" cy="398417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He charges £150 an hour, and plenty of people are paying. And for two days, I'm going to be his student.</a:t>
            </a:r>
            <a:endParaRPr lang="en-US" sz="1150" dirty="0"/>
          </a:p>
        </p:txBody>
      </p:sp>
      <p:sp>
        <p:nvSpPr>
          <p:cNvPr id="20" name="ln_349"/>
          <p:cNvSpPr/>
          <p:nvPr/>
        </p:nvSpPr>
        <p:spPr>
          <a:xfrm>
            <a:off x="548640" y="3513909"/>
            <a:ext cx="5349240" cy="398417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Yesterday, he followed me everywhere and watched how I behaved with people – in shops, at the hairdresser's, and in work meetings.</a:t>
            </a:r>
            <a:endParaRPr lang="en-US" sz="1150" dirty="0"/>
          </a:p>
        </p:txBody>
      </p:sp>
      <p:sp>
        <p:nvSpPr>
          <p:cNvPr id="21" name="ln_350"/>
          <p:cNvSpPr/>
          <p:nvPr/>
        </p:nvSpPr>
        <p:spPr>
          <a:xfrm>
            <a:off x="548640" y="3912326"/>
            <a:ext cx="5349240" cy="398417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His impressions of me are not good: I can't make conversation, I have negative body language, and I don't smile enough. I also seem bored.</a:t>
            </a:r>
            <a:endParaRPr lang="en-US" sz="1150" dirty="0"/>
          </a:p>
        </p:txBody>
      </p:sp>
      <p:sp>
        <p:nvSpPr>
          <p:cNvPr id="22" name="ln_351"/>
          <p:cNvSpPr/>
          <p:nvPr/>
        </p:nvSpPr>
        <p:spPr>
          <a:xfrm>
            <a:off x="548640" y="4310743"/>
            <a:ext cx="5349240" cy="398417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'But don't worry!' Sheikh says, cheerfully. 'We're going to fix all this.'</a:t>
            </a:r>
            <a:endParaRPr lang="en-US" sz="1150" dirty="0"/>
          </a:p>
        </p:txBody>
      </p:sp>
      <p:sp>
        <p:nvSpPr>
          <p:cNvPr id="23" name="pf_352"/>
          <p:cNvSpPr/>
          <p:nvPr/>
        </p:nvSpPr>
        <p:spPr>
          <a:xfrm rot="120000">
            <a:off x="6309360" y="2194560"/>
            <a:ext cx="2560320" cy="15544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20000"/>
              </a:srgbClr>
            </a:outerShdw>
          </a:effectLst>
        </p:spPr>
      </p:sp>
      <p:pic>
        <p:nvPicPr>
          <p:cNvPr id="24" name="ph_353" descr="/home/claude/lls-course/v2/cache/6B_2_colin_jpg_594x352_31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rot="120000">
            <a:off x="6355080" y="2240280"/>
            <a:ext cx="2468880" cy="1463040"/>
          </a:xfrm>
          <a:prstGeom prst="rect">
            <a:avLst/>
          </a:prstGeom>
        </p:spPr>
      </p:pic>
      <p:sp>
        <p:nvSpPr>
          <p:cNvPr id="25" name="cd_354"/>
          <p:cNvSpPr/>
          <p:nvPr/>
        </p:nvSpPr>
        <p:spPr>
          <a:xfrm>
            <a:off x="6263640" y="3794760"/>
            <a:ext cx="2651760" cy="960120"/>
          </a:xfrm>
          <a:prstGeom prst="roundRect">
            <a:avLst>
              <a:gd name="adj" fmla="val 13333"/>
            </a:avLst>
          </a:prstGeom>
          <a:solidFill>
            <a:srgbClr val="FFF6CC"/>
          </a:solidFill>
          <a:ln w="19050">
            <a:solidFill>
              <a:srgbClr val="FFE07A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26" name="ii_355"/>
          <p:cNvSpPr/>
          <p:nvPr/>
        </p:nvSpPr>
        <p:spPr>
          <a:xfrm>
            <a:off x="6355080" y="386791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💡</a:t>
            </a:r>
            <a:endParaRPr lang="en-US" sz="2200" dirty="0"/>
          </a:p>
        </p:txBody>
      </p:sp>
      <p:sp>
        <p:nvSpPr>
          <p:cNvPr id="27" name="ih_356"/>
          <p:cNvSpPr/>
          <p:nvPr/>
        </p:nvSpPr>
        <p:spPr>
          <a:xfrm>
            <a:off x="6830568" y="388620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Remember</a:t>
            </a:r>
            <a:endParaRPr lang="en-US" sz="1200" dirty="0"/>
          </a:p>
        </p:txBody>
      </p:sp>
      <p:sp>
        <p:nvSpPr>
          <p:cNvPr id="28" name="il_357"/>
          <p:cNvSpPr/>
          <p:nvPr/>
        </p:nvSpPr>
        <p:spPr>
          <a:xfrm>
            <a:off x="6830568" y="4270248"/>
            <a:ext cx="199339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000" dirty="0">
                <a:solidFill>
                  <a:srgbClr val="1B25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fix = correct / repair</a:t>
            </a:r>
            <a:endParaRPr lang="en-US" sz="1000" dirty="0"/>
          </a:p>
          <a:p>
            <a:pPr marL="152400" indent="-152400">
              <a:spcBef>
                <a:spcPts val="500"/>
              </a:spcBef>
              <a:spcAft>
                <a:spcPts val="200"/>
              </a:spcAft>
              <a:buSzPct val="100000"/>
              <a:buChar char="•"/>
            </a:pPr>
            <a:r>
              <a:rPr lang="en-US" sz="1000" dirty="0">
                <a:solidFill>
                  <a:srgbClr val="1B25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plenty of = a lot of</a:t>
            </a:r>
            <a:endParaRPr lang="en-US" sz="1000" dirty="0"/>
          </a:p>
        </p:txBody>
      </p:sp>
    </p:spTree>
  </p:cSld>
  <p:clrMapOvr>
    <a:masterClrMapping/>
  </p:clrMapOvr>
  <p:transition spd="med">
    <p:push dir="l"/>
  </p:transition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358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2F8DE4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12</a:t>
            </a:r>
            <a:endParaRPr lang="en-US" sz="2200" dirty="0"/>
          </a:p>
        </p:txBody>
      </p:sp>
      <p:pic>
        <p:nvPicPr>
          <p:cNvPr id="4" name="brY_359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5607101" cy="621792"/>
          </a:xfrm>
          <a:prstGeom prst="rect">
            <a:avLst/>
          </a:prstGeom>
        </p:spPr>
      </p:pic>
      <p:sp>
        <p:nvSpPr>
          <p:cNvPr id="5" name="title_360"/>
          <p:cNvSpPr/>
          <p:nvPr/>
        </p:nvSpPr>
        <p:spPr>
          <a:xfrm>
            <a:off x="1261872" y="164592"/>
            <a:ext cx="5332781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Check: what did you understand?</a:t>
            </a:r>
            <a:endParaRPr lang="en-US" sz="2400" dirty="0"/>
          </a:p>
        </p:txBody>
      </p:sp>
      <p:pic>
        <p:nvPicPr>
          <p:cNvPr id="6" name="brP_361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4119372" cy="402336"/>
          </a:xfrm>
          <a:prstGeom prst="rect">
            <a:avLst/>
          </a:prstGeom>
        </p:spPr>
      </p:pic>
      <p:sp>
        <p:nvSpPr>
          <p:cNvPr id="7" name="ins_362"/>
          <p:cNvSpPr/>
          <p:nvPr/>
        </p:nvSpPr>
        <p:spPr>
          <a:xfrm>
            <a:off x="1353312" y="731520"/>
            <a:ext cx="38633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Answer with a partner. Books open p.63.</a:t>
            </a:r>
            <a:endParaRPr lang="en-US" sz="1250" dirty="0"/>
          </a:p>
        </p:txBody>
      </p:sp>
      <p:sp>
        <p:nvSpPr>
          <p:cNvPr id="8" name="insIT_363"/>
          <p:cNvSpPr/>
          <p:nvPr/>
        </p:nvSpPr>
        <p:spPr>
          <a:xfrm>
            <a:off x="1371600" y="1115568"/>
            <a:ext cx="5852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Rispondi con un compagno. Libri aperti p.63.</a:t>
            </a:r>
            <a:endParaRPr lang="en-US" sz="950" dirty="0"/>
          </a:p>
        </p:txBody>
      </p:sp>
      <p:sp>
        <p:nvSpPr>
          <p:cNvPr id="9" name="cmd_364"/>
          <p:cNvSpPr/>
          <p:nvPr/>
        </p:nvSpPr>
        <p:spPr>
          <a:xfrm>
            <a:off x="6510528" y="182880"/>
            <a:ext cx="1901952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A8E5BE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👀 </a:t>
            </a:r>
            <a:pPr indent="0" marL="0">
              <a:buNone/>
            </a:pPr>
            <a:r>
              <a:rPr lang="en-US" sz="1200" dirty="0">
                <a:solidFill>
                  <a:srgbClr val="2EB872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READ</a:t>
            </a:r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LEGGI</a:t>
            </a:r>
            <a:endParaRPr lang="en-US" sz="1100" dirty="0"/>
          </a:p>
        </p:txBody>
      </p:sp>
      <p:sp>
        <p:nvSpPr>
          <p:cNvPr id="10" name="cmd_365"/>
          <p:cNvSpPr/>
          <p:nvPr/>
        </p:nvSpPr>
        <p:spPr>
          <a:xfrm>
            <a:off x="6510528" y="566928"/>
            <a:ext cx="1901952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💬 </a:t>
            </a:r>
            <a:pPr indent="0" marL="0">
              <a:buNone/>
            </a:pPr>
            <a:r>
              <a:rPr lang="en-US" sz="1200" dirty="0">
                <a:solidFill>
                  <a:srgbClr val="E8508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TALK</a:t>
            </a:r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PARLA</a:t>
            </a:r>
            <a:endParaRPr lang="en-US" sz="1100" dirty="0"/>
          </a:p>
        </p:txBody>
      </p:sp>
      <p:sp>
        <p:nvSpPr>
          <p:cNvPr id="11" name="meta_366"/>
          <p:cNvSpPr/>
          <p:nvPr/>
        </p:nvSpPr>
        <p:spPr>
          <a:xfrm>
            <a:off x="6583680" y="950976"/>
            <a:ext cx="2286000" cy="256032"/>
          </a:xfrm>
          <a:prstGeom prst="rect">
            <a:avLst/>
          </a:prstGeom>
          <a:noFill/>
          <a:ln/>
        </p:spPr>
        <p:txBody>
          <a:bodyPr wrap="square" lIns="101600" tIns="0" rIns="10160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3 min   👥 pairs</a:t>
            </a:r>
            <a:endParaRPr lang="en-US" sz="950" dirty="0"/>
          </a:p>
        </p:txBody>
      </p:sp>
      <p:sp>
        <p:nvSpPr>
          <p:cNvPr id="12" name="tag_367"/>
          <p:cNvSpPr/>
          <p:nvPr/>
        </p:nvSpPr>
        <p:spPr>
          <a:xfrm>
            <a:off x="6510528" y="1188720"/>
            <a:ext cx="2514600" cy="237744"/>
          </a:xfrm>
          <a:prstGeom prst="rect">
            <a:avLst/>
          </a:prstGeom>
          <a:noFill/>
          <a:ln/>
        </p:spPr>
        <p:txBody>
          <a:bodyPr wrap="square" lIns="101600" tIns="0" rIns="5080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Reading</a:t>
            </a:r>
            <a:pPr indent="0" marL="0">
              <a:buNone/>
            </a:pPr>
            <a:r>
              <a:rPr lang="en-US" sz="850" dirty="0">
                <a:solidFill>
                  <a:srgbClr val="7B5CD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· Controlled practice</a:t>
            </a:r>
            <a:endParaRPr lang="en-US" sz="850" dirty="0"/>
          </a:p>
        </p:txBody>
      </p:sp>
      <p:pic>
        <p:nvPicPr>
          <p:cNvPr id="13" name="logo_368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4" name="foot_369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6B-2 · Reading · comprehension   ·   📖 SB p.62 · 5c</a:t>
            </a:r>
            <a:endParaRPr lang="en-US" sz="800" dirty="0"/>
          </a:p>
        </p:txBody>
      </p:sp>
      <p:sp>
        <p:nvSpPr>
          <p:cNvPr id="15" name="cd_370"/>
          <p:cNvSpPr/>
          <p:nvPr/>
        </p:nvSpPr>
        <p:spPr>
          <a:xfrm>
            <a:off x="320040" y="1417320"/>
            <a:ext cx="2697480" cy="1097280"/>
          </a:xfrm>
          <a:prstGeom prst="roundRect">
            <a:avLst>
              <a:gd name="adj" fmla="val 11667"/>
            </a:avLst>
          </a:prstGeom>
          <a:solidFill>
            <a:srgbClr val="FFF6CC"/>
          </a:solidFill>
          <a:ln w="19050">
            <a:solidFill>
              <a:srgbClr val="FFE07A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6" name="ii_371"/>
          <p:cNvSpPr/>
          <p:nvPr/>
        </p:nvSpPr>
        <p:spPr>
          <a:xfrm>
            <a:off x="411480" y="14904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⭐</a:t>
            </a:r>
            <a:endParaRPr lang="en-US" sz="2200" dirty="0"/>
          </a:p>
        </p:txBody>
      </p:sp>
      <p:sp>
        <p:nvSpPr>
          <p:cNvPr id="17" name="ih_372"/>
          <p:cNvSpPr/>
          <p:nvPr/>
        </p:nvSpPr>
        <p:spPr>
          <a:xfrm>
            <a:off x="886968" y="1508760"/>
            <a:ext cx="2057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Example</a:t>
            </a:r>
            <a:endParaRPr lang="en-US" sz="1300" dirty="0"/>
          </a:p>
        </p:txBody>
      </p:sp>
      <p:sp>
        <p:nvSpPr>
          <p:cNvPr id="18" name="il_373"/>
          <p:cNvSpPr/>
          <p:nvPr/>
        </p:nvSpPr>
        <p:spPr>
          <a:xfrm>
            <a:off x="886968" y="1892808"/>
            <a:ext cx="20391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B25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  Who's the coach? → Danish Sheikh</a:t>
            </a:r>
            <a:endParaRPr lang="en-US" sz="1050" dirty="0"/>
          </a:p>
        </p:txBody>
      </p:sp>
      <p:sp>
        <p:nvSpPr>
          <p:cNvPr id="19" name="pf_374"/>
          <p:cNvSpPr/>
          <p:nvPr/>
        </p:nvSpPr>
        <p:spPr>
          <a:xfrm rot="-90000">
            <a:off x="365760" y="2697480"/>
            <a:ext cx="2606040" cy="1965960"/>
          </a:xfrm>
          <a:prstGeom prst="roundRect">
            <a:avLst>
              <a:gd name="adj" fmla="val 790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20000"/>
              </a:srgbClr>
            </a:outerShdw>
          </a:effectLst>
        </p:spPr>
      </p:sp>
      <p:pic>
        <p:nvPicPr>
          <p:cNvPr id="20" name="ph_375" descr="/home/claude/lls-course/v2/cache/6B_2_colin_jpg_605x451_31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rot="-90000">
            <a:off x="411480" y="2743200"/>
            <a:ext cx="2514600" cy="1874520"/>
          </a:xfrm>
          <a:prstGeom prst="rect">
            <a:avLst/>
          </a:prstGeom>
        </p:spPr>
      </p:pic>
      <p:sp>
        <p:nvSpPr>
          <p:cNvPr id="21" name="bd_376"/>
          <p:cNvSpPr/>
          <p:nvPr/>
        </p:nvSpPr>
        <p:spPr>
          <a:xfrm>
            <a:off x="3246120" y="1490472"/>
            <a:ext cx="310896" cy="310896"/>
          </a:xfrm>
          <a:prstGeom prst="ellipse">
            <a:avLst/>
          </a:prstGeom>
          <a:solidFill>
            <a:srgbClr val="E8508F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</a:t>
            </a:r>
            <a:endParaRPr lang="en-US" sz="1000" dirty="0"/>
          </a:p>
        </p:txBody>
      </p:sp>
      <p:sp>
        <p:nvSpPr>
          <p:cNvPr id="22" name="q_377"/>
          <p:cNvSpPr/>
          <p:nvPr/>
        </p:nvSpPr>
        <p:spPr>
          <a:xfrm>
            <a:off x="3630168" y="1417320"/>
            <a:ext cx="210312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1  What experience does Danish Sheikh have?</a:t>
            </a:r>
            <a:endParaRPr lang="en-US" sz="1100" dirty="0"/>
          </a:p>
        </p:txBody>
      </p:sp>
      <p:sp>
        <p:nvSpPr>
          <p:cNvPr id="23" name="R1_chip378"/>
          <p:cNvSpPr/>
          <p:nvPr/>
        </p:nvSpPr>
        <p:spPr>
          <a:xfrm>
            <a:off x="5806440" y="1417320"/>
            <a:ext cx="3063240" cy="457200"/>
          </a:xfrm>
          <a:prstGeom prst="roundRect">
            <a:avLst>
              <a:gd name="adj" fmla="val 20000"/>
            </a:avLst>
          </a:prstGeom>
          <a:solidFill>
            <a:srgbClr val="E3F7EA"/>
          </a:solidFill>
          <a:ln w="19050">
            <a:solidFill>
              <a:srgbClr val="2EB872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Microsoft, Yahoo and the BBC</a:t>
            </a:r>
            <a:endParaRPr lang="en-US" sz="1000" dirty="0"/>
          </a:p>
        </p:txBody>
      </p:sp>
      <p:sp>
        <p:nvSpPr>
          <p:cNvPr id="24" name="bd_379"/>
          <p:cNvSpPr/>
          <p:nvPr/>
        </p:nvSpPr>
        <p:spPr>
          <a:xfrm>
            <a:off x="3246120" y="1993392"/>
            <a:ext cx="310896" cy="310896"/>
          </a:xfrm>
          <a:prstGeom prst="ellipse">
            <a:avLst/>
          </a:prstGeom>
          <a:solidFill>
            <a:srgbClr val="2F8DE4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2</a:t>
            </a:r>
            <a:endParaRPr lang="en-US" sz="1000" dirty="0"/>
          </a:p>
        </p:txBody>
      </p:sp>
      <p:sp>
        <p:nvSpPr>
          <p:cNvPr id="25" name="q_380"/>
          <p:cNvSpPr/>
          <p:nvPr/>
        </p:nvSpPr>
        <p:spPr>
          <a:xfrm>
            <a:off x="3630168" y="1920240"/>
            <a:ext cx="210312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A9D3F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2  Is he successful?</a:t>
            </a:r>
            <a:endParaRPr lang="en-US" sz="1150" dirty="0"/>
          </a:p>
        </p:txBody>
      </p:sp>
      <p:sp>
        <p:nvSpPr>
          <p:cNvPr id="26" name="R2_chip381"/>
          <p:cNvSpPr/>
          <p:nvPr/>
        </p:nvSpPr>
        <p:spPr>
          <a:xfrm>
            <a:off x="5806440" y="1920240"/>
            <a:ext cx="3063240" cy="457200"/>
          </a:xfrm>
          <a:prstGeom prst="roundRect">
            <a:avLst>
              <a:gd name="adj" fmla="val 20000"/>
            </a:avLst>
          </a:prstGeom>
          <a:solidFill>
            <a:srgbClr val="E3F7EA"/>
          </a:solidFill>
          <a:ln w="19050">
            <a:solidFill>
              <a:srgbClr val="2EB872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Yes – £150 an hour, and plenty of people pay</a:t>
            </a:r>
            <a:endParaRPr lang="en-US" sz="1000" dirty="0"/>
          </a:p>
        </p:txBody>
      </p:sp>
      <p:sp>
        <p:nvSpPr>
          <p:cNvPr id="27" name="bd_382"/>
          <p:cNvSpPr/>
          <p:nvPr/>
        </p:nvSpPr>
        <p:spPr>
          <a:xfrm>
            <a:off x="3246120" y="2496312"/>
            <a:ext cx="310896" cy="310896"/>
          </a:xfrm>
          <a:prstGeom prst="ellipse">
            <a:avLst/>
          </a:prstGeom>
          <a:solidFill>
            <a:srgbClr val="2EB872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3</a:t>
            </a:r>
            <a:endParaRPr lang="en-US" sz="1000" dirty="0"/>
          </a:p>
        </p:txBody>
      </p:sp>
      <p:sp>
        <p:nvSpPr>
          <p:cNvPr id="28" name="q_383"/>
          <p:cNvSpPr/>
          <p:nvPr/>
        </p:nvSpPr>
        <p:spPr>
          <a:xfrm>
            <a:off x="3630168" y="2423160"/>
            <a:ext cx="210312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3  What did he do yesterday? Why?</a:t>
            </a:r>
            <a:endParaRPr lang="en-US" sz="1150" dirty="0"/>
          </a:p>
        </p:txBody>
      </p:sp>
      <p:sp>
        <p:nvSpPr>
          <p:cNvPr id="29" name="R3_chip384"/>
          <p:cNvSpPr/>
          <p:nvPr/>
        </p:nvSpPr>
        <p:spPr>
          <a:xfrm>
            <a:off x="5806440" y="2423160"/>
            <a:ext cx="3063240" cy="457200"/>
          </a:xfrm>
          <a:prstGeom prst="roundRect">
            <a:avLst>
              <a:gd name="adj" fmla="val 20000"/>
            </a:avLst>
          </a:prstGeom>
          <a:solidFill>
            <a:srgbClr val="E3F7EA"/>
          </a:solidFill>
          <a:ln w="19050">
            <a:solidFill>
              <a:srgbClr val="2EB872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followed Colin everywhere – to watch how he behaves with people (Colin is going to be his student)</a:t>
            </a:r>
            <a:endParaRPr lang="en-US" sz="850" dirty="0"/>
          </a:p>
        </p:txBody>
      </p:sp>
      <p:sp>
        <p:nvSpPr>
          <p:cNvPr id="30" name="bd_385"/>
          <p:cNvSpPr/>
          <p:nvPr/>
        </p:nvSpPr>
        <p:spPr>
          <a:xfrm>
            <a:off x="3246120" y="2999232"/>
            <a:ext cx="310896" cy="310896"/>
          </a:xfrm>
          <a:prstGeom prst="ellipse">
            <a:avLst/>
          </a:prstGeom>
          <a:solidFill>
            <a:srgbClr val="F2B705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4</a:t>
            </a:r>
            <a:endParaRPr lang="en-US" sz="1000" dirty="0"/>
          </a:p>
        </p:txBody>
      </p:sp>
      <p:sp>
        <p:nvSpPr>
          <p:cNvPr id="31" name="q_386"/>
          <p:cNvSpPr/>
          <p:nvPr/>
        </p:nvSpPr>
        <p:spPr>
          <a:xfrm>
            <a:off x="3630168" y="2926080"/>
            <a:ext cx="210312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FFE07A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4  What problems does Colin have?</a:t>
            </a:r>
            <a:endParaRPr lang="en-US" sz="1150" dirty="0"/>
          </a:p>
        </p:txBody>
      </p:sp>
      <p:sp>
        <p:nvSpPr>
          <p:cNvPr id="32" name="R4_chip387"/>
          <p:cNvSpPr/>
          <p:nvPr/>
        </p:nvSpPr>
        <p:spPr>
          <a:xfrm>
            <a:off x="5806440" y="2926080"/>
            <a:ext cx="3063240" cy="457200"/>
          </a:xfrm>
          <a:prstGeom prst="roundRect">
            <a:avLst>
              <a:gd name="adj" fmla="val 20000"/>
            </a:avLst>
          </a:prstGeom>
          <a:solidFill>
            <a:srgbClr val="E3F7EA"/>
          </a:solidFill>
          <a:ln w="19050">
            <a:solidFill>
              <a:srgbClr val="2EB872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can't make conversation · negative body language · doesn't smile enough · seems bored</a:t>
            </a:r>
            <a:endParaRPr lang="en-US" sz="85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388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E8508F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13</a:t>
            </a:r>
            <a:endParaRPr lang="en-US" sz="2200" dirty="0"/>
          </a:p>
        </p:txBody>
      </p:sp>
      <p:pic>
        <p:nvPicPr>
          <p:cNvPr id="4" name="brY_389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4348886" cy="621792"/>
          </a:xfrm>
          <a:prstGeom prst="rect">
            <a:avLst/>
          </a:prstGeom>
        </p:spPr>
      </p:pic>
      <p:sp>
        <p:nvSpPr>
          <p:cNvPr id="5" name="title_390"/>
          <p:cNvSpPr/>
          <p:nvPr/>
        </p:nvSpPr>
        <p:spPr>
          <a:xfrm>
            <a:off x="1261872" y="164592"/>
            <a:ext cx="40745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A person with charisma…</a:t>
            </a:r>
            <a:endParaRPr lang="en-US" sz="2400" dirty="0"/>
          </a:p>
        </p:txBody>
      </p:sp>
      <p:pic>
        <p:nvPicPr>
          <p:cNvPr id="6" name="brP_391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5596128" cy="402336"/>
          </a:xfrm>
          <a:prstGeom prst="rect">
            <a:avLst/>
          </a:prstGeom>
        </p:spPr>
      </p:pic>
      <p:sp>
        <p:nvSpPr>
          <p:cNvPr id="7" name="ins_392"/>
          <p:cNvSpPr/>
          <p:nvPr/>
        </p:nvSpPr>
        <p:spPr>
          <a:xfrm>
            <a:off x="1353312" y="731520"/>
            <a:ext cx="534009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Tick ✓ or cross ✗ with a partner. THEN listen and check.</a:t>
            </a:r>
            <a:endParaRPr lang="en-US" sz="1250" dirty="0"/>
          </a:p>
        </p:txBody>
      </p:sp>
      <p:sp>
        <p:nvSpPr>
          <p:cNvPr id="8" name="insIT_393"/>
          <p:cNvSpPr/>
          <p:nvPr/>
        </p:nvSpPr>
        <p:spPr>
          <a:xfrm>
            <a:off x="1371600" y="1115568"/>
            <a:ext cx="5852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Segna ✓ o ✗ con un compagno. POI ascolta e controlla.</a:t>
            </a:r>
            <a:endParaRPr lang="en-US" sz="950" dirty="0"/>
          </a:p>
        </p:txBody>
      </p:sp>
      <p:sp>
        <p:nvSpPr>
          <p:cNvPr id="9" name="cmd_394"/>
          <p:cNvSpPr/>
          <p:nvPr/>
        </p:nvSpPr>
        <p:spPr>
          <a:xfrm>
            <a:off x="6510528" y="182880"/>
            <a:ext cx="1901952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💡 </a:t>
            </a:r>
            <a:pPr indent="0" marL="0">
              <a:buNone/>
            </a:pPr>
            <a:r>
              <a:rPr lang="en-US" sz="1200" dirty="0">
                <a:solidFill>
                  <a:srgbClr val="2F8DE4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THINK</a:t>
            </a:r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PENSA</a:t>
            </a:r>
            <a:endParaRPr lang="en-US" sz="1100" dirty="0"/>
          </a:p>
        </p:txBody>
      </p:sp>
      <p:sp>
        <p:nvSpPr>
          <p:cNvPr id="10" name="cmd_395"/>
          <p:cNvSpPr/>
          <p:nvPr/>
        </p:nvSpPr>
        <p:spPr>
          <a:xfrm>
            <a:off x="6510528" y="566928"/>
            <a:ext cx="1901952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🎧 </a:t>
            </a:r>
            <a:pPr indent="0" marL="0">
              <a:buNone/>
            </a:pPr>
            <a:r>
              <a:rPr lang="en-US" sz="1200" dirty="0">
                <a:solidFill>
                  <a:srgbClr val="2F8DE4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LISTEN</a:t>
            </a:r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ASCOLTA</a:t>
            </a:r>
            <a:endParaRPr lang="en-US" sz="1100" dirty="0"/>
          </a:p>
        </p:txBody>
      </p:sp>
      <p:sp>
        <p:nvSpPr>
          <p:cNvPr id="11" name="meta_396"/>
          <p:cNvSpPr/>
          <p:nvPr/>
        </p:nvSpPr>
        <p:spPr>
          <a:xfrm>
            <a:off x="6583680" y="950976"/>
            <a:ext cx="2286000" cy="256032"/>
          </a:xfrm>
          <a:prstGeom prst="rect">
            <a:avLst/>
          </a:prstGeom>
          <a:noFill/>
          <a:ln/>
        </p:spPr>
        <p:txBody>
          <a:bodyPr wrap="square" lIns="101600" tIns="0" rIns="10160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5 min   👥 pairs</a:t>
            </a:r>
            <a:endParaRPr lang="en-US" sz="950" dirty="0"/>
          </a:p>
        </p:txBody>
      </p:sp>
      <p:sp>
        <p:nvSpPr>
          <p:cNvPr id="12" name="tag_397"/>
          <p:cNvSpPr/>
          <p:nvPr/>
        </p:nvSpPr>
        <p:spPr>
          <a:xfrm>
            <a:off x="6510528" y="1188720"/>
            <a:ext cx="2514600" cy="237744"/>
          </a:xfrm>
          <a:prstGeom prst="rect">
            <a:avLst/>
          </a:prstGeom>
          <a:noFill/>
          <a:ln/>
        </p:spPr>
        <p:txBody>
          <a:bodyPr wrap="square" lIns="101600" tIns="0" rIns="5080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Listening</a:t>
            </a:r>
            <a:pPr indent="0" marL="0">
              <a:buNone/>
            </a:pPr>
            <a:r>
              <a:rPr lang="en-US" sz="850" dirty="0">
                <a:solidFill>
                  <a:srgbClr val="7B5CD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· Guided discovery</a:t>
            </a:r>
            <a:endParaRPr lang="en-US" sz="850" dirty="0"/>
          </a:p>
        </p:txBody>
      </p:sp>
      <p:pic>
        <p:nvPicPr>
          <p:cNvPr id="13" name="logo_398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4" name="foot_399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6B-2 · Listening · audio 6.19   ·   📖 SB p.63 · 5d, 5e · audio 6.19</a:t>
            </a:r>
            <a:endParaRPr lang="en-US" sz="800" dirty="0"/>
          </a:p>
        </p:txBody>
      </p:sp>
      <p:sp>
        <p:nvSpPr>
          <p:cNvPr id="15" name="cd_400"/>
          <p:cNvSpPr/>
          <p:nvPr/>
        </p:nvSpPr>
        <p:spPr>
          <a:xfrm>
            <a:off x="320040" y="1417320"/>
            <a:ext cx="2697480" cy="1527048"/>
          </a:xfrm>
          <a:prstGeom prst="roundRect">
            <a:avLst>
              <a:gd name="adj" fmla="val 8383"/>
            </a:avLst>
          </a:prstGeom>
          <a:solidFill>
            <a:srgbClr val="FFF6CC"/>
          </a:solidFill>
          <a:ln w="19050">
            <a:solidFill>
              <a:srgbClr val="FFE07A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6" name="ii_401"/>
          <p:cNvSpPr/>
          <p:nvPr/>
        </p:nvSpPr>
        <p:spPr>
          <a:xfrm>
            <a:off x="411480" y="14904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🏷️</a:t>
            </a:r>
            <a:endParaRPr lang="en-US" sz="2200" dirty="0"/>
          </a:p>
        </p:txBody>
      </p:sp>
      <p:sp>
        <p:nvSpPr>
          <p:cNvPr id="17" name="ih_402"/>
          <p:cNvSpPr/>
          <p:nvPr/>
        </p:nvSpPr>
        <p:spPr>
          <a:xfrm>
            <a:off x="886968" y="1508760"/>
            <a:ext cx="2057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Does it?</a:t>
            </a:r>
            <a:endParaRPr lang="en-US" sz="1300" dirty="0"/>
          </a:p>
        </p:txBody>
      </p:sp>
      <p:sp>
        <p:nvSpPr>
          <p:cNvPr id="18" name="il_403"/>
          <p:cNvSpPr/>
          <p:nvPr/>
        </p:nvSpPr>
        <p:spPr>
          <a:xfrm>
            <a:off x="886968" y="1892808"/>
            <a:ext cx="2039112" cy="9784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spcAft>
                <a:spcPts val="200"/>
              </a:spcAft>
              <a:buNone/>
            </a:pPr>
            <a:endParaRPr lang="en-US" sz="1100" dirty="0"/>
          </a:p>
        </p:txBody>
      </p:sp>
      <p:sp>
        <p:nvSpPr>
          <p:cNvPr id="19" name="ap_404"/>
          <p:cNvSpPr/>
          <p:nvPr/>
        </p:nvSpPr>
        <p:spPr>
          <a:xfrm>
            <a:off x="365760" y="3081528"/>
            <a:ext cx="2606040" cy="402336"/>
          </a:xfrm>
          <a:prstGeom prst="roundRect">
            <a:avLst>
              <a:gd name="adj" fmla="val 50000"/>
            </a:avLst>
          </a:prstGeom>
          <a:solidFill>
            <a:srgbClr val="E3F1FD"/>
          </a:solidFill>
          <a:ln w="19050">
            <a:solidFill>
              <a:srgbClr val="2F8DE4"/>
            </a:solidFill>
          </a:ln>
        </p:spPr>
        <p:txBody>
          <a:bodyPr wrap="square" lIns="127000" tIns="0" rIns="127000" bIns="0" rtlCol="0" anchor="ctr">
            <a:normAutofit/>
          </a:bodyPr>
          <a:lstStyle/>
          <a:p>
            <a:pPr indent="0" marL="0">
              <a:buNone/>
            </a:pPr>
            <a:r>
              <a:rPr lang="en-US" sz="11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🎧 6.19</a:t>
            </a:r>
            <a:endParaRPr lang="en-US" sz="1100" dirty="0"/>
          </a:p>
        </p:txBody>
      </p:sp>
      <p:sp>
        <p:nvSpPr>
          <p:cNvPr id="20" name="ah_405"/>
          <p:cNvSpPr/>
          <p:nvPr/>
        </p:nvSpPr>
        <p:spPr>
          <a:xfrm>
            <a:off x="5925312" y="4572000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2F8DE4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▶ normal · 🐢 slower</a:t>
            </a:r>
            <a:endParaRPr lang="en-US" sz="950" dirty="0"/>
          </a:p>
        </p:txBody>
      </p:sp>
      <p:pic>
        <p:nvPicPr>
          <p:cNvPr id="21" name="Media 0">
            <a:hlinkClick r:id="" action="ppaction://media"/>
          </p:cNvPr>
          <p:cNvPicPr>
            <a:picLocks noChangeAspect="1"/>
          </p:cNvPicPr>
          <p:nvPr>
            <a:audioFile r:link="rId5"/>
            <p:extLst>
              <p:ext uri="{DAA4B4D4-6D71-4841-9C94-3DE7FCFB9230}">
                <p14:media xmlns:p14="http://schemas.microsoft.com/office/powerpoint/2010/main" r:embed="rId6"/>
              </p:ext>
            </p:extLst>
          </p:nvPr>
        </p:nvPicPr>
        <p:blipFill>
          <a:blip r:embed="rId7"/>
          <a:stretch>
            <a:fillRect/>
          </a:stretch>
        </p:blipFill>
        <p:spPr>
          <a:xfrm>
            <a:off x="7525512" y="4553712"/>
            <a:ext cx="411480" cy="411480"/>
          </a:xfrm>
          <a:prstGeom prst="rect">
            <a:avLst/>
          </a:prstGeom>
        </p:spPr>
      </p:pic>
      <p:pic>
        <p:nvPicPr>
          <p:cNvPr id="22" name="Media 1">
            <a:hlinkClick r:id="" action="ppaction://media"/>
          </p:cNvPr>
          <p:cNvPicPr>
            <a:picLocks noChangeAspect="1"/>
          </p:cNvPicPr>
          <p:nvPr>
            <a:audioFile r:link="rId8"/>
            <p:extLst>
              <p:ext uri="{DAA4B4D4-6D71-4841-9C94-3DE7FCFB9230}">
                <p14:media xmlns:p14="http://schemas.microsoft.com/office/powerpoint/2010/main" r:embed="rId9"/>
              </p:ext>
            </p:extLst>
          </p:nvPr>
        </p:nvPicPr>
        <p:blipFill>
          <a:blip r:embed="rId10"/>
          <a:stretch>
            <a:fillRect/>
          </a:stretch>
        </p:blipFill>
        <p:spPr>
          <a:xfrm>
            <a:off x="8001000" y="4553712"/>
            <a:ext cx="411480" cy="411480"/>
          </a:xfrm>
          <a:prstGeom prst="rect">
            <a:avLst/>
          </a:prstGeom>
        </p:spPr>
      </p:pic>
      <p:sp>
        <p:nvSpPr>
          <p:cNvPr id="23" name="lg_406"/>
          <p:cNvSpPr/>
          <p:nvPr/>
        </p:nvSpPr>
        <p:spPr>
          <a:xfrm>
            <a:off x="457200" y="1984248"/>
            <a:ext cx="1188720" cy="310896"/>
          </a:xfrm>
          <a:prstGeom prst="roundRect">
            <a:avLst>
              <a:gd name="adj" fmla="val 50000"/>
            </a:avLst>
          </a:prstGeom>
          <a:solidFill>
            <a:srgbClr val="CFF2D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✓ yes</a:t>
            </a:r>
            <a:endParaRPr lang="en-US" sz="1050" dirty="0"/>
          </a:p>
        </p:txBody>
      </p:sp>
      <p:sp>
        <p:nvSpPr>
          <p:cNvPr id="24" name="lg_407"/>
          <p:cNvSpPr/>
          <p:nvPr/>
        </p:nvSpPr>
        <p:spPr>
          <a:xfrm>
            <a:off x="1719072" y="1984248"/>
            <a:ext cx="1188720" cy="310896"/>
          </a:xfrm>
          <a:prstGeom prst="roundRect">
            <a:avLst>
              <a:gd name="adj" fmla="val 50000"/>
            </a:avLst>
          </a:prstGeom>
          <a:solidFill>
            <a:srgbClr val="FFD1E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✗ no</a:t>
            </a:r>
            <a:endParaRPr lang="en-US" sz="1050" dirty="0"/>
          </a:p>
        </p:txBody>
      </p:sp>
      <p:sp>
        <p:nvSpPr>
          <p:cNvPr id="25" name="sq_408"/>
          <p:cNvSpPr/>
          <p:nvPr/>
        </p:nvSpPr>
        <p:spPr>
          <a:xfrm>
            <a:off x="3246120" y="1417320"/>
            <a:ext cx="3840480" cy="265176"/>
          </a:xfrm>
          <a:prstGeom prst="roundRect">
            <a:avLst>
              <a:gd name="adj" fmla="val 34483"/>
            </a:avLst>
          </a:prstGeom>
          <a:solidFill>
            <a:srgbClr val="FFFFFF"/>
          </a:solidFill>
          <a:ln w="19050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1 shows people what he / she is like</a:t>
            </a:r>
            <a:endParaRPr lang="en-US" sz="1200" dirty="0"/>
          </a:p>
        </p:txBody>
      </p:sp>
      <p:sp>
        <p:nvSpPr>
          <p:cNvPr id="26" name="R1_tag409"/>
          <p:cNvSpPr/>
          <p:nvPr/>
        </p:nvSpPr>
        <p:spPr>
          <a:xfrm>
            <a:off x="7178040" y="1417320"/>
            <a:ext cx="1691640" cy="265176"/>
          </a:xfrm>
          <a:prstGeom prst="roundRect">
            <a:avLst>
              <a:gd name="adj" fmla="val 86207"/>
            </a:avLst>
          </a:prstGeom>
          <a:solidFill>
            <a:srgbClr val="CFF2D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✓ yes</a:t>
            </a:r>
            <a:endParaRPr lang="en-US" sz="1150" dirty="0"/>
          </a:p>
        </p:txBody>
      </p:sp>
      <p:sp>
        <p:nvSpPr>
          <p:cNvPr id="27" name="sq_410"/>
          <p:cNvSpPr/>
          <p:nvPr/>
        </p:nvSpPr>
        <p:spPr>
          <a:xfrm>
            <a:off x="3246120" y="1746504"/>
            <a:ext cx="3840480" cy="265176"/>
          </a:xfrm>
          <a:prstGeom prst="roundRect">
            <a:avLst>
              <a:gd name="adj" fmla="val 34483"/>
            </a:avLst>
          </a:prstGeom>
          <a:solidFill>
            <a:srgbClr val="FFFFFF"/>
          </a:solidFill>
          <a:ln w="19050">
            <a:solidFill>
              <a:srgbClr val="A9D3F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2 makes other people feel important</a:t>
            </a:r>
            <a:endParaRPr lang="en-US" sz="1200" dirty="0"/>
          </a:p>
        </p:txBody>
      </p:sp>
      <p:sp>
        <p:nvSpPr>
          <p:cNvPr id="28" name="R2_tag411"/>
          <p:cNvSpPr/>
          <p:nvPr/>
        </p:nvSpPr>
        <p:spPr>
          <a:xfrm>
            <a:off x="7178040" y="1746504"/>
            <a:ext cx="1691640" cy="265176"/>
          </a:xfrm>
          <a:prstGeom prst="roundRect">
            <a:avLst>
              <a:gd name="adj" fmla="val 86207"/>
            </a:avLst>
          </a:prstGeom>
          <a:solidFill>
            <a:srgbClr val="CFF2D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✓ yes</a:t>
            </a:r>
            <a:endParaRPr lang="en-US" sz="1150" dirty="0"/>
          </a:p>
        </p:txBody>
      </p:sp>
      <p:sp>
        <p:nvSpPr>
          <p:cNvPr id="29" name="sq_412"/>
          <p:cNvSpPr/>
          <p:nvPr/>
        </p:nvSpPr>
        <p:spPr>
          <a:xfrm>
            <a:off x="3246120" y="2075688"/>
            <a:ext cx="3840480" cy="265176"/>
          </a:xfrm>
          <a:prstGeom prst="roundRect">
            <a:avLst>
              <a:gd name="adj" fmla="val 34483"/>
            </a:avLst>
          </a:prstGeom>
          <a:solidFill>
            <a:srgbClr val="FFFFFF"/>
          </a:solidFill>
          <a:ln w="19050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3 talks a lot about himself / herself</a:t>
            </a:r>
            <a:endParaRPr lang="en-US" sz="1200" dirty="0"/>
          </a:p>
        </p:txBody>
      </p:sp>
      <p:sp>
        <p:nvSpPr>
          <p:cNvPr id="30" name="R3_tag413"/>
          <p:cNvSpPr/>
          <p:nvPr/>
        </p:nvSpPr>
        <p:spPr>
          <a:xfrm>
            <a:off x="7178040" y="2075688"/>
            <a:ext cx="1691640" cy="265176"/>
          </a:xfrm>
          <a:prstGeom prst="roundRect">
            <a:avLst>
              <a:gd name="adj" fmla="val 86207"/>
            </a:avLst>
          </a:prstGeom>
          <a:solidFill>
            <a:srgbClr val="FFD1E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✗ no</a:t>
            </a:r>
            <a:endParaRPr lang="en-US" sz="1150" dirty="0"/>
          </a:p>
        </p:txBody>
      </p:sp>
      <p:sp>
        <p:nvSpPr>
          <p:cNvPr id="31" name="sq_414"/>
          <p:cNvSpPr/>
          <p:nvPr/>
        </p:nvSpPr>
        <p:spPr>
          <a:xfrm>
            <a:off x="3246120" y="2404872"/>
            <a:ext cx="3840480" cy="265176"/>
          </a:xfrm>
          <a:prstGeom prst="roundRect">
            <a:avLst>
              <a:gd name="adj" fmla="val 34483"/>
            </a:avLst>
          </a:prstGeom>
          <a:solidFill>
            <a:srgbClr val="FFFFFF"/>
          </a:solidFill>
          <a:ln w="19050">
            <a:solidFill>
              <a:srgbClr val="FFE07A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4 never says anything about himself / herself</a:t>
            </a:r>
            <a:endParaRPr lang="en-US" sz="1150" dirty="0"/>
          </a:p>
        </p:txBody>
      </p:sp>
      <p:sp>
        <p:nvSpPr>
          <p:cNvPr id="32" name="R4_tag415"/>
          <p:cNvSpPr/>
          <p:nvPr/>
        </p:nvSpPr>
        <p:spPr>
          <a:xfrm>
            <a:off x="7178040" y="2404872"/>
            <a:ext cx="1691640" cy="265176"/>
          </a:xfrm>
          <a:prstGeom prst="roundRect">
            <a:avLst>
              <a:gd name="adj" fmla="val 86207"/>
            </a:avLst>
          </a:prstGeom>
          <a:solidFill>
            <a:srgbClr val="FFD1E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✗ no</a:t>
            </a:r>
            <a:endParaRPr lang="en-US" sz="1150" dirty="0"/>
          </a:p>
        </p:txBody>
      </p:sp>
      <p:sp>
        <p:nvSpPr>
          <p:cNvPr id="33" name="sq_416"/>
          <p:cNvSpPr/>
          <p:nvPr/>
        </p:nvSpPr>
        <p:spPr>
          <a:xfrm>
            <a:off x="3246120" y="2734056"/>
            <a:ext cx="3840480" cy="265176"/>
          </a:xfrm>
          <a:prstGeom prst="roundRect">
            <a:avLst>
              <a:gd name="adj" fmla="val 34483"/>
            </a:avLst>
          </a:prstGeom>
          <a:solidFill>
            <a:srgbClr val="FFFFFF"/>
          </a:solidFill>
          <a:ln w="19050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5 is self-confident</a:t>
            </a:r>
            <a:endParaRPr lang="en-US" sz="1200" dirty="0"/>
          </a:p>
        </p:txBody>
      </p:sp>
      <p:sp>
        <p:nvSpPr>
          <p:cNvPr id="34" name="R5_tag417"/>
          <p:cNvSpPr/>
          <p:nvPr/>
        </p:nvSpPr>
        <p:spPr>
          <a:xfrm>
            <a:off x="7178040" y="2734056"/>
            <a:ext cx="1691640" cy="265176"/>
          </a:xfrm>
          <a:prstGeom prst="roundRect">
            <a:avLst>
              <a:gd name="adj" fmla="val 86207"/>
            </a:avLst>
          </a:prstGeom>
          <a:solidFill>
            <a:srgbClr val="CFF2D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✓ yes</a:t>
            </a:r>
            <a:endParaRPr lang="en-US" sz="1150" dirty="0"/>
          </a:p>
        </p:txBody>
      </p:sp>
      <p:sp>
        <p:nvSpPr>
          <p:cNvPr id="35" name="sq_418"/>
          <p:cNvSpPr/>
          <p:nvPr/>
        </p:nvSpPr>
        <p:spPr>
          <a:xfrm>
            <a:off x="3246120" y="3063240"/>
            <a:ext cx="3840480" cy="265176"/>
          </a:xfrm>
          <a:prstGeom prst="roundRect">
            <a:avLst>
              <a:gd name="adj" fmla="val 34483"/>
            </a:avLst>
          </a:prstGeom>
          <a:solidFill>
            <a:srgbClr val="FFFFFF"/>
          </a:solidFill>
          <a:ln w="19050">
            <a:solidFill>
              <a:srgbClr val="A9D3F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6 stands with feet apart and arms wide</a:t>
            </a:r>
            <a:endParaRPr lang="en-US" sz="1200" dirty="0"/>
          </a:p>
        </p:txBody>
      </p:sp>
      <p:sp>
        <p:nvSpPr>
          <p:cNvPr id="36" name="R6_tag419"/>
          <p:cNvSpPr/>
          <p:nvPr/>
        </p:nvSpPr>
        <p:spPr>
          <a:xfrm>
            <a:off x="7178040" y="3063240"/>
            <a:ext cx="1691640" cy="265176"/>
          </a:xfrm>
          <a:prstGeom prst="roundRect">
            <a:avLst>
              <a:gd name="adj" fmla="val 86207"/>
            </a:avLst>
          </a:prstGeom>
          <a:solidFill>
            <a:srgbClr val="CFF2D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✓ yes</a:t>
            </a:r>
            <a:endParaRPr lang="en-US" sz="1150" dirty="0"/>
          </a:p>
        </p:txBody>
      </p:sp>
      <p:sp>
        <p:nvSpPr>
          <p:cNvPr id="37" name="sq_420"/>
          <p:cNvSpPr/>
          <p:nvPr/>
        </p:nvSpPr>
        <p:spPr>
          <a:xfrm>
            <a:off x="3246120" y="3392424"/>
            <a:ext cx="3840480" cy="265176"/>
          </a:xfrm>
          <a:prstGeom prst="roundRect">
            <a:avLst>
              <a:gd name="adj" fmla="val 34483"/>
            </a:avLst>
          </a:prstGeom>
          <a:solidFill>
            <a:srgbClr val="FFFFFF"/>
          </a:solidFill>
          <a:ln w="19050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7 makes eye contact, but doesn't stare</a:t>
            </a:r>
            <a:endParaRPr lang="en-US" sz="1200" dirty="0"/>
          </a:p>
        </p:txBody>
      </p:sp>
      <p:sp>
        <p:nvSpPr>
          <p:cNvPr id="38" name="R7_tag421"/>
          <p:cNvSpPr/>
          <p:nvPr/>
        </p:nvSpPr>
        <p:spPr>
          <a:xfrm>
            <a:off x="7178040" y="3392424"/>
            <a:ext cx="1691640" cy="265176"/>
          </a:xfrm>
          <a:prstGeom prst="roundRect">
            <a:avLst>
              <a:gd name="adj" fmla="val 86207"/>
            </a:avLst>
          </a:prstGeom>
          <a:solidFill>
            <a:srgbClr val="CFF2D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✓ yes</a:t>
            </a:r>
            <a:endParaRPr lang="en-US" sz="1150" dirty="0"/>
          </a:p>
        </p:txBody>
      </p:sp>
      <p:sp>
        <p:nvSpPr>
          <p:cNvPr id="39" name="sq_422"/>
          <p:cNvSpPr/>
          <p:nvPr/>
        </p:nvSpPr>
        <p:spPr>
          <a:xfrm>
            <a:off x="3246120" y="3721608"/>
            <a:ext cx="3840480" cy="265176"/>
          </a:xfrm>
          <a:prstGeom prst="roundRect">
            <a:avLst>
              <a:gd name="adj" fmla="val 34483"/>
            </a:avLst>
          </a:prstGeom>
          <a:solidFill>
            <a:srgbClr val="FFFFFF"/>
          </a:solidFill>
          <a:ln w="19050">
            <a:solidFill>
              <a:srgbClr val="FFE07A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8 uses a lot of hand gestures</a:t>
            </a:r>
            <a:endParaRPr lang="en-US" sz="1200" dirty="0"/>
          </a:p>
        </p:txBody>
      </p:sp>
      <p:sp>
        <p:nvSpPr>
          <p:cNvPr id="40" name="R8_tag423"/>
          <p:cNvSpPr/>
          <p:nvPr/>
        </p:nvSpPr>
        <p:spPr>
          <a:xfrm>
            <a:off x="7178040" y="3721608"/>
            <a:ext cx="1691640" cy="265176"/>
          </a:xfrm>
          <a:prstGeom prst="roundRect">
            <a:avLst>
              <a:gd name="adj" fmla="val 86207"/>
            </a:avLst>
          </a:prstGeom>
          <a:solidFill>
            <a:srgbClr val="FFD1E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✗ no</a:t>
            </a:r>
            <a:endParaRPr lang="en-US" sz="1150" dirty="0"/>
          </a:p>
        </p:txBody>
      </p:sp>
      <p:sp>
        <p:nvSpPr>
          <p:cNvPr id="41" name="sq_424"/>
          <p:cNvSpPr/>
          <p:nvPr/>
        </p:nvSpPr>
        <p:spPr>
          <a:xfrm>
            <a:off x="3246120" y="4050792"/>
            <a:ext cx="3840480" cy="265176"/>
          </a:xfrm>
          <a:prstGeom prst="roundRect">
            <a:avLst>
              <a:gd name="adj" fmla="val 34483"/>
            </a:avLst>
          </a:prstGeom>
          <a:solidFill>
            <a:srgbClr val="FFFFFF"/>
          </a:solidFill>
          <a:ln w="19050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9 speaks very slowly</a:t>
            </a:r>
            <a:endParaRPr lang="en-US" sz="1200" dirty="0"/>
          </a:p>
        </p:txBody>
      </p:sp>
      <p:sp>
        <p:nvSpPr>
          <p:cNvPr id="42" name="R9_tag425"/>
          <p:cNvSpPr/>
          <p:nvPr/>
        </p:nvSpPr>
        <p:spPr>
          <a:xfrm>
            <a:off x="7178040" y="4050792"/>
            <a:ext cx="1691640" cy="265176"/>
          </a:xfrm>
          <a:prstGeom prst="roundRect">
            <a:avLst>
              <a:gd name="adj" fmla="val 86207"/>
            </a:avLst>
          </a:prstGeom>
          <a:solidFill>
            <a:srgbClr val="FFD1E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✗ no</a:t>
            </a:r>
            <a:endParaRPr lang="en-US" sz="1150" dirty="0"/>
          </a:p>
        </p:txBody>
      </p:sp>
      <p:sp>
        <p:nvSpPr>
          <p:cNvPr id="43" name="sq_426"/>
          <p:cNvSpPr/>
          <p:nvPr/>
        </p:nvSpPr>
        <p:spPr>
          <a:xfrm>
            <a:off x="3246120" y="4379976"/>
            <a:ext cx="3840480" cy="265176"/>
          </a:xfrm>
          <a:prstGeom prst="roundRect">
            <a:avLst>
              <a:gd name="adj" fmla="val 34483"/>
            </a:avLst>
          </a:prstGeom>
          <a:solidFill>
            <a:srgbClr val="FFFFFF"/>
          </a:solidFill>
          <a:ln w="19050">
            <a:solidFill>
              <a:srgbClr val="A9D3F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10 listens to people carefully</a:t>
            </a:r>
            <a:endParaRPr lang="en-US" sz="1200" dirty="0"/>
          </a:p>
        </p:txBody>
      </p:sp>
      <p:sp>
        <p:nvSpPr>
          <p:cNvPr id="44" name="R10_tag427"/>
          <p:cNvSpPr/>
          <p:nvPr/>
        </p:nvSpPr>
        <p:spPr>
          <a:xfrm>
            <a:off x="7178040" y="4379976"/>
            <a:ext cx="1691640" cy="265176"/>
          </a:xfrm>
          <a:prstGeom prst="roundRect">
            <a:avLst>
              <a:gd name="adj" fmla="val 86207"/>
            </a:avLst>
          </a:prstGeom>
          <a:solidFill>
            <a:srgbClr val="CFF2D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✓ yes</a:t>
            </a:r>
            <a:endParaRPr lang="en-US" sz="115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4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4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4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4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seq concurrent="1" nextAc="seek">
              <p:cTn id="53" restart="whenNotActive" fill="hold" evtFilter="cancelBubble" nodeType="interactiveSeq">
                <p:stCondLst>
                  <p:cond evt="onClick" delay="0">
                    <p:tgtEl>
                      <p:spTgt spid="21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54" fill="hold">
                      <p:stCondLst>
                        <p:cond delay="0"/>
                      </p:stCondLst>
                      <p:childTnLst>
                        <p:par>
                          <p:cTn id="55" fill="hold">
                            <p:stCondLst>
                              <p:cond delay="0"/>
                            </p:stCondLst>
                            <p:childTnLst>
                              <p:par>
                                <p:cTn id="56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57" dur="1" fill="hold"/>
                                        <p:tgtEl>
                                          <p:spTgt spid="21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1"/>
                  </p:tgtEl>
                </p:cond>
              </p:nextCondLst>
            </p:seq>
            <p:seq concurrent="1" nextAc="seek">
              <p:cTn id="58" restart="whenNotActive" fill="hold" evtFilter="cancelBubble" nodeType="interactiveSeq">
                <p:stCondLst>
                  <p:cond evt="onClick" delay="0">
                    <p:tgtEl>
                      <p:spTgt spid="22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59" fill="hold">
                      <p:stCondLst>
                        <p:cond delay="0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62" dur="1" fill="hold"/>
                                        <p:tgtEl>
                                          <p:spTgt spid="22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2"/>
                  </p:tgtEl>
                </p:cond>
              </p:nextCondLst>
            </p:seq>
            <p:audio>
              <p:cMediaNode vol="80000">
                <p:cTn id="63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21"/>
                </p:tgtEl>
              </p:cMediaNode>
            </p:audio>
            <p:audio>
              <p:cMediaNode vol="80000">
                <p:cTn id="64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22"/>
                </p:tgtEl>
              </p:cMediaNode>
            </p:audio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428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2F8DE4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14</a:t>
            </a:r>
            <a:endParaRPr lang="en-US" sz="2200" dirty="0"/>
          </a:p>
        </p:txBody>
      </p:sp>
      <p:pic>
        <p:nvPicPr>
          <p:cNvPr id="4" name="brY_429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4977994" cy="621792"/>
          </a:xfrm>
          <a:prstGeom prst="rect">
            <a:avLst/>
          </a:prstGeom>
        </p:spPr>
      </p:pic>
      <p:sp>
        <p:nvSpPr>
          <p:cNvPr id="5" name="title_430"/>
          <p:cNvSpPr/>
          <p:nvPr/>
        </p:nvSpPr>
        <p:spPr>
          <a:xfrm>
            <a:off x="1261872" y="164592"/>
            <a:ext cx="470367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3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What does Colin say about…?</a:t>
            </a:r>
            <a:endParaRPr lang="en-US" sz="2300" dirty="0"/>
          </a:p>
        </p:txBody>
      </p:sp>
      <p:pic>
        <p:nvPicPr>
          <p:cNvPr id="6" name="brP_431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4727448" cy="402336"/>
          </a:xfrm>
          <a:prstGeom prst="rect">
            <a:avLst/>
          </a:prstGeom>
        </p:spPr>
      </p:pic>
      <p:sp>
        <p:nvSpPr>
          <p:cNvPr id="7" name="ins_432"/>
          <p:cNvSpPr/>
          <p:nvPr/>
        </p:nvSpPr>
        <p:spPr>
          <a:xfrm>
            <a:off x="1353312" y="731520"/>
            <a:ext cx="44714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Read the 4 questions. Listen again and answer.</a:t>
            </a:r>
            <a:endParaRPr lang="en-US" sz="1250" dirty="0"/>
          </a:p>
        </p:txBody>
      </p:sp>
      <p:sp>
        <p:nvSpPr>
          <p:cNvPr id="8" name="insIT_433"/>
          <p:cNvSpPr/>
          <p:nvPr/>
        </p:nvSpPr>
        <p:spPr>
          <a:xfrm>
            <a:off x="1371600" y="1115568"/>
            <a:ext cx="5852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Leggi le 4 domande. Ascolta di nuovo e rispondi.</a:t>
            </a:r>
            <a:endParaRPr lang="en-US" sz="950" dirty="0"/>
          </a:p>
        </p:txBody>
      </p:sp>
      <p:sp>
        <p:nvSpPr>
          <p:cNvPr id="9" name="cmd_434"/>
          <p:cNvSpPr/>
          <p:nvPr/>
        </p:nvSpPr>
        <p:spPr>
          <a:xfrm>
            <a:off x="6510528" y="182880"/>
            <a:ext cx="1901952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🎧 </a:t>
            </a:r>
            <a:pPr indent="0" marL="0">
              <a:buNone/>
            </a:pPr>
            <a:r>
              <a:rPr lang="en-US" sz="1200" dirty="0">
                <a:solidFill>
                  <a:srgbClr val="2F8DE4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LISTEN</a:t>
            </a:r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ASCOLTA</a:t>
            </a:r>
            <a:endParaRPr lang="en-US" sz="1100" dirty="0"/>
          </a:p>
        </p:txBody>
      </p:sp>
      <p:sp>
        <p:nvSpPr>
          <p:cNvPr id="10" name="meta_435"/>
          <p:cNvSpPr/>
          <p:nvPr/>
        </p:nvSpPr>
        <p:spPr>
          <a:xfrm>
            <a:off x="6583680" y="566928"/>
            <a:ext cx="2286000" cy="256032"/>
          </a:xfrm>
          <a:prstGeom prst="rect">
            <a:avLst/>
          </a:prstGeom>
          <a:noFill/>
          <a:ln/>
        </p:spPr>
        <p:txBody>
          <a:bodyPr wrap="square" lIns="101600" tIns="0" rIns="10160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4 min   👤 alone</a:t>
            </a:r>
            <a:endParaRPr lang="en-US" sz="950" dirty="0"/>
          </a:p>
        </p:txBody>
      </p:sp>
      <p:sp>
        <p:nvSpPr>
          <p:cNvPr id="11" name="tag_436"/>
          <p:cNvSpPr/>
          <p:nvPr/>
        </p:nvSpPr>
        <p:spPr>
          <a:xfrm>
            <a:off x="6510528" y="804672"/>
            <a:ext cx="2514600" cy="237744"/>
          </a:xfrm>
          <a:prstGeom prst="rect">
            <a:avLst/>
          </a:prstGeom>
          <a:noFill/>
          <a:ln/>
        </p:spPr>
        <p:txBody>
          <a:bodyPr wrap="square" lIns="101600" tIns="0" rIns="5080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Listening</a:t>
            </a:r>
            <a:pPr indent="0" marL="0">
              <a:buNone/>
            </a:pPr>
            <a:r>
              <a:rPr lang="en-US" sz="850" dirty="0">
                <a:solidFill>
                  <a:srgbClr val="7B5CD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· Listening for detail</a:t>
            </a:r>
            <a:endParaRPr lang="en-US" sz="850" dirty="0"/>
          </a:p>
        </p:txBody>
      </p:sp>
      <p:pic>
        <p:nvPicPr>
          <p:cNvPr id="12" name="logo_437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3" name="foot_438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6B-2 · Listening · detail · audio 6.19   ·   📖 SB p.63 · 5f · audio 6.19</a:t>
            </a:r>
            <a:endParaRPr lang="en-US" sz="800" dirty="0"/>
          </a:p>
        </p:txBody>
      </p:sp>
      <p:sp>
        <p:nvSpPr>
          <p:cNvPr id="14" name="ap_439"/>
          <p:cNvSpPr/>
          <p:nvPr/>
        </p:nvSpPr>
        <p:spPr>
          <a:xfrm>
            <a:off x="365760" y="1417320"/>
            <a:ext cx="2194560" cy="402336"/>
          </a:xfrm>
          <a:prstGeom prst="roundRect">
            <a:avLst>
              <a:gd name="adj" fmla="val 50000"/>
            </a:avLst>
          </a:prstGeom>
          <a:solidFill>
            <a:srgbClr val="E3F1FD"/>
          </a:solidFill>
          <a:ln w="19050">
            <a:solidFill>
              <a:srgbClr val="2F8DE4"/>
            </a:solidFill>
          </a:ln>
        </p:spPr>
        <p:txBody>
          <a:bodyPr wrap="square" lIns="127000" tIns="0" rIns="127000" bIns="0" rtlCol="0" anchor="ctr">
            <a:normAutofit/>
          </a:bodyPr>
          <a:lstStyle/>
          <a:p>
            <a:pPr indent="0" marL="0">
              <a:buNone/>
            </a:pPr>
            <a:r>
              <a:rPr lang="en-US" sz="11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🎧 6.19  ·  play 2× · 🐢 = slower</a:t>
            </a:r>
            <a:endParaRPr lang="en-US" sz="1100" dirty="0"/>
          </a:p>
        </p:txBody>
      </p:sp>
      <p:sp>
        <p:nvSpPr>
          <p:cNvPr id="15" name="ah_440"/>
          <p:cNvSpPr/>
          <p:nvPr/>
        </p:nvSpPr>
        <p:spPr>
          <a:xfrm>
            <a:off x="5925312" y="4572000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2F8DE4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▶ normal · 🐢 slower</a:t>
            </a:r>
            <a:endParaRPr lang="en-US" sz="950" dirty="0"/>
          </a:p>
        </p:txBody>
      </p:sp>
      <p:pic>
        <p:nvPicPr>
          <p:cNvPr id="16" name="Media 0">
            <a:hlinkClick r:id="" action="ppaction://media"/>
          </p:cNvPr>
          <p:cNvPicPr>
            <a:picLocks noChangeAspect="1"/>
          </p:cNvPicPr>
          <p:nvPr>
            <a:audioFile r:link="rId5"/>
            <p:extLst>
              <p:ext uri="{DAA4B4D4-6D71-4841-9C94-3DE7FCFB9230}">
                <p14:media xmlns:p14="http://schemas.microsoft.com/office/powerpoint/2010/main" r:embed="rId6"/>
              </p:ext>
            </p:extLst>
          </p:nvPr>
        </p:nvPicPr>
        <p:blipFill>
          <a:blip r:embed="rId7"/>
          <a:stretch>
            <a:fillRect/>
          </a:stretch>
        </p:blipFill>
        <p:spPr>
          <a:xfrm>
            <a:off x="7525512" y="4553712"/>
            <a:ext cx="411480" cy="411480"/>
          </a:xfrm>
          <a:prstGeom prst="rect">
            <a:avLst/>
          </a:prstGeom>
        </p:spPr>
      </p:pic>
      <p:pic>
        <p:nvPicPr>
          <p:cNvPr id="17" name="Media 1">
            <a:hlinkClick r:id="" action="ppaction://media"/>
          </p:cNvPr>
          <p:cNvPicPr>
            <a:picLocks noChangeAspect="1"/>
          </p:cNvPicPr>
          <p:nvPr>
            <a:audioFile r:link="rId8"/>
            <p:extLst>
              <p:ext uri="{DAA4B4D4-6D71-4841-9C94-3DE7FCFB9230}">
                <p14:media xmlns:p14="http://schemas.microsoft.com/office/powerpoint/2010/main" r:embed="rId9"/>
              </p:ext>
            </p:extLst>
          </p:nvPr>
        </p:nvPicPr>
        <p:blipFill>
          <a:blip r:embed="rId10"/>
          <a:stretch>
            <a:fillRect/>
          </a:stretch>
        </p:blipFill>
        <p:spPr>
          <a:xfrm>
            <a:off x="8001000" y="4553712"/>
            <a:ext cx="411480" cy="411480"/>
          </a:xfrm>
          <a:prstGeom prst="rect">
            <a:avLst/>
          </a:prstGeom>
        </p:spPr>
      </p:pic>
      <p:sp>
        <p:nvSpPr>
          <p:cNvPr id="18" name="pf_441"/>
          <p:cNvSpPr/>
          <p:nvPr/>
        </p:nvSpPr>
        <p:spPr>
          <a:xfrm rot="-90000">
            <a:off x="411480" y="2057400"/>
            <a:ext cx="2697480" cy="1783080"/>
          </a:xfrm>
          <a:prstGeom prst="roundRect">
            <a:avLst>
              <a:gd name="adj" fmla="val 871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20000"/>
              </a:srgbClr>
            </a:outerShdw>
          </a:effectLst>
        </p:spPr>
      </p:sp>
      <p:pic>
        <p:nvPicPr>
          <p:cNvPr id="19" name="ph_442" descr="/home/claude/lls-course/v2/cache/6B_2_colin_jpg_627x407_31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 rot="-90000">
            <a:off x="457200" y="2103120"/>
            <a:ext cx="2606040" cy="1691640"/>
          </a:xfrm>
          <a:prstGeom prst="rect">
            <a:avLst/>
          </a:prstGeom>
        </p:spPr>
      </p:pic>
      <p:sp>
        <p:nvSpPr>
          <p:cNvPr id="20" name="cd_443"/>
          <p:cNvSpPr/>
          <p:nvPr/>
        </p:nvSpPr>
        <p:spPr>
          <a:xfrm>
            <a:off x="320040" y="4023360"/>
            <a:ext cx="2788920" cy="731520"/>
          </a:xfrm>
          <a:prstGeom prst="roundRect">
            <a:avLst>
              <a:gd name="adj" fmla="val 17500"/>
            </a:avLst>
          </a:prstGeom>
          <a:solidFill>
            <a:srgbClr val="FFF6CC"/>
          </a:solidFill>
          <a:ln w="19050">
            <a:solidFill>
              <a:srgbClr val="FFE07A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21" name="ii_444"/>
          <p:cNvSpPr/>
          <p:nvPr/>
        </p:nvSpPr>
        <p:spPr>
          <a:xfrm>
            <a:off x="411480" y="409651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💡</a:t>
            </a:r>
            <a:endParaRPr lang="en-US" sz="2200" dirty="0"/>
          </a:p>
        </p:txBody>
      </p:sp>
      <p:sp>
        <p:nvSpPr>
          <p:cNvPr id="22" name="ih_445"/>
          <p:cNvSpPr/>
          <p:nvPr/>
        </p:nvSpPr>
        <p:spPr>
          <a:xfrm>
            <a:off x="886968" y="4114800"/>
            <a:ext cx="2148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Guess first, then listen!</a:t>
            </a:r>
            <a:endParaRPr lang="en-US" sz="1200" dirty="0"/>
          </a:p>
        </p:txBody>
      </p:sp>
      <p:sp>
        <p:nvSpPr>
          <p:cNvPr id="23" name="il_446"/>
          <p:cNvSpPr/>
          <p:nvPr/>
        </p:nvSpPr>
        <p:spPr>
          <a:xfrm>
            <a:off x="886968" y="4498848"/>
            <a:ext cx="21305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spcAft>
                <a:spcPts val="200"/>
              </a:spcAft>
              <a:buNone/>
            </a:pPr>
            <a:endParaRPr lang="en-US" sz="1100" dirty="0"/>
          </a:p>
        </p:txBody>
      </p:sp>
      <p:sp>
        <p:nvSpPr>
          <p:cNvPr id="24" name="gq_447"/>
          <p:cNvSpPr/>
          <p:nvPr/>
        </p:nvSpPr>
        <p:spPr>
          <a:xfrm>
            <a:off x="3383280" y="1417320"/>
            <a:ext cx="333756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1  talking about yourself</a:t>
            </a:r>
            <a:endParaRPr lang="en-US" sz="1200" dirty="0"/>
          </a:p>
        </p:txBody>
      </p:sp>
      <p:sp>
        <p:nvSpPr>
          <p:cNvPr id="25" name="R1_chip448"/>
          <p:cNvSpPr/>
          <p:nvPr/>
        </p:nvSpPr>
        <p:spPr>
          <a:xfrm>
            <a:off x="6812280" y="1417320"/>
            <a:ext cx="2057400" cy="457200"/>
          </a:xfrm>
          <a:prstGeom prst="roundRect">
            <a:avLst>
              <a:gd name="adj" fmla="val 20000"/>
            </a:avLst>
          </a:prstGeom>
          <a:solidFill>
            <a:srgbClr val="FFF6CC"/>
          </a:solidFill>
          <a:ln w="19050">
            <a:solidFill>
              <a:srgbClr val="F2B70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enough – but not too much</a:t>
            </a:r>
            <a:endParaRPr lang="en-US" sz="1200" dirty="0"/>
          </a:p>
        </p:txBody>
      </p:sp>
      <p:sp>
        <p:nvSpPr>
          <p:cNvPr id="26" name="gq_449"/>
          <p:cNvSpPr/>
          <p:nvPr/>
        </p:nvSpPr>
        <p:spPr>
          <a:xfrm>
            <a:off x="3383280" y="1938528"/>
            <a:ext cx="333756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A9D3F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2  remembering a past success</a:t>
            </a:r>
            <a:endParaRPr lang="en-US" sz="1200" dirty="0"/>
          </a:p>
        </p:txBody>
      </p:sp>
      <p:sp>
        <p:nvSpPr>
          <p:cNvPr id="27" name="R2_chip450"/>
          <p:cNvSpPr/>
          <p:nvPr/>
        </p:nvSpPr>
        <p:spPr>
          <a:xfrm>
            <a:off x="6812280" y="1938528"/>
            <a:ext cx="2057400" cy="457200"/>
          </a:xfrm>
          <a:prstGeom prst="roundRect">
            <a:avLst>
              <a:gd name="adj" fmla="val 20000"/>
            </a:avLst>
          </a:prstGeom>
          <a:solidFill>
            <a:srgbClr val="FFF6CC"/>
          </a:solidFill>
          <a:ln w="19050">
            <a:solidFill>
              <a:srgbClr val="F2B70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it helps you feel more confident</a:t>
            </a:r>
            <a:endParaRPr lang="en-US" sz="1200" dirty="0"/>
          </a:p>
        </p:txBody>
      </p:sp>
      <p:sp>
        <p:nvSpPr>
          <p:cNvPr id="28" name="gq_451"/>
          <p:cNvSpPr/>
          <p:nvPr/>
        </p:nvSpPr>
        <p:spPr>
          <a:xfrm>
            <a:off x="3383280" y="2459736"/>
            <a:ext cx="333756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3  how to enter a room</a:t>
            </a:r>
            <a:endParaRPr lang="en-US" sz="1200" dirty="0"/>
          </a:p>
        </p:txBody>
      </p:sp>
      <p:sp>
        <p:nvSpPr>
          <p:cNvPr id="29" name="R3_chip452"/>
          <p:cNvSpPr/>
          <p:nvPr/>
        </p:nvSpPr>
        <p:spPr>
          <a:xfrm>
            <a:off x="6812280" y="2459736"/>
            <a:ext cx="2057400" cy="457200"/>
          </a:xfrm>
          <a:prstGeom prst="roundRect">
            <a:avLst>
              <a:gd name="adj" fmla="val 20000"/>
            </a:avLst>
          </a:prstGeom>
          <a:solidFill>
            <a:srgbClr val="FFF6CC"/>
          </a:solidFill>
          <a:ln w="19050">
            <a:solidFill>
              <a:srgbClr val="F2B70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chin up, shoulders back</a:t>
            </a:r>
            <a:endParaRPr lang="en-US" sz="1200" dirty="0"/>
          </a:p>
        </p:txBody>
      </p:sp>
      <p:sp>
        <p:nvSpPr>
          <p:cNvPr id="30" name="gq_453"/>
          <p:cNvSpPr/>
          <p:nvPr/>
        </p:nvSpPr>
        <p:spPr>
          <a:xfrm>
            <a:off x="3383280" y="2980944"/>
            <a:ext cx="333756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FFE07A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4  if you aren't really listening</a:t>
            </a:r>
            <a:endParaRPr lang="en-US" sz="1200" dirty="0"/>
          </a:p>
        </p:txBody>
      </p:sp>
      <p:sp>
        <p:nvSpPr>
          <p:cNvPr id="31" name="R4_chip454"/>
          <p:cNvSpPr/>
          <p:nvPr/>
        </p:nvSpPr>
        <p:spPr>
          <a:xfrm>
            <a:off x="6812280" y="2980944"/>
            <a:ext cx="2057400" cy="457200"/>
          </a:xfrm>
          <a:prstGeom prst="roundRect">
            <a:avLst>
              <a:gd name="adj" fmla="val 20000"/>
            </a:avLst>
          </a:prstGeom>
          <a:solidFill>
            <a:srgbClr val="FFF6CC"/>
          </a:solidFill>
          <a:ln w="19050">
            <a:solidFill>
              <a:srgbClr val="F2B70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the other person notices very quickly</a:t>
            </a:r>
            <a:endParaRPr lang="en-US" sz="120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seq concurrent="1" nextAc="seek">
              <p:cTn id="23" restart="whenNotActive" fill="hold" evtFilter="cancelBubble" nodeType="interactiveSeq">
                <p:stCondLst>
                  <p:cond evt="onClick" delay="0">
                    <p:tgtEl>
                      <p:spTgt spid="16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24" fill="hold">
                      <p:stCondLst>
                        <p:cond delay="0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27" dur="1" fill="hold"/>
                                        <p:tgtEl>
                                          <p:spTgt spid="16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6"/>
                  </p:tgtEl>
                </p:cond>
              </p:nextCondLst>
            </p:seq>
            <p:seq concurrent="1" nextAc="seek">
              <p:cTn id="28" restart="whenNotActive" fill="hold" evtFilter="cancelBubble" nodeType="interactiveSeq">
                <p:stCondLst>
                  <p:cond evt="onClick" delay="0">
                    <p:tgtEl>
                      <p:spTgt spid="17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29" fill="hold">
                      <p:stCondLst>
                        <p:cond delay="0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32" dur="1" fill="hold"/>
                                        <p:tgtEl>
                                          <p:spTgt spid="17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7"/>
                  </p:tgtEl>
                </p:cond>
              </p:nextCondLst>
            </p:seq>
            <p:audio>
              <p:cMediaNode vol="80000">
                <p:cTn id="33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16"/>
                </p:tgtEl>
              </p:cMediaNode>
            </p:audio>
            <p:audio>
              <p:cMediaNode vol="80000">
                <p:cTn id="34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17"/>
                </p:tgtEl>
              </p:cMediaNode>
            </p:audio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455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2F8DE4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15</a:t>
            </a:r>
            <a:endParaRPr lang="en-US" sz="2200" dirty="0"/>
          </a:p>
        </p:txBody>
      </p:sp>
      <p:pic>
        <p:nvPicPr>
          <p:cNvPr id="4" name="brY_456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2618842" cy="621792"/>
          </a:xfrm>
          <a:prstGeom prst="rect">
            <a:avLst/>
          </a:prstGeom>
        </p:spPr>
      </p:pic>
      <p:sp>
        <p:nvSpPr>
          <p:cNvPr id="5" name="title_457"/>
          <p:cNvSpPr/>
          <p:nvPr/>
        </p:nvSpPr>
        <p:spPr>
          <a:xfrm>
            <a:off x="1261872" y="164592"/>
            <a:ext cx="234452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Colin's test</a:t>
            </a:r>
            <a:endParaRPr lang="en-US" sz="2500" dirty="0"/>
          </a:p>
        </p:txBody>
      </p:sp>
      <p:pic>
        <p:nvPicPr>
          <p:cNvPr id="6" name="brP_458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4032504" cy="402336"/>
          </a:xfrm>
          <a:prstGeom prst="rect">
            <a:avLst/>
          </a:prstGeom>
        </p:spPr>
      </p:pic>
      <p:sp>
        <p:nvSpPr>
          <p:cNvPr id="7" name="ins_459"/>
          <p:cNvSpPr/>
          <p:nvPr/>
        </p:nvSpPr>
        <p:spPr>
          <a:xfrm>
            <a:off x="1353312" y="731520"/>
            <a:ext cx="377647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Guess first. Then listen and complete.</a:t>
            </a:r>
            <a:endParaRPr lang="en-US" sz="1250" dirty="0"/>
          </a:p>
        </p:txBody>
      </p:sp>
      <p:sp>
        <p:nvSpPr>
          <p:cNvPr id="8" name="insIT_460"/>
          <p:cNvSpPr/>
          <p:nvPr/>
        </p:nvSpPr>
        <p:spPr>
          <a:xfrm>
            <a:off x="1371600" y="1115568"/>
            <a:ext cx="5852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Indovina prima. Poi ascolta e completa.</a:t>
            </a:r>
            <a:endParaRPr lang="en-US" sz="950" dirty="0"/>
          </a:p>
        </p:txBody>
      </p:sp>
      <p:sp>
        <p:nvSpPr>
          <p:cNvPr id="9" name="cmd_461"/>
          <p:cNvSpPr/>
          <p:nvPr/>
        </p:nvSpPr>
        <p:spPr>
          <a:xfrm>
            <a:off x="6510528" y="182880"/>
            <a:ext cx="1901952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💡 </a:t>
            </a:r>
            <a:pPr indent="0" marL="0">
              <a:buNone/>
            </a:pPr>
            <a:r>
              <a:rPr lang="en-US" sz="1200" dirty="0">
                <a:solidFill>
                  <a:srgbClr val="2F8DE4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THINK</a:t>
            </a:r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PENSA</a:t>
            </a:r>
            <a:endParaRPr lang="en-US" sz="1100" dirty="0"/>
          </a:p>
        </p:txBody>
      </p:sp>
      <p:sp>
        <p:nvSpPr>
          <p:cNvPr id="10" name="cmd_462"/>
          <p:cNvSpPr/>
          <p:nvPr/>
        </p:nvSpPr>
        <p:spPr>
          <a:xfrm>
            <a:off x="6510528" y="566928"/>
            <a:ext cx="1901952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🎧 </a:t>
            </a:r>
            <a:pPr indent="0" marL="0">
              <a:buNone/>
            </a:pPr>
            <a:r>
              <a:rPr lang="en-US" sz="1200" dirty="0">
                <a:solidFill>
                  <a:srgbClr val="2F8DE4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LISTEN</a:t>
            </a:r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ASCOLTA</a:t>
            </a:r>
            <a:endParaRPr lang="en-US" sz="1100" dirty="0"/>
          </a:p>
        </p:txBody>
      </p:sp>
      <p:sp>
        <p:nvSpPr>
          <p:cNvPr id="11" name="meta_463"/>
          <p:cNvSpPr/>
          <p:nvPr/>
        </p:nvSpPr>
        <p:spPr>
          <a:xfrm>
            <a:off x="6583680" y="950976"/>
            <a:ext cx="2286000" cy="256032"/>
          </a:xfrm>
          <a:prstGeom prst="rect">
            <a:avLst/>
          </a:prstGeom>
          <a:noFill/>
          <a:ln/>
        </p:spPr>
        <p:txBody>
          <a:bodyPr wrap="square" lIns="101600" tIns="0" rIns="10160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3 min   👤 alone</a:t>
            </a:r>
            <a:endParaRPr lang="en-US" sz="950" dirty="0"/>
          </a:p>
        </p:txBody>
      </p:sp>
      <p:sp>
        <p:nvSpPr>
          <p:cNvPr id="12" name="tag_464"/>
          <p:cNvSpPr/>
          <p:nvPr/>
        </p:nvSpPr>
        <p:spPr>
          <a:xfrm>
            <a:off x="6510528" y="1188720"/>
            <a:ext cx="2514600" cy="237744"/>
          </a:xfrm>
          <a:prstGeom prst="rect">
            <a:avLst/>
          </a:prstGeom>
          <a:noFill/>
          <a:ln/>
        </p:spPr>
        <p:txBody>
          <a:bodyPr wrap="square" lIns="101600" tIns="0" rIns="5080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Listening</a:t>
            </a:r>
            <a:pPr indent="0" marL="0">
              <a:buNone/>
            </a:pPr>
            <a:r>
              <a:rPr lang="en-US" sz="850" dirty="0">
                <a:solidFill>
                  <a:srgbClr val="7B5CD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· Listening for detail</a:t>
            </a:r>
            <a:endParaRPr lang="en-US" sz="850" dirty="0"/>
          </a:p>
        </p:txBody>
      </p:sp>
      <p:pic>
        <p:nvPicPr>
          <p:cNvPr id="13" name="logo_465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4" name="foot_466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6B-2 · Listening · the practical test · audio 6.20   ·   📖 SB p.63 · 5g · audio 6.20</a:t>
            </a:r>
            <a:endParaRPr lang="en-US" sz="800" dirty="0"/>
          </a:p>
        </p:txBody>
      </p:sp>
      <p:sp>
        <p:nvSpPr>
          <p:cNvPr id="15" name="ap_467"/>
          <p:cNvSpPr/>
          <p:nvPr/>
        </p:nvSpPr>
        <p:spPr>
          <a:xfrm>
            <a:off x="365760" y="1417320"/>
            <a:ext cx="2194560" cy="402336"/>
          </a:xfrm>
          <a:prstGeom prst="roundRect">
            <a:avLst>
              <a:gd name="adj" fmla="val 50000"/>
            </a:avLst>
          </a:prstGeom>
          <a:solidFill>
            <a:srgbClr val="E3F1FD"/>
          </a:solidFill>
          <a:ln w="19050">
            <a:solidFill>
              <a:srgbClr val="2F8DE4"/>
            </a:solidFill>
          </a:ln>
        </p:spPr>
        <p:txBody>
          <a:bodyPr wrap="square" lIns="127000" tIns="0" rIns="127000" bIns="0" rtlCol="0" anchor="ctr">
            <a:normAutofit/>
          </a:bodyPr>
          <a:lstStyle/>
          <a:p>
            <a:pPr indent="0" marL="0">
              <a:buNone/>
            </a:pPr>
            <a:r>
              <a:rPr lang="en-US" sz="11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🎧 6.20  ·  play 1–2× · 🐢 = slower</a:t>
            </a:r>
            <a:endParaRPr lang="en-US" sz="1100" dirty="0"/>
          </a:p>
        </p:txBody>
      </p:sp>
      <p:sp>
        <p:nvSpPr>
          <p:cNvPr id="16" name="ah_468"/>
          <p:cNvSpPr/>
          <p:nvPr/>
        </p:nvSpPr>
        <p:spPr>
          <a:xfrm>
            <a:off x="5925312" y="4572000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2F8DE4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▶ normal · 🐢 slower</a:t>
            </a:r>
            <a:endParaRPr lang="en-US" sz="950" dirty="0"/>
          </a:p>
        </p:txBody>
      </p:sp>
      <p:pic>
        <p:nvPicPr>
          <p:cNvPr id="17" name="Media 0">
            <a:hlinkClick r:id="" action="ppaction://media"/>
          </p:cNvPr>
          <p:cNvPicPr>
            <a:picLocks noChangeAspect="1"/>
          </p:cNvPicPr>
          <p:nvPr>
            <a:audioFile r:link="rId5"/>
            <p:extLst>
              <p:ext uri="{DAA4B4D4-6D71-4841-9C94-3DE7FCFB9230}">
                <p14:media xmlns:p14="http://schemas.microsoft.com/office/powerpoint/2010/main" r:embed="rId6"/>
              </p:ext>
            </p:extLst>
          </p:nvPr>
        </p:nvPicPr>
        <p:blipFill>
          <a:blip r:embed="rId7"/>
          <a:stretch>
            <a:fillRect/>
          </a:stretch>
        </p:blipFill>
        <p:spPr>
          <a:xfrm>
            <a:off x="7525512" y="4553712"/>
            <a:ext cx="411480" cy="411480"/>
          </a:xfrm>
          <a:prstGeom prst="rect">
            <a:avLst/>
          </a:prstGeom>
        </p:spPr>
      </p:pic>
      <p:pic>
        <p:nvPicPr>
          <p:cNvPr id="18" name="Media 1">
            <a:hlinkClick r:id="" action="ppaction://media"/>
          </p:cNvPr>
          <p:cNvPicPr>
            <a:picLocks noChangeAspect="1"/>
          </p:cNvPicPr>
          <p:nvPr>
            <a:audioFile r:link="rId8"/>
            <p:extLst>
              <p:ext uri="{DAA4B4D4-6D71-4841-9C94-3DE7FCFB9230}">
                <p14:media xmlns:p14="http://schemas.microsoft.com/office/powerpoint/2010/main" r:embed="rId9"/>
              </p:ext>
            </p:extLst>
          </p:nvPr>
        </p:nvPicPr>
        <p:blipFill>
          <a:blip r:embed="rId10"/>
          <a:stretch>
            <a:fillRect/>
          </a:stretch>
        </p:blipFill>
        <p:spPr>
          <a:xfrm>
            <a:off x="8001000" y="4553712"/>
            <a:ext cx="411480" cy="411480"/>
          </a:xfrm>
          <a:prstGeom prst="rect">
            <a:avLst/>
          </a:prstGeom>
        </p:spPr>
      </p:pic>
      <p:sp>
        <p:nvSpPr>
          <p:cNvPr id="19" name="pf_469"/>
          <p:cNvSpPr/>
          <p:nvPr/>
        </p:nvSpPr>
        <p:spPr>
          <a:xfrm rot="-90000">
            <a:off x="411480" y="2057400"/>
            <a:ext cx="2697480" cy="1783080"/>
          </a:xfrm>
          <a:prstGeom prst="roundRect">
            <a:avLst>
              <a:gd name="adj" fmla="val 871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20000"/>
              </a:srgbClr>
            </a:outerShdw>
          </a:effectLst>
        </p:spPr>
      </p:sp>
      <p:pic>
        <p:nvPicPr>
          <p:cNvPr id="20" name="ph_470" descr="/home/claude/lls-course/v2/cache/6B_2_people_jpg_627x407_31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 rot="-90000">
            <a:off x="457200" y="2103120"/>
            <a:ext cx="2606040" cy="1691640"/>
          </a:xfrm>
          <a:prstGeom prst="rect">
            <a:avLst/>
          </a:prstGeom>
        </p:spPr>
      </p:pic>
      <p:sp>
        <p:nvSpPr>
          <p:cNvPr id="21" name="cd_471"/>
          <p:cNvSpPr/>
          <p:nvPr/>
        </p:nvSpPr>
        <p:spPr>
          <a:xfrm>
            <a:off x="320040" y="4023360"/>
            <a:ext cx="2788920" cy="731520"/>
          </a:xfrm>
          <a:prstGeom prst="roundRect">
            <a:avLst>
              <a:gd name="adj" fmla="val 17500"/>
            </a:avLst>
          </a:prstGeom>
          <a:solidFill>
            <a:srgbClr val="FFF6CC"/>
          </a:solidFill>
          <a:ln w="19050">
            <a:solidFill>
              <a:srgbClr val="FFE07A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22" name="ii_472"/>
          <p:cNvSpPr/>
          <p:nvPr/>
        </p:nvSpPr>
        <p:spPr>
          <a:xfrm>
            <a:off x="411480" y="409651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💡</a:t>
            </a:r>
            <a:endParaRPr lang="en-US" sz="2200" dirty="0"/>
          </a:p>
        </p:txBody>
      </p:sp>
      <p:sp>
        <p:nvSpPr>
          <p:cNvPr id="23" name="ih_473"/>
          <p:cNvSpPr/>
          <p:nvPr/>
        </p:nvSpPr>
        <p:spPr>
          <a:xfrm>
            <a:off x="886968" y="4114800"/>
            <a:ext cx="2148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Guess first, then listen!</a:t>
            </a:r>
            <a:endParaRPr lang="en-US" sz="1200" dirty="0"/>
          </a:p>
        </p:txBody>
      </p:sp>
      <p:sp>
        <p:nvSpPr>
          <p:cNvPr id="24" name="il_474"/>
          <p:cNvSpPr/>
          <p:nvPr/>
        </p:nvSpPr>
        <p:spPr>
          <a:xfrm>
            <a:off x="886968" y="4498848"/>
            <a:ext cx="21305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spcAft>
                <a:spcPts val="200"/>
              </a:spcAft>
              <a:buNone/>
            </a:pPr>
            <a:endParaRPr lang="en-US" sz="1100" dirty="0"/>
          </a:p>
        </p:txBody>
      </p:sp>
      <p:sp>
        <p:nvSpPr>
          <p:cNvPr id="25" name="gq_475"/>
          <p:cNvSpPr/>
          <p:nvPr/>
        </p:nvSpPr>
        <p:spPr>
          <a:xfrm>
            <a:off x="3383280" y="1417320"/>
            <a:ext cx="333756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1  In the pub, Colin has to…</a:t>
            </a:r>
            <a:endParaRPr lang="en-US" sz="1200" dirty="0"/>
          </a:p>
        </p:txBody>
      </p:sp>
      <p:sp>
        <p:nvSpPr>
          <p:cNvPr id="26" name="R1_chip476"/>
          <p:cNvSpPr/>
          <p:nvPr/>
        </p:nvSpPr>
        <p:spPr>
          <a:xfrm>
            <a:off x="6812280" y="1417320"/>
            <a:ext cx="2057400" cy="457200"/>
          </a:xfrm>
          <a:prstGeom prst="roundRect">
            <a:avLst>
              <a:gd name="adj" fmla="val 20000"/>
            </a:avLst>
          </a:prstGeom>
          <a:solidFill>
            <a:srgbClr val="FFF6CC"/>
          </a:solidFill>
          <a:ln w="19050">
            <a:solidFill>
              <a:srgbClr val="F2B70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talk to strangers</a:t>
            </a:r>
            <a:endParaRPr lang="en-US" sz="1200" dirty="0"/>
          </a:p>
        </p:txBody>
      </p:sp>
      <p:sp>
        <p:nvSpPr>
          <p:cNvPr id="27" name="gq_477"/>
          <p:cNvSpPr/>
          <p:nvPr/>
        </p:nvSpPr>
        <p:spPr>
          <a:xfrm>
            <a:off x="3383280" y="1938528"/>
            <a:ext cx="333756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A9D3F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2  Sheikh helps him by…</a:t>
            </a:r>
            <a:endParaRPr lang="en-US" sz="1200" dirty="0"/>
          </a:p>
        </p:txBody>
      </p:sp>
      <p:sp>
        <p:nvSpPr>
          <p:cNvPr id="28" name="R2_chip478"/>
          <p:cNvSpPr/>
          <p:nvPr/>
        </p:nvSpPr>
        <p:spPr>
          <a:xfrm>
            <a:off x="6812280" y="1938528"/>
            <a:ext cx="2057400" cy="457200"/>
          </a:xfrm>
          <a:prstGeom prst="roundRect">
            <a:avLst>
              <a:gd name="adj" fmla="val 20000"/>
            </a:avLst>
          </a:prstGeom>
          <a:solidFill>
            <a:srgbClr val="FFF6CC"/>
          </a:solidFill>
          <a:ln w="19050">
            <a:solidFill>
              <a:srgbClr val="F2B70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giving advice: make eye contact, don't cross your arms</a:t>
            </a:r>
            <a:endParaRPr lang="en-US" sz="850" dirty="0"/>
          </a:p>
        </p:txBody>
      </p:sp>
      <p:sp>
        <p:nvSpPr>
          <p:cNvPr id="29" name="gq_479"/>
          <p:cNvSpPr/>
          <p:nvPr/>
        </p:nvSpPr>
        <p:spPr>
          <a:xfrm>
            <a:off x="3383280" y="2459736"/>
            <a:ext cx="333756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3  In the end, Colin thinks charisma is about…</a:t>
            </a:r>
            <a:endParaRPr lang="en-US" sz="1200" dirty="0"/>
          </a:p>
        </p:txBody>
      </p:sp>
      <p:sp>
        <p:nvSpPr>
          <p:cNvPr id="30" name="R3_chip480"/>
          <p:cNvSpPr/>
          <p:nvPr/>
        </p:nvSpPr>
        <p:spPr>
          <a:xfrm>
            <a:off x="6812280" y="2459736"/>
            <a:ext cx="2057400" cy="457200"/>
          </a:xfrm>
          <a:prstGeom prst="roundRect">
            <a:avLst>
              <a:gd name="adj" fmla="val 20000"/>
            </a:avLst>
          </a:prstGeom>
          <a:solidFill>
            <a:srgbClr val="FFF6CC"/>
          </a:solidFill>
          <a:ln w="19050">
            <a:solidFill>
              <a:srgbClr val="F2B70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understanding who you really are</a:t>
            </a:r>
            <a:endParaRPr lang="en-US" sz="120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seq concurrent="1" nextAc="seek">
              <p:cTn id="18" restart="whenNotActive" fill="hold" evtFilter="cancelBubble" nodeType="interactiveSeq">
                <p:stCondLst>
                  <p:cond evt="onClick" delay="0">
                    <p:tgtEl>
                      <p:spTgt spid="17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9" fill="hold">
                      <p:stCondLst>
                        <p:cond delay="0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22" dur="1" fill="hold"/>
                                        <p:tgtEl>
                                          <p:spTgt spid="17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7"/>
                  </p:tgtEl>
                </p:cond>
              </p:nextCondLst>
            </p:seq>
            <p:seq concurrent="1" nextAc="seek">
              <p:cTn id="23" restart="whenNotActive" fill="hold" evtFilter="cancelBubble" nodeType="interactiveSeq">
                <p:stCondLst>
                  <p:cond evt="onClick" delay="0">
                    <p:tgtEl>
                      <p:spTgt spid="18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24" fill="hold">
                      <p:stCondLst>
                        <p:cond delay="0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27" dur="1" fill="hold"/>
                                        <p:tgtEl>
                                          <p:spTgt spid="18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8"/>
                  </p:tgtEl>
                </p:cond>
              </p:nextCondLst>
            </p:seq>
            <p:audio>
              <p:cMediaNode vol="80000">
                <p:cTn id="28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17"/>
                </p:tgtEl>
              </p:cMediaNode>
            </p:audio>
            <p:audio>
              <p:cMediaNode vol="80000">
                <p:cTn id="29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18"/>
                </p:tgtEl>
              </p:cMediaNode>
            </p:audio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481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E8508F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16</a:t>
            </a:r>
            <a:endParaRPr lang="en-US" sz="2200" dirty="0"/>
          </a:p>
        </p:txBody>
      </p:sp>
      <p:pic>
        <p:nvPicPr>
          <p:cNvPr id="4" name="brY_482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1989734" cy="621792"/>
          </a:xfrm>
          <a:prstGeom prst="rect">
            <a:avLst/>
          </a:prstGeom>
        </p:spPr>
      </p:pic>
      <p:sp>
        <p:nvSpPr>
          <p:cNvPr id="5" name="title_483"/>
          <p:cNvSpPr/>
          <p:nvPr/>
        </p:nvSpPr>
        <p:spPr>
          <a:xfrm>
            <a:off x="1261872" y="164592"/>
            <a:ext cx="171541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Mime it!</a:t>
            </a:r>
            <a:endParaRPr lang="en-US" sz="2500" dirty="0"/>
          </a:p>
        </p:txBody>
      </p:sp>
      <p:pic>
        <p:nvPicPr>
          <p:cNvPr id="6" name="brP_484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4901184" cy="402336"/>
          </a:xfrm>
          <a:prstGeom prst="rect">
            <a:avLst/>
          </a:prstGeom>
        </p:spPr>
      </p:pic>
      <p:sp>
        <p:nvSpPr>
          <p:cNvPr id="7" name="ins_485"/>
          <p:cNvSpPr/>
          <p:nvPr/>
        </p:nvSpPr>
        <p:spPr>
          <a:xfrm>
            <a:off x="1353312" y="731520"/>
            <a:ext cx="464515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Mime the action. Your team says the FULL phrase!</a:t>
            </a:r>
            <a:endParaRPr lang="en-US" sz="1250" dirty="0"/>
          </a:p>
        </p:txBody>
      </p:sp>
      <p:sp>
        <p:nvSpPr>
          <p:cNvPr id="8" name="insIT_486"/>
          <p:cNvSpPr/>
          <p:nvPr/>
        </p:nvSpPr>
        <p:spPr>
          <a:xfrm>
            <a:off x="1371600" y="1115568"/>
            <a:ext cx="5852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Mima l'azione. La tua squadra dice la frase COMPLETA!</a:t>
            </a:r>
            <a:endParaRPr lang="en-US" sz="950" dirty="0"/>
          </a:p>
        </p:txBody>
      </p:sp>
      <p:sp>
        <p:nvSpPr>
          <p:cNvPr id="9" name="cmd_487"/>
          <p:cNvSpPr/>
          <p:nvPr/>
        </p:nvSpPr>
        <p:spPr>
          <a:xfrm>
            <a:off x="6510528" y="182880"/>
            <a:ext cx="1901952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FFE07A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🎲 </a:t>
            </a:r>
            <a:pPr indent="0" marL="0">
              <a:buNone/>
            </a:pPr>
            <a:r>
              <a:rPr lang="en-US" sz="1200" dirty="0">
                <a:solidFill>
                  <a:srgbClr val="F2B705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PLAY</a:t>
            </a:r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GIOCA</a:t>
            </a:r>
            <a:endParaRPr lang="en-US" sz="1100" dirty="0"/>
          </a:p>
        </p:txBody>
      </p:sp>
      <p:sp>
        <p:nvSpPr>
          <p:cNvPr id="10" name="meta_488"/>
          <p:cNvSpPr/>
          <p:nvPr/>
        </p:nvSpPr>
        <p:spPr>
          <a:xfrm>
            <a:off x="6583680" y="566928"/>
            <a:ext cx="2286000" cy="256032"/>
          </a:xfrm>
          <a:prstGeom prst="rect">
            <a:avLst/>
          </a:prstGeom>
          <a:noFill/>
          <a:ln/>
        </p:spPr>
        <p:txBody>
          <a:bodyPr wrap="square" lIns="101600" tIns="0" rIns="10160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5 min   🏆 teams</a:t>
            </a:r>
            <a:endParaRPr lang="en-US" sz="950" dirty="0"/>
          </a:p>
        </p:txBody>
      </p:sp>
      <p:sp>
        <p:nvSpPr>
          <p:cNvPr id="11" name="tag_489"/>
          <p:cNvSpPr/>
          <p:nvPr/>
        </p:nvSpPr>
        <p:spPr>
          <a:xfrm>
            <a:off x="6510528" y="804672"/>
            <a:ext cx="2514600" cy="237744"/>
          </a:xfrm>
          <a:prstGeom prst="rect">
            <a:avLst/>
          </a:prstGeom>
          <a:noFill/>
          <a:ln/>
        </p:spPr>
        <p:txBody>
          <a:bodyPr wrap="square" lIns="101600" tIns="0" rIns="5080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Speaking</a:t>
            </a:r>
            <a:pPr indent="0" marL="0">
              <a:buNone/>
            </a:pPr>
            <a:r>
              <a:rPr lang="en-US" sz="850" dirty="0">
                <a:solidFill>
                  <a:srgbClr val="7B5CD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· Communicative game</a:t>
            </a:r>
            <a:endParaRPr lang="en-US" sz="850" dirty="0"/>
          </a:p>
        </p:txBody>
      </p:sp>
      <p:pic>
        <p:nvPicPr>
          <p:cNvPr id="12" name="logo_490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3" name="foot_491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6B-2 · Game · body-language mime   ·   📖 SB p.63 · 5h</a:t>
            </a:r>
            <a:endParaRPr lang="en-US" sz="800" dirty="0"/>
          </a:p>
        </p:txBody>
      </p:sp>
      <p:sp>
        <p:nvSpPr>
          <p:cNvPr id="14" name="cd_492"/>
          <p:cNvSpPr/>
          <p:nvPr/>
        </p:nvSpPr>
        <p:spPr>
          <a:xfrm>
            <a:off x="320040" y="1417320"/>
            <a:ext cx="2697480" cy="2194560"/>
          </a:xfrm>
          <a:prstGeom prst="roundRect">
            <a:avLst>
              <a:gd name="adj" fmla="val 5833"/>
            </a:avLst>
          </a:prstGeom>
          <a:solidFill>
            <a:srgbClr val="FFF6CC"/>
          </a:solidFill>
          <a:ln w="19050">
            <a:solidFill>
              <a:srgbClr val="FFE07A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5" name="ii_493"/>
          <p:cNvSpPr/>
          <p:nvPr/>
        </p:nvSpPr>
        <p:spPr>
          <a:xfrm>
            <a:off x="411480" y="14904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🎲</a:t>
            </a:r>
            <a:endParaRPr lang="en-US" sz="2200" dirty="0"/>
          </a:p>
        </p:txBody>
      </p:sp>
      <p:sp>
        <p:nvSpPr>
          <p:cNvPr id="16" name="ih_494"/>
          <p:cNvSpPr/>
          <p:nvPr/>
        </p:nvSpPr>
        <p:spPr>
          <a:xfrm>
            <a:off x="886968" y="1508760"/>
            <a:ext cx="2057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How to play</a:t>
            </a:r>
            <a:endParaRPr lang="en-US" sz="1400" dirty="0"/>
          </a:p>
        </p:txBody>
      </p:sp>
      <p:sp>
        <p:nvSpPr>
          <p:cNvPr id="17" name="il_495"/>
          <p:cNvSpPr/>
          <p:nvPr/>
        </p:nvSpPr>
        <p:spPr>
          <a:xfrm>
            <a:off x="886968" y="1892808"/>
            <a:ext cx="203911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90500" indent="-190500">
              <a:spcAft>
                <a:spcPts val="200"/>
              </a:spcAft>
              <a:buSzPct val="100000"/>
              <a:buChar char="1"/>
            </a:pPr>
            <a:r>
              <a:rPr lang="en-US" sz="1000" dirty="0">
                <a:solidFill>
                  <a:srgbClr val="1B25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mimer looks at the screen – the team does NOT.</a:t>
            </a:r>
            <a:endParaRPr lang="en-US" sz="1000" dirty="0"/>
          </a:p>
          <a:p>
            <a:pPr marL="190500" indent="-190500">
              <a:spcAft>
                <a:spcPts val="200"/>
              </a:spcAft>
              <a:buSzPct val="100000"/>
              <a:buChar char="​"/>
            </a:pPr>
            <a:r>
              <a:rPr lang="en-US" sz="900" i="1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Il mimo guarda lo schermo – la squadra NO.</a:t>
            </a:r>
            <a:endParaRPr lang="en-US" sz="1000" dirty="0"/>
          </a:p>
          <a:p>
            <a:pPr marL="190500" indent="-190500">
              <a:spcBef>
                <a:spcPts val="500"/>
              </a:spcBef>
              <a:spcAft>
                <a:spcPts val="200"/>
              </a:spcAft>
              <a:buSzPct val="100000"/>
              <a:buChar char="2"/>
            </a:pPr>
            <a:r>
              <a:rPr lang="en-US" sz="1000" dirty="0">
                <a:solidFill>
                  <a:srgbClr val="1B25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Mime it: no words, no sounds!</a:t>
            </a:r>
            <a:endParaRPr lang="en-US" sz="1000" dirty="0"/>
          </a:p>
          <a:p>
            <a:pPr marL="190500" indent="-190500">
              <a:spcAft>
                <a:spcPts val="200"/>
              </a:spcAft>
              <a:buSzPct val="100000"/>
              <a:buChar char="​"/>
            </a:pPr>
            <a:r>
              <a:rPr lang="en-US" sz="900" i="1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Mima: niente parole, niente suoni!</a:t>
            </a:r>
            <a:endParaRPr lang="en-US" sz="1000" dirty="0"/>
          </a:p>
          <a:p>
            <a:pPr marL="190500" indent="-190500">
              <a:spcBef>
                <a:spcPts val="500"/>
              </a:spcBef>
              <a:spcAft>
                <a:spcPts val="200"/>
              </a:spcAft>
              <a:buSzPct val="100000"/>
              <a:buChar char="3"/>
            </a:pPr>
            <a:r>
              <a:rPr lang="en-US" sz="1000" dirty="0">
                <a:solidFill>
                  <a:srgbClr val="1B25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Team: 'You're shaking hands!' Full phrase = 1 point.</a:t>
            </a:r>
            <a:endParaRPr lang="en-US" sz="1000" dirty="0"/>
          </a:p>
          <a:p>
            <a:pPr marL="190500" indent="-190500">
              <a:spcAft>
                <a:spcPts val="200"/>
              </a:spcAft>
              <a:buSzPct val="100000"/>
              <a:buChar char="​"/>
            </a:pPr>
            <a:r>
              <a:rPr lang="en-US" sz="900" i="1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Squadra: frase completa = 1 punto.</a:t>
            </a:r>
            <a:endParaRPr lang="en-US" sz="1000" dirty="0"/>
          </a:p>
        </p:txBody>
      </p:sp>
      <p:sp>
        <p:nvSpPr>
          <p:cNvPr id="18" name="st_496"/>
          <p:cNvSpPr/>
          <p:nvPr/>
        </p:nvSpPr>
        <p:spPr>
          <a:xfrm rot="-180000">
            <a:off x="502920" y="3703320"/>
            <a:ext cx="2286000" cy="777240"/>
          </a:xfrm>
          <a:prstGeom prst="rect">
            <a:avLst/>
          </a:prstGeom>
          <a:solidFill>
            <a:srgbClr val="FFC2DA"/>
          </a:solidFill>
          <a:ln>
            <a:solidFill>
              <a:srgbClr val="FFC2DA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50800" tIns="50800" rIns="50800" bIns="50800" rtlCol="0" anchor="ctr">
            <a:normAutofit/>
          </a:bodyPr>
          <a:lstStyle/>
          <a:p>
            <a:pPr algn="ctr"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TEAM A  ☆☆☆☆☆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TEAM B  ☆☆☆☆☆</a:t>
            </a:r>
            <a:endParaRPr lang="en-US" sz="1250" dirty="0"/>
          </a:p>
        </p:txBody>
      </p:sp>
      <p:sp>
        <p:nvSpPr>
          <p:cNvPr id="19" name="bd_497"/>
          <p:cNvSpPr/>
          <p:nvPr/>
        </p:nvSpPr>
        <p:spPr>
          <a:xfrm>
            <a:off x="3246120" y="1491234"/>
            <a:ext cx="329184" cy="329184"/>
          </a:xfrm>
          <a:prstGeom prst="ellipse">
            <a:avLst/>
          </a:prstGeom>
          <a:solidFill>
            <a:srgbClr val="E8508F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</a:t>
            </a:r>
            <a:endParaRPr lang="en-US" sz="1100" dirty="0"/>
          </a:p>
        </p:txBody>
      </p:sp>
      <p:sp>
        <p:nvSpPr>
          <p:cNvPr id="20" name="gq_498"/>
          <p:cNvSpPr/>
          <p:nvPr/>
        </p:nvSpPr>
        <p:spPr>
          <a:xfrm>
            <a:off x="3657600" y="1417320"/>
            <a:ext cx="2514600" cy="477012"/>
          </a:xfrm>
          <a:prstGeom prst="roundRect">
            <a:avLst>
              <a:gd name="adj" fmla="val 19169"/>
            </a:avLst>
          </a:prstGeom>
          <a:solidFill>
            <a:srgbClr val="FFFFFF"/>
          </a:solidFill>
          <a:ln w="19050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SHAKE HANDS</a:t>
            </a:r>
            <a:endParaRPr lang="en-US" sz="1100" dirty="0"/>
          </a:p>
        </p:txBody>
      </p:sp>
      <p:sp>
        <p:nvSpPr>
          <p:cNvPr id="21" name="R1_chip499"/>
          <p:cNvSpPr/>
          <p:nvPr/>
        </p:nvSpPr>
        <p:spPr>
          <a:xfrm>
            <a:off x="6263640" y="1417320"/>
            <a:ext cx="2560320" cy="477012"/>
          </a:xfrm>
          <a:prstGeom prst="roundRect">
            <a:avLst>
              <a:gd name="adj" fmla="val 19169"/>
            </a:avLst>
          </a:prstGeom>
          <a:solidFill>
            <a:srgbClr val="FFE3EE"/>
          </a:solidFill>
          <a:ln w="19050">
            <a:solidFill>
              <a:srgbClr val="E8508F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 You're shaking hands!</a:t>
            </a:r>
            <a:endParaRPr lang="en-US" sz="1100" dirty="0"/>
          </a:p>
        </p:txBody>
      </p:sp>
      <p:sp>
        <p:nvSpPr>
          <p:cNvPr id="22" name="bd_500"/>
          <p:cNvSpPr/>
          <p:nvPr/>
        </p:nvSpPr>
        <p:spPr>
          <a:xfrm>
            <a:off x="3246120" y="2032254"/>
            <a:ext cx="329184" cy="329184"/>
          </a:xfrm>
          <a:prstGeom prst="ellipse">
            <a:avLst/>
          </a:prstGeom>
          <a:solidFill>
            <a:srgbClr val="2F8DE4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2</a:t>
            </a:r>
            <a:endParaRPr lang="en-US" sz="1100" dirty="0"/>
          </a:p>
        </p:txBody>
      </p:sp>
      <p:sp>
        <p:nvSpPr>
          <p:cNvPr id="23" name="gq_501"/>
          <p:cNvSpPr/>
          <p:nvPr/>
        </p:nvSpPr>
        <p:spPr>
          <a:xfrm>
            <a:off x="3657600" y="1958340"/>
            <a:ext cx="2514600" cy="477012"/>
          </a:xfrm>
          <a:prstGeom prst="roundRect">
            <a:avLst>
              <a:gd name="adj" fmla="val 19169"/>
            </a:avLst>
          </a:prstGeom>
          <a:solidFill>
            <a:srgbClr val="FFFFFF"/>
          </a:solidFill>
          <a:ln w="19050">
            <a:solidFill>
              <a:srgbClr val="A9D3F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CROSS YOUR ARMS</a:t>
            </a:r>
            <a:endParaRPr lang="en-US" sz="1100" dirty="0"/>
          </a:p>
        </p:txBody>
      </p:sp>
      <p:sp>
        <p:nvSpPr>
          <p:cNvPr id="24" name="R2_chip502"/>
          <p:cNvSpPr/>
          <p:nvPr/>
        </p:nvSpPr>
        <p:spPr>
          <a:xfrm>
            <a:off x="6263640" y="1958340"/>
            <a:ext cx="2560320" cy="477012"/>
          </a:xfrm>
          <a:prstGeom prst="roundRect">
            <a:avLst>
              <a:gd name="adj" fmla="val 19169"/>
            </a:avLst>
          </a:prstGeom>
          <a:solidFill>
            <a:srgbClr val="FFE3EE"/>
          </a:solidFill>
          <a:ln w="19050">
            <a:solidFill>
              <a:srgbClr val="E8508F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 You're crossing your arms!</a:t>
            </a:r>
            <a:endParaRPr lang="en-US" sz="1100" dirty="0"/>
          </a:p>
        </p:txBody>
      </p:sp>
      <p:sp>
        <p:nvSpPr>
          <p:cNvPr id="25" name="bd_503"/>
          <p:cNvSpPr/>
          <p:nvPr/>
        </p:nvSpPr>
        <p:spPr>
          <a:xfrm>
            <a:off x="3246120" y="2573274"/>
            <a:ext cx="329184" cy="329184"/>
          </a:xfrm>
          <a:prstGeom prst="ellipse">
            <a:avLst/>
          </a:prstGeom>
          <a:solidFill>
            <a:srgbClr val="2EB872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3</a:t>
            </a:r>
            <a:endParaRPr lang="en-US" sz="1100" dirty="0"/>
          </a:p>
        </p:txBody>
      </p:sp>
      <p:sp>
        <p:nvSpPr>
          <p:cNvPr id="26" name="gq_504"/>
          <p:cNvSpPr/>
          <p:nvPr/>
        </p:nvSpPr>
        <p:spPr>
          <a:xfrm>
            <a:off x="3657600" y="2499360"/>
            <a:ext cx="2514600" cy="477012"/>
          </a:xfrm>
          <a:prstGeom prst="roundRect">
            <a:avLst>
              <a:gd name="adj" fmla="val 19169"/>
            </a:avLst>
          </a:prstGeom>
          <a:solidFill>
            <a:srgbClr val="FFFFFF"/>
          </a:solidFill>
          <a:ln w="19050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GIVE A THUMBS UP</a:t>
            </a:r>
            <a:endParaRPr lang="en-US" sz="1100" dirty="0"/>
          </a:p>
        </p:txBody>
      </p:sp>
      <p:sp>
        <p:nvSpPr>
          <p:cNvPr id="27" name="R3_chip505"/>
          <p:cNvSpPr/>
          <p:nvPr/>
        </p:nvSpPr>
        <p:spPr>
          <a:xfrm>
            <a:off x="6263640" y="2499360"/>
            <a:ext cx="2560320" cy="477012"/>
          </a:xfrm>
          <a:prstGeom prst="roundRect">
            <a:avLst>
              <a:gd name="adj" fmla="val 19169"/>
            </a:avLst>
          </a:prstGeom>
          <a:solidFill>
            <a:srgbClr val="FFE3EE"/>
          </a:solidFill>
          <a:ln w="19050">
            <a:solidFill>
              <a:srgbClr val="E8508F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 You're giving a thumbs up!</a:t>
            </a:r>
            <a:endParaRPr lang="en-US" sz="1100" dirty="0"/>
          </a:p>
        </p:txBody>
      </p:sp>
      <p:sp>
        <p:nvSpPr>
          <p:cNvPr id="28" name="bd_506"/>
          <p:cNvSpPr/>
          <p:nvPr/>
        </p:nvSpPr>
        <p:spPr>
          <a:xfrm>
            <a:off x="3246120" y="3114294"/>
            <a:ext cx="329184" cy="329184"/>
          </a:xfrm>
          <a:prstGeom prst="ellipse">
            <a:avLst/>
          </a:prstGeom>
          <a:solidFill>
            <a:srgbClr val="F2B705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4</a:t>
            </a:r>
            <a:endParaRPr lang="en-US" sz="1100" dirty="0"/>
          </a:p>
        </p:txBody>
      </p:sp>
      <p:sp>
        <p:nvSpPr>
          <p:cNvPr id="29" name="gq_507"/>
          <p:cNvSpPr/>
          <p:nvPr/>
        </p:nvSpPr>
        <p:spPr>
          <a:xfrm>
            <a:off x="3657600" y="3040380"/>
            <a:ext cx="2514600" cy="477012"/>
          </a:xfrm>
          <a:prstGeom prst="roundRect">
            <a:avLst>
              <a:gd name="adj" fmla="val 19169"/>
            </a:avLst>
          </a:prstGeom>
          <a:solidFill>
            <a:srgbClr val="FFFFFF"/>
          </a:solidFill>
          <a:ln w="19050">
            <a:solidFill>
              <a:srgbClr val="FFE07A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STAND WITH YOUR FEET APART</a:t>
            </a:r>
            <a:endParaRPr lang="en-US" sz="1100" dirty="0"/>
          </a:p>
        </p:txBody>
      </p:sp>
      <p:sp>
        <p:nvSpPr>
          <p:cNvPr id="30" name="R4_chip508"/>
          <p:cNvSpPr/>
          <p:nvPr/>
        </p:nvSpPr>
        <p:spPr>
          <a:xfrm>
            <a:off x="6263640" y="3040380"/>
            <a:ext cx="2560320" cy="477012"/>
          </a:xfrm>
          <a:prstGeom prst="roundRect">
            <a:avLst>
              <a:gd name="adj" fmla="val 19169"/>
            </a:avLst>
          </a:prstGeom>
          <a:solidFill>
            <a:srgbClr val="FFE3EE"/>
          </a:solidFill>
          <a:ln w="19050">
            <a:solidFill>
              <a:srgbClr val="E8508F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 You're standing with your feet apart!</a:t>
            </a:r>
            <a:endParaRPr lang="en-US" sz="1100" dirty="0"/>
          </a:p>
        </p:txBody>
      </p:sp>
      <p:sp>
        <p:nvSpPr>
          <p:cNvPr id="31" name="bd_509"/>
          <p:cNvSpPr/>
          <p:nvPr/>
        </p:nvSpPr>
        <p:spPr>
          <a:xfrm>
            <a:off x="3246120" y="3655314"/>
            <a:ext cx="329184" cy="329184"/>
          </a:xfrm>
          <a:prstGeom prst="ellipse">
            <a:avLst/>
          </a:prstGeom>
          <a:solidFill>
            <a:srgbClr val="E8508F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5</a:t>
            </a:r>
            <a:endParaRPr lang="en-US" sz="1100" dirty="0"/>
          </a:p>
        </p:txBody>
      </p:sp>
      <p:sp>
        <p:nvSpPr>
          <p:cNvPr id="32" name="gq_510"/>
          <p:cNvSpPr/>
          <p:nvPr/>
        </p:nvSpPr>
        <p:spPr>
          <a:xfrm>
            <a:off x="3657600" y="3581400"/>
            <a:ext cx="2514600" cy="477012"/>
          </a:xfrm>
          <a:prstGeom prst="roundRect">
            <a:avLst>
              <a:gd name="adj" fmla="val 19169"/>
            </a:avLst>
          </a:prstGeom>
          <a:solidFill>
            <a:srgbClr val="FFFFFF"/>
          </a:solidFill>
          <a:ln w="19050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CHIN UP, SHOULDERS BACK</a:t>
            </a:r>
            <a:endParaRPr lang="en-US" sz="1100" dirty="0"/>
          </a:p>
        </p:txBody>
      </p:sp>
      <p:sp>
        <p:nvSpPr>
          <p:cNvPr id="33" name="R5_chip511"/>
          <p:cNvSpPr/>
          <p:nvPr/>
        </p:nvSpPr>
        <p:spPr>
          <a:xfrm>
            <a:off x="6263640" y="3581400"/>
            <a:ext cx="2560320" cy="477012"/>
          </a:xfrm>
          <a:prstGeom prst="roundRect">
            <a:avLst>
              <a:gd name="adj" fmla="val 19169"/>
            </a:avLst>
          </a:prstGeom>
          <a:solidFill>
            <a:srgbClr val="FFE3EE"/>
          </a:solidFill>
          <a:ln w="19050">
            <a:solidFill>
              <a:srgbClr val="E8508F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 You've got your chin up and your shoulders back!</a:t>
            </a:r>
            <a:endParaRPr lang="en-US" sz="1100" dirty="0"/>
          </a:p>
        </p:txBody>
      </p:sp>
      <p:sp>
        <p:nvSpPr>
          <p:cNvPr id="34" name="bd_512"/>
          <p:cNvSpPr/>
          <p:nvPr/>
        </p:nvSpPr>
        <p:spPr>
          <a:xfrm>
            <a:off x="3246120" y="4196334"/>
            <a:ext cx="329184" cy="329184"/>
          </a:xfrm>
          <a:prstGeom prst="ellipse">
            <a:avLst/>
          </a:prstGeom>
          <a:solidFill>
            <a:srgbClr val="2F8DE4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6</a:t>
            </a:r>
            <a:endParaRPr lang="en-US" sz="1100" dirty="0"/>
          </a:p>
        </p:txBody>
      </p:sp>
      <p:sp>
        <p:nvSpPr>
          <p:cNvPr id="35" name="gq_513"/>
          <p:cNvSpPr/>
          <p:nvPr/>
        </p:nvSpPr>
        <p:spPr>
          <a:xfrm>
            <a:off x="3657600" y="4122420"/>
            <a:ext cx="2514600" cy="477012"/>
          </a:xfrm>
          <a:prstGeom prst="roundRect">
            <a:avLst>
              <a:gd name="adj" fmla="val 19169"/>
            </a:avLst>
          </a:prstGeom>
          <a:solidFill>
            <a:srgbClr val="FFFFFF"/>
          </a:solidFill>
          <a:ln w="19050">
            <a:solidFill>
              <a:srgbClr val="A9D3F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MAKE EYE CONTACT</a:t>
            </a:r>
            <a:endParaRPr lang="en-US" sz="1100" dirty="0"/>
          </a:p>
        </p:txBody>
      </p:sp>
      <p:sp>
        <p:nvSpPr>
          <p:cNvPr id="36" name="R6_chip514"/>
          <p:cNvSpPr/>
          <p:nvPr/>
        </p:nvSpPr>
        <p:spPr>
          <a:xfrm>
            <a:off x="6263640" y="4122420"/>
            <a:ext cx="2560320" cy="477012"/>
          </a:xfrm>
          <a:prstGeom prst="roundRect">
            <a:avLst>
              <a:gd name="adj" fmla="val 19169"/>
            </a:avLst>
          </a:prstGeom>
          <a:solidFill>
            <a:srgbClr val="FFE3EE"/>
          </a:solidFill>
          <a:ln w="19050">
            <a:solidFill>
              <a:srgbClr val="E8508F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 You're making eye contact!</a:t>
            </a:r>
            <a:endParaRPr lang="en-US" sz="110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515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E8508F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17</a:t>
            </a:r>
            <a:endParaRPr lang="en-US" sz="2200" dirty="0"/>
          </a:p>
        </p:txBody>
      </p:sp>
      <p:pic>
        <p:nvPicPr>
          <p:cNvPr id="4" name="brY_516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5449824" cy="621792"/>
          </a:xfrm>
          <a:prstGeom prst="rect">
            <a:avLst/>
          </a:prstGeom>
        </p:spPr>
      </p:pic>
      <p:sp>
        <p:nvSpPr>
          <p:cNvPr id="5" name="title_517"/>
          <p:cNvSpPr/>
          <p:nvPr/>
        </p:nvSpPr>
        <p:spPr>
          <a:xfrm>
            <a:off x="1261872" y="164592"/>
            <a:ext cx="517550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Can you really learn charisma?</a:t>
            </a:r>
            <a:endParaRPr lang="en-US" sz="2500" dirty="0"/>
          </a:p>
        </p:txBody>
      </p:sp>
      <p:pic>
        <p:nvPicPr>
          <p:cNvPr id="6" name="brP_518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3945636" cy="402336"/>
          </a:xfrm>
          <a:prstGeom prst="rect">
            <a:avLst/>
          </a:prstGeom>
        </p:spPr>
      </p:pic>
      <p:sp>
        <p:nvSpPr>
          <p:cNvPr id="7" name="ins_519"/>
          <p:cNvSpPr/>
          <p:nvPr/>
        </p:nvSpPr>
        <p:spPr>
          <a:xfrm>
            <a:off x="1353312" y="731520"/>
            <a:ext cx="368960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Discuss in groups of 3. Give reasons!</a:t>
            </a:r>
            <a:endParaRPr lang="en-US" sz="1250" dirty="0"/>
          </a:p>
        </p:txBody>
      </p:sp>
      <p:sp>
        <p:nvSpPr>
          <p:cNvPr id="8" name="insIT_520"/>
          <p:cNvSpPr/>
          <p:nvPr/>
        </p:nvSpPr>
        <p:spPr>
          <a:xfrm>
            <a:off x="1371600" y="1115568"/>
            <a:ext cx="5852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Discuti in gruppi di 3. Spiega perché!</a:t>
            </a:r>
            <a:endParaRPr lang="en-US" sz="950" dirty="0"/>
          </a:p>
        </p:txBody>
      </p:sp>
      <p:sp>
        <p:nvSpPr>
          <p:cNvPr id="9" name="cmd_521"/>
          <p:cNvSpPr/>
          <p:nvPr/>
        </p:nvSpPr>
        <p:spPr>
          <a:xfrm>
            <a:off x="6510528" y="182880"/>
            <a:ext cx="1901952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💬 </a:t>
            </a:r>
            <a:pPr indent="0" marL="0">
              <a:buNone/>
            </a:pPr>
            <a:r>
              <a:rPr lang="en-US" sz="1200" dirty="0">
                <a:solidFill>
                  <a:srgbClr val="E8508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TALK</a:t>
            </a:r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PARLA</a:t>
            </a:r>
            <a:endParaRPr lang="en-US" sz="1100" dirty="0"/>
          </a:p>
        </p:txBody>
      </p:sp>
      <p:sp>
        <p:nvSpPr>
          <p:cNvPr id="10" name="meta_522"/>
          <p:cNvSpPr/>
          <p:nvPr/>
        </p:nvSpPr>
        <p:spPr>
          <a:xfrm>
            <a:off x="6583680" y="566928"/>
            <a:ext cx="2286000" cy="256032"/>
          </a:xfrm>
          <a:prstGeom prst="rect">
            <a:avLst/>
          </a:prstGeom>
          <a:noFill/>
          <a:ln/>
        </p:spPr>
        <p:txBody>
          <a:bodyPr wrap="square" lIns="101600" tIns="0" rIns="10160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3 min   👨‍👩‍👧 groups</a:t>
            </a:r>
            <a:endParaRPr lang="en-US" sz="950" dirty="0"/>
          </a:p>
        </p:txBody>
      </p:sp>
      <p:sp>
        <p:nvSpPr>
          <p:cNvPr id="11" name="tag_523"/>
          <p:cNvSpPr/>
          <p:nvPr/>
        </p:nvSpPr>
        <p:spPr>
          <a:xfrm>
            <a:off x="6510528" y="804672"/>
            <a:ext cx="2514600" cy="237744"/>
          </a:xfrm>
          <a:prstGeom prst="rect">
            <a:avLst/>
          </a:prstGeom>
          <a:noFill/>
          <a:ln/>
        </p:spPr>
        <p:txBody>
          <a:bodyPr wrap="square" lIns="101600" tIns="0" rIns="5080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Speaking</a:t>
            </a:r>
            <a:pPr indent="0" marL="0">
              <a:buNone/>
            </a:pPr>
            <a:r>
              <a:rPr lang="en-US" sz="850" dirty="0">
                <a:solidFill>
                  <a:srgbClr val="7B5CD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· Communicative</a:t>
            </a:r>
            <a:endParaRPr lang="en-US" sz="850" dirty="0"/>
          </a:p>
        </p:txBody>
      </p:sp>
      <p:pic>
        <p:nvPicPr>
          <p:cNvPr id="12" name="logo_524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3" name="foot_525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6B-2 · Speaking · discussion   ·   📖 SB p.63 · 5i</a:t>
            </a:r>
            <a:endParaRPr lang="en-US" sz="800" dirty="0"/>
          </a:p>
        </p:txBody>
      </p:sp>
      <p:sp>
        <p:nvSpPr>
          <p:cNvPr id="14" name="pf_526"/>
          <p:cNvSpPr/>
          <p:nvPr/>
        </p:nvSpPr>
        <p:spPr>
          <a:xfrm rot="-120000">
            <a:off x="320040" y="1371600"/>
            <a:ext cx="2788920" cy="1874520"/>
          </a:xfrm>
          <a:prstGeom prst="roundRect">
            <a:avLst>
              <a:gd name="adj" fmla="val 829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20000"/>
              </a:srgbClr>
            </a:outerShdw>
          </a:effectLst>
        </p:spPr>
      </p:sp>
      <p:pic>
        <p:nvPicPr>
          <p:cNvPr id="15" name="ph_527" descr="/home/claude/lls-course/v2/cache/6B_2_colin_jpg_649x429_31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rot="-120000">
            <a:off x="365760" y="1417320"/>
            <a:ext cx="2697480" cy="1783080"/>
          </a:xfrm>
          <a:prstGeom prst="rect">
            <a:avLst/>
          </a:prstGeom>
        </p:spPr>
      </p:pic>
      <p:sp>
        <p:nvSpPr>
          <p:cNvPr id="16" name="cd_528"/>
          <p:cNvSpPr/>
          <p:nvPr/>
        </p:nvSpPr>
        <p:spPr>
          <a:xfrm>
            <a:off x="320040" y="3429000"/>
            <a:ext cx="2788920" cy="1325880"/>
          </a:xfrm>
          <a:prstGeom prst="roundRect">
            <a:avLst>
              <a:gd name="adj" fmla="val 9655"/>
            </a:avLst>
          </a:prstGeom>
          <a:solidFill>
            <a:srgbClr val="EEE8FB"/>
          </a:solidFill>
          <a:ln w="19050">
            <a:solidFill>
              <a:srgbClr val="CDBFF3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7" name="ii_529"/>
          <p:cNvSpPr/>
          <p:nvPr/>
        </p:nvSpPr>
        <p:spPr>
          <a:xfrm>
            <a:off x="411480" y="350215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💬</a:t>
            </a:r>
            <a:endParaRPr lang="en-US" sz="2200" dirty="0"/>
          </a:p>
        </p:txBody>
      </p:sp>
      <p:sp>
        <p:nvSpPr>
          <p:cNvPr id="18" name="ih_530"/>
          <p:cNvSpPr/>
          <p:nvPr/>
        </p:nvSpPr>
        <p:spPr>
          <a:xfrm>
            <a:off x="886968" y="3520440"/>
            <a:ext cx="2148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Useful phrases</a:t>
            </a:r>
            <a:endParaRPr lang="en-US" sz="1300" dirty="0"/>
          </a:p>
        </p:txBody>
      </p:sp>
      <p:sp>
        <p:nvSpPr>
          <p:cNvPr id="19" name="il_531"/>
          <p:cNvSpPr/>
          <p:nvPr/>
        </p:nvSpPr>
        <p:spPr>
          <a:xfrm>
            <a:off x="886968" y="3904488"/>
            <a:ext cx="2130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800" dirty="0">
                <a:solidFill>
                  <a:srgbClr val="1B25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 think you can / can't learn it because…</a:t>
            </a:r>
            <a:endParaRPr lang="en-US" sz="800" dirty="0"/>
          </a:p>
          <a:p>
            <a:pPr marL="152400" indent="-152400">
              <a:spcBef>
                <a:spcPts val="500"/>
              </a:spcBef>
              <a:spcAft>
                <a:spcPts val="200"/>
              </a:spcAft>
              <a:buSzPct val="100000"/>
              <a:buChar char="•"/>
            </a:pPr>
            <a:r>
              <a:rPr lang="en-US" sz="800" dirty="0">
                <a:solidFill>
                  <a:srgbClr val="1B25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It depends on…</a:t>
            </a:r>
            <a:endParaRPr lang="en-US" sz="800" dirty="0"/>
          </a:p>
          <a:p>
            <a:pPr marL="152400" indent="-152400">
              <a:spcBef>
                <a:spcPts val="500"/>
              </a:spcBef>
              <a:spcAft>
                <a:spcPts val="200"/>
              </a:spcAft>
              <a:buSzPct val="100000"/>
              <a:buChar char="•"/>
            </a:pPr>
            <a:r>
              <a:rPr lang="en-US" sz="800" dirty="0">
                <a:solidFill>
                  <a:srgbClr val="1B25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I'd never pay £150 an hour!</a:t>
            </a:r>
            <a:endParaRPr lang="en-US" sz="800" dirty="0"/>
          </a:p>
          <a:p>
            <a:pPr marL="152400" indent="-152400">
              <a:spcBef>
                <a:spcPts val="500"/>
              </a:spcBef>
              <a:spcAft>
                <a:spcPts val="200"/>
              </a:spcAft>
              <a:buSzPct val="100000"/>
              <a:buChar char="•"/>
            </a:pPr>
            <a:r>
              <a:rPr lang="en-US" sz="800" dirty="0">
                <a:solidFill>
                  <a:srgbClr val="1B25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 agree / I'm not so sure…</a:t>
            </a:r>
            <a:endParaRPr lang="en-US" sz="800" dirty="0"/>
          </a:p>
        </p:txBody>
      </p:sp>
      <p:sp>
        <p:nvSpPr>
          <p:cNvPr id="20" name="R1_qb532"/>
          <p:cNvSpPr/>
          <p:nvPr/>
        </p:nvSpPr>
        <p:spPr>
          <a:xfrm>
            <a:off x="3273552" y="1453896"/>
            <a:ext cx="329184" cy="329184"/>
          </a:xfrm>
          <a:prstGeom prst="ellipse">
            <a:avLst/>
          </a:prstGeom>
          <a:solidFill>
            <a:srgbClr val="E8508F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</a:t>
            </a:r>
            <a:endParaRPr lang="en-US" sz="1100" dirty="0"/>
          </a:p>
        </p:txBody>
      </p:sp>
      <p:sp>
        <p:nvSpPr>
          <p:cNvPr id="21" name="R1_sq533"/>
          <p:cNvSpPr/>
          <p:nvPr/>
        </p:nvSpPr>
        <p:spPr>
          <a:xfrm>
            <a:off x="3675888" y="1417320"/>
            <a:ext cx="5193792" cy="530352"/>
          </a:xfrm>
          <a:prstGeom prst="roundRect">
            <a:avLst>
              <a:gd name="adj" fmla="val 20690"/>
            </a:avLst>
          </a:prstGeom>
          <a:solidFill>
            <a:srgbClr val="FFFFFF"/>
          </a:solidFill>
          <a:ln w="2222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27000" tIns="25400" rIns="127000" bIns="2540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Is it possible to teach people to have charisma?</a:t>
            </a:r>
            <a:endParaRPr lang="en-US" sz="1250" dirty="0"/>
          </a:p>
          <a:p>
            <a:pPr indent="0" marL="0">
              <a:buNone/>
            </a:pPr>
            <a:r>
              <a:rPr lang="en-US" sz="1000" i="1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e.g. I think you can learn some things, like eye contact.</a:t>
            </a:r>
            <a:endParaRPr lang="en-US" sz="1250" dirty="0"/>
          </a:p>
        </p:txBody>
      </p:sp>
      <p:sp>
        <p:nvSpPr>
          <p:cNvPr id="22" name="R2_qb534"/>
          <p:cNvSpPr/>
          <p:nvPr/>
        </p:nvSpPr>
        <p:spPr>
          <a:xfrm>
            <a:off x="3273552" y="2057400"/>
            <a:ext cx="329184" cy="329184"/>
          </a:xfrm>
          <a:prstGeom prst="ellipse">
            <a:avLst/>
          </a:prstGeom>
          <a:solidFill>
            <a:srgbClr val="2F8DE4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2</a:t>
            </a:r>
            <a:endParaRPr lang="en-US" sz="1100" dirty="0"/>
          </a:p>
        </p:txBody>
      </p:sp>
      <p:sp>
        <p:nvSpPr>
          <p:cNvPr id="23" name="R2_sq535"/>
          <p:cNvSpPr/>
          <p:nvPr/>
        </p:nvSpPr>
        <p:spPr>
          <a:xfrm>
            <a:off x="3675888" y="2020824"/>
            <a:ext cx="5193792" cy="530352"/>
          </a:xfrm>
          <a:prstGeom prst="roundRect">
            <a:avLst>
              <a:gd name="adj" fmla="val 20690"/>
            </a:avLst>
          </a:prstGeom>
          <a:solidFill>
            <a:srgbClr val="FFFFFF"/>
          </a:solidFill>
          <a:ln w="22225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27000" tIns="25400" rIns="127000" bIns="2540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Would you ever do a course like this? Why (not)?</a:t>
            </a:r>
            <a:endParaRPr lang="en-US" sz="1250" dirty="0"/>
          </a:p>
          <a:p>
            <a:pPr indent="0" marL="0">
              <a:buNone/>
            </a:pPr>
            <a:r>
              <a:rPr lang="en-US" sz="1000" i="1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e.g. Maybe before a job interview.</a:t>
            </a:r>
            <a:endParaRPr lang="en-US" sz="1250" dirty="0"/>
          </a:p>
        </p:txBody>
      </p:sp>
      <p:sp>
        <p:nvSpPr>
          <p:cNvPr id="24" name="R3_qb536"/>
          <p:cNvSpPr/>
          <p:nvPr/>
        </p:nvSpPr>
        <p:spPr>
          <a:xfrm>
            <a:off x="3273552" y="2660904"/>
            <a:ext cx="329184" cy="329184"/>
          </a:xfrm>
          <a:prstGeom prst="ellipse">
            <a:avLst/>
          </a:prstGeom>
          <a:solidFill>
            <a:srgbClr val="2EB872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3</a:t>
            </a:r>
            <a:endParaRPr lang="en-US" sz="1100" dirty="0"/>
          </a:p>
        </p:txBody>
      </p:sp>
      <p:sp>
        <p:nvSpPr>
          <p:cNvPr id="25" name="R3_sq537"/>
          <p:cNvSpPr/>
          <p:nvPr/>
        </p:nvSpPr>
        <p:spPr>
          <a:xfrm>
            <a:off x="3675888" y="2624328"/>
            <a:ext cx="5193792" cy="530352"/>
          </a:xfrm>
          <a:prstGeom prst="roundRect">
            <a:avLst>
              <a:gd name="adj" fmla="val 20690"/>
            </a:avLst>
          </a:prstGeom>
          <a:solidFill>
            <a:srgbClr val="FFFFFF"/>
          </a:solidFill>
          <a:ln w="22225">
            <a:solidFill>
              <a:srgbClr val="A8E5BE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27000" tIns="25400" rIns="127000" bIns="2540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Is £150 an hour worth it?</a:t>
            </a:r>
            <a:endParaRPr lang="en-US" sz="1250" dirty="0"/>
          </a:p>
          <a:p>
            <a:pPr indent="0" marL="0">
              <a:buNone/>
            </a:pPr>
            <a:r>
              <a:rPr lang="en-US" sz="1000" i="1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e.g. No way – I can watch videos online!</a:t>
            </a:r>
            <a:endParaRPr lang="en-US" sz="1250" dirty="0"/>
          </a:p>
        </p:txBody>
      </p:sp>
      <p:sp>
        <p:nvSpPr>
          <p:cNvPr id="26" name="R4_qb538"/>
          <p:cNvSpPr/>
          <p:nvPr/>
        </p:nvSpPr>
        <p:spPr>
          <a:xfrm>
            <a:off x="3273552" y="3264408"/>
            <a:ext cx="329184" cy="329184"/>
          </a:xfrm>
          <a:prstGeom prst="ellipse">
            <a:avLst/>
          </a:prstGeom>
          <a:solidFill>
            <a:srgbClr val="F2B705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4</a:t>
            </a:r>
            <a:endParaRPr lang="en-US" sz="1100" dirty="0"/>
          </a:p>
        </p:txBody>
      </p:sp>
      <p:sp>
        <p:nvSpPr>
          <p:cNvPr id="27" name="R4_sq539"/>
          <p:cNvSpPr/>
          <p:nvPr/>
        </p:nvSpPr>
        <p:spPr>
          <a:xfrm>
            <a:off x="3675888" y="3227832"/>
            <a:ext cx="5193792" cy="530352"/>
          </a:xfrm>
          <a:prstGeom prst="roundRect">
            <a:avLst>
              <a:gd name="adj" fmla="val 20690"/>
            </a:avLst>
          </a:prstGeom>
          <a:solidFill>
            <a:srgbClr val="FFFFFF"/>
          </a:solidFill>
          <a:ln w="22225">
            <a:solidFill>
              <a:srgbClr val="FFE07A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27000" tIns="25400" rIns="127000" bIns="2540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Which tip will YOU try this week?</a:t>
            </a:r>
            <a:endParaRPr lang="en-US" sz="1250" dirty="0"/>
          </a:p>
          <a:p>
            <a:pPr indent="0" marL="0">
              <a:buNone/>
            </a:pPr>
            <a:r>
              <a:rPr lang="en-US" sz="1000" i="1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e.g. I'm going to make more eye contact.</a:t>
            </a:r>
            <a:endParaRPr lang="en-US" sz="125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540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2F8DE4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18</a:t>
            </a:r>
            <a:endParaRPr lang="en-US" sz="2200" dirty="0"/>
          </a:p>
        </p:txBody>
      </p:sp>
      <p:pic>
        <p:nvPicPr>
          <p:cNvPr id="4" name="brY_541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2147011" cy="621792"/>
          </a:xfrm>
          <a:prstGeom prst="rect">
            <a:avLst/>
          </a:prstGeom>
        </p:spPr>
      </p:pic>
      <p:sp>
        <p:nvSpPr>
          <p:cNvPr id="5" name="title_542"/>
          <p:cNvSpPr/>
          <p:nvPr/>
        </p:nvSpPr>
        <p:spPr>
          <a:xfrm>
            <a:off x="1261872" y="164592"/>
            <a:ext cx="1872691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3 · 2 · 1</a:t>
            </a:r>
            <a:endParaRPr lang="en-US" sz="2500" dirty="0"/>
          </a:p>
        </p:txBody>
      </p:sp>
      <p:pic>
        <p:nvPicPr>
          <p:cNvPr id="6" name="brP_543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3858768" cy="402336"/>
          </a:xfrm>
          <a:prstGeom prst="rect">
            <a:avLst/>
          </a:prstGeom>
        </p:spPr>
      </p:pic>
      <p:sp>
        <p:nvSpPr>
          <p:cNvPr id="7" name="ins_544"/>
          <p:cNvSpPr/>
          <p:nvPr/>
        </p:nvSpPr>
        <p:spPr>
          <a:xfrm>
            <a:off x="1353312" y="731520"/>
            <a:ext cx="36027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Books closed! What can you remember?</a:t>
            </a:r>
            <a:endParaRPr lang="en-US" sz="1250" dirty="0"/>
          </a:p>
        </p:txBody>
      </p:sp>
      <p:sp>
        <p:nvSpPr>
          <p:cNvPr id="8" name="insIT_545"/>
          <p:cNvSpPr/>
          <p:nvPr/>
        </p:nvSpPr>
        <p:spPr>
          <a:xfrm>
            <a:off x="1371600" y="1115568"/>
            <a:ext cx="5852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Libri chiusi! Cosa ricordi?</a:t>
            </a:r>
            <a:endParaRPr lang="en-US" sz="950" dirty="0"/>
          </a:p>
        </p:txBody>
      </p:sp>
      <p:sp>
        <p:nvSpPr>
          <p:cNvPr id="9" name="meta_546"/>
          <p:cNvSpPr/>
          <p:nvPr/>
        </p:nvSpPr>
        <p:spPr>
          <a:xfrm>
            <a:off x="6583680" y="182880"/>
            <a:ext cx="2286000" cy="256032"/>
          </a:xfrm>
          <a:prstGeom prst="rect">
            <a:avLst/>
          </a:prstGeom>
          <a:noFill/>
          <a:ln/>
        </p:spPr>
        <p:txBody>
          <a:bodyPr wrap="square" lIns="101600" tIns="0" rIns="10160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2 min   👥 pairs</a:t>
            </a:r>
            <a:endParaRPr lang="en-US" sz="950" dirty="0"/>
          </a:p>
        </p:txBody>
      </p:sp>
      <p:sp>
        <p:nvSpPr>
          <p:cNvPr id="10" name="tag_547"/>
          <p:cNvSpPr/>
          <p:nvPr/>
        </p:nvSpPr>
        <p:spPr>
          <a:xfrm>
            <a:off x="6510528" y="420624"/>
            <a:ext cx="2514600" cy="237744"/>
          </a:xfrm>
          <a:prstGeom prst="rect">
            <a:avLst/>
          </a:prstGeom>
          <a:noFill/>
          <a:ln/>
        </p:spPr>
        <p:txBody>
          <a:bodyPr wrap="square" lIns="101600" tIns="0" rIns="5080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Revision</a:t>
            </a:r>
            <a:pPr indent="0" marL="0">
              <a:buNone/>
            </a:pPr>
            <a:r>
              <a:rPr lang="en-US" sz="850" dirty="0">
                <a:solidFill>
                  <a:srgbClr val="7B5CD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· Retrieval</a:t>
            </a:r>
            <a:endParaRPr lang="en-US" sz="850" dirty="0"/>
          </a:p>
        </p:txBody>
      </p:sp>
      <p:pic>
        <p:nvPicPr>
          <p:cNvPr id="11" name="logo_548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2" name="foot_549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6B-2 · Exit · what can you remember?</a:t>
            </a:r>
            <a:endParaRPr lang="en-US" sz="800" dirty="0"/>
          </a:p>
        </p:txBody>
      </p:sp>
      <p:sp>
        <p:nvSpPr>
          <p:cNvPr id="13" name="bd_550"/>
          <p:cNvSpPr/>
          <p:nvPr/>
        </p:nvSpPr>
        <p:spPr>
          <a:xfrm>
            <a:off x="457200" y="1508760"/>
            <a:ext cx="777240" cy="777240"/>
          </a:xfrm>
          <a:prstGeom prst="ellipse">
            <a:avLst/>
          </a:prstGeom>
          <a:solidFill>
            <a:srgbClr val="E8508F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3</a:t>
            </a:r>
            <a:endParaRPr lang="en-US" sz="2600" dirty="0"/>
          </a:p>
        </p:txBody>
      </p:sp>
      <p:sp>
        <p:nvSpPr>
          <p:cNvPr id="14" name="rt_551"/>
          <p:cNvSpPr/>
          <p:nvPr/>
        </p:nvSpPr>
        <p:spPr>
          <a:xfrm>
            <a:off x="1417320" y="1581912"/>
            <a:ext cx="3931920" cy="64008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25400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52400" tIns="0" rIns="152400" bIns="0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body verbs (clap, nod…) + the part of the body</a:t>
            </a:r>
            <a:endParaRPr lang="en-US" sz="1400" dirty="0"/>
          </a:p>
        </p:txBody>
      </p:sp>
      <p:sp>
        <p:nvSpPr>
          <p:cNvPr id="15" name="bd_552"/>
          <p:cNvSpPr/>
          <p:nvPr/>
        </p:nvSpPr>
        <p:spPr>
          <a:xfrm>
            <a:off x="457200" y="2468880"/>
            <a:ext cx="777240" cy="777240"/>
          </a:xfrm>
          <a:prstGeom prst="ellipse">
            <a:avLst/>
          </a:prstGeom>
          <a:solidFill>
            <a:srgbClr val="2F8DE4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2</a:t>
            </a:r>
            <a:endParaRPr lang="en-US" sz="2600" dirty="0"/>
          </a:p>
        </p:txBody>
      </p:sp>
      <p:sp>
        <p:nvSpPr>
          <p:cNvPr id="16" name="rt_553"/>
          <p:cNvSpPr/>
          <p:nvPr/>
        </p:nvSpPr>
        <p:spPr>
          <a:xfrm>
            <a:off x="1417320" y="2542032"/>
            <a:ext cx="3931920" cy="64008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25400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52400" tIns="0" rIns="152400" bIns="0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tips from the charisma coach</a:t>
            </a:r>
            <a:endParaRPr lang="en-US" sz="1400" dirty="0"/>
          </a:p>
        </p:txBody>
      </p:sp>
      <p:sp>
        <p:nvSpPr>
          <p:cNvPr id="17" name="bd_554"/>
          <p:cNvSpPr/>
          <p:nvPr/>
        </p:nvSpPr>
        <p:spPr>
          <a:xfrm>
            <a:off x="457200" y="3429000"/>
            <a:ext cx="777240" cy="777240"/>
          </a:xfrm>
          <a:prstGeom prst="ellipse">
            <a:avLst/>
          </a:prstGeom>
          <a:solidFill>
            <a:srgbClr val="2EB872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</a:t>
            </a:r>
            <a:endParaRPr lang="en-US" sz="2600" dirty="0"/>
          </a:p>
        </p:txBody>
      </p:sp>
      <p:sp>
        <p:nvSpPr>
          <p:cNvPr id="18" name="rt_555"/>
          <p:cNvSpPr/>
          <p:nvPr/>
        </p:nvSpPr>
        <p:spPr>
          <a:xfrm>
            <a:off x="1417320" y="3502152"/>
            <a:ext cx="3931920" cy="64008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25400">
            <a:solidFill>
              <a:srgbClr val="A8E5BE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52400" tIns="0" rIns="152400" bIns="0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word with a diphthong: bike, train, phone, owl, chair</a:t>
            </a:r>
            <a:endParaRPr lang="en-US" sz="1400" dirty="0"/>
          </a:p>
        </p:txBody>
      </p:sp>
      <p:sp>
        <p:nvSpPr>
          <p:cNvPr id="19" name="cd_556"/>
          <p:cNvSpPr/>
          <p:nvPr/>
        </p:nvSpPr>
        <p:spPr>
          <a:xfrm>
            <a:off x="5669280" y="1417320"/>
            <a:ext cx="3200400" cy="2286000"/>
          </a:xfrm>
          <a:prstGeom prst="roundRect">
            <a:avLst>
              <a:gd name="adj" fmla="val 5600"/>
            </a:avLst>
          </a:prstGeom>
          <a:solidFill>
            <a:srgbClr val="FFF6CC"/>
          </a:solidFill>
          <a:ln w="19050">
            <a:solidFill>
              <a:srgbClr val="FFE07A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20" name="ii_557"/>
          <p:cNvSpPr/>
          <p:nvPr/>
        </p:nvSpPr>
        <p:spPr>
          <a:xfrm>
            <a:off x="5760720" y="14904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📝</a:t>
            </a:r>
            <a:endParaRPr lang="en-US" sz="2200" dirty="0"/>
          </a:p>
        </p:txBody>
      </p:sp>
      <p:sp>
        <p:nvSpPr>
          <p:cNvPr id="21" name="ih_558"/>
          <p:cNvSpPr/>
          <p:nvPr/>
        </p:nvSpPr>
        <p:spPr>
          <a:xfrm>
            <a:off x="6236208" y="1508760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Homework · Compiti</a:t>
            </a:r>
            <a:endParaRPr lang="en-US" sz="1400" dirty="0"/>
          </a:p>
        </p:txBody>
      </p:sp>
      <p:sp>
        <p:nvSpPr>
          <p:cNvPr id="22" name="il_559"/>
          <p:cNvSpPr/>
          <p:nvPr/>
        </p:nvSpPr>
        <p:spPr>
          <a:xfrm>
            <a:off x="6236208" y="1892808"/>
            <a:ext cx="2542032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150" dirty="0">
                <a:solidFill>
                  <a:srgbClr val="1B25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Workbook 6B: 2a, 2b, 2c, 2d, 3a</a:t>
            </a:r>
            <a:endParaRPr lang="en-US" sz="1150" dirty="0"/>
          </a:p>
          <a:p>
            <a:pPr marL="152400" indent="-152400">
              <a:spcBef>
                <a:spcPts val="500"/>
              </a:spcBef>
              <a:spcAft>
                <a:spcPts val="200"/>
              </a:spcAft>
              <a:buSzPct val="100000"/>
              <a:buChar char="•"/>
            </a:pPr>
            <a:r>
              <a:rPr lang="en-US" sz="1150" dirty="0">
                <a:solidFill>
                  <a:srgbClr val="1B25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Vocabulary Bank p.160: test yourself</a:t>
            </a:r>
            <a:endParaRPr lang="en-US" sz="1150" dirty="0"/>
          </a:p>
          <a:p>
            <a:pPr marL="152400" indent="-152400">
              <a:spcBef>
                <a:spcPts val="500"/>
              </a:spcBef>
              <a:spcAft>
                <a:spcPts val="200"/>
              </a:spcAft>
              <a:buSzPct val="100000"/>
              <a:buChar char="•"/>
            </a:pPr>
            <a:r>
              <a:rPr lang="en-US" sz="1150" dirty="0">
                <a:solidFill>
                  <a:srgbClr val="1B25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Homework sheet in the LLS app</a:t>
            </a:r>
            <a:endParaRPr lang="en-US" sz="1150" dirty="0"/>
          </a:p>
        </p:txBody>
      </p:sp>
      <p:sp>
        <p:nvSpPr>
          <p:cNvPr id="23" name="st_560"/>
          <p:cNvSpPr/>
          <p:nvPr/>
        </p:nvSpPr>
        <p:spPr>
          <a:xfrm rot="-180000">
            <a:off x="5806440" y="3931920"/>
            <a:ext cx="2926080" cy="685800"/>
          </a:xfrm>
          <a:prstGeom prst="rect">
            <a:avLst/>
          </a:prstGeom>
          <a:solidFill>
            <a:srgbClr val="FFC2DA"/>
          </a:solidFill>
          <a:ln>
            <a:solidFill>
              <a:srgbClr val="FFC2DA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50800" tIns="50800" rIns="50800" bIns="50800" rtlCol="0" anchor="ctr">
            <a:normAutofit/>
          </a:bodyPr>
          <a:lstStyle/>
          <a:p>
            <a:pPr algn="ctr"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Next lesson: Revise and Check 5 &amp; 6</a:t>
            </a:r>
            <a:endParaRPr lang="en-US" sz="1100" dirty="0"/>
          </a:p>
        </p:txBody>
      </p:sp>
    </p:spTree>
  </p:cSld>
  <p:clrMapOvr>
    <a:masterClrMapping/>
  </p:clrMapOvr>
  <p:transition spd="med">
    <p:push dir="l"/>
  </p:transition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561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7B5CD6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19</a:t>
            </a:r>
            <a:endParaRPr lang="en-US" sz="2200" dirty="0"/>
          </a:p>
        </p:txBody>
      </p:sp>
      <p:pic>
        <p:nvPicPr>
          <p:cNvPr id="4" name="brY_562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5292547" cy="621792"/>
          </a:xfrm>
          <a:prstGeom prst="rect">
            <a:avLst/>
          </a:prstGeom>
        </p:spPr>
      </p:pic>
      <p:sp>
        <p:nvSpPr>
          <p:cNvPr id="5" name="title_563"/>
          <p:cNvSpPr/>
          <p:nvPr/>
        </p:nvSpPr>
        <p:spPr>
          <a:xfrm>
            <a:off x="1261872" y="164592"/>
            <a:ext cx="5018227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A day with a personal stylist</a:t>
            </a:r>
            <a:endParaRPr lang="en-US" sz="2500" dirty="0"/>
          </a:p>
        </p:txBody>
      </p:sp>
      <p:pic>
        <p:nvPicPr>
          <p:cNvPr id="6" name="brP_564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3771900" cy="402336"/>
          </a:xfrm>
          <a:prstGeom prst="rect">
            <a:avLst/>
          </a:prstGeom>
        </p:spPr>
      </p:pic>
      <p:sp>
        <p:nvSpPr>
          <p:cNvPr id="7" name="ins_565"/>
          <p:cNvSpPr/>
          <p:nvPr/>
        </p:nvSpPr>
        <p:spPr>
          <a:xfrm>
            <a:off x="1353312" y="731520"/>
            <a:ext cx="351586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Watch Part 1. Answer the questions.</a:t>
            </a:r>
            <a:endParaRPr lang="en-US" sz="1250" dirty="0"/>
          </a:p>
        </p:txBody>
      </p:sp>
      <p:sp>
        <p:nvSpPr>
          <p:cNvPr id="8" name="insIT_566"/>
          <p:cNvSpPr/>
          <p:nvPr/>
        </p:nvSpPr>
        <p:spPr>
          <a:xfrm>
            <a:off x="1371600" y="1115568"/>
            <a:ext cx="5852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Guarda la Parte 1. Rispondi alle domande.</a:t>
            </a:r>
            <a:endParaRPr lang="en-US" sz="950" dirty="0"/>
          </a:p>
        </p:txBody>
      </p:sp>
      <p:sp>
        <p:nvSpPr>
          <p:cNvPr id="9" name="cmd_567"/>
          <p:cNvSpPr/>
          <p:nvPr/>
        </p:nvSpPr>
        <p:spPr>
          <a:xfrm>
            <a:off x="6510528" y="182880"/>
            <a:ext cx="1901952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CDBFF3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000000"/>
                </a:solidFill>
              </a:rPr>
              <a:t>🎬 </a:t>
            </a:r>
            <a:pPr indent="0" marL="0">
              <a:buNone/>
            </a:pPr>
            <a:r>
              <a:rPr lang="en-US" sz="950" dirty="0">
                <a:solidFill>
                  <a:srgbClr val="7B5CD6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WATCH</a:t>
            </a:r>
            <a:pPr indent="0" marL="0">
              <a:buNone/>
            </a:pPr>
            <a:r>
              <a:rPr lang="en-US" sz="7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GUARDA IL VIDEO</a:t>
            </a:r>
            <a:endParaRPr lang="en-US" sz="900" dirty="0"/>
          </a:p>
        </p:txBody>
      </p:sp>
      <p:sp>
        <p:nvSpPr>
          <p:cNvPr id="10" name="meta_568"/>
          <p:cNvSpPr/>
          <p:nvPr/>
        </p:nvSpPr>
        <p:spPr>
          <a:xfrm>
            <a:off x="6583680" y="566928"/>
            <a:ext cx="2286000" cy="256032"/>
          </a:xfrm>
          <a:prstGeom prst="rect">
            <a:avLst/>
          </a:prstGeom>
          <a:noFill/>
          <a:ln/>
        </p:spPr>
        <p:txBody>
          <a:bodyPr wrap="square" lIns="101600" tIns="0" rIns="10160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7 min   🙋 whole class</a:t>
            </a:r>
            <a:endParaRPr lang="en-US" sz="950" dirty="0"/>
          </a:p>
        </p:txBody>
      </p:sp>
      <p:sp>
        <p:nvSpPr>
          <p:cNvPr id="11" name="tag_569"/>
          <p:cNvSpPr/>
          <p:nvPr/>
        </p:nvSpPr>
        <p:spPr>
          <a:xfrm>
            <a:off x="6510528" y="804672"/>
            <a:ext cx="2514600" cy="237744"/>
          </a:xfrm>
          <a:prstGeom prst="rect">
            <a:avLst/>
          </a:prstGeom>
          <a:noFill/>
          <a:ln/>
        </p:spPr>
        <p:txBody>
          <a:bodyPr wrap="square" lIns="101600" tIns="0" rIns="5080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Listening</a:t>
            </a:r>
            <a:pPr indent="0" marL="0">
              <a:buNone/>
            </a:pPr>
            <a:r>
              <a:rPr lang="en-US" sz="850" dirty="0">
                <a:solidFill>
                  <a:srgbClr val="7B5CD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· Authentic video</a:t>
            </a:r>
            <a:endParaRPr lang="en-US" sz="850" dirty="0"/>
          </a:p>
        </p:txBody>
      </p:sp>
      <p:pic>
        <p:nvPicPr>
          <p:cNvPr id="12" name="logo_570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3" name="foot_571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6B-2 · Extension · video listening · Part 1   ·   📖 SB p.63 · 6a–6c · video Part 1 (4'42")</a:t>
            </a:r>
            <a:endParaRPr lang="en-US" sz="800" dirty="0"/>
          </a:p>
        </p:txBody>
      </p:sp>
      <p:sp>
        <p:nvSpPr>
          <p:cNvPr id="14" name="st_572"/>
          <p:cNvSpPr/>
          <p:nvPr/>
        </p:nvSpPr>
        <p:spPr>
          <a:xfrm rot="-180000">
            <a:off x="7315200" y="4773168"/>
            <a:ext cx="1600200" cy="292608"/>
          </a:xfrm>
          <a:prstGeom prst="rect">
            <a:avLst/>
          </a:prstGeom>
          <a:solidFill>
            <a:srgbClr val="FFE07A"/>
          </a:solidFill>
          <a:ln>
            <a:solidFill>
              <a:srgbClr val="FFE07A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50800" tIns="50800" rIns="50800" bIns="50800" rtlCol="0" anchor="ctr">
            <a:normAutofit/>
          </a:bodyPr>
          <a:lstStyle/>
          <a:p>
            <a:pPr algn="ctr" indent="0" marL="0">
              <a:buNone/>
            </a:pPr>
            <a:r>
              <a:rPr lang="en-US" sz="9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EXTRA · if there's time</a:t>
            </a:r>
            <a:endParaRPr lang="en-US" sz="900" dirty="0"/>
          </a:p>
        </p:txBody>
      </p:sp>
      <p:pic>
        <p:nvPicPr>
          <p:cNvPr id="15" name="Media 0">
            <a:hlinkClick r:id="" action="ppaction://media"/>
          </p:cNvPr>
          <p:cNvPicPr>
            <a:picLocks noChangeAspect="1"/>
          </p:cNvPicPr>
          <p:nvPr>
            <a:videoFile r:link="rId5"/>
            <p:extLst>
              <p:ext uri="{DAA4B4D4-6D71-4841-9C94-3DE7FCFB9230}">
                <p14:media xmlns:p14="http://schemas.microsoft.com/office/powerpoint/2010/main" r:embed="rId6"/>
              </p:ext>
            </p:extLst>
          </p:nvPr>
        </p:nvPicPr>
        <p:blipFill>
          <a:blip r:embed="rId7"/>
          <a:stretch>
            <a:fillRect/>
          </a:stretch>
        </p:blipFill>
        <p:spPr>
          <a:xfrm>
            <a:off x="365760" y="1417320"/>
            <a:ext cx="4480560" cy="2523744"/>
          </a:xfrm>
          <a:prstGeom prst="rect">
            <a:avLst/>
          </a:prstGeom>
        </p:spPr>
      </p:pic>
      <p:sp>
        <p:nvSpPr>
          <p:cNvPr id="16" name="cd_573"/>
          <p:cNvSpPr/>
          <p:nvPr/>
        </p:nvSpPr>
        <p:spPr>
          <a:xfrm>
            <a:off x="320040" y="4069080"/>
            <a:ext cx="4572000" cy="685800"/>
          </a:xfrm>
          <a:prstGeom prst="roundRect">
            <a:avLst>
              <a:gd name="adj" fmla="val 18667"/>
            </a:avLst>
          </a:prstGeom>
          <a:solidFill>
            <a:srgbClr val="EEE8FB"/>
          </a:solidFill>
          <a:ln w="19050">
            <a:solidFill>
              <a:srgbClr val="CDBFF3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7" name="ii_574"/>
          <p:cNvSpPr/>
          <p:nvPr/>
        </p:nvSpPr>
        <p:spPr>
          <a:xfrm>
            <a:off x="411480" y="414223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💬</a:t>
            </a:r>
            <a:endParaRPr lang="en-US" sz="2200" dirty="0"/>
          </a:p>
        </p:txBody>
      </p:sp>
      <p:sp>
        <p:nvSpPr>
          <p:cNvPr id="18" name="ih_575"/>
          <p:cNvSpPr/>
          <p:nvPr/>
        </p:nvSpPr>
        <p:spPr>
          <a:xfrm>
            <a:off x="886968" y="4160520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After watching</a:t>
            </a:r>
            <a:endParaRPr lang="en-US" sz="1200" dirty="0"/>
          </a:p>
        </p:txBody>
      </p:sp>
      <p:sp>
        <p:nvSpPr>
          <p:cNvPr id="19" name="il_576"/>
          <p:cNvSpPr/>
          <p:nvPr/>
        </p:nvSpPr>
        <p:spPr>
          <a:xfrm>
            <a:off x="886968" y="4544568"/>
            <a:ext cx="3913632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800" dirty="0">
                <a:solidFill>
                  <a:srgbClr val="1B25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Which of Sam's outfits do YOU like best? Why?</a:t>
            </a:r>
            <a:endParaRPr lang="en-US" sz="800" dirty="0"/>
          </a:p>
        </p:txBody>
      </p:sp>
      <p:sp>
        <p:nvSpPr>
          <p:cNvPr id="20" name="vq_577"/>
          <p:cNvSpPr/>
          <p:nvPr/>
        </p:nvSpPr>
        <p:spPr>
          <a:xfrm>
            <a:off x="5074920" y="1417320"/>
            <a:ext cx="2103120" cy="566928"/>
          </a:xfrm>
          <a:prstGeom prst="roundRect">
            <a:avLst>
              <a:gd name="adj" fmla="val 16129"/>
            </a:avLst>
          </a:prstGeom>
          <a:solidFill>
            <a:srgbClr val="FFFFFF"/>
          </a:solidFill>
          <a:ln w="19050">
            <a:solidFill>
              <a:srgbClr val="F7A6C4"/>
            </a:solidFill>
          </a:ln>
        </p:spPr>
        <p:txBody>
          <a:bodyPr wrap="square" lIns="76200" tIns="0" rIns="762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What's Sam's job?</a:t>
            </a:r>
            <a:endParaRPr lang="en-US" sz="1100" dirty="0"/>
          </a:p>
        </p:txBody>
      </p:sp>
      <p:sp>
        <p:nvSpPr>
          <p:cNvPr id="21" name="R1_chip578"/>
          <p:cNvSpPr/>
          <p:nvPr/>
        </p:nvSpPr>
        <p:spPr>
          <a:xfrm>
            <a:off x="7269480" y="1417320"/>
            <a:ext cx="1600200" cy="566928"/>
          </a:xfrm>
          <a:prstGeom prst="roundRect">
            <a:avLst>
              <a:gd name="adj" fmla="val 16129"/>
            </a:avLst>
          </a:prstGeom>
          <a:solidFill>
            <a:srgbClr val="FFF6CC"/>
          </a:solidFill>
          <a:ln w="19050">
            <a:solidFill>
              <a:srgbClr val="F2B70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an actor</a:t>
            </a:r>
            <a:endParaRPr lang="en-US" sz="1000" dirty="0"/>
          </a:p>
        </p:txBody>
      </p:sp>
      <p:sp>
        <p:nvSpPr>
          <p:cNvPr id="22" name="vq_579"/>
          <p:cNvSpPr/>
          <p:nvPr/>
        </p:nvSpPr>
        <p:spPr>
          <a:xfrm>
            <a:off x="5074920" y="2075688"/>
            <a:ext cx="2103120" cy="566928"/>
          </a:xfrm>
          <a:prstGeom prst="roundRect">
            <a:avLst>
              <a:gd name="adj" fmla="val 16129"/>
            </a:avLst>
          </a:prstGeom>
          <a:solidFill>
            <a:srgbClr val="FFFFFF"/>
          </a:solidFill>
          <a:ln w="19050">
            <a:solidFill>
              <a:srgbClr val="A9D3F5"/>
            </a:solidFill>
          </a:ln>
        </p:spPr>
        <p:txBody>
          <a:bodyPr wrap="square" lIns="76200" tIns="0" rIns="762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Why did he want a stylist?</a:t>
            </a:r>
            <a:endParaRPr lang="en-US" sz="1100" dirty="0"/>
          </a:p>
        </p:txBody>
      </p:sp>
      <p:sp>
        <p:nvSpPr>
          <p:cNvPr id="23" name="R2_chip580"/>
          <p:cNvSpPr/>
          <p:nvPr/>
        </p:nvSpPr>
        <p:spPr>
          <a:xfrm>
            <a:off x="7269480" y="2075688"/>
            <a:ext cx="1600200" cy="566928"/>
          </a:xfrm>
          <a:prstGeom prst="roundRect">
            <a:avLst>
              <a:gd name="adj" fmla="val 16129"/>
            </a:avLst>
          </a:prstGeom>
          <a:solidFill>
            <a:srgbClr val="FFF6CC"/>
          </a:solidFill>
          <a:ln w="19050">
            <a:solidFill>
              <a:srgbClr val="F2B70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his wardrobe was boring – he wanted a new opinion</a:t>
            </a:r>
            <a:endParaRPr lang="en-US" sz="1000" dirty="0"/>
          </a:p>
        </p:txBody>
      </p:sp>
      <p:sp>
        <p:nvSpPr>
          <p:cNvPr id="24" name="vq_581"/>
          <p:cNvSpPr/>
          <p:nvPr/>
        </p:nvSpPr>
        <p:spPr>
          <a:xfrm>
            <a:off x="5074920" y="2734056"/>
            <a:ext cx="2103120" cy="566928"/>
          </a:xfrm>
          <a:prstGeom prst="roundRect">
            <a:avLst>
              <a:gd name="adj" fmla="val 16129"/>
            </a:avLst>
          </a:prstGeom>
          <a:solidFill>
            <a:srgbClr val="FFFFFF"/>
          </a:solidFill>
          <a:ln w="19050">
            <a:solidFill>
              <a:srgbClr val="A8E5BE"/>
            </a:solidFill>
          </a:ln>
        </p:spPr>
        <p:txBody>
          <a:bodyPr wrap="square" lIns="76200" tIns="0" rIns="762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Which outfit did Sam like best?</a:t>
            </a:r>
            <a:endParaRPr lang="en-US" sz="1100" dirty="0"/>
          </a:p>
        </p:txBody>
      </p:sp>
      <p:sp>
        <p:nvSpPr>
          <p:cNvPr id="25" name="R3_chip582"/>
          <p:cNvSpPr/>
          <p:nvPr/>
        </p:nvSpPr>
        <p:spPr>
          <a:xfrm>
            <a:off x="7269480" y="2734056"/>
            <a:ext cx="1600200" cy="566928"/>
          </a:xfrm>
          <a:prstGeom prst="roundRect">
            <a:avLst>
              <a:gd name="adj" fmla="val 16129"/>
            </a:avLst>
          </a:prstGeom>
          <a:solidFill>
            <a:srgbClr val="FFF6CC"/>
          </a:solidFill>
          <a:ln w="19050">
            <a:solidFill>
              <a:srgbClr val="F2B70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2 – quite bold; he felt very smart</a:t>
            </a:r>
            <a:endParaRPr lang="en-US" sz="1000" dirty="0"/>
          </a:p>
        </p:txBody>
      </p:sp>
      <p:sp>
        <p:nvSpPr>
          <p:cNvPr id="26" name="vq_583"/>
          <p:cNvSpPr/>
          <p:nvPr/>
        </p:nvSpPr>
        <p:spPr>
          <a:xfrm>
            <a:off x="5074920" y="3392424"/>
            <a:ext cx="2103120" cy="566928"/>
          </a:xfrm>
          <a:prstGeom prst="roundRect">
            <a:avLst>
              <a:gd name="adj" fmla="val 16129"/>
            </a:avLst>
          </a:prstGeom>
          <a:solidFill>
            <a:srgbClr val="FFFFFF"/>
          </a:solidFill>
          <a:ln w="19050">
            <a:solidFill>
              <a:srgbClr val="FFE07A"/>
            </a:solidFill>
          </a:ln>
        </p:spPr>
        <p:txBody>
          <a:bodyPr wrap="square" lIns="76200" tIns="0" rIns="762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First thing he did?</a:t>
            </a:r>
            <a:endParaRPr lang="en-US" sz="1100" dirty="0"/>
          </a:p>
        </p:txBody>
      </p:sp>
      <p:sp>
        <p:nvSpPr>
          <p:cNvPr id="27" name="R4_chip584"/>
          <p:cNvSpPr/>
          <p:nvPr/>
        </p:nvSpPr>
        <p:spPr>
          <a:xfrm>
            <a:off x="7269480" y="3392424"/>
            <a:ext cx="1600200" cy="566928"/>
          </a:xfrm>
          <a:prstGeom prst="roundRect">
            <a:avLst>
              <a:gd name="adj" fmla="val 16129"/>
            </a:avLst>
          </a:prstGeom>
          <a:solidFill>
            <a:srgbClr val="FFF6CC"/>
          </a:solidFill>
          <a:ln w="19050">
            <a:solidFill>
              <a:srgbClr val="F2B70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filled in a questionnaire</a:t>
            </a:r>
            <a:endParaRPr lang="en-US" sz="100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seq concurrent="1" nextAc="seek">
              <p:cTn id="23" restart="whenNotActive" fill="hold" evtFilter="cancelBubble" nodeType="interactiveSeq">
                <p:stCondLst>
                  <p:cond evt="onClick" delay="0">
                    <p:tgtEl>
                      <p:spTgt spid="15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24" fill="hold">
                      <p:stCondLst>
                        <p:cond delay="0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27" dur="1" fill="hold"/>
                                        <p:tgtEl>
                                          <p:spTgt spid="15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5"/>
                  </p:tgtEl>
                </p:cond>
              </p:nextCondLst>
            </p:seq>
            <p:video>
              <p:cMediaNode vol="80000">
                <p:cTn id="28" fill="hold" display="0">
                  <p:stCondLst>
                    <p:cond delay="indefinite"/>
                  </p:stCondLst>
                </p:cTn>
                <p:tgtEl>
                  <p:spTgt spid="15"/>
                </p:tgtEl>
              </p:cMediaNode>
            </p:video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585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7B5CD6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20</a:t>
            </a:r>
            <a:endParaRPr lang="en-US" sz="2200" dirty="0"/>
          </a:p>
        </p:txBody>
      </p:sp>
      <p:pic>
        <p:nvPicPr>
          <p:cNvPr id="4" name="brY_586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3719779" cy="621792"/>
          </a:xfrm>
          <a:prstGeom prst="rect">
            <a:avLst/>
          </a:prstGeom>
        </p:spPr>
      </p:pic>
      <p:sp>
        <p:nvSpPr>
          <p:cNvPr id="5" name="title_587"/>
          <p:cNvSpPr/>
          <p:nvPr/>
        </p:nvSpPr>
        <p:spPr>
          <a:xfrm>
            <a:off x="1261872" y="164592"/>
            <a:ext cx="344545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Elin's golden rules</a:t>
            </a:r>
            <a:endParaRPr lang="en-US" sz="2500" dirty="0"/>
          </a:p>
        </p:txBody>
      </p:sp>
      <p:pic>
        <p:nvPicPr>
          <p:cNvPr id="6" name="brP_588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4466844" cy="402336"/>
          </a:xfrm>
          <a:prstGeom prst="rect">
            <a:avLst/>
          </a:prstGeom>
        </p:spPr>
      </p:pic>
      <p:sp>
        <p:nvSpPr>
          <p:cNvPr id="7" name="ins_589"/>
          <p:cNvSpPr/>
          <p:nvPr/>
        </p:nvSpPr>
        <p:spPr>
          <a:xfrm>
            <a:off x="1353312" y="731520"/>
            <a:ext cx="421081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Guess the missing words. Then watch Part 2.</a:t>
            </a:r>
            <a:endParaRPr lang="en-US" sz="1250" dirty="0"/>
          </a:p>
        </p:txBody>
      </p:sp>
      <p:sp>
        <p:nvSpPr>
          <p:cNvPr id="8" name="insIT_590"/>
          <p:cNvSpPr/>
          <p:nvPr/>
        </p:nvSpPr>
        <p:spPr>
          <a:xfrm>
            <a:off x="1371600" y="1115568"/>
            <a:ext cx="5852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Indovina le parole mancanti. Poi guarda la Parte 2.</a:t>
            </a:r>
            <a:endParaRPr lang="en-US" sz="950" dirty="0"/>
          </a:p>
        </p:txBody>
      </p:sp>
      <p:sp>
        <p:nvSpPr>
          <p:cNvPr id="9" name="cmd_591"/>
          <p:cNvSpPr/>
          <p:nvPr/>
        </p:nvSpPr>
        <p:spPr>
          <a:xfrm>
            <a:off x="6510528" y="182880"/>
            <a:ext cx="1901952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💡 </a:t>
            </a:r>
            <a:pPr indent="0" marL="0">
              <a:buNone/>
            </a:pPr>
            <a:r>
              <a:rPr lang="en-US" sz="1200" dirty="0">
                <a:solidFill>
                  <a:srgbClr val="2F8DE4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THINK</a:t>
            </a:r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PENSA</a:t>
            </a:r>
            <a:endParaRPr lang="en-US" sz="1100" dirty="0"/>
          </a:p>
        </p:txBody>
      </p:sp>
      <p:sp>
        <p:nvSpPr>
          <p:cNvPr id="10" name="cmd_592"/>
          <p:cNvSpPr/>
          <p:nvPr/>
        </p:nvSpPr>
        <p:spPr>
          <a:xfrm>
            <a:off x="6510528" y="566928"/>
            <a:ext cx="1901952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CDBFF3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000000"/>
                </a:solidFill>
              </a:rPr>
              <a:t>🎬 </a:t>
            </a:r>
            <a:pPr indent="0" marL="0">
              <a:buNone/>
            </a:pPr>
            <a:r>
              <a:rPr lang="en-US" sz="950" dirty="0">
                <a:solidFill>
                  <a:srgbClr val="7B5CD6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WATCH</a:t>
            </a:r>
            <a:pPr indent="0" marL="0">
              <a:buNone/>
            </a:pPr>
            <a:r>
              <a:rPr lang="en-US" sz="7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GUARDA IL VIDEO</a:t>
            </a:r>
            <a:endParaRPr lang="en-US" sz="900" dirty="0"/>
          </a:p>
        </p:txBody>
      </p:sp>
      <p:sp>
        <p:nvSpPr>
          <p:cNvPr id="11" name="meta_593"/>
          <p:cNvSpPr/>
          <p:nvPr/>
        </p:nvSpPr>
        <p:spPr>
          <a:xfrm>
            <a:off x="6583680" y="950976"/>
            <a:ext cx="2286000" cy="256032"/>
          </a:xfrm>
          <a:prstGeom prst="rect">
            <a:avLst/>
          </a:prstGeom>
          <a:noFill/>
          <a:ln/>
        </p:spPr>
        <p:txBody>
          <a:bodyPr wrap="square" lIns="101600" tIns="0" rIns="10160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4 min   🙋 whole class</a:t>
            </a:r>
            <a:endParaRPr lang="en-US" sz="950" dirty="0"/>
          </a:p>
        </p:txBody>
      </p:sp>
      <p:sp>
        <p:nvSpPr>
          <p:cNvPr id="12" name="tag_594"/>
          <p:cNvSpPr/>
          <p:nvPr/>
        </p:nvSpPr>
        <p:spPr>
          <a:xfrm>
            <a:off x="6510528" y="1188720"/>
            <a:ext cx="2514600" cy="237744"/>
          </a:xfrm>
          <a:prstGeom prst="rect">
            <a:avLst/>
          </a:prstGeom>
          <a:noFill/>
          <a:ln/>
        </p:spPr>
        <p:txBody>
          <a:bodyPr wrap="square" lIns="101600" tIns="0" rIns="5080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Listening</a:t>
            </a:r>
            <a:pPr indent="0" marL="0">
              <a:buNone/>
            </a:pPr>
            <a:r>
              <a:rPr lang="en-US" sz="850" dirty="0">
                <a:solidFill>
                  <a:srgbClr val="7B5CD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· Authentic video</a:t>
            </a:r>
            <a:endParaRPr lang="en-US" sz="850" dirty="0"/>
          </a:p>
        </p:txBody>
      </p:sp>
      <p:pic>
        <p:nvPicPr>
          <p:cNvPr id="13" name="logo_595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4" name="foot_596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6B-2 · Extension · video listening · Part 2   ·   📖 SB p.63 · 6d, 6e · video Part 2 (1'27")</a:t>
            </a:r>
            <a:endParaRPr lang="en-US" sz="800" dirty="0"/>
          </a:p>
        </p:txBody>
      </p:sp>
      <p:sp>
        <p:nvSpPr>
          <p:cNvPr id="15" name="st_597"/>
          <p:cNvSpPr/>
          <p:nvPr/>
        </p:nvSpPr>
        <p:spPr>
          <a:xfrm rot="-180000">
            <a:off x="7315200" y="4773168"/>
            <a:ext cx="1600200" cy="292608"/>
          </a:xfrm>
          <a:prstGeom prst="rect">
            <a:avLst/>
          </a:prstGeom>
          <a:solidFill>
            <a:srgbClr val="FFE07A"/>
          </a:solidFill>
          <a:ln>
            <a:solidFill>
              <a:srgbClr val="FFE07A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50800" tIns="50800" rIns="50800" bIns="50800" rtlCol="0" anchor="ctr">
            <a:normAutofit/>
          </a:bodyPr>
          <a:lstStyle/>
          <a:p>
            <a:pPr algn="ctr" indent="0" marL="0">
              <a:buNone/>
            </a:pPr>
            <a:r>
              <a:rPr lang="en-US" sz="9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EXTRA · if there's time</a:t>
            </a:r>
            <a:endParaRPr lang="en-US" sz="900" dirty="0"/>
          </a:p>
        </p:txBody>
      </p:sp>
      <p:pic>
        <p:nvPicPr>
          <p:cNvPr id="16" name="Media 0">
            <a:hlinkClick r:id="" action="ppaction://media"/>
          </p:cNvPr>
          <p:cNvPicPr>
            <a:picLocks noChangeAspect="1"/>
          </p:cNvPicPr>
          <p:nvPr>
            <a:videoFile r:link="rId5"/>
            <p:extLst>
              <p:ext uri="{DAA4B4D4-6D71-4841-9C94-3DE7FCFB9230}">
                <p14:media xmlns:p14="http://schemas.microsoft.com/office/powerpoint/2010/main" r:embed="rId6"/>
              </p:ext>
            </p:extLst>
          </p:nvPr>
        </p:nvPicPr>
        <p:blipFill>
          <a:blip r:embed="rId7"/>
          <a:stretch>
            <a:fillRect/>
          </a:stretch>
        </p:blipFill>
        <p:spPr>
          <a:xfrm>
            <a:off x="365760" y="1417320"/>
            <a:ext cx="4480560" cy="2523744"/>
          </a:xfrm>
          <a:prstGeom prst="rect">
            <a:avLst/>
          </a:prstGeom>
        </p:spPr>
      </p:pic>
      <p:sp>
        <p:nvSpPr>
          <p:cNvPr id="17" name="cd_598"/>
          <p:cNvSpPr/>
          <p:nvPr/>
        </p:nvSpPr>
        <p:spPr>
          <a:xfrm>
            <a:off x="320040" y="4069080"/>
            <a:ext cx="4572000" cy="685800"/>
          </a:xfrm>
          <a:prstGeom prst="roundRect">
            <a:avLst>
              <a:gd name="adj" fmla="val 18667"/>
            </a:avLst>
          </a:prstGeom>
          <a:solidFill>
            <a:srgbClr val="EEE8FB"/>
          </a:solidFill>
          <a:ln w="19050">
            <a:solidFill>
              <a:srgbClr val="CDBFF3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8" name="ii_599"/>
          <p:cNvSpPr/>
          <p:nvPr/>
        </p:nvSpPr>
        <p:spPr>
          <a:xfrm>
            <a:off x="411480" y="414223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💬</a:t>
            </a:r>
            <a:endParaRPr lang="en-US" sz="2200" dirty="0"/>
          </a:p>
        </p:txBody>
      </p:sp>
      <p:sp>
        <p:nvSpPr>
          <p:cNvPr id="19" name="ih_600"/>
          <p:cNvSpPr/>
          <p:nvPr/>
        </p:nvSpPr>
        <p:spPr>
          <a:xfrm>
            <a:off x="886968" y="4160520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After watching</a:t>
            </a:r>
            <a:endParaRPr lang="en-US" sz="1200" dirty="0"/>
          </a:p>
        </p:txBody>
      </p:sp>
      <p:sp>
        <p:nvSpPr>
          <p:cNvPr id="20" name="il_601"/>
          <p:cNvSpPr/>
          <p:nvPr/>
        </p:nvSpPr>
        <p:spPr>
          <a:xfrm>
            <a:off x="886968" y="4544568"/>
            <a:ext cx="3913632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800" dirty="0">
                <a:solidFill>
                  <a:srgbClr val="1B25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Do you agree with Elin's rules?</a:t>
            </a:r>
            <a:endParaRPr lang="en-US" sz="800" dirty="0"/>
          </a:p>
        </p:txBody>
      </p:sp>
      <p:sp>
        <p:nvSpPr>
          <p:cNvPr id="21" name="vq_602"/>
          <p:cNvSpPr/>
          <p:nvPr/>
        </p:nvSpPr>
        <p:spPr>
          <a:xfrm>
            <a:off x="5074920" y="1417320"/>
            <a:ext cx="2103120" cy="566928"/>
          </a:xfrm>
          <a:prstGeom prst="roundRect">
            <a:avLst>
              <a:gd name="adj" fmla="val 16129"/>
            </a:avLst>
          </a:prstGeom>
          <a:solidFill>
            <a:srgbClr val="FFFFFF"/>
          </a:solidFill>
          <a:ln w="19050">
            <a:solidFill>
              <a:srgbClr val="F7A6C4"/>
            </a:solidFill>
          </a:ln>
        </p:spPr>
        <p:txBody>
          <a:bodyPr wrap="square" lIns="76200" tIns="0" rIns="762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1 Look at ___ before you go shopping.</a:t>
            </a:r>
            <a:endParaRPr lang="en-US" sz="1100" dirty="0"/>
          </a:p>
        </p:txBody>
      </p:sp>
      <p:sp>
        <p:nvSpPr>
          <p:cNvPr id="22" name="R1_chip603"/>
          <p:cNvSpPr/>
          <p:nvPr/>
        </p:nvSpPr>
        <p:spPr>
          <a:xfrm>
            <a:off x="7269480" y="1417320"/>
            <a:ext cx="1600200" cy="566928"/>
          </a:xfrm>
          <a:prstGeom prst="roundRect">
            <a:avLst>
              <a:gd name="adj" fmla="val 16129"/>
            </a:avLst>
          </a:prstGeom>
          <a:solidFill>
            <a:srgbClr val="FFF6CC"/>
          </a:solidFill>
          <a:ln w="19050">
            <a:solidFill>
              <a:srgbClr val="F2B70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your own wardrobe</a:t>
            </a:r>
            <a:endParaRPr lang="en-US" sz="1000" dirty="0"/>
          </a:p>
        </p:txBody>
      </p:sp>
      <p:sp>
        <p:nvSpPr>
          <p:cNvPr id="23" name="vq_604"/>
          <p:cNvSpPr/>
          <p:nvPr/>
        </p:nvSpPr>
        <p:spPr>
          <a:xfrm>
            <a:off x="5074920" y="2075688"/>
            <a:ext cx="2103120" cy="566928"/>
          </a:xfrm>
          <a:prstGeom prst="roundRect">
            <a:avLst>
              <a:gd name="adj" fmla="val 16129"/>
            </a:avLst>
          </a:prstGeom>
          <a:solidFill>
            <a:srgbClr val="FFFFFF"/>
          </a:solidFill>
          <a:ln w="19050">
            <a:solidFill>
              <a:srgbClr val="A9D3F5"/>
            </a:solidFill>
          </a:ln>
        </p:spPr>
        <p:txBody>
          <a:bodyPr wrap="square" lIns="76200" tIns="0" rIns="762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2 Stay ___ when you go shopping.</a:t>
            </a:r>
            <a:endParaRPr lang="en-US" sz="1100" dirty="0"/>
          </a:p>
        </p:txBody>
      </p:sp>
      <p:sp>
        <p:nvSpPr>
          <p:cNvPr id="24" name="R2_chip605"/>
          <p:cNvSpPr/>
          <p:nvPr/>
        </p:nvSpPr>
        <p:spPr>
          <a:xfrm>
            <a:off x="7269480" y="2075688"/>
            <a:ext cx="1600200" cy="566928"/>
          </a:xfrm>
          <a:prstGeom prst="roundRect">
            <a:avLst>
              <a:gd name="adj" fmla="val 16129"/>
            </a:avLst>
          </a:prstGeom>
          <a:solidFill>
            <a:srgbClr val="FFF6CC"/>
          </a:solidFill>
          <a:ln w="19050">
            <a:solidFill>
              <a:srgbClr val="F2B70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true to yourself</a:t>
            </a:r>
            <a:endParaRPr lang="en-US" sz="1000" dirty="0"/>
          </a:p>
        </p:txBody>
      </p:sp>
      <p:sp>
        <p:nvSpPr>
          <p:cNvPr id="25" name="vq_606"/>
          <p:cNvSpPr/>
          <p:nvPr/>
        </p:nvSpPr>
        <p:spPr>
          <a:xfrm>
            <a:off x="5074920" y="2734056"/>
            <a:ext cx="2103120" cy="566928"/>
          </a:xfrm>
          <a:prstGeom prst="roundRect">
            <a:avLst>
              <a:gd name="adj" fmla="val 16129"/>
            </a:avLst>
          </a:prstGeom>
          <a:solidFill>
            <a:srgbClr val="FFFFFF"/>
          </a:solidFill>
          <a:ln w="19050">
            <a:solidFill>
              <a:srgbClr val="A8E5BE"/>
            </a:solidFill>
          </a:ln>
        </p:spPr>
        <p:txBody>
          <a:bodyPr wrap="square" lIns="76200" tIns="0" rIns="762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3 It doesn't matter ___ you've got.</a:t>
            </a:r>
            <a:endParaRPr lang="en-US" sz="1100" dirty="0"/>
          </a:p>
        </p:txBody>
      </p:sp>
      <p:sp>
        <p:nvSpPr>
          <p:cNvPr id="26" name="R3_chip607"/>
          <p:cNvSpPr/>
          <p:nvPr/>
        </p:nvSpPr>
        <p:spPr>
          <a:xfrm>
            <a:off x="7269480" y="2734056"/>
            <a:ext cx="1600200" cy="566928"/>
          </a:xfrm>
          <a:prstGeom prst="roundRect">
            <a:avLst>
              <a:gd name="adj" fmla="val 16129"/>
            </a:avLst>
          </a:prstGeom>
          <a:solidFill>
            <a:srgbClr val="FFF6CC"/>
          </a:solidFill>
          <a:ln w="19050">
            <a:solidFill>
              <a:srgbClr val="F2B70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how much money</a:t>
            </a:r>
            <a:endParaRPr lang="en-US" sz="1000" dirty="0"/>
          </a:p>
        </p:txBody>
      </p:sp>
      <p:sp>
        <p:nvSpPr>
          <p:cNvPr id="27" name="vq_608"/>
          <p:cNvSpPr/>
          <p:nvPr/>
        </p:nvSpPr>
        <p:spPr>
          <a:xfrm>
            <a:off x="5074920" y="3392424"/>
            <a:ext cx="2103120" cy="566928"/>
          </a:xfrm>
          <a:prstGeom prst="roundRect">
            <a:avLst>
              <a:gd name="adj" fmla="val 16129"/>
            </a:avLst>
          </a:prstGeom>
          <a:solidFill>
            <a:srgbClr val="FFFFFF"/>
          </a:solidFill>
          <a:ln w="19050">
            <a:solidFill>
              <a:srgbClr val="FFE07A"/>
            </a:solidFill>
          </a:ln>
        </p:spPr>
        <p:txBody>
          <a:bodyPr wrap="square" lIns="76200" tIns="0" rIns="762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4 Everyone should have ___.</a:t>
            </a:r>
            <a:endParaRPr lang="en-US" sz="1100" dirty="0"/>
          </a:p>
        </p:txBody>
      </p:sp>
      <p:sp>
        <p:nvSpPr>
          <p:cNvPr id="28" name="R4_chip609"/>
          <p:cNvSpPr/>
          <p:nvPr/>
        </p:nvSpPr>
        <p:spPr>
          <a:xfrm>
            <a:off x="7269480" y="3392424"/>
            <a:ext cx="1600200" cy="566928"/>
          </a:xfrm>
          <a:prstGeom prst="roundRect">
            <a:avLst>
              <a:gd name="adj" fmla="val 16129"/>
            </a:avLst>
          </a:prstGeom>
          <a:solidFill>
            <a:srgbClr val="FFF6CC"/>
          </a:solidFill>
          <a:ln w="19050">
            <a:solidFill>
              <a:srgbClr val="F2B70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 good pair of jeans</a:t>
            </a:r>
            <a:endParaRPr lang="en-US" sz="100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seq concurrent="1" nextAc="seek">
              <p:cTn id="23" restart="whenNotActive" fill="hold" evtFilter="cancelBubble" nodeType="interactiveSeq">
                <p:stCondLst>
                  <p:cond evt="onClick" delay="0">
                    <p:tgtEl>
                      <p:spTgt spid="16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24" fill="hold">
                      <p:stCondLst>
                        <p:cond delay="0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27" dur="1" fill="hold"/>
                                        <p:tgtEl>
                                          <p:spTgt spid="16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6"/>
                  </p:tgtEl>
                </p:cond>
              </p:nextCondLst>
            </p:seq>
            <p:video>
              <p:cMediaNode vol="80000">
                <p:cTn id="28" fill="hold" display="0">
                  <p:stCondLst>
                    <p:cond delay="indefinite"/>
                  </p:stCondLst>
                </p:cTn>
                <p:tgtEl>
                  <p:spTgt spid="16"/>
                </p:tgtEl>
              </p:cMediaNode>
            </p:video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610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E8508F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21</a:t>
            </a:r>
            <a:endParaRPr lang="en-US" sz="2200" dirty="0"/>
          </a:p>
        </p:txBody>
      </p:sp>
      <p:pic>
        <p:nvPicPr>
          <p:cNvPr id="4" name="brY_611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3090672" cy="621792"/>
          </a:xfrm>
          <a:prstGeom prst="rect">
            <a:avLst/>
          </a:prstGeom>
        </p:spPr>
      </p:pic>
      <p:sp>
        <p:nvSpPr>
          <p:cNvPr id="5" name="title_612"/>
          <p:cNvSpPr/>
          <p:nvPr/>
        </p:nvSpPr>
        <p:spPr>
          <a:xfrm>
            <a:off x="1261872" y="164592"/>
            <a:ext cx="28163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Draw the alien!</a:t>
            </a:r>
            <a:endParaRPr lang="en-US" sz="2500" dirty="0"/>
          </a:p>
        </p:txBody>
      </p:sp>
      <p:pic>
        <p:nvPicPr>
          <p:cNvPr id="6" name="brP_613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4640580" cy="402336"/>
          </a:xfrm>
          <a:prstGeom prst="rect">
            <a:avLst/>
          </a:prstGeom>
        </p:spPr>
      </p:pic>
      <p:sp>
        <p:nvSpPr>
          <p:cNvPr id="7" name="ins_614"/>
          <p:cNvSpPr/>
          <p:nvPr/>
        </p:nvSpPr>
        <p:spPr>
          <a:xfrm>
            <a:off x="1353312" y="731520"/>
            <a:ext cx="438454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 describes an alien. B draws it. No looking!</a:t>
            </a:r>
            <a:endParaRPr lang="en-US" sz="1250" dirty="0"/>
          </a:p>
        </p:txBody>
      </p:sp>
      <p:sp>
        <p:nvSpPr>
          <p:cNvPr id="8" name="insIT_615"/>
          <p:cNvSpPr/>
          <p:nvPr/>
        </p:nvSpPr>
        <p:spPr>
          <a:xfrm>
            <a:off x="1371600" y="1115568"/>
            <a:ext cx="5852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descrive un alieno. B lo disegna. Senza guardare!</a:t>
            </a:r>
            <a:endParaRPr lang="en-US" sz="950" dirty="0"/>
          </a:p>
        </p:txBody>
      </p:sp>
      <p:sp>
        <p:nvSpPr>
          <p:cNvPr id="9" name="cmd_616"/>
          <p:cNvSpPr/>
          <p:nvPr/>
        </p:nvSpPr>
        <p:spPr>
          <a:xfrm>
            <a:off x="6510528" y="182880"/>
            <a:ext cx="1901952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FFE07A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🎲 </a:t>
            </a:r>
            <a:pPr indent="0" marL="0">
              <a:buNone/>
            </a:pPr>
            <a:r>
              <a:rPr lang="en-US" sz="1200" dirty="0">
                <a:solidFill>
                  <a:srgbClr val="F2B705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PLAY</a:t>
            </a:r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GIOCA</a:t>
            </a:r>
            <a:endParaRPr lang="en-US" sz="1100" dirty="0"/>
          </a:p>
        </p:txBody>
      </p:sp>
      <p:sp>
        <p:nvSpPr>
          <p:cNvPr id="10" name="meta_617"/>
          <p:cNvSpPr/>
          <p:nvPr/>
        </p:nvSpPr>
        <p:spPr>
          <a:xfrm>
            <a:off x="6583680" y="566928"/>
            <a:ext cx="2286000" cy="256032"/>
          </a:xfrm>
          <a:prstGeom prst="rect">
            <a:avLst/>
          </a:prstGeom>
          <a:noFill/>
          <a:ln/>
        </p:spPr>
        <p:txBody>
          <a:bodyPr wrap="square" lIns="101600" tIns="0" rIns="10160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7 min   👥 pairs</a:t>
            </a:r>
            <a:endParaRPr lang="en-US" sz="950" dirty="0"/>
          </a:p>
        </p:txBody>
      </p:sp>
      <p:sp>
        <p:nvSpPr>
          <p:cNvPr id="11" name="tag_618"/>
          <p:cNvSpPr/>
          <p:nvPr/>
        </p:nvSpPr>
        <p:spPr>
          <a:xfrm>
            <a:off x="6510528" y="804672"/>
            <a:ext cx="2514600" cy="237744"/>
          </a:xfrm>
          <a:prstGeom prst="rect">
            <a:avLst/>
          </a:prstGeom>
          <a:noFill/>
          <a:ln/>
        </p:spPr>
        <p:txBody>
          <a:bodyPr wrap="square" lIns="101600" tIns="0" rIns="5080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Speaking</a:t>
            </a:r>
            <a:pPr indent="0" marL="0">
              <a:buNone/>
            </a:pPr>
            <a:r>
              <a:rPr lang="en-US" sz="850" dirty="0">
                <a:solidFill>
                  <a:srgbClr val="7B5CD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· Communicative game</a:t>
            </a:r>
            <a:endParaRPr lang="en-US" sz="850" dirty="0"/>
          </a:p>
        </p:txBody>
      </p:sp>
      <p:pic>
        <p:nvPicPr>
          <p:cNvPr id="12" name="logo_619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3" name="foot_620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6B-2 · Extension · describe and draw   ·   📖 Extension · body vocabulary</a:t>
            </a:r>
            <a:endParaRPr lang="en-US" sz="800" dirty="0"/>
          </a:p>
        </p:txBody>
      </p:sp>
      <p:sp>
        <p:nvSpPr>
          <p:cNvPr id="14" name="st_621"/>
          <p:cNvSpPr/>
          <p:nvPr/>
        </p:nvSpPr>
        <p:spPr>
          <a:xfrm rot="-180000">
            <a:off x="7315200" y="4773168"/>
            <a:ext cx="1600200" cy="292608"/>
          </a:xfrm>
          <a:prstGeom prst="rect">
            <a:avLst/>
          </a:prstGeom>
          <a:solidFill>
            <a:srgbClr val="FFE07A"/>
          </a:solidFill>
          <a:ln>
            <a:solidFill>
              <a:srgbClr val="FFE07A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50800" tIns="50800" rIns="50800" bIns="50800" rtlCol="0" anchor="ctr">
            <a:normAutofit/>
          </a:bodyPr>
          <a:lstStyle/>
          <a:p>
            <a:pPr algn="ctr" indent="0" marL="0">
              <a:buNone/>
            </a:pPr>
            <a:r>
              <a:rPr lang="en-US" sz="9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EXTRA · if there's time</a:t>
            </a:r>
            <a:endParaRPr lang="en-US" sz="900" dirty="0"/>
          </a:p>
        </p:txBody>
      </p:sp>
      <p:sp>
        <p:nvSpPr>
          <p:cNvPr id="15" name="cd_622"/>
          <p:cNvSpPr/>
          <p:nvPr/>
        </p:nvSpPr>
        <p:spPr>
          <a:xfrm>
            <a:off x="320040" y="1417320"/>
            <a:ext cx="2697480" cy="2194560"/>
          </a:xfrm>
          <a:prstGeom prst="roundRect">
            <a:avLst>
              <a:gd name="adj" fmla="val 5833"/>
            </a:avLst>
          </a:prstGeom>
          <a:solidFill>
            <a:srgbClr val="FFF6CC"/>
          </a:solidFill>
          <a:ln w="19050">
            <a:solidFill>
              <a:srgbClr val="FFE07A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6" name="ii_623"/>
          <p:cNvSpPr/>
          <p:nvPr/>
        </p:nvSpPr>
        <p:spPr>
          <a:xfrm>
            <a:off x="411480" y="14904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🎲</a:t>
            </a:r>
            <a:endParaRPr lang="en-US" sz="2200" dirty="0"/>
          </a:p>
        </p:txBody>
      </p:sp>
      <p:sp>
        <p:nvSpPr>
          <p:cNvPr id="17" name="ih_624"/>
          <p:cNvSpPr/>
          <p:nvPr/>
        </p:nvSpPr>
        <p:spPr>
          <a:xfrm>
            <a:off x="886968" y="1508760"/>
            <a:ext cx="2057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How to play</a:t>
            </a:r>
            <a:endParaRPr lang="en-US" sz="1400" dirty="0"/>
          </a:p>
        </p:txBody>
      </p:sp>
      <p:sp>
        <p:nvSpPr>
          <p:cNvPr id="18" name="il_625"/>
          <p:cNvSpPr/>
          <p:nvPr/>
        </p:nvSpPr>
        <p:spPr>
          <a:xfrm>
            <a:off x="886968" y="1892808"/>
            <a:ext cx="203911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90500" indent="-190500">
              <a:spcAft>
                <a:spcPts val="200"/>
              </a:spcAft>
              <a:buSzPct val="100000"/>
              <a:buChar char="1"/>
            </a:pPr>
            <a:r>
              <a:rPr lang="en-US" sz="900" dirty="0">
                <a:solidFill>
                  <a:srgbClr val="1B25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secretly draws a funny alien. Don't show it!</a:t>
            </a:r>
            <a:endParaRPr lang="en-US" sz="900" dirty="0"/>
          </a:p>
          <a:p>
            <a:pPr marL="190500" indent="-190500">
              <a:spcAft>
                <a:spcPts val="200"/>
              </a:spcAft>
              <a:buSzPct val="100000"/>
              <a:buChar char="​"/>
            </a:pPr>
            <a:r>
              <a:rPr lang="en-US" sz="800" i="1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disegna un alieno buffo. Non mostrarlo!</a:t>
            </a:r>
            <a:endParaRPr lang="en-US" sz="900" dirty="0"/>
          </a:p>
          <a:p>
            <a:pPr marL="190500" indent="-190500">
              <a:spcBef>
                <a:spcPts val="500"/>
              </a:spcBef>
              <a:spcAft>
                <a:spcPts val="200"/>
              </a:spcAft>
              <a:buSzPct val="100000"/>
              <a:buChar char="2"/>
            </a:pPr>
            <a:r>
              <a:rPr lang="en-US" sz="900" dirty="0">
                <a:solidFill>
                  <a:srgbClr val="1B25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describes it. B draws and asks questions.</a:t>
            </a:r>
            <a:endParaRPr lang="en-US" sz="900" dirty="0"/>
          </a:p>
          <a:p>
            <a:pPr marL="190500" indent="-190500">
              <a:spcAft>
                <a:spcPts val="200"/>
              </a:spcAft>
              <a:buSzPct val="100000"/>
              <a:buChar char="​"/>
            </a:pPr>
            <a:r>
              <a:rPr lang="en-US" sz="800" i="1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lo descrive. B disegna e fa domande.</a:t>
            </a:r>
            <a:endParaRPr lang="en-US" sz="900" dirty="0"/>
          </a:p>
          <a:p>
            <a:pPr marL="190500" indent="-190500">
              <a:spcBef>
                <a:spcPts val="500"/>
              </a:spcBef>
              <a:spcAft>
                <a:spcPts val="200"/>
              </a:spcAft>
              <a:buSzPct val="100000"/>
              <a:buChar char="3"/>
            </a:pPr>
            <a:r>
              <a:rPr lang="en-US" sz="900" dirty="0">
                <a:solidFill>
                  <a:srgbClr val="1B25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Compare. Most similar pair wins! Then swap.</a:t>
            </a:r>
            <a:endParaRPr lang="en-US" sz="900" dirty="0"/>
          </a:p>
          <a:p>
            <a:pPr marL="190500" indent="-190500">
              <a:spcAft>
                <a:spcPts val="200"/>
              </a:spcAft>
              <a:buSzPct val="100000"/>
              <a:buChar char="​"/>
            </a:pPr>
            <a:r>
              <a:rPr lang="en-US" sz="800" i="1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Confrontate. Vince la coppia più simile! Poi scambiate.</a:t>
            </a:r>
            <a:endParaRPr lang="en-US" sz="900" dirty="0"/>
          </a:p>
        </p:txBody>
      </p:sp>
      <p:sp>
        <p:nvSpPr>
          <p:cNvPr id="19" name="st_626"/>
          <p:cNvSpPr/>
          <p:nvPr/>
        </p:nvSpPr>
        <p:spPr>
          <a:xfrm rot="-180000">
            <a:off x="502920" y="3703320"/>
            <a:ext cx="2286000" cy="777240"/>
          </a:xfrm>
          <a:prstGeom prst="rect">
            <a:avLst/>
          </a:prstGeom>
          <a:solidFill>
            <a:srgbClr val="FFC2DA"/>
          </a:solidFill>
          <a:ln>
            <a:solidFill>
              <a:srgbClr val="FFC2DA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50800" tIns="50800" rIns="50800" bIns="50800" rtlCol="0" anchor="ctr">
            <a:normAutofit/>
          </a:bodyPr>
          <a:lstStyle/>
          <a:p>
            <a:pPr algn="ctr"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TEAM A  ☆☆☆☆☆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TEAM B  ☆☆☆☆☆</a:t>
            </a:r>
            <a:endParaRPr lang="en-US" sz="1250" dirty="0"/>
          </a:p>
        </p:txBody>
      </p:sp>
      <p:sp>
        <p:nvSpPr>
          <p:cNvPr id="20" name="bd_627"/>
          <p:cNvSpPr/>
          <p:nvPr/>
        </p:nvSpPr>
        <p:spPr>
          <a:xfrm>
            <a:off x="3246120" y="1508760"/>
            <a:ext cx="329184" cy="329184"/>
          </a:xfrm>
          <a:prstGeom prst="ellipse">
            <a:avLst/>
          </a:prstGeom>
          <a:solidFill>
            <a:srgbClr val="E8508F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</a:t>
            </a:r>
            <a:endParaRPr lang="en-US" sz="1100" dirty="0"/>
          </a:p>
        </p:txBody>
      </p:sp>
      <p:sp>
        <p:nvSpPr>
          <p:cNvPr id="21" name="gq_628"/>
          <p:cNvSpPr/>
          <p:nvPr/>
        </p:nvSpPr>
        <p:spPr>
          <a:xfrm>
            <a:off x="3657600" y="1417320"/>
            <a:ext cx="2514600" cy="512064"/>
          </a:xfrm>
          <a:prstGeom prst="roundRect">
            <a:avLst>
              <a:gd name="adj" fmla="val 17857"/>
            </a:avLst>
          </a:prstGeom>
          <a:solidFill>
            <a:srgbClr val="FFFFFF"/>
          </a:solidFill>
          <a:ln w="19050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Describe the head</a:t>
            </a:r>
            <a:endParaRPr lang="en-US" sz="1100" dirty="0"/>
          </a:p>
        </p:txBody>
      </p:sp>
      <p:sp>
        <p:nvSpPr>
          <p:cNvPr id="22" name="R1_chip629"/>
          <p:cNvSpPr/>
          <p:nvPr/>
        </p:nvSpPr>
        <p:spPr>
          <a:xfrm>
            <a:off x="6263640" y="1417320"/>
            <a:ext cx="2560320" cy="512064"/>
          </a:xfrm>
          <a:prstGeom prst="roundRect">
            <a:avLst>
              <a:gd name="adj" fmla="val 17857"/>
            </a:avLst>
          </a:prstGeom>
          <a:solidFill>
            <a:srgbClr val="FFE3EE"/>
          </a:solidFill>
          <a:ln w="19050">
            <a:solidFill>
              <a:srgbClr val="E8508F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 It's got three eyes and a very long tongue.</a:t>
            </a:r>
            <a:endParaRPr lang="en-US" sz="1100" dirty="0"/>
          </a:p>
        </p:txBody>
      </p:sp>
      <p:sp>
        <p:nvSpPr>
          <p:cNvPr id="23" name="bd_630"/>
          <p:cNvSpPr/>
          <p:nvPr/>
        </p:nvSpPr>
        <p:spPr>
          <a:xfrm>
            <a:off x="3246120" y="2084832"/>
            <a:ext cx="329184" cy="329184"/>
          </a:xfrm>
          <a:prstGeom prst="ellipse">
            <a:avLst/>
          </a:prstGeom>
          <a:solidFill>
            <a:srgbClr val="2F8DE4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2</a:t>
            </a:r>
            <a:endParaRPr lang="en-US" sz="1100" dirty="0"/>
          </a:p>
        </p:txBody>
      </p:sp>
      <p:sp>
        <p:nvSpPr>
          <p:cNvPr id="24" name="gq_631"/>
          <p:cNvSpPr/>
          <p:nvPr/>
        </p:nvSpPr>
        <p:spPr>
          <a:xfrm>
            <a:off x="3657600" y="1993392"/>
            <a:ext cx="2514600" cy="512064"/>
          </a:xfrm>
          <a:prstGeom prst="roundRect">
            <a:avLst>
              <a:gd name="adj" fmla="val 17857"/>
            </a:avLst>
          </a:prstGeom>
          <a:solidFill>
            <a:srgbClr val="FFFFFF"/>
          </a:solidFill>
          <a:ln w="19050">
            <a:solidFill>
              <a:srgbClr val="A9D3F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Describe the body</a:t>
            </a:r>
            <a:endParaRPr lang="en-US" sz="1100" dirty="0"/>
          </a:p>
        </p:txBody>
      </p:sp>
      <p:sp>
        <p:nvSpPr>
          <p:cNvPr id="25" name="R2_chip632"/>
          <p:cNvSpPr/>
          <p:nvPr/>
        </p:nvSpPr>
        <p:spPr>
          <a:xfrm>
            <a:off x="6263640" y="1993392"/>
            <a:ext cx="2560320" cy="512064"/>
          </a:xfrm>
          <a:prstGeom prst="roundRect">
            <a:avLst>
              <a:gd name="adj" fmla="val 17857"/>
            </a:avLst>
          </a:prstGeom>
          <a:solidFill>
            <a:srgbClr val="FFE3EE"/>
          </a:solidFill>
          <a:ln w="19050">
            <a:solidFill>
              <a:srgbClr val="E8508F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 It's got four arms and six thumbs on each hand.</a:t>
            </a:r>
            <a:endParaRPr lang="en-US" sz="1100" dirty="0"/>
          </a:p>
        </p:txBody>
      </p:sp>
      <p:sp>
        <p:nvSpPr>
          <p:cNvPr id="26" name="bd_633"/>
          <p:cNvSpPr/>
          <p:nvPr/>
        </p:nvSpPr>
        <p:spPr>
          <a:xfrm>
            <a:off x="3246120" y="2660904"/>
            <a:ext cx="329184" cy="329184"/>
          </a:xfrm>
          <a:prstGeom prst="ellipse">
            <a:avLst/>
          </a:prstGeom>
          <a:solidFill>
            <a:srgbClr val="2EB872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3</a:t>
            </a:r>
            <a:endParaRPr lang="en-US" sz="1100" dirty="0"/>
          </a:p>
        </p:txBody>
      </p:sp>
      <p:sp>
        <p:nvSpPr>
          <p:cNvPr id="27" name="gq_634"/>
          <p:cNvSpPr/>
          <p:nvPr/>
        </p:nvSpPr>
        <p:spPr>
          <a:xfrm>
            <a:off x="3657600" y="2569464"/>
            <a:ext cx="2514600" cy="512064"/>
          </a:xfrm>
          <a:prstGeom prst="roundRect">
            <a:avLst>
              <a:gd name="adj" fmla="val 17857"/>
            </a:avLst>
          </a:prstGeom>
          <a:solidFill>
            <a:srgbClr val="FFFFFF"/>
          </a:solidFill>
          <a:ln w="19050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Ask a question</a:t>
            </a:r>
            <a:endParaRPr lang="en-US" sz="1100" dirty="0"/>
          </a:p>
        </p:txBody>
      </p:sp>
      <p:sp>
        <p:nvSpPr>
          <p:cNvPr id="28" name="R3_chip635"/>
          <p:cNvSpPr/>
          <p:nvPr/>
        </p:nvSpPr>
        <p:spPr>
          <a:xfrm>
            <a:off x="6263640" y="2569464"/>
            <a:ext cx="2560320" cy="512064"/>
          </a:xfrm>
          <a:prstGeom prst="roundRect">
            <a:avLst>
              <a:gd name="adj" fmla="val 17857"/>
            </a:avLst>
          </a:prstGeom>
          <a:solidFill>
            <a:srgbClr val="FFE3EE"/>
          </a:solidFill>
          <a:ln w="19050">
            <a:solidFill>
              <a:srgbClr val="E8508F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 How many toes has it got? Where are its knees?</a:t>
            </a:r>
            <a:endParaRPr lang="en-US" sz="110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21</Slides>
  <Notes>21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21</vt:i4>
      </vt:variant>
    </vt:vector>
  </HeadingPairs>
  <TitlesOfParts>
    <vt:vector size="2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6B-2 Every picture tells a story</dc:title>
  <dc:subject>PptxGenJS Presentation</dc:subject>
  <dc:creator>PptxGenJS</dc:creator>
  <cp:lastModifiedBy>PptxGenJS</cp:lastModifiedBy>
  <cp:revision>1</cp:revision>
  <dcterms:created xsi:type="dcterms:W3CDTF">2026-10-12T09:15:05Z</dcterms:created>
  <dcterms:modified xsi:type="dcterms:W3CDTF">2026-10-12T09:15:05Z</dcterms:modified>
</cp:coreProperties>
</file>