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(2 min). HOOK: 'Where's this?' (a farm). 'What animals can you see?' Pairs whisper 3 animals in 20 s (Italian OK) – then say them in English together (a horse, a goat, a sheep, a cat, chickens). Accept Italian, recast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3 model lines (Hello… Nice to meet you).
TEACHER: MODEL first with 2 learners (you say A, they say B). Then 'Stand up! Walk!' … 'STOP!'
STUDENTS: Walk; on STOP greet the nearest person with the model lines.
GROUPING: Whole class, then pairs at each STOP.
SCORE / WIN: No points – fun warm-up. Round 4–5: 'STOP – whisper!' / 'STOP – robot voice!'
TIME: 5 min (5–6 rounds).
LANGUAGE: Hello. My name's … Nice to meet you (too). How are you? I'm fine, thank you.
REVEAL: None needed.
AIM: Activate greetings; break the ice on the first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FAMILY (5 min) – introduce the people BEFORE the listening, so the children know who they will hear about. PROMPT: picture only – 'Who's this? Is he a boy or a man?' THINK 3 s, COMMIT: everybody says it on your signal. Click 1: name. Click 2: Italian (Jim and Jenny are TWINS, they're seven). Click 3: action – everyone does it. Teach: Mum, Dad, Grandpa, twins (gemelli), cook (cuoco). TPR: Wave and say: Hi, I'm Jim!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FAMILY (5 min) – introduce the people BEFORE the listening, so the children know who they will hear about. PROMPT: picture only – 'Who's this? Is he a boy or a man?' THINK 3 s, COMMIT: everybody says it on your signal. Click 1: name. Click 2: Italian (Jim and Jenny are TWINS, they're seven). Click 3: action – everyone does it. Teach: Mum, Dad, Grandpa, twins (gemelli), cook (cuoco). TPR: Show 7 fingers: I'm seven!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FAMILY (5 min) – introduce the people BEFORE the listening, so the children know who they will hear about. PROMPT: picture only – 'Who's this? Is he a boy or a man?' THINK 3 s, COMMIT: everybody says it on your signal. Click 1: name. Click 2: Italian (Jim and Jenny are TWINS, they're seven). Click 3: action – everyone does it. Teach: Mum, Dad, Grandpa, twins (gemelli), cook (cuoco). TPR: Play the piano!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FAMILY (5 min) – introduce the people BEFORE the listening, so the children know who they will hear about. PROMPT: picture only – 'Who's this? Is he a boy or a man?' THINK 3 s, COMMIT: everybody says it on your signal. Click 1: name. Click 2: Italian (Jim and Jenny are TWINS, they're seven). Click 3: action – everyone does it. Teach: Mum, Dad, Grandpa, twins (gemelli), cook (cuoco). TPR: Make a cake – stir, stir!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FAMILY (5 min) – introduce the people BEFORE the listening, so the children know who they will hear about. PROMPT: picture only – 'Who's this? Is he a boy or a man?' THINK 3 s, COMMIT: everybody says it on your signal. Click 1: name. Click 2: Italian (Jim and Jenny are TWINS, they're seven). Click 3: action – everyone does it. Teach: Mum, Dad, Grandpa, twins (gemelli), cook (cuoco). TPR: Walk like Grandpa with a bucket!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FLASHCARDS (6 min). PROMPT: picture only – 'Who's this? Is it a boy or a girl?' THINK: 3 seconds. COMMIT: everybody says it together on your signal (some will know them from Power Up 2). REVEAL click 1: name. Click 2: Italian. Click 3: action – everyone does it. Stress HIS (boy) / HER (girl): 'What's his name?' Ages (TB extension, for the hot seat later): Rocky 3, Shelly 3, Cameron 4, Henrietta 6, Harry 9, Gracie 11. TPR: Flap your wings! Cock-a-doodle-doo!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FLASHCARDS (6 min). PROMPT: picture only – 'Who's this? Is it a boy or a girl?' THINK: 3 seconds. COMMIT: everybody says it together on your signal (some will know them from Power Up 2). REVEAL click 1: name. Click 2: Italian. Click 3: action – everyone does it. Stress HIS (boy) / HER (girl): 'What's his name?' Ages (TB extension, for the hot seat later): Rocky 3, Shelly 3, Cameron 4, Henrietta 6, Harry 9, Gracie 11. TPR: Sit on your eggs. Shh! She's asleep.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FLASHCARDS (6 min). PROMPT: picture only – 'Who's this? Is it a boy or a girl?' THINK: 3 seconds. COMMIT: everybody says it together on your signal (some will know them from Power Up 2). REVEAL click 1: name. Click 2: Italian. Click 3: action – everyone does it. Stress HIS (boy) / HER (girl): 'What's his name?' Ages (TB extension, for the hot seat later): Rocky 3, Shelly 3, Cameron 4, Henrietta 6, Harry 9, Gracie 11. TPR: Sing like Shelly! La-la-la!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FLASHCARDS (6 min). PROMPT: picture only – 'Who's this? Is it a boy or a girl?' THINK: 3 seconds. COMMIT: everybody says it together on your signal (some will know them from Power Up 2). REVEAL click 1: name. Click 2: Italian. Click 3: action – everyone does it. Stress HIS (boy) / HER (girl): 'What's his name?' Ages (TB extension, for the hot seat later): Rocky 3, Shelly 3, Cameron 4, Henrietta 6, Harry 9, Gracie 11. TPR: Eat paper and books! Munch, munch!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FLASHCARDS (6 min). PROMPT: picture only – 'Who's this? Is it a boy or a girl?' THINK: 3 seconds. COMMIT: everybody says it together on your signal (some will know them from Power Up 2). REVEAL click 1: name. Click 2: Italian. Click 3: action – everyone does it. Stress HIS (boy) / HER (girl): 'What's his name?' Ages (TB extension, for the hot seat later): Rocky 3, Shelly 3, Cameron 4, Henrietta 6, Harry 9, Gracie 11. TPR: Gallop like a horse!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FLASHCARDS (6 min). PROMPT: picture only – 'Who's this? Is it a boy or a girl?' THINK: 3 seconds. COMMIT: everybody says it together on your signal (some will know them from Power Up 2). REVEAL click 1: name. Click 2: Italian. Click 3: action – everyone does it. Stress HIS (boy) / HER (girl): 'What's his name?' Ages (TB extension, for the hot seat later): Rocky 3, Shelly 3, Cameron 4, Henrietta 6, Harry 9, Gracie 11. TPR: Cover your ears! My ears!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(3 min). Italians often drop /h/ ('Arry', 'ow are you'). MODEL: hand in front of your mouth – 'Harry' – feel the warm air (like fogging a mirror: haaa). Learners copy: whisper → normal → MONSTER voice. GAME 'Catch the teacher': say the words, sometimes WITHOUT h ('Ello! 'Ow are you?'). Learners shout STOP! and say it correctly. A learner who catches you gets to be the teacher for the next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1 (6 min). AUDIO: 🎧 1.02 is on the book CD (not inside this PowerPoint) – play it from the CD / Teacher's Resources. If you have no audio, READ the facts yourself: 'This is Jim and Jenny's dad. He's a cook – he loves making food. He's making a cake. This is their mum. She loves music – she's writing a song on the piano. Jim and Jenny are seven. They're twins!' The children already met the family on the flashcards, so they listen for the details. Choices make it possible for everybody to answer (hold up 1 or 2 fingers for a/b, fingers for the age). PROMPT: read the caption 'Jim and Jenny are on the Friendly Farm.' Point: 'Is this Jenny's dad?' (No, it's her grandpa). Read question 1 aloud BEFORE listening. THINK/COMMIT: play 🎧 1.02 – learners whisper the answer to a partner, then hands up. REVEAL: click. KEY (TB): She's writing a song. Audio facts: Dad's a cook and loves making food – he's making a cake; Mum loves music and playing the piano; Jim and Jenny are seven (twins). NEW WORD: cook (mime stirring a bowl). Hidden tractor: first learner to point wins a cheer.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CHANT (5 min). 1) Play 🎧 1.03 (book CD) once – children just listen and POINT at Jim or Jenny when they speak (no audio? clap the rhythm and chant it yourself). 2) Split the class: left side = JIM GROUP (blue), right side = JENNY GROUP (pink). Click: the lines appear one by one, in order – each group says only its colour. 3) Swap groups. 4) FINAL ROUND: their OWN names and ages ('My name's Luca! I'm nine!'). Actions: wave on 'My name's…', show the age with fingers. Listen for the H in 'How' (huff!). The book chant also has 'How are you? – I'm fine, thank you.' – add it as a 4th pair if your class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ITALIAN TRAP (2 min). PROMPT: show 'Ho nove anni.' THINK 5 s: how do we say it in English? COMMIT: pairs whisper. REVEAL row by row (click): in English we use BE for age – I'm nine / How old are you? Make it physical: every time someone says 'I have … years', the class makes a buzzer noise 'BZZZ!' for the rest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3 (6 min). MODEL → SUPPORTED → INDEPENDENT. 1) Play 🎧 1.04, pause after each question: the class answers together; click for a model answer (answers are personal). 2) Pairs ask and answer looking at the slide (⭐ starters). 3) Blank the screen (press B) and pairs do it again from memory with a NEW partner. 🔥 Fast finishers ask about a friend: 'What's his name? How old is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SONG (3 min). Play the song at the beginning of the cartoon (🎧 1.05). Tap the rhythm on the table – learners copy. Sing twice. barn = stalla. Use the book audio; the link is only a backup search. External resources are suggestions only: the teacher must preview and check all links, videos, adverts and content before using them with children. Always have the PowerPoint/classroom alternative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(8 min with part 2). PREDICT: 'Who's in Harry's picture? His mum? His dad? His friend?' Each learner COMMITS by holding up 1 (mum), 2 (dad) or 3 (friend) fingers. Play 🎧 1.05 / video. REVEAL: his father (TB key). Then play again, pause after each picture, ask the questions – pairs agree, then click. Mime 'model' (pose!). Gracie eats paper: 'Gracie, don't eat Harry's 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part 2 (TB answers). COMMIT: learners point at the character on the screen before you click. Act it out: one Shelly sings, the class are Cameron and cover their 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4 (5 min, 2 slides). Before: give 6 learners the character flashcards (or stick them on the board with names = TB extra support). Play 🎧 1.06, pause after each line. COMMIT: the class points at the board / the learner holding that card stands up. REVEAL click. KEY (TB): 1 Harry 2 Henrietta 3 Gracie 4 Rocky 5 Shelly 6 Cameron 7 Harry 8 Shelly.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4 lines 5–8. KEY: 5 Shelly 6 Cameron 7 Harry 8 Shelly. Bonus point for saying it in the character's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The 6 characters with names.
TEACHER: Hold a flashcard so nobody sees it, make the noise. Then hand the cards to learners.
STUDENTS: A learner makes the noise; the other team asks 'Is it Rocky?'
GROUPING: Two teams take turns.
SCORE / WIN: Guess in 1 try = 2 points, 2 tries = 1 point.
TIME: 5 min.
LANGUAGE: Is it …? Yes, it is. / No, it isn't.
REVEAL: The noise-maker shows the card.
AIM: Recycle the names + yes/no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MISSING? Step 1 – LOOK (10 s). Say the words together first (choral). Count down aloud. Then: "Close your eyes!" and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COMMIT. Students write the word on a mini-whiteboard / paper (or teams agree in 10 s). 'Show me!' Then go to the next slide. Points: 1 per team with the right word, +1 if spelt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 REVEAL. The missing card comes back with a green frame. Everybody says the word 3 ways: whisper, normal, monster voice. Two teams. Round 1 = one card, round 2 🔥 = two cards. Weaker learners can point/whisper; stronger ones must say the full sentence 'Gracie is missing!' for a bonus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MISSING? Step 1 – LOOK (15 s). Say the words together first (choral). Count down aloud. Then: "Close your eyes!" and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COMMIT. Students write the word on a mini-whiteboard / paper (or teams agree in 10 s). 'Show me!' Then go to the next slide. Points: 1 per team with the right word, +1 if spelt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 REVEAL. The missing card comes back with a green frame. Everybody says the word 3 ways: whisper, normal, monster voice. Two teams. Round 1 = one card, round 2 🔥 = two cards. Weaker learners can point/whisper; stronger ones must say the full sentence 'Gracie is missing!' for a bonus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6 characters + action phrases.
TEACHER: Say a NAME only (not the action) – faster and faster. Round 2: say two names together ('Harry + Shelly!').
STUDENTS: Do the right action immediately.
GROUPING: Whole class standing.
SCORE / WIN: Round 3 'Last one standing': wrong action or too slow = sit down. Last 3 standing are the champions.
TIME: 4 min.
LANGUAGE: Character names (listening); learners echo the name as they move.
REVEAL: Click to show the actions if learners forget.
AIM: Fix the 6 names with movement before the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EXIT CHALLENGE: point at 3 learners: 'How old are you?' – they must answer 'I'm …' (BZZZ if 'I have'!). Thumbs for each 'I can'. Give out the homework. AB p.4 ex 2 (🎧 4.07) and p.5 ex 1 (🎧 4.08) are listening – do in class if there's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Example questions.
TEACHER: Go first: sit in the 'hot seat', think of an animal, answer.
STUDENTS: Ask yes/no questions; the guesser takes the hot seat. 🔥 Challenge: use 'Have you got…?'
GROUPING: Whole class.
SCORE / WIN: The class wins if they guess in fewer than 6 questions; otherwise the hot-seat learner wins.
TIME: 5 min.
LANGUAGE: Are you…? Can you…? Do you like…? Have you got…? + short answers. Ages: Rocky 3, Shelly 3, Cameron 4, Henrietta 6, Harry 9, Gracie 11.
REVEAL: The hot-seat learner says 'I'm Gracie!'
AIM: Question forms + recycling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results?search_query=power+up+3+friendly+farm+song" TargetMode="External"/><Relationship Id="rId1" Type="http://schemas.openxmlformats.org/officeDocument/2006/relationships/image" Target="../media/Slide-19-image-1.png"/><Relationship Id="rId2" Type="http://schemas.openxmlformats.org/officeDocument/2006/relationships/image" Target="../media/image-19-2.jp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450" dirty="0">
                <a:solidFill>
                  <a:srgbClr val="FFFFFF"/>
                </a:solidFill>
                <a:latin typeface="Arial Black" pitchFamily="34" charset="0"/>
                <a:ea typeface="Arial Black" pitchFamily="34" charset="-122"/>
                <a:cs typeface="Arial Black" pitchFamily="34" charset="-120"/>
              </a:rPr>
              <a:t>STARTER · LESSON 1</a:t>
            </a:r>
            <a:endParaRPr lang="en-US" sz="1450" dirty="0"/>
          </a:p>
        </p:txBody>
      </p:sp>
      <p:sp>
        <p:nvSpPr>
          <p:cNvPr id="4" name="bm_2"/>
          <p:cNvSpPr/>
          <p:nvPr/>
        </p:nvSpPr>
        <p:spPr>
          <a:xfrm rot="-120000">
            <a:off x="228600" y="493776"/>
            <a:ext cx="48463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Meet the family</a:t>
            </a:r>
            <a:endParaRPr lang="en-US" sz="2700" dirty="0"/>
          </a:p>
        </p:txBody>
      </p:sp>
      <p:sp>
        <p:nvSpPr>
          <p:cNvPr id="5" name="in_3"/>
          <p:cNvSpPr/>
          <p:nvPr/>
        </p:nvSpPr>
        <p:spPr>
          <a:xfrm>
            <a:off x="5212080" y="182880"/>
            <a:ext cx="370332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100" b="1" dirty="0">
                <a:solidFill>
                  <a:srgbClr val="1E2A5A"/>
                </a:solidFill>
                <a:latin typeface="Arial Rounded MT Bold" pitchFamily="34" charset="0"/>
                <a:ea typeface="Arial Rounded MT Bold" pitchFamily="34" charset="-122"/>
                <a:cs typeface="Arial Rounded MT Bold" pitchFamily="34" charset="-120"/>
              </a:rPr>
              <a:t>Today: hello, names, ages and the Friendly Farm animals 🐴🐑🐐</a:t>
            </a:r>
            <a:endParaRPr lang="en-US" sz="1100" dirty="0"/>
          </a:p>
          <a:p>
            <a:pP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Oggi: salutare, nomi, età e gli animali della Friendly Farm</a:t>
            </a:r>
            <a:endParaRPr lang="en-US" sz="1100" dirty="0"/>
          </a:p>
        </p:txBody>
      </p:sp>
      <p:sp>
        <p:nvSpPr>
          <p:cNvPr id="6" name="st_4"/>
          <p:cNvSpPr/>
          <p:nvPr/>
        </p:nvSpPr>
        <p:spPr>
          <a:xfrm>
            <a:off x="228600" y="1371600"/>
            <a:ext cx="2743200" cy="914400"/>
          </a:xfrm>
          <a:prstGeom prst="roundRect">
            <a:avLst>
              <a:gd name="adj" fmla="val 1200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7" name="sn_5"/>
          <p:cNvSpPr/>
          <p:nvPr/>
        </p:nvSpPr>
        <p:spPr>
          <a:xfrm>
            <a:off x="118872" y="126187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8" name="sk_6"/>
          <p:cNvSpPr/>
          <p:nvPr/>
        </p:nvSpPr>
        <p:spPr>
          <a:xfrm>
            <a:off x="521208" y="140817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9" name="se_7"/>
          <p:cNvSpPr/>
          <p:nvPr/>
        </p:nvSpPr>
        <p:spPr>
          <a:xfrm>
            <a:off x="338328" y="170078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hello, your name and age.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Saluta, di' nome ed età.</a:t>
            </a:r>
            <a:endParaRPr lang="en-US" sz="1050" dirty="0"/>
          </a:p>
        </p:txBody>
      </p:sp>
      <p:sp>
        <p:nvSpPr>
          <p:cNvPr id="10" name="st_8"/>
          <p:cNvSpPr/>
          <p:nvPr/>
        </p:nvSpPr>
        <p:spPr>
          <a:xfrm>
            <a:off x="228600" y="2377440"/>
            <a:ext cx="2743200" cy="914400"/>
          </a:xfrm>
          <a:prstGeom prst="roundRect">
            <a:avLst>
              <a:gd name="adj" fmla="val 1200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11" name="sn_9"/>
          <p:cNvSpPr/>
          <p:nvPr/>
        </p:nvSpPr>
        <p:spPr>
          <a:xfrm>
            <a:off x="118872" y="226771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2" name="sk_10"/>
          <p:cNvSpPr/>
          <p:nvPr/>
        </p:nvSpPr>
        <p:spPr>
          <a:xfrm>
            <a:off x="521208" y="241401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3" name="se_11"/>
          <p:cNvSpPr/>
          <p:nvPr/>
        </p:nvSpPr>
        <p:spPr>
          <a:xfrm>
            <a:off x="338328" y="270662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Listen to the farm story.</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Ascolta la storia della fattoria.</a:t>
            </a:r>
            <a:endParaRPr lang="en-US" sz="1050" dirty="0"/>
          </a:p>
        </p:txBody>
      </p:sp>
      <p:sp>
        <p:nvSpPr>
          <p:cNvPr id="14" name="st_12"/>
          <p:cNvSpPr/>
          <p:nvPr/>
        </p:nvSpPr>
        <p:spPr>
          <a:xfrm>
            <a:off x="228600" y="3383280"/>
            <a:ext cx="2743200" cy="914400"/>
          </a:xfrm>
          <a:prstGeom prst="roundRect">
            <a:avLst>
              <a:gd name="adj" fmla="val 1200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5" name="sn_13"/>
          <p:cNvSpPr/>
          <p:nvPr/>
        </p:nvSpPr>
        <p:spPr>
          <a:xfrm>
            <a:off x="118872" y="32735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6" name="sk_14"/>
          <p:cNvSpPr/>
          <p:nvPr/>
        </p:nvSpPr>
        <p:spPr>
          <a:xfrm>
            <a:off x="521208" y="341985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7" name="se_15"/>
          <p:cNvSpPr/>
          <p:nvPr/>
        </p:nvSpPr>
        <p:spPr>
          <a:xfrm>
            <a:off x="338328" y="371246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Be the farm animals!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Fai gli animali!</a:t>
            </a:r>
            <a:endParaRPr lang="en-US" sz="1050" dirty="0"/>
          </a:p>
        </p:txBody>
      </p:sp>
      <p:sp>
        <p:nvSpPr>
          <p:cNvPr id="18" name="pf_16"/>
          <p:cNvSpPr/>
          <p:nvPr/>
        </p:nvSpPr>
        <p:spPr>
          <a:xfrm>
            <a:off x="3191256" y="1271016"/>
            <a:ext cx="3355848" cy="3264408"/>
          </a:xfrm>
          <a:prstGeom prst="roundRect">
            <a:avLst>
              <a:gd name="adj" fmla="val 280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pic_17" descr="/home/claude/movers/img/crop/s-p4-scene.jpg">    </p:cNvPr>
          <p:cNvPicPr>
            <a:picLocks noChangeAspect="1"/>
          </p:cNvPicPr>
          <p:nvPr/>
        </p:nvPicPr>
        <p:blipFill>
          <a:blip r:embed="rId2"/>
          <a:stretch>
            <a:fillRect/>
          </a:stretch>
        </p:blipFill>
        <p:spPr>
          <a:xfrm>
            <a:off x="3246120" y="1462829"/>
            <a:ext cx="3246120" cy="2880782"/>
          </a:xfrm>
          <a:prstGeom prst="rect">
            <a:avLst/>
          </a:prstGeom>
        </p:spPr>
      </p:pic>
      <p:sp>
        <p:nvSpPr>
          <p:cNvPr id="20" name="cd_18"/>
          <p:cNvSpPr/>
          <p:nvPr/>
        </p:nvSpPr>
        <p:spPr>
          <a:xfrm>
            <a:off x="6720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19" descr="/home/claude/movers/img/fc/shelly.png">    </p:cNvPr>
          <p:cNvPicPr>
            <a:picLocks noChangeAspect="1"/>
          </p:cNvPicPr>
          <p:nvPr/>
        </p:nvPicPr>
        <p:blipFill>
          <a:blip r:embed="rId3"/>
          <a:stretch>
            <a:fillRect/>
          </a:stretch>
        </p:blipFill>
        <p:spPr>
          <a:xfrm>
            <a:off x="6793992" y="3090672"/>
            <a:ext cx="905256" cy="905256"/>
          </a:xfrm>
          <a:prstGeom prst="rect">
            <a:avLst/>
          </a:prstGeom>
        </p:spPr>
      </p:pic>
      <p:sp>
        <p:nvSpPr>
          <p:cNvPr id="22" name="cd_20"/>
          <p:cNvSpPr/>
          <p:nvPr/>
        </p:nvSpPr>
        <p:spPr>
          <a:xfrm>
            <a:off x="7863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1" descr="/home/claude/movers/img/fc/harry.png">    </p:cNvPr>
          <p:cNvPicPr>
            <a:picLocks noChangeAspect="1"/>
          </p:cNvPicPr>
          <p:nvPr/>
        </p:nvPicPr>
        <p:blipFill>
          <a:blip r:embed="rId4"/>
          <a:stretch>
            <a:fillRect/>
          </a:stretch>
        </p:blipFill>
        <p:spPr>
          <a:xfrm>
            <a:off x="7936992" y="3090672"/>
            <a:ext cx="905256" cy="905256"/>
          </a:xfrm>
          <a:prstGeom prst="rect">
            <a:avLst/>
          </a:prstGeom>
        </p:spPr>
      </p:pic>
      <p:sp>
        <p:nvSpPr>
          <p:cNvPr id="24" name="bb_22"/>
          <p:cNvSpPr/>
          <p:nvPr/>
        </p:nvSpPr>
        <p:spPr>
          <a:xfrm>
            <a:off x="6675120" y="1874520"/>
            <a:ext cx="2240280" cy="822960"/>
          </a:xfrm>
          <a:prstGeom prst="rect">
            <a:avLst/>
          </a:prstGeom>
          <a:solidFill>
            <a:srgbClr val="FFFFFF"/>
          </a:solidFill>
          <a:ln w="25400">
            <a:solidFill>
              <a:srgbClr val="1E2A5A"/>
            </a:solidFill>
          </a:ln>
        </p:spPr>
        <p:txBody>
          <a:bodyPr wrap="square" lIns="50800" tIns="50800" rIns="50800" bIns="50800" rtlCol="0" anchor="ctr"/>
          <a:lstStyle/>
          <a:p>
            <a:pPr algn="ctr" indent="0" marL="0">
              <a:buNone/>
            </a:pPr>
            <a:r>
              <a:rPr lang="en-US" sz="1500" b="1" dirty="0">
                <a:solidFill>
                  <a:srgbClr val="1E2A5A"/>
                </a:solidFill>
                <a:latin typeface="Arial Rounded MT Bold" pitchFamily="34" charset="0"/>
                <a:ea typeface="Arial Rounded MT Bold" pitchFamily="34" charset="-122"/>
                <a:cs typeface="Arial Rounded MT Bold" pitchFamily="34" charset="-120"/>
              </a:rPr>
              <a:t>Welcome to the Friendly Farm!</a:t>
            </a:r>
            <a:endParaRPr lang="en-US" sz="1500" dirty="0"/>
          </a:p>
          <a:p>
            <a:pPr algn="ct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Benvenuti alla Friendly Farm!</a:t>
            </a:r>
            <a:endParaRPr lang="en-US" sz="1500" dirty="0"/>
          </a:p>
        </p:txBody>
      </p:sp>
      <p:sp>
        <p:nvSpPr>
          <p:cNvPr id="25" name="bk_23"/>
          <p:cNvSpPr/>
          <p:nvPr/>
        </p:nvSpPr>
        <p:spPr>
          <a:xfrm>
            <a:off x="228600" y="4681728"/>
            <a:ext cx="319125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pp.4–5 · 🎧 1.02–1.06</a:t>
            </a:r>
            <a:endParaRPr lang="en-US" sz="1100" dirty="0"/>
          </a:p>
        </p:txBody>
      </p:sp>
    </p:spTree>
  </p:cSld>
  <p:clrMapOvr>
    <a:masterClrMapping/>
  </p:clrMapOvr>
  <p:transition spd="med">
    <p:push dir="l"/>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WARM-UP</a:t>
            </a:r>
            <a:endParaRPr lang="en-US" sz="1600" dirty="0"/>
          </a:p>
        </p:txBody>
      </p:sp>
      <p:sp>
        <p:nvSpPr>
          <p:cNvPr id="4" name="bm_25"/>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Nice to meet you!</a:t>
            </a:r>
            <a:endParaRPr lang="en-US" sz="2700" dirty="0"/>
          </a:p>
        </p:txBody>
      </p:sp>
      <p:sp>
        <p:nvSpPr>
          <p:cNvPr id="5" name="in_26"/>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Walk. STOP! Say hello!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Cammina. STOP! Saluta!</a:t>
            </a:r>
            <a:endParaRPr lang="en-US" sz="1400" dirty="0"/>
          </a:p>
        </p:txBody>
      </p:sp>
      <p:sp>
        <p:nvSpPr>
          <p:cNvPr id="6" name="mode_2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WHOLE CLASS · ⏱ 5 MIN</a:t>
            </a:r>
            <a:endParaRPr lang="en-US" sz="1000" dirty="0"/>
          </a:p>
        </p:txBody>
      </p:sp>
      <p:sp>
        <p:nvSpPr>
          <p:cNvPr id="7" name="diff_28"/>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My name's … Nice to meet you.</a:t>
            </a:r>
            <a:endParaRPr lang="en-US" sz="950" dirty="0"/>
          </a:p>
        </p:txBody>
      </p:sp>
      <p:sp>
        <p:nvSpPr>
          <p:cNvPr id="8" name="st_29"/>
          <p:cNvSpPr/>
          <p:nvPr/>
        </p:nvSpPr>
        <p:spPr>
          <a:xfrm>
            <a:off x="228600" y="13258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9" name="sn_30"/>
          <p:cNvSpPr/>
          <p:nvPr/>
        </p:nvSpPr>
        <p:spPr>
          <a:xfrm>
            <a:off x="118872" y="12161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sk_31"/>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1" name="se_32"/>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Walk around.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Cammina.</a:t>
            </a:r>
            <a:endParaRPr lang="en-US" sz="1050" dirty="0"/>
          </a:p>
        </p:txBody>
      </p:sp>
      <p:sp>
        <p:nvSpPr>
          <p:cNvPr id="12" name="st_33"/>
          <p:cNvSpPr/>
          <p:nvPr/>
        </p:nvSpPr>
        <p:spPr>
          <a:xfrm>
            <a:off x="228600" y="23926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13" name="sn_34"/>
          <p:cNvSpPr/>
          <p:nvPr/>
        </p:nvSpPr>
        <p:spPr>
          <a:xfrm>
            <a:off x="118872" y="22829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sk_35"/>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5" name="se_36"/>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Teacher: STOP!</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L'insegnante: STOP!</a:t>
            </a:r>
            <a:endParaRPr lang="en-US" sz="1050" dirty="0"/>
          </a:p>
        </p:txBody>
      </p:sp>
      <p:sp>
        <p:nvSpPr>
          <p:cNvPr id="16" name="st_37"/>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7" name="sn_38"/>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sk_39"/>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9" name="se_40"/>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hello to a friend.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Saluta un compagno.</a:t>
            </a:r>
            <a:endParaRPr lang="en-US" sz="1050" dirty="0"/>
          </a:p>
        </p:txBody>
      </p:sp>
      <p:sp>
        <p:nvSpPr>
          <p:cNvPr id="20" name="gl_41"/>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A: Hello! My name's Mario. Nice to meet you.</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B: Hi! My name's Sara. Nice to meet you, too.</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A: How are you?   B: I'm fine, thank you!</a:t>
            </a:r>
            <a:endParaRPr lang="en-US" sz="140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MEET THE FAMILY</a:t>
            </a:r>
            <a:endParaRPr lang="en-US" sz="1600" dirty="0"/>
          </a:p>
        </p:txBody>
      </p:sp>
      <p:sp>
        <p:nvSpPr>
          <p:cNvPr id="4" name="bm_4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4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Who is it? Say it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Chi è? Dillo prima che appaia!</a:t>
            </a:r>
            <a:endParaRPr lang="en-US" sz="1400" dirty="0"/>
          </a:p>
        </p:txBody>
      </p:sp>
      <p:sp>
        <p:nvSpPr>
          <p:cNvPr id="6" name="pf_4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46" descr="/home/claude/movers/img/fc/jim.png">    </p:cNvPr>
          <p:cNvPicPr>
            <a:picLocks noChangeAspect="1"/>
          </p:cNvPicPr>
          <p:nvPr/>
        </p:nvPicPr>
        <p:blipFill>
          <a:blip r:embed="rId2"/>
          <a:stretch>
            <a:fillRect/>
          </a:stretch>
        </p:blipFill>
        <p:spPr>
          <a:xfrm>
            <a:off x="3108960" y="1276428"/>
            <a:ext cx="2926080" cy="2567784"/>
          </a:xfrm>
          <a:prstGeom prst="rect">
            <a:avLst/>
          </a:prstGeom>
        </p:spPr>
      </p:pic>
      <p:sp>
        <p:nvSpPr>
          <p:cNvPr id="8" name="R1_w4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Jim</a:t>
            </a:r>
            <a:endParaRPr lang="en-US" sz="3600" dirty="0"/>
          </a:p>
        </p:txBody>
      </p:sp>
      <p:sp>
        <p:nvSpPr>
          <p:cNvPr id="9" name="R2_it4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Jim – il fratello (7 anni)</a:t>
            </a:r>
            <a:endParaRPr lang="en-US" sz="1600" dirty="0"/>
          </a:p>
        </p:txBody>
      </p:sp>
      <p:sp>
        <p:nvSpPr>
          <p:cNvPr id="10" name="R3_tpr4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Wave and say: Hi, I'm Jim! 👋</a:t>
            </a:r>
            <a:endParaRPr lang="en-US" sz="1300" dirty="0"/>
          </a:p>
        </p:txBody>
      </p:sp>
      <p:sp>
        <p:nvSpPr>
          <p:cNvPr id="11" name="n_5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1 / 5</a:t>
            </a:r>
            <a:endParaRPr lang="en-US" sz="1200" dirty="0"/>
          </a:p>
        </p:txBody>
      </p:sp>
      <p:sp>
        <p:nvSpPr>
          <p:cNvPr id="12" name="bk_51"/>
          <p:cNvSpPr/>
          <p:nvPr/>
        </p:nvSpPr>
        <p:spPr>
          <a:xfrm>
            <a:off x="228600" y="4681728"/>
            <a:ext cx="280263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 · the family</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5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MEET THE FAMILY</a:t>
            </a:r>
            <a:endParaRPr lang="en-US" sz="1600" dirty="0"/>
          </a:p>
        </p:txBody>
      </p:sp>
      <p:sp>
        <p:nvSpPr>
          <p:cNvPr id="4" name="bm_5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5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Who is it? Say it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Chi è? Dillo prima che appaia!</a:t>
            </a:r>
            <a:endParaRPr lang="en-US" sz="1400" dirty="0"/>
          </a:p>
        </p:txBody>
      </p:sp>
      <p:sp>
        <p:nvSpPr>
          <p:cNvPr id="6" name="pf_5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56" descr="/home/claude/movers/img/fc/jenny.png">    </p:cNvPr>
          <p:cNvPicPr>
            <a:picLocks noChangeAspect="1"/>
          </p:cNvPicPr>
          <p:nvPr/>
        </p:nvPicPr>
        <p:blipFill>
          <a:blip r:embed="rId2"/>
          <a:stretch>
            <a:fillRect/>
          </a:stretch>
        </p:blipFill>
        <p:spPr>
          <a:xfrm>
            <a:off x="3184451" y="1234440"/>
            <a:ext cx="2775098" cy="2651760"/>
          </a:xfrm>
          <a:prstGeom prst="rect">
            <a:avLst/>
          </a:prstGeom>
        </p:spPr>
      </p:pic>
      <p:sp>
        <p:nvSpPr>
          <p:cNvPr id="8" name="R1_w5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Jenny</a:t>
            </a:r>
            <a:endParaRPr lang="en-US" sz="3600" dirty="0"/>
          </a:p>
        </p:txBody>
      </p:sp>
      <p:sp>
        <p:nvSpPr>
          <p:cNvPr id="9" name="R2_it5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450" i="1" dirty="0">
                <a:solidFill>
                  <a:srgbClr val="2F9BFF"/>
                </a:solidFill>
                <a:latin typeface="Arial" pitchFamily="34" charset="0"/>
                <a:ea typeface="Arial" pitchFamily="34" charset="-122"/>
                <a:cs typeface="Arial" pitchFamily="34" charset="-120"/>
              </a:rPr>
              <a:t>Jenny – la sorella (7 anni)</a:t>
            </a:r>
            <a:endParaRPr lang="en-US" sz="1450" dirty="0"/>
          </a:p>
        </p:txBody>
      </p:sp>
      <p:sp>
        <p:nvSpPr>
          <p:cNvPr id="10" name="R3_tpr5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Show 7 fingers: I'm seven! ✋✌️</a:t>
            </a:r>
            <a:endParaRPr lang="en-US" sz="1300" dirty="0"/>
          </a:p>
        </p:txBody>
      </p:sp>
      <p:sp>
        <p:nvSpPr>
          <p:cNvPr id="11" name="n_6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2 / 5</a:t>
            </a:r>
            <a:endParaRPr lang="en-US" sz="1200" dirty="0"/>
          </a:p>
        </p:txBody>
      </p:sp>
      <p:sp>
        <p:nvSpPr>
          <p:cNvPr id="12" name="bk_61"/>
          <p:cNvSpPr/>
          <p:nvPr/>
        </p:nvSpPr>
        <p:spPr>
          <a:xfrm>
            <a:off x="228600" y="4681728"/>
            <a:ext cx="280263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 · the family</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6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MEET THE FAMILY</a:t>
            </a:r>
            <a:endParaRPr lang="en-US" sz="1600" dirty="0"/>
          </a:p>
        </p:txBody>
      </p:sp>
      <p:sp>
        <p:nvSpPr>
          <p:cNvPr id="4" name="bm_6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6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Who is it? Say it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Chi è? Dillo prima che appaia!</a:t>
            </a:r>
            <a:endParaRPr lang="en-US" sz="1400" dirty="0"/>
          </a:p>
        </p:txBody>
      </p:sp>
      <p:sp>
        <p:nvSpPr>
          <p:cNvPr id="6" name="pf_6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66" descr="/home/claude/movers/img/fc/mum.png">    </p:cNvPr>
          <p:cNvPicPr>
            <a:picLocks noChangeAspect="1"/>
          </p:cNvPicPr>
          <p:nvPr/>
        </p:nvPicPr>
        <p:blipFill>
          <a:blip r:embed="rId2"/>
          <a:stretch>
            <a:fillRect/>
          </a:stretch>
        </p:blipFill>
        <p:spPr>
          <a:xfrm>
            <a:off x="3108960" y="1429230"/>
            <a:ext cx="2926080" cy="2262179"/>
          </a:xfrm>
          <a:prstGeom prst="rect">
            <a:avLst/>
          </a:prstGeom>
        </p:spPr>
      </p:pic>
      <p:sp>
        <p:nvSpPr>
          <p:cNvPr id="8" name="R1_w6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Mum</a:t>
            </a:r>
            <a:endParaRPr lang="en-US" sz="3600" dirty="0"/>
          </a:p>
        </p:txBody>
      </p:sp>
      <p:sp>
        <p:nvSpPr>
          <p:cNvPr id="9" name="R2_it6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350" i="1" dirty="0">
                <a:solidFill>
                  <a:srgbClr val="2F9BFF"/>
                </a:solidFill>
                <a:latin typeface="Arial" pitchFamily="34" charset="0"/>
                <a:ea typeface="Arial" pitchFamily="34" charset="-122"/>
                <a:cs typeface="Arial" pitchFamily="34" charset="-120"/>
              </a:rPr>
              <a:t>la mamma – suona il piano</a:t>
            </a:r>
            <a:endParaRPr lang="en-US" sz="1350" dirty="0"/>
          </a:p>
        </p:txBody>
      </p:sp>
      <p:sp>
        <p:nvSpPr>
          <p:cNvPr id="10" name="R3_tpr6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Play the piano! 🎹</a:t>
            </a:r>
            <a:endParaRPr lang="en-US" sz="1300" dirty="0"/>
          </a:p>
        </p:txBody>
      </p:sp>
      <p:sp>
        <p:nvSpPr>
          <p:cNvPr id="11" name="n_7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3 / 5</a:t>
            </a:r>
            <a:endParaRPr lang="en-US" sz="1200" dirty="0"/>
          </a:p>
        </p:txBody>
      </p:sp>
      <p:sp>
        <p:nvSpPr>
          <p:cNvPr id="12" name="bk_71"/>
          <p:cNvSpPr/>
          <p:nvPr/>
        </p:nvSpPr>
        <p:spPr>
          <a:xfrm>
            <a:off x="228600" y="4681728"/>
            <a:ext cx="280263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 · the family</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7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MEET THE FAMILY</a:t>
            </a:r>
            <a:endParaRPr lang="en-US" sz="1600" dirty="0"/>
          </a:p>
        </p:txBody>
      </p:sp>
      <p:sp>
        <p:nvSpPr>
          <p:cNvPr id="4" name="bm_7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7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Who is it? Say it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Chi è? Dillo prima che appaia!</a:t>
            </a:r>
            <a:endParaRPr lang="en-US" sz="1400" dirty="0"/>
          </a:p>
        </p:txBody>
      </p:sp>
      <p:sp>
        <p:nvSpPr>
          <p:cNvPr id="6" name="pf_7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76" descr="/home/claude/movers/img/fc/dad.png">    </p:cNvPr>
          <p:cNvPicPr>
            <a:picLocks noChangeAspect="1"/>
          </p:cNvPicPr>
          <p:nvPr/>
        </p:nvPicPr>
        <p:blipFill>
          <a:blip r:embed="rId2"/>
          <a:stretch>
            <a:fillRect/>
          </a:stretch>
        </p:blipFill>
        <p:spPr>
          <a:xfrm>
            <a:off x="3108960" y="1429230"/>
            <a:ext cx="2926080" cy="2262179"/>
          </a:xfrm>
          <a:prstGeom prst="rect">
            <a:avLst/>
          </a:prstGeom>
        </p:spPr>
      </p:pic>
      <p:sp>
        <p:nvSpPr>
          <p:cNvPr id="8" name="R1_w7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Dad</a:t>
            </a:r>
            <a:endParaRPr lang="en-US" sz="3600" dirty="0"/>
          </a:p>
        </p:txBody>
      </p:sp>
      <p:sp>
        <p:nvSpPr>
          <p:cNvPr id="9" name="R2_it7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il papà – fa il cuoco</a:t>
            </a:r>
            <a:endParaRPr lang="en-US" sz="1600" dirty="0"/>
          </a:p>
        </p:txBody>
      </p:sp>
      <p:sp>
        <p:nvSpPr>
          <p:cNvPr id="10" name="R3_tpr7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Make a cake – stir, stir! 🥣</a:t>
            </a:r>
            <a:endParaRPr lang="en-US" sz="1300" dirty="0"/>
          </a:p>
        </p:txBody>
      </p:sp>
      <p:sp>
        <p:nvSpPr>
          <p:cNvPr id="11" name="n_8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4 / 5</a:t>
            </a:r>
            <a:endParaRPr lang="en-US" sz="1200" dirty="0"/>
          </a:p>
        </p:txBody>
      </p:sp>
      <p:sp>
        <p:nvSpPr>
          <p:cNvPr id="12" name="bk_81"/>
          <p:cNvSpPr/>
          <p:nvPr/>
        </p:nvSpPr>
        <p:spPr>
          <a:xfrm>
            <a:off x="228600" y="4681728"/>
            <a:ext cx="280263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 · the family</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8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MEET THE FAMILY</a:t>
            </a:r>
            <a:endParaRPr lang="en-US" sz="1600" dirty="0"/>
          </a:p>
        </p:txBody>
      </p:sp>
      <p:sp>
        <p:nvSpPr>
          <p:cNvPr id="4" name="bm_8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8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Who is it? Say it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Chi è? Dillo prima che appaia!</a:t>
            </a:r>
            <a:endParaRPr lang="en-US" sz="1400" dirty="0"/>
          </a:p>
        </p:txBody>
      </p:sp>
      <p:sp>
        <p:nvSpPr>
          <p:cNvPr id="6" name="pf_8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86" descr="/home/claude/movers/img/fc/grandpa.png">    </p:cNvPr>
          <p:cNvPicPr>
            <a:picLocks noChangeAspect="1"/>
          </p:cNvPicPr>
          <p:nvPr/>
        </p:nvPicPr>
        <p:blipFill>
          <a:blip r:embed="rId2"/>
          <a:stretch>
            <a:fillRect/>
          </a:stretch>
        </p:blipFill>
        <p:spPr>
          <a:xfrm>
            <a:off x="3974324" y="1234440"/>
            <a:ext cx="1195353" cy="2651760"/>
          </a:xfrm>
          <a:prstGeom prst="rect">
            <a:avLst/>
          </a:prstGeom>
        </p:spPr>
      </p:pic>
      <p:sp>
        <p:nvSpPr>
          <p:cNvPr id="8" name="R1_w8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Grandpa</a:t>
            </a:r>
            <a:endParaRPr lang="en-US" sz="3600" dirty="0"/>
          </a:p>
        </p:txBody>
      </p:sp>
      <p:sp>
        <p:nvSpPr>
          <p:cNvPr id="9" name="R2_it8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il nonno – il contadino</a:t>
            </a:r>
            <a:endParaRPr lang="en-US" sz="1600" dirty="0"/>
          </a:p>
        </p:txBody>
      </p:sp>
      <p:sp>
        <p:nvSpPr>
          <p:cNvPr id="10" name="R3_tpr8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Walk like Grandpa with a bucket! 🪣</a:t>
            </a:r>
            <a:endParaRPr lang="en-US" sz="1300" dirty="0"/>
          </a:p>
        </p:txBody>
      </p:sp>
      <p:sp>
        <p:nvSpPr>
          <p:cNvPr id="11" name="n_9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5 / 5</a:t>
            </a:r>
            <a:endParaRPr lang="en-US" sz="1200" dirty="0"/>
          </a:p>
        </p:txBody>
      </p:sp>
      <p:sp>
        <p:nvSpPr>
          <p:cNvPr id="12" name="bk_91"/>
          <p:cNvSpPr/>
          <p:nvPr/>
        </p:nvSpPr>
        <p:spPr>
          <a:xfrm>
            <a:off x="228600" y="4681728"/>
            <a:ext cx="280263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 · the family</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9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500" dirty="0">
                <a:solidFill>
                  <a:srgbClr val="FFFFFF"/>
                </a:solidFill>
                <a:latin typeface="Arial Black" pitchFamily="34" charset="0"/>
                <a:ea typeface="Arial Black" pitchFamily="34" charset="-122"/>
                <a:cs typeface="Arial Black" pitchFamily="34" charset="-120"/>
              </a:rPr>
              <a:t>MEET THE ANIMALS</a:t>
            </a:r>
            <a:endParaRPr lang="en-US" sz="1500" dirty="0"/>
          </a:p>
        </p:txBody>
      </p:sp>
      <p:sp>
        <p:nvSpPr>
          <p:cNvPr id="4" name="bm_9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9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name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il nome prima che appaia!</a:t>
            </a:r>
            <a:endParaRPr lang="en-US" sz="1400" dirty="0"/>
          </a:p>
        </p:txBody>
      </p:sp>
      <p:sp>
        <p:nvSpPr>
          <p:cNvPr id="6" name="pf_9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96" descr="/home/claude/movers/img/fc/rocky.png">    </p:cNvPr>
          <p:cNvPicPr>
            <a:picLocks noChangeAspect="1"/>
          </p:cNvPicPr>
          <p:nvPr/>
        </p:nvPicPr>
        <p:blipFill>
          <a:blip r:embed="rId2"/>
          <a:stretch>
            <a:fillRect/>
          </a:stretch>
        </p:blipFill>
        <p:spPr>
          <a:xfrm>
            <a:off x="3588416" y="1234440"/>
            <a:ext cx="1967169" cy="2651760"/>
          </a:xfrm>
          <a:prstGeom prst="rect">
            <a:avLst/>
          </a:prstGeom>
        </p:spPr>
      </p:pic>
      <p:sp>
        <p:nvSpPr>
          <p:cNvPr id="8" name="R1_w9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Rocky</a:t>
            </a:r>
            <a:endParaRPr lang="en-US" sz="3600" dirty="0"/>
          </a:p>
        </p:txBody>
      </p:sp>
      <p:sp>
        <p:nvSpPr>
          <p:cNvPr id="9" name="R2_it9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il gallo (rooster)</a:t>
            </a:r>
            <a:endParaRPr lang="en-US" sz="1600" dirty="0"/>
          </a:p>
        </p:txBody>
      </p:sp>
      <p:sp>
        <p:nvSpPr>
          <p:cNvPr id="10" name="R3_tpr9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Flap your wings! Cock-a-doodle-doo! 🐓</a:t>
            </a:r>
            <a:endParaRPr lang="en-US" sz="1300" dirty="0"/>
          </a:p>
        </p:txBody>
      </p:sp>
      <p:sp>
        <p:nvSpPr>
          <p:cNvPr id="11" name="n_10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1 / 6</a:t>
            </a:r>
            <a:endParaRPr lang="en-US" sz="1200" dirty="0"/>
          </a:p>
        </p:txBody>
      </p:sp>
      <p:sp>
        <p:nvSpPr>
          <p:cNvPr id="12" name="bk_101"/>
          <p:cNvSpPr/>
          <p:nvPr/>
        </p:nvSpPr>
        <p:spPr>
          <a:xfrm>
            <a:off x="228600" y="4681728"/>
            <a:ext cx="3890772"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Friendly Farm flashcards · Pupil's Book p.5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0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500" dirty="0">
                <a:solidFill>
                  <a:srgbClr val="FFFFFF"/>
                </a:solidFill>
                <a:latin typeface="Arial Black" pitchFamily="34" charset="0"/>
                <a:ea typeface="Arial Black" pitchFamily="34" charset="-122"/>
                <a:cs typeface="Arial Black" pitchFamily="34" charset="-120"/>
              </a:rPr>
              <a:t>MEET THE ANIMALS</a:t>
            </a:r>
            <a:endParaRPr lang="en-US" sz="1500" dirty="0"/>
          </a:p>
        </p:txBody>
      </p:sp>
      <p:sp>
        <p:nvSpPr>
          <p:cNvPr id="4" name="bm_10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10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name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il nome prima che appaia!</a:t>
            </a:r>
            <a:endParaRPr lang="en-US" sz="1400" dirty="0"/>
          </a:p>
        </p:txBody>
      </p:sp>
      <p:sp>
        <p:nvSpPr>
          <p:cNvPr id="6" name="pf_10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06" descr="/home/claude/movers/img/fc/henrietta.png">    </p:cNvPr>
          <p:cNvPicPr>
            <a:picLocks noChangeAspect="1"/>
          </p:cNvPicPr>
          <p:nvPr/>
        </p:nvPicPr>
        <p:blipFill>
          <a:blip r:embed="rId2"/>
          <a:stretch>
            <a:fillRect/>
          </a:stretch>
        </p:blipFill>
        <p:spPr>
          <a:xfrm>
            <a:off x="3406310" y="1234440"/>
            <a:ext cx="2331380" cy="2651760"/>
          </a:xfrm>
          <a:prstGeom prst="rect">
            <a:avLst/>
          </a:prstGeom>
        </p:spPr>
      </p:pic>
      <p:sp>
        <p:nvSpPr>
          <p:cNvPr id="8" name="R1_w10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Henrietta</a:t>
            </a:r>
            <a:endParaRPr lang="en-US" sz="3600" dirty="0"/>
          </a:p>
        </p:txBody>
      </p:sp>
      <p:sp>
        <p:nvSpPr>
          <p:cNvPr id="9" name="R2_it10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350" i="1" dirty="0">
                <a:solidFill>
                  <a:srgbClr val="2F9BFF"/>
                </a:solidFill>
                <a:latin typeface="Arial" pitchFamily="34" charset="0"/>
                <a:ea typeface="Arial" pitchFamily="34" charset="-122"/>
                <a:cs typeface="Arial" pitchFamily="34" charset="-120"/>
              </a:rPr>
              <a:t>la gallina, mamma di Rocky</a:t>
            </a:r>
            <a:endParaRPr lang="en-US" sz="1350" dirty="0"/>
          </a:p>
        </p:txBody>
      </p:sp>
      <p:sp>
        <p:nvSpPr>
          <p:cNvPr id="10" name="R3_tpr10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Sit on your eggs. Shh! She's asleep. 😴</a:t>
            </a:r>
            <a:endParaRPr lang="en-US" sz="1300" dirty="0"/>
          </a:p>
        </p:txBody>
      </p:sp>
      <p:sp>
        <p:nvSpPr>
          <p:cNvPr id="11" name="n_11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2 / 6</a:t>
            </a:r>
            <a:endParaRPr lang="en-US" sz="1200" dirty="0"/>
          </a:p>
        </p:txBody>
      </p:sp>
      <p:sp>
        <p:nvSpPr>
          <p:cNvPr id="12" name="bk_111"/>
          <p:cNvSpPr/>
          <p:nvPr/>
        </p:nvSpPr>
        <p:spPr>
          <a:xfrm>
            <a:off x="228600" y="4681728"/>
            <a:ext cx="3890772"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Friendly Farm flashcards · Pupil's Book p.5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1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500" dirty="0">
                <a:solidFill>
                  <a:srgbClr val="FFFFFF"/>
                </a:solidFill>
                <a:latin typeface="Arial Black" pitchFamily="34" charset="0"/>
                <a:ea typeface="Arial Black" pitchFamily="34" charset="-122"/>
                <a:cs typeface="Arial Black" pitchFamily="34" charset="-120"/>
              </a:rPr>
              <a:t>MEET THE ANIMALS</a:t>
            </a:r>
            <a:endParaRPr lang="en-US" sz="1500" dirty="0"/>
          </a:p>
        </p:txBody>
      </p:sp>
      <p:sp>
        <p:nvSpPr>
          <p:cNvPr id="4" name="bm_11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11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name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il nome prima che appaia!</a:t>
            </a:r>
            <a:endParaRPr lang="en-US" sz="1400" dirty="0"/>
          </a:p>
        </p:txBody>
      </p:sp>
      <p:sp>
        <p:nvSpPr>
          <p:cNvPr id="6" name="pf_11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16" descr="/home/claude/movers/img/fc/shelly.png">    </p:cNvPr>
          <p:cNvPicPr>
            <a:picLocks noChangeAspect="1"/>
          </p:cNvPicPr>
          <p:nvPr/>
        </p:nvPicPr>
        <p:blipFill>
          <a:blip r:embed="rId2"/>
          <a:stretch>
            <a:fillRect/>
          </a:stretch>
        </p:blipFill>
        <p:spPr>
          <a:xfrm>
            <a:off x="3555492" y="1234440"/>
            <a:ext cx="2033016" cy="2651760"/>
          </a:xfrm>
          <a:prstGeom prst="rect">
            <a:avLst/>
          </a:prstGeom>
        </p:spPr>
      </p:pic>
      <p:sp>
        <p:nvSpPr>
          <p:cNvPr id="8" name="R1_w11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Shelly</a:t>
            </a:r>
            <a:endParaRPr lang="en-US" sz="3600" dirty="0"/>
          </a:p>
        </p:txBody>
      </p:sp>
      <p:sp>
        <p:nvSpPr>
          <p:cNvPr id="9" name="R2_it11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la pecora (sheep)</a:t>
            </a:r>
            <a:endParaRPr lang="en-US" sz="1600" dirty="0"/>
          </a:p>
        </p:txBody>
      </p:sp>
      <p:sp>
        <p:nvSpPr>
          <p:cNvPr id="10" name="R3_tpr11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Sing like Shelly! La-la-la! 🎤</a:t>
            </a:r>
            <a:endParaRPr lang="en-US" sz="1300" dirty="0"/>
          </a:p>
        </p:txBody>
      </p:sp>
      <p:sp>
        <p:nvSpPr>
          <p:cNvPr id="11" name="n_12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3 / 6</a:t>
            </a:r>
            <a:endParaRPr lang="en-US" sz="1200" dirty="0"/>
          </a:p>
        </p:txBody>
      </p:sp>
      <p:sp>
        <p:nvSpPr>
          <p:cNvPr id="12" name="bk_121"/>
          <p:cNvSpPr/>
          <p:nvPr/>
        </p:nvSpPr>
        <p:spPr>
          <a:xfrm>
            <a:off x="228600" y="4681728"/>
            <a:ext cx="3890772"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Friendly Farm flashcards · Pupil's Book p.5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2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500" dirty="0">
                <a:solidFill>
                  <a:srgbClr val="FFFFFF"/>
                </a:solidFill>
                <a:latin typeface="Arial Black" pitchFamily="34" charset="0"/>
                <a:ea typeface="Arial Black" pitchFamily="34" charset="-122"/>
                <a:cs typeface="Arial Black" pitchFamily="34" charset="-120"/>
              </a:rPr>
              <a:t>MEET THE ANIMALS</a:t>
            </a:r>
            <a:endParaRPr lang="en-US" sz="1500" dirty="0"/>
          </a:p>
        </p:txBody>
      </p:sp>
      <p:sp>
        <p:nvSpPr>
          <p:cNvPr id="4" name="bm_12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12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name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il nome prima che appaia!</a:t>
            </a:r>
            <a:endParaRPr lang="en-US" sz="1400" dirty="0"/>
          </a:p>
        </p:txBody>
      </p:sp>
      <p:sp>
        <p:nvSpPr>
          <p:cNvPr id="6" name="pf_12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26" descr="/home/claude/movers/img/fc/gracie.png">    </p:cNvPr>
          <p:cNvPicPr>
            <a:picLocks noChangeAspect="1"/>
          </p:cNvPicPr>
          <p:nvPr/>
        </p:nvPicPr>
        <p:blipFill>
          <a:blip r:embed="rId2"/>
          <a:stretch>
            <a:fillRect/>
          </a:stretch>
        </p:blipFill>
        <p:spPr>
          <a:xfrm>
            <a:off x="3467510" y="1234440"/>
            <a:ext cx="2208980" cy="2651760"/>
          </a:xfrm>
          <a:prstGeom prst="rect">
            <a:avLst/>
          </a:prstGeom>
        </p:spPr>
      </p:pic>
      <p:sp>
        <p:nvSpPr>
          <p:cNvPr id="8" name="R1_w12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Gracie</a:t>
            </a:r>
            <a:endParaRPr lang="en-US" sz="3600" dirty="0"/>
          </a:p>
        </p:txBody>
      </p:sp>
      <p:sp>
        <p:nvSpPr>
          <p:cNvPr id="9" name="R2_it12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la capra (goat)</a:t>
            </a:r>
            <a:endParaRPr lang="en-US" sz="1600" dirty="0"/>
          </a:p>
        </p:txBody>
      </p:sp>
      <p:sp>
        <p:nvSpPr>
          <p:cNvPr id="10" name="R3_tpr12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Eat paper and books! Munch, munch! 📖</a:t>
            </a:r>
            <a:endParaRPr lang="en-US" sz="1300" dirty="0"/>
          </a:p>
        </p:txBody>
      </p:sp>
      <p:sp>
        <p:nvSpPr>
          <p:cNvPr id="11" name="n_13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4 / 6</a:t>
            </a:r>
            <a:endParaRPr lang="en-US" sz="1200" dirty="0"/>
          </a:p>
        </p:txBody>
      </p:sp>
      <p:sp>
        <p:nvSpPr>
          <p:cNvPr id="12" name="bk_131"/>
          <p:cNvSpPr/>
          <p:nvPr/>
        </p:nvSpPr>
        <p:spPr>
          <a:xfrm>
            <a:off x="228600" y="4681728"/>
            <a:ext cx="3890772"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Friendly Farm flashcards · Pupil's Book p.5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3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500" dirty="0">
                <a:solidFill>
                  <a:srgbClr val="FFFFFF"/>
                </a:solidFill>
                <a:latin typeface="Arial Black" pitchFamily="34" charset="0"/>
                <a:ea typeface="Arial Black" pitchFamily="34" charset="-122"/>
                <a:cs typeface="Arial Black" pitchFamily="34" charset="-120"/>
              </a:rPr>
              <a:t>MEET THE ANIMALS</a:t>
            </a:r>
            <a:endParaRPr lang="en-US" sz="1500" dirty="0"/>
          </a:p>
        </p:txBody>
      </p:sp>
      <p:sp>
        <p:nvSpPr>
          <p:cNvPr id="4" name="bm_13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13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name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il nome prima che appaia!</a:t>
            </a:r>
            <a:endParaRPr lang="en-US" sz="1400" dirty="0"/>
          </a:p>
        </p:txBody>
      </p:sp>
      <p:sp>
        <p:nvSpPr>
          <p:cNvPr id="6" name="pf_13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36" descr="/home/claude/movers/img/fc/harry.png">    </p:cNvPr>
          <p:cNvPicPr>
            <a:picLocks noChangeAspect="1"/>
          </p:cNvPicPr>
          <p:nvPr/>
        </p:nvPicPr>
        <p:blipFill>
          <a:blip r:embed="rId2"/>
          <a:stretch>
            <a:fillRect/>
          </a:stretch>
        </p:blipFill>
        <p:spPr>
          <a:xfrm>
            <a:off x="3547929" y="1234440"/>
            <a:ext cx="2048141" cy="2651760"/>
          </a:xfrm>
          <a:prstGeom prst="rect">
            <a:avLst/>
          </a:prstGeom>
        </p:spPr>
      </p:pic>
      <p:sp>
        <p:nvSpPr>
          <p:cNvPr id="8" name="R1_w13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Harry</a:t>
            </a:r>
            <a:endParaRPr lang="en-US" sz="3600" dirty="0"/>
          </a:p>
        </p:txBody>
      </p:sp>
      <p:sp>
        <p:nvSpPr>
          <p:cNvPr id="9" name="R2_it13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il cavallo (horse)</a:t>
            </a:r>
            <a:endParaRPr lang="en-US" sz="1600" dirty="0"/>
          </a:p>
        </p:txBody>
      </p:sp>
      <p:sp>
        <p:nvSpPr>
          <p:cNvPr id="10" name="R3_tpr13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Gallop like a horse! 🐴</a:t>
            </a:r>
            <a:endParaRPr lang="en-US" sz="1300" dirty="0"/>
          </a:p>
        </p:txBody>
      </p:sp>
      <p:sp>
        <p:nvSpPr>
          <p:cNvPr id="11" name="n_14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5 / 6</a:t>
            </a:r>
            <a:endParaRPr lang="en-US" sz="1200" dirty="0"/>
          </a:p>
        </p:txBody>
      </p:sp>
      <p:sp>
        <p:nvSpPr>
          <p:cNvPr id="12" name="bk_141"/>
          <p:cNvSpPr/>
          <p:nvPr/>
        </p:nvSpPr>
        <p:spPr>
          <a:xfrm>
            <a:off x="228600" y="4681728"/>
            <a:ext cx="3890772"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Friendly Farm flashcards · Pupil's Book p.5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4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500" dirty="0">
                <a:solidFill>
                  <a:srgbClr val="FFFFFF"/>
                </a:solidFill>
                <a:latin typeface="Arial Black" pitchFamily="34" charset="0"/>
                <a:ea typeface="Arial Black" pitchFamily="34" charset="-122"/>
                <a:cs typeface="Arial Black" pitchFamily="34" charset="-120"/>
              </a:rPr>
              <a:t>MEET THE ANIMALS</a:t>
            </a:r>
            <a:endParaRPr lang="en-US" sz="1500" dirty="0"/>
          </a:p>
        </p:txBody>
      </p:sp>
      <p:sp>
        <p:nvSpPr>
          <p:cNvPr id="4" name="bm_14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Who's this?</a:t>
            </a:r>
            <a:endParaRPr lang="en-US" sz="3200" dirty="0"/>
          </a:p>
        </p:txBody>
      </p:sp>
      <p:sp>
        <p:nvSpPr>
          <p:cNvPr id="5" name="in_14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name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il nome prima che appaia!</a:t>
            </a:r>
            <a:endParaRPr lang="en-US" sz="1400" dirty="0"/>
          </a:p>
        </p:txBody>
      </p:sp>
      <p:sp>
        <p:nvSpPr>
          <p:cNvPr id="6" name="pf_145"/>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46" descr="/home/claude/movers/img/fc/cameron.png">    </p:cNvPr>
          <p:cNvPicPr>
            <a:picLocks noChangeAspect="1"/>
          </p:cNvPicPr>
          <p:nvPr/>
        </p:nvPicPr>
        <p:blipFill>
          <a:blip r:embed="rId2"/>
          <a:stretch>
            <a:fillRect/>
          </a:stretch>
        </p:blipFill>
        <p:spPr>
          <a:xfrm>
            <a:off x="3396846" y="1234440"/>
            <a:ext cx="2350308" cy="2651760"/>
          </a:xfrm>
          <a:prstGeom prst="rect">
            <a:avLst/>
          </a:prstGeom>
        </p:spPr>
      </p:pic>
      <p:sp>
        <p:nvSpPr>
          <p:cNvPr id="8" name="R1_w147"/>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Cameron</a:t>
            </a:r>
            <a:endParaRPr lang="en-US" sz="3600" dirty="0"/>
          </a:p>
        </p:txBody>
      </p:sp>
      <p:sp>
        <p:nvSpPr>
          <p:cNvPr id="9" name="R2_it148"/>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il gatto (cat)</a:t>
            </a:r>
            <a:endParaRPr lang="en-US" sz="1600" dirty="0"/>
          </a:p>
        </p:txBody>
      </p:sp>
      <p:sp>
        <p:nvSpPr>
          <p:cNvPr id="10" name="R3_tpr149"/>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Cover your ears! My ears! 🙉</a:t>
            </a:r>
            <a:endParaRPr lang="en-US" sz="1300" dirty="0"/>
          </a:p>
        </p:txBody>
      </p:sp>
      <p:sp>
        <p:nvSpPr>
          <p:cNvPr id="11" name="n_150"/>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6 / 6</a:t>
            </a:r>
            <a:endParaRPr lang="en-US" sz="1200" dirty="0"/>
          </a:p>
        </p:txBody>
      </p:sp>
      <p:sp>
        <p:nvSpPr>
          <p:cNvPr id="12" name="bk_151"/>
          <p:cNvSpPr/>
          <p:nvPr/>
        </p:nvSpPr>
        <p:spPr>
          <a:xfrm>
            <a:off x="228600" y="4681728"/>
            <a:ext cx="3890772"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Friendly Farm flashcards · Pupil's Book p.5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5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SAY IT!</a:t>
            </a:r>
            <a:endParaRPr lang="en-US" sz="1600" dirty="0"/>
          </a:p>
        </p:txBody>
      </p:sp>
      <p:sp>
        <p:nvSpPr>
          <p:cNvPr id="4" name="bm_15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8A3D"/>
                </a:solidFill>
                <a:latin typeface="Arial Black" pitchFamily="34" charset="0"/>
                <a:ea typeface="Arial Black" pitchFamily="34" charset="-122"/>
                <a:cs typeface="Arial Black" pitchFamily="34" charset="-120"/>
              </a:rPr>
              <a:t>The H huff! ✋</a:t>
            </a:r>
            <a:endParaRPr lang="en-US" sz="2700" dirty="0"/>
          </a:p>
        </p:txBody>
      </p:sp>
      <p:sp>
        <p:nvSpPr>
          <p:cNvPr id="5" name="in_15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Hand in front of your mouth. Feel the H!</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Mano davanti alla bocca. Senti la H!</a:t>
            </a:r>
            <a:endParaRPr lang="en-US" sz="1400" dirty="0"/>
          </a:p>
        </p:txBody>
      </p:sp>
      <p:sp>
        <p:nvSpPr>
          <p:cNvPr id="6" name="mode_15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WHOLE CLASS · ⏱ 3 MIN</a:t>
            </a:r>
            <a:endParaRPr lang="en-US" sz="1000" dirty="0"/>
          </a:p>
        </p:txBody>
      </p:sp>
      <p:sp>
        <p:nvSpPr>
          <p:cNvPr id="7" name="st_156"/>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8" name="sn_157"/>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158"/>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0" name="se_159"/>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Teacher says the word.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L'insegnante dice la parola.</a:t>
            </a:r>
            <a:endParaRPr lang="en-US" sz="1050" dirty="0"/>
          </a:p>
        </p:txBody>
      </p:sp>
      <p:sp>
        <p:nvSpPr>
          <p:cNvPr id="11" name="st_160"/>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2" name="sn_161"/>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162"/>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4" name="se_163"/>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it. Feel the air on your hand!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Ripeti. Senti l'aria sulla mano!</a:t>
            </a:r>
            <a:endParaRPr lang="en-US" sz="1050" dirty="0"/>
          </a:p>
        </p:txBody>
      </p:sp>
      <p:sp>
        <p:nvSpPr>
          <p:cNvPr id="15" name="st_164"/>
          <p:cNvSpPr/>
          <p:nvPr/>
        </p:nvSpPr>
        <p:spPr>
          <a:xfrm>
            <a:off x="228600" y="34594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16" name="sn_165"/>
          <p:cNvSpPr/>
          <p:nvPr/>
        </p:nvSpPr>
        <p:spPr>
          <a:xfrm>
            <a:off x="118872" y="33497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166"/>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LOOK</a:t>
            </a:r>
            <a:endParaRPr lang="en-US" sz="1300" dirty="0"/>
          </a:p>
        </p:txBody>
      </p:sp>
      <p:sp>
        <p:nvSpPr>
          <p:cNvPr id="18" name="se_167"/>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Teacher says it wrong? Shout STOP!</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Errore? Grida STOP!</a:t>
            </a:r>
            <a:endParaRPr lang="en-US" sz="1050" dirty="0"/>
          </a:p>
        </p:txBody>
      </p:sp>
      <p:sp>
        <p:nvSpPr>
          <p:cNvPr id="19" name="cd_168"/>
          <p:cNvSpPr/>
          <p:nvPr/>
        </p:nvSpPr>
        <p:spPr>
          <a:xfrm>
            <a:off x="3108960" y="1325880"/>
            <a:ext cx="1508760" cy="1508760"/>
          </a:xfrm>
          <a:prstGeom prst="roundRect">
            <a:avLst>
              <a:gd name="adj" fmla="val 7273"/>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169" descr="/home/claude/movers/img/fc/harry.png">    </p:cNvPr>
          <p:cNvPicPr>
            <a:picLocks noChangeAspect="1"/>
          </p:cNvPicPr>
          <p:nvPr/>
        </p:nvPicPr>
        <p:blipFill>
          <a:blip r:embed="rId2"/>
          <a:stretch>
            <a:fillRect/>
          </a:stretch>
        </p:blipFill>
        <p:spPr>
          <a:xfrm>
            <a:off x="3182112" y="1399032"/>
            <a:ext cx="1362456" cy="1362456"/>
          </a:xfrm>
          <a:prstGeom prst="rect">
            <a:avLst/>
          </a:prstGeom>
        </p:spPr>
      </p:pic>
      <p:sp>
        <p:nvSpPr>
          <p:cNvPr id="21" name="cd_170"/>
          <p:cNvSpPr/>
          <p:nvPr/>
        </p:nvSpPr>
        <p:spPr>
          <a:xfrm>
            <a:off x="4754880" y="1325880"/>
            <a:ext cx="1508760" cy="1508760"/>
          </a:xfrm>
          <a:prstGeom prst="roundRect">
            <a:avLst>
              <a:gd name="adj" fmla="val 7273"/>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171" descr="/home/claude/movers/img/fc/henrietta.png">    </p:cNvPr>
          <p:cNvPicPr>
            <a:picLocks noChangeAspect="1"/>
          </p:cNvPicPr>
          <p:nvPr/>
        </p:nvPicPr>
        <p:blipFill>
          <a:blip r:embed="rId3"/>
          <a:stretch>
            <a:fillRect/>
          </a:stretch>
        </p:blipFill>
        <p:spPr>
          <a:xfrm>
            <a:off x="4828032" y="1399032"/>
            <a:ext cx="1362456" cy="1362456"/>
          </a:xfrm>
          <a:prstGeom prst="rect">
            <a:avLst/>
          </a:prstGeom>
        </p:spPr>
      </p:pic>
      <p:sp>
        <p:nvSpPr>
          <p:cNvPr id="23" name="cd_172"/>
          <p:cNvSpPr/>
          <p:nvPr/>
        </p:nvSpPr>
        <p:spPr>
          <a:xfrm>
            <a:off x="6400800" y="1325880"/>
            <a:ext cx="1508760" cy="1508760"/>
          </a:xfrm>
          <a:prstGeom prst="roundRect">
            <a:avLst>
              <a:gd name="adj" fmla="val 7273"/>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4" name="ci_173" descr="/home/claude/movers/img/e-s-hand.png">    </p:cNvPr>
          <p:cNvPicPr>
            <a:picLocks noChangeAspect="1"/>
          </p:cNvPicPr>
          <p:nvPr/>
        </p:nvPicPr>
        <p:blipFill>
          <a:blip r:embed="rId4"/>
          <a:stretch>
            <a:fillRect/>
          </a:stretch>
        </p:blipFill>
        <p:spPr>
          <a:xfrm>
            <a:off x="6473952" y="1399032"/>
            <a:ext cx="1362456" cy="1362456"/>
          </a:xfrm>
          <a:prstGeom prst="rect">
            <a:avLst/>
          </a:prstGeom>
        </p:spPr>
      </p:pic>
      <p:sp>
        <p:nvSpPr>
          <p:cNvPr id="25" name="gl_174"/>
          <p:cNvSpPr/>
          <p:nvPr/>
        </p:nvSpPr>
        <p:spPr>
          <a:xfrm>
            <a:off x="3108960" y="3657600"/>
            <a:ext cx="5715000" cy="914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Harry · Henrietta · Hello! · How are you? · How old…?</a:t>
            </a:r>
            <a:endParaRPr lang="en-US" sz="1400" dirty="0"/>
          </a:p>
        </p:txBody>
      </p:sp>
    </p:spTree>
  </p:cSld>
  <p:clrMapOvr>
    <a:masterClrMapping/>
  </p:clrMapOvr>
  <p:transition spd="med">
    <p:push dir="l"/>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7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LISTEN 1</a:t>
            </a:r>
            <a:endParaRPr lang="en-US" sz="1600" dirty="0"/>
          </a:p>
        </p:txBody>
      </p:sp>
      <p:sp>
        <p:nvSpPr>
          <p:cNvPr id="4" name="bm_176"/>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Meet Jim and Jenny</a:t>
            </a:r>
            <a:endParaRPr lang="en-US" sz="2700" dirty="0"/>
          </a:p>
        </p:txBody>
      </p:sp>
      <p:sp>
        <p:nvSpPr>
          <p:cNvPr id="5" name="in_177"/>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 1.02 from the book CD). Choose a or b!</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Scegli a o b!</a:t>
            </a:r>
            <a:endParaRPr lang="en-US" sz="1400" dirty="0"/>
          </a:p>
        </p:txBody>
      </p:sp>
      <p:sp>
        <p:nvSpPr>
          <p:cNvPr id="6" name="mode_178"/>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6 MIN</a:t>
            </a:r>
            <a:endParaRPr lang="en-US" sz="1000" dirty="0"/>
          </a:p>
        </p:txBody>
      </p:sp>
      <p:sp>
        <p:nvSpPr>
          <p:cNvPr id="7" name="pf_179"/>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80" descr="/home/claude/movers/img/crop/s-p4-scene.jpg">    </p:cNvPr>
          <p:cNvPicPr>
            <a:picLocks noChangeAspect="1"/>
          </p:cNvPicPr>
          <p:nvPr/>
        </p:nvPicPr>
        <p:blipFill>
          <a:blip r:embed="rId2"/>
          <a:stretch>
            <a:fillRect/>
          </a:stretch>
        </p:blipFill>
        <p:spPr>
          <a:xfrm>
            <a:off x="1097185" y="1325880"/>
            <a:ext cx="3657790" cy="3246120"/>
          </a:xfrm>
          <a:prstGeom prst="rect">
            <a:avLst/>
          </a:prstGeom>
        </p:spPr>
      </p:pic>
      <p:sp>
        <p:nvSpPr>
          <p:cNvPr id="9" name="q_181"/>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Mum: a) cooking b) writing a song 🎹</a:t>
            </a:r>
            <a:endParaRPr lang="en-US" sz="1250" dirty="0"/>
          </a:p>
        </p:txBody>
      </p:sp>
      <p:sp>
        <p:nvSpPr>
          <p:cNvPr id="10" name="R1_a182"/>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b) She's writing a song.</a:t>
            </a:r>
            <a:endParaRPr lang="en-US" sz="1250" dirty="0"/>
          </a:p>
        </p:txBody>
      </p:sp>
      <p:sp>
        <p:nvSpPr>
          <p:cNvPr id="11" name="q_183"/>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Dad: a) making a cake b) playing the piano</a:t>
            </a:r>
            <a:endParaRPr lang="en-US" sz="1250" dirty="0"/>
          </a:p>
        </p:txBody>
      </p:sp>
      <p:sp>
        <p:nvSpPr>
          <p:cNvPr id="12" name="R2_a184"/>
          <p:cNvSpPr/>
          <p:nvPr/>
        </p:nvSpPr>
        <p:spPr>
          <a:xfrm>
            <a:off x="5989320" y="2576779"/>
            <a:ext cx="2788920" cy="378562"/>
          </a:xfrm>
          <a:prstGeom prst="rect">
            <a:avLst/>
          </a:prstGeom>
          <a:noFill/>
          <a:ln/>
        </p:spPr>
        <p:txBody>
          <a:bodyPr wrap="square" lIns="0" tIns="0" rIns="0" bIns="0" rtlCol="0" anchor="t"/>
          <a:lstStyle/>
          <a:p>
            <a:pPr indent="0" marL="0">
              <a:buNone/>
            </a:pPr>
            <a:r>
              <a:rPr lang="en-US" sz="1200" b="1" dirty="0">
                <a:solidFill>
                  <a:srgbClr val="6CCB3B"/>
                </a:solidFill>
                <a:latin typeface="Arial Rounded MT Bold" pitchFamily="34" charset="0"/>
                <a:ea typeface="Arial Rounded MT Bold" pitchFamily="34" charset="-122"/>
                <a:cs typeface="Arial Rounded MT Bold" pitchFamily="34" charset="-120"/>
              </a:rPr>
              <a:t>a) He's making a cake. He's a cook!</a:t>
            </a:r>
            <a:endParaRPr lang="en-US" sz="1200" dirty="0"/>
          </a:p>
        </p:txBody>
      </p:sp>
      <p:sp>
        <p:nvSpPr>
          <p:cNvPr id="13" name="q_185"/>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Jim and Jenny are… 7, 8 or 9? 🤔</a:t>
            </a:r>
            <a:endParaRPr lang="en-US" sz="1250" dirty="0"/>
          </a:p>
        </p:txBody>
      </p:sp>
      <p:sp>
        <p:nvSpPr>
          <p:cNvPr id="14" name="R3_a186"/>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They're seven. They're twins!</a:t>
            </a:r>
            <a:endParaRPr lang="en-US" sz="1250" dirty="0"/>
          </a:p>
        </p:txBody>
      </p:sp>
      <p:sp>
        <p:nvSpPr>
          <p:cNvPr id="15" name="q_187"/>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Find the small tractor!</a:t>
            </a:r>
            <a:endParaRPr lang="en-US" sz="1250" dirty="0"/>
          </a:p>
        </p:txBody>
      </p:sp>
      <p:sp>
        <p:nvSpPr>
          <p:cNvPr id="16" name="R4_a188"/>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Point to it! 🔎</a:t>
            </a:r>
            <a:endParaRPr lang="en-US" sz="1250" dirty="0"/>
          </a:p>
        </p:txBody>
      </p:sp>
      <p:sp>
        <p:nvSpPr>
          <p:cNvPr id="17" name="bk_189"/>
          <p:cNvSpPr/>
          <p:nvPr/>
        </p:nvSpPr>
        <p:spPr>
          <a:xfrm>
            <a:off x="228600" y="4681728"/>
            <a:ext cx="256946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 · 🎧 1.02</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9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CHANT</a:t>
            </a:r>
            <a:endParaRPr lang="en-US" sz="1600" dirty="0"/>
          </a:p>
        </p:txBody>
      </p:sp>
      <p:sp>
        <p:nvSpPr>
          <p:cNvPr id="4" name="bm_191"/>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5DA2"/>
                </a:solidFill>
                <a:latin typeface="Arial Black" pitchFamily="34" charset="0"/>
                <a:ea typeface="Arial Black" pitchFamily="34" charset="-122"/>
                <a:cs typeface="Arial Black" pitchFamily="34" charset="-120"/>
              </a:rPr>
              <a:t>Say the chant!</a:t>
            </a:r>
            <a:endParaRPr lang="en-US" sz="2700" dirty="0"/>
          </a:p>
        </p:txBody>
      </p:sp>
      <p:sp>
        <p:nvSpPr>
          <p:cNvPr id="5" name="in_19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Jim group 👦 and Jenny group 👧. Say YOUR lines!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Gruppo Jim e gruppo Jenny. Di' le TUE frasi!</a:t>
            </a:r>
            <a:endParaRPr lang="en-US" sz="1400" dirty="0"/>
          </a:p>
        </p:txBody>
      </p:sp>
      <p:sp>
        <p:nvSpPr>
          <p:cNvPr id="6" name="mode_193"/>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2 GROUPS · ⏱ 5 MIN</a:t>
            </a:r>
            <a:endParaRPr lang="en-US" sz="1000" dirty="0"/>
          </a:p>
        </p:txBody>
      </p:sp>
      <p:sp>
        <p:nvSpPr>
          <p:cNvPr id="7" name="cd_194"/>
          <p:cNvSpPr/>
          <p:nvPr/>
        </p:nvSpPr>
        <p:spPr>
          <a:xfrm>
            <a:off x="320040" y="1280160"/>
            <a:ext cx="566928" cy="566928"/>
          </a:xfrm>
          <a:prstGeom prst="roundRect">
            <a:avLst>
              <a:gd name="adj" fmla="val 1935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195" descr="/home/claude/movers/img/fc/jim.png">    </p:cNvPr>
          <p:cNvPicPr>
            <a:picLocks noChangeAspect="1"/>
          </p:cNvPicPr>
          <p:nvPr/>
        </p:nvPicPr>
        <p:blipFill>
          <a:blip r:embed="rId2"/>
          <a:stretch>
            <a:fillRect/>
          </a:stretch>
        </p:blipFill>
        <p:spPr>
          <a:xfrm>
            <a:off x="393192" y="1353312"/>
            <a:ext cx="420624" cy="420624"/>
          </a:xfrm>
          <a:prstGeom prst="rect">
            <a:avLst/>
          </a:prstGeom>
        </p:spPr>
      </p:pic>
      <p:sp>
        <p:nvSpPr>
          <p:cNvPr id="9" name="gn_196"/>
          <p:cNvSpPr/>
          <p:nvPr/>
        </p:nvSpPr>
        <p:spPr>
          <a:xfrm>
            <a:off x="978408" y="1344168"/>
            <a:ext cx="3291840" cy="438912"/>
          </a:xfrm>
          <a:prstGeom prst="roundRect">
            <a:avLst>
              <a:gd name="adj" fmla="val 29167"/>
            </a:avLst>
          </a:prstGeom>
          <a:solidFill>
            <a:srgbClr val="2F9B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JIM GROUP 👦</a:t>
            </a:r>
            <a:endParaRPr lang="en-US" sz="1600" dirty="0"/>
          </a:p>
        </p:txBody>
      </p:sp>
      <p:sp>
        <p:nvSpPr>
          <p:cNvPr id="10" name="cd_197"/>
          <p:cNvSpPr/>
          <p:nvPr/>
        </p:nvSpPr>
        <p:spPr>
          <a:xfrm>
            <a:off x="4572000" y="1280160"/>
            <a:ext cx="566928" cy="566928"/>
          </a:xfrm>
          <a:prstGeom prst="roundRect">
            <a:avLst>
              <a:gd name="adj" fmla="val 1935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198" descr="/home/claude/movers/img/fc/jenny.png">    </p:cNvPr>
          <p:cNvPicPr>
            <a:picLocks noChangeAspect="1"/>
          </p:cNvPicPr>
          <p:nvPr/>
        </p:nvPicPr>
        <p:blipFill>
          <a:blip r:embed="rId3"/>
          <a:stretch>
            <a:fillRect/>
          </a:stretch>
        </p:blipFill>
        <p:spPr>
          <a:xfrm>
            <a:off x="4645152" y="1353312"/>
            <a:ext cx="420624" cy="420624"/>
          </a:xfrm>
          <a:prstGeom prst="rect">
            <a:avLst/>
          </a:prstGeom>
        </p:spPr>
      </p:pic>
      <p:sp>
        <p:nvSpPr>
          <p:cNvPr id="12" name="gn_199"/>
          <p:cNvSpPr/>
          <p:nvPr/>
        </p:nvSpPr>
        <p:spPr>
          <a:xfrm>
            <a:off x="5230368" y="1344168"/>
            <a:ext cx="3291840" cy="438912"/>
          </a:xfrm>
          <a:prstGeom prst="roundRect">
            <a:avLst>
              <a:gd name="adj" fmla="val 29167"/>
            </a:avLst>
          </a:prstGeom>
          <a:solidFill>
            <a:srgbClr val="FF5DA2"/>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JENNY GROUP 👧</a:t>
            </a:r>
            <a:endParaRPr lang="en-US" sz="1600" dirty="0"/>
          </a:p>
        </p:txBody>
      </p:sp>
      <p:sp>
        <p:nvSpPr>
          <p:cNvPr id="13" name="R1_cl200"/>
          <p:cNvSpPr/>
          <p:nvPr/>
        </p:nvSpPr>
        <p:spPr>
          <a:xfrm>
            <a:off x="1691640" y="1965960"/>
            <a:ext cx="7132320" cy="361188"/>
          </a:xfrm>
          <a:prstGeom prst="roundRect">
            <a:avLst>
              <a:gd name="adj" fmla="val 30380"/>
            </a:avLst>
          </a:prstGeom>
          <a:solidFill>
            <a:srgbClr val="FFFFFF"/>
          </a:solidFill>
          <a:ln w="38100">
            <a:solidFill>
              <a:srgbClr val="FF5DA2"/>
            </a:solidFill>
          </a:ln>
        </p:spPr>
        <p:txBody>
          <a:bodyPr wrap="square" lIns="0" tIns="127000" rIns="127000" bIns="0" rtlCol="0" anchor="ctr"/>
          <a:lstStyle/>
          <a:p>
            <a:pPr indent="0" marL="0">
              <a:buNone/>
            </a:pPr>
            <a:r>
              <a:rPr lang="en-US" sz="1450" dirty="0">
                <a:solidFill>
                  <a:srgbClr val="C2185B"/>
                </a:solidFill>
                <a:latin typeface="Arial Rounded MT Bold" pitchFamily="34" charset="0"/>
                <a:ea typeface="Arial Rounded MT Bold" pitchFamily="34" charset="-122"/>
                <a:cs typeface="Arial Rounded MT Bold" pitchFamily="34" charset="-120"/>
              </a:rPr>
              <a:t>👧 </a:t>
            </a:r>
            <a:pPr indent="0" marL="0">
              <a:buNone/>
            </a:pPr>
            <a:r>
              <a:rPr lang="en-US" sz="1450" dirty="0">
                <a:solidFill>
                  <a:srgbClr val="C2185B"/>
                </a:solidFill>
                <a:latin typeface="Arial Rounded MT Bold" pitchFamily="34" charset="0"/>
                <a:ea typeface="Arial Rounded MT Bold" pitchFamily="34" charset="-122"/>
                <a:cs typeface="Arial Rounded MT Bold" pitchFamily="34" charset="-120"/>
              </a:rPr>
              <a:t>What's your name? What's your name?</a:t>
            </a:r>
            <a:endParaRPr lang="en-US" sz="1450" dirty="0"/>
          </a:p>
        </p:txBody>
      </p:sp>
      <p:sp>
        <p:nvSpPr>
          <p:cNvPr id="14" name="R2_cl201"/>
          <p:cNvSpPr/>
          <p:nvPr/>
        </p:nvSpPr>
        <p:spPr>
          <a:xfrm>
            <a:off x="320040" y="2400300"/>
            <a:ext cx="7132320" cy="361188"/>
          </a:xfrm>
          <a:prstGeom prst="roundRect">
            <a:avLst>
              <a:gd name="adj" fmla="val 30380"/>
            </a:avLst>
          </a:prstGeom>
          <a:solidFill>
            <a:srgbClr val="FFFFFF"/>
          </a:solidFill>
          <a:ln w="38100">
            <a:solidFill>
              <a:srgbClr val="2F9BFF"/>
            </a:solidFill>
          </a:ln>
        </p:spPr>
        <p:txBody>
          <a:bodyPr wrap="square" lIns="0" tIns="127000" rIns="127000" bIns="0" rtlCol="0" anchor="ctr"/>
          <a:lstStyle/>
          <a:p>
            <a:pPr indent="0" marL="0">
              <a:buNone/>
            </a:pPr>
            <a:r>
              <a:rPr lang="en-US" sz="1450" dirty="0">
                <a:solidFill>
                  <a:srgbClr val="1565C0"/>
                </a:solidFill>
                <a:latin typeface="Arial Rounded MT Bold" pitchFamily="34" charset="0"/>
                <a:ea typeface="Arial Rounded MT Bold" pitchFamily="34" charset="-122"/>
                <a:cs typeface="Arial Rounded MT Bold" pitchFamily="34" charset="-120"/>
              </a:rPr>
              <a:t>👦 </a:t>
            </a:r>
            <a:pPr indent="0" marL="0">
              <a:buNone/>
            </a:pPr>
            <a:r>
              <a:rPr lang="en-US" sz="1450" dirty="0">
                <a:solidFill>
                  <a:srgbClr val="1565C0"/>
                </a:solidFill>
                <a:latin typeface="Arial Rounded MT Bold" pitchFamily="34" charset="0"/>
                <a:ea typeface="Arial Rounded MT Bold" pitchFamily="34" charset="-122"/>
                <a:cs typeface="Arial Rounded MT Bold" pitchFamily="34" charset="-120"/>
              </a:rPr>
              <a:t>My name's Jim!</a:t>
            </a:r>
            <a:endParaRPr lang="en-US" sz="1450" dirty="0"/>
          </a:p>
        </p:txBody>
      </p:sp>
      <p:sp>
        <p:nvSpPr>
          <p:cNvPr id="15" name="R3_cl202"/>
          <p:cNvSpPr/>
          <p:nvPr/>
        </p:nvSpPr>
        <p:spPr>
          <a:xfrm>
            <a:off x="320040" y="2834640"/>
            <a:ext cx="7132320" cy="361188"/>
          </a:xfrm>
          <a:prstGeom prst="roundRect">
            <a:avLst>
              <a:gd name="adj" fmla="val 30380"/>
            </a:avLst>
          </a:prstGeom>
          <a:solidFill>
            <a:srgbClr val="FFFFFF"/>
          </a:solidFill>
          <a:ln w="38100">
            <a:solidFill>
              <a:srgbClr val="2F9BFF"/>
            </a:solidFill>
          </a:ln>
        </p:spPr>
        <p:txBody>
          <a:bodyPr wrap="square" lIns="0" tIns="127000" rIns="127000" bIns="0" rtlCol="0" anchor="ctr"/>
          <a:lstStyle/>
          <a:p>
            <a:pPr indent="0" marL="0">
              <a:buNone/>
            </a:pPr>
            <a:r>
              <a:rPr lang="en-US" sz="1450" dirty="0">
                <a:solidFill>
                  <a:srgbClr val="1565C0"/>
                </a:solidFill>
                <a:latin typeface="Arial Rounded MT Bold" pitchFamily="34" charset="0"/>
                <a:ea typeface="Arial Rounded MT Bold" pitchFamily="34" charset="-122"/>
                <a:cs typeface="Arial Rounded MT Bold" pitchFamily="34" charset="-120"/>
              </a:rPr>
              <a:t>👦 </a:t>
            </a:r>
            <a:pPr indent="0" marL="0">
              <a:buNone/>
            </a:pPr>
            <a:r>
              <a:rPr lang="en-US" sz="1450" dirty="0">
                <a:solidFill>
                  <a:srgbClr val="1565C0"/>
                </a:solidFill>
                <a:latin typeface="Arial Rounded MT Bold" pitchFamily="34" charset="0"/>
                <a:ea typeface="Arial Rounded MT Bold" pitchFamily="34" charset="-122"/>
                <a:cs typeface="Arial Rounded MT Bold" pitchFamily="34" charset="-120"/>
              </a:rPr>
              <a:t>What's your name? What's your name?</a:t>
            </a:r>
            <a:endParaRPr lang="en-US" sz="1450" dirty="0"/>
          </a:p>
        </p:txBody>
      </p:sp>
      <p:sp>
        <p:nvSpPr>
          <p:cNvPr id="16" name="R4_cl203"/>
          <p:cNvSpPr/>
          <p:nvPr/>
        </p:nvSpPr>
        <p:spPr>
          <a:xfrm>
            <a:off x="1691640" y="3268980"/>
            <a:ext cx="7132320" cy="361188"/>
          </a:xfrm>
          <a:prstGeom prst="roundRect">
            <a:avLst>
              <a:gd name="adj" fmla="val 30380"/>
            </a:avLst>
          </a:prstGeom>
          <a:solidFill>
            <a:srgbClr val="FFFFFF"/>
          </a:solidFill>
          <a:ln w="38100">
            <a:solidFill>
              <a:srgbClr val="FF5DA2"/>
            </a:solidFill>
          </a:ln>
        </p:spPr>
        <p:txBody>
          <a:bodyPr wrap="square" lIns="0" tIns="127000" rIns="127000" bIns="0" rtlCol="0" anchor="ctr"/>
          <a:lstStyle/>
          <a:p>
            <a:pPr indent="0" marL="0">
              <a:buNone/>
            </a:pPr>
            <a:r>
              <a:rPr lang="en-US" sz="1450" dirty="0">
                <a:solidFill>
                  <a:srgbClr val="C2185B"/>
                </a:solidFill>
                <a:latin typeface="Arial Rounded MT Bold" pitchFamily="34" charset="0"/>
                <a:ea typeface="Arial Rounded MT Bold" pitchFamily="34" charset="-122"/>
                <a:cs typeface="Arial Rounded MT Bold" pitchFamily="34" charset="-120"/>
              </a:rPr>
              <a:t>👧 </a:t>
            </a:r>
            <a:pPr indent="0" marL="0">
              <a:buNone/>
            </a:pPr>
            <a:r>
              <a:rPr lang="en-US" sz="1450" dirty="0">
                <a:solidFill>
                  <a:srgbClr val="C2185B"/>
                </a:solidFill>
                <a:latin typeface="Arial Rounded MT Bold" pitchFamily="34" charset="0"/>
                <a:ea typeface="Arial Rounded MT Bold" pitchFamily="34" charset="-122"/>
                <a:cs typeface="Arial Rounded MT Bold" pitchFamily="34" charset="-120"/>
              </a:rPr>
              <a:t>My name's Jenny!</a:t>
            </a:r>
            <a:endParaRPr lang="en-US" sz="1450" dirty="0"/>
          </a:p>
        </p:txBody>
      </p:sp>
      <p:sp>
        <p:nvSpPr>
          <p:cNvPr id="17" name="R5_cl204"/>
          <p:cNvSpPr/>
          <p:nvPr/>
        </p:nvSpPr>
        <p:spPr>
          <a:xfrm>
            <a:off x="1691640" y="3703320"/>
            <a:ext cx="7132320" cy="361188"/>
          </a:xfrm>
          <a:prstGeom prst="roundRect">
            <a:avLst>
              <a:gd name="adj" fmla="val 30380"/>
            </a:avLst>
          </a:prstGeom>
          <a:solidFill>
            <a:srgbClr val="FFFFFF"/>
          </a:solidFill>
          <a:ln w="38100">
            <a:solidFill>
              <a:srgbClr val="FF5DA2"/>
            </a:solidFill>
          </a:ln>
        </p:spPr>
        <p:txBody>
          <a:bodyPr wrap="square" lIns="0" tIns="127000" rIns="127000" bIns="0" rtlCol="0" anchor="ctr"/>
          <a:lstStyle/>
          <a:p>
            <a:pPr indent="0" marL="0">
              <a:buNone/>
            </a:pPr>
            <a:r>
              <a:rPr lang="en-US" sz="1450" dirty="0">
                <a:solidFill>
                  <a:srgbClr val="C2185B"/>
                </a:solidFill>
                <a:latin typeface="Arial Rounded MT Bold" pitchFamily="34" charset="0"/>
                <a:ea typeface="Arial Rounded MT Bold" pitchFamily="34" charset="-122"/>
                <a:cs typeface="Arial Rounded MT Bold" pitchFamily="34" charset="-120"/>
              </a:rPr>
              <a:t>👧 </a:t>
            </a:r>
            <a:pPr indent="0" marL="0">
              <a:buNone/>
            </a:pPr>
            <a:r>
              <a:rPr lang="en-US" sz="1450" dirty="0">
                <a:solidFill>
                  <a:srgbClr val="C2185B"/>
                </a:solidFill>
                <a:latin typeface="Arial Rounded MT Bold" pitchFamily="34" charset="0"/>
                <a:ea typeface="Arial Rounded MT Bold" pitchFamily="34" charset="-122"/>
                <a:cs typeface="Arial Rounded MT Bold" pitchFamily="34" charset="-120"/>
              </a:rPr>
              <a:t>How old are you? How old are you?</a:t>
            </a:r>
            <a:endParaRPr lang="en-US" sz="1450" dirty="0"/>
          </a:p>
        </p:txBody>
      </p:sp>
      <p:sp>
        <p:nvSpPr>
          <p:cNvPr id="18" name="R6_cl205"/>
          <p:cNvSpPr/>
          <p:nvPr/>
        </p:nvSpPr>
        <p:spPr>
          <a:xfrm>
            <a:off x="320040" y="4137660"/>
            <a:ext cx="7132320" cy="361188"/>
          </a:xfrm>
          <a:prstGeom prst="roundRect">
            <a:avLst>
              <a:gd name="adj" fmla="val 30380"/>
            </a:avLst>
          </a:prstGeom>
          <a:solidFill>
            <a:srgbClr val="FFFFFF"/>
          </a:solidFill>
          <a:ln w="38100">
            <a:solidFill>
              <a:srgbClr val="2F9BFF"/>
            </a:solidFill>
          </a:ln>
        </p:spPr>
        <p:txBody>
          <a:bodyPr wrap="square" lIns="0" tIns="127000" rIns="127000" bIns="0" rtlCol="0" anchor="ctr"/>
          <a:lstStyle/>
          <a:p>
            <a:pPr indent="0" marL="0">
              <a:buNone/>
            </a:pPr>
            <a:r>
              <a:rPr lang="en-US" sz="1450" dirty="0">
                <a:solidFill>
                  <a:srgbClr val="1565C0"/>
                </a:solidFill>
                <a:latin typeface="Arial Rounded MT Bold" pitchFamily="34" charset="0"/>
                <a:ea typeface="Arial Rounded MT Bold" pitchFamily="34" charset="-122"/>
                <a:cs typeface="Arial Rounded MT Bold" pitchFamily="34" charset="-120"/>
              </a:rPr>
              <a:t>👦 </a:t>
            </a:r>
            <a:pPr indent="0" marL="0">
              <a:buNone/>
            </a:pPr>
            <a:r>
              <a:rPr lang="en-US" sz="1450" dirty="0">
                <a:solidFill>
                  <a:srgbClr val="1565C0"/>
                </a:solidFill>
                <a:latin typeface="Arial Rounded MT Bold" pitchFamily="34" charset="0"/>
                <a:ea typeface="Arial Rounded MT Bold" pitchFamily="34" charset="-122"/>
                <a:cs typeface="Arial Rounded MT Bold" pitchFamily="34" charset="-120"/>
              </a:rPr>
              <a:t>I'm seven! ✋✌️</a:t>
            </a:r>
            <a:endParaRPr lang="en-US" sz="1450" dirty="0"/>
          </a:p>
        </p:txBody>
      </p:sp>
      <p:sp>
        <p:nvSpPr>
          <p:cNvPr id="19" name="bk_206"/>
          <p:cNvSpPr/>
          <p:nvPr/>
        </p:nvSpPr>
        <p:spPr>
          <a:xfrm>
            <a:off x="228600" y="4681728"/>
            <a:ext cx="4668012"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 · 🎧 1.03 (book CD) · 🎬 chant video</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0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WATCH OUT 🇮🇹</a:t>
            </a:r>
            <a:endParaRPr lang="en-US" sz="1600" dirty="0"/>
          </a:p>
        </p:txBody>
      </p:sp>
      <p:sp>
        <p:nvSpPr>
          <p:cNvPr id="4" name="bm_208"/>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8A3D"/>
                </a:solidFill>
                <a:latin typeface="Arial Black" pitchFamily="34" charset="0"/>
                <a:ea typeface="Arial Black" pitchFamily="34" charset="-122"/>
                <a:cs typeface="Arial Black" pitchFamily="34" charset="-120"/>
              </a:rPr>
              <a:t>Italian trap!</a:t>
            </a:r>
            <a:endParaRPr lang="en-US" sz="2700" dirty="0"/>
          </a:p>
        </p:txBody>
      </p:sp>
      <p:sp>
        <p:nvSpPr>
          <p:cNvPr id="5" name="in_209"/>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Ho nove anni = ? Think! Then click.</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Come si dice? Pensa! Poi clicca.</a:t>
            </a:r>
            <a:endParaRPr lang="en-US" sz="1400" dirty="0"/>
          </a:p>
        </p:txBody>
      </p:sp>
      <p:sp>
        <p:nvSpPr>
          <p:cNvPr id="6" name="mode_210"/>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2 MIN</a:t>
            </a:r>
            <a:endParaRPr lang="en-US" sz="1000" dirty="0"/>
          </a:p>
        </p:txBody>
      </p:sp>
      <p:sp>
        <p:nvSpPr>
          <p:cNvPr id="7" name="gb_211"/>
          <p:cNvSpPr/>
          <p:nvPr/>
        </p:nvSpPr>
        <p:spPr>
          <a:xfrm>
            <a:off x="320040" y="1280160"/>
            <a:ext cx="8503920" cy="841248"/>
          </a:xfrm>
          <a:prstGeom prst="roundRect">
            <a:avLst>
              <a:gd name="adj" fmla="val 13043"/>
            </a:avLst>
          </a:prstGeom>
          <a:solidFill>
            <a:srgbClr val="FFF1E0"/>
          </a:solidFill>
          <a:ln w="38100">
            <a:solidFill>
              <a:srgbClr val="FF8A3D"/>
            </a:solidFill>
            <a:prstDash val="solid"/>
          </a:ln>
        </p:spPr>
      </p:sp>
      <p:sp>
        <p:nvSpPr>
          <p:cNvPr id="8" name="gl_212"/>
          <p:cNvSpPr/>
          <p:nvPr/>
        </p:nvSpPr>
        <p:spPr>
          <a:xfrm>
            <a:off x="548640" y="1417320"/>
            <a:ext cx="7223760" cy="365760"/>
          </a:xfrm>
          <a:prstGeom prst="rect">
            <a:avLst/>
          </a:prstGeom>
          <a:noFill/>
          <a:ln/>
        </p:spPr>
        <p:txBody>
          <a:bodyPr wrap="square" lIns="0" tIns="0" rIns="0" bIns="0" rtlCol="0" anchor="ctr"/>
          <a:lstStyle/>
          <a:p>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Ho nove anni.</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  🇬🇧 ???</a:t>
            </a:r>
            <a:endParaRPr lang="en-US" sz="1500" dirty="0"/>
          </a:p>
        </p:txBody>
      </p:sp>
      <p:sp>
        <p:nvSpPr>
          <p:cNvPr id="9" name="pq_213"/>
          <p:cNvSpPr/>
          <p:nvPr/>
        </p:nvSpPr>
        <p:spPr>
          <a:xfrm>
            <a:off x="365760" y="2258568"/>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I have nine years. ✗  What do we say?</a:t>
            </a:r>
            <a:endParaRPr lang="en-US" sz="1300" dirty="0"/>
          </a:p>
        </p:txBody>
      </p:sp>
      <p:sp>
        <p:nvSpPr>
          <p:cNvPr id="10" name="R1_pa214"/>
          <p:cNvSpPr/>
          <p:nvPr/>
        </p:nvSpPr>
        <p:spPr>
          <a:xfrm>
            <a:off x="6126480" y="2258568"/>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I'm nine! ✓</a:t>
            </a:r>
            <a:endParaRPr lang="en-US" sz="1300" dirty="0"/>
          </a:p>
        </p:txBody>
      </p:sp>
      <p:sp>
        <p:nvSpPr>
          <p:cNvPr id="11" name="pq_215"/>
          <p:cNvSpPr/>
          <p:nvPr/>
        </p:nvSpPr>
        <p:spPr>
          <a:xfrm>
            <a:off x="365760" y="2715768"/>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How many years have you? ✗</a:t>
            </a:r>
            <a:endParaRPr lang="en-US" sz="1300" dirty="0"/>
          </a:p>
        </p:txBody>
      </p:sp>
      <p:sp>
        <p:nvSpPr>
          <p:cNvPr id="12" name="R2_pa216"/>
          <p:cNvSpPr/>
          <p:nvPr/>
        </p:nvSpPr>
        <p:spPr>
          <a:xfrm>
            <a:off x="6126480" y="2715768"/>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How old are you? ✓</a:t>
            </a:r>
            <a:endParaRPr lang="en-US" sz="1300" dirty="0"/>
          </a:p>
        </p:txBody>
      </p:sp>
      <p:sp>
        <p:nvSpPr>
          <p:cNvPr id="13" name="pq_217"/>
          <p:cNvSpPr/>
          <p:nvPr/>
        </p:nvSpPr>
        <p:spPr>
          <a:xfrm>
            <a:off x="365760" y="3172968"/>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My brother has twelve years. ✗</a:t>
            </a:r>
            <a:endParaRPr lang="en-US" sz="1300" dirty="0"/>
          </a:p>
        </p:txBody>
      </p:sp>
      <p:sp>
        <p:nvSpPr>
          <p:cNvPr id="14" name="R3_pa218"/>
          <p:cNvSpPr/>
          <p:nvPr/>
        </p:nvSpPr>
        <p:spPr>
          <a:xfrm>
            <a:off x="6126480" y="3172968"/>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My brother is twelve. ✓</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1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SPEAK 3</a:t>
            </a:r>
            <a:endParaRPr lang="en-US" sz="1600" dirty="0"/>
          </a:p>
        </p:txBody>
      </p:sp>
      <p:sp>
        <p:nvSpPr>
          <p:cNvPr id="4" name="bm_220"/>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Ask and answer</a:t>
            </a:r>
            <a:endParaRPr lang="en-US" sz="2700" dirty="0"/>
          </a:p>
        </p:txBody>
      </p:sp>
      <p:sp>
        <p:nvSpPr>
          <p:cNvPr id="5" name="in_221"/>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answer. Then ask a friend.</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rispondi. Poi chiedi a un compagno.</a:t>
            </a:r>
            <a:endParaRPr lang="en-US" sz="1400" dirty="0"/>
          </a:p>
        </p:txBody>
      </p:sp>
      <p:sp>
        <p:nvSpPr>
          <p:cNvPr id="6" name="mode_222"/>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6 MIN</a:t>
            </a:r>
            <a:endParaRPr lang="en-US" sz="1000" dirty="0"/>
          </a:p>
        </p:txBody>
      </p:sp>
      <p:sp>
        <p:nvSpPr>
          <p:cNvPr id="7" name="diff_223"/>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I'm … · I live in …</a:t>
            </a:r>
            <a:endParaRPr lang="en-US" sz="950" dirty="0"/>
          </a:p>
        </p:txBody>
      </p:sp>
      <p:sp>
        <p:nvSpPr>
          <p:cNvPr id="8" name="diff_224"/>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Ask about a friend!</a:t>
            </a:r>
            <a:endParaRPr lang="en-US" sz="950" dirty="0"/>
          </a:p>
        </p:txBody>
      </p:sp>
      <p:sp>
        <p:nvSpPr>
          <p:cNvPr id="9" name="pf_225"/>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pic_226" descr="/home/claude/movers/img/crop/s-p4-jimjenny.jpg">    </p:cNvPr>
          <p:cNvPicPr>
            <a:picLocks noChangeAspect="1"/>
          </p:cNvPicPr>
          <p:nvPr/>
        </p:nvPicPr>
        <p:blipFill>
          <a:blip r:embed="rId2"/>
          <a:stretch>
            <a:fillRect/>
          </a:stretch>
        </p:blipFill>
        <p:spPr>
          <a:xfrm>
            <a:off x="365760" y="1555268"/>
            <a:ext cx="5120640" cy="2787343"/>
          </a:xfrm>
          <a:prstGeom prst="rect">
            <a:avLst/>
          </a:prstGeom>
        </p:spPr>
      </p:pic>
      <p:sp>
        <p:nvSpPr>
          <p:cNvPr id="11" name="q_227"/>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What's your name?</a:t>
            </a:r>
            <a:endParaRPr lang="en-US" sz="1250" dirty="0"/>
          </a:p>
        </p:txBody>
      </p:sp>
      <p:sp>
        <p:nvSpPr>
          <p:cNvPr id="12" name="R1_a228"/>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My name's …</a:t>
            </a:r>
            <a:endParaRPr lang="en-US" sz="1250" dirty="0"/>
          </a:p>
        </p:txBody>
      </p:sp>
      <p:sp>
        <p:nvSpPr>
          <p:cNvPr id="13" name="q_229"/>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How are you?</a:t>
            </a:r>
            <a:endParaRPr lang="en-US" sz="1250" dirty="0"/>
          </a:p>
        </p:txBody>
      </p:sp>
      <p:sp>
        <p:nvSpPr>
          <p:cNvPr id="14" name="R2_a230"/>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I'm fine, thank you.</a:t>
            </a:r>
            <a:endParaRPr lang="en-US" sz="1250" dirty="0"/>
          </a:p>
        </p:txBody>
      </p:sp>
      <p:sp>
        <p:nvSpPr>
          <p:cNvPr id="15" name="q_231"/>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How old are you?</a:t>
            </a:r>
            <a:endParaRPr lang="en-US" sz="1250" dirty="0"/>
          </a:p>
        </p:txBody>
      </p:sp>
      <p:sp>
        <p:nvSpPr>
          <p:cNvPr id="16" name="R3_a232"/>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I'm nine. (NOT I have…!)</a:t>
            </a:r>
            <a:endParaRPr lang="en-US" sz="1250" dirty="0"/>
          </a:p>
        </p:txBody>
      </p:sp>
      <p:sp>
        <p:nvSpPr>
          <p:cNvPr id="17" name="q_233"/>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Where do you live?</a:t>
            </a:r>
            <a:endParaRPr lang="en-US" sz="1250" dirty="0"/>
          </a:p>
        </p:txBody>
      </p:sp>
      <p:sp>
        <p:nvSpPr>
          <p:cNvPr id="18" name="R4_a234"/>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 live in Bagheria.</a:t>
            </a:r>
            <a:endParaRPr lang="en-US" sz="1250" dirty="0"/>
          </a:p>
        </p:txBody>
      </p:sp>
      <p:sp>
        <p:nvSpPr>
          <p:cNvPr id="19" name="bk_235"/>
          <p:cNvSpPr/>
          <p:nvPr/>
        </p:nvSpPr>
        <p:spPr>
          <a:xfrm>
            <a:off x="228600" y="4681728"/>
            <a:ext cx="256946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 · 🎧 1.04</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36"/>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SONG</a:t>
            </a:r>
            <a:endParaRPr lang="en-US" sz="1600" dirty="0"/>
          </a:p>
        </p:txBody>
      </p:sp>
      <p:sp>
        <p:nvSpPr>
          <p:cNvPr id="4" name="bm_237"/>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5DA2"/>
                </a:solidFill>
                <a:latin typeface="Arial Black" pitchFamily="34" charset="0"/>
                <a:ea typeface="Arial Black" pitchFamily="34" charset="-122"/>
                <a:cs typeface="Arial Black" pitchFamily="34" charset="-120"/>
              </a:rPr>
              <a:t>The Friendly Farm song</a:t>
            </a:r>
            <a:endParaRPr lang="en-US" sz="2400" dirty="0"/>
          </a:p>
        </p:txBody>
      </p:sp>
      <p:sp>
        <p:nvSpPr>
          <p:cNvPr id="5" name="in_238"/>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sing and tap the rhythm!</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canta e batti il ritmo!</a:t>
            </a:r>
            <a:endParaRPr lang="en-US" sz="1400" dirty="0"/>
          </a:p>
        </p:txBody>
      </p:sp>
      <p:sp>
        <p:nvSpPr>
          <p:cNvPr id="6" name="mode_239"/>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SING · ⏱ 3 MIN</a:t>
            </a:r>
            <a:endParaRPr lang="en-US" sz="1000" dirty="0"/>
          </a:p>
        </p:txBody>
      </p:sp>
      <p:sp>
        <p:nvSpPr>
          <p:cNvPr id="7" name="pf_240"/>
          <p:cNvSpPr/>
          <p:nvPr/>
        </p:nvSpPr>
        <p:spPr>
          <a:xfrm>
            <a:off x="310896" y="1271016"/>
            <a:ext cx="4041648" cy="3218688"/>
          </a:xfrm>
          <a:prstGeom prst="roundRect">
            <a:avLst>
              <a:gd name="adj" fmla="val 284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41" descr="/home/claude/movers/img/crop/s-p4-scene.jpg">    </p:cNvPr>
          <p:cNvPicPr>
            <a:picLocks noChangeAspect="1"/>
          </p:cNvPicPr>
          <p:nvPr/>
        </p:nvPicPr>
        <p:blipFill>
          <a:blip r:embed="rId2"/>
          <a:stretch>
            <a:fillRect/>
          </a:stretch>
        </p:blipFill>
        <p:spPr>
          <a:xfrm>
            <a:off x="580102" y="1325880"/>
            <a:ext cx="3503236" cy="3108960"/>
          </a:xfrm>
          <a:prstGeom prst="rect">
            <a:avLst/>
          </a:prstGeom>
        </p:spPr>
      </p:pic>
      <p:sp>
        <p:nvSpPr>
          <p:cNvPr id="9" name="lk_242"/>
          <p:cNvSpPr/>
          <p:nvPr/>
        </p:nvSpPr>
        <p:spPr>
          <a:xfrm>
            <a:off x="4572000" y="1371600"/>
            <a:ext cx="4297680" cy="475488"/>
          </a:xfrm>
          <a:prstGeom prst="roundRect">
            <a:avLst>
              <a:gd name="adj" fmla="val 26923"/>
            </a:avLst>
          </a:prstGeom>
          <a:solidFill>
            <a:srgbClr val="FFFFFF"/>
          </a:solidFill>
          <a:ln w="31750">
            <a:solidFill>
              <a:srgbClr val="F2545B"/>
            </a:solidFill>
          </a:ln>
        </p:spPr>
        <p:txBody>
          <a:bodyPr wrap="square" lIns="101600" tIns="101600" rIns="101600" bIns="101600" rtlCol="0" anchor="ctr"/>
          <a:lstStyle/>
          <a:p>
            <a:pPr indent="0" marL="0">
              <a:buNone/>
            </a:pPr>
            <a:r>
              <a:rPr lang="en-US" sz="1300" u="sng" dirty="0">
                <a:solidFill>
                  <a:srgbClr val="F2545B"/>
                </a:solidFill>
                <a:latin typeface="Arial Rounded MT Bold" pitchFamily="34" charset="0"/>
                <a:ea typeface="Arial Rounded MT Bold" pitchFamily="34" charset="-122"/>
                <a:cs typeface="Arial Rounded MT Bold" pitchFamily="34" charset="-120"/>
                <a:hlinkClick r:id="rId3" invalidUrl="" action="" tgtFrame="" tooltip="https://www.youtube.com/results?search_query=power+up+3+friendly+farm+song" history="1" highlightClick="0" endSnd="0">
                  <a:extLst>
                    <a:ext uri="{A12FA001-AC4F-418D-AE19-62706E023703}">
                      <ahyp:hlinkClr xmlns:ahyp="http://schemas.microsoft.com/office/drawing/2018/hyperlinkcolor" val="tx"/>
                    </a:ext>
                  </a:extLst>
                </a:hlinkClick>
              </a:rPr>
              <a:t>▶  Power Up 3 – Friendly Farm song (search)</a:t>
            </a:r>
            <a:endParaRPr lang="en-US" sz="1300" dirty="0"/>
          </a:p>
        </p:txBody>
      </p:sp>
      <p:sp>
        <p:nvSpPr>
          <p:cNvPr id="10" name="vl_243"/>
          <p:cNvSpPr/>
          <p:nvPr/>
        </p:nvSpPr>
        <p:spPr>
          <a:xfrm>
            <a:off x="4572000" y="2029968"/>
            <a:ext cx="4297680" cy="1463040"/>
          </a:xfrm>
          <a:prstGeom prst="rect">
            <a:avLst/>
          </a:prstGeom>
          <a:noFill/>
          <a:ln/>
        </p:spPr>
        <p:txBody>
          <a:bodyPr wrap="square" lIns="50800" tIns="50800" rIns="50800" bIns="50800" rtlCol="0" anchor="t"/>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The Friendly Farm, the Friendly Farm,</a:t>
            </a:r>
            <a:endParaRPr lang="en-US" sz="1300" dirty="0"/>
          </a:p>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Fun and games on the Friendly Farm,</a:t>
            </a:r>
            <a:endParaRPr lang="en-US" sz="1300" dirty="0"/>
          </a:p>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With the animals in the barn,</a:t>
            </a:r>
            <a:endParaRPr lang="en-US" sz="1300" dirty="0"/>
          </a:p>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Fun and games on the Friendly Farm.</a:t>
            </a:r>
            <a:endParaRPr lang="en-US" sz="1300" dirty="0"/>
          </a:p>
        </p:txBody>
      </p:sp>
      <p:sp>
        <p:nvSpPr>
          <p:cNvPr id="11" name="disc_244"/>
          <p:cNvSpPr/>
          <p:nvPr/>
        </p:nvSpPr>
        <p:spPr>
          <a:xfrm>
            <a:off x="4572000" y="4251960"/>
            <a:ext cx="4297680" cy="365760"/>
          </a:xfrm>
          <a:prstGeom prst="rect">
            <a:avLst/>
          </a:prstGeom>
          <a:noFill/>
          <a:ln/>
        </p:spPr>
        <p:txBody>
          <a:bodyPr wrap="square" lIns="0" tIns="0" rIns="0" bIns="0" rtlCol="0" anchor="ctr"/>
          <a:lstStyle/>
          <a:p>
            <a:pPr indent="0" marL="0">
              <a:buNone/>
            </a:pPr>
            <a:r>
              <a:rPr lang="en-US" sz="900" i="1" dirty="0">
                <a:solidFill>
                  <a:srgbClr val="1E2A5A"/>
                </a:solidFill>
                <a:latin typeface="Arial" pitchFamily="34" charset="0"/>
                <a:ea typeface="Arial" pitchFamily="34" charset="-122"/>
                <a:cs typeface="Arial" pitchFamily="34" charset="-120"/>
              </a:rPr>
              <a:t>Teacher: preview every link before class (ads, content). The lesson works without it. · Controllare i link prima della lezione.</a:t>
            </a:r>
            <a:endParaRPr lang="en-US" sz="900" dirty="0"/>
          </a:p>
        </p:txBody>
      </p:sp>
      <p:sp>
        <p:nvSpPr>
          <p:cNvPr id="12" name="bk_245"/>
          <p:cNvSpPr/>
          <p:nvPr/>
        </p:nvSpPr>
        <p:spPr>
          <a:xfrm>
            <a:off x="228600" y="4681728"/>
            <a:ext cx="41239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p.5 · 🎧 1.05 (song at the start)</a:t>
            </a:r>
            <a:endParaRPr lang="en-US" sz="11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6"/>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247"/>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The Friendly Farm (1)</a:t>
            </a:r>
            <a:endParaRPr lang="en-US" sz="2400" dirty="0"/>
          </a:p>
        </p:txBody>
      </p:sp>
      <p:sp>
        <p:nvSpPr>
          <p:cNvPr id="5" name="in_248"/>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Who's in Harry's picture? Guess!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Chi c'è nella foto di Harry? Indovina!</a:t>
            </a:r>
            <a:endParaRPr lang="en-US" sz="1400" dirty="0"/>
          </a:p>
        </p:txBody>
      </p:sp>
      <p:sp>
        <p:nvSpPr>
          <p:cNvPr id="6" name="mode_249"/>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5 MIN</a:t>
            </a:r>
            <a:endParaRPr lang="en-US" sz="1000" dirty="0"/>
          </a:p>
        </p:txBody>
      </p:sp>
      <p:sp>
        <p:nvSpPr>
          <p:cNvPr id="7" name="pf_250"/>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51" descr="/home/claude/movers/img/crop/s-p5-story14.jpg">    </p:cNvPr>
          <p:cNvPicPr>
            <a:picLocks noChangeAspect="1"/>
          </p:cNvPicPr>
          <p:nvPr/>
        </p:nvPicPr>
        <p:blipFill>
          <a:blip r:embed="rId2"/>
          <a:stretch>
            <a:fillRect/>
          </a:stretch>
        </p:blipFill>
        <p:spPr>
          <a:xfrm>
            <a:off x="679671" y="1325880"/>
            <a:ext cx="4492818" cy="3246120"/>
          </a:xfrm>
          <a:prstGeom prst="rect">
            <a:avLst/>
          </a:prstGeom>
        </p:spPr>
      </p:pic>
      <p:sp>
        <p:nvSpPr>
          <p:cNvPr id="9" name="q_252"/>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Who's in the photo? (pic 1)</a:t>
            </a:r>
            <a:endParaRPr lang="en-US" sz="1250" dirty="0"/>
          </a:p>
        </p:txBody>
      </p:sp>
      <p:sp>
        <p:nvSpPr>
          <p:cNvPr id="10" name="R1_a253"/>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Shelly's sister.</a:t>
            </a:r>
            <a:endParaRPr lang="en-US" sz="1250" dirty="0"/>
          </a:p>
        </p:txBody>
      </p:sp>
      <p:sp>
        <p:nvSpPr>
          <p:cNvPr id="11" name="q_254"/>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How old is Shelly's sister?</a:t>
            </a:r>
            <a:endParaRPr lang="en-US" sz="1250" dirty="0"/>
          </a:p>
        </p:txBody>
      </p:sp>
      <p:sp>
        <p:nvSpPr>
          <p:cNvPr id="12" name="R2_a255"/>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She's five.</a:t>
            </a:r>
            <a:endParaRPr lang="en-US" sz="1250" dirty="0"/>
          </a:p>
        </p:txBody>
      </p:sp>
      <p:sp>
        <p:nvSpPr>
          <p:cNvPr id="13" name="q_256"/>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Who's in Harry's picture? (pic 3)</a:t>
            </a:r>
            <a:endParaRPr lang="en-US" sz="1250" dirty="0"/>
          </a:p>
        </p:txBody>
      </p:sp>
      <p:sp>
        <p:nvSpPr>
          <p:cNvPr id="14" name="R3_a257"/>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His father.</a:t>
            </a:r>
            <a:endParaRPr lang="en-US" sz="1250" dirty="0"/>
          </a:p>
        </p:txBody>
      </p:sp>
      <p:sp>
        <p:nvSpPr>
          <p:cNvPr id="15" name="q_258"/>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Has Harry's father got short hair?</a:t>
            </a:r>
            <a:endParaRPr lang="en-US" sz="1250" dirty="0"/>
          </a:p>
        </p:txBody>
      </p:sp>
      <p:sp>
        <p:nvSpPr>
          <p:cNvPr id="16" name="R4_a259"/>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No, long hair. He's happy.</a:t>
            </a:r>
            <a:endParaRPr lang="en-US" sz="1250" dirty="0"/>
          </a:p>
        </p:txBody>
      </p:sp>
      <p:sp>
        <p:nvSpPr>
          <p:cNvPr id="17" name="bk_260"/>
          <p:cNvSpPr/>
          <p:nvPr/>
        </p:nvSpPr>
        <p:spPr>
          <a:xfrm>
            <a:off x="228600" y="4681728"/>
            <a:ext cx="342442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p.5 · 🎧 1.05 · 🎬 video</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6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262"/>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The Friendly Farm (2)</a:t>
            </a:r>
            <a:endParaRPr lang="en-US" sz="2400" dirty="0"/>
          </a:p>
        </p:txBody>
      </p:sp>
      <p:sp>
        <p:nvSpPr>
          <p:cNvPr id="5" name="in_263"/>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Who's sleeping? Who's singing?</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Chi dorme? Chi canta?</a:t>
            </a:r>
            <a:endParaRPr lang="en-US" sz="1400" dirty="0"/>
          </a:p>
        </p:txBody>
      </p:sp>
      <p:sp>
        <p:nvSpPr>
          <p:cNvPr id="6" name="mode_264"/>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3 MIN</a:t>
            </a:r>
            <a:endParaRPr lang="en-US" sz="1000" dirty="0"/>
          </a:p>
        </p:txBody>
      </p:sp>
      <p:sp>
        <p:nvSpPr>
          <p:cNvPr id="7" name="pf_265"/>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66" descr="/home/claude/movers/img/crop/s-p5-story56.jpg">    </p:cNvPr>
          <p:cNvPicPr>
            <a:picLocks noChangeAspect="1"/>
          </p:cNvPicPr>
          <p:nvPr/>
        </p:nvPicPr>
        <p:blipFill>
          <a:blip r:embed="rId2"/>
          <a:stretch>
            <a:fillRect/>
          </a:stretch>
        </p:blipFill>
        <p:spPr>
          <a:xfrm>
            <a:off x="365760" y="1970388"/>
            <a:ext cx="5120640" cy="1957103"/>
          </a:xfrm>
          <a:prstGeom prst="rect">
            <a:avLst/>
          </a:prstGeom>
        </p:spPr>
      </p:pic>
      <p:sp>
        <p:nvSpPr>
          <p:cNvPr id="9" name="q_267"/>
          <p:cNvSpPr/>
          <p:nvPr/>
        </p:nvSpPr>
        <p:spPr>
          <a:xfrm>
            <a:off x="5760720" y="132588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Who's sleeping? (pic 5)</a:t>
            </a:r>
            <a:endParaRPr lang="en-US" sz="1250" dirty="0"/>
          </a:p>
        </p:txBody>
      </p:sp>
      <p:sp>
        <p:nvSpPr>
          <p:cNvPr id="10" name="R1_a268"/>
          <p:cNvSpPr/>
          <p:nvPr/>
        </p:nvSpPr>
        <p:spPr>
          <a:xfrm>
            <a:off x="5989320" y="177759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Henrietta – Rocky's mum.</a:t>
            </a:r>
            <a:endParaRPr lang="en-US" sz="1250" dirty="0"/>
          </a:p>
        </p:txBody>
      </p:sp>
      <p:sp>
        <p:nvSpPr>
          <p:cNvPr id="11" name="q_269"/>
          <p:cNvSpPr/>
          <p:nvPr/>
        </p:nvSpPr>
        <p:spPr>
          <a:xfrm>
            <a:off x="5760720" y="219456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Who's singing? (pic 6)</a:t>
            </a:r>
            <a:endParaRPr lang="en-US" sz="1250" dirty="0"/>
          </a:p>
        </p:txBody>
      </p:sp>
      <p:sp>
        <p:nvSpPr>
          <p:cNvPr id="12" name="R2_a270"/>
          <p:cNvSpPr/>
          <p:nvPr/>
        </p:nvSpPr>
        <p:spPr>
          <a:xfrm>
            <a:off x="5989320" y="264627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Shelly.</a:t>
            </a:r>
            <a:endParaRPr lang="en-US" sz="1250" dirty="0"/>
          </a:p>
        </p:txBody>
      </p:sp>
      <p:sp>
        <p:nvSpPr>
          <p:cNvPr id="13" name="q_271"/>
          <p:cNvSpPr/>
          <p:nvPr/>
        </p:nvSpPr>
        <p:spPr>
          <a:xfrm>
            <a:off x="5760720" y="306324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Is her singing nice?</a:t>
            </a:r>
            <a:endParaRPr lang="en-US" sz="1250" dirty="0"/>
          </a:p>
        </p:txBody>
      </p:sp>
      <p:sp>
        <p:nvSpPr>
          <p:cNvPr id="14" name="R3_a272"/>
          <p:cNvSpPr/>
          <p:nvPr/>
        </p:nvSpPr>
        <p:spPr>
          <a:xfrm>
            <a:off x="5989320" y="351495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No! 🙉</a:t>
            </a:r>
            <a:endParaRPr lang="en-US" sz="1250" dirty="0"/>
          </a:p>
        </p:txBody>
      </p:sp>
      <p:sp>
        <p:nvSpPr>
          <p:cNvPr id="15" name="bk_273"/>
          <p:cNvSpPr/>
          <p:nvPr/>
        </p:nvSpPr>
        <p:spPr>
          <a:xfrm>
            <a:off x="228600" y="4681728"/>
            <a:ext cx="342442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p.5 · 🎧 1.05 · 🎬 video</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7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LISTEN 4</a:t>
            </a:r>
            <a:endParaRPr lang="en-US" sz="1600" dirty="0"/>
          </a:p>
        </p:txBody>
      </p:sp>
      <p:sp>
        <p:nvSpPr>
          <p:cNvPr id="4" name="bm_27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Who says it? (1)</a:t>
            </a:r>
            <a:endParaRPr lang="en-US" sz="2700" dirty="0"/>
          </a:p>
        </p:txBody>
      </p:sp>
      <p:sp>
        <p:nvSpPr>
          <p:cNvPr id="5" name="in_27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Point to the animal!</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Indica l'animale!</a:t>
            </a:r>
            <a:endParaRPr lang="en-US" sz="1400" dirty="0"/>
          </a:p>
        </p:txBody>
      </p:sp>
      <p:sp>
        <p:nvSpPr>
          <p:cNvPr id="6" name="mode_27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3 MIN</a:t>
            </a:r>
            <a:endParaRPr lang="en-US" sz="1000" dirty="0"/>
          </a:p>
        </p:txBody>
      </p:sp>
      <p:sp>
        <p:nvSpPr>
          <p:cNvPr id="7" name="pf_278"/>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79" descr="/home/claude/movers/img/crop/s-p5-story.jpg">    </p:cNvPr>
          <p:cNvPicPr>
            <a:picLocks noChangeAspect="1"/>
          </p:cNvPicPr>
          <p:nvPr/>
        </p:nvPicPr>
        <p:blipFill>
          <a:blip r:embed="rId2"/>
          <a:stretch>
            <a:fillRect/>
          </a:stretch>
        </p:blipFill>
        <p:spPr>
          <a:xfrm>
            <a:off x="1550007" y="1325880"/>
            <a:ext cx="2752145" cy="3246120"/>
          </a:xfrm>
          <a:prstGeom prst="rect">
            <a:avLst/>
          </a:prstGeom>
        </p:spPr>
      </p:pic>
      <p:sp>
        <p:nvSpPr>
          <p:cNvPr id="9" name="q_280"/>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“How old is she?”</a:t>
            </a:r>
            <a:endParaRPr lang="en-US" sz="1250" dirty="0"/>
          </a:p>
        </p:txBody>
      </p:sp>
      <p:sp>
        <p:nvSpPr>
          <p:cNvPr id="10" name="R1_a281"/>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Harry 🐴</a:t>
            </a:r>
            <a:endParaRPr lang="en-US" sz="1250" dirty="0"/>
          </a:p>
        </p:txBody>
      </p:sp>
      <p:sp>
        <p:nvSpPr>
          <p:cNvPr id="11" name="q_282"/>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 … is … that?”</a:t>
            </a:r>
            <a:endParaRPr lang="en-US" sz="1250" dirty="0"/>
          </a:p>
        </p:txBody>
      </p:sp>
      <p:sp>
        <p:nvSpPr>
          <p:cNvPr id="12" name="R2_a283"/>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Henrietta 🐔</a:t>
            </a:r>
            <a:endParaRPr lang="en-US" sz="1250" dirty="0"/>
          </a:p>
        </p:txBody>
      </p:sp>
      <p:sp>
        <p:nvSpPr>
          <p:cNvPr id="13" name="q_284"/>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 like eating paper and books.”</a:t>
            </a:r>
            <a:endParaRPr lang="en-US" sz="1250" dirty="0"/>
          </a:p>
        </p:txBody>
      </p:sp>
      <p:sp>
        <p:nvSpPr>
          <p:cNvPr id="14" name="R3_a285"/>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Gracie 🐐</a:t>
            </a:r>
            <a:endParaRPr lang="en-US" sz="1250" dirty="0"/>
          </a:p>
        </p:txBody>
      </p:sp>
      <p:sp>
        <p:nvSpPr>
          <p:cNvPr id="15" name="q_286"/>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“That's a photo of Shelly's sister.”</a:t>
            </a:r>
            <a:endParaRPr lang="en-US" sz="1250" dirty="0"/>
          </a:p>
        </p:txBody>
      </p:sp>
      <p:sp>
        <p:nvSpPr>
          <p:cNvPr id="16" name="R4_a287"/>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Rocky 🐓</a:t>
            </a:r>
            <a:endParaRPr lang="en-US" sz="1250" dirty="0"/>
          </a:p>
        </p:txBody>
      </p:sp>
      <p:sp>
        <p:nvSpPr>
          <p:cNvPr id="17" name="bk_288"/>
          <p:cNvSpPr/>
          <p:nvPr/>
        </p:nvSpPr>
        <p:spPr>
          <a:xfrm>
            <a:off x="228600" y="4681728"/>
            <a:ext cx="256946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p.5 · 🎧 1.06</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8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LISTEN 4</a:t>
            </a:r>
            <a:endParaRPr lang="en-US" sz="1600" dirty="0"/>
          </a:p>
        </p:txBody>
      </p:sp>
      <p:sp>
        <p:nvSpPr>
          <p:cNvPr id="4" name="bm_290"/>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Who says it? (2)</a:t>
            </a:r>
            <a:endParaRPr lang="en-US" sz="2700" dirty="0"/>
          </a:p>
        </p:txBody>
      </p:sp>
      <p:sp>
        <p:nvSpPr>
          <p:cNvPr id="5" name="in_291"/>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Point to the animal!</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Indica l'animale!</a:t>
            </a:r>
            <a:endParaRPr lang="en-US" sz="1400" dirty="0"/>
          </a:p>
        </p:txBody>
      </p:sp>
      <p:sp>
        <p:nvSpPr>
          <p:cNvPr id="6" name="mode_292"/>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2 MIN</a:t>
            </a:r>
            <a:endParaRPr lang="en-US" sz="1000" dirty="0"/>
          </a:p>
        </p:txBody>
      </p:sp>
      <p:sp>
        <p:nvSpPr>
          <p:cNvPr id="7" name="pf_293"/>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94" descr="/home/claude/movers/img/crop/s-p5-story.jpg">    </p:cNvPr>
          <p:cNvPicPr>
            <a:picLocks noChangeAspect="1"/>
          </p:cNvPicPr>
          <p:nvPr/>
        </p:nvPicPr>
        <p:blipFill>
          <a:blip r:embed="rId2"/>
          <a:stretch>
            <a:fillRect/>
          </a:stretch>
        </p:blipFill>
        <p:spPr>
          <a:xfrm>
            <a:off x="1550007" y="1325880"/>
            <a:ext cx="2752145" cy="3246120"/>
          </a:xfrm>
          <a:prstGeom prst="rect">
            <a:avLst/>
          </a:prstGeom>
        </p:spPr>
      </p:pic>
      <p:sp>
        <p:nvSpPr>
          <p:cNvPr id="9" name="q_295"/>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“We're a beautiful family.”</a:t>
            </a:r>
            <a:endParaRPr lang="en-US" sz="1250" dirty="0"/>
          </a:p>
        </p:txBody>
      </p:sp>
      <p:sp>
        <p:nvSpPr>
          <p:cNvPr id="10" name="R1_a296"/>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Shelly 🐑</a:t>
            </a:r>
            <a:endParaRPr lang="en-US" sz="1250" dirty="0"/>
          </a:p>
        </p:txBody>
      </p:sp>
      <p:sp>
        <p:nvSpPr>
          <p:cNvPr id="11" name="q_297"/>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“My ears, my ears …”</a:t>
            </a:r>
            <a:endParaRPr lang="en-US" sz="1250" dirty="0"/>
          </a:p>
        </p:txBody>
      </p:sp>
      <p:sp>
        <p:nvSpPr>
          <p:cNvPr id="12" name="R2_a298"/>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Cameron 🐱</a:t>
            </a:r>
            <a:endParaRPr lang="en-US" sz="1250" dirty="0"/>
          </a:p>
        </p:txBody>
      </p:sp>
      <p:sp>
        <p:nvSpPr>
          <p:cNvPr id="13" name="q_299"/>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“Look! This is an old photo of my father.”</a:t>
            </a:r>
            <a:endParaRPr lang="en-US" sz="1250" dirty="0"/>
          </a:p>
        </p:txBody>
      </p:sp>
      <p:sp>
        <p:nvSpPr>
          <p:cNvPr id="14" name="R3_a300"/>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Harry 🐴</a:t>
            </a:r>
            <a:endParaRPr lang="en-US" sz="1250" dirty="0"/>
          </a:p>
        </p:txBody>
      </p:sp>
      <p:sp>
        <p:nvSpPr>
          <p:cNvPr id="15" name="q_301"/>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“You can't eat my sister!”</a:t>
            </a:r>
            <a:endParaRPr lang="en-US" sz="1250" dirty="0"/>
          </a:p>
        </p:txBody>
      </p:sp>
      <p:sp>
        <p:nvSpPr>
          <p:cNvPr id="16" name="R4_a302"/>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Shelly 🐑</a:t>
            </a:r>
            <a:endParaRPr lang="en-US" sz="1250" dirty="0"/>
          </a:p>
        </p:txBody>
      </p:sp>
      <p:sp>
        <p:nvSpPr>
          <p:cNvPr id="17" name="bk_303"/>
          <p:cNvSpPr/>
          <p:nvPr/>
        </p:nvSpPr>
        <p:spPr>
          <a:xfrm>
            <a:off x="228600" y="4681728"/>
            <a:ext cx="256946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p.5 · 🎧 1.06</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0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30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Animal noises!</a:t>
            </a:r>
            <a:endParaRPr lang="en-US" sz="2700" dirty="0"/>
          </a:p>
        </p:txBody>
      </p:sp>
      <p:sp>
        <p:nvSpPr>
          <p:cNvPr id="5" name="in_30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to the noise. Who is it?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il verso. Chi è?</a:t>
            </a:r>
            <a:endParaRPr lang="en-US" sz="1400" dirty="0"/>
          </a:p>
        </p:txBody>
      </p:sp>
      <p:sp>
        <p:nvSpPr>
          <p:cNvPr id="6" name="mode_30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5 MIN</a:t>
            </a:r>
            <a:endParaRPr lang="en-US" sz="1000" dirty="0"/>
          </a:p>
        </p:txBody>
      </p:sp>
      <p:sp>
        <p:nvSpPr>
          <p:cNvPr id="7" name="diff_308"/>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Is it Rocky?</a:t>
            </a:r>
            <a:endParaRPr lang="en-US" sz="950" dirty="0"/>
          </a:p>
        </p:txBody>
      </p:sp>
      <p:sp>
        <p:nvSpPr>
          <p:cNvPr id="8" name="st_309"/>
          <p:cNvSpPr/>
          <p:nvPr/>
        </p:nvSpPr>
        <p:spPr>
          <a:xfrm>
            <a:off x="228600" y="13258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9" name="sn_310"/>
          <p:cNvSpPr/>
          <p:nvPr/>
        </p:nvSpPr>
        <p:spPr>
          <a:xfrm>
            <a:off x="118872" y="12161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sk_311"/>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LOOK</a:t>
            </a:r>
            <a:endParaRPr lang="en-US" sz="1300" dirty="0"/>
          </a:p>
        </p:txBody>
      </p:sp>
      <p:sp>
        <p:nvSpPr>
          <p:cNvPr id="11" name="se_312"/>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Take a card. Shh! Secret!</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Prendi una carta. Segreto!</a:t>
            </a:r>
            <a:endParaRPr lang="en-US" sz="1050" dirty="0"/>
          </a:p>
        </p:txBody>
      </p:sp>
      <p:sp>
        <p:nvSpPr>
          <p:cNvPr id="12" name="st_313"/>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3" name="sn_314"/>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sk_315"/>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5" name="se_316"/>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Make the animal noise.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Fai il verso.</a:t>
            </a:r>
            <a:endParaRPr lang="en-US" sz="1050" dirty="0"/>
          </a:p>
        </p:txBody>
      </p:sp>
      <p:sp>
        <p:nvSpPr>
          <p:cNvPr id="16" name="st_317"/>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7" name="sn_318"/>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sk_319"/>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9" name="se_320"/>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Is it Rocky? – Yes, it is!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È Rocky? – Sì!</a:t>
            </a:r>
            <a:endParaRPr lang="en-US" sz="1050" dirty="0"/>
          </a:p>
        </p:txBody>
      </p:sp>
      <p:sp>
        <p:nvSpPr>
          <p:cNvPr id="20" name="cd_321"/>
          <p:cNvSpPr/>
          <p:nvPr/>
        </p:nvSpPr>
        <p:spPr>
          <a:xfrm>
            <a:off x="310896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322" descr="/home/claude/movers/img/fc/rocky.png">    </p:cNvPr>
          <p:cNvPicPr>
            <a:picLocks noChangeAspect="1"/>
          </p:cNvPicPr>
          <p:nvPr/>
        </p:nvPicPr>
        <p:blipFill>
          <a:blip r:embed="rId2"/>
          <a:stretch>
            <a:fillRect/>
          </a:stretch>
        </p:blipFill>
        <p:spPr>
          <a:xfrm>
            <a:off x="3354476" y="1399032"/>
            <a:ext cx="834847" cy="834847"/>
          </a:xfrm>
          <a:prstGeom prst="rect">
            <a:avLst/>
          </a:prstGeom>
        </p:spPr>
      </p:pic>
      <p:sp>
        <p:nvSpPr>
          <p:cNvPr id="22" name="lb_323"/>
          <p:cNvSpPr/>
          <p:nvPr/>
        </p:nvSpPr>
        <p:spPr>
          <a:xfrm>
            <a:off x="3145536" y="2252167"/>
            <a:ext cx="1252728" cy="344729"/>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rocky</a:t>
            </a:r>
            <a:endParaRPr lang="en-US" sz="1100" dirty="0"/>
          </a:p>
        </p:txBody>
      </p:sp>
      <p:sp>
        <p:nvSpPr>
          <p:cNvPr id="23" name="cd_324"/>
          <p:cNvSpPr/>
          <p:nvPr/>
        </p:nvSpPr>
        <p:spPr>
          <a:xfrm>
            <a:off x="457200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4" name="ci_325" descr="/home/claude/movers/img/fc/henrietta.png">    </p:cNvPr>
          <p:cNvPicPr>
            <a:picLocks noChangeAspect="1"/>
          </p:cNvPicPr>
          <p:nvPr/>
        </p:nvPicPr>
        <p:blipFill>
          <a:blip r:embed="rId3"/>
          <a:stretch>
            <a:fillRect/>
          </a:stretch>
        </p:blipFill>
        <p:spPr>
          <a:xfrm>
            <a:off x="4817516" y="1399032"/>
            <a:ext cx="834847" cy="834847"/>
          </a:xfrm>
          <a:prstGeom prst="rect">
            <a:avLst/>
          </a:prstGeom>
        </p:spPr>
      </p:pic>
      <p:sp>
        <p:nvSpPr>
          <p:cNvPr id="25" name="lb_326"/>
          <p:cNvSpPr/>
          <p:nvPr/>
        </p:nvSpPr>
        <p:spPr>
          <a:xfrm>
            <a:off x="4608576" y="2252167"/>
            <a:ext cx="1252728" cy="344729"/>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henrietta</a:t>
            </a:r>
            <a:endParaRPr lang="en-US" sz="1100" dirty="0"/>
          </a:p>
        </p:txBody>
      </p:sp>
      <p:sp>
        <p:nvSpPr>
          <p:cNvPr id="26" name="cd_327"/>
          <p:cNvSpPr/>
          <p:nvPr/>
        </p:nvSpPr>
        <p:spPr>
          <a:xfrm>
            <a:off x="603504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7" name="ci_328" descr="/home/claude/movers/img/fc/shelly.png">    </p:cNvPr>
          <p:cNvPicPr>
            <a:picLocks noChangeAspect="1"/>
          </p:cNvPicPr>
          <p:nvPr/>
        </p:nvPicPr>
        <p:blipFill>
          <a:blip r:embed="rId4"/>
          <a:stretch>
            <a:fillRect/>
          </a:stretch>
        </p:blipFill>
        <p:spPr>
          <a:xfrm>
            <a:off x="6280556" y="1399032"/>
            <a:ext cx="834847" cy="834847"/>
          </a:xfrm>
          <a:prstGeom prst="rect">
            <a:avLst/>
          </a:prstGeom>
        </p:spPr>
      </p:pic>
      <p:sp>
        <p:nvSpPr>
          <p:cNvPr id="28" name="lb_329"/>
          <p:cNvSpPr/>
          <p:nvPr/>
        </p:nvSpPr>
        <p:spPr>
          <a:xfrm>
            <a:off x="6071616" y="2252167"/>
            <a:ext cx="1252728" cy="344729"/>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shelly</a:t>
            </a:r>
            <a:endParaRPr lang="en-US" sz="1100" dirty="0"/>
          </a:p>
        </p:txBody>
      </p:sp>
      <p:sp>
        <p:nvSpPr>
          <p:cNvPr id="29" name="cd_330"/>
          <p:cNvSpPr/>
          <p:nvPr/>
        </p:nvSpPr>
        <p:spPr>
          <a:xfrm>
            <a:off x="749808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0" name="ci_331" descr="/home/claude/movers/img/fc/gracie.png">    </p:cNvPr>
          <p:cNvPicPr>
            <a:picLocks noChangeAspect="1"/>
          </p:cNvPicPr>
          <p:nvPr/>
        </p:nvPicPr>
        <p:blipFill>
          <a:blip r:embed="rId5"/>
          <a:stretch>
            <a:fillRect/>
          </a:stretch>
        </p:blipFill>
        <p:spPr>
          <a:xfrm>
            <a:off x="7743596" y="1399032"/>
            <a:ext cx="834847" cy="834847"/>
          </a:xfrm>
          <a:prstGeom prst="rect">
            <a:avLst/>
          </a:prstGeom>
        </p:spPr>
      </p:pic>
      <p:sp>
        <p:nvSpPr>
          <p:cNvPr id="31" name="lb_332"/>
          <p:cNvSpPr/>
          <p:nvPr/>
        </p:nvSpPr>
        <p:spPr>
          <a:xfrm>
            <a:off x="7534656" y="2252167"/>
            <a:ext cx="1252728" cy="344729"/>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gracie</a:t>
            </a:r>
            <a:endParaRPr lang="en-US" sz="1100" dirty="0"/>
          </a:p>
        </p:txBody>
      </p:sp>
      <p:sp>
        <p:nvSpPr>
          <p:cNvPr id="32" name="cd_333"/>
          <p:cNvSpPr/>
          <p:nvPr/>
        </p:nvSpPr>
        <p:spPr>
          <a:xfrm>
            <a:off x="310896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3" name="ci_334" descr="/home/claude/movers/img/fc/harry.png">    </p:cNvPr>
          <p:cNvPicPr>
            <a:picLocks noChangeAspect="1"/>
          </p:cNvPicPr>
          <p:nvPr/>
        </p:nvPicPr>
        <p:blipFill>
          <a:blip r:embed="rId6"/>
          <a:stretch>
            <a:fillRect/>
          </a:stretch>
        </p:blipFill>
        <p:spPr>
          <a:xfrm>
            <a:off x="3354476" y="2834640"/>
            <a:ext cx="834847" cy="834847"/>
          </a:xfrm>
          <a:prstGeom prst="rect">
            <a:avLst/>
          </a:prstGeom>
        </p:spPr>
      </p:pic>
      <p:sp>
        <p:nvSpPr>
          <p:cNvPr id="34" name="lb_335"/>
          <p:cNvSpPr/>
          <p:nvPr/>
        </p:nvSpPr>
        <p:spPr>
          <a:xfrm>
            <a:off x="3145536" y="3687775"/>
            <a:ext cx="1252728" cy="344729"/>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harry</a:t>
            </a:r>
            <a:endParaRPr lang="en-US" sz="1100" dirty="0"/>
          </a:p>
        </p:txBody>
      </p:sp>
      <p:sp>
        <p:nvSpPr>
          <p:cNvPr id="35" name="cd_336"/>
          <p:cNvSpPr/>
          <p:nvPr/>
        </p:nvSpPr>
        <p:spPr>
          <a:xfrm>
            <a:off x="457200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6" name="ci_337" descr="/home/claude/movers/img/fc/cameron.png">    </p:cNvPr>
          <p:cNvPicPr>
            <a:picLocks noChangeAspect="1"/>
          </p:cNvPicPr>
          <p:nvPr/>
        </p:nvPicPr>
        <p:blipFill>
          <a:blip r:embed="rId7"/>
          <a:stretch>
            <a:fillRect/>
          </a:stretch>
        </p:blipFill>
        <p:spPr>
          <a:xfrm>
            <a:off x="4817516" y="2834640"/>
            <a:ext cx="834847" cy="834847"/>
          </a:xfrm>
          <a:prstGeom prst="rect">
            <a:avLst/>
          </a:prstGeom>
        </p:spPr>
      </p:pic>
      <p:sp>
        <p:nvSpPr>
          <p:cNvPr id="37" name="lb_338"/>
          <p:cNvSpPr/>
          <p:nvPr/>
        </p:nvSpPr>
        <p:spPr>
          <a:xfrm>
            <a:off x="4608576" y="3687775"/>
            <a:ext cx="1252728" cy="344729"/>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cameron</a:t>
            </a:r>
            <a:endParaRPr lang="en-US" sz="1100" dirty="0"/>
          </a:p>
        </p:txBody>
      </p:sp>
    </p:spTree>
  </p:cSld>
  <p:clrMapOvr>
    <a:masterClrMapping/>
  </p:clrMapOvr>
  <p:transition spd="med">
    <p:push dir="l"/>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3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340"/>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Look and remember!</a:t>
            </a:r>
            <a:endParaRPr lang="en-US" sz="2700" dirty="0"/>
          </a:p>
        </p:txBody>
      </p:sp>
      <p:sp>
        <p:nvSpPr>
          <p:cNvPr id="5" name="in_341"/>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 Look for 10 seconds. Remember ALL the pictures!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e ricorda tutte le immagini!</a:t>
            </a:r>
            <a:endParaRPr lang="en-US" sz="1400" dirty="0"/>
          </a:p>
        </p:txBody>
      </p:sp>
      <p:sp>
        <p:nvSpPr>
          <p:cNvPr id="6" name="cd_342"/>
          <p:cNvSpPr/>
          <p:nvPr/>
        </p:nvSpPr>
        <p:spPr>
          <a:xfrm>
            <a:off x="43434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343" descr="/home/claude/movers/img/fc/rocky.png">    </p:cNvPr>
          <p:cNvPicPr>
            <a:picLocks noChangeAspect="1"/>
          </p:cNvPicPr>
          <p:nvPr/>
        </p:nvPicPr>
        <p:blipFill>
          <a:blip r:embed="rId2"/>
          <a:stretch>
            <a:fillRect/>
          </a:stretch>
        </p:blipFill>
        <p:spPr>
          <a:xfrm>
            <a:off x="699516" y="1353312"/>
            <a:ext cx="1298448" cy="1298448"/>
          </a:xfrm>
          <a:prstGeom prst="rect">
            <a:avLst/>
          </a:prstGeom>
        </p:spPr>
      </p:pic>
      <p:sp>
        <p:nvSpPr>
          <p:cNvPr id="8" name="lb_344"/>
          <p:cNvSpPr/>
          <p:nvPr/>
        </p:nvSpPr>
        <p:spPr>
          <a:xfrm>
            <a:off x="47091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rocky</a:t>
            </a:r>
            <a:endParaRPr lang="en-US" sz="1200" dirty="0"/>
          </a:p>
        </p:txBody>
      </p:sp>
      <p:sp>
        <p:nvSpPr>
          <p:cNvPr id="9" name="cd_345"/>
          <p:cNvSpPr/>
          <p:nvPr/>
        </p:nvSpPr>
        <p:spPr>
          <a:xfrm>
            <a:off x="258318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ci_346" descr="/home/claude/movers/img/fc/henrietta.png">    </p:cNvPr>
          <p:cNvPicPr>
            <a:picLocks noChangeAspect="1"/>
          </p:cNvPicPr>
          <p:nvPr/>
        </p:nvPicPr>
        <p:blipFill>
          <a:blip r:embed="rId3"/>
          <a:stretch>
            <a:fillRect/>
          </a:stretch>
        </p:blipFill>
        <p:spPr>
          <a:xfrm>
            <a:off x="2848356" y="1353312"/>
            <a:ext cx="1298448" cy="1298448"/>
          </a:xfrm>
          <a:prstGeom prst="rect">
            <a:avLst/>
          </a:prstGeom>
        </p:spPr>
      </p:pic>
      <p:sp>
        <p:nvSpPr>
          <p:cNvPr id="11" name="lb_347"/>
          <p:cNvSpPr/>
          <p:nvPr/>
        </p:nvSpPr>
        <p:spPr>
          <a:xfrm>
            <a:off x="261975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henrietta</a:t>
            </a:r>
            <a:endParaRPr lang="en-US" sz="1200" dirty="0"/>
          </a:p>
        </p:txBody>
      </p:sp>
      <p:sp>
        <p:nvSpPr>
          <p:cNvPr id="12" name="cd_348"/>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349" descr="/home/claude/movers/img/fc/shelly.png">    </p:cNvPr>
          <p:cNvPicPr>
            <a:picLocks noChangeAspect="1"/>
          </p:cNvPicPr>
          <p:nvPr/>
        </p:nvPicPr>
        <p:blipFill>
          <a:blip r:embed="rId4"/>
          <a:stretch>
            <a:fillRect/>
          </a:stretch>
        </p:blipFill>
        <p:spPr>
          <a:xfrm>
            <a:off x="4997196" y="1353312"/>
            <a:ext cx="1298448" cy="1298448"/>
          </a:xfrm>
          <a:prstGeom prst="rect">
            <a:avLst/>
          </a:prstGeom>
        </p:spPr>
      </p:pic>
      <p:sp>
        <p:nvSpPr>
          <p:cNvPr id="14" name="lb_350"/>
          <p:cNvSpPr/>
          <p:nvPr/>
        </p:nvSpPr>
        <p:spPr>
          <a:xfrm>
            <a:off x="476859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shelly</a:t>
            </a:r>
            <a:endParaRPr lang="en-US" sz="1200" dirty="0"/>
          </a:p>
        </p:txBody>
      </p:sp>
      <p:sp>
        <p:nvSpPr>
          <p:cNvPr id="15" name="cd_351"/>
          <p:cNvSpPr/>
          <p:nvPr/>
        </p:nvSpPr>
        <p:spPr>
          <a:xfrm>
            <a:off x="688086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6" name="ci_352" descr="/home/claude/movers/img/fc/gracie.png">    </p:cNvPr>
          <p:cNvPicPr>
            <a:picLocks noChangeAspect="1"/>
          </p:cNvPicPr>
          <p:nvPr/>
        </p:nvPicPr>
        <p:blipFill>
          <a:blip r:embed="rId5"/>
          <a:stretch>
            <a:fillRect/>
          </a:stretch>
        </p:blipFill>
        <p:spPr>
          <a:xfrm>
            <a:off x="7146036" y="1353312"/>
            <a:ext cx="1298448" cy="1298448"/>
          </a:xfrm>
          <a:prstGeom prst="rect">
            <a:avLst/>
          </a:prstGeom>
        </p:spPr>
      </p:pic>
      <p:sp>
        <p:nvSpPr>
          <p:cNvPr id="17" name="lb_353"/>
          <p:cNvSpPr/>
          <p:nvPr/>
        </p:nvSpPr>
        <p:spPr>
          <a:xfrm>
            <a:off x="691743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gracie</a:t>
            </a:r>
            <a:endParaRPr lang="en-US" sz="1200" dirty="0"/>
          </a:p>
        </p:txBody>
      </p:sp>
      <p:sp>
        <p:nvSpPr>
          <p:cNvPr id="18" name="cd_354"/>
          <p:cNvSpPr/>
          <p:nvPr/>
        </p:nvSpPr>
        <p:spPr>
          <a:xfrm>
            <a:off x="43434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ci_355" descr="/home/claude/movers/img/fc/harry.png">    </p:cNvPr>
          <p:cNvPicPr>
            <a:picLocks noChangeAspect="1"/>
          </p:cNvPicPr>
          <p:nvPr/>
        </p:nvPicPr>
        <p:blipFill>
          <a:blip r:embed="rId6"/>
          <a:stretch>
            <a:fillRect/>
          </a:stretch>
        </p:blipFill>
        <p:spPr>
          <a:xfrm>
            <a:off x="699516" y="3291840"/>
            <a:ext cx="1298448" cy="1298448"/>
          </a:xfrm>
          <a:prstGeom prst="rect">
            <a:avLst/>
          </a:prstGeom>
        </p:spPr>
      </p:pic>
      <p:sp>
        <p:nvSpPr>
          <p:cNvPr id="20" name="lb_356"/>
          <p:cNvSpPr/>
          <p:nvPr/>
        </p:nvSpPr>
        <p:spPr>
          <a:xfrm>
            <a:off x="47091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harry</a:t>
            </a:r>
            <a:endParaRPr lang="en-US" sz="1200" dirty="0"/>
          </a:p>
        </p:txBody>
      </p:sp>
      <p:sp>
        <p:nvSpPr>
          <p:cNvPr id="21" name="cd_357"/>
          <p:cNvSpPr/>
          <p:nvPr/>
        </p:nvSpPr>
        <p:spPr>
          <a:xfrm>
            <a:off x="258318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358" descr="/home/claude/movers/img/fc/cameron.png">    </p:cNvPr>
          <p:cNvPicPr>
            <a:picLocks noChangeAspect="1"/>
          </p:cNvPicPr>
          <p:nvPr/>
        </p:nvPicPr>
        <p:blipFill>
          <a:blip r:embed="rId7"/>
          <a:stretch>
            <a:fillRect/>
          </a:stretch>
        </p:blipFill>
        <p:spPr>
          <a:xfrm>
            <a:off x="2848356" y="3291840"/>
            <a:ext cx="1298448" cy="1298448"/>
          </a:xfrm>
          <a:prstGeom prst="rect">
            <a:avLst/>
          </a:prstGeom>
        </p:spPr>
      </p:pic>
      <p:sp>
        <p:nvSpPr>
          <p:cNvPr id="23" name="lb_359"/>
          <p:cNvSpPr/>
          <p:nvPr/>
        </p:nvSpPr>
        <p:spPr>
          <a:xfrm>
            <a:off x="261975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cameron</a:t>
            </a:r>
            <a:endParaRPr lang="en-US" sz="1200" dirty="0"/>
          </a:p>
        </p:txBody>
      </p:sp>
    </p:spTree>
  </p:cSld>
  <p:clrMapOvr>
    <a:masterClrMapping/>
  </p:clrMapOvr>
  <p:transition spd="med">
    <p:push dir="l"/>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6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361"/>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What's missing?</a:t>
            </a:r>
            <a:endParaRPr lang="en-US" sz="2700" dirty="0"/>
          </a:p>
        </p:txBody>
      </p:sp>
      <p:sp>
        <p:nvSpPr>
          <p:cNvPr id="5" name="in_36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350" b="1" dirty="0">
                <a:solidFill>
                  <a:srgbClr val="1E2A5A"/>
                </a:solidFill>
                <a:latin typeface="Arial Rounded MT Bold" pitchFamily="34" charset="0"/>
                <a:ea typeface="Arial Rounded MT Bold" pitchFamily="34" charset="-122"/>
                <a:cs typeface="Arial Rounded MT Bold" pitchFamily="34" charset="-120"/>
              </a:rPr>
              <a:t>Open your eyes! What's missing? Write it or whisper it to your partner.</a:t>
            </a:r>
            <a:endParaRPr lang="en-US" sz="1350" dirty="0"/>
          </a:p>
          <a:p>
            <a:pPr indent="0" marL="0">
              <a:buNone/>
            </a:pPr>
            <a:r>
              <a:rPr lang="en-US" sz="1150" i="1" dirty="0">
                <a:solidFill>
                  <a:srgbClr val="2F9BFF"/>
                </a:solidFill>
                <a:latin typeface="Arial Rounded MT Bold" pitchFamily="34" charset="0"/>
                <a:ea typeface="Arial Rounded MT Bold" pitchFamily="34" charset="-122"/>
                <a:cs typeface="Arial Rounded MT Bold" pitchFamily="34" charset="-120"/>
              </a:rPr>
              <a:t>Apri gli occhi! Cosa manca? Scrivilo o dillo al compagno.</a:t>
            </a:r>
            <a:endParaRPr lang="en-US" sz="1350" dirty="0"/>
          </a:p>
        </p:txBody>
      </p:sp>
      <p:sp>
        <p:nvSpPr>
          <p:cNvPr id="6" name="cd_363"/>
          <p:cNvSpPr/>
          <p:nvPr/>
        </p:nvSpPr>
        <p:spPr>
          <a:xfrm>
            <a:off x="43434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364" descr="/home/claude/movers/img/fc/rocky.png">    </p:cNvPr>
          <p:cNvPicPr>
            <a:picLocks noChangeAspect="1"/>
          </p:cNvPicPr>
          <p:nvPr/>
        </p:nvPicPr>
        <p:blipFill>
          <a:blip r:embed="rId2"/>
          <a:stretch>
            <a:fillRect/>
          </a:stretch>
        </p:blipFill>
        <p:spPr>
          <a:xfrm>
            <a:off x="699516" y="1353312"/>
            <a:ext cx="1298448" cy="1298448"/>
          </a:xfrm>
          <a:prstGeom prst="rect">
            <a:avLst/>
          </a:prstGeom>
        </p:spPr>
      </p:pic>
      <p:sp>
        <p:nvSpPr>
          <p:cNvPr id="8" name="lb_365"/>
          <p:cNvSpPr/>
          <p:nvPr/>
        </p:nvSpPr>
        <p:spPr>
          <a:xfrm>
            <a:off x="47091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rocky</a:t>
            </a:r>
            <a:endParaRPr lang="en-US" sz="1200" dirty="0"/>
          </a:p>
        </p:txBody>
      </p:sp>
      <p:sp>
        <p:nvSpPr>
          <p:cNvPr id="9" name="cd_366"/>
          <p:cNvSpPr/>
          <p:nvPr/>
        </p:nvSpPr>
        <p:spPr>
          <a:xfrm>
            <a:off x="258318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ci_367" descr="/home/claude/movers/img/fc/henrietta.png">    </p:cNvPr>
          <p:cNvPicPr>
            <a:picLocks noChangeAspect="1"/>
          </p:cNvPicPr>
          <p:nvPr/>
        </p:nvPicPr>
        <p:blipFill>
          <a:blip r:embed="rId3"/>
          <a:stretch>
            <a:fillRect/>
          </a:stretch>
        </p:blipFill>
        <p:spPr>
          <a:xfrm>
            <a:off x="2848356" y="1353312"/>
            <a:ext cx="1298448" cy="1298448"/>
          </a:xfrm>
          <a:prstGeom prst="rect">
            <a:avLst/>
          </a:prstGeom>
        </p:spPr>
      </p:pic>
      <p:sp>
        <p:nvSpPr>
          <p:cNvPr id="11" name="lb_368"/>
          <p:cNvSpPr/>
          <p:nvPr/>
        </p:nvSpPr>
        <p:spPr>
          <a:xfrm>
            <a:off x="261975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henrietta</a:t>
            </a:r>
            <a:endParaRPr lang="en-US" sz="1200" dirty="0"/>
          </a:p>
        </p:txBody>
      </p:sp>
      <p:sp>
        <p:nvSpPr>
          <p:cNvPr id="12" name="cd_369"/>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370" descr="/home/claude/movers/img/fc/shelly.png">    </p:cNvPr>
          <p:cNvPicPr>
            <a:picLocks noChangeAspect="1"/>
          </p:cNvPicPr>
          <p:nvPr/>
        </p:nvPicPr>
        <p:blipFill>
          <a:blip r:embed="rId4"/>
          <a:stretch>
            <a:fillRect/>
          </a:stretch>
        </p:blipFill>
        <p:spPr>
          <a:xfrm>
            <a:off x="4997196" y="1353312"/>
            <a:ext cx="1298448" cy="1298448"/>
          </a:xfrm>
          <a:prstGeom prst="rect">
            <a:avLst/>
          </a:prstGeom>
        </p:spPr>
      </p:pic>
      <p:sp>
        <p:nvSpPr>
          <p:cNvPr id="14" name="lb_371"/>
          <p:cNvSpPr/>
          <p:nvPr/>
        </p:nvSpPr>
        <p:spPr>
          <a:xfrm>
            <a:off x="476859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shelly</a:t>
            </a:r>
            <a:endParaRPr lang="en-US" sz="1200" dirty="0"/>
          </a:p>
        </p:txBody>
      </p:sp>
      <p:sp>
        <p:nvSpPr>
          <p:cNvPr id="15" name="q_372"/>
          <p:cNvSpPr/>
          <p:nvPr/>
        </p:nvSpPr>
        <p:spPr>
          <a:xfrm>
            <a:off x="6880860" y="1280160"/>
            <a:ext cx="1828800" cy="1828800"/>
          </a:xfrm>
          <a:prstGeom prst="roundRect">
            <a:avLst>
              <a:gd name="adj" fmla="val 6000"/>
            </a:avLst>
          </a:prstGeom>
          <a:solidFill>
            <a:srgbClr val="FFD23F"/>
          </a:solidFill>
          <a:ln w="38100">
            <a:solidFill>
              <a:srgbClr val="1E2A5A"/>
            </a:solidFill>
            <a:prstDash val="dash"/>
          </a:ln>
        </p:spPr>
        <p:txBody>
          <a:bodyPr wrap="square" rtlCol="0" anchor="ctr"/>
          <a:lstStyle/>
          <a:p>
            <a:pPr algn="ctr" indent="0" marL="0">
              <a:buNone/>
            </a:pPr>
            <a:r>
              <a:rPr lang="en-US" sz="6000" dirty="0">
                <a:solidFill>
                  <a:srgbClr val="1E2A5A"/>
                </a:solidFill>
                <a:latin typeface="Arial Black" pitchFamily="34" charset="0"/>
                <a:ea typeface="Arial Black" pitchFamily="34" charset="-122"/>
                <a:cs typeface="Arial Black" pitchFamily="34" charset="-120"/>
              </a:rPr>
              <a:t>?</a:t>
            </a:r>
            <a:endParaRPr lang="en-US" sz="6000" dirty="0"/>
          </a:p>
        </p:txBody>
      </p:sp>
      <p:sp>
        <p:nvSpPr>
          <p:cNvPr id="16" name="cd_373"/>
          <p:cNvSpPr/>
          <p:nvPr/>
        </p:nvSpPr>
        <p:spPr>
          <a:xfrm>
            <a:off x="43434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374" descr="/home/claude/movers/img/fc/harry.png">    </p:cNvPr>
          <p:cNvPicPr>
            <a:picLocks noChangeAspect="1"/>
          </p:cNvPicPr>
          <p:nvPr/>
        </p:nvPicPr>
        <p:blipFill>
          <a:blip r:embed="rId5"/>
          <a:stretch>
            <a:fillRect/>
          </a:stretch>
        </p:blipFill>
        <p:spPr>
          <a:xfrm>
            <a:off x="699516" y="3291840"/>
            <a:ext cx="1298448" cy="1298448"/>
          </a:xfrm>
          <a:prstGeom prst="rect">
            <a:avLst/>
          </a:prstGeom>
        </p:spPr>
      </p:pic>
      <p:sp>
        <p:nvSpPr>
          <p:cNvPr id="18" name="lb_375"/>
          <p:cNvSpPr/>
          <p:nvPr/>
        </p:nvSpPr>
        <p:spPr>
          <a:xfrm>
            <a:off x="47091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harry</a:t>
            </a:r>
            <a:endParaRPr lang="en-US" sz="1200" dirty="0"/>
          </a:p>
        </p:txBody>
      </p:sp>
      <p:sp>
        <p:nvSpPr>
          <p:cNvPr id="19" name="cd_376"/>
          <p:cNvSpPr/>
          <p:nvPr/>
        </p:nvSpPr>
        <p:spPr>
          <a:xfrm>
            <a:off x="258318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377" descr="/home/claude/movers/img/fc/cameron.png">    </p:cNvPr>
          <p:cNvPicPr>
            <a:picLocks noChangeAspect="1"/>
          </p:cNvPicPr>
          <p:nvPr/>
        </p:nvPicPr>
        <p:blipFill>
          <a:blip r:embed="rId6"/>
          <a:stretch>
            <a:fillRect/>
          </a:stretch>
        </p:blipFill>
        <p:spPr>
          <a:xfrm>
            <a:off x="2848356" y="3291840"/>
            <a:ext cx="1298448" cy="1298448"/>
          </a:xfrm>
          <a:prstGeom prst="rect">
            <a:avLst/>
          </a:prstGeom>
        </p:spPr>
      </p:pic>
      <p:sp>
        <p:nvSpPr>
          <p:cNvPr id="21" name="lb_378"/>
          <p:cNvSpPr/>
          <p:nvPr/>
        </p:nvSpPr>
        <p:spPr>
          <a:xfrm>
            <a:off x="261975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cameron</a:t>
            </a:r>
            <a:endParaRPr lang="en-US" sz="1200" dirty="0"/>
          </a:p>
        </p:txBody>
      </p:sp>
    </p:spTree>
  </p:cSld>
  <p:clrMapOvr>
    <a:masterClrMapping/>
  </p:clrMapOvr>
  <p:transition spd="med">
    <p:push dir="l"/>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7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ANSWER</a:t>
            </a:r>
            <a:endParaRPr lang="en-US" sz="1600" dirty="0"/>
          </a:p>
        </p:txBody>
      </p:sp>
      <p:sp>
        <p:nvSpPr>
          <p:cNvPr id="4" name="bm_380"/>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Were you right?</a:t>
            </a:r>
            <a:endParaRPr lang="en-US" sz="2700" dirty="0"/>
          </a:p>
        </p:txBody>
      </p:sp>
      <p:sp>
        <p:nvSpPr>
          <p:cNvPr id="5" name="in_381"/>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It's Gracie!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È Gracie!</a:t>
            </a:r>
            <a:endParaRPr lang="en-US" sz="1400" dirty="0"/>
          </a:p>
        </p:txBody>
      </p:sp>
      <p:sp>
        <p:nvSpPr>
          <p:cNvPr id="6" name="cd_382"/>
          <p:cNvSpPr/>
          <p:nvPr/>
        </p:nvSpPr>
        <p:spPr>
          <a:xfrm>
            <a:off x="43434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383" descr="/home/claude/movers/img/fc/rocky.png">    </p:cNvPr>
          <p:cNvPicPr>
            <a:picLocks noChangeAspect="1"/>
          </p:cNvPicPr>
          <p:nvPr/>
        </p:nvPicPr>
        <p:blipFill>
          <a:blip r:embed="rId2"/>
          <a:stretch>
            <a:fillRect/>
          </a:stretch>
        </p:blipFill>
        <p:spPr>
          <a:xfrm>
            <a:off x="699516" y="1353312"/>
            <a:ext cx="1298448" cy="1298448"/>
          </a:xfrm>
          <a:prstGeom prst="rect">
            <a:avLst/>
          </a:prstGeom>
        </p:spPr>
      </p:pic>
      <p:sp>
        <p:nvSpPr>
          <p:cNvPr id="8" name="lb_384"/>
          <p:cNvSpPr/>
          <p:nvPr/>
        </p:nvSpPr>
        <p:spPr>
          <a:xfrm>
            <a:off x="47091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rocky</a:t>
            </a:r>
            <a:endParaRPr lang="en-US" sz="1200" dirty="0"/>
          </a:p>
        </p:txBody>
      </p:sp>
      <p:sp>
        <p:nvSpPr>
          <p:cNvPr id="9" name="cd_385"/>
          <p:cNvSpPr/>
          <p:nvPr/>
        </p:nvSpPr>
        <p:spPr>
          <a:xfrm>
            <a:off x="258318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ci_386" descr="/home/claude/movers/img/fc/henrietta.png">    </p:cNvPr>
          <p:cNvPicPr>
            <a:picLocks noChangeAspect="1"/>
          </p:cNvPicPr>
          <p:nvPr/>
        </p:nvPicPr>
        <p:blipFill>
          <a:blip r:embed="rId3"/>
          <a:stretch>
            <a:fillRect/>
          </a:stretch>
        </p:blipFill>
        <p:spPr>
          <a:xfrm>
            <a:off x="2848356" y="1353312"/>
            <a:ext cx="1298448" cy="1298448"/>
          </a:xfrm>
          <a:prstGeom prst="rect">
            <a:avLst/>
          </a:prstGeom>
        </p:spPr>
      </p:pic>
      <p:sp>
        <p:nvSpPr>
          <p:cNvPr id="11" name="lb_387"/>
          <p:cNvSpPr/>
          <p:nvPr/>
        </p:nvSpPr>
        <p:spPr>
          <a:xfrm>
            <a:off x="261975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henrietta</a:t>
            </a:r>
            <a:endParaRPr lang="en-US" sz="1200" dirty="0"/>
          </a:p>
        </p:txBody>
      </p:sp>
      <p:sp>
        <p:nvSpPr>
          <p:cNvPr id="12" name="cd_388"/>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389" descr="/home/claude/movers/img/fc/shelly.png">    </p:cNvPr>
          <p:cNvPicPr>
            <a:picLocks noChangeAspect="1"/>
          </p:cNvPicPr>
          <p:nvPr/>
        </p:nvPicPr>
        <p:blipFill>
          <a:blip r:embed="rId4"/>
          <a:stretch>
            <a:fillRect/>
          </a:stretch>
        </p:blipFill>
        <p:spPr>
          <a:xfrm>
            <a:off x="4997196" y="1353312"/>
            <a:ext cx="1298448" cy="1298448"/>
          </a:xfrm>
          <a:prstGeom prst="rect">
            <a:avLst/>
          </a:prstGeom>
        </p:spPr>
      </p:pic>
      <p:sp>
        <p:nvSpPr>
          <p:cNvPr id="14" name="lb_390"/>
          <p:cNvSpPr/>
          <p:nvPr/>
        </p:nvSpPr>
        <p:spPr>
          <a:xfrm>
            <a:off x="476859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shelly</a:t>
            </a:r>
            <a:endParaRPr lang="en-US" sz="1200" dirty="0"/>
          </a:p>
        </p:txBody>
      </p:sp>
      <p:sp>
        <p:nvSpPr>
          <p:cNvPr id="15" name="cd_391"/>
          <p:cNvSpPr/>
          <p:nvPr/>
        </p:nvSpPr>
        <p:spPr>
          <a:xfrm>
            <a:off x="6880860" y="1280160"/>
            <a:ext cx="1828800" cy="1828800"/>
          </a:xfrm>
          <a:prstGeom prst="roundRect">
            <a:avLst>
              <a:gd name="adj" fmla="val 6000"/>
            </a:avLst>
          </a:prstGeom>
          <a:solidFill>
            <a:srgbClr val="FFFFFF"/>
          </a:solidFill>
          <a:ln w="38100">
            <a:solidFill>
              <a:srgbClr val="6CCB3B"/>
            </a:solidFill>
            <a:prstDash val="solid"/>
          </a:ln>
          <a:effectLst>
            <a:outerShdw sx="100000" sy="100000" kx="0" ky="0" algn="bl" rotWithShape="0" blurRad="38100" dist="25400" dir="5400000">
              <a:srgbClr val="000000">
                <a:alpha val="20000"/>
              </a:srgbClr>
            </a:outerShdw>
          </a:effectLst>
        </p:spPr>
      </p:sp>
      <p:pic>
        <p:nvPicPr>
          <p:cNvPr id="16" name="ci_392" descr="/home/claude/movers/img/fc/gracie.png">    </p:cNvPr>
          <p:cNvPicPr>
            <a:picLocks noChangeAspect="1"/>
          </p:cNvPicPr>
          <p:nvPr/>
        </p:nvPicPr>
        <p:blipFill>
          <a:blip r:embed="rId5"/>
          <a:stretch>
            <a:fillRect/>
          </a:stretch>
        </p:blipFill>
        <p:spPr>
          <a:xfrm>
            <a:off x="7146036" y="1353312"/>
            <a:ext cx="1298448" cy="1298448"/>
          </a:xfrm>
          <a:prstGeom prst="rect">
            <a:avLst/>
          </a:prstGeom>
        </p:spPr>
      </p:pic>
      <p:sp>
        <p:nvSpPr>
          <p:cNvPr id="17" name="lb_393"/>
          <p:cNvSpPr/>
          <p:nvPr/>
        </p:nvSpPr>
        <p:spPr>
          <a:xfrm>
            <a:off x="691743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gracie</a:t>
            </a:r>
            <a:endParaRPr lang="en-US" sz="1200" dirty="0"/>
          </a:p>
        </p:txBody>
      </p:sp>
      <p:sp>
        <p:nvSpPr>
          <p:cNvPr id="18" name="hl_394"/>
          <p:cNvSpPr/>
          <p:nvPr/>
        </p:nvSpPr>
        <p:spPr>
          <a:xfrm>
            <a:off x="6825996" y="1225296"/>
            <a:ext cx="1938528" cy="1938528"/>
          </a:xfrm>
          <a:prstGeom prst="roundRect">
            <a:avLst>
              <a:gd name="adj" fmla="val 5660"/>
            </a:avLst>
          </a:prstGeom>
          <a:ln w="76200">
            <a:solidFill>
              <a:srgbClr val="6CCB3B"/>
            </a:solidFill>
            <a:prstDash val="solid"/>
          </a:ln>
        </p:spPr>
      </p:sp>
      <p:sp>
        <p:nvSpPr>
          <p:cNvPr id="19" name="cd_395"/>
          <p:cNvSpPr/>
          <p:nvPr/>
        </p:nvSpPr>
        <p:spPr>
          <a:xfrm>
            <a:off x="43434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396" descr="/home/claude/movers/img/fc/harry.png">    </p:cNvPr>
          <p:cNvPicPr>
            <a:picLocks noChangeAspect="1"/>
          </p:cNvPicPr>
          <p:nvPr/>
        </p:nvPicPr>
        <p:blipFill>
          <a:blip r:embed="rId6"/>
          <a:stretch>
            <a:fillRect/>
          </a:stretch>
        </p:blipFill>
        <p:spPr>
          <a:xfrm>
            <a:off x="699516" y="3291840"/>
            <a:ext cx="1298448" cy="1298448"/>
          </a:xfrm>
          <a:prstGeom prst="rect">
            <a:avLst/>
          </a:prstGeom>
        </p:spPr>
      </p:pic>
      <p:sp>
        <p:nvSpPr>
          <p:cNvPr id="21" name="lb_397"/>
          <p:cNvSpPr/>
          <p:nvPr/>
        </p:nvSpPr>
        <p:spPr>
          <a:xfrm>
            <a:off x="47091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harry</a:t>
            </a:r>
            <a:endParaRPr lang="en-US" sz="1200" dirty="0"/>
          </a:p>
        </p:txBody>
      </p:sp>
      <p:sp>
        <p:nvSpPr>
          <p:cNvPr id="22" name="cd_398"/>
          <p:cNvSpPr/>
          <p:nvPr/>
        </p:nvSpPr>
        <p:spPr>
          <a:xfrm>
            <a:off x="258318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399" descr="/home/claude/movers/img/fc/cameron.png">    </p:cNvPr>
          <p:cNvPicPr>
            <a:picLocks noChangeAspect="1"/>
          </p:cNvPicPr>
          <p:nvPr/>
        </p:nvPicPr>
        <p:blipFill>
          <a:blip r:embed="rId7"/>
          <a:stretch>
            <a:fillRect/>
          </a:stretch>
        </p:blipFill>
        <p:spPr>
          <a:xfrm>
            <a:off x="2848356" y="3291840"/>
            <a:ext cx="1298448" cy="1298448"/>
          </a:xfrm>
          <a:prstGeom prst="rect">
            <a:avLst/>
          </a:prstGeom>
        </p:spPr>
      </p:pic>
      <p:sp>
        <p:nvSpPr>
          <p:cNvPr id="24" name="lb_400"/>
          <p:cNvSpPr/>
          <p:nvPr/>
        </p:nvSpPr>
        <p:spPr>
          <a:xfrm>
            <a:off x="261975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cameron</a:t>
            </a:r>
            <a:endParaRPr lang="en-US" sz="1200" dirty="0"/>
          </a:p>
        </p:txBody>
      </p:sp>
    </p:spTree>
  </p:cSld>
  <p:clrMapOvr>
    <a:masterClrMapping/>
  </p:clrMapOvr>
  <p:transition spd="med">
    <p:push dir="l"/>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0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450" dirty="0">
                <a:solidFill>
                  <a:srgbClr val="FFFFFF"/>
                </a:solidFill>
                <a:latin typeface="Arial Black" pitchFamily="34" charset="0"/>
                <a:ea typeface="Arial Black" pitchFamily="34" charset="-122"/>
                <a:cs typeface="Arial Black" pitchFamily="34" charset="-120"/>
              </a:rPr>
              <a:t>GAME · ROUND 2 🔥</a:t>
            </a:r>
            <a:endParaRPr lang="en-US" sz="1450" dirty="0"/>
          </a:p>
        </p:txBody>
      </p:sp>
      <p:sp>
        <p:nvSpPr>
          <p:cNvPr id="4" name="bm_402"/>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Look and remember!</a:t>
            </a:r>
            <a:endParaRPr lang="en-US" sz="2700" dirty="0"/>
          </a:p>
        </p:txBody>
      </p:sp>
      <p:sp>
        <p:nvSpPr>
          <p:cNvPr id="5" name="in_403"/>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 Look for 15 seconds. Remember ALL the pictures!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e ricorda tutte le immagini!</a:t>
            </a:r>
            <a:endParaRPr lang="en-US" sz="1400" dirty="0"/>
          </a:p>
        </p:txBody>
      </p:sp>
      <p:sp>
        <p:nvSpPr>
          <p:cNvPr id="6" name="cd_404"/>
          <p:cNvSpPr/>
          <p:nvPr/>
        </p:nvSpPr>
        <p:spPr>
          <a:xfrm>
            <a:off x="43434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405" descr="/home/claude/movers/img/fc/rocky.png">    </p:cNvPr>
          <p:cNvPicPr>
            <a:picLocks noChangeAspect="1"/>
          </p:cNvPicPr>
          <p:nvPr/>
        </p:nvPicPr>
        <p:blipFill>
          <a:blip r:embed="rId2"/>
          <a:stretch>
            <a:fillRect/>
          </a:stretch>
        </p:blipFill>
        <p:spPr>
          <a:xfrm>
            <a:off x="699516" y="1353312"/>
            <a:ext cx="1298448" cy="1298448"/>
          </a:xfrm>
          <a:prstGeom prst="rect">
            <a:avLst/>
          </a:prstGeom>
        </p:spPr>
      </p:pic>
      <p:sp>
        <p:nvSpPr>
          <p:cNvPr id="8" name="lb_406"/>
          <p:cNvSpPr/>
          <p:nvPr/>
        </p:nvSpPr>
        <p:spPr>
          <a:xfrm>
            <a:off x="47091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rocky</a:t>
            </a:r>
            <a:endParaRPr lang="en-US" sz="1200" dirty="0"/>
          </a:p>
        </p:txBody>
      </p:sp>
      <p:sp>
        <p:nvSpPr>
          <p:cNvPr id="9" name="cd_407"/>
          <p:cNvSpPr/>
          <p:nvPr/>
        </p:nvSpPr>
        <p:spPr>
          <a:xfrm>
            <a:off x="258318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ci_408" descr="/home/claude/movers/img/fc/henrietta.png">    </p:cNvPr>
          <p:cNvPicPr>
            <a:picLocks noChangeAspect="1"/>
          </p:cNvPicPr>
          <p:nvPr/>
        </p:nvPicPr>
        <p:blipFill>
          <a:blip r:embed="rId3"/>
          <a:stretch>
            <a:fillRect/>
          </a:stretch>
        </p:blipFill>
        <p:spPr>
          <a:xfrm>
            <a:off x="2848356" y="1353312"/>
            <a:ext cx="1298448" cy="1298448"/>
          </a:xfrm>
          <a:prstGeom prst="rect">
            <a:avLst/>
          </a:prstGeom>
        </p:spPr>
      </p:pic>
      <p:sp>
        <p:nvSpPr>
          <p:cNvPr id="11" name="lb_409"/>
          <p:cNvSpPr/>
          <p:nvPr/>
        </p:nvSpPr>
        <p:spPr>
          <a:xfrm>
            <a:off x="261975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henrietta</a:t>
            </a:r>
            <a:endParaRPr lang="en-US" sz="1200" dirty="0"/>
          </a:p>
        </p:txBody>
      </p:sp>
      <p:sp>
        <p:nvSpPr>
          <p:cNvPr id="12" name="cd_410"/>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411" descr="/home/claude/movers/img/fc/shelly.png">    </p:cNvPr>
          <p:cNvPicPr>
            <a:picLocks noChangeAspect="1"/>
          </p:cNvPicPr>
          <p:nvPr/>
        </p:nvPicPr>
        <p:blipFill>
          <a:blip r:embed="rId4"/>
          <a:stretch>
            <a:fillRect/>
          </a:stretch>
        </p:blipFill>
        <p:spPr>
          <a:xfrm>
            <a:off x="4997196" y="1353312"/>
            <a:ext cx="1298448" cy="1298448"/>
          </a:xfrm>
          <a:prstGeom prst="rect">
            <a:avLst/>
          </a:prstGeom>
        </p:spPr>
      </p:pic>
      <p:sp>
        <p:nvSpPr>
          <p:cNvPr id="14" name="lb_412"/>
          <p:cNvSpPr/>
          <p:nvPr/>
        </p:nvSpPr>
        <p:spPr>
          <a:xfrm>
            <a:off x="476859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shelly</a:t>
            </a:r>
            <a:endParaRPr lang="en-US" sz="1200" dirty="0"/>
          </a:p>
        </p:txBody>
      </p:sp>
      <p:sp>
        <p:nvSpPr>
          <p:cNvPr id="15" name="cd_413"/>
          <p:cNvSpPr/>
          <p:nvPr/>
        </p:nvSpPr>
        <p:spPr>
          <a:xfrm>
            <a:off x="688086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6" name="ci_414" descr="/home/claude/movers/img/fc/gracie.png">    </p:cNvPr>
          <p:cNvPicPr>
            <a:picLocks noChangeAspect="1"/>
          </p:cNvPicPr>
          <p:nvPr/>
        </p:nvPicPr>
        <p:blipFill>
          <a:blip r:embed="rId5"/>
          <a:stretch>
            <a:fillRect/>
          </a:stretch>
        </p:blipFill>
        <p:spPr>
          <a:xfrm>
            <a:off x="7146036" y="1353312"/>
            <a:ext cx="1298448" cy="1298448"/>
          </a:xfrm>
          <a:prstGeom prst="rect">
            <a:avLst/>
          </a:prstGeom>
        </p:spPr>
      </p:pic>
      <p:sp>
        <p:nvSpPr>
          <p:cNvPr id="17" name="lb_415"/>
          <p:cNvSpPr/>
          <p:nvPr/>
        </p:nvSpPr>
        <p:spPr>
          <a:xfrm>
            <a:off x="691743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gracie</a:t>
            </a:r>
            <a:endParaRPr lang="en-US" sz="1200" dirty="0"/>
          </a:p>
        </p:txBody>
      </p:sp>
      <p:sp>
        <p:nvSpPr>
          <p:cNvPr id="18" name="cd_416"/>
          <p:cNvSpPr/>
          <p:nvPr/>
        </p:nvSpPr>
        <p:spPr>
          <a:xfrm>
            <a:off x="43434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ci_417" descr="/home/claude/movers/img/fc/harry.png">    </p:cNvPr>
          <p:cNvPicPr>
            <a:picLocks noChangeAspect="1"/>
          </p:cNvPicPr>
          <p:nvPr/>
        </p:nvPicPr>
        <p:blipFill>
          <a:blip r:embed="rId6"/>
          <a:stretch>
            <a:fillRect/>
          </a:stretch>
        </p:blipFill>
        <p:spPr>
          <a:xfrm>
            <a:off x="699516" y="3291840"/>
            <a:ext cx="1298448" cy="1298448"/>
          </a:xfrm>
          <a:prstGeom prst="rect">
            <a:avLst/>
          </a:prstGeom>
        </p:spPr>
      </p:pic>
      <p:sp>
        <p:nvSpPr>
          <p:cNvPr id="20" name="lb_418"/>
          <p:cNvSpPr/>
          <p:nvPr/>
        </p:nvSpPr>
        <p:spPr>
          <a:xfrm>
            <a:off x="47091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harry</a:t>
            </a:r>
            <a:endParaRPr lang="en-US" sz="1200" dirty="0"/>
          </a:p>
        </p:txBody>
      </p:sp>
      <p:sp>
        <p:nvSpPr>
          <p:cNvPr id="21" name="cd_419"/>
          <p:cNvSpPr/>
          <p:nvPr/>
        </p:nvSpPr>
        <p:spPr>
          <a:xfrm>
            <a:off x="258318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420" descr="/home/claude/movers/img/fc/cameron.png">    </p:cNvPr>
          <p:cNvPicPr>
            <a:picLocks noChangeAspect="1"/>
          </p:cNvPicPr>
          <p:nvPr/>
        </p:nvPicPr>
        <p:blipFill>
          <a:blip r:embed="rId7"/>
          <a:stretch>
            <a:fillRect/>
          </a:stretch>
        </p:blipFill>
        <p:spPr>
          <a:xfrm>
            <a:off x="2848356" y="3291840"/>
            <a:ext cx="1298448" cy="1298448"/>
          </a:xfrm>
          <a:prstGeom prst="rect">
            <a:avLst/>
          </a:prstGeom>
        </p:spPr>
      </p:pic>
      <p:sp>
        <p:nvSpPr>
          <p:cNvPr id="23" name="lb_421"/>
          <p:cNvSpPr/>
          <p:nvPr/>
        </p:nvSpPr>
        <p:spPr>
          <a:xfrm>
            <a:off x="261975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cameron</a:t>
            </a:r>
            <a:endParaRPr lang="en-US" sz="1200" dirty="0"/>
          </a:p>
        </p:txBody>
      </p:sp>
    </p:spTree>
  </p:cSld>
  <p:clrMapOvr>
    <a:masterClrMapping/>
  </p:clrMapOvr>
  <p:transition spd="med">
    <p:push dir="l"/>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2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450" dirty="0">
                <a:solidFill>
                  <a:srgbClr val="FFFFFF"/>
                </a:solidFill>
                <a:latin typeface="Arial Black" pitchFamily="34" charset="0"/>
                <a:ea typeface="Arial Black" pitchFamily="34" charset="-122"/>
                <a:cs typeface="Arial Black" pitchFamily="34" charset="-120"/>
              </a:rPr>
              <a:t>GAME · ROUND 2 🔥</a:t>
            </a:r>
            <a:endParaRPr lang="en-US" sz="1450" dirty="0"/>
          </a:p>
        </p:txBody>
      </p:sp>
      <p:sp>
        <p:nvSpPr>
          <p:cNvPr id="4" name="bm_42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What's missing?</a:t>
            </a:r>
            <a:endParaRPr lang="en-US" sz="2700" dirty="0"/>
          </a:p>
        </p:txBody>
      </p:sp>
      <p:sp>
        <p:nvSpPr>
          <p:cNvPr id="5" name="in_42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TWO pictures are missing! Write them down.</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Mancano DUE immagini! Scrivile.</a:t>
            </a:r>
            <a:endParaRPr lang="en-US" sz="1400" dirty="0"/>
          </a:p>
        </p:txBody>
      </p:sp>
      <p:sp>
        <p:nvSpPr>
          <p:cNvPr id="6" name="q_425"/>
          <p:cNvSpPr/>
          <p:nvPr/>
        </p:nvSpPr>
        <p:spPr>
          <a:xfrm>
            <a:off x="434340" y="1280160"/>
            <a:ext cx="1828800" cy="1828800"/>
          </a:xfrm>
          <a:prstGeom prst="roundRect">
            <a:avLst>
              <a:gd name="adj" fmla="val 6000"/>
            </a:avLst>
          </a:prstGeom>
          <a:solidFill>
            <a:srgbClr val="FFD23F"/>
          </a:solidFill>
          <a:ln w="38100">
            <a:solidFill>
              <a:srgbClr val="1E2A5A"/>
            </a:solidFill>
            <a:prstDash val="dash"/>
          </a:ln>
        </p:spPr>
        <p:txBody>
          <a:bodyPr wrap="square" rtlCol="0" anchor="ctr"/>
          <a:lstStyle/>
          <a:p>
            <a:pPr algn="ctr" indent="0" marL="0">
              <a:buNone/>
            </a:pPr>
            <a:r>
              <a:rPr lang="en-US" sz="6000" dirty="0">
                <a:solidFill>
                  <a:srgbClr val="1E2A5A"/>
                </a:solidFill>
                <a:latin typeface="Arial Black" pitchFamily="34" charset="0"/>
                <a:ea typeface="Arial Black" pitchFamily="34" charset="-122"/>
                <a:cs typeface="Arial Black" pitchFamily="34" charset="-120"/>
              </a:rPr>
              <a:t>?</a:t>
            </a:r>
            <a:endParaRPr lang="en-US" sz="6000" dirty="0"/>
          </a:p>
        </p:txBody>
      </p:sp>
      <p:sp>
        <p:nvSpPr>
          <p:cNvPr id="7" name="cd_426"/>
          <p:cNvSpPr/>
          <p:nvPr/>
        </p:nvSpPr>
        <p:spPr>
          <a:xfrm>
            <a:off x="258318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427" descr="/home/claude/movers/img/fc/henrietta.png">    </p:cNvPr>
          <p:cNvPicPr>
            <a:picLocks noChangeAspect="1"/>
          </p:cNvPicPr>
          <p:nvPr/>
        </p:nvPicPr>
        <p:blipFill>
          <a:blip r:embed="rId2"/>
          <a:stretch>
            <a:fillRect/>
          </a:stretch>
        </p:blipFill>
        <p:spPr>
          <a:xfrm>
            <a:off x="2848356" y="1353312"/>
            <a:ext cx="1298448" cy="1298448"/>
          </a:xfrm>
          <a:prstGeom prst="rect">
            <a:avLst/>
          </a:prstGeom>
        </p:spPr>
      </p:pic>
      <p:sp>
        <p:nvSpPr>
          <p:cNvPr id="9" name="lb_428"/>
          <p:cNvSpPr/>
          <p:nvPr/>
        </p:nvSpPr>
        <p:spPr>
          <a:xfrm>
            <a:off x="261975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henrietta</a:t>
            </a:r>
            <a:endParaRPr lang="en-US" sz="1200" dirty="0"/>
          </a:p>
        </p:txBody>
      </p:sp>
      <p:sp>
        <p:nvSpPr>
          <p:cNvPr id="10" name="cd_429"/>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430" descr="/home/claude/movers/img/fc/shelly.png">    </p:cNvPr>
          <p:cNvPicPr>
            <a:picLocks noChangeAspect="1"/>
          </p:cNvPicPr>
          <p:nvPr/>
        </p:nvPicPr>
        <p:blipFill>
          <a:blip r:embed="rId3"/>
          <a:stretch>
            <a:fillRect/>
          </a:stretch>
        </p:blipFill>
        <p:spPr>
          <a:xfrm>
            <a:off x="4997196" y="1353312"/>
            <a:ext cx="1298448" cy="1298448"/>
          </a:xfrm>
          <a:prstGeom prst="rect">
            <a:avLst/>
          </a:prstGeom>
        </p:spPr>
      </p:pic>
      <p:sp>
        <p:nvSpPr>
          <p:cNvPr id="12" name="lb_431"/>
          <p:cNvSpPr/>
          <p:nvPr/>
        </p:nvSpPr>
        <p:spPr>
          <a:xfrm>
            <a:off x="476859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shelly</a:t>
            </a:r>
            <a:endParaRPr lang="en-US" sz="1200" dirty="0"/>
          </a:p>
        </p:txBody>
      </p:sp>
      <p:sp>
        <p:nvSpPr>
          <p:cNvPr id="13" name="cd_432"/>
          <p:cNvSpPr/>
          <p:nvPr/>
        </p:nvSpPr>
        <p:spPr>
          <a:xfrm>
            <a:off x="688086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433" descr="/home/claude/movers/img/fc/gracie.png">    </p:cNvPr>
          <p:cNvPicPr>
            <a:picLocks noChangeAspect="1"/>
          </p:cNvPicPr>
          <p:nvPr/>
        </p:nvPicPr>
        <p:blipFill>
          <a:blip r:embed="rId4"/>
          <a:stretch>
            <a:fillRect/>
          </a:stretch>
        </p:blipFill>
        <p:spPr>
          <a:xfrm>
            <a:off x="7146036" y="1353312"/>
            <a:ext cx="1298448" cy="1298448"/>
          </a:xfrm>
          <a:prstGeom prst="rect">
            <a:avLst/>
          </a:prstGeom>
        </p:spPr>
      </p:pic>
      <p:sp>
        <p:nvSpPr>
          <p:cNvPr id="15" name="lb_434"/>
          <p:cNvSpPr/>
          <p:nvPr/>
        </p:nvSpPr>
        <p:spPr>
          <a:xfrm>
            <a:off x="691743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gracie</a:t>
            </a:r>
            <a:endParaRPr lang="en-US" sz="1200" dirty="0"/>
          </a:p>
        </p:txBody>
      </p:sp>
      <p:sp>
        <p:nvSpPr>
          <p:cNvPr id="16" name="cd_435"/>
          <p:cNvSpPr/>
          <p:nvPr/>
        </p:nvSpPr>
        <p:spPr>
          <a:xfrm>
            <a:off x="43434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436" descr="/home/claude/movers/img/fc/harry.png">    </p:cNvPr>
          <p:cNvPicPr>
            <a:picLocks noChangeAspect="1"/>
          </p:cNvPicPr>
          <p:nvPr/>
        </p:nvPicPr>
        <p:blipFill>
          <a:blip r:embed="rId5"/>
          <a:stretch>
            <a:fillRect/>
          </a:stretch>
        </p:blipFill>
        <p:spPr>
          <a:xfrm>
            <a:off x="699516" y="3291840"/>
            <a:ext cx="1298448" cy="1298448"/>
          </a:xfrm>
          <a:prstGeom prst="rect">
            <a:avLst/>
          </a:prstGeom>
        </p:spPr>
      </p:pic>
      <p:sp>
        <p:nvSpPr>
          <p:cNvPr id="18" name="lb_437"/>
          <p:cNvSpPr/>
          <p:nvPr/>
        </p:nvSpPr>
        <p:spPr>
          <a:xfrm>
            <a:off x="47091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harry</a:t>
            </a:r>
            <a:endParaRPr lang="en-US" sz="1200" dirty="0"/>
          </a:p>
        </p:txBody>
      </p:sp>
      <p:sp>
        <p:nvSpPr>
          <p:cNvPr id="19" name="q_438"/>
          <p:cNvSpPr/>
          <p:nvPr/>
        </p:nvSpPr>
        <p:spPr>
          <a:xfrm>
            <a:off x="2583180" y="3218688"/>
            <a:ext cx="1828800" cy="1828800"/>
          </a:xfrm>
          <a:prstGeom prst="roundRect">
            <a:avLst>
              <a:gd name="adj" fmla="val 6000"/>
            </a:avLst>
          </a:prstGeom>
          <a:solidFill>
            <a:srgbClr val="FFD23F"/>
          </a:solidFill>
          <a:ln w="38100">
            <a:solidFill>
              <a:srgbClr val="1E2A5A"/>
            </a:solidFill>
            <a:prstDash val="dash"/>
          </a:ln>
        </p:spPr>
        <p:txBody>
          <a:bodyPr wrap="square" rtlCol="0" anchor="ctr"/>
          <a:lstStyle/>
          <a:p>
            <a:pPr algn="ctr" indent="0" marL="0">
              <a:buNone/>
            </a:pPr>
            <a:r>
              <a:rPr lang="en-US" sz="6000" dirty="0">
                <a:solidFill>
                  <a:srgbClr val="1E2A5A"/>
                </a:solidFill>
                <a:latin typeface="Arial Black" pitchFamily="34" charset="0"/>
                <a:ea typeface="Arial Black" pitchFamily="34" charset="-122"/>
                <a:cs typeface="Arial Black" pitchFamily="34" charset="-120"/>
              </a:rPr>
              <a:t>?</a:t>
            </a:r>
            <a:endParaRPr lang="en-US" sz="6000" dirty="0"/>
          </a:p>
        </p:txBody>
      </p:sp>
    </p:spTree>
  </p:cSld>
  <p:clrMapOvr>
    <a:masterClrMapping/>
  </p:clrMapOvr>
  <p:transition spd="med">
    <p:push dir="l"/>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3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ANSWER</a:t>
            </a:r>
            <a:endParaRPr lang="en-US" sz="1600" dirty="0"/>
          </a:p>
        </p:txBody>
      </p:sp>
      <p:sp>
        <p:nvSpPr>
          <p:cNvPr id="4" name="bm_440"/>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Were you right?</a:t>
            </a:r>
            <a:endParaRPr lang="en-US" sz="2700" dirty="0"/>
          </a:p>
        </p:txBody>
      </p:sp>
      <p:sp>
        <p:nvSpPr>
          <p:cNvPr id="5" name="in_441"/>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It's: rocky and cameron!</a:t>
            </a:r>
            <a:endParaRPr lang="en-US" sz="1400" dirty="0"/>
          </a:p>
          <a:p>
            <a:pPr indent="0" marL="0">
              <a:buNone/>
            </a:pPr>
            <a:endParaRPr lang="en-US" sz="1400" dirty="0"/>
          </a:p>
        </p:txBody>
      </p:sp>
      <p:sp>
        <p:nvSpPr>
          <p:cNvPr id="6" name="cd_442"/>
          <p:cNvSpPr/>
          <p:nvPr/>
        </p:nvSpPr>
        <p:spPr>
          <a:xfrm>
            <a:off x="434340" y="1280160"/>
            <a:ext cx="1828800" cy="1828800"/>
          </a:xfrm>
          <a:prstGeom prst="roundRect">
            <a:avLst>
              <a:gd name="adj" fmla="val 6000"/>
            </a:avLst>
          </a:prstGeom>
          <a:solidFill>
            <a:srgbClr val="FFFFFF"/>
          </a:solidFill>
          <a:ln w="38100">
            <a:solidFill>
              <a:srgbClr val="6CCB3B"/>
            </a:solidFill>
            <a:prstDash val="solid"/>
          </a:ln>
          <a:effectLst>
            <a:outerShdw sx="100000" sy="100000" kx="0" ky="0" algn="bl" rotWithShape="0" blurRad="38100" dist="25400" dir="5400000">
              <a:srgbClr val="000000">
                <a:alpha val="20000"/>
              </a:srgbClr>
            </a:outerShdw>
          </a:effectLst>
        </p:spPr>
      </p:sp>
      <p:pic>
        <p:nvPicPr>
          <p:cNvPr id="7" name="ci_443" descr="/home/claude/movers/img/fc/rocky.png">    </p:cNvPr>
          <p:cNvPicPr>
            <a:picLocks noChangeAspect="1"/>
          </p:cNvPicPr>
          <p:nvPr/>
        </p:nvPicPr>
        <p:blipFill>
          <a:blip r:embed="rId2"/>
          <a:stretch>
            <a:fillRect/>
          </a:stretch>
        </p:blipFill>
        <p:spPr>
          <a:xfrm>
            <a:off x="699516" y="1353312"/>
            <a:ext cx="1298448" cy="1298448"/>
          </a:xfrm>
          <a:prstGeom prst="rect">
            <a:avLst/>
          </a:prstGeom>
        </p:spPr>
      </p:pic>
      <p:sp>
        <p:nvSpPr>
          <p:cNvPr id="8" name="lb_444"/>
          <p:cNvSpPr/>
          <p:nvPr/>
        </p:nvSpPr>
        <p:spPr>
          <a:xfrm>
            <a:off x="47091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rocky</a:t>
            </a:r>
            <a:endParaRPr lang="en-US" sz="1200" dirty="0"/>
          </a:p>
        </p:txBody>
      </p:sp>
      <p:sp>
        <p:nvSpPr>
          <p:cNvPr id="9" name="hl_445"/>
          <p:cNvSpPr/>
          <p:nvPr/>
        </p:nvSpPr>
        <p:spPr>
          <a:xfrm>
            <a:off x="379476" y="1225296"/>
            <a:ext cx="1938528" cy="1938528"/>
          </a:xfrm>
          <a:prstGeom prst="roundRect">
            <a:avLst>
              <a:gd name="adj" fmla="val 5660"/>
            </a:avLst>
          </a:prstGeom>
          <a:ln w="76200">
            <a:solidFill>
              <a:srgbClr val="6CCB3B"/>
            </a:solidFill>
            <a:prstDash val="solid"/>
          </a:ln>
        </p:spPr>
      </p:sp>
      <p:sp>
        <p:nvSpPr>
          <p:cNvPr id="10" name="cd_446"/>
          <p:cNvSpPr/>
          <p:nvPr/>
        </p:nvSpPr>
        <p:spPr>
          <a:xfrm>
            <a:off x="258318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447" descr="/home/claude/movers/img/fc/henrietta.png">    </p:cNvPr>
          <p:cNvPicPr>
            <a:picLocks noChangeAspect="1"/>
          </p:cNvPicPr>
          <p:nvPr/>
        </p:nvPicPr>
        <p:blipFill>
          <a:blip r:embed="rId3"/>
          <a:stretch>
            <a:fillRect/>
          </a:stretch>
        </p:blipFill>
        <p:spPr>
          <a:xfrm>
            <a:off x="2848356" y="1353312"/>
            <a:ext cx="1298448" cy="1298448"/>
          </a:xfrm>
          <a:prstGeom prst="rect">
            <a:avLst/>
          </a:prstGeom>
        </p:spPr>
      </p:pic>
      <p:sp>
        <p:nvSpPr>
          <p:cNvPr id="12" name="lb_448"/>
          <p:cNvSpPr/>
          <p:nvPr/>
        </p:nvSpPr>
        <p:spPr>
          <a:xfrm>
            <a:off x="261975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henrietta</a:t>
            </a:r>
            <a:endParaRPr lang="en-US" sz="1200" dirty="0"/>
          </a:p>
        </p:txBody>
      </p:sp>
      <p:sp>
        <p:nvSpPr>
          <p:cNvPr id="13" name="cd_449"/>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450" descr="/home/claude/movers/img/fc/shelly.png">    </p:cNvPr>
          <p:cNvPicPr>
            <a:picLocks noChangeAspect="1"/>
          </p:cNvPicPr>
          <p:nvPr/>
        </p:nvPicPr>
        <p:blipFill>
          <a:blip r:embed="rId4"/>
          <a:stretch>
            <a:fillRect/>
          </a:stretch>
        </p:blipFill>
        <p:spPr>
          <a:xfrm>
            <a:off x="4997196" y="1353312"/>
            <a:ext cx="1298448" cy="1298448"/>
          </a:xfrm>
          <a:prstGeom prst="rect">
            <a:avLst/>
          </a:prstGeom>
        </p:spPr>
      </p:pic>
      <p:sp>
        <p:nvSpPr>
          <p:cNvPr id="15" name="lb_451"/>
          <p:cNvSpPr/>
          <p:nvPr/>
        </p:nvSpPr>
        <p:spPr>
          <a:xfrm>
            <a:off x="476859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shelly</a:t>
            </a:r>
            <a:endParaRPr lang="en-US" sz="1200" dirty="0"/>
          </a:p>
        </p:txBody>
      </p:sp>
      <p:sp>
        <p:nvSpPr>
          <p:cNvPr id="16" name="cd_452"/>
          <p:cNvSpPr/>
          <p:nvPr/>
        </p:nvSpPr>
        <p:spPr>
          <a:xfrm>
            <a:off x="688086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453" descr="/home/claude/movers/img/fc/gracie.png">    </p:cNvPr>
          <p:cNvPicPr>
            <a:picLocks noChangeAspect="1"/>
          </p:cNvPicPr>
          <p:nvPr/>
        </p:nvPicPr>
        <p:blipFill>
          <a:blip r:embed="rId5"/>
          <a:stretch>
            <a:fillRect/>
          </a:stretch>
        </p:blipFill>
        <p:spPr>
          <a:xfrm>
            <a:off x="7146036" y="1353312"/>
            <a:ext cx="1298448" cy="1298448"/>
          </a:xfrm>
          <a:prstGeom prst="rect">
            <a:avLst/>
          </a:prstGeom>
        </p:spPr>
      </p:pic>
      <p:sp>
        <p:nvSpPr>
          <p:cNvPr id="18" name="lb_454"/>
          <p:cNvSpPr/>
          <p:nvPr/>
        </p:nvSpPr>
        <p:spPr>
          <a:xfrm>
            <a:off x="6917436" y="2670048"/>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gracie</a:t>
            </a:r>
            <a:endParaRPr lang="en-US" sz="1200" dirty="0"/>
          </a:p>
        </p:txBody>
      </p:sp>
      <p:sp>
        <p:nvSpPr>
          <p:cNvPr id="19" name="cd_455"/>
          <p:cNvSpPr/>
          <p:nvPr/>
        </p:nvSpPr>
        <p:spPr>
          <a:xfrm>
            <a:off x="43434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456" descr="/home/claude/movers/img/fc/harry.png">    </p:cNvPr>
          <p:cNvPicPr>
            <a:picLocks noChangeAspect="1"/>
          </p:cNvPicPr>
          <p:nvPr/>
        </p:nvPicPr>
        <p:blipFill>
          <a:blip r:embed="rId6"/>
          <a:stretch>
            <a:fillRect/>
          </a:stretch>
        </p:blipFill>
        <p:spPr>
          <a:xfrm>
            <a:off x="699516" y="3291840"/>
            <a:ext cx="1298448" cy="1298448"/>
          </a:xfrm>
          <a:prstGeom prst="rect">
            <a:avLst/>
          </a:prstGeom>
        </p:spPr>
      </p:pic>
      <p:sp>
        <p:nvSpPr>
          <p:cNvPr id="21" name="lb_457"/>
          <p:cNvSpPr/>
          <p:nvPr/>
        </p:nvSpPr>
        <p:spPr>
          <a:xfrm>
            <a:off x="47091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harry</a:t>
            </a:r>
            <a:endParaRPr lang="en-US" sz="1200" dirty="0"/>
          </a:p>
        </p:txBody>
      </p:sp>
      <p:sp>
        <p:nvSpPr>
          <p:cNvPr id="22" name="cd_458"/>
          <p:cNvSpPr/>
          <p:nvPr/>
        </p:nvSpPr>
        <p:spPr>
          <a:xfrm>
            <a:off x="2583180" y="3218688"/>
            <a:ext cx="1828800" cy="1828800"/>
          </a:xfrm>
          <a:prstGeom prst="roundRect">
            <a:avLst>
              <a:gd name="adj" fmla="val 6000"/>
            </a:avLst>
          </a:prstGeom>
          <a:solidFill>
            <a:srgbClr val="FFFFFF"/>
          </a:solidFill>
          <a:ln w="38100">
            <a:solidFill>
              <a:srgbClr val="6CCB3B"/>
            </a:solidFill>
            <a:prstDash val="solid"/>
          </a:ln>
          <a:effectLst>
            <a:outerShdw sx="100000" sy="100000" kx="0" ky="0" algn="bl" rotWithShape="0" blurRad="38100" dist="25400" dir="5400000">
              <a:srgbClr val="000000">
                <a:alpha val="20000"/>
              </a:srgbClr>
            </a:outerShdw>
          </a:effectLst>
        </p:spPr>
      </p:sp>
      <p:pic>
        <p:nvPicPr>
          <p:cNvPr id="23" name="ci_459" descr="/home/claude/movers/img/fc/cameron.png">    </p:cNvPr>
          <p:cNvPicPr>
            <a:picLocks noChangeAspect="1"/>
          </p:cNvPicPr>
          <p:nvPr/>
        </p:nvPicPr>
        <p:blipFill>
          <a:blip r:embed="rId7"/>
          <a:stretch>
            <a:fillRect/>
          </a:stretch>
        </p:blipFill>
        <p:spPr>
          <a:xfrm>
            <a:off x="2848356" y="3291840"/>
            <a:ext cx="1298448" cy="1298448"/>
          </a:xfrm>
          <a:prstGeom prst="rect">
            <a:avLst/>
          </a:prstGeom>
        </p:spPr>
      </p:pic>
      <p:sp>
        <p:nvSpPr>
          <p:cNvPr id="24" name="lb_460"/>
          <p:cNvSpPr/>
          <p:nvPr/>
        </p:nvSpPr>
        <p:spPr>
          <a:xfrm>
            <a:off x="2619756" y="4608576"/>
            <a:ext cx="175564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cameron</a:t>
            </a:r>
            <a:endParaRPr lang="en-US" sz="1200" dirty="0"/>
          </a:p>
        </p:txBody>
      </p:sp>
      <p:sp>
        <p:nvSpPr>
          <p:cNvPr id="25" name="hl_461"/>
          <p:cNvSpPr/>
          <p:nvPr/>
        </p:nvSpPr>
        <p:spPr>
          <a:xfrm>
            <a:off x="2528316" y="3163824"/>
            <a:ext cx="1938528" cy="1938528"/>
          </a:xfrm>
          <a:prstGeom prst="roundRect">
            <a:avLst>
              <a:gd name="adj" fmla="val 5660"/>
            </a:avLst>
          </a:prstGeom>
          <a:ln w="76200">
            <a:solidFill>
              <a:srgbClr val="6CCB3B"/>
            </a:solidFill>
            <a:prstDash val="solid"/>
          </a:ln>
        </p:spPr>
      </p:sp>
    </p:spTree>
  </p:cSld>
  <p:clrMapOvr>
    <a:masterClrMapping/>
  </p:clrMapOvr>
  <p:transition spd="med">
    <p:push dir="l"/>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6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46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Be the animals!</a:t>
            </a:r>
            <a:endParaRPr lang="en-US" sz="2700" dirty="0"/>
          </a:p>
        </p:txBody>
      </p:sp>
      <p:sp>
        <p:nvSpPr>
          <p:cNvPr id="5" name="in_46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Do it – fast!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Fallo – veloce!</a:t>
            </a:r>
            <a:endParaRPr lang="en-US" sz="1400" dirty="0"/>
          </a:p>
        </p:txBody>
      </p:sp>
      <p:sp>
        <p:nvSpPr>
          <p:cNvPr id="6" name="mode_46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WHOLE CLASS · ⏱ 4 MIN</a:t>
            </a:r>
            <a:endParaRPr lang="en-US" sz="1000" dirty="0"/>
          </a:p>
        </p:txBody>
      </p:sp>
      <p:sp>
        <p:nvSpPr>
          <p:cNvPr id="7" name="cd_466"/>
          <p:cNvSpPr/>
          <p:nvPr/>
        </p:nvSpPr>
        <p:spPr>
          <a:xfrm>
            <a:off x="27432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467" descr="/home/claude/movers/img/fc/rocky.png">    </p:cNvPr>
          <p:cNvPicPr>
            <a:picLocks noChangeAspect="1"/>
          </p:cNvPicPr>
          <p:nvPr/>
        </p:nvPicPr>
        <p:blipFill>
          <a:blip r:embed="rId2"/>
          <a:stretch>
            <a:fillRect/>
          </a:stretch>
        </p:blipFill>
        <p:spPr>
          <a:xfrm>
            <a:off x="347472" y="1399032"/>
            <a:ext cx="1133856" cy="1133856"/>
          </a:xfrm>
          <a:prstGeom prst="rect">
            <a:avLst/>
          </a:prstGeom>
        </p:spPr>
      </p:pic>
      <p:sp>
        <p:nvSpPr>
          <p:cNvPr id="9" name="R1_a468"/>
          <p:cNvSpPr/>
          <p:nvPr/>
        </p:nvSpPr>
        <p:spPr>
          <a:xfrm>
            <a:off x="162763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Rocky! Flap your wings!</a:t>
            </a:r>
            <a:endParaRPr lang="en-US" sz="1250" dirty="0"/>
          </a:p>
        </p:txBody>
      </p:sp>
      <p:sp>
        <p:nvSpPr>
          <p:cNvPr id="10" name="cd_469"/>
          <p:cNvSpPr/>
          <p:nvPr/>
        </p:nvSpPr>
        <p:spPr>
          <a:xfrm>
            <a:off x="313944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470" descr="/home/claude/movers/img/fc/henrietta.png">    </p:cNvPr>
          <p:cNvPicPr>
            <a:picLocks noChangeAspect="1"/>
          </p:cNvPicPr>
          <p:nvPr/>
        </p:nvPicPr>
        <p:blipFill>
          <a:blip r:embed="rId3"/>
          <a:stretch>
            <a:fillRect/>
          </a:stretch>
        </p:blipFill>
        <p:spPr>
          <a:xfrm>
            <a:off x="3212592" y="1399032"/>
            <a:ext cx="1133856" cy="1133856"/>
          </a:xfrm>
          <a:prstGeom prst="rect">
            <a:avLst/>
          </a:prstGeom>
        </p:spPr>
      </p:pic>
      <p:sp>
        <p:nvSpPr>
          <p:cNvPr id="12" name="R2_a471"/>
          <p:cNvSpPr/>
          <p:nvPr/>
        </p:nvSpPr>
        <p:spPr>
          <a:xfrm>
            <a:off x="449275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Henrietta! Go to sleep. Zzz…</a:t>
            </a:r>
            <a:endParaRPr lang="en-US" sz="1250" dirty="0"/>
          </a:p>
        </p:txBody>
      </p:sp>
      <p:sp>
        <p:nvSpPr>
          <p:cNvPr id="13" name="cd_472"/>
          <p:cNvSpPr/>
          <p:nvPr/>
        </p:nvSpPr>
        <p:spPr>
          <a:xfrm>
            <a:off x="600456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473" descr="/home/claude/movers/img/fc/shelly.png">    </p:cNvPr>
          <p:cNvPicPr>
            <a:picLocks noChangeAspect="1"/>
          </p:cNvPicPr>
          <p:nvPr/>
        </p:nvPicPr>
        <p:blipFill>
          <a:blip r:embed="rId4"/>
          <a:stretch>
            <a:fillRect/>
          </a:stretch>
        </p:blipFill>
        <p:spPr>
          <a:xfrm>
            <a:off x="6077712" y="1399032"/>
            <a:ext cx="1133856" cy="1133856"/>
          </a:xfrm>
          <a:prstGeom prst="rect">
            <a:avLst/>
          </a:prstGeom>
        </p:spPr>
      </p:pic>
      <p:sp>
        <p:nvSpPr>
          <p:cNvPr id="15" name="R3_a474"/>
          <p:cNvSpPr/>
          <p:nvPr/>
        </p:nvSpPr>
        <p:spPr>
          <a:xfrm>
            <a:off x="735787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Shelly! Sing very loudly!</a:t>
            </a:r>
            <a:endParaRPr lang="en-US" sz="1250" dirty="0"/>
          </a:p>
        </p:txBody>
      </p:sp>
      <p:sp>
        <p:nvSpPr>
          <p:cNvPr id="16" name="cd_475"/>
          <p:cNvSpPr/>
          <p:nvPr/>
        </p:nvSpPr>
        <p:spPr>
          <a:xfrm>
            <a:off x="27432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476" descr="/home/claude/movers/img/fc/cameron.png">    </p:cNvPr>
          <p:cNvPicPr>
            <a:picLocks noChangeAspect="1"/>
          </p:cNvPicPr>
          <p:nvPr/>
        </p:nvPicPr>
        <p:blipFill>
          <a:blip r:embed="rId5"/>
          <a:stretch>
            <a:fillRect/>
          </a:stretch>
        </p:blipFill>
        <p:spPr>
          <a:xfrm>
            <a:off x="347472" y="2999232"/>
            <a:ext cx="1133856" cy="1133856"/>
          </a:xfrm>
          <a:prstGeom prst="rect">
            <a:avLst/>
          </a:prstGeom>
        </p:spPr>
      </p:pic>
      <p:sp>
        <p:nvSpPr>
          <p:cNvPr id="18" name="R4_a477"/>
          <p:cNvSpPr/>
          <p:nvPr/>
        </p:nvSpPr>
        <p:spPr>
          <a:xfrm>
            <a:off x="162763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Cameron! Cover your ears!</a:t>
            </a:r>
            <a:endParaRPr lang="en-US" sz="1250" dirty="0"/>
          </a:p>
        </p:txBody>
      </p:sp>
      <p:sp>
        <p:nvSpPr>
          <p:cNvPr id="19" name="cd_478"/>
          <p:cNvSpPr/>
          <p:nvPr/>
        </p:nvSpPr>
        <p:spPr>
          <a:xfrm>
            <a:off x="313944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479" descr="/home/claude/movers/img/fc/harry.png">    </p:cNvPr>
          <p:cNvPicPr>
            <a:picLocks noChangeAspect="1"/>
          </p:cNvPicPr>
          <p:nvPr/>
        </p:nvPicPr>
        <p:blipFill>
          <a:blip r:embed="rId6"/>
          <a:stretch>
            <a:fillRect/>
          </a:stretch>
        </p:blipFill>
        <p:spPr>
          <a:xfrm>
            <a:off x="3212592" y="2999232"/>
            <a:ext cx="1133856" cy="1133856"/>
          </a:xfrm>
          <a:prstGeom prst="rect">
            <a:avLst/>
          </a:prstGeom>
        </p:spPr>
      </p:pic>
      <p:sp>
        <p:nvSpPr>
          <p:cNvPr id="21" name="R5_a480"/>
          <p:cNvSpPr/>
          <p:nvPr/>
        </p:nvSpPr>
        <p:spPr>
          <a:xfrm>
            <a:off x="449275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Harry! Gallop!</a:t>
            </a:r>
            <a:endParaRPr lang="en-US" sz="1250" dirty="0"/>
          </a:p>
        </p:txBody>
      </p:sp>
      <p:sp>
        <p:nvSpPr>
          <p:cNvPr id="22" name="cd_481"/>
          <p:cNvSpPr/>
          <p:nvPr/>
        </p:nvSpPr>
        <p:spPr>
          <a:xfrm>
            <a:off x="600456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482" descr="/home/claude/movers/img/fc/gracie.png">    </p:cNvPr>
          <p:cNvPicPr>
            <a:picLocks noChangeAspect="1"/>
          </p:cNvPicPr>
          <p:nvPr/>
        </p:nvPicPr>
        <p:blipFill>
          <a:blip r:embed="rId7"/>
          <a:stretch>
            <a:fillRect/>
          </a:stretch>
        </p:blipFill>
        <p:spPr>
          <a:xfrm>
            <a:off x="6077712" y="2999232"/>
            <a:ext cx="1133856" cy="1133856"/>
          </a:xfrm>
          <a:prstGeom prst="rect">
            <a:avLst/>
          </a:prstGeom>
        </p:spPr>
      </p:pic>
      <p:sp>
        <p:nvSpPr>
          <p:cNvPr id="24" name="R6_a483"/>
          <p:cNvSpPr/>
          <p:nvPr/>
        </p:nvSpPr>
        <p:spPr>
          <a:xfrm>
            <a:off x="735787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Gracie! Eat a book!</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8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WELL DONE!</a:t>
            </a:r>
            <a:endParaRPr lang="en-US" sz="1600" dirty="0"/>
          </a:p>
        </p:txBody>
      </p:sp>
      <p:sp>
        <p:nvSpPr>
          <p:cNvPr id="4" name="bm_485"/>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Bye bye! 👋</a:t>
            </a:r>
            <a:endParaRPr lang="en-US" sz="3200" dirty="0"/>
          </a:p>
        </p:txBody>
      </p:sp>
      <p:sp>
        <p:nvSpPr>
          <p:cNvPr id="5" name="in_48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I can… · Oggi so…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Show me with your thumbs! 👍 👌 👎</a:t>
            </a:r>
            <a:endParaRPr lang="en-US" sz="1400" dirty="0"/>
          </a:p>
        </p:txBody>
      </p:sp>
      <p:sp>
        <p:nvSpPr>
          <p:cNvPr id="6" name="can_487"/>
          <p:cNvSpPr/>
          <p:nvPr/>
        </p:nvSpPr>
        <p:spPr>
          <a:xfrm>
            <a:off x="320040" y="132588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say my name, my age and where I live.</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dire nome, età e dove abito.</a:t>
            </a:r>
            <a:endParaRPr lang="en-US" sz="1300" dirty="0"/>
          </a:p>
        </p:txBody>
      </p:sp>
      <p:sp>
        <p:nvSpPr>
          <p:cNvPr id="7" name="can_488"/>
          <p:cNvSpPr/>
          <p:nvPr/>
        </p:nvSpPr>
        <p:spPr>
          <a:xfrm>
            <a:off x="320040" y="205740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say the names of the Friendly Farm animals.</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dire i nomi degli animali.</a:t>
            </a:r>
            <a:endParaRPr lang="en-US" sz="1300" dirty="0"/>
          </a:p>
        </p:txBody>
      </p:sp>
      <p:sp>
        <p:nvSpPr>
          <p:cNvPr id="8" name="can_489"/>
          <p:cNvSpPr/>
          <p:nvPr/>
        </p:nvSpPr>
        <p:spPr>
          <a:xfrm>
            <a:off x="320040" y="278892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say: I'm nine! (not I have…)</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dire la mia età in inglese.</a:t>
            </a:r>
            <a:endParaRPr lang="en-US" sz="1300" dirty="0"/>
          </a:p>
        </p:txBody>
      </p:sp>
      <p:sp>
        <p:nvSpPr>
          <p:cNvPr id="9" name="hw_490"/>
          <p:cNvSpPr/>
          <p:nvPr/>
        </p:nvSpPr>
        <p:spPr>
          <a:xfrm>
            <a:off x="5303520" y="1325880"/>
            <a:ext cx="3566160" cy="2377440"/>
          </a:xfrm>
          <a:prstGeom prst="roundRect">
            <a:avLst>
              <a:gd name="adj" fmla="val 4615"/>
            </a:avLst>
          </a:prstGeom>
          <a:solidFill>
            <a:srgbClr val="FFFFFF"/>
          </a:solidFill>
          <a:ln w="38100">
            <a:solidFill>
              <a:srgbClr val="FF8A3D"/>
            </a:solidFill>
          </a:ln>
        </p:spPr>
        <p:txBody>
          <a:bodyPr wrap="square" lIns="127000" tIns="127000" rIns="127000" bIns="127000" rtlCol="0" anchor="t"/>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 HOMEWORK · COMPITI</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Homework sheet: Meet the family</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p.4 ex 1 · p.5 ex 2</a:t>
            </a:r>
            <a:endParaRPr lang="en-US" sz="1250" dirty="0"/>
          </a:p>
        </p:txBody>
      </p:sp>
      <p:sp>
        <p:nvSpPr>
          <p:cNvPr id="10" name="nx_491"/>
          <p:cNvSpPr/>
          <p:nvPr/>
        </p:nvSpPr>
        <p:spPr>
          <a:xfrm>
            <a:off x="5303520" y="3840480"/>
            <a:ext cx="3566160" cy="502920"/>
          </a:xfrm>
          <a:prstGeom prst="rect">
            <a:avLst/>
          </a:prstGeom>
          <a:noFill/>
          <a:ln/>
        </p:spPr>
        <p:txBody>
          <a:bodyPr wrap="square" lIns="0" tIns="0" rIns="0" bIns="0" rtlCol="0" anchor="ctr"/>
          <a:lstStyle/>
          <a:p>
            <a:pPr indent="0" marL="0">
              <a:buNone/>
            </a:pPr>
            <a:r>
              <a:rPr lang="en-US" sz="1200" dirty="0">
                <a:solidFill>
                  <a:srgbClr val="1E2A5A"/>
                </a:solidFill>
                <a:latin typeface="Arial Rounded MT Bold" pitchFamily="34" charset="0"/>
                <a:ea typeface="Arial Rounded MT Bold" pitchFamily="34" charset="-122"/>
                <a:cs typeface="Arial Rounded MT Bold" pitchFamily="34" charset="-120"/>
              </a:rPr>
              <a:t>➡ Next: Unit 1 – A day on the farm! 🚜</a:t>
            </a:r>
            <a:endParaRPr lang="en-US" sz="1200" dirty="0"/>
          </a:p>
        </p:txBody>
      </p:sp>
    </p:spTree>
  </p:cSld>
  <p:clrMapOvr>
    <a:masterClrMapping/>
  </p:clrMapOvr>
  <p:transition spd="med">
    <p:push dir="l"/>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9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EXTRA</a:t>
            </a:r>
            <a:endParaRPr lang="en-US" sz="1600" dirty="0"/>
          </a:p>
        </p:txBody>
      </p:sp>
      <p:sp>
        <p:nvSpPr>
          <p:cNvPr id="4" name="bm_49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8E5BE8"/>
                </a:solidFill>
                <a:latin typeface="Arial Black" pitchFamily="34" charset="0"/>
                <a:ea typeface="Arial Black" pitchFamily="34" charset="-122"/>
                <a:cs typeface="Arial Black" pitchFamily="34" charset="-120"/>
              </a:rPr>
              <a:t>EXTRA: Hot seat!</a:t>
            </a:r>
            <a:endParaRPr lang="en-US" sz="2700" dirty="0"/>
          </a:p>
        </p:txBody>
      </p:sp>
      <p:sp>
        <p:nvSpPr>
          <p:cNvPr id="5" name="in_49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You are an animal. The class asks.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Sei un animale. La classe chiede.</a:t>
            </a:r>
            <a:endParaRPr lang="en-US" sz="1400" dirty="0"/>
          </a:p>
        </p:txBody>
      </p:sp>
      <p:sp>
        <p:nvSpPr>
          <p:cNvPr id="6" name="mode_49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WHOLE CLASS · ⏱ 5 MIN</a:t>
            </a:r>
            <a:endParaRPr lang="en-US" sz="1000" dirty="0"/>
          </a:p>
        </p:txBody>
      </p:sp>
      <p:sp>
        <p:nvSpPr>
          <p:cNvPr id="7" name="diff_496"/>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Are you …? Can you …?</a:t>
            </a:r>
            <a:endParaRPr lang="en-US" sz="950" dirty="0"/>
          </a:p>
        </p:txBody>
      </p:sp>
      <p:sp>
        <p:nvSpPr>
          <p:cNvPr id="8" name="st_497"/>
          <p:cNvSpPr/>
          <p:nvPr/>
        </p:nvSpPr>
        <p:spPr>
          <a:xfrm>
            <a:off x="228600" y="1325880"/>
            <a:ext cx="2651760" cy="975360"/>
          </a:xfrm>
          <a:prstGeom prst="roundRect">
            <a:avLst>
              <a:gd name="adj" fmla="val 1125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9" name="sn_498"/>
          <p:cNvSpPr/>
          <p:nvPr/>
        </p:nvSpPr>
        <p:spPr>
          <a:xfrm>
            <a:off x="118872" y="121615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sk_499"/>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DO</a:t>
            </a:r>
            <a:endParaRPr lang="en-US" sz="1300" dirty="0"/>
          </a:p>
        </p:txBody>
      </p:sp>
      <p:sp>
        <p:nvSpPr>
          <p:cNvPr id="11" name="se_500"/>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Choose an animal. Secret!</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Scegli un animale. Segreto!</a:t>
            </a:r>
            <a:endParaRPr lang="en-US" sz="1050" dirty="0"/>
          </a:p>
        </p:txBody>
      </p:sp>
      <p:sp>
        <p:nvSpPr>
          <p:cNvPr id="12" name="st_501"/>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3" name="sn_502"/>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sk_503"/>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5" name="se_504"/>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Class asks yes/no questions.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La classe fa domande sì/no.</a:t>
            </a:r>
            <a:endParaRPr lang="en-US" sz="1050" dirty="0"/>
          </a:p>
        </p:txBody>
      </p:sp>
      <p:sp>
        <p:nvSpPr>
          <p:cNvPr id="16" name="st_505"/>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7" name="sn_506"/>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sk_507"/>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9" name="se_508"/>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Yes, I am. / No, I'm not.</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Sì / No.</a:t>
            </a:r>
            <a:endParaRPr lang="en-US" sz="1050" dirty="0"/>
          </a:p>
        </p:txBody>
      </p:sp>
      <p:sp>
        <p:nvSpPr>
          <p:cNvPr id="20" name="gl_509"/>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Are you a horse?  Are you big?  Are you nine?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Can you sing?  Do you like eating paper?</a:t>
            </a:r>
            <a:endParaRPr lang="en-US" sz="14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Movers · STARTER · LESSON 1 · Meet the family</dc:title>
  <dc:subject>PptxGenJS Presentation</dc:subject>
  <dc:creator>PptxGenJS</dc:creator>
  <cp:lastModifiedBy>PptxGenJS</cp:lastModifiedBy>
  <cp:revision>1</cp:revision>
  <dcterms:created xsi:type="dcterms:W3CDTF">2026-10-12T17:24:08Z</dcterms:created>
  <dcterms:modified xsi:type="dcterms:W3CDTF">2026-10-12T17:24:08Z</dcterms:modified>
</cp:coreProperties>
</file>