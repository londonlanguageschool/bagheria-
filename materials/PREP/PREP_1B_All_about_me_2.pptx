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(2 min)
OPENING (2 min). TB warmer idea: model with yourself – 'I'm teaching right now. On Saturday I usually…'. Take 3–4 answers. Ask: which answer is about NOW, which is about EVERY week?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Revision · last lesson (3 min)
ACTIVE RECAP (3 min). Point at a word: ⭐ what does it mean? ⭐⭐ use it in a sentence ⭐⭐⭐ make it negative or a question ('Are you an only child?'). Pairs do 3 words each, then 2–3 students share.
HOW TO RUN IT (active recap): pairs. Words: A points at a word, B says what it means (⭐); then a sentence with it (⭐⭐); strong students make it negative or a question (⭐⭐⭐). Grammar: pairs make their own example for each use (offer, plan…) BEFORE you click – then click to show the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Grammar · present simple and continuous (4 min)
RULES (4 min). SB Grammar ex.1 – the sentences are from Lucas and Grace's profiles (last lesson!). Do 1 together: 'Right now' → c. Pairs match the rest; click once per sentence. Key (TB): 1c 2e 3b 4d/c 5a. CCQ: 'I live with my parents – now only, or always?' (always – a fact). Grammar reference SB p.138.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Grammar · practice (5 min)
PRACTICE (5 min). SB Grammar ex.2 – 1 is done as the example (every day → habit → get). Pairs do 2–6; click once per gap. Key (TB): 1 get (rule b) 2 is working (d) 3 isn't concentrating (c) 4 Are, doing (e) 5 plays (a) 6 goes (b). Stronger students: say the rule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Grammar · time words (3 min)
TIME WORDS (3 min). SB Grammar ex.3. The first is done (PC). Pairs sort; click once per line. Key (TB): PS = never, sometimes, always · every day/week/year · on Saturdays, at weekends. PC = at the moment / right now · this month/term/week · later, tomorrow, tonight · next week/weekend/month.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Speaking · personalise (5 min)
WHO WROTE IT? (5 min) – TB idea for ex.4. Students write 2 sentences (book: 6) with time words, no names. Collect the papers, read them out, the class guesses the writer. Correct tense mistakes on the board after each guess. Click: model sentences if they need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Grammar · stative verbs (2 min)
STATIVE VERBS (2 min). SB Grammar ex.5. Read the box: these verbs are not used in continuous forms. Group them (TB): hate, like, love, prefer · mean, understand · believe, know · need, want · own (+ have, possess, belong).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Grammar · stative verbs practice (4 min)
STATIVE VERBS PRACTICE (4 min). SB Grammar ex.6 – 0 is the example. Click 1 = easier word box (skip for strong groups), then one click per gap. Key (TB): 1 like/love 2 don't know/don't believe 3 does, mean 4 hate/don't like 5 don't/can't understand.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Grammar game (3 min)
QUICK CHOICE (3 min). SB Grammar ex.7 as a team game. Key (TB): 1 're having 2 need 3 'm writing 4 's going 5 'm having 6 never forget. Extra point for the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Vocabulary · prefixes un-, in-, im- (4 min)
PREFIXES (4 min). SB Vocabulary ex.1. The book's examples (from last lesson's profiles!): impossible, untidy, independent. Pairs write the opposites; click once per pair. Key (TB): 1 unkind 2 unfriendly 3 impatient 4 inexpensive 5 unknown 6 impolite 7 invisible 8 unhealthy 9 unwell 10 unfair 11 unlucky 12 incorrect. Tip: im- before p (impatient, impolite, impossible).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Vocabulary · practice (4 min)
PRACTICE (4 min). SB Vocabulary ex.2 – 0 is the example. Click 1 = easier word box, then one click per gap. Key (TB): 1 impatient 2 unwell 3 visible 4 unfair 5 lucky 6 incorrect. Pairs then read the mini-dialogues aloud with feeling!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Writing · an online profile (4 min)
MODEL TEXTS (4 min). SB Writing ex.1. Students read both profiles, then tell a partner who is most like them and why ('I'm like Flic because I'm into fashion too'). Take 3 answers. Photos of Tom and Flic are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Writing · Prepare to write (4 min)
PREPARE TO WRITE (4 min). SB Writing ex.2. Read the box together. Pairs find the phrases in the profiles. Click: the phrases light up. Tom: I'm Tom, right now, I think I'm quite intelligent, I'm really into music. Flic: My name's Felicity, I'm from Australia, My hobbies are, at the moment, My friends say I'm, I can sometimes be impatient.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Writing · verbs and adverbs (4 min)
VERBS AND ADVERBS (4 min). SB Writing ex.3 (underlined verbs) and ex.4 (highlighted adverbs – the table: weaker = quite, fairly, a bit · stronger = very, really). One click per answer; the first click also lights up the evidence in the texts.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about you (3 min)
ABOUT YOU (3 min). SB Writing ex.5. Students complete the sentences in their heads, then tell a partner. Push for adjectives from Unit 1 (careless, polite, confident, impatient…).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Writing · plan (4 min)
PLAN (4 min). SB Writing ex.6 – students make NOTES only (not full sentences), one line per point. Check 2–3 plans. Ex.7 = homework: write the profile (about 80 words) using the plan, the Prepare to write phrases and adverbs. The example answers are invented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Exit · what can you remember? (2 min)
EXIT (2 min). Pairs, books closed. Ask 3 students for their '1'. Homework is in the students'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Prepare · Unit 1 · SB pp.12–13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1B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All about me (2)</a:t>
            </a:r>
            <a:endParaRPr lang="en-US" sz="21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and continuous · un-, in-, im- · an online profile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⏳  present simple or continuous?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🧠  verbs with no -ing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opposites with un-, in-, im-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two online profiles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✍️  plan your own online profile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now I'm having an English lesson. Every Saturday I play football.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1406434"/>
            <a:ext cx="3977640" cy="1942011"/>
          </a:xfrm>
          <a:prstGeom prst="roundRect">
            <a:avLst>
              <a:gd name="adj" fmla="val 800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prep1_students_jpg_935x445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1452154"/>
            <a:ext cx="3886200" cy="1850571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 doing right now? What do you do every Saturday?</a:t>
            </a:r>
            <a:endParaRPr lang="en-US" sz="15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Remember last lesson?</a:t>
            </a:r>
            <a:endParaRPr lang="en-US" sz="24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remember? Say it – then use it in a sentence!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 ricordi? Dillo – poi usalo in una frase!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Revision · last lesson</a:t>
            </a:r>
            <a:endParaRPr lang="en-US" sz="800" dirty="0"/>
          </a:p>
        </p:txBody>
      </p:sp>
      <p:sp>
        <p:nvSpPr>
          <p:cNvPr id="12" name="pf_26"/>
          <p:cNvSpPr/>
          <p:nvPr/>
        </p:nvSpPr>
        <p:spPr>
          <a:xfrm rot="-120000">
            <a:off x="365760" y="1583853"/>
            <a:ext cx="2651760" cy="1221414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27" descr="/home/claude/lls-course/v2/cache/prep1_families_jpg_616x272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411480" y="1629573"/>
            <a:ext cx="2560320" cy="1129974"/>
          </a:xfrm>
          <a:prstGeom prst="rect">
            <a:avLst/>
          </a:prstGeom>
        </p:spPr>
      </p:pic>
      <p:sp>
        <p:nvSpPr>
          <p:cNvPr id="14" name="cd_28"/>
          <p:cNvSpPr/>
          <p:nvPr/>
        </p:nvSpPr>
        <p:spPr>
          <a:xfrm>
            <a:off x="320040" y="3200400"/>
            <a:ext cx="2743200" cy="1402080"/>
          </a:xfrm>
          <a:prstGeom prst="roundRect">
            <a:avLst>
              <a:gd name="adj" fmla="val 9130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29"/>
          <p:cNvSpPr/>
          <p:nvPr/>
        </p:nvSpPr>
        <p:spPr>
          <a:xfrm>
            <a:off x="41148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6" name="ih_30"/>
          <p:cNvSpPr/>
          <p:nvPr/>
        </p:nvSpPr>
        <p:spPr>
          <a:xfrm>
            <a:off x="88696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Last lesson…</a:t>
            </a:r>
            <a:endParaRPr lang="en-US" sz="1300" dirty="0"/>
          </a:p>
        </p:txBody>
      </p:sp>
      <p:sp>
        <p:nvSpPr>
          <p:cNvPr id="17" name="il_31"/>
          <p:cNvSpPr/>
          <p:nvPr/>
        </p:nvSpPr>
        <p:spPr>
          <a:xfrm>
            <a:off x="886968" y="3694176"/>
            <a:ext cx="2084832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1A: All about me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describing people · personality</a:t>
            </a:r>
            <a:endParaRPr lang="en-US" sz="1100" dirty="0"/>
          </a:p>
        </p:txBody>
      </p:sp>
      <p:sp>
        <p:nvSpPr>
          <p:cNvPr id="18" name="kw_32"/>
          <p:cNvSpPr/>
          <p:nvPr/>
        </p:nvSpPr>
        <p:spPr>
          <a:xfrm>
            <a:off x="3246120" y="14173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🔤 Can you remember these words? What do they mean?</a:t>
            </a:r>
            <a:endParaRPr lang="en-US" sz="1200" dirty="0"/>
          </a:p>
        </p:txBody>
      </p:sp>
      <p:sp>
        <p:nvSpPr>
          <p:cNvPr id="19" name="w_33"/>
          <p:cNvSpPr/>
          <p:nvPr/>
        </p:nvSpPr>
        <p:spPr>
          <a:xfrm>
            <a:off x="3246120" y="1783080"/>
            <a:ext cx="758952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bald</a:t>
            </a:r>
            <a:endParaRPr lang="en-US" sz="1200" dirty="0"/>
          </a:p>
        </p:txBody>
      </p:sp>
      <p:sp>
        <p:nvSpPr>
          <p:cNvPr id="20" name="w_34"/>
          <p:cNvSpPr/>
          <p:nvPr/>
        </p:nvSpPr>
        <p:spPr>
          <a:xfrm>
            <a:off x="4096512" y="1783080"/>
            <a:ext cx="845820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curly</a:t>
            </a:r>
            <a:endParaRPr lang="en-US" sz="1200" dirty="0"/>
          </a:p>
        </p:txBody>
      </p:sp>
      <p:sp>
        <p:nvSpPr>
          <p:cNvPr id="21" name="w_35"/>
          <p:cNvSpPr/>
          <p:nvPr/>
        </p:nvSpPr>
        <p:spPr>
          <a:xfrm>
            <a:off x="5033772" y="1783080"/>
            <a:ext cx="1367028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middle-aged</a:t>
            </a:r>
            <a:endParaRPr lang="en-US" sz="1200" dirty="0"/>
          </a:p>
        </p:txBody>
      </p:sp>
      <p:sp>
        <p:nvSpPr>
          <p:cNvPr id="22" name="w_36"/>
          <p:cNvSpPr/>
          <p:nvPr/>
        </p:nvSpPr>
        <p:spPr>
          <a:xfrm>
            <a:off x="6492240" y="1783080"/>
            <a:ext cx="932688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polite</a:t>
            </a:r>
            <a:endParaRPr lang="en-US" sz="1200" dirty="0"/>
          </a:p>
        </p:txBody>
      </p:sp>
      <p:sp>
        <p:nvSpPr>
          <p:cNvPr id="23" name="w_37"/>
          <p:cNvSpPr/>
          <p:nvPr/>
        </p:nvSpPr>
        <p:spPr>
          <a:xfrm>
            <a:off x="7516368" y="1783080"/>
            <a:ext cx="1106424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careless</a:t>
            </a:r>
            <a:endParaRPr lang="en-US" sz="1200" dirty="0"/>
          </a:p>
        </p:txBody>
      </p:sp>
      <p:sp>
        <p:nvSpPr>
          <p:cNvPr id="24" name="w_38"/>
          <p:cNvSpPr/>
          <p:nvPr/>
        </p:nvSpPr>
        <p:spPr>
          <a:xfrm>
            <a:off x="3246120" y="2185416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miserable</a:t>
            </a:r>
            <a:endParaRPr lang="en-US" sz="1200" dirty="0"/>
          </a:p>
        </p:txBody>
      </p:sp>
      <p:sp>
        <p:nvSpPr>
          <p:cNvPr id="25" name="w_39"/>
          <p:cNvSpPr/>
          <p:nvPr/>
        </p:nvSpPr>
        <p:spPr>
          <a:xfrm>
            <a:off x="4530852" y="2185416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confident</a:t>
            </a:r>
            <a:endParaRPr lang="en-US" sz="1200" dirty="0"/>
          </a:p>
        </p:txBody>
      </p:sp>
      <p:sp>
        <p:nvSpPr>
          <p:cNvPr id="26" name="w_40"/>
          <p:cNvSpPr/>
          <p:nvPr/>
        </p:nvSpPr>
        <p:spPr>
          <a:xfrm>
            <a:off x="5815584" y="218541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child</a:t>
            </a:r>
            <a:endParaRPr lang="en-US" sz="1200" dirty="0"/>
          </a:p>
        </p:txBody>
      </p:sp>
      <p:sp>
        <p:nvSpPr>
          <p:cNvPr id="27" name="w_41"/>
          <p:cNvSpPr/>
          <p:nvPr/>
        </p:nvSpPr>
        <p:spPr>
          <a:xfrm>
            <a:off x="7187184" y="2185416"/>
            <a:ext cx="1019556" cy="347472"/>
          </a:xfrm>
          <a:prstGeom prst="roundRect">
            <a:avLst>
              <a:gd name="adj" fmla="val 50000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into</a:t>
            </a:r>
            <a:endParaRPr lang="en-US" sz="1200" dirty="0"/>
          </a:p>
        </p:txBody>
      </p:sp>
      <p:sp>
        <p:nvSpPr>
          <p:cNvPr id="28" name="w_42"/>
          <p:cNvSpPr/>
          <p:nvPr/>
        </p:nvSpPr>
        <p:spPr>
          <a:xfrm>
            <a:off x="3246120" y="2587752"/>
            <a:ext cx="1540764" cy="347472"/>
          </a:xfrm>
          <a:prstGeom prst="roundRect">
            <a:avLst>
              <a:gd name="adj" fmla="val 50000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progress</a:t>
            </a:r>
            <a:endParaRPr lang="en-US" sz="1200" dirty="0"/>
          </a:p>
        </p:txBody>
      </p:sp>
      <p:sp>
        <p:nvSpPr>
          <p:cNvPr id="29" name="lv_43"/>
          <p:cNvSpPr/>
          <p:nvPr/>
        </p:nvSpPr>
        <p:spPr>
          <a:xfrm>
            <a:off x="324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does it mean?</a:t>
            </a:r>
            <a:endParaRPr lang="en-US" sz="1000" dirty="0"/>
          </a:p>
        </p:txBody>
      </p:sp>
      <p:sp>
        <p:nvSpPr>
          <p:cNvPr id="30" name="lv_44"/>
          <p:cNvSpPr/>
          <p:nvPr/>
        </p:nvSpPr>
        <p:spPr>
          <a:xfrm>
            <a:off x="5151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⭐⭐ </a:t>
            </a:r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it in a sentence.</a:t>
            </a:r>
            <a:endParaRPr lang="en-US" sz="1000" dirty="0"/>
          </a:p>
        </p:txBody>
      </p:sp>
      <p:sp>
        <p:nvSpPr>
          <p:cNvPr id="31" name="lv_45"/>
          <p:cNvSpPr/>
          <p:nvPr/>
        </p:nvSpPr>
        <p:spPr>
          <a:xfrm>
            <a:off x="7056120" y="3044952"/>
            <a:ext cx="18135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28575">
            <a:solidFill>
              <a:srgbClr val="CDBFF3"/>
            </a:solidFill>
          </a:ln>
        </p:spPr>
        <p:txBody>
          <a:bodyPr wrap="square" lIns="50800" tIns="0" rIns="5080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</a:rPr>
              <a:t>⭐⭐⭐ </a:t>
            </a:r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it negative or a question!</a:t>
            </a:r>
            <a:endParaRPr lang="en-US" sz="95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4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48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rule?</a:t>
            </a:r>
            <a:endParaRPr lang="en-US" sz="2500" dirty="0"/>
          </a:p>
        </p:txBody>
      </p:sp>
      <p:pic>
        <p:nvPicPr>
          <p:cNvPr id="6" name="brP_4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250692" cy="402336"/>
          </a:xfrm>
          <a:prstGeom prst="rect">
            <a:avLst/>
          </a:prstGeom>
        </p:spPr>
      </p:pic>
      <p:sp>
        <p:nvSpPr>
          <p:cNvPr id="7" name="ins_50"/>
          <p:cNvSpPr/>
          <p:nvPr/>
        </p:nvSpPr>
        <p:spPr>
          <a:xfrm>
            <a:off x="1353312" y="731520"/>
            <a:ext cx="29946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each example to a rule.</a:t>
            </a:r>
            <a:endParaRPr lang="en-US" sz="1250" dirty="0"/>
          </a:p>
        </p:txBody>
      </p:sp>
      <p:sp>
        <p:nvSpPr>
          <p:cNvPr id="8" name="insIT_5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ogni esempio a una regola.</a:t>
            </a:r>
            <a:endParaRPr lang="en-US" sz="950" dirty="0"/>
          </a:p>
        </p:txBody>
      </p:sp>
      <p:sp>
        <p:nvSpPr>
          <p:cNvPr id="9" name="note_5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5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· present simple and continuous   ·   📖 SB p.12 · Grammar 1</a:t>
            </a:r>
            <a:endParaRPr lang="en-US" sz="800" dirty="0"/>
          </a:p>
        </p:txBody>
      </p:sp>
      <p:sp>
        <p:nvSpPr>
          <p:cNvPr id="12" name="cd_55"/>
          <p:cNvSpPr/>
          <p:nvPr/>
        </p:nvSpPr>
        <p:spPr>
          <a:xfrm>
            <a:off x="320040" y="1417320"/>
            <a:ext cx="2697480" cy="2295144"/>
          </a:xfrm>
          <a:prstGeom prst="roundRect">
            <a:avLst>
              <a:gd name="adj" fmla="val 557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5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57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rules</a:t>
            </a:r>
            <a:endParaRPr lang="en-US" sz="1300" dirty="0"/>
          </a:p>
        </p:txBody>
      </p:sp>
      <p:sp>
        <p:nvSpPr>
          <p:cNvPr id="15" name="lg_58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a · facts</a:t>
            </a:r>
            <a:endParaRPr lang="en-US" sz="1050" dirty="0"/>
          </a:p>
        </p:txBody>
      </p:sp>
      <p:sp>
        <p:nvSpPr>
          <p:cNvPr id="16" name="lg_59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b · regularly</a:t>
            </a:r>
            <a:endParaRPr lang="en-US" sz="1050" dirty="0"/>
          </a:p>
        </p:txBody>
      </p:sp>
      <p:sp>
        <p:nvSpPr>
          <p:cNvPr id="17" name="lg_60"/>
          <p:cNvSpPr/>
          <p:nvPr/>
        </p:nvSpPr>
        <p:spPr>
          <a:xfrm>
            <a:off x="457200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c · right now</a:t>
            </a:r>
            <a:endParaRPr lang="en-US" sz="1050" dirty="0"/>
          </a:p>
        </p:txBody>
      </p:sp>
      <p:sp>
        <p:nvSpPr>
          <p:cNvPr id="18" name="lg_61"/>
          <p:cNvSpPr/>
          <p:nvPr/>
        </p:nvSpPr>
        <p:spPr>
          <a:xfrm>
            <a:off x="1719072" y="2368296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d · temporary</a:t>
            </a:r>
            <a:endParaRPr lang="en-US" sz="1050" dirty="0"/>
          </a:p>
        </p:txBody>
      </p:sp>
      <p:sp>
        <p:nvSpPr>
          <p:cNvPr id="19" name="lg_62"/>
          <p:cNvSpPr/>
          <p:nvPr/>
        </p:nvSpPr>
        <p:spPr>
          <a:xfrm>
            <a:off x="457200" y="2752344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e · future plans</a:t>
            </a:r>
            <a:endParaRPr lang="en-US" sz="950" dirty="0"/>
          </a:p>
        </p:txBody>
      </p:sp>
      <p:sp>
        <p:nvSpPr>
          <p:cNvPr id="20" name="sq_63"/>
          <p:cNvSpPr/>
          <p:nvPr/>
        </p:nvSpPr>
        <p:spPr>
          <a:xfrm>
            <a:off x="3246120" y="1417320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now, I'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 taking part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in a competition for young game designers.</a:t>
            </a:r>
            <a:endParaRPr lang="en-US" sz="1200" dirty="0"/>
          </a:p>
        </p:txBody>
      </p:sp>
      <p:sp>
        <p:nvSpPr>
          <p:cNvPr id="21" name="R1_tag64"/>
          <p:cNvSpPr/>
          <p:nvPr/>
        </p:nvSpPr>
        <p:spPr>
          <a:xfrm>
            <a:off x="7178040" y="1417320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c · right now</a:t>
            </a:r>
            <a:endParaRPr lang="en-US" sz="1150" dirty="0"/>
          </a:p>
        </p:txBody>
      </p:sp>
      <p:sp>
        <p:nvSpPr>
          <p:cNvPr id="22" name="sq_65"/>
          <p:cNvSpPr/>
          <p:nvPr/>
        </p:nvSpPr>
        <p:spPr>
          <a:xfrm>
            <a:off x="3246120" y="1956816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a few months, I'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 going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on a kayaking trip with my cousin.</a:t>
            </a:r>
            <a:endParaRPr lang="en-US" sz="1200" dirty="0"/>
          </a:p>
        </p:txBody>
      </p:sp>
      <p:sp>
        <p:nvSpPr>
          <p:cNvPr id="23" name="R2_tag66"/>
          <p:cNvSpPr/>
          <p:nvPr/>
        </p:nvSpPr>
        <p:spPr>
          <a:xfrm>
            <a:off x="7178040" y="1956816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8FD9A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e · future plans</a:t>
            </a:r>
            <a:endParaRPr lang="en-US" sz="1150" dirty="0"/>
          </a:p>
        </p:txBody>
      </p:sp>
      <p:sp>
        <p:nvSpPr>
          <p:cNvPr id="24" name="sq_67"/>
          <p:cNvSpPr/>
          <p:nvPr/>
        </p:nvSpPr>
        <p:spPr>
          <a:xfrm>
            <a:off x="3246120" y="2496312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friends and family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I'm a cheerful person.</a:t>
            </a:r>
            <a:endParaRPr lang="en-US" sz="1200" dirty="0"/>
          </a:p>
        </p:txBody>
      </p:sp>
      <p:sp>
        <p:nvSpPr>
          <p:cNvPr id="25" name="R3_tag68"/>
          <p:cNvSpPr/>
          <p:nvPr/>
        </p:nvSpPr>
        <p:spPr>
          <a:xfrm>
            <a:off x="7178040" y="2496312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FC2D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b · regularly</a:t>
            </a:r>
            <a:endParaRPr lang="en-US" sz="1150" dirty="0"/>
          </a:p>
        </p:txBody>
      </p:sp>
      <p:sp>
        <p:nvSpPr>
          <p:cNvPr id="26" name="sq_69"/>
          <p:cNvSpPr/>
          <p:nvPr/>
        </p:nvSpPr>
        <p:spPr>
          <a:xfrm>
            <a:off x="3246120" y="3035808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term, I'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 having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tennis lessons. (also c)</a:t>
            </a:r>
            <a:endParaRPr lang="en-US" sz="1200" dirty="0"/>
          </a:p>
        </p:txBody>
      </p:sp>
      <p:sp>
        <p:nvSpPr>
          <p:cNvPr id="27" name="R4_tag70"/>
          <p:cNvSpPr/>
          <p:nvPr/>
        </p:nvSpPr>
        <p:spPr>
          <a:xfrm>
            <a:off x="7178040" y="3035808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C8E6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d · temporary</a:t>
            </a:r>
            <a:endParaRPr lang="en-US" sz="1150" dirty="0"/>
          </a:p>
        </p:txBody>
      </p:sp>
      <p:sp>
        <p:nvSpPr>
          <p:cNvPr id="28" name="sq_71"/>
          <p:cNvSpPr/>
          <p:nvPr/>
        </p:nvSpPr>
        <p:spPr>
          <a:xfrm>
            <a:off x="3246120" y="3575304"/>
            <a:ext cx="384048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with my parents.</a:t>
            </a:r>
            <a:endParaRPr lang="en-US" sz="1200" dirty="0"/>
          </a:p>
        </p:txBody>
      </p:sp>
      <p:sp>
        <p:nvSpPr>
          <p:cNvPr id="29" name="R5_tag72"/>
          <p:cNvSpPr/>
          <p:nvPr/>
        </p:nvSpPr>
        <p:spPr>
          <a:xfrm>
            <a:off x="7178040" y="3575304"/>
            <a:ext cx="1691640" cy="475488"/>
          </a:xfrm>
          <a:prstGeom prst="roundRect">
            <a:avLst>
              <a:gd name="adj" fmla="val 48077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a · facts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7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7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75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Simple or -ing?</a:t>
            </a:r>
            <a:endParaRPr lang="en-US" sz="2500" dirty="0"/>
          </a:p>
        </p:txBody>
      </p:sp>
      <p:pic>
        <p:nvPicPr>
          <p:cNvPr id="6" name="brP_7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640580" cy="402336"/>
          </a:xfrm>
          <a:prstGeom prst="rect">
            <a:avLst/>
          </a:prstGeom>
        </p:spPr>
      </p:pic>
      <p:sp>
        <p:nvSpPr>
          <p:cNvPr id="7" name="ins_77"/>
          <p:cNvSpPr/>
          <p:nvPr/>
        </p:nvSpPr>
        <p:spPr>
          <a:xfrm>
            <a:off x="1353312" y="731520"/>
            <a:ext cx="43845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 or continuous? Write the verb.</a:t>
            </a:r>
            <a:endParaRPr lang="en-US" sz="1250" dirty="0"/>
          </a:p>
        </p:txBody>
      </p:sp>
      <p:sp>
        <p:nvSpPr>
          <p:cNvPr id="8" name="insIT_7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Presente semplice o progressivo? Scrivi il verbo.</a:t>
            </a:r>
            <a:endParaRPr lang="en-US" sz="950" dirty="0"/>
          </a:p>
        </p:txBody>
      </p:sp>
      <p:sp>
        <p:nvSpPr>
          <p:cNvPr id="9" name="note_7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8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8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· practice   ·   📖 SB p.12 · Grammar 2</a:t>
            </a:r>
            <a:endParaRPr lang="en-US" sz="800" dirty="0"/>
          </a:p>
        </p:txBody>
      </p:sp>
      <p:sp>
        <p:nvSpPr>
          <p:cNvPr id="12" name="cd_82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8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4" name="R1_rdA8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is working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5" name="R2_rdA8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is working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isn't concentrating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6" name="R3_rdA8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is working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isn't concentrating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Are you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7" name="R4_rdA8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is working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isn't concentrating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Are you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8" name="R5_rdA8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get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(get) home at five o'clock every day.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Mum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is working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(work) late this week.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Look at Dan. 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isn't concentrating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(not concentrate).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Are you doing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(you / do) anything interesting next weekend?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She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plays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(play) the guitar and the piano.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He always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(go) swimming on Saturdays.</a:t>
            </a:r>
            <a:endParaRPr lang="en-US" sz="1200" dirty="0"/>
          </a:p>
        </p:txBody>
      </p:sp>
      <p:sp>
        <p:nvSpPr>
          <p:cNvPr id="19" name="cd_89"/>
          <p:cNvSpPr/>
          <p:nvPr/>
        </p:nvSpPr>
        <p:spPr>
          <a:xfrm>
            <a:off x="6263640" y="1417320"/>
            <a:ext cx="2606040" cy="1876552"/>
          </a:xfrm>
          <a:prstGeom prst="roundRect">
            <a:avLst>
              <a:gd name="adj" fmla="val 6822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0" name="ii_90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21" name="ih_91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Look for clues!</a:t>
            </a:r>
            <a:endParaRPr lang="en-US" sz="1300" dirty="0"/>
          </a:p>
        </p:txBody>
      </p:sp>
      <p:sp>
        <p:nvSpPr>
          <p:cNvPr id="22" name="il_92"/>
          <p:cNvSpPr/>
          <p:nvPr/>
        </p:nvSpPr>
        <p:spPr>
          <a:xfrm>
            <a:off x="6830568" y="1911096"/>
            <a:ext cx="1947672" cy="1309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day, always → simple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week, look! → -ing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weekend → -ing (plan)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9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9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95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Time words</a:t>
            </a:r>
            <a:endParaRPr lang="en-US" sz="2500" dirty="0"/>
          </a:p>
        </p:txBody>
      </p:sp>
      <p:pic>
        <p:nvPicPr>
          <p:cNvPr id="6" name="brP_9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97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Simple or continuous? Sort the time words.</a:t>
            </a:r>
            <a:endParaRPr lang="en-US" sz="1250" dirty="0"/>
          </a:p>
        </p:txBody>
      </p:sp>
      <p:sp>
        <p:nvSpPr>
          <p:cNvPr id="8" name="insIT_9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Semplice o progressivo? Dividi le espressioni di tempo.</a:t>
            </a:r>
            <a:endParaRPr lang="en-US" sz="950" dirty="0"/>
          </a:p>
        </p:txBody>
      </p:sp>
      <p:sp>
        <p:nvSpPr>
          <p:cNvPr id="9" name="note_9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10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0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· time words   ·   📖 SB p.12 · Grammar 3</a:t>
            </a:r>
            <a:endParaRPr lang="en-US" sz="800" dirty="0"/>
          </a:p>
        </p:txBody>
      </p:sp>
      <p:sp>
        <p:nvSpPr>
          <p:cNvPr id="12" name="cd_102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0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10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tense?</a:t>
            </a:r>
            <a:endParaRPr lang="en-US" sz="1300" dirty="0"/>
          </a:p>
        </p:txBody>
      </p:sp>
      <p:sp>
        <p:nvSpPr>
          <p:cNvPr id="15" name="lg_105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present simple</a:t>
            </a:r>
            <a:endParaRPr lang="en-US" sz="950" dirty="0"/>
          </a:p>
        </p:txBody>
      </p:sp>
      <p:sp>
        <p:nvSpPr>
          <p:cNvPr id="16" name="lg_106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· present continuous</a:t>
            </a:r>
            <a:endParaRPr lang="en-US" sz="950" dirty="0"/>
          </a:p>
        </p:txBody>
      </p:sp>
      <p:sp>
        <p:nvSpPr>
          <p:cNvPr id="17" name="sq_107"/>
          <p:cNvSpPr/>
          <p:nvPr/>
        </p:nvSpPr>
        <p:spPr>
          <a:xfrm>
            <a:off x="3246120" y="1417320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at the moment / right now</a:t>
            </a:r>
            <a:endParaRPr lang="en-US" sz="1200" dirty="0"/>
          </a:p>
        </p:txBody>
      </p:sp>
      <p:sp>
        <p:nvSpPr>
          <p:cNvPr id="18" name="R1_tag108"/>
          <p:cNvSpPr/>
          <p:nvPr/>
        </p:nvSpPr>
        <p:spPr>
          <a:xfrm>
            <a:off x="7178040" y="1417320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· present continuous</a:t>
            </a:r>
            <a:endParaRPr lang="en-US" sz="1150" dirty="0"/>
          </a:p>
        </p:txBody>
      </p:sp>
      <p:sp>
        <p:nvSpPr>
          <p:cNvPr id="19" name="sq_109"/>
          <p:cNvSpPr/>
          <p:nvPr/>
        </p:nvSpPr>
        <p:spPr>
          <a:xfrm>
            <a:off x="3246120" y="1887583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never, sometimes, always</a:t>
            </a:r>
            <a:endParaRPr lang="en-US" sz="1200" dirty="0"/>
          </a:p>
        </p:txBody>
      </p:sp>
      <p:sp>
        <p:nvSpPr>
          <p:cNvPr id="20" name="R2_tag110"/>
          <p:cNvSpPr/>
          <p:nvPr/>
        </p:nvSpPr>
        <p:spPr>
          <a:xfrm>
            <a:off x="7178040" y="1887583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present simple</a:t>
            </a:r>
            <a:endParaRPr lang="en-US" sz="1150" dirty="0"/>
          </a:p>
        </p:txBody>
      </p:sp>
      <p:sp>
        <p:nvSpPr>
          <p:cNvPr id="21" name="sq_111"/>
          <p:cNvSpPr/>
          <p:nvPr/>
        </p:nvSpPr>
        <p:spPr>
          <a:xfrm>
            <a:off x="3246120" y="2357846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day / week / year</a:t>
            </a:r>
            <a:endParaRPr lang="en-US" sz="1200" dirty="0"/>
          </a:p>
        </p:txBody>
      </p:sp>
      <p:sp>
        <p:nvSpPr>
          <p:cNvPr id="22" name="R3_tag112"/>
          <p:cNvSpPr/>
          <p:nvPr/>
        </p:nvSpPr>
        <p:spPr>
          <a:xfrm>
            <a:off x="7178040" y="2357846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present simple</a:t>
            </a:r>
            <a:endParaRPr lang="en-US" sz="1150" dirty="0"/>
          </a:p>
        </p:txBody>
      </p:sp>
      <p:sp>
        <p:nvSpPr>
          <p:cNvPr id="23" name="sq_113"/>
          <p:cNvSpPr/>
          <p:nvPr/>
        </p:nvSpPr>
        <p:spPr>
          <a:xfrm>
            <a:off x="3246120" y="2828109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month / term / week</a:t>
            </a:r>
            <a:endParaRPr lang="en-US" sz="1200" dirty="0"/>
          </a:p>
        </p:txBody>
      </p:sp>
      <p:sp>
        <p:nvSpPr>
          <p:cNvPr id="24" name="R4_tag114"/>
          <p:cNvSpPr/>
          <p:nvPr/>
        </p:nvSpPr>
        <p:spPr>
          <a:xfrm>
            <a:off x="7178040" y="2828109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· present continuous</a:t>
            </a:r>
            <a:endParaRPr lang="en-US" sz="1150" dirty="0"/>
          </a:p>
        </p:txBody>
      </p:sp>
      <p:sp>
        <p:nvSpPr>
          <p:cNvPr id="25" name="sq_115"/>
          <p:cNvSpPr/>
          <p:nvPr/>
        </p:nvSpPr>
        <p:spPr>
          <a:xfrm>
            <a:off x="3246120" y="3298371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later, tomorrow, tonight</a:t>
            </a:r>
            <a:endParaRPr lang="en-US" sz="1200" dirty="0"/>
          </a:p>
        </p:txBody>
      </p:sp>
      <p:sp>
        <p:nvSpPr>
          <p:cNvPr id="26" name="R5_tag116"/>
          <p:cNvSpPr/>
          <p:nvPr/>
        </p:nvSpPr>
        <p:spPr>
          <a:xfrm>
            <a:off x="7178040" y="3298371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· present continuous</a:t>
            </a:r>
            <a:endParaRPr lang="en-US" sz="1150" dirty="0"/>
          </a:p>
        </p:txBody>
      </p:sp>
      <p:sp>
        <p:nvSpPr>
          <p:cNvPr id="27" name="sq_117"/>
          <p:cNvSpPr/>
          <p:nvPr/>
        </p:nvSpPr>
        <p:spPr>
          <a:xfrm>
            <a:off x="3246120" y="3768634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Saturdays, at weekends</a:t>
            </a:r>
            <a:endParaRPr lang="en-US" sz="1200" dirty="0"/>
          </a:p>
        </p:txBody>
      </p:sp>
      <p:sp>
        <p:nvSpPr>
          <p:cNvPr id="28" name="R6_tag118"/>
          <p:cNvSpPr/>
          <p:nvPr/>
        </p:nvSpPr>
        <p:spPr>
          <a:xfrm>
            <a:off x="7178040" y="3768634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PS · present simple</a:t>
            </a:r>
            <a:endParaRPr lang="en-US" sz="1150" dirty="0"/>
          </a:p>
        </p:txBody>
      </p:sp>
      <p:sp>
        <p:nvSpPr>
          <p:cNvPr id="29" name="sq_119"/>
          <p:cNvSpPr/>
          <p:nvPr/>
        </p:nvSpPr>
        <p:spPr>
          <a:xfrm>
            <a:off x="3246120" y="4238897"/>
            <a:ext cx="3840480" cy="406255"/>
          </a:xfrm>
          <a:prstGeom prst="roundRect">
            <a:avLst>
              <a:gd name="adj" fmla="val 22508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week / weekend / month</a:t>
            </a:r>
            <a:endParaRPr lang="en-US" sz="1200" dirty="0"/>
          </a:p>
        </p:txBody>
      </p:sp>
      <p:sp>
        <p:nvSpPr>
          <p:cNvPr id="30" name="R7_tag120"/>
          <p:cNvSpPr/>
          <p:nvPr/>
        </p:nvSpPr>
        <p:spPr>
          <a:xfrm>
            <a:off x="7178040" y="4238897"/>
            <a:ext cx="1691640" cy="406255"/>
          </a:xfrm>
          <a:prstGeom prst="roundRect">
            <a:avLst>
              <a:gd name="adj" fmla="val 5627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PC · present continuous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2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2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123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Who wrote it?</a:t>
            </a:r>
            <a:endParaRPr lang="en-US" sz="2500" dirty="0"/>
          </a:p>
        </p:txBody>
      </p:sp>
      <p:pic>
        <p:nvPicPr>
          <p:cNvPr id="6" name="brP_12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2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2 true sentences about you. Then guess who wrote them!</a:t>
            </a:r>
            <a:endParaRPr lang="en-US" sz="1100" dirty="0"/>
          </a:p>
        </p:txBody>
      </p:sp>
      <p:sp>
        <p:nvSpPr>
          <p:cNvPr id="8" name="insIT_12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Scrivi 2 frasi vere su di te. Poi indovina chi le ha scritte!</a:t>
            </a:r>
            <a:endParaRPr lang="en-US" sz="950" dirty="0"/>
          </a:p>
        </p:txBody>
      </p:sp>
      <p:sp>
        <p:nvSpPr>
          <p:cNvPr id="9" name="note_12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🙋 whole class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12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2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Speaking · personalise   ·   📖 SB p.12 · Grammar 4</a:t>
            </a:r>
            <a:endParaRPr lang="en-US" sz="800" dirty="0"/>
          </a:p>
        </p:txBody>
      </p:sp>
      <p:sp>
        <p:nvSpPr>
          <p:cNvPr id="12" name="cd_130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31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132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133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2 sentences on paper – NO name!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a time word from the last slide.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reads them. Guess who wrote it!</a:t>
            </a:r>
            <a:endParaRPr lang="en-US" sz="1200" dirty="0"/>
          </a:p>
        </p:txBody>
      </p:sp>
      <p:sp>
        <p:nvSpPr>
          <p:cNvPr id="16" name="bd_134"/>
          <p:cNvSpPr/>
          <p:nvPr/>
        </p:nvSpPr>
        <p:spPr>
          <a:xfrm>
            <a:off x="3246120" y="1545336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7" name="gq_135"/>
          <p:cNvSpPr/>
          <p:nvPr/>
        </p:nvSpPr>
        <p:spPr>
          <a:xfrm>
            <a:off x="3657600" y="1417320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right now</a:t>
            </a:r>
            <a:endParaRPr lang="en-US" sz="1250" dirty="0"/>
          </a:p>
        </p:txBody>
      </p:sp>
      <p:sp>
        <p:nvSpPr>
          <p:cNvPr id="18" name="chip_136"/>
          <p:cNvSpPr/>
          <p:nvPr/>
        </p:nvSpPr>
        <p:spPr>
          <a:xfrm>
            <a:off x="6263640" y="1417320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Right now, I'm having an English lesson.</a:t>
            </a:r>
            <a:endParaRPr lang="en-US" sz="1200" dirty="0"/>
          </a:p>
        </p:txBody>
      </p:sp>
      <p:sp>
        <p:nvSpPr>
          <p:cNvPr id="19" name="bd_137"/>
          <p:cNvSpPr/>
          <p:nvPr/>
        </p:nvSpPr>
        <p:spPr>
          <a:xfrm>
            <a:off x="3246120" y="2194560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gq_138"/>
          <p:cNvSpPr/>
          <p:nvPr/>
        </p:nvSpPr>
        <p:spPr>
          <a:xfrm>
            <a:off x="3657600" y="2066544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weekends</a:t>
            </a:r>
            <a:endParaRPr lang="en-US" sz="1250" dirty="0"/>
          </a:p>
        </p:txBody>
      </p:sp>
      <p:sp>
        <p:nvSpPr>
          <p:cNvPr id="21" name="R1_chip139"/>
          <p:cNvSpPr/>
          <p:nvPr/>
        </p:nvSpPr>
        <p:spPr>
          <a:xfrm>
            <a:off x="6263640" y="2066544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At weekends I usually sleep late.</a:t>
            </a:r>
            <a:endParaRPr lang="en-US" sz="1200" dirty="0"/>
          </a:p>
        </p:txBody>
      </p:sp>
      <p:sp>
        <p:nvSpPr>
          <p:cNvPr id="22" name="bd_140"/>
          <p:cNvSpPr/>
          <p:nvPr/>
        </p:nvSpPr>
        <p:spPr>
          <a:xfrm>
            <a:off x="3246120" y="284378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gq_141"/>
          <p:cNvSpPr/>
          <p:nvPr/>
        </p:nvSpPr>
        <p:spPr>
          <a:xfrm>
            <a:off x="3657600" y="2715768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term</a:t>
            </a:r>
            <a:endParaRPr lang="en-US" sz="1250" dirty="0"/>
          </a:p>
        </p:txBody>
      </p:sp>
      <p:sp>
        <p:nvSpPr>
          <p:cNvPr id="24" name="R2_chip142"/>
          <p:cNvSpPr/>
          <p:nvPr/>
        </p:nvSpPr>
        <p:spPr>
          <a:xfrm>
            <a:off x="6263640" y="2715768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This term I'm learning the guitar.</a:t>
            </a:r>
            <a:endParaRPr lang="en-US" sz="1200" dirty="0"/>
          </a:p>
        </p:txBody>
      </p:sp>
      <p:sp>
        <p:nvSpPr>
          <p:cNvPr id="25" name="bd_143"/>
          <p:cNvSpPr/>
          <p:nvPr/>
        </p:nvSpPr>
        <p:spPr>
          <a:xfrm>
            <a:off x="3246120" y="3493008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gq_144"/>
          <p:cNvSpPr/>
          <p:nvPr/>
        </p:nvSpPr>
        <p:spPr>
          <a:xfrm>
            <a:off x="3657600" y="3364992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tonight</a:t>
            </a:r>
            <a:endParaRPr lang="en-US" sz="1250" dirty="0"/>
          </a:p>
        </p:txBody>
      </p:sp>
      <p:sp>
        <p:nvSpPr>
          <p:cNvPr id="27" name="R3_chip145"/>
          <p:cNvSpPr/>
          <p:nvPr/>
        </p:nvSpPr>
        <p:spPr>
          <a:xfrm>
            <a:off x="6263640" y="3364992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Tonight I'm watching a football match.</a:t>
            </a:r>
            <a:endParaRPr lang="en-US" sz="1200" dirty="0"/>
          </a:p>
        </p:txBody>
      </p:sp>
      <p:sp>
        <p:nvSpPr>
          <p:cNvPr id="28" name="bd_146"/>
          <p:cNvSpPr/>
          <p:nvPr/>
        </p:nvSpPr>
        <p:spPr>
          <a:xfrm>
            <a:off x="3246120" y="4142232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gq_147"/>
          <p:cNvSpPr/>
          <p:nvPr/>
        </p:nvSpPr>
        <p:spPr>
          <a:xfrm>
            <a:off x="3657600" y="4014216"/>
            <a:ext cx="251460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never</a:t>
            </a:r>
            <a:endParaRPr lang="en-US" sz="1250" dirty="0"/>
          </a:p>
        </p:txBody>
      </p:sp>
      <p:sp>
        <p:nvSpPr>
          <p:cNvPr id="30" name="R4_chip148"/>
          <p:cNvSpPr/>
          <p:nvPr/>
        </p:nvSpPr>
        <p:spPr>
          <a:xfrm>
            <a:off x="6263640" y="4014216"/>
            <a:ext cx="2560320" cy="585216"/>
          </a:xfrm>
          <a:prstGeom prst="roundRect">
            <a:avLst>
              <a:gd name="adj" fmla="val 15625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 never drink coffee.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5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562502" cy="621792"/>
          </a:xfrm>
          <a:prstGeom prst="rect">
            <a:avLst/>
          </a:prstGeom>
        </p:spPr>
      </p:pic>
      <p:sp>
        <p:nvSpPr>
          <p:cNvPr id="5" name="title_151"/>
          <p:cNvSpPr/>
          <p:nvPr/>
        </p:nvSpPr>
        <p:spPr>
          <a:xfrm>
            <a:off x="1261872" y="164592"/>
            <a:ext cx="32881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Verbs with no -ing</a:t>
            </a:r>
            <a:endParaRPr lang="en-US" sz="2500" dirty="0"/>
          </a:p>
        </p:txBody>
      </p:sp>
      <p:pic>
        <p:nvPicPr>
          <p:cNvPr id="6" name="brP_15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5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-ing with these verbs! Say it in Italian, then click.</a:t>
            </a:r>
            <a:endParaRPr lang="en-US" sz="1250" dirty="0"/>
          </a:p>
        </p:txBody>
      </p:sp>
      <p:sp>
        <p:nvSpPr>
          <p:cNvPr id="8" name="insIT_15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Niente -ing con questi verbi! Dillo in italiano, poi clicca.</a:t>
            </a:r>
            <a:endParaRPr lang="en-US" sz="950" dirty="0"/>
          </a:p>
        </p:txBody>
      </p:sp>
      <p:sp>
        <p:nvSpPr>
          <p:cNvPr id="9" name="note_15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TPRS · meaning</a:t>
            </a:r>
            <a:endParaRPr lang="en-US" sz="1250" dirty="0"/>
          </a:p>
        </p:txBody>
      </p:sp>
      <p:pic>
        <p:nvPicPr>
          <p:cNvPr id="10" name="logo_15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· stative verbs   ·   📖 SB p.12 · Grammar 5</a:t>
            </a:r>
            <a:endParaRPr lang="en-US" sz="800" dirty="0"/>
          </a:p>
        </p:txBody>
      </p:sp>
      <p:sp>
        <p:nvSpPr>
          <p:cNvPr id="12" name="cd_158"/>
          <p:cNvSpPr/>
          <p:nvPr/>
        </p:nvSpPr>
        <p:spPr>
          <a:xfrm>
            <a:off x="320040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159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🙏</a:t>
            </a:r>
            <a:endParaRPr lang="en-US" sz="2000" dirty="0"/>
          </a:p>
        </p:txBody>
      </p:sp>
      <p:sp>
        <p:nvSpPr>
          <p:cNvPr id="14" name="en_160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believe</a:t>
            </a:r>
            <a:endParaRPr lang="en-US" sz="1200" dirty="0"/>
          </a:p>
        </p:txBody>
      </p:sp>
      <p:sp>
        <p:nvSpPr>
          <p:cNvPr id="15" name="R1_it161"/>
          <p:cNvSpPr/>
          <p:nvPr/>
        </p:nvSpPr>
        <p:spPr>
          <a:xfrm>
            <a:off x="978408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credere</a:t>
            </a:r>
            <a:endParaRPr lang="en-US" sz="1000" dirty="0"/>
          </a:p>
        </p:txBody>
      </p:sp>
      <p:sp>
        <p:nvSpPr>
          <p:cNvPr id="16" name="cd_162"/>
          <p:cNvSpPr/>
          <p:nvPr/>
        </p:nvSpPr>
        <p:spPr>
          <a:xfrm>
            <a:off x="2487168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e_163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😖</a:t>
            </a:r>
            <a:endParaRPr lang="en-US" sz="2000" dirty="0"/>
          </a:p>
        </p:txBody>
      </p:sp>
      <p:sp>
        <p:nvSpPr>
          <p:cNvPr id="18" name="en_164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hate</a:t>
            </a:r>
            <a:endParaRPr lang="en-US" sz="1200" dirty="0"/>
          </a:p>
        </p:txBody>
      </p:sp>
      <p:sp>
        <p:nvSpPr>
          <p:cNvPr id="19" name="R2_it165"/>
          <p:cNvSpPr/>
          <p:nvPr/>
        </p:nvSpPr>
        <p:spPr>
          <a:xfrm>
            <a:off x="3145536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odiare</a:t>
            </a:r>
            <a:endParaRPr lang="en-US" sz="1000" dirty="0"/>
          </a:p>
        </p:txBody>
      </p:sp>
      <p:sp>
        <p:nvSpPr>
          <p:cNvPr id="20" name="cd_166"/>
          <p:cNvSpPr/>
          <p:nvPr/>
        </p:nvSpPr>
        <p:spPr>
          <a:xfrm>
            <a:off x="4654296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e_167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2" name="en_168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know</a:t>
            </a:r>
            <a:endParaRPr lang="en-US" sz="1200" dirty="0"/>
          </a:p>
        </p:txBody>
      </p:sp>
      <p:sp>
        <p:nvSpPr>
          <p:cNvPr id="23" name="R3_it169"/>
          <p:cNvSpPr/>
          <p:nvPr/>
        </p:nvSpPr>
        <p:spPr>
          <a:xfrm>
            <a:off x="5312664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sapere, conoscere</a:t>
            </a:r>
            <a:endParaRPr lang="en-US" sz="1000" dirty="0"/>
          </a:p>
        </p:txBody>
      </p:sp>
      <p:sp>
        <p:nvSpPr>
          <p:cNvPr id="24" name="cd_170"/>
          <p:cNvSpPr/>
          <p:nvPr/>
        </p:nvSpPr>
        <p:spPr>
          <a:xfrm>
            <a:off x="6821424" y="141732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e_171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👍</a:t>
            </a:r>
            <a:endParaRPr lang="en-US" sz="2000" dirty="0"/>
          </a:p>
        </p:txBody>
      </p:sp>
      <p:sp>
        <p:nvSpPr>
          <p:cNvPr id="26" name="en_172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like</a:t>
            </a:r>
            <a:endParaRPr lang="en-US" sz="1200" dirty="0"/>
          </a:p>
        </p:txBody>
      </p:sp>
      <p:sp>
        <p:nvSpPr>
          <p:cNvPr id="27" name="R4_it173"/>
          <p:cNvSpPr/>
          <p:nvPr/>
        </p:nvSpPr>
        <p:spPr>
          <a:xfrm>
            <a:off x="7479792" y="180136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piacere</a:t>
            </a:r>
            <a:endParaRPr lang="en-US" sz="1000" dirty="0"/>
          </a:p>
        </p:txBody>
      </p:sp>
      <p:sp>
        <p:nvSpPr>
          <p:cNvPr id="28" name="cd_174"/>
          <p:cNvSpPr/>
          <p:nvPr/>
        </p:nvSpPr>
        <p:spPr>
          <a:xfrm>
            <a:off x="320040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e_175"/>
          <p:cNvSpPr/>
          <p:nvPr/>
        </p:nvSpPr>
        <p:spPr>
          <a:xfrm>
            <a:off x="393192" y="235000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❤️</a:t>
            </a:r>
            <a:endParaRPr lang="en-US" sz="2000" dirty="0"/>
          </a:p>
        </p:txBody>
      </p:sp>
      <p:sp>
        <p:nvSpPr>
          <p:cNvPr id="30" name="en_176"/>
          <p:cNvSpPr/>
          <p:nvPr/>
        </p:nvSpPr>
        <p:spPr>
          <a:xfrm>
            <a:off x="978408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love</a:t>
            </a:r>
            <a:endParaRPr lang="en-US" sz="1200" dirty="0"/>
          </a:p>
        </p:txBody>
      </p:sp>
      <p:sp>
        <p:nvSpPr>
          <p:cNvPr id="31" name="R5_it177"/>
          <p:cNvSpPr/>
          <p:nvPr/>
        </p:nvSpPr>
        <p:spPr>
          <a:xfrm>
            <a:off x="978408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amare</a:t>
            </a:r>
            <a:endParaRPr lang="en-US" sz="1000" dirty="0"/>
          </a:p>
        </p:txBody>
      </p:sp>
      <p:sp>
        <p:nvSpPr>
          <p:cNvPr id="32" name="cd_178"/>
          <p:cNvSpPr/>
          <p:nvPr/>
        </p:nvSpPr>
        <p:spPr>
          <a:xfrm>
            <a:off x="2487168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179"/>
          <p:cNvSpPr/>
          <p:nvPr/>
        </p:nvSpPr>
        <p:spPr>
          <a:xfrm>
            <a:off x="2560320" y="235000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4" name="en_180"/>
          <p:cNvSpPr/>
          <p:nvPr/>
        </p:nvSpPr>
        <p:spPr>
          <a:xfrm>
            <a:off x="3145536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mean</a:t>
            </a:r>
            <a:endParaRPr lang="en-US" sz="1200" dirty="0"/>
          </a:p>
        </p:txBody>
      </p:sp>
      <p:sp>
        <p:nvSpPr>
          <p:cNvPr id="35" name="R6_it181"/>
          <p:cNvSpPr/>
          <p:nvPr/>
        </p:nvSpPr>
        <p:spPr>
          <a:xfrm>
            <a:off x="3145536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significare</a:t>
            </a:r>
            <a:endParaRPr lang="en-US" sz="1000" dirty="0"/>
          </a:p>
        </p:txBody>
      </p:sp>
      <p:sp>
        <p:nvSpPr>
          <p:cNvPr id="36" name="cd_182"/>
          <p:cNvSpPr/>
          <p:nvPr/>
        </p:nvSpPr>
        <p:spPr>
          <a:xfrm>
            <a:off x="4654296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7" name="e_183"/>
          <p:cNvSpPr/>
          <p:nvPr/>
        </p:nvSpPr>
        <p:spPr>
          <a:xfrm>
            <a:off x="4727448" y="235000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❗</a:t>
            </a:r>
            <a:endParaRPr lang="en-US" sz="2000" dirty="0"/>
          </a:p>
        </p:txBody>
      </p:sp>
      <p:sp>
        <p:nvSpPr>
          <p:cNvPr id="38" name="en_184"/>
          <p:cNvSpPr/>
          <p:nvPr/>
        </p:nvSpPr>
        <p:spPr>
          <a:xfrm>
            <a:off x="5312664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need</a:t>
            </a:r>
            <a:endParaRPr lang="en-US" sz="1200" dirty="0"/>
          </a:p>
        </p:txBody>
      </p:sp>
      <p:sp>
        <p:nvSpPr>
          <p:cNvPr id="39" name="R7_it185"/>
          <p:cNvSpPr/>
          <p:nvPr/>
        </p:nvSpPr>
        <p:spPr>
          <a:xfrm>
            <a:off x="5312664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aver bisogno di</a:t>
            </a:r>
            <a:endParaRPr lang="en-US" sz="1000" dirty="0"/>
          </a:p>
        </p:txBody>
      </p:sp>
      <p:sp>
        <p:nvSpPr>
          <p:cNvPr id="40" name="cd_186"/>
          <p:cNvSpPr/>
          <p:nvPr/>
        </p:nvSpPr>
        <p:spPr>
          <a:xfrm>
            <a:off x="6821424" y="224028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1" name="e_187"/>
          <p:cNvSpPr/>
          <p:nvPr/>
        </p:nvSpPr>
        <p:spPr>
          <a:xfrm>
            <a:off x="6894576" y="235000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42" name="en_188"/>
          <p:cNvSpPr/>
          <p:nvPr/>
        </p:nvSpPr>
        <p:spPr>
          <a:xfrm>
            <a:off x="7479792" y="229514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own</a:t>
            </a:r>
            <a:endParaRPr lang="en-US" sz="1200" dirty="0"/>
          </a:p>
        </p:txBody>
      </p:sp>
      <p:sp>
        <p:nvSpPr>
          <p:cNvPr id="43" name="R8_it189"/>
          <p:cNvSpPr/>
          <p:nvPr/>
        </p:nvSpPr>
        <p:spPr>
          <a:xfrm>
            <a:off x="7479792" y="262432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possedere</a:t>
            </a:r>
            <a:endParaRPr lang="en-US" sz="1000" dirty="0"/>
          </a:p>
        </p:txBody>
      </p:sp>
      <p:sp>
        <p:nvSpPr>
          <p:cNvPr id="44" name="cd_190"/>
          <p:cNvSpPr/>
          <p:nvPr/>
        </p:nvSpPr>
        <p:spPr>
          <a:xfrm>
            <a:off x="320040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5" name="e_191"/>
          <p:cNvSpPr/>
          <p:nvPr/>
        </p:nvSpPr>
        <p:spPr>
          <a:xfrm>
            <a:off x="393192" y="317296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46" name="en_192"/>
          <p:cNvSpPr/>
          <p:nvPr/>
        </p:nvSpPr>
        <p:spPr>
          <a:xfrm>
            <a:off x="978408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prefer</a:t>
            </a:r>
            <a:endParaRPr lang="en-US" sz="1200" dirty="0"/>
          </a:p>
        </p:txBody>
      </p:sp>
      <p:sp>
        <p:nvSpPr>
          <p:cNvPr id="47" name="R9_it193"/>
          <p:cNvSpPr/>
          <p:nvPr/>
        </p:nvSpPr>
        <p:spPr>
          <a:xfrm>
            <a:off x="978408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preferire</a:t>
            </a:r>
            <a:endParaRPr lang="en-US" sz="1000" dirty="0"/>
          </a:p>
        </p:txBody>
      </p:sp>
      <p:sp>
        <p:nvSpPr>
          <p:cNvPr id="48" name="cd_194"/>
          <p:cNvSpPr/>
          <p:nvPr/>
        </p:nvSpPr>
        <p:spPr>
          <a:xfrm>
            <a:off x="2487168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9" name="e_195"/>
          <p:cNvSpPr/>
          <p:nvPr/>
        </p:nvSpPr>
        <p:spPr>
          <a:xfrm>
            <a:off x="2560320" y="317296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50" name="en_196"/>
          <p:cNvSpPr/>
          <p:nvPr/>
        </p:nvSpPr>
        <p:spPr>
          <a:xfrm>
            <a:off x="3145536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51" name="R10_it197"/>
          <p:cNvSpPr/>
          <p:nvPr/>
        </p:nvSpPr>
        <p:spPr>
          <a:xfrm>
            <a:off x="3145536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capire</a:t>
            </a:r>
            <a:endParaRPr lang="en-US" sz="1000" dirty="0"/>
          </a:p>
        </p:txBody>
      </p:sp>
      <p:sp>
        <p:nvSpPr>
          <p:cNvPr id="52" name="cd_198"/>
          <p:cNvSpPr/>
          <p:nvPr/>
        </p:nvSpPr>
        <p:spPr>
          <a:xfrm>
            <a:off x="4654296" y="3063240"/>
            <a:ext cx="2075688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e_199"/>
          <p:cNvSpPr/>
          <p:nvPr/>
        </p:nvSpPr>
        <p:spPr>
          <a:xfrm>
            <a:off x="4727448" y="317296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🎁</a:t>
            </a:r>
            <a:endParaRPr lang="en-US" sz="2000" dirty="0"/>
          </a:p>
        </p:txBody>
      </p:sp>
      <p:sp>
        <p:nvSpPr>
          <p:cNvPr id="54" name="en_200"/>
          <p:cNvSpPr/>
          <p:nvPr/>
        </p:nvSpPr>
        <p:spPr>
          <a:xfrm>
            <a:off x="5312664" y="311810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want</a:t>
            </a:r>
            <a:endParaRPr lang="en-US" sz="1200" dirty="0"/>
          </a:p>
        </p:txBody>
      </p:sp>
      <p:sp>
        <p:nvSpPr>
          <p:cNvPr id="55" name="R11_it201"/>
          <p:cNvSpPr/>
          <p:nvPr/>
        </p:nvSpPr>
        <p:spPr>
          <a:xfrm>
            <a:off x="5312664" y="3447288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volere</a:t>
            </a:r>
            <a:endParaRPr lang="en-US" sz="1000" dirty="0"/>
          </a:p>
        </p:txBody>
      </p:sp>
      <p:sp>
        <p:nvSpPr>
          <p:cNvPr id="56" name="R12_wc202"/>
          <p:cNvSpPr/>
          <p:nvPr/>
        </p:nvSpPr>
        <p:spPr>
          <a:xfrm>
            <a:off x="320040" y="39319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7" name="R12_w203"/>
          <p:cNvSpPr/>
          <p:nvPr/>
        </p:nvSpPr>
        <p:spPr>
          <a:xfrm>
            <a:off x="457200" y="39319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✓ I don't understand this question.   ✗ I'm not understanding this question.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206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Which verb?</a:t>
            </a:r>
            <a:endParaRPr lang="en-US" sz="2500" dirty="0"/>
          </a:p>
        </p:txBody>
      </p:sp>
      <p:pic>
        <p:nvPicPr>
          <p:cNvPr id="6" name="brP_20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0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a verb from the last slide – positive or negative.</a:t>
            </a:r>
            <a:endParaRPr lang="en-US" sz="1100" dirty="0"/>
          </a:p>
        </p:txBody>
      </p:sp>
      <p:sp>
        <p:nvSpPr>
          <p:cNvPr id="8" name="insIT_20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un verbo della slide precedente – positivo o negativo.</a:t>
            </a:r>
            <a:endParaRPr lang="en-US" sz="950" dirty="0"/>
          </a:p>
        </p:txBody>
      </p:sp>
      <p:sp>
        <p:nvSpPr>
          <p:cNvPr id="9" name="note_21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Controlled practice</a:t>
            </a:r>
            <a:endParaRPr lang="en-US" sz="1150" dirty="0"/>
          </a:p>
        </p:txBody>
      </p:sp>
      <p:pic>
        <p:nvPicPr>
          <p:cNvPr id="10" name="logo_21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· stative verbs practice   ·   📖 SB p.12 · Grammar 6</a:t>
            </a:r>
            <a:endParaRPr lang="en-US" sz="800" dirty="0"/>
          </a:p>
        </p:txBody>
      </p:sp>
      <p:sp>
        <p:nvSpPr>
          <p:cNvPr id="12" name="cd_213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1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4" name="R2_rdA21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5" name="R3_rdA21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don't know / don't believe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6" name="R4_rdA21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don't know / don't believe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7" name="R5_rdA21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don't know / don't believe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mean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8" name="R6_rdA21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don't know / don't believe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mean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hate / don't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19" name="R7_rdA22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the sentences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My uncle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owns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cars.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Ruby's very friendly. We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like / love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don't know / don't believe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old he is. He looks about 14.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What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does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word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mean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I'm feeling miserable today.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hate / don't like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cold weather.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You're speaking too quickly and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don't / can't understand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</a:t>
            </a:r>
            <a:endParaRPr lang="en-US" sz="1200" dirty="0"/>
          </a:p>
        </p:txBody>
      </p:sp>
      <p:sp>
        <p:nvSpPr>
          <p:cNvPr id="20" name="cd_221"/>
          <p:cNvSpPr/>
          <p:nvPr/>
        </p:nvSpPr>
        <p:spPr>
          <a:xfrm>
            <a:off x="6263640" y="1417320"/>
            <a:ext cx="2606040" cy="1548384"/>
          </a:xfrm>
          <a:prstGeom prst="roundRect">
            <a:avLst>
              <a:gd name="adj" fmla="val 8268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ii_222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ih_223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Tip</a:t>
            </a:r>
            <a:endParaRPr lang="en-US" sz="1300" dirty="0"/>
          </a:p>
        </p:txBody>
      </p:sp>
      <p:sp>
        <p:nvSpPr>
          <p:cNvPr id="23" name="il_224"/>
          <p:cNvSpPr/>
          <p:nvPr/>
        </p:nvSpPr>
        <p:spPr>
          <a:xfrm>
            <a:off x="6830568" y="1911096"/>
            <a:ext cx="1947672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Sometimes more than one answer is possible.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Negative? don't / doesn't + verb</a:t>
            </a:r>
            <a:endParaRPr lang="en-US" sz="1050" dirty="0"/>
          </a:p>
        </p:txBody>
      </p:sp>
      <p:sp>
        <p:nvSpPr>
          <p:cNvPr id="24" name="R1_ebh225"/>
          <p:cNvSpPr/>
          <p:nvPr/>
        </p:nvSpPr>
        <p:spPr>
          <a:xfrm>
            <a:off x="6263640" y="3075432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🆘 Easier? Choose from these (some don't fit):</a:t>
            </a:r>
            <a:endParaRPr lang="en-US" sz="850" dirty="0"/>
          </a:p>
        </p:txBody>
      </p:sp>
      <p:sp>
        <p:nvSpPr>
          <p:cNvPr id="25" name="R1_ebw226"/>
          <p:cNvSpPr/>
          <p:nvPr/>
        </p:nvSpPr>
        <p:spPr>
          <a:xfrm>
            <a:off x="6263640" y="34411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does</a:t>
            </a:r>
            <a:endParaRPr lang="en-US" sz="1100" dirty="0"/>
          </a:p>
        </p:txBody>
      </p:sp>
      <p:sp>
        <p:nvSpPr>
          <p:cNvPr id="26" name="R1_ebw227"/>
          <p:cNvSpPr/>
          <p:nvPr/>
        </p:nvSpPr>
        <p:spPr>
          <a:xfrm>
            <a:off x="7150608" y="34411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know</a:t>
            </a:r>
            <a:endParaRPr lang="en-US" sz="1100" dirty="0"/>
          </a:p>
        </p:txBody>
      </p:sp>
      <p:sp>
        <p:nvSpPr>
          <p:cNvPr id="27" name="R1_ebw228"/>
          <p:cNvSpPr/>
          <p:nvPr/>
        </p:nvSpPr>
        <p:spPr>
          <a:xfrm>
            <a:off x="8037576" y="344119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understand</a:t>
            </a:r>
            <a:endParaRPr lang="en-US" sz="800" dirty="0"/>
          </a:p>
        </p:txBody>
      </p:sp>
      <p:sp>
        <p:nvSpPr>
          <p:cNvPr id="28" name="R1_ebw229"/>
          <p:cNvSpPr/>
          <p:nvPr/>
        </p:nvSpPr>
        <p:spPr>
          <a:xfrm>
            <a:off x="6263640" y="3752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hate</a:t>
            </a:r>
            <a:endParaRPr lang="en-US" sz="1100" dirty="0"/>
          </a:p>
        </p:txBody>
      </p:sp>
      <p:sp>
        <p:nvSpPr>
          <p:cNvPr id="29" name="R1_ebw230"/>
          <p:cNvSpPr/>
          <p:nvPr/>
        </p:nvSpPr>
        <p:spPr>
          <a:xfrm>
            <a:off x="7150608" y="3752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</a:t>
            </a:r>
            <a:endParaRPr lang="en-US" sz="1100" dirty="0"/>
          </a:p>
        </p:txBody>
      </p:sp>
      <p:sp>
        <p:nvSpPr>
          <p:cNvPr id="30" name="R1_ebw231"/>
          <p:cNvSpPr/>
          <p:nvPr/>
        </p:nvSpPr>
        <p:spPr>
          <a:xfrm>
            <a:off x="8037576" y="375208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</a:t>
            </a:r>
            <a:endParaRPr lang="en-US" sz="1100" dirty="0"/>
          </a:p>
        </p:txBody>
      </p:sp>
      <p:sp>
        <p:nvSpPr>
          <p:cNvPr id="31" name="R1_ebw232"/>
          <p:cNvSpPr/>
          <p:nvPr/>
        </p:nvSpPr>
        <p:spPr>
          <a:xfrm>
            <a:off x="6263640" y="40629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need</a:t>
            </a:r>
            <a:endParaRPr lang="en-US" sz="1100" dirty="0"/>
          </a:p>
        </p:txBody>
      </p:sp>
      <p:sp>
        <p:nvSpPr>
          <p:cNvPr id="32" name="R1_ebw233"/>
          <p:cNvSpPr/>
          <p:nvPr/>
        </p:nvSpPr>
        <p:spPr>
          <a:xfrm>
            <a:off x="7150608" y="4062984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want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36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Quick choice!</a:t>
            </a:r>
            <a:endParaRPr lang="en-US" sz="2500" dirty="0"/>
          </a:p>
        </p:txBody>
      </p:sp>
      <p:pic>
        <p:nvPicPr>
          <p:cNvPr id="6" name="brP_2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206240" cy="402336"/>
          </a:xfrm>
          <a:prstGeom prst="rect">
            <a:avLst/>
          </a:prstGeom>
        </p:spPr>
      </p:pic>
      <p:sp>
        <p:nvSpPr>
          <p:cNvPr id="7" name="ins_238"/>
          <p:cNvSpPr/>
          <p:nvPr/>
        </p:nvSpPr>
        <p:spPr>
          <a:xfrm>
            <a:off x="1353312" y="731520"/>
            <a:ext cx="3950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Teams: choose the correct form. Say why!</a:t>
            </a:r>
            <a:endParaRPr lang="en-US" sz="1250" dirty="0"/>
          </a:p>
        </p:txBody>
      </p:sp>
      <p:sp>
        <p:nvSpPr>
          <p:cNvPr id="8" name="insIT_2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Squadre: scegliete la forma giusta. Dite perché!</a:t>
            </a:r>
            <a:endParaRPr lang="en-US" sz="950" dirty="0"/>
          </a:p>
        </p:txBody>
      </p:sp>
      <p:sp>
        <p:nvSpPr>
          <p:cNvPr id="9" name="note_24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GIOCA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Communicative game</a:t>
            </a:r>
            <a:endParaRPr lang="en-US" sz="1250" dirty="0"/>
          </a:p>
        </p:txBody>
      </p:sp>
      <p:pic>
        <p:nvPicPr>
          <p:cNvPr id="10" name="logo_2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Grammar game   ·   📖 SB p.12 · Grammar 7</a:t>
            </a:r>
            <a:endParaRPr lang="en-US" sz="800" dirty="0"/>
          </a:p>
        </p:txBody>
      </p:sp>
      <p:sp>
        <p:nvSpPr>
          <p:cNvPr id="12" name="cd_243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4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24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246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sentence. Choose A or B.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= 1 point.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reason (now / habit / plan / no -ing) = 1 more point!</a:t>
            </a:r>
            <a:endParaRPr lang="en-US" sz="1200" dirty="0"/>
          </a:p>
        </p:txBody>
      </p:sp>
      <p:sp>
        <p:nvSpPr>
          <p:cNvPr id="16" name="st_247"/>
          <p:cNvSpPr/>
          <p:nvPr/>
        </p:nvSpPr>
        <p:spPr>
          <a:xfrm rot="-180000">
            <a:off x="502920" y="3712464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248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249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have / 're having problems with the computers at the moment.</a:t>
            </a:r>
            <a:endParaRPr lang="en-US" sz="900" dirty="0"/>
          </a:p>
        </p:txBody>
      </p:sp>
      <p:sp>
        <p:nvSpPr>
          <p:cNvPr id="19" name="chip_250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're having (now)</a:t>
            </a:r>
            <a:endParaRPr lang="en-US" sz="1200" dirty="0"/>
          </a:p>
        </p:txBody>
      </p:sp>
      <p:sp>
        <p:nvSpPr>
          <p:cNvPr id="20" name="bd_251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252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need / 'm needing some new shoes.</a:t>
            </a:r>
            <a:endParaRPr lang="en-US" sz="900" dirty="0"/>
          </a:p>
        </p:txBody>
      </p:sp>
      <p:sp>
        <p:nvSpPr>
          <p:cNvPr id="22" name="R1_chip253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need (no -ing verb)</a:t>
            </a:r>
            <a:endParaRPr lang="en-US" sz="1200" dirty="0"/>
          </a:p>
        </p:txBody>
      </p:sp>
      <p:sp>
        <p:nvSpPr>
          <p:cNvPr id="23" name="bd_254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255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write / 'm writing to you about a trip we are planning in November.</a:t>
            </a:r>
            <a:endParaRPr lang="en-US" sz="900" dirty="0"/>
          </a:p>
        </p:txBody>
      </p:sp>
      <p:sp>
        <p:nvSpPr>
          <p:cNvPr id="25" name="R2_chip256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'm writing (now)</a:t>
            </a:r>
            <a:endParaRPr lang="en-US" sz="1200" dirty="0"/>
          </a:p>
        </p:txBody>
      </p:sp>
      <p:sp>
        <p:nvSpPr>
          <p:cNvPr id="26" name="bd_257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258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Tonight she goes / 's going to the cinema with some friends.</a:t>
            </a:r>
            <a:endParaRPr lang="en-US" sz="900" dirty="0"/>
          </a:p>
        </p:txBody>
      </p:sp>
      <p:sp>
        <p:nvSpPr>
          <p:cNvPr id="28" name="R3_chip259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's going (plan)</a:t>
            </a:r>
            <a:endParaRPr lang="en-US" sz="1200" dirty="0"/>
          </a:p>
        </p:txBody>
      </p:sp>
      <p:sp>
        <p:nvSpPr>
          <p:cNvPr id="29" name="bd_260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261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This term I have / 'm having some extra maths lessons.</a:t>
            </a:r>
            <a:endParaRPr lang="en-US" sz="900" dirty="0"/>
          </a:p>
        </p:txBody>
      </p:sp>
      <p:sp>
        <p:nvSpPr>
          <p:cNvPr id="31" name="R4_chip262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'm having (temporary)</a:t>
            </a:r>
            <a:endParaRPr lang="en-US" sz="1200" dirty="0"/>
          </a:p>
        </p:txBody>
      </p:sp>
      <p:sp>
        <p:nvSpPr>
          <p:cNvPr id="32" name="bd_263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264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never forget / 'm never forgetting my homework.</a:t>
            </a:r>
            <a:endParaRPr lang="en-US" sz="900" dirty="0"/>
          </a:p>
        </p:txBody>
      </p:sp>
      <p:sp>
        <p:nvSpPr>
          <p:cNvPr id="34" name="R5_chip265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never forget (habit)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6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6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68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un-, in- or im-?</a:t>
            </a:r>
            <a:endParaRPr lang="en-US" sz="2500" dirty="0"/>
          </a:p>
        </p:txBody>
      </p:sp>
      <p:pic>
        <p:nvPicPr>
          <p:cNvPr id="6" name="brP_26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119372" cy="402336"/>
          </a:xfrm>
          <a:prstGeom prst="rect">
            <a:avLst/>
          </a:prstGeom>
        </p:spPr>
      </p:pic>
      <p:sp>
        <p:nvSpPr>
          <p:cNvPr id="7" name="ins_270"/>
          <p:cNvSpPr/>
          <p:nvPr/>
        </p:nvSpPr>
        <p:spPr>
          <a:xfrm>
            <a:off x="1353312" y="731520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Write the opposites.</a:t>
            </a:r>
            <a:endParaRPr lang="en-US" sz="1250" dirty="0"/>
          </a:p>
        </p:txBody>
      </p:sp>
      <p:sp>
        <p:nvSpPr>
          <p:cNvPr id="8" name="insIT_27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Scrivi i contrari.</a:t>
            </a:r>
            <a:endParaRPr lang="en-US" sz="950" dirty="0"/>
          </a:p>
        </p:txBody>
      </p:sp>
      <p:sp>
        <p:nvSpPr>
          <p:cNvPr id="9" name="note_27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Word building</a:t>
            </a:r>
            <a:endParaRPr lang="en-US" sz="1150" dirty="0"/>
          </a:p>
        </p:txBody>
      </p:sp>
      <p:pic>
        <p:nvPicPr>
          <p:cNvPr id="10" name="logo_27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7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Vocabulary · prefixes un-, in-, im-   ·   📖 SB p.12 · Vocabulary 1</a:t>
            </a:r>
            <a:endParaRPr lang="en-US" sz="800" dirty="0"/>
          </a:p>
        </p:txBody>
      </p:sp>
      <p:sp>
        <p:nvSpPr>
          <p:cNvPr id="12" name="bd_275"/>
          <p:cNvSpPr/>
          <p:nvPr/>
        </p:nvSpPr>
        <p:spPr>
          <a:xfrm>
            <a:off x="32004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276"/>
          <p:cNvSpPr/>
          <p:nvPr/>
        </p:nvSpPr>
        <p:spPr>
          <a:xfrm>
            <a:off x="70408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possible · tidy · dependent</a:t>
            </a:r>
            <a:endParaRPr lang="en-US" sz="1200" dirty="0"/>
          </a:p>
        </p:txBody>
      </p:sp>
      <p:sp>
        <p:nvSpPr>
          <p:cNvPr id="14" name="R1_chip277"/>
          <p:cNvSpPr/>
          <p:nvPr/>
        </p:nvSpPr>
        <p:spPr>
          <a:xfrm>
            <a:off x="70408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possible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tidy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dependent</a:t>
            </a:r>
            <a:endParaRPr lang="en-US" sz="1150" dirty="0"/>
          </a:p>
        </p:txBody>
      </p:sp>
      <p:sp>
        <p:nvSpPr>
          <p:cNvPr id="15" name="bd_278"/>
          <p:cNvSpPr/>
          <p:nvPr/>
        </p:nvSpPr>
        <p:spPr>
          <a:xfrm>
            <a:off x="32004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279"/>
          <p:cNvSpPr/>
          <p:nvPr/>
        </p:nvSpPr>
        <p:spPr>
          <a:xfrm>
            <a:off x="70408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kind · friendly</a:t>
            </a:r>
            <a:endParaRPr lang="en-US" sz="1200" dirty="0"/>
          </a:p>
        </p:txBody>
      </p:sp>
      <p:sp>
        <p:nvSpPr>
          <p:cNvPr id="17" name="R2_chip280"/>
          <p:cNvSpPr/>
          <p:nvPr/>
        </p:nvSpPr>
        <p:spPr>
          <a:xfrm>
            <a:off x="70408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kind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friendly</a:t>
            </a:r>
            <a:endParaRPr lang="en-US" sz="1150" dirty="0"/>
          </a:p>
        </p:txBody>
      </p:sp>
      <p:sp>
        <p:nvSpPr>
          <p:cNvPr id="18" name="bd_281"/>
          <p:cNvSpPr/>
          <p:nvPr/>
        </p:nvSpPr>
        <p:spPr>
          <a:xfrm>
            <a:off x="32004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282"/>
          <p:cNvSpPr/>
          <p:nvPr/>
        </p:nvSpPr>
        <p:spPr>
          <a:xfrm>
            <a:off x="70408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patient · expensive</a:t>
            </a:r>
            <a:endParaRPr lang="en-US" sz="1200" dirty="0"/>
          </a:p>
        </p:txBody>
      </p:sp>
      <p:sp>
        <p:nvSpPr>
          <p:cNvPr id="20" name="R3_chip283"/>
          <p:cNvSpPr/>
          <p:nvPr/>
        </p:nvSpPr>
        <p:spPr>
          <a:xfrm>
            <a:off x="70408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patient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expensive</a:t>
            </a:r>
            <a:endParaRPr lang="en-US" sz="1150" dirty="0"/>
          </a:p>
        </p:txBody>
      </p:sp>
      <p:sp>
        <p:nvSpPr>
          <p:cNvPr id="21" name="bd_284"/>
          <p:cNvSpPr/>
          <p:nvPr/>
        </p:nvSpPr>
        <p:spPr>
          <a:xfrm>
            <a:off x="320040" y="391399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285"/>
          <p:cNvSpPr/>
          <p:nvPr/>
        </p:nvSpPr>
        <p:spPr>
          <a:xfrm>
            <a:off x="704088" y="3941064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known · polite</a:t>
            </a:r>
            <a:endParaRPr lang="en-US" sz="1200" dirty="0"/>
          </a:p>
        </p:txBody>
      </p:sp>
      <p:sp>
        <p:nvSpPr>
          <p:cNvPr id="23" name="R4_chip286"/>
          <p:cNvSpPr/>
          <p:nvPr/>
        </p:nvSpPr>
        <p:spPr>
          <a:xfrm>
            <a:off x="704088" y="4243548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known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polite</a:t>
            </a:r>
            <a:endParaRPr lang="en-US" sz="1150" dirty="0"/>
          </a:p>
        </p:txBody>
      </p:sp>
      <p:sp>
        <p:nvSpPr>
          <p:cNvPr id="24" name="bd_287"/>
          <p:cNvSpPr/>
          <p:nvPr/>
        </p:nvSpPr>
        <p:spPr>
          <a:xfrm>
            <a:off x="4709160" y="1390254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288"/>
          <p:cNvSpPr/>
          <p:nvPr/>
        </p:nvSpPr>
        <p:spPr>
          <a:xfrm>
            <a:off x="5093208" y="1417320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 · healthy</a:t>
            </a:r>
            <a:endParaRPr lang="en-US" sz="1200" dirty="0"/>
          </a:p>
        </p:txBody>
      </p:sp>
      <p:sp>
        <p:nvSpPr>
          <p:cNvPr id="26" name="R5_chip289"/>
          <p:cNvSpPr/>
          <p:nvPr/>
        </p:nvSpPr>
        <p:spPr>
          <a:xfrm>
            <a:off x="5093208" y="1719804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healthy</a:t>
            </a:r>
            <a:endParaRPr lang="en-US" sz="1150" dirty="0"/>
          </a:p>
        </p:txBody>
      </p:sp>
      <p:sp>
        <p:nvSpPr>
          <p:cNvPr id="27" name="bd_290"/>
          <p:cNvSpPr/>
          <p:nvPr/>
        </p:nvSpPr>
        <p:spPr>
          <a:xfrm>
            <a:off x="4709160" y="223150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291"/>
          <p:cNvSpPr/>
          <p:nvPr/>
        </p:nvSpPr>
        <p:spPr>
          <a:xfrm>
            <a:off x="5093208" y="2258568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well · fair</a:t>
            </a:r>
            <a:endParaRPr lang="en-US" sz="1200" dirty="0"/>
          </a:p>
        </p:txBody>
      </p:sp>
      <p:sp>
        <p:nvSpPr>
          <p:cNvPr id="29" name="R6_chip292"/>
          <p:cNvSpPr/>
          <p:nvPr/>
        </p:nvSpPr>
        <p:spPr>
          <a:xfrm>
            <a:off x="5093208" y="2561052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well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fair</a:t>
            </a:r>
            <a:endParaRPr lang="en-US" sz="1150" dirty="0"/>
          </a:p>
        </p:txBody>
      </p:sp>
      <p:sp>
        <p:nvSpPr>
          <p:cNvPr id="30" name="bd_293"/>
          <p:cNvSpPr/>
          <p:nvPr/>
        </p:nvSpPr>
        <p:spPr>
          <a:xfrm>
            <a:off x="4709160" y="3072750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294"/>
          <p:cNvSpPr/>
          <p:nvPr/>
        </p:nvSpPr>
        <p:spPr>
          <a:xfrm>
            <a:off x="5093208" y="3099816"/>
            <a:ext cx="3776472" cy="256764"/>
          </a:xfrm>
          <a:prstGeom prst="roundRect">
            <a:avLst>
              <a:gd name="adj" fmla="val 35612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lucky · correct</a:t>
            </a:r>
            <a:endParaRPr lang="en-US" sz="1200" dirty="0"/>
          </a:p>
        </p:txBody>
      </p:sp>
      <p:sp>
        <p:nvSpPr>
          <p:cNvPr id="32" name="R7_chip295"/>
          <p:cNvSpPr/>
          <p:nvPr/>
        </p:nvSpPr>
        <p:spPr>
          <a:xfrm>
            <a:off x="5093208" y="3402300"/>
            <a:ext cx="3776472" cy="410748"/>
          </a:xfrm>
          <a:prstGeom prst="roundRect">
            <a:avLst>
              <a:gd name="adj" fmla="val 22262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lucky · </a:t>
            </a:r>
            <a:pPr algn="l" indent="0" marL="0">
              <a:buNone/>
            </a:pPr>
            <a:r>
              <a:rPr lang="en-US" sz="115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29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1989734" cy="621792"/>
          </a:xfrm>
          <a:prstGeom prst="rect">
            <a:avLst/>
          </a:prstGeom>
        </p:spPr>
      </p:pic>
      <p:sp>
        <p:nvSpPr>
          <p:cNvPr id="5" name="title_298"/>
          <p:cNvSpPr/>
          <p:nvPr/>
        </p:nvSpPr>
        <p:spPr>
          <a:xfrm>
            <a:off x="1261872" y="164592"/>
            <a:ext cx="1715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 agree!</a:t>
            </a:r>
            <a:endParaRPr lang="en-US" sz="2500" dirty="0"/>
          </a:p>
        </p:txBody>
      </p:sp>
      <p:pic>
        <p:nvPicPr>
          <p:cNvPr id="6" name="brP_29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0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Agree! Use an adjective from the last slide – or its opposite.</a:t>
            </a:r>
            <a:endParaRPr lang="en-US" sz="1200" dirty="0"/>
          </a:p>
        </p:txBody>
      </p:sp>
      <p:sp>
        <p:nvSpPr>
          <p:cNvPr id="8" name="insIT_30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Sei d'accordo! Usa un aggettivo della slide precedente – o il suo contrario.</a:t>
            </a:r>
            <a:endParaRPr lang="en-US" sz="950" dirty="0"/>
          </a:p>
        </p:txBody>
      </p:sp>
      <p:sp>
        <p:nvSpPr>
          <p:cNvPr id="9" name="note_30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30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0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Vocabulary · practice   ·   📖 SB p.12 · Vocabulary 2</a:t>
            </a:r>
            <a:endParaRPr lang="en-US" sz="800" dirty="0"/>
          </a:p>
        </p:txBody>
      </p:sp>
      <p:sp>
        <p:nvSpPr>
          <p:cNvPr id="12" name="cd_305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0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(1)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R2_rdA30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5" name="R3_rdA30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unwell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R4_rdA30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unwell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visible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7" name="R5_rdA31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unwell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visible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unfair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R6_rdA31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unwell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visible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unfair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lucky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19" name="R7_rdA31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5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B's answers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A: I didn't recognise any of the actors in that film. B: They were all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(0) unknown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I think.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A: Dad never waits for me! B: You're right. He's very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impatient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A: Mum's still in bed! B: I know. She's feeling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unwell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A: It's important to wear bright clothing on a bike at night. B: Yes, you need to be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visible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drivers.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A: We have to be home at 10.30. That's so early! B: Yeah. It's really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unfair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A: I can't believe you found your phone! B: I know. I'm so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lucky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A: The last question in the homework was hard! B: Yes! I got the same answer as you, but Mrs Thomas said it was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incorrect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95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950" dirty="0"/>
          </a:p>
        </p:txBody>
      </p:sp>
      <p:sp>
        <p:nvSpPr>
          <p:cNvPr id="20" name="cd_313"/>
          <p:cNvSpPr/>
          <p:nvPr/>
        </p:nvSpPr>
        <p:spPr>
          <a:xfrm>
            <a:off x="6263640" y="1417320"/>
            <a:ext cx="2606040" cy="1207008"/>
          </a:xfrm>
          <a:prstGeom prst="roundRect">
            <a:avLst>
              <a:gd name="adj" fmla="val 1060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ii_314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ih_315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Tip</a:t>
            </a:r>
            <a:endParaRPr lang="en-US" sz="1300" dirty="0"/>
          </a:p>
        </p:txBody>
      </p:sp>
      <p:sp>
        <p:nvSpPr>
          <p:cNvPr id="23" name="il_316"/>
          <p:cNvSpPr/>
          <p:nvPr/>
        </p:nvSpPr>
        <p:spPr>
          <a:xfrm>
            <a:off x="6830568" y="1911096"/>
            <a:ext cx="1947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A. How does A feel?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Positive or negative word?</a:t>
            </a:r>
            <a:endParaRPr lang="en-US" sz="1050" dirty="0"/>
          </a:p>
        </p:txBody>
      </p:sp>
      <p:sp>
        <p:nvSpPr>
          <p:cNvPr id="24" name="R1_ebh317"/>
          <p:cNvSpPr/>
          <p:nvPr/>
        </p:nvSpPr>
        <p:spPr>
          <a:xfrm>
            <a:off x="6263640" y="2734056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E3F1FD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🆘 Easier? Choose from these (some don't fit):</a:t>
            </a:r>
            <a:endParaRPr lang="en-US" sz="850" dirty="0"/>
          </a:p>
        </p:txBody>
      </p:sp>
      <p:sp>
        <p:nvSpPr>
          <p:cNvPr id="25" name="R1_ebw318"/>
          <p:cNvSpPr/>
          <p:nvPr/>
        </p:nvSpPr>
        <p:spPr>
          <a:xfrm>
            <a:off x="6263640" y="309981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healthy</a:t>
            </a:r>
            <a:endParaRPr lang="en-US" sz="1100" dirty="0"/>
          </a:p>
        </p:txBody>
      </p:sp>
      <p:sp>
        <p:nvSpPr>
          <p:cNvPr id="26" name="R1_ebw319"/>
          <p:cNvSpPr/>
          <p:nvPr/>
        </p:nvSpPr>
        <p:spPr>
          <a:xfrm>
            <a:off x="7150608" y="309981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impatient</a:t>
            </a:r>
            <a:endParaRPr lang="en-US" sz="1100" dirty="0"/>
          </a:p>
        </p:txBody>
      </p:sp>
      <p:sp>
        <p:nvSpPr>
          <p:cNvPr id="27" name="R1_ebw320"/>
          <p:cNvSpPr/>
          <p:nvPr/>
        </p:nvSpPr>
        <p:spPr>
          <a:xfrm>
            <a:off x="8037576" y="3099816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incorrect</a:t>
            </a:r>
            <a:endParaRPr lang="en-US" sz="1100" dirty="0"/>
          </a:p>
        </p:txBody>
      </p:sp>
      <p:sp>
        <p:nvSpPr>
          <p:cNvPr id="28" name="R1_ebw321"/>
          <p:cNvSpPr/>
          <p:nvPr/>
        </p:nvSpPr>
        <p:spPr>
          <a:xfrm>
            <a:off x="6263640" y="3410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lucky</a:t>
            </a:r>
            <a:endParaRPr lang="en-US" sz="1100" dirty="0"/>
          </a:p>
        </p:txBody>
      </p:sp>
      <p:sp>
        <p:nvSpPr>
          <p:cNvPr id="29" name="R1_ebw322"/>
          <p:cNvSpPr/>
          <p:nvPr/>
        </p:nvSpPr>
        <p:spPr>
          <a:xfrm>
            <a:off x="7150608" y="3410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unfair</a:t>
            </a:r>
            <a:endParaRPr lang="en-US" sz="1100" dirty="0"/>
          </a:p>
        </p:txBody>
      </p:sp>
      <p:sp>
        <p:nvSpPr>
          <p:cNvPr id="30" name="R1_ebw323"/>
          <p:cNvSpPr/>
          <p:nvPr/>
        </p:nvSpPr>
        <p:spPr>
          <a:xfrm>
            <a:off x="8037576" y="341071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unkind</a:t>
            </a:r>
            <a:endParaRPr lang="en-US" sz="1100" dirty="0"/>
          </a:p>
        </p:txBody>
      </p:sp>
      <p:sp>
        <p:nvSpPr>
          <p:cNvPr id="31" name="R1_ebw324"/>
          <p:cNvSpPr/>
          <p:nvPr/>
        </p:nvSpPr>
        <p:spPr>
          <a:xfrm>
            <a:off x="6263640" y="37216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unwell</a:t>
            </a:r>
            <a:endParaRPr lang="en-US" sz="1100" dirty="0"/>
          </a:p>
        </p:txBody>
      </p:sp>
      <p:sp>
        <p:nvSpPr>
          <p:cNvPr id="32" name="R1_ebw325"/>
          <p:cNvSpPr/>
          <p:nvPr/>
        </p:nvSpPr>
        <p:spPr>
          <a:xfrm>
            <a:off x="7150608" y="3721608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visible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2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2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090672" cy="621792"/>
          </a:xfrm>
          <a:prstGeom prst="rect">
            <a:avLst/>
          </a:prstGeom>
        </p:spPr>
      </p:pic>
      <p:sp>
        <p:nvSpPr>
          <p:cNvPr id="5" name="title_328"/>
          <p:cNvSpPr/>
          <p:nvPr/>
        </p:nvSpPr>
        <p:spPr>
          <a:xfrm>
            <a:off x="1261872" y="164592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Snowy and Vogue</a:t>
            </a:r>
            <a:endParaRPr lang="en-US" sz="2400" dirty="0"/>
          </a:p>
        </p:txBody>
      </p:sp>
      <p:pic>
        <p:nvPicPr>
          <p:cNvPr id="6" name="brP_32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two profiles. Which person is most like you? Why?</a:t>
            </a:r>
            <a:endParaRPr lang="en-US" sz="1200" dirty="0"/>
          </a:p>
        </p:txBody>
      </p:sp>
      <p:sp>
        <p:nvSpPr>
          <p:cNvPr id="8" name="insIT_33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i due profili. Quale persona ti assomiglia di più? Perché?</a:t>
            </a:r>
            <a:endParaRPr lang="en-US" sz="950" dirty="0"/>
          </a:p>
        </p:txBody>
      </p:sp>
      <p:sp>
        <p:nvSpPr>
          <p:cNvPr id="9" name="note_33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Reading a model</a:t>
            </a:r>
            <a:endParaRPr lang="en-US" sz="1150" dirty="0"/>
          </a:p>
        </p:txBody>
      </p:sp>
      <p:pic>
        <p:nvPicPr>
          <p:cNvPr id="10" name="logo_33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3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Writing · an online profile   ·   📖 SB p.13 · Writing 1 (the texts are on the slide)</a:t>
            </a:r>
            <a:endParaRPr lang="en-US" sz="800" dirty="0"/>
          </a:p>
        </p:txBody>
      </p:sp>
      <p:sp>
        <p:nvSpPr>
          <p:cNvPr id="12" name="cd_335"/>
          <p:cNvSpPr/>
          <p:nvPr/>
        </p:nvSpPr>
        <p:spPr>
          <a:xfrm>
            <a:off x="320040" y="1417320"/>
            <a:ext cx="854964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36"/>
          <p:cNvSpPr/>
          <p:nvPr/>
        </p:nvSpPr>
        <p:spPr>
          <a:xfrm>
            <a:off x="457200" y="1527048"/>
            <a:ext cx="40005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 – 'Snowy', 15, UK/USA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Tom, but my online name is Snowy – my hair is very blonde! I'm British, but I'm living in the USA right now because my parents are working here. I go to Carson High School in Boston.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I'm quite intelligent and very friendly. Some people disagree, of course! I'm really into music and I play the guitar. I practise every day and I'm starting to write my own songs. You can hear a few of them online.</a:t>
            </a:r>
            <a:endParaRPr lang="en-US" sz="1300" dirty="0"/>
          </a:p>
        </p:txBody>
      </p:sp>
      <p:sp>
        <p:nvSpPr>
          <p:cNvPr id="14" name="rd_337"/>
          <p:cNvSpPr/>
          <p:nvPr/>
        </p:nvSpPr>
        <p:spPr>
          <a:xfrm>
            <a:off x="4732020" y="1527048"/>
            <a:ext cx="40005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Felicity – 'Vogue', 16, Australia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name's Felicity, but everyone calls me Flic. I'm from Australia. My hobbies are fashion, fashion and fashion – especially from the 1970s and 80s. Oh, and I also love music. I'm learning to play the drums at the moment. They're really loud.</a:t>
            </a:r>
            <a:endParaRPr lang="en-US" sz="13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fairly confident, but sometimes I'm a bit careless with my school work. My friends say I'm cheerful and friendly but I know that I can sometimes be impatient. I'm trying to change!</a:t>
            </a:r>
            <a:endParaRPr lang="en-US" sz="1300" dirty="0"/>
          </a:p>
        </p:txBody>
      </p:sp>
      <p:sp>
        <p:nvSpPr>
          <p:cNvPr id="15" name="rdl_338"/>
          <p:cNvSpPr/>
          <p:nvPr/>
        </p:nvSpPr>
        <p:spPr>
          <a:xfrm>
            <a:off x="459486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</p:spTree>
  </p:cSld>
  <p:clrMapOvr>
    <a:masterClrMapping/>
  </p:clrMapOvr>
  <p:transition spd="med">
    <p:push dir="l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4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341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Prepare to write</a:t>
            </a:r>
            <a:endParaRPr lang="en-US" sz="2500" dirty="0"/>
          </a:p>
        </p:txBody>
      </p:sp>
      <p:pic>
        <p:nvPicPr>
          <p:cNvPr id="6" name="brP_34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4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Prepare to write phrases do Tom and Flic use? Click!</a:t>
            </a:r>
            <a:endParaRPr lang="en-US" sz="1200" dirty="0"/>
          </a:p>
        </p:txBody>
      </p:sp>
      <p:sp>
        <p:nvSpPr>
          <p:cNvPr id="8" name="insIT_34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Quali frasi del box usano Tom e Flic? Clicca!</a:t>
            </a:r>
            <a:endParaRPr lang="en-US" sz="950" dirty="0"/>
          </a:p>
        </p:txBody>
      </p:sp>
      <p:sp>
        <p:nvSpPr>
          <p:cNvPr id="9" name="note_34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🔍 FIND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Noticing</a:t>
            </a:r>
            <a:endParaRPr lang="en-US" sz="1150" dirty="0"/>
          </a:p>
        </p:txBody>
      </p:sp>
      <p:pic>
        <p:nvPicPr>
          <p:cNvPr id="10" name="logo_34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Writing · Prepare to write   ·   📖 SB p.13 · Writing 2</a:t>
            </a:r>
            <a:endParaRPr lang="en-US" sz="800" dirty="0"/>
          </a:p>
        </p:txBody>
      </p:sp>
      <p:sp>
        <p:nvSpPr>
          <p:cNvPr id="12" name="cd_348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49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Tom, but my online name is Snowy – my hair is very blonde! I'm British, but I'm living in the USA right now because my parents are working here. I go to Carson High School in Boston.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I'm quite intelligent and very friendly. Some people disagree, of course! I'm really into music and I play the guitar. I practise every day and I'm starting to write my own songs. You can hear a few of them online.</a:t>
            </a:r>
            <a:endParaRPr lang="en-US" sz="1100" dirty="0"/>
          </a:p>
        </p:txBody>
      </p:sp>
      <p:sp>
        <p:nvSpPr>
          <p:cNvPr id="14" name="R1_rdE350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Tom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my online name is Snowy – my hair is very blonde! I'm British, but I'm living in the USA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right now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because my parents are working here. I go to Carson High School in Boston.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think I'm quite intelligent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very friendly. Some people disagree, of course!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really into music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I play the guitar. I practise every day and I'm starting to write my own songs. You can hear a few of them online.</a:t>
            </a:r>
            <a:endParaRPr lang="en-US" sz="1100" dirty="0"/>
          </a:p>
        </p:txBody>
      </p:sp>
      <p:sp>
        <p:nvSpPr>
          <p:cNvPr id="15" name="rd_351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Felicity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name's Felicity, but everyone calls me Flic. I'm from Australia. My hobbies are fashion, fashion and fashion – especially from the 1970s and 80s. Oh, and I also love music. I'm learning to play the drums at the moment. They're really loud.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fairly confident, but sometimes I'm a bit careless with my school work. My friends say I'm cheerful and friendly but I know that I can sometimes be impatient. I'm trying to change!</a:t>
            </a:r>
            <a:endParaRPr lang="en-US" sz="1100" dirty="0"/>
          </a:p>
        </p:txBody>
      </p:sp>
      <p:sp>
        <p:nvSpPr>
          <p:cNvPr id="16" name="R1_rdE352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Felicity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name's Felicity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everyone calls me Flic.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from Australia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hobbies are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fashion, fashion and fashion – especially from the 1970s and 80s. Oh, and I also love music. I'm learning to play the drums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at the moment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They're really loud.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fairly confident, but sometimes I'm a bit careless with my school work.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My friends say I'm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cheerful and friendly but I know that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 can sometimes be impatient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I'm trying to change!</a:t>
            </a:r>
            <a:endParaRPr lang="en-US" sz="1100" dirty="0"/>
          </a:p>
        </p:txBody>
      </p:sp>
      <p:sp>
        <p:nvSpPr>
          <p:cNvPr id="17" name="rdl_353"/>
          <p:cNvSpPr/>
          <p:nvPr/>
        </p:nvSpPr>
        <p:spPr>
          <a:xfrm>
            <a:off x="320040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  <p:sp>
        <p:nvSpPr>
          <p:cNvPr id="18" name="cd_354"/>
          <p:cNvSpPr/>
          <p:nvPr/>
        </p:nvSpPr>
        <p:spPr>
          <a:xfrm>
            <a:off x="6263640" y="1417320"/>
            <a:ext cx="2606040" cy="2377440"/>
          </a:xfrm>
          <a:prstGeom prst="roundRect">
            <a:avLst>
              <a:gd name="adj" fmla="val 538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355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20" name="ih_356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 an online profile:</a:t>
            </a:r>
            <a:endParaRPr lang="en-US" sz="1300" dirty="0"/>
          </a:p>
        </p:txBody>
      </p:sp>
      <p:sp>
        <p:nvSpPr>
          <p:cNvPr id="21" name="il_357"/>
          <p:cNvSpPr/>
          <p:nvPr/>
        </p:nvSpPr>
        <p:spPr>
          <a:xfrm>
            <a:off x="6830568" y="1911096"/>
            <a:ext cx="194767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introduce yourself: I'm…, My name's…, I'm from…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you're like: (I think) I'm very / quite…, My friends say I'm…, I can sometimes be…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hobbies: I'm interested in…, I'm (really) into…, My hobbies are…</a:t>
            </a:r>
            <a:endParaRPr lang="en-US" sz="8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learning now: At the moment I'm…, Right now I'm…</a:t>
            </a:r>
            <a:endParaRPr lang="en-US" sz="850" dirty="0"/>
          </a:p>
        </p:txBody>
      </p:sp>
      <p:sp>
        <p:nvSpPr>
          <p:cNvPr id="22" name="R1_chip358"/>
          <p:cNvSpPr/>
          <p:nvPr/>
        </p:nvSpPr>
        <p:spPr>
          <a:xfrm>
            <a:off x="6263640" y="3904488"/>
            <a:ext cx="2606040" cy="850392"/>
          </a:xfrm>
          <a:prstGeom prst="roundRect">
            <a:avLst>
              <a:gd name="adj" fmla="val 10753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 The phrases light up in the texts!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9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360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361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Verbs and adverbs</a:t>
            </a:r>
            <a:endParaRPr lang="en-US" sz="2500" dirty="0"/>
          </a:p>
        </p:txBody>
      </p:sp>
      <p:pic>
        <p:nvPicPr>
          <p:cNvPr id="6" name="brP_362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63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Answer the questions. The answers light up in the texts.</a:t>
            </a:r>
            <a:endParaRPr lang="en-US" sz="1250" dirty="0"/>
          </a:p>
        </p:txBody>
      </p:sp>
      <p:sp>
        <p:nvSpPr>
          <p:cNvPr id="8" name="insIT_364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Rispondi alle domande. Le risposte si illuminano nei testi.</a:t>
            </a:r>
            <a:endParaRPr lang="en-US" sz="950" dirty="0"/>
          </a:p>
        </p:txBody>
      </p:sp>
      <p:sp>
        <p:nvSpPr>
          <p:cNvPr id="9" name="note_365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🔍 FIND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Noticing</a:t>
            </a:r>
            <a:endParaRPr lang="en-US" sz="1150" dirty="0"/>
          </a:p>
        </p:txBody>
      </p:sp>
      <p:pic>
        <p:nvPicPr>
          <p:cNvPr id="10" name="logo_366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7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Writing · verbs and adverbs   ·   📖 SB p.13 · Writing 3, 4</a:t>
            </a:r>
            <a:endParaRPr lang="en-US" sz="800" dirty="0"/>
          </a:p>
        </p:txBody>
      </p:sp>
      <p:sp>
        <p:nvSpPr>
          <p:cNvPr id="12" name="cd_368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69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Tom, but my online name is Snowy – my hair is very blonde! I'm British, but I'm living in the USA right now because my parents are working here. I go to Carson High School in Boston.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I'm quite intelligent and very friendly. Some people disagree, of course! I'm really into music and I play the guitar. I practise every day and I'm starting to write my own songs. You can hear a few of them online.</a:t>
            </a:r>
            <a:endParaRPr lang="en-US" sz="1100" dirty="0"/>
          </a:p>
        </p:txBody>
      </p:sp>
      <p:sp>
        <p:nvSpPr>
          <p:cNvPr id="14" name="R1_rdE370"/>
          <p:cNvSpPr/>
          <p:nvPr/>
        </p:nvSpPr>
        <p:spPr>
          <a:xfrm>
            <a:off x="45720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Tom, but my online name is Snowy – my hair is very blonde! I'm British, but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living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the USA right now because my parents are working here. I go to Carson High School in Boston.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think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quite intelligent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very friendly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Some people disagree, of course!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really into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music and I play the guitar. I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practise every day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I'm starting to write my own songs. You can hear a few of them online.</a:t>
            </a:r>
            <a:endParaRPr lang="en-US" sz="1100" dirty="0"/>
          </a:p>
        </p:txBody>
      </p:sp>
      <p:sp>
        <p:nvSpPr>
          <p:cNvPr id="15" name="rd_371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Felicity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name's Felicity, but everyone calls me Flic. I'm from Australia. My hobbies are fashion, fashion and fashion – especially from the 1970s and 80s. Oh, and I also love music. I'm learning to play the drums at the moment. They're really loud.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fairly confident, but sometimes I'm a bit careless with my school work. My friends say I'm cheerful and friendly but I know that I can sometimes be impatient. I'm trying to change!</a:t>
            </a:r>
            <a:endParaRPr lang="en-US" sz="1100" dirty="0"/>
          </a:p>
        </p:txBody>
      </p:sp>
      <p:sp>
        <p:nvSpPr>
          <p:cNvPr id="16" name="R1_rdE372"/>
          <p:cNvSpPr/>
          <p:nvPr/>
        </p:nvSpPr>
        <p:spPr>
          <a:xfrm>
            <a:off x="3337560" y="1527048"/>
            <a:ext cx="260604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Felicity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name's Felicity, but everyone calls me Flic. I'm from Australia. My hobbies are fashion, fashion and fashion – especially from the 1970s and 80s. Oh, and I also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love music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I'm learning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play the drums at the moment. They're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really loud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fairly confident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but sometimes I'm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a bit careless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my school work. My friends say I'm cheerful and friendly but I know that I can sometimes be impatient. I'm trying to change!</a:t>
            </a:r>
            <a:endParaRPr lang="en-US" sz="1100" dirty="0"/>
          </a:p>
        </p:txBody>
      </p:sp>
      <p:sp>
        <p:nvSpPr>
          <p:cNvPr id="17" name="rdl_373"/>
          <p:cNvSpPr/>
          <p:nvPr/>
        </p:nvSpPr>
        <p:spPr>
          <a:xfrm>
            <a:off x="3200400" y="1600200"/>
            <a:ext cx="0" cy="2999232"/>
          </a:xfrm>
          <a:prstGeom prst="line">
            <a:avLst/>
          </a:prstGeom>
          <a:noFill/>
          <a:ln w="28575">
            <a:solidFill>
              <a:srgbClr val="A8E5BE"/>
            </a:solidFill>
            <a:prstDash val="solid"/>
          </a:ln>
        </p:spPr>
      </p:sp>
      <p:sp>
        <p:nvSpPr>
          <p:cNvPr id="18" name="bd_374"/>
          <p:cNvSpPr/>
          <p:nvPr/>
        </p:nvSpPr>
        <p:spPr>
          <a:xfrm>
            <a:off x="6172200" y="1470470"/>
            <a:ext cx="274320" cy="27432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rq_375"/>
          <p:cNvSpPr/>
          <p:nvPr/>
        </p:nvSpPr>
        <p:spPr>
          <a:xfrm>
            <a:off x="6492240" y="1417320"/>
            <a:ext cx="2423160" cy="380619"/>
          </a:xfrm>
          <a:prstGeom prst="roundRect">
            <a:avLst>
              <a:gd name="adj" fmla="val 1921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Likes and things they do regularly: which verb form?</a:t>
            </a:r>
            <a:endParaRPr lang="en-US" sz="1000" dirty="0"/>
          </a:p>
        </p:txBody>
      </p:sp>
      <p:sp>
        <p:nvSpPr>
          <p:cNvPr id="20" name="R1_chip376"/>
          <p:cNvSpPr/>
          <p:nvPr/>
        </p:nvSpPr>
        <p:spPr>
          <a:xfrm>
            <a:off x="6492240" y="1825371"/>
            <a:ext cx="2423160" cy="353187"/>
          </a:xfrm>
          <a:prstGeom prst="roundRect">
            <a:avLst>
              <a:gd name="adj" fmla="val 2589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simple: I practise every day · I also love music</a:t>
            </a:r>
            <a:endParaRPr lang="en-US" sz="900" dirty="0"/>
          </a:p>
        </p:txBody>
      </p:sp>
      <p:sp>
        <p:nvSpPr>
          <p:cNvPr id="21" name="bd_377"/>
          <p:cNvSpPr/>
          <p:nvPr/>
        </p:nvSpPr>
        <p:spPr>
          <a:xfrm>
            <a:off x="6172200" y="2323148"/>
            <a:ext cx="274320" cy="27432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rq_378"/>
          <p:cNvSpPr/>
          <p:nvPr/>
        </p:nvSpPr>
        <p:spPr>
          <a:xfrm>
            <a:off x="6492240" y="2269998"/>
            <a:ext cx="2423160" cy="380619"/>
          </a:xfrm>
          <a:prstGeom prst="roundRect">
            <a:avLst>
              <a:gd name="adj" fmla="val 1921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Things they're doing at the moment?</a:t>
            </a:r>
            <a:endParaRPr lang="en-US" sz="1000" dirty="0"/>
          </a:p>
        </p:txBody>
      </p:sp>
      <p:sp>
        <p:nvSpPr>
          <p:cNvPr id="23" name="R2_chip379"/>
          <p:cNvSpPr/>
          <p:nvPr/>
        </p:nvSpPr>
        <p:spPr>
          <a:xfrm>
            <a:off x="6492240" y="2678049"/>
            <a:ext cx="2423160" cy="353187"/>
          </a:xfrm>
          <a:prstGeom prst="roundRect">
            <a:avLst>
              <a:gd name="adj" fmla="val 2589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continuous: I'm living in the USA · I'm learning the drums</a:t>
            </a:r>
            <a:endParaRPr lang="en-US" sz="900" dirty="0"/>
          </a:p>
        </p:txBody>
      </p:sp>
      <p:sp>
        <p:nvSpPr>
          <p:cNvPr id="24" name="bd_380"/>
          <p:cNvSpPr/>
          <p:nvPr/>
        </p:nvSpPr>
        <p:spPr>
          <a:xfrm>
            <a:off x="6172200" y="3175826"/>
            <a:ext cx="274320" cy="27432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rq_381"/>
          <p:cNvSpPr/>
          <p:nvPr/>
        </p:nvSpPr>
        <p:spPr>
          <a:xfrm>
            <a:off x="6492240" y="3122676"/>
            <a:ext cx="2423160" cy="380619"/>
          </a:xfrm>
          <a:prstGeom prst="roundRect">
            <a:avLst>
              <a:gd name="adj" fmla="val 1921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Adverbs that make adjectives WEAKER?</a:t>
            </a:r>
            <a:endParaRPr lang="en-US" sz="1000" dirty="0"/>
          </a:p>
        </p:txBody>
      </p:sp>
      <p:sp>
        <p:nvSpPr>
          <p:cNvPr id="26" name="R3_chip382"/>
          <p:cNvSpPr/>
          <p:nvPr/>
        </p:nvSpPr>
        <p:spPr>
          <a:xfrm>
            <a:off x="6492240" y="3530727"/>
            <a:ext cx="2423160" cy="353187"/>
          </a:xfrm>
          <a:prstGeom prst="roundRect">
            <a:avLst>
              <a:gd name="adj" fmla="val 2589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quite · fairly · a bit</a:t>
            </a:r>
            <a:endParaRPr lang="en-US" sz="900" dirty="0"/>
          </a:p>
        </p:txBody>
      </p:sp>
      <p:sp>
        <p:nvSpPr>
          <p:cNvPr id="27" name="bd_383"/>
          <p:cNvSpPr/>
          <p:nvPr/>
        </p:nvSpPr>
        <p:spPr>
          <a:xfrm>
            <a:off x="6172200" y="4028504"/>
            <a:ext cx="274320" cy="274320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rq_384"/>
          <p:cNvSpPr/>
          <p:nvPr/>
        </p:nvSpPr>
        <p:spPr>
          <a:xfrm>
            <a:off x="6492240" y="3975354"/>
            <a:ext cx="2423160" cy="380619"/>
          </a:xfrm>
          <a:prstGeom prst="roundRect">
            <a:avLst>
              <a:gd name="adj" fmla="val 1921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7620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Adverbs that make adjectives STRONGER?</a:t>
            </a:r>
            <a:endParaRPr lang="en-US" sz="1000" dirty="0"/>
          </a:p>
        </p:txBody>
      </p:sp>
      <p:sp>
        <p:nvSpPr>
          <p:cNvPr id="29" name="R4_chip385"/>
          <p:cNvSpPr/>
          <p:nvPr/>
        </p:nvSpPr>
        <p:spPr>
          <a:xfrm>
            <a:off x="6492240" y="4383405"/>
            <a:ext cx="2423160" cy="353187"/>
          </a:xfrm>
          <a:prstGeom prst="roundRect">
            <a:avLst>
              <a:gd name="adj" fmla="val 2589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very · really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8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38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388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Very, fairly, a bit…</a:t>
            </a:r>
            <a:endParaRPr lang="en-US" sz="2500" dirty="0"/>
          </a:p>
        </p:txBody>
      </p:sp>
      <p:pic>
        <p:nvPicPr>
          <p:cNvPr id="6" name="brP_38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390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the sentences for you. Tell your partner.</a:t>
            </a:r>
            <a:endParaRPr lang="en-US" sz="1250" dirty="0"/>
          </a:p>
        </p:txBody>
      </p:sp>
      <p:sp>
        <p:nvSpPr>
          <p:cNvPr id="8" name="insIT_39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le frasi per te. Dille al compagno.</a:t>
            </a:r>
            <a:endParaRPr lang="en-US" sz="950" dirty="0"/>
          </a:p>
        </p:txBody>
      </p:sp>
      <p:sp>
        <p:nvSpPr>
          <p:cNvPr id="9" name="note_39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39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9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Speaking · about you   ·   📖 SB p.13 · Writing 5</a:t>
            </a:r>
            <a:endParaRPr lang="en-US" sz="800" dirty="0"/>
          </a:p>
        </p:txBody>
      </p:sp>
      <p:sp>
        <p:nvSpPr>
          <p:cNvPr id="12" name="pf_395"/>
          <p:cNvSpPr/>
          <p:nvPr/>
        </p:nvSpPr>
        <p:spPr>
          <a:xfrm rot="-120000">
            <a:off x="1153749" y="1371600"/>
            <a:ext cx="1121503" cy="1325880"/>
          </a:xfrm>
          <a:prstGeom prst="roundRect">
            <a:avLst>
              <a:gd name="adj" fmla="val 138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396" descr="/home/claude/lls-course/v2/cache/prep1b_felicity_jpg_248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199469" y="1417320"/>
            <a:ext cx="1030063" cy="1234440"/>
          </a:xfrm>
          <a:prstGeom prst="rect">
            <a:avLst/>
          </a:prstGeom>
        </p:spPr>
      </p:pic>
      <p:sp>
        <p:nvSpPr>
          <p:cNvPr id="14" name="cd_397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398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399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00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very…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fairly…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Sometimes I'm quite…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friends say I'm…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I can be a bit…</a:t>
            </a:r>
            <a:endParaRPr lang="en-US" sz="1150" dirty="0"/>
          </a:p>
        </p:txBody>
      </p:sp>
      <p:sp>
        <p:nvSpPr>
          <p:cNvPr id="18" name="R1_qb401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02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very …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very sporty.</a:t>
            </a:r>
            <a:endParaRPr lang="en-US" sz="1400" dirty="0"/>
          </a:p>
        </p:txBody>
      </p:sp>
      <p:sp>
        <p:nvSpPr>
          <p:cNvPr id="20" name="R2_qb403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04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fairly …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fairly confident.</a:t>
            </a:r>
            <a:endParaRPr lang="en-US" sz="1400" dirty="0"/>
          </a:p>
        </p:txBody>
      </p:sp>
      <p:sp>
        <p:nvSpPr>
          <p:cNvPr id="22" name="R3_qb405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06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Sometimes I'm quite …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Sometimes I'm quite lazy.</a:t>
            </a:r>
            <a:endParaRPr lang="en-US" sz="1400" dirty="0"/>
          </a:p>
        </p:txBody>
      </p:sp>
      <p:sp>
        <p:nvSpPr>
          <p:cNvPr id="24" name="R4_qb407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08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friends say I'm …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My friends say I'm funny.</a:t>
            </a:r>
            <a:endParaRPr lang="en-US" sz="1400" dirty="0"/>
          </a:p>
        </p:txBody>
      </p:sp>
      <p:sp>
        <p:nvSpPr>
          <p:cNvPr id="26" name="R5_qb409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410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I can be a bit …</a:t>
            </a:r>
            <a:endParaRPr lang="en-US" sz="1400" dirty="0"/>
          </a:p>
          <a:p>
            <a:pPr indent="0" marL="0">
              <a:buNone/>
            </a:pPr>
            <a:r>
              <a:rPr lang="en-US" sz="11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think I can be a bit impatient.</a:t>
            </a:r>
            <a:endParaRPr lang="en-US" sz="14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1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1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413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your profile</a:t>
            </a:r>
            <a:endParaRPr lang="en-US" sz="2500" dirty="0"/>
          </a:p>
        </p:txBody>
      </p:sp>
      <p:pic>
        <p:nvPicPr>
          <p:cNvPr id="6" name="brP_41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15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Make notes for YOUR online profile. Write it at home.</a:t>
            </a:r>
            <a:endParaRPr lang="en-US" sz="1250" dirty="0"/>
          </a:p>
        </p:txBody>
      </p:sp>
      <p:sp>
        <p:nvSpPr>
          <p:cNvPr id="8" name="insIT_41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Prendi appunti per il TUO profilo online. Scrivilo a casa.</a:t>
            </a:r>
            <a:endParaRPr lang="en-US" sz="950" dirty="0"/>
          </a:p>
        </p:txBody>
      </p:sp>
      <p:sp>
        <p:nvSpPr>
          <p:cNvPr id="9" name="note_41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✍️ WRITE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👤 alone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Writing · Communicative</a:t>
            </a:r>
            <a:endParaRPr lang="en-US" sz="1150" dirty="0"/>
          </a:p>
        </p:txBody>
      </p:sp>
      <p:pic>
        <p:nvPicPr>
          <p:cNvPr id="10" name="logo_41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1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Writing · plan   ·   📖 SB p.13 · Writing 6, 7</a:t>
            </a:r>
            <a:endParaRPr lang="en-US" sz="800" dirty="0"/>
          </a:p>
        </p:txBody>
      </p:sp>
      <p:sp>
        <p:nvSpPr>
          <p:cNvPr id="12" name="pf_420"/>
          <p:cNvSpPr/>
          <p:nvPr/>
        </p:nvSpPr>
        <p:spPr>
          <a:xfrm rot="-120000">
            <a:off x="1157137" y="1371600"/>
            <a:ext cx="1114726" cy="1325880"/>
          </a:xfrm>
          <a:prstGeom prst="roundRect">
            <a:avLst>
              <a:gd name="adj" fmla="val 139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421" descr="/home/claude/lls-course/v2/cache/prep1b_tom_jpg_246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1202857" y="1417320"/>
            <a:ext cx="1023286" cy="1234440"/>
          </a:xfrm>
          <a:prstGeom prst="rect">
            <a:avLst/>
          </a:prstGeom>
        </p:spPr>
      </p:pic>
      <p:sp>
        <p:nvSpPr>
          <p:cNvPr id="14" name="cd_422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23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424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25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I'm… / My name's…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think I'm quite / very…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really into…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 the moment I'm…</a:t>
            </a:r>
            <a:endParaRPr lang="en-US" sz="11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~80 words · check spelling!</a:t>
            </a:r>
            <a:endParaRPr lang="en-US" sz="1100" dirty="0"/>
          </a:p>
        </p:txBody>
      </p:sp>
      <p:sp>
        <p:nvSpPr>
          <p:cNvPr id="18" name="R1_qb426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27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 name + facts about me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Giulia, 13, Bagheria, I live with my mum and brother</a:t>
            </a:r>
            <a:endParaRPr lang="en-US" sz="1250" dirty="0"/>
          </a:p>
        </p:txBody>
      </p:sp>
      <p:sp>
        <p:nvSpPr>
          <p:cNvPr id="20" name="R2_qb428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29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I'm like (+ quite / very / a bit)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fairly confident, a bit careless, really friendly</a:t>
            </a:r>
            <a:endParaRPr lang="en-US" sz="1250" dirty="0"/>
          </a:p>
        </p:txBody>
      </p:sp>
      <p:sp>
        <p:nvSpPr>
          <p:cNvPr id="22" name="R3_qb430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31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Hobbies and interests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dance, TikTok, volleyball</a:t>
            </a:r>
            <a:endParaRPr lang="en-US" sz="1250" dirty="0"/>
          </a:p>
        </p:txBody>
      </p:sp>
      <p:sp>
        <p:nvSpPr>
          <p:cNvPr id="24" name="R4_qb432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33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Things I'm learning at the moment</a:t>
            </a:r>
            <a:endParaRPr lang="en-US" sz="1250" dirty="0"/>
          </a:p>
          <a:p>
            <a:pPr indent="0" marL="0">
              <a:buNone/>
            </a:pPr>
            <a:r>
              <a:rPr lang="en-US" sz="10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the piano, Spanish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3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3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36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3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38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3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40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4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4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Exit · what can you remember?</a:t>
            </a:r>
            <a:endParaRPr lang="en-US" sz="800" dirty="0"/>
          </a:p>
        </p:txBody>
      </p:sp>
      <p:sp>
        <p:nvSpPr>
          <p:cNvPr id="12" name="bd_443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44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verbs that we don't use with -ing.</a:t>
            </a:r>
            <a:endParaRPr lang="en-US" sz="1400" dirty="0"/>
          </a:p>
        </p:txBody>
      </p:sp>
      <p:sp>
        <p:nvSpPr>
          <p:cNvPr id="14" name="bd_445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46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opposites with un-, in- or im-.</a:t>
            </a:r>
            <a:endParaRPr lang="en-US" sz="1400" dirty="0"/>
          </a:p>
        </p:txBody>
      </p:sp>
      <p:sp>
        <p:nvSpPr>
          <p:cNvPr id="16" name="bd_447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48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thing you do every week – and 1 thing you're doing this term.</a:t>
            </a:r>
            <a:endParaRPr lang="en-US" sz="1400" dirty="0"/>
          </a:p>
        </p:txBody>
      </p:sp>
      <p:sp>
        <p:nvSpPr>
          <p:cNvPr id="18" name="cd_449"/>
          <p:cNvSpPr/>
          <p:nvPr/>
        </p:nvSpPr>
        <p:spPr>
          <a:xfrm>
            <a:off x="5669280" y="1417320"/>
            <a:ext cx="3200400" cy="1453896"/>
          </a:xfrm>
          <a:prstGeom prst="roundRect">
            <a:avLst>
              <a:gd name="adj" fmla="val 8805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50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51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52"/>
          <p:cNvSpPr/>
          <p:nvPr/>
        </p:nvSpPr>
        <p:spPr>
          <a:xfrm>
            <a:off x="6236208" y="1911096"/>
            <a:ext cx="254203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p.6: grammar 1–4 and vocabulary 1–3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Write your online profile (about 80 words)</a:t>
            </a:r>
            <a:endParaRPr lang="en-US" sz="1150" dirty="0"/>
          </a:p>
        </p:txBody>
      </p:sp>
      <p:sp>
        <p:nvSpPr>
          <p:cNvPr id="22" name="st_453"/>
          <p:cNvSpPr/>
          <p:nvPr/>
        </p:nvSpPr>
        <p:spPr>
          <a:xfrm rot="-180000">
            <a:off x="5806440" y="3099816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Unit 2 – In fashion (SB p.14)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18</a:t>
            </a:r>
            <a:endParaRPr lang="en-US" sz="2200" dirty="0"/>
          </a:p>
        </p:txBody>
      </p:sp>
      <p:pic>
        <p:nvPicPr>
          <p:cNvPr id="4" name="brY_45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56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5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58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5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6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6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6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1B · Review · what did you do today?</a:t>
            </a:r>
            <a:endParaRPr lang="en-US" sz="800" dirty="0"/>
          </a:p>
        </p:txBody>
      </p:sp>
      <p:sp>
        <p:nvSpPr>
          <p:cNvPr id="12" name="cd_463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64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⏳</a:t>
            </a:r>
            <a:endParaRPr lang="en-US" sz="1800" dirty="0"/>
          </a:p>
        </p:txBody>
      </p:sp>
      <p:sp>
        <p:nvSpPr>
          <p:cNvPr id="14" name="tt_465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present simple or continuous?</a:t>
            </a:r>
            <a:endParaRPr lang="en-US" sz="1350" dirty="0"/>
          </a:p>
        </p:txBody>
      </p:sp>
      <p:sp>
        <p:nvSpPr>
          <p:cNvPr id="15" name="R1_tk466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67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68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t_469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verbs with no -ing</a:t>
            </a:r>
            <a:endParaRPr lang="en-US" sz="1350" dirty="0"/>
          </a:p>
        </p:txBody>
      </p:sp>
      <p:sp>
        <p:nvSpPr>
          <p:cNvPr id="19" name="R2_tk470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71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72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22" name="tt_473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opposites with un-, in-, im-</a:t>
            </a:r>
            <a:endParaRPr lang="en-US" sz="1350" dirty="0"/>
          </a:p>
        </p:txBody>
      </p:sp>
      <p:sp>
        <p:nvSpPr>
          <p:cNvPr id="23" name="R3_tk474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75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76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6" name="tt_477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two online profiles</a:t>
            </a:r>
            <a:endParaRPr lang="en-US" sz="1350" dirty="0"/>
          </a:p>
        </p:txBody>
      </p:sp>
      <p:sp>
        <p:nvSpPr>
          <p:cNvPr id="27" name="R4_tk478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79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80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30" name="tt_481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 your own online profile</a:t>
            </a:r>
            <a:endParaRPr lang="en-US" sz="1350" dirty="0"/>
          </a:p>
        </p:txBody>
      </p:sp>
      <p:sp>
        <p:nvSpPr>
          <p:cNvPr id="31" name="R5_tk482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483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1B All about me (2)</dc:title>
  <dc:subject>PptxGenJS Presentation</dc:subject>
  <dc:creator>PptxGenJS</dc:creator>
  <cp:lastModifiedBy>PptxGenJS</cp:lastModifiedBy>
  <cp:revision>1</cp:revision>
  <dcterms:created xsi:type="dcterms:W3CDTF">2026-10-21T14:08:34Z</dcterms:created>
  <dcterms:modified xsi:type="dcterms:W3CDTF">2026-10-21T14:08:34Z</dcterms:modified>
</cp:coreProperties>
</file>