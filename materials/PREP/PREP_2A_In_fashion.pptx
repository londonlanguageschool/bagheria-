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(3 min)
ABOUT YOU (3 min). SB p.14 – the video is online only, so start with the questions. Model (TB): 'Today I'm wearing trousers and a shirt. I like fashions from the 1960s. I look good in bright colours.' Pairs ask and answer; 3 students report their partner ('She's wearing…' – 3rd person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(3 min)
ACTIVE RECAP (3 min). Words: ⭐ meaning ⭐⭐ sentence ⭐⭐⭐ negative or question. Grammar: students make their OWN example for each card first, then click for the models. Check homework: who wrote their online profile? 2 students read theirs.
HOW TO RUN IT (active recap): pairs. Words: A points at a word, B says what it means (⭐); then a sentence with it (⭐⭐); strong students make it negative or a question (⭐⭐⭐). Grammar: pairs make their own example for each use (offer, plan…) BEFORE you click – then click to show the model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clothes (4 min)
WARMER (4 min) – TB warmer as a team race. Round 1 is the example (click to show). Teams write; read lists; bonus point if someone in the room is wearing it. TB key words: bag, blouse, boots, cap, handbag, jacket, jeans, necklace, shirt, sleeve, suit, T-shirt, tie, top, tracksuit, trainers, trousers.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describe the photos (4 min)
PHOTOS (4 min). SB Vocabulary ex.1 – no audio, so check with the slide. A is the example. Pairs name each person and list their clothes; click once per photo. Key (TB p.25). Accept any correct description ('He's wearing a red bag').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Vocabulary · clothes adjectives (4 min)
KEY WORDS (4 min). The adjectives from SB ex.3 and ex.4 (the interview is online only). Meanings = Workbook p.8 ex.2. Point at clothes in the room: 'Are Luca's trainers brand new?' Drill comfortable /ˈkʌmftəbl/ and dressed /drest/ (TB).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Vocabulary · opposites (3 min)
OPPOSITES (3 min). SB Vocabulary ex.4 – the example is from the book. Pairs match; click once per line. Key (TB p.25): badly-dressed – well-dressed · casual – smart · loose-fitting – skinny · second-hand – brand new · uncomfortable – comfortable · unfashionable – trendy. Drill casual /ˈkæʒuəl/, uncomfortable /ʌnˈkʌmftəbl/.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Speaking · describe and guess (3 min)
DESCRIBE AND GUESS (3 min). SB ex.4 part 2 ('How many adjectives can you match to each photo?') + TB fast finishers. Model line 1 yourself. Keep the class challenge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Speaking · about you (4 min)
DISCUSS (4 min). SB Vocabulary ex.5. Ask stronger students first, then pairs. Join in; 3 students tell the class about their partner. Board any new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Reading · prediction (3 min)
PREDICTION (3 min). SB Reading ex.1. Teams write names (1 min). Then they read the article QUICKLY (next 2 slides, 2 min) and score a point for each name in it. Click: the names in the article by decade.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Reading · detail (1) (5 min)
DETAIL 1 (5 min). SB Reading ex.2, questions 1–3, next to the text. TB: find the key words in the question first (Q1 = the introduction, Q2 = paragraph 1). Click once per answer; the first click lights up the proof in the text. Key (TB p.27): 1B 2B 3A. Q3: hippies wore flowery clothing, not mini skirts.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Reading · detail (2) (5 min)
DETAIL 2 (5 min). Questions 4–6. Key (TB p.27): 4B 5A 6A. Q4: the HAIR was colourful, not the clothes. Q6: Taylor Swift and Ed Sheeran are popular, but the text doesn't say people dress like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Vocabulary · words from the text (3 min)
WORDS (3 min). SB Reading ex.3. Key (TB p.27): 1 trends 2 tear (tore in the text) 3 messy 4 youth 5 look 6 clothing. TB also: straight away = immediately, lively = full of energy, alike = both men and women, be into = like, genre /ˈʒɒnrə/ =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Game · fashion through time (3 min)
WHICH DECADE? (3 min). Teams answer from memory (books closed!); the first item is the example. Bonus point for a sentence with wore / listened / had – a preview of next lesson's past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Speaking · talking points (4 min)
TALKING POINTS (4 min). TB: 5 minutes of notes in groups, then share; other students agree/disagree. Weaker students: use the adjectives from p.14 and answer with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Exit · what can you remember? (2 min)
EXIT (2 min). Pairs, books closed. Homework is in the students'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OPTIONAL EXTENSIONS
The lesson ended on the previous slide ("Today you…"). Use the next slides only if there is time left, or keep them for a quick start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Cooler · who is it? (4 min)
COOLER (4 min) – TB cooler. Students write a short description (no name, no 'he/she'), swap, volunteers read out, the class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Prepare · Unit 2 · SB pp.14–15</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a:t>
            </a:r>
            <a:endParaRPr lang="en-US" sz="28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3000" dirty="0">
                <a:solidFill>
                  <a:srgbClr val="1B2559"/>
                </a:solidFill>
                <a:latin typeface="Arial Rounded MT Bold" pitchFamily="34" charset="0"/>
                <a:ea typeface="Arial Rounded MT Bold" pitchFamily="34" charset="-122"/>
                <a:cs typeface="Arial Rounded MT Bold" pitchFamily="34" charset="-120"/>
              </a:rPr>
              <a:t>In fashion</a:t>
            </a:r>
            <a:endParaRPr lang="en-US" sz="30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Clothes adjectives · Fashion and music</a:t>
            </a:r>
            <a:endParaRPr lang="en-US" sz="105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describe clothes with 10 new adjectives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say what famous people are wearing</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read 'Fashion and music'</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match the fashions to the decades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say why young people dress like music stars</a:t>
            </a:r>
            <a:endParaRPr lang="en-US" sz="8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8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Today I'm wearing jeans and a black hoodie. I like 90s fashion. I think blue looks good on me.</a:t>
            </a:r>
            <a:endParaRPr lang="en-US" sz="800" dirty="0"/>
          </a:p>
        </p:txBody>
      </p:sp>
      <p:sp>
        <p:nvSpPr>
          <p:cNvPr id="14" name="pf_12"/>
          <p:cNvSpPr/>
          <p:nvPr/>
        </p:nvSpPr>
        <p:spPr>
          <a:xfrm rot="90000">
            <a:off x="6285856" y="777240"/>
            <a:ext cx="1098568" cy="3200400"/>
          </a:xfrm>
          <a:prstGeom prst="roundRect">
            <a:avLst>
              <a:gd name="adj" fmla="val 1415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prep2_b_taylor_jpg_242x748_31.png">    </p:cNvPr>
          <p:cNvPicPr>
            <a:picLocks noChangeAspect="1"/>
          </p:cNvPicPr>
          <p:nvPr/>
        </p:nvPicPr>
        <p:blipFill>
          <a:blip r:embed="rId4"/>
          <a:stretch>
            <a:fillRect/>
          </a:stretch>
        </p:blipFill>
        <p:spPr>
          <a:xfrm rot="90000">
            <a:off x="6331576" y="822960"/>
            <a:ext cx="1007128"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350" dirty="0">
                <a:solidFill>
                  <a:srgbClr val="1B2559"/>
                </a:solidFill>
                <a:latin typeface="Arial Rounded MT Bold" pitchFamily="34" charset="0"/>
                <a:ea typeface="Arial Rounded MT Bold" pitchFamily="34" charset="-122"/>
                <a:cs typeface="Arial Rounded MT Bold" pitchFamily="34" charset="-120"/>
              </a:rPr>
              <a:t>What are you wearing today? What fashions do you like? Which colours or clothes look good on you?</a:t>
            </a:r>
            <a:endParaRPr lang="en-US" sz="135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remember? Say it – then use it in a sentence!</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Ti ricordi? Dillo – poi usalo in una frase!</a:t>
            </a:r>
            <a:endParaRPr lang="en-US" sz="950" dirty="0"/>
          </a:p>
        </p:txBody>
      </p:sp>
      <p:sp>
        <p:nvSpPr>
          <p:cNvPr id="9" name="note_2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50" dirty="0"/>
          </a:p>
        </p:txBody>
      </p:sp>
      <p:pic>
        <p:nvPicPr>
          <p:cNvPr id="10" name="logo_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Revision · last lesson</a:t>
            </a:r>
            <a:endParaRPr lang="en-US" sz="800" dirty="0"/>
          </a:p>
        </p:txBody>
      </p:sp>
      <p:sp>
        <p:nvSpPr>
          <p:cNvPr id="12" name="pf_26"/>
          <p:cNvSpPr/>
          <p:nvPr/>
        </p:nvSpPr>
        <p:spPr>
          <a:xfrm rot="-120000">
            <a:off x="1001629" y="1371600"/>
            <a:ext cx="1380022" cy="1645920"/>
          </a:xfrm>
          <a:prstGeom prst="roundRect">
            <a:avLst>
              <a:gd name="adj" fmla="val 1126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27" descr="/home/claude/lls-course/v2/cache/prep1b_tom_jpg_310x374_31.png">    </p:cNvPr>
          <p:cNvPicPr>
            <a:picLocks noChangeAspect="1"/>
          </p:cNvPicPr>
          <p:nvPr/>
        </p:nvPicPr>
        <p:blipFill>
          <a:blip r:embed="rId5"/>
          <a:stretch>
            <a:fillRect/>
          </a:stretch>
        </p:blipFill>
        <p:spPr>
          <a:xfrm rot="-120000">
            <a:off x="1047349" y="1417320"/>
            <a:ext cx="1288582" cy="1554480"/>
          </a:xfrm>
          <a:prstGeom prst="rect">
            <a:avLst/>
          </a:prstGeom>
        </p:spPr>
      </p:pic>
      <p:sp>
        <p:nvSpPr>
          <p:cNvPr id="14" name="cd_28"/>
          <p:cNvSpPr/>
          <p:nvPr/>
        </p:nvSpPr>
        <p:spPr>
          <a:xfrm>
            <a:off x="320040" y="3200400"/>
            <a:ext cx="2743200" cy="1402080"/>
          </a:xfrm>
          <a:prstGeom prst="roundRect">
            <a:avLst>
              <a:gd name="adj" fmla="val 913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9"/>
          <p:cNvSpPr/>
          <p:nvPr/>
        </p:nvSpPr>
        <p:spPr>
          <a:xfrm>
            <a:off x="411480" y="32735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0"/>
          <p:cNvSpPr/>
          <p:nvPr/>
        </p:nvSpPr>
        <p:spPr>
          <a:xfrm>
            <a:off x="886968" y="329184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7" name="il_31"/>
          <p:cNvSpPr/>
          <p:nvPr/>
        </p:nvSpPr>
        <p:spPr>
          <a:xfrm>
            <a:off x="886968" y="3694176"/>
            <a:ext cx="2084832" cy="83515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1B: All about me (2)</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present simple / continuous · un-, in-, im-</a:t>
            </a:r>
            <a:endParaRPr lang="en-US" sz="1100" dirty="0"/>
          </a:p>
        </p:txBody>
      </p:sp>
      <p:sp>
        <p:nvSpPr>
          <p:cNvPr id="18" name="kw_32"/>
          <p:cNvSpPr/>
          <p:nvPr/>
        </p:nvSpPr>
        <p:spPr>
          <a:xfrm>
            <a:off x="3246120" y="1417320"/>
            <a:ext cx="5623560" cy="292608"/>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 Can you remember these words? What do they mean?</a:t>
            </a:r>
            <a:endParaRPr lang="en-US" sz="1200" dirty="0"/>
          </a:p>
        </p:txBody>
      </p:sp>
      <p:sp>
        <p:nvSpPr>
          <p:cNvPr id="19" name="w_33"/>
          <p:cNvSpPr/>
          <p:nvPr/>
        </p:nvSpPr>
        <p:spPr>
          <a:xfrm>
            <a:off x="3246120" y="1783080"/>
            <a:ext cx="1193292"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impatient</a:t>
            </a:r>
            <a:endParaRPr lang="en-US" sz="1200" dirty="0"/>
          </a:p>
        </p:txBody>
      </p:sp>
      <p:sp>
        <p:nvSpPr>
          <p:cNvPr id="20" name="w_34"/>
          <p:cNvSpPr/>
          <p:nvPr/>
        </p:nvSpPr>
        <p:spPr>
          <a:xfrm>
            <a:off x="4530852" y="1783080"/>
            <a:ext cx="932688"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unfair</a:t>
            </a:r>
            <a:endParaRPr lang="en-US" sz="1200" dirty="0"/>
          </a:p>
        </p:txBody>
      </p:sp>
      <p:sp>
        <p:nvSpPr>
          <p:cNvPr id="21" name="w_35"/>
          <p:cNvSpPr/>
          <p:nvPr/>
        </p:nvSpPr>
        <p:spPr>
          <a:xfrm>
            <a:off x="5554980" y="1783080"/>
            <a:ext cx="1193292"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incorrect</a:t>
            </a:r>
            <a:endParaRPr lang="en-US" sz="1200" dirty="0"/>
          </a:p>
        </p:txBody>
      </p:sp>
      <p:sp>
        <p:nvSpPr>
          <p:cNvPr id="22" name="w_36"/>
          <p:cNvSpPr/>
          <p:nvPr/>
        </p:nvSpPr>
        <p:spPr>
          <a:xfrm>
            <a:off x="6839712" y="1783080"/>
            <a:ext cx="932688"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unwell</a:t>
            </a:r>
            <a:endParaRPr lang="en-US" sz="1200" dirty="0"/>
          </a:p>
        </p:txBody>
      </p:sp>
      <p:sp>
        <p:nvSpPr>
          <p:cNvPr id="23" name="w_37"/>
          <p:cNvSpPr/>
          <p:nvPr/>
        </p:nvSpPr>
        <p:spPr>
          <a:xfrm>
            <a:off x="3246120" y="2185416"/>
            <a:ext cx="1106424"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impolite</a:t>
            </a:r>
            <a:endParaRPr lang="en-US" sz="1200" dirty="0"/>
          </a:p>
        </p:txBody>
      </p:sp>
      <p:sp>
        <p:nvSpPr>
          <p:cNvPr id="24" name="w_38"/>
          <p:cNvSpPr/>
          <p:nvPr/>
        </p:nvSpPr>
        <p:spPr>
          <a:xfrm>
            <a:off x="4443984" y="2185416"/>
            <a:ext cx="1193292"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invisible</a:t>
            </a:r>
            <a:endParaRPr lang="en-US" sz="1200" dirty="0"/>
          </a:p>
        </p:txBody>
      </p:sp>
      <p:sp>
        <p:nvSpPr>
          <p:cNvPr id="25" name="w_39"/>
          <p:cNvSpPr/>
          <p:nvPr/>
        </p:nvSpPr>
        <p:spPr>
          <a:xfrm>
            <a:off x="5728716" y="2185416"/>
            <a:ext cx="845820"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quite</a:t>
            </a:r>
            <a:endParaRPr lang="en-US" sz="1200" dirty="0"/>
          </a:p>
        </p:txBody>
      </p:sp>
      <p:sp>
        <p:nvSpPr>
          <p:cNvPr id="26" name="w_40"/>
          <p:cNvSpPr/>
          <p:nvPr/>
        </p:nvSpPr>
        <p:spPr>
          <a:xfrm>
            <a:off x="6665976" y="2185416"/>
            <a:ext cx="845820"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a bit</a:t>
            </a:r>
            <a:endParaRPr lang="en-US" sz="1200" dirty="0"/>
          </a:p>
        </p:txBody>
      </p:sp>
      <p:sp>
        <p:nvSpPr>
          <p:cNvPr id="27" name="lv_41"/>
          <p:cNvSpPr/>
          <p:nvPr/>
        </p:nvSpPr>
        <p:spPr>
          <a:xfrm>
            <a:off x="324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does it mean?</a:t>
            </a:r>
            <a:endParaRPr lang="en-US" sz="1000" dirty="0"/>
          </a:p>
        </p:txBody>
      </p:sp>
      <p:sp>
        <p:nvSpPr>
          <p:cNvPr id="28" name="lv_42"/>
          <p:cNvSpPr/>
          <p:nvPr/>
        </p:nvSpPr>
        <p:spPr>
          <a:xfrm>
            <a:off x="5151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Use it in a sentence.</a:t>
            </a:r>
            <a:endParaRPr lang="en-US" sz="1000" dirty="0"/>
          </a:p>
        </p:txBody>
      </p:sp>
      <p:sp>
        <p:nvSpPr>
          <p:cNvPr id="29" name="lv_43"/>
          <p:cNvSpPr/>
          <p:nvPr/>
        </p:nvSpPr>
        <p:spPr>
          <a:xfrm>
            <a:off x="705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950" dirty="0">
                <a:solidFill>
                  <a:srgbClr val="000000"/>
                </a:solidFill>
              </a:rPr>
              <a:t>⭐⭐⭐ </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Make it negative or a question!</a:t>
            </a:r>
            <a:endParaRPr lang="en-US" sz="950" dirty="0"/>
          </a:p>
        </p:txBody>
      </p:sp>
      <p:sp>
        <p:nvSpPr>
          <p:cNvPr id="30" name="cd_44"/>
          <p:cNvSpPr/>
          <p:nvPr/>
        </p:nvSpPr>
        <p:spPr>
          <a:xfrm>
            <a:off x="3246120" y="3172968"/>
            <a:ext cx="2756916" cy="1581912"/>
          </a:xfrm>
          <a:prstGeom prst="roundRect">
            <a:avLst>
              <a:gd name="adj" fmla="val 8092"/>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31" name="rh_45"/>
          <p:cNvSpPr/>
          <p:nvPr/>
        </p:nvSpPr>
        <p:spPr>
          <a:xfrm>
            <a:off x="3337560" y="3246120"/>
            <a:ext cx="2574036" cy="310896"/>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present simple</a:t>
            </a:r>
            <a:endParaRPr lang="en-US" sz="1100" dirty="0"/>
          </a:p>
        </p:txBody>
      </p:sp>
      <p:sp>
        <p:nvSpPr>
          <p:cNvPr id="32" name="rf_46"/>
          <p:cNvSpPr/>
          <p:nvPr/>
        </p:nvSpPr>
        <p:spPr>
          <a:xfrm>
            <a:off x="3383280" y="3593592"/>
            <a:ext cx="2482596" cy="292608"/>
          </a:xfrm>
          <a:prstGeom prst="rect">
            <a:avLst/>
          </a:prstGeom>
          <a:noFill/>
          <a:ln/>
        </p:spPr>
        <p:txBody>
          <a:bodyPr wrap="square" lIns="0" tIns="0" rIns="0" bIns="0" rtlCol="0" anchor="ctr">
            <a:normAutofit/>
          </a:bodyPr>
          <a:lstStyle/>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Make a habit · a fact · a no -ing verb</a:t>
            </a:r>
            <a:endParaRPr lang="en-US" sz="1000" dirty="0"/>
          </a:p>
        </p:txBody>
      </p:sp>
      <p:sp>
        <p:nvSpPr>
          <p:cNvPr id="33" name="R1_rl47"/>
          <p:cNvSpPr/>
          <p:nvPr/>
        </p:nvSpPr>
        <p:spPr>
          <a:xfrm>
            <a:off x="3383280" y="3922776"/>
            <a:ext cx="2482596" cy="758952"/>
          </a:xfrm>
          <a:prstGeom prst="rect">
            <a:avLst/>
          </a:prstGeom>
          <a:solidFill>
            <a:srgbClr val="FFFFFF"/>
          </a:solidFill>
          <a:ln/>
        </p:spPr>
        <p:txBody>
          <a:bodyPr wrap="square" lIns="0" tIns="0" rIns="0" bIns="0" rtlCol="0" anchor="t">
            <a:normAutofit/>
          </a:bodyPr>
          <a:lstStyle/>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I </a:t>
            </a:r>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practise</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every day.</a:t>
            </a:r>
            <a:endParaRPr lang="en-US" sz="1100" dirty="0"/>
          </a:p>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She </a:t>
            </a:r>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doesn't like</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cold weather.</a:t>
            </a:r>
            <a:endParaRPr lang="en-US" sz="1100" dirty="0"/>
          </a:p>
        </p:txBody>
      </p:sp>
      <p:sp>
        <p:nvSpPr>
          <p:cNvPr id="34" name="cd_48"/>
          <p:cNvSpPr/>
          <p:nvPr/>
        </p:nvSpPr>
        <p:spPr>
          <a:xfrm>
            <a:off x="6112764" y="3172968"/>
            <a:ext cx="2756916" cy="1581912"/>
          </a:xfrm>
          <a:prstGeom prst="roundRect">
            <a:avLst>
              <a:gd name="adj" fmla="val 8092"/>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35" name="rh_49"/>
          <p:cNvSpPr/>
          <p:nvPr/>
        </p:nvSpPr>
        <p:spPr>
          <a:xfrm>
            <a:off x="6204204" y="3246120"/>
            <a:ext cx="2574036" cy="310896"/>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present continuous</a:t>
            </a:r>
            <a:endParaRPr lang="en-US" sz="1100" dirty="0"/>
          </a:p>
        </p:txBody>
      </p:sp>
      <p:sp>
        <p:nvSpPr>
          <p:cNvPr id="36" name="rf_50"/>
          <p:cNvSpPr/>
          <p:nvPr/>
        </p:nvSpPr>
        <p:spPr>
          <a:xfrm>
            <a:off x="6249924" y="3593592"/>
            <a:ext cx="2482596" cy="292608"/>
          </a:xfrm>
          <a:prstGeom prst="rect">
            <a:avLst/>
          </a:prstGeom>
          <a:noFill/>
          <a:ln/>
        </p:spPr>
        <p:txBody>
          <a:bodyPr wrap="square" lIns="0" tIns="0" rIns="0" bIns="0" rtlCol="0" anchor="ctr">
            <a:normAutofit/>
          </a:bodyPr>
          <a:lstStyle/>
          <a:p>
            <a:pPr indent="0" marL="0">
              <a:buNone/>
            </a:pPr>
            <a:r>
              <a:rPr lang="en-US" sz="1050" i="1" dirty="0">
                <a:solidFill>
                  <a:srgbClr val="5B6785"/>
                </a:solidFill>
                <a:latin typeface="Segoe UI Semibold" pitchFamily="34" charset="0"/>
                <a:ea typeface="Segoe UI Semibold" pitchFamily="34" charset="-122"/>
                <a:cs typeface="Segoe UI Semibold" pitchFamily="34" charset="-120"/>
              </a:rPr>
              <a:t>Make a now · a temporary · a plan</a:t>
            </a:r>
            <a:endParaRPr lang="en-US" sz="1050" dirty="0"/>
          </a:p>
        </p:txBody>
      </p:sp>
      <p:sp>
        <p:nvSpPr>
          <p:cNvPr id="37" name="R2_rl51"/>
          <p:cNvSpPr/>
          <p:nvPr/>
        </p:nvSpPr>
        <p:spPr>
          <a:xfrm>
            <a:off x="6249924" y="3922776"/>
            <a:ext cx="2482596" cy="758952"/>
          </a:xfrm>
          <a:prstGeom prst="rect">
            <a:avLst/>
          </a:prstGeom>
          <a:solidFill>
            <a:srgbClr val="FFFFFF"/>
          </a:solidFill>
          <a:ln/>
        </p:spPr>
        <p:txBody>
          <a:bodyPr wrap="square" lIns="0" tIns="0" rIns="0" bIns="0" rtlCol="0" anchor="t">
            <a:normAutofit/>
          </a:bodyPr>
          <a:lstStyle/>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Right now I'</a:t>
            </a:r>
            <a:pPr indent="0" marL="0">
              <a:spcAft>
                <a:spcPts val="300"/>
              </a:spcAft>
              <a:buNone/>
            </a:pPr>
            <a:r>
              <a:rPr lang="en-US" sz="1100" b="1" dirty="0">
                <a:solidFill>
                  <a:srgbClr val="2F8DE4"/>
                </a:solidFill>
                <a:highlight>
                  <a:srgbClr val="FFF1A8"/>
                </a:highlight>
                <a:latin typeface="Segoe UI Semibold" pitchFamily="34" charset="0"/>
                <a:ea typeface="Segoe UI Semibold" pitchFamily="34" charset="-122"/>
                <a:cs typeface="Segoe UI Semibold" pitchFamily="34" charset="-120"/>
              </a:rPr>
              <a:t>m living</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in the USA.</a:t>
            </a:r>
            <a:endParaRPr lang="en-US" sz="1100" dirty="0"/>
          </a:p>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I'</a:t>
            </a:r>
            <a:pPr indent="0" marL="0">
              <a:spcAft>
                <a:spcPts val="300"/>
              </a:spcAft>
              <a:buNone/>
            </a:pPr>
            <a:r>
              <a:rPr lang="en-US" sz="1100" b="1" dirty="0">
                <a:solidFill>
                  <a:srgbClr val="2F8DE4"/>
                </a:solidFill>
                <a:highlight>
                  <a:srgbClr val="FFF1A8"/>
                </a:highlight>
                <a:latin typeface="Segoe UI Semibold" pitchFamily="34" charset="0"/>
                <a:ea typeface="Segoe UI Semibold" pitchFamily="34" charset="-122"/>
                <a:cs typeface="Segoe UI Semibold" pitchFamily="34" charset="-120"/>
              </a:rPr>
              <a:t>m going</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to the cinema tonight.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2"/>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3"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54"/>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Clothes race</a:t>
            </a:r>
            <a:endParaRPr lang="en-US" sz="2500" dirty="0"/>
          </a:p>
        </p:txBody>
      </p:sp>
      <p:pic>
        <p:nvPicPr>
          <p:cNvPr id="6" name="brP_55"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56"/>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Teams: 60 seconds! Write clothes words.</a:t>
            </a:r>
            <a:endParaRPr lang="en-US" sz="1250" dirty="0"/>
          </a:p>
        </p:txBody>
      </p:sp>
      <p:sp>
        <p:nvSpPr>
          <p:cNvPr id="8" name="insIT_5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Squadre: 60 secondi! Scrivete parole di vestiti.</a:t>
            </a:r>
            <a:endParaRPr lang="en-US" sz="950" dirty="0"/>
          </a:p>
        </p:txBody>
      </p:sp>
      <p:sp>
        <p:nvSpPr>
          <p:cNvPr id="9" name="note_5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Communicative game</a:t>
            </a:r>
            <a:endParaRPr lang="en-US" sz="1250" dirty="0"/>
          </a:p>
        </p:txBody>
      </p:sp>
      <p:pic>
        <p:nvPicPr>
          <p:cNvPr id="10" name="logo_5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6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Warmer · clothes   ·   📖 TB p.25 · warmer</a:t>
            </a:r>
            <a:endParaRPr lang="en-US" sz="800" dirty="0"/>
          </a:p>
        </p:txBody>
      </p:sp>
      <p:sp>
        <p:nvSpPr>
          <p:cNvPr id="12" name="cd_61"/>
          <p:cNvSpPr/>
          <p:nvPr/>
        </p:nvSpPr>
        <p:spPr>
          <a:xfrm>
            <a:off x="320040" y="1417320"/>
            <a:ext cx="2697480" cy="2502408"/>
          </a:xfrm>
          <a:prstGeom prst="roundRect">
            <a:avLst>
              <a:gd name="adj" fmla="val 5116"/>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6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63"/>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64"/>
          <p:cNvSpPr/>
          <p:nvPr/>
        </p:nvSpPr>
        <p:spPr>
          <a:xfrm>
            <a:off x="886968" y="1911096"/>
            <a:ext cx="2039112" cy="1935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60 seconds per round. Write as many clothes words as you can.</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Correct spelling = 1 point.</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Someone in the class is wearing it = 1 more point!</a:t>
            </a:r>
            <a:endParaRPr lang="en-US" sz="1200" dirty="0"/>
          </a:p>
        </p:txBody>
      </p:sp>
      <p:sp>
        <p:nvSpPr>
          <p:cNvPr id="16" name="st_65"/>
          <p:cNvSpPr/>
          <p:nvPr/>
        </p:nvSpPr>
        <p:spPr>
          <a:xfrm rot="-180000">
            <a:off x="502920" y="4102608"/>
            <a:ext cx="2286000" cy="606552"/>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66"/>
          <p:cNvSpPr/>
          <p:nvPr/>
        </p:nvSpPr>
        <p:spPr>
          <a:xfrm>
            <a:off x="3246120" y="1572768"/>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8" name="gq_67"/>
          <p:cNvSpPr/>
          <p:nvPr/>
        </p:nvSpPr>
        <p:spPr>
          <a:xfrm>
            <a:off x="3657600" y="1417320"/>
            <a:ext cx="2514600" cy="640080"/>
          </a:xfrm>
          <a:prstGeom prst="roundRect">
            <a:avLst>
              <a:gd name="adj" fmla="val 14286"/>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Clothes for your top half</a:t>
            </a:r>
            <a:endParaRPr lang="en-US" sz="1250" dirty="0"/>
          </a:p>
        </p:txBody>
      </p:sp>
      <p:sp>
        <p:nvSpPr>
          <p:cNvPr id="19" name="chip_68"/>
          <p:cNvSpPr/>
          <p:nvPr/>
        </p:nvSpPr>
        <p:spPr>
          <a:xfrm>
            <a:off x="6263640" y="1417320"/>
            <a:ext cx="2560320" cy="640080"/>
          </a:xfrm>
          <a:prstGeom prst="roundRect">
            <a:avLst>
              <a:gd name="adj" fmla="val 14286"/>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shirt, T-shirt, jacket, top, blouse, hoodie, jumper</a:t>
            </a:r>
            <a:endParaRPr lang="en-US" sz="1200" dirty="0"/>
          </a:p>
        </p:txBody>
      </p:sp>
      <p:sp>
        <p:nvSpPr>
          <p:cNvPr id="20" name="bd_69"/>
          <p:cNvSpPr/>
          <p:nvPr/>
        </p:nvSpPr>
        <p:spPr>
          <a:xfrm>
            <a:off x="3246120" y="227685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70"/>
          <p:cNvSpPr/>
          <p:nvPr/>
        </p:nvSpPr>
        <p:spPr>
          <a:xfrm>
            <a:off x="3657600" y="2121408"/>
            <a:ext cx="2514600" cy="640080"/>
          </a:xfrm>
          <a:prstGeom prst="roundRect">
            <a:avLst>
              <a:gd name="adj" fmla="val 1428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Clothes for your legs</a:t>
            </a:r>
            <a:endParaRPr lang="en-US" sz="1250" dirty="0"/>
          </a:p>
        </p:txBody>
      </p:sp>
      <p:sp>
        <p:nvSpPr>
          <p:cNvPr id="22" name="R1_chip71"/>
          <p:cNvSpPr/>
          <p:nvPr/>
        </p:nvSpPr>
        <p:spPr>
          <a:xfrm>
            <a:off x="6263640" y="2121408"/>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jeans, trousers, skirt, shorts, tights, tracksuit</a:t>
            </a:r>
            <a:endParaRPr lang="en-US" sz="1200" dirty="0"/>
          </a:p>
        </p:txBody>
      </p:sp>
      <p:sp>
        <p:nvSpPr>
          <p:cNvPr id="23" name="bd_72"/>
          <p:cNvSpPr/>
          <p:nvPr/>
        </p:nvSpPr>
        <p:spPr>
          <a:xfrm>
            <a:off x="3246120" y="298094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73"/>
          <p:cNvSpPr/>
          <p:nvPr/>
        </p:nvSpPr>
        <p:spPr>
          <a:xfrm>
            <a:off x="3657600" y="2825496"/>
            <a:ext cx="2514600" cy="640080"/>
          </a:xfrm>
          <a:prstGeom prst="roundRect">
            <a:avLst>
              <a:gd name="adj" fmla="val 1428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On your feet</a:t>
            </a:r>
            <a:endParaRPr lang="en-US" sz="1250" dirty="0"/>
          </a:p>
        </p:txBody>
      </p:sp>
      <p:sp>
        <p:nvSpPr>
          <p:cNvPr id="25" name="R2_chip74"/>
          <p:cNvSpPr/>
          <p:nvPr/>
        </p:nvSpPr>
        <p:spPr>
          <a:xfrm>
            <a:off x="6263640" y="2825496"/>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trainers, boots, sandals, shoes</a:t>
            </a:r>
            <a:endParaRPr lang="en-US" sz="1200" dirty="0"/>
          </a:p>
        </p:txBody>
      </p:sp>
      <p:sp>
        <p:nvSpPr>
          <p:cNvPr id="26" name="bd_75"/>
          <p:cNvSpPr/>
          <p:nvPr/>
        </p:nvSpPr>
        <p:spPr>
          <a:xfrm>
            <a:off x="3246120" y="3685032"/>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76"/>
          <p:cNvSpPr/>
          <p:nvPr/>
        </p:nvSpPr>
        <p:spPr>
          <a:xfrm>
            <a:off x="3657600" y="3529584"/>
            <a:ext cx="2514600" cy="640080"/>
          </a:xfrm>
          <a:prstGeom prst="roundRect">
            <a:avLst>
              <a:gd name="adj" fmla="val 1428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Accessories</a:t>
            </a:r>
            <a:endParaRPr lang="en-US" sz="1250" dirty="0"/>
          </a:p>
        </p:txBody>
      </p:sp>
      <p:sp>
        <p:nvSpPr>
          <p:cNvPr id="28" name="R3_chip77"/>
          <p:cNvSpPr/>
          <p:nvPr/>
        </p:nvSpPr>
        <p:spPr>
          <a:xfrm>
            <a:off x="6263640" y="3529584"/>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bag, handbag, cap, tie, necklace, sunglasses</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8"/>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79"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80"/>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Who's wearing what?</a:t>
            </a:r>
            <a:endParaRPr lang="en-US" sz="2400" dirty="0"/>
          </a:p>
        </p:txBody>
      </p:sp>
      <p:pic>
        <p:nvPicPr>
          <p:cNvPr id="6" name="brP_81"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82"/>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Who are the people? What are they wearing?</a:t>
            </a:r>
            <a:endParaRPr lang="en-US" sz="1250" dirty="0"/>
          </a:p>
        </p:txBody>
      </p:sp>
      <p:sp>
        <p:nvSpPr>
          <p:cNvPr id="8" name="insIT_8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Chi sono? Cosa indossano?</a:t>
            </a:r>
            <a:endParaRPr lang="en-US" sz="950" dirty="0"/>
          </a:p>
        </p:txBody>
      </p:sp>
      <p:sp>
        <p:nvSpPr>
          <p:cNvPr id="9" name="note_84"/>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LOOK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150" dirty="0"/>
          </a:p>
        </p:txBody>
      </p:sp>
      <p:pic>
        <p:nvPicPr>
          <p:cNvPr id="10" name="logo_8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8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Vocabulary · describe the photos   ·   📖 SB p.14 · Vocabulary 1</a:t>
            </a:r>
            <a:endParaRPr lang="en-US" sz="800" dirty="0"/>
          </a:p>
        </p:txBody>
      </p:sp>
      <p:sp>
        <p:nvSpPr>
          <p:cNvPr id="12" name="pf_87"/>
          <p:cNvSpPr/>
          <p:nvPr/>
        </p:nvSpPr>
        <p:spPr>
          <a:xfrm>
            <a:off x="365760" y="1417320"/>
            <a:ext cx="1508760" cy="1559052"/>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88" descr="/home/claude/lls-course/v2/cache/prep2_a_jaden_jpg_341x353_31.png">    </p:cNvPr>
          <p:cNvPicPr>
            <a:picLocks noChangeAspect="1"/>
          </p:cNvPicPr>
          <p:nvPr/>
        </p:nvPicPr>
        <p:blipFill>
          <a:blip r:embed="rId5"/>
          <a:stretch>
            <a:fillRect/>
          </a:stretch>
        </p:blipFill>
        <p:spPr>
          <a:xfrm>
            <a:off x="411480" y="1463040"/>
            <a:ext cx="1417320" cy="1467612"/>
          </a:xfrm>
          <a:prstGeom prst="rect">
            <a:avLst/>
          </a:prstGeom>
        </p:spPr>
      </p:pic>
      <p:sp>
        <p:nvSpPr>
          <p:cNvPr id="14" name="bd_89"/>
          <p:cNvSpPr/>
          <p:nvPr/>
        </p:nvSpPr>
        <p:spPr>
          <a:xfrm>
            <a:off x="265176" y="131673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a:t>
            </a:r>
            <a:endParaRPr lang="en-US" sz="1100" dirty="0"/>
          </a:p>
        </p:txBody>
      </p:sp>
      <p:sp>
        <p:nvSpPr>
          <p:cNvPr id="15" name="pf_90"/>
          <p:cNvSpPr/>
          <p:nvPr/>
        </p:nvSpPr>
        <p:spPr>
          <a:xfrm>
            <a:off x="1892808" y="1417320"/>
            <a:ext cx="1508760" cy="1559052"/>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91" descr="/home/claude/lls-course/v2/cache/prep2_b_taylor_jpg_341x353_31.png">    </p:cNvPr>
          <p:cNvPicPr>
            <a:picLocks noChangeAspect="1"/>
          </p:cNvPicPr>
          <p:nvPr/>
        </p:nvPicPr>
        <p:blipFill>
          <a:blip r:embed="rId6"/>
          <a:stretch>
            <a:fillRect/>
          </a:stretch>
        </p:blipFill>
        <p:spPr>
          <a:xfrm>
            <a:off x="1938528" y="1463040"/>
            <a:ext cx="1417320" cy="1467612"/>
          </a:xfrm>
          <a:prstGeom prst="rect">
            <a:avLst/>
          </a:prstGeom>
        </p:spPr>
      </p:pic>
      <p:sp>
        <p:nvSpPr>
          <p:cNvPr id="17" name="bd_92"/>
          <p:cNvSpPr/>
          <p:nvPr/>
        </p:nvSpPr>
        <p:spPr>
          <a:xfrm>
            <a:off x="1792224" y="131673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B</a:t>
            </a:r>
            <a:endParaRPr lang="en-US" sz="1100" dirty="0"/>
          </a:p>
        </p:txBody>
      </p:sp>
      <p:sp>
        <p:nvSpPr>
          <p:cNvPr id="18" name="pf_93"/>
          <p:cNvSpPr/>
          <p:nvPr/>
        </p:nvSpPr>
        <p:spPr>
          <a:xfrm>
            <a:off x="3419856" y="1417320"/>
            <a:ext cx="1508760" cy="1559052"/>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94" descr="/home/claude/lls-course/v2/cache/prep2_c_ed_jpg_341x353_31.png">    </p:cNvPr>
          <p:cNvPicPr>
            <a:picLocks noChangeAspect="1"/>
          </p:cNvPicPr>
          <p:nvPr/>
        </p:nvPicPr>
        <p:blipFill>
          <a:blip r:embed="rId7"/>
          <a:stretch>
            <a:fillRect/>
          </a:stretch>
        </p:blipFill>
        <p:spPr>
          <a:xfrm>
            <a:off x="3465576" y="1463040"/>
            <a:ext cx="1417320" cy="1467612"/>
          </a:xfrm>
          <a:prstGeom prst="rect">
            <a:avLst/>
          </a:prstGeom>
        </p:spPr>
      </p:pic>
      <p:sp>
        <p:nvSpPr>
          <p:cNvPr id="20" name="bd_95"/>
          <p:cNvSpPr/>
          <p:nvPr/>
        </p:nvSpPr>
        <p:spPr>
          <a:xfrm>
            <a:off x="3319272" y="1316736"/>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C</a:t>
            </a:r>
            <a:endParaRPr lang="en-US" sz="1100" dirty="0"/>
          </a:p>
        </p:txBody>
      </p:sp>
      <p:sp>
        <p:nvSpPr>
          <p:cNvPr id="21" name="pf_96"/>
          <p:cNvSpPr/>
          <p:nvPr/>
        </p:nvSpPr>
        <p:spPr>
          <a:xfrm>
            <a:off x="365760" y="2994660"/>
            <a:ext cx="1508760" cy="1559052"/>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2" name="ph_97" descr="/home/claude/lls-course/v2/cache/prep2_d_rihanna_jpg_341x353_31.png">    </p:cNvPr>
          <p:cNvPicPr>
            <a:picLocks noChangeAspect="1"/>
          </p:cNvPicPr>
          <p:nvPr/>
        </p:nvPicPr>
        <p:blipFill>
          <a:blip r:embed="rId8"/>
          <a:stretch>
            <a:fillRect/>
          </a:stretch>
        </p:blipFill>
        <p:spPr>
          <a:xfrm>
            <a:off x="411480" y="3040380"/>
            <a:ext cx="1417320" cy="1467612"/>
          </a:xfrm>
          <a:prstGeom prst="rect">
            <a:avLst/>
          </a:prstGeom>
        </p:spPr>
      </p:pic>
      <p:sp>
        <p:nvSpPr>
          <p:cNvPr id="23" name="bd_98"/>
          <p:cNvSpPr/>
          <p:nvPr/>
        </p:nvSpPr>
        <p:spPr>
          <a:xfrm>
            <a:off x="265176" y="2894076"/>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D</a:t>
            </a:r>
            <a:endParaRPr lang="en-US" sz="1100" dirty="0"/>
          </a:p>
        </p:txBody>
      </p:sp>
      <p:sp>
        <p:nvSpPr>
          <p:cNvPr id="24" name="q_99"/>
          <p:cNvSpPr/>
          <p:nvPr/>
        </p:nvSpPr>
        <p:spPr>
          <a:xfrm>
            <a:off x="5166360" y="1417320"/>
            <a:ext cx="1325880" cy="530352"/>
          </a:xfrm>
          <a:prstGeom prst="roundRect">
            <a:avLst>
              <a:gd name="adj" fmla="val 17241"/>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e.g. A</a:t>
            </a:r>
            <a:endParaRPr lang="en-US" sz="1150" dirty="0"/>
          </a:p>
        </p:txBody>
      </p:sp>
      <p:sp>
        <p:nvSpPr>
          <p:cNvPr id="25" name="chip_100"/>
          <p:cNvSpPr/>
          <p:nvPr/>
        </p:nvSpPr>
        <p:spPr>
          <a:xfrm>
            <a:off x="6565392" y="1417320"/>
            <a:ext cx="2286000" cy="530352"/>
          </a:xfrm>
          <a:prstGeom prst="roundRect">
            <a:avLst>
              <a:gd name="adj" fmla="val 17241"/>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850" b="1" dirty="0">
                <a:solidFill>
                  <a:srgbClr val="1B2559"/>
                </a:solidFill>
                <a:latin typeface="Segoe UI Semibold" pitchFamily="34" charset="0"/>
                <a:ea typeface="Segoe UI Semibold" pitchFamily="34" charset="-122"/>
                <a:cs typeface="Segoe UI Semibold" pitchFamily="34" charset="-120"/>
              </a:rPr>
              <a:t>Jaden Smith (singer, actor): denim jacket, white T-shirt, white trousers, black cap (bag, necklaces)</a:t>
            </a:r>
            <a:endParaRPr lang="en-US" sz="850" dirty="0"/>
          </a:p>
        </p:txBody>
      </p:sp>
      <p:sp>
        <p:nvSpPr>
          <p:cNvPr id="26" name="q_101"/>
          <p:cNvSpPr/>
          <p:nvPr/>
        </p:nvSpPr>
        <p:spPr>
          <a:xfrm>
            <a:off x="5166360" y="2002536"/>
            <a:ext cx="1325880" cy="530352"/>
          </a:xfrm>
          <a:prstGeom prst="roundRect">
            <a:avLst>
              <a:gd name="adj" fmla="val 17241"/>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B</a:t>
            </a:r>
            <a:endParaRPr lang="en-US" sz="1150" dirty="0"/>
          </a:p>
        </p:txBody>
      </p:sp>
      <p:sp>
        <p:nvSpPr>
          <p:cNvPr id="27" name="R1_chip102"/>
          <p:cNvSpPr/>
          <p:nvPr/>
        </p:nvSpPr>
        <p:spPr>
          <a:xfrm>
            <a:off x="6565392" y="2002536"/>
            <a:ext cx="2286000" cy="530352"/>
          </a:xfrm>
          <a:prstGeom prst="roundRect">
            <a:avLst>
              <a:gd name="adj" fmla="val 17241"/>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Taylor Swift (singer, actor): black shirt, black trousers (handbag)</a:t>
            </a:r>
            <a:endParaRPr lang="en-US" sz="900" dirty="0"/>
          </a:p>
        </p:txBody>
      </p:sp>
      <p:sp>
        <p:nvSpPr>
          <p:cNvPr id="28" name="q_103"/>
          <p:cNvSpPr/>
          <p:nvPr/>
        </p:nvSpPr>
        <p:spPr>
          <a:xfrm>
            <a:off x="5166360" y="2587752"/>
            <a:ext cx="1325880" cy="530352"/>
          </a:xfrm>
          <a:prstGeom prst="roundRect">
            <a:avLst>
              <a:gd name="adj" fmla="val 17241"/>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a:t>
            </a:r>
            <a:endParaRPr lang="en-US" sz="1150" dirty="0"/>
          </a:p>
        </p:txBody>
      </p:sp>
      <p:sp>
        <p:nvSpPr>
          <p:cNvPr id="29" name="R2_chip104"/>
          <p:cNvSpPr/>
          <p:nvPr/>
        </p:nvSpPr>
        <p:spPr>
          <a:xfrm>
            <a:off x="6565392" y="2587752"/>
            <a:ext cx="2286000" cy="530352"/>
          </a:xfrm>
          <a:prstGeom prst="roundRect">
            <a:avLst>
              <a:gd name="adj" fmla="val 17241"/>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Ed Sheeran (singer): black suit, white shirt, black tie</a:t>
            </a:r>
            <a:endParaRPr lang="en-US" sz="900" dirty="0"/>
          </a:p>
        </p:txBody>
      </p:sp>
      <p:sp>
        <p:nvSpPr>
          <p:cNvPr id="30" name="q_105"/>
          <p:cNvSpPr/>
          <p:nvPr/>
        </p:nvSpPr>
        <p:spPr>
          <a:xfrm>
            <a:off x="5166360" y="3172968"/>
            <a:ext cx="1325880" cy="530352"/>
          </a:xfrm>
          <a:prstGeom prst="roundRect">
            <a:avLst>
              <a:gd name="adj" fmla="val 17241"/>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D</a:t>
            </a:r>
            <a:endParaRPr lang="en-US" sz="1150" dirty="0"/>
          </a:p>
        </p:txBody>
      </p:sp>
      <p:sp>
        <p:nvSpPr>
          <p:cNvPr id="31" name="R3_chip106"/>
          <p:cNvSpPr/>
          <p:nvPr/>
        </p:nvSpPr>
        <p:spPr>
          <a:xfrm>
            <a:off x="6565392" y="3172968"/>
            <a:ext cx="2286000" cy="530352"/>
          </a:xfrm>
          <a:prstGeom prst="roundRect">
            <a:avLst>
              <a:gd name="adj" fmla="val 17241"/>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Rihanna (singer): trainers, trousers, black and white blouse</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07"/>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0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0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Comfortable or smart?</a:t>
            </a:r>
            <a:endParaRPr lang="en-US" sz="2500" dirty="0"/>
          </a:p>
        </p:txBody>
      </p:sp>
      <p:pic>
        <p:nvPicPr>
          <p:cNvPr id="6" name="brP_11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1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Explain it in English (harder) – or say it in Italian (easier). Click.</a:t>
            </a:r>
            <a:endParaRPr lang="en-US" sz="1100" dirty="0"/>
          </a:p>
        </p:txBody>
      </p:sp>
      <p:sp>
        <p:nvSpPr>
          <p:cNvPr id="8" name="insIT_11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Spiegalo in inglese (più difficile) – o dillo in italiano (più facile). Clicca.</a:t>
            </a:r>
            <a:endParaRPr lang="en-US" sz="950" dirty="0"/>
          </a:p>
        </p:txBody>
      </p:sp>
      <p:sp>
        <p:nvSpPr>
          <p:cNvPr id="9" name="note_11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CHECK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CONTROLLA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TPRS · meaning</a:t>
            </a:r>
            <a:endParaRPr lang="en-US" sz="1250" dirty="0"/>
          </a:p>
        </p:txBody>
      </p:sp>
      <p:pic>
        <p:nvPicPr>
          <p:cNvPr id="10" name="logo_11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1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Vocabulary · clothes adjectives   ·   📖 SB p.14 · Vocabulary 3, 4 · WB p.8 ex.2 meanings</a:t>
            </a:r>
            <a:endParaRPr lang="en-US" sz="800" dirty="0"/>
          </a:p>
        </p:txBody>
      </p:sp>
      <p:sp>
        <p:nvSpPr>
          <p:cNvPr id="12" name="cd_116"/>
          <p:cNvSpPr/>
          <p:nvPr/>
        </p:nvSpPr>
        <p:spPr>
          <a:xfrm>
            <a:off x="320040" y="1417320"/>
            <a:ext cx="2075688" cy="914400"/>
          </a:xfrm>
          <a:prstGeom prst="roundRect">
            <a:avLst>
              <a:gd name="adj" fmla="val 140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e_117"/>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4" name="en_118"/>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comfortable</a:t>
            </a:r>
            <a:endParaRPr lang="en-US" sz="1200" dirty="0"/>
          </a:p>
        </p:txBody>
      </p:sp>
      <p:sp>
        <p:nvSpPr>
          <p:cNvPr id="15" name="R1_def119"/>
          <p:cNvSpPr/>
          <p:nvPr/>
        </p:nvSpPr>
        <p:spPr>
          <a:xfrm>
            <a:off x="978408"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gives a pleasant feeling</a:t>
            </a:r>
            <a:endParaRPr lang="en-US" sz="850" dirty="0"/>
          </a:p>
        </p:txBody>
      </p:sp>
      <p:sp>
        <p:nvSpPr>
          <p:cNvPr id="16" name="R2_it120"/>
          <p:cNvSpPr/>
          <p:nvPr/>
        </p:nvSpPr>
        <p:spPr>
          <a:xfrm>
            <a:off x="978408"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comodo</a:t>
            </a:r>
            <a:endParaRPr lang="en-US" sz="900" dirty="0"/>
          </a:p>
        </p:txBody>
      </p:sp>
      <p:sp>
        <p:nvSpPr>
          <p:cNvPr id="17" name="cd_121"/>
          <p:cNvSpPr/>
          <p:nvPr/>
        </p:nvSpPr>
        <p:spPr>
          <a:xfrm>
            <a:off x="2487168" y="1417320"/>
            <a:ext cx="2075688" cy="914400"/>
          </a:xfrm>
          <a:prstGeom prst="roundRect">
            <a:avLst>
              <a:gd name="adj" fmla="val 140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8" name="e_122"/>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9" name="en_123"/>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skinny</a:t>
            </a:r>
            <a:endParaRPr lang="en-US" sz="1200" dirty="0"/>
          </a:p>
        </p:txBody>
      </p:sp>
      <p:sp>
        <p:nvSpPr>
          <p:cNvPr id="20" name="R3_def124"/>
          <p:cNvSpPr/>
          <p:nvPr/>
        </p:nvSpPr>
        <p:spPr>
          <a:xfrm>
            <a:off x="3145536"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narrow and fitting closely to the body</a:t>
            </a:r>
            <a:endParaRPr lang="en-US" sz="850" dirty="0"/>
          </a:p>
        </p:txBody>
      </p:sp>
      <p:sp>
        <p:nvSpPr>
          <p:cNvPr id="21" name="R4_it125"/>
          <p:cNvSpPr/>
          <p:nvPr/>
        </p:nvSpPr>
        <p:spPr>
          <a:xfrm>
            <a:off x="3145536"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attillato, skinny</a:t>
            </a:r>
            <a:endParaRPr lang="en-US" sz="900" dirty="0"/>
          </a:p>
        </p:txBody>
      </p:sp>
      <p:sp>
        <p:nvSpPr>
          <p:cNvPr id="22" name="cd_126"/>
          <p:cNvSpPr/>
          <p:nvPr/>
        </p:nvSpPr>
        <p:spPr>
          <a:xfrm>
            <a:off x="4654296" y="1417320"/>
            <a:ext cx="2075688" cy="914400"/>
          </a:xfrm>
          <a:prstGeom prst="roundRect">
            <a:avLst>
              <a:gd name="adj" fmla="val 140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3" name="e_127"/>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128"/>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brand new</a:t>
            </a:r>
            <a:endParaRPr lang="en-US" sz="1200" dirty="0"/>
          </a:p>
        </p:txBody>
      </p:sp>
      <p:sp>
        <p:nvSpPr>
          <p:cNvPr id="25" name="R5_def129"/>
          <p:cNvSpPr/>
          <p:nvPr/>
        </p:nvSpPr>
        <p:spPr>
          <a:xfrm>
            <a:off x="5312664"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completely new</a:t>
            </a:r>
            <a:endParaRPr lang="en-US" sz="850" dirty="0"/>
          </a:p>
        </p:txBody>
      </p:sp>
      <p:sp>
        <p:nvSpPr>
          <p:cNvPr id="26" name="R6_it130"/>
          <p:cNvSpPr/>
          <p:nvPr/>
        </p:nvSpPr>
        <p:spPr>
          <a:xfrm>
            <a:off x="5312664"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nuovo di zecca</a:t>
            </a:r>
            <a:endParaRPr lang="en-US" sz="900" dirty="0"/>
          </a:p>
        </p:txBody>
      </p:sp>
      <p:sp>
        <p:nvSpPr>
          <p:cNvPr id="27" name="cd_131"/>
          <p:cNvSpPr/>
          <p:nvPr/>
        </p:nvSpPr>
        <p:spPr>
          <a:xfrm>
            <a:off x="6821424" y="1417320"/>
            <a:ext cx="2075688" cy="914400"/>
          </a:xfrm>
          <a:prstGeom prst="roundRect">
            <a:avLst>
              <a:gd name="adj" fmla="val 140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8" name="e_132"/>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9" name="en_133"/>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smart</a:t>
            </a:r>
            <a:endParaRPr lang="en-US" sz="1200" dirty="0"/>
          </a:p>
        </p:txBody>
      </p:sp>
      <p:sp>
        <p:nvSpPr>
          <p:cNvPr id="30" name="R7_def134"/>
          <p:cNvSpPr/>
          <p:nvPr/>
        </p:nvSpPr>
        <p:spPr>
          <a:xfrm>
            <a:off x="7479792"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clean, tidy and stylish</a:t>
            </a:r>
            <a:endParaRPr lang="en-US" sz="850" dirty="0"/>
          </a:p>
        </p:txBody>
      </p:sp>
      <p:sp>
        <p:nvSpPr>
          <p:cNvPr id="31" name="R8_it135"/>
          <p:cNvSpPr/>
          <p:nvPr/>
        </p:nvSpPr>
        <p:spPr>
          <a:xfrm>
            <a:off x="7479792"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elegante</a:t>
            </a:r>
            <a:endParaRPr lang="en-US" sz="900" dirty="0"/>
          </a:p>
        </p:txBody>
      </p:sp>
      <p:sp>
        <p:nvSpPr>
          <p:cNvPr id="32" name="cd_136"/>
          <p:cNvSpPr/>
          <p:nvPr/>
        </p:nvSpPr>
        <p:spPr>
          <a:xfrm>
            <a:off x="320040" y="2423160"/>
            <a:ext cx="2075688" cy="914400"/>
          </a:xfrm>
          <a:prstGeom prst="roundRect">
            <a:avLst>
              <a:gd name="adj" fmla="val 140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33" name="e_137"/>
          <p:cNvSpPr/>
          <p:nvPr/>
        </p:nvSpPr>
        <p:spPr>
          <a:xfrm>
            <a:off x="393192" y="253288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4" name="en_138"/>
          <p:cNvSpPr/>
          <p:nvPr/>
        </p:nvSpPr>
        <p:spPr>
          <a:xfrm>
            <a:off x="978408" y="247802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trendy</a:t>
            </a:r>
            <a:endParaRPr lang="en-US" sz="1200" dirty="0"/>
          </a:p>
        </p:txBody>
      </p:sp>
      <p:sp>
        <p:nvSpPr>
          <p:cNvPr id="35" name="R9_def139"/>
          <p:cNvSpPr/>
          <p:nvPr/>
        </p:nvSpPr>
        <p:spPr>
          <a:xfrm>
            <a:off x="978408"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popular at a particular time</a:t>
            </a:r>
            <a:endParaRPr lang="en-US" sz="850" dirty="0"/>
          </a:p>
        </p:txBody>
      </p:sp>
      <p:sp>
        <p:nvSpPr>
          <p:cNvPr id="36" name="R10_it140"/>
          <p:cNvSpPr/>
          <p:nvPr/>
        </p:nvSpPr>
        <p:spPr>
          <a:xfrm>
            <a:off x="978408" y="312724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alla moda</a:t>
            </a:r>
            <a:endParaRPr lang="en-US" sz="900" dirty="0"/>
          </a:p>
        </p:txBody>
      </p:sp>
      <p:sp>
        <p:nvSpPr>
          <p:cNvPr id="37" name="cd_141"/>
          <p:cNvSpPr/>
          <p:nvPr/>
        </p:nvSpPr>
        <p:spPr>
          <a:xfrm>
            <a:off x="2487168" y="2423160"/>
            <a:ext cx="2075688" cy="914400"/>
          </a:xfrm>
          <a:prstGeom prst="roundRect">
            <a:avLst>
              <a:gd name="adj" fmla="val 140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38" name="e_142"/>
          <p:cNvSpPr/>
          <p:nvPr/>
        </p:nvSpPr>
        <p:spPr>
          <a:xfrm>
            <a:off x="2560320" y="253288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9" name="en_143"/>
          <p:cNvSpPr/>
          <p:nvPr/>
        </p:nvSpPr>
        <p:spPr>
          <a:xfrm>
            <a:off x="3145536" y="247802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well-dressed</a:t>
            </a:r>
            <a:endParaRPr lang="en-US" sz="1200" dirty="0"/>
          </a:p>
        </p:txBody>
      </p:sp>
      <p:sp>
        <p:nvSpPr>
          <p:cNvPr id="40" name="R11_def144"/>
          <p:cNvSpPr/>
          <p:nvPr/>
        </p:nvSpPr>
        <p:spPr>
          <a:xfrm>
            <a:off x="3145536"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wearing attractive, good-quality clothes</a:t>
            </a:r>
            <a:endParaRPr lang="en-US" sz="850" dirty="0"/>
          </a:p>
        </p:txBody>
      </p:sp>
      <p:sp>
        <p:nvSpPr>
          <p:cNvPr id="41" name="R12_it145"/>
          <p:cNvSpPr/>
          <p:nvPr/>
        </p:nvSpPr>
        <p:spPr>
          <a:xfrm>
            <a:off x="3145536" y="312724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ben vestito</a:t>
            </a:r>
            <a:endParaRPr lang="en-US" sz="900" dirty="0"/>
          </a:p>
        </p:txBody>
      </p:sp>
      <p:sp>
        <p:nvSpPr>
          <p:cNvPr id="42" name="cd_146"/>
          <p:cNvSpPr/>
          <p:nvPr/>
        </p:nvSpPr>
        <p:spPr>
          <a:xfrm>
            <a:off x="4654296" y="2423160"/>
            <a:ext cx="2075688" cy="914400"/>
          </a:xfrm>
          <a:prstGeom prst="roundRect">
            <a:avLst>
              <a:gd name="adj" fmla="val 140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43" name="e_147"/>
          <p:cNvSpPr/>
          <p:nvPr/>
        </p:nvSpPr>
        <p:spPr>
          <a:xfrm>
            <a:off x="4727448" y="253288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148"/>
          <p:cNvSpPr/>
          <p:nvPr/>
        </p:nvSpPr>
        <p:spPr>
          <a:xfrm>
            <a:off x="5312664" y="247802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loose-fitting</a:t>
            </a:r>
            <a:endParaRPr lang="en-US" sz="1200" dirty="0"/>
          </a:p>
        </p:txBody>
      </p:sp>
      <p:sp>
        <p:nvSpPr>
          <p:cNvPr id="45" name="R13_def149"/>
          <p:cNvSpPr/>
          <p:nvPr/>
        </p:nvSpPr>
        <p:spPr>
          <a:xfrm>
            <a:off x="5312664"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large and comfortable to wear</a:t>
            </a:r>
            <a:endParaRPr lang="en-US" sz="850" dirty="0"/>
          </a:p>
        </p:txBody>
      </p:sp>
      <p:sp>
        <p:nvSpPr>
          <p:cNvPr id="46" name="R14_it150"/>
          <p:cNvSpPr/>
          <p:nvPr/>
        </p:nvSpPr>
        <p:spPr>
          <a:xfrm>
            <a:off x="5312664" y="312724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largo, comodo</a:t>
            </a:r>
            <a:endParaRPr lang="en-US" sz="900" dirty="0"/>
          </a:p>
        </p:txBody>
      </p:sp>
      <p:sp>
        <p:nvSpPr>
          <p:cNvPr id="47" name="cd_151"/>
          <p:cNvSpPr/>
          <p:nvPr/>
        </p:nvSpPr>
        <p:spPr>
          <a:xfrm>
            <a:off x="6821424" y="2423160"/>
            <a:ext cx="2075688" cy="914400"/>
          </a:xfrm>
          <a:prstGeom prst="roundRect">
            <a:avLst>
              <a:gd name="adj" fmla="val 140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48" name="e_152"/>
          <p:cNvSpPr/>
          <p:nvPr/>
        </p:nvSpPr>
        <p:spPr>
          <a:xfrm>
            <a:off x="6894576" y="253288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9" name="en_153"/>
          <p:cNvSpPr/>
          <p:nvPr/>
        </p:nvSpPr>
        <p:spPr>
          <a:xfrm>
            <a:off x="7479792" y="247802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second-hand</a:t>
            </a:r>
            <a:endParaRPr lang="en-US" sz="1200" dirty="0"/>
          </a:p>
        </p:txBody>
      </p:sp>
      <p:sp>
        <p:nvSpPr>
          <p:cNvPr id="50" name="R15_def154"/>
          <p:cNvSpPr/>
          <p:nvPr/>
        </p:nvSpPr>
        <p:spPr>
          <a:xfrm>
            <a:off x="7479792"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owned by someone before you</a:t>
            </a:r>
            <a:endParaRPr lang="en-US" sz="850" dirty="0"/>
          </a:p>
        </p:txBody>
      </p:sp>
      <p:sp>
        <p:nvSpPr>
          <p:cNvPr id="51" name="R16_it155"/>
          <p:cNvSpPr/>
          <p:nvPr/>
        </p:nvSpPr>
        <p:spPr>
          <a:xfrm>
            <a:off x="7479792" y="3127248"/>
            <a:ext cx="1362456" cy="182880"/>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di seconda mano, usato</a:t>
            </a:r>
            <a:endParaRPr lang="en-US" sz="800" dirty="0"/>
          </a:p>
        </p:txBody>
      </p:sp>
      <p:sp>
        <p:nvSpPr>
          <p:cNvPr id="52" name="R17_wc156"/>
          <p:cNvSpPr/>
          <p:nvPr/>
        </p:nvSpPr>
        <p:spPr>
          <a:xfrm>
            <a:off x="320040" y="3474720"/>
            <a:ext cx="8549640" cy="457200"/>
          </a:xfrm>
          <a:prstGeom prst="roundRect">
            <a:avLst>
              <a:gd name="adj" fmla="val 28000"/>
            </a:avLst>
          </a:prstGeom>
          <a:solidFill>
            <a:srgbClr val="FFE3EE"/>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53" name="R17_w157"/>
          <p:cNvSpPr/>
          <p:nvPr/>
        </p:nvSpPr>
        <p:spPr>
          <a:xfrm>
            <a:off x="457200" y="34747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smart = elegante (not 'intelligente' here!)  ·  comfortable /ˈkʌmftəbl/ – 3 syllables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400"/>
                                        <p:tgtEl>
                                          <p:spTgt spid="4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400"/>
                                        <p:tgtEl>
                                          <p:spTgt spid="4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400"/>
                                        <p:tgtEl>
                                          <p:spTgt spid="4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400"/>
                                        <p:tgtEl>
                                          <p:spTgt spid="4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50"/>
                                        </p:tgtEl>
                                        <p:attrNameLst>
                                          <p:attrName>style.visibility</p:attrName>
                                        </p:attrNameLst>
                                      </p:cBhvr>
                                      <p:to>
                                        <p:strVal val="visible"/>
                                      </p:to>
                                    </p:set>
                                    <p:animEffect transition="in" filter="fade">
                                      <p:cBhvr>
                                        <p:cTn id="77" dur="400"/>
                                        <p:tgtEl>
                                          <p:spTgt spid="50"/>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fade">
                                      <p:cBhvr>
                                        <p:cTn id="82" dur="400"/>
                                        <p:tgtEl>
                                          <p:spTgt spid="5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400"/>
                                        <p:tgtEl>
                                          <p:spTgt spid="52"/>
                                        </p:tgtEl>
                                      </p:cBhvr>
                                    </p:animEffect>
                                  </p:childTnLst>
                                </p:cTn>
                              </p:par>
                              <p:par>
                                <p:cTn id="88" presetID="10" presetClass="entr" presetSubtype="0" fill="hold" nodeType="withEffect">
                                  <p:stCondLst>
                                    <p:cond delay="0"/>
                                  </p:stCondLst>
                                  <p:childTnLst>
                                    <p:set>
                                      <p:cBhvr>
                                        <p:cTn id="89" dur="1" fill="hold">
                                          <p:stCondLst>
                                            <p:cond delay="0"/>
                                          </p:stCondLst>
                                        </p:cTn>
                                        <p:tgtEl>
                                          <p:spTgt spid="53"/>
                                        </p:tgtEl>
                                        <p:attrNameLst>
                                          <p:attrName>style.visibility</p:attrName>
                                        </p:attrNameLst>
                                      </p:cBhvr>
                                      <p:to>
                                        <p:strVal val="visible"/>
                                      </p:to>
                                    </p:set>
                                    <p:animEffect transition="in" filter="fade">
                                      <p:cBhvr>
                                        <p:cTn id="90"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58"/>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59"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160"/>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Opposites</a:t>
            </a:r>
            <a:endParaRPr lang="en-US" sz="2500" dirty="0"/>
          </a:p>
        </p:txBody>
      </p:sp>
      <p:pic>
        <p:nvPicPr>
          <p:cNvPr id="6" name="brP_161"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162"/>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Match each adjective to its OPPOSITE.</a:t>
            </a:r>
            <a:endParaRPr lang="en-US" sz="1250" dirty="0"/>
          </a:p>
        </p:txBody>
      </p:sp>
      <p:sp>
        <p:nvSpPr>
          <p:cNvPr id="8" name="insIT_16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Abbina ogni aggettivo al suo CONTRARIO.</a:t>
            </a:r>
            <a:endParaRPr lang="en-US" sz="950" dirty="0"/>
          </a:p>
        </p:txBody>
      </p:sp>
      <p:sp>
        <p:nvSpPr>
          <p:cNvPr id="9" name="note_164"/>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MATCH</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ABBINA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250" dirty="0"/>
          </a:p>
        </p:txBody>
      </p:sp>
      <p:pic>
        <p:nvPicPr>
          <p:cNvPr id="10" name="logo_16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6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Vocabulary · opposites   ·   📖 SB p.14 · Vocabulary 4</a:t>
            </a:r>
            <a:endParaRPr lang="en-US" sz="800" dirty="0"/>
          </a:p>
        </p:txBody>
      </p:sp>
      <p:sp>
        <p:nvSpPr>
          <p:cNvPr id="12" name="cd_167"/>
          <p:cNvSpPr/>
          <p:nvPr/>
        </p:nvSpPr>
        <p:spPr>
          <a:xfrm>
            <a:off x="320040" y="1417320"/>
            <a:ext cx="2697480" cy="768096"/>
          </a:xfrm>
          <a:prstGeom prst="roundRect">
            <a:avLst>
              <a:gd name="adj" fmla="val 1666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6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69"/>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170"/>
          <p:cNvSpPr/>
          <p:nvPr/>
        </p:nvSpPr>
        <p:spPr>
          <a:xfrm>
            <a:off x="886968" y="1911096"/>
            <a:ext cx="2039112" cy="201168"/>
          </a:xfrm>
          <a:prstGeom prst="rect">
            <a:avLst/>
          </a:prstGeom>
          <a:noFill/>
          <a:ln/>
        </p:spPr>
        <p:txBody>
          <a:bodyPr wrap="square" lIns="0" tIns="0" rIns="0" bIns="0" rtlCol="0" anchor="t">
            <a:normAutofit/>
          </a:bodyPr>
          <a:lstStyle/>
          <a:p>
            <a:pPr indent="0" marL="0">
              <a:spcAft>
                <a:spcPts val="200"/>
              </a:spcAft>
              <a:buNone/>
            </a:pPr>
            <a:r>
              <a:rPr lang="en-US" sz="950" dirty="0">
                <a:solidFill>
                  <a:srgbClr val="1B2559"/>
                </a:solidFill>
                <a:latin typeface="Segoe UI Semibold" pitchFamily="34" charset="0"/>
                <a:ea typeface="Segoe UI Semibold" pitchFamily="34" charset="-122"/>
                <a:cs typeface="Segoe UI Semibold" pitchFamily="34" charset="-120"/>
              </a:rPr>
              <a:t>badly-dressed → well-dressed</a:t>
            </a:r>
            <a:endParaRPr lang="en-US" sz="950" dirty="0"/>
          </a:p>
        </p:txBody>
      </p:sp>
      <p:sp>
        <p:nvSpPr>
          <p:cNvPr id="16" name="bd_171"/>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7" name="q_172"/>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casual</a:t>
            </a:r>
            <a:endParaRPr lang="en-US" sz="1150" dirty="0"/>
          </a:p>
        </p:txBody>
      </p:sp>
      <p:sp>
        <p:nvSpPr>
          <p:cNvPr id="18" name="R1_chip173"/>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smart</a:t>
            </a:r>
            <a:endParaRPr lang="en-US" sz="1050" dirty="0"/>
          </a:p>
        </p:txBody>
      </p:sp>
      <p:sp>
        <p:nvSpPr>
          <p:cNvPr id="19" name="bd_174"/>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0" name="q_175"/>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loose-fitting</a:t>
            </a:r>
            <a:endParaRPr lang="en-US" sz="1150" dirty="0"/>
          </a:p>
        </p:txBody>
      </p:sp>
      <p:sp>
        <p:nvSpPr>
          <p:cNvPr id="21" name="R2_chip176"/>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skinny</a:t>
            </a:r>
            <a:endParaRPr lang="en-US" sz="1050" dirty="0"/>
          </a:p>
        </p:txBody>
      </p:sp>
      <p:sp>
        <p:nvSpPr>
          <p:cNvPr id="22" name="bd_177"/>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3" name="q_178"/>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second-hand</a:t>
            </a:r>
            <a:endParaRPr lang="en-US" sz="1150" dirty="0"/>
          </a:p>
        </p:txBody>
      </p:sp>
      <p:sp>
        <p:nvSpPr>
          <p:cNvPr id="24" name="R3_chip179"/>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brand new</a:t>
            </a:r>
            <a:endParaRPr lang="en-US" sz="1050" dirty="0"/>
          </a:p>
        </p:txBody>
      </p:sp>
      <p:sp>
        <p:nvSpPr>
          <p:cNvPr id="25" name="bd_180"/>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6" name="q_181"/>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uncomfortable</a:t>
            </a:r>
            <a:endParaRPr lang="en-US" sz="1150" dirty="0"/>
          </a:p>
        </p:txBody>
      </p:sp>
      <p:sp>
        <p:nvSpPr>
          <p:cNvPr id="27" name="R4_chip182"/>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comfortable</a:t>
            </a:r>
            <a:endParaRPr lang="en-US" sz="1050" dirty="0"/>
          </a:p>
        </p:txBody>
      </p:sp>
      <p:sp>
        <p:nvSpPr>
          <p:cNvPr id="28" name="bd_183"/>
          <p:cNvSpPr/>
          <p:nvPr/>
        </p:nvSpPr>
        <p:spPr>
          <a:xfrm>
            <a:off x="3246120" y="35021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9" name="q_184"/>
          <p:cNvSpPr/>
          <p:nvPr/>
        </p:nvSpPr>
        <p:spPr>
          <a:xfrm>
            <a:off x="3630168" y="342900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unfashionable</a:t>
            </a:r>
            <a:endParaRPr lang="en-US" sz="1150" dirty="0"/>
          </a:p>
        </p:txBody>
      </p:sp>
      <p:sp>
        <p:nvSpPr>
          <p:cNvPr id="30" name="R5_chip185"/>
          <p:cNvSpPr/>
          <p:nvPr/>
        </p:nvSpPr>
        <p:spPr>
          <a:xfrm>
            <a:off x="5806440" y="342900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trendy</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86"/>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87"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188"/>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Which photo?</a:t>
            </a:r>
            <a:endParaRPr lang="en-US" sz="2500" dirty="0"/>
          </a:p>
        </p:txBody>
      </p:sp>
      <p:pic>
        <p:nvPicPr>
          <p:cNvPr id="6" name="brP_189"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90"/>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Describe a photo with 3 adjectives. Your partner guesses which one!</a:t>
            </a:r>
            <a:endParaRPr lang="en-US" sz="1100" dirty="0"/>
          </a:p>
        </p:txBody>
      </p:sp>
      <p:sp>
        <p:nvSpPr>
          <p:cNvPr id="8" name="insIT_19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Descrivi una foto con 3 aggettivi. Il compagno indovina quale!</a:t>
            </a:r>
            <a:endParaRPr lang="en-US" sz="950" dirty="0"/>
          </a:p>
        </p:txBody>
      </p:sp>
      <p:sp>
        <p:nvSpPr>
          <p:cNvPr id="9" name="note_19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LOOK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150" dirty="0"/>
          </a:p>
        </p:txBody>
      </p:sp>
      <p:pic>
        <p:nvPicPr>
          <p:cNvPr id="10" name="logo_19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9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Speaking · describe and guess   ·   📖 SB p.14 · Vocabulary 4 (second part) · TB fast finishers</a:t>
            </a:r>
            <a:endParaRPr lang="en-US" sz="800" dirty="0"/>
          </a:p>
        </p:txBody>
      </p:sp>
      <p:sp>
        <p:nvSpPr>
          <p:cNvPr id="12" name="pf_195"/>
          <p:cNvSpPr/>
          <p:nvPr/>
        </p:nvSpPr>
        <p:spPr>
          <a:xfrm rot="-120000">
            <a:off x="1360170" y="1371600"/>
            <a:ext cx="708660" cy="1325880"/>
          </a:xfrm>
          <a:prstGeom prst="roundRect">
            <a:avLst>
              <a:gd name="adj" fmla="val 21935"/>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196" descr="/home/claude/lls-course/v2/cache/prep2_c_ed_jpg_149x297_31.png">    </p:cNvPr>
          <p:cNvPicPr>
            <a:picLocks noChangeAspect="1"/>
          </p:cNvPicPr>
          <p:nvPr/>
        </p:nvPicPr>
        <p:blipFill>
          <a:blip r:embed="rId5"/>
          <a:stretch>
            <a:fillRect/>
          </a:stretch>
        </p:blipFill>
        <p:spPr>
          <a:xfrm rot="-120000">
            <a:off x="1405890" y="1417320"/>
            <a:ext cx="617220" cy="1234440"/>
          </a:xfrm>
          <a:prstGeom prst="rect">
            <a:avLst/>
          </a:prstGeom>
        </p:spPr>
      </p:pic>
      <p:sp>
        <p:nvSpPr>
          <p:cNvPr id="14" name="cd_197"/>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198"/>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199"/>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200"/>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He's / She's wearing…</a:t>
            </a:r>
            <a:endParaRPr lang="en-US" sz="1050" dirty="0"/>
          </a:p>
          <a:p>
            <a:pPr marL="152400" indent="-152400">
              <a:spcBef>
                <a:spcPts val="6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a smart suit / skinny jeans</a:t>
            </a:r>
            <a:endParaRPr lang="en-US" sz="1050" dirty="0"/>
          </a:p>
          <a:p>
            <a:pPr marL="152400" indent="-152400">
              <a:spcBef>
                <a:spcPts val="6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He looks really well-dressed.</a:t>
            </a:r>
            <a:endParaRPr lang="en-US" sz="1050" dirty="0"/>
          </a:p>
          <a:p>
            <a:pPr marL="152400" indent="-152400">
              <a:spcBef>
                <a:spcPts val="6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 think it's casual / trendy.</a:t>
            </a:r>
            <a:endParaRPr lang="en-US" sz="1050" dirty="0"/>
          </a:p>
          <a:p>
            <a:pPr marL="152400" indent="-152400">
              <a:spcBef>
                <a:spcPts val="6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Is it photo…?</a:t>
            </a:r>
            <a:endParaRPr lang="en-US" sz="1050" dirty="0"/>
          </a:p>
        </p:txBody>
      </p:sp>
      <p:sp>
        <p:nvSpPr>
          <p:cNvPr id="18" name="R1_qb201"/>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202"/>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Describe one photo (A–D) with 3 adjectives from today.</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She's wearing loose-fitting trousers – they look comfortable. It's quite trendy. – Is it D?</a:t>
            </a:r>
            <a:endParaRPr lang="en-US" sz="950" dirty="0"/>
          </a:p>
        </p:txBody>
      </p:sp>
      <p:sp>
        <p:nvSpPr>
          <p:cNvPr id="20" name="R2_qb203"/>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204"/>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Swap! How many adjectives can you use for ONE photo?</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C: smart, well-dressed, brand new…</a:t>
            </a:r>
            <a:endParaRPr lang="en-US" sz="950" dirty="0"/>
          </a:p>
        </p:txBody>
      </p:sp>
      <p:sp>
        <p:nvSpPr>
          <p:cNvPr id="22" name="R3_qb205"/>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206"/>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Challenge: describe someone in the class. Don't say the name!</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He's wearing comfortable trainers and a casual jacket.</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07"/>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08"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209"/>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You and your clothes</a:t>
            </a:r>
            <a:endParaRPr lang="en-US" sz="2500" dirty="0"/>
          </a:p>
        </p:txBody>
      </p:sp>
      <p:pic>
        <p:nvPicPr>
          <p:cNvPr id="6" name="brP_210"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211"/>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Discuss the questions. Give reasons!</a:t>
            </a:r>
            <a:endParaRPr lang="en-US" sz="1250" dirty="0"/>
          </a:p>
        </p:txBody>
      </p:sp>
      <p:sp>
        <p:nvSpPr>
          <p:cNvPr id="8" name="insIT_21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Discuti le domande. Dai motivi!</a:t>
            </a:r>
            <a:endParaRPr lang="en-US" sz="950" dirty="0"/>
          </a:p>
        </p:txBody>
      </p:sp>
      <p:sp>
        <p:nvSpPr>
          <p:cNvPr id="9" name="note_21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21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1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Speaking · about you   ·   📖 SB p.14 · Vocabulary 5</a:t>
            </a:r>
            <a:endParaRPr lang="en-US" sz="800" dirty="0"/>
          </a:p>
        </p:txBody>
      </p:sp>
      <p:sp>
        <p:nvSpPr>
          <p:cNvPr id="12" name="cd_216"/>
          <p:cNvSpPr/>
          <p:nvPr/>
        </p:nvSpPr>
        <p:spPr>
          <a:xfrm>
            <a:off x="320040" y="1417320"/>
            <a:ext cx="2788920" cy="2139696"/>
          </a:xfrm>
          <a:prstGeom prst="roundRect">
            <a:avLst>
              <a:gd name="adj" fmla="val 598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1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18"/>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5" name="il_219"/>
          <p:cNvSpPr/>
          <p:nvPr/>
        </p:nvSpPr>
        <p:spPr>
          <a:xfrm>
            <a:off x="886968" y="1911096"/>
            <a:ext cx="2130552" cy="15727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like wearing… because…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I'd never wear…</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prefer casual / smart clothes.</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For me, it's (not) very important to…</a:t>
            </a:r>
            <a:endParaRPr lang="en-US" sz="1150" dirty="0"/>
          </a:p>
        </p:txBody>
      </p:sp>
      <p:sp>
        <p:nvSpPr>
          <p:cNvPr id="16" name="R1_qb220"/>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7" name="R1_sq221"/>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What do you like wearing? What types of clothing do you never wear? Why?</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 like wearing hoodies. I never wear skirts – they're uncomfortable.</a:t>
            </a:r>
            <a:endParaRPr lang="en-US" sz="950" dirty="0"/>
          </a:p>
        </p:txBody>
      </p:sp>
      <p:sp>
        <p:nvSpPr>
          <p:cNvPr id="18" name="R2_qb222"/>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19" name="R2_sq223"/>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Do you generally prefer smart or casual clothes? Why?</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Casual – I want to be comfortable.</a:t>
            </a:r>
            <a:endParaRPr lang="en-US" sz="950" dirty="0"/>
          </a:p>
        </p:txBody>
      </p:sp>
      <p:sp>
        <p:nvSpPr>
          <p:cNvPr id="20" name="R3_qb224"/>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1" name="R3_sq225"/>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How important is it for you to wear trendy clothes?</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Not very important. I like second-hand clothes.</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6"/>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27"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228"/>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Stars of the past</a:t>
            </a:r>
            <a:endParaRPr lang="en-US" sz="2500" dirty="0"/>
          </a:p>
        </p:txBody>
      </p:sp>
      <p:pic>
        <p:nvPicPr>
          <p:cNvPr id="6" name="brP_229"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30"/>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Teams: 1 minute! Name bands and singers from the last century.</a:t>
            </a:r>
            <a:endParaRPr lang="en-US" sz="1100" dirty="0"/>
          </a:p>
        </p:txBody>
      </p:sp>
      <p:sp>
        <p:nvSpPr>
          <p:cNvPr id="8" name="insIT_23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Squadre: 1 minuto! Nominate band e cantanti del secolo scorso.</a:t>
            </a:r>
            <a:endParaRPr lang="en-US" sz="950" dirty="0"/>
          </a:p>
        </p:txBody>
      </p:sp>
      <p:sp>
        <p:nvSpPr>
          <p:cNvPr id="9" name="note_23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PLAY</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teams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Communicative game</a:t>
            </a:r>
            <a:endParaRPr lang="en-US" sz="1150" dirty="0"/>
          </a:p>
        </p:txBody>
      </p:sp>
      <p:pic>
        <p:nvPicPr>
          <p:cNvPr id="10" name="logo_23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3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Reading · prediction   ·   📖 SB p.15 · Reading 1</a:t>
            </a:r>
            <a:endParaRPr lang="en-US" sz="800" dirty="0"/>
          </a:p>
        </p:txBody>
      </p:sp>
      <p:sp>
        <p:nvSpPr>
          <p:cNvPr id="12" name="cd_235"/>
          <p:cNvSpPr/>
          <p:nvPr/>
        </p:nvSpPr>
        <p:spPr>
          <a:xfrm>
            <a:off x="320040" y="1417320"/>
            <a:ext cx="2697480" cy="1645920"/>
          </a:xfrm>
          <a:prstGeom prst="roundRect">
            <a:avLst>
              <a:gd name="adj" fmla="val 777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3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37"/>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238"/>
          <p:cNvSpPr/>
          <p:nvPr/>
        </p:nvSpPr>
        <p:spPr>
          <a:xfrm>
            <a:off x="886968" y="1911096"/>
            <a:ext cx="2039112" cy="10789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Read the article quickly (next slide).</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1 point for every name that is in the article!</a:t>
            </a:r>
            <a:endParaRPr lang="en-US" sz="1200" dirty="0"/>
          </a:p>
        </p:txBody>
      </p:sp>
      <p:sp>
        <p:nvSpPr>
          <p:cNvPr id="16" name="st_239"/>
          <p:cNvSpPr/>
          <p:nvPr/>
        </p:nvSpPr>
        <p:spPr>
          <a:xfrm rot="-180000">
            <a:off x="502920" y="3246120"/>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240"/>
          <p:cNvSpPr/>
          <p:nvPr/>
        </p:nvSpPr>
        <p:spPr>
          <a:xfrm>
            <a:off x="3246120" y="1572768"/>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8" name="gq_241"/>
          <p:cNvSpPr/>
          <p:nvPr/>
        </p:nvSpPr>
        <p:spPr>
          <a:xfrm>
            <a:off x="3657600" y="1417320"/>
            <a:ext cx="2514600" cy="640080"/>
          </a:xfrm>
          <a:prstGeom prst="roundRect">
            <a:avLst>
              <a:gd name="adj" fmla="val 14286"/>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e.g. 1950s</a:t>
            </a:r>
            <a:endParaRPr lang="en-US" sz="1250" dirty="0"/>
          </a:p>
        </p:txBody>
      </p:sp>
      <p:sp>
        <p:nvSpPr>
          <p:cNvPr id="19" name="chip_242"/>
          <p:cNvSpPr/>
          <p:nvPr/>
        </p:nvSpPr>
        <p:spPr>
          <a:xfrm>
            <a:off x="6263640" y="1417320"/>
            <a:ext cx="2560320" cy="640080"/>
          </a:xfrm>
          <a:prstGeom prst="roundRect">
            <a:avLst>
              <a:gd name="adj" fmla="val 14286"/>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Elvis Presley, Buddy Holly, The Supremes</a:t>
            </a:r>
            <a:endParaRPr lang="en-US" sz="1200" dirty="0"/>
          </a:p>
        </p:txBody>
      </p:sp>
      <p:sp>
        <p:nvSpPr>
          <p:cNvPr id="20" name="bd_243"/>
          <p:cNvSpPr/>
          <p:nvPr/>
        </p:nvSpPr>
        <p:spPr>
          <a:xfrm>
            <a:off x="3246120" y="227685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244"/>
          <p:cNvSpPr/>
          <p:nvPr/>
        </p:nvSpPr>
        <p:spPr>
          <a:xfrm>
            <a:off x="3657600" y="2121408"/>
            <a:ext cx="2514600" cy="640080"/>
          </a:xfrm>
          <a:prstGeom prst="roundRect">
            <a:avLst>
              <a:gd name="adj" fmla="val 1428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1960s–70s</a:t>
            </a:r>
            <a:endParaRPr lang="en-US" sz="1250" dirty="0"/>
          </a:p>
        </p:txBody>
      </p:sp>
      <p:sp>
        <p:nvSpPr>
          <p:cNvPr id="22" name="R1_chip245"/>
          <p:cNvSpPr/>
          <p:nvPr/>
        </p:nvSpPr>
        <p:spPr>
          <a:xfrm>
            <a:off x="6263640" y="2121408"/>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The Rolling Stones, The Beatles, Dusty Springfield, Joni Mitchell</a:t>
            </a:r>
            <a:endParaRPr lang="en-US" sz="1200" dirty="0"/>
          </a:p>
        </p:txBody>
      </p:sp>
      <p:sp>
        <p:nvSpPr>
          <p:cNvPr id="23" name="bd_246"/>
          <p:cNvSpPr/>
          <p:nvPr/>
        </p:nvSpPr>
        <p:spPr>
          <a:xfrm>
            <a:off x="3246120" y="298094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247"/>
          <p:cNvSpPr/>
          <p:nvPr/>
        </p:nvSpPr>
        <p:spPr>
          <a:xfrm>
            <a:off x="3657600" y="2825496"/>
            <a:ext cx="2514600" cy="640080"/>
          </a:xfrm>
          <a:prstGeom prst="roundRect">
            <a:avLst>
              <a:gd name="adj" fmla="val 1428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Late 70s – 80s</a:t>
            </a:r>
            <a:endParaRPr lang="en-US" sz="1250" dirty="0"/>
          </a:p>
        </p:txBody>
      </p:sp>
      <p:sp>
        <p:nvSpPr>
          <p:cNvPr id="25" name="R2_chip248"/>
          <p:cNvSpPr/>
          <p:nvPr/>
        </p:nvSpPr>
        <p:spPr>
          <a:xfrm>
            <a:off x="6263640" y="2825496"/>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The Clash, Debbie Harry, Patti Smith, Michael Jackson, Madonna, U2</a:t>
            </a:r>
            <a:endParaRPr lang="en-US" sz="1200" dirty="0"/>
          </a:p>
        </p:txBody>
      </p:sp>
      <p:sp>
        <p:nvSpPr>
          <p:cNvPr id="26" name="bd_249"/>
          <p:cNvSpPr/>
          <p:nvPr/>
        </p:nvSpPr>
        <p:spPr>
          <a:xfrm>
            <a:off x="3246120" y="3685032"/>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250"/>
          <p:cNvSpPr/>
          <p:nvPr/>
        </p:nvSpPr>
        <p:spPr>
          <a:xfrm>
            <a:off x="3657600" y="3529584"/>
            <a:ext cx="2514600" cy="640080"/>
          </a:xfrm>
          <a:prstGeom prst="roundRect">
            <a:avLst>
              <a:gd name="adj" fmla="val 1428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1990s</a:t>
            </a:r>
            <a:endParaRPr lang="en-US" sz="1250" dirty="0"/>
          </a:p>
        </p:txBody>
      </p:sp>
      <p:sp>
        <p:nvSpPr>
          <p:cNvPr id="28" name="R3_chip251"/>
          <p:cNvSpPr/>
          <p:nvPr/>
        </p:nvSpPr>
        <p:spPr>
          <a:xfrm>
            <a:off x="6263640" y="3529584"/>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Britney Spears, the Backstreet Boys, the Spice Girls</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52"/>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53"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254"/>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Fashion and music (1)</a:t>
            </a:r>
            <a:endParaRPr lang="en-US" sz="2500" dirty="0"/>
          </a:p>
        </p:txBody>
      </p:sp>
      <p:pic>
        <p:nvPicPr>
          <p:cNvPr id="6" name="brP_255" descr="/home/claude/lls-course/v2/assets/brush-pink.png">    </p:cNvPr>
          <p:cNvPicPr>
            <a:picLocks noChangeAspect="1"/>
          </p:cNvPicPr>
          <p:nvPr/>
        </p:nvPicPr>
        <p:blipFill>
          <a:blip r:embed="rId3"/>
          <a:stretch>
            <a:fillRect/>
          </a:stretch>
        </p:blipFill>
        <p:spPr>
          <a:xfrm>
            <a:off x="1207008" y="731520"/>
            <a:ext cx="4640580" cy="402336"/>
          </a:xfrm>
          <a:prstGeom prst="rect">
            <a:avLst/>
          </a:prstGeom>
        </p:spPr>
      </p:pic>
      <p:sp>
        <p:nvSpPr>
          <p:cNvPr id="7" name="ins_256"/>
          <p:cNvSpPr/>
          <p:nvPr/>
        </p:nvSpPr>
        <p:spPr>
          <a:xfrm>
            <a:off x="1353312" y="731520"/>
            <a:ext cx="438454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part 1. Choose A or B for questions 1–3.</a:t>
            </a:r>
            <a:endParaRPr lang="en-US" sz="1250" dirty="0"/>
          </a:p>
        </p:txBody>
      </p:sp>
      <p:sp>
        <p:nvSpPr>
          <p:cNvPr id="8" name="insIT_25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parte 1. Scegli A o B per le domande 1–3.</a:t>
            </a:r>
            <a:endParaRPr lang="en-US" sz="950" dirty="0"/>
          </a:p>
        </p:txBody>
      </p:sp>
      <p:sp>
        <p:nvSpPr>
          <p:cNvPr id="9" name="note_25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LEGGI</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alone</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for detail</a:t>
            </a:r>
            <a:endParaRPr lang="en-US" sz="1250" dirty="0"/>
          </a:p>
        </p:txBody>
      </p:sp>
      <p:pic>
        <p:nvPicPr>
          <p:cNvPr id="10" name="logo_25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6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Reading · detail (1)   ·   📖 SB p.15 · Reading 2 (the text is on the slide)</a:t>
            </a:r>
            <a:endParaRPr lang="en-US" sz="800" dirty="0"/>
          </a:p>
        </p:txBody>
      </p:sp>
      <p:sp>
        <p:nvSpPr>
          <p:cNvPr id="12" name="cd_261"/>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262"/>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Fashion and music</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Before the mid-1950s, there was no such thing as 'youth culture'. Most young people wore the same fashions as their parents, and they listened to the same kind of music. But that all changed with the arrival of rock 'n' roll.</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It started with the 1954 song Rock Around the Clock by Bill Haley and the Comets. Although the older generation didn't understand rock 'n' roll, teenagers fell in love with it straight away. It was a new sound – lively and exciting – and with it came new fashions in clothing. Young men wore smart suits with skinny ties, like the popular singers Buddy Holly and Elvis Presley. Young women liked groups such as The Supremes, and they wore loose-fitting skirts which looked great when they danced.</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In the 1960s, rock bands like The Rolling Stones became symbols of the growing youth culture. Young women wore very short 'mini skirts' – the older generation was shocked! The mid-1960s to the mid-70s was the hippie era. Young hippies were interested in peace and love, and they listened to The Beatles, Dusty Springfield and Joni Mitchell. Men and women alike had long hair and wore flowery clothing and sandals.</a:t>
            </a:r>
            <a:endParaRPr lang="en-US" sz="1000" dirty="0"/>
          </a:p>
        </p:txBody>
      </p:sp>
      <p:sp>
        <p:nvSpPr>
          <p:cNvPr id="14" name="R1_rdE263"/>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Fashion and music</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Before the mid-1950s, there was no such thing as 'youth culture'. Most young people wore the same fashions as their parents, and </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they listened to the same kind of music</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But that all changed with the arrival of rock 'n' roll.</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It started with the 1954 song Rock Around the Clock by Bill Haley and the Comets. Although the older generation didn't understand rock 'n' roll, teenagers fell in love with it straight away. It was a new sound – lively and exciting – and with it came new fashions in clothing. </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Young men wore smart suits with skinny ties, like the popular singers</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Buddy Holly and Elvis Presley. Young women liked groups such as The Supremes, and they wore loose-fitting skirts which looked great when they danced.</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In the 1960s, rock bands like The Rolling Stones became symbols of the growing youth culture. Young women wore very short 'mini skirts' – </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the older generation was shocked</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The mid-1960s to the mid-70s was the hippie era. Young hippies were interested in peace and love, and they listened to The Beatles, Dusty Springfield and Joni Mitchell. Men and women alike had long hair and wore flowery clothing and sandals.</a:t>
            </a:r>
            <a:endParaRPr lang="en-US" sz="1000" dirty="0"/>
          </a:p>
        </p:txBody>
      </p:sp>
      <p:sp>
        <p:nvSpPr>
          <p:cNvPr id="15" name="bd_264"/>
          <p:cNvSpPr/>
          <p:nvPr/>
        </p:nvSpPr>
        <p:spPr>
          <a:xfrm>
            <a:off x="6172200" y="1541526"/>
            <a:ext cx="274320" cy="27432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1</a:t>
            </a:r>
            <a:endParaRPr lang="en-US" sz="900" dirty="0"/>
          </a:p>
        </p:txBody>
      </p:sp>
      <p:sp>
        <p:nvSpPr>
          <p:cNvPr id="16" name="rq_265"/>
          <p:cNvSpPr/>
          <p:nvPr/>
        </p:nvSpPr>
        <p:spPr>
          <a:xfrm>
            <a:off x="6492240" y="1417320"/>
            <a:ext cx="2423160" cy="522732"/>
          </a:xfrm>
          <a:prstGeom prst="roundRect">
            <a:avLst>
              <a:gd name="adj" fmla="val 13994"/>
            </a:avLst>
          </a:prstGeom>
          <a:solidFill>
            <a:srgbClr val="FFFFFF"/>
          </a:solidFill>
          <a:ln w="28575">
            <a:solidFill>
              <a:srgbClr val="F7A6C4"/>
            </a:solidFill>
          </a:ln>
        </p:spPr>
        <p:txBody>
          <a:bodyPr wrap="square" lIns="76200" tIns="0" rIns="762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1 Before the 1950s, teenagers… A didn't listen to music very much. B listened to the same music as adults.</a:t>
            </a:r>
            <a:endParaRPr lang="en-US" sz="900" dirty="0"/>
          </a:p>
        </p:txBody>
      </p:sp>
      <p:sp>
        <p:nvSpPr>
          <p:cNvPr id="17" name="R1_chip266"/>
          <p:cNvSpPr/>
          <p:nvPr/>
        </p:nvSpPr>
        <p:spPr>
          <a:xfrm>
            <a:off x="6492240" y="1967484"/>
            <a:ext cx="2423160" cy="495300"/>
          </a:xfrm>
          <a:prstGeom prst="roundRect">
            <a:avLst>
              <a:gd name="adj" fmla="val 184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B – 'they listened to the same kind of music'</a:t>
            </a:r>
            <a:endParaRPr lang="en-US" sz="950" dirty="0"/>
          </a:p>
        </p:txBody>
      </p:sp>
      <p:sp>
        <p:nvSpPr>
          <p:cNvPr id="18" name="bd_267"/>
          <p:cNvSpPr/>
          <p:nvPr/>
        </p:nvSpPr>
        <p:spPr>
          <a:xfrm>
            <a:off x="6172200" y="2678430"/>
            <a:ext cx="274320" cy="27432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2</a:t>
            </a:r>
            <a:endParaRPr lang="en-US" sz="900" dirty="0"/>
          </a:p>
        </p:txBody>
      </p:sp>
      <p:sp>
        <p:nvSpPr>
          <p:cNvPr id="19" name="rq_268"/>
          <p:cNvSpPr/>
          <p:nvPr/>
        </p:nvSpPr>
        <p:spPr>
          <a:xfrm>
            <a:off x="6492240" y="2554224"/>
            <a:ext cx="2423160" cy="522732"/>
          </a:xfrm>
          <a:prstGeom prst="roundRect">
            <a:avLst>
              <a:gd name="adj" fmla="val 13994"/>
            </a:avLst>
          </a:prstGeom>
          <a:solidFill>
            <a:srgbClr val="FFFFFF"/>
          </a:solidFill>
          <a:ln w="28575">
            <a:solidFill>
              <a:srgbClr val="A9D3F5"/>
            </a:solidFill>
          </a:ln>
        </p:spPr>
        <p:txBody>
          <a:bodyPr wrap="square" lIns="76200" tIns="0" rIns="762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2 In the 1950s, teenage boys… A joined rock 'n' roll bands. B wore clothes similar to the pop stars.</a:t>
            </a:r>
            <a:endParaRPr lang="en-US" sz="900" dirty="0"/>
          </a:p>
        </p:txBody>
      </p:sp>
      <p:sp>
        <p:nvSpPr>
          <p:cNvPr id="20" name="R2_chip269"/>
          <p:cNvSpPr/>
          <p:nvPr/>
        </p:nvSpPr>
        <p:spPr>
          <a:xfrm>
            <a:off x="6492240" y="3104388"/>
            <a:ext cx="2423160" cy="495300"/>
          </a:xfrm>
          <a:prstGeom prst="roundRect">
            <a:avLst>
              <a:gd name="adj" fmla="val 184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B – 'smart suits with skinny ties, like the popular singers'</a:t>
            </a:r>
            <a:endParaRPr lang="en-US" sz="950" dirty="0"/>
          </a:p>
        </p:txBody>
      </p:sp>
      <p:sp>
        <p:nvSpPr>
          <p:cNvPr id="21" name="bd_270"/>
          <p:cNvSpPr/>
          <p:nvPr/>
        </p:nvSpPr>
        <p:spPr>
          <a:xfrm>
            <a:off x="6172200" y="3815334"/>
            <a:ext cx="274320" cy="27432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3</a:t>
            </a:r>
            <a:endParaRPr lang="en-US" sz="900" dirty="0"/>
          </a:p>
        </p:txBody>
      </p:sp>
      <p:sp>
        <p:nvSpPr>
          <p:cNvPr id="22" name="rq_271"/>
          <p:cNvSpPr/>
          <p:nvPr/>
        </p:nvSpPr>
        <p:spPr>
          <a:xfrm>
            <a:off x="6492240" y="3691128"/>
            <a:ext cx="2423160" cy="522732"/>
          </a:xfrm>
          <a:prstGeom prst="roundRect">
            <a:avLst>
              <a:gd name="adj" fmla="val 13994"/>
            </a:avLst>
          </a:prstGeom>
          <a:solidFill>
            <a:srgbClr val="FFFFFF"/>
          </a:solidFill>
          <a:ln w="28575">
            <a:solidFill>
              <a:srgbClr val="A8E5BE"/>
            </a:solidFill>
          </a:ln>
        </p:spPr>
        <p:txBody>
          <a:bodyPr wrap="square" lIns="76200" tIns="0" rIns="762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3 In the 1960s, A fashions shocked some people. B hippies wore mini skirts.</a:t>
            </a:r>
            <a:endParaRPr lang="en-US" sz="900" dirty="0"/>
          </a:p>
        </p:txBody>
      </p:sp>
      <p:sp>
        <p:nvSpPr>
          <p:cNvPr id="23" name="R3_chip272"/>
          <p:cNvSpPr/>
          <p:nvPr/>
        </p:nvSpPr>
        <p:spPr>
          <a:xfrm>
            <a:off x="6492240" y="4241292"/>
            <a:ext cx="2423160" cy="495300"/>
          </a:xfrm>
          <a:prstGeom prst="roundRect">
            <a:avLst>
              <a:gd name="adj" fmla="val 184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A – 'mini skirts – the older generation was shocked!'</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73"/>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274"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275"/>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Fashion and music (2)</a:t>
            </a:r>
            <a:endParaRPr lang="en-US" sz="2500" dirty="0"/>
          </a:p>
        </p:txBody>
      </p:sp>
      <p:pic>
        <p:nvPicPr>
          <p:cNvPr id="6" name="brP_276" descr="/home/claude/lls-course/v2/assets/brush-pink.png">    </p:cNvPr>
          <p:cNvPicPr>
            <a:picLocks noChangeAspect="1"/>
          </p:cNvPicPr>
          <p:nvPr/>
        </p:nvPicPr>
        <p:blipFill>
          <a:blip r:embed="rId3"/>
          <a:stretch>
            <a:fillRect/>
          </a:stretch>
        </p:blipFill>
        <p:spPr>
          <a:xfrm>
            <a:off x="1207008" y="731520"/>
            <a:ext cx="4640580" cy="402336"/>
          </a:xfrm>
          <a:prstGeom prst="rect">
            <a:avLst/>
          </a:prstGeom>
        </p:spPr>
      </p:pic>
      <p:sp>
        <p:nvSpPr>
          <p:cNvPr id="7" name="ins_277"/>
          <p:cNvSpPr/>
          <p:nvPr/>
        </p:nvSpPr>
        <p:spPr>
          <a:xfrm>
            <a:off x="1353312" y="731520"/>
            <a:ext cx="438454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part 2. Choose A or B for questions 4–6.</a:t>
            </a:r>
            <a:endParaRPr lang="en-US" sz="1250" dirty="0"/>
          </a:p>
        </p:txBody>
      </p:sp>
      <p:sp>
        <p:nvSpPr>
          <p:cNvPr id="8" name="insIT_27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parte 2. Scegli A o B per le domande 4–6.</a:t>
            </a:r>
            <a:endParaRPr lang="en-US" sz="950" dirty="0"/>
          </a:p>
        </p:txBody>
      </p:sp>
      <p:sp>
        <p:nvSpPr>
          <p:cNvPr id="9" name="note_27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LEGGI</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alone</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for detail</a:t>
            </a:r>
            <a:endParaRPr lang="en-US" sz="1250" dirty="0"/>
          </a:p>
        </p:txBody>
      </p:sp>
      <p:pic>
        <p:nvPicPr>
          <p:cNvPr id="10" name="logo_28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8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Reading · detail (2)   ·   📖 SB p.15 · Reading 2 (the text is on the slide)</a:t>
            </a:r>
            <a:endParaRPr lang="en-US" sz="800" dirty="0"/>
          </a:p>
        </p:txBody>
      </p:sp>
      <p:sp>
        <p:nvSpPr>
          <p:cNvPr id="12" name="cd_282"/>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283"/>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Fashion and music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punk music of the late 70s was loud and angry, and the trends matched the music. Punks wanted to shock people. They dressed in second-hand clothes, which they often tore to look more individual, and their hairstyles were colourful and messy. Teenagers were into bands like The Clash and singers like Debbie Harry and Patti Smith. In the 1980s, long curly hair and bright colours were trendy, and people listened to Michael Jackson, Madonna and U2.</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By the 1990s, teens were in love with the look and sound of singers like Britney Spears. It was also the decade of 'boy bands' and 'girl bands' – the Backstreet Boys and the Spice Girls were 'top of the pops'. Black American music called hip hop became popular internationally. Hip hop stars wore tracksuits, gold rings and necklaces, and they sang about having money and driving expensive cars.</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Today, people are interested in the styles of their favourite YouTubers and tunes by superstar DJs like Calvin Harris. Hollywood actors or bestselling singers such as Taylor Swift and Ed Sheeran are also popular. There are dozens of genres of rock and dance music and, thanks to the internet, music and clothing fashions are here today and gone tomorrow.</a:t>
            </a:r>
            <a:endParaRPr lang="en-US" sz="950" dirty="0"/>
          </a:p>
        </p:txBody>
      </p:sp>
      <p:sp>
        <p:nvSpPr>
          <p:cNvPr id="14" name="R1_rdE284"/>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Fashion and music</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punk music of the late 70s was loud and angry, and the trends matched the music. Punks wanted to shock people. </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They dressed in second-hand clothes</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which they often tore to look more individual, and their hairstyles were colourful and messy. Teenagers were into bands like The Clash and singers like Debbie Harry and Patti Smith. In the 1980s, long curly hair and bright colours were trendy, and people listened to Michael Jackson, Madonna and U2.</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By the 1990s, teens were in love with the look and sound of singers like Britney Spears. It was also the decade of 'boy bands' and 'girl bands' – the Backstreet Boys and the Spice Girls were 'top of the pops'. Black American music called hip hop became popular internationally. </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Hip hop stars wore tracksuits, gold rings and necklaces</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they sang about having money and driving expensive cars.</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Today, people are interested in </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the styles of their favourite YouTubers</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tunes by superstar DJs like Calvin Harris. Hollywood actors or bestselling singers such as Taylor Swift and Ed Sheeran are also popular. There are dozens of genres of rock and dance music and, thanks to the internet, music and clothing fashions are here today and gone tomorrow.</a:t>
            </a:r>
            <a:endParaRPr lang="en-US" sz="950" dirty="0"/>
          </a:p>
        </p:txBody>
      </p:sp>
      <p:sp>
        <p:nvSpPr>
          <p:cNvPr id="15" name="bd_285"/>
          <p:cNvSpPr/>
          <p:nvPr/>
        </p:nvSpPr>
        <p:spPr>
          <a:xfrm>
            <a:off x="6172200" y="1541526"/>
            <a:ext cx="274320" cy="27432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1</a:t>
            </a:r>
            <a:endParaRPr lang="en-US" sz="900" dirty="0"/>
          </a:p>
        </p:txBody>
      </p:sp>
      <p:sp>
        <p:nvSpPr>
          <p:cNvPr id="16" name="rq_286"/>
          <p:cNvSpPr/>
          <p:nvPr/>
        </p:nvSpPr>
        <p:spPr>
          <a:xfrm>
            <a:off x="6492240" y="1417320"/>
            <a:ext cx="2423160" cy="522732"/>
          </a:xfrm>
          <a:prstGeom prst="roundRect">
            <a:avLst>
              <a:gd name="adj" fmla="val 13994"/>
            </a:avLst>
          </a:prstGeom>
          <a:solidFill>
            <a:srgbClr val="FFFFFF"/>
          </a:solidFill>
          <a:ln w="28575">
            <a:solidFill>
              <a:srgbClr val="F7A6C4"/>
            </a:solidFill>
          </a:ln>
        </p:spPr>
        <p:txBody>
          <a:bodyPr wrap="square" lIns="76200" tIns="0" rIns="762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4 Punks in the late 70s… A wore colourful clothing. B didn't wear brand new clothes.</a:t>
            </a:r>
            <a:endParaRPr lang="en-US" sz="900" dirty="0"/>
          </a:p>
        </p:txBody>
      </p:sp>
      <p:sp>
        <p:nvSpPr>
          <p:cNvPr id="17" name="R1_chip287"/>
          <p:cNvSpPr/>
          <p:nvPr/>
        </p:nvSpPr>
        <p:spPr>
          <a:xfrm>
            <a:off x="6492240" y="1967484"/>
            <a:ext cx="2423160" cy="495300"/>
          </a:xfrm>
          <a:prstGeom prst="roundRect">
            <a:avLst>
              <a:gd name="adj" fmla="val 184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B – 'They dressed in second-hand clothes'</a:t>
            </a:r>
            <a:endParaRPr lang="en-US" sz="1050" dirty="0"/>
          </a:p>
        </p:txBody>
      </p:sp>
      <p:sp>
        <p:nvSpPr>
          <p:cNvPr id="18" name="bd_288"/>
          <p:cNvSpPr/>
          <p:nvPr/>
        </p:nvSpPr>
        <p:spPr>
          <a:xfrm>
            <a:off x="6172200" y="2678430"/>
            <a:ext cx="274320" cy="27432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2</a:t>
            </a:r>
            <a:endParaRPr lang="en-US" sz="900" dirty="0"/>
          </a:p>
        </p:txBody>
      </p:sp>
      <p:sp>
        <p:nvSpPr>
          <p:cNvPr id="19" name="rq_289"/>
          <p:cNvSpPr/>
          <p:nvPr/>
        </p:nvSpPr>
        <p:spPr>
          <a:xfrm>
            <a:off x="6492240" y="2554224"/>
            <a:ext cx="2423160" cy="522732"/>
          </a:xfrm>
          <a:prstGeom prst="roundRect">
            <a:avLst>
              <a:gd name="adj" fmla="val 13994"/>
            </a:avLst>
          </a:prstGeom>
          <a:solidFill>
            <a:srgbClr val="FFFFFF"/>
          </a:solidFill>
          <a:ln w="28575">
            <a:solidFill>
              <a:srgbClr val="A9D3F5"/>
            </a:solidFill>
          </a:ln>
        </p:spPr>
        <p:txBody>
          <a:bodyPr wrap="square" lIns="76200" tIns="0" rIns="762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5 Hip hop singers of the 1990s liked… A wearing jewellery. B wearing smart suits.</a:t>
            </a:r>
            <a:endParaRPr lang="en-US" sz="900" dirty="0"/>
          </a:p>
        </p:txBody>
      </p:sp>
      <p:sp>
        <p:nvSpPr>
          <p:cNvPr id="20" name="R2_chip290"/>
          <p:cNvSpPr/>
          <p:nvPr/>
        </p:nvSpPr>
        <p:spPr>
          <a:xfrm>
            <a:off x="6492240" y="3104388"/>
            <a:ext cx="2423160" cy="495300"/>
          </a:xfrm>
          <a:prstGeom prst="roundRect">
            <a:avLst>
              <a:gd name="adj" fmla="val 184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 'gold rings and necklaces'</a:t>
            </a:r>
            <a:endParaRPr lang="en-US" sz="1050" dirty="0"/>
          </a:p>
        </p:txBody>
      </p:sp>
      <p:sp>
        <p:nvSpPr>
          <p:cNvPr id="21" name="bd_291"/>
          <p:cNvSpPr/>
          <p:nvPr/>
        </p:nvSpPr>
        <p:spPr>
          <a:xfrm>
            <a:off x="6172200" y="3815334"/>
            <a:ext cx="274320" cy="27432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3</a:t>
            </a:r>
            <a:endParaRPr lang="en-US" sz="900" dirty="0"/>
          </a:p>
        </p:txBody>
      </p:sp>
      <p:sp>
        <p:nvSpPr>
          <p:cNvPr id="22" name="rq_292"/>
          <p:cNvSpPr/>
          <p:nvPr/>
        </p:nvSpPr>
        <p:spPr>
          <a:xfrm>
            <a:off x="6492240" y="3691128"/>
            <a:ext cx="2423160" cy="522732"/>
          </a:xfrm>
          <a:prstGeom prst="roundRect">
            <a:avLst>
              <a:gd name="adj" fmla="val 13994"/>
            </a:avLst>
          </a:prstGeom>
          <a:solidFill>
            <a:srgbClr val="FFFFFF"/>
          </a:solidFill>
          <a:ln w="28575">
            <a:solidFill>
              <a:srgbClr val="A8E5BE"/>
            </a:solidFill>
          </a:ln>
        </p:spPr>
        <p:txBody>
          <a:bodyPr wrap="square" lIns="76200" tIns="0" rIns="76200" bIns="0" rtlCol="0" anchor="ctr">
            <a:normAutofit/>
          </a:bodyPr>
          <a:lstStyle/>
          <a:p>
            <a:pPr indent="0" marL="0">
              <a:buNone/>
            </a:pPr>
            <a:r>
              <a:rPr lang="en-US" sz="800" b="1" dirty="0">
                <a:solidFill>
                  <a:srgbClr val="1B2559"/>
                </a:solidFill>
                <a:latin typeface="Segoe UI Semibold" pitchFamily="34" charset="0"/>
                <a:ea typeface="Segoe UI Semibold" pitchFamily="34" charset="-122"/>
                <a:cs typeface="Segoe UI Semibold" pitchFamily="34" charset="-120"/>
              </a:rPr>
              <a:t>6 Nowadays, people… A get their fashion ideas from YouTubers. B wear similar clothing to Taylor Swift and Ed Sheeran.</a:t>
            </a:r>
            <a:endParaRPr lang="en-US" sz="800" dirty="0"/>
          </a:p>
        </p:txBody>
      </p:sp>
      <p:sp>
        <p:nvSpPr>
          <p:cNvPr id="23" name="R3_chip293"/>
          <p:cNvSpPr/>
          <p:nvPr/>
        </p:nvSpPr>
        <p:spPr>
          <a:xfrm>
            <a:off x="6492240" y="4241292"/>
            <a:ext cx="2423160" cy="495300"/>
          </a:xfrm>
          <a:prstGeom prst="roundRect">
            <a:avLst>
              <a:gd name="adj" fmla="val 184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 'the styles of their favourite YouTubers'</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94"/>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295"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296"/>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Find the word</a:t>
            </a:r>
            <a:endParaRPr lang="en-US" sz="2500" dirty="0"/>
          </a:p>
        </p:txBody>
      </p:sp>
      <p:pic>
        <p:nvPicPr>
          <p:cNvPr id="6" name="brP_297"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98"/>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Find the highlighted words in the article. Say the full sentence.</a:t>
            </a:r>
            <a:endParaRPr lang="en-US" sz="1100" dirty="0"/>
          </a:p>
        </p:txBody>
      </p:sp>
      <p:sp>
        <p:nvSpPr>
          <p:cNvPr id="8" name="insIT_29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Trova le parole evidenziate nell'articolo. Di' la frase intera.</a:t>
            </a:r>
            <a:endParaRPr lang="en-US" sz="950" dirty="0"/>
          </a:p>
        </p:txBody>
      </p:sp>
      <p:sp>
        <p:nvSpPr>
          <p:cNvPr id="9" name="note_30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FIND</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TROVA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Guided discovery</a:t>
            </a:r>
            <a:endParaRPr lang="en-US" sz="1250" dirty="0"/>
          </a:p>
        </p:txBody>
      </p:sp>
      <p:pic>
        <p:nvPicPr>
          <p:cNvPr id="10" name="logo_30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0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Vocabulary · words from the text   ·   📖 SB p.15 · Reading 3</a:t>
            </a:r>
            <a:endParaRPr lang="en-US" sz="800" dirty="0"/>
          </a:p>
        </p:txBody>
      </p:sp>
      <p:sp>
        <p:nvSpPr>
          <p:cNvPr id="12" name="bd_303"/>
          <p:cNvSpPr/>
          <p:nvPr/>
        </p:nvSpPr>
        <p:spPr>
          <a:xfrm>
            <a:off x="548640" y="151333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3" name="q_304"/>
          <p:cNvSpPr/>
          <p:nvPr/>
        </p:nvSpPr>
        <p:spPr>
          <a:xfrm>
            <a:off x="932688" y="1417320"/>
            <a:ext cx="3291840" cy="502920"/>
          </a:xfrm>
          <a:prstGeom prst="roundRect">
            <a:avLst>
              <a:gd name="adj" fmla="val 1818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fashions or styles</a:t>
            </a:r>
            <a:endParaRPr lang="en-US" sz="1300" dirty="0"/>
          </a:p>
        </p:txBody>
      </p:sp>
      <p:sp>
        <p:nvSpPr>
          <p:cNvPr id="14" name="R1_chip305"/>
          <p:cNvSpPr/>
          <p:nvPr/>
        </p:nvSpPr>
        <p:spPr>
          <a:xfrm>
            <a:off x="4297680" y="141732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'the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trends</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matched the music.'</a:t>
            </a:r>
            <a:endParaRPr lang="en-US" sz="1200" dirty="0"/>
          </a:p>
        </p:txBody>
      </p:sp>
      <p:sp>
        <p:nvSpPr>
          <p:cNvPr id="15" name="bd_306"/>
          <p:cNvSpPr/>
          <p:nvPr/>
        </p:nvSpPr>
        <p:spPr>
          <a:xfrm>
            <a:off x="548640" y="206197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6" name="q_307"/>
          <p:cNvSpPr/>
          <p:nvPr/>
        </p:nvSpPr>
        <p:spPr>
          <a:xfrm>
            <a:off x="932688" y="1965960"/>
            <a:ext cx="3291840" cy="502920"/>
          </a:xfrm>
          <a:prstGeom prst="roundRect">
            <a:avLst>
              <a:gd name="adj" fmla="val 1818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pulled something in order to break it</a:t>
            </a:r>
            <a:endParaRPr lang="en-US" sz="1300" dirty="0"/>
          </a:p>
        </p:txBody>
      </p:sp>
      <p:sp>
        <p:nvSpPr>
          <p:cNvPr id="17" name="R2_chip308"/>
          <p:cNvSpPr/>
          <p:nvPr/>
        </p:nvSpPr>
        <p:spPr>
          <a:xfrm>
            <a:off x="4297680" y="196596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'second-hand clothes, which they often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tore</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(tear – tore)</a:t>
            </a:r>
            <a:endParaRPr lang="en-US" sz="1200" dirty="0"/>
          </a:p>
        </p:txBody>
      </p:sp>
      <p:sp>
        <p:nvSpPr>
          <p:cNvPr id="18" name="bd_309"/>
          <p:cNvSpPr/>
          <p:nvPr/>
        </p:nvSpPr>
        <p:spPr>
          <a:xfrm>
            <a:off x="548640" y="26106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19" name="q_310"/>
          <p:cNvSpPr/>
          <p:nvPr/>
        </p:nvSpPr>
        <p:spPr>
          <a:xfrm>
            <a:off x="932688" y="2514600"/>
            <a:ext cx="3291840" cy="502920"/>
          </a:xfrm>
          <a:prstGeom prst="roundRect">
            <a:avLst>
              <a:gd name="adj" fmla="val 1818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untidy or dirty</a:t>
            </a:r>
            <a:endParaRPr lang="en-US" sz="1300" dirty="0"/>
          </a:p>
        </p:txBody>
      </p:sp>
      <p:sp>
        <p:nvSpPr>
          <p:cNvPr id="20" name="R3_chip311"/>
          <p:cNvSpPr/>
          <p:nvPr/>
        </p:nvSpPr>
        <p:spPr>
          <a:xfrm>
            <a:off x="4297680" y="251460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'their hairstyles were colourful and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messy</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21" name="bd_312"/>
          <p:cNvSpPr/>
          <p:nvPr/>
        </p:nvSpPr>
        <p:spPr>
          <a:xfrm>
            <a:off x="548640" y="315925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2" name="q_313"/>
          <p:cNvSpPr/>
          <p:nvPr/>
        </p:nvSpPr>
        <p:spPr>
          <a:xfrm>
            <a:off x="932688" y="3063240"/>
            <a:ext cx="3291840" cy="502920"/>
          </a:xfrm>
          <a:prstGeom prst="roundRect">
            <a:avLst>
              <a:gd name="adj" fmla="val 1818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young people in general</a:t>
            </a:r>
            <a:endParaRPr lang="en-US" sz="1300" dirty="0"/>
          </a:p>
        </p:txBody>
      </p:sp>
      <p:sp>
        <p:nvSpPr>
          <p:cNvPr id="23" name="R4_chip314"/>
          <p:cNvSpPr/>
          <p:nvPr/>
        </p:nvSpPr>
        <p:spPr>
          <a:xfrm>
            <a:off x="4297680" y="306324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'there was no such thing as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youth</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culture.'</a:t>
            </a:r>
            <a:endParaRPr lang="en-US" sz="1200" dirty="0"/>
          </a:p>
        </p:txBody>
      </p:sp>
      <p:sp>
        <p:nvSpPr>
          <p:cNvPr id="24" name="bd_315"/>
          <p:cNvSpPr/>
          <p:nvPr/>
        </p:nvSpPr>
        <p:spPr>
          <a:xfrm>
            <a:off x="548640" y="370789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5" name="q_316"/>
          <p:cNvSpPr/>
          <p:nvPr/>
        </p:nvSpPr>
        <p:spPr>
          <a:xfrm>
            <a:off x="932688" y="3611880"/>
            <a:ext cx="3291840" cy="502920"/>
          </a:xfrm>
          <a:prstGeom prst="roundRect">
            <a:avLst>
              <a:gd name="adj" fmla="val 1818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someone's appearance</a:t>
            </a:r>
            <a:endParaRPr lang="en-US" sz="1300" dirty="0"/>
          </a:p>
        </p:txBody>
      </p:sp>
      <p:sp>
        <p:nvSpPr>
          <p:cNvPr id="26" name="R5_chip317"/>
          <p:cNvSpPr/>
          <p:nvPr/>
        </p:nvSpPr>
        <p:spPr>
          <a:xfrm>
            <a:off x="4297680" y="361188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'teens were in love with the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look</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and sound of singers'</a:t>
            </a:r>
            <a:endParaRPr lang="en-US" sz="1200" dirty="0"/>
          </a:p>
        </p:txBody>
      </p:sp>
      <p:sp>
        <p:nvSpPr>
          <p:cNvPr id="27" name="bd_318"/>
          <p:cNvSpPr/>
          <p:nvPr/>
        </p:nvSpPr>
        <p:spPr>
          <a:xfrm>
            <a:off x="548640" y="425653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28" name="q_319"/>
          <p:cNvSpPr/>
          <p:nvPr/>
        </p:nvSpPr>
        <p:spPr>
          <a:xfrm>
            <a:off x="932688" y="4160520"/>
            <a:ext cx="3291840" cy="502920"/>
          </a:xfrm>
          <a:prstGeom prst="roundRect">
            <a:avLst>
              <a:gd name="adj" fmla="val 1818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what people wear in general</a:t>
            </a:r>
            <a:endParaRPr lang="en-US" sz="1300" dirty="0"/>
          </a:p>
        </p:txBody>
      </p:sp>
      <p:sp>
        <p:nvSpPr>
          <p:cNvPr id="29" name="R6_chip320"/>
          <p:cNvSpPr/>
          <p:nvPr/>
        </p:nvSpPr>
        <p:spPr>
          <a:xfrm>
            <a:off x="4297680" y="416052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'new fashions in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clothing</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21"/>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22"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323"/>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Which decade?</a:t>
            </a:r>
            <a:endParaRPr lang="en-US" sz="2400" dirty="0"/>
          </a:p>
        </p:txBody>
      </p:sp>
      <p:pic>
        <p:nvPicPr>
          <p:cNvPr id="6" name="brP_324" descr="/home/claude/lls-course/v2/assets/brush-pink.png">    </p:cNvPr>
          <p:cNvPicPr>
            <a:picLocks noChangeAspect="1"/>
          </p:cNvPicPr>
          <p:nvPr/>
        </p:nvPicPr>
        <p:blipFill>
          <a:blip r:embed="rId3"/>
          <a:stretch>
            <a:fillRect/>
          </a:stretch>
        </p:blipFill>
        <p:spPr>
          <a:xfrm>
            <a:off x="1207008" y="731520"/>
            <a:ext cx="4814316" cy="402336"/>
          </a:xfrm>
          <a:prstGeom prst="rect">
            <a:avLst/>
          </a:prstGeom>
        </p:spPr>
      </p:pic>
      <p:sp>
        <p:nvSpPr>
          <p:cNvPr id="7" name="ins_325"/>
          <p:cNvSpPr/>
          <p:nvPr/>
        </p:nvSpPr>
        <p:spPr>
          <a:xfrm>
            <a:off x="1353312" y="731520"/>
            <a:ext cx="455828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Teams: which decade? Then say it in a sentence!</a:t>
            </a:r>
            <a:endParaRPr lang="en-US" sz="1250" dirty="0"/>
          </a:p>
        </p:txBody>
      </p:sp>
      <p:sp>
        <p:nvSpPr>
          <p:cNvPr id="8" name="insIT_32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Squadre: quale decennio? Poi dillo in una frase!</a:t>
            </a:r>
            <a:endParaRPr lang="en-US" sz="950" dirty="0"/>
          </a:p>
        </p:txBody>
      </p:sp>
      <p:sp>
        <p:nvSpPr>
          <p:cNvPr id="9" name="note_32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 game</a:t>
            </a:r>
            <a:endParaRPr lang="en-US" sz="1250" dirty="0"/>
          </a:p>
        </p:txBody>
      </p:sp>
      <p:pic>
        <p:nvPicPr>
          <p:cNvPr id="10" name="logo_32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2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Game · fashion through time   ·   📖 SB p.15 · recycles the article</a:t>
            </a:r>
            <a:endParaRPr lang="en-US" sz="800" dirty="0"/>
          </a:p>
        </p:txBody>
      </p:sp>
      <p:sp>
        <p:nvSpPr>
          <p:cNvPr id="12" name="cd_330"/>
          <p:cNvSpPr/>
          <p:nvPr/>
        </p:nvSpPr>
        <p:spPr>
          <a:xfrm>
            <a:off x="320040" y="1417320"/>
            <a:ext cx="2697480" cy="1917192"/>
          </a:xfrm>
          <a:prstGeom prst="roundRect">
            <a:avLst>
              <a:gd name="adj" fmla="val 66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33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332"/>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333"/>
          <p:cNvSpPr/>
          <p:nvPr/>
        </p:nvSpPr>
        <p:spPr>
          <a:xfrm>
            <a:off x="886968" y="1911096"/>
            <a:ext cx="2039112" cy="1350264"/>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Teacher reads the clue.</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Say the decade = 1 point.</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Past simple sentence = 1 more point!</a:t>
            </a:r>
            <a:endParaRPr lang="en-US" sz="1200" dirty="0"/>
          </a:p>
        </p:txBody>
      </p:sp>
      <p:sp>
        <p:nvSpPr>
          <p:cNvPr id="16" name="pf_334"/>
          <p:cNvSpPr/>
          <p:nvPr/>
        </p:nvSpPr>
        <p:spPr>
          <a:xfrm rot="-120000">
            <a:off x="1366520" y="3471672"/>
            <a:ext cx="558800" cy="1143000"/>
          </a:xfrm>
          <a:prstGeom prst="roundRect">
            <a:avLst>
              <a:gd name="adj" fmla="val 278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335" descr="/home/claude/lls-course/v2/cache/prep2_rocker_jpg_112x253_31.png">    </p:cNvPr>
          <p:cNvPicPr>
            <a:picLocks noChangeAspect="1"/>
          </p:cNvPicPr>
          <p:nvPr/>
        </p:nvPicPr>
        <p:blipFill>
          <a:blip r:embed="rId5"/>
          <a:stretch>
            <a:fillRect/>
          </a:stretch>
        </p:blipFill>
        <p:spPr>
          <a:xfrm rot="-120000">
            <a:off x="1412240" y="3517392"/>
            <a:ext cx="467360" cy="1051560"/>
          </a:xfrm>
          <a:prstGeom prst="rect">
            <a:avLst/>
          </a:prstGeom>
        </p:spPr>
      </p:pic>
      <p:sp>
        <p:nvSpPr>
          <p:cNvPr id="18" name="bd_336"/>
          <p:cNvSpPr/>
          <p:nvPr/>
        </p:nvSpPr>
        <p:spPr>
          <a:xfrm>
            <a:off x="3246120" y="149123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9" name="gq_337"/>
          <p:cNvSpPr/>
          <p:nvPr/>
        </p:nvSpPr>
        <p:spPr>
          <a:xfrm>
            <a:off x="3657600" y="1417320"/>
            <a:ext cx="251460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smart suits and skinny ties</a:t>
            </a:r>
            <a:endParaRPr lang="en-US" sz="1250" dirty="0"/>
          </a:p>
        </p:txBody>
      </p:sp>
      <p:sp>
        <p:nvSpPr>
          <p:cNvPr id="20" name="chip_338"/>
          <p:cNvSpPr/>
          <p:nvPr/>
        </p:nvSpPr>
        <p:spPr>
          <a:xfrm>
            <a:off x="6263640" y="1417320"/>
            <a:ext cx="256032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1950s – 'Young men wore smart suits.'</a:t>
            </a:r>
            <a:endParaRPr lang="en-US" sz="1200" dirty="0"/>
          </a:p>
        </p:txBody>
      </p:sp>
      <p:sp>
        <p:nvSpPr>
          <p:cNvPr id="21" name="bd_339"/>
          <p:cNvSpPr/>
          <p:nvPr/>
        </p:nvSpPr>
        <p:spPr>
          <a:xfrm>
            <a:off x="3246120" y="203225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340"/>
          <p:cNvSpPr/>
          <p:nvPr/>
        </p:nvSpPr>
        <p:spPr>
          <a:xfrm>
            <a:off x="3657600" y="195834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mini skirts</a:t>
            </a:r>
            <a:endParaRPr lang="en-US" sz="1250" dirty="0"/>
          </a:p>
        </p:txBody>
      </p:sp>
      <p:sp>
        <p:nvSpPr>
          <p:cNvPr id="23" name="R1_chip341"/>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1960s – 'Young women wore very short skirts.'</a:t>
            </a:r>
            <a:endParaRPr lang="en-US" sz="1200" dirty="0"/>
          </a:p>
        </p:txBody>
      </p:sp>
      <p:sp>
        <p:nvSpPr>
          <p:cNvPr id="24" name="bd_342"/>
          <p:cNvSpPr/>
          <p:nvPr/>
        </p:nvSpPr>
        <p:spPr>
          <a:xfrm>
            <a:off x="3246120" y="257327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343"/>
          <p:cNvSpPr/>
          <p:nvPr/>
        </p:nvSpPr>
        <p:spPr>
          <a:xfrm>
            <a:off x="3657600" y="249936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long hair, flowery clothing and sandals</a:t>
            </a:r>
            <a:endParaRPr lang="en-US" sz="1250" dirty="0"/>
          </a:p>
        </p:txBody>
      </p:sp>
      <p:sp>
        <p:nvSpPr>
          <p:cNvPr id="26" name="R2_chip344"/>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mid-60s to mid-70s (hippies)</a:t>
            </a:r>
            <a:endParaRPr lang="en-US" sz="1200" dirty="0"/>
          </a:p>
        </p:txBody>
      </p:sp>
      <p:sp>
        <p:nvSpPr>
          <p:cNvPr id="27" name="bd_345"/>
          <p:cNvSpPr/>
          <p:nvPr/>
        </p:nvSpPr>
        <p:spPr>
          <a:xfrm>
            <a:off x="3246120" y="311429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346"/>
          <p:cNvSpPr/>
          <p:nvPr/>
        </p:nvSpPr>
        <p:spPr>
          <a:xfrm>
            <a:off x="3657600" y="304038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torn second-hand clothes, messy hair</a:t>
            </a:r>
            <a:endParaRPr lang="en-US" sz="1250" dirty="0"/>
          </a:p>
        </p:txBody>
      </p:sp>
      <p:sp>
        <p:nvSpPr>
          <p:cNvPr id="29" name="R3_chip347"/>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late 70s (punks)</a:t>
            </a:r>
            <a:endParaRPr lang="en-US" sz="1200" dirty="0"/>
          </a:p>
        </p:txBody>
      </p:sp>
      <p:sp>
        <p:nvSpPr>
          <p:cNvPr id="30" name="bd_348"/>
          <p:cNvSpPr/>
          <p:nvPr/>
        </p:nvSpPr>
        <p:spPr>
          <a:xfrm>
            <a:off x="3246120" y="365531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349"/>
          <p:cNvSpPr/>
          <p:nvPr/>
        </p:nvSpPr>
        <p:spPr>
          <a:xfrm>
            <a:off x="3657600" y="358140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long curly hair and bright colours</a:t>
            </a:r>
            <a:endParaRPr lang="en-US" sz="1250" dirty="0"/>
          </a:p>
        </p:txBody>
      </p:sp>
      <p:sp>
        <p:nvSpPr>
          <p:cNvPr id="32" name="R4_chip350"/>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1980s</a:t>
            </a:r>
            <a:endParaRPr lang="en-US" sz="1200" dirty="0"/>
          </a:p>
        </p:txBody>
      </p:sp>
      <p:sp>
        <p:nvSpPr>
          <p:cNvPr id="33" name="bd_351"/>
          <p:cNvSpPr/>
          <p:nvPr/>
        </p:nvSpPr>
        <p:spPr>
          <a:xfrm>
            <a:off x="3246120" y="41963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352"/>
          <p:cNvSpPr/>
          <p:nvPr/>
        </p:nvSpPr>
        <p:spPr>
          <a:xfrm>
            <a:off x="3657600" y="41224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tracksuits, gold rings and necklaces</a:t>
            </a:r>
            <a:endParaRPr lang="en-US" sz="1250" dirty="0"/>
          </a:p>
        </p:txBody>
      </p:sp>
      <p:sp>
        <p:nvSpPr>
          <p:cNvPr id="35" name="R5_chip353"/>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1990s (hip hop)</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4"/>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355"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356"/>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Talking points</a:t>
            </a:r>
            <a:endParaRPr lang="en-US" sz="2500" dirty="0"/>
          </a:p>
        </p:txBody>
      </p:sp>
      <p:pic>
        <p:nvPicPr>
          <p:cNvPr id="6" name="brP_357" descr="/home/claude/lls-course/v2/assets/brush-pink.png">    </p:cNvPr>
          <p:cNvPicPr>
            <a:picLocks noChangeAspect="1"/>
          </p:cNvPicPr>
          <p:nvPr/>
        </p:nvPicPr>
        <p:blipFill>
          <a:blip r:embed="rId3"/>
          <a:stretch>
            <a:fillRect/>
          </a:stretch>
        </p:blipFill>
        <p:spPr>
          <a:xfrm>
            <a:off x="1207008" y="731520"/>
            <a:ext cx="5161788" cy="402336"/>
          </a:xfrm>
          <a:prstGeom prst="rect">
            <a:avLst/>
          </a:prstGeom>
        </p:spPr>
      </p:pic>
      <p:sp>
        <p:nvSpPr>
          <p:cNvPr id="7" name="ins_358"/>
          <p:cNvSpPr/>
          <p:nvPr/>
        </p:nvSpPr>
        <p:spPr>
          <a:xfrm>
            <a:off x="1353312" y="731520"/>
            <a:ext cx="490575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Discuss in groups. Agree or disagree – and say why!</a:t>
            </a:r>
            <a:endParaRPr lang="en-US" sz="1250" dirty="0"/>
          </a:p>
        </p:txBody>
      </p:sp>
      <p:sp>
        <p:nvSpPr>
          <p:cNvPr id="8" name="insIT_35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Discutete in gruppi. D'accordo o no – e perché!</a:t>
            </a:r>
            <a:endParaRPr lang="en-US" sz="950" dirty="0"/>
          </a:p>
        </p:txBody>
      </p:sp>
      <p:sp>
        <p:nvSpPr>
          <p:cNvPr id="9" name="note_36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groups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36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6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Speaking · talking points   ·   📖 SB p.15 · Talking points</a:t>
            </a:r>
            <a:endParaRPr lang="en-US" sz="800" dirty="0"/>
          </a:p>
        </p:txBody>
      </p:sp>
      <p:sp>
        <p:nvSpPr>
          <p:cNvPr id="12" name="pf_363"/>
          <p:cNvSpPr/>
          <p:nvPr/>
        </p:nvSpPr>
        <p:spPr>
          <a:xfrm rot="-120000">
            <a:off x="1276004" y="1371600"/>
            <a:ext cx="876993" cy="1325880"/>
          </a:xfrm>
          <a:prstGeom prst="roundRect">
            <a:avLst>
              <a:gd name="adj" fmla="val 17725"/>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364" descr="/home/claude/lls-course/v2/cache/prep2_hiphop_jpg_189x297_31.png">    </p:cNvPr>
          <p:cNvPicPr>
            <a:picLocks noChangeAspect="1"/>
          </p:cNvPicPr>
          <p:nvPr/>
        </p:nvPicPr>
        <p:blipFill>
          <a:blip r:embed="rId5"/>
          <a:stretch>
            <a:fillRect/>
          </a:stretch>
        </p:blipFill>
        <p:spPr>
          <a:xfrm rot="-120000">
            <a:off x="1321724" y="1417320"/>
            <a:ext cx="785553" cy="1234440"/>
          </a:xfrm>
          <a:prstGeom prst="rect">
            <a:avLst/>
          </a:prstGeom>
        </p:spPr>
      </p:pic>
      <p:sp>
        <p:nvSpPr>
          <p:cNvPr id="14" name="cd_365"/>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366"/>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67"/>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368"/>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I think young people want to…</a:t>
            </a:r>
            <a:endParaRPr lang="en-US" sz="1000" dirty="0"/>
          </a:p>
          <a:p>
            <a:pPr marL="152400" indent="-152400">
              <a:spcBef>
                <a:spcPts val="6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Because they want to look like…</a:t>
            </a:r>
            <a:endParaRPr lang="en-US" sz="1000" dirty="0"/>
          </a:p>
          <a:p>
            <a:pPr marL="152400" indent="-152400">
              <a:spcBef>
                <a:spcPts val="6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I agree / I don't agree because…</a:t>
            </a:r>
            <a:endParaRPr lang="en-US" sz="1000" dirty="0"/>
          </a:p>
          <a:p>
            <a:pPr marL="152400" indent="-152400">
              <a:spcBef>
                <a:spcPts val="6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My parents would never wear…</a:t>
            </a:r>
            <a:endParaRPr lang="en-US" sz="1000" dirty="0"/>
          </a:p>
        </p:txBody>
      </p:sp>
      <p:sp>
        <p:nvSpPr>
          <p:cNvPr id="18" name="R1_qb369"/>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370"/>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Why do young people like to dress differently from their parents and grandparents?</a:t>
            </a:r>
            <a:endParaRPr lang="en-US" sz="95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e.g. Because they want to look individual.</a:t>
            </a:r>
            <a:endParaRPr lang="en-US" sz="950" dirty="0"/>
          </a:p>
        </p:txBody>
      </p:sp>
      <p:sp>
        <p:nvSpPr>
          <p:cNvPr id="20" name="R2_qb371"/>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372"/>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Why do you think people choose to dress like music stars?</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Because they want to be like them – and it's trendy.</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73"/>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374"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375"/>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376"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377"/>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Tell your partner…</a:t>
            </a:r>
            <a:endParaRPr lang="en-US" sz="1250" dirty="0"/>
          </a:p>
        </p:txBody>
      </p:sp>
      <p:sp>
        <p:nvSpPr>
          <p:cNvPr id="8" name="insIT_37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Di' al compagno…</a:t>
            </a:r>
            <a:endParaRPr lang="en-US" sz="950" dirty="0"/>
          </a:p>
        </p:txBody>
      </p:sp>
      <p:sp>
        <p:nvSpPr>
          <p:cNvPr id="9" name="note_379"/>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0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00" dirty="0"/>
          </a:p>
        </p:txBody>
      </p:sp>
      <p:pic>
        <p:nvPicPr>
          <p:cNvPr id="10" name="logo_38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8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Exit · what can you remember?</a:t>
            </a:r>
            <a:endParaRPr lang="en-US" sz="800" dirty="0"/>
          </a:p>
        </p:txBody>
      </p:sp>
      <p:sp>
        <p:nvSpPr>
          <p:cNvPr id="12" name="bd_382"/>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3" name="rt_383"/>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clothes adjectives and their opposites.</a:t>
            </a:r>
            <a:endParaRPr lang="en-US" sz="1400" dirty="0"/>
          </a:p>
        </p:txBody>
      </p:sp>
      <p:sp>
        <p:nvSpPr>
          <p:cNvPr id="14" name="bd_384"/>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5" name="rt_385"/>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fashions from the article and their decades.</a:t>
            </a:r>
            <a:endParaRPr lang="en-US" sz="1400" dirty="0"/>
          </a:p>
        </p:txBody>
      </p:sp>
      <p:sp>
        <p:nvSpPr>
          <p:cNvPr id="16" name="bd_386"/>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7" name="rt_387"/>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thing you're wearing today – with an adjective.</a:t>
            </a:r>
            <a:endParaRPr lang="en-US" sz="1400" dirty="0"/>
          </a:p>
        </p:txBody>
      </p:sp>
      <p:sp>
        <p:nvSpPr>
          <p:cNvPr id="18" name="cd_388"/>
          <p:cNvSpPr/>
          <p:nvPr/>
        </p:nvSpPr>
        <p:spPr>
          <a:xfrm>
            <a:off x="5669280" y="1417320"/>
            <a:ext cx="3200400" cy="1453896"/>
          </a:xfrm>
          <a:prstGeom prst="roundRect">
            <a:avLst>
              <a:gd name="adj" fmla="val 880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9" name="ii_389"/>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390"/>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1" name="il_391"/>
          <p:cNvSpPr/>
          <p:nvPr/>
        </p:nvSpPr>
        <p:spPr>
          <a:xfrm>
            <a:off x="6236208" y="1911096"/>
            <a:ext cx="2542032" cy="8869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Workbook p.8: exercises 1–4 (clothes adjectives)</a:t>
            </a:r>
            <a:endParaRPr lang="en-US" sz="1050" dirty="0"/>
          </a:p>
          <a:p>
            <a:pPr marL="152400" indent="-152400">
              <a:spcBef>
                <a:spcPts val="6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Workbook p.9: read 'What do you think about shoes?', exercises 1–4</a:t>
            </a:r>
            <a:endParaRPr lang="en-US" sz="1050" dirty="0"/>
          </a:p>
        </p:txBody>
      </p:sp>
      <p:sp>
        <p:nvSpPr>
          <p:cNvPr id="22" name="st_392"/>
          <p:cNvSpPr/>
          <p:nvPr/>
        </p:nvSpPr>
        <p:spPr>
          <a:xfrm rot="-180000">
            <a:off x="5806440" y="3099816"/>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past simple · adverbs (SB p.16)</a:t>
            </a:r>
            <a:endParaRPr lang="en-US" sz="1100" dirty="0"/>
          </a:p>
        </p:txBody>
      </p:sp>
    </p:spTree>
  </p:cSld>
  <p:clrMapOvr>
    <a:masterClrMapping/>
  </p:clrMapOvr>
  <p:transition spd="med">
    <p:push dir="l"/>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93"/>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394"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395"/>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396"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397"/>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39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note_39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PENSA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1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Reflection</a:t>
            </a:r>
            <a:endParaRPr lang="en-US" sz="1250" dirty="0"/>
          </a:p>
        </p:txBody>
      </p:sp>
      <p:pic>
        <p:nvPicPr>
          <p:cNvPr id="10" name="logo_40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0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Review · what did you do today?</a:t>
            </a:r>
            <a:endParaRPr lang="en-US" sz="800" dirty="0"/>
          </a:p>
        </p:txBody>
      </p:sp>
      <p:sp>
        <p:nvSpPr>
          <p:cNvPr id="12" name="cd_402"/>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te_403"/>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t_404"/>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Described clothes with 10 new adjectives</a:t>
            </a:r>
            <a:endParaRPr lang="en-US" sz="1350" dirty="0"/>
          </a:p>
        </p:txBody>
      </p:sp>
      <p:sp>
        <p:nvSpPr>
          <p:cNvPr id="15" name="R1_tk405"/>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cd_406"/>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te_407"/>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t_408"/>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what famous people are wearing</a:t>
            </a:r>
            <a:endParaRPr lang="en-US" sz="1350" dirty="0"/>
          </a:p>
        </p:txBody>
      </p:sp>
      <p:sp>
        <p:nvSpPr>
          <p:cNvPr id="19" name="R2_tk409"/>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cd_410"/>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te_411"/>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t_412"/>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'Fashion and music'</a:t>
            </a:r>
            <a:endParaRPr lang="en-US" sz="1350" dirty="0"/>
          </a:p>
        </p:txBody>
      </p:sp>
      <p:sp>
        <p:nvSpPr>
          <p:cNvPr id="23" name="R3_tk413"/>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cd_414"/>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te_415"/>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t_416"/>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Practised match the fashions to the decades</a:t>
            </a:r>
            <a:endParaRPr lang="en-US" sz="1350" dirty="0"/>
          </a:p>
        </p:txBody>
      </p:sp>
      <p:sp>
        <p:nvSpPr>
          <p:cNvPr id="27" name="R4_tk417"/>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cd_418"/>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te_419"/>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t_420"/>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why young people dress like music stars</a:t>
            </a:r>
            <a:endParaRPr lang="en-US" sz="1350" dirty="0"/>
          </a:p>
        </p:txBody>
      </p:sp>
      <p:sp>
        <p:nvSpPr>
          <p:cNvPr id="31" name="R5_tk421"/>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st_422"/>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dv_423"/>
          <p:cNvSpPr/>
          <p:nvPr/>
        </p:nvSpPr>
        <p:spPr>
          <a:xfrm>
            <a:off x="4023360" y="914400"/>
            <a:ext cx="1097280" cy="91440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4" name="dvt_424"/>
          <p:cNvSpPr/>
          <p:nvPr/>
        </p:nvSpPr>
        <p:spPr>
          <a:xfrm>
            <a:off x="914400" y="1828800"/>
            <a:ext cx="7315200" cy="731520"/>
          </a:xfrm>
          <a:prstGeom prst="rect">
            <a:avLst/>
          </a:prstGeom>
          <a:noFill/>
          <a:ln/>
        </p:spPr>
        <p:txBody>
          <a:bodyPr wrap="square" lIns="0" tIns="0" rIns="0" bIns="0" rtlCol="0" anchor="ctr"/>
          <a:lstStyle/>
          <a:p>
            <a:pPr algn="ctr" indent="0" marL="0">
              <a:buNone/>
            </a:pPr>
            <a:r>
              <a:rPr lang="en-US" sz="3400" dirty="0">
                <a:solidFill>
                  <a:srgbClr val="1B2559"/>
                </a:solidFill>
                <a:latin typeface="Arial Rounded MT Bold" pitchFamily="34" charset="0"/>
                <a:ea typeface="Arial Rounded MT Bold" pitchFamily="34" charset="-122"/>
                <a:cs typeface="Arial Rounded MT Bold" pitchFamily="34" charset="-120"/>
              </a:rPr>
              <a:t>Optional extensions</a:t>
            </a:r>
            <a:endParaRPr lang="en-US" sz="3400" dirty="0"/>
          </a:p>
        </p:txBody>
      </p:sp>
      <p:sp>
        <p:nvSpPr>
          <p:cNvPr id="5" name="dvs_425"/>
          <p:cNvSpPr/>
          <p:nvPr/>
        </p:nvSpPr>
        <p:spPr>
          <a:xfrm>
            <a:off x="914400" y="2606040"/>
            <a:ext cx="7315200" cy="457200"/>
          </a:xfrm>
          <a:prstGeom prst="rect">
            <a:avLst/>
          </a:prstGeom>
          <a:noFill/>
          <a:ln/>
        </p:spPr>
        <p:txBody>
          <a:bodyPr wrap="square" lIns="0" tIns="0" rIns="0" bIns="0" rtlCol="0" anchor="ctr"/>
          <a:lstStyle/>
          <a:p>
            <a:pPr algn="ctr" indent="0" marL="0">
              <a:buNone/>
            </a:pPr>
            <a:r>
              <a:rPr lang="en-US" sz="1250" i="1" dirty="0">
                <a:solidFill>
                  <a:srgbClr val="5B6785"/>
                </a:solidFill>
                <a:latin typeface="Segoe UI Semibold" pitchFamily="34" charset="0"/>
                <a:ea typeface="Segoe UI Semibold" pitchFamily="34" charset="-122"/>
                <a:cs typeface="Segoe UI Semibold" pitchFamily="34" charset="-120"/>
              </a:rPr>
              <a:t>Only if there's time – the lesson is finished. · Solo se c'è tempo – la lezione è finita.</a:t>
            </a:r>
            <a:endParaRPr lang="en-US" sz="1250" dirty="0"/>
          </a:p>
        </p:txBody>
      </p:sp>
      <p:pic>
        <p:nvPicPr>
          <p:cNvPr id="6" name="logo_426" descr="/home/claude/lls-course/v2/img/logo.png">    </p:cNvPr>
          <p:cNvPicPr>
            <a:picLocks noChangeAspect="1"/>
          </p:cNvPicPr>
          <p:nvPr/>
        </p:nvPicPr>
        <p:blipFill>
          <a:blip r:embed="rId2"/>
          <a:stretch>
            <a:fillRect/>
          </a:stretch>
        </p:blipFill>
        <p:spPr>
          <a:xfrm>
            <a:off x="8485632" y="4526280"/>
            <a:ext cx="502920" cy="502920"/>
          </a:xfrm>
          <a:prstGeom prst="rect">
            <a:avLst/>
          </a:prstGeom>
        </p:spPr>
      </p:pic>
    </p:spTree>
  </p:cSld>
  <p:clrMapOvr>
    <a:masterClrMapping/>
  </p:clrMapOvr>
  <p:transition spd="med">
    <p:push dir="l"/>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7"/>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428"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429"/>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Who is it?</a:t>
            </a:r>
            <a:endParaRPr lang="en-US" sz="2500" dirty="0"/>
          </a:p>
        </p:txBody>
      </p:sp>
      <p:pic>
        <p:nvPicPr>
          <p:cNvPr id="6" name="brP_43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43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Write a description of a classmate's clothes. The class guesses who it is!</a:t>
            </a:r>
            <a:endParaRPr lang="en-US" sz="1100" dirty="0"/>
          </a:p>
        </p:txBody>
      </p:sp>
      <p:sp>
        <p:nvSpPr>
          <p:cNvPr id="8" name="insIT_43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Descrivi i vestiti di un compagno. La classe indovina chi è!</a:t>
            </a:r>
            <a:endParaRPr lang="en-US" sz="950" dirty="0"/>
          </a:p>
        </p:txBody>
      </p:sp>
      <p:sp>
        <p:nvSpPr>
          <p:cNvPr id="9" name="note_43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PLAY</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 game</a:t>
            </a:r>
            <a:endParaRPr lang="en-US" sz="1150" dirty="0"/>
          </a:p>
        </p:txBody>
      </p:sp>
      <p:pic>
        <p:nvPicPr>
          <p:cNvPr id="10" name="logo_43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3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2A · Cooler · who is it?   ·   📖 TB p.27 · cooler</a:t>
            </a:r>
            <a:endParaRPr lang="en-US" sz="800" dirty="0"/>
          </a:p>
        </p:txBody>
      </p:sp>
      <p:sp>
        <p:nvSpPr>
          <p:cNvPr id="12" name="ext_436"/>
          <p:cNvSpPr/>
          <p:nvPr/>
        </p:nvSpPr>
        <p:spPr>
          <a:xfrm>
            <a:off x="5120640" y="4727448"/>
            <a:ext cx="3291840" cy="310896"/>
          </a:xfrm>
          <a:prstGeom prst="roundRect">
            <a:avLst>
              <a:gd name="adj" fmla="val 50000"/>
            </a:avLst>
          </a:prstGeom>
          <a:solidFill>
            <a:srgbClr val="EEE8FB"/>
          </a:solidFill>
          <a:ln w="28575">
            <a:solidFill>
              <a:srgbClr val="CDBFF3"/>
            </a:solidFill>
          </a:ln>
        </p:spPr>
        <p:txBody>
          <a:bodyPr wrap="square" lIns="0" tIns="0" rIns="0" bIns="0" rtlCol="0" anchor="ctr"/>
          <a:lstStyle/>
          <a:p>
            <a:pPr algn="ctr" indent="0" marL="0">
              <a:buNone/>
            </a:pPr>
            <a:r>
              <a:rPr lang="en-US" sz="1050" dirty="0">
                <a:solidFill>
                  <a:srgbClr val="7B5CD6"/>
                </a:solidFill>
                <a:latin typeface="Arial Rounded MT Bold" pitchFamily="34" charset="0"/>
                <a:ea typeface="Arial Rounded MT Bold" pitchFamily="34" charset="-122"/>
                <a:cs typeface="Arial Rounded MT Bold" pitchFamily="34" charset="-120"/>
              </a:rPr>
              <a:t>⭐ OPTIONAL EXTENSION · only if there's time</a:t>
            </a:r>
            <a:endParaRPr lang="en-US" sz="1050" dirty="0"/>
          </a:p>
        </p:txBody>
      </p:sp>
      <p:sp>
        <p:nvSpPr>
          <p:cNvPr id="13" name="cd_437"/>
          <p:cNvSpPr/>
          <p:nvPr/>
        </p:nvSpPr>
        <p:spPr>
          <a:xfrm>
            <a:off x="320040" y="1417320"/>
            <a:ext cx="2697480" cy="2307336"/>
          </a:xfrm>
          <a:prstGeom prst="roundRect">
            <a:avLst>
              <a:gd name="adj" fmla="val 554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4" name="ii_43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ih_439"/>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6" name="il_440"/>
          <p:cNvSpPr/>
          <p:nvPr/>
        </p:nvSpPr>
        <p:spPr>
          <a:xfrm>
            <a:off x="886968" y="1911096"/>
            <a:ext cx="2039112" cy="174040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Write 2 sentences about a classmate's clothes – no name!</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Use 2 adjectives from today.</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Swap papers. Read one out. Guess who!</a:t>
            </a:r>
            <a:endParaRPr lang="en-US" sz="1200" dirty="0"/>
          </a:p>
        </p:txBody>
      </p:sp>
      <p:sp>
        <p:nvSpPr>
          <p:cNvPr id="17" name="bd_441"/>
          <p:cNvSpPr/>
          <p:nvPr/>
        </p:nvSpPr>
        <p:spPr>
          <a:xfrm>
            <a:off x="3246120" y="1572768"/>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8" name="gq_442"/>
          <p:cNvSpPr/>
          <p:nvPr/>
        </p:nvSpPr>
        <p:spPr>
          <a:xfrm>
            <a:off x="3657600" y="1417320"/>
            <a:ext cx="2514600" cy="640080"/>
          </a:xfrm>
          <a:prstGeom prst="roundRect">
            <a:avLst>
              <a:gd name="adj" fmla="val 14286"/>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This person is wearing…</a:t>
            </a:r>
            <a:endParaRPr lang="en-US" sz="1250" dirty="0"/>
          </a:p>
        </p:txBody>
      </p:sp>
      <p:sp>
        <p:nvSpPr>
          <p:cNvPr id="19" name="chip_443"/>
          <p:cNvSpPr/>
          <p:nvPr/>
        </p:nvSpPr>
        <p:spPr>
          <a:xfrm>
            <a:off x="6263640" y="1417320"/>
            <a:ext cx="2560320" cy="640080"/>
          </a:xfrm>
          <a:prstGeom prst="roundRect">
            <a:avLst>
              <a:gd name="adj" fmla="val 14286"/>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This person is wearing skinny black jeans and brand new trainers.</a:t>
            </a:r>
            <a:endParaRPr lang="en-US" sz="1200" dirty="0"/>
          </a:p>
        </p:txBody>
      </p:sp>
      <p:sp>
        <p:nvSpPr>
          <p:cNvPr id="20" name="bd_444"/>
          <p:cNvSpPr/>
          <p:nvPr/>
        </p:nvSpPr>
        <p:spPr>
          <a:xfrm>
            <a:off x="3246120" y="227685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445"/>
          <p:cNvSpPr/>
          <p:nvPr/>
        </p:nvSpPr>
        <p:spPr>
          <a:xfrm>
            <a:off x="3657600" y="2121408"/>
            <a:ext cx="2514600" cy="640080"/>
          </a:xfrm>
          <a:prstGeom prst="roundRect">
            <a:avLst>
              <a:gd name="adj" fmla="val 1428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Their jacket looks…</a:t>
            </a:r>
            <a:endParaRPr lang="en-US" sz="1250" dirty="0"/>
          </a:p>
        </p:txBody>
      </p:sp>
      <p:sp>
        <p:nvSpPr>
          <p:cNvPr id="22" name="R1_chip446"/>
          <p:cNvSpPr/>
          <p:nvPr/>
        </p:nvSpPr>
        <p:spPr>
          <a:xfrm>
            <a:off x="6263640" y="2121408"/>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Their jacket looks really comfortable.</a:t>
            </a:r>
            <a:endParaRPr lang="en-US" sz="1200" dirty="0"/>
          </a:p>
        </p:txBody>
      </p:sp>
      <p:sp>
        <p:nvSpPr>
          <p:cNvPr id="23" name="bd_447"/>
          <p:cNvSpPr/>
          <p:nvPr/>
        </p:nvSpPr>
        <p:spPr>
          <a:xfrm>
            <a:off x="3246120" y="298094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448"/>
          <p:cNvSpPr/>
          <p:nvPr/>
        </p:nvSpPr>
        <p:spPr>
          <a:xfrm>
            <a:off x="3657600" y="2825496"/>
            <a:ext cx="2514600" cy="640080"/>
          </a:xfrm>
          <a:prstGeom prst="roundRect">
            <a:avLst>
              <a:gd name="adj" fmla="val 1428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 think their style is…</a:t>
            </a:r>
            <a:endParaRPr lang="en-US" sz="1250" dirty="0"/>
          </a:p>
        </p:txBody>
      </p:sp>
      <p:sp>
        <p:nvSpPr>
          <p:cNvPr id="25" name="R2_chip449"/>
          <p:cNvSpPr/>
          <p:nvPr/>
        </p:nvSpPr>
        <p:spPr>
          <a:xfrm>
            <a:off x="6263640" y="2825496"/>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 think their style is casual and trendy.</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2A In fashion</dc:title>
  <dc:subject>PptxGenJS Presentation</dc:subject>
  <dc:creator>PptxGenJS</dc:creator>
  <cp:lastModifiedBy>PptxGenJS</cp:lastModifiedBy>
  <cp:revision>1</cp:revision>
  <dcterms:created xsi:type="dcterms:W3CDTF">2026-10-21T14:13:52Z</dcterms:created>
  <dcterms:modified xsi:type="dcterms:W3CDTF">2026-10-21T14:13:52Z</dcterms:modified>
</cp:coreProperties>
</file>