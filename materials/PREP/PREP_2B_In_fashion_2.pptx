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TB warmer: tell them what YOU did last weekend, then ask 3–4 students what they did after school yesterday. Write their verbs on the board in two columns: regular (walked) / irregular (went).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⭐ meaning ⭐⭐ sentence ⭐⭐⭐ negative or question ('Are your jeans brand new?'). Then: 'What did punks wear in the 70s?' – they need the past simple → today's grammar.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Grammar · past simple (4 min)
RULES (4 min). SB Grammar ex.1 – the examples are from the article. Past simple = finished past actions and states. Click once per rule. Key (TB p.29): a -d or -ed b didn't c did. CCQ: 'They didn't understanded?' (no – didn't + infinitive).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game · regular and irregular (4 min)
CHOOSE IT, SPELL IT (4 min). SB Grammar ex.2 – item 1 is the example. Key (TB p.29): 1 chose 2 heard 3 enjoyed 4 get 5 read, sang 6 meet 7 go 8 planned. Drill read /red/ and heard /hɜːd/. Spelling: enjoy → enjoyed (vowel + y), plan → planned (double consonant).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Game · irregular verbs (3 min)
VERB TENNIS (3 min). Fast and noisy – that's the point! Use the slide verbs first (one click each), then let teams 'serve' their own verbs. Write tricky ones on the board: bought /bɔːt/, wore, 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Speaking · past simple about you (4 min)
TRUE OR FALSE (4 min). SB Grammar ex.3 made into a guessing game: students say their sentences (positive or negative so they're TRUE); partner guesses true/false. Line 5: one invented sentence. Listen for didn't + infinitive (✗ I didn't wore).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practice (5 min)
CONVERSATION (5 min). SB Grammar ex.4 – gap 1 is the example. Pairs complete, then read it aloud in A/B roles. One click per gap. Key (TB p.29): 1 did you get 2 gave 3 did he find 4 didn't find 5 designed 6 did he do 7 used 8 took 9 showed 10 didn't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· questions (3 min)
QUESTIONS (3 min). SB Grammar ex.5 – the two book examples are on the left. TB: point out open (Wh-) questions vs yes/no questions. Key (TB p.29). Fast finishers (TB): write 4 more questions, e.g. 'Did you wear jeans yesterday?'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Speaking · last weekend (4 min)
ASK AND ANSWER (4 min). SB Grammar ex.6. Short answers: Yes, I did / No, I didn't (TB). Push for one follow-up question each time. 2–3 pairs report: 'Giulia went to…' (3rd person past = no -s problem!).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Vocabulary · adverbs (4 min)
ADVERBS (4 min). SB Vocabulary ex.1 (examples from the article: Hip hop became popular internationally · He shouted at us angrily · You need to work hard → adjectives international, angry, hard) and ex.2 (the table). TB warmer: write slowly, quickly, beautifully – adverbs tell us HOW we do something. Key (TB p.29): +ly amazingly, badly, carefully, honestly, politely, quickly, rudely, seriously · y+ily healthily, heavily, lazily, luckily · irregular early, fast,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Vocabulary · practice (4 min)
ADVERBS PRACTICE (4 min). SB Vocabulary ex.3 – 1 is the example. One click per gap. Key (TB p.29): 1 happily 2 fast 3 loudly 4 slowly 5 quietly 6 hard 7 well 8 easily.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Game · adverb charades (4 min)
ADVERB CHARADES (4 min) – TPR. The first one is the example: act 'walk slowly' yourself. Whisper or show a card to one student per team. Answer must be a full sentence (present continuous – Unit 1!). Add your own: write angrily, brush your teeth lazily…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· shopping (3 min)
SHOPPING (3 min). SB Speaking ex.1. Nominate a student to answer Q1, then they nominate the next (TB). Then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questions (2 min)
QUESTION CHECK (2 min). SB Speaking ex.2 – item 1 is the example. Key (TB p.30): 1 do you like 2 do you buy 3 do you usually 4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a model answer (3 min)
HARRY (3 min). SB Speaking ex.3–4: the audio (track 10) is online only, so pairs PREDICT the missing words from the Prepare to speak box, then click to check. Key (TB p.30): 1 think 2 every week 3 don't like 4 always. Ex.5: Harry uses I like…, I think…, I usually…, I don't like…, because…, I always… (TB).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Speaking · B1 Preliminary Speaking Part 1 (5 min)
EXAM PRACTICE (5 min). SB Speaking ex.6 = B1 Preliminary for Schools Speaking Part 1 (personal information, routines, likes). TB: groups of 3 – examiner asks, candidate answers, third student ticks the Prepare to speak phrases used. Swap roles. Report back on the group's shopping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Exit · what can you remember? (2 min)
EXIT (2 min). Pairs, books closed. Homework is in the students'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Cooler · word game (4 min)
COOLER (4 min) – TB cooler. Write UNCOMFORTABLE on the board. Groups of 3 write words for 3 minutes. Click: TB possible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· Unit 2 · SB pp.16–17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fashion (2)</a:t>
            </a:r>
            <a:endParaRPr lang="en-US" sz="24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 simple · adverbs · talking about yourself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⏪  talk about the past: -ed, didn't, did…?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🔁  learn irregular verbs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 make adverbs: slowly, happily, well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🛍️  talk about shopping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🗣️  practise the Speaking exam Part 1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went to Palermo with my mum. I bought some trainers – they were really comfortable!</a:t>
            </a:r>
            <a:endParaRPr lang="en-US" sz="85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prep2b_shopping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did you do last weekend? Did you buy any clothes?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1304169" y="1371600"/>
            <a:ext cx="774943" cy="1645920"/>
          </a:xfrm>
          <a:prstGeom prst="roundRect">
            <a:avLst>
              <a:gd name="adj" fmla="val 20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prep2_d_rihanna_jpg_164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349889" y="1417320"/>
            <a:ext cx="683503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2A: In fashion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clothes adjectives · Fashion and music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comfortable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704588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skinny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728716" y="1783080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brand new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7013448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3246120" y="218541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trendy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4270248" y="2185416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well-dressed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5815584" y="2185416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second-hand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7274052" y="2185416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messy</a:t>
            </a:r>
            <a:endParaRPr lang="en-US" sz="1200" dirty="0"/>
          </a:p>
        </p:txBody>
      </p:sp>
      <p:sp>
        <p:nvSpPr>
          <p:cNvPr id="27" name="w_41"/>
          <p:cNvSpPr/>
          <p:nvPr/>
        </p:nvSpPr>
        <p:spPr>
          <a:xfrm>
            <a:off x="3246120" y="2587752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trends</a:t>
            </a:r>
            <a:endParaRPr lang="en-US" sz="1200" dirty="0"/>
          </a:p>
        </p:txBody>
      </p:sp>
      <p:sp>
        <p:nvSpPr>
          <p:cNvPr id="28" name="lv_42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30" name="lv_44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47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past simple rules</a:t>
            </a:r>
            <a:endParaRPr lang="en-US" sz="2500" dirty="0"/>
          </a:p>
        </p:txBody>
      </p:sp>
      <p:pic>
        <p:nvPicPr>
          <p:cNvPr id="6" name="brP_4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Complete the rules: did, didn't or -d / -ed?</a:t>
            </a:r>
            <a:endParaRPr lang="en-US" sz="1100" dirty="0"/>
          </a:p>
        </p:txBody>
      </p:sp>
      <p:sp>
        <p:nvSpPr>
          <p:cNvPr id="8" name="insIT_5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Completa le regole: did, didn't o -d / -ed?</a:t>
            </a:r>
            <a:endParaRPr lang="en-US" sz="950" dirty="0"/>
          </a:p>
        </p:txBody>
      </p:sp>
      <p:sp>
        <p:nvSpPr>
          <p:cNvPr id="9" name="note_5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5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past simple   ·   📖 SB p.16 · Grammar 1 · Grammar reference p.139</a:t>
            </a:r>
            <a:endParaRPr lang="en-US" sz="800" dirty="0"/>
          </a:p>
        </p:txBody>
      </p:sp>
      <p:sp>
        <p:nvSpPr>
          <p:cNvPr id="12" name="cd_54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5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57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listened to the same kind of music. · They didn't understand rock 'n' roll. · What did they wear?</a:t>
            </a:r>
            <a:endParaRPr lang="en-US" sz="850" dirty="0"/>
          </a:p>
        </p:txBody>
      </p:sp>
      <p:sp>
        <p:nvSpPr>
          <p:cNvPr id="16" name="bd_5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5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Regular verbs end with ___ in the affirmative (but lots of common verbs are irregular).</a:t>
            </a:r>
            <a:endParaRPr lang="en-US" sz="900" dirty="0"/>
          </a:p>
        </p:txBody>
      </p:sp>
      <p:sp>
        <p:nvSpPr>
          <p:cNvPr id="18" name="R1_chip6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-d or -ed: listened, danced</a:t>
            </a:r>
            <a:endParaRPr lang="en-US" sz="1050" dirty="0"/>
          </a:p>
        </p:txBody>
      </p:sp>
      <p:sp>
        <p:nvSpPr>
          <p:cNvPr id="19" name="bd_6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6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form negative sentences with ___ + infinitive.</a:t>
            </a:r>
            <a:endParaRPr lang="en-US" sz="900" dirty="0"/>
          </a:p>
        </p:txBody>
      </p:sp>
      <p:sp>
        <p:nvSpPr>
          <p:cNvPr id="21" name="R2_chip6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didn't: They didn't understand…</a:t>
            </a:r>
            <a:endParaRPr lang="en-US" sz="1050" dirty="0"/>
          </a:p>
        </p:txBody>
      </p:sp>
      <p:sp>
        <p:nvSpPr>
          <p:cNvPr id="22" name="bd_6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6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form questions with ___ + infinitive.</a:t>
            </a:r>
            <a:endParaRPr lang="en-US" sz="900" dirty="0"/>
          </a:p>
        </p:txBody>
      </p:sp>
      <p:sp>
        <p:nvSpPr>
          <p:cNvPr id="24" name="R3_chip6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did: What did they wear?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6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it, spell it!</a:t>
            </a:r>
            <a:endParaRPr lang="en-US" sz="2500" dirty="0"/>
          </a:p>
        </p:txBody>
      </p:sp>
      <p:pic>
        <p:nvPicPr>
          <p:cNvPr id="6" name="brP_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71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choose the correct word. Spell it!</a:t>
            </a:r>
            <a:endParaRPr lang="en-US" sz="1250" dirty="0"/>
          </a:p>
        </p:txBody>
      </p:sp>
      <p:sp>
        <p:nvSpPr>
          <p:cNvPr id="8" name="insIT_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scegliete la parola giusta. Fate lo spelling!</a:t>
            </a:r>
            <a:endParaRPr lang="en-US" sz="950" dirty="0"/>
          </a:p>
        </p:txBody>
      </p:sp>
      <p:sp>
        <p:nvSpPr>
          <p:cNvPr id="9" name="note_7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game · regular and irregular   ·   📖 SB p.16 · Grammar 2</a:t>
            </a:r>
            <a:endParaRPr lang="en-US" sz="800" dirty="0"/>
          </a:p>
        </p:txBody>
      </p:sp>
      <p:sp>
        <p:nvSpPr>
          <p:cNvPr id="12" name="cd_76"/>
          <p:cNvSpPr/>
          <p:nvPr/>
        </p:nvSpPr>
        <p:spPr>
          <a:xfrm>
            <a:off x="320040" y="1417320"/>
            <a:ext cx="2697480" cy="1450848"/>
          </a:xfrm>
          <a:prstGeom prst="roundRect">
            <a:avLst>
              <a:gd name="adj" fmla="val 882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7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7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79"/>
          <p:cNvSpPr/>
          <p:nvPr/>
        </p:nvSpPr>
        <p:spPr>
          <a:xfrm>
            <a:off x="886968" y="1911096"/>
            <a:ext cx="203911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Spell it correctly = 1 more point!</a:t>
            </a:r>
            <a:endParaRPr lang="en-US" sz="1200" dirty="0"/>
          </a:p>
        </p:txBody>
      </p:sp>
      <p:sp>
        <p:nvSpPr>
          <p:cNvPr id="16" name="st_80"/>
          <p:cNvSpPr/>
          <p:nvPr/>
        </p:nvSpPr>
        <p:spPr>
          <a:xfrm rot="-180000">
            <a:off x="502920" y="3051048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81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82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choosed / chose some new shoes for the party.</a:t>
            </a:r>
            <a:endParaRPr lang="en-US" sz="900" dirty="0"/>
          </a:p>
        </p:txBody>
      </p:sp>
      <p:sp>
        <p:nvSpPr>
          <p:cNvPr id="19" name="chip_83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chose (choose – chose)</a:t>
            </a:r>
            <a:endParaRPr lang="en-US" sz="1150" dirty="0"/>
          </a:p>
        </p:txBody>
      </p:sp>
      <p:sp>
        <p:nvSpPr>
          <p:cNvPr id="20" name="bd_84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85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heard / heared the new Harry Styles single.</a:t>
            </a:r>
            <a:endParaRPr lang="en-US" sz="900" dirty="0"/>
          </a:p>
        </p:txBody>
      </p:sp>
      <p:sp>
        <p:nvSpPr>
          <p:cNvPr id="22" name="R1_chip86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heard</a:t>
            </a:r>
            <a:endParaRPr lang="en-US" sz="1150" dirty="0"/>
          </a:p>
        </p:txBody>
      </p:sp>
      <p:sp>
        <p:nvSpPr>
          <p:cNvPr id="23" name="bd_87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88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sister and I enjoyed / enjoied shopping last Saturday.</a:t>
            </a:r>
            <a:endParaRPr lang="en-US" sz="900" dirty="0"/>
          </a:p>
        </p:txBody>
      </p:sp>
      <p:sp>
        <p:nvSpPr>
          <p:cNvPr id="25" name="R2_chip89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enjoyed</a:t>
            </a:r>
            <a:endParaRPr lang="en-US" sz="1150" dirty="0"/>
          </a:p>
        </p:txBody>
      </p:sp>
      <p:sp>
        <p:nvSpPr>
          <p:cNvPr id="26" name="bd_90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91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get / got any new clothes?</a:t>
            </a:r>
            <a:endParaRPr lang="en-US" sz="900" dirty="0"/>
          </a:p>
        </p:txBody>
      </p:sp>
      <p:sp>
        <p:nvSpPr>
          <p:cNvPr id="28" name="R3_chip92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get (did + infinitive)</a:t>
            </a:r>
            <a:endParaRPr lang="en-US" sz="1150" dirty="0"/>
          </a:p>
        </p:txBody>
      </p:sp>
      <p:sp>
        <p:nvSpPr>
          <p:cNvPr id="29" name="bd_93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94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read / red the lyrics of the songs before he sung / sang them.</a:t>
            </a:r>
            <a:endParaRPr lang="en-US" sz="900" dirty="0"/>
          </a:p>
        </p:txBody>
      </p:sp>
      <p:sp>
        <p:nvSpPr>
          <p:cNvPr id="31" name="R4_chip95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read /red/, sang</a:t>
            </a:r>
            <a:endParaRPr lang="en-US" sz="1150" dirty="0"/>
          </a:p>
        </p:txBody>
      </p:sp>
      <p:sp>
        <p:nvSpPr>
          <p:cNvPr id="32" name="bd_96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97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didn't met / meet your friends at the concert.</a:t>
            </a:r>
            <a:endParaRPr lang="en-US" sz="900" dirty="0"/>
          </a:p>
        </p:txBody>
      </p:sp>
      <p:sp>
        <p:nvSpPr>
          <p:cNvPr id="34" name="R5_chip98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meet (didn't + infinitive)</a:t>
            </a:r>
            <a:endParaRPr lang="en-US" sz="1150" dirty="0"/>
          </a:p>
        </p:txBody>
      </p:sp>
      <p:sp>
        <p:nvSpPr>
          <p:cNvPr id="35" name="bd_99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100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did you go / went shopping?</a:t>
            </a:r>
            <a:endParaRPr lang="en-US" sz="900" dirty="0"/>
          </a:p>
        </p:txBody>
      </p:sp>
      <p:sp>
        <p:nvSpPr>
          <p:cNvPr id="37" name="R6_chip101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go</a:t>
            </a:r>
            <a:endParaRPr lang="en-US" sz="1150" dirty="0"/>
          </a:p>
        </p:txBody>
      </p:sp>
      <p:sp>
        <p:nvSpPr>
          <p:cNvPr id="38" name="bd_102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103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planned / planed to go to a concert in Hyde Park but they cancelled it.</a:t>
            </a:r>
            <a:endParaRPr lang="en-US" sz="850" dirty="0"/>
          </a:p>
        </p:txBody>
      </p:sp>
      <p:sp>
        <p:nvSpPr>
          <p:cNvPr id="40" name="R7_chip104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planned (double n)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107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tennis</a:t>
            </a:r>
            <a:endParaRPr lang="en-US" sz="2500" dirty="0"/>
          </a:p>
        </p:txBody>
      </p:sp>
      <p:pic>
        <p:nvPicPr>
          <p:cNvPr id="6" name="brP_10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109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Irregular verb tennis! Say the past simple – fast!</a:t>
            </a:r>
            <a:endParaRPr lang="en-US" sz="1250" dirty="0"/>
          </a:p>
        </p:txBody>
      </p:sp>
      <p:sp>
        <p:nvSpPr>
          <p:cNvPr id="8" name="insIT_11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Tennis dei verbi irregolari! Di' il passato – veloce!</a:t>
            </a:r>
            <a:endParaRPr lang="en-US" sz="950" dirty="0"/>
          </a:p>
        </p:txBody>
      </p:sp>
      <p:sp>
        <p:nvSpPr>
          <p:cNvPr id="9" name="note_11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11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Game · irregular verbs   ·   📖 Recycles SB p.16 + the article (wore, tore, became, sang)</a:t>
            </a:r>
            <a:endParaRPr lang="en-US" sz="800" dirty="0"/>
          </a:p>
        </p:txBody>
      </p:sp>
      <p:sp>
        <p:nvSpPr>
          <p:cNvPr id="12" name="cd_114"/>
          <p:cNvSpPr/>
          <p:nvPr/>
        </p:nvSpPr>
        <p:spPr>
          <a:xfrm>
            <a:off x="320040" y="1417320"/>
            <a:ext cx="2697480" cy="2307336"/>
          </a:xfrm>
          <a:prstGeom prst="roundRect">
            <a:avLst>
              <a:gd name="adj" fmla="val 554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1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1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17"/>
          <p:cNvSpPr/>
          <p:nvPr/>
        </p:nvSpPr>
        <p:spPr>
          <a:xfrm>
            <a:off x="886968" y="1911096"/>
            <a:ext cx="2039112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A says a verb. Team B says the past – in 3 seconds!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 Then B serves a verb.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 slow or wrong = point to the other team.</a:t>
            </a:r>
            <a:endParaRPr lang="en-US" sz="1200" dirty="0"/>
          </a:p>
        </p:txBody>
      </p:sp>
      <p:sp>
        <p:nvSpPr>
          <p:cNvPr id="16" name="st_118"/>
          <p:cNvSpPr/>
          <p:nvPr/>
        </p:nvSpPr>
        <p:spPr>
          <a:xfrm rot="-180000">
            <a:off x="502920" y="3907536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119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120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</a:t>
            </a:r>
            <a:endParaRPr lang="en-US" sz="1250" dirty="0"/>
          </a:p>
        </p:txBody>
      </p:sp>
      <p:sp>
        <p:nvSpPr>
          <p:cNvPr id="19" name="chip_121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went</a:t>
            </a:r>
            <a:endParaRPr lang="en-US" sz="1200" dirty="0"/>
          </a:p>
        </p:txBody>
      </p:sp>
      <p:sp>
        <p:nvSpPr>
          <p:cNvPr id="20" name="bd_122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123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buy</a:t>
            </a:r>
            <a:endParaRPr lang="en-US" sz="1250" dirty="0"/>
          </a:p>
        </p:txBody>
      </p:sp>
      <p:sp>
        <p:nvSpPr>
          <p:cNvPr id="22" name="R1_chip124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bought</a:t>
            </a:r>
            <a:endParaRPr lang="en-US" sz="1200" dirty="0"/>
          </a:p>
        </p:txBody>
      </p:sp>
      <p:sp>
        <p:nvSpPr>
          <p:cNvPr id="23" name="bd_125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126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wear</a:t>
            </a:r>
            <a:endParaRPr lang="en-US" sz="1250" dirty="0"/>
          </a:p>
        </p:txBody>
      </p:sp>
      <p:sp>
        <p:nvSpPr>
          <p:cNvPr id="25" name="R2_chip127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wore</a:t>
            </a:r>
            <a:endParaRPr lang="en-US" sz="1200" dirty="0"/>
          </a:p>
        </p:txBody>
      </p:sp>
      <p:sp>
        <p:nvSpPr>
          <p:cNvPr id="26" name="bd_128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129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</a:t>
            </a:r>
            <a:endParaRPr lang="en-US" sz="1250" dirty="0"/>
          </a:p>
        </p:txBody>
      </p:sp>
      <p:sp>
        <p:nvSpPr>
          <p:cNvPr id="28" name="R3_chip130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got</a:t>
            </a:r>
            <a:endParaRPr lang="en-US" sz="1200" dirty="0"/>
          </a:p>
        </p:txBody>
      </p:sp>
      <p:sp>
        <p:nvSpPr>
          <p:cNvPr id="29" name="bd_131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132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</a:t>
            </a:r>
            <a:endParaRPr lang="en-US" sz="1250" dirty="0"/>
          </a:p>
        </p:txBody>
      </p:sp>
      <p:sp>
        <p:nvSpPr>
          <p:cNvPr id="31" name="R4_chip133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gave</a:t>
            </a:r>
            <a:endParaRPr lang="en-US" sz="1200" dirty="0"/>
          </a:p>
        </p:txBody>
      </p:sp>
      <p:sp>
        <p:nvSpPr>
          <p:cNvPr id="32" name="bd_134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135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</a:t>
            </a:r>
            <a:endParaRPr lang="en-US" sz="1250" dirty="0"/>
          </a:p>
        </p:txBody>
      </p:sp>
      <p:sp>
        <p:nvSpPr>
          <p:cNvPr id="34" name="R5_chip136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took</a:t>
            </a:r>
            <a:endParaRPr lang="en-US" sz="1200" dirty="0"/>
          </a:p>
        </p:txBody>
      </p:sp>
      <p:sp>
        <p:nvSpPr>
          <p:cNvPr id="35" name="bd_137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138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tear</a:t>
            </a:r>
            <a:endParaRPr lang="en-US" sz="1250" dirty="0"/>
          </a:p>
        </p:txBody>
      </p:sp>
      <p:sp>
        <p:nvSpPr>
          <p:cNvPr id="37" name="R6_chip139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tore</a:t>
            </a:r>
            <a:endParaRPr lang="en-US" sz="1200" dirty="0"/>
          </a:p>
        </p:txBody>
      </p:sp>
      <p:sp>
        <p:nvSpPr>
          <p:cNvPr id="38" name="bd_140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141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</a:t>
            </a:r>
            <a:endParaRPr lang="en-US" sz="1250" dirty="0"/>
          </a:p>
        </p:txBody>
      </p:sp>
      <p:sp>
        <p:nvSpPr>
          <p:cNvPr id="40" name="R7_chip142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found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145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or false?</a:t>
            </a:r>
            <a:endParaRPr lang="en-US" sz="2500" dirty="0"/>
          </a:p>
        </p:txBody>
      </p:sp>
      <p:pic>
        <p:nvPicPr>
          <p:cNvPr id="6" name="brP_1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4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TRUE sentences about you – positive or negative. Your partner guesses: true or false?</a:t>
            </a:r>
            <a:endParaRPr lang="en-US" sz="1100" dirty="0"/>
          </a:p>
        </p:txBody>
      </p:sp>
      <p:sp>
        <p:nvSpPr>
          <p:cNvPr id="8" name="insIT_14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frasi VERE su di te – positive o negative. Il compagno indovina: vero o falso?</a:t>
            </a:r>
            <a:endParaRPr lang="en-US" sz="900" dirty="0"/>
          </a:p>
        </p:txBody>
      </p:sp>
      <p:sp>
        <p:nvSpPr>
          <p:cNvPr id="9" name="note_14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15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past simple about you   ·   📖 SB p.16 · Grammar 3</a:t>
            </a:r>
            <a:endParaRPr lang="en-US" sz="800" dirty="0"/>
          </a:p>
        </p:txBody>
      </p:sp>
      <p:sp>
        <p:nvSpPr>
          <p:cNvPr id="12" name="cd_152"/>
          <p:cNvSpPr/>
          <p:nvPr/>
        </p:nvSpPr>
        <p:spPr>
          <a:xfrm>
            <a:off x="320040" y="141732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5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154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155"/>
          <p:cNvSpPr/>
          <p:nvPr/>
        </p:nvSpPr>
        <p:spPr>
          <a:xfrm>
            <a:off x="886968" y="191109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wore… / I didn't wear…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got… / I didn't get…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that true?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that's false!</a:t>
            </a:r>
            <a:endParaRPr lang="en-US" sz="1150" dirty="0"/>
          </a:p>
        </p:txBody>
      </p:sp>
      <p:sp>
        <p:nvSpPr>
          <p:cNvPr id="16" name="R1_qb15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15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(wear) jeans yesterday. · I ___ (get) clothes for my last birthday.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didn't wear jeans yesterday. I got a hoodie for my birthday.</a:t>
            </a:r>
            <a:endParaRPr lang="en-US" sz="950" dirty="0"/>
          </a:p>
        </p:txBody>
      </p:sp>
      <p:sp>
        <p:nvSpPr>
          <p:cNvPr id="18" name="R2_qb15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15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parents ___ (buy) the clothes I'm wearing. · My family and I ___ (watch) TV last night.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parents didn't buy this T-shirt. I bought it!</a:t>
            </a:r>
            <a:endParaRPr lang="en-US" sz="950" dirty="0"/>
          </a:p>
        </p:txBody>
      </p:sp>
      <p:sp>
        <p:nvSpPr>
          <p:cNvPr id="20" name="R3_qb16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16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best friend ___ (text) me this morning. · We ___ (go) shopping last weekend.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best friend texted me at 7 o'clock!</a:t>
            </a:r>
            <a:endParaRPr lang="en-US" sz="950" dirty="0"/>
          </a:p>
        </p:txBody>
      </p:sp>
      <p:sp>
        <p:nvSpPr>
          <p:cNvPr id="22" name="R4_qb16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16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(have) a music lesson last week. · I ___ (see) my friends last weekend.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didn't have a music lesson. I saw my friends on Saturday.</a:t>
            </a:r>
            <a:endParaRPr lang="en-US" sz="950" dirty="0"/>
          </a:p>
        </p:txBody>
      </p:sp>
      <p:sp>
        <p:nvSpPr>
          <p:cNvPr id="24" name="R5_qb164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R5_sq165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Challenge: say one FALSE sentence. Can your partner find it?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went to Paris last weekend. – False!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168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Cool T-shirt!</a:t>
            </a:r>
            <a:endParaRPr lang="en-US" sz="2500" dirty="0"/>
          </a:p>
        </p:txBody>
      </p:sp>
      <p:pic>
        <p:nvPicPr>
          <p:cNvPr id="6" name="brP_1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170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conversation with the past simple.</a:t>
            </a:r>
            <a:endParaRPr lang="en-US" sz="1250" dirty="0"/>
          </a:p>
        </p:txBody>
      </p:sp>
      <p:sp>
        <p:nvSpPr>
          <p:cNvPr id="8" name="insIT_1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la conversazione con il passato.</a:t>
            </a:r>
            <a:endParaRPr lang="en-US" sz="950" dirty="0"/>
          </a:p>
        </p:txBody>
      </p:sp>
      <p:sp>
        <p:nvSpPr>
          <p:cNvPr id="9" name="note_1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1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practice   ·   📖 SB p.16 · Grammar 4</a:t>
            </a:r>
            <a:endParaRPr lang="en-US" sz="800" dirty="0"/>
          </a:p>
        </p:txBody>
      </p:sp>
      <p:sp>
        <p:nvSpPr>
          <p:cNvPr id="12" name="cd_175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7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4" name="R1_rdA17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5" name="R2_rdA17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6" name="R3_rdA17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7" name="R4_rdA18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8" name="R5_rdA18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did he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19" name="R6_rdA18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did he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used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20" name="R7_rdA18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did he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used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21" name="R8_rdA18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did he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used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showed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22" name="R9_rdA18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Hey,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did you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get) that T-shirt? It's really cool!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My brother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gave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(give) it to me for my birthday.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I really like it. Where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did he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find) it?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Well,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didn't find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find) it exactly.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designed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(design) it.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Really? How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did he do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(he / do) that?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used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(use) this app called UTme, on his phone.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took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(take) a photo and then added the colours and the writing.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showed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(show) me the app. It's really cool.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Wow!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(10) didn't know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know) you could do that. Can you show me the app?</a:t>
            </a:r>
            <a:endParaRPr lang="en-US" sz="1000" dirty="0"/>
          </a:p>
        </p:txBody>
      </p:sp>
      <p:sp>
        <p:nvSpPr>
          <p:cNvPr id="23" name="cd_186"/>
          <p:cNvSpPr/>
          <p:nvPr/>
        </p:nvSpPr>
        <p:spPr>
          <a:xfrm>
            <a:off x="6263640" y="1417320"/>
            <a:ext cx="2606040" cy="2063496"/>
          </a:xfrm>
          <a:prstGeom prst="roundRect">
            <a:avLst>
              <a:gd name="adj" fmla="val 62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ii_187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5" name="ih_188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300" dirty="0"/>
          </a:p>
        </p:txBody>
      </p:sp>
      <p:sp>
        <p:nvSpPr>
          <p:cNvPr id="26" name="il_189"/>
          <p:cNvSpPr/>
          <p:nvPr/>
        </p:nvSpPr>
        <p:spPr>
          <a:xfrm>
            <a:off x="6830568" y="1911096"/>
            <a:ext cx="1947672" cy="1496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Question: did + you / he + infinitive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Negative: didn't + infinitive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Irregular: give → gave, take → took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9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192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Questions about last weekend</a:t>
            </a:r>
            <a:endParaRPr lang="en-US" sz="2400" dirty="0"/>
          </a:p>
        </p:txBody>
      </p:sp>
      <p:pic>
        <p:nvPicPr>
          <p:cNvPr id="6" name="brP_19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194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questions about last weekend.</a:t>
            </a:r>
            <a:endParaRPr lang="en-US" sz="1250" dirty="0"/>
          </a:p>
        </p:txBody>
      </p:sp>
      <p:sp>
        <p:nvSpPr>
          <p:cNvPr id="8" name="insIT_19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domande sullo scorso weekend.</a:t>
            </a:r>
            <a:endParaRPr lang="en-US" sz="950" dirty="0"/>
          </a:p>
        </p:txBody>
      </p:sp>
      <p:sp>
        <p:nvSpPr>
          <p:cNvPr id="9" name="note_19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19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Grammar · questions   ·   📖 SB p.16 · Grammar 5</a:t>
            </a:r>
            <a:endParaRPr lang="en-US" sz="800" dirty="0"/>
          </a:p>
        </p:txBody>
      </p:sp>
      <p:sp>
        <p:nvSpPr>
          <p:cNvPr id="12" name="cd_199"/>
          <p:cNvSpPr/>
          <p:nvPr/>
        </p:nvSpPr>
        <p:spPr>
          <a:xfrm>
            <a:off x="320040" y="141732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0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0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02"/>
          <p:cNvSpPr/>
          <p:nvPr/>
        </p:nvSpPr>
        <p:spPr>
          <a:xfrm>
            <a:off x="886968" y="1911096"/>
            <a:ext cx="2039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/ you / do / last weekend? → What did you do last weekend?  ·  you / go / shopping? → Did you go shopping?</a:t>
            </a:r>
            <a:endParaRPr lang="en-US" sz="900" dirty="0"/>
          </a:p>
        </p:txBody>
      </p:sp>
      <p:sp>
        <p:nvSpPr>
          <p:cNvPr id="16" name="bd_203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204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friends / you / meet?</a:t>
            </a:r>
            <a:endParaRPr lang="en-US" sz="1150" dirty="0"/>
          </a:p>
        </p:txBody>
      </p:sp>
      <p:sp>
        <p:nvSpPr>
          <p:cNvPr id="18" name="R1_chip205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friends did you meet?</a:t>
            </a:r>
            <a:endParaRPr lang="en-US" sz="1050" dirty="0"/>
          </a:p>
        </p:txBody>
      </p:sp>
      <p:sp>
        <p:nvSpPr>
          <p:cNvPr id="19" name="bd_206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207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/ play / any sports?</a:t>
            </a:r>
            <a:endParaRPr lang="en-US" sz="1150" dirty="0"/>
          </a:p>
        </p:txBody>
      </p:sp>
      <p:sp>
        <p:nvSpPr>
          <p:cNvPr id="21" name="R2_chip208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play any sports?</a:t>
            </a:r>
            <a:endParaRPr lang="en-US" sz="1050" dirty="0"/>
          </a:p>
        </p:txBody>
      </p:sp>
      <p:sp>
        <p:nvSpPr>
          <p:cNvPr id="22" name="bd_209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210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/ watch / on TV?</a:t>
            </a:r>
            <a:endParaRPr lang="en-US" sz="1150" dirty="0"/>
          </a:p>
        </p:txBody>
      </p:sp>
      <p:sp>
        <p:nvSpPr>
          <p:cNvPr id="24" name="R3_chip211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you watch on TV?</a:t>
            </a:r>
            <a:endParaRPr lang="en-US" sz="1050" dirty="0"/>
          </a:p>
        </p:txBody>
      </p:sp>
      <p:sp>
        <p:nvSpPr>
          <p:cNvPr id="25" name="bd_212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213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/ go / to bed late?</a:t>
            </a:r>
            <a:endParaRPr lang="en-US" sz="1150" dirty="0"/>
          </a:p>
        </p:txBody>
      </p:sp>
      <p:sp>
        <p:nvSpPr>
          <p:cNvPr id="27" name="R4_chip214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go to bed late?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1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17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weekend</a:t>
            </a:r>
            <a:endParaRPr lang="en-US" sz="2500" dirty="0"/>
          </a:p>
        </p:txBody>
      </p:sp>
      <p:pic>
        <p:nvPicPr>
          <p:cNvPr id="6" name="brP_21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 the questions. Ask ONE more question each time!</a:t>
            </a:r>
            <a:endParaRPr lang="en-US" sz="1100" dirty="0"/>
          </a:p>
        </p:txBody>
      </p:sp>
      <p:sp>
        <p:nvSpPr>
          <p:cNvPr id="8" name="insIT_22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e rispondi alle domande. Fai UNA domanda in più ogni volta!</a:t>
            </a:r>
            <a:endParaRPr lang="en-US" sz="950" dirty="0"/>
          </a:p>
        </p:txBody>
      </p:sp>
      <p:sp>
        <p:nvSpPr>
          <p:cNvPr id="9" name="note_22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2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2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last weekend   ·   📖 SB p.16 · Grammar 6</a:t>
            </a:r>
            <a:endParaRPr lang="en-US" sz="800" dirty="0"/>
          </a:p>
        </p:txBody>
      </p:sp>
      <p:sp>
        <p:nvSpPr>
          <p:cNvPr id="12" name="cd_224"/>
          <p:cNvSpPr/>
          <p:nvPr/>
        </p:nvSpPr>
        <p:spPr>
          <a:xfrm>
            <a:off x="320040" y="1417320"/>
            <a:ext cx="2788920" cy="1952752"/>
          </a:xfrm>
          <a:prstGeom prst="roundRect">
            <a:avLst>
              <a:gd name="adj" fmla="val 655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2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226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227"/>
          <p:cNvSpPr/>
          <p:nvPr/>
        </p:nvSpPr>
        <p:spPr>
          <a:xfrm>
            <a:off x="886968" y="1911096"/>
            <a:ext cx="2130552" cy="1385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did. / No, I didn't.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went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met… / I watched…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 What did you…?</a:t>
            </a:r>
            <a:endParaRPr lang="en-US" sz="1150" dirty="0"/>
          </a:p>
        </p:txBody>
      </p:sp>
      <p:sp>
        <p:nvSpPr>
          <p:cNvPr id="16" name="R1_qb22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229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you do last weekend?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 went to Mondello. – Really? Did you swim?</a:t>
            </a:r>
            <a:endParaRPr lang="en-US" sz="1200" dirty="0"/>
          </a:p>
        </p:txBody>
      </p:sp>
      <p:sp>
        <p:nvSpPr>
          <p:cNvPr id="18" name="R2_qb230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231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go shopping?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I did. I bought some trainers.</a:t>
            </a:r>
            <a:endParaRPr lang="en-US" sz="1200" dirty="0"/>
          </a:p>
        </p:txBody>
      </p:sp>
      <p:sp>
        <p:nvSpPr>
          <p:cNvPr id="20" name="R3_qb232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233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friends did you meet? Did you play any sports?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met Sofia and Marco. We played volleyball.</a:t>
            </a:r>
            <a:endParaRPr lang="en-US" sz="1200" dirty="0"/>
          </a:p>
        </p:txBody>
      </p:sp>
      <p:sp>
        <p:nvSpPr>
          <p:cNvPr id="22" name="R4_qb234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235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you watch on TV? Did you go to bed late?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watched a film. Yes – at midnight!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3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238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Adjective → adverb</a:t>
            </a:r>
            <a:endParaRPr lang="en-US" sz="2500" dirty="0"/>
          </a:p>
        </p:txBody>
      </p:sp>
      <p:pic>
        <p:nvPicPr>
          <p:cNvPr id="6" name="brP_23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240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adverbs. Which group? Say them!</a:t>
            </a:r>
            <a:endParaRPr lang="en-US" sz="1250" dirty="0"/>
          </a:p>
        </p:txBody>
      </p:sp>
      <p:sp>
        <p:nvSpPr>
          <p:cNvPr id="8" name="insIT_24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Forma gli avverbi. Quale gruppo? Dilli!</a:t>
            </a:r>
            <a:endParaRPr lang="en-US" sz="950" dirty="0"/>
          </a:p>
        </p:txBody>
      </p:sp>
      <p:sp>
        <p:nvSpPr>
          <p:cNvPr id="9" name="note_24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4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Vocabulary · adverbs   ·   📖 SB p.16 · Vocabulary 1, 2</a:t>
            </a:r>
            <a:endParaRPr lang="en-US" sz="800" dirty="0"/>
          </a:p>
        </p:txBody>
      </p:sp>
      <p:sp>
        <p:nvSpPr>
          <p:cNvPr id="12" name="bd_245"/>
          <p:cNvSpPr/>
          <p:nvPr/>
        </p:nvSpPr>
        <p:spPr>
          <a:xfrm>
            <a:off x="320040" y="144072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246"/>
          <p:cNvSpPr/>
          <p:nvPr/>
        </p:nvSpPr>
        <p:spPr>
          <a:xfrm>
            <a:off x="70408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international · angry · hard (from the text)</a:t>
            </a:r>
            <a:endParaRPr lang="en-US" sz="1000" dirty="0"/>
          </a:p>
        </p:txBody>
      </p:sp>
      <p:sp>
        <p:nvSpPr>
          <p:cNvPr id="14" name="R1_chip247"/>
          <p:cNvSpPr/>
          <p:nvPr/>
        </p:nvSpPr>
        <p:spPr>
          <a:xfrm>
            <a:off x="70408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internationally · angrily · hard</a:t>
            </a:r>
            <a:endParaRPr lang="en-US" sz="1150" dirty="0"/>
          </a:p>
        </p:txBody>
      </p:sp>
      <p:sp>
        <p:nvSpPr>
          <p:cNvPr id="15" name="bd_248"/>
          <p:cNvSpPr/>
          <p:nvPr/>
        </p:nvSpPr>
        <p:spPr>
          <a:xfrm>
            <a:off x="320040" y="2562393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249"/>
          <p:cNvSpPr/>
          <p:nvPr/>
        </p:nvSpPr>
        <p:spPr>
          <a:xfrm>
            <a:off x="70408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amazing · bad · careful · honest</a:t>
            </a:r>
            <a:endParaRPr lang="en-US" sz="1000" dirty="0"/>
          </a:p>
        </p:txBody>
      </p:sp>
      <p:sp>
        <p:nvSpPr>
          <p:cNvPr id="17" name="R2_chip250"/>
          <p:cNvSpPr/>
          <p:nvPr/>
        </p:nvSpPr>
        <p:spPr>
          <a:xfrm>
            <a:off x="70408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+ly: amazingly · badly · carefully · honestly</a:t>
            </a:r>
            <a:endParaRPr lang="en-US" sz="1150" dirty="0"/>
          </a:p>
        </p:txBody>
      </p:sp>
      <p:sp>
        <p:nvSpPr>
          <p:cNvPr id="18" name="bd_251"/>
          <p:cNvSpPr/>
          <p:nvPr/>
        </p:nvSpPr>
        <p:spPr>
          <a:xfrm>
            <a:off x="320040" y="368405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252"/>
          <p:cNvSpPr/>
          <p:nvPr/>
        </p:nvSpPr>
        <p:spPr>
          <a:xfrm>
            <a:off x="70408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polite · quick · rude · serious</a:t>
            </a:r>
            <a:endParaRPr lang="en-US" sz="1000" dirty="0"/>
          </a:p>
        </p:txBody>
      </p:sp>
      <p:sp>
        <p:nvSpPr>
          <p:cNvPr id="20" name="R3_chip253"/>
          <p:cNvSpPr/>
          <p:nvPr/>
        </p:nvSpPr>
        <p:spPr>
          <a:xfrm>
            <a:off x="70408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+ly: politely · quickly · rudely · seriously</a:t>
            </a:r>
            <a:endParaRPr lang="en-US" sz="1150" dirty="0"/>
          </a:p>
        </p:txBody>
      </p:sp>
      <p:sp>
        <p:nvSpPr>
          <p:cNvPr id="21" name="bd_254"/>
          <p:cNvSpPr/>
          <p:nvPr/>
        </p:nvSpPr>
        <p:spPr>
          <a:xfrm>
            <a:off x="4709160" y="1440729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255"/>
          <p:cNvSpPr/>
          <p:nvPr/>
        </p:nvSpPr>
        <p:spPr>
          <a:xfrm>
            <a:off x="509320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healthy · heavy</a:t>
            </a:r>
            <a:endParaRPr lang="en-US" sz="1000" dirty="0"/>
          </a:p>
        </p:txBody>
      </p:sp>
      <p:sp>
        <p:nvSpPr>
          <p:cNvPr id="23" name="R4_chip256"/>
          <p:cNvSpPr/>
          <p:nvPr/>
        </p:nvSpPr>
        <p:spPr>
          <a:xfrm>
            <a:off x="509320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 → ily: healthily · heavily</a:t>
            </a:r>
            <a:endParaRPr lang="en-US" sz="1150" dirty="0"/>
          </a:p>
        </p:txBody>
      </p:sp>
      <p:sp>
        <p:nvSpPr>
          <p:cNvPr id="24" name="bd_257"/>
          <p:cNvSpPr/>
          <p:nvPr/>
        </p:nvSpPr>
        <p:spPr>
          <a:xfrm>
            <a:off x="4709160" y="256239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258"/>
          <p:cNvSpPr/>
          <p:nvPr/>
        </p:nvSpPr>
        <p:spPr>
          <a:xfrm>
            <a:off x="509320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lazy · lucky</a:t>
            </a:r>
            <a:endParaRPr lang="en-US" sz="1000" dirty="0"/>
          </a:p>
        </p:txBody>
      </p:sp>
      <p:sp>
        <p:nvSpPr>
          <p:cNvPr id="26" name="R5_chip259"/>
          <p:cNvSpPr/>
          <p:nvPr/>
        </p:nvSpPr>
        <p:spPr>
          <a:xfrm>
            <a:off x="509320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 → ily: lazily · luckily</a:t>
            </a:r>
            <a:endParaRPr lang="en-US" sz="1150" dirty="0"/>
          </a:p>
        </p:txBody>
      </p:sp>
      <p:sp>
        <p:nvSpPr>
          <p:cNvPr id="27" name="bd_260"/>
          <p:cNvSpPr/>
          <p:nvPr/>
        </p:nvSpPr>
        <p:spPr>
          <a:xfrm>
            <a:off x="4709160" y="3684057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261"/>
          <p:cNvSpPr/>
          <p:nvPr/>
        </p:nvSpPr>
        <p:spPr>
          <a:xfrm>
            <a:off x="509320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early · fast · good</a:t>
            </a:r>
            <a:endParaRPr lang="en-US" sz="1000" dirty="0"/>
          </a:p>
        </p:txBody>
      </p:sp>
      <p:sp>
        <p:nvSpPr>
          <p:cNvPr id="29" name="R6_chip262"/>
          <p:cNvSpPr/>
          <p:nvPr/>
        </p:nvSpPr>
        <p:spPr>
          <a:xfrm>
            <a:off x="509320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irregular: early · fast · well!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360627" cy="621792"/>
          </a:xfrm>
          <a:prstGeom prst="rect">
            <a:avLst/>
          </a:prstGeom>
        </p:spPr>
      </p:pic>
      <p:sp>
        <p:nvSpPr>
          <p:cNvPr id="5" name="title_265"/>
          <p:cNvSpPr/>
          <p:nvPr/>
        </p:nvSpPr>
        <p:spPr>
          <a:xfrm>
            <a:off x="1261872" y="164592"/>
            <a:ext cx="10863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How?</a:t>
            </a:r>
            <a:endParaRPr lang="en-US" sz="2500" dirty="0"/>
          </a:p>
        </p:txBody>
      </p:sp>
      <p:pic>
        <p:nvPicPr>
          <p:cNvPr id="6" name="brP_2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267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sentences with adverbs.</a:t>
            </a:r>
            <a:endParaRPr lang="en-US" sz="1250" dirty="0"/>
          </a:p>
        </p:txBody>
      </p:sp>
      <p:sp>
        <p:nvSpPr>
          <p:cNvPr id="8" name="insIT_2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frasi con gli avverbi.</a:t>
            </a:r>
            <a:endParaRPr lang="en-US" sz="950" dirty="0"/>
          </a:p>
        </p:txBody>
      </p:sp>
      <p:sp>
        <p:nvSpPr>
          <p:cNvPr id="9" name="note_26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Vocabulary · practice   ·   📖 SB p.16 · Vocabulary 3</a:t>
            </a:r>
            <a:endParaRPr lang="en-US" sz="800" dirty="0"/>
          </a:p>
        </p:txBody>
      </p:sp>
      <p:sp>
        <p:nvSpPr>
          <p:cNvPr id="12" name="cd_272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7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4" name="R1_rdA27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5" name="R2_rdA27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6" name="R3_rdA27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slowly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7" name="R4_rdA27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slowly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quietly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8" name="R5_rdA27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slowly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quietly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hard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19" name="R6_rdA27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slowly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quietly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hard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20" name="R7_rdA28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 sisters were chatting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happily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(happy).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She was late, so she was walking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fast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(fast).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You mustn't talk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loudly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(loud) in the cinema.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My grandma is old. She walks quite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slowly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(slow).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What did he say? He's talking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quietly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(quiet).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I'm studying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hard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(hard) for the exam.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He plays the piano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(good).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Alana won the tennis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easily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(easy).</a:t>
            </a:r>
            <a:endParaRPr lang="en-US" sz="1000" dirty="0"/>
          </a:p>
        </p:txBody>
      </p:sp>
      <p:sp>
        <p:nvSpPr>
          <p:cNvPr id="21" name="cd_281"/>
          <p:cNvSpPr/>
          <p:nvPr/>
        </p:nvSpPr>
        <p:spPr>
          <a:xfrm>
            <a:off x="6263640" y="1417320"/>
            <a:ext cx="2606040" cy="1689608"/>
          </a:xfrm>
          <a:prstGeom prst="roundRect">
            <a:avLst>
              <a:gd name="adj" fmla="val 75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282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283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Careful!</a:t>
            </a:r>
            <a:endParaRPr lang="en-US" sz="1300" dirty="0"/>
          </a:p>
        </p:txBody>
      </p:sp>
      <p:sp>
        <p:nvSpPr>
          <p:cNvPr id="24" name="il_284"/>
          <p:cNvSpPr/>
          <p:nvPr/>
        </p:nvSpPr>
        <p:spPr>
          <a:xfrm>
            <a:off x="6830568" y="1911096"/>
            <a:ext cx="1947672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happy → happily (y → ily)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fast, hard → no change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good → well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8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87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it… slowly!</a:t>
            </a:r>
            <a:endParaRPr lang="en-US" sz="2500" dirty="0"/>
          </a:p>
        </p:txBody>
      </p:sp>
      <p:pic>
        <p:nvPicPr>
          <p:cNvPr id="6" name="brP_28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8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it out! Your team guesses the verb AND the adverb.</a:t>
            </a:r>
            <a:endParaRPr lang="en-US" sz="1250" dirty="0"/>
          </a:p>
        </p:txBody>
      </p:sp>
      <p:sp>
        <p:nvSpPr>
          <p:cNvPr id="8" name="insIT_29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Mimalo! La tua squadra indovina il verbo E l'avverbio.</a:t>
            </a:r>
            <a:endParaRPr lang="en-US" sz="950" dirty="0"/>
          </a:p>
        </p:txBody>
      </p:sp>
      <p:sp>
        <p:nvSpPr>
          <p:cNvPr id="9" name="note_29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29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Game · adverb charades   ·   📖 Recycles SB p.16 · Vocabulary</a:t>
            </a:r>
            <a:endParaRPr lang="en-US" sz="800" dirty="0"/>
          </a:p>
        </p:txBody>
      </p:sp>
      <p:sp>
        <p:nvSpPr>
          <p:cNvPr id="12" name="cd_294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9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9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97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student gets a card: verb + adverb.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it – no words!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guesses: 'You're walking slowly!' = 1 point.</a:t>
            </a:r>
            <a:endParaRPr lang="en-US" sz="1200" dirty="0"/>
          </a:p>
        </p:txBody>
      </p:sp>
      <p:sp>
        <p:nvSpPr>
          <p:cNvPr id="16" name="st_298"/>
          <p:cNvSpPr/>
          <p:nvPr/>
        </p:nvSpPr>
        <p:spPr>
          <a:xfrm rot="-180000">
            <a:off x="502920" y="3712464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99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300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walk + slowly</a:t>
            </a:r>
            <a:endParaRPr lang="en-US" sz="1250" dirty="0"/>
          </a:p>
        </p:txBody>
      </p:sp>
      <p:sp>
        <p:nvSpPr>
          <p:cNvPr id="19" name="chip_301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walking slowly!</a:t>
            </a:r>
            <a:endParaRPr lang="en-US" sz="1200" dirty="0"/>
          </a:p>
        </p:txBody>
      </p:sp>
      <p:sp>
        <p:nvSpPr>
          <p:cNvPr id="20" name="bd_302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03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eat + quickly</a:t>
            </a:r>
            <a:endParaRPr lang="en-US" sz="1250" dirty="0"/>
          </a:p>
        </p:txBody>
      </p:sp>
      <p:sp>
        <p:nvSpPr>
          <p:cNvPr id="22" name="R1_chip304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eating quickly!</a:t>
            </a:r>
            <a:endParaRPr lang="en-US" sz="1200" dirty="0"/>
          </a:p>
        </p:txBody>
      </p:sp>
      <p:sp>
        <p:nvSpPr>
          <p:cNvPr id="23" name="bd_305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06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dance + badly</a:t>
            </a:r>
            <a:endParaRPr lang="en-US" sz="1250" dirty="0"/>
          </a:p>
        </p:txBody>
      </p:sp>
      <p:sp>
        <p:nvSpPr>
          <p:cNvPr id="25" name="R2_chip307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dancing badly!</a:t>
            </a:r>
            <a:endParaRPr lang="en-US" sz="1200" dirty="0"/>
          </a:p>
        </p:txBody>
      </p:sp>
      <p:sp>
        <p:nvSpPr>
          <p:cNvPr id="26" name="bd_308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09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 + happily</a:t>
            </a:r>
            <a:endParaRPr lang="en-US" sz="1250" dirty="0"/>
          </a:p>
        </p:txBody>
      </p:sp>
      <p:sp>
        <p:nvSpPr>
          <p:cNvPr id="28" name="R3_chip310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singing happily!</a:t>
            </a:r>
            <a:endParaRPr lang="en-US" sz="1200" dirty="0"/>
          </a:p>
        </p:txBody>
      </p:sp>
      <p:sp>
        <p:nvSpPr>
          <p:cNvPr id="29" name="bd_311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312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+ quietly</a:t>
            </a:r>
            <a:endParaRPr lang="en-US" sz="1250" dirty="0"/>
          </a:p>
        </p:txBody>
      </p:sp>
      <p:sp>
        <p:nvSpPr>
          <p:cNvPr id="31" name="R4_chip313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talking quietly!</a:t>
            </a:r>
            <a:endParaRPr lang="en-US" sz="1200" dirty="0"/>
          </a:p>
        </p:txBody>
      </p:sp>
      <p:sp>
        <p:nvSpPr>
          <p:cNvPr id="32" name="bd_314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315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a door + carefully</a:t>
            </a:r>
            <a:endParaRPr lang="en-US" sz="1250" dirty="0"/>
          </a:p>
        </p:txBody>
      </p:sp>
      <p:sp>
        <p:nvSpPr>
          <p:cNvPr id="34" name="R5_chip316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opening the door carefully!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19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enjoy shopping?</a:t>
            </a:r>
            <a:endParaRPr lang="en-US" sz="2400" dirty="0"/>
          </a:p>
        </p:txBody>
      </p:sp>
      <p:pic>
        <p:nvPicPr>
          <p:cNvPr id="6" name="brP_3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321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 the questions about shopping.</a:t>
            </a:r>
            <a:endParaRPr lang="en-US" sz="1250" dirty="0"/>
          </a:p>
        </p:txBody>
      </p:sp>
      <p:sp>
        <p:nvSpPr>
          <p:cNvPr id="8" name="insIT_3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Discuti le domande sullo shopping.</a:t>
            </a:r>
            <a:endParaRPr lang="en-US" sz="950" dirty="0"/>
          </a:p>
        </p:txBody>
      </p:sp>
      <p:sp>
        <p:nvSpPr>
          <p:cNvPr id="9" name="note_3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shopping   ·   📖 SB p.17 · Speaking 1</a:t>
            </a:r>
            <a:endParaRPr lang="en-US" sz="800" dirty="0"/>
          </a:p>
        </p:txBody>
      </p:sp>
      <p:sp>
        <p:nvSpPr>
          <p:cNvPr id="12" name="pf_326"/>
          <p:cNvSpPr/>
          <p:nvPr/>
        </p:nvSpPr>
        <p:spPr>
          <a:xfrm rot="-120000">
            <a:off x="695189" y="1371600"/>
            <a:ext cx="2038622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27" descr="/home/claude/lls-course/v2/cache/prep2b_shopping_jpg_468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40909" y="1417320"/>
            <a:ext cx="1947182" cy="1234440"/>
          </a:xfrm>
          <a:prstGeom prst="rect">
            <a:avLst/>
          </a:prstGeom>
        </p:spPr>
      </p:pic>
      <p:sp>
        <p:nvSpPr>
          <p:cNvPr id="14" name="cd_328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29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30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31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love / hate shopping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usually go with…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usually buy…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go very often.</a:t>
            </a:r>
            <a:endParaRPr lang="en-US" sz="1150" dirty="0"/>
          </a:p>
        </p:txBody>
      </p:sp>
      <p:sp>
        <p:nvSpPr>
          <p:cNvPr id="18" name="R1_qb33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3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enjoy shopping for clothes? Why? / Why not?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Not really – it's boring and the shops are crowded.</a:t>
            </a:r>
            <a:endParaRPr lang="en-US" sz="1100" dirty="0"/>
          </a:p>
        </p:txBody>
      </p:sp>
      <p:sp>
        <p:nvSpPr>
          <p:cNvPr id="20" name="R2_qb33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3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do you usually go shopping with?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usually go with my mum.</a:t>
            </a:r>
            <a:endParaRPr lang="en-US" sz="1100" dirty="0"/>
          </a:p>
        </p:txBody>
      </p:sp>
      <p:sp>
        <p:nvSpPr>
          <p:cNvPr id="22" name="R3_qb33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3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usually buy?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Trainers and T-shirts.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3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340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Question check</a:t>
            </a:r>
            <a:endParaRPr lang="en-US" sz="2500" dirty="0"/>
          </a:p>
        </p:txBody>
      </p:sp>
      <p:pic>
        <p:nvPicPr>
          <p:cNvPr id="6" name="brP_34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342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correct words to make questions.</a:t>
            </a:r>
            <a:endParaRPr lang="en-US" sz="1250" dirty="0"/>
          </a:p>
        </p:txBody>
      </p:sp>
      <p:sp>
        <p:nvSpPr>
          <p:cNvPr id="8" name="insIT_34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Scegli le parole giuste per fare domande.</a:t>
            </a:r>
            <a:endParaRPr lang="en-US" sz="950" dirty="0"/>
          </a:p>
        </p:txBody>
      </p:sp>
      <p:sp>
        <p:nvSpPr>
          <p:cNvPr id="9" name="note_34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34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questions   ·   📖 SB p.17 · Speaking 2</a:t>
            </a:r>
            <a:endParaRPr lang="en-US" sz="800" dirty="0"/>
          </a:p>
        </p:txBody>
      </p:sp>
      <p:sp>
        <p:nvSpPr>
          <p:cNvPr id="12" name="cd_347"/>
          <p:cNvSpPr/>
          <p:nvPr/>
        </p:nvSpPr>
        <p:spPr>
          <a:xfrm>
            <a:off x="320040" y="1417320"/>
            <a:ext cx="2697480" cy="1450848"/>
          </a:xfrm>
          <a:prstGeom prst="roundRect">
            <a:avLst>
              <a:gd name="adj" fmla="val 882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4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4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50"/>
          <p:cNvSpPr/>
          <p:nvPr/>
        </p:nvSpPr>
        <p:spPr>
          <a:xfrm>
            <a:off x="886968" y="1911096"/>
            <a:ext cx="203911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it about YOU = 1 more point!</a:t>
            </a:r>
            <a:endParaRPr lang="en-US" sz="1200" dirty="0"/>
          </a:p>
        </p:txBody>
      </p:sp>
      <p:sp>
        <p:nvSpPr>
          <p:cNvPr id="16" name="st_351"/>
          <p:cNvSpPr/>
          <p:nvPr/>
        </p:nvSpPr>
        <p:spPr>
          <a:xfrm rot="-180000">
            <a:off x="502920" y="3051048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352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353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clothes do you like / you like wearing?</a:t>
            </a:r>
            <a:endParaRPr lang="en-US" sz="1200" dirty="0"/>
          </a:p>
        </p:txBody>
      </p:sp>
      <p:sp>
        <p:nvSpPr>
          <p:cNvPr id="19" name="chip_354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 you like</a:t>
            </a:r>
            <a:endParaRPr lang="en-US" sz="1200" dirty="0"/>
          </a:p>
        </p:txBody>
      </p:sp>
      <p:sp>
        <p:nvSpPr>
          <p:cNvPr id="20" name="bd_355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56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often you buy / do you buy new clothes?</a:t>
            </a:r>
            <a:endParaRPr lang="en-US" sz="1200" dirty="0"/>
          </a:p>
        </p:txBody>
      </p:sp>
      <p:sp>
        <p:nvSpPr>
          <p:cNvPr id="22" name="R1_chip357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 you buy</a:t>
            </a:r>
            <a:endParaRPr lang="en-US" sz="1200" dirty="0"/>
          </a:p>
        </p:txBody>
      </p:sp>
      <p:sp>
        <p:nvSpPr>
          <p:cNvPr id="23" name="bd_358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59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usually / you do usually buy your clothes?</a:t>
            </a:r>
            <a:endParaRPr lang="en-US" sz="1200" dirty="0"/>
          </a:p>
        </p:txBody>
      </p:sp>
      <p:sp>
        <p:nvSpPr>
          <p:cNvPr id="25" name="R2_chip360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 you usually</a:t>
            </a:r>
            <a:endParaRPr lang="en-US" sz="1200" dirty="0"/>
          </a:p>
        </p:txBody>
      </p:sp>
      <p:sp>
        <p:nvSpPr>
          <p:cNvPr id="26" name="bd_361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62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are / do you spend on clothes?</a:t>
            </a:r>
            <a:endParaRPr lang="en-US" sz="1200" dirty="0"/>
          </a:p>
        </p:txBody>
      </p:sp>
      <p:sp>
        <p:nvSpPr>
          <p:cNvPr id="28" name="R3_chip363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6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366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Harry's answers</a:t>
            </a:r>
            <a:endParaRPr lang="en-US" sz="2500" dirty="0"/>
          </a:p>
        </p:txBody>
      </p:sp>
      <p:pic>
        <p:nvPicPr>
          <p:cNvPr id="6" name="brP_36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6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Harry answers the questions. Guess the missing words!</a:t>
            </a:r>
            <a:endParaRPr lang="en-US" sz="1250" dirty="0"/>
          </a:p>
        </p:txBody>
      </p:sp>
      <p:sp>
        <p:nvSpPr>
          <p:cNvPr id="8" name="insIT_36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Harry risponde alle domande. Indovina le parole mancanti!</a:t>
            </a:r>
            <a:endParaRPr lang="en-US" sz="950" dirty="0"/>
          </a:p>
        </p:txBody>
      </p:sp>
      <p:sp>
        <p:nvSpPr>
          <p:cNvPr id="9" name="note_37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Controlled practice</a:t>
            </a:r>
            <a:endParaRPr lang="en-US" sz="1150" dirty="0"/>
          </a:p>
        </p:txBody>
      </p:sp>
      <p:pic>
        <p:nvPicPr>
          <p:cNvPr id="10" name="logo_37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a model answer   ·   📖 SB p.17 · Speaking 4 (no audio – predict, then check)</a:t>
            </a:r>
            <a:endParaRPr lang="en-US" sz="800" dirty="0"/>
          </a:p>
        </p:txBody>
      </p:sp>
      <p:sp>
        <p:nvSpPr>
          <p:cNvPr id="12" name="cd_373"/>
          <p:cNvSpPr/>
          <p:nvPr/>
        </p:nvSpPr>
        <p:spPr>
          <a:xfrm>
            <a:off x="320040" y="1417320"/>
            <a:ext cx="2697480" cy="1170432"/>
          </a:xfrm>
          <a:prstGeom prst="roundRect">
            <a:avLst>
              <a:gd name="adj" fmla="val 1093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7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7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76"/>
          <p:cNvSpPr/>
          <p:nvPr/>
        </p:nvSpPr>
        <p:spPr>
          <a:xfrm>
            <a:off x="886968" y="1911096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Harry uses the present simple + always, usually, often for habits – and gives reasons with 'because'.</a:t>
            </a:r>
            <a:endParaRPr lang="en-US" sz="850" dirty="0"/>
          </a:p>
        </p:txBody>
      </p:sp>
      <p:sp>
        <p:nvSpPr>
          <p:cNvPr id="16" name="bd_377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378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jeans always look good.</a:t>
            </a:r>
            <a:endParaRPr lang="en-US" sz="900" dirty="0"/>
          </a:p>
        </p:txBody>
      </p:sp>
      <p:sp>
        <p:nvSpPr>
          <p:cNvPr id="18" name="R1_chip379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think</a:t>
            </a:r>
            <a:endParaRPr lang="en-US" sz="1050" dirty="0"/>
          </a:p>
        </p:txBody>
      </p:sp>
      <p:sp>
        <p:nvSpPr>
          <p:cNvPr id="19" name="bd_380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381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go shopping ___.</a:t>
            </a:r>
            <a:endParaRPr lang="en-US" sz="900" dirty="0"/>
          </a:p>
        </p:txBody>
      </p:sp>
      <p:sp>
        <p:nvSpPr>
          <p:cNvPr id="21" name="R2_chip382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week</a:t>
            </a:r>
            <a:endParaRPr lang="en-US" sz="1050" dirty="0"/>
          </a:p>
        </p:txBody>
      </p:sp>
      <p:sp>
        <p:nvSpPr>
          <p:cNvPr id="22" name="bd_383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384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shopping in department stores because the clothes are too expensive.</a:t>
            </a:r>
            <a:endParaRPr lang="en-US" sz="900" dirty="0"/>
          </a:p>
        </p:txBody>
      </p:sp>
      <p:sp>
        <p:nvSpPr>
          <p:cNvPr id="24" name="R3_chip385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like</a:t>
            </a:r>
            <a:endParaRPr lang="en-US" sz="1050" dirty="0"/>
          </a:p>
        </p:txBody>
      </p:sp>
      <p:sp>
        <p:nvSpPr>
          <p:cNvPr id="25" name="bd_386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387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___ spend more when I get money for my birthday.</a:t>
            </a:r>
            <a:endParaRPr lang="en-US" sz="900" dirty="0"/>
          </a:p>
        </p:txBody>
      </p:sp>
      <p:sp>
        <p:nvSpPr>
          <p:cNvPr id="27" name="R4_chip388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39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391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Talking about yourself</a:t>
            </a:r>
            <a:endParaRPr lang="en-US" sz="2500" dirty="0"/>
          </a:p>
        </p:txBody>
      </p:sp>
      <p:pic>
        <p:nvPicPr>
          <p:cNvPr id="6" name="brP_39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9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Exam practice! Ask and answer the questions. Use the Prepare to speak phrases.</a:t>
            </a:r>
            <a:endParaRPr lang="en-US" sz="1100" dirty="0"/>
          </a:p>
        </p:txBody>
      </p:sp>
      <p:sp>
        <p:nvSpPr>
          <p:cNvPr id="8" name="insIT_39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Pratica d'esame! Fai e rispondi alle domande. Usa le frasi del box.</a:t>
            </a:r>
            <a:endParaRPr lang="en-US" sz="950" dirty="0"/>
          </a:p>
        </p:txBody>
      </p:sp>
      <p:sp>
        <p:nvSpPr>
          <p:cNvPr id="9" name="note_39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👨‍👩‍👧 groups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Exam practice</a:t>
            </a:r>
            <a:endParaRPr lang="en-US" sz="1250" dirty="0"/>
          </a:p>
        </p:txBody>
      </p:sp>
      <p:pic>
        <p:nvPicPr>
          <p:cNvPr id="10" name="logo_39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Speaking · B1 Preliminary Speaking Part 1   ·   📖 SB p.17 · Speaking 6</a:t>
            </a:r>
            <a:endParaRPr lang="en-US" sz="800" dirty="0"/>
          </a:p>
        </p:txBody>
      </p:sp>
      <p:sp>
        <p:nvSpPr>
          <p:cNvPr id="12" name="cd_398"/>
          <p:cNvSpPr/>
          <p:nvPr/>
        </p:nvSpPr>
        <p:spPr>
          <a:xfrm>
            <a:off x="320040" y="1417320"/>
            <a:ext cx="2788920" cy="2326640"/>
          </a:xfrm>
          <a:prstGeom prst="roundRect">
            <a:avLst>
              <a:gd name="adj" fmla="val 5502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9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14" name="ih_400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Prepare to speak</a:t>
            </a:r>
            <a:endParaRPr lang="en-US" sz="1300" dirty="0"/>
          </a:p>
        </p:txBody>
      </p:sp>
      <p:sp>
        <p:nvSpPr>
          <p:cNvPr id="15" name="il_401"/>
          <p:cNvSpPr/>
          <p:nvPr/>
        </p:nvSpPr>
        <p:spPr>
          <a:xfrm>
            <a:off x="886968" y="1911096"/>
            <a:ext cx="2130552" cy="1759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Habits: I usually…, I always…, I often…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Reasons: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Likes: I like…, I don't like…, I really like…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Opinion: I think…, I don't think…</a:t>
            </a:r>
            <a:endParaRPr lang="en-US" sz="1150" dirty="0"/>
          </a:p>
        </p:txBody>
      </p:sp>
      <p:sp>
        <p:nvSpPr>
          <p:cNvPr id="16" name="R1_qb40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40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clothes do you like wearing?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really like hoodies because they're comfortable.</a:t>
            </a:r>
            <a:endParaRPr lang="en-US" sz="1250" dirty="0"/>
          </a:p>
        </p:txBody>
      </p:sp>
      <p:sp>
        <p:nvSpPr>
          <p:cNvPr id="18" name="R2_qb40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40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often do you buy new clothes?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Not very often. I usually buy something for my birthday.</a:t>
            </a:r>
            <a:endParaRPr lang="en-US" sz="1250" dirty="0"/>
          </a:p>
        </p:txBody>
      </p:sp>
      <p:sp>
        <p:nvSpPr>
          <p:cNvPr id="20" name="R3_qb40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40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 you usually buy your clothes?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usually go to the shopping centre in Palermo.</a:t>
            </a:r>
            <a:endParaRPr lang="en-US" sz="1250" dirty="0"/>
          </a:p>
        </p:txBody>
      </p:sp>
      <p:sp>
        <p:nvSpPr>
          <p:cNvPr id="22" name="R4_qb408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409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do you spend on clothes?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don't spend much – I think clothes are too expensive.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1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12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1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14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1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16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1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1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Exit · what can you remember?</a:t>
            </a:r>
            <a:endParaRPr lang="en-US" sz="800" dirty="0"/>
          </a:p>
        </p:txBody>
      </p:sp>
      <p:sp>
        <p:nvSpPr>
          <p:cNvPr id="12" name="bd_419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20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irregular verbs in the past simple.</a:t>
            </a:r>
            <a:endParaRPr lang="en-US" sz="1400" dirty="0"/>
          </a:p>
        </p:txBody>
      </p:sp>
      <p:sp>
        <p:nvSpPr>
          <p:cNvPr id="14" name="bd_421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22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adverbs – one regular, one irregular.</a:t>
            </a:r>
            <a:endParaRPr lang="en-US" sz="1400" dirty="0"/>
          </a:p>
        </p:txBody>
      </p:sp>
      <p:sp>
        <p:nvSpPr>
          <p:cNvPr id="16" name="bd_423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24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 didn't do last weekend.</a:t>
            </a:r>
            <a:endParaRPr lang="en-US" sz="1400" dirty="0"/>
          </a:p>
        </p:txBody>
      </p:sp>
      <p:sp>
        <p:nvSpPr>
          <p:cNvPr id="18" name="cd_425"/>
          <p:cNvSpPr/>
          <p:nvPr/>
        </p:nvSpPr>
        <p:spPr>
          <a:xfrm>
            <a:off x="5669280" y="1417320"/>
            <a:ext cx="3200400" cy="1453896"/>
          </a:xfrm>
          <a:prstGeom prst="roundRect">
            <a:avLst>
              <a:gd name="adj" fmla="val 880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26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27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28"/>
          <p:cNvSpPr/>
          <p:nvPr/>
        </p:nvSpPr>
        <p:spPr>
          <a:xfrm>
            <a:off x="6236208" y="1911096"/>
            <a:ext cx="2542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p.10: grammar exercises 1–5 (past simple)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p.11: vocabulary exercises 1–2 (adverbs)</a:t>
            </a:r>
            <a:endParaRPr lang="en-US" sz="1150" dirty="0"/>
          </a:p>
        </p:txBody>
      </p:sp>
      <p:sp>
        <p:nvSpPr>
          <p:cNvPr id="22" name="st_429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Culture – traditional clothes (SB pp.18–19)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4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32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34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3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Review · what did you do today?</a:t>
            </a:r>
            <a:endParaRPr lang="en-US" sz="800" dirty="0"/>
          </a:p>
        </p:txBody>
      </p:sp>
      <p:sp>
        <p:nvSpPr>
          <p:cNvPr id="12" name="cd_439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40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⏪</a:t>
            </a:r>
            <a:endParaRPr lang="en-US" sz="1800" dirty="0"/>
          </a:p>
        </p:txBody>
      </p:sp>
      <p:sp>
        <p:nvSpPr>
          <p:cNvPr id="14" name="tt_441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the past: -ed, didn't, did…?</a:t>
            </a:r>
            <a:endParaRPr lang="en-US" sz="1350" dirty="0"/>
          </a:p>
        </p:txBody>
      </p:sp>
      <p:sp>
        <p:nvSpPr>
          <p:cNvPr id="15" name="R1_tk442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43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4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8" name="tt_445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irregular verbs</a:t>
            </a:r>
            <a:endParaRPr lang="en-US" sz="1350" dirty="0"/>
          </a:p>
        </p:txBody>
      </p:sp>
      <p:sp>
        <p:nvSpPr>
          <p:cNvPr id="19" name="R2_tk446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47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48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🐢</a:t>
            </a:r>
            <a:endParaRPr lang="en-US" sz="1800" dirty="0"/>
          </a:p>
        </p:txBody>
      </p:sp>
      <p:sp>
        <p:nvSpPr>
          <p:cNvPr id="22" name="tt_449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 adverbs: slowly, happily, well</a:t>
            </a:r>
            <a:endParaRPr lang="en-US" sz="1350" dirty="0"/>
          </a:p>
        </p:txBody>
      </p:sp>
      <p:sp>
        <p:nvSpPr>
          <p:cNvPr id="23" name="R3_tk450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51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52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26" name="tt_453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shopping</a:t>
            </a:r>
            <a:endParaRPr lang="en-US" sz="1350" dirty="0"/>
          </a:p>
        </p:txBody>
      </p:sp>
      <p:sp>
        <p:nvSpPr>
          <p:cNvPr id="27" name="R4_tk454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55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56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30" name="tt_457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the Speaking exam Part 1</a:t>
            </a:r>
            <a:endParaRPr lang="en-US" sz="1350" dirty="0"/>
          </a:p>
        </p:txBody>
      </p:sp>
      <p:sp>
        <p:nvSpPr>
          <p:cNvPr id="31" name="R5_tk458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59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460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46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462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463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2200" dirty="0"/>
          </a:p>
        </p:txBody>
      </p:sp>
      <p:pic>
        <p:nvPicPr>
          <p:cNvPr id="4" name="brY_46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466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builder</a:t>
            </a:r>
            <a:endParaRPr lang="en-US" sz="2500" dirty="0"/>
          </a:p>
        </p:txBody>
      </p:sp>
      <p:pic>
        <p:nvPicPr>
          <p:cNvPr id="6" name="brP_46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468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make words with the letters in UNCOMFORTABLE!</a:t>
            </a:r>
            <a:endParaRPr lang="en-US" sz="1250" dirty="0"/>
          </a:p>
        </p:txBody>
      </p:sp>
      <p:sp>
        <p:nvSpPr>
          <p:cNvPr id="8" name="insIT_46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formate parole con le lettere di UNCOMFORTABLE!</a:t>
            </a:r>
            <a:endParaRPr lang="en-US" sz="950" dirty="0"/>
          </a:p>
        </p:txBody>
      </p:sp>
      <p:sp>
        <p:nvSpPr>
          <p:cNvPr id="9" name="note_47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47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7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2B · Cooler · word game   ·   📖 TB p.30 · cooler</a:t>
            </a:r>
            <a:endParaRPr lang="en-US" sz="800" dirty="0"/>
          </a:p>
        </p:txBody>
      </p:sp>
      <p:sp>
        <p:nvSpPr>
          <p:cNvPr id="12" name="ext_473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474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47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5" name="ih_47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6" name="il_477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minutes. Use each letter once (o twice – it's there twice!).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 letters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More than 4 letters = 1 bonus point!</a:t>
            </a:r>
            <a:endParaRPr lang="en-US" sz="1200" dirty="0"/>
          </a:p>
        </p:txBody>
      </p:sp>
      <p:sp>
        <p:nvSpPr>
          <p:cNvPr id="17" name="st_478"/>
          <p:cNvSpPr/>
          <p:nvPr/>
        </p:nvSpPr>
        <p:spPr>
          <a:xfrm rot="-180000">
            <a:off x="502920" y="3712464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8" name="bd_479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9" name="gq_480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letters</a:t>
            </a:r>
            <a:endParaRPr lang="en-US" sz="1250" dirty="0"/>
          </a:p>
        </p:txBody>
      </p:sp>
      <p:sp>
        <p:nvSpPr>
          <p:cNvPr id="20" name="chip_481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are, cat, far, fat, for, not, one, ten</a:t>
            </a:r>
            <a:endParaRPr lang="en-US" sz="1150" dirty="0"/>
          </a:p>
        </p:txBody>
      </p:sp>
      <p:sp>
        <p:nvSpPr>
          <p:cNvPr id="21" name="bd_482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gq_483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letters</a:t>
            </a:r>
            <a:endParaRPr lang="en-US" sz="1250" dirty="0"/>
          </a:p>
        </p:txBody>
      </p:sp>
      <p:sp>
        <p:nvSpPr>
          <p:cNvPr id="23" name="R1_chip484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blue, boat, comb, come, foot, form, four, from, late, moon, more, near, room, tune</a:t>
            </a:r>
            <a:endParaRPr lang="en-US" sz="1150" dirty="0"/>
          </a:p>
        </p:txBody>
      </p:sp>
      <p:sp>
        <p:nvSpPr>
          <p:cNvPr id="24" name="bd_485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gq_486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more than 4</a:t>
            </a:r>
            <a:endParaRPr lang="en-US" sz="1250" dirty="0"/>
          </a:p>
        </p:txBody>
      </p:sp>
      <p:sp>
        <p:nvSpPr>
          <p:cNvPr id="26" name="R2_chip487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comfort, comfortable, count, table, trouble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In fashion (2)</dc:title>
  <dc:subject>PptxGenJS Presentation</dc:subject>
  <dc:creator>PptxGenJS</dc:creator>
  <cp:lastModifiedBy>PptxGenJS</cp:lastModifiedBy>
  <cp:revision>1</cp:revision>
  <dcterms:created xsi:type="dcterms:W3CDTF">2026-10-21T14:17:01Z</dcterms:created>
  <dcterms:modified xsi:type="dcterms:W3CDTF">2026-10-21T14:17:01Z</dcterms:modified>
</cp:coreProperties>
</file>