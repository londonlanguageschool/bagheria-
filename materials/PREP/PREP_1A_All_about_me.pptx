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SB 'About you'. Ask both questions; point out that Q1 = appearance (looks), Q2 = personality. Model with yourself first (click: the example answer). Take 3–4 answers – don't correct much yet, just collect words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Warmer · words you know (4 min)
WARMER (4 min) – TB warmer, made into a team race. Read the round title; teams have 30 seconds to write words on paper. Click: example words. Teams read their lists: a correctly spelt word = 1 point; using it in a sentence ('My dad has got curly hair') = 1 more point. Write good words on the board – you'll use them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Vocabulary · describing people (looks) (4 min)
KEY WORDS (4 min). SB ex.2. Two levels: strong students explain each word in English; others say the Italian. Click 1 = English meaning, click 2 = Italian. Drill: bald /bɔːld/, curly /ˈkɜːli/, straight /streɪt/, thirties /ˈθɜːtiz/. Then SB table: Age = elderly, middle-aged, teenage, in his/her (early/late) twenties/thirties · Looks = attractive, good-looking, handsome, pretty · Hair = bald, blonde, curly, dark, fair, straight.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Speaking · describe and guess (4 min)
SPEAKING (4 min). SB ex.3. Model with the class first (line 1). Then pairs: A describes a person in the photos, B guesses. Swap. Line 4 (challenge): describe a classmate – keep it kind! Listen for has got + hair word order: 'long straight dark hair' (length → type →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Vocabulary · personality adjectives (5 min)
PERSONALITY ADJECTIVES (5 min). SB ex.4 – the descriptions are on the slide. Pairs choose; click once per item: the answer highlighted. Key (TB): 1 polite 2 funny 3 friendly 4 careless 5 miserable 6 confident. No audio: instead of 'listen and check', ask 'Which words in the sentence helped you?' (says please → polite; always smiling → not miserable). Check other adjectives in the texts: clever, great, lazy, untidy.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Vocabulary · opposites (4 min)
OPPOSITES (4 min). SB ex.5 as a quick team game. Say the word on the left; the first team to say the opposite gets a point; a correct sentence gets a second point. Click: the answer + an example. Key (TB): careful–careless, cheerful–miserable, rude–polite, serious–funny, shy–confident, unfriendly–friendly. Drill: miserable /ˈmɪzrəbl/.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Speaking · describe a person (4 min)
SPEAKING (4 min). SB ex.6–7. Model first: describe yourself (line 1), then describe a famous person the class knows and let them guess. Pairs: looks + personality, 2 yes/no questions, then a guess. Push for 'quite / really / a bit + adjective'.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Reading · lead-in (2 min)
LEAD-IN (2 min). SB Reading ex.1 – the website text is in question 1. Quick discussion: privacy is a good point to raise ('Would you post your photo?'). Then: 'Three students posted profiles – Lucas, Grace and Alfie (photo).'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Reading · gist (top-down) (4 min)
GIST (4 min). SB Reading ex.2 – the profiles are on the slides, no books. 2 minutes: read fast, match each person to ONE interest (one interest is extra). Click: the answer. Ask: 'Which words tell you?' (Lucas: computers and gaming, code · Grace: sport, hockey, football, tennis). TB answers: Lucas – technology, Grace – fitness, Alfie – going to the cinema.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Reading · open cloze (B1 Preliminary Reading Part 6) (5 min)
OPEN CLOZE (5 min). SB Reading ex.3 = B1 Preliminary for Schools Reading Part 6. Do gap 1 together: 'but I ___ be quite serious' – a word before a base form → a modal verb (can). Pairs do 2–6. Click 1 = Alfie's interest (cinema), then one click per gap: the word appears in the text. Key (TB): 1 can (modal verb) 2 of (preposition) 3 them (pronoun) 4 in (preposition) 5 one (pronoun) 6 to (part of the infinitive). Weaker students: tell them the TYPE of word for each gap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Reading · detail (scanning) (4 min)
DETAIL (4 min). SB Reading ex.4. Pairs find the person AND the words that prove it (they can go back to the two text slides). Click once per line: the name + the words from the text. Always ask: 'Where does it say that?' Key (TB): 1 Alfie 2 Grace 3 Lucas 4 Grace 5 Alfie 6 Lucas.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Vocabulary · useful phrases from the texts (3 min)
USEFUL PHRASES (3 min). SB Reading ex.5. Pairs scan for the phrase that matches each meaning. Click: the full sentence from the text, phrase highlighted. Key (TB): 1 take part 2 make progress 3 only child 4 code 5 be into (something) 6 patient. Fast finishers (TB): choose 3 phrases and write a sentence about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Speaking · class story (TPRS) (4 min)
TPRS CLASS STORY (4 min) – you READ it, line by line (click). Ask the grey questions round the class: easy facts first, then personal questions. Let students change details ('Is it the guitar? The drums?') and use their ideas. The highlighted phrases are today's phrases from the profiles.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Speaking · retell (TPRS) (3 min)
RETELL (3 min). Only one word per line. A tells lines 1–3, B tells 4–6, then swap. Challenge: tell it as Marco ('I'm an only child…') or add one new detail to each line. Listen for: I'm into / I'm taking part in / I'm making progress (present continuous for now – next lesson's grammar!).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Speaking · talking points (4 min)
TALKING POINTS (4 min). TB: class vote first (line 2), then groups discuss the second question. Monitor and give positive feedback on good ideas; note 2–3 mistakes for the board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Exit · what can you remember? (2 min)
EXIT (2 min). Pairs, books closed. Ask 3 students for their '1'. Homework is in the students'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Prepare · Unit 1 · SB pp.10–11</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1A</a:t>
            </a:r>
            <a:endParaRPr lang="en-US" sz="28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2800" dirty="0">
                <a:solidFill>
                  <a:srgbClr val="1B2559"/>
                </a:solidFill>
                <a:latin typeface="Arial Rounded MT Bold" pitchFamily="34" charset="0"/>
                <a:ea typeface="Arial Rounded MT Bold" pitchFamily="34" charset="-122"/>
                <a:cs typeface="Arial Rounded MT Bold" pitchFamily="34" charset="-120"/>
              </a:rPr>
              <a:t>All about me</a:t>
            </a:r>
            <a:endParaRPr lang="en-US" sz="28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Describing people · online profiles</a:t>
            </a:r>
            <a:endParaRPr lang="en-US" sz="1200" dirty="0"/>
          </a:p>
        </p:txBody>
      </p:sp>
      <p:sp>
        <p:nvSpPr>
          <p:cNvPr id="9" name="cd_7"/>
          <p:cNvSpPr/>
          <p:nvPr/>
        </p:nvSpPr>
        <p:spPr>
          <a:xfrm>
            <a:off x="365760" y="2148840"/>
            <a:ext cx="4206240" cy="1691640"/>
          </a:xfrm>
          <a:prstGeom prst="roundRect">
            <a:avLst>
              <a:gd name="adj" fmla="val 7568"/>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1124712"/>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describe what people look like</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learn 6 personality adjectives + opposites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read three online profiles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learn 6 useful phrases from the texts</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tell a class story and describe your friends</a:t>
            </a:r>
            <a:endParaRPr lang="en-US" sz="85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I've got short dark hair. I'm quite friendly, but a bit shy.</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prep1_families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What do you look like? What type of person are you?</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19"/>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30-second word race</a:t>
            </a:r>
            <a:endParaRPr lang="en-US" sz="25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4901184" cy="402336"/>
          </a:xfrm>
          <a:prstGeom prst="rect">
            <a:avLst/>
          </a:prstGeom>
        </p:spPr>
      </p:pic>
      <p:sp>
        <p:nvSpPr>
          <p:cNvPr id="7" name="ins_21"/>
          <p:cNvSpPr/>
          <p:nvPr/>
        </p:nvSpPr>
        <p:spPr>
          <a:xfrm>
            <a:off x="1353312" y="731520"/>
            <a:ext cx="464515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Teams: 30 seconds! How many words can you write?</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Squadre: 30 secondi! Quante parole sapete scrivere?</a:t>
            </a:r>
            <a:endParaRPr lang="en-US" sz="950" dirty="0"/>
          </a:p>
        </p:txBody>
      </p:sp>
      <p:sp>
        <p:nvSpPr>
          <p:cNvPr id="9" name="cmd_23"/>
          <p:cNvSpPr/>
          <p:nvPr/>
        </p:nvSpPr>
        <p:spPr>
          <a:xfrm>
            <a:off x="6510528" y="182880"/>
            <a:ext cx="1901952" cy="274320"/>
          </a:xfrm>
          <a:prstGeom prst="roundRect">
            <a:avLst>
              <a:gd name="adj" fmla="val 5000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GIOCA</a:t>
            </a:r>
            <a:endParaRPr lang="en-US" sz="950" dirty="0"/>
          </a:p>
        </p:txBody>
      </p:sp>
      <p:sp>
        <p:nvSpPr>
          <p:cNvPr id="10" name="meta_24"/>
          <p:cNvSpPr/>
          <p:nvPr/>
        </p:nvSpPr>
        <p:spPr>
          <a:xfrm>
            <a:off x="6510528" y="493776"/>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4 min   🏆 teams</a:t>
            </a:r>
            <a:endParaRPr lang="en-US" sz="950" dirty="0"/>
          </a:p>
        </p:txBody>
      </p:sp>
      <p:sp>
        <p:nvSpPr>
          <p:cNvPr id="11" name="tag_25"/>
          <p:cNvSpPr/>
          <p:nvPr/>
        </p:nvSpPr>
        <p:spPr>
          <a:xfrm>
            <a:off x="6510528" y="804672"/>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Communicative game</a:t>
            </a:r>
            <a:endParaRPr lang="en-US" sz="7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Warmer · words you know   ·   📖 TB p.17 · warmer</a:t>
            </a:r>
            <a:endParaRPr lang="en-US" sz="800" dirty="0"/>
          </a:p>
        </p:txBody>
      </p:sp>
      <p:sp>
        <p:nvSpPr>
          <p:cNvPr id="14" name="cd_28"/>
          <p:cNvSpPr/>
          <p:nvPr/>
        </p:nvSpPr>
        <p:spPr>
          <a:xfrm>
            <a:off x="320040" y="1417320"/>
            <a:ext cx="2697480" cy="2307336"/>
          </a:xfrm>
          <a:prstGeom prst="roundRect">
            <a:avLst>
              <a:gd name="adj" fmla="val 5548"/>
            </a:avLst>
          </a:prstGeom>
          <a:solidFill>
            <a:srgbClr val="FFF6CC"/>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15" name="ii_29"/>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0"/>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31"/>
          <p:cNvSpPr/>
          <p:nvPr/>
        </p:nvSpPr>
        <p:spPr>
          <a:xfrm>
            <a:off x="886968" y="1911096"/>
            <a:ext cx="2039112" cy="174040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30 seconds per round. Write as many words as you can.</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Spell it right = 1 point.</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Say it in a sentence = 1 more point!</a:t>
            </a:r>
            <a:endParaRPr lang="en-US" sz="1200" dirty="0"/>
          </a:p>
        </p:txBody>
      </p:sp>
      <p:sp>
        <p:nvSpPr>
          <p:cNvPr id="18" name="st_32"/>
          <p:cNvSpPr/>
          <p:nvPr/>
        </p:nvSpPr>
        <p:spPr>
          <a:xfrm rot="-180000">
            <a:off x="502920" y="3907536"/>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9" name="bd_33"/>
          <p:cNvSpPr/>
          <p:nvPr/>
        </p:nvSpPr>
        <p:spPr>
          <a:xfrm>
            <a:off x="3246120" y="1572768"/>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gq_34"/>
          <p:cNvSpPr/>
          <p:nvPr/>
        </p:nvSpPr>
        <p:spPr>
          <a:xfrm>
            <a:off x="3657600" y="1417320"/>
            <a:ext cx="2514600" cy="640080"/>
          </a:xfrm>
          <a:prstGeom prst="roundRect">
            <a:avLst>
              <a:gd name="adj" fmla="val 1428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Words for HAIR</a:t>
            </a:r>
            <a:endParaRPr lang="en-US" sz="1250" dirty="0"/>
          </a:p>
        </p:txBody>
      </p:sp>
      <p:sp>
        <p:nvSpPr>
          <p:cNvPr id="21" name="R1_chip35"/>
          <p:cNvSpPr/>
          <p:nvPr/>
        </p:nvSpPr>
        <p:spPr>
          <a:xfrm>
            <a:off x="6263640" y="1417320"/>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long, short, dark, blonde, curly, straight…</a:t>
            </a:r>
            <a:endParaRPr lang="en-US" sz="1200" dirty="0"/>
          </a:p>
        </p:txBody>
      </p:sp>
      <p:sp>
        <p:nvSpPr>
          <p:cNvPr id="22" name="bd_36"/>
          <p:cNvSpPr/>
          <p:nvPr/>
        </p:nvSpPr>
        <p:spPr>
          <a:xfrm>
            <a:off x="3246120" y="227685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gq_37"/>
          <p:cNvSpPr/>
          <p:nvPr/>
        </p:nvSpPr>
        <p:spPr>
          <a:xfrm>
            <a:off x="3657600" y="2121408"/>
            <a:ext cx="2514600" cy="640080"/>
          </a:xfrm>
          <a:prstGeom prst="roundRect">
            <a:avLst>
              <a:gd name="adj" fmla="val 1428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Words for AGE</a:t>
            </a:r>
            <a:endParaRPr lang="en-US" sz="1250" dirty="0"/>
          </a:p>
        </p:txBody>
      </p:sp>
      <p:sp>
        <p:nvSpPr>
          <p:cNvPr id="24" name="R2_chip38"/>
          <p:cNvSpPr/>
          <p:nvPr/>
        </p:nvSpPr>
        <p:spPr>
          <a:xfrm>
            <a:off x="6263640" y="2121408"/>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young, old, teenage, middle-aged…</a:t>
            </a:r>
            <a:endParaRPr lang="en-US" sz="1200" dirty="0"/>
          </a:p>
        </p:txBody>
      </p:sp>
      <p:sp>
        <p:nvSpPr>
          <p:cNvPr id="25" name="bd_39"/>
          <p:cNvSpPr/>
          <p:nvPr/>
        </p:nvSpPr>
        <p:spPr>
          <a:xfrm>
            <a:off x="3246120" y="298094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gq_40"/>
          <p:cNvSpPr/>
          <p:nvPr/>
        </p:nvSpPr>
        <p:spPr>
          <a:xfrm>
            <a:off x="3657600" y="2825496"/>
            <a:ext cx="2514600" cy="640080"/>
          </a:xfrm>
          <a:prstGeom prst="roundRect">
            <a:avLst>
              <a:gd name="adj" fmla="val 1428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Words for PERSONALITY</a:t>
            </a:r>
            <a:endParaRPr lang="en-US" sz="1250" dirty="0"/>
          </a:p>
        </p:txBody>
      </p:sp>
      <p:sp>
        <p:nvSpPr>
          <p:cNvPr id="27" name="R3_chip41"/>
          <p:cNvSpPr/>
          <p:nvPr/>
        </p:nvSpPr>
        <p:spPr>
          <a:xfrm>
            <a:off x="6263640" y="2825496"/>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friendly, funny, shy, kind, lazy…</a:t>
            </a:r>
            <a:endParaRPr lang="en-US" sz="1200" dirty="0"/>
          </a:p>
        </p:txBody>
      </p:sp>
      <p:sp>
        <p:nvSpPr>
          <p:cNvPr id="28" name="bd_42"/>
          <p:cNvSpPr/>
          <p:nvPr/>
        </p:nvSpPr>
        <p:spPr>
          <a:xfrm>
            <a:off x="3246120" y="3685032"/>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9" name="gq_43"/>
          <p:cNvSpPr/>
          <p:nvPr/>
        </p:nvSpPr>
        <p:spPr>
          <a:xfrm>
            <a:off x="3657600" y="3529584"/>
            <a:ext cx="2514600" cy="640080"/>
          </a:xfrm>
          <a:prstGeom prst="roundRect">
            <a:avLst>
              <a:gd name="adj" fmla="val 14286"/>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Words for your FAMILY</a:t>
            </a:r>
            <a:endParaRPr lang="en-US" sz="1250" dirty="0"/>
          </a:p>
        </p:txBody>
      </p:sp>
      <p:sp>
        <p:nvSpPr>
          <p:cNvPr id="30" name="R4_chip44"/>
          <p:cNvSpPr/>
          <p:nvPr/>
        </p:nvSpPr>
        <p:spPr>
          <a:xfrm>
            <a:off x="6263640" y="3529584"/>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mum, dad, brother, sister, cousin, aunt…</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5"/>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46"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47"/>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do they look like?</a:t>
            </a:r>
            <a:endParaRPr lang="en-US" sz="2500" dirty="0"/>
          </a:p>
        </p:txBody>
      </p:sp>
      <p:pic>
        <p:nvPicPr>
          <p:cNvPr id="6" name="brP_48"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49"/>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Explain it in English (harder) – or say it in Italian (easier). Click.</a:t>
            </a:r>
            <a:endParaRPr lang="en-US" sz="1100" dirty="0"/>
          </a:p>
        </p:txBody>
      </p:sp>
      <p:sp>
        <p:nvSpPr>
          <p:cNvPr id="8" name="insIT_5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Spiegalo in inglese (più difficile) – o dillo in italiano (più facile). Clicca.</a:t>
            </a:r>
            <a:endParaRPr lang="en-US" sz="950" dirty="0"/>
          </a:p>
        </p:txBody>
      </p:sp>
      <p:sp>
        <p:nvSpPr>
          <p:cNvPr id="9" name="cmd_51"/>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CONTROLLA</a:t>
            </a:r>
            <a:endParaRPr lang="en-US" sz="950" dirty="0"/>
          </a:p>
        </p:txBody>
      </p:sp>
      <p:sp>
        <p:nvSpPr>
          <p:cNvPr id="10" name="meta_52"/>
          <p:cNvSpPr/>
          <p:nvPr/>
        </p:nvSpPr>
        <p:spPr>
          <a:xfrm>
            <a:off x="6510528" y="493776"/>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1" name="tag_53"/>
          <p:cNvSpPr/>
          <p:nvPr/>
        </p:nvSpPr>
        <p:spPr>
          <a:xfrm>
            <a:off x="6510528" y="804672"/>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TPRS · meaning</a:t>
            </a:r>
            <a:endParaRPr lang="en-US" sz="750" dirty="0"/>
          </a:p>
        </p:txBody>
      </p:sp>
      <p:pic>
        <p:nvPicPr>
          <p:cNvPr id="12" name="logo_5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Vocabulary · describing people (looks)   ·   📖 SB p.10 · 2</a:t>
            </a:r>
            <a:endParaRPr lang="en-US" sz="800" dirty="0"/>
          </a:p>
        </p:txBody>
      </p:sp>
      <p:sp>
        <p:nvSpPr>
          <p:cNvPr id="14" name="cd_56"/>
          <p:cNvSpPr/>
          <p:nvPr/>
        </p:nvSpPr>
        <p:spPr>
          <a:xfrm>
            <a:off x="320040" y="1417320"/>
            <a:ext cx="2075688" cy="914400"/>
          </a:xfrm>
          <a:prstGeom prst="roundRect">
            <a:avLst>
              <a:gd name="adj" fmla="val 140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5" name="e_57"/>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58"/>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bald</a:t>
            </a:r>
            <a:endParaRPr lang="en-US" sz="1200" dirty="0"/>
          </a:p>
        </p:txBody>
      </p:sp>
      <p:sp>
        <p:nvSpPr>
          <p:cNvPr id="17" name="R1_def59"/>
          <p:cNvSpPr/>
          <p:nvPr/>
        </p:nvSpPr>
        <p:spPr>
          <a:xfrm>
            <a:off x="978408"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no hair on your head</a:t>
            </a:r>
            <a:endParaRPr lang="en-US" sz="850" dirty="0"/>
          </a:p>
        </p:txBody>
      </p:sp>
      <p:sp>
        <p:nvSpPr>
          <p:cNvPr id="18" name="R2_it60"/>
          <p:cNvSpPr/>
          <p:nvPr/>
        </p:nvSpPr>
        <p:spPr>
          <a:xfrm>
            <a:off x="978408" y="212140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calvo</a:t>
            </a:r>
            <a:endParaRPr lang="en-US" sz="900" dirty="0"/>
          </a:p>
        </p:txBody>
      </p:sp>
      <p:sp>
        <p:nvSpPr>
          <p:cNvPr id="19" name="cd_61"/>
          <p:cNvSpPr/>
          <p:nvPr/>
        </p:nvSpPr>
        <p:spPr>
          <a:xfrm>
            <a:off x="2487168" y="1417320"/>
            <a:ext cx="2075688" cy="914400"/>
          </a:xfrm>
          <a:prstGeom prst="roundRect">
            <a:avLst>
              <a:gd name="adj" fmla="val 140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20" name="e_62"/>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1" name="en_63"/>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curly hair</a:t>
            </a:r>
            <a:endParaRPr lang="en-US" sz="1200" dirty="0"/>
          </a:p>
        </p:txBody>
      </p:sp>
      <p:sp>
        <p:nvSpPr>
          <p:cNvPr id="22" name="R3_def64"/>
          <p:cNvSpPr/>
          <p:nvPr/>
        </p:nvSpPr>
        <p:spPr>
          <a:xfrm>
            <a:off x="3145536"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hair with lots of curls</a:t>
            </a:r>
            <a:endParaRPr lang="en-US" sz="850" dirty="0"/>
          </a:p>
        </p:txBody>
      </p:sp>
      <p:sp>
        <p:nvSpPr>
          <p:cNvPr id="23" name="R4_it65"/>
          <p:cNvSpPr/>
          <p:nvPr/>
        </p:nvSpPr>
        <p:spPr>
          <a:xfrm>
            <a:off x="3145536" y="212140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capelli ricci</a:t>
            </a:r>
            <a:endParaRPr lang="en-US" sz="900" dirty="0"/>
          </a:p>
        </p:txBody>
      </p:sp>
      <p:sp>
        <p:nvSpPr>
          <p:cNvPr id="24" name="cd_66"/>
          <p:cNvSpPr/>
          <p:nvPr/>
        </p:nvSpPr>
        <p:spPr>
          <a:xfrm>
            <a:off x="4654296" y="1417320"/>
            <a:ext cx="2075688" cy="914400"/>
          </a:xfrm>
          <a:prstGeom prst="roundRect">
            <a:avLst>
              <a:gd name="adj" fmla="val 140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5" name="e_67"/>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6" name="en_68"/>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straight hair</a:t>
            </a:r>
            <a:endParaRPr lang="en-US" sz="1200" dirty="0"/>
          </a:p>
        </p:txBody>
      </p:sp>
      <p:sp>
        <p:nvSpPr>
          <p:cNvPr id="27" name="R5_def69"/>
          <p:cNvSpPr/>
          <p:nvPr/>
        </p:nvSpPr>
        <p:spPr>
          <a:xfrm>
            <a:off x="5312664"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hair with no curls</a:t>
            </a:r>
            <a:endParaRPr lang="en-US" sz="850" dirty="0"/>
          </a:p>
        </p:txBody>
      </p:sp>
      <p:sp>
        <p:nvSpPr>
          <p:cNvPr id="28" name="R6_it70"/>
          <p:cNvSpPr/>
          <p:nvPr/>
        </p:nvSpPr>
        <p:spPr>
          <a:xfrm>
            <a:off x="5312664" y="212140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capelli lisci</a:t>
            </a:r>
            <a:endParaRPr lang="en-US" sz="900" dirty="0"/>
          </a:p>
        </p:txBody>
      </p:sp>
      <p:sp>
        <p:nvSpPr>
          <p:cNvPr id="29" name="cd_71"/>
          <p:cNvSpPr/>
          <p:nvPr/>
        </p:nvSpPr>
        <p:spPr>
          <a:xfrm>
            <a:off x="6821424" y="1417320"/>
            <a:ext cx="2075688" cy="914400"/>
          </a:xfrm>
          <a:prstGeom prst="roundRect">
            <a:avLst>
              <a:gd name="adj" fmla="val 140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30" name="e_72"/>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1" name="en_73"/>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fair hair</a:t>
            </a:r>
            <a:endParaRPr lang="en-US" sz="1200" dirty="0"/>
          </a:p>
        </p:txBody>
      </p:sp>
      <p:sp>
        <p:nvSpPr>
          <p:cNvPr id="32" name="R7_def74"/>
          <p:cNvSpPr/>
          <p:nvPr/>
        </p:nvSpPr>
        <p:spPr>
          <a:xfrm>
            <a:off x="7479792"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light-coloured hair</a:t>
            </a:r>
            <a:endParaRPr lang="en-US" sz="850" dirty="0"/>
          </a:p>
        </p:txBody>
      </p:sp>
      <p:sp>
        <p:nvSpPr>
          <p:cNvPr id="33" name="R8_it75"/>
          <p:cNvSpPr/>
          <p:nvPr/>
        </p:nvSpPr>
        <p:spPr>
          <a:xfrm>
            <a:off x="7479792" y="212140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capelli chiari, biondi</a:t>
            </a:r>
            <a:endParaRPr lang="en-US" sz="900" dirty="0"/>
          </a:p>
        </p:txBody>
      </p:sp>
      <p:sp>
        <p:nvSpPr>
          <p:cNvPr id="34" name="cd_76"/>
          <p:cNvSpPr/>
          <p:nvPr/>
        </p:nvSpPr>
        <p:spPr>
          <a:xfrm>
            <a:off x="320040" y="2423160"/>
            <a:ext cx="2075688" cy="914400"/>
          </a:xfrm>
          <a:prstGeom prst="roundRect">
            <a:avLst>
              <a:gd name="adj" fmla="val 140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35" name="e_77"/>
          <p:cNvSpPr/>
          <p:nvPr/>
        </p:nvSpPr>
        <p:spPr>
          <a:xfrm>
            <a:off x="393192" y="253288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78"/>
          <p:cNvSpPr/>
          <p:nvPr/>
        </p:nvSpPr>
        <p:spPr>
          <a:xfrm>
            <a:off x="978408" y="247802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elderly</a:t>
            </a:r>
            <a:endParaRPr lang="en-US" sz="1200" dirty="0"/>
          </a:p>
        </p:txBody>
      </p:sp>
      <p:sp>
        <p:nvSpPr>
          <p:cNvPr id="37" name="R9_def79"/>
          <p:cNvSpPr/>
          <p:nvPr/>
        </p:nvSpPr>
        <p:spPr>
          <a:xfrm>
            <a:off x="978408" y="278892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old (a polite word)</a:t>
            </a:r>
            <a:endParaRPr lang="en-US" sz="850" dirty="0"/>
          </a:p>
        </p:txBody>
      </p:sp>
      <p:sp>
        <p:nvSpPr>
          <p:cNvPr id="38" name="R10_it80"/>
          <p:cNvSpPr/>
          <p:nvPr/>
        </p:nvSpPr>
        <p:spPr>
          <a:xfrm>
            <a:off x="978408" y="312724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anziano</a:t>
            </a:r>
            <a:endParaRPr lang="en-US" sz="900" dirty="0"/>
          </a:p>
        </p:txBody>
      </p:sp>
      <p:sp>
        <p:nvSpPr>
          <p:cNvPr id="39" name="cd_81"/>
          <p:cNvSpPr/>
          <p:nvPr/>
        </p:nvSpPr>
        <p:spPr>
          <a:xfrm>
            <a:off x="2487168" y="2423160"/>
            <a:ext cx="2075688" cy="914400"/>
          </a:xfrm>
          <a:prstGeom prst="roundRect">
            <a:avLst>
              <a:gd name="adj" fmla="val 140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40" name="e_82"/>
          <p:cNvSpPr/>
          <p:nvPr/>
        </p:nvSpPr>
        <p:spPr>
          <a:xfrm>
            <a:off x="2560320" y="253288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1" name="en_83"/>
          <p:cNvSpPr/>
          <p:nvPr/>
        </p:nvSpPr>
        <p:spPr>
          <a:xfrm>
            <a:off x="3145536" y="247802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middle-aged</a:t>
            </a:r>
            <a:endParaRPr lang="en-US" sz="1200" dirty="0"/>
          </a:p>
        </p:txBody>
      </p:sp>
      <p:sp>
        <p:nvSpPr>
          <p:cNvPr id="42" name="R11_def84"/>
          <p:cNvSpPr/>
          <p:nvPr/>
        </p:nvSpPr>
        <p:spPr>
          <a:xfrm>
            <a:off x="3145536" y="278892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about 45 to 60 years old</a:t>
            </a:r>
            <a:endParaRPr lang="en-US" sz="850" dirty="0"/>
          </a:p>
        </p:txBody>
      </p:sp>
      <p:sp>
        <p:nvSpPr>
          <p:cNvPr id="43" name="R12_it85"/>
          <p:cNvSpPr/>
          <p:nvPr/>
        </p:nvSpPr>
        <p:spPr>
          <a:xfrm>
            <a:off x="3145536" y="312724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di mezza età</a:t>
            </a:r>
            <a:endParaRPr lang="en-US" sz="900" dirty="0"/>
          </a:p>
        </p:txBody>
      </p:sp>
      <p:sp>
        <p:nvSpPr>
          <p:cNvPr id="44" name="cd_86"/>
          <p:cNvSpPr/>
          <p:nvPr/>
        </p:nvSpPr>
        <p:spPr>
          <a:xfrm>
            <a:off x="4654296" y="2423160"/>
            <a:ext cx="2075688" cy="914400"/>
          </a:xfrm>
          <a:prstGeom prst="roundRect">
            <a:avLst>
              <a:gd name="adj" fmla="val 140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45" name="e_87"/>
          <p:cNvSpPr/>
          <p:nvPr/>
        </p:nvSpPr>
        <p:spPr>
          <a:xfrm>
            <a:off x="4727448" y="253288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6" name="en_88"/>
          <p:cNvSpPr/>
          <p:nvPr/>
        </p:nvSpPr>
        <p:spPr>
          <a:xfrm>
            <a:off x="5312664" y="2478024"/>
            <a:ext cx="1362456"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Arial Rounded MT Bold" pitchFamily="34" charset="0"/>
                <a:ea typeface="Arial Rounded MT Bold" pitchFamily="34" charset="-122"/>
                <a:cs typeface="Arial Rounded MT Bold" pitchFamily="34" charset="-120"/>
              </a:rPr>
              <a:t>in his early twenties</a:t>
            </a:r>
            <a:endParaRPr lang="en-US" sz="1000" dirty="0"/>
          </a:p>
        </p:txBody>
      </p:sp>
      <p:sp>
        <p:nvSpPr>
          <p:cNvPr id="47" name="R13_def89"/>
          <p:cNvSpPr/>
          <p:nvPr/>
        </p:nvSpPr>
        <p:spPr>
          <a:xfrm>
            <a:off x="5312664" y="278892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about 20 to 23 years old</a:t>
            </a:r>
            <a:endParaRPr lang="en-US" sz="850" dirty="0"/>
          </a:p>
        </p:txBody>
      </p:sp>
      <p:sp>
        <p:nvSpPr>
          <p:cNvPr id="48" name="R14_it90"/>
          <p:cNvSpPr/>
          <p:nvPr/>
        </p:nvSpPr>
        <p:spPr>
          <a:xfrm>
            <a:off x="5312664" y="312724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sui vent'anni</a:t>
            </a:r>
            <a:endParaRPr lang="en-US" sz="900" dirty="0"/>
          </a:p>
        </p:txBody>
      </p:sp>
      <p:sp>
        <p:nvSpPr>
          <p:cNvPr id="49" name="cd_91"/>
          <p:cNvSpPr/>
          <p:nvPr/>
        </p:nvSpPr>
        <p:spPr>
          <a:xfrm>
            <a:off x="6821424" y="2423160"/>
            <a:ext cx="2075688" cy="914400"/>
          </a:xfrm>
          <a:prstGeom prst="roundRect">
            <a:avLst>
              <a:gd name="adj" fmla="val 140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50" name="e_92"/>
          <p:cNvSpPr/>
          <p:nvPr/>
        </p:nvSpPr>
        <p:spPr>
          <a:xfrm>
            <a:off x="6894576" y="253288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1" name="en_93"/>
          <p:cNvSpPr/>
          <p:nvPr/>
        </p:nvSpPr>
        <p:spPr>
          <a:xfrm>
            <a:off x="7479792" y="247802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good-looking</a:t>
            </a:r>
            <a:endParaRPr lang="en-US" sz="1200" dirty="0"/>
          </a:p>
        </p:txBody>
      </p:sp>
      <p:sp>
        <p:nvSpPr>
          <p:cNvPr id="52" name="R15_def94"/>
          <p:cNvSpPr/>
          <p:nvPr/>
        </p:nvSpPr>
        <p:spPr>
          <a:xfrm>
            <a:off x="7479792" y="278892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Semibold" pitchFamily="34" charset="0"/>
                <a:ea typeface="Segoe UI Semibold" pitchFamily="34" charset="-122"/>
                <a:cs typeface="Segoe UI Semibold" pitchFamily="34" charset="-120"/>
              </a:rPr>
              <a:t>attractive (men and women)</a:t>
            </a:r>
            <a:endParaRPr lang="en-US" sz="850" dirty="0"/>
          </a:p>
        </p:txBody>
      </p:sp>
      <p:sp>
        <p:nvSpPr>
          <p:cNvPr id="53" name="R16_it95"/>
          <p:cNvSpPr/>
          <p:nvPr/>
        </p:nvSpPr>
        <p:spPr>
          <a:xfrm>
            <a:off x="7479792" y="312724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di bell'aspetto</a:t>
            </a:r>
            <a:endParaRPr lang="en-US" sz="900" dirty="0"/>
          </a:p>
        </p:txBody>
      </p:sp>
      <p:sp>
        <p:nvSpPr>
          <p:cNvPr id="54" name="R17_wc96"/>
          <p:cNvSpPr/>
          <p:nvPr/>
        </p:nvSpPr>
        <p:spPr>
          <a:xfrm>
            <a:off x="320040" y="3474720"/>
            <a:ext cx="8549640" cy="457200"/>
          </a:xfrm>
          <a:prstGeom prst="roundRect">
            <a:avLst>
              <a:gd name="adj" fmla="val 28000"/>
            </a:avLst>
          </a:prstGeom>
          <a:solidFill>
            <a:srgbClr val="FFE3EE"/>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55" name="R17_w97"/>
          <p:cNvSpPr/>
          <p:nvPr/>
        </p:nvSpPr>
        <p:spPr>
          <a:xfrm>
            <a:off x="457200" y="34747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handsome = for men  ·  pretty = for girls and women  ·  fair hair = blonde, not 'fiera'  ·  bald /bɔːld/</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4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4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4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fade">
                                      <p:cBhvr>
                                        <p:cTn id="62" dur="400"/>
                                        <p:tgtEl>
                                          <p:spTgt spid="4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7"/>
                                        </p:tgtEl>
                                        <p:attrNameLst>
                                          <p:attrName>style.visibility</p:attrName>
                                        </p:attrNameLst>
                                      </p:cBhvr>
                                      <p:to>
                                        <p:strVal val="visible"/>
                                      </p:to>
                                    </p:set>
                                    <p:animEffect transition="in" filter="fade">
                                      <p:cBhvr>
                                        <p:cTn id="67" dur="400"/>
                                        <p:tgtEl>
                                          <p:spTgt spid="47"/>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48"/>
                                        </p:tgtEl>
                                        <p:attrNameLst>
                                          <p:attrName>style.visibility</p:attrName>
                                        </p:attrNameLst>
                                      </p:cBhvr>
                                      <p:to>
                                        <p:strVal val="visible"/>
                                      </p:to>
                                    </p:set>
                                    <p:animEffect transition="in" filter="fade">
                                      <p:cBhvr>
                                        <p:cTn id="72" dur="400"/>
                                        <p:tgtEl>
                                          <p:spTgt spid="4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52"/>
                                        </p:tgtEl>
                                        <p:attrNameLst>
                                          <p:attrName>style.visibility</p:attrName>
                                        </p:attrNameLst>
                                      </p:cBhvr>
                                      <p:to>
                                        <p:strVal val="visible"/>
                                      </p:to>
                                    </p:set>
                                    <p:animEffect transition="in" filter="fade">
                                      <p:cBhvr>
                                        <p:cTn id="77" dur="400"/>
                                        <p:tgtEl>
                                          <p:spTgt spid="5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53"/>
                                        </p:tgtEl>
                                        <p:attrNameLst>
                                          <p:attrName>style.visibility</p:attrName>
                                        </p:attrNameLst>
                                      </p:cBhvr>
                                      <p:to>
                                        <p:strVal val="visible"/>
                                      </p:to>
                                    </p:set>
                                    <p:animEffect transition="in" filter="fade">
                                      <p:cBhvr>
                                        <p:cTn id="82" dur="400"/>
                                        <p:tgtEl>
                                          <p:spTgt spid="53"/>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54"/>
                                        </p:tgtEl>
                                        <p:attrNameLst>
                                          <p:attrName>style.visibility</p:attrName>
                                        </p:attrNameLst>
                                      </p:cBhvr>
                                      <p:to>
                                        <p:strVal val="visible"/>
                                      </p:to>
                                    </p:set>
                                    <p:animEffect transition="in" filter="fade">
                                      <p:cBhvr>
                                        <p:cTn id="87" dur="400"/>
                                        <p:tgtEl>
                                          <p:spTgt spid="54"/>
                                        </p:tgtEl>
                                      </p:cBhvr>
                                    </p:animEffect>
                                  </p:childTnLst>
                                </p:cTn>
                              </p:par>
                              <p:par>
                                <p:cTn id="88" presetID="10" presetClass="entr" presetSubtype="0" fill="hold" nodeType="withEffect">
                                  <p:stCondLst>
                                    <p:cond delay="0"/>
                                  </p:stCondLst>
                                  <p:childTnLst>
                                    <p:set>
                                      <p:cBhvr>
                                        <p:cTn id="89" dur="1" fill="hold">
                                          <p:stCondLst>
                                            <p:cond delay="0"/>
                                          </p:stCondLst>
                                        </p:cTn>
                                        <p:tgtEl>
                                          <p:spTgt spid="55"/>
                                        </p:tgtEl>
                                        <p:attrNameLst>
                                          <p:attrName>style.visibility</p:attrName>
                                        </p:attrNameLst>
                                      </p:cBhvr>
                                      <p:to>
                                        <p:strVal val="visible"/>
                                      </p:to>
                                    </p:set>
                                    <p:animEffect transition="in" filter="fade">
                                      <p:cBhvr>
                                        <p:cTn id="90" dur="4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98"/>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99"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100"/>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Who is it?</a:t>
            </a:r>
            <a:endParaRPr lang="en-US" sz="2500" dirty="0"/>
          </a:p>
        </p:txBody>
      </p:sp>
      <p:pic>
        <p:nvPicPr>
          <p:cNvPr id="6" name="brP_101"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02"/>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Describe someone in the photo. Your partner guesses who it is.</a:t>
            </a:r>
            <a:endParaRPr lang="en-US" sz="1100" dirty="0"/>
          </a:p>
        </p:txBody>
      </p:sp>
      <p:sp>
        <p:nvSpPr>
          <p:cNvPr id="8" name="insIT_10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Descrivi una persona nella foto. Il compagno indovina chi è.</a:t>
            </a:r>
            <a:endParaRPr lang="en-US" sz="950" dirty="0"/>
          </a:p>
        </p:txBody>
      </p:sp>
      <p:sp>
        <p:nvSpPr>
          <p:cNvPr id="9" name="cmd_104"/>
          <p:cNvSpPr/>
          <p:nvPr/>
        </p:nvSpPr>
        <p:spPr>
          <a:xfrm>
            <a:off x="6510528" y="182880"/>
            <a:ext cx="1901952" cy="274320"/>
          </a:xfrm>
          <a:prstGeom prst="roundRect">
            <a:avLst>
              <a:gd name="adj" fmla="val 5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GUARDA</a:t>
            </a:r>
            <a:endParaRPr lang="en-US" sz="950" dirty="0"/>
          </a:p>
        </p:txBody>
      </p:sp>
      <p:sp>
        <p:nvSpPr>
          <p:cNvPr id="10" name="cmd_105"/>
          <p:cNvSpPr/>
          <p:nvPr/>
        </p:nvSpPr>
        <p:spPr>
          <a:xfrm>
            <a:off x="6510528" y="493776"/>
            <a:ext cx="1901952" cy="274320"/>
          </a:xfrm>
          <a:prstGeom prst="roundRect">
            <a:avLst>
              <a:gd name="adj" fmla="val 5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PARLA</a:t>
            </a:r>
            <a:endParaRPr lang="en-US" sz="950" dirty="0"/>
          </a:p>
        </p:txBody>
      </p:sp>
      <p:sp>
        <p:nvSpPr>
          <p:cNvPr id="11" name="meta_106"/>
          <p:cNvSpPr/>
          <p:nvPr/>
        </p:nvSpPr>
        <p:spPr>
          <a:xfrm>
            <a:off x="6510528" y="804672"/>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107"/>
          <p:cNvSpPr/>
          <p:nvPr/>
        </p:nvSpPr>
        <p:spPr>
          <a:xfrm>
            <a:off x="6510528" y="1115568"/>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3" name="logo_10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0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Speaking · describe and guess   ·   📖 SB p.10 · 3</a:t>
            </a:r>
            <a:endParaRPr lang="en-US" sz="800" dirty="0"/>
          </a:p>
        </p:txBody>
      </p:sp>
      <p:sp>
        <p:nvSpPr>
          <p:cNvPr id="15" name="pf_110"/>
          <p:cNvSpPr/>
          <p:nvPr/>
        </p:nvSpPr>
        <p:spPr>
          <a:xfrm rot="-120000">
            <a:off x="320040" y="1371600"/>
            <a:ext cx="278892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111" descr="/home/claude/lls-course/v2/cache/prep1_families_jpg_649x297_31.png">    </p:cNvPr>
          <p:cNvPicPr>
            <a:picLocks noChangeAspect="1"/>
          </p:cNvPicPr>
          <p:nvPr/>
        </p:nvPicPr>
        <p:blipFill>
          <a:blip r:embed="rId5"/>
          <a:stretch>
            <a:fillRect/>
          </a:stretch>
        </p:blipFill>
        <p:spPr>
          <a:xfrm rot="-120000">
            <a:off x="365760" y="1417320"/>
            <a:ext cx="2697480" cy="1234440"/>
          </a:xfrm>
          <a:prstGeom prst="rect">
            <a:avLst/>
          </a:prstGeom>
        </p:spPr>
      </p:pic>
      <p:sp>
        <p:nvSpPr>
          <p:cNvPr id="17" name="cd_112"/>
          <p:cNvSpPr/>
          <p:nvPr/>
        </p:nvSpPr>
        <p:spPr>
          <a:xfrm>
            <a:off x="320040" y="2880360"/>
            <a:ext cx="2788920" cy="1874520"/>
          </a:xfrm>
          <a:prstGeom prst="roundRect">
            <a:avLst>
              <a:gd name="adj" fmla="val 682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8" name="ii_113"/>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114"/>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20" name="il_115"/>
          <p:cNvSpPr/>
          <p:nvPr/>
        </p:nvSpPr>
        <p:spPr>
          <a:xfrm>
            <a:off x="886968" y="3374136"/>
            <a:ext cx="2130552" cy="1307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He's / She's got … hair.</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He's / She's in his / her … .</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He's / She's middle-aged.</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He's quite good-looking.</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Is it the … ?</a:t>
            </a:r>
            <a:endParaRPr lang="en-US" sz="1150" dirty="0"/>
          </a:p>
        </p:txBody>
      </p:sp>
      <p:sp>
        <p:nvSpPr>
          <p:cNvPr id="21" name="R1_qb116"/>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R1_sq117"/>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Model: describe one person. The class guesses.</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He's a teenage boy and he's good-looking. – Is it Alfie?</a:t>
            </a:r>
            <a:endParaRPr lang="en-US" sz="950" dirty="0"/>
          </a:p>
        </p:txBody>
      </p:sp>
      <p:sp>
        <p:nvSpPr>
          <p:cNvPr id="23" name="R2_qb118"/>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R2_sq119"/>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A describes, B guesses. Use 2 words from the last slide!</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She's middle-aged and she's got long fair hair. – Is it Grace's mum?</a:t>
            </a:r>
            <a:endParaRPr lang="en-US" sz="950" dirty="0"/>
          </a:p>
        </p:txBody>
      </p:sp>
      <p:sp>
        <p:nvSpPr>
          <p:cNvPr id="25" name="R3_qb120"/>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R3_sq121"/>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Swap! B describes, A guesses.</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He's got short dark hair and he's in his forties.</a:t>
            </a:r>
            <a:endParaRPr lang="en-US" sz="950" dirty="0"/>
          </a:p>
        </p:txBody>
      </p:sp>
      <p:sp>
        <p:nvSpPr>
          <p:cNvPr id="27" name="R4_qb122"/>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123"/>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Challenge: describe someone in the CLASS. Don't say their name!</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She's got long straight hair and she's always smiling.</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24"/>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25"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126"/>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Polite or careless?</a:t>
            </a:r>
            <a:endParaRPr lang="en-US" sz="2500" dirty="0"/>
          </a:p>
        </p:txBody>
      </p:sp>
      <p:pic>
        <p:nvPicPr>
          <p:cNvPr id="6" name="brP_127" descr="/home/claude/lls-course/v2/assets/brush-pink.png">    </p:cNvPr>
          <p:cNvPicPr>
            <a:picLocks noChangeAspect="1"/>
          </p:cNvPicPr>
          <p:nvPr/>
        </p:nvPicPr>
        <p:blipFill>
          <a:blip r:embed="rId3"/>
          <a:stretch>
            <a:fillRect/>
          </a:stretch>
        </p:blipFill>
        <p:spPr>
          <a:xfrm>
            <a:off x="1207008" y="731520"/>
            <a:ext cx="5248656" cy="402336"/>
          </a:xfrm>
          <a:prstGeom prst="rect">
            <a:avLst/>
          </a:prstGeom>
        </p:spPr>
      </p:pic>
      <p:sp>
        <p:nvSpPr>
          <p:cNvPr id="7" name="ins_128"/>
          <p:cNvSpPr/>
          <p:nvPr/>
        </p:nvSpPr>
        <p:spPr>
          <a:xfrm>
            <a:off x="1353312" y="731520"/>
            <a:ext cx="49926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Choose the correct adjective. Say the full sentence.</a:t>
            </a:r>
            <a:endParaRPr lang="en-US" sz="1250" dirty="0"/>
          </a:p>
        </p:txBody>
      </p:sp>
      <p:sp>
        <p:nvSpPr>
          <p:cNvPr id="8" name="insIT_12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Scegli l'aggettivo giusto. Di' la frase intera.</a:t>
            </a:r>
            <a:endParaRPr lang="en-US" sz="950" dirty="0"/>
          </a:p>
        </p:txBody>
      </p:sp>
      <p:sp>
        <p:nvSpPr>
          <p:cNvPr id="9" name="cmd_130"/>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LEGGI</a:t>
            </a:r>
            <a:endParaRPr lang="en-US" sz="950" dirty="0"/>
          </a:p>
        </p:txBody>
      </p:sp>
      <p:sp>
        <p:nvSpPr>
          <p:cNvPr id="10" name="cmd_131"/>
          <p:cNvSpPr/>
          <p:nvPr/>
        </p:nvSpPr>
        <p:spPr>
          <a:xfrm>
            <a:off x="6510528" y="493776"/>
            <a:ext cx="1901952" cy="274320"/>
          </a:xfrm>
          <a:prstGeom prst="roundRect">
            <a:avLst>
              <a:gd name="adj" fmla="val 5000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F2B705"/>
                </a:solidFill>
                <a:latin typeface="Arial Rounded MT Bold" pitchFamily="34" charset="0"/>
                <a:ea typeface="Arial Rounded MT Bold" pitchFamily="34" charset="-122"/>
                <a:cs typeface="Arial Rounded MT Bold" pitchFamily="34" charset="-120"/>
              </a:rPr>
              <a:t>FIND</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TROVA</a:t>
            </a:r>
            <a:endParaRPr lang="en-US" sz="950" dirty="0"/>
          </a:p>
        </p:txBody>
      </p:sp>
      <p:sp>
        <p:nvSpPr>
          <p:cNvPr id="11" name="meta_132"/>
          <p:cNvSpPr/>
          <p:nvPr/>
        </p:nvSpPr>
        <p:spPr>
          <a:xfrm>
            <a:off x="6510528" y="804672"/>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5 min   👥 pairs</a:t>
            </a:r>
            <a:endParaRPr lang="en-US" sz="950" dirty="0"/>
          </a:p>
        </p:txBody>
      </p:sp>
      <p:sp>
        <p:nvSpPr>
          <p:cNvPr id="12" name="tag_133"/>
          <p:cNvSpPr/>
          <p:nvPr/>
        </p:nvSpPr>
        <p:spPr>
          <a:xfrm>
            <a:off x="6510528" y="1115568"/>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Controlled practice</a:t>
            </a:r>
            <a:endParaRPr lang="en-US" sz="750" dirty="0"/>
          </a:p>
        </p:txBody>
      </p:sp>
      <p:pic>
        <p:nvPicPr>
          <p:cNvPr id="13" name="logo_13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3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Vocabulary · personality adjectives   ·   📖 SB p.10 · 4 (no audio – check on the slide)</a:t>
            </a:r>
            <a:endParaRPr lang="en-US" sz="800" dirty="0"/>
          </a:p>
        </p:txBody>
      </p:sp>
      <p:sp>
        <p:nvSpPr>
          <p:cNvPr id="15" name="bd_136"/>
          <p:cNvSpPr/>
          <p:nvPr/>
        </p:nvSpPr>
        <p:spPr>
          <a:xfrm>
            <a:off x="320040" y="1440729"/>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6" name="q_137"/>
          <p:cNvSpPr/>
          <p:nvPr/>
        </p:nvSpPr>
        <p:spPr>
          <a:xfrm>
            <a:off x="704088" y="1417320"/>
            <a:ext cx="3776472" cy="357713"/>
          </a:xfrm>
          <a:prstGeom prst="roundRect">
            <a:avLst>
              <a:gd name="adj" fmla="val 2556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I think Lucas is really polite / careless. When he wants to borrow something, he always says please.</a:t>
            </a:r>
            <a:endParaRPr lang="en-US" sz="900" dirty="0"/>
          </a:p>
        </p:txBody>
      </p:sp>
      <p:sp>
        <p:nvSpPr>
          <p:cNvPr id="17" name="R1_chip138"/>
          <p:cNvSpPr/>
          <p:nvPr/>
        </p:nvSpPr>
        <p:spPr>
          <a:xfrm>
            <a:off x="704088" y="1820753"/>
            <a:ext cx="3776472" cy="590215"/>
          </a:xfrm>
          <a:prstGeom prst="roundRect">
            <a:avLst>
              <a:gd name="adj" fmla="val 15493"/>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I think Lucas is really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polite</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He always says please.</a:t>
            </a:r>
            <a:endParaRPr lang="en-US" sz="1150" dirty="0"/>
          </a:p>
        </p:txBody>
      </p:sp>
      <p:sp>
        <p:nvSpPr>
          <p:cNvPr id="18" name="bd_139"/>
          <p:cNvSpPr/>
          <p:nvPr/>
        </p:nvSpPr>
        <p:spPr>
          <a:xfrm>
            <a:off x="320040" y="2562393"/>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9" name="q_140"/>
          <p:cNvSpPr/>
          <p:nvPr/>
        </p:nvSpPr>
        <p:spPr>
          <a:xfrm>
            <a:off x="704088" y="2538984"/>
            <a:ext cx="3776472" cy="357713"/>
          </a:xfrm>
          <a:prstGeom prst="roundRect">
            <a:avLst>
              <a:gd name="adj" fmla="val 2556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My brother's called Alfie. He takes my things without asking. He thinks he's funny / polite, but he doesn't make me laugh!</a:t>
            </a:r>
            <a:endParaRPr lang="en-US" sz="850" dirty="0"/>
          </a:p>
        </p:txBody>
      </p:sp>
      <p:sp>
        <p:nvSpPr>
          <p:cNvPr id="20" name="R2_chip141"/>
          <p:cNvSpPr/>
          <p:nvPr/>
        </p:nvSpPr>
        <p:spPr>
          <a:xfrm>
            <a:off x="704088" y="2942417"/>
            <a:ext cx="3776472" cy="590215"/>
          </a:xfrm>
          <a:prstGeom prst="roundRect">
            <a:avLst>
              <a:gd name="adj" fmla="val 15493"/>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He thinks he's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funny</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but he doesn't make me laugh!</a:t>
            </a:r>
            <a:endParaRPr lang="en-US" sz="1150" dirty="0"/>
          </a:p>
        </p:txBody>
      </p:sp>
      <p:sp>
        <p:nvSpPr>
          <p:cNvPr id="21" name="bd_142"/>
          <p:cNvSpPr/>
          <p:nvPr/>
        </p:nvSpPr>
        <p:spPr>
          <a:xfrm>
            <a:off x="320040" y="3684057"/>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2" name="q_143"/>
          <p:cNvSpPr/>
          <p:nvPr/>
        </p:nvSpPr>
        <p:spPr>
          <a:xfrm>
            <a:off x="704088" y="3660648"/>
            <a:ext cx="3776472" cy="357713"/>
          </a:xfrm>
          <a:prstGeom prst="roundRect">
            <a:avLst>
              <a:gd name="adj" fmla="val 2556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Grace is very miserable / friendly. I see her every morning on her way to school. She always says hello.</a:t>
            </a:r>
            <a:endParaRPr lang="en-US" sz="900" dirty="0"/>
          </a:p>
        </p:txBody>
      </p:sp>
      <p:sp>
        <p:nvSpPr>
          <p:cNvPr id="23" name="R3_chip144"/>
          <p:cNvSpPr/>
          <p:nvPr/>
        </p:nvSpPr>
        <p:spPr>
          <a:xfrm>
            <a:off x="704088" y="4064081"/>
            <a:ext cx="3776472" cy="590215"/>
          </a:xfrm>
          <a:prstGeom prst="roundRect">
            <a:avLst>
              <a:gd name="adj" fmla="val 15493"/>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Grace is very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friendly</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She always says hello.</a:t>
            </a:r>
            <a:endParaRPr lang="en-US" sz="1150" dirty="0"/>
          </a:p>
        </p:txBody>
      </p:sp>
      <p:sp>
        <p:nvSpPr>
          <p:cNvPr id="24" name="bd_145"/>
          <p:cNvSpPr/>
          <p:nvPr/>
        </p:nvSpPr>
        <p:spPr>
          <a:xfrm>
            <a:off x="4709160" y="1440729"/>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5" name="q_146"/>
          <p:cNvSpPr/>
          <p:nvPr/>
        </p:nvSpPr>
        <p:spPr>
          <a:xfrm>
            <a:off x="5093208" y="1417320"/>
            <a:ext cx="3776472" cy="357713"/>
          </a:xfrm>
          <a:prstGeom prst="roundRect">
            <a:avLst>
              <a:gd name="adj" fmla="val 2556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Alfie talks a lot – like his mum! He's sometimes a bit confident / careless with homework. He doesn't always check it.</a:t>
            </a:r>
            <a:endParaRPr lang="en-US" sz="850" dirty="0"/>
          </a:p>
        </p:txBody>
      </p:sp>
      <p:sp>
        <p:nvSpPr>
          <p:cNvPr id="26" name="R4_chip147"/>
          <p:cNvSpPr/>
          <p:nvPr/>
        </p:nvSpPr>
        <p:spPr>
          <a:xfrm>
            <a:off x="5093208" y="1820753"/>
            <a:ext cx="3776472" cy="590215"/>
          </a:xfrm>
          <a:prstGeom prst="roundRect">
            <a:avLst>
              <a:gd name="adj" fmla="val 15493"/>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He's sometimes a bit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careless</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with homework.</a:t>
            </a:r>
            <a:endParaRPr lang="en-US" sz="1150" dirty="0"/>
          </a:p>
        </p:txBody>
      </p:sp>
      <p:sp>
        <p:nvSpPr>
          <p:cNvPr id="27" name="bd_148"/>
          <p:cNvSpPr/>
          <p:nvPr/>
        </p:nvSpPr>
        <p:spPr>
          <a:xfrm>
            <a:off x="4709160" y="2562393"/>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8" name="q_149"/>
          <p:cNvSpPr/>
          <p:nvPr/>
        </p:nvSpPr>
        <p:spPr>
          <a:xfrm>
            <a:off x="5093208" y="2538984"/>
            <a:ext cx="3776472" cy="357713"/>
          </a:xfrm>
          <a:prstGeom prst="roundRect">
            <a:avLst>
              <a:gd name="adj" fmla="val 2556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Grace is a great friend. She's always smiling, and she's never miserable / polite. She really makes me laugh.</a:t>
            </a:r>
            <a:endParaRPr lang="en-US" sz="900" dirty="0"/>
          </a:p>
        </p:txBody>
      </p:sp>
      <p:sp>
        <p:nvSpPr>
          <p:cNvPr id="29" name="R5_chip150"/>
          <p:cNvSpPr/>
          <p:nvPr/>
        </p:nvSpPr>
        <p:spPr>
          <a:xfrm>
            <a:off x="5093208" y="2942417"/>
            <a:ext cx="3776472" cy="590215"/>
          </a:xfrm>
          <a:prstGeom prst="roundRect">
            <a:avLst>
              <a:gd name="adj" fmla="val 15493"/>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She's always smiling, and she's never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miserable</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30" name="bd_151"/>
          <p:cNvSpPr/>
          <p:nvPr/>
        </p:nvSpPr>
        <p:spPr>
          <a:xfrm>
            <a:off x="4709160" y="3684057"/>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1" name="q_152"/>
          <p:cNvSpPr/>
          <p:nvPr/>
        </p:nvSpPr>
        <p:spPr>
          <a:xfrm>
            <a:off x="5093208" y="3660648"/>
            <a:ext cx="3776472" cy="357713"/>
          </a:xfrm>
          <a:prstGeom prst="roundRect">
            <a:avLst>
              <a:gd name="adj" fmla="val 2556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Lucas knows what he's good at, so he's quite a careless / confident boy. His room is always really untidy!</a:t>
            </a:r>
            <a:endParaRPr lang="en-US" sz="900" dirty="0"/>
          </a:p>
        </p:txBody>
      </p:sp>
      <p:sp>
        <p:nvSpPr>
          <p:cNvPr id="32" name="R6_chip153"/>
          <p:cNvSpPr/>
          <p:nvPr/>
        </p:nvSpPr>
        <p:spPr>
          <a:xfrm>
            <a:off x="5093208" y="4064081"/>
            <a:ext cx="3776472" cy="590215"/>
          </a:xfrm>
          <a:prstGeom prst="roundRect">
            <a:avLst>
              <a:gd name="adj" fmla="val 15493"/>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He's quite a </a:t>
            </a:r>
            <a:pPr algn="l" indent="0" marL="0">
              <a:buNone/>
            </a:pPr>
            <a:r>
              <a:rPr lang="en-US" sz="1150" b="1" dirty="0">
                <a:solidFill>
                  <a:srgbClr val="C2185B"/>
                </a:solidFill>
                <a:highlight>
                  <a:srgbClr val="FFF1A8"/>
                </a:highlight>
                <a:latin typeface="Segoe UI Semibold" pitchFamily="34" charset="0"/>
                <a:ea typeface="Segoe UI Semibold" pitchFamily="34" charset="-122"/>
                <a:cs typeface="Segoe UI Semibold" pitchFamily="34" charset="-120"/>
              </a:rPr>
              <a:t>confident</a:t>
            </a:r>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boy.</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4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54"/>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55"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156"/>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Opposites ping-pong</a:t>
            </a:r>
            <a:endParaRPr lang="en-US" sz="2400" dirty="0"/>
          </a:p>
        </p:txBody>
      </p:sp>
      <p:pic>
        <p:nvPicPr>
          <p:cNvPr id="6" name="brP_157" descr="/home/claude/lls-course/v2/assets/brush-pink.png">    </p:cNvPr>
          <p:cNvPicPr>
            <a:picLocks noChangeAspect="1"/>
          </p:cNvPicPr>
          <p:nvPr/>
        </p:nvPicPr>
        <p:blipFill>
          <a:blip r:embed="rId3"/>
          <a:stretch>
            <a:fillRect/>
          </a:stretch>
        </p:blipFill>
        <p:spPr>
          <a:xfrm>
            <a:off x="1207008" y="731520"/>
            <a:ext cx="4640580" cy="402336"/>
          </a:xfrm>
          <a:prstGeom prst="rect">
            <a:avLst/>
          </a:prstGeom>
        </p:spPr>
      </p:pic>
      <p:sp>
        <p:nvSpPr>
          <p:cNvPr id="7" name="ins_158"/>
          <p:cNvSpPr/>
          <p:nvPr/>
        </p:nvSpPr>
        <p:spPr>
          <a:xfrm>
            <a:off x="1353312" y="731520"/>
            <a:ext cx="438454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the opposite – then use it in a sentence!</a:t>
            </a:r>
            <a:endParaRPr lang="en-US" sz="1250" dirty="0"/>
          </a:p>
        </p:txBody>
      </p:sp>
      <p:sp>
        <p:nvSpPr>
          <p:cNvPr id="8" name="insIT_15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 il contrario – poi usalo in una frase!</a:t>
            </a:r>
            <a:endParaRPr lang="en-US" sz="950" dirty="0"/>
          </a:p>
        </p:txBody>
      </p:sp>
      <p:sp>
        <p:nvSpPr>
          <p:cNvPr id="9" name="cmd_160"/>
          <p:cNvSpPr/>
          <p:nvPr/>
        </p:nvSpPr>
        <p:spPr>
          <a:xfrm>
            <a:off x="6510528" y="182880"/>
            <a:ext cx="1901952" cy="274320"/>
          </a:xfrm>
          <a:prstGeom prst="roundRect">
            <a:avLst>
              <a:gd name="adj" fmla="val 5000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GIOCA</a:t>
            </a:r>
            <a:endParaRPr lang="en-US" sz="950" dirty="0"/>
          </a:p>
        </p:txBody>
      </p:sp>
      <p:sp>
        <p:nvSpPr>
          <p:cNvPr id="10" name="meta_161"/>
          <p:cNvSpPr/>
          <p:nvPr/>
        </p:nvSpPr>
        <p:spPr>
          <a:xfrm>
            <a:off x="6510528" y="493776"/>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4 min   🏆 teams</a:t>
            </a:r>
            <a:endParaRPr lang="en-US" sz="950" dirty="0"/>
          </a:p>
        </p:txBody>
      </p:sp>
      <p:sp>
        <p:nvSpPr>
          <p:cNvPr id="11" name="tag_162"/>
          <p:cNvSpPr/>
          <p:nvPr/>
        </p:nvSpPr>
        <p:spPr>
          <a:xfrm>
            <a:off x="6510528" y="804672"/>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Communicative game</a:t>
            </a:r>
            <a:endParaRPr lang="en-US" sz="750" dirty="0"/>
          </a:p>
        </p:txBody>
      </p:sp>
      <p:pic>
        <p:nvPicPr>
          <p:cNvPr id="12" name="logo_16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6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Vocabulary · opposites   ·   📖 SB p.10 · 5</a:t>
            </a:r>
            <a:endParaRPr lang="en-US" sz="800" dirty="0"/>
          </a:p>
        </p:txBody>
      </p:sp>
      <p:sp>
        <p:nvSpPr>
          <p:cNvPr id="14" name="cd_165"/>
          <p:cNvSpPr/>
          <p:nvPr/>
        </p:nvSpPr>
        <p:spPr>
          <a:xfrm>
            <a:off x="320040" y="1417320"/>
            <a:ext cx="2697480" cy="2112264"/>
          </a:xfrm>
          <a:prstGeom prst="roundRect">
            <a:avLst>
              <a:gd name="adj" fmla="val 6061"/>
            </a:avLst>
          </a:prstGeom>
          <a:solidFill>
            <a:srgbClr val="FFF6CC"/>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15" name="ii_166"/>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167"/>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168"/>
          <p:cNvSpPr/>
          <p:nvPr/>
        </p:nvSpPr>
        <p:spPr>
          <a:xfrm>
            <a:off x="886968" y="1911096"/>
            <a:ext cx="2039112" cy="15453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Teacher says a word. Your team says the OPPOSITE.</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Opposite = 1 point.</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A sentence with it = 1 more point!</a:t>
            </a:r>
            <a:endParaRPr lang="en-US" sz="1200" dirty="0"/>
          </a:p>
        </p:txBody>
      </p:sp>
      <p:sp>
        <p:nvSpPr>
          <p:cNvPr id="18" name="st_169"/>
          <p:cNvSpPr/>
          <p:nvPr/>
        </p:nvSpPr>
        <p:spPr>
          <a:xfrm rot="-180000">
            <a:off x="502920" y="3712464"/>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9" name="bd_170"/>
          <p:cNvSpPr/>
          <p:nvPr/>
        </p:nvSpPr>
        <p:spPr>
          <a:xfrm>
            <a:off x="3246120" y="149123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gq_171"/>
          <p:cNvSpPr/>
          <p:nvPr/>
        </p:nvSpPr>
        <p:spPr>
          <a:xfrm>
            <a:off x="3657600" y="141732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careful</a:t>
            </a:r>
            <a:endParaRPr lang="en-US" sz="1250" dirty="0"/>
          </a:p>
        </p:txBody>
      </p:sp>
      <p:sp>
        <p:nvSpPr>
          <p:cNvPr id="21" name="R1_chip172"/>
          <p:cNvSpPr/>
          <p:nvPr/>
        </p:nvSpPr>
        <p:spPr>
          <a:xfrm>
            <a:off x="6263640" y="14173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careless – 'He's careless with his homework.'</a:t>
            </a:r>
            <a:endParaRPr lang="en-US" sz="1200" dirty="0"/>
          </a:p>
        </p:txBody>
      </p:sp>
      <p:sp>
        <p:nvSpPr>
          <p:cNvPr id="22" name="bd_173"/>
          <p:cNvSpPr/>
          <p:nvPr/>
        </p:nvSpPr>
        <p:spPr>
          <a:xfrm>
            <a:off x="3246120" y="203225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gq_174"/>
          <p:cNvSpPr/>
          <p:nvPr/>
        </p:nvSpPr>
        <p:spPr>
          <a:xfrm>
            <a:off x="3657600" y="195834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cheerful</a:t>
            </a:r>
            <a:endParaRPr lang="en-US" sz="1250" dirty="0"/>
          </a:p>
        </p:txBody>
      </p:sp>
      <p:sp>
        <p:nvSpPr>
          <p:cNvPr id="24" name="R2_chip175"/>
          <p:cNvSpPr/>
          <p:nvPr/>
        </p:nvSpPr>
        <p:spPr>
          <a:xfrm>
            <a:off x="6263640" y="195834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miserable – 'She's never miserable.'</a:t>
            </a:r>
            <a:endParaRPr lang="en-US" sz="1200" dirty="0"/>
          </a:p>
        </p:txBody>
      </p:sp>
      <p:sp>
        <p:nvSpPr>
          <p:cNvPr id="25" name="bd_176"/>
          <p:cNvSpPr/>
          <p:nvPr/>
        </p:nvSpPr>
        <p:spPr>
          <a:xfrm>
            <a:off x="3246120" y="257327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gq_177"/>
          <p:cNvSpPr/>
          <p:nvPr/>
        </p:nvSpPr>
        <p:spPr>
          <a:xfrm>
            <a:off x="3657600" y="2499360"/>
            <a:ext cx="2514600" cy="477012"/>
          </a:xfrm>
          <a:prstGeom prst="roundRect">
            <a:avLst>
              <a:gd name="adj" fmla="val 19169"/>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rude</a:t>
            </a:r>
            <a:endParaRPr lang="en-US" sz="1250" dirty="0"/>
          </a:p>
        </p:txBody>
      </p:sp>
      <p:sp>
        <p:nvSpPr>
          <p:cNvPr id="27" name="R3_chip178"/>
          <p:cNvSpPr/>
          <p:nvPr/>
        </p:nvSpPr>
        <p:spPr>
          <a:xfrm>
            <a:off x="6263640" y="249936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polite – 'He always says please. He's polite.'</a:t>
            </a:r>
            <a:endParaRPr lang="en-US" sz="1200" dirty="0"/>
          </a:p>
        </p:txBody>
      </p:sp>
      <p:sp>
        <p:nvSpPr>
          <p:cNvPr id="28" name="bd_179"/>
          <p:cNvSpPr/>
          <p:nvPr/>
        </p:nvSpPr>
        <p:spPr>
          <a:xfrm>
            <a:off x="3246120" y="3114294"/>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9" name="gq_180"/>
          <p:cNvSpPr/>
          <p:nvPr/>
        </p:nvSpPr>
        <p:spPr>
          <a:xfrm>
            <a:off x="3657600" y="3040380"/>
            <a:ext cx="2514600" cy="477012"/>
          </a:xfrm>
          <a:prstGeom prst="roundRect">
            <a:avLst>
              <a:gd name="adj" fmla="val 19169"/>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serious</a:t>
            </a:r>
            <a:endParaRPr lang="en-US" sz="1250" dirty="0"/>
          </a:p>
        </p:txBody>
      </p:sp>
      <p:sp>
        <p:nvSpPr>
          <p:cNvPr id="30" name="R4_chip181"/>
          <p:cNvSpPr/>
          <p:nvPr/>
        </p:nvSpPr>
        <p:spPr>
          <a:xfrm>
            <a:off x="6263640" y="304038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funny – 'My dad is really funny.'</a:t>
            </a:r>
            <a:endParaRPr lang="en-US" sz="1200" dirty="0"/>
          </a:p>
        </p:txBody>
      </p:sp>
      <p:sp>
        <p:nvSpPr>
          <p:cNvPr id="31" name="bd_182"/>
          <p:cNvSpPr/>
          <p:nvPr/>
        </p:nvSpPr>
        <p:spPr>
          <a:xfrm>
            <a:off x="3246120" y="3655314"/>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2" name="gq_183"/>
          <p:cNvSpPr/>
          <p:nvPr/>
        </p:nvSpPr>
        <p:spPr>
          <a:xfrm>
            <a:off x="3657600" y="3581400"/>
            <a:ext cx="2514600" cy="477012"/>
          </a:xfrm>
          <a:prstGeom prst="roundRect">
            <a:avLst>
              <a:gd name="adj" fmla="val 19169"/>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shy</a:t>
            </a:r>
            <a:endParaRPr lang="en-US" sz="1250" dirty="0"/>
          </a:p>
        </p:txBody>
      </p:sp>
      <p:sp>
        <p:nvSpPr>
          <p:cNvPr id="33" name="R5_chip184"/>
          <p:cNvSpPr/>
          <p:nvPr/>
        </p:nvSpPr>
        <p:spPr>
          <a:xfrm>
            <a:off x="6263640" y="358140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confident – 'She's confident in English class.'</a:t>
            </a:r>
            <a:endParaRPr lang="en-US" sz="1200" dirty="0"/>
          </a:p>
        </p:txBody>
      </p:sp>
      <p:sp>
        <p:nvSpPr>
          <p:cNvPr id="34" name="bd_185"/>
          <p:cNvSpPr/>
          <p:nvPr/>
        </p:nvSpPr>
        <p:spPr>
          <a:xfrm>
            <a:off x="3246120" y="4196334"/>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5" name="gq_186"/>
          <p:cNvSpPr/>
          <p:nvPr/>
        </p:nvSpPr>
        <p:spPr>
          <a:xfrm>
            <a:off x="3657600" y="4122420"/>
            <a:ext cx="2514600" cy="477012"/>
          </a:xfrm>
          <a:prstGeom prst="roundRect">
            <a:avLst>
              <a:gd name="adj" fmla="val 19169"/>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unfriendly</a:t>
            </a:r>
            <a:endParaRPr lang="en-US" sz="1250" dirty="0"/>
          </a:p>
        </p:txBody>
      </p:sp>
      <p:sp>
        <p:nvSpPr>
          <p:cNvPr id="36" name="R6_chip187"/>
          <p:cNvSpPr/>
          <p:nvPr/>
        </p:nvSpPr>
        <p:spPr>
          <a:xfrm>
            <a:off x="6263640" y="4122420"/>
            <a:ext cx="2560320" cy="477012"/>
          </a:xfrm>
          <a:prstGeom prst="roundRect">
            <a:avLst>
              <a:gd name="adj" fmla="val 19169"/>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friendly – 'Our neighbours are very friendly.'</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88"/>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89"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190"/>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Guess who!</a:t>
            </a:r>
            <a:endParaRPr lang="en-US" sz="2500" dirty="0"/>
          </a:p>
        </p:txBody>
      </p:sp>
      <p:pic>
        <p:nvPicPr>
          <p:cNvPr id="6" name="brP_191"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92"/>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Describe someone you both know: looks AND personality. Your partner guesses!</a:t>
            </a:r>
            <a:endParaRPr lang="en-US" sz="1100" dirty="0"/>
          </a:p>
        </p:txBody>
      </p:sp>
      <p:sp>
        <p:nvSpPr>
          <p:cNvPr id="8" name="insIT_193"/>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Descrivi una persona che conoscete: aspetto E carattere. Il compagno indovina!</a:t>
            </a:r>
            <a:endParaRPr lang="en-US" sz="900" dirty="0"/>
          </a:p>
        </p:txBody>
      </p:sp>
      <p:sp>
        <p:nvSpPr>
          <p:cNvPr id="9" name="cmd_194"/>
          <p:cNvSpPr/>
          <p:nvPr/>
        </p:nvSpPr>
        <p:spPr>
          <a:xfrm>
            <a:off x="6510528" y="182880"/>
            <a:ext cx="1901952" cy="274320"/>
          </a:xfrm>
          <a:prstGeom prst="roundRect">
            <a:avLst>
              <a:gd name="adj" fmla="val 5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PARLA</a:t>
            </a:r>
            <a:endParaRPr lang="en-US" sz="950" dirty="0"/>
          </a:p>
        </p:txBody>
      </p:sp>
      <p:sp>
        <p:nvSpPr>
          <p:cNvPr id="10" name="meta_195"/>
          <p:cNvSpPr/>
          <p:nvPr/>
        </p:nvSpPr>
        <p:spPr>
          <a:xfrm>
            <a:off x="6510528" y="493776"/>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196"/>
          <p:cNvSpPr/>
          <p:nvPr/>
        </p:nvSpPr>
        <p:spPr>
          <a:xfrm>
            <a:off x="6510528" y="804672"/>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19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9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Speaking · describe a person   ·   📖 SB p.10 · 6, 7</a:t>
            </a:r>
            <a:endParaRPr lang="en-US" sz="800" dirty="0"/>
          </a:p>
        </p:txBody>
      </p:sp>
      <p:sp>
        <p:nvSpPr>
          <p:cNvPr id="14" name="cd_199"/>
          <p:cNvSpPr/>
          <p:nvPr/>
        </p:nvSpPr>
        <p:spPr>
          <a:xfrm>
            <a:off x="320040" y="1417320"/>
            <a:ext cx="2788920" cy="2215896"/>
          </a:xfrm>
          <a:prstGeom prst="roundRect">
            <a:avLst>
              <a:gd name="adj" fmla="val 5777"/>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0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201"/>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202"/>
          <p:cNvSpPr/>
          <p:nvPr/>
        </p:nvSpPr>
        <p:spPr>
          <a:xfrm>
            <a:off x="886968" y="1911096"/>
            <a:ext cx="2130552" cy="16489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He's / She's got…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He's / She's quite / really…</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He's / She's a bit…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He's never… / always…</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Is it…?</a:t>
            </a:r>
            <a:endParaRPr lang="en-US" sz="1150" dirty="0"/>
          </a:p>
        </p:txBody>
      </p:sp>
      <p:sp>
        <p:nvSpPr>
          <p:cNvPr id="18" name="R1_qb203"/>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204"/>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Which adjectives describe YOU? Tell your partner.</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I'm quite confident, but I'm a bit careless with homework.</a:t>
            </a:r>
            <a:endParaRPr lang="en-US" sz="1050" dirty="0"/>
          </a:p>
        </p:txBody>
      </p:sp>
      <p:sp>
        <p:nvSpPr>
          <p:cNvPr id="20" name="R2_qb205"/>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206"/>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Think of someone you both know: a teacher, a singer, a footballer…</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Don't say the name!</a:t>
            </a:r>
            <a:endParaRPr lang="en-US" sz="1050" dirty="0"/>
          </a:p>
        </p:txBody>
      </p:sp>
      <p:sp>
        <p:nvSpPr>
          <p:cNvPr id="22" name="R3_qb207"/>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208"/>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Describe their looks AND their personality.</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She's got straight dark hair and she's very confident.</a:t>
            </a:r>
            <a:endParaRPr lang="en-US" sz="1050" dirty="0"/>
          </a:p>
        </p:txBody>
      </p:sp>
      <p:sp>
        <p:nvSpPr>
          <p:cNvPr id="24" name="R4_qb209"/>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5" name="R4_sq210"/>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Your partner asks 2 questions, then guesses.</a:t>
            </a:r>
            <a:endParaRPr lang="en-US" sz="10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Is she on TV? … Is it Ana?</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11"/>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12" descr="/home/claude/lls-course/v2/assets/brush-yellow.png">    </p:cNvPr>
          <p:cNvPicPr>
            <a:picLocks noChangeAspect="1"/>
          </p:cNvPicPr>
          <p:nvPr/>
        </p:nvPicPr>
        <p:blipFill>
          <a:blip r:embed="rId2"/>
          <a:stretch>
            <a:fillRect/>
          </a:stretch>
        </p:blipFill>
        <p:spPr>
          <a:xfrm>
            <a:off x="1097280" y="146304"/>
            <a:ext cx="5760720" cy="621792"/>
          </a:xfrm>
          <a:prstGeom prst="rect">
            <a:avLst/>
          </a:prstGeom>
        </p:spPr>
      </p:pic>
      <p:sp>
        <p:nvSpPr>
          <p:cNvPr id="5" name="title_213"/>
          <p:cNvSpPr/>
          <p:nvPr/>
        </p:nvSpPr>
        <p:spPr>
          <a:xfrm>
            <a:off x="1261872" y="164592"/>
            <a:ext cx="548640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Bryans High School: all.about.me</a:t>
            </a:r>
            <a:endParaRPr lang="en-US" sz="2500" dirty="0"/>
          </a:p>
        </p:txBody>
      </p:sp>
      <p:pic>
        <p:nvPicPr>
          <p:cNvPr id="6" name="brP_214" descr="/home/claude/lls-course/v2/assets/brush-pink.png">    </p:cNvPr>
          <p:cNvPicPr>
            <a:picLocks noChangeAspect="1"/>
          </p:cNvPicPr>
          <p:nvPr/>
        </p:nvPicPr>
        <p:blipFill>
          <a:blip r:embed="rId3"/>
          <a:stretch>
            <a:fillRect/>
          </a:stretch>
        </p:blipFill>
        <p:spPr>
          <a:xfrm>
            <a:off x="1207008" y="731520"/>
            <a:ext cx="4379976" cy="402336"/>
          </a:xfrm>
          <a:prstGeom prst="rect">
            <a:avLst/>
          </a:prstGeom>
        </p:spPr>
      </p:pic>
      <p:sp>
        <p:nvSpPr>
          <p:cNvPr id="7" name="ins_215"/>
          <p:cNvSpPr/>
          <p:nvPr/>
        </p:nvSpPr>
        <p:spPr>
          <a:xfrm>
            <a:off x="1353312" y="731520"/>
            <a:ext cx="412394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Look at the website. Answer the questions.</a:t>
            </a:r>
            <a:endParaRPr lang="en-US" sz="1250" dirty="0"/>
          </a:p>
        </p:txBody>
      </p:sp>
      <p:sp>
        <p:nvSpPr>
          <p:cNvPr id="8" name="insIT_21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Guarda il sito. Rispondi alle domande.</a:t>
            </a:r>
            <a:endParaRPr lang="en-US" sz="950" dirty="0"/>
          </a:p>
        </p:txBody>
      </p:sp>
      <p:sp>
        <p:nvSpPr>
          <p:cNvPr id="9" name="cmd_217"/>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LEGGI</a:t>
            </a:r>
            <a:endParaRPr lang="en-US" sz="950" dirty="0"/>
          </a:p>
        </p:txBody>
      </p:sp>
      <p:sp>
        <p:nvSpPr>
          <p:cNvPr id="10" name="cmd_218"/>
          <p:cNvSpPr/>
          <p:nvPr/>
        </p:nvSpPr>
        <p:spPr>
          <a:xfrm>
            <a:off x="6510528" y="493776"/>
            <a:ext cx="1901952" cy="274320"/>
          </a:xfrm>
          <a:prstGeom prst="roundRect">
            <a:avLst>
              <a:gd name="adj" fmla="val 5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PARLA</a:t>
            </a:r>
            <a:endParaRPr lang="en-US" sz="950" dirty="0"/>
          </a:p>
        </p:txBody>
      </p:sp>
      <p:sp>
        <p:nvSpPr>
          <p:cNvPr id="11" name="meta_219"/>
          <p:cNvSpPr/>
          <p:nvPr/>
        </p:nvSpPr>
        <p:spPr>
          <a:xfrm>
            <a:off x="6510528" y="804672"/>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2 min   👥 pairs</a:t>
            </a:r>
            <a:endParaRPr lang="en-US" sz="950" dirty="0"/>
          </a:p>
        </p:txBody>
      </p:sp>
      <p:sp>
        <p:nvSpPr>
          <p:cNvPr id="12" name="tag_220"/>
          <p:cNvSpPr/>
          <p:nvPr/>
        </p:nvSpPr>
        <p:spPr>
          <a:xfrm>
            <a:off x="6510528" y="1115568"/>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3" name="logo_22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2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Reading · lead-in   ·   📖 SB p.11 · Reading 1</a:t>
            </a:r>
            <a:endParaRPr lang="en-US" sz="800" dirty="0"/>
          </a:p>
        </p:txBody>
      </p:sp>
      <p:sp>
        <p:nvSpPr>
          <p:cNvPr id="15" name="pf_223"/>
          <p:cNvSpPr/>
          <p:nvPr/>
        </p:nvSpPr>
        <p:spPr>
          <a:xfrm rot="-120000">
            <a:off x="320040" y="1371600"/>
            <a:ext cx="278892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224" descr="/home/claude/lls-course/v2/cache/prep1_students_jpg_649x297_31.png">    </p:cNvPr>
          <p:cNvPicPr>
            <a:picLocks noChangeAspect="1"/>
          </p:cNvPicPr>
          <p:nvPr/>
        </p:nvPicPr>
        <p:blipFill>
          <a:blip r:embed="rId5"/>
          <a:stretch>
            <a:fillRect/>
          </a:stretch>
        </p:blipFill>
        <p:spPr>
          <a:xfrm rot="-120000">
            <a:off x="365760" y="1417320"/>
            <a:ext cx="2697480" cy="1234440"/>
          </a:xfrm>
          <a:prstGeom prst="rect">
            <a:avLst/>
          </a:prstGeom>
        </p:spPr>
      </p:pic>
      <p:sp>
        <p:nvSpPr>
          <p:cNvPr id="17" name="cd_225"/>
          <p:cNvSpPr/>
          <p:nvPr/>
        </p:nvSpPr>
        <p:spPr>
          <a:xfrm>
            <a:off x="320040" y="2880360"/>
            <a:ext cx="2788920" cy="1874520"/>
          </a:xfrm>
          <a:prstGeom prst="roundRect">
            <a:avLst>
              <a:gd name="adj" fmla="val 682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8" name="ii_226"/>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227"/>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20" name="il_228"/>
          <p:cNvSpPr/>
          <p:nvPr/>
        </p:nvSpPr>
        <p:spPr>
          <a:xfrm>
            <a:off x="886968" y="3374136"/>
            <a:ext cx="2130552" cy="1307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Yes, we've got…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No, we haven't got…</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think it's a good idea because…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wouldn't use it because…</a:t>
            </a:r>
            <a:endParaRPr lang="en-US" sz="1150" dirty="0"/>
          </a:p>
        </p:txBody>
      </p:sp>
      <p:sp>
        <p:nvSpPr>
          <p:cNvPr id="21" name="R1_qb229"/>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R1_sq230"/>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700" dirty="0">
                <a:solidFill>
                  <a:srgbClr val="1B2559"/>
                </a:solidFill>
                <a:latin typeface="Segoe UI Semibold" pitchFamily="34" charset="0"/>
                <a:ea typeface="Segoe UI Semibold" pitchFamily="34" charset="-122"/>
                <a:cs typeface="Segoe UI Semibold" pitchFamily="34" charset="-120"/>
              </a:rPr>
              <a:t>Would you like to meet other students who share your hobbies? It's easy with all.about.me: 1 create an account · 2 post a photo and your profile · 3 read about other students and click 'Connect'.</a:t>
            </a:r>
            <a:endParaRPr lang="en-US" sz="70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e.g. Sounds fun – I'd look for people who play basketball!</a:t>
            </a:r>
            <a:endParaRPr lang="en-US" sz="700" dirty="0"/>
          </a:p>
        </p:txBody>
      </p:sp>
      <p:sp>
        <p:nvSpPr>
          <p:cNvPr id="23" name="R2_qb231"/>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R2_sq232"/>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Have you got something similar in your school?</a:t>
            </a:r>
            <a:endParaRPr lang="en-US" sz="9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No, we haven't. We use WhatsApp groups.</a:t>
            </a:r>
            <a:endParaRPr lang="en-US" sz="900" dirty="0"/>
          </a:p>
        </p:txBody>
      </p:sp>
      <p:sp>
        <p:nvSpPr>
          <p:cNvPr id="25" name="R3_qb233"/>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R3_sq234"/>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What do you think of the idea?</a:t>
            </a:r>
            <a:endParaRPr lang="en-US" sz="90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 think it's a good idea – but I wouldn't post my photo.</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35"/>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36"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237"/>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all.about.me (1)</a:t>
            </a:r>
            <a:endParaRPr lang="en-US" sz="2500" dirty="0"/>
          </a:p>
        </p:txBody>
      </p:sp>
      <p:pic>
        <p:nvPicPr>
          <p:cNvPr id="6" name="brP_238"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39"/>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Lucas and Grace. Which interest is each person's?</a:t>
            </a:r>
            <a:endParaRPr lang="en-US" sz="1250" dirty="0"/>
          </a:p>
        </p:txBody>
      </p:sp>
      <p:sp>
        <p:nvSpPr>
          <p:cNvPr id="8" name="insIT_24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Lucas e Grace. Qual è l'interesse di ciascuno?</a:t>
            </a:r>
            <a:endParaRPr lang="en-US" sz="950" dirty="0"/>
          </a:p>
        </p:txBody>
      </p:sp>
      <p:sp>
        <p:nvSpPr>
          <p:cNvPr id="9" name="cmd_241"/>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LEGGI</a:t>
            </a:r>
            <a:endParaRPr lang="en-US" sz="950" dirty="0"/>
          </a:p>
        </p:txBody>
      </p:sp>
      <p:sp>
        <p:nvSpPr>
          <p:cNvPr id="10" name="meta_242"/>
          <p:cNvSpPr/>
          <p:nvPr/>
        </p:nvSpPr>
        <p:spPr>
          <a:xfrm>
            <a:off x="6510528" y="493776"/>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4 min   👤 alone</a:t>
            </a:r>
            <a:endParaRPr lang="en-US" sz="950" dirty="0"/>
          </a:p>
        </p:txBody>
      </p:sp>
      <p:sp>
        <p:nvSpPr>
          <p:cNvPr id="11" name="tag_243"/>
          <p:cNvSpPr/>
          <p:nvPr/>
        </p:nvSpPr>
        <p:spPr>
          <a:xfrm>
            <a:off x="6510528" y="804672"/>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9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950" dirty="0">
                <a:solidFill>
                  <a:srgbClr val="7B5CD6"/>
                </a:solidFill>
                <a:latin typeface="Segoe UI Semibold" pitchFamily="34" charset="0"/>
                <a:ea typeface="Segoe UI Semibold" pitchFamily="34" charset="-122"/>
                <a:cs typeface="Segoe UI Semibold" pitchFamily="34" charset="-120"/>
              </a:rPr>
              <a:t>  ·  for gist</a:t>
            </a:r>
            <a:endParaRPr lang="en-US" sz="950" dirty="0"/>
          </a:p>
        </p:txBody>
      </p:sp>
      <p:pic>
        <p:nvPicPr>
          <p:cNvPr id="12" name="logo_24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4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Reading · gist (top-down)   ·   📖 SB p.11 · Reading 2 (the text is on the slide)</a:t>
            </a:r>
            <a:endParaRPr lang="en-US" sz="800" dirty="0"/>
          </a:p>
        </p:txBody>
      </p:sp>
      <p:sp>
        <p:nvSpPr>
          <p:cNvPr id="14" name="cd_246"/>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5" name="rd_247"/>
          <p:cNvSpPr/>
          <p:nvPr/>
        </p:nvSpPr>
        <p:spPr>
          <a:xfrm>
            <a:off x="457200" y="1527048"/>
            <a:ext cx="2606040" cy="3090672"/>
          </a:xfrm>
          <a:prstGeom prst="rect">
            <a:avLst/>
          </a:prstGeom>
          <a:noFill/>
          <a:ln/>
        </p:spPr>
        <p:txBody>
          <a:bodyPr wrap="square" lIns="0" tIns="0" rIns="0" bIns="0" rtlCol="0" anchor="t"/>
          <a:lstStyle/>
          <a:p>
            <a:pPr indent="0" marL="0">
              <a:lnSpc>
                <a:spcPct val="105000"/>
              </a:lnSpc>
              <a:spcAft>
                <a:spcPts val="400"/>
              </a:spcAft>
              <a:buNone/>
            </a:pPr>
            <a:r>
              <a:rPr lang="en-US" sz="1150" b="1" dirty="0">
                <a:solidFill>
                  <a:srgbClr val="1F6F43"/>
                </a:solidFill>
                <a:latin typeface="Georgia" pitchFamily="34" charset="0"/>
                <a:ea typeface="Georgia" pitchFamily="34" charset="-122"/>
                <a:cs typeface="Georgia" pitchFamily="34" charset="-120"/>
              </a:rPr>
              <a:t>Lucas</a:t>
            </a:r>
            <a:endParaRPr lang="en-US" sz="1050" dirty="0"/>
          </a:p>
          <a:p>
            <a:pPr indent="0" marL="0">
              <a:lnSpc>
                <a:spcPct val="105000"/>
              </a:lnSpc>
              <a:spcAft>
                <a:spcPts val="700"/>
              </a:spcAft>
              <a:buNone/>
            </a:pPr>
            <a:r>
              <a:rPr lang="en-US" sz="1050" dirty="0">
                <a:solidFill>
                  <a:srgbClr val="1B2559"/>
                </a:solidFill>
                <a:latin typeface="Georgia" pitchFamily="34" charset="0"/>
                <a:ea typeface="Georgia" pitchFamily="34" charset="-122"/>
                <a:cs typeface="Georgia" pitchFamily="34" charset="-120"/>
              </a:rPr>
              <a:t>Hi everyone. I'm Lucas. I live with my parents, my sister and my two brothers. Some of my classmates think I'm quite serious, but I don't agree. I'm just a bit shy, and I'm quite independent. My main interest outside of school is computers and gaming. But I'm not just a gamer. Right now, I'm taking part in a competition for young game designers. So at weekends, I'm learning to code with my aunt. She's a professional coder. She's also a really patient teacher – I'm finding coding impossible at the moment!</a:t>
            </a:r>
            <a:endParaRPr lang="en-US" sz="1050" dirty="0"/>
          </a:p>
        </p:txBody>
      </p:sp>
      <p:sp>
        <p:nvSpPr>
          <p:cNvPr id="16" name="rd_248"/>
          <p:cNvSpPr/>
          <p:nvPr/>
        </p:nvSpPr>
        <p:spPr>
          <a:xfrm>
            <a:off x="3337560" y="1527048"/>
            <a:ext cx="2606040" cy="3090672"/>
          </a:xfrm>
          <a:prstGeom prst="rect">
            <a:avLst/>
          </a:prstGeom>
          <a:noFill/>
          <a:ln/>
        </p:spPr>
        <p:txBody>
          <a:bodyPr wrap="square" lIns="0" tIns="0" rIns="0" bIns="0" rtlCol="0" anchor="t"/>
          <a:lstStyle/>
          <a:p>
            <a:pPr indent="0" marL="0">
              <a:lnSpc>
                <a:spcPct val="105000"/>
              </a:lnSpc>
              <a:spcAft>
                <a:spcPts val="400"/>
              </a:spcAft>
              <a:buNone/>
            </a:pPr>
            <a:r>
              <a:rPr lang="en-US" sz="1150" b="1" dirty="0">
                <a:solidFill>
                  <a:srgbClr val="1F6F43"/>
                </a:solidFill>
                <a:latin typeface="Georgia" pitchFamily="34" charset="0"/>
                <a:ea typeface="Georgia" pitchFamily="34" charset="-122"/>
                <a:cs typeface="Georgia" pitchFamily="34" charset="-120"/>
              </a:rPr>
              <a:t>Grace</a:t>
            </a:r>
            <a:endParaRPr lang="en-US" sz="1050" dirty="0"/>
          </a:p>
          <a:p>
            <a:pPr indent="0" marL="0">
              <a:lnSpc>
                <a:spcPct val="105000"/>
              </a:lnSpc>
              <a:spcAft>
                <a:spcPts val="700"/>
              </a:spcAft>
              <a:buNone/>
            </a:pPr>
            <a:r>
              <a:rPr lang="en-US" sz="1050" dirty="0">
                <a:solidFill>
                  <a:srgbClr val="1B2559"/>
                </a:solidFill>
                <a:latin typeface="Georgia" pitchFamily="34" charset="0"/>
                <a:ea typeface="Georgia" pitchFamily="34" charset="-122"/>
                <a:cs typeface="Georgia" pitchFamily="34" charset="-120"/>
              </a:rPr>
              <a:t>Hello! I'm Grace. I live with my mum and dad. I'm an only child – so no brothers or sisters. My friends and family say I'm a cheerful person. And they're right. I think there's always something to smile about! In my free time, I'm into various typical teenage hobbies, but my favourite is sport. I'm in the school hockey and football teams. And this year I'm having tennis lessons. I'm really making progress, I think. In a few months, I'm going on a kayaking trip with my cousin. We've never done it before but we're really excited.</a:t>
            </a:r>
            <a:endParaRPr lang="en-US" sz="1050" dirty="0"/>
          </a:p>
        </p:txBody>
      </p:sp>
      <p:sp>
        <p:nvSpPr>
          <p:cNvPr id="17" name="rdl_249"/>
          <p:cNvSpPr/>
          <p:nvPr/>
        </p:nvSpPr>
        <p:spPr>
          <a:xfrm>
            <a:off x="3200400" y="1600200"/>
            <a:ext cx="0" cy="2999232"/>
          </a:xfrm>
          <a:prstGeom prst="line">
            <a:avLst/>
          </a:prstGeom>
          <a:noFill/>
          <a:ln w="28575">
            <a:solidFill>
              <a:srgbClr val="A8E5BE"/>
            </a:solidFill>
            <a:prstDash val="solid"/>
          </a:ln>
        </p:spPr>
      </p:sp>
      <p:sp>
        <p:nvSpPr>
          <p:cNvPr id="18" name="cd_250"/>
          <p:cNvSpPr/>
          <p:nvPr/>
        </p:nvSpPr>
        <p:spPr>
          <a:xfrm>
            <a:off x="6263640" y="1417320"/>
            <a:ext cx="2606040" cy="1765808"/>
          </a:xfrm>
          <a:prstGeom prst="roundRect">
            <a:avLst>
              <a:gd name="adj" fmla="val 7250"/>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9" name="ii_251"/>
          <p:cNvSpPr/>
          <p:nvPr/>
        </p:nvSpPr>
        <p:spPr>
          <a:xfrm>
            <a:off x="63550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252"/>
          <p:cNvSpPr/>
          <p:nvPr/>
        </p:nvSpPr>
        <p:spPr>
          <a:xfrm>
            <a:off x="6830568" y="15087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Which interest?</a:t>
            </a:r>
            <a:endParaRPr lang="en-US" sz="1300" dirty="0"/>
          </a:p>
        </p:txBody>
      </p:sp>
      <p:sp>
        <p:nvSpPr>
          <p:cNvPr id="21" name="il_253"/>
          <p:cNvSpPr/>
          <p:nvPr/>
        </p:nvSpPr>
        <p:spPr>
          <a:xfrm>
            <a:off x="6830568" y="1911096"/>
            <a:ext cx="1947672" cy="11988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going to the cinema</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fashion</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technology</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fitness</a:t>
            </a:r>
            <a:endParaRPr lang="en-US" sz="1150" dirty="0"/>
          </a:p>
        </p:txBody>
      </p:sp>
      <p:sp>
        <p:nvSpPr>
          <p:cNvPr id="22" name="R1_chip254"/>
          <p:cNvSpPr/>
          <p:nvPr/>
        </p:nvSpPr>
        <p:spPr>
          <a:xfrm>
            <a:off x="6263640" y="3320288"/>
            <a:ext cx="2606040" cy="1005840"/>
          </a:xfrm>
          <a:prstGeom prst="roundRect">
            <a:avLst>
              <a:gd name="adj" fmla="val 9091"/>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 Lucas – technology · Grace – fitness (Alfie: next slide!)</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55"/>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56"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257"/>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all.about.me (2): Alfie</a:t>
            </a:r>
            <a:endParaRPr lang="en-US" sz="2500" dirty="0"/>
          </a:p>
        </p:txBody>
      </p:sp>
      <p:pic>
        <p:nvPicPr>
          <p:cNvPr id="6" name="brP_258" descr="/home/claude/lls-course/v2/assets/brush-pink.png">    </p:cNvPr>
          <p:cNvPicPr>
            <a:picLocks noChangeAspect="1"/>
          </p:cNvPicPr>
          <p:nvPr/>
        </p:nvPicPr>
        <p:blipFill>
          <a:blip r:embed="rId3"/>
          <a:stretch>
            <a:fillRect/>
          </a:stretch>
        </p:blipFill>
        <p:spPr>
          <a:xfrm>
            <a:off x="1207008" y="731520"/>
            <a:ext cx="4988052" cy="402336"/>
          </a:xfrm>
          <a:prstGeom prst="rect">
            <a:avLst/>
          </a:prstGeom>
        </p:spPr>
      </p:pic>
      <p:sp>
        <p:nvSpPr>
          <p:cNvPr id="7" name="ins_259"/>
          <p:cNvSpPr/>
          <p:nvPr/>
        </p:nvSpPr>
        <p:spPr>
          <a:xfrm>
            <a:off x="1353312" y="731520"/>
            <a:ext cx="473202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Alfie's profile. Write ONE word in each gap.</a:t>
            </a:r>
            <a:endParaRPr lang="en-US" sz="1250" dirty="0"/>
          </a:p>
        </p:txBody>
      </p:sp>
      <p:sp>
        <p:nvSpPr>
          <p:cNvPr id="8" name="insIT_26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il profilo di Alfie. Scrivi UNA parola per ogni spazio.</a:t>
            </a:r>
            <a:endParaRPr lang="en-US" sz="950" dirty="0"/>
          </a:p>
        </p:txBody>
      </p:sp>
      <p:sp>
        <p:nvSpPr>
          <p:cNvPr id="9" name="cmd_261"/>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LEGGI</a:t>
            </a:r>
            <a:endParaRPr lang="en-US" sz="950" dirty="0"/>
          </a:p>
        </p:txBody>
      </p:sp>
      <p:sp>
        <p:nvSpPr>
          <p:cNvPr id="10" name="cmd_262"/>
          <p:cNvSpPr/>
          <p:nvPr/>
        </p:nvSpPr>
        <p:spPr>
          <a:xfrm>
            <a:off x="6510528" y="493776"/>
            <a:ext cx="1901952" cy="274320"/>
          </a:xfrm>
          <a:prstGeom prst="roundRect">
            <a:avLst>
              <a:gd name="adj" fmla="val 5000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750" dirty="0">
                <a:solidFill>
                  <a:srgbClr val="000000"/>
                </a:solidFill>
              </a:rPr>
              <a:t>✏️ </a:t>
            </a:r>
            <a:pPr indent="0" marL="0">
              <a:buNone/>
            </a:pPr>
            <a:r>
              <a:rPr lang="en-US" sz="75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50" dirty="0">
                <a:solidFill>
                  <a:srgbClr val="5B6785"/>
                </a:solidFill>
                <a:latin typeface="Segoe UI Semibold" pitchFamily="34" charset="0"/>
                <a:ea typeface="Segoe UI Semibold" pitchFamily="34" charset="-122"/>
                <a:cs typeface="Segoe UI Semibold" pitchFamily="34" charset="-120"/>
              </a:rPr>
              <a:t>  COMPLETA</a:t>
            </a:r>
            <a:endParaRPr lang="en-US" sz="750" dirty="0"/>
          </a:p>
        </p:txBody>
      </p:sp>
      <p:sp>
        <p:nvSpPr>
          <p:cNvPr id="11" name="meta_263"/>
          <p:cNvSpPr/>
          <p:nvPr/>
        </p:nvSpPr>
        <p:spPr>
          <a:xfrm>
            <a:off x="6510528" y="804672"/>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5 min   👥 pairs</a:t>
            </a:r>
            <a:endParaRPr lang="en-US" sz="950" dirty="0"/>
          </a:p>
        </p:txBody>
      </p:sp>
      <p:sp>
        <p:nvSpPr>
          <p:cNvPr id="12" name="tag_264"/>
          <p:cNvSpPr/>
          <p:nvPr/>
        </p:nvSpPr>
        <p:spPr>
          <a:xfrm>
            <a:off x="6510528" y="1115568"/>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Exam practice</a:t>
            </a:r>
            <a:endParaRPr lang="en-US" sz="850" dirty="0"/>
          </a:p>
        </p:txBody>
      </p:sp>
      <p:pic>
        <p:nvPicPr>
          <p:cNvPr id="13" name="logo_26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6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Reading · open cloze (B1 Preliminary Reading Part 6)   ·   📖 SB p.11 · Reading 3 (the text is on the slide)</a:t>
            </a:r>
            <a:endParaRPr lang="en-US" sz="800" dirty="0"/>
          </a:p>
        </p:txBody>
      </p:sp>
      <p:sp>
        <p:nvSpPr>
          <p:cNvPr id="15" name="cd_267"/>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6" name="rd_268"/>
          <p:cNvSpPr/>
          <p:nvPr/>
        </p:nvSpPr>
        <p:spPr>
          <a:xfrm>
            <a:off x="457200" y="1527048"/>
            <a:ext cx="5486400" cy="3090672"/>
          </a:xfrm>
          <a:prstGeom prst="rect">
            <a:avLst/>
          </a:prstGeom>
          <a:noFill/>
          <a:ln/>
        </p:spPr>
        <p:txBody>
          <a:bodyPr wrap="square" lIns="0" tIns="0" rIns="0" bIns="0" rtlCol="0" anchor="t"/>
          <a:lstStyle/>
          <a:p>
            <a:pPr indent="0" marL="0">
              <a:lnSpc>
                <a:spcPct val="105000"/>
              </a:lnSpc>
              <a:spcAft>
                <a:spcPts val="400"/>
              </a:spcAft>
              <a:buNone/>
            </a:pPr>
            <a:r>
              <a:rPr lang="en-US" sz="1900" b="1" dirty="0">
                <a:solidFill>
                  <a:srgbClr val="1F6F43"/>
                </a:solidFill>
                <a:latin typeface="Georgia" pitchFamily="34" charset="0"/>
                <a:ea typeface="Georgia" pitchFamily="34" charset="-122"/>
                <a:cs typeface="Georgia" pitchFamily="34" charset="-120"/>
              </a:rPr>
              <a:t>Alfie</a:t>
            </a:r>
            <a:endParaRPr lang="en-US" sz="1400" dirty="0"/>
          </a:p>
          <a:p>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My name's Alfie. I live with my mum, dad and sister, Melissa, right opposite the school. I'm quite friendly and funny, but I</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(1)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be quite serious at times, too. One</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(2)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my biggest interests is film: thrillers, drama, science fiction – I don't mind. I like watching</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all. One day, I think I'd like to work</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film.</a:t>
            </a:r>
            <a:endParaRPr lang="en-US" sz="1400" dirty="0"/>
          </a:p>
          <a:p>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This year, I want to visit a film studio. There's</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near London where all eight Harry Potter films were made. My dream is</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fly to Hollywood and see a studio there.</a:t>
            </a:r>
            <a:endParaRPr lang="en-US" sz="1400" dirty="0"/>
          </a:p>
        </p:txBody>
      </p:sp>
      <p:sp>
        <p:nvSpPr>
          <p:cNvPr id="17" name="R2_rdA269"/>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900" b="1" dirty="0">
                <a:solidFill>
                  <a:srgbClr val="1F6F43"/>
                </a:solidFill>
                <a:latin typeface="Georgia" pitchFamily="34" charset="0"/>
                <a:ea typeface="Georgia" pitchFamily="34" charset="-122"/>
                <a:cs typeface="Georgia" pitchFamily="34" charset="-120"/>
              </a:rPr>
              <a:t>Alfie</a:t>
            </a:r>
            <a:endParaRPr lang="en-US" sz="1400" dirty="0"/>
          </a:p>
          <a:p>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My name's Alfie. I live with my mum, dad and sister, Melissa, right opposite the school. I'm quite friendly and funny, but I</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(1) can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be quite serious at times, too. One</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(2)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my biggest interests is film: thrillers, drama, science fiction – I don't mind. I like watching</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all. One day, I think I'd like to work</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film.</a:t>
            </a:r>
            <a:endParaRPr lang="en-US" sz="1400" dirty="0"/>
          </a:p>
          <a:p>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This year, I want to visit a film studio. There's</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near London where all eight Harry Potter films were made. My dream is</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fly to Hollywood and see a studio there.</a:t>
            </a:r>
            <a:endParaRPr lang="en-US" sz="1400" dirty="0"/>
          </a:p>
        </p:txBody>
      </p:sp>
      <p:sp>
        <p:nvSpPr>
          <p:cNvPr id="18" name="R3_rdA270"/>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900" b="1" dirty="0">
                <a:solidFill>
                  <a:srgbClr val="1F6F43"/>
                </a:solidFill>
                <a:latin typeface="Georgia" pitchFamily="34" charset="0"/>
                <a:ea typeface="Georgia" pitchFamily="34" charset="-122"/>
                <a:cs typeface="Georgia" pitchFamily="34" charset="-120"/>
              </a:rPr>
              <a:t>Alfie</a:t>
            </a:r>
            <a:endParaRPr lang="en-US" sz="1400" dirty="0"/>
          </a:p>
          <a:p>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My name's Alfie. I live with my mum, dad and sister, Melissa, right opposite the school. I'm quite friendly and funny, but I</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(1) can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be quite serious at times, too. One</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(2) of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my biggest interests is film: thrillers, drama, science fiction – I don't mind. I like watching</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(3)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all. One day, I think I'd like to work</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film.</a:t>
            </a:r>
            <a:endParaRPr lang="en-US" sz="1400" dirty="0"/>
          </a:p>
          <a:p>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This year, I want to visit a film studio. There's</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near London where all eight Harry Potter films were made. My dream is</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fly to Hollywood and see a studio there.</a:t>
            </a:r>
            <a:endParaRPr lang="en-US" sz="1400" dirty="0"/>
          </a:p>
        </p:txBody>
      </p:sp>
      <p:sp>
        <p:nvSpPr>
          <p:cNvPr id="19" name="R4_rdA271"/>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900" b="1" dirty="0">
                <a:solidFill>
                  <a:srgbClr val="1F6F43"/>
                </a:solidFill>
                <a:latin typeface="Georgia" pitchFamily="34" charset="0"/>
                <a:ea typeface="Georgia" pitchFamily="34" charset="-122"/>
                <a:cs typeface="Georgia" pitchFamily="34" charset="-120"/>
              </a:rPr>
              <a:t>Alfie</a:t>
            </a:r>
            <a:endParaRPr lang="en-US" sz="1400" dirty="0"/>
          </a:p>
          <a:p>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My name's Alfie. I live with my mum, dad and sister, Melissa, right opposite the school. I'm quite friendly and funny, but I</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(1) can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be quite serious at times, too. One</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(2) of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my biggest interests is film: thrillers, drama, science fiction – I don't mind. I like watching</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(3) them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all. One day, I think I'd like to work</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(4)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film.</a:t>
            </a:r>
            <a:endParaRPr lang="en-US" sz="1400" dirty="0"/>
          </a:p>
          <a:p>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This year, I want to visit a film studio. There's</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near London where all eight Harry Potter films were made. My dream is</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fly to Hollywood and see a studio there.</a:t>
            </a:r>
            <a:endParaRPr lang="en-US" sz="1400" dirty="0"/>
          </a:p>
        </p:txBody>
      </p:sp>
      <p:sp>
        <p:nvSpPr>
          <p:cNvPr id="20" name="R5_rdA272"/>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900" b="1" dirty="0">
                <a:solidFill>
                  <a:srgbClr val="1F6F43"/>
                </a:solidFill>
                <a:latin typeface="Georgia" pitchFamily="34" charset="0"/>
                <a:ea typeface="Georgia" pitchFamily="34" charset="-122"/>
                <a:cs typeface="Georgia" pitchFamily="34" charset="-120"/>
              </a:rPr>
              <a:t>Alfie</a:t>
            </a:r>
            <a:endParaRPr lang="en-US" sz="1400" dirty="0"/>
          </a:p>
          <a:p>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My name's Alfie. I live with my mum, dad and sister, Melissa, right opposite the school. I'm quite friendly and funny, but I</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(1) can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be quite serious at times, too. One</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(2) of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my biggest interests is film: thrillers, drama, science fiction – I don't mind. I like watching</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(3) them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all. One day, I think I'd like to work</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(4) in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film.</a:t>
            </a:r>
            <a:endParaRPr lang="en-US" sz="1400" dirty="0"/>
          </a:p>
          <a:p>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This year, I want to visit a film studio. There's</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(5)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near London where all eight Harry Potter films were made. My dream is</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fly to Hollywood and see a studio there.</a:t>
            </a:r>
            <a:endParaRPr lang="en-US" sz="1400" dirty="0"/>
          </a:p>
        </p:txBody>
      </p:sp>
      <p:sp>
        <p:nvSpPr>
          <p:cNvPr id="21" name="R6_rdA273"/>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900" b="1" dirty="0">
                <a:solidFill>
                  <a:srgbClr val="1F6F43"/>
                </a:solidFill>
                <a:latin typeface="Georgia" pitchFamily="34" charset="0"/>
                <a:ea typeface="Georgia" pitchFamily="34" charset="-122"/>
                <a:cs typeface="Georgia" pitchFamily="34" charset="-120"/>
              </a:rPr>
              <a:t>Alfie</a:t>
            </a:r>
            <a:endParaRPr lang="en-US" sz="1400" dirty="0"/>
          </a:p>
          <a:p>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My name's Alfie. I live with my mum, dad and sister, Melissa, right opposite the school. I'm quite friendly and funny, but I</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(1) can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be quite serious at times, too. One</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(2) of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my biggest interests is film: thrillers, drama, science fiction – I don't mind. I like watching</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(3) them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all. One day, I think I'd like to work</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(4) in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film.</a:t>
            </a:r>
            <a:endParaRPr lang="en-US" sz="1400" dirty="0"/>
          </a:p>
          <a:p>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This year, I want to visit a film studio. There's</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(5) one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near London where all eight Harry Potter films were made. My dream is</a:t>
            </a:r>
            <a:pPr indent="0" marL="0">
              <a:lnSpc>
                <a:spcPct val="105000"/>
              </a:lnSpc>
              <a:spcAft>
                <a:spcPts val="700"/>
              </a:spcAft>
              <a:buNone/>
            </a:pPr>
            <a:r>
              <a:rPr lang="en-US" sz="1400" b="1" dirty="0">
                <a:solidFill>
                  <a:srgbClr val="2EB872"/>
                </a:solidFill>
                <a:latin typeface="Georgia" pitchFamily="34" charset="0"/>
                <a:ea typeface="Georgia" pitchFamily="34" charset="-122"/>
                <a:cs typeface="Georgia" pitchFamily="34" charset="-120"/>
              </a:rPr>
              <a:t> (6) ________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fly to Hollywood and see a studio there.</a:t>
            </a:r>
            <a:endParaRPr lang="en-US" sz="1400" dirty="0"/>
          </a:p>
        </p:txBody>
      </p:sp>
      <p:sp>
        <p:nvSpPr>
          <p:cNvPr id="22" name="R7_rdA274"/>
          <p:cNvSpPr/>
          <p:nvPr/>
        </p:nvSpPr>
        <p:spPr>
          <a:xfrm>
            <a:off x="457200" y="1527048"/>
            <a:ext cx="5486400" cy="3090672"/>
          </a:xfrm>
          <a:prstGeom prst="rect">
            <a:avLst/>
          </a:prstGeom>
          <a:solidFill>
            <a:srgbClr val="FFFFFF"/>
          </a:solidFill>
          <a:ln/>
        </p:spPr>
        <p:txBody>
          <a:bodyPr wrap="square" lIns="0" tIns="0" rIns="0" bIns="0" rtlCol="0" anchor="t"/>
          <a:lstStyle/>
          <a:p>
            <a:pPr indent="0" marL="0">
              <a:lnSpc>
                <a:spcPct val="105000"/>
              </a:lnSpc>
              <a:spcAft>
                <a:spcPts val="400"/>
              </a:spcAft>
              <a:buNone/>
            </a:pPr>
            <a:r>
              <a:rPr lang="en-US" sz="1900" b="1" dirty="0">
                <a:solidFill>
                  <a:srgbClr val="1F6F43"/>
                </a:solidFill>
                <a:latin typeface="Georgia" pitchFamily="34" charset="0"/>
                <a:ea typeface="Georgia" pitchFamily="34" charset="-122"/>
                <a:cs typeface="Georgia" pitchFamily="34" charset="-120"/>
              </a:rPr>
              <a:t>Alfie</a:t>
            </a:r>
            <a:endParaRPr lang="en-US" sz="1400" dirty="0"/>
          </a:p>
          <a:p>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My name's Alfie. I live with my mum, dad and sister, Melissa, right opposite the school. I'm quite friendly and funny, but I</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(1) can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be quite serious at times, too. One</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(2) of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my biggest interests is film: thrillers, drama, science fiction – I don't mind. I like watching</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(3) them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all. One day, I think I'd like to work</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(4) in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film.</a:t>
            </a:r>
            <a:endParaRPr lang="en-US" sz="1400" dirty="0"/>
          </a:p>
          <a:p>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This year, I want to visit a film studio. There's</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(5) one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near London where all eight Harry Potter films were made. My dream is</a:t>
            </a:r>
            <a:pPr indent="0" marL="0">
              <a:lnSpc>
                <a:spcPct val="105000"/>
              </a:lnSpc>
              <a:spcAft>
                <a:spcPts val="700"/>
              </a:spcAft>
              <a:buNone/>
            </a:pPr>
            <a:r>
              <a:rPr lang="en-US" sz="1400" b="1" dirty="0">
                <a:solidFill>
                  <a:srgbClr val="1B2559"/>
                </a:solidFill>
                <a:highlight>
                  <a:srgbClr val="FFE066"/>
                </a:highlight>
                <a:latin typeface="Georgia" pitchFamily="34" charset="0"/>
                <a:ea typeface="Georgia" pitchFamily="34" charset="-122"/>
                <a:cs typeface="Georgia" pitchFamily="34" charset="-120"/>
              </a:rPr>
              <a:t> (6) to </a:t>
            </a:r>
            <a:pPr indent="0" marL="0">
              <a:lnSpc>
                <a:spcPct val="105000"/>
              </a:lnSpc>
              <a:spcAft>
                <a:spcPts val="700"/>
              </a:spcAft>
              <a:buNone/>
            </a:pPr>
            <a:r>
              <a:rPr lang="en-US" sz="1400" dirty="0">
                <a:solidFill>
                  <a:srgbClr val="1B2559"/>
                </a:solidFill>
                <a:latin typeface="Georgia" pitchFamily="34" charset="0"/>
                <a:ea typeface="Georgia" pitchFamily="34" charset="-122"/>
                <a:cs typeface="Georgia" pitchFamily="34" charset="-120"/>
              </a:rPr>
              <a:t>fly to Hollywood and see a studio there.</a:t>
            </a:r>
            <a:endParaRPr lang="en-US" sz="1400" dirty="0"/>
          </a:p>
        </p:txBody>
      </p:sp>
      <p:sp>
        <p:nvSpPr>
          <p:cNvPr id="23" name="cd_275"/>
          <p:cNvSpPr/>
          <p:nvPr/>
        </p:nvSpPr>
        <p:spPr>
          <a:xfrm>
            <a:off x="6263640" y="1417320"/>
            <a:ext cx="2606040" cy="2063496"/>
          </a:xfrm>
          <a:prstGeom prst="roundRect">
            <a:avLst>
              <a:gd name="adj" fmla="val 6204"/>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4" name="ii_276"/>
          <p:cNvSpPr/>
          <p:nvPr/>
        </p:nvSpPr>
        <p:spPr>
          <a:xfrm>
            <a:off x="63550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5" name="ih_277"/>
          <p:cNvSpPr/>
          <p:nvPr/>
        </p:nvSpPr>
        <p:spPr>
          <a:xfrm>
            <a:off x="6830568" y="15087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 tip</a:t>
            </a:r>
            <a:endParaRPr lang="en-US" sz="1300" dirty="0"/>
          </a:p>
        </p:txBody>
      </p:sp>
      <p:sp>
        <p:nvSpPr>
          <p:cNvPr id="26" name="il_278"/>
          <p:cNvSpPr/>
          <p:nvPr/>
        </p:nvSpPr>
        <p:spPr>
          <a:xfrm>
            <a:off x="6830568" y="1911096"/>
            <a:ext cx="1947672" cy="14965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Read the words BEFORE and AFTER the gap.</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What kind of word? A verb, a preposition, a pronoun…?</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Only ONE word!</a:t>
            </a:r>
            <a:endParaRPr lang="en-US" sz="1150" dirty="0"/>
          </a:p>
        </p:txBody>
      </p:sp>
      <p:sp>
        <p:nvSpPr>
          <p:cNvPr id="27" name="R1_chip279"/>
          <p:cNvSpPr/>
          <p:nvPr/>
        </p:nvSpPr>
        <p:spPr>
          <a:xfrm>
            <a:off x="6263640" y="3617976"/>
            <a:ext cx="2606040" cy="1005840"/>
          </a:xfrm>
          <a:prstGeom prst="roundRect">
            <a:avLst>
              <a:gd name="adj" fmla="val 9091"/>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Alfie's interest: going to the cinema 🎬</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4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4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4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80"/>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281"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282"/>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Lucas, Grace or Alfie?</a:t>
            </a:r>
            <a:endParaRPr lang="en-US" sz="2500" dirty="0"/>
          </a:p>
        </p:txBody>
      </p:sp>
      <p:pic>
        <p:nvPicPr>
          <p:cNvPr id="6" name="brP_283"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84"/>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Who…? Find the words in the profiles.</a:t>
            </a:r>
            <a:endParaRPr lang="en-US" sz="1250" dirty="0"/>
          </a:p>
        </p:txBody>
      </p:sp>
      <p:sp>
        <p:nvSpPr>
          <p:cNvPr id="8" name="insIT_28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Chi…? Trova le parole nei profili.</a:t>
            </a:r>
            <a:endParaRPr lang="en-US" sz="950" dirty="0"/>
          </a:p>
        </p:txBody>
      </p:sp>
      <p:sp>
        <p:nvSpPr>
          <p:cNvPr id="9" name="cmd_286"/>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LEGGI</a:t>
            </a:r>
            <a:endParaRPr lang="en-US" sz="950" dirty="0"/>
          </a:p>
        </p:txBody>
      </p:sp>
      <p:sp>
        <p:nvSpPr>
          <p:cNvPr id="10" name="cmd_287"/>
          <p:cNvSpPr/>
          <p:nvPr/>
        </p:nvSpPr>
        <p:spPr>
          <a:xfrm>
            <a:off x="6510528" y="493776"/>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MATCH</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ABBINA</a:t>
            </a:r>
            <a:endParaRPr lang="en-US" sz="950" dirty="0"/>
          </a:p>
        </p:txBody>
      </p:sp>
      <p:sp>
        <p:nvSpPr>
          <p:cNvPr id="11" name="meta_288"/>
          <p:cNvSpPr/>
          <p:nvPr/>
        </p:nvSpPr>
        <p:spPr>
          <a:xfrm>
            <a:off x="6510528" y="804672"/>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289"/>
          <p:cNvSpPr/>
          <p:nvPr/>
        </p:nvSpPr>
        <p:spPr>
          <a:xfrm>
            <a:off x="6510528" y="1115568"/>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950" b="1" dirty="0">
                <a:solidFill>
                  <a:srgbClr val="1B2559"/>
                </a:solidFill>
                <a:latin typeface="Segoe UI Semibold" pitchFamily="34" charset="0"/>
                <a:ea typeface="Segoe UI Semibold" pitchFamily="34" charset="-122"/>
                <a:cs typeface="Segoe UI Semibold" pitchFamily="34" charset="-120"/>
              </a:rPr>
              <a:t>🎯 Reading</a:t>
            </a:r>
            <a:pPr algn="ctr" indent="0" marL="0">
              <a:buNone/>
            </a:pPr>
            <a:r>
              <a:rPr lang="en-US" sz="950" dirty="0">
                <a:solidFill>
                  <a:srgbClr val="7B5CD6"/>
                </a:solidFill>
                <a:latin typeface="Segoe UI Semibold" pitchFamily="34" charset="0"/>
                <a:ea typeface="Segoe UI Semibold" pitchFamily="34" charset="-122"/>
                <a:cs typeface="Segoe UI Semibold" pitchFamily="34" charset="-120"/>
              </a:rPr>
              <a:t>  ·  Scanning</a:t>
            </a:r>
            <a:endParaRPr lang="en-US" sz="950" dirty="0"/>
          </a:p>
        </p:txBody>
      </p:sp>
      <p:pic>
        <p:nvPicPr>
          <p:cNvPr id="13" name="logo_29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9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Reading · detail (scanning)   ·   📖 SB p.11 · Reading 4</a:t>
            </a:r>
            <a:endParaRPr lang="en-US" sz="800" dirty="0"/>
          </a:p>
        </p:txBody>
      </p:sp>
      <p:sp>
        <p:nvSpPr>
          <p:cNvPr id="15" name="bd_292"/>
          <p:cNvSpPr/>
          <p:nvPr/>
        </p:nvSpPr>
        <p:spPr>
          <a:xfrm>
            <a:off x="320040" y="1440729"/>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6" name="q_293"/>
          <p:cNvSpPr/>
          <p:nvPr/>
        </p:nvSpPr>
        <p:spPr>
          <a:xfrm>
            <a:off x="704088" y="1417320"/>
            <a:ext cx="3776472" cy="357713"/>
          </a:xfrm>
          <a:prstGeom prst="roundRect">
            <a:avLst>
              <a:gd name="adj" fmla="val 2556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…is interested in doing a job related to his / her hobby.</a:t>
            </a:r>
            <a:endParaRPr lang="en-US" sz="950" dirty="0"/>
          </a:p>
        </p:txBody>
      </p:sp>
      <p:sp>
        <p:nvSpPr>
          <p:cNvPr id="17" name="R1_chip294"/>
          <p:cNvSpPr/>
          <p:nvPr/>
        </p:nvSpPr>
        <p:spPr>
          <a:xfrm>
            <a:off x="704088" y="1820753"/>
            <a:ext cx="3776472" cy="590215"/>
          </a:xfrm>
          <a:prstGeom prst="roundRect">
            <a:avLst>
              <a:gd name="adj" fmla="val 15493"/>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Alfie: 'One day, I think I'd like to work in film.'</a:t>
            </a:r>
            <a:endParaRPr lang="en-US" sz="1100" dirty="0"/>
          </a:p>
        </p:txBody>
      </p:sp>
      <p:sp>
        <p:nvSpPr>
          <p:cNvPr id="18" name="bd_295"/>
          <p:cNvSpPr/>
          <p:nvPr/>
        </p:nvSpPr>
        <p:spPr>
          <a:xfrm>
            <a:off x="320040" y="2562393"/>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9" name="q_296"/>
          <p:cNvSpPr/>
          <p:nvPr/>
        </p:nvSpPr>
        <p:spPr>
          <a:xfrm>
            <a:off x="704088" y="2538984"/>
            <a:ext cx="3776472" cy="357713"/>
          </a:xfrm>
          <a:prstGeom prst="roundRect">
            <a:avLst>
              <a:gd name="adj" fmla="val 2556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…is looking forward to learning a new activity.</a:t>
            </a:r>
            <a:endParaRPr lang="en-US" sz="950" dirty="0"/>
          </a:p>
        </p:txBody>
      </p:sp>
      <p:sp>
        <p:nvSpPr>
          <p:cNvPr id="20" name="R2_chip297"/>
          <p:cNvSpPr/>
          <p:nvPr/>
        </p:nvSpPr>
        <p:spPr>
          <a:xfrm>
            <a:off x="704088" y="2942417"/>
            <a:ext cx="3776472" cy="590215"/>
          </a:xfrm>
          <a:prstGeom prst="roundRect">
            <a:avLst>
              <a:gd name="adj" fmla="val 15493"/>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Grace: 'I'm going on a kayaking trip… We've never done it before but we're really excited.'</a:t>
            </a:r>
            <a:endParaRPr lang="en-US" sz="1100" dirty="0"/>
          </a:p>
        </p:txBody>
      </p:sp>
      <p:sp>
        <p:nvSpPr>
          <p:cNvPr id="21" name="bd_298"/>
          <p:cNvSpPr/>
          <p:nvPr/>
        </p:nvSpPr>
        <p:spPr>
          <a:xfrm>
            <a:off x="320040" y="3684057"/>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2" name="q_299"/>
          <p:cNvSpPr/>
          <p:nvPr/>
        </p:nvSpPr>
        <p:spPr>
          <a:xfrm>
            <a:off x="704088" y="3660648"/>
            <a:ext cx="3776472" cy="357713"/>
          </a:xfrm>
          <a:prstGeom prst="roundRect">
            <a:avLst>
              <a:gd name="adj" fmla="val 2556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…is learning a new skill with help from a relative.</a:t>
            </a:r>
            <a:endParaRPr lang="en-US" sz="950" dirty="0"/>
          </a:p>
        </p:txBody>
      </p:sp>
      <p:sp>
        <p:nvSpPr>
          <p:cNvPr id="23" name="R3_chip300"/>
          <p:cNvSpPr/>
          <p:nvPr/>
        </p:nvSpPr>
        <p:spPr>
          <a:xfrm>
            <a:off x="704088" y="4064081"/>
            <a:ext cx="3776472" cy="590215"/>
          </a:xfrm>
          <a:prstGeom prst="roundRect">
            <a:avLst>
              <a:gd name="adj" fmla="val 15493"/>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Lucas: 'at weekends, I'm learning to code with my aunt.'</a:t>
            </a:r>
            <a:endParaRPr lang="en-US" sz="1100" dirty="0"/>
          </a:p>
        </p:txBody>
      </p:sp>
      <p:sp>
        <p:nvSpPr>
          <p:cNvPr id="24" name="bd_301"/>
          <p:cNvSpPr/>
          <p:nvPr/>
        </p:nvSpPr>
        <p:spPr>
          <a:xfrm>
            <a:off x="4709160" y="1440729"/>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5" name="q_302"/>
          <p:cNvSpPr/>
          <p:nvPr/>
        </p:nvSpPr>
        <p:spPr>
          <a:xfrm>
            <a:off x="5093208" y="1417320"/>
            <a:ext cx="3776472" cy="357713"/>
          </a:xfrm>
          <a:prstGeom prst="roundRect">
            <a:avLst>
              <a:gd name="adj" fmla="val 2556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…agrees with other people about his / her personality.</a:t>
            </a:r>
            <a:endParaRPr lang="en-US" sz="950" dirty="0"/>
          </a:p>
        </p:txBody>
      </p:sp>
      <p:sp>
        <p:nvSpPr>
          <p:cNvPr id="26" name="R4_chip303"/>
          <p:cNvSpPr/>
          <p:nvPr/>
        </p:nvSpPr>
        <p:spPr>
          <a:xfrm>
            <a:off x="5093208" y="1820753"/>
            <a:ext cx="3776472" cy="590215"/>
          </a:xfrm>
          <a:prstGeom prst="roundRect">
            <a:avLst>
              <a:gd name="adj" fmla="val 15493"/>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Grace: 'My friends and family say I'm a cheerful person. And they're right.'</a:t>
            </a:r>
            <a:endParaRPr lang="en-US" sz="1100" dirty="0"/>
          </a:p>
        </p:txBody>
      </p:sp>
      <p:sp>
        <p:nvSpPr>
          <p:cNvPr id="27" name="bd_304"/>
          <p:cNvSpPr/>
          <p:nvPr/>
        </p:nvSpPr>
        <p:spPr>
          <a:xfrm>
            <a:off x="4709160" y="2562393"/>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8" name="q_305"/>
          <p:cNvSpPr/>
          <p:nvPr/>
        </p:nvSpPr>
        <p:spPr>
          <a:xfrm>
            <a:off x="5093208" y="2538984"/>
            <a:ext cx="3776472" cy="357713"/>
          </a:xfrm>
          <a:prstGeom prst="roundRect">
            <a:avLst>
              <a:gd name="adj" fmla="val 2556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…would like to go to another country.</a:t>
            </a:r>
            <a:endParaRPr lang="en-US" sz="950" dirty="0"/>
          </a:p>
        </p:txBody>
      </p:sp>
      <p:sp>
        <p:nvSpPr>
          <p:cNvPr id="29" name="R5_chip306"/>
          <p:cNvSpPr/>
          <p:nvPr/>
        </p:nvSpPr>
        <p:spPr>
          <a:xfrm>
            <a:off x="5093208" y="2942417"/>
            <a:ext cx="3776472" cy="590215"/>
          </a:xfrm>
          <a:prstGeom prst="roundRect">
            <a:avLst>
              <a:gd name="adj" fmla="val 15493"/>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Alfie: 'My dream is to fly to Hollywood and see a studio there.'</a:t>
            </a:r>
            <a:endParaRPr lang="en-US" sz="1100" dirty="0"/>
          </a:p>
        </p:txBody>
      </p:sp>
      <p:sp>
        <p:nvSpPr>
          <p:cNvPr id="30" name="bd_307"/>
          <p:cNvSpPr/>
          <p:nvPr/>
        </p:nvSpPr>
        <p:spPr>
          <a:xfrm>
            <a:off x="4709160" y="3684057"/>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1" name="q_308"/>
          <p:cNvSpPr/>
          <p:nvPr/>
        </p:nvSpPr>
        <p:spPr>
          <a:xfrm>
            <a:off x="5093208" y="3660648"/>
            <a:ext cx="3776472" cy="357713"/>
          </a:xfrm>
          <a:prstGeom prst="roundRect">
            <a:avLst>
              <a:gd name="adj" fmla="val 2556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…might get a prize soon.</a:t>
            </a:r>
            <a:endParaRPr lang="en-US" sz="950" dirty="0"/>
          </a:p>
        </p:txBody>
      </p:sp>
      <p:sp>
        <p:nvSpPr>
          <p:cNvPr id="32" name="R6_chip309"/>
          <p:cNvSpPr/>
          <p:nvPr/>
        </p:nvSpPr>
        <p:spPr>
          <a:xfrm>
            <a:off x="5093208" y="4064081"/>
            <a:ext cx="3776472" cy="590215"/>
          </a:xfrm>
          <a:prstGeom prst="roundRect">
            <a:avLst>
              <a:gd name="adj" fmla="val 15493"/>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Lucas: 'Right now, I'm taking part in a competition for young game designers.'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4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4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400"/>
                                        <p:tgtEl>
                                          <p:spTgt spid="2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10"/>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11"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312"/>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Find the phrase</a:t>
            </a:r>
            <a:endParaRPr lang="en-US" sz="2500" dirty="0"/>
          </a:p>
        </p:txBody>
      </p:sp>
      <p:pic>
        <p:nvPicPr>
          <p:cNvPr id="6" name="brP_313"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14"/>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Find the highlighted words in the profiles. Say the full sentence.</a:t>
            </a:r>
            <a:endParaRPr lang="en-US" sz="1100" dirty="0"/>
          </a:p>
        </p:txBody>
      </p:sp>
      <p:sp>
        <p:nvSpPr>
          <p:cNvPr id="8" name="insIT_315"/>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Trova le parole evidenziate nei profili. Di' la frase intera.</a:t>
            </a:r>
            <a:endParaRPr lang="en-US" sz="950" dirty="0"/>
          </a:p>
        </p:txBody>
      </p:sp>
      <p:sp>
        <p:nvSpPr>
          <p:cNvPr id="9" name="cmd_316"/>
          <p:cNvSpPr/>
          <p:nvPr/>
        </p:nvSpPr>
        <p:spPr>
          <a:xfrm>
            <a:off x="6510528" y="182880"/>
            <a:ext cx="1901952" cy="274320"/>
          </a:xfrm>
          <a:prstGeom prst="roundRect">
            <a:avLst>
              <a:gd name="adj" fmla="val 5000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F2B705"/>
                </a:solidFill>
                <a:latin typeface="Arial Rounded MT Bold" pitchFamily="34" charset="0"/>
                <a:ea typeface="Arial Rounded MT Bold" pitchFamily="34" charset="-122"/>
                <a:cs typeface="Arial Rounded MT Bold" pitchFamily="34" charset="-120"/>
              </a:rPr>
              <a:t>FIND</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TROVA</a:t>
            </a:r>
            <a:endParaRPr lang="en-US" sz="950" dirty="0"/>
          </a:p>
        </p:txBody>
      </p:sp>
      <p:sp>
        <p:nvSpPr>
          <p:cNvPr id="10" name="meta_317"/>
          <p:cNvSpPr/>
          <p:nvPr/>
        </p:nvSpPr>
        <p:spPr>
          <a:xfrm>
            <a:off x="6510528" y="493776"/>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318"/>
          <p:cNvSpPr/>
          <p:nvPr/>
        </p:nvSpPr>
        <p:spPr>
          <a:xfrm>
            <a:off x="6510528" y="804672"/>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750" b="1" dirty="0">
                <a:solidFill>
                  <a:srgbClr val="1B2559"/>
                </a:solidFill>
                <a:latin typeface="Segoe UI Semibold" pitchFamily="34" charset="0"/>
                <a:ea typeface="Segoe UI Semibold" pitchFamily="34" charset="-122"/>
                <a:cs typeface="Segoe UI Semibold" pitchFamily="34" charset="-120"/>
              </a:rPr>
              <a:t>🎯 Vocabulary</a:t>
            </a:r>
            <a:pPr algn="ctr" indent="0" marL="0">
              <a:buNone/>
            </a:pPr>
            <a:r>
              <a:rPr lang="en-US" sz="750" dirty="0">
                <a:solidFill>
                  <a:srgbClr val="7B5CD6"/>
                </a:solidFill>
                <a:latin typeface="Segoe UI Semibold" pitchFamily="34" charset="0"/>
                <a:ea typeface="Segoe UI Semibold" pitchFamily="34" charset="-122"/>
                <a:cs typeface="Segoe UI Semibold" pitchFamily="34" charset="-120"/>
              </a:rPr>
              <a:t>  ·  Guided discovery</a:t>
            </a:r>
            <a:endParaRPr lang="en-US" sz="750" dirty="0"/>
          </a:p>
        </p:txBody>
      </p:sp>
      <p:pic>
        <p:nvPicPr>
          <p:cNvPr id="12" name="logo_31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2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Vocabulary · useful phrases from the texts   ·   📖 SB p.11 · Reading 5</a:t>
            </a:r>
            <a:endParaRPr lang="en-US" sz="800" dirty="0"/>
          </a:p>
        </p:txBody>
      </p:sp>
      <p:sp>
        <p:nvSpPr>
          <p:cNvPr id="14" name="bd_321"/>
          <p:cNvSpPr/>
          <p:nvPr/>
        </p:nvSpPr>
        <p:spPr>
          <a:xfrm>
            <a:off x="548640" y="151333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5" name="q_322"/>
          <p:cNvSpPr/>
          <p:nvPr/>
        </p:nvSpPr>
        <p:spPr>
          <a:xfrm>
            <a:off x="932688" y="1417320"/>
            <a:ext cx="3291840" cy="502920"/>
          </a:xfrm>
          <a:prstGeom prst="roundRect">
            <a:avLst>
              <a:gd name="adj" fmla="val 1818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be involved in an activity with other people</a:t>
            </a:r>
            <a:endParaRPr lang="en-US" sz="1300" dirty="0"/>
          </a:p>
        </p:txBody>
      </p:sp>
      <p:sp>
        <p:nvSpPr>
          <p:cNvPr id="16" name="R1_chip323"/>
          <p:cNvSpPr/>
          <p:nvPr/>
        </p:nvSpPr>
        <p:spPr>
          <a:xfrm>
            <a:off x="4297680" y="141732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Lucas: 'I'm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taking part</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in a competition for young game designers.'</a:t>
            </a:r>
            <a:endParaRPr lang="en-US" sz="1200" dirty="0"/>
          </a:p>
        </p:txBody>
      </p:sp>
      <p:sp>
        <p:nvSpPr>
          <p:cNvPr id="17" name="bd_324"/>
          <p:cNvSpPr/>
          <p:nvPr/>
        </p:nvSpPr>
        <p:spPr>
          <a:xfrm>
            <a:off x="548640" y="206197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8" name="q_325"/>
          <p:cNvSpPr/>
          <p:nvPr/>
        </p:nvSpPr>
        <p:spPr>
          <a:xfrm>
            <a:off x="932688" y="1965960"/>
            <a:ext cx="3291840" cy="502920"/>
          </a:xfrm>
          <a:prstGeom prst="roundRect">
            <a:avLst>
              <a:gd name="adj" fmla="val 1818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become better</a:t>
            </a:r>
            <a:endParaRPr lang="en-US" sz="1300" dirty="0"/>
          </a:p>
        </p:txBody>
      </p:sp>
      <p:sp>
        <p:nvSpPr>
          <p:cNvPr id="19" name="R2_chip326"/>
          <p:cNvSpPr/>
          <p:nvPr/>
        </p:nvSpPr>
        <p:spPr>
          <a:xfrm>
            <a:off x="4297680" y="196596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Grace: 'I'm really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making progress</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I think.'</a:t>
            </a:r>
            <a:endParaRPr lang="en-US" sz="1200" dirty="0"/>
          </a:p>
        </p:txBody>
      </p:sp>
      <p:sp>
        <p:nvSpPr>
          <p:cNvPr id="20" name="bd_327"/>
          <p:cNvSpPr/>
          <p:nvPr/>
        </p:nvSpPr>
        <p:spPr>
          <a:xfrm>
            <a:off x="548640" y="26106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1" name="q_328"/>
          <p:cNvSpPr/>
          <p:nvPr/>
        </p:nvSpPr>
        <p:spPr>
          <a:xfrm>
            <a:off x="932688" y="2514600"/>
            <a:ext cx="3291840" cy="502920"/>
          </a:xfrm>
          <a:prstGeom prst="roundRect">
            <a:avLst>
              <a:gd name="adj" fmla="val 18182"/>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someone with no brothers or sisters</a:t>
            </a:r>
            <a:endParaRPr lang="en-US" sz="1300" dirty="0"/>
          </a:p>
        </p:txBody>
      </p:sp>
      <p:sp>
        <p:nvSpPr>
          <p:cNvPr id="22" name="R3_chip329"/>
          <p:cNvSpPr/>
          <p:nvPr/>
        </p:nvSpPr>
        <p:spPr>
          <a:xfrm>
            <a:off x="4297680" y="251460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Grace: 'I'm an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only child</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t>
            </a:r>
            <a:endParaRPr lang="en-US" sz="1200" dirty="0"/>
          </a:p>
        </p:txBody>
      </p:sp>
      <p:sp>
        <p:nvSpPr>
          <p:cNvPr id="23" name="bd_330"/>
          <p:cNvSpPr/>
          <p:nvPr/>
        </p:nvSpPr>
        <p:spPr>
          <a:xfrm>
            <a:off x="548640" y="315925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4" name="q_331"/>
          <p:cNvSpPr/>
          <p:nvPr/>
        </p:nvSpPr>
        <p:spPr>
          <a:xfrm>
            <a:off x="932688" y="3063240"/>
            <a:ext cx="3291840" cy="502920"/>
          </a:xfrm>
          <a:prstGeom prst="roundRect">
            <a:avLst>
              <a:gd name="adj" fmla="val 18182"/>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write computer programs</a:t>
            </a:r>
            <a:endParaRPr lang="en-US" sz="1300" dirty="0"/>
          </a:p>
        </p:txBody>
      </p:sp>
      <p:sp>
        <p:nvSpPr>
          <p:cNvPr id="25" name="R4_chip332"/>
          <p:cNvSpPr/>
          <p:nvPr/>
        </p:nvSpPr>
        <p:spPr>
          <a:xfrm>
            <a:off x="4297680" y="306324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Lucas: 'I'm learning to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code</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with my aunt.'</a:t>
            </a:r>
            <a:endParaRPr lang="en-US" sz="1200" dirty="0"/>
          </a:p>
        </p:txBody>
      </p:sp>
      <p:sp>
        <p:nvSpPr>
          <p:cNvPr id="26" name="bd_333"/>
          <p:cNvSpPr/>
          <p:nvPr/>
        </p:nvSpPr>
        <p:spPr>
          <a:xfrm>
            <a:off x="548640" y="370789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7" name="q_334"/>
          <p:cNvSpPr/>
          <p:nvPr/>
        </p:nvSpPr>
        <p:spPr>
          <a:xfrm>
            <a:off x="932688" y="3611880"/>
            <a:ext cx="3291840" cy="502920"/>
          </a:xfrm>
          <a:prstGeom prst="roundRect">
            <a:avLst>
              <a:gd name="adj" fmla="val 18182"/>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be very interested in something</a:t>
            </a:r>
            <a:endParaRPr lang="en-US" sz="1300" dirty="0"/>
          </a:p>
        </p:txBody>
      </p:sp>
      <p:sp>
        <p:nvSpPr>
          <p:cNvPr id="28" name="R5_chip335"/>
          <p:cNvSpPr/>
          <p:nvPr/>
        </p:nvSpPr>
        <p:spPr>
          <a:xfrm>
            <a:off x="4297680" y="361188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Grace: 'I'm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into</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various typical teenage hobbies.'</a:t>
            </a:r>
            <a:endParaRPr lang="en-US" sz="1200" dirty="0"/>
          </a:p>
        </p:txBody>
      </p:sp>
      <p:sp>
        <p:nvSpPr>
          <p:cNvPr id="29" name="bd_336"/>
          <p:cNvSpPr/>
          <p:nvPr/>
        </p:nvSpPr>
        <p:spPr>
          <a:xfrm>
            <a:off x="548640" y="425653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0" name="q_337"/>
          <p:cNvSpPr/>
          <p:nvPr/>
        </p:nvSpPr>
        <p:spPr>
          <a:xfrm>
            <a:off x="932688" y="4160520"/>
            <a:ext cx="3291840" cy="502920"/>
          </a:xfrm>
          <a:prstGeom prst="roundRect">
            <a:avLst>
              <a:gd name="adj" fmla="val 18182"/>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300" b="1" dirty="0">
                <a:solidFill>
                  <a:srgbClr val="1B2559"/>
                </a:solidFill>
                <a:latin typeface="Segoe UI Semibold" pitchFamily="34" charset="0"/>
                <a:ea typeface="Segoe UI Semibold" pitchFamily="34" charset="-122"/>
                <a:cs typeface="Segoe UI Semibold" pitchFamily="34" charset="-120"/>
              </a:rPr>
              <a:t>able to stay calm and not get angry</a:t>
            </a:r>
            <a:endParaRPr lang="en-US" sz="1300" dirty="0"/>
          </a:p>
        </p:txBody>
      </p:sp>
      <p:sp>
        <p:nvSpPr>
          <p:cNvPr id="31" name="R6_chip338"/>
          <p:cNvSpPr/>
          <p:nvPr/>
        </p:nvSpPr>
        <p:spPr>
          <a:xfrm>
            <a:off x="4297680" y="4160520"/>
            <a:ext cx="4480560" cy="502920"/>
          </a:xfrm>
          <a:prstGeom prst="roundRect">
            <a:avLst>
              <a:gd name="adj" fmla="val 18182"/>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Lucas: 'She's also a really </a:t>
            </a:r>
            <a:pPr algn="l" indent="0" marL="0">
              <a:buNone/>
            </a:pPr>
            <a:r>
              <a:rPr lang="en-US" sz="1200" b="1" dirty="0">
                <a:solidFill>
                  <a:srgbClr val="C2185B"/>
                </a:solidFill>
                <a:highlight>
                  <a:srgbClr val="FFF1A8"/>
                </a:highlight>
                <a:latin typeface="Segoe UI Semibold" pitchFamily="34" charset="0"/>
                <a:ea typeface="Segoe UI Semibold" pitchFamily="34" charset="-122"/>
                <a:cs typeface="Segoe UI Semibold" pitchFamily="34" charset="-120"/>
              </a:rPr>
              <a:t>patient</a:t>
            </a:r>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teacher.'</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4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fade">
                                      <p:cBhvr>
                                        <p:cTn id="3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39"/>
          <p:cNvSpPr/>
          <p:nvPr/>
        </p:nvSpPr>
        <p:spPr>
          <a:xfrm>
            <a:off x="201168" y="164592"/>
            <a:ext cx="841248" cy="841248"/>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40"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341"/>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Marco's new hobby</a:t>
            </a:r>
            <a:endParaRPr lang="en-US" sz="2400" dirty="0"/>
          </a:p>
        </p:txBody>
      </p:sp>
      <p:pic>
        <p:nvPicPr>
          <p:cNvPr id="6" name="brP_342" descr="/home/claude/lls-course/v2/assets/brush-pink.png">    </p:cNvPr>
          <p:cNvPicPr>
            <a:picLocks noChangeAspect="1"/>
          </p:cNvPicPr>
          <p:nvPr/>
        </p:nvPicPr>
        <p:blipFill>
          <a:blip r:embed="rId3"/>
          <a:stretch>
            <a:fillRect/>
          </a:stretch>
        </p:blipFill>
        <p:spPr>
          <a:xfrm>
            <a:off x="1207008" y="731520"/>
            <a:ext cx="5074920" cy="402336"/>
          </a:xfrm>
          <a:prstGeom prst="rect">
            <a:avLst/>
          </a:prstGeom>
        </p:spPr>
      </p:pic>
      <p:sp>
        <p:nvSpPr>
          <p:cNvPr id="7" name="ins_343"/>
          <p:cNvSpPr/>
          <p:nvPr/>
        </p:nvSpPr>
        <p:spPr>
          <a:xfrm>
            <a:off x="1353312" y="731520"/>
            <a:ext cx="481888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story line by line. Answer the questions.</a:t>
            </a:r>
            <a:endParaRPr lang="en-US" sz="1250" dirty="0"/>
          </a:p>
        </p:txBody>
      </p:sp>
      <p:sp>
        <p:nvSpPr>
          <p:cNvPr id="8" name="insIT_34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 storia riga per riga. Rispondi alle domande.</a:t>
            </a:r>
            <a:endParaRPr lang="en-US" sz="950" dirty="0"/>
          </a:p>
        </p:txBody>
      </p:sp>
      <p:sp>
        <p:nvSpPr>
          <p:cNvPr id="9" name="cmd_345"/>
          <p:cNvSpPr/>
          <p:nvPr/>
        </p:nvSpPr>
        <p:spPr>
          <a:xfrm>
            <a:off x="6510528" y="182880"/>
            <a:ext cx="1901952" cy="274320"/>
          </a:xfrm>
          <a:prstGeom prst="roundRect">
            <a:avLst>
              <a:gd name="adj" fmla="val 5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LEGGI</a:t>
            </a:r>
            <a:endParaRPr lang="en-US" sz="950" dirty="0"/>
          </a:p>
        </p:txBody>
      </p:sp>
      <p:sp>
        <p:nvSpPr>
          <p:cNvPr id="10" name="cmd_346"/>
          <p:cNvSpPr/>
          <p:nvPr/>
        </p:nvSpPr>
        <p:spPr>
          <a:xfrm>
            <a:off x="6510528" y="493776"/>
            <a:ext cx="1901952" cy="274320"/>
          </a:xfrm>
          <a:prstGeom prst="roundRect">
            <a:avLst>
              <a:gd name="adj" fmla="val 5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PARLA</a:t>
            </a:r>
            <a:endParaRPr lang="en-US" sz="950" dirty="0"/>
          </a:p>
        </p:txBody>
      </p:sp>
      <p:sp>
        <p:nvSpPr>
          <p:cNvPr id="11" name="meta_347"/>
          <p:cNvSpPr/>
          <p:nvPr/>
        </p:nvSpPr>
        <p:spPr>
          <a:xfrm>
            <a:off x="6510528" y="804672"/>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2" name="tag_348"/>
          <p:cNvSpPr/>
          <p:nvPr/>
        </p:nvSpPr>
        <p:spPr>
          <a:xfrm>
            <a:off x="6510528" y="1115568"/>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story</a:t>
            </a:r>
            <a:endParaRPr lang="en-US" sz="850" dirty="0"/>
          </a:p>
        </p:txBody>
      </p:sp>
      <p:pic>
        <p:nvPicPr>
          <p:cNvPr id="13" name="logo_34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5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Speaking · class story (TPRS)</a:t>
            </a:r>
            <a:endParaRPr lang="en-US" sz="800" dirty="0"/>
          </a:p>
        </p:txBody>
      </p:sp>
      <p:sp>
        <p:nvSpPr>
          <p:cNvPr id="15" name="pf_351"/>
          <p:cNvSpPr/>
          <p:nvPr/>
        </p:nvSpPr>
        <p:spPr>
          <a:xfrm rot="-90000">
            <a:off x="411480" y="1417320"/>
            <a:ext cx="2560320" cy="1280160"/>
          </a:xfrm>
          <a:prstGeom prst="roundRect">
            <a:avLst>
              <a:gd name="adj" fmla="val 1214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352" descr="/home/claude/lls-course/v2/cache/b2_6b_guitar_sax_jpg_594x286_31.png">    </p:cNvPr>
          <p:cNvPicPr>
            <a:picLocks noChangeAspect="1"/>
          </p:cNvPicPr>
          <p:nvPr/>
        </p:nvPicPr>
        <p:blipFill>
          <a:blip r:embed="rId5"/>
          <a:stretch>
            <a:fillRect/>
          </a:stretch>
        </p:blipFill>
        <p:spPr>
          <a:xfrm rot="-90000">
            <a:off x="457200" y="1463040"/>
            <a:ext cx="2468880" cy="1188720"/>
          </a:xfrm>
          <a:prstGeom prst="rect">
            <a:avLst/>
          </a:prstGeom>
        </p:spPr>
      </p:pic>
      <p:sp>
        <p:nvSpPr>
          <p:cNvPr id="17" name="cd_353"/>
          <p:cNvSpPr/>
          <p:nvPr/>
        </p:nvSpPr>
        <p:spPr>
          <a:xfrm>
            <a:off x="320040" y="2834640"/>
            <a:ext cx="2697480" cy="1920240"/>
          </a:xfrm>
          <a:prstGeom prst="roundRect">
            <a:avLst>
              <a:gd name="adj" fmla="val 6667"/>
            </a:avLst>
          </a:prstGeom>
          <a:solidFill>
            <a:srgbClr val="FFF6CC"/>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18" name="ii_354"/>
          <p:cNvSpPr/>
          <p:nvPr/>
        </p:nvSpPr>
        <p:spPr>
          <a:xfrm>
            <a:off x="411480" y="29077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355"/>
          <p:cNvSpPr/>
          <p:nvPr/>
        </p:nvSpPr>
        <p:spPr>
          <a:xfrm>
            <a:off x="886968" y="292608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Story phrases</a:t>
            </a:r>
            <a:endParaRPr lang="en-US" sz="1300" dirty="0"/>
          </a:p>
        </p:txBody>
      </p:sp>
      <p:sp>
        <p:nvSpPr>
          <p:cNvPr id="20" name="il_356"/>
          <p:cNvSpPr/>
          <p:nvPr/>
        </p:nvSpPr>
        <p:spPr>
          <a:xfrm>
            <a:off x="886968" y="3328416"/>
            <a:ext cx="2039112" cy="1353312"/>
          </a:xfrm>
          <a:prstGeom prst="rect">
            <a:avLst/>
          </a:prstGeom>
          <a:noFill/>
          <a:ln/>
        </p:spPr>
        <p:txBody>
          <a:bodyPr wrap="square" lIns="0" tIns="0" rIns="0" bIns="0" rtlCol="0" anchor="t">
            <a:normAutofit/>
          </a:bodyPr>
          <a:lstStyle/>
          <a:p>
            <a:pPr indent="0" marL="0">
              <a:spcAft>
                <a:spcPts val="200"/>
              </a:spcAft>
              <a:buNone/>
            </a:pPr>
            <a:r>
              <a:rPr lang="en-US" sz="900" dirty="0">
                <a:solidFill>
                  <a:srgbClr val="1B2559"/>
                </a:solidFill>
                <a:latin typeface="Segoe UI Semibold" pitchFamily="34" charset="0"/>
                <a:ea typeface="Segoe UI Semibold" pitchFamily="34" charset="-122"/>
                <a:cs typeface="Segoe UI Semibold" pitchFamily="34" charset="-120"/>
              </a:rPr>
              <a:t>be into</a:t>
            </a:r>
            <a:pPr indent="0" marL="0">
              <a:spcAft>
                <a:spcPts val="200"/>
              </a:spcAft>
              <a:buNone/>
            </a:pPr>
            <a:r>
              <a:rPr lang="en-US" sz="900" dirty="0">
                <a:solidFill>
                  <a:srgbClr val="5B6785"/>
                </a:solidFill>
                <a:latin typeface="Segoe UI Semibold" pitchFamily="34" charset="0"/>
                <a:ea typeface="Segoe UI Semibold" pitchFamily="34" charset="-122"/>
                <a:cs typeface="Segoe UI Semibold" pitchFamily="34" charset="-120"/>
              </a:rPr>
              <a:t>  – essere appassionato di</a:t>
            </a:r>
            <a:endParaRPr lang="en-US" sz="900" dirty="0"/>
          </a:p>
          <a:p>
            <a:pPr indent="0" marL="0">
              <a:spcBef>
                <a:spcPts val="600"/>
              </a:spcBef>
              <a:spcAft>
                <a:spcPts val="200"/>
              </a:spcAft>
              <a:buNone/>
            </a:pPr>
            <a:r>
              <a:rPr lang="en-US" sz="900" dirty="0">
                <a:solidFill>
                  <a:srgbClr val="1B2559"/>
                </a:solidFill>
                <a:latin typeface="Segoe UI Semibold" pitchFamily="34" charset="0"/>
                <a:ea typeface="Segoe UI Semibold" pitchFamily="34" charset="-122"/>
                <a:cs typeface="Segoe UI Semibold" pitchFamily="34" charset="-120"/>
              </a:rPr>
              <a:t>take part in</a:t>
            </a:r>
            <a:pPr indent="0" marL="0">
              <a:spcAft>
                <a:spcPts val="200"/>
              </a:spcAft>
              <a:buNone/>
            </a:pPr>
            <a:r>
              <a:rPr lang="en-US" sz="900" dirty="0">
                <a:solidFill>
                  <a:srgbClr val="5B6785"/>
                </a:solidFill>
                <a:latin typeface="Segoe UI Semibold" pitchFamily="34" charset="0"/>
                <a:ea typeface="Segoe UI Semibold" pitchFamily="34" charset="-122"/>
                <a:cs typeface="Segoe UI Semibold" pitchFamily="34" charset="-120"/>
              </a:rPr>
              <a:t>  – partecipare a</a:t>
            </a:r>
            <a:endParaRPr lang="en-US" sz="900" dirty="0"/>
          </a:p>
          <a:p>
            <a:pPr indent="0" marL="0">
              <a:spcBef>
                <a:spcPts val="600"/>
              </a:spcBef>
              <a:spcAft>
                <a:spcPts val="200"/>
              </a:spcAft>
              <a:buNone/>
            </a:pPr>
            <a:r>
              <a:rPr lang="en-US" sz="900" dirty="0">
                <a:solidFill>
                  <a:srgbClr val="1B2559"/>
                </a:solidFill>
                <a:latin typeface="Segoe UI Semibold" pitchFamily="34" charset="0"/>
                <a:ea typeface="Segoe UI Semibold" pitchFamily="34" charset="-122"/>
                <a:cs typeface="Segoe UI Semibold" pitchFamily="34" charset="-120"/>
              </a:rPr>
              <a:t>make progress</a:t>
            </a:r>
            <a:pPr indent="0" marL="0">
              <a:spcAft>
                <a:spcPts val="200"/>
              </a:spcAft>
              <a:buNone/>
            </a:pPr>
            <a:r>
              <a:rPr lang="en-US" sz="900" dirty="0">
                <a:solidFill>
                  <a:srgbClr val="5B6785"/>
                </a:solidFill>
                <a:latin typeface="Segoe UI Semibold" pitchFamily="34" charset="0"/>
                <a:ea typeface="Segoe UI Semibold" pitchFamily="34" charset="-122"/>
                <a:cs typeface="Segoe UI Semibold" pitchFamily="34" charset="-120"/>
              </a:rPr>
              <a:t>  – fare progressi</a:t>
            </a:r>
            <a:endParaRPr lang="en-US" sz="900" dirty="0"/>
          </a:p>
          <a:p>
            <a:pPr indent="0" marL="0">
              <a:spcBef>
                <a:spcPts val="600"/>
              </a:spcBef>
              <a:spcAft>
                <a:spcPts val="200"/>
              </a:spcAft>
              <a:buNone/>
            </a:pPr>
            <a:r>
              <a:rPr lang="en-US" sz="900" dirty="0">
                <a:solidFill>
                  <a:srgbClr val="1B2559"/>
                </a:solidFill>
                <a:latin typeface="Segoe UI Semibold" pitchFamily="34" charset="0"/>
                <a:ea typeface="Segoe UI Semibold" pitchFamily="34" charset="-122"/>
                <a:cs typeface="Segoe UI Semibold" pitchFamily="34" charset="-120"/>
              </a:rPr>
              <a:t>patient</a:t>
            </a:r>
            <a:pPr indent="0" marL="0">
              <a:spcAft>
                <a:spcPts val="200"/>
              </a:spcAft>
              <a:buNone/>
            </a:pPr>
            <a:r>
              <a:rPr lang="en-US" sz="900" dirty="0">
                <a:solidFill>
                  <a:srgbClr val="5B6785"/>
                </a:solidFill>
                <a:latin typeface="Segoe UI Semibold" pitchFamily="34" charset="0"/>
                <a:ea typeface="Segoe UI Semibold" pitchFamily="34" charset="-122"/>
                <a:cs typeface="Segoe UI Semibold" pitchFamily="34" charset="-120"/>
              </a:rPr>
              <a:t>  – paziente</a:t>
            </a:r>
            <a:endParaRPr lang="en-US" sz="900" dirty="0"/>
          </a:p>
          <a:p>
            <a:pPr indent="0" marL="0">
              <a:spcBef>
                <a:spcPts val="600"/>
              </a:spcBef>
              <a:spcAft>
                <a:spcPts val="200"/>
              </a:spcAft>
              <a:buNone/>
            </a:pPr>
            <a:r>
              <a:rPr lang="en-US" sz="900" dirty="0">
                <a:solidFill>
                  <a:srgbClr val="1B2559"/>
                </a:solidFill>
                <a:latin typeface="Segoe UI Semibold" pitchFamily="34" charset="0"/>
                <a:ea typeface="Segoe UI Semibold" pitchFamily="34" charset="-122"/>
                <a:cs typeface="Segoe UI Semibold" pitchFamily="34" charset="-120"/>
              </a:rPr>
              <a:t>an only child</a:t>
            </a:r>
            <a:pPr indent="0" marL="0">
              <a:spcAft>
                <a:spcPts val="200"/>
              </a:spcAft>
              <a:buNone/>
            </a:pPr>
            <a:r>
              <a:rPr lang="en-US" sz="900" dirty="0">
                <a:solidFill>
                  <a:srgbClr val="5B6785"/>
                </a:solidFill>
                <a:latin typeface="Segoe UI Semibold" pitchFamily="34" charset="0"/>
                <a:ea typeface="Segoe UI Semibold" pitchFamily="34" charset="-122"/>
                <a:cs typeface="Segoe UI Semibold" pitchFamily="34" charset="-120"/>
              </a:rPr>
              <a:t>  – figlio unico</a:t>
            </a:r>
            <a:endParaRPr lang="en-US" sz="900" dirty="0"/>
          </a:p>
        </p:txBody>
      </p:sp>
      <p:sp>
        <p:nvSpPr>
          <p:cNvPr id="21" name="R1_sb357"/>
          <p:cNvSpPr/>
          <p:nvPr/>
        </p:nvSpPr>
        <p:spPr>
          <a:xfrm>
            <a:off x="3200400" y="145389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R1_sl358"/>
          <p:cNvSpPr/>
          <p:nvPr/>
        </p:nvSpPr>
        <p:spPr>
          <a:xfrm>
            <a:off x="3584448" y="1417320"/>
            <a:ext cx="53035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Marco is 14 and he lives in Bagheria. He's </a:t>
            </a:r>
            <a:pPr indent="0" marL="0">
              <a:buNone/>
            </a:pPr>
            <a:r>
              <a:rPr lang="en-US" sz="900" b="1" dirty="0">
                <a:solidFill>
                  <a:srgbClr val="7B5CD6"/>
                </a:solidFill>
                <a:highlight>
                  <a:srgbClr val="FFF1A8"/>
                </a:highlight>
                <a:latin typeface="Segoe UI Semibold" pitchFamily="34" charset="0"/>
                <a:ea typeface="Segoe UI Semibold" pitchFamily="34" charset="-122"/>
                <a:cs typeface="Segoe UI Semibold" pitchFamily="34" charset="-120"/>
              </a:rPr>
              <a:t>an only child</a:t>
            </a:r>
            <a:pPr indent="0" marL="0">
              <a:buNone/>
            </a:pPr>
            <a:r>
              <a:rPr lang="en-US" sz="900" dirty="0">
                <a:solidFill>
                  <a:srgbClr val="1B2559"/>
                </a:solidFill>
                <a:latin typeface="Segoe UI Semibold" pitchFamily="34" charset="0"/>
                <a:ea typeface="Segoe UI Semibold" pitchFamily="34" charset="-122"/>
                <a:cs typeface="Segoe UI Semibold" pitchFamily="34" charset="-120"/>
              </a:rPr>
              <a:t>, so he's often a bit bored at home.</a:t>
            </a:r>
            <a:endParaRPr lang="en-US" sz="900" dirty="0"/>
          </a:p>
          <a:p>
            <a:pPr indent="0" marL="0">
              <a:buNone/>
            </a:pPr>
            <a:r>
              <a:rPr lang="en-US" sz="700" i="1" dirty="0">
                <a:solidFill>
                  <a:srgbClr val="5B6785"/>
                </a:solidFill>
                <a:latin typeface="Segoe UI Semibold" pitchFamily="34" charset="0"/>
                <a:ea typeface="Segoe UI Semibold" pitchFamily="34" charset="-122"/>
                <a:cs typeface="Segoe UI Semibold" pitchFamily="34" charset="-120"/>
              </a:rPr>
              <a:t>❓ How old is Marco? · Has he got brothers or sisters? · Are you an only child?</a:t>
            </a:r>
            <a:endParaRPr lang="en-US" sz="900" dirty="0"/>
          </a:p>
        </p:txBody>
      </p:sp>
      <p:sp>
        <p:nvSpPr>
          <p:cNvPr id="23" name="R2_sb359"/>
          <p:cNvSpPr/>
          <p:nvPr/>
        </p:nvSpPr>
        <p:spPr>
          <a:xfrm>
            <a:off x="3200400" y="201777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R2_sl360"/>
          <p:cNvSpPr/>
          <p:nvPr/>
        </p:nvSpPr>
        <p:spPr>
          <a:xfrm>
            <a:off x="3584448" y="1981200"/>
            <a:ext cx="53035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He's </a:t>
            </a:r>
            <a:pPr indent="0" marL="0">
              <a:buNone/>
            </a:pPr>
            <a:r>
              <a:rPr lang="en-US" sz="1150" b="1" dirty="0">
                <a:solidFill>
                  <a:srgbClr val="7B5CD6"/>
                </a:solidFill>
                <a:highlight>
                  <a:srgbClr val="FFF1A8"/>
                </a:highlight>
                <a:latin typeface="Segoe UI Semibold" pitchFamily="34" charset="0"/>
                <a:ea typeface="Segoe UI Semibold" pitchFamily="34" charset="-122"/>
                <a:cs typeface="Segoe UI Semibold" pitchFamily="34" charset="-120"/>
              </a:rPr>
              <a:t>into</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music, but he can't play an instrument.</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What is Marco into? · What are YOU into?</a:t>
            </a:r>
            <a:endParaRPr lang="en-US" sz="1150" dirty="0"/>
          </a:p>
        </p:txBody>
      </p:sp>
      <p:sp>
        <p:nvSpPr>
          <p:cNvPr id="25" name="R3_sb361"/>
          <p:cNvSpPr/>
          <p:nvPr/>
        </p:nvSpPr>
        <p:spPr>
          <a:xfrm>
            <a:off x="3200400" y="2581656"/>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6" name="R3_sl362"/>
          <p:cNvSpPr/>
          <p:nvPr/>
        </p:nvSpPr>
        <p:spPr>
          <a:xfrm>
            <a:off x="3584448" y="2545080"/>
            <a:ext cx="5303520" cy="499872"/>
          </a:xfrm>
          <a:prstGeom prst="roundRect">
            <a:avLst>
              <a:gd name="adj" fmla="val 21951"/>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So he's learning the guitar with his grandad. Grandad is very </a:t>
            </a:r>
            <a:pPr indent="0" marL="0">
              <a:buNone/>
            </a:pPr>
            <a:r>
              <a:rPr lang="en-US" sz="1050" b="1" dirty="0">
                <a:solidFill>
                  <a:srgbClr val="7B5CD6"/>
                </a:solidFill>
                <a:highlight>
                  <a:srgbClr val="FFF1A8"/>
                </a:highlight>
                <a:latin typeface="Segoe UI Semibold" pitchFamily="34" charset="0"/>
                <a:ea typeface="Segoe UI Semibold" pitchFamily="34" charset="-122"/>
                <a:cs typeface="Segoe UI Semibold" pitchFamily="34" charset="-120"/>
              </a:rPr>
              <a:t>patient</a:t>
            </a:r>
            <a:pPr indent="0" marL="0">
              <a:buNone/>
            </a:pPr>
            <a:r>
              <a:rPr lang="en-US" sz="1050" dirty="0">
                <a:solidFill>
                  <a:srgbClr val="1B2559"/>
                </a:solidFill>
                <a:latin typeface="Segoe UI Semibold" pitchFamily="34" charset="0"/>
                <a:ea typeface="Segoe UI Semibold" pitchFamily="34" charset="-122"/>
                <a:cs typeface="Segoe UI Semibold" pitchFamily="34" charset="-120"/>
              </a:rPr>
              <a:t>.</a:t>
            </a:r>
            <a:endParaRPr lang="en-US" sz="1050" dirty="0"/>
          </a:p>
          <a:p>
            <a:pPr indent="0" marL="0">
              <a:buNone/>
            </a:pPr>
            <a:r>
              <a:rPr lang="en-US" sz="800" i="1" dirty="0">
                <a:solidFill>
                  <a:srgbClr val="5B6785"/>
                </a:solidFill>
                <a:latin typeface="Segoe UI Semibold" pitchFamily="34" charset="0"/>
                <a:ea typeface="Segoe UI Semibold" pitchFamily="34" charset="-122"/>
                <a:cs typeface="Segoe UI Semibold" pitchFamily="34" charset="-120"/>
              </a:rPr>
              <a:t>❓ Who is teaching Marco? · Why is a patient teacher important?</a:t>
            </a:r>
            <a:endParaRPr lang="en-US" sz="1050" dirty="0"/>
          </a:p>
        </p:txBody>
      </p:sp>
      <p:sp>
        <p:nvSpPr>
          <p:cNvPr id="27" name="R4_sb363"/>
          <p:cNvSpPr/>
          <p:nvPr/>
        </p:nvSpPr>
        <p:spPr>
          <a:xfrm>
            <a:off x="3200400" y="3145536"/>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8" name="R4_sl364"/>
          <p:cNvSpPr/>
          <p:nvPr/>
        </p:nvSpPr>
        <p:spPr>
          <a:xfrm>
            <a:off x="3584448" y="3108960"/>
            <a:ext cx="5303520" cy="499872"/>
          </a:xfrm>
          <a:prstGeom prst="roundRect">
            <a:avLst>
              <a:gd name="adj" fmla="val 21951"/>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first Marco was terrible. But now he's </a:t>
            </a:r>
            <a:pPr indent="0" marL="0">
              <a:buNone/>
            </a:pPr>
            <a:r>
              <a:rPr lang="en-US" sz="1150" b="1" dirty="0">
                <a:solidFill>
                  <a:srgbClr val="7B5CD6"/>
                </a:solidFill>
                <a:highlight>
                  <a:srgbClr val="FFF1A8"/>
                </a:highlight>
                <a:latin typeface="Segoe UI Semibold" pitchFamily="34" charset="0"/>
                <a:ea typeface="Segoe UI Semibold" pitchFamily="34" charset="-122"/>
                <a:cs typeface="Segoe UI Semibold" pitchFamily="34" charset="-120"/>
              </a:rPr>
              <a:t>making progress</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Was Marco good at first? · What are you making progress in?</a:t>
            </a:r>
            <a:endParaRPr lang="en-US" sz="1150" dirty="0"/>
          </a:p>
        </p:txBody>
      </p:sp>
      <p:sp>
        <p:nvSpPr>
          <p:cNvPr id="29" name="R5_sb365"/>
          <p:cNvSpPr/>
          <p:nvPr/>
        </p:nvSpPr>
        <p:spPr>
          <a:xfrm>
            <a:off x="3200400" y="370941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0" name="R5_sl366"/>
          <p:cNvSpPr/>
          <p:nvPr/>
        </p:nvSpPr>
        <p:spPr>
          <a:xfrm>
            <a:off x="3584448" y="3672840"/>
            <a:ext cx="53035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Next month he's </a:t>
            </a:r>
            <a:pPr indent="0" marL="0">
              <a:buNone/>
            </a:pPr>
            <a:r>
              <a:rPr lang="en-US" sz="1150" b="1" dirty="0">
                <a:solidFill>
                  <a:srgbClr val="7B5CD6"/>
                </a:solidFill>
                <a:highlight>
                  <a:srgbClr val="FFF1A8"/>
                </a:highlight>
                <a:latin typeface="Segoe UI Semibold" pitchFamily="34" charset="0"/>
                <a:ea typeface="Segoe UI Semibold" pitchFamily="34" charset="-122"/>
                <a:cs typeface="Segoe UI Semibold" pitchFamily="34" charset="-120"/>
              </a:rPr>
              <a:t>taking part in</a:t>
            </a:r>
            <a:pPr indent="0" marL="0">
              <a:buNone/>
            </a:pPr>
            <a:r>
              <a:rPr lang="en-US" sz="1150" dirty="0">
                <a:solidFill>
                  <a:srgbClr val="1B2559"/>
                </a:solidFill>
                <a:latin typeface="Segoe UI Semibold" pitchFamily="34" charset="0"/>
                <a:ea typeface="Segoe UI Semibold" pitchFamily="34" charset="-122"/>
                <a:cs typeface="Segoe UI Semibold" pitchFamily="34" charset="-120"/>
              </a:rPr>
              <a:t> a talent show at school!</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What's he taking part in? · Is Marco confident or shy, do you think?</a:t>
            </a:r>
            <a:endParaRPr lang="en-US" sz="1150" dirty="0"/>
          </a:p>
        </p:txBody>
      </p:sp>
      <p:sp>
        <p:nvSpPr>
          <p:cNvPr id="31" name="R6_sb367"/>
          <p:cNvSpPr/>
          <p:nvPr/>
        </p:nvSpPr>
        <p:spPr>
          <a:xfrm>
            <a:off x="3200400" y="427329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2" name="R6_sl368"/>
          <p:cNvSpPr/>
          <p:nvPr/>
        </p:nvSpPr>
        <p:spPr>
          <a:xfrm>
            <a:off x="3584448" y="4236720"/>
            <a:ext cx="53035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150" dirty="0">
                <a:solidFill>
                  <a:srgbClr val="1B2559"/>
                </a:solidFill>
                <a:latin typeface="Segoe UI Semibold" pitchFamily="34" charset="0"/>
                <a:ea typeface="Segoe UI Semibold" pitchFamily="34" charset="-122"/>
                <a:cs typeface="Segoe UI Semibold" pitchFamily="34" charset="-120"/>
              </a:rPr>
              <a:t>And Grandad? He's coming to watch – in the front row!</a:t>
            </a:r>
            <a:endParaRPr lang="en-US" sz="1150" dirty="0"/>
          </a:p>
          <a:p>
            <a:pPr indent="0" marL="0">
              <a:buNone/>
            </a:pPr>
            <a:r>
              <a:rPr lang="en-US" sz="900" i="1" dirty="0">
                <a:solidFill>
                  <a:srgbClr val="5B6785"/>
                </a:solidFill>
                <a:latin typeface="Segoe UI Semibold" pitchFamily="34" charset="0"/>
                <a:ea typeface="Segoe UI Semibold" pitchFamily="34" charset="-122"/>
                <a:cs typeface="Segoe UI Semibold" pitchFamily="34" charset="-120"/>
              </a:rPr>
              <a:t>❓ Where is Grandad sitting? · How do you think Marco feels?</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fade">
                                      <p:cBhvr>
                                        <p:cTn id="39" dur="400"/>
                                        <p:tgtEl>
                                          <p:spTgt spid="29"/>
                                        </p:tgtEl>
                                      </p:cBhvr>
                                    </p:animEffect>
                                  </p:childTnLst>
                                </p:cTn>
                              </p:par>
                              <p:par>
                                <p:cTn id="40" presetID="10" presetClass="entr" presetSubtype="0" fill="hold" nodeType="with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400"/>
                                        <p:tgtEl>
                                          <p:spTgt spid="31"/>
                                        </p:tgtEl>
                                      </p:cBhvr>
                                    </p:animEffect>
                                  </p:childTnLst>
                                </p:cTn>
                              </p:par>
                              <p:par>
                                <p:cTn id="48" presetID="10" presetClass="entr" presetSubtype="0" fill="hold" nodeType="with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fade">
                                      <p:cBhvr>
                                        <p:cTn id="50"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69"/>
          <p:cNvSpPr/>
          <p:nvPr/>
        </p:nvSpPr>
        <p:spPr>
          <a:xfrm>
            <a:off x="201168" y="164592"/>
            <a:ext cx="841248" cy="841248"/>
          </a:xfrm>
          <a:prstGeom prst="ellipse">
            <a:avLst/>
          </a:prstGeom>
          <a:solidFill>
            <a:srgbClr val="7B5CD6"/>
          </a:solidFill>
          <a:ln w="28575">
            <a:solidFill>
              <a:srgbClr val="CDBFF3"/>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370"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371"/>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Retell it!</a:t>
            </a:r>
            <a:endParaRPr lang="en-US" sz="2500" dirty="0"/>
          </a:p>
        </p:txBody>
      </p:sp>
      <p:pic>
        <p:nvPicPr>
          <p:cNvPr id="6" name="brP_372"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73"/>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00" i="1" dirty="0">
                <a:solidFill>
                  <a:srgbClr val="1B2559"/>
                </a:solidFill>
                <a:latin typeface="Segoe UI Semibold" pitchFamily="34" charset="0"/>
                <a:ea typeface="Segoe UI Semibold" pitchFamily="34" charset="-122"/>
                <a:cs typeface="Segoe UI Semibold" pitchFamily="34" charset="-120"/>
              </a:rPr>
              <a:t>Retell Marco's story to your partner. One word per line helps.</a:t>
            </a:r>
            <a:endParaRPr lang="en-US" sz="1200" dirty="0"/>
          </a:p>
        </p:txBody>
      </p:sp>
      <p:sp>
        <p:nvSpPr>
          <p:cNvPr id="8" name="insIT_37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Racconta di nuovo la storia di Marco al compagno. Una parola per riga ti aiuta.</a:t>
            </a:r>
            <a:endParaRPr lang="en-US" sz="950" dirty="0"/>
          </a:p>
        </p:txBody>
      </p:sp>
      <p:sp>
        <p:nvSpPr>
          <p:cNvPr id="9" name="cmd_375"/>
          <p:cNvSpPr/>
          <p:nvPr/>
        </p:nvSpPr>
        <p:spPr>
          <a:xfrm>
            <a:off x="6510528" y="182880"/>
            <a:ext cx="1901952" cy="274320"/>
          </a:xfrm>
          <a:prstGeom prst="roundRect">
            <a:avLst>
              <a:gd name="adj" fmla="val 5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PARLA</a:t>
            </a:r>
            <a:endParaRPr lang="en-US" sz="950" dirty="0"/>
          </a:p>
        </p:txBody>
      </p:sp>
      <p:sp>
        <p:nvSpPr>
          <p:cNvPr id="10" name="meta_376"/>
          <p:cNvSpPr/>
          <p:nvPr/>
        </p:nvSpPr>
        <p:spPr>
          <a:xfrm>
            <a:off x="6510528" y="493776"/>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377"/>
          <p:cNvSpPr/>
          <p:nvPr/>
        </p:nvSpPr>
        <p:spPr>
          <a:xfrm>
            <a:off x="6510528" y="804672"/>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5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retell</a:t>
            </a:r>
            <a:endParaRPr lang="en-US" sz="850" dirty="0"/>
          </a:p>
        </p:txBody>
      </p:sp>
      <p:pic>
        <p:nvPicPr>
          <p:cNvPr id="12" name="logo_37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7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Speaking · retell (TPRS)</a:t>
            </a:r>
            <a:endParaRPr lang="en-US" sz="800" dirty="0"/>
          </a:p>
        </p:txBody>
      </p:sp>
      <p:sp>
        <p:nvSpPr>
          <p:cNvPr id="14" name="R1_sb380"/>
          <p:cNvSpPr/>
          <p:nvPr/>
        </p:nvSpPr>
        <p:spPr>
          <a:xfrm>
            <a:off x="457200" y="145389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5" name="R1_sl381"/>
          <p:cNvSpPr/>
          <p:nvPr/>
        </p:nvSpPr>
        <p:spPr>
          <a:xfrm>
            <a:off x="841248" y="1417320"/>
            <a:ext cx="80467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only child</a:t>
            </a:r>
            <a:endParaRPr lang="en-US" sz="1250" dirty="0"/>
          </a:p>
        </p:txBody>
      </p:sp>
      <p:sp>
        <p:nvSpPr>
          <p:cNvPr id="16" name="R2_sb382"/>
          <p:cNvSpPr/>
          <p:nvPr/>
        </p:nvSpPr>
        <p:spPr>
          <a:xfrm>
            <a:off x="457200" y="201777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17" name="R2_sl383"/>
          <p:cNvSpPr/>
          <p:nvPr/>
        </p:nvSpPr>
        <p:spPr>
          <a:xfrm>
            <a:off x="841248" y="1981200"/>
            <a:ext cx="80467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into music</a:t>
            </a:r>
            <a:endParaRPr lang="en-US" sz="1250" dirty="0"/>
          </a:p>
        </p:txBody>
      </p:sp>
      <p:sp>
        <p:nvSpPr>
          <p:cNvPr id="18" name="R3_sb384"/>
          <p:cNvSpPr/>
          <p:nvPr/>
        </p:nvSpPr>
        <p:spPr>
          <a:xfrm>
            <a:off x="457200" y="2581656"/>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19" name="R3_sl385"/>
          <p:cNvSpPr/>
          <p:nvPr/>
        </p:nvSpPr>
        <p:spPr>
          <a:xfrm>
            <a:off x="841248" y="2545080"/>
            <a:ext cx="8046720" cy="499872"/>
          </a:xfrm>
          <a:prstGeom prst="roundRect">
            <a:avLst>
              <a:gd name="adj" fmla="val 21951"/>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Grandad</a:t>
            </a:r>
            <a:endParaRPr lang="en-US" sz="1250" dirty="0"/>
          </a:p>
        </p:txBody>
      </p:sp>
      <p:sp>
        <p:nvSpPr>
          <p:cNvPr id="20" name="R4_sb386"/>
          <p:cNvSpPr/>
          <p:nvPr/>
        </p:nvSpPr>
        <p:spPr>
          <a:xfrm>
            <a:off x="457200" y="3145536"/>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1" name="R4_sl387"/>
          <p:cNvSpPr/>
          <p:nvPr/>
        </p:nvSpPr>
        <p:spPr>
          <a:xfrm>
            <a:off x="841248" y="3108960"/>
            <a:ext cx="8046720" cy="499872"/>
          </a:xfrm>
          <a:prstGeom prst="roundRect">
            <a:avLst>
              <a:gd name="adj" fmla="val 21951"/>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progress</a:t>
            </a:r>
            <a:endParaRPr lang="en-US" sz="1250" dirty="0"/>
          </a:p>
        </p:txBody>
      </p:sp>
      <p:sp>
        <p:nvSpPr>
          <p:cNvPr id="22" name="R5_sb388"/>
          <p:cNvSpPr/>
          <p:nvPr/>
        </p:nvSpPr>
        <p:spPr>
          <a:xfrm>
            <a:off x="457200" y="3709416"/>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23" name="R5_sl389"/>
          <p:cNvSpPr/>
          <p:nvPr/>
        </p:nvSpPr>
        <p:spPr>
          <a:xfrm>
            <a:off x="841248" y="3672840"/>
            <a:ext cx="8046720" cy="499872"/>
          </a:xfrm>
          <a:prstGeom prst="roundRect">
            <a:avLst>
              <a:gd name="adj" fmla="val 21951"/>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talent show</a:t>
            </a:r>
            <a:endParaRPr lang="en-US" sz="1250" dirty="0"/>
          </a:p>
        </p:txBody>
      </p:sp>
      <p:sp>
        <p:nvSpPr>
          <p:cNvPr id="24" name="R6_sb390"/>
          <p:cNvSpPr/>
          <p:nvPr/>
        </p:nvSpPr>
        <p:spPr>
          <a:xfrm>
            <a:off x="457200" y="4273296"/>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25" name="R6_sl391"/>
          <p:cNvSpPr/>
          <p:nvPr/>
        </p:nvSpPr>
        <p:spPr>
          <a:xfrm>
            <a:off x="841248" y="4236720"/>
            <a:ext cx="8046720" cy="499872"/>
          </a:xfrm>
          <a:prstGeom prst="roundRect">
            <a:avLst>
              <a:gd name="adj" fmla="val 21951"/>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front row</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400"/>
                                        <p:tgtEl>
                                          <p:spTgt spid="16"/>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4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400"/>
                                        <p:tgtEl>
                                          <p:spTgt spid="18"/>
                                        </p:tgtEl>
                                      </p:cBhvr>
                                    </p:animEffect>
                                  </p:childTnLst>
                                </p:cTn>
                              </p:par>
                              <p:par>
                                <p:cTn id="24" presetID="10" presetClass="entr" presetSubtype="0" fill="hold" nodeType="with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4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400"/>
                                        <p:tgtEl>
                                          <p:spTgt spid="20"/>
                                        </p:tgtEl>
                                      </p:cBhvr>
                                    </p:animEffect>
                                  </p:childTnLst>
                                </p:cTn>
                              </p:par>
                              <p:par>
                                <p:cTn id="32" presetID="10" presetClass="entr" presetSubtype="0" fill="hold"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00"/>
                                        <p:tgtEl>
                                          <p:spTgt spid="22"/>
                                        </p:tgtEl>
                                      </p:cBhvr>
                                    </p:animEffect>
                                  </p:childTnLst>
                                </p:cTn>
                              </p:par>
                              <p:par>
                                <p:cTn id="40" presetID="10"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00"/>
                                        <p:tgtEl>
                                          <p:spTgt spid="24"/>
                                        </p:tgtEl>
                                      </p:cBhvr>
                                    </p:animEffect>
                                  </p:childTnLst>
                                </p:cTn>
                              </p:par>
                              <p:par>
                                <p:cTn id="48" presetID="10" presetClass="entr" presetSubtype="0" fill="hold"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92"/>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393"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394"/>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Talking points</a:t>
            </a:r>
            <a:endParaRPr lang="en-US" sz="2500" dirty="0"/>
          </a:p>
        </p:txBody>
      </p:sp>
      <p:pic>
        <p:nvPicPr>
          <p:cNvPr id="6" name="brP_395"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396"/>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Discuss in groups of 3. Give reasons!</a:t>
            </a:r>
            <a:endParaRPr lang="en-US" sz="1250" dirty="0"/>
          </a:p>
        </p:txBody>
      </p:sp>
      <p:sp>
        <p:nvSpPr>
          <p:cNvPr id="8" name="insIT_39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Discutete in gruppi di 3. Date motivi!</a:t>
            </a:r>
            <a:endParaRPr lang="en-US" sz="950" dirty="0"/>
          </a:p>
        </p:txBody>
      </p:sp>
      <p:sp>
        <p:nvSpPr>
          <p:cNvPr id="9" name="cmd_398"/>
          <p:cNvSpPr/>
          <p:nvPr/>
        </p:nvSpPr>
        <p:spPr>
          <a:xfrm>
            <a:off x="6510528" y="182880"/>
            <a:ext cx="1901952" cy="274320"/>
          </a:xfrm>
          <a:prstGeom prst="roundRect">
            <a:avLst>
              <a:gd name="adj" fmla="val 5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PARLA</a:t>
            </a:r>
            <a:endParaRPr lang="en-US" sz="950" dirty="0"/>
          </a:p>
        </p:txBody>
      </p:sp>
      <p:sp>
        <p:nvSpPr>
          <p:cNvPr id="10" name="meta_399"/>
          <p:cNvSpPr/>
          <p:nvPr/>
        </p:nvSpPr>
        <p:spPr>
          <a:xfrm>
            <a:off x="6510528" y="493776"/>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4 min   👨‍👩‍👧 groups</a:t>
            </a:r>
            <a:endParaRPr lang="en-US" sz="950" dirty="0"/>
          </a:p>
        </p:txBody>
      </p:sp>
      <p:sp>
        <p:nvSpPr>
          <p:cNvPr id="11" name="tag_400"/>
          <p:cNvSpPr/>
          <p:nvPr/>
        </p:nvSpPr>
        <p:spPr>
          <a:xfrm>
            <a:off x="6510528" y="804672"/>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800" b="1" dirty="0">
                <a:solidFill>
                  <a:srgbClr val="1B2559"/>
                </a:solidFill>
                <a:latin typeface="Segoe UI Semibold" pitchFamily="34" charset="0"/>
                <a:ea typeface="Segoe UI Semibold" pitchFamily="34" charset="-122"/>
                <a:cs typeface="Segoe UI Semibold" pitchFamily="34" charset="-120"/>
              </a:rPr>
              <a:t>🎯 Speaking</a:t>
            </a:r>
            <a:pPr algn="ctr" indent="0" marL="0">
              <a:buNone/>
            </a:pPr>
            <a:r>
              <a:rPr lang="en-US" sz="800" dirty="0">
                <a:solidFill>
                  <a:srgbClr val="7B5CD6"/>
                </a:solidFill>
                <a:latin typeface="Segoe UI Semibold" pitchFamily="34" charset="0"/>
                <a:ea typeface="Segoe UI Semibold" pitchFamily="34" charset="-122"/>
                <a:cs typeface="Segoe UI Semibold" pitchFamily="34" charset="-120"/>
              </a:rPr>
              <a:t>  ·  Communicative</a:t>
            </a:r>
            <a:endParaRPr lang="en-US" sz="800" dirty="0"/>
          </a:p>
        </p:txBody>
      </p:sp>
      <p:pic>
        <p:nvPicPr>
          <p:cNvPr id="12" name="logo_40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0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Speaking · talking points   ·   📖 SB p.11 · Talking points</a:t>
            </a:r>
            <a:endParaRPr lang="en-US" sz="800" dirty="0"/>
          </a:p>
        </p:txBody>
      </p:sp>
      <p:sp>
        <p:nvSpPr>
          <p:cNvPr id="14" name="cd_403"/>
          <p:cNvSpPr/>
          <p:nvPr/>
        </p:nvSpPr>
        <p:spPr>
          <a:xfrm>
            <a:off x="320040" y="1417320"/>
            <a:ext cx="2788920" cy="2326640"/>
          </a:xfrm>
          <a:prstGeom prst="roundRect">
            <a:avLst>
              <a:gd name="adj" fmla="val 5502"/>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404"/>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05"/>
          <p:cNvSpPr/>
          <p:nvPr/>
        </p:nvSpPr>
        <p:spPr>
          <a:xfrm>
            <a:off x="886968" y="150876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406"/>
          <p:cNvSpPr/>
          <p:nvPr/>
        </p:nvSpPr>
        <p:spPr>
          <a:xfrm>
            <a:off x="886968" y="1911096"/>
            <a:ext cx="2130552" cy="175971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I'd like to spend time with… because…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We're both into…</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I don't think it's important because…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My best friend and I are different, but…</a:t>
            </a:r>
            <a:endParaRPr lang="en-US" sz="1150" dirty="0"/>
          </a:p>
        </p:txBody>
      </p:sp>
      <p:sp>
        <p:nvSpPr>
          <p:cNvPr id="18" name="R1_qb407"/>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408"/>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Who would you most like to spend time with – Alfie, Lucas or Grace? Why?</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Grace – she's cheerful and we're both into sport.</a:t>
            </a:r>
            <a:endParaRPr lang="en-US" sz="950" dirty="0"/>
          </a:p>
        </p:txBody>
      </p:sp>
      <p:sp>
        <p:nvSpPr>
          <p:cNvPr id="20" name="R2_qb409"/>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410"/>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Class vote! Hands up: Alfie? Lucas? Grace?</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Grace won: 6 votes!</a:t>
            </a:r>
            <a:endParaRPr lang="en-US" sz="950" dirty="0"/>
          </a:p>
        </p:txBody>
      </p:sp>
      <p:sp>
        <p:nvSpPr>
          <p:cNvPr id="22" name="R3_qb411"/>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412"/>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Is it important to have the same interests as your friends? Why? / Why not?</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Not really – my best friend hates football, but we always have fun.</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13"/>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414"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415"/>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416"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417"/>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Tell your partner…</a:t>
            </a:r>
            <a:endParaRPr lang="en-US" sz="1250" dirty="0"/>
          </a:p>
        </p:txBody>
      </p:sp>
      <p:sp>
        <p:nvSpPr>
          <p:cNvPr id="8" name="insIT_41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Di' al compagno…</a:t>
            </a:r>
            <a:endParaRPr lang="en-US" sz="950" dirty="0"/>
          </a:p>
        </p:txBody>
      </p:sp>
      <p:sp>
        <p:nvSpPr>
          <p:cNvPr id="9" name="meta_419"/>
          <p:cNvSpPr/>
          <p:nvPr/>
        </p:nvSpPr>
        <p:spPr>
          <a:xfrm>
            <a:off x="6510528" y="182880"/>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420"/>
          <p:cNvSpPr/>
          <p:nvPr/>
        </p:nvSpPr>
        <p:spPr>
          <a:xfrm>
            <a:off x="6510528" y="493776"/>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9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950" dirty="0">
                <a:solidFill>
                  <a:srgbClr val="7B5CD6"/>
                </a:solidFill>
                <a:latin typeface="Segoe UI Semibold" pitchFamily="34" charset="0"/>
                <a:ea typeface="Segoe UI Semibold" pitchFamily="34" charset="-122"/>
                <a:cs typeface="Segoe UI Semibold" pitchFamily="34" charset="-120"/>
              </a:rPr>
              <a:t>  ·  Retrieval</a:t>
            </a:r>
            <a:endParaRPr lang="en-US" sz="950" dirty="0"/>
          </a:p>
        </p:txBody>
      </p:sp>
      <p:pic>
        <p:nvPicPr>
          <p:cNvPr id="11" name="logo_42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42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Exit · what can you remember?</a:t>
            </a:r>
            <a:endParaRPr lang="en-US" sz="800" dirty="0"/>
          </a:p>
        </p:txBody>
      </p:sp>
      <p:sp>
        <p:nvSpPr>
          <p:cNvPr id="13" name="bd_423"/>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424"/>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words to describe what someone looks like.</a:t>
            </a:r>
            <a:endParaRPr lang="en-US" sz="1400" dirty="0"/>
          </a:p>
        </p:txBody>
      </p:sp>
      <p:sp>
        <p:nvSpPr>
          <p:cNvPr id="15" name="bd_425"/>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426"/>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personality adjectives and their opposites.</a:t>
            </a:r>
            <a:endParaRPr lang="en-US" sz="1400" dirty="0"/>
          </a:p>
        </p:txBody>
      </p:sp>
      <p:sp>
        <p:nvSpPr>
          <p:cNvPr id="17" name="bd_427"/>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428"/>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thing you're into – and 1 thing you're making progress in.</a:t>
            </a:r>
            <a:endParaRPr lang="en-US" sz="1400" dirty="0"/>
          </a:p>
        </p:txBody>
      </p:sp>
      <p:sp>
        <p:nvSpPr>
          <p:cNvPr id="19" name="cd_429"/>
          <p:cNvSpPr/>
          <p:nvPr/>
        </p:nvSpPr>
        <p:spPr>
          <a:xfrm>
            <a:off x="5669280" y="1417320"/>
            <a:ext cx="3200400" cy="1453896"/>
          </a:xfrm>
          <a:prstGeom prst="roundRect">
            <a:avLst>
              <a:gd name="adj" fmla="val 8805"/>
            </a:avLst>
          </a:prstGeom>
          <a:solidFill>
            <a:srgbClr val="FFF6CC"/>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0" name="ii_430"/>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431"/>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432"/>
          <p:cNvSpPr/>
          <p:nvPr/>
        </p:nvSpPr>
        <p:spPr>
          <a:xfrm>
            <a:off x="6236208" y="1911096"/>
            <a:ext cx="2542032" cy="88696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p.4: exercises 1–4 (describing people)</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p.5: read 'Birth order', exercises 1–4</a:t>
            </a:r>
            <a:endParaRPr lang="en-US" sz="1150" dirty="0"/>
          </a:p>
        </p:txBody>
      </p:sp>
      <p:sp>
        <p:nvSpPr>
          <p:cNvPr id="23" name="st_433"/>
          <p:cNvSpPr/>
          <p:nvPr/>
        </p:nvSpPr>
        <p:spPr>
          <a:xfrm rot="-180000">
            <a:off x="5806440" y="3099816"/>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present simple and continuous (SB p.12)</a:t>
            </a:r>
            <a:endParaRPr lang="en-US" sz="1100" dirty="0"/>
          </a:p>
        </p:txBody>
      </p:sp>
    </p:spTree>
  </p:cSld>
  <p:clrMapOvr>
    <a:masterClrMapping/>
  </p:clrMapOvr>
  <p:transition spd="med">
    <p:push dir="l"/>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34"/>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435"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436"/>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437"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438"/>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43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cmd_440"/>
          <p:cNvSpPr/>
          <p:nvPr/>
        </p:nvSpPr>
        <p:spPr>
          <a:xfrm>
            <a:off x="6510528" y="182880"/>
            <a:ext cx="1901952" cy="274320"/>
          </a:xfrm>
          <a:prstGeom prst="roundRect">
            <a:avLst>
              <a:gd name="adj" fmla="val 5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950" dirty="0">
                <a:solidFill>
                  <a:srgbClr val="000000"/>
                </a:solidFill>
              </a:rPr>
              <a:t>💡 </a:t>
            </a:r>
            <a:pPr indent="0" marL="0">
              <a:buNone/>
            </a:pPr>
            <a:r>
              <a:rPr lang="en-US" sz="95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950" dirty="0">
                <a:solidFill>
                  <a:srgbClr val="5B6785"/>
                </a:solidFill>
                <a:latin typeface="Segoe UI Semibold" pitchFamily="34" charset="0"/>
                <a:ea typeface="Segoe UI Semibold" pitchFamily="34" charset="-122"/>
                <a:cs typeface="Segoe UI Semibold" pitchFamily="34" charset="-120"/>
              </a:rPr>
              <a:t>  PENSA</a:t>
            </a:r>
            <a:endParaRPr lang="en-US" sz="950" dirty="0"/>
          </a:p>
        </p:txBody>
      </p:sp>
      <p:sp>
        <p:nvSpPr>
          <p:cNvPr id="10" name="meta_441"/>
          <p:cNvSpPr/>
          <p:nvPr/>
        </p:nvSpPr>
        <p:spPr>
          <a:xfrm>
            <a:off x="6510528" y="493776"/>
            <a:ext cx="1901952" cy="274320"/>
          </a:xfrm>
          <a:prstGeom prst="roundRect">
            <a:avLst>
              <a:gd name="adj" fmla="val 50000"/>
            </a:avLst>
          </a:prstGeom>
          <a:solidFill>
            <a:srgbClr val="FFFFFF"/>
          </a:solidFill>
          <a:ln w="28575">
            <a:solidFill>
              <a:srgbClr val="A9D3F5"/>
            </a:solidFill>
          </a:ln>
        </p:spPr>
        <p:txBody>
          <a:bodyPr wrap="square" lIns="76200" tIns="0" rIns="76200" bIns="0" rtlCol="0" anchor="ctr">
            <a:normAutofit/>
          </a:bodyPr>
          <a:lstStyle/>
          <a:p>
            <a:pPr algn="ctr" indent="0" marL="0">
              <a:buNone/>
            </a:pPr>
            <a:r>
              <a:rPr lang="en-US" sz="950" dirty="0">
                <a:solidFill>
                  <a:srgbClr val="1B2559"/>
                </a:solidFill>
                <a:latin typeface="Segoe UI Semibold" pitchFamily="34" charset="0"/>
                <a:ea typeface="Segoe UI Semibold" pitchFamily="34" charset="-122"/>
                <a:cs typeface="Segoe UI Semibold" pitchFamily="34" charset="-120"/>
              </a:rPr>
              <a:t>⏱ 1 min   🙋 whole class</a:t>
            </a:r>
            <a:endParaRPr lang="en-US" sz="950" dirty="0"/>
          </a:p>
        </p:txBody>
      </p:sp>
      <p:sp>
        <p:nvSpPr>
          <p:cNvPr id="11" name="tag_442"/>
          <p:cNvSpPr/>
          <p:nvPr/>
        </p:nvSpPr>
        <p:spPr>
          <a:xfrm>
            <a:off x="6510528" y="804672"/>
            <a:ext cx="1901952" cy="274320"/>
          </a:xfrm>
          <a:prstGeom prst="roundRect">
            <a:avLst>
              <a:gd name="adj" fmla="val 50000"/>
            </a:avLst>
          </a:prstGeom>
          <a:solidFill>
            <a:srgbClr val="F3EEFF"/>
          </a:solidFill>
          <a:ln w="28575">
            <a:solidFill>
              <a:srgbClr val="CDBFF3"/>
            </a:solidFill>
          </a:ln>
        </p:spPr>
        <p:txBody>
          <a:bodyPr wrap="square" lIns="76200" tIns="0" rIns="76200" bIns="0" rtlCol="0" anchor="ctr">
            <a:normAutofit/>
          </a:bodyPr>
          <a:lstStyle/>
          <a:p>
            <a:pPr algn="ctr" indent="0" marL="0">
              <a:buNone/>
            </a:pPr>
            <a:r>
              <a:rPr lang="en-US" sz="950" b="1" dirty="0">
                <a:solidFill>
                  <a:srgbClr val="1B2559"/>
                </a:solidFill>
                <a:latin typeface="Segoe UI Semibold" pitchFamily="34" charset="0"/>
                <a:ea typeface="Segoe UI Semibold" pitchFamily="34" charset="-122"/>
                <a:cs typeface="Segoe UI Semibold" pitchFamily="34" charset="-120"/>
              </a:rPr>
              <a:t>🎯 Revision</a:t>
            </a:r>
            <a:pPr algn="ctr" indent="0" marL="0">
              <a:buNone/>
            </a:pPr>
            <a:r>
              <a:rPr lang="en-US" sz="950" dirty="0">
                <a:solidFill>
                  <a:srgbClr val="7B5CD6"/>
                </a:solidFill>
                <a:latin typeface="Segoe UI Semibold" pitchFamily="34" charset="0"/>
                <a:ea typeface="Segoe UI Semibold" pitchFamily="34" charset="-122"/>
                <a:cs typeface="Segoe UI Semibold" pitchFamily="34" charset="-120"/>
              </a:rPr>
              <a:t>  ·  Reflection</a:t>
            </a:r>
            <a:endParaRPr lang="en-US" sz="950" dirty="0"/>
          </a:p>
        </p:txBody>
      </p:sp>
      <p:pic>
        <p:nvPicPr>
          <p:cNvPr id="12" name="logo_44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4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1A · Review · what did you do today?</a:t>
            </a:r>
            <a:endParaRPr lang="en-US" sz="800" dirty="0"/>
          </a:p>
        </p:txBody>
      </p:sp>
      <p:sp>
        <p:nvSpPr>
          <p:cNvPr id="14" name="cd_445"/>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5" name="te_446"/>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t_447"/>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Described what people look like</a:t>
            </a:r>
            <a:endParaRPr lang="en-US" sz="1350" dirty="0"/>
          </a:p>
        </p:txBody>
      </p:sp>
      <p:sp>
        <p:nvSpPr>
          <p:cNvPr id="17" name="R1_tk448"/>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cd_449"/>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9" name="te_450"/>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t_451"/>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Learnt 6 personality adjectives + opposites</a:t>
            </a:r>
            <a:endParaRPr lang="en-US" sz="1350" dirty="0"/>
          </a:p>
        </p:txBody>
      </p:sp>
      <p:sp>
        <p:nvSpPr>
          <p:cNvPr id="21" name="R2_tk452"/>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cd_453"/>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3" name="te_454"/>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t_455"/>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three online profiles</a:t>
            </a:r>
            <a:endParaRPr lang="en-US" sz="1350" dirty="0"/>
          </a:p>
        </p:txBody>
      </p:sp>
      <p:sp>
        <p:nvSpPr>
          <p:cNvPr id="25" name="R3_tk456"/>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cd_457"/>
          <p:cNvSpPr/>
          <p:nvPr/>
        </p:nvSpPr>
        <p:spPr>
          <a:xfrm>
            <a:off x="548640" y="3227832"/>
            <a:ext cx="6035040" cy="530352"/>
          </a:xfrm>
          <a:prstGeom prst="roundRect">
            <a:avLst>
              <a:gd name="adj" fmla="val 24138"/>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7" name="te_458"/>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t_459"/>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Learnt 6 useful phrases from the texts</a:t>
            </a:r>
            <a:endParaRPr lang="en-US" sz="1350" dirty="0"/>
          </a:p>
        </p:txBody>
      </p:sp>
      <p:sp>
        <p:nvSpPr>
          <p:cNvPr id="29" name="R4_tk460"/>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cd_461"/>
          <p:cNvSpPr/>
          <p:nvPr/>
        </p:nvSpPr>
        <p:spPr>
          <a:xfrm>
            <a:off x="548640" y="3831336"/>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31" name="te_462"/>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tt_463"/>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Told a class story and described your friends</a:t>
            </a:r>
            <a:endParaRPr lang="en-US" sz="1350" dirty="0"/>
          </a:p>
        </p:txBody>
      </p:sp>
      <p:sp>
        <p:nvSpPr>
          <p:cNvPr id="33" name="R5_tk464"/>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4" name="st_465"/>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1A All about me</dc:title>
  <dc:subject>PptxGenJS Presentation</dc:subject>
  <dc:creator>PptxGenJS</dc:creator>
  <cp:lastModifiedBy>PptxGenJS</cp:lastModifiedBy>
  <cp:revision>1</cp:revision>
  <dcterms:created xsi:type="dcterms:W3CDTF">2026-10-19T07:15:46Z</dcterms:created>
  <dcterms:modified xsi:type="dcterms:W3CDTF">2026-10-19T07:15:46Z</dcterms:modified>
</cp:coreProperties>
</file>