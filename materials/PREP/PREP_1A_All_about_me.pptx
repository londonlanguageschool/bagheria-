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'About you'. Ask both questions; point out that Q1 = appearance (looks), Q2 = personality. Model with yourself first (click: the example answer). Take 3–4 answers – don't correct much yet, just collect words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words you know (4 min)
WARMER (4 min) – TB warmer, made into a team race. Read the round title; teams have 30 seconds to write words on paper. Click: example words. Teams read their lists: a correctly spelt word = 1 point; using it in a sentence ('My dad has got curly hair') = 1 more point. Write good words on the board – you'll use them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describing people (looks) (4 min)
KEY WORDS (4 min). SB ex.2. Two levels: strong students explain each word in English; others say the Italian. Click 1 = English meaning, click 2 = Italian. Drill: bald /bɔːld/, curly /ˈkɜːli/, straight /streɪt/, thirties /ˈθɜːtiz/. Then SB table: Age = elderly, middle-aged, teenage, in his/her (early/late) twenties/thirties · Looks = attractive, good-looking, handsome, pretty · Hair = bald, blonde, curly, dark, fair,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describe and guess (4 min)
SPEAKING (4 min). SB ex.3. Model with the class first (line 1). Then pairs: A describes a person in the photos, B guesses. Swap. Line 4 (challenge): describe a classmate – keep it kind! Listen for has got + hair word order: 'long straight dark hair' (length → type →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adjectives (5 min)
PERSONALITY ADJECTIVES (5 min). SB ex.4 – the descriptions are on the slide. Pairs choose; click once per item: the answer highlighted. Key (TB): 1 polite 2 funny 3 friendly 4 careless 5 miserable 6 confident. No audio: instead of 'listen and check', ask 'Which words in the sentence helped you?' (says please → polite; always smiling → not miserable). Check other adjectives in the texts: clever, great, lazy, untidy.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opposites (4 min)
OPPOSITES (4 min). SB ex.5 as a quick team game. Say the word on the left; the first team to say the opposite gets a point; a correct sentence gets a second point. Click: the answer + an example. Key (TB): careful–careless, cheerful–miserable, rude–polite, serious–funny, shy–confident, unfriendly–friendly. Drill: miserable /ˈmɪzrəbl/.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describe a person (4 min)
SPEAKING (4 min). SB ex.6–7. Model first: describe yourself (line 1), then describe a famous person the class knows and let them guess. Pairs: looks + personality, 2 yes/no questions, then a guess. Push for 'quite / really / a bit +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lead-in (2 min)
LEAD-IN (2 min). SB Reading ex.1 – the website text is in question 1. Quick discussion: privacy is a good point to raise ('Would you post your photo?'). Then: 'Three students posted profiles – Lucas, Grace and Alfie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gist (top-down) (4 min)
GIST (4 min). SB Reading ex.2 – the profiles are on the slides, no books. 2 minutes: read fast, match each person to ONE interest (one interest is extra). Click: the answer. Ask: 'Which words tell you?' (Lucas: computers and gaming, code · Grace: sport, hockey, football, tennis). TB answers: Lucas – technology, Grace – fitness, Alfie – going to the cinema.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open cloze (B1 Preliminary Reading Part 6) (5 min)
OPEN CLOZE (5 min). SB Reading ex.3 = B1 Preliminary for Schools Reading Part 6. Do gap 1 together: 'but I ___ be quite serious' – a word before a base form → a modal verb (can). Pairs do 2–6. Click 1 = Alfie's interest (cinema), then one click per gap: the word appears in the text. Key (TB): 1 can (modal verb) 2 of (preposition) 3 them (pronoun) 4 in (preposition) 5 one (pronoun) 6 to (part of the infinitive). Weaker students: tell them the TYPE of word for each gap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three profiles (2 min)
THE THREE PROFILES (2 min) – students read all three again before the 'Who…?' questions on the next slide. Go back to this slide whenever they need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detail (scanning) (4 min)
DETAIL (4 min). SB Reading ex.4. Pairs find the person AND the words that prove it (they can go back to the two text slides). Click once per line: the name + the words from the text. Always ask: 'Where does it say that?' Key (TB): 1 Alfie 2 Grace 3 Lucas 4 Grace 5 Alfie 6 Lucas.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useful phrases from the texts (3 min)
USEFUL PHRASES (3 min). SB Reading ex.5. Pairs scan for the phrase that matches each meaning. Click: the full sentence from the text, phrase highlighted. Key (TB): 1 take part 2 make progress 3 only child 4 code 5 be into (something) 6 patient. Fast finishers (TB): choose 3 phrases and write a sentence about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you READ it, line by line (click). Ask the grey questions round the class: easy facts first, then personal questions. Let students change details ('Is it the guitar? The drums?') and use their ideas. The highlighted phrases are today's phrases from the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retell (TPRS) (3 min)
RETELL (3 min). Only one word per line. A tells lines 1–3, B tells 4–6, then swap. Challenge: tell it as Marco ('I'm an only child…') or add one new detail to each line. Listen for: I'm into / I'm taking part in / I'm making progress (present continuous for now – next lesson's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talking points (4 min)
TALKING POINTS (4 min). TB: class vote first (line 2), then groups discuss the second question. Monitor and give positive feedback on good ideas; note 2–3 mistakes for the board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Exit · what can you remember? (2 min)
EXIT (2 min). Pairs, books closed.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Prepare · Unit 1 · SB pp.10–11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All about me</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Describing people · online profiles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look like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personality adjectives + opposites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three online profiles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useful phrases from the texts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tell a class story and describe your friends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I've got short dark hair. I'm quite friendly, but a bit shy.</a:t>
            </a:r>
            <a:endParaRPr lang="en-US" sz="1000" dirty="0"/>
          </a:p>
        </p:txBody>
      </p:sp>
      <p:sp>
        <p:nvSpPr>
          <p:cNvPr id="14" name="pf_12"/>
          <p:cNvSpPr/>
          <p:nvPr/>
        </p:nvSpPr>
        <p:spPr>
          <a:xfrm rot="90000">
            <a:off x="4846320" y="1474151"/>
            <a:ext cx="3977640" cy="1806579"/>
          </a:xfrm>
          <a:prstGeom prst="roundRect">
            <a:avLst>
              <a:gd name="adj" fmla="val 860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prep1_families_jpg_935x413_31.png">    </p:cNvPr>
          <p:cNvPicPr>
            <a:picLocks noChangeAspect="1"/>
          </p:cNvPicPr>
          <p:nvPr/>
        </p:nvPicPr>
        <p:blipFill>
          <a:blip r:embed="rId4"/>
          <a:stretch>
            <a:fillRect/>
          </a:stretch>
        </p:blipFill>
        <p:spPr>
          <a:xfrm rot="90000">
            <a:off x="4892040" y="1519871"/>
            <a:ext cx="3886200" cy="171513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do you look like? What type of person are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30-second word race</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1"/>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How many words can you write?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Quante parole sapete scrivere?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Warmer · words you know   ·   📖 TB p.17 · warmer</a:t>
            </a:r>
            <a:endParaRPr lang="en-US" sz="800" dirty="0"/>
          </a:p>
        </p:txBody>
      </p:sp>
      <p:sp>
        <p:nvSpPr>
          <p:cNvPr id="12" name="cd_26"/>
          <p:cNvSpPr/>
          <p:nvPr/>
        </p:nvSpPr>
        <p:spPr>
          <a:xfrm>
            <a:off x="320040" y="1417320"/>
            <a:ext cx="2697480" cy="1645920"/>
          </a:xfrm>
          <a:prstGeom prst="roundRect">
            <a:avLst>
              <a:gd name="adj" fmla="val 77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9"/>
          <p:cNvSpPr/>
          <p:nvPr/>
        </p:nvSpPr>
        <p:spPr>
          <a:xfrm>
            <a:off x="886968" y="1911096"/>
            <a:ext cx="2039112" cy="10789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Spell it right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in a sentence = 1 more point!</a:t>
            </a:r>
            <a:endParaRPr lang="en-US" sz="1200" dirty="0"/>
          </a:p>
        </p:txBody>
      </p:sp>
      <p:sp>
        <p:nvSpPr>
          <p:cNvPr id="16" name="st_30"/>
          <p:cNvSpPr/>
          <p:nvPr/>
        </p:nvSpPr>
        <p:spPr>
          <a:xfrm rot="-180000">
            <a:off x="502920" y="32461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31"/>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32"/>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HAIR</a:t>
            </a:r>
            <a:endParaRPr lang="en-US" sz="1250" dirty="0"/>
          </a:p>
        </p:txBody>
      </p:sp>
      <p:sp>
        <p:nvSpPr>
          <p:cNvPr id="19" name="chip_33"/>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long, short, dark, blonde, curly, straight…</a:t>
            </a:r>
            <a:endParaRPr lang="en-US" sz="1200" dirty="0"/>
          </a:p>
        </p:txBody>
      </p:sp>
      <p:sp>
        <p:nvSpPr>
          <p:cNvPr id="20" name="bd_34"/>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5"/>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AGE</a:t>
            </a:r>
            <a:endParaRPr lang="en-US" sz="1250" dirty="0"/>
          </a:p>
        </p:txBody>
      </p:sp>
      <p:sp>
        <p:nvSpPr>
          <p:cNvPr id="22" name="R1_chip36"/>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young, old, teenage, middle-aged…</a:t>
            </a:r>
            <a:endParaRPr lang="en-US" sz="1200" dirty="0"/>
          </a:p>
        </p:txBody>
      </p:sp>
      <p:sp>
        <p:nvSpPr>
          <p:cNvPr id="23" name="bd_37"/>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8"/>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PERSONALITY</a:t>
            </a:r>
            <a:endParaRPr lang="en-US" sz="1250" dirty="0"/>
          </a:p>
        </p:txBody>
      </p:sp>
      <p:sp>
        <p:nvSpPr>
          <p:cNvPr id="25" name="R2_chip39"/>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funny, shy, kind, lazy…</a:t>
            </a:r>
            <a:endParaRPr lang="en-US" sz="1200" dirty="0"/>
          </a:p>
        </p:txBody>
      </p:sp>
      <p:sp>
        <p:nvSpPr>
          <p:cNvPr id="26" name="bd_40"/>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1"/>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your FAMILY</a:t>
            </a:r>
            <a:endParaRPr lang="en-US" sz="1250" dirty="0"/>
          </a:p>
        </p:txBody>
      </p:sp>
      <p:sp>
        <p:nvSpPr>
          <p:cNvPr id="28" name="R3_chip42"/>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mum, dad, brother, sister, cousin, aunt…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look like?</a:t>
            </a:r>
            <a:endParaRPr lang="en-US" sz="2500" dirty="0"/>
          </a:p>
        </p:txBody>
      </p:sp>
      <p:pic>
        <p:nvPicPr>
          <p:cNvPr id="6" name="brP_4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note_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describing people (looks)   ·   📖 SB p.10 · 2</a:t>
            </a:r>
            <a:endParaRPr lang="en-US" sz="800" dirty="0"/>
          </a:p>
        </p:txBody>
      </p:sp>
      <p:sp>
        <p:nvSpPr>
          <p:cNvPr id="12" name="cd_52"/>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5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5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bald</a:t>
            </a:r>
            <a:endParaRPr lang="en-US" sz="1200" dirty="0"/>
          </a:p>
        </p:txBody>
      </p:sp>
      <p:sp>
        <p:nvSpPr>
          <p:cNvPr id="15" name="R1_def55"/>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no hair on your head</a:t>
            </a:r>
            <a:endParaRPr lang="en-US" sz="850" dirty="0"/>
          </a:p>
        </p:txBody>
      </p:sp>
      <p:sp>
        <p:nvSpPr>
          <p:cNvPr id="16" name="R2_it56"/>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calvo</a:t>
            </a:r>
            <a:endParaRPr lang="en-US" sz="900" dirty="0"/>
          </a:p>
        </p:txBody>
      </p:sp>
      <p:sp>
        <p:nvSpPr>
          <p:cNvPr id="17" name="cd_57"/>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8" name="e_5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5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curly hair</a:t>
            </a:r>
            <a:endParaRPr lang="en-US" sz="1200" dirty="0"/>
          </a:p>
        </p:txBody>
      </p:sp>
      <p:sp>
        <p:nvSpPr>
          <p:cNvPr id="20" name="R3_def60"/>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lots of curls</a:t>
            </a:r>
            <a:endParaRPr lang="en-US" sz="850" dirty="0"/>
          </a:p>
        </p:txBody>
      </p:sp>
      <p:sp>
        <p:nvSpPr>
          <p:cNvPr id="21" name="R4_it61"/>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ricci</a:t>
            </a:r>
            <a:endParaRPr lang="en-US" sz="900" dirty="0"/>
          </a:p>
        </p:txBody>
      </p:sp>
      <p:sp>
        <p:nvSpPr>
          <p:cNvPr id="22" name="cd_62"/>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6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6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straight hair</a:t>
            </a:r>
            <a:endParaRPr lang="en-US" sz="1200" dirty="0"/>
          </a:p>
        </p:txBody>
      </p:sp>
      <p:sp>
        <p:nvSpPr>
          <p:cNvPr id="25" name="R5_def65"/>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no curls</a:t>
            </a:r>
            <a:endParaRPr lang="en-US" sz="850" dirty="0"/>
          </a:p>
        </p:txBody>
      </p:sp>
      <p:sp>
        <p:nvSpPr>
          <p:cNvPr id="26" name="R6_it66"/>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lisci</a:t>
            </a:r>
            <a:endParaRPr lang="en-US" sz="900" dirty="0"/>
          </a:p>
        </p:txBody>
      </p:sp>
      <p:sp>
        <p:nvSpPr>
          <p:cNvPr id="27" name="cd_67"/>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8" name="e_6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9" name="en_6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fair hair</a:t>
            </a:r>
            <a:endParaRPr lang="en-US" sz="1200" dirty="0"/>
          </a:p>
        </p:txBody>
      </p:sp>
      <p:sp>
        <p:nvSpPr>
          <p:cNvPr id="30" name="R7_def70"/>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light-coloured hair</a:t>
            </a:r>
            <a:endParaRPr lang="en-US" sz="850" dirty="0"/>
          </a:p>
        </p:txBody>
      </p:sp>
      <p:sp>
        <p:nvSpPr>
          <p:cNvPr id="31" name="R8_it71"/>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chiari, biondi</a:t>
            </a:r>
            <a:endParaRPr lang="en-US" sz="900" dirty="0"/>
          </a:p>
        </p:txBody>
      </p:sp>
      <p:sp>
        <p:nvSpPr>
          <p:cNvPr id="32" name="cd_72"/>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e_73"/>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74"/>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elderly</a:t>
            </a:r>
            <a:endParaRPr lang="en-US" sz="1200" dirty="0"/>
          </a:p>
        </p:txBody>
      </p:sp>
      <p:sp>
        <p:nvSpPr>
          <p:cNvPr id="35" name="R9_def75"/>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old (a polite word)</a:t>
            </a:r>
            <a:endParaRPr lang="en-US" sz="850" dirty="0"/>
          </a:p>
        </p:txBody>
      </p:sp>
      <p:sp>
        <p:nvSpPr>
          <p:cNvPr id="36" name="R10_it76"/>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anziano</a:t>
            </a:r>
            <a:endParaRPr lang="en-US" sz="900" dirty="0"/>
          </a:p>
        </p:txBody>
      </p:sp>
      <p:sp>
        <p:nvSpPr>
          <p:cNvPr id="37" name="cd_77"/>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8" name="e_78"/>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79"/>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middle-aged</a:t>
            </a:r>
            <a:endParaRPr lang="en-US" sz="1200" dirty="0"/>
          </a:p>
        </p:txBody>
      </p:sp>
      <p:sp>
        <p:nvSpPr>
          <p:cNvPr id="40" name="R11_def80"/>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45 to 60 years old</a:t>
            </a:r>
            <a:endParaRPr lang="en-US" sz="850" dirty="0"/>
          </a:p>
        </p:txBody>
      </p:sp>
      <p:sp>
        <p:nvSpPr>
          <p:cNvPr id="41" name="R12_it81"/>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mezza età</a:t>
            </a:r>
            <a:endParaRPr lang="en-US" sz="900" dirty="0"/>
          </a:p>
        </p:txBody>
      </p:sp>
      <p:sp>
        <p:nvSpPr>
          <p:cNvPr id="42" name="cd_82"/>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3" name="e_83"/>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84"/>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in his early twenties</a:t>
            </a:r>
            <a:endParaRPr lang="en-US" sz="1000" dirty="0"/>
          </a:p>
        </p:txBody>
      </p:sp>
      <p:sp>
        <p:nvSpPr>
          <p:cNvPr id="45" name="R13_def85"/>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20 to 23 years old</a:t>
            </a:r>
            <a:endParaRPr lang="en-US" sz="850" dirty="0"/>
          </a:p>
        </p:txBody>
      </p:sp>
      <p:sp>
        <p:nvSpPr>
          <p:cNvPr id="46" name="R14_it86"/>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sui vent'anni</a:t>
            </a:r>
            <a:endParaRPr lang="en-US" sz="900" dirty="0"/>
          </a:p>
        </p:txBody>
      </p:sp>
      <p:sp>
        <p:nvSpPr>
          <p:cNvPr id="47" name="cd_87"/>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8" name="e_88"/>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9" name="en_89"/>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good-looking</a:t>
            </a:r>
            <a:endParaRPr lang="en-US" sz="1200" dirty="0"/>
          </a:p>
        </p:txBody>
      </p:sp>
      <p:sp>
        <p:nvSpPr>
          <p:cNvPr id="50" name="R15_def90"/>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attractive (men and women)</a:t>
            </a:r>
            <a:endParaRPr lang="en-US" sz="850" dirty="0"/>
          </a:p>
        </p:txBody>
      </p:sp>
      <p:sp>
        <p:nvSpPr>
          <p:cNvPr id="51" name="R16_it91"/>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bell'aspetto</a:t>
            </a:r>
            <a:endParaRPr lang="en-US" sz="900" dirty="0"/>
          </a:p>
        </p:txBody>
      </p:sp>
      <p:sp>
        <p:nvSpPr>
          <p:cNvPr id="52" name="R17_wc92"/>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3" name="R17_w93"/>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handsome = for men  ·  pretty = for girls and women  ·  fair hair = blonde, not 'fiera'  ·  bald /bɔːld/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4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0"/>
                                        </p:tgtEl>
                                        <p:attrNameLst>
                                          <p:attrName>style.visibility</p:attrName>
                                        </p:attrNameLst>
                                      </p:cBhvr>
                                      <p:to>
                                        <p:strVal val="visible"/>
                                      </p:to>
                                    </p:set>
                                    <p:animEffect transition="in" filter="fade">
                                      <p:cBhvr>
                                        <p:cTn id="77" dur="400"/>
                                        <p:tgtEl>
                                          <p:spTgt spid="5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1"/>
                                        </p:tgtEl>
                                        <p:attrNameLst>
                                          <p:attrName>style.visibility</p:attrName>
                                        </p:attrNameLst>
                                      </p:cBhvr>
                                      <p:to>
                                        <p:strVal val="visible"/>
                                      </p:to>
                                    </p:set>
                                    <p:animEffect transition="in" filter="fade">
                                      <p:cBhvr>
                                        <p:cTn id="82" dur="400"/>
                                        <p:tgtEl>
                                          <p:spTgt spid="5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9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it?</a:t>
            </a:r>
            <a:endParaRPr lang="en-US" sz="2500" dirty="0"/>
          </a:p>
        </p:txBody>
      </p:sp>
      <p:pic>
        <p:nvPicPr>
          <p:cNvPr id="6" name="brP_9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9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in the photo. Your partner guesses who it is.</a:t>
            </a:r>
            <a:endParaRPr lang="en-US" sz="1100" dirty="0"/>
          </a:p>
        </p:txBody>
      </p:sp>
      <p:sp>
        <p:nvSpPr>
          <p:cNvPr id="8" name="insIT_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una persona nella foto. Il compagno indovina chi è.</a:t>
            </a:r>
            <a:endParaRPr lang="en-US" sz="950" dirty="0"/>
          </a:p>
        </p:txBody>
      </p:sp>
      <p:sp>
        <p:nvSpPr>
          <p:cNvPr id="9" name="note_10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150" dirty="0"/>
          </a:p>
        </p:txBody>
      </p:sp>
      <p:pic>
        <p:nvPicPr>
          <p:cNvPr id="10" name="logo_1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and guess   ·   📖 SB p.10 · 3</a:t>
            </a:r>
            <a:endParaRPr lang="en-US" sz="800" dirty="0"/>
          </a:p>
        </p:txBody>
      </p:sp>
      <p:sp>
        <p:nvSpPr>
          <p:cNvPr id="12" name="pf_103"/>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04" descr="/home/claude/lls-course/v2/cache/prep1_familie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4" name="cd_10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0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10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 … hair.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in his / her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middle-aged.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quite good-looking.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 the … ?</a:t>
            </a:r>
            <a:endParaRPr lang="en-US" sz="1150" dirty="0"/>
          </a:p>
        </p:txBody>
      </p:sp>
      <p:sp>
        <p:nvSpPr>
          <p:cNvPr id="18" name="R1_qb10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11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Model: describe one person. The class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a teenage boy and he's good-looking. – Is it Alfie?</a:t>
            </a:r>
            <a:endParaRPr lang="en-US" sz="950" dirty="0"/>
          </a:p>
        </p:txBody>
      </p:sp>
      <p:sp>
        <p:nvSpPr>
          <p:cNvPr id="20" name="R2_qb111"/>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11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describes, B guesses. Use 2 words from the last slide!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middle-aged and she's got long fair hair. – Is it Grace's mum?</a:t>
            </a:r>
            <a:endParaRPr lang="en-US" sz="950" dirty="0"/>
          </a:p>
        </p:txBody>
      </p:sp>
      <p:sp>
        <p:nvSpPr>
          <p:cNvPr id="22" name="R3_qb113"/>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11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Swap! B describes, A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got short dark hair and he's in his forties.</a:t>
            </a:r>
            <a:endParaRPr lang="en-US" sz="950" dirty="0"/>
          </a:p>
        </p:txBody>
      </p:sp>
      <p:sp>
        <p:nvSpPr>
          <p:cNvPr id="24" name="R4_qb115"/>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116"/>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describe someone in the CLASS. Don't say their name!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long straight hair and she's always smiling.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Polite or careless?</a:t>
            </a:r>
            <a:endParaRPr lang="en-US" sz="2500" dirty="0"/>
          </a:p>
        </p:txBody>
      </p:sp>
      <p:pic>
        <p:nvPicPr>
          <p:cNvPr id="6" name="brP_120"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21"/>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correct adjective. Say the full sentence.</a:t>
            </a:r>
            <a:endParaRPr lang="en-US" sz="1250" dirty="0"/>
          </a:p>
        </p:txBody>
      </p:sp>
      <p:sp>
        <p:nvSpPr>
          <p:cNvPr id="8" name="insIT_1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l'aggettivo giusto. Di' la frase intera.</a:t>
            </a:r>
            <a:endParaRPr lang="en-US" sz="950" dirty="0"/>
          </a:p>
        </p:txBody>
      </p:sp>
      <p:sp>
        <p:nvSpPr>
          <p:cNvPr id="9" name="note_1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personality adjectives   ·   📖 SB p.10 · 4 (no audio – check on the slide)</a:t>
            </a:r>
            <a:endParaRPr lang="en-US" sz="800" dirty="0"/>
          </a:p>
        </p:txBody>
      </p:sp>
      <p:sp>
        <p:nvSpPr>
          <p:cNvPr id="12" name="bd_126"/>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127"/>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think Lucas is really polite / careless. When he wants to borrow something, he always says please.</a:t>
            </a:r>
            <a:endParaRPr lang="en-US" sz="900" dirty="0"/>
          </a:p>
        </p:txBody>
      </p:sp>
      <p:sp>
        <p:nvSpPr>
          <p:cNvPr id="14" name="R1_chip128"/>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 think Lucas is really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polite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He always says please.</a:t>
            </a:r>
            <a:endParaRPr lang="en-US" sz="1150" dirty="0"/>
          </a:p>
        </p:txBody>
      </p:sp>
      <p:sp>
        <p:nvSpPr>
          <p:cNvPr id="15" name="bd_129"/>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130"/>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brother's called Alfie. He takes my things without asking. He thinks he's funny / polite, but he doesn't make me laugh!</a:t>
            </a:r>
            <a:endParaRPr lang="en-US" sz="850" dirty="0"/>
          </a:p>
        </p:txBody>
      </p:sp>
      <p:sp>
        <p:nvSpPr>
          <p:cNvPr id="17" name="R2_chip131"/>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thinks he's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funny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but he doesn't make me laugh!</a:t>
            </a:r>
            <a:endParaRPr lang="en-US" sz="1150" dirty="0"/>
          </a:p>
        </p:txBody>
      </p:sp>
      <p:sp>
        <p:nvSpPr>
          <p:cNvPr id="18" name="bd_132"/>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133"/>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very miserable / friendly. I see her every morning on her way to school. She always says hello.</a:t>
            </a:r>
            <a:endParaRPr lang="en-US" sz="900" dirty="0"/>
          </a:p>
        </p:txBody>
      </p:sp>
      <p:sp>
        <p:nvSpPr>
          <p:cNvPr id="20" name="R3_chip134"/>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Grace is very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friendly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always says hello.</a:t>
            </a:r>
            <a:endParaRPr lang="en-US" sz="1150" dirty="0"/>
          </a:p>
        </p:txBody>
      </p:sp>
      <p:sp>
        <p:nvSpPr>
          <p:cNvPr id="21" name="bd_135"/>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136"/>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Alfie talks a lot – like his mum! He's sometimes a bit confident / careless with homework. He doesn't always check it.</a:t>
            </a:r>
            <a:endParaRPr lang="en-US" sz="850" dirty="0"/>
          </a:p>
        </p:txBody>
      </p:sp>
      <p:sp>
        <p:nvSpPr>
          <p:cNvPr id="23" name="R4_chip137"/>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sometimes a bit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careless</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with homework.</a:t>
            </a:r>
            <a:endParaRPr lang="en-US" sz="1150" dirty="0"/>
          </a:p>
        </p:txBody>
      </p:sp>
      <p:sp>
        <p:nvSpPr>
          <p:cNvPr id="24" name="bd_138"/>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139"/>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a great friend. She's always smiling, and she's never miserable / polite. She really makes me laugh.</a:t>
            </a:r>
            <a:endParaRPr lang="en-US" sz="900" dirty="0"/>
          </a:p>
        </p:txBody>
      </p:sp>
      <p:sp>
        <p:nvSpPr>
          <p:cNvPr id="26" name="R5_chip140"/>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She's always smiling, and she's never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miserable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7" name="bd_141"/>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142"/>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Lucas knows what he's good at, so he's quite a careless / confident boy. His room is always really untidy!</a:t>
            </a:r>
            <a:endParaRPr lang="en-US" sz="900" dirty="0"/>
          </a:p>
        </p:txBody>
      </p:sp>
      <p:sp>
        <p:nvSpPr>
          <p:cNvPr id="29" name="R6_chip143"/>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quite a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confident</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boy.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4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Opposites ping-pong</a:t>
            </a:r>
            <a:endParaRPr lang="en-US" sz="2400" dirty="0"/>
          </a:p>
        </p:txBody>
      </p:sp>
      <p:pic>
        <p:nvPicPr>
          <p:cNvPr id="6" name="brP_147"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48"/>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opposite – then use it in a sentence!</a:t>
            </a:r>
            <a:endParaRPr lang="en-US" sz="1250" dirty="0"/>
          </a:p>
        </p:txBody>
      </p:sp>
      <p:sp>
        <p:nvSpPr>
          <p:cNvPr id="8" name="insIT_1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contrario – poi usalo in una frase!</a:t>
            </a:r>
            <a:endParaRPr lang="en-US" sz="950" dirty="0"/>
          </a:p>
        </p:txBody>
      </p:sp>
      <p:sp>
        <p:nvSpPr>
          <p:cNvPr id="9" name="note_1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1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opposites   ·   📖 SB p.10 · 5</a:t>
            </a:r>
            <a:endParaRPr lang="en-US" sz="800" dirty="0"/>
          </a:p>
        </p:txBody>
      </p:sp>
      <p:sp>
        <p:nvSpPr>
          <p:cNvPr id="12" name="cd_153"/>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5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156"/>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Teacher says a word. Your team says the OPPOSITE.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Opposite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sentence with it = 1 more point!</a:t>
            </a:r>
            <a:endParaRPr lang="en-US" sz="1200" dirty="0"/>
          </a:p>
        </p:txBody>
      </p:sp>
      <p:sp>
        <p:nvSpPr>
          <p:cNvPr id="16" name="st_157"/>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15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15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careful</a:t>
            </a:r>
            <a:endParaRPr lang="en-US" sz="1250" dirty="0"/>
          </a:p>
        </p:txBody>
      </p:sp>
      <p:sp>
        <p:nvSpPr>
          <p:cNvPr id="19" name="chip_16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careless – 'He's careless with his homework.'</a:t>
            </a:r>
            <a:endParaRPr lang="en-US" sz="1200" dirty="0"/>
          </a:p>
        </p:txBody>
      </p:sp>
      <p:sp>
        <p:nvSpPr>
          <p:cNvPr id="20" name="bd_16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6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cheerful</a:t>
            </a:r>
            <a:endParaRPr lang="en-US" sz="1250" dirty="0"/>
          </a:p>
        </p:txBody>
      </p:sp>
      <p:sp>
        <p:nvSpPr>
          <p:cNvPr id="22" name="R1_chip16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miserable – 'She's never miserable.'</a:t>
            </a:r>
            <a:endParaRPr lang="en-US" sz="1200" dirty="0"/>
          </a:p>
        </p:txBody>
      </p:sp>
      <p:sp>
        <p:nvSpPr>
          <p:cNvPr id="23" name="bd_16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6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rude</a:t>
            </a:r>
            <a:endParaRPr lang="en-US" sz="1250" dirty="0"/>
          </a:p>
        </p:txBody>
      </p:sp>
      <p:sp>
        <p:nvSpPr>
          <p:cNvPr id="25" name="R2_chip16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polite – 'He always says please. He's polite.'</a:t>
            </a:r>
            <a:endParaRPr lang="en-US" sz="1200" dirty="0"/>
          </a:p>
        </p:txBody>
      </p:sp>
      <p:sp>
        <p:nvSpPr>
          <p:cNvPr id="26" name="bd_16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6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serious</a:t>
            </a:r>
            <a:endParaRPr lang="en-US" sz="1250" dirty="0"/>
          </a:p>
        </p:txBody>
      </p:sp>
      <p:sp>
        <p:nvSpPr>
          <p:cNvPr id="28" name="R3_chip16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funny – 'My dad is really funny.'</a:t>
            </a:r>
            <a:endParaRPr lang="en-US" sz="1200" dirty="0"/>
          </a:p>
        </p:txBody>
      </p:sp>
      <p:sp>
        <p:nvSpPr>
          <p:cNvPr id="29" name="bd_17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7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shy</a:t>
            </a:r>
            <a:endParaRPr lang="en-US" sz="1250" dirty="0"/>
          </a:p>
        </p:txBody>
      </p:sp>
      <p:sp>
        <p:nvSpPr>
          <p:cNvPr id="31" name="R4_chip17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confident – 'She's confident in English class.'</a:t>
            </a:r>
            <a:endParaRPr lang="en-US" sz="1200" dirty="0"/>
          </a:p>
        </p:txBody>
      </p:sp>
      <p:sp>
        <p:nvSpPr>
          <p:cNvPr id="32" name="bd_17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7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unfriendly</a:t>
            </a:r>
            <a:endParaRPr lang="en-US" sz="1250" dirty="0"/>
          </a:p>
        </p:txBody>
      </p:sp>
      <p:sp>
        <p:nvSpPr>
          <p:cNvPr id="34" name="R5_chip17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 'Our neighbours are very friendly.'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7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who!</a:t>
            </a:r>
            <a:endParaRPr lang="en-US" sz="2500" dirty="0"/>
          </a:p>
        </p:txBody>
      </p:sp>
      <p:pic>
        <p:nvPicPr>
          <p:cNvPr id="6" name="brP_17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8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you both know: looks AND personality. Your partner guesses!</a:t>
            </a:r>
            <a:endParaRPr lang="en-US" sz="1100" dirty="0"/>
          </a:p>
        </p:txBody>
      </p:sp>
      <p:sp>
        <p:nvSpPr>
          <p:cNvPr id="8" name="insIT_1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Descrivi una persona che conoscete: aspetto E carattere. Il compagno indovina!</a:t>
            </a:r>
            <a:endParaRPr lang="en-US" sz="900" dirty="0"/>
          </a:p>
        </p:txBody>
      </p:sp>
      <p:sp>
        <p:nvSpPr>
          <p:cNvPr id="9" name="note_18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1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 person   ·   📖 SB p.10 · 6, 7</a:t>
            </a:r>
            <a:endParaRPr lang="en-US" sz="800" dirty="0"/>
          </a:p>
        </p:txBody>
      </p:sp>
      <p:sp>
        <p:nvSpPr>
          <p:cNvPr id="12" name="cd_185"/>
          <p:cNvSpPr/>
          <p:nvPr/>
        </p:nvSpPr>
        <p:spPr>
          <a:xfrm>
            <a:off x="320040" y="1417320"/>
            <a:ext cx="2788920" cy="2215896"/>
          </a:xfrm>
          <a:prstGeom prst="roundRect">
            <a:avLst>
              <a:gd name="adj" fmla="val 57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8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87"/>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188"/>
          <p:cNvSpPr/>
          <p:nvPr/>
        </p:nvSpPr>
        <p:spPr>
          <a:xfrm>
            <a:off x="886968" y="1911096"/>
            <a:ext cx="2130552" cy="1648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quite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a bit…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never… / always…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a:t>
            </a:r>
            <a:endParaRPr lang="en-US" sz="1150" dirty="0"/>
          </a:p>
        </p:txBody>
      </p:sp>
      <p:sp>
        <p:nvSpPr>
          <p:cNvPr id="16" name="R1_qb18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19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adjectives describe YOU? Tell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quite confident, but I'm a bit careless with homework.</a:t>
            </a:r>
            <a:endParaRPr lang="en-US" sz="1050" dirty="0"/>
          </a:p>
        </p:txBody>
      </p:sp>
      <p:sp>
        <p:nvSpPr>
          <p:cNvPr id="18" name="R2_qb191"/>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19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Think of someone you both know: a teacher, a singer, a footballer…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Don't say the name!</a:t>
            </a:r>
            <a:endParaRPr lang="en-US" sz="1050" dirty="0"/>
          </a:p>
        </p:txBody>
      </p:sp>
      <p:sp>
        <p:nvSpPr>
          <p:cNvPr id="20" name="R3_qb193"/>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19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Describe their looks AND their personality.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straight dark hair and she's very confident.</a:t>
            </a:r>
            <a:endParaRPr lang="en-US" sz="1050" dirty="0"/>
          </a:p>
        </p:txBody>
      </p:sp>
      <p:sp>
        <p:nvSpPr>
          <p:cNvPr id="22" name="R4_qb195"/>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196"/>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Your partner asks 2 questions, then guesses.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she on TV? … Is it Ana?</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8"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199"/>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Bryans High School: all.about.me</a:t>
            </a:r>
            <a:endParaRPr lang="en-US" sz="2500" dirty="0"/>
          </a:p>
        </p:txBody>
      </p:sp>
      <p:pic>
        <p:nvPicPr>
          <p:cNvPr id="6" name="brP_20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0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website. Answer the questions.</a:t>
            </a:r>
            <a:endParaRPr lang="en-US" sz="1250" dirty="0"/>
          </a:p>
        </p:txBody>
      </p:sp>
      <p:sp>
        <p:nvSpPr>
          <p:cNvPr id="8" name="insIT_2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sito. Rispondi alle domande.</a:t>
            </a:r>
            <a:endParaRPr lang="en-US" sz="950" dirty="0"/>
          </a:p>
        </p:txBody>
      </p:sp>
      <p:sp>
        <p:nvSpPr>
          <p:cNvPr id="9" name="note_20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a:t>
            </a:r>
            <a:endParaRPr lang="en-US" sz="1150" dirty="0"/>
          </a:p>
        </p:txBody>
      </p:sp>
      <p:pic>
        <p:nvPicPr>
          <p:cNvPr id="10"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lead-in   ·   📖 SB p.11 · Reading 1</a:t>
            </a:r>
            <a:endParaRPr lang="en-US" sz="800" dirty="0"/>
          </a:p>
        </p:txBody>
      </p:sp>
      <p:sp>
        <p:nvSpPr>
          <p:cNvPr id="12" name="pf_206"/>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07" descr="/home/claude/lls-course/v2/cache/prep1_student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4" name="cd_208"/>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0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1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11"/>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we've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we haven't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a good idea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wouldn't use it because…</a:t>
            </a:r>
            <a:endParaRPr lang="en-US" sz="1150" dirty="0"/>
          </a:p>
        </p:txBody>
      </p:sp>
      <p:sp>
        <p:nvSpPr>
          <p:cNvPr id="18" name="R1_qb21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13"/>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Would you like to meet other students who share your hobbies? It's easy with all.about.me: 1 create an account · 2 post a photo and your profile · 3 read about other students and click 'Connect'.</a:t>
            </a:r>
            <a:endParaRPr lang="en-US" sz="7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Sounds fun – I'd look for people who play basketball!</a:t>
            </a:r>
            <a:endParaRPr lang="en-US" sz="700" dirty="0"/>
          </a:p>
        </p:txBody>
      </p:sp>
      <p:sp>
        <p:nvSpPr>
          <p:cNvPr id="20" name="R2_qb214"/>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15"/>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Have you got something similar in your school?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we haven't. We use WhatsApp groups.</a:t>
            </a:r>
            <a:endParaRPr lang="en-US" sz="900" dirty="0"/>
          </a:p>
        </p:txBody>
      </p:sp>
      <p:sp>
        <p:nvSpPr>
          <p:cNvPr id="22" name="R3_qb216"/>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17"/>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do you think of the idea?</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a good idea – but I wouldn't post my photo.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2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(1)</a:t>
            </a:r>
            <a:endParaRPr lang="en-US" sz="2500" dirty="0"/>
          </a:p>
        </p:txBody>
      </p:sp>
      <p:pic>
        <p:nvPicPr>
          <p:cNvPr id="6" name="brP_22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2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Lucas and Grace. Which interest is each person's?</a:t>
            </a:r>
            <a:endParaRPr lang="en-US" sz="1250" dirty="0"/>
          </a:p>
        </p:txBody>
      </p:sp>
      <p:sp>
        <p:nvSpPr>
          <p:cNvPr id="8" name="insIT_2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Lucas e Grace. Qual è l'interesse di ciascuno?</a:t>
            </a:r>
            <a:endParaRPr lang="en-US" sz="950" dirty="0"/>
          </a:p>
        </p:txBody>
      </p:sp>
      <p:sp>
        <p:nvSpPr>
          <p:cNvPr id="9" name="note_2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gist</a:t>
            </a:r>
            <a:endParaRPr lang="en-US" sz="1250" dirty="0"/>
          </a:p>
        </p:txBody>
      </p:sp>
      <p:pic>
        <p:nvPicPr>
          <p:cNvPr id="10" name="logo_2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gist (top-down)   ·   📖 SB p.11 · Reading 2 (the text is on the slide)</a:t>
            </a:r>
            <a:endParaRPr lang="en-US" sz="800" dirty="0"/>
          </a:p>
        </p:txBody>
      </p:sp>
      <p:sp>
        <p:nvSpPr>
          <p:cNvPr id="12" name="cd_227"/>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28"/>
          <p:cNvSpPr/>
          <p:nvPr/>
        </p:nvSpPr>
        <p:spPr>
          <a:xfrm>
            <a:off x="45720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50" dirty="0"/>
          </a:p>
        </p:txBody>
      </p:sp>
      <p:sp>
        <p:nvSpPr>
          <p:cNvPr id="14" name="R1_rdE229"/>
          <p:cNvSpPr/>
          <p:nvPr/>
        </p:nvSpPr>
        <p:spPr>
          <a:xfrm>
            <a:off x="457200" y="1527048"/>
            <a:ext cx="260604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My main interest outside of school is computers and gaming</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But I'm not just a gamer. Right now, I'm taking part in a competition for young game designers. So at weekends,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I'm learning to code</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with my aunt. She's a professional coder. She's also a really patient teacher – I'm finding coding impossible at the moment!</a:t>
            </a:r>
            <a:endParaRPr lang="en-US" sz="1050" dirty="0"/>
          </a:p>
        </p:txBody>
      </p:sp>
      <p:sp>
        <p:nvSpPr>
          <p:cNvPr id="15" name="rd_230"/>
          <p:cNvSpPr/>
          <p:nvPr/>
        </p:nvSpPr>
        <p:spPr>
          <a:xfrm>
            <a:off x="333756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50" dirty="0"/>
          </a:p>
        </p:txBody>
      </p:sp>
      <p:sp>
        <p:nvSpPr>
          <p:cNvPr id="16" name="R1_rdE231"/>
          <p:cNvSpPr/>
          <p:nvPr/>
        </p:nvSpPr>
        <p:spPr>
          <a:xfrm>
            <a:off x="3337560" y="1527048"/>
            <a:ext cx="260604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my favourite is sport</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I'm in the school hockey and football teams</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And this year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I'm having tennis lessons</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I'm really making progress, I think. In a few months, I'm going on a kayaking trip with my cousin. We've never done it before but we're really excited.</a:t>
            </a:r>
            <a:endParaRPr lang="en-US" sz="1050" dirty="0"/>
          </a:p>
        </p:txBody>
      </p:sp>
      <p:sp>
        <p:nvSpPr>
          <p:cNvPr id="17" name="rdl_232"/>
          <p:cNvSpPr/>
          <p:nvPr/>
        </p:nvSpPr>
        <p:spPr>
          <a:xfrm>
            <a:off x="3200400" y="1600200"/>
            <a:ext cx="0" cy="2999232"/>
          </a:xfrm>
          <a:prstGeom prst="line">
            <a:avLst/>
          </a:prstGeom>
          <a:noFill/>
          <a:ln w="28575">
            <a:solidFill>
              <a:srgbClr val="A8E5BE"/>
            </a:solidFill>
            <a:prstDash val="solid"/>
          </a:ln>
        </p:spPr>
      </p:sp>
      <p:sp>
        <p:nvSpPr>
          <p:cNvPr id="18" name="cd_233"/>
          <p:cNvSpPr/>
          <p:nvPr/>
        </p:nvSpPr>
        <p:spPr>
          <a:xfrm>
            <a:off x="6263640" y="1417320"/>
            <a:ext cx="260604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34"/>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35"/>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Which interest?</a:t>
            </a:r>
            <a:endParaRPr lang="en-US" sz="1300" dirty="0"/>
          </a:p>
        </p:txBody>
      </p:sp>
      <p:sp>
        <p:nvSpPr>
          <p:cNvPr id="21" name="il_236"/>
          <p:cNvSpPr/>
          <p:nvPr/>
        </p:nvSpPr>
        <p:spPr>
          <a:xfrm>
            <a:off x="6830568" y="1911096"/>
            <a:ext cx="194767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going to the cinema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fashion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technology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fitness</a:t>
            </a:r>
            <a:endParaRPr lang="en-US" sz="1150" dirty="0"/>
          </a:p>
        </p:txBody>
      </p:sp>
      <p:sp>
        <p:nvSpPr>
          <p:cNvPr id="22" name="R1_chip237"/>
          <p:cNvSpPr/>
          <p:nvPr/>
        </p:nvSpPr>
        <p:spPr>
          <a:xfrm>
            <a:off x="6263640" y="3292856"/>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Lucas – technology · Grace – fitness (Alfie: next slide!)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4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(2): Alfie</a:t>
            </a:r>
            <a:endParaRPr lang="en-US" sz="2500" dirty="0"/>
          </a:p>
        </p:txBody>
      </p:sp>
      <p:pic>
        <p:nvPicPr>
          <p:cNvPr id="6" name="brP_241"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42"/>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Alfie's profile. Write ONE word in each gap.</a:t>
            </a:r>
            <a:endParaRPr lang="en-US" sz="1250" dirty="0"/>
          </a:p>
        </p:txBody>
      </p:sp>
      <p:sp>
        <p:nvSpPr>
          <p:cNvPr id="8" name="insIT_2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profilo di Alfie. Scrivi UNA parola per ogni spazio.</a:t>
            </a:r>
            <a:endParaRPr lang="en-US" sz="950" dirty="0"/>
          </a:p>
        </p:txBody>
      </p:sp>
      <p:sp>
        <p:nvSpPr>
          <p:cNvPr id="9" name="note_2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Exam practice</a:t>
            </a:r>
            <a:endParaRPr lang="en-US" sz="1150" dirty="0"/>
          </a:p>
        </p:txBody>
      </p:sp>
      <p:pic>
        <p:nvPicPr>
          <p:cNvPr id="10"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open cloze (B1 Preliminary Reading Part 6)   ·   📖 SB p.11 · Reading 3 (the text is on the slide)</a:t>
            </a:r>
            <a:endParaRPr lang="en-US" sz="800" dirty="0"/>
          </a:p>
        </p:txBody>
      </p:sp>
      <p:sp>
        <p:nvSpPr>
          <p:cNvPr id="12" name="cd_247"/>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48"/>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4" name="R1_rdE24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5" name="R3_rdA25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6" name="R4_rdA251"/>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7" name="R5_rdA252"/>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8" name="R6_rdA25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9" name="R7_rdA25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0" name="R8_rdA25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(6) to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1" name="cd_256"/>
          <p:cNvSpPr/>
          <p:nvPr/>
        </p:nvSpPr>
        <p:spPr>
          <a:xfrm>
            <a:off x="6263640" y="1417320"/>
            <a:ext cx="2606040" cy="1737360"/>
          </a:xfrm>
          <a:prstGeom prst="roundRect">
            <a:avLst>
              <a:gd name="adj" fmla="val 736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257"/>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58"/>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 tip</a:t>
            </a:r>
            <a:endParaRPr lang="en-US" sz="1300" dirty="0"/>
          </a:p>
        </p:txBody>
      </p:sp>
      <p:sp>
        <p:nvSpPr>
          <p:cNvPr id="24" name="il_259"/>
          <p:cNvSpPr/>
          <p:nvPr/>
        </p:nvSpPr>
        <p:spPr>
          <a:xfrm>
            <a:off x="6830568" y="1911096"/>
            <a:ext cx="1947672" cy="11704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words BEFORE and AFTER the gap.</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kind of word? A verb, a preposition, a pronoun…?</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Only ONE word!</a:t>
            </a:r>
            <a:endParaRPr lang="en-US" sz="1000" dirty="0"/>
          </a:p>
        </p:txBody>
      </p:sp>
      <p:sp>
        <p:nvSpPr>
          <p:cNvPr id="25" name="R1_chip260"/>
          <p:cNvSpPr/>
          <p:nvPr/>
        </p:nvSpPr>
        <p:spPr>
          <a:xfrm>
            <a:off x="6263640" y="3264408"/>
            <a:ext cx="260604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Alfie's interest: going to the cinema 🎬</a:t>
            </a:r>
            <a:endParaRPr lang="en-US" sz="1050" dirty="0"/>
          </a:p>
        </p:txBody>
      </p:sp>
      <p:sp>
        <p:nvSpPr>
          <p:cNvPr id="26" name="R2_ebh261"/>
          <p:cNvSpPr/>
          <p:nvPr/>
        </p:nvSpPr>
        <p:spPr>
          <a:xfrm>
            <a:off x="6263640" y="3877056"/>
            <a:ext cx="2606040" cy="310896"/>
          </a:xfrm>
          <a:prstGeom prst="roundRect">
            <a:avLst>
              <a:gd name="adj" fmla="val 29412"/>
            </a:avLst>
          </a:prstGeom>
          <a:solidFill>
            <a:srgbClr val="E3F1FD"/>
          </a:solidFill>
          <a:ln w="28575">
            <a:solidFill>
              <a:srgbClr val="A9D3F5"/>
            </a:solidFill>
          </a:ln>
        </p:spPr>
        <p:txBody>
          <a:bodyPr wrap="square" lIns="76200" tIns="0" rIns="762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 Easier? Choose from these (some don't fit):</a:t>
            </a:r>
            <a:endParaRPr lang="en-US" sz="850" dirty="0"/>
          </a:p>
        </p:txBody>
      </p:sp>
      <p:sp>
        <p:nvSpPr>
          <p:cNvPr id="27" name="R2_ebw262"/>
          <p:cNvSpPr/>
          <p:nvPr/>
        </p:nvSpPr>
        <p:spPr>
          <a:xfrm>
            <a:off x="6263640" y="4242816"/>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at</a:t>
            </a:r>
            <a:endParaRPr lang="en-US" sz="1100" dirty="0"/>
          </a:p>
        </p:txBody>
      </p:sp>
      <p:sp>
        <p:nvSpPr>
          <p:cNvPr id="28" name="R2_ebw263"/>
          <p:cNvSpPr/>
          <p:nvPr/>
        </p:nvSpPr>
        <p:spPr>
          <a:xfrm>
            <a:off x="7150608" y="4242816"/>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can</a:t>
            </a:r>
            <a:endParaRPr lang="en-US" sz="1100" dirty="0"/>
          </a:p>
        </p:txBody>
      </p:sp>
      <p:sp>
        <p:nvSpPr>
          <p:cNvPr id="29" name="R2_ebw264"/>
          <p:cNvSpPr/>
          <p:nvPr/>
        </p:nvSpPr>
        <p:spPr>
          <a:xfrm>
            <a:off x="8037576" y="4242816"/>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for</a:t>
            </a:r>
            <a:endParaRPr lang="en-US" sz="1100" dirty="0"/>
          </a:p>
        </p:txBody>
      </p:sp>
      <p:sp>
        <p:nvSpPr>
          <p:cNvPr id="30" name="R2_ebw265"/>
          <p:cNvSpPr/>
          <p:nvPr/>
        </p:nvSpPr>
        <p:spPr>
          <a:xfrm>
            <a:off x="6263640" y="4553712"/>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in</a:t>
            </a:r>
            <a:endParaRPr lang="en-US" sz="1100" dirty="0"/>
          </a:p>
        </p:txBody>
      </p:sp>
      <p:sp>
        <p:nvSpPr>
          <p:cNvPr id="31" name="R2_ebw266"/>
          <p:cNvSpPr/>
          <p:nvPr/>
        </p:nvSpPr>
        <p:spPr>
          <a:xfrm>
            <a:off x="7150608" y="4553712"/>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it</a:t>
            </a:r>
            <a:endParaRPr lang="en-US" sz="1100" dirty="0"/>
          </a:p>
        </p:txBody>
      </p:sp>
      <p:sp>
        <p:nvSpPr>
          <p:cNvPr id="32" name="R2_ebw267"/>
          <p:cNvSpPr/>
          <p:nvPr/>
        </p:nvSpPr>
        <p:spPr>
          <a:xfrm>
            <a:off x="8037576" y="4553712"/>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must</a:t>
            </a:r>
            <a:endParaRPr lang="en-US" sz="1100" dirty="0"/>
          </a:p>
        </p:txBody>
      </p:sp>
      <p:sp>
        <p:nvSpPr>
          <p:cNvPr id="33" name="R2_ebw268"/>
          <p:cNvSpPr/>
          <p:nvPr/>
        </p:nvSpPr>
        <p:spPr>
          <a:xfrm>
            <a:off x="6263640" y="4864608"/>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of</a:t>
            </a:r>
            <a:endParaRPr lang="en-US" sz="1100" dirty="0"/>
          </a:p>
        </p:txBody>
      </p:sp>
      <p:sp>
        <p:nvSpPr>
          <p:cNvPr id="34" name="R2_ebw269"/>
          <p:cNvSpPr/>
          <p:nvPr/>
        </p:nvSpPr>
        <p:spPr>
          <a:xfrm>
            <a:off x="7150608" y="4864608"/>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one</a:t>
            </a:r>
            <a:endParaRPr lang="en-US" sz="1100" dirty="0"/>
          </a:p>
        </p:txBody>
      </p:sp>
      <p:sp>
        <p:nvSpPr>
          <p:cNvPr id="35" name="R2_ebw270"/>
          <p:cNvSpPr/>
          <p:nvPr/>
        </p:nvSpPr>
        <p:spPr>
          <a:xfrm>
            <a:off x="8037576" y="4864608"/>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them</a:t>
            </a:r>
            <a:endParaRPr lang="en-US" sz="1100" dirty="0"/>
          </a:p>
        </p:txBody>
      </p:sp>
      <p:sp>
        <p:nvSpPr>
          <p:cNvPr id="36" name="R2_ebw271"/>
          <p:cNvSpPr/>
          <p:nvPr/>
        </p:nvSpPr>
        <p:spPr>
          <a:xfrm>
            <a:off x="6263640" y="5175504"/>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par>
                                <p:cTn id="19" presetID="10"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par>
                                <p:cTn id="25" presetID="10"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par>
                                <p:cTn id="28" presetID="10" presetClass="entr" presetSubtype="0" fill="hold"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childTnLst>
                                </p:cTn>
                              </p:par>
                              <p:par>
                                <p:cTn id="31" presetID="10"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4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400"/>
                                        <p:tgtEl>
                                          <p:spTgt spid="33"/>
                                        </p:tgtEl>
                                      </p:cBhvr>
                                    </p:animEffect>
                                  </p:childTnLst>
                                </p:cTn>
                              </p:par>
                              <p:par>
                                <p:cTn id="37" presetID="10" presetClass="entr" presetSubtype="0" fill="hold"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400"/>
                                        <p:tgtEl>
                                          <p:spTgt spid="1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400"/>
                                        <p:tgtEl>
                                          <p:spTgt spid="16"/>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400"/>
                                        <p:tgtEl>
                                          <p:spTgt spid="17"/>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4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400"/>
                                        <p:tgtEl>
                                          <p:spTgt spid="19"/>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fade">
                                      <p:cBhvr>
                                        <p:cTn id="75"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7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and Alfie</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76"/>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all three profiles. Then answer: who…?</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tre profili. Poi rispondi: chi…?</a:t>
            </a:r>
            <a:endParaRPr lang="en-US" sz="950" dirty="0"/>
          </a:p>
        </p:txBody>
      </p:sp>
      <p:sp>
        <p:nvSpPr>
          <p:cNvPr id="9" name="note_27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detail</a:t>
            </a:r>
            <a:endParaRPr lang="en-US" sz="1250" dirty="0"/>
          </a:p>
        </p:txBody>
      </p:sp>
      <p:pic>
        <p:nvPicPr>
          <p:cNvPr id="10"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the three profiles   ·   📖 SB p.11 · the three profiles (the text is on the slide)</a:t>
            </a:r>
            <a:endParaRPr lang="en-US" sz="800" dirty="0"/>
          </a:p>
        </p:txBody>
      </p:sp>
      <p:sp>
        <p:nvSpPr>
          <p:cNvPr id="12" name="cd_281"/>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82"/>
          <p:cNvSpPr/>
          <p:nvPr/>
        </p:nvSpPr>
        <p:spPr>
          <a:xfrm>
            <a:off x="457200" y="1527048"/>
            <a:ext cx="2575560" cy="3090672"/>
          </a:xfrm>
          <a:prstGeom prst="rect">
            <a:avLst/>
          </a:prstGeom>
          <a:noFill/>
          <a:ln/>
        </p:spPr>
        <p:txBody>
          <a:bodyPr wrap="square" lIns="0" tIns="0" rIns="0" bIns="0" rtlCol="0" anchor="t"/>
          <a:lstStyle/>
          <a:p>
            <a:pPr indent="0" marL="0">
              <a:lnSpc>
                <a:spcPct val="105000"/>
              </a:lnSpc>
              <a:spcAft>
                <a:spcPts val="400"/>
              </a:spcAft>
              <a:buNone/>
            </a:pPr>
            <a:r>
              <a:rPr lang="en-US" sz="1100" b="1" dirty="0">
                <a:solidFill>
                  <a:srgbClr val="1F6F43"/>
                </a:solidFill>
                <a:latin typeface="Georgia" pitchFamily="34" charset="0"/>
                <a:ea typeface="Georgia" pitchFamily="34" charset="-122"/>
                <a:cs typeface="Georgia" pitchFamily="34" charset="-120"/>
              </a:rPr>
              <a:t>Lucas</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00" dirty="0"/>
          </a:p>
        </p:txBody>
      </p:sp>
      <p:sp>
        <p:nvSpPr>
          <p:cNvPr id="14" name="rd_283"/>
          <p:cNvSpPr/>
          <p:nvPr/>
        </p:nvSpPr>
        <p:spPr>
          <a:xfrm>
            <a:off x="3307080" y="1527048"/>
            <a:ext cx="2575560" cy="3090672"/>
          </a:xfrm>
          <a:prstGeom prst="rect">
            <a:avLst/>
          </a:prstGeom>
          <a:noFill/>
          <a:ln/>
        </p:spPr>
        <p:txBody>
          <a:bodyPr wrap="square" lIns="0" tIns="0" rIns="0" bIns="0" rtlCol="0" anchor="t"/>
          <a:lstStyle/>
          <a:p>
            <a:pPr indent="0" marL="0">
              <a:lnSpc>
                <a:spcPct val="105000"/>
              </a:lnSpc>
              <a:spcAft>
                <a:spcPts val="400"/>
              </a:spcAft>
              <a:buNone/>
            </a:pPr>
            <a:r>
              <a:rPr lang="en-US" sz="1100" b="1" dirty="0">
                <a:solidFill>
                  <a:srgbClr val="1F6F43"/>
                </a:solidFill>
                <a:latin typeface="Georgia" pitchFamily="34" charset="0"/>
                <a:ea typeface="Georgia" pitchFamily="34" charset="-122"/>
                <a:cs typeface="Georgia" pitchFamily="34" charset="-120"/>
              </a:rPr>
              <a:t>Grace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00" dirty="0"/>
          </a:p>
        </p:txBody>
      </p:sp>
      <p:sp>
        <p:nvSpPr>
          <p:cNvPr id="15" name="rd_284"/>
          <p:cNvSpPr/>
          <p:nvPr/>
        </p:nvSpPr>
        <p:spPr>
          <a:xfrm>
            <a:off x="6156960" y="1527048"/>
            <a:ext cx="2575560" cy="3090672"/>
          </a:xfrm>
          <a:prstGeom prst="rect">
            <a:avLst/>
          </a:prstGeom>
          <a:noFill/>
          <a:ln/>
        </p:spPr>
        <p:txBody>
          <a:bodyPr wrap="square" lIns="0" tIns="0" rIns="0" bIns="0" rtlCol="0" anchor="t"/>
          <a:lstStyle/>
          <a:p>
            <a:pPr indent="0" marL="0">
              <a:lnSpc>
                <a:spcPct val="105000"/>
              </a:lnSpc>
              <a:spcAft>
                <a:spcPts val="400"/>
              </a:spcAft>
              <a:buNone/>
            </a:pPr>
            <a:r>
              <a:rPr lang="en-US" sz="1100" b="1" dirty="0">
                <a:solidFill>
                  <a:srgbClr val="1F6F43"/>
                </a:solidFill>
                <a:latin typeface="Georgia" pitchFamily="34" charset="0"/>
                <a:ea typeface="Georgia" pitchFamily="34" charset="-122"/>
                <a:cs typeface="Georgia" pitchFamily="34" charset="-120"/>
              </a:rPr>
              <a:t>Alfie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 can be quite serious at times, too. One of my biggest interests is film: thrillers, drama, science fiction – I don't mind. I like watching them all. One day, I think I'd like to work in film.</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This year, I want to visit a film studio. There's one near London where all eight Harry Potter films were made. My dream is to fly to Hollywood and see a studio there.</a:t>
            </a:r>
            <a:endParaRPr lang="en-US" sz="1000" dirty="0"/>
          </a:p>
        </p:txBody>
      </p:sp>
      <p:sp>
        <p:nvSpPr>
          <p:cNvPr id="16" name="rdl_285"/>
          <p:cNvSpPr/>
          <p:nvPr/>
        </p:nvSpPr>
        <p:spPr>
          <a:xfrm>
            <a:off x="316992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8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8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or Alfie?</a:t>
            </a:r>
            <a:endParaRPr lang="en-US" sz="2500" dirty="0"/>
          </a:p>
        </p:txBody>
      </p:sp>
      <p:pic>
        <p:nvPicPr>
          <p:cNvPr id="6" name="brP_289"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90"/>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Find the words in the profiles (last slide).</a:t>
            </a:r>
            <a:endParaRPr lang="en-US" sz="1250" dirty="0"/>
          </a:p>
        </p:txBody>
      </p:sp>
      <p:sp>
        <p:nvSpPr>
          <p:cNvPr id="8" name="insIT_2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Trova le parole nei profili.</a:t>
            </a:r>
            <a:endParaRPr lang="en-US" sz="950" dirty="0"/>
          </a:p>
        </p:txBody>
      </p:sp>
      <p:sp>
        <p:nvSpPr>
          <p:cNvPr id="9" name="note_29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Scanning</a:t>
            </a:r>
            <a:endParaRPr lang="en-US" sz="1150" dirty="0"/>
          </a:p>
        </p:txBody>
      </p:sp>
      <p:pic>
        <p:nvPicPr>
          <p:cNvPr id="10" name="logo_2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detail (scanning)   ·   📖 SB p.11 · Reading 4</a:t>
            </a:r>
            <a:endParaRPr lang="en-US" sz="800" dirty="0"/>
          </a:p>
        </p:txBody>
      </p:sp>
      <p:sp>
        <p:nvSpPr>
          <p:cNvPr id="12" name="bd_295"/>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296"/>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interested in doing a job related to his / her hobby.</a:t>
            </a:r>
            <a:endParaRPr lang="en-US" sz="950" dirty="0"/>
          </a:p>
        </p:txBody>
      </p:sp>
      <p:sp>
        <p:nvSpPr>
          <p:cNvPr id="14" name="R1_chip297"/>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'One day, I think I'd like to work in film.'</a:t>
            </a:r>
            <a:endParaRPr lang="en-US" sz="1100" dirty="0"/>
          </a:p>
        </p:txBody>
      </p:sp>
      <p:sp>
        <p:nvSpPr>
          <p:cNvPr id="15" name="bd_298"/>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299"/>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looking forward to learning a new activity.</a:t>
            </a:r>
            <a:endParaRPr lang="en-US" sz="950" dirty="0"/>
          </a:p>
        </p:txBody>
      </p:sp>
      <p:sp>
        <p:nvSpPr>
          <p:cNvPr id="17" name="R2_chip300"/>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'I'm going on a kayaking trip… We've never done it before but we're really excited.'</a:t>
            </a:r>
            <a:endParaRPr lang="en-US" sz="1100" dirty="0"/>
          </a:p>
        </p:txBody>
      </p:sp>
      <p:sp>
        <p:nvSpPr>
          <p:cNvPr id="18" name="bd_301"/>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302"/>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learning a new skill with help from a relative.</a:t>
            </a:r>
            <a:endParaRPr lang="en-US" sz="950" dirty="0"/>
          </a:p>
        </p:txBody>
      </p:sp>
      <p:sp>
        <p:nvSpPr>
          <p:cNvPr id="20" name="R3_chip303"/>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'at weekends, I'm learning to code with my aunt.'</a:t>
            </a:r>
            <a:endParaRPr lang="en-US" sz="1100" dirty="0"/>
          </a:p>
        </p:txBody>
      </p:sp>
      <p:sp>
        <p:nvSpPr>
          <p:cNvPr id="21" name="bd_304"/>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305"/>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…agrees with other people about his / her personality.</a:t>
            </a:r>
            <a:endParaRPr lang="en-US" sz="950" dirty="0"/>
          </a:p>
        </p:txBody>
      </p:sp>
      <p:sp>
        <p:nvSpPr>
          <p:cNvPr id="23" name="R4_chip306"/>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'My friends and family say I'm a cheerful person. And they're right.'</a:t>
            </a:r>
            <a:endParaRPr lang="en-US" sz="1100" dirty="0"/>
          </a:p>
        </p:txBody>
      </p:sp>
      <p:sp>
        <p:nvSpPr>
          <p:cNvPr id="24" name="bd_307"/>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308"/>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…would like to go to another country.</a:t>
            </a:r>
            <a:endParaRPr lang="en-US" sz="950" dirty="0"/>
          </a:p>
        </p:txBody>
      </p:sp>
      <p:sp>
        <p:nvSpPr>
          <p:cNvPr id="26" name="R5_chip309"/>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'My dream is to fly to Hollywood and see a studio there.'</a:t>
            </a:r>
            <a:endParaRPr lang="en-US" sz="1100" dirty="0"/>
          </a:p>
        </p:txBody>
      </p:sp>
      <p:sp>
        <p:nvSpPr>
          <p:cNvPr id="27" name="bd_310"/>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311"/>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…might get a prize soon.</a:t>
            </a:r>
            <a:endParaRPr lang="en-US" sz="950" dirty="0"/>
          </a:p>
        </p:txBody>
      </p:sp>
      <p:sp>
        <p:nvSpPr>
          <p:cNvPr id="29" name="R6_chip312"/>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'Right now, I'm taking part in a competition for young game designers.'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1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1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phrase</a:t>
            </a:r>
            <a:endParaRPr lang="en-US" sz="2500" dirty="0"/>
          </a:p>
        </p:txBody>
      </p:sp>
      <p:pic>
        <p:nvPicPr>
          <p:cNvPr id="6" name="brP_31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highlighted words in the profiles. Say the full sentence.</a:t>
            </a:r>
            <a:endParaRPr lang="en-US" sz="1100" dirty="0"/>
          </a:p>
        </p:txBody>
      </p:sp>
      <p:sp>
        <p:nvSpPr>
          <p:cNvPr id="8" name="insIT_3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evidenziate nei profili. Di' la frase intera.</a:t>
            </a:r>
            <a:endParaRPr lang="en-US" sz="950" dirty="0"/>
          </a:p>
        </p:txBody>
      </p:sp>
      <p:sp>
        <p:nvSpPr>
          <p:cNvPr id="9" name="note_31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Guided discovery</a:t>
            </a:r>
            <a:endParaRPr lang="en-US" sz="1250" dirty="0"/>
          </a:p>
        </p:txBody>
      </p:sp>
      <p:pic>
        <p:nvPicPr>
          <p:cNvPr id="10" name="logo_3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useful phrases from the texts   ·   📖 SB p.11 · Reading 5</a:t>
            </a:r>
            <a:endParaRPr lang="en-US" sz="800" dirty="0"/>
          </a:p>
        </p:txBody>
      </p:sp>
      <p:sp>
        <p:nvSpPr>
          <p:cNvPr id="12" name="bd_322"/>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323"/>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involved in an activity with other people</a:t>
            </a:r>
            <a:endParaRPr lang="en-US" sz="1300" dirty="0"/>
          </a:p>
        </p:txBody>
      </p:sp>
      <p:sp>
        <p:nvSpPr>
          <p:cNvPr id="14" name="R1_chip324"/>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taking part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a competition for young game designers.'</a:t>
            </a:r>
            <a:endParaRPr lang="en-US" sz="1200" dirty="0"/>
          </a:p>
        </p:txBody>
      </p:sp>
      <p:sp>
        <p:nvSpPr>
          <p:cNvPr id="15" name="bd_325"/>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326"/>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become better</a:t>
            </a:r>
            <a:endParaRPr lang="en-US" sz="1300" dirty="0"/>
          </a:p>
        </p:txBody>
      </p:sp>
      <p:sp>
        <p:nvSpPr>
          <p:cNvPr id="17" name="R2_chip327"/>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making progress</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a:t>
            </a:r>
            <a:endParaRPr lang="en-US" sz="1200" dirty="0"/>
          </a:p>
        </p:txBody>
      </p:sp>
      <p:sp>
        <p:nvSpPr>
          <p:cNvPr id="18" name="bd_328"/>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329"/>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someone with no brothers or sisters</a:t>
            </a:r>
            <a:endParaRPr lang="en-US" sz="1300" dirty="0"/>
          </a:p>
        </p:txBody>
      </p:sp>
      <p:sp>
        <p:nvSpPr>
          <p:cNvPr id="20" name="R3_chip330"/>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an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only child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
        <p:nvSpPr>
          <p:cNvPr id="21" name="bd_331"/>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332"/>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write computer programs</a:t>
            </a:r>
            <a:endParaRPr lang="en-US" sz="1300" dirty="0"/>
          </a:p>
        </p:txBody>
      </p:sp>
      <p:sp>
        <p:nvSpPr>
          <p:cNvPr id="23" name="R4_chip333"/>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learning to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code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my aunt.'</a:t>
            </a:r>
            <a:endParaRPr lang="en-US" sz="1200" dirty="0"/>
          </a:p>
        </p:txBody>
      </p:sp>
      <p:sp>
        <p:nvSpPr>
          <p:cNvPr id="24" name="bd_334"/>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335"/>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very interested in something</a:t>
            </a:r>
            <a:endParaRPr lang="en-US" sz="1300" dirty="0"/>
          </a:p>
        </p:txBody>
      </p:sp>
      <p:sp>
        <p:nvSpPr>
          <p:cNvPr id="26" name="R5_chip336"/>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into</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various typical teenage hobbies.'</a:t>
            </a:r>
            <a:endParaRPr lang="en-US" sz="1200" dirty="0"/>
          </a:p>
        </p:txBody>
      </p:sp>
      <p:sp>
        <p:nvSpPr>
          <p:cNvPr id="27" name="bd_337"/>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338"/>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able to stay calm and not get angry</a:t>
            </a:r>
            <a:endParaRPr lang="en-US" sz="1300" dirty="0"/>
          </a:p>
        </p:txBody>
      </p:sp>
      <p:sp>
        <p:nvSpPr>
          <p:cNvPr id="29" name="R6_chip339"/>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'She's also a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patient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teacher.'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0"/>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4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4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Marco's new hobby</a:t>
            </a:r>
            <a:endParaRPr lang="en-US" sz="2400" dirty="0"/>
          </a:p>
        </p:txBody>
      </p:sp>
      <p:pic>
        <p:nvPicPr>
          <p:cNvPr id="6" name="brP_343"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44"/>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note_34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class story (TPRS)</a:t>
            </a:r>
            <a:endParaRPr lang="en-US" sz="800" dirty="0"/>
          </a:p>
        </p:txBody>
      </p:sp>
      <p:sp>
        <p:nvSpPr>
          <p:cNvPr id="12" name="pf_349"/>
          <p:cNvSpPr/>
          <p:nvPr/>
        </p:nvSpPr>
        <p:spPr>
          <a:xfrm rot="-90000">
            <a:off x="790524" y="1417320"/>
            <a:ext cx="1802233"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50" descr="/home/claude/lls-course/v2/cache/b2_6b_guitar_sax_jpg_412x286_31.png">    </p:cNvPr>
          <p:cNvPicPr>
            <a:picLocks noChangeAspect="1"/>
          </p:cNvPicPr>
          <p:nvPr/>
        </p:nvPicPr>
        <p:blipFill>
          <a:blip r:embed="rId5"/>
          <a:stretch>
            <a:fillRect/>
          </a:stretch>
        </p:blipFill>
        <p:spPr>
          <a:xfrm rot="-90000">
            <a:off x="836244" y="1463040"/>
            <a:ext cx="1710793" cy="1188720"/>
          </a:xfrm>
          <a:prstGeom prst="rect">
            <a:avLst/>
          </a:prstGeom>
        </p:spPr>
      </p:pic>
      <p:sp>
        <p:nvSpPr>
          <p:cNvPr id="14" name="cd_351"/>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52"/>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3"/>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54"/>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be into</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essere appassionato di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take part in</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partecipare a</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make progress</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fare progressi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patient</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paziente</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figlio unico</a:t>
            </a:r>
            <a:endParaRPr lang="en-US" sz="900" dirty="0"/>
          </a:p>
        </p:txBody>
      </p:sp>
      <p:sp>
        <p:nvSpPr>
          <p:cNvPr id="18" name="R1_sb355"/>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56"/>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Marco is 14 and he lives in Bagheria. He's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an only child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 he's often a bit bored at home.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How old is Marco? · Has he got brothers or sisters? · Are you an only child?</a:t>
            </a:r>
            <a:endParaRPr lang="en-US" sz="900" dirty="0"/>
          </a:p>
        </p:txBody>
      </p:sp>
      <p:sp>
        <p:nvSpPr>
          <p:cNvPr id="20" name="R2_sb357"/>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358"/>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music, but he can't play an instrument.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is Marco into? · What are YOU into?</a:t>
            </a:r>
            <a:endParaRPr lang="en-US" sz="1150" dirty="0"/>
          </a:p>
        </p:txBody>
      </p:sp>
      <p:sp>
        <p:nvSpPr>
          <p:cNvPr id="22" name="R3_sb359"/>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360"/>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 he's learning the guitar with his grandad. Grandad is very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patient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is teaching Marco? · Why is a patient teacher important?</a:t>
            </a:r>
            <a:endParaRPr lang="en-US" sz="1050" dirty="0"/>
          </a:p>
        </p:txBody>
      </p:sp>
      <p:sp>
        <p:nvSpPr>
          <p:cNvPr id="24" name="R4_sb361"/>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362"/>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first Marco was terrible. But now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making progress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Marco good at first? · What are you making progress in?</a:t>
            </a:r>
            <a:endParaRPr lang="en-US" sz="1150" dirty="0"/>
          </a:p>
        </p:txBody>
      </p:sp>
      <p:sp>
        <p:nvSpPr>
          <p:cNvPr id="26" name="R5_sb363"/>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364"/>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Next month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taking part 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talent show at school!</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he taking part in? · Is Marco confident or shy, do you think?</a:t>
            </a:r>
            <a:endParaRPr lang="en-US" sz="1150" dirty="0"/>
          </a:p>
        </p:txBody>
      </p:sp>
      <p:sp>
        <p:nvSpPr>
          <p:cNvPr id="28" name="R6_sb365"/>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366"/>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Grandad? He's coming to watch – in the front row!</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Grandad sitting? · How do you think Marco feels?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7"/>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6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6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7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Retell Marco's story to your partner. One word per line helps.</a:t>
            </a:r>
            <a:endParaRPr lang="en-US" sz="1200" dirty="0"/>
          </a:p>
        </p:txBody>
      </p:sp>
      <p:sp>
        <p:nvSpPr>
          <p:cNvPr id="8" name="insIT_3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di nuovo la storia di Marco al compagno. Una parola per riga ti aiuta.</a:t>
            </a:r>
            <a:endParaRPr lang="en-US" sz="950" dirty="0"/>
          </a:p>
        </p:txBody>
      </p:sp>
      <p:sp>
        <p:nvSpPr>
          <p:cNvPr id="9" name="note_37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retell</a:t>
            </a:r>
            <a:endParaRPr lang="en-US" sz="1250" dirty="0"/>
          </a:p>
        </p:txBody>
      </p:sp>
      <p:pic>
        <p:nvPicPr>
          <p:cNvPr id="10" name="logo_3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retell (TPRS)</a:t>
            </a:r>
            <a:endParaRPr lang="en-US" sz="800" dirty="0"/>
          </a:p>
        </p:txBody>
      </p:sp>
      <p:sp>
        <p:nvSpPr>
          <p:cNvPr id="12" name="R1_sb376"/>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R1_sl377"/>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child</a:t>
            </a:r>
            <a:endParaRPr lang="en-US" sz="1250" dirty="0"/>
          </a:p>
        </p:txBody>
      </p:sp>
      <p:sp>
        <p:nvSpPr>
          <p:cNvPr id="14" name="R2_sb378"/>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5" name="R2_sl379"/>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into music</a:t>
            </a:r>
            <a:endParaRPr lang="en-US" sz="1250" dirty="0"/>
          </a:p>
        </p:txBody>
      </p:sp>
      <p:sp>
        <p:nvSpPr>
          <p:cNvPr id="16" name="R3_sb380"/>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7" name="R3_sl381"/>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Grandad</a:t>
            </a:r>
            <a:endParaRPr lang="en-US" sz="1250" dirty="0"/>
          </a:p>
        </p:txBody>
      </p:sp>
      <p:sp>
        <p:nvSpPr>
          <p:cNvPr id="18" name="R4_sb382"/>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19" name="R4_sl383"/>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progress</a:t>
            </a:r>
            <a:endParaRPr lang="en-US" sz="1250" dirty="0"/>
          </a:p>
        </p:txBody>
      </p:sp>
      <p:sp>
        <p:nvSpPr>
          <p:cNvPr id="20" name="R5_sb384"/>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1" name="R5_sl385"/>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talent show</a:t>
            </a:r>
            <a:endParaRPr lang="en-US" sz="1250" dirty="0"/>
          </a:p>
        </p:txBody>
      </p:sp>
      <p:sp>
        <p:nvSpPr>
          <p:cNvPr id="22" name="R6_sb386"/>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3" name="R6_sl387"/>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front row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400"/>
                                        <p:tgtEl>
                                          <p:spTgt spid="20"/>
                                        </p:tgtEl>
                                      </p:cBhvr>
                                    </p:animEffect>
                                  </p:childTnLst>
                                </p:cTn>
                              </p:par>
                              <p:par>
                                <p:cTn id="40" presetID="10" presetClass="entr" presetSubtype="0" fill="hold"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4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points</a:t>
            </a:r>
            <a:endParaRPr lang="en-US" sz="2500" dirty="0"/>
          </a:p>
        </p:txBody>
      </p:sp>
      <p:pic>
        <p:nvPicPr>
          <p:cNvPr id="6" name="brP_39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groups of 3. Give reasons!</a:t>
            </a:r>
            <a:endParaRPr lang="en-US" sz="1250" dirty="0"/>
          </a:p>
        </p:txBody>
      </p:sp>
      <p:sp>
        <p:nvSpPr>
          <p:cNvPr id="8" name="insIT_3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in gruppi di 3. Date motivi!</a:t>
            </a:r>
            <a:endParaRPr lang="en-US" sz="950" dirty="0"/>
          </a:p>
        </p:txBody>
      </p:sp>
      <p:sp>
        <p:nvSpPr>
          <p:cNvPr id="9" name="note_39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talking points   ·   📖 SB p.11 · Talking points</a:t>
            </a:r>
            <a:endParaRPr lang="en-US" sz="800" dirty="0"/>
          </a:p>
        </p:txBody>
      </p:sp>
      <p:sp>
        <p:nvSpPr>
          <p:cNvPr id="12" name="cd_397"/>
          <p:cNvSpPr/>
          <p:nvPr/>
        </p:nvSpPr>
        <p:spPr>
          <a:xfrm>
            <a:off x="320040" y="1417320"/>
            <a:ext cx="2788920" cy="2326640"/>
          </a:xfrm>
          <a:prstGeom prst="roundRect">
            <a:avLst>
              <a:gd name="adj" fmla="val 550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400"/>
          <p:cNvSpPr/>
          <p:nvPr/>
        </p:nvSpPr>
        <p:spPr>
          <a:xfrm>
            <a:off x="886968" y="1911096"/>
            <a:ext cx="2130552" cy="17597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spend time with…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We're both into…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it's important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best friend and I are different, but…</a:t>
            </a:r>
            <a:endParaRPr lang="en-US" sz="1150" dirty="0"/>
          </a:p>
        </p:txBody>
      </p:sp>
      <p:sp>
        <p:nvSpPr>
          <p:cNvPr id="16" name="R1_qb4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4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 would you most like to spend time with – Alfie, Lucas or Grace?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 she's cheerful and we're both into sport.</a:t>
            </a:r>
            <a:endParaRPr lang="en-US" sz="950" dirty="0"/>
          </a:p>
        </p:txBody>
      </p:sp>
      <p:sp>
        <p:nvSpPr>
          <p:cNvPr id="18" name="R2_qb4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4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Class vote! Hands up: Alfie? Lucas? Grace?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won: 6 votes!</a:t>
            </a:r>
            <a:endParaRPr lang="en-US" sz="950" dirty="0"/>
          </a:p>
        </p:txBody>
      </p:sp>
      <p:sp>
        <p:nvSpPr>
          <p:cNvPr id="20" name="R3_qb4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4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important to have the same interests as your friends?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my best friend hates football, but we always have fun.</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0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1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note_413"/>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Exit · what can you remember?</a:t>
            </a:r>
            <a:endParaRPr lang="en-US" sz="800" dirty="0"/>
          </a:p>
        </p:txBody>
      </p:sp>
      <p:sp>
        <p:nvSpPr>
          <p:cNvPr id="12" name="bd_41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1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to describe what someone looks like.</a:t>
            </a:r>
            <a:endParaRPr lang="en-US" sz="1400" dirty="0"/>
          </a:p>
        </p:txBody>
      </p:sp>
      <p:sp>
        <p:nvSpPr>
          <p:cNvPr id="14" name="bd_41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1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personality adjectives and their opposites.</a:t>
            </a:r>
            <a:endParaRPr lang="en-US" sz="1400" dirty="0"/>
          </a:p>
        </p:txBody>
      </p:sp>
      <p:sp>
        <p:nvSpPr>
          <p:cNvPr id="16" name="bd_42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2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you're into – and 1 thing you're making progress in.</a:t>
            </a:r>
            <a:endParaRPr lang="en-US" sz="1400" dirty="0"/>
          </a:p>
        </p:txBody>
      </p:sp>
      <p:sp>
        <p:nvSpPr>
          <p:cNvPr id="18" name="cd_422"/>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2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2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25"/>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p.4: exercises 1–4 (describing people)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p.5: read 'Birth order', exercises 1–4</a:t>
            </a:r>
            <a:endParaRPr lang="en-US" sz="1150" dirty="0"/>
          </a:p>
        </p:txBody>
      </p:sp>
      <p:sp>
        <p:nvSpPr>
          <p:cNvPr id="22" name="st_426"/>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present simple and continuous (SB p.12)</a:t>
            </a:r>
            <a:endParaRPr lang="en-US" sz="1100" dirty="0"/>
          </a:p>
        </p:txBody>
      </p:sp>
    </p:spTree>
  </p:cSld>
  <p:clrMapOvr>
    <a:masterClrMapping/>
  </p:clrMapOvr>
  <p:transition spd="med">
    <p:push dir="l"/>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2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2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3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3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3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Review · what did you do today?</a:t>
            </a:r>
            <a:endParaRPr lang="en-US" sz="800" dirty="0"/>
          </a:p>
        </p:txBody>
      </p:sp>
      <p:sp>
        <p:nvSpPr>
          <p:cNvPr id="12" name="cd_436"/>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37"/>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38"/>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look like</a:t>
            </a:r>
            <a:endParaRPr lang="en-US" sz="1350" dirty="0"/>
          </a:p>
        </p:txBody>
      </p:sp>
      <p:sp>
        <p:nvSpPr>
          <p:cNvPr id="15" name="R1_tk439"/>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40"/>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41"/>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42"/>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personality adjectives + opposites</a:t>
            </a:r>
            <a:endParaRPr lang="en-US" sz="1350" dirty="0"/>
          </a:p>
        </p:txBody>
      </p:sp>
      <p:sp>
        <p:nvSpPr>
          <p:cNvPr id="19" name="R2_tk443"/>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44"/>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45"/>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46"/>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three online profiles</a:t>
            </a:r>
            <a:endParaRPr lang="en-US" sz="1350" dirty="0"/>
          </a:p>
        </p:txBody>
      </p:sp>
      <p:sp>
        <p:nvSpPr>
          <p:cNvPr id="23" name="R3_tk447"/>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48"/>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49"/>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50"/>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useful phrases from the texts</a:t>
            </a:r>
            <a:endParaRPr lang="en-US" sz="1350" dirty="0"/>
          </a:p>
        </p:txBody>
      </p:sp>
      <p:sp>
        <p:nvSpPr>
          <p:cNvPr id="27" name="R4_tk451"/>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452"/>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453"/>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454"/>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class story and described your friends</a:t>
            </a:r>
            <a:endParaRPr lang="en-US" sz="1350" dirty="0"/>
          </a:p>
        </p:txBody>
      </p:sp>
      <p:sp>
        <p:nvSpPr>
          <p:cNvPr id="31" name="R5_tk455"/>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45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 All about me</dc:title>
  <dc:subject>PptxGenJS Presentation</dc:subject>
  <dc:creator>PptxGenJS</dc:creator>
  <cp:lastModifiedBy>PptxGenJS</cp:lastModifiedBy>
  <cp:revision>1</cp:revision>
  <dcterms:created xsi:type="dcterms:W3CDTF">2026-10-21T09:56:11Z</dcterms:created>
  <dcterms:modified xsi:type="dcterms:W3CDTF">2026-10-21T09:56:11Z</dcterms:modified>
</cp:coreProperties>
</file>