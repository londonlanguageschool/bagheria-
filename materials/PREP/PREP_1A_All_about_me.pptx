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SB 'About you'. Ask both questions; point out that Q1 = appearance (looks), Q2 = personality. Model with yourself first (click: the example answer). Take 3–4 answers – don't correct much yet, just collect words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words you know (4 min)
WARMER (4 min) – TB warmer, made into a team race. Read the round title; teams have 30 seconds to write words on paper. Click: example words. Teams read their lists: a correctly spelt word = 1 point; using it in a sentence ('My dad has got curly hair') = 1 more point. Write good words on the board – you'll use them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describing people (looks) (4 min)
KEY WORDS (4 min). SB ex.2. Two levels: strong students explain each word in English; others say the Italian. Click 1 = English meaning, click 2 = Italian. Drill: bald /bɔːld/, curly /ˈkɜːli/, straight /streɪt/, thirties /ˈθɜːtiz/. Then SB table: Age = elderly, middle-aged, teenage, in his/her (early/late) twenties/thirties · Looks = attractive, good-looking, handsome, pretty · Hair = bald, blonde, curly, dark, fair, straight.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describe and guess (4 min)
SPEAKING (4 min). SB ex.3. Model with the class first (line 1). Then pairs: A describes a person in the photos, B guesses. Swap. Line 4 (challenge): describe a classmate – keep it kind! Listen for has got + hair word order: 'long straight dark hair' (length → type →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adjectives (5 min)
PERSONALITY ADJECTIVES (5 min). SB ex.4 – the descriptions are on the slide. Pairs choose; click once per item: the answer highlighted. Key (TB): 1 polite 2 funny 3 friendly 4 careless 5 miserable 6 confident. No audio: instead of 'listen and check', ask 'Which words in the sentence helped you?' (says please → polite; always smiling → not miserable). Check other adjectives in the texts: clever, great, lazy, untidy.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opposites (4 min)
OPPOSITES (4 min). SB ex.5 as a quick team game. Say the word on the left; the first team to say the opposite gets a point; a correct sentence gets a second point. Click: the answer + an example. Key (TB): careful–careless, cheerful–miserable, rude–polite, serious–funny, shy–confident, unfriendly–friendly. Drill: miserable /ˈmɪzrəbl/.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describe a person (4 min)
SPEAKING (4 min). SB ex.6–7. Model first: describe yourself (line 1), then describe a famous person the class knows and let them guess. Pairs: looks + personality, 2 yes/no questions, then a guess. Push for 'quite / really / a bit +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lead-in (2 min)
LEAD-IN (2 min). SB Reading ex.1 – the website text is in question 1. Quick discussion: privacy is a good point to raise ('Would you post your photo?'). Then: 'Three students posted profiles – Lucas, Grace and Alfie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gist (top-down) (4 min)
GIST (4 min). SB Reading ex.2 – the profiles are on the slides, no books. 2 minutes: read fast, match each person to ONE interest (one interest is extra). Click: the answer. Ask: 'Which words tell you?' (Lucas: computers and gaming, code · Grace: sport, hockey, football, tennis). TB answers: Lucas – technology, Grace – fitness, Alfie – going to the cinema.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open cloze (B1 Preliminary Reading Part 6) (5 min)
OPEN CLOZE (5 min). SB Reading ex.3 = B1 Preliminary for Schools Reading Part 6. Do gap 1 together: 'but I ___ be quite serious' – a word before a base form → a modal verb (can). Pairs do 2–6. Click 1 = Alfie's interest (cinema), then one click per gap: the word appears in the text. Key (TB): 1 can (modal verb) 2 of (preposition) 3 them (pronoun) 4 in (preposition) 5 one (pronoun) 6 to (part of the infinitive). Weaker students: tell them the TYPE of word for each gap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(scanning) (4 min)
DETAIL (4 min). SB Reading ex.4. Pairs find the person AND the words that prove it (they can go back to the two text slides). Click once per line: the name + the words from the text. Always ask: 'Where does it say that?' Key (TB): 1 Alfie 2 Grace 3 Lucas 4 Grace 5 Alfie 6 Lucas.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useful phrases from the texts (3 min)
USEFUL PHRASES (3 min). SB Reading ex.5. Pairs scan for the phrase that matches each meaning. Click: the full sentence from the text, phrase highlighted. Key (TB): 1 take part 2 make progress 3 only child 4 code 5 be into (something) 6 patient. Fast finishers (TB): choose 3 phrases and write a sentence about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you READ it, line by line (click). Ask the grey questions round the class: easy facts first, then personal questions. Let students change details ('Is it the guitar? The drums?') and use their ideas. The highlighted phrases are today's phrases from the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retell (TPRS) (3 min)
RETELL (3 min). Only one word per line. A tells lines 1–3, B tells 4–6, then swap. Challenge: tell it as Marco ('I'm an only child…') or add one new detail to each line. Listen for: I'm into / I'm taking part in / I'm making progress (present continuous for now – next lesson's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talking points (4 min)
TALKING POINTS (4 min). TB: class vote first (line 2), then groups discuss the second question. Monitor and give positive feedback on good ideas; note 2–3 mistakes for the board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EXIT (2 min). Pairs, books closed.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Prepare · Unit 1 · SB pp.10–11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All about me</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Describing people · online profiles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what people look like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personality adjectives + opposites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three online profiles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useful phrases from the texts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tell a class story and describe your friends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I've got short dark hair. I'm quite friendly, but a bit shy.</a:t>
            </a:r>
            <a:endParaRPr lang="en-US" sz="1000" dirty="0"/>
          </a:p>
        </p:txBody>
      </p:sp>
      <p:sp>
        <p:nvSpPr>
          <p:cNvPr id="14" name="pf_12"/>
          <p:cNvSpPr/>
          <p:nvPr/>
        </p:nvSpPr>
        <p:spPr>
          <a:xfrm rot="90000">
            <a:off x="4846320" y="1474151"/>
            <a:ext cx="3977640" cy="1806579"/>
          </a:xfrm>
          <a:prstGeom prst="roundRect">
            <a:avLst>
              <a:gd name="adj" fmla="val 860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prep1_families_jpg_935x413_31.png">    </p:cNvPr>
          <p:cNvPicPr>
            <a:picLocks noChangeAspect="1"/>
          </p:cNvPicPr>
          <p:nvPr/>
        </p:nvPicPr>
        <p:blipFill>
          <a:blip r:embed="rId4"/>
          <a:stretch>
            <a:fillRect/>
          </a:stretch>
        </p:blipFill>
        <p:spPr>
          <a:xfrm rot="90000">
            <a:off x="4892040" y="1519871"/>
            <a:ext cx="3886200" cy="1715139"/>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do you look like? What type of person are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30-second word race</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1"/>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30 seconds! How many words can you write?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30 secondi! Quante parole sapete scrivere?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Warmer · words you know   ·   📖 TB p.17 · warmer</a:t>
            </a:r>
            <a:endParaRPr lang="en-US" sz="800" dirty="0"/>
          </a:p>
        </p:txBody>
      </p:sp>
      <p:sp>
        <p:nvSpPr>
          <p:cNvPr id="14" name="cd_28"/>
          <p:cNvSpPr/>
          <p:nvPr/>
        </p:nvSpPr>
        <p:spPr>
          <a:xfrm>
            <a:off x="320040" y="1417320"/>
            <a:ext cx="2697480" cy="1645920"/>
          </a:xfrm>
          <a:prstGeom prst="roundRect">
            <a:avLst>
              <a:gd name="adj" fmla="val 77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0789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Spell it right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it in a sentence = 1 more point!</a:t>
            </a:r>
            <a:endParaRPr lang="en-US" sz="1200" dirty="0"/>
          </a:p>
        </p:txBody>
      </p:sp>
      <p:sp>
        <p:nvSpPr>
          <p:cNvPr id="18" name="st_32"/>
          <p:cNvSpPr/>
          <p:nvPr/>
        </p:nvSpPr>
        <p:spPr>
          <a:xfrm rot="-180000">
            <a:off x="502920" y="32461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4"/>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HAIR</a:t>
            </a:r>
            <a:endParaRPr lang="en-US" sz="1250" dirty="0"/>
          </a:p>
        </p:txBody>
      </p:sp>
      <p:sp>
        <p:nvSpPr>
          <p:cNvPr id="21" name="chip_35"/>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long, short, dark, blonde, curly, straight…</a:t>
            </a:r>
            <a:endParaRPr lang="en-US" sz="1200" dirty="0"/>
          </a:p>
        </p:txBody>
      </p:sp>
      <p:sp>
        <p:nvSpPr>
          <p:cNvPr id="22" name="bd_36"/>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7"/>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AGE</a:t>
            </a:r>
            <a:endParaRPr lang="en-US" sz="1250" dirty="0"/>
          </a:p>
        </p:txBody>
      </p:sp>
      <p:sp>
        <p:nvSpPr>
          <p:cNvPr id="24" name="R1_chip38"/>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young, old, teenage, middle-aged…</a:t>
            </a:r>
            <a:endParaRPr lang="en-US" sz="1200" dirty="0"/>
          </a:p>
        </p:txBody>
      </p:sp>
      <p:sp>
        <p:nvSpPr>
          <p:cNvPr id="25" name="bd_39"/>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0"/>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PERSONALITY</a:t>
            </a:r>
            <a:endParaRPr lang="en-US" sz="1250" dirty="0"/>
          </a:p>
        </p:txBody>
      </p:sp>
      <p:sp>
        <p:nvSpPr>
          <p:cNvPr id="27" name="R2_chip41"/>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funny, shy, kind, lazy…</a:t>
            </a:r>
            <a:endParaRPr lang="en-US" sz="1200" dirty="0"/>
          </a:p>
        </p:txBody>
      </p:sp>
      <p:sp>
        <p:nvSpPr>
          <p:cNvPr id="28" name="bd_42"/>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your FAMILY</a:t>
            </a:r>
            <a:endParaRPr lang="en-US" sz="1250" dirty="0"/>
          </a:p>
        </p:txBody>
      </p:sp>
      <p:sp>
        <p:nvSpPr>
          <p:cNvPr id="30" name="R3_chip44"/>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mum, dad, brother, sister, cousin, aunt…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look like?</a:t>
            </a:r>
            <a:endParaRPr lang="en-US" sz="2500" dirty="0"/>
          </a:p>
        </p:txBody>
      </p:sp>
      <p:pic>
        <p:nvPicPr>
          <p:cNvPr id="6" name="brP_4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5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5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describing people (looks)   ·   📖 SB p.10 · 2</a:t>
            </a:r>
            <a:endParaRPr lang="en-US" sz="800" dirty="0"/>
          </a:p>
        </p:txBody>
      </p:sp>
      <p:sp>
        <p:nvSpPr>
          <p:cNvPr id="14" name="cd_56"/>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5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5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bald</a:t>
            </a:r>
            <a:endParaRPr lang="en-US" sz="1200" dirty="0"/>
          </a:p>
        </p:txBody>
      </p:sp>
      <p:sp>
        <p:nvSpPr>
          <p:cNvPr id="17" name="R1_def59"/>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no hair on your head</a:t>
            </a:r>
            <a:endParaRPr lang="en-US" sz="850" dirty="0"/>
          </a:p>
        </p:txBody>
      </p:sp>
      <p:sp>
        <p:nvSpPr>
          <p:cNvPr id="18" name="R2_it60"/>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calvo</a:t>
            </a:r>
            <a:endParaRPr lang="en-US" sz="900" dirty="0"/>
          </a:p>
        </p:txBody>
      </p:sp>
      <p:sp>
        <p:nvSpPr>
          <p:cNvPr id="19" name="cd_61"/>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6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6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curly hair</a:t>
            </a:r>
            <a:endParaRPr lang="en-US" sz="1200" dirty="0"/>
          </a:p>
        </p:txBody>
      </p:sp>
      <p:sp>
        <p:nvSpPr>
          <p:cNvPr id="22" name="R3_def64"/>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lots of curls</a:t>
            </a:r>
            <a:endParaRPr lang="en-US" sz="850" dirty="0"/>
          </a:p>
        </p:txBody>
      </p:sp>
      <p:sp>
        <p:nvSpPr>
          <p:cNvPr id="23" name="R4_it65"/>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ricci</a:t>
            </a:r>
            <a:endParaRPr lang="en-US" sz="900" dirty="0"/>
          </a:p>
        </p:txBody>
      </p:sp>
      <p:sp>
        <p:nvSpPr>
          <p:cNvPr id="24" name="cd_66"/>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6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6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straight hair</a:t>
            </a:r>
            <a:endParaRPr lang="en-US" sz="1200" dirty="0"/>
          </a:p>
        </p:txBody>
      </p:sp>
      <p:sp>
        <p:nvSpPr>
          <p:cNvPr id="27" name="R5_def69"/>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no curls</a:t>
            </a:r>
            <a:endParaRPr lang="en-US" sz="850" dirty="0"/>
          </a:p>
        </p:txBody>
      </p:sp>
      <p:sp>
        <p:nvSpPr>
          <p:cNvPr id="28" name="R6_it70"/>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lisci</a:t>
            </a:r>
            <a:endParaRPr lang="en-US" sz="900" dirty="0"/>
          </a:p>
        </p:txBody>
      </p:sp>
      <p:sp>
        <p:nvSpPr>
          <p:cNvPr id="29" name="cd_71"/>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7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7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fair hair</a:t>
            </a:r>
            <a:endParaRPr lang="en-US" sz="1200" dirty="0"/>
          </a:p>
        </p:txBody>
      </p:sp>
      <p:sp>
        <p:nvSpPr>
          <p:cNvPr id="32" name="R7_def74"/>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light-coloured hair</a:t>
            </a:r>
            <a:endParaRPr lang="en-US" sz="850" dirty="0"/>
          </a:p>
        </p:txBody>
      </p:sp>
      <p:sp>
        <p:nvSpPr>
          <p:cNvPr id="33" name="R8_it75"/>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chiari, biondi</a:t>
            </a:r>
            <a:endParaRPr lang="en-US" sz="900" dirty="0"/>
          </a:p>
        </p:txBody>
      </p:sp>
      <p:sp>
        <p:nvSpPr>
          <p:cNvPr id="34" name="cd_76"/>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77"/>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78"/>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elderly</a:t>
            </a:r>
            <a:endParaRPr lang="en-US" sz="1200" dirty="0"/>
          </a:p>
        </p:txBody>
      </p:sp>
      <p:sp>
        <p:nvSpPr>
          <p:cNvPr id="37" name="R9_def79"/>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old (a polite word)</a:t>
            </a:r>
            <a:endParaRPr lang="en-US" sz="850" dirty="0"/>
          </a:p>
        </p:txBody>
      </p:sp>
      <p:sp>
        <p:nvSpPr>
          <p:cNvPr id="38" name="R10_it80"/>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anziano</a:t>
            </a:r>
            <a:endParaRPr lang="en-US" sz="900" dirty="0"/>
          </a:p>
        </p:txBody>
      </p:sp>
      <p:sp>
        <p:nvSpPr>
          <p:cNvPr id="39" name="cd_81"/>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82"/>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83"/>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middle-aged</a:t>
            </a:r>
            <a:endParaRPr lang="en-US" sz="1200" dirty="0"/>
          </a:p>
        </p:txBody>
      </p:sp>
      <p:sp>
        <p:nvSpPr>
          <p:cNvPr id="42" name="R11_def84"/>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45 to 60 years old</a:t>
            </a:r>
            <a:endParaRPr lang="en-US" sz="850" dirty="0"/>
          </a:p>
        </p:txBody>
      </p:sp>
      <p:sp>
        <p:nvSpPr>
          <p:cNvPr id="43" name="R12_it85"/>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mezza età</a:t>
            </a:r>
            <a:endParaRPr lang="en-US" sz="900" dirty="0"/>
          </a:p>
        </p:txBody>
      </p:sp>
      <p:sp>
        <p:nvSpPr>
          <p:cNvPr id="44" name="cd_86"/>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87"/>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88"/>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in his early twenties</a:t>
            </a:r>
            <a:endParaRPr lang="en-US" sz="1000" dirty="0"/>
          </a:p>
        </p:txBody>
      </p:sp>
      <p:sp>
        <p:nvSpPr>
          <p:cNvPr id="47" name="R13_def89"/>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20 to 23 years old</a:t>
            </a:r>
            <a:endParaRPr lang="en-US" sz="850" dirty="0"/>
          </a:p>
        </p:txBody>
      </p:sp>
      <p:sp>
        <p:nvSpPr>
          <p:cNvPr id="48" name="R14_it90"/>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sui vent'anni</a:t>
            </a:r>
            <a:endParaRPr lang="en-US" sz="900" dirty="0"/>
          </a:p>
        </p:txBody>
      </p:sp>
      <p:sp>
        <p:nvSpPr>
          <p:cNvPr id="49" name="cd_91"/>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92"/>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93"/>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good-looking</a:t>
            </a:r>
            <a:endParaRPr lang="en-US" sz="1200" dirty="0"/>
          </a:p>
        </p:txBody>
      </p:sp>
      <p:sp>
        <p:nvSpPr>
          <p:cNvPr id="52" name="R15_def94"/>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attractive (men and women)</a:t>
            </a:r>
            <a:endParaRPr lang="en-US" sz="850" dirty="0"/>
          </a:p>
        </p:txBody>
      </p:sp>
      <p:sp>
        <p:nvSpPr>
          <p:cNvPr id="53" name="R16_it95"/>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bell'aspetto</a:t>
            </a:r>
            <a:endParaRPr lang="en-US" sz="900" dirty="0"/>
          </a:p>
        </p:txBody>
      </p:sp>
      <p:sp>
        <p:nvSpPr>
          <p:cNvPr id="54" name="R17_wc96"/>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97"/>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handsome = for men  ·  pretty = for girls and women  ·  fair hair = blonde, not 'fiera'  ·  bald /bɔːld/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0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it?</a:t>
            </a:r>
            <a:endParaRPr lang="en-US" sz="2500" dirty="0"/>
          </a:p>
        </p:txBody>
      </p:sp>
      <p:pic>
        <p:nvPicPr>
          <p:cNvPr id="6" name="brP_10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0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in the photo. Your partner guesses who it is.</a:t>
            </a:r>
            <a:endParaRPr lang="en-US" sz="1100" dirty="0"/>
          </a:p>
        </p:txBody>
      </p:sp>
      <p:sp>
        <p:nvSpPr>
          <p:cNvPr id="8" name="insIT_1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una persona nella foto. Il compagno indovina chi è.</a:t>
            </a:r>
            <a:endParaRPr lang="en-US" sz="950" dirty="0"/>
          </a:p>
        </p:txBody>
      </p:sp>
      <p:sp>
        <p:nvSpPr>
          <p:cNvPr id="9" name="cmd_10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LOOK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10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0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and guess   ·   📖 SB p.10 · 3</a:t>
            </a:r>
            <a:endParaRPr lang="en-US" sz="800" dirty="0"/>
          </a:p>
        </p:txBody>
      </p:sp>
      <p:sp>
        <p:nvSpPr>
          <p:cNvPr id="14" name="pf_109"/>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10" descr="/home/claude/lls-course/v2/cache/prep1_familie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111"/>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1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1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14"/>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 … hair.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in his / her …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middle-aged.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quite good-looking.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 the … ?</a:t>
            </a:r>
            <a:endParaRPr lang="en-US" sz="1150" dirty="0"/>
          </a:p>
        </p:txBody>
      </p:sp>
      <p:sp>
        <p:nvSpPr>
          <p:cNvPr id="20" name="R1_qb11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1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Model: describe one person. The class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a teenage boy and he's good-looking. – Is it Alfie?</a:t>
            </a:r>
            <a:endParaRPr lang="en-US" sz="950" dirty="0"/>
          </a:p>
        </p:txBody>
      </p:sp>
      <p:sp>
        <p:nvSpPr>
          <p:cNvPr id="22" name="R2_qb11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1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describes, B guesses. Use 2 words from the last slide!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middle-aged and she's got long fair hair. – Is it Grace's mum?</a:t>
            </a:r>
            <a:endParaRPr lang="en-US" sz="950" dirty="0"/>
          </a:p>
        </p:txBody>
      </p:sp>
      <p:sp>
        <p:nvSpPr>
          <p:cNvPr id="24" name="R3_qb11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2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Swap! B describes, A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got short dark hair and he's in his forties.</a:t>
            </a:r>
            <a:endParaRPr lang="en-US" sz="950" dirty="0"/>
          </a:p>
        </p:txBody>
      </p:sp>
      <p:sp>
        <p:nvSpPr>
          <p:cNvPr id="26" name="R4_qb121"/>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22"/>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describe someone in the CLASS. Don't say their name!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long straight hair and she's always smiling.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2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Polite or careless?</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27"/>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correct adjective. Say the full sentence.</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l'aggettivo giusto. Di' la frase intera.</a:t>
            </a:r>
            <a:endParaRPr lang="en-US" sz="950" dirty="0"/>
          </a:p>
        </p:txBody>
      </p:sp>
      <p:sp>
        <p:nvSpPr>
          <p:cNvPr id="9" name="cmd_12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endParaRPr lang="en-US" sz="950" dirty="0"/>
          </a:p>
        </p:txBody>
      </p:sp>
      <p:sp>
        <p:nvSpPr>
          <p:cNvPr id="10" name="meta_13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3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personality adjectives   ·   📖 SB p.10 · 4 (no audio – check on the slide)</a:t>
            </a:r>
            <a:endParaRPr lang="en-US" sz="800" dirty="0"/>
          </a:p>
        </p:txBody>
      </p:sp>
      <p:sp>
        <p:nvSpPr>
          <p:cNvPr id="14" name="bd_134"/>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135"/>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think Lucas is really polite / careless. When he wants to borrow something, he always says please.</a:t>
            </a:r>
            <a:endParaRPr lang="en-US" sz="900" dirty="0"/>
          </a:p>
        </p:txBody>
      </p:sp>
      <p:sp>
        <p:nvSpPr>
          <p:cNvPr id="16" name="R1_chip136"/>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 think Lucas is really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polite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He always says please.</a:t>
            </a:r>
            <a:endParaRPr lang="en-US" sz="1150" dirty="0"/>
          </a:p>
        </p:txBody>
      </p:sp>
      <p:sp>
        <p:nvSpPr>
          <p:cNvPr id="17" name="bd_137"/>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138"/>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My brother's called Alfie. He takes my things without asking. He thinks he's funny / polite, but he doesn't make me laugh!</a:t>
            </a:r>
            <a:endParaRPr lang="en-US" sz="850" dirty="0"/>
          </a:p>
        </p:txBody>
      </p:sp>
      <p:sp>
        <p:nvSpPr>
          <p:cNvPr id="19" name="R2_chip139"/>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thinks he's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funny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but he doesn't make me laugh!</a:t>
            </a:r>
            <a:endParaRPr lang="en-US" sz="1150" dirty="0"/>
          </a:p>
        </p:txBody>
      </p:sp>
      <p:sp>
        <p:nvSpPr>
          <p:cNvPr id="20" name="bd_140"/>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141"/>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very miserable / friendly. I see her every morning on her way to school. She always says hello.</a:t>
            </a:r>
            <a:endParaRPr lang="en-US" sz="900" dirty="0"/>
          </a:p>
        </p:txBody>
      </p:sp>
      <p:sp>
        <p:nvSpPr>
          <p:cNvPr id="22" name="R3_chip142"/>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Grace is very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friendly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She always says hello.</a:t>
            </a:r>
            <a:endParaRPr lang="en-US" sz="1150" dirty="0"/>
          </a:p>
        </p:txBody>
      </p:sp>
      <p:sp>
        <p:nvSpPr>
          <p:cNvPr id="23" name="bd_143"/>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144"/>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Alfie talks a lot – like his mum! He's sometimes a bit confident / careless with homework. He doesn't always check it.</a:t>
            </a:r>
            <a:endParaRPr lang="en-US" sz="850" dirty="0"/>
          </a:p>
        </p:txBody>
      </p:sp>
      <p:sp>
        <p:nvSpPr>
          <p:cNvPr id="25" name="R4_chip145"/>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sometimes a bit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careless</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with homework.</a:t>
            </a:r>
            <a:endParaRPr lang="en-US" sz="1150" dirty="0"/>
          </a:p>
        </p:txBody>
      </p:sp>
      <p:sp>
        <p:nvSpPr>
          <p:cNvPr id="26" name="bd_146"/>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147"/>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a great friend. She's always smiling, and she's never miserable / polite. She really makes me laugh.</a:t>
            </a:r>
            <a:endParaRPr lang="en-US" sz="900" dirty="0"/>
          </a:p>
        </p:txBody>
      </p:sp>
      <p:sp>
        <p:nvSpPr>
          <p:cNvPr id="28" name="R5_chip148"/>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She's always smiling, and she's never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miserable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bd_149"/>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150"/>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Lucas knows what he's good at, so he's quite a careless / confident boy. His room is always really untidy!</a:t>
            </a:r>
            <a:endParaRPr lang="en-US" sz="900" dirty="0"/>
          </a:p>
        </p:txBody>
      </p:sp>
      <p:sp>
        <p:nvSpPr>
          <p:cNvPr id="31" name="R6_chip151"/>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quite a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confident</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boy.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Opposites ping-pong</a:t>
            </a:r>
            <a:endParaRPr lang="en-US" sz="2400" dirty="0"/>
          </a:p>
        </p:txBody>
      </p:sp>
      <p:pic>
        <p:nvPicPr>
          <p:cNvPr id="6" name="brP_15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5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opposite – then use it in a sentence!</a:t>
            </a:r>
            <a:endParaRPr lang="en-US" sz="1250" dirty="0"/>
          </a:p>
        </p:txBody>
      </p:sp>
      <p:sp>
        <p:nvSpPr>
          <p:cNvPr id="8" name="insIT_1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contrario – poi usalo in una frase!</a:t>
            </a:r>
            <a:endParaRPr lang="en-US" sz="950" dirty="0"/>
          </a:p>
        </p:txBody>
      </p:sp>
      <p:sp>
        <p:nvSpPr>
          <p:cNvPr id="9" name="cmd_158"/>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15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16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1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opposites   ·   📖 SB p.10 · 5</a:t>
            </a:r>
            <a:endParaRPr lang="en-US" sz="800" dirty="0"/>
          </a:p>
        </p:txBody>
      </p:sp>
      <p:sp>
        <p:nvSpPr>
          <p:cNvPr id="14" name="cd_163"/>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6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66"/>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Teacher says a word. Your team says the OPPOSITE.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Opposite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sentence with it = 1 more point!</a:t>
            </a:r>
            <a:endParaRPr lang="en-US" sz="1200" dirty="0"/>
          </a:p>
        </p:txBody>
      </p:sp>
      <p:sp>
        <p:nvSpPr>
          <p:cNvPr id="18" name="st_167"/>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168"/>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169"/>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careful</a:t>
            </a:r>
            <a:endParaRPr lang="en-US" sz="1250" dirty="0"/>
          </a:p>
        </p:txBody>
      </p:sp>
      <p:sp>
        <p:nvSpPr>
          <p:cNvPr id="21" name="chip_170"/>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careless – 'He's careless with his homework.'</a:t>
            </a:r>
            <a:endParaRPr lang="en-US" sz="1200" dirty="0"/>
          </a:p>
        </p:txBody>
      </p:sp>
      <p:sp>
        <p:nvSpPr>
          <p:cNvPr id="22" name="bd_171"/>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172"/>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cheerful</a:t>
            </a:r>
            <a:endParaRPr lang="en-US" sz="1250" dirty="0"/>
          </a:p>
        </p:txBody>
      </p:sp>
      <p:sp>
        <p:nvSpPr>
          <p:cNvPr id="24" name="R1_chip173"/>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miserable – 'She's never miserable.'</a:t>
            </a:r>
            <a:endParaRPr lang="en-US" sz="1200" dirty="0"/>
          </a:p>
        </p:txBody>
      </p:sp>
      <p:sp>
        <p:nvSpPr>
          <p:cNvPr id="25" name="bd_174"/>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175"/>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rude</a:t>
            </a:r>
            <a:endParaRPr lang="en-US" sz="1250" dirty="0"/>
          </a:p>
        </p:txBody>
      </p:sp>
      <p:sp>
        <p:nvSpPr>
          <p:cNvPr id="27" name="R2_chip176"/>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polite – 'He always says please. He's polite.'</a:t>
            </a:r>
            <a:endParaRPr lang="en-US" sz="1200" dirty="0"/>
          </a:p>
        </p:txBody>
      </p:sp>
      <p:sp>
        <p:nvSpPr>
          <p:cNvPr id="28" name="bd_177"/>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178"/>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serious</a:t>
            </a:r>
            <a:endParaRPr lang="en-US" sz="1250" dirty="0"/>
          </a:p>
        </p:txBody>
      </p:sp>
      <p:sp>
        <p:nvSpPr>
          <p:cNvPr id="30" name="R3_chip179"/>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funny – 'My dad is really funny.'</a:t>
            </a:r>
            <a:endParaRPr lang="en-US" sz="1200" dirty="0"/>
          </a:p>
        </p:txBody>
      </p:sp>
      <p:sp>
        <p:nvSpPr>
          <p:cNvPr id="31" name="bd_180"/>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181"/>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shy</a:t>
            </a:r>
            <a:endParaRPr lang="en-US" sz="1250" dirty="0"/>
          </a:p>
        </p:txBody>
      </p:sp>
      <p:sp>
        <p:nvSpPr>
          <p:cNvPr id="33" name="R4_chip182"/>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confident – 'She's confident in English class.'</a:t>
            </a:r>
            <a:endParaRPr lang="en-US" sz="1200" dirty="0"/>
          </a:p>
        </p:txBody>
      </p:sp>
      <p:sp>
        <p:nvSpPr>
          <p:cNvPr id="34" name="bd_183"/>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184"/>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unfriendly</a:t>
            </a:r>
            <a:endParaRPr lang="en-US" sz="1250" dirty="0"/>
          </a:p>
        </p:txBody>
      </p:sp>
      <p:sp>
        <p:nvSpPr>
          <p:cNvPr id="36" name="R5_chip185"/>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 'Our neighbours are very friendly.'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8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who!</a:t>
            </a:r>
            <a:endParaRPr lang="en-US" sz="25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you both know: looks AND personality. Your partner guesses!</a:t>
            </a:r>
            <a:endParaRPr lang="en-US" sz="1100" dirty="0"/>
          </a:p>
        </p:txBody>
      </p:sp>
      <p:sp>
        <p:nvSpPr>
          <p:cNvPr id="8" name="insIT_1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Descrivi una persona che conoscete: aspetto E carattere. Il compagno indovina!</a:t>
            </a:r>
            <a:endParaRPr lang="en-US" sz="900" dirty="0"/>
          </a:p>
        </p:txBody>
      </p:sp>
      <p:sp>
        <p:nvSpPr>
          <p:cNvPr id="9" name="cmd_1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 person   ·   📖 SB p.10 · 6, 7</a:t>
            </a:r>
            <a:endParaRPr lang="en-US" sz="800" dirty="0"/>
          </a:p>
        </p:txBody>
      </p:sp>
      <p:sp>
        <p:nvSpPr>
          <p:cNvPr id="14" name="cd_197"/>
          <p:cNvSpPr/>
          <p:nvPr/>
        </p:nvSpPr>
        <p:spPr>
          <a:xfrm>
            <a:off x="320040" y="1417320"/>
            <a:ext cx="2788920" cy="2215896"/>
          </a:xfrm>
          <a:prstGeom prst="roundRect">
            <a:avLst>
              <a:gd name="adj" fmla="val 57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00"/>
          <p:cNvSpPr/>
          <p:nvPr/>
        </p:nvSpPr>
        <p:spPr>
          <a:xfrm>
            <a:off x="886968" y="1911096"/>
            <a:ext cx="2130552" cy="1648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quite / really…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a bit…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never… / always…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a:t>
            </a:r>
            <a:endParaRPr lang="en-US" sz="1150" dirty="0"/>
          </a:p>
        </p:txBody>
      </p:sp>
      <p:sp>
        <p:nvSpPr>
          <p:cNvPr id="18" name="R1_qb2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adjectives describe YOU? Tell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quite confident, but I'm a bit careless with homework.</a:t>
            </a:r>
            <a:endParaRPr lang="en-US" sz="1050" dirty="0"/>
          </a:p>
        </p:txBody>
      </p:sp>
      <p:sp>
        <p:nvSpPr>
          <p:cNvPr id="20" name="R2_qb2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Think of someone you both know: a teacher, a singer, a footballer…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Don't say the name!</a:t>
            </a:r>
            <a:endParaRPr lang="en-US" sz="1050" dirty="0"/>
          </a:p>
        </p:txBody>
      </p:sp>
      <p:sp>
        <p:nvSpPr>
          <p:cNvPr id="22" name="R3_qb2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Describe their looks AND their personality.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straight dark hair and she's very confident.</a:t>
            </a:r>
            <a:endParaRPr lang="en-US" sz="1050" dirty="0"/>
          </a:p>
        </p:txBody>
      </p:sp>
      <p:sp>
        <p:nvSpPr>
          <p:cNvPr id="24" name="R4_qb20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0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Your partner asks 2 questions, then guesses.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she on TV? … Is it Ana?</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211"/>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Bryans High School: all.about.me</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1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website. Answer the questions.</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sito. Rispondi alle domande.</a:t>
            </a:r>
            <a:endParaRPr lang="en-US" sz="950" dirty="0"/>
          </a:p>
        </p:txBody>
      </p:sp>
      <p:sp>
        <p:nvSpPr>
          <p:cNvPr id="9" name="cmd_2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2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lead-in   ·   📖 SB p.11 · Reading 1</a:t>
            </a:r>
            <a:endParaRPr lang="en-US" sz="800" dirty="0"/>
          </a:p>
        </p:txBody>
      </p:sp>
      <p:sp>
        <p:nvSpPr>
          <p:cNvPr id="14" name="pf_220"/>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21" descr="/home/claude/lls-course/v2/cache/prep1_student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22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22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2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2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we've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we haven't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a good idea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wouldn't use it because…</a:t>
            </a:r>
            <a:endParaRPr lang="en-US" sz="1150" dirty="0"/>
          </a:p>
        </p:txBody>
      </p:sp>
      <p:sp>
        <p:nvSpPr>
          <p:cNvPr id="20" name="R1_qb22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2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Would you like to meet other students who share your hobbies? It's easy with all.about.me: 1 create an account · 2 post a photo and your profile · 3 read about other students and click 'Connect'.</a:t>
            </a:r>
            <a:endParaRPr lang="en-US" sz="7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Sounds fun – I'd look for people who play basketball!</a:t>
            </a:r>
            <a:endParaRPr lang="en-US" sz="700" dirty="0"/>
          </a:p>
        </p:txBody>
      </p:sp>
      <p:sp>
        <p:nvSpPr>
          <p:cNvPr id="22" name="R2_qb22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2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Have you got something similar in your school?</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we haven't. We use WhatsApp groups.</a:t>
            </a:r>
            <a:endParaRPr lang="en-US" sz="900" dirty="0"/>
          </a:p>
        </p:txBody>
      </p:sp>
      <p:sp>
        <p:nvSpPr>
          <p:cNvPr id="24" name="R3_qb23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3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do you think of the idea?</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a good idea – but I wouldn't post my photo.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3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(1)</a:t>
            </a:r>
            <a:endParaRPr lang="en-US" sz="2500" dirty="0"/>
          </a:p>
        </p:txBody>
      </p:sp>
      <p:pic>
        <p:nvPicPr>
          <p:cNvPr id="6" name="brP_23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Lucas and Grace. Which interest is each person's?</a:t>
            </a:r>
            <a:endParaRPr lang="en-US" sz="1250" dirty="0"/>
          </a:p>
        </p:txBody>
      </p:sp>
      <p:sp>
        <p:nvSpPr>
          <p:cNvPr id="8" name="insIT_2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Lucas e Grace. Qual è l'interesse di ciascuno?</a:t>
            </a:r>
            <a:endParaRPr lang="en-US" sz="950" dirty="0"/>
          </a:p>
        </p:txBody>
      </p:sp>
      <p:sp>
        <p:nvSpPr>
          <p:cNvPr id="9" name="cmd_23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4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gist (top-down)   ·   📖 SB p.11 · Reading 2 (the text is on the slide)</a:t>
            </a:r>
            <a:endParaRPr lang="en-US" sz="800" dirty="0"/>
          </a:p>
        </p:txBody>
      </p:sp>
      <p:sp>
        <p:nvSpPr>
          <p:cNvPr id="14" name="cd_24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4"/>
          <p:cNvSpPr/>
          <p:nvPr/>
        </p:nvSpPr>
        <p:spPr>
          <a:xfrm>
            <a:off x="45720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50" dirty="0"/>
          </a:p>
        </p:txBody>
      </p:sp>
      <p:sp>
        <p:nvSpPr>
          <p:cNvPr id="16" name="rd_245"/>
          <p:cNvSpPr/>
          <p:nvPr/>
        </p:nvSpPr>
        <p:spPr>
          <a:xfrm>
            <a:off x="333756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50" dirty="0"/>
          </a:p>
        </p:txBody>
      </p:sp>
      <p:sp>
        <p:nvSpPr>
          <p:cNvPr id="17" name="rdl_246"/>
          <p:cNvSpPr/>
          <p:nvPr/>
        </p:nvSpPr>
        <p:spPr>
          <a:xfrm>
            <a:off x="3200400" y="1600200"/>
            <a:ext cx="0" cy="2999232"/>
          </a:xfrm>
          <a:prstGeom prst="line">
            <a:avLst/>
          </a:prstGeom>
          <a:noFill/>
          <a:ln w="28575">
            <a:solidFill>
              <a:srgbClr val="A8E5BE"/>
            </a:solidFill>
            <a:prstDash val="solid"/>
          </a:ln>
        </p:spPr>
      </p:sp>
      <p:sp>
        <p:nvSpPr>
          <p:cNvPr id="18" name="cd_247"/>
          <p:cNvSpPr/>
          <p:nvPr/>
        </p:nvSpPr>
        <p:spPr>
          <a:xfrm>
            <a:off x="6263640" y="1417320"/>
            <a:ext cx="260604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248"/>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49"/>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Which interest?</a:t>
            </a:r>
            <a:endParaRPr lang="en-US" sz="1300" dirty="0"/>
          </a:p>
        </p:txBody>
      </p:sp>
      <p:sp>
        <p:nvSpPr>
          <p:cNvPr id="21" name="il_250"/>
          <p:cNvSpPr/>
          <p:nvPr/>
        </p:nvSpPr>
        <p:spPr>
          <a:xfrm>
            <a:off x="6830568" y="1911096"/>
            <a:ext cx="194767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going to the cinema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fashion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technology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fitness</a:t>
            </a:r>
            <a:endParaRPr lang="en-US" sz="1150" dirty="0"/>
          </a:p>
        </p:txBody>
      </p:sp>
      <p:sp>
        <p:nvSpPr>
          <p:cNvPr id="22" name="R1_chip251"/>
          <p:cNvSpPr/>
          <p:nvPr/>
        </p:nvSpPr>
        <p:spPr>
          <a:xfrm>
            <a:off x="6263640" y="3320288"/>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Lucas – technology · Grace – fitness (Alfie: next slide!)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5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(2): Alfie</a:t>
            </a:r>
            <a:endParaRPr lang="en-US" sz="2500" dirty="0"/>
          </a:p>
        </p:txBody>
      </p:sp>
      <p:pic>
        <p:nvPicPr>
          <p:cNvPr id="6" name="brP_255"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6"/>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Alfie's profile. Write ONE word in each gap.</a:t>
            </a:r>
            <a:endParaRPr lang="en-US" sz="1250" dirty="0"/>
          </a:p>
        </p:txBody>
      </p:sp>
      <p:sp>
        <p:nvSpPr>
          <p:cNvPr id="8" name="insIT_2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profilo di Alfie. Scrivi UNA parola per ogni spazio.</a:t>
            </a:r>
            <a:endParaRPr lang="en-US" sz="950" dirty="0"/>
          </a:p>
        </p:txBody>
      </p:sp>
      <p:sp>
        <p:nvSpPr>
          <p:cNvPr id="9" name="cmd_25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25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6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Exam practice</a:t>
            </a:r>
            <a:endParaRPr lang="en-US" sz="850" dirty="0"/>
          </a:p>
        </p:txBody>
      </p:sp>
      <p:pic>
        <p:nvPicPr>
          <p:cNvPr id="12" name="logo_2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open cloze (B1 Preliminary Reading Part 6)   ·   📖 SB p.11 · Reading 3 (the text is on the slide)</a:t>
            </a:r>
            <a:endParaRPr lang="en-US" sz="800" dirty="0"/>
          </a:p>
        </p:txBody>
      </p:sp>
      <p:sp>
        <p:nvSpPr>
          <p:cNvPr id="14" name="cd_26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6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6" name="R2_rdA26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7" name="R3_rdA26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8" name="R4_rdA26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9" name="R5_rdA26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0" name="R6_rdA26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1" name="R7_rdA27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(6) to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2" name="cd_271"/>
          <p:cNvSpPr/>
          <p:nvPr/>
        </p:nvSpPr>
        <p:spPr>
          <a:xfrm>
            <a:off x="6263640" y="1417320"/>
            <a:ext cx="2606040" cy="2063496"/>
          </a:xfrm>
          <a:prstGeom prst="roundRect">
            <a:avLst>
              <a:gd name="adj" fmla="val 6204"/>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3" name="ii_272"/>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73"/>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 tip</a:t>
            </a:r>
            <a:endParaRPr lang="en-US" sz="1300" dirty="0"/>
          </a:p>
        </p:txBody>
      </p:sp>
      <p:sp>
        <p:nvSpPr>
          <p:cNvPr id="25" name="il_274"/>
          <p:cNvSpPr/>
          <p:nvPr/>
        </p:nvSpPr>
        <p:spPr>
          <a:xfrm>
            <a:off x="6830568" y="1911096"/>
            <a:ext cx="1947672" cy="14965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words BEFORE and AFTER the gap.</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kind of word? A verb, a preposition, a pronoun…?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Only ONE word!</a:t>
            </a:r>
            <a:endParaRPr lang="en-US" sz="1150" dirty="0"/>
          </a:p>
        </p:txBody>
      </p:sp>
      <p:sp>
        <p:nvSpPr>
          <p:cNvPr id="26" name="R1_chip275"/>
          <p:cNvSpPr/>
          <p:nvPr/>
        </p:nvSpPr>
        <p:spPr>
          <a:xfrm>
            <a:off x="6263640" y="3617976"/>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Alfie's interest: going to the cinema 🎬</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4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7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or Alfie?</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Find the words in the profiles.</a:t>
            </a:r>
            <a:endParaRPr lang="en-US" sz="1250" dirty="0"/>
          </a:p>
        </p:txBody>
      </p:sp>
      <p:sp>
        <p:nvSpPr>
          <p:cNvPr id="8" name="insIT_2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Trova le parole nei profili.</a:t>
            </a:r>
            <a:endParaRPr lang="en-US" sz="950" dirty="0"/>
          </a:p>
        </p:txBody>
      </p:sp>
      <p:sp>
        <p:nvSpPr>
          <p:cNvPr id="9" name="cmd_28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endParaRPr lang="en-US" sz="950" dirty="0"/>
          </a:p>
        </p:txBody>
      </p:sp>
      <p:sp>
        <p:nvSpPr>
          <p:cNvPr id="10" name="meta_28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8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2" name="logo_2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detail (scanning)   ·   📖 SB p.11 · Reading 4</a:t>
            </a:r>
            <a:endParaRPr lang="en-US" sz="800" dirty="0"/>
          </a:p>
        </p:txBody>
      </p:sp>
      <p:sp>
        <p:nvSpPr>
          <p:cNvPr id="14" name="bd_287"/>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88"/>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interested in doing a job related to his / her hobby.</a:t>
            </a:r>
            <a:endParaRPr lang="en-US" sz="950" dirty="0"/>
          </a:p>
        </p:txBody>
      </p:sp>
      <p:sp>
        <p:nvSpPr>
          <p:cNvPr id="16" name="R1_chip289"/>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'One day, I think I'd like to work in film.'</a:t>
            </a:r>
            <a:endParaRPr lang="en-US" sz="1100" dirty="0"/>
          </a:p>
        </p:txBody>
      </p:sp>
      <p:sp>
        <p:nvSpPr>
          <p:cNvPr id="17" name="bd_290"/>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1"/>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looking forward to learning a new activity.</a:t>
            </a:r>
            <a:endParaRPr lang="en-US" sz="950" dirty="0"/>
          </a:p>
        </p:txBody>
      </p:sp>
      <p:sp>
        <p:nvSpPr>
          <p:cNvPr id="19" name="R2_chip292"/>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'I'm going on a kayaking trip… We've never done it before but we're really excited.'</a:t>
            </a:r>
            <a:endParaRPr lang="en-US" sz="1100" dirty="0"/>
          </a:p>
        </p:txBody>
      </p:sp>
      <p:sp>
        <p:nvSpPr>
          <p:cNvPr id="20" name="bd_293"/>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94"/>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learning a new skill with help from a relative.</a:t>
            </a:r>
            <a:endParaRPr lang="en-US" sz="950" dirty="0"/>
          </a:p>
        </p:txBody>
      </p:sp>
      <p:sp>
        <p:nvSpPr>
          <p:cNvPr id="22" name="R3_chip295"/>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'at weekends, I'm learning to code with my aunt.'</a:t>
            </a:r>
            <a:endParaRPr lang="en-US" sz="1100" dirty="0"/>
          </a:p>
        </p:txBody>
      </p:sp>
      <p:sp>
        <p:nvSpPr>
          <p:cNvPr id="23" name="bd_296"/>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297"/>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…agrees with other people about his / her personality.</a:t>
            </a:r>
            <a:endParaRPr lang="en-US" sz="950" dirty="0"/>
          </a:p>
        </p:txBody>
      </p:sp>
      <p:sp>
        <p:nvSpPr>
          <p:cNvPr id="25" name="R4_chip298"/>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'My friends and family say I'm a cheerful person. And they're right.'</a:t>
            </a:r>
            <a:endParaRPr lang="en-US" sz="1100" dirty="0"/>
          </a:p>
        </p:txBody>
      </p:sp>
      <p:sp>
        <p:nvSpPr>
          <p:cNvPr id="26" name="bd_299"/>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0"/>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…would like to go to another country.</a:t>
            </a:r>
            <a:endParaRPr lang="en-US" sz="950" dirty="0"/>
          </a:p>
        </p:txBody>
      </p:sp>
      <p:sp>
        <p:nvSpPr>
          <p:cNvPr id="28" name="R5_chip301"/>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'My dream is to fly to Hollywood and see a studio there.'</a:t>
            </a:r>
            <a:endParaRPr lang="en-US" sz="1100" dirty="0"/>
          </a:p>
        </p:txBody>
      </p:sp>
      <p:sp>
        <p:nvSpPr>
          <p:cNvPr id="29" name="bd_302"/>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03"/>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…might get a prize soon.</a:t>
            </a:r>
            <a:endParaRPr lang="en-US" sz="950" dirty="0"/>
          </a:p>
        </p:txBody>
      </p:sp>
      <p:sp>
        <p:nvSpPr>
          <p:cNvPr id="31" name="R6_chip304"/>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'Right now, I'm taking part in a competition for young game designers.'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0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phrase</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highlighted words in the profiles. Say the full sentence.</a:t>
            </a:r>
            <a:endParaRPr lang="en-US" sz="1100" dirty="0"/>
          </a:p>
        </p:txBody>
      </p:sp>
      <p:sp>
        <p:nvSpPr>
          <p:cNvPr id="8" name="insIT_3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evidenziate nei profili. Di' la frase intera.</a:t>
            </a:r>
            <a:endParaRPr lang="en-US" sz="950" dirty="0"/>
          </a:p>
        </p:txBody>
      </p:sp>
      <p:sp>
        <p:nvSpPr>
          <p:cNvPr id="9" name="cmd_31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31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useful phrases from the texts   ·   📖 SB p.11 · Reading 5</a:t>
            </a:r>
            <a:endParaRPr lang="en-US" sz="800" dirty="0"/>
          </a:p>
        </p:txBody>
      </p:sp>
      <p:sp>
        <p:nvSpPr>
          <p:cNvPr id="14" name="bd_316"/>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317"/>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involved in an activity with other people</a:t>
            </a:r>
            <a:endParaRPr lang="en-US" sz="1300" dirty="0"/>
          </a:p>
        </p:txBody>
      </p:sp>
      <p:sp>
        <p:nvSpPr>
          <p:cNvPr id="16" name="R1_chip318"/>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taking part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 a competition for young game designers.'</a:t>
            </a:r>
            <a:endParaRPr lang="en-US" sz="1200" dirty="0"/>
          </a:p>
        </p:txBody>
      </p:sp>
      <p:sp>
        <p:nvSpPr>
          <p:cNvPr id="17" name="bd_319"/>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320"/>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become better</a:t>
            </a:r>
            <a:endParaRPr lang="en-US" sz="1300" dirty="0"/>
          </a:p>
        </p:txBody>
      </p:sp>
      <p:sp>
        <p:nvSpPr>
          <p:cNvPr id="19" name="R2_chip321"/>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making progress</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think.'</a:t>
            </a:r>
            <a:endParaRPr lang="en-US" sz="1200" dirty="0"/>
          </a:p>
        </p:txBody>
      </p:sp>
      <p:sp>
        <p:nvSpPr>
          <p:cNvPr id="20" name="bd_322"/>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23"/>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someone with no brothers or sisters</a:t>
            </a:r>
            <a:endParaRPr lang="en-US" sz="1300" dirty="0"/>
          </a:p>
        </p:txBody>
      </p:sp>
      <p:sp>
        <p:nvSpPr>
          <p:cNvPr id="22" name="R3_chip324"/>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an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only child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
        <p:nvSpPr>
          <p:cNvPr id="23" name="bd_325"/>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26"/>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write computer programs</a:t>
            </a:r>
            <a:endParaRPr lang="en-US" sz="1300" dirty="0"/>
          </a:p>
        </p:txBody>
      </p:sp>
      <p:sp>
        <p:nvSpPr>
          <p:cNvPr id="25" name="R4_chip327"/>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learning to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code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with my aunt.'</a:t>
            </a:r>
            <a:endParaRPr lang="en-US" sz="1200" dirty="0"/>
          </a:p>
        </p:txBody>
      </p:sp>
      <p:sp>
        <p:nvSpPr>
          <p:cNvPr id="26" name="bd_328"/>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29"/>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very interested in something</a:t>
            </a:r>
            <a:endParaRPr lang="en-US" sz="1300" dirty="0"/>
          </a:p>
        </p:txBody>
      </p:sp>
      <p:sp>
        <p:nvSpPr>
          <p:cNvPr id="28" name="R5_chip330"/>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into</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various typical teenage hobbies.'</a:t>
            </a:r>
            <a:endParaRPr lang="en-US" sz="1200" dirty="0"/>
          </a:p>
        </p:txBody>
      </p:sp>
      <p:sp>
        <p:nvSpPr>
          <p:cNvPr id="29" name="bd_331"/>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32"/>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able to stay calm and not get angry</a:t>
            </a:r>
            <a:endParaRPr lang="en-US" sz="1300" dirty="0"/>
          </a:p>
        </p:txBody>
      </p:sp>
      <p:sp>
        <p:nvSpPr>
          <p:cNvPr id="31" name="R6_chip333"/>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'She's also a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patient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teacher.'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4"/>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3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3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Marco's new hobby</a:t>
            </a:r>
            <a:endParaRPr lang="en-US" sz="2400" dirty="0"/>
          </a:p>
        </p:txBody>
      </p:sp>
      <p:pic>
        <p:nvPicPr>
          <p:cNvPr id="6" name="brP_337"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38"/>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4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34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4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class story (TPRS)</a:t>
            </a:r>
            <a:endParaRPr lang="en-US" sz="800" dirty="0"/>
          </a:p>
        </p:txBody>
      </p:sp>
      <p:sp>
        <p:nvSpPr>
          <p:cNvPr id="14" name="pf_345"/>
          <p:cNvSpPr/>
          <p:nvPr/>
        </p:nvSpPr>
        <p:spPr>
          <a:xfrm rot="-90000">
            <a:off x="790524" y="1417320"/>
            <a:ext cx="1802233"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46" descr="/home/claude/lls-course/v2/cache/b2_6b_guitar_sax_jpg_412x286_31.png">    </p:cNvPr>
          <p:cNvPicPr>
            <a:picLocks noChangeAspect="1"/>
          </p:cNvPicPr>
          <p:nvPr/>
        </p:nvPicPr>
        <p:blipFill>
          <a:blip r:embed="rId5"/>
          <a:stretch>
            <a:fillRect/>
          </a:stretch>
        </p:blipFill>
        <p:spPr>
          <a:xfrm rot="-90000">
            <a:off x="836244" y="1463040"/>
            <a:ext cx="1710793" cy="1188720"/>
          </a:xfrm>
          <a:prstGeom prst="rect">
            <a:avLst/>
          </a:prstGeom>
        </p:spPr>
      </p:pic>
      <p:sp>
        <p:nvSpPr>
          <p:cNvPr id="16" name="cd_347"/>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48"/>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49"/>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350"/>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be into</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essere appassionato di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take part in</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partecipare a</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make progress</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fare progressi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patient</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paziente</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figlio unico</a:t>
            </a:r>
            <a:endParaRPr lang="en-US" sz="900" dirty="0"/>
          </a:p>
        </p:txBody>
      </p:sp>
      <p:sp>
        <p:nvSpPr>
          <p:cNvPr id="20" name="R1_sb351"/>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352"/>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Marco is 14 and he lives in Bagheria. He's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an only child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 he's often a bit bored at home.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How old is Marco? · Has he got brothers or sisters? · Are you an only child?</a:t>
            </a:r>
            <a:endParaRPr lang="en-US" sz="900" dirty="0"/>
          </a:p>
        </p:txBody>
      </p:sp>
      <p:sp>
        <p:nvSpPr>
          <p:cNvPr id="22" name="R2_sb353"/>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354"/>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music, but he can't play an instrument.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is Marco into? · What are YOU into?</a:t>
            </a:r>
            <a:endParaRPr lang="en-US" sz="1150" dirty="0"/>
          </a:p>
        </p:txBody>
      </p:sp>
      <p:sp>
        <p:nvSpPr>
          <p:cNvPr id="24" name="R3_sb355"/>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356"/>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 he's learning the guitar with his grandad. Grandad is very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patient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is teaching Marco? · Why is a patient teacher important?</a:t>
            </a:r>
            <a:endParaRPr lang="en-US" sz="1050" dirty="0"/>
          </a:p>
        </p:txBody>
      </p:sp>
      <p:sp>
        <p:nvSpPr>
          <p:cNvPr id="26" name="R4_sb357"/>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358"/>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first Marco was terrible. But now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making progress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Marco good at first? · What are you making progress in?</a:t>
            </a:r>
            <a:endParaRPr lang="en-US" sz="1150" dirty="0"/>
          </a:p>
        </p:txBody>
      </p:sp>
      <p:sp>
        <p:nvSpPr>
          <p:cNvPr id="28" name="R5_sb359"/>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360"/>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Next month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taking part in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talent show at school!</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he taking part in? · Is Marco confident or shy, do you think?</a:t>
            </a:r>
            <a:endParaRPr lang="en-US" sz="1150" dirty="0"/>
          </a:p>
        </p:txBody>
      </p:sp>
      <p:sp>
        <p:nvSpPr>
          <p:cNvPr id="30" name="R6_sb361"/>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362"/>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Grandad? He's coming to watch – in the front row!</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Grandad sitting? · How do you think Marco feels?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6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6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Retell Marco's story to your partner. One word per line helps.</a:t>
            </a:r>
            <a:endParaRPr lang="en-US" sz="1200" dirty="0"/>
          </a:p>
        </p:txBody>
      </p:sp>
      <p:sp>
        <p:nvSpPr>
          <p:cNvPr id="8" name="insIT_3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di nuovo la storia di Marco al compagno. Una parola per riga ti aiuta.</a:t>
            </a:r>
            <a:endParaRPr lang="en-US" sz="950" dirty="0"/>
          </a:p>
        </p:txBody>
      </p:sp>
      <p:sp>
        <p:nvSpPr>
          <p:cNvPr id="9" name="cmd_369"/>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7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retell (TPRS)</a:t>
            </a:r>
            <a:endParaRPr lang="en-US" sz="800" dirty="0"/>
          </a:p>
        </p:txBody>
      </p:sp>
      <p:sp>
        <p:nvSpPr>
          <p:cNvPr id="14" name="R1_sb374"/>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375"/>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only child</a:t>
            </a:r>
            <a:endParaRPr lang="en-US" sz="1250" dirty="0"/>
          </a:p>
        </p:txBody>
      </p:sp>
      <p:sp>
        <p:nvSpPr>
          <p:cNvPr id="16" name="R2_sb376"/>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377"/>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into music</a:t>
            </a:r>
            <a:endParaRPr lang="en-US" sz="1250" dirty="0"/>
          </a:p>
        </p:txBody>
      </p:sp>
      <p:sp>
        <p:nvSpPr>
          <p:cNvPr id="18" name="R3_sb378"/>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379"/>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Grandad</a:t>
            </a:r>
            <a:endParaRPr lang="en-US" sz="1250" dirty="0"/>
          </a:p>
        </p:txBody>
      </p:sp>
      <p:sp>
        <p:nvSpPr>
          <p:cNvPr id="20" name="R4_sb380"/>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381"/>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progress</a:t>
            </a:r>
            <a:endParaRPr lang="en-US" sz="1250" dirty="0"/>
          </a:p>
        </p:txBody>
      </p:sp>
      <p:sp>
        <p:nvSpPr>
          <p:cNvPr id="22" name="R5_sb382"/>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383"/>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talent show</a:t>
            </a:r>
            <a:endParaRPr lang="en-US" sz="1250" dirty="0"/>
          </a:p>
        </p:txBody>
      </p:sp>
      <p:sp>
        <p:nvSpPr>
          <p:cNvPr id="24" name="R6_sb384"/>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385"/>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front row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8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points</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groups of 3. Give reasons!</a:t>
            </a:r>
            <a:endParaRPr lang="en-US" sz="1250" dirty="0"/>
          </a:p>
        </p:txBody>
      </p:sp>
      <p:sp>
        <p:nvSpPr>
          <p:cNvPr id="8" name="insIT_3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in gruppi di 3. Date motivi!</a:t>
            </a:r>
            <a:endParaRPr lang="en-US" sz="950" dirty="0"/>
          </a:p>
        </p:txBody>
      </p:sp>
      <p:sp>
        <p:nvSpPr>
          <p:cNvPr id="9" name="cmd_3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3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talking points   ·   📖 SB p.11 · Talking points</a:t>
            </a:r>
            <a:endParaRPr lang="en-US" sz="800" dirty="0"/>
          </a:p>
        </p:txBody>
      </p:sp>
      <p:sp>
        <p:nvSpPr>
          <p:cNvPr id="14" name="cd_397"/>
          <p:cNvSpPr/>
          <p:nvPr/>
        </p:nvSpPr>
        <p:spPr>
          <a:xfrm>
            <a:off x="320040" y="1417320"/>
            <a:ext cx="2788920" cy="2326640"/>
          </a:xfrm>
          <a:prstGeom prst="roundRect">
            <a:avLst>
              <a:gd name="adj" fmla="val 550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00"/>
          <p:cNvSpPr/>
          <p:nvPr/>
        </p:nvSpPr>
        <p:spPr>
          <a:xfrm>
            <a:off x="886968" y="1911096"/>
            <a:ext cx="2130552" cy="17597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spend time with…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We're both into…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it's important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best friend and I are different, but…</a:t>
            </a:r>
            <a:endParaRPr lang="en-US" sz="1150" dirty="0"/>
          </a:p>
        </p:txBody>
      </p:sp>
      <p:sp>
        <p:nvSpPr>
          <p:cNvPr id="18" name="R1_qb4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 would you most like to spend time with – Alfie, Lucas or Grace?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 she's cheerful and we're both into sport.</a:t>
            </a:r>
            <a:endParaRPr lang="en-US" sz="950" dirty="0"/>
          </a:p>
        </p:txBody>
      </p:sp>
      <p:sp>
        <p:nvSpPr>
          <p:cNvPr id="20" name="R2_qb4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Class vote! Hands up: Alfie? Lucas? Grace?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won: 6 votes!</a:t>
            </a:r>
            <a:endParaRPr lang="en-US" sz="950" dirty="0"/>
          </a:p>
        </p:txBody>
      </p:sp>
      <p:sp>
        <p:nvSpPr>
          <p:cNvPr id="22" name="R3_qb4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important to have the same interests as your friends? Why? / Why not?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 my best friend hates football, but we always have fun.</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0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1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13"/>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14"/>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Exit · what can you remember?</a:t>
            </a:r>
            <a:endParaRPr lang="en-US" sz="800" dirty="0"/>
          </a:p>
        </p:txBody>
      </p:sp>
      <p:sp>
        <p:nvSpPr>
          <p:cNvPr id="13" name="bd_417"/>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18"/>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words to describe what someone looks like.</a:t>
            </a:r>
            <a:endParaRPr lang="en-US" sz="1400" dirty="0"/>
          </a:p>
        </p:txBody>
      </p:sp>
      <p:sp>
        <p:nvSpPr>
          <p:cNvPr id="15" name="bd_419"/>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20"/>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personality adjectives and their opposites.</a:t>
            </a:r>
            <a:endParaRPr lang="en-US" sz="1400" dirty="0"/>
          </a:p>
        </p:txBody>
      </p:sp>
      <p:sp>
        <p:nvSpPr>
          <p:cNvPr id="17" name="bd_421"/>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22"/>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you're into – and 1 thing you're making progress in.</a:t>
            </a:r>
            <a:endParaRPr lang="en-US" sz="1400" dirty="0"/>
          </a:p>
        </p:txBody>
      </p:sp>
      <p:sp>
        <p:nvSpPr>
          <p:cNvPr id="19" name="cd_423"/>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2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2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26"/>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p.4: exercises 1–4 (describing people)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p.5: read 'Birth order', exercises 1–4</a:t>
            </a:r>
            <a:endParaRPr lang="en-US" sz="1150" dirty="0"/>
          </a:p>
        </p:txBody>
      </p:sp>
      <p:sp>
        <p:nvSpPr>
          <p:cNvPr id="23" name="st_427"/>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present simple and continuous (SB p.12)</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3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3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3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3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3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Review · what did you do today?</a:t>
            </a:r>
            <a:endParaRPr lang="en-US" sz="800" dirty="0"/>
          </a:p>
        </p:txBody>
      </p:sp>
      <p:sp>
        <p:nvSpPr>
          <p:cNvPr id="14" name="cd_43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4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4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look like</a:t>
            </a:r>
            <a:endParaRPr lang="en-US" sz="1350" dirty="0"/>
          </a:p>
        </p:txBody>
      </p:sp>
      <p:sp>
        <p:nvSpPr>
          <p:cNvPr id="17" name="R1_tk44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4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4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4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personality adjectives + opposites</a:t>
            </a:r>
            <a:endParaRPr lang="en-US" sz="1350" dirty="0"/>
          </a:p>
        </p:txBody>
      </p:sp>
      <p:sp>
        <p:nvSpPr>
          <p:cNvPr id="21" name="R2_tk44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4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4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4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three online profiles</a:t>
            </a:r>
            <a:endParaRPr lang="en-US" sz="1350" dirty="0"/>
          </a:p>
        </p:txBody>
      </p:sp>
      <p:sp>
        <p:nvSpPr>
          <p:cNvPr id="25" name="R3_tk45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5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5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5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useful phrases from the texts</a:t>
            </a:r>
            <a:endParaRPr lang="en-US" sz="1350" dirty="0"/>
          </a:p>
        </p:txBody>
      </p:sp>
      <p:sp>
        <p:nvSpPr>
          <p:cNvPr id="29" name="R4_tk45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5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5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5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class story and described your friends</a:t>
            </a:r>
            <a:endParaRPr lang="en-US" sz="1350" dirty="0"/>
          </a:p>
        </p:txBody>
      </p:sp>
      <p:sp>
        <p:nvSpPr>
          <p:cNvPr id="33" name="R5_tk45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5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 All about me</dc:title>
  <dc:subject>PptxGenJS Presentation</dc:subject>
  <dc:creator>PptxGenJS</dc:creator>
  <cp:lastModifiedBy>PptxGenJS</cp:lastModifiedBy>
  <cp:revision>1</cp:revision>
  <dcterms:created xsi:type="dcterms:W3CDTF">2026-10-19T11:59:43Z</dcterms:created>
  <dcterms:modified xsi:type="dcterms:W3CDTF">2026-10-19T11:59:43Z</dcterms:modified>
</cp:coreProperties>
</file>