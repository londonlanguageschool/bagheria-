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old photo. Ask the THINK question; take 3–4 answers. Click: the example answer appears – read it and point out 'we're WEARING' (today's grammar). SB 1C 'The Remake Project' = people recreating old family photos years later: if students know the idea, ask 'Would you do it with your family?'. Read the 'Today you're going to…' list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REVISION (3 min). Read the examples together. Point at 'My jeans ARE new' – Italians say 'il jeans è' → typical mistake. Quick check: 'Point to something you're wearing today and say it.' Then play Describe it! with exactly these clothes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clothes (4 min)
RETRIEVAL WARMER (4 min) – it worked very well in B1. Demo first: 'You wear them on your hands when it's cold' → gloves. Click once per word (round 1 = A explains, round 2 = B faces the screen). 20 seconds per word. Useful language on the board: You wear it on your… · It's for… · Men wear it to work… ICQ: 'Can you say the word?'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Grammar in a photo · present continuous (5 min)
PRESENT in context (5 min). Pairs answer 1–6 in full sentences (1 min each pair, then check). Click once per number. Model the first answer: 'He IS wearING a dark blue suit.' Write two answers on the board: He's wearing / She's holding. Ask: 'Now, in the photo – or every day?' (now, in the photo). Don't give the rule yet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 present continuous (3 min)
CLARIFY (3 min). Elicit each column before you click (they've just used the form). Click once per column, last click = the warning. 10-second Italian link: sta leggendo = is reading. Main Italian error: missing 'be'. CCQ: 'She's smiling – now or every day?'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Practice · simple or continuous? (4 min)
PRACTICE (4 min). Students write alone (2 min), compare with a partner, then click once per answer. For each one ask: 'Which word tells you?' (look!, usually, today, on Mondays…). Fast finishers: write 2 true sentences: one about now, one about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wear or carry? (3 min)
PRESENT (3 min). Mime: wear (touch your clothes), carry (hold your bag). Click once per column. CCQs: 'Your glasses – wear or carry?' (wear) · 'Your shopping – wear or carry?' (carry) · 'After the shower in the morning?' (get 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Practice · wear, carry, get dressed (4 min)
PRACTICE (4 min). Items 1–4 = the photo (now → present continuous); 5–6 = habits (present simple). Pairs say the sentences aloud, then click once per answer. Ask WHY each time (on your body / in your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prepositions of place (5 min)
ELICIT FIRST (5 min). Pairs try 1–6 with the prepositions they know. Click once per number; gesture each preposition as you click (on, in, behind, in front of, next to, on the left / right, at the back / front). Then pairs test each other: point to someone in the photo – 'Where is she?' – 'Next to the man in the white shirt.' The next slide gives the Italian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in Italian (2 min)
CONSOLIDATION (2 min). Class says the Italian for each tile, then click once per word to show its Italian. 20 seconds on the warnings: 'in front OF', 'ON the left'. 'Opposite' is new: show it – sit facing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class story (TPRS) (4 min)
TPRS CLASS STORY (4 min) – after the prepositions are clear (last slide) and before the /ɜː/ work and the spot-the-difference game, so students hear present continuous + wear/carry + prepositions 15–20 times in one funny context. Click once per line. For each line: 1) say it, 2) ask the questions in grey round the class (yes/no → either/or → who/what), 3) let the CLASS change details: 'Is his hat yellow? No? What colour is it?' – accept their idea and use it in later lines (the dog wears THAT hat in line 6!). Students answer with one word or a short phrase – that's fine; repeat the full sentence yourself ('Yes – he IS wearING a hat'). Recycles: be + -ing (is wearing, is carrying, is sitting), wear vs carry, next to / under / on. Finish: 'What happens next?' – one or two ideas,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Pronunciation · /ɜː/ as in shirt (4 min)
PRONUNCIATION (4 min) – one sound. 1) Model the example words; class repeats (chorus, then individuals). Show the mouth: relaxed, lips not rounded – Italians say 'shert' or 'shurt'. 2) Say each group aloud TWICE, pairs decide which word is different, then click. The odd words show the sounds Italians confuse it with. 3) Tongue twister: slowly, then fast; volunteers. Why it matters: shirt / short, work / walk change the meaning! (No A2 audio in the deck – teacher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game · spot the difference (9 min)
USE (9 min). Option 1 (information gap, better): print A2_1C_Role_cards.pdf – A and B have different pictures and must NOT show them; they ask 'What's the man wearing? Where's the dog?' and write the differences. Option 2 (quick): show this slide, pairs find the 6 differences and SAY each one with the model sentence (present continuous + prepositions). Click once per difference. Challenge: 'Why is the cake on the floor?! Invent the story.' Note errors for 1 minute of correction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your photo (7 min)
FREER PRACTICE (7 min). Students choose a photo they're happy to show (privacy: their choice – a photo from the internet is fine too). Questions appear ONE per click: give pairs about a minute per question. Model it first with a photo of your own. Monitor and note 4–5 errors (be + -ing, prepositions, wear/carry) for 1–2 minutes of delayed correction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RETRIEVAL EXIT (2 min). Books closed. Pairs: 3 clothes words, 2 sentences about people in the room now (present continuous), 1 explanation of wear vs carry. Set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Book audio · 1C (0 min)
BOOK AUDIO (8 Oct). The owner sent tracks 1.24–1.29 on the day; exercises checked against the Teacher's Guide File 1 (TG pp.22–24). 1.25/1.26 can replace the teacher model on the /ɜː/ slide; 1.28 is the longest track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audio" Target="../media/media-17-6.mp3"/><Relationship Id="rId7" Type="http://schemas.microsoft.com/office/2007/relationships/media" Target="../media/media-17-6.mp3"/><Relationship Id="rId8" Type="http://schemas.openxmlformats.org/officeDocument/2006/relationships/image" Target="../media/image-17-8.png"/><Relationship Id="rId9" Type="http://schemas.openxmlformats.org/officeDocument/2006/relationships/audio" Target="../media/media-17-9.mp3"/><Relationship Id="rId10" Type="http://schemas.microsoft.com/office/2007/relationships/media" Target="../media/media-17-9.mp3"/><Relationship Id="rId11" Type="http://schemas.openxmlformats.org/officeDocument/2006/relationships/image" Target="../media/image-17-11.png"/><Relationship Id="rId12" Type="http://schemas.openxmlformats.org/officeDocument/2006/relationships/audio" Target="../media/media-17-12.mp3"/><Relationship Id="rId13" Type="http://schemas.microsoft.com/office/2007/relationships/media" Target="../media/media-17-12.mp3"/><Relationship Id="rId14" Type="http://schemas.openxmlformats.org/officeDocument/2006/relationships/image" Target="../media/image-17-14.png"/><Relationship Id="rId15" Type="http://schemas.openxmlformats.org/officeDocument/2006/relationships/audio" Target="../media/media-17-15.mp3"/><Relationship Id="rId16" Type="http://schemas.microsoft.com/office/2007/relationships/media" Target="../media/media-17-15.mp3"/><Relationship Id="rId17" Type="http://schemas.openxmlformats.org/officeDocument/2006/relationships/image" Target="../media/image-17-17.png"/><Relationship Id="rId18" Type="http://schemas.openxmlformats.org/officeDocument/2006/relationships/audio" Target="../media/media-17-18.mp3"/><Relationship Id="rId19" Type="http://schemas.microsoft.com/office/2007/relationships/media" Target="../media/media-17-18.mp3"/><Relationship Id="rId20" Type="http://schemas.openxmlformats.org/officeDocument/2006/relationships/image" Target="../media/image-17-20.png"/><Relationship Id="rId21" Type="http://schemas.openxmlformats.org/officeDocument/2006/relationships/audio" Target="../media/media-17-21.mp3"/><Relationship Id="rId22" Type="http://schemas.microsoft.com/office/2007/relationships/media" Target="../media/media-17-21.mp3"/><Relationship Id="rId23" Type="http://schemas.openxmlformats.org/officeDocument/2006/relationships/image" Target="../media/image-17-23.png"/><Relationship Id="rId24" Type="http://schemas.openxmlformats.org/officeDocument/2006/relationships/slideLayout" Target="../slideLayouts/slideLayout1.xml"/><Relationship Id="rId2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Pre-intermediate · SB pp.10–11 · VB p.151</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1C</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The Remake Project</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Clothes, photos and what people are doing</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describe what people are wearing</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say what people are doing in a photo</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say where people are: next to, behind…</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1000" dirty="0"/>
          </a:p>
          <a:p>
            <a:pPr indent="0" marL="0">
              <a:spcBef>
                <a:spcPts val="500"/>
              </a:spcBef>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  play spot the difference</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Yes! Me and my brother on the beach in 1995 – we're wearing terrible hats!</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2a2_holiday_album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Have you got an old family photo you love?</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25"/>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2a1_waste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6 Oct: clothes · speaking in pairs</a:t>
            </a:r>
            <a:endParaRPr lang="en-US" sz="1100" dirty="0"/>
          </a:p>
          <a:p>
            <a:pPr marL="152400" indent="-152400">
              <a:spcBef>
                <a:spcPts val="5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1B: present simple</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Clothes · careful with plurals!</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My jeans ARE new. (not is)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These trousers are too long.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a T-shirt · a dress · a coat · a scarf</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plural: jeans · trousers · shorts · socks · gloves</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Present simple = habits</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He wears a suit for work.</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don't usually wear a tie.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Do you wear glasses?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always · usually · every day</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T-shirt</a:t>
            </a:r>
            <a:endParaRPr lang="en-US" sz="1050" dirty="0"/>
          </a:p>
        </p:txBody>
      </p:sp>
      <p:sp>
        <p:nvSpPr>
          <p:cNvPr id="28" name="w_42"/>
          <p:cNvSpPr/>
          <p:nvPr/>
        </p:nvSpPr>
        <p:spPr>
          <a:xfrm>
            <a:off x="4183380"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jeans</a:t>
            </a:r>
            <a:endParaRPr lang="en-US" sz="1050" dirty="0"/>
          </a:p>
        </p:txBody>
      </p:sp>
      <p:sp>
        <p:nvSpPr>
          <p:cNvPr id="29" name="w_43"/>
          <p:cNvSpPr/>
          <p:nvPr/>
        </p:nvSpPr>
        <p:spPr>
          <a:xfrm>
            <a:off x="4965192" y="4178808"/>
            <a:ext cx="708660"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dress</a:t>
            </a:r>
            <a:endParaRPr lang="en-US" sz="1050" dirty="0"/>
          </a:p>
        </p:txBody>
      </p:sp>
      <p:sp>
        <p:nvSpPr>
          <p:cNvPr id="30" name="w_44"/>
          <p:cNvSpPr/>
          <p:nvPr/>
        </p:nvSpPr>
        <p:spPr>
          <a:xfrm>
            <a:off x="5747004" y="4178808"/>
            <a:ext cx="63093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coat</a:t>
            </a:r>
            <a:endParaRPr lang="en-US" sz="1050" dirty="0"/>
          </a:p>
        </p:txBody>
      </p:sp>
      <p:sp>
        <p:nvSpPr>
          <p:cNvPr id="31" name="w_45"/>
          <p:cNvSpPr/>
          <p:nvPr/>
        </p:nvSpPr>
        <p:spPr>
          <a:xfrm>
            <a:off x="6451092" y="4178808"/>
            <a:ext cx="70866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scarf</a:t>
            </a:r>
            <a:endParaRPr lang="en-US" sz="1050" dirty="0"/>
          </a:p>
        </p:txBody>
      </p:sp>
      <p:sp>
        <p:nvSpPr>
          <p:cNvPr id="32" name="w_46"/>
          <p:cNvSpPr/>
          <p:nvPr/>
        </p:nvSpPr>
        <p:spPr>
          <a:xfrm>
            <a:off x="7232904" y="4178808"/>
            <a:ext cx="786384"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gloves</a:t>
            </a:r>
            <a:endParaRPr lang="en-US" sz="1050" dirty="0"/>
          </a:p>
        </p:txBody>
      </p:sp>
      <p:sp>
        <p:nvSpPr>
          <p:cNvPr id="33" name="w_47"/>
          <p:cNvSpPr/>
          <p:nvPr/>
        </p:nvSpPr>
        <p:spPr>
          <a:xfrm>
            <a:off x="8092440" y="4178808"/>
            <a:ext cx="55321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cap</a:t>
            </a:r>
            <a:endParaRPr lang="en-US" sz="1050" dirty="0"/>
          </a:p>
        </p:txBody>
      </p:sp>
      <p:sp>
        <p:nvSpPr>
          <p:cNvPr id="34" name="w_48"/>
          <p:cNvSpPr/>
          <p:nvPr/>
        </p:nvSpPr>
        <p:spPr>
          <a:xfrm>
            <a:off x="3246120" y="4544568"/>
            <a:ext cx="941832"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trainers</a:t>
            </a:r>
            <a:endParaRPr lang="en-US" sz="1050" dirty="0"/>
          </a:p>
        </p:txBody>
      </p:sp>
      <p:sp>
        <p:nvSpPr>
          <p:cNvPr id="35" name="w_49"/>
          <p:cNvSpPr/>
          <p:nvPr/>
        </p:nvSpPr>
        <p:spPr>
          <a:xfrm>
            <a:off x="4261104" y="4544568"/>
            <a:ext cx="70866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socks</a:t>
            </a:r>
            <a:endParaRPr lang="en-US" sz="1050" dirty="0"/>
          </a:p>
        </p:txBody>
      </p:sp>
      <p:sp>
        <p:nvSpPr>
          <p:cNvPr id="36" name="w_50"/>
          <p:cNvSpPr/>
          <p:nvPr/>
        </p:nvSpPr>
        <p:spPr>
          <a:xfrm>
            <a:off x="5042916" y="4544568"/>
            <a:ext cx="630936"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suit</a:t>
            </a:r>
            <a:endParaRPr lang="en-US" sz="1050" dirty="0"/>
          </a:p>
        </p:txBody>
      </p:sp>
      <p:sp>
        <p:nvSpPr>
          <p:cNvPr id="37" name="w_51"/>
          <p:cNvSpPr/>
          <p:nvPr/>
        </p:nvSpPr>
        <p:spPr>
          <a:xfrm>
            <a:off x="5747004" y="4544568"/>
            <a:ext cx="55321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tie</a:t>
            </a:r>
            <a:endParaRPr lang="en-US" sz="1050" dirty="0"/>
          </a:p>
        </p:txBody>
      </p:sp>
      <p:sp>
        <p:nvSpPr>
          <p:cNvPr id="38" name="w_52"/>
          <p:cNvSpPr/>
          <p:nvPr/>
        </p:nvSpPr>
        <p:spPr>
          <a:xfrm>
            <a:off x="6373368" y="4544568"/>
            <a:ext cx="864108"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sandals</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4"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55"/>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56"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57"/>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clothes. Don't say the word!</a:t>
            </a:r>
            <a:endParaRPr lang="en-US" sz="1250" dirty="0"/>
          </a:p>
        </p:txBody>
      </p:sp>
      <p:sp>
        <p:nvSpPr>
          <p:cNvPr id="8" name="insIT_5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il capo. Non dire la parola!</a:t>
            </a:r>
            <a:endParaRPr lang="en-US" sz="950" dirty="0"/>
          </a:p>
        </p:txBody>
      </p:sp>
      <p:sp>
        <p:nvSpPr>
          <p:cNvPr id="9" name="cmd_59"/>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6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 game</a:t>
            </a:r>
            <a:endParaRPr lang="en-US" sz="700" dirty="0"/>
          </a:p>
        </p:txBody>
      </p:sp>
      <p:pic>
        <p:nvPicPr>
          <p:cNvPr id="12" name="logo_6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Warmer · clothes</a:t>
            </a:r>
            <a:endParaRPr lang="en-US" sz="800" dirty="0"/>
          </a:p>
        </p:txBody>
      </p:sp>
      <p:sp>
        <p:nvSpPr>
          <p:cNvPr id="14" name="cd_6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1100" dirty="0"/>
          </a:p>
          <a:p>
            <a:pPr marL="190500" indent="-190500">
              <a:spcBef>
                <a:spcPts val="500"/>
              </a:spcBef>
              <a:spcAft>
                <a:spcPts val="200"/>
              </a:spcAft>
              <a:buSzPct val="100000"/>
              <a:buChar char="2"/>
            </a:pPr>
            <a:r>
              <a:rPr lang="en-US" sz="1100" dirty="0">
                <a:solidFill>
                  <a:srgbClr val="1B2559"/>
                </a:solidFill>
                <a:latin typeface="Segoe UI Semibold" pitchFamily="34" charset="0"/>
                <a:ea typeface="Segoe UI Semibold" pitchFamily="34" charset="-122"/>
                <a:cs typeface="Segoe UI Semibold" pitchFamily="34" charset="-120"/>
              </a:rPr>
              <a:t>A explains the word. Don't say it!</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A spiega la parola. Non dirla!</a:t>
            </a:r>
            <a:endParaRPr lang="en-US" sz="1100" dirty="0"/>
          </a:p>
          <a:p>
            <a:pPr marL="190500" indent="-190500">
              <a:spcBef>
                <a:spcPts val="500"/>
              </a:spcBef>
              <a:spcAft>
                <a:spcPts val="200"/>
              </a:spcAft>
              <a:buSzPct val="100000"/>
              <a:buChar char="3"/>
            </a:pPr>
            <a:r>
              <a:rPr lang="en-US" sz="1100" dirty="0">
                <a:solidFill>
                  <a:srgbClr val="1B2559"/>
                </a:solidFill>
                <a:latin typeface="Segoe UI Semibold" pitchFamily="34" charset="0"/>
                <a:ea typeface="Segoe UI Semibold" pitchFamily="34" charset="-122"/>
                <a:cs typeface="Segoe UI Semibold" pitchFamily="34" charset="-120"/>
              </a:rPr>
              <a:t>B guesses. Then swap.</a:t>
            </a:r>
            <a:endParaRPr lang="en-US" sz="1100" dirty="0"/>
          </a:p>
          <a:p>
            <a:pPr marL="190500" indent="-190500">
              <a:spcAft>
                <a:spcPts val="200"/>
              </a:spcAft>
              <a:buSzPct val="100000"/>
              <a:buChar char=" "/>
            </a:pPr>
            <a:r>
              <a:rPr lang="en-US" sz="950" i="1" dirty="0">
                <a:solidFill>
                  <a:srgbClr val="5B6785"/>
                </a:solidFill>
                <a:latin typeface="Segoe UI Semibold" pitchFamily="34" charset="0"/>
                <a:ea typeface="Segoe UI Semibold" pitchFamily="34" charset="-122"/>
                <a:cs typeface="Segoe UI Semibold" pitchFamily="34" charset="-120"/>
              </a:rPr>
              <a:t>B indovina. Poi scambiatevi.</a:t>
            </a:r>
            <a:endParaRPr lang="en-US" sz="1100" dirty="0"/>
          </a:p>
        </p:txBody>
      </p:sp>
      <p:sp>
        <p:nvSpPr>
          <p:cNvPr id="18" name="pf_68"/>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9" descr="/home/claude/lls-course/v2/cache/2b2_freezing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70"/>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1" name="R1_w71"/>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scarf</a:t>
            </a:r>
            <a:endParaRPr lang="en-US" sz="1700" dirty="0"/>
          </a:p>
        </p:txBody>
      </p:sp>
      <p:sp>
        <p:nvSpPr>
          <p:cNvPr id="22" name="R3_w72"/>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trainers</a:t>
            </a:r>
            <a:endParaRPr lang="en-US" sz="1700" dirty="0"/>
          </a:p>
        </p:txBody>
      </p:sp>
      <p:sp>
        <p:nvSpPr>
          <p:cNvPr id="23" name="R5_w73"/>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suit</a:t>
            </a:r>
            <a:endParaRPr lang="en-US" sz="1700" dirty="0"/>
          </a:p>
        </p:txBody>
      </p:sp>
      <p:sp>
        <p:nvSpPr>
          <p:cNvPr id="24" name="R7_w74"/>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gloves</a:t>
            </a:r>
            <a:endParaRPr lang="en-US" sz="1700" dirty="0"/>
          </a:p>
        </p:txBody>
      </p:sp>
      <p:sp>
        <p:nvSpPr>
          <p:cNvPr id="25" name="rl_75"/>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6" name="R2_w76"/>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sandals</a:t>
            </a:r>
            <a:endParaRPr lang="en-US" sz="1700" dirty="0"/>
          </a:p>
        </p:txBody>
      </p:sp>
      <p:sp>
        <p:nvSpPr>
          <p:cNvPr id="27" name="R4_w77"/>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cap</a:t>
            </a:r>
            <a:endParaRPr lang="en-US" sz="1700" dirty="0"/>
          </a:p>
        </p:txBody>
      </p:sp>
      <p:sp>
        <p:nvSpPr>
          <p:cNvPr id="28" name="R6_w78"/>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tie</a:t>
            </a:r>
            <a:endParaRPr lang="en-US" sz="1700" dirty="0"/>
          </a:p>
        </p:txBody>
      </p:sp>
      <p:sp>
        <p:nvSpPr>
          <p:cNvPr id="29" name="R8_w79"/>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socks</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1" descr="/home/claude/lls-course/v2/assets/brush-yellow.png">    </p:cNvPr>
          <p:cNvPicPr>
            <a:picLocks noChangeAspect="1"/>
          </p:cNvPicPr>
          <p:nvPr/>
        </p:nvPicPr>
        <p:blipFill>
          <a:blip r:embed="rId2"/>
          <a:stretch>
            <a:fillRect/>
          </a:stretch>
        </p:blipFill>
        <p:spPr>
          <a:xfrm>
            <a:off x="1097280" y="146304"/>
            <a:ext cx="5292547" cy="621792"/>
          </a:xfrm>
          <a:prstGeom prst="rect">
            <a:avLst/>
          </a:prstGeom>
        </p:spPr>
      </p:pic>
      <p:sp>
        <p:nvSpPr>
          <p:cNvPr id="5" name="title_82"/>
          <p:cNvSpPr/>
          <p:nvPr/>
        </p:nvSpPr>
        <p:spPr>
          <a:xfrm>
            <a:off x="1261872" y="164592"/>
            <a:ext cx="5018227"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 are they wearing? Doing?</a:t>
            </a:r>
            <a:endParaRPr lang="en-US" sz="2400" dirty="0"/>
          </a:p>
        </p:txBody>
      </p:sp>
      <p:pic>
        <p:nvPicPr>
          <p:cNvPr id="6" name="brP_83"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84"/>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photo. Answer 1–6.</a:t>
            </a:r>
            <a:endParaRPr lang="en-US" sz="1250" dirty="0"/>
          </a:p>
        </p:txBody>
      </p:sp>
      <p:sp>
        <p:nvSpPr>
          <p:cNvPr id="8" name="insIT_8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la foto. Rispondi alle domande 1–6.</a:t>
            </a:r>
            <a:endParaRPr lang="en-US" sz="950" dirty="0"/>
          </a:p>
        </p:txBody>
      </p:sp>
      <p:sp>
        <p:nvSpPr>
          <p:cNvPr id="9" name="cmd_8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cmd_87"/>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8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8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Grammar in a photo · present continuous   ·   📖 SB p.10 · present continuous in a photo</a:t>
            </a:r>
            <a:endParaRPr lang="en-US" sz="800" dirty="0"/>
          </a:p>
        </p:txBody>
      </p:sp>
      <p:sp>
        <p:nvSpPr>
          <p:cNvPr id="15" name="pf_92"/>
          <p:cNvSpPr/>
          <p:nvPr/>
        </p:nvSpPr>
        <p:spPr>
          <a:xfrm rot="-60000">
            <a:off x="365760" y="1417320"/>
            <a:ext cx="4937760" cy="3017520"/>
          </a:xfrm>
          <a:prstGeom prst="roundRect">
            <a:avLst>
              <a:gd name="adj" fmla="val 5152"/>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93" descr="/home/claude/lls-course/v2/cache/1b1_wedding_jpg_1166x704_31.png">    </p:cNvPr>
          <p:cNvPicPr>
            <a:picLocks noChangeAspect="1"/>
          </p:cNvPicPr>
          <p:nvPr/>
        </p:nvPicPr>
        <p:blipFill>
          <a:blip r:embed="rId5"/>
          <a:stretch>
            <a:fillRect/>
          </a:stretch>
        </p:blipFill>
        <p:spPr>
          <a:xfrm rot="-60000">
            <a:off x="411480" y="1463040"/>
            <a:ext cx="4846320" cy="2926080"/>
          </a:xfrm>
          <a:prstGeom prst="rect">
            <a:avLst/>
          </a:prstGeom>
        </p:spPr>
      </p:pic>
      <p:sp>
        <p:nvSpPr>
          <p:cNvPr id="17" name="bd_94"/>
          <p:cNvSpPr/>
          <p:nvPr/>
        </p:nvSpPr>
        <p:spPr>
          <a:xfrm>
            <a:off x="3514954" y="1914754"/>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18" name="bd_95"/>
          <p:cNvSpPr/>
          <p:nvPr/>
        </p:nvSpPr>
        <p:spPr>
          <a:xfrm>
            <a:off x="3224174" y="3202229"/>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19" name="bd_96"/>
          <p:cNvSpPr/>
          <p:nvPr/>
        </p:nvSpPr>
        <p:spPr>
          <a:xfrm>
            <a:off x="607162" y="2734056"/>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20" name="bd_97"/>
          <p:cNvSpPr/>
          <p:nvPr/>
        </p:nvSpPr>
        <p:spPr>
          <a:xfrm>
            <a:off x="1188720" y="3436315"/>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1" name="bd_98"/>
          <p:cNvSpPr/>
          <p:nvPr/>
        </p:nvSpPr>
        <p:spPr>
          <a:xfrm>
            <a:off x="4581144" y="3085186"/>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22" name="bd_99"/>
          <p:cNvSpPr/>
          <p:nvPr/>
        </p:nvSpPr>
        <p:spPr>
          <a:xfrm>
            <a:off x="1479499" y="1739189"/>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6</a:t>
            </a:r>
            <a:endParaRPr lang="en-US" sz="1300" dirty="0"/>
          </a:p>
        </p:txBody>
      </p:sp>
      <p:sp>
        <p:nvSpPr>
          <p:cNvPr id="23" name="bd_100"/>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4" name="q_101"/>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the groom wearing?</a:t>
            </a:r>
            <a:endParaRPr lang="en-US" sz="1100" dirty="0"/>
          </a:p>
        </p:txBody>
      </p:sp>
      <p:sp>
        <p:nvSpPr>
          <p:cNvPr id="25" name="R1_chip102"/>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800" b="1" dirty="0">
                <a:solidFill>
                  <a:srgbClr val="1B2559"/>
                </a:solidFill>
                <a:latin typeface="Segoe UI Semibold" pitchFamily="34" charset="0"/>
                <a:ea typeface="Segoe UI Semibold" pitchFamily="34" charset="-122"/>
                <a:cs typeface="Segoe UI Semibold" pitchFamily="34" charset="-120"/>
              </a:rPr>
              <a:t>He's wearing a dark blue suit and a tie.</a:t>
            </a:r>
            <a:endParaRPr lang="en-US" sz="800" dirty="0"/>
          </a:p>
        </p:txBody>
      </p:sp>
      <p:sp>
        <p:nvSpPr>
          <p:cNvPr id="26" name="bd_103"/>
          <p:cNvSpPr/>
          <p:nvPr/>
        </p:nvSpPr>
        <p:spPr>
          <a:xfrm>
            <a:off x="5532120" y="199948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7" name="q_104"/>
          <p:cNvSpPr/>
          <p:nvPr/>
        </p:nvSpPr>
        <p:spPr>
          <a:xfrm>
            <a:off x="5897880" y="198120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the bride holding?</a:t>
            </a:r>
            <a:endParaRPr lang="en-US" sz="1100" dirty="0"/>
          </a:p>
        </p:txBody>
      </p:sp>
      <p:sp>
        <p:nvSpPr>
          <p:cNvPr id="28" name="R2_chip105"/>
          <p:cNvSpPr/>
          <p:nvPr/>
        </p:nvSpPr>
        <p:spPr>
          <a:xfrm>
            <a:off x="5897880" y="224637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She's holding flowers.</a:t>
            </a:r>
            <a:endParaRPr lang="en-US" sz="1000" dirty="0"/>
          </a:p>
        </p:txBody>
      </p:sp>
      <p:sp>
        <p:nvSpPr>
          <p:cNvPr id="29" name="bd_106"/>
          <p:cNvSpPr/>
          <p:nvPr/>
        </p:nvSpPr>
        <p:spPr>
          <a:xfrm>
            <a:off x="5532120" y="2563368"/>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0" name="q_107"/>
          <p:cNvSpPr/>
          <p:nvPr/>
        </p:nvSpPr>
        <p:spPr>
          <a:xfrm>
            <a:off x="5897880" y="254508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she wearing?</a:t>
            </a:r>
            <a:endParaRPr lang="en-US" sz="1100" dirty="0"/>
          </a:p>
        </p:txBody>
      </p:sp>
      <p:sp>
        <p:nvSpPr>
          <p:cNvPr id="31" name="R3_chip108"/>
          <p:cNvSpPr/>
          <p:nvPr/>
        </p:nvSpPr>
        <p:spPr>
          <a:xfrm>
            <a:off x="5897880" y="281025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She's wearing a pink dress.</a:t>
            </a:r>
            <a:endParaRPr lang="en-US" sz="1000" dirty="0"/>
          </a:p>
        </p:txBody>
      </p:sp>
      <p:sp>
        <p:nvSpPr>
          <p:cNvPr id="32" name="bd_109"/>
          <p:cNvSpPr/>
          <p:nvPr/>
        </p:nvSpPr>
        <p:spPr>
          <a:xfrm>
            <a:off x="5532120" y="312724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3" name="q_110"/>
          <p:cNvSpPr/>
          <p:nvPr/>
        </p:nvSpPr>
        <p:spPr>
          <a:xfrm>
            <a:off x="5897880" y="310896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the boy wearing?</a:t>
            </a:r>
            <a:endParaRPr lang="en-US" sz="1100" dirty="0"/>
          </a:p>
        </p:txBody>
      </p:sp>
      <p:sp>
        <p:nvSpPr>
          <p:cNvPr id="34" name="R4_chip111"/>
          <p:cNvSpPr/>
          <p:nvPr/>
        </p:nvSpPr>
        <p:spPr>
          <a:xfrm>
            <a:off x="5897880" y="337413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a suit, a white shirt and a blue tie</a:t>
            </a:r>
            <a:endParaRPr lang="en-US" sz="950" dirty="0"/>
          </a:p>
        </p:txBody>
      </p:sp>
      <p:sp>
        <p:nvSpPr>
          <p:cNvPr id="35" name="bd_112"/>
          <p:cNvSpPr/>
          <p:nvPr/>
        </p:nvSpPr>
        <p:spPr>
          <a:xfrm>
            <a:off x="5532120" y="369112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6" name="q_113"/>
          <p:cNvSpPr/>
          <p:nvPr/>
        </p:nvSpPr>
        <p:spPr>
          <a:xfrm>
            <a:off x="5897880" y="367284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she doing?</a:t>
            </a:r>
            <a:endParaRPr lang="en-US" sz="1100" dirty="0"/>
          </a:p>
        </p:txBody>
      </p:sp>
      <p:sp>
        <p:nvSpPr>
          <p:cNvPr id="37" name="R5_chip114"/>
          <p:cNvSpPr/>
          <p:nvPr/>
        </p:nvSpPr>
        <p:spPr>
          <a:xfrm>
            <a:off x="5897880" y="393801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She's holding a baby.</a:t>
            </a:r>
            <a:endParaRPr lang="en-US" sz="1000" dirty="0"/>
          </a:p>
        </p:txBody>
      </p:sp>
      <p:sp>
        <p:nvSpPr>
          <p:cNvPr id="38" name="bd_115"/>
          <p:cNvSpPr/>
          <p:nvPr/>
        </p:nvSpPr>
        <p:spPr>
          <a:xfrm>
            <a:off x="5532120" y="425500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9" name="q_116"/>
          <p:cNvSpPr/>
          <p:nvPr/>
        </p:nvSpPr>
        <p:spPr>
          <a:xfrm>
            <a:off x="5897880" y="42367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Grandad doing?</a:t>
            </a:r>
            <a:endParaRPr lang="en-US" sz="1100" dirty="0"/>
          </a:p>
        </p:txBody>
      </p:sp>
      <p:sp>
        <p:nvSpPr>
          <p:cNvPr id="40" name="R6_chip117"/>
          <p:cNvSpPr/>
          <p:nvPr/>
        </p:nvSpPr>
        <p:spPr>
          <a:xfrm>
            <a:off x="5897880" y="45018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850" b="1" dirty="0">
                <a:solidFill>
                  <a:srgbClr val="1B2559"/>
                </a:solidFill>
                <a:latin typeface="Segoe UI Semibold" pitchFamily="34" charset="0"/>
                <a:ea typeface="Segoe UI Semibold" pitchFamily="34" charset="-122"/>
                <a:cs typeface="Segoe UI Semibold" pitchFamily="34" charset="-120"/>
              </a:rPr>
              <a:t>He's smiling. He's wearing a grey tie.</a:t>
            </a:r>
            <a:endParaRPr lang="en-US" sz="8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9"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120"/>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 + verb-ing</a:t>
            </a:r>
            <a:endParaRPr lang="en-US" sz="2500" dirty="0"/>
          </a:p>
        </p:txBody>
      </p:sp>
      <p:pic>
        <p:nvPicPr>
          <p:cNvPr id="6" name="brP_121"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122"/>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examples. How do we make it?</a:t>
            </a:r>
            <a:endParaRPr lang="en-US" sz="1250" dirty="0"/>
          </a:p>
        </p:txBody>
      </p:sp>
      <p:sp>
        <p:nvSpPr>
          <p:cNvPr id="8" name="insIT_12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gli esempi. Come si forma?</a:t>
            </a:r>
            <a:endParaRPr lang="en-US" sz="950" dirty="0"/>
          </a:p>
        </p:txBody>
      </p:sp>
      <p:sp>
        <p:nvSpPr>
          <p:cNvPr id="9" name="cmd_12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12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12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2" name="logo_12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Grammar · present continuous   ·   📖 Grammar Bank 1C p.125</a:t>
            </a:r>
            <a:endParaRPr lang="en-US" sz="800" dirty="0"/>
          </a:p>
        </p:txBody>
      </p:sp>
      <p:sp>
        <p:nvSpPr>
          <p:cNvPr id="14" name="cd_129"/>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5" name="rh_130"/>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16" name="pf_131"/>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132" descr="/home/claude/lls-course/v2/cache/1b1_birthday_jpg_415x209_31.png">    </p:cNvPr>
          <p:cNvPicPr>
            <a:picLocks noChangeAspect="1"/>
          </p:cNvPicPr>
          <p:nvPr/>
        </p:nvPicPr>
        <p:blipFill>
          <a:blip r:embed="rId5"/>
          <a:stretch>
            <a:fillRect/>
          </a:stretch>
        </p:blipFill>
        <p:spPr>
          <a:xfrm>
            <a:off x="475488" y="1984248"/>
            <a:ext cx="1723644" cy="868680"/>
          </a:xfrm>
          <a:prstGeom prst="rect">
            <a:avLst/>
          </a:prstGeom>
        </p:spPr>
      </p:pic>
      <p:sp>
        <p:nvSpPr>
          <p:cNvPr id="18" name="ru_133"/>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what's happening now / in a photo</a:t>
            </a:r>
            <a:endParaRPr lang="en-US" sz="1050" dirty="0"/>
          </a:p>
        </p:txBody>
      </p:sp>
      <p:sp>
        <p:nvSpPr>
          <p:cNvPr id="19" name="R1_rx134"/>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I'm wearing jeans.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She's smiling.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They're clapping.</a:t>
            </a:r>
            <a:endParaRPr lang="en-US" sz="1050" dirty="0"/>
          </a:p>
        </p:txBody>
      </p:sp>
      <p:sp>
        <p:nvSpPr>
          <p:cNvPr id="20" name="R1_ri135"/>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750" i="1" dirty="0">
                <a:solidFill>
                  <a:srgbClr val="5B6785"/>
                </a:solidFill>
                <a:latin typeface="Segoe UI Semibold" pitchFamily="34" charset="0"/>
                <a:ea typeface="Segoe UI Semibold" pitchFamily="34" charset="-122"/>
                <a:cs typeface="Segoe UI Semibold" pitchFamily="34" charset="-120"/>
              </a:rPr>
              <a:t>sta sorridendo · stanno applaudendo</a:t>
            </a:r>
            <a:endParaRPr lang="en-US" sz="750" dirty="0"/>
          </a:p>
        </p:txBody>
      </p:sp>
      <p:sp>
        <p:nvSpPr>
          <p:cNvPr id="21" name="cd_136"/>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2" name="rh_137"/>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23" name="pf_138"/>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139" descr="/home/claude/lls-course/v2/cache/2b1_old_friends_jpg_415x209_31.png">    </p:cNvPr>
          <p:cNvPicPr>
            <a:picLocks noChangeAspect="1"/>
          </p:cNvPicPr>
          <p:nvPr/>
        </p:nvPicPr>
        <p:blipFill>
          <a:blip r:embed="rId6"/>
          <a:stretch>
            <a:fillRect/>
          </a:stretch>
        </p:blipFill>
        <p:spPr>
          <a:xfrm>
            <a:off x="2647188" y="1984248"/>
            <a:ext cx="1723644" cy="868680"/>
          </a:xfrm>
          <a:prstGeom prst="rect">
            <a:avLst/>
          </a:prstGeom>
        </p:spPr>
      </p:pic>
      <p:sp>
        <p:nvSpPr>
          <p:cNvPr id="25" name="ru_140"/>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be + not + -ing</a:t>
            </a:r>
            <a:endParaRPr lang="en-US" sz="1050" dirty="0"/>
          </a:p>
        </p:txBody>
      </p:sp>
      <p:sp>
        <p:nvSpPr>
          <p:cNvPr id="26" name="R2_rx141"/>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I'm not working today.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 isn't wearing a hat.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They aren't listening.</a:t>
            </a:r>
            <a:endParaRPr lang="en-US" sz="1050" dirty="0"/>
          </a:p>
        </p:txBody>
      </p:sp>
      <p:sp>
        <p:nvSpPr>
          <p:cNvPr id="27" name="R2_ri142"/>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non sta… · non stanno…</a:t>
            </a:r>
            <a:endParaRPr lang="en-US" sz="900" dirty="0"/>
          </a:p>
        </p:txBody>
      </p:sp>
      <p:sp>
        <p:nvSpPr>
          <p:cNvPr id="28" name="cd_143"/>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29" name="rh_144"/>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t>
            </a:r>
            <a:endParaRPr lang="en-US" sz="1250" dirty="0"/>
          </a:p>
        </p:txBody>
      </p:sp>
      <p:sp>
        <p:nvSpPr>
          <p:cNvPr id="30" name="pf_145"/>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1" name="ph_146" descr="/home/claude/lls-course/v2/cache/1b1_dinner_jpg_415x209_31.png">    </p:cNvPr>
          <p:cNvPicPr>
            <a:picLocks noChangeAspect="1"/>
          </p:cNvPicPr>
          <p:nvPr/>
        </p:nvPicPr>
        <p:blipFill>
          <a:blip r:embed="rId7"/>
          <a:stretch>
            <a:fillRect/>
          </a:stretch>
        </p:blipFill>
        <p:spPr>
          <a:xfrm>
            <a:off x="4818888" y="1984248"/>
            <a:ext cx="1723644" cy="868680"/>
          </a:xfrm>
          <a:prstGeom prst="rect">
            <a:avLst/>
          </a:prstGeom>
        </p:spPr>
      </p:pic>
      <p:sp>
        <p:nvSpPr>
          <p:cNvPr id="32" name="ru_147"/>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Is / Are + person + -ing</a:t>
            </a:r>
            <a:endParaRPr lang="en-US" sz="1050" dirty="0"/>
          </a:p>
        </p:txBody>
      </p:sp>
      <p:sp>
        <p:nvSpPr>
          <p:cNvPr id="33" name="R3_rx148"/>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Is he wearing a tie?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are you doing?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Yes, he is. / No, he isn't.</a:t>
            </a:r>
            <a:endParaRPr lang="en-US" sz="1050" dirty="0"/>
          </a:p>
        </p:txBody>
      </p:sp>
      <p:sp>
        <p:nvSpPr>
          <p:cNvPr id="34" name="R3_ri149"/>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Sta…? · Cosa stai facendo?</a:t>
            </a:r>
            <a:endParaRPr lang="en-US" sz="900" dirty="0"/>
          </a:p>
        </p:txBody>
      </p:sp>
      <p:sp>
        <p:nvSpPr>
          <p:cNvPr id="35" name="cd_150"/>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36" name="rh_151"/>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spelling</a:t>
            </a:r>
            <a:endParaRPr lang="en-US" sz="1250" dirty="0"/>
          </a:p>
        </p:txBody>
      </p:sp>
      <p:sp>
        <p:nvSpPr>
          <p:cNvPr id="37" name="pf_152"/>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8" name="ph_153" descr="/home/claude/lls-course/v2/cache/3a1_busy_street_jpg_415x209_31.png">    </p:cNvPr>
          <p:cNvPicPr>
            <a:picLocks noChangeAspect="1"/>
          </p:cNvPicPr>
          <p:nvPr/>
        </p:nvPicPr>
        <p:blipFill>
          <a:blip r:embed="rId8"/>
          <a:stretch>
            <a:fillRect/>
          </a:stretch>
        </p:blipFill>
        <p:spPr>
          <a:xfrm>
            <a:off x="6990588" y="1984248"/>
            <a:ext cx="1723644" cy="868680"/>
          </a:xfrm>
          <a:prstGeom prst="rect">
            <a:avLst/>
          </a:prstGeom>
        </p:spPr>
      </p:pic>
      <p:sp>
        <p:nvSpPr>
          <p:cNvPr id="39" name="ru_154"/>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verb + -ing</a:t>
            </a:r>
            <a:endParaRPr lang="en-US" sz="1050" dirty="0"/>
          </a:p>
        </p:txBody>
      </p:sp>
      <p:sp>
        <p:nvSpPr>
          <p:cNvPr id="40" name="R4_rx155"/>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wear → wearing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smile → smiling</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sit → sitting</a:t>
            </a:r>
            <a:endParaRPr lang="en-US" sz="1050" dirty="0"/>
          </a:p>
        </p:txBody>
      </p:sp>
      <p:sp>
        <p:nvSpPr>
          <p:cNvPr id="41" name="R4_ri156"/>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-e sparisce · sit → sitting</a:t>
            </a:r>
            <a:endParaRPr lang="en-US" sz="900" dirty="0"/>
          </a:p>
        </p:txBody>
      </p:sp>
      <p:sp>
        <p:nvSpPr>
          <p:cNvPr id="42" name="R5_wc157"/>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3" name="R5_w158"/>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 Don't forget be!  ✗ She wearing a dress → ✓ She's wearing a dress.   ✗ What you doing? → ✓ What ARE you doing?</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00"/>
                                        <p:tgtEl>
                                          <p:spTgt spid="40"/>
                                        </p:tgtEl>
                                      </p:cBhvr>
                                    </p:animEffect>
                                  </p:childTnLst>
                                </p:cTn>
                              </p:par>
                              <p:par>
                                <p:cTn id="32" presetID="10"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400"/>
                                        <p:tgtEl>
                                          <p:spTgt spid="4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400"/>
                                        <p:tgtEl>
                                          <p:spTgt spid="42"/>
                                        </p:tgtEl>
                                      </p:cBhvr>
                                    </p:animEffect>
                                  </p:childTnLst>
                                </p:cTn>
                              </p:par>
                              <p:par>
                                <p:cTn id="40" presetID="10" presetClass="entr" presetSubtype="0"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9"/>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0"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61"/>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Now or every day?</a:t>
            </a:r>
            <a:endParaRPr lang="en-US" sz="2500" dirty="0"/>
          </a:p>
        </p:txBody>
      </p:sp>
      <p:pic>
        <p:nvPicPr>
          <p:cNvPr id="6" name="brP_162"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163"/>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Now or every day? Write the right form.</a:t>
            </a:r>
            <a:endParaRPr lang="en-US" sz="1250" dirty="0"/>
          </a:p>
        </p:txBody>
      </p:sp>
      <p:sp>
        <p:nvSpPr>
          <p:cNvPr id="8" name="insIT_16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Adesso o ogni giorno? Scrivi la forma giusta.</a:t>
            </a:r>
            <a:endParaRPr lang="en-US" sz="950" dirty="0"/>
          </a:p>
        </p:txBody>
      </p:sp>
      <p:sp>
        <p:nvSpPr>
          <p:cNvPr id="9" name="cmd_16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meta_16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alone</a:t>
            </a:r>
            <a:endParaRPr lang="en-US" sz="950" dirty="0"/>
          </a:p>
        </p:txBody>
      </p:sp>
      <p:pic>
        <p:nvPicPr>
          <p:cNvPr id="11" name="logo_1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1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Practice · simple or continuous?   ·   📖 Grammar Bank 1C p.125 · b</a:t>
            </a:r>
            <a:endParaRPr lang="en-US" sz="800" dirty="0"/>
          </a:p>
        </p:txBody>
      </p:sp>
      <p:sp>
        <p:nvSpPr>
          <p:cNvPr id="13" name="cd_169"/>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4" name="ii_17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17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6" name="il_172"/>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Look! It ___ (rain).  →  Look! It's raining.  (look! = now)</a:t>
            </a:r>
            <a:endParaRPr lang="en-US" sz="1050" dirty="0"/>
          </a:p>
        </p:txBody>
      </p:sp>
      <p:sp>
        <p:nvSpPr>
          <p:cNvPr id="17" name="pf_173"/>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174" descr="/home/claude/lls-course/v2/cache/1b1_diary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19" name="bd_175"/>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q_176"/>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Look! Your phone ___ (ring).</a:t>
            </a:r>
            <a:endParaRPr lang="en-US" sz="1150" dirty="0"/>
          </a:p>
        </p:txBody>
      </p:sp>
      <p:sp>
        <p:nvSpPr>
          <p:cNvPr id="21" name="R1_chip177"/>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 ringing  (look! = now)</a:t>
            </a:r>
            <a:endParaRPr lang="en-US" sz="1000" dirty="0"/>
          </a:p>
        </p:txBody>
      </p:sp>
      <p:sp>
        <p:nvSpPr>
          <p:cNvPr id="22" name="bd_178"/>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q_179"/>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We usually ___ (have) lunch at 2.</a:t>
            </a:r>
            <a:endParaRPr lang="en-US" sz="1150" dirty="0"/>
          </a:p>
        </p:txBody>
      </p:sp>
      <p:sp>
        <p:nvSpPr>
          <p:cNvPr id="24" name="R2_chip180"/>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have  (usually = habit)</a:t>
            </a:r>
            <a:endParaRPr lang="en-US" sz="1000" dirty="0"/>
          </a:p>
        </p:txBody>
      </p:sp>
      <p:sp>
        <p:nvSpPr>
          <p:cNvPr id="25" name="bd_181"/>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q_182"/>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Why ___ you ___ (laugh)?</a:t>
            </a:r>
            <a:endParaRPr lang="en-US" sz="1150" dirty="0"/>
          </a:p>
        </p:txBody>
      </p:sp>
      <p:sp>
        <p:nvSpPr>
          <p:cNvPr id="27" name="R3_chip183"/>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are … laughing  (now)</a:t>
            </a:r>
            <a:endParaRPr lang="en-US" sz="1000" dirty="0"/>
          </a:p>
        </p:txBody>
      </p:sp>
      <p:sp>
        <p:nvSpPr>
          <p:cNvPr id="28" name="bd_184"/>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9" name="q_185"/>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Paolo ___ (not / wear) a tie today.</a:t>
            </a:r>
            <a:endParaRPr lang="en-US" sz="1150" dirty="0"/>
          </a:p>
        </p:txBody>
      </p:sp>
      <p:sp>
        <p:nvSpPr>
          <p:cNvPr id="30" name="R4_chip186"/>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isn't wearing  (today)</a:t>
            </a:r>
            <a:endParaRPr lang="en-US" sz="1000" dirty="0"/>
          </a:p>
        </p:txBody>
      </p:sp>
      <p:sp>
        <p:nvSpPr>
          <p:cNvPr id="31" name="bd_187"/>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2" name="q_188"/>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 ___ (go) to the gym on Mondays.</a:t>
            </a:r>
            <a:endParaRPr lang="en-US" sz="1150" dirty="0"/>
          </a:p>
        </p:txBody>
      </p:sp>
      <p:sp>
        <p:nvSpPr>
          <p:cNvPr id="33" name="R5_chip189"/>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go  (on Mondays = habit)</a:t>
            </a:r>
            <a:endParaRPr lang="en-US" sz="1000" dirty="0"/>
          </a:p>
        </p:txBody>
      </p:sp>
      <p:sp>
        <p:nvSpPr>
          <p:cNvPr id="34" name="bd_190"/>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5" name="q_191"/>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It's 10 p.m. The kids ___ (sleep).</a:t>
            </a:r>
            <a:endParaRPr lang="en-US" sz="1150" dirty="0"/>
          </a:p>
        </p:txBody>
      </p:sp>
      <p:sp>
        <p:nvSpPr>
          <p:cNvPr id="36" name="R6_chip192"/>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are sleeping  (now)</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94"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195"/>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Wear or carry?</a:t>
            </a:r>
            <a:endParaRPr lang="en-US" sz="2500" dirty="0"/>
          </a:p>
        </p:txBody>
      </p:sp>
      <p:pic>
        <p:nvPicPr>
          <p:cNvPr id="6" name="brP_196"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97"/>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Italian 'portare' = two English verbs!</a:t>
            </a:r>
            <a:endParaRPr lang="en-US" sz="1250" dirty="0"/>
          </a:p>
        </p:txBody>
      </p:sp>
      <p:sp>
        <p:nvSpPr>
          <p:cNvPr id="8" name="insIT_19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'Portare' in italiano = due verbi inglesi!</a:t>
            </a:r>
            <a:endParaRPr lang="en-US" sz="950" dirty="0"/>
          </a:p>
        </p:txBody>
      </p:sp>
      <p:sp>
        <p:nvSpPr>
          <p:cNvPr id="9" name="cmd_19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200"/>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whole class</a:t>
            </a:r>
            <a:endParaRPr lang="en-US" sz="950" dirty="0"/>
          </a:p>
        </p:txBody>
      </p:sp>
      <p:sp>
        <p:nvSpPr>
          <p:cNvPr id="11" name="tag_201"/>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Guided discovery</a:t>
            </a:r>
            <a:endParaRPr lang="en-US" sz="700" dirty="0"/>
          </a:p>
        </p:txBody>
      </p:sp>
      <p:pic>
        <p:nvPicPr>
          <p:cNvPr id="12" name="logo_20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Vocabulary · wear or carry?   ·   📖 VB p.151 · Things you wear</a:t>
            </a:r>
            <a:endParaRPr lang="en-US" sz="800" dirty="0"/>
          </a:p>
        </p:txBody>
      </p:sp>
      <p:sp>
        <p:nvSpPr>
          <p:cNvPr id="14" name="cd_204"/>
          <p:cNvSpPr/>
          <p:nvPr/>
        </p:nvSpPr>
        <p:spPr>
          <a:xfrm>
            <a:off x="320040" y="1417320"/>
            <a:ext cx="2758440" cy="3017520"/>
          </a:xfrm>
          <a:prstGeom prst="roundRect">
            <a:avLst>
              <a:gd name="adj" fmla="val 4641"/>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5" name="rh_205"/>
          <p:cNvSpPr/>
          <p:nvPr/>
        </p:nvSpPr>
        <p:spPr>
          <a:xfrm>
            <a:off x="4297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WEAR</a:t>
            </a:r>
            <a:endParaRPr lang="en-US" sz="1250" dirty="0"/>
          </a:p>
        </p:txBody>
      </p:sp>
      <p:sp>
        <p:nvSpPr>
          <p:cNvPr id="16" name="pf_206"/>
          <p:cNvSpPr/>
          <p:nvPr/>
        </p:nvSpPr>
        <p:spPr>
          <a:xfrm>
            <a:off x="4297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207" descr="/home/claude/lls-course/v2/cache/2b2_freezing_jpg_589x209_31.png">    </p:cNvPr>
          <p:cNvPicPr>
            <a:picLocks noChangeAspect="1"/>
          </p:cNvPicPr>
          <p:nvPr/>
        </p:nvPicPr>
        <p:blipFill>
          <a:blip r:embed="rId5"/>
          <a:stretch>
            <a:fillRect/>
          </a:stretch>
        </p:blipFill>
        <p:spPr>
          <a:xfrm>
            <a:off x="475488" y="1984248"/>
            <a:ext cx="2447544" cy="868680"/>
          </a:xfrm>
          <a:prstGeom prst="rect">
            <a:avLst/>
          </a:prstGeom>
        </p:spPr>
      </p:pic>
      <p:sp>
        <p:nvSpPr>
          <p:cNvPr id="18" name="ru_208"/>
          <p:cNvSpPr/>
          <p:nvPr/>
        </p:nvSpPr>
        <p:spPr>
          <a:xfrm>
            <a:off x="4114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ON your body: clothes, shoes, glasses, a ring</a:t>
            </a:r>
            <a:endParaRPr lang="en-US" sz="1050" dirty="0"/>
          </a:p>
        </p:txBody>
      </p:sp>
      <p:sp>
        <p:nvSpPr>
          <p:cNvPr id="19" name="R1_rx209"/>
          <p:cNvSpPr/>
          <p:nvPr/>
        </p:nvSpPr>
        <p:spPr>
          <a:xfrm>
            <a:off x="4114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She's wearing a white hat.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wear glasses for reading.</a:t>
            </a:r>
            <a:endParaRPr lang="en-US" sz="1050" dirty="0"/>
          </a:p>
        </p:txBody>
      </p:sp>
      <p:sp>
        <p:nvSpPr>
          <p:cNvPr id="20" name="R1_ri210"/>
          <p:cNvSpPr/>
          <p:nvPr/>
        </p:nvSpPr>
        <p:spPr>
          <a:xfrm>
            <a:off x="4114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indossare · portare addosso</a:t>
            </a:r>
            <a:endParaRPr lang="en-US" sz="900" dirty="0"/>
          </a:p>
        </p:txBody>
      </p:sp>
      <p:sp>
        <p:nvSpPr>
          <p:cNvPr id="21" name="cd_211"/>
          <p:cNvSpPr/>
          <p:nvPr/>
        </p:nvSpPr>
        <p:spPr>
          <a:xfrm>
            <a:off x="3215640" y="1417320"/>
            <a:ext cx="2758440" cy="3017520"/>
          </a:xfrm>
          <a:prstGeom prst="roundRect">
            <a:avLst>
              <a:gd name="adj" fmla="val 4641"/>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2" name="rh_212"/>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CARRY</a:t>
            </a:r>
            <a:endParaRPr lang="en-US" sz="1250" dirty="0"/>
          </a:p>
        </p:txBody>
      </p:sp>
      <p:sp>
        <p:nvSpPr>
          <p:cNvPr id="23" name="pf_213"/>
          <p:cNvSpPr/>
          <p:nvPr/>
        </p:nvSpPr>
        <p:spPr>
          <a:xfrm>
            <a:off x="33253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214" descr="/home/claude/lls-course/v2/cache/1b1_holiday_jpg_589x209_31.png">    </p:cNvPr>
          <p:cNvPicPr>
            <a:picLocks noChangeAspect="1"/>
          </p:cNvPicPr>
          <p:nvPr/>
        </p:nvPicPr>
        <p:blipFill>
          <a:blip r:embed="rId6"/>
          <a:stretch>
            <a:fillRect/>
          </a:stretch>
        </p:blipFill>
        <p:spPr>
          <a:xfrm>
            <a:off x="3371088" y="1984248"/>
            <a:ext cx="2447544" cy="868680"/>
          </a:xfrm>
          <a:prstGeom prst="rect">
            <a:avLst/>
          </a:prstGeom>
        </p:spPr>
      </p:pic>
      <p:sp>
        <p:nvSpPr>
          <p:cNvPr id="25" name="ru_215"/>
          <p:cNvSpPr/>
          <p:nvPr/>
        </p:nvSpPr>
        <p:spPr>
          <a:xfrm>
            <a:off x="33070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IN your hand or in a bag</a:t>
            </a:r>
            <a:endParaRPr lang="en-US" sz="1050" dirty="0"/>
          </a:p>
        </p:txBody>
      </p:sp>
      <p:sp>
        <p:nvSpPr>
          <p:cNvPr id="26" name="R2_rx216"/>
          <p:cNvSpPr/>
          <p:nvPr/>
        </p:nvSpPr>
        <p:spPr>
          <a:xfrm>
            <a:off x="33070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He's carrying a suitcase.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always carry an umbrella.</a:t>
            </a:r>
            <a:endParaRPr lang="en-US" sz="1050" dirty="0"/>
          </a:p>
        </p:txBody>
      </p:sp>
      <p:sp>
        <p:nvSpPr>
          <p:cNvPr id="27" name="R2_ri217"/>
          <p:cNvSpPr/>
          <p:nvPr/>
        </p:nvSpPr>
        <p:spPr>
          <a:xfrm>
            <a:off x="33070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portare in mano</a:t>
            </a:r>
            <a:endParaRPr lang="en-US" sz="900" dirty="0"/>
          </a:p>
        </p:txBody>
      </p:sp>
      <p:sp>
        <p:nvSpPr>
          <p:cNvPr id="28" name="cd_218"/>
          <p:cNvSpPr/>
          <p:nvPr/>
        </p:nvSpPr>
        <p:spPr>
          <a:xfrm>
            <a:off x="6111240" y="1417320"/>
            <a:ext cx="2758440" cy="3017520"/>
          </a:xfrm>
          <a:prstGeom prst="roundRect">
            <a:avLst>
              <a:gd name="adj" fmla="val 4641"/>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29" name="rh_219"/>
          <p:cNvSpPr/>
          <p:nvPr/>
        </p:nvSpPr>
        <p:spPr>
          <a:xfrm>
            <a:off x="62209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GET DRESSED</a:t>
            </a:r>
            <a:endParaRPr lang="en-US" sz="1250" dirty="0"/>
          </a:p>
        </p:txBody>
      </p:sp>
      <p:sp>
        <p:nvSpPr>
          <p:cNvPr id="30" name="pf_220"/>
          <p:cNvSpPr/>
          <p:nvPr/>
        </p:nvSpPr>
        <p:spPr>
          <a:xfrm>
            <a:off x="6220968" y="1938528"/>
            <a:ext cx="25389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1" name="ph_221" descr="/home/claude/lls-course/v2/cache/3b1_mirror_jpg_589x209_31.png">    </p:cNvPr>
          <p:cNvPicPr>
            <a:picLocks noChangeAspect="1"/>
          </p:cNvPicPr>
          <p:nvPr/>
        </p:nvPicPr>
        <p:blipFill>
          <a:blip r:embed="rId7"/>
          <a:stretch>
            <a:fillRect/>
          </a:stretch>
        </p:blipFill>
        <p:spPr>
          <a:xfrm>
            <a:off x="6266688" y="1984248"/>
            <a:ext cx="2447544" cy="868680"/>
          </a:xfrm>
          <a:prstGeom prst="rect">
            <a:avLst/>
          </a:prstGeom>
        </p:spPr>
      </p:pic>
      <p:sp>
        <p:nvSpPr>
          <p:cNvPr id="32" name="ru_222"/>
          <p:cNvSpPr/>
          <p:nvPr/>
        </p:nvSpPr>
        <p:spPr>
          <a:xfrm>
            <a:off x="6202680" y="2926080"/>
            <a:ext cx="25755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put on your clothes</a:t>
            </a:r>
            <a:endParaRPr lang="en-US" sz="1050" dirty="0"/>
          </a:p>
        </p:txBody>
      </p:sp>
      <p:sp>
        <p:nvSpPr>
          <p:cNvPr id="33" name="R3_rx223"/>
          <p:cNvSpPr/>
          <p:nvPr/>
        </p:nvSpPr>
        <p:spPr>
          <a:xfrm>
            <a:off x="6202680" y="3319272"/>
            <a:ext cx="25755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have a shower and get dressed.</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Hurry up! Get dressed!</a:t>
            </a:r>
            <a:endParaRPr lang="en-US" sz="1050" dirty="0"/>
          </a:p>
        </p:txBody>
      </p:sp>
      <p:sp>
        <p:nvSpPr>
          <p:cNvPr id="34" name="R3_ri224"/>
          <p:cNvSpPr/>
          <p:nvPr/>
        </p:nvSpPr>
        <p:spPr>
          <a:xfrm>
            <a:off x="6202680" y="4087368"/>
            <a:ext cx="25755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vestirsi</a:t>
            </a:r>
            <a:endParaRPr lang="en-US" sz="900" dirty="0"/>
          </a:p>
        </p:txBody>
      </p:sp>
      <p:sp>
        <p:nvSpPr>
          <p:cNvPr id="35" name="R4_wc225"/>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6" name="R4_w226"/>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Porto gli occhiali = I WEAR glasses (✗ carry)   ·   Porto la borsa = I CARRY a bag   ·   Mi vesto = I get dressed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400"/>
                                        <p:tgtEl>
                                          <p:spTgt spid="35"/>
                                        </p:tgtEl>
                                      </p:cBhvr>
                                    </p:animEffect>
                                  </p:childTnLst>
                                </p:cTn>
                              </p:par>
                              <p:par>
                                <p:cTn id="32" presetID="10"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28"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229"/>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Look at the family!</a:t>
            </a:r>
            <a:endParaRPr lang="en-US" sz="2500" dirty="0"/>
          </a:p>
        </p:txBody>
      </p:sp>
      <p:pic>
        <p:nvPicPr>
          <p:cNvPr id="6" name="brP_230"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231"/>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Wear, carry or get dressed? Use the right form.</a:t>
            </a:r>
            <a:endParaRPr lang="en-US" sz="1250" dirty="0"/>
          </a:p>
        </p:txBody>
      </p:sp>
      <p:sp>
        <p:nvSpPr>
          <p:cNvPr id="8" name="insIT_23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Wear, carry o get dressed? Usa la forma giusta.</a:t>
            </a:r>
            <a:endParaRPr lang="en-US" sz="950" dirty="0"/>
          </a:p>
        </p:txBody>
      </p:sp>
      <p:sp>
        <p:nvSpPr>
          <p:cNvPr id="9" name="cmd_23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meta_234"/>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pic>
        <p:nvPicPr>
          <p:cNvPr id="11" name="logo_2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2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Practice · wear, carry, get dressed   ·   📖 VB p.151 · practice</a:t>
            </a:r>
            <a:endParaRPr lang="en-US" sz="800" dirty="0"/>
          </a:p>
        </p:txBody>
      </p:sp>
      <p:sp>
        <p:nvSpPr>
          <p:cNvPr id="13" name="cd_23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4" name="ii_23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23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6" name="il_240"/>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The mum ___ shorts.  →  The mum is wearing shorts.</a:t>
            </a:r>
            <a:endParaRPr lang="en-US" sz="1050" dirty="0"/>
          </a:p>
        </p:txBody>
      </p:sp>
      <p:sp>
        <p:nvSpPr>
          <p:cNvPr id="17" name="pf_24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242" descr="/home/claude/lls-course/v2/cache/1b1_holiday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19" name="bd_243"/>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q_244"/>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mum ___ a big hat.</a:t>
            </a:r>
            <a:endParaRPr lang="en-US" sz="1150" dirty="0"/>
          </a:p>
        </p:txBody>
      </p:sp>
      <p:sp>
        <p:nvSpPr>
          <p:cNvPr id="21" name="R1_chip245"/>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 wearing</a:t>
            </a:r>
            <a:endParaRPr lang="en-US" sz="1000" dirty="0"/>
          </a:p>
        </p:txBody>
      </p:sp>
      <p:sp>
        <p:nvSpPr>
          <p:cNvPr id="22" name="bd_246"/>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q_247"/>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dad ___ a blue suitcase.</a:t>
            </a:r>
            <a:endParaRPr lang="en-US" sz="1150" dirty="0"/>
          </a:p>
        </p:txBody>
      </p:sp>
      <p:sp>
        <p:nvSpPr>
          <p:cNvPr id="24" name="R2_chip248"/>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 carrying</a:t>
            </a:r>
            <a:endParaRPr lang="en-US" sz="1000" dirty="0"/>
          </a:p>
        </p:txBody>
      </p:sp>
      <p:sp>
        <p:nvSpPr>
          <p:cNvPr id="25" name="bd_249"/>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q_250"/>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boy ___ a backpack.</a:t>
            </a:r>
            <a:endParaRPr lang="en-US" sz="1150" dirty="0"/>
          </a:p>
        </p:txBody>
      </p:sp>
      <p:sp>
        <p:nvSpPr>
          <p:cNvPr id="27" name="R3_chip251"/>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 carrying (on his back)</a:t>
            </a:r>
            <a:endParaRPr lang="en-US" sz="1000" dirty="0"/>
          </a:p>
        </p:txBody>
      </p:sp>
      <p:sp>
        <p:nvSpPr>
          <p:cNvPr id="28" name="bd_252"/>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9" name="q_253"/>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girl ___ a pink flamingo!</a:t>
            </a:r>
            <a:endParaRPr lang="en-US" sz="1150" dirty="0"/>
          </a:p>
        </p:txBody>
      </p:sp>
      <p:sp>
        <p:nvSpPr>
          <p:cNvPr id="30" name="R4_chip254"/>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is carrying / holding</a:t>
            </a:r>
            <a:endParaRPr lang="en-US" sz="1000" dirty="0"/>
          </a:p>
        </p:txBody>
      </p:sp>
      <p:sp>
        <p:nvSpPr>
          <p:cNvPr id="31" name="bd_255"/>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2" name="q_256"/>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My dad always ___ glasses.</a:t>
            </a:r>
            <a:endParaRPr lang="en-US" sz="1150" dirty="0"/>
          </a:p>
        </p:txBody>
      </p:sp>
      <p:sp>
        <p:nvSpPr>
          <p:cNvPr id="33" name="R5_chip257"/>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wears</a:t>
            </a:r>
            <a:endParaRPr lang="en-US" sz="1000" dirty="0"/>
          </a:p>
        </p:txBody>
      </p:sp>
      <p:sp>
        <p:nvSpPr>
          <p:cNvPr id="34" name="bd_258"/>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5" name="q_259"/>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 get up, have a shower and ___.</a:t>
            </a:r>
            <a:endParaRPr lang="en-US" sz="1150" dirty="0"/>
          </a:p>
        </p:txBody>
      </p:sp>
      <p:sp>
        <p:nvSpPr>
          <p:cNvPr id="36" name="R6_chip260"/>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get dressed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1"/>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62" descr="/home/claude/lls-course/v2/assets/brush-yellow.png">    </p:cNvPr>
          <p:cNvPicPr>
            <a:picLocks noChangeAspect="1"/>
          </p:cNvPicPr>
          <p:nvPr/>
        </p:nvPicPr>
        <p:blipFill>
          <a:blip r:embed="rId2"/>
          <a:stretch>
            <a:fillRect/>
          </a:stretch>
        </p:blipFill>
        <p:spPr>
          <a:xfrm>
            <a:off x="1097280" y="146304"/>
            <a:ext cx="5292547" cy="621792"/>
          </a:xfrm>
          <a:prstGeom prst="rect">
            <a:avLst/>
          </a:prstGeom>
        </p:spPr>
      </p:pic>
      <p:sp>
        <p:nvSpPr>
          <p:cNvPr id="5" name="title_263"/>
          <p:cNvSpPr/>
          <p:nvPr/>
        </p:nvSpPr>
        <p:spPr>
          <a:xfrm>
            <a:off x="1261872" y="164592"/>
            <a:ext cx="5018227"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Sunday lunch: where are they?</a:t>
            </a:r>
            <a:endParaRPr lang="en-US" sz="2400" dirty="0"/>
          </a:p>
        </p:txBody>
      </p:sp>
      <p:pic>
        <p:nvPicPr>
          <p:cNvPr id="6" name="brP_264"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265"/>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Where are they? Answer 1–6.</a:t>
            </a:r>
            <a:endParaRPr lang="en-US" sz="1250" dirty="0"/>
          </a:p>
        </p:txBody>
      </p:sp>
      <p:sp>
        <p:nvSpPr>
          <p:cNvPr id="8" name="insIT_26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Dove sono? Rispondi alle domande 1–6.</a:t>
            </a:r>
            <a:endParaRPr lang="en-US" sz="950" dirty="0"/>
          </a:p>
        </p:txBody>
      </p:sp>
      <p:sp>
        <p:nvSpPr>
          <p:cNvPr id="9" name="cmd_26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cmd_268"/>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269"/>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270"/>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Communicative</a:t>
            </a:r>
            <a:endParaRPr lang="en-US" sz="700" dirty="0"/>
          </a:p>
        </p:txBody>
      </p:sp>
      <p:pic>
        <p:nvPicPr>
          <p:cNvPr id="13" name="logo_27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7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Vocabulary · prepositions of place   ·   📖 SB p.11 · prepositions of place</a:t>
            </a:r>
            <a:endParaRPr lang="en-US" sz="800" dirty="0"/>
          </a:p>
        </p:txBody>
      </p:sp>
      <p:sp>
        <p:nvSpPr>
          <p:cNvPr id="15" name="pf_273"/>
          <p:cNvSpPr/>
          <p:nvPr/>
        </p:nvSpPr>
        <p:spPr>
          <a:xfrm rot="-60000">
            <a:off x="365760" y="1417320"/>
            <a:ext cx="4937760" cy="3017520"/>
          </a:xfrm>
          <a:prstGeom prst="roundRect">
            <a:avLst>
              <a:gd name="adj" fmla="val 5152"/>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274" descr="/home/claude/lls-course/v2/cache/1b1_sunday_lunch_jpg_1166x704_31.png">    </p:cNvPr>
          <p:cNvPicPr>
            <a:picLocks noChangeAspect="1"/>
          </p:cNvPicPr>
          <p:nvPr/>
        </p:nvPicPr>
        <p:blipFill>
          <a:blip r:embed="rId5"/>
          <a:stretch>
            <a:fillRect/>
          </a:stretch>
        </p:blipFill>
        <p:spPr>
          <a:xfrm rot="-60000">
            <a:off x="411480" y="1463040"/>
            <a:ext cx="4846320" cy="2926080"/>
          </a:xfrm>
          <a:prstGeom prst="rect">
            <a:avLst/>
          </a:prstGeom>
        </p:spPr>
      </p:pic>
      <p:sp>
        <p:nvSpPr>
          <p:cNvPr id="17" name="bd_275"/>
          <p:cNvSpPr/>
          <p:nvPr/>
        </p:nvSpPr>
        <p:spPr>
          <a:xfrm>
            <a:off x="4484218" y="3085186"/>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18" name="bd_276"/>
          <p:cNvSpPr/>
          <p:nvPr/>
        </p:nvSpPr>
        <p:spPr>
          <a:xfrm>
            <a:off x="1382573" y="3319272"/>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19" name="bd_277"/>
          <p:cNvSpPr/>
          <p:nvPr/>
        </p:nvSpPr>
        <p:spPr>
          <a:xfrm>
            <a:off x="2739542" y="3026664"/>
            <a:ext cx="384048" cy="3840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20" name="bd_278"/>
          <p:cNvSpPr/>
          <p:nvPr/>
        </p:nvSpPr>
        <p:spPr>
          <a:xfrm>
            <a:off x="2497226" y="2090318"/>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21" name="bd_279"/>
          <p:cNvSpPr/>
          <p:nvPr/>
        </p:nvSpPr>
        <p:spPr>
          <a:xfrm>
            <a:off x="3369564" y="3407054"/>
            <a:ext cx="384048" cy="3840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22" name="bd_280"/>
          <p:cNvSpPr/>
          <p:nvPr/>
        </p:nvSpPr>
        <p:spPr>
          <a:xfrm>
            <a:off x="946404" y="1505102"/>
            <a:ext cx="384048" cy="3840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6</a:t>
            </a:r>
            <a:endParaRPr lang="en-US" sz="1300" dirty="0"/>
          </a:p>
        </p:txBody>
      </p:sp>
      <p:sp>
        <p:nvSpPr>
          <p:cNvPr id="23" name="bd_281"/>
          <p:cNvSpPr/>
          <p:nvPr/>
        </p:nvSpPr>
        <p:spPr>
          <a:xfrm>
            <a:off x="5532120" y="14356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4" name="q_282"/>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this man? What's he doing?</a:t>
            </a:r>
            <a:endParaRPr lang="en-US" sz="1100" dirty="0"/>
          </a:p>
        </p:txBody>
      </p:sp>
      <p:sp>
        <p:nvSpPr>
          <p:cNvPr id="25" name="R1_chip283"/>
          <p:cNvSpPr/>
          <p:nvPr/>
        </p:nvSpPr>
        <p:spPr>
          <a:xfrm>
            <a:off x="5897880" y="16824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800" b="1" dirty="0">
                <a:solidFill>
                  <a:srgbClr val="1B2559"/>
                </a:solidFill>
                <a:latin typeface="Segoe UI Semibold" pitchFamily="34" charset="0"/>
                <a:ea typeface="Segoe UI Semibold" pitchFamily="34" charset="-122"/>
                <a:cs typeface="Segoe UI Semibold" pitchFamily="34" charset="-120"/>
              </a:rPr>
              <a:t>on the right, at the front · He's taking a selfie.</a:t>
            </a:r>
            <a:endParaRPr lang="en-US" sz="800" dirty="0"/>
          </a:p>
        </p:txBody>
      </p:sp>
      <p:sp>
        <p:nvSpPr>
          <p:cNvPr id="26" name="bd_284"/>
          <p:cNvSpPr/>
          <p:nvPr/>
        </p:nvSpPr>
        <p:spPr>
          <a:xfrm>
            <a:off x="5532120" y="199948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7" name="q_285"/>
          <p:cNvSpPr/>
          <p:nvPr/>
        </p:nvSpPr>
        <p:spPr>
          <a:xfrm>
            <a:off x="5897880" y="198120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the woman in black?</a:t>
            </a:r>
            <a:endParaRPr lang="en-US" sz="1100" dirty="0"/>
          </a:p>
        </p:txBody>
      </p:sp>
      <p:sp>
        <p:nvSpPr>
          <p:cNvPr id="28" name="R2_chip286"/>
          <p:cNvSpPr/>
          <p:nvPr/>
        </p:nvSpPr>
        <p:spPr>
          <a:xfrm>
            <a:off x="5897880" y="224637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 the left, in front of the table</a:t>
            </a:r>
            <a:endParaRPr lang="en-US" sz="1000" dirty="0"/>
          </a:p>
        </p:txBody>
      </p:sp>
      <p:sp>
        <p:nvSpPr>
          <p:cNvPr id="29" name="bd_287"/>
          <p:cNvSpPr/>
          <p:nvPr/>
        </p:nvSpPr>
        <p:spPr>
          <a:xfrm>
            <a:off x="5532120" y="2563368"/>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0" name="q_288"/>
          <p:cNvSpPr/>
          <p:nvPr/>
        </p:nvSpPr>
        <p:spPr>
          <a:xfrm>
            <a:off x="5897880" y="254508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the bottle of wine?</a:t>
            </a:r>
            <a:endParaRPr lang="en-US" sz="1100" dirty="0"/>
          </a:p>
        </p:txBody>
      </p:sp>
      <p:sp>
        <p:nvSpPr>
          <p:cNvPr id="31" name="R3_chip289"/>
          <p:cNvSpPr/>
          <p:nvPr/>
        </p:nvSpPr>
        <p:spPr>
          <a:xfrm>
            <a:off x="5897880" y="281025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 the table, in the middle</a:t>
            </a:r>
            <a:endParaRPr lang="en-US" sz="1000" dirty="0"/>
          </a:p>
        </p:txBody>
      </p:sp>
      <p:sp>
        <p:nvSpPr>
          <p:cNvPr id="32" name="bd_290"/>
          <p:cNvSpPr/>
          <p:nvPr/>
        </p:nvSpPr>
        <p:spPr>
          <a:xfrm>
            <a:off x="5532120" y="312724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3" name="q_291"/>
          <p:cNvSpPr/>
          <p:nvPr/>
        </p:nvSpPr>
        <p:spPr>
          <a:xfrm>
            <a:off x="5897880" y="310896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the man in the blue shirt?</a:t>
            </a:r>
            <a:endParaRPr lang="en-US" sz="1100" dirty="0"/>
          </a:p>
        </p:txBody>
      </p:sp>
      <p:sp>
        <p:nvSpPr>
          <p:cNvPr id="34" name="R4_chip292"/>
          <p:cNvSpPr/>
          <p:nvPr/>
        </p:nvSpPr>
        <p:spPr>
          <a:xfrm>
            <a:off x="5897880" y="337413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at the back, behind the table</a:t>
            </a:r>
            <a:endParaRPr lang="en-US" sz="1000" dirty="0"/>
          </a:p>
        </p:txBody>
      </p:sp>
      <p:sp>
        <p:nvSpPr>
          <p:cNvPr id="35" name="bd_293"/>
          <p:cNvSpPr/>
          <p:nvPr/>
        </p:nvSpPr>
        <p:spPr>
          <a:xfrm>
            <a:off x="5532120" y="369112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6" name="q_294"/>
          <p:cNvSpPr/>
          <p:nvPr/>
        </p:nvSpPr>
        <p:spPr>
          <a:xfrm>
            <a:off x="5897880" y="367284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 are the lemons?</a:t>
            </a:r>
            <a:endParaRPr lang="en-US" sz="1100" dirty="0"/>
          </a:p>
        </p:txBody>
      </p:sp>
      <p:sp>
        <p:nvSpPr>
          <p:cNvPr id="37" name="R5_chip295"/>
          <p:cNvSpPr/>
          <p:nvPr/>
        </p:nvSpPr>
        <p:spPr>
          <a:xfrm>
            <a:off x="5897880" y="393801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 a bowl, next to the tomatoes</a:t>
            </a:r>
            <a:endParaRPr lang="en-US" sz="1000" dirty="0"/>
          </a:p>
        </p:txBody>
      </p:sp>
      <p:sp>
        <p:nvSpPr>
          <p:cNvPr id="38" name="bd_296"/>
          <p:cNvSpPr/>
          <p:nvPr/>
        </p:nvSpPr>
        <p:spPr>
          <a:xfrm>
            <a:off x="5532120" y="425500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9" name="q_297"/>
          <p:cNvSpPr/>
          <p:nvPr/>
        </p:nvSpPr>
        <p:spPr>
          <a:xfrm>
            <a:off x="5897880" y="42367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Where's the sea?</a:t>
            </a:r>
            <a:endParaRPr lang="en-US" sz="1100" dirty="0"/>
          </a:p>
        </p:txBody>
      </p:sp>
      <p:sp>
        <p:nvSpPr>
          <p:cNvPr id="40" name="R6_chip298"/>
          <p:cNvSpPr/>
          <p:nvPr/>
        </p:nvSpPr>
        <p:spPr>
          <a:xfrm>
            <a:off x="5897880" y="4501896"/>
            <a:ext cx="2377440" cy="292608"/>
          </a:xfrm>
          <a:prstGeom prst="roundRect">
            <a:avLst>
              <a:gd name="adj" fmla="val 3125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behind the people / at the back</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00"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01"/>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Prepositions in Italian</a:t>
            </a:r>
            <a:endParaRPr lang="en-US" sz="2500" dirty="0"/>
          </a:p>
        </p:txBody>
      </p:sp>
      <p:pic>
        <p:nvPicPr>
          <p:cNvPr id="6" name="brP_30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30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30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cmd_30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306"/>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307"/>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TPRS · meaning</a:t>
            </a:r>
            <a:endParaRPr lang="en-US" sz="700" dirty="0"/>
          </a:p>
        </p:txBody>
      </p:sp>
      <p:pic>
        <p:nvPicPr>
          <p:cNvPr id="12" name="logo_30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0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Vocabulary · in Italian</a:t>
            </a:r>
            <a:endParaRPr lang="en-US" sz="800" dirty="0"/>
          </a:p>
        </p:txBody>
      </p:sp>
      <p:sp>
        <p:nvSpPr>
          <p:cNvPr id="14" name="cd_310"/>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311"/>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312"/>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on the table</a:t>
            </a:r>
            <a:endParaRPr lang="en-US" sz="1200" dirty="0"/>
          </a:p>
        </p:txBody>
      </p:sp>
      <p:sp>
        <p:nvSpPr>
          <p:cNvPr id="17" name="R1_it313"/>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sul tavolo</a:t>
            </a:r>
            <a:endParaRPr lang="en-US" sz="1000" dirty="0"/>
          </a:p>
        </p:txBody>
      </p:sp>
      <p:sp>
        <p:nvSpPr>
          <p:cNvPr id="18" name="cd_314"/>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315"/>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316"/>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under the table</a:t>
            </a:r>
            <a:endParaRPr lang="en-US" sz="1200" dirty="0"/>
          </a:p>
        </p:txBody>
      </p:sp>
      <p:sp>
        <p:nvSpPr>
          <p:cNvPr id="21" name="R2_it317"/>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sotto il tavolo</a:t>
            </a:r>
            <a:endParaRPr lang="en-US" sz="1000" dirty="0"/>
          </a:p>
        </p:txBody>
      </p:sp>
      <p:sp>
        <p:nvSpPr>
          <p:cNvPr id="22" name="cd_318"/>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319"/>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320"/>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next to Luca</a:t>
            </a:r>
            <a:endParaRPr lang="en-US" sz="1200" dirty="0"/>
          </a:p>
        </p:txBody>
      </p:sp>
      <p:sp>
        <p:nvSpPr>
          <p:cNvPr id="25" name="R3_it321"/>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accanto a Luca</a:t>
            </a:r>
            <a:endParaRPr lang="en-US" sz="1000" dirty="0"/>
          </a:p>
        </p:txBody>
      </p:sp>
      <p:sp>
        <p:nvSpPr>
          <p:cNvPr id="26" name="cd_322"/>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323"/>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324"/>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between Anna and Luca</a:t>
            </a:r>
            <a:endParaRPr lang="en-US" sz="1000" dirty="0"/>
          </a:p>
        </p:txBody>
      </p:sp>
      <p:sp>
        <p:nvSpPr>
          <p:cNvPr id="29" name="R4_it325"/>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tra Anna e Luca</a:t>
            </a:r>
            <a:endParaRPr lang="en-US" sz="1000" dirty="0"/>
          </a:p>
        </p:txBody>
      </p:sp>
      <p:sp>
        <p:nvSpPr>
          <p:cNvPr id="30" name="cd_326"/>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327"/>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328"/>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behind the door</a:t>
            </a:r>
            <a:endParaRPr lang="en-US" sz="1200" dirty="0"/>
          </a:p>
        </p:txBody>
      </p:sp>
      <p:sp>
        <p:nvSpPr>
          <p:cNvPr id="33" name="R5_it329"/>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dietro la porta</a:t>
            </a:r>
            <a:endParaRPr lang="en-US" sz="1000" dirty="0"/>
          </a:p>
        </p:txBody>
      </p:sp>
      <p:sp>
        <p:nvSpPr>
          <p:cNvPr id="34" name="cd_330"/>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331"/>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332"/>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 front of the TV</a:t>
            </a:r>
            <a:endParaRPr lang="en-US" sz="1200" dirty="0"/>
          </a:p>
        </p:txBody>
      </p:sp>
      <p:sp>
        <p:nvSpPr>
          <p:cNvPr id="37" name="R6_it333"/>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davanti alla TV</a:t>
            </a:r>
            <a:endParaRPr lang="en-US" sz="1000" dirty="0"/>
          </a:p>
        </p:txBody>
      </p:sp>
      <p:sp>
        <p:nvSpPr>
          <p:cNvPr id="38" name="cd_334"/>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335"/>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336"/>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on the left / right</a:t>
            </a:r>
            <a:endParaRPr lang="en-US" sz="1200" dirty="0"/>
          </a:p>
        </p:txBody>
      </p:sp>
      <p:sp>
        <p:nvSpPr>
          <p:cNvPr id="41" name="R7_it337"/>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 sinistra / a destra</a:t>
            </a:r>
            <a:endParaRPr lang="en-US" sz="1000" dirty="0"/>
          </a:p>
        </p:txBody>
      </p:sp>
      <p:sp>
        <p:nvSpPr>
          <p:cNvPr id="42" name="cd_338"/>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339"/>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340"/>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 the middle</a:t>
            </a:r>
            <a:endParaRPr lang="en-US" sz="1200" dirty="0"/>
          </a:p>
        </p:txBody>
      </p:sp>
      <p:sp>
        <p:nvSpPr>
          <p:cNvPr id="45" name="R8_it341"/>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 mezzo / al centro</a:t>
            </a:r>
            <a:endParaRPr lang="en-US" sz="1000" dirty="0"/>
          </a:p>
        </p:txBody>
      </p:sp>
      <p:sp>
        <p:nvSpPr>
          <p:cNvPr id="46" name="cd_342"/>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43"/>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44"/>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at the front / back</a:t>
            </a:r>
            <a:endParaRPr lang="en-US" sz="1150" dirty="0"/>
          </a:p>
        </p:txBody>
      </p:sp>
      <p:sp>
        <p:nvSpPr>
          <p:cNvPr id="49" name="R9_it345"/>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davanti / in fondo (in una foto)</a:t>
            </a:r>
            <a:endParaRPr lang="en-US" sz="800" dirty="0"/>
          </a:p>
        </p:txBody>
      </p:sp>
      <p:sp>
        <p:nvSpPr>
          <p:cNvPr id="50" name="cd_346"/>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347"/>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348"/>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 a bowl</a:t>
            </a:r>
            <a:endParaRPr lang="en-US" sz="1200" dirty="0"/>
          </a:p>
        </p:txBody>
      </p:sp>
      <p:sp>
        <p:nvSpPr>
          <p:cNvPr id="53" name="R10_it349"/>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 una ciotola</a:t>
            </a:r>
            <a:endParaRPr lang="en-US" sz="1000" dirty="0"/>
          </a:p>
        </p:txBody>
      </p:sp>
      <p:sp>
        <p:nvSpPr>
          <p:cNvPr id="54" name="cd_350"/>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351"/>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352"/>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at home</a:t>
            </a:r>
            <a:endParaRPr lang="en-US" sz="1200" dirty="0"/>
          </a:p>
        </p:txBody>
      </p:sp>
      <p:sp>
        <p:nvSpPr>
          <p:cNvPr id="57" name="R11_it353"/>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 casa</a:t>
            </a:r>
            <a:endParaRPr lang="en-US" sz="1000" dirty="0"/>
          </a:p>
        </p:txBody>
      </p:sp>
      <p:sp>
        <p:nvSpPr>
          <p:cNvPr id="58" name="cd_354"/>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355"/>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356"/>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opposite me</a:t>
            </a:r>
            <a:endParaRPr lang="en-US" sz="1200" dirty="0"/>
          </a:p>
        </p:txBody>
      </p:sp>
      <p:sp>
        <p:nvSpPr>
          <p:cNvPr id="61" name="R12_it357"/>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 fronte a me</a:t>
            </a:r>
            <a:endParaRPr lang="en-US" sz="1000" dirty="0"/>
          </a:p>
        </p:txBody>
      </p:sp>
      <p:sp>
        <p:nvSpPr>
          <p:cNvPr id="62" name="R13_wc358"/>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359"/>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in front of = davanti a (✗ in front to)   ·   opposite = di fronte (facing you)   ·   on the left (✗ at the left)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0"/>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61"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362"/>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Nonno's photo disaster</a:t>
            </a:r>
            <a:endParaRPr lang="en-US" sz="2500" dirty="0"/>
          </a:p>
        </p:txBody>
      </p:sp>
      <p:pic>
        <p:nvPicPr>
          <p:cNvPr id="6" name="brP_363"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364"/>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36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cmd_36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67"/>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368"/>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369"/>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37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7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Speaking · class story (TPRS)</a:t>
            </a:r>
            <a:endParaRPr lang="en-US" sz="800" dirty="0"/>
          </a:p>
        </p:txBody>
      </p:sp>
      <p:sp>
        <p:nvSpPr>
          <p:cNvPr id="15" name="cd_372"/>
          <p:cNvSpPr/>
          <p:nvPr/>
        </p:nvSpPr>
        <p:spPr>
          <a:xfrm>
            <a:off x="320040" y="1417320"/>
            <a:ext cx="2697480" cy="2852928"/>
          </a:xfrm>
          <a:prstGeom prst="roundRect">
            <a:avLst>
              <a:gd name="adj" fmla="val 4746"/>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37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7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8" name="il_375"/>
          <p:cNvSpPr/>
          <p:nvPr/>
        </p:nvSpPr>
        <p:spPr>
          <a:xfrm>
            <a:off x="886968" y="1892808"/>
            <a:ext cx="2039112" cy="230428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he's wearing</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indossa / porta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he's carrying</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porta (in mano)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she's sitting next to</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è seduta accanto a</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under the table</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sotto il tavolo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on the table</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sul tavolo</a:t>
            </a:r>
            <a:endParaRPr lang="en-US" sz="1000" dirty="0"/>
          </a:p>
          <a:p>
            <a:pPr marL="152400" indent="-152400">
              <a:spcBef>
                <a:spcPts val="5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it's standing on</a:t>
            </a:r>
            <a:endParaRPr lang="en-US" sz="1000" dirty="0"/>
          </a:p>
          <a:p>
            <a:pPr marL="152400" indent="-152400">
              <a:spcAft>
                <a:spcPts val="200"/>
              </a:spcAft>
              <a:buSzPct val="100000"/>
              <a:buChar char=" "/>
            </a:pPr>
            <a:r>
              <a:rPr lang="en-US" sz="850" i="1" dirty="0">
                <a:solidFill>
                  <a:srgbClr val="5B6785"/>
                </a:solidFill>
                <a:latin typeface="Segoe UI Semibold" pitchFamily="34" charset="0"/>
                <a:ea typeface="Segoe UI Semibold" pitchFamily="34" charset="-122"/>
                <a:cs typeface="Segoe UI Semibold" pitchFamily="34" charset="-120"/>
              </a:rPr>
              <a:t>è in piedi su</a:t>
            </a:r>
            <a:endParaRPr lang="en-US" sz="1000" dirty="0"/>
          </a:p>
        </p:txBody>
      </p:sp>
      <p:sp>
        <p:nvSpPr>
          <p:cNvPr id="19" name="R1_sb376"/>
          <p:cNvSpPr/>
          <p:nvPr/>
        </p:nvSpPr>
        <p:spPr>
          <a:xfrm>
            <a:off x="3200400" y="145389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R1_sl377"/>
          <p:cNvSpPr/>
          <p:nvPr/>
        </p:nvSpPr>
        <p:spPr>
          <a:xfrm>
            <a:off x="3584448" y="141732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This is Nonno Pino. He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wearing</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a big yellow hat.</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he wearing a hat? · Yellow or red? · Who is wearing a yellow hat?</a:t>
            </a:r>
            <a:endParaRPr lang="en-US" sz="1250" dirty="0"/>
          </a:p>
        </p:txBody>
      </p:sp>
      <p:sp>
        <p:nvSpPr>
          <p:cNvPr id="21" name="R2_sb378"/>
          <p:cNvSpPr/>
          <p:nvPr/>
        </p:nvSpPr>
        <p:spPr>
          <a:xfrm>
            <a:off x="3200400" y="201777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R2_sl379"/>
          <p:cNvSpPr/>
          <p:nvPr/>
        </p:nvSpPr>
        <p:spPr>
          <a:xfrm>
            <a:off x="3584448" y="198120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It's Sunday lunch. Nonno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carrying</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his old camera.</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he carrying a camera or a cake? · What is Nonno carrying?</a:t>
            </a:r>
            <a:endParaRPr lang="en-US" sz="1250" dirty="0"/>
          </a:p>
        </p:txBody>
      </p:sp>
      <p:sp>
        <p:nvSpPr>
          <p:cNvPr id="23" name="R3_sb380"/>
          <p:cNvSpPr/>
          <p:nvPr/>
        </p:nvSpPr>
        <p:spPr>
          <a:xfrm>
            <a:off x="3200400" y="2581656"/>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R3_sl381"/>
          <p:cNvSpPr/>
          <p:nvPr/>
        </p:nvSpPr>
        <p:spPr>
          <a:xfrm>
            <a:off x="3584448" y="2545080"/>
            <a:ext cx="5303520" cy="499872"/>
          </a:xfrm>
          <a:prstGeom prst="roundRect">
            <a:avLst>
              <a:gd name="adj" fmla="val 21951"/>
            </a:avLst>
          </a:prstGeom>
          <a:solidFill>
            <a:srgbClr val="FFFFFF"/>
          </a:solidFill>
          <a:ln w="19050">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Nonna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sitting next to</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the window. She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eating</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pasta.</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Nonna next to the window? · Is she eating pasta or fish?</a:t>
            </a:r>
            <a:endParaRPr lang="en-US" sz="1250" dirty="0"/>
          </a:p>
        </p:txBody>
      </p:sp>
      <p:sp>
        <p:nvSpPr>
          <p:cNvPr id="25" name="R4_sb382"/>
          <p:cNvSpPr/>
          <p:nvPr/>
        </p:nvSpPr>
        <p:spPr>
          <a:xfrm>
            <a:off x="3200400" y="3145536"/>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R4_sl383"/>
          <p:cNvSpPr/>
          <p:nvPr/>
        </p:nvSpPr>
        <p:spPr>
          <a:xfrm>
            <a:off x="3584448" y="3108960"/>
            <a:ext cx="5303520" cy="499872"/>
          </a:xfrm>
          <a:prstGeom prst="roundRect">
            <a:avLst>
              <a:gd name="adj" fmla="val 21951"/>
            </a:avLst>
          </a:prstGeom>
          <a:solidFill>
            <a:srgbClr val="FFFFFF"/>
          </a:solidFill>
          <a:ln w="19050">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Nonno says, 'Smile!' The dog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sitting under the table</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the dog under the table or on the table? · Where is the dog?</a:t>
            </a:r>
            <a:endParaRPr lang="en-US" sz="1250" dirty="0"/>
          </a:p>
        </p:txBody>
      </p:sp>
      <p:sp>
        <p:nvSpPr>
          <p:cNvPr id="27" name="R5_sb384"/>
          <p:cNvSpPr/>
          <p:nvPr/>
        </p:nvSpPr>
        <p:spPr>
          <a:xfrm>
            <a:off x="3200400" y="3709416"/>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R5_sl385"/>
          <p:cNvSpPr/>
          <p:nvPr/>
        </p:nvSpPr>
        <p:spPr>
          <a:xfrm>
            <a:off x="3584448" y="3672840"/>
            <a:ext cx="5303520" cy="499872"/>
          </a:xfrm>
          <a:prstGeom prst="roundRect">
            <a:avLst>
              <a:gd name="adj" fmla="val 21951"/>
            </a:avLst>
          </a:prstGeom>
          <a:solidFill>
            <a:srgbClr val="FFFFFF"/>
          </a:solidFill>
          <a:ln w="19050">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Click! But in the photo the dog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standing on the table</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Where is the dog now? · What is it eating? (you decide!)</a:t>
            </a:r>
            <a:endParaRPr lang="en-US" sz="1250" dirty="0"/>
          </a:p>
        </p:txBody>
      </p:sp>
      <p:sp>
        <p:nvSpPr>
          <p:cNvPr id="29" name="R6_sb386"/>
          <p:cNvSpPr/>
          <p:nvPr/>
        </p:nvSpPr>
        <p:spPr>
          <a:xfrm>
            <a:off x="3200400" y="427329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R6_sl387"/>
          <p:cNvSpPr/>
          <p:nvPr/>
        </p:nvSpPr>
        <p:spPr>
          <a:xfrm>
            <a:off x="3584448" y="4236720"/>
            <a:ext cx="5303520" cy="499872"/>
          </a:xfrm>
          <a:prstGeom prst="roundRect">
            <a:avLst>
              <a:gd name="adj" fmla="val 21951"/>
            </a:avLst>
          </a:prstGeom>
          <a:solidFill>
            <a:srgbClr val="FFFFFF"/>
          </a:solidFill>
          <a:ln w="19050">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And the dog </a:t>
            </a:r>
            <a:pPr indent="0" marL="0">
              <a:buNone/>
            </a:pPr>
            <a:r>
              <a:rPr lang="en-US" sz="1250" b="1" dirty="0">
                <a:solidFill>
                  <a:srgbClr val="7B5CD6"/>
                </a:solidFill>
                <a:highlight>
                  <a:srgbClr val="FFF1A8"/>
                </a:highlight>
                <a:latin typeface="Segoe UI Semibold" pitchFamily="34" charset="0"/>
                <a:ea typeface="Segoe UI Semibold" pitchFamily="34" charset="-122"/>
                <a:cs typeface="Segoe UI Semibold" pitchFamily="34" charset="-120"/>
              </a:rPr>
              <a:t>is wearing</a:t>
            </a:r>
            <a:pPr indent="0" marL="0">
              <a:buNone/>
            </a:pPr>
            <a:r>
              <a:rPr lang="en-US" sz="1250" dirty="0">
                <a:solidFill>
                  <a:srgbClr val="1B2559"/>
                </a:solidFill>
                <a:latin typeface="Segoe UI Semibold" pitchFamily="34" charset="0"/>
                <a:ea typeface="Segoe UI Semibold" pitchFamily="34" charset="-122"/>
                <a:cs typeface="Segoe UI Semibold" pitchFamily="34" charset="-120"/>
              </a:rPr>
              <a:t> Nonno's yellow hat!</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Who's wearing the hat now? · And you – what are you wearing today?</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400"/>
                                        <p:tgtEl>
                                          <p:spTgt spid="27"/>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4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400"/>
                                        <p:tgtEl>
                                          <p:spTgt spid="29"/>
                                        </p:tgtEl>
                                      </p:cBhvr>
                                    </p:animEffect>
                                  </p:childTnLst>
                                </p:cTn>
                              </p:par>
                              <p:par>
                                <p:cTn id="48" presetID="10" presetClass="entr" presetSubtype="0" fill="hold"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8"/>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89"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390"/>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/ɜː/ sound</a:t>
            </a:r>
            <a:endParaRPr lang="en-US" sz="2500" dirty="0"/>
          </a:p>
        </p:txBody>
      </p:sp>
      <p:pic>
        <p:nvPicPr>
          <p:cNvPr id="6" name="brP_391"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392"/>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words. Which one is different?</a:t>
            </a:r>
            <a:endParaRPr lang="en-US" sz="1250" dirty="0"/>
          </a:p>
        </p:txBody>
      </p:sp>
      <p:sp>
        <p:nvSpPr>
          <p:cNvPr id="8" name="insIT_39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le parole. Quale è diversa?</a:t>
            </a:r>
            <a:endParaRPr lang="en-US" sz="950" dirty="0"/>
          </a:p>
        </p:txBody>
      </p:sp>
      <p:sp>
        <p:nvSpPr>
          <p:cNvPr id="9" name="cmd_394"/>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0" name="meta_395"/>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396"/>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700" b="1" dirty="0">
                <a:solidFill>
                  <a:srgbClr val="1B2559"/>
                </a:solidFill>
                <a:latin typeface="Segoe UI Semibold" pitchFamily="34" charset="0"/>
                <a:ea typeface="Segoe UI Semibold" pitchFamily="34" charset="-122"/>
                <a:cs typeface="Segoe UI Semibold" pitchFamily="34" charset="-120"/>
              </a:rPr>
              <a:t>🎯 Pronunciation</a:t>
            </a:r>
            <a:pPr algn="ctr" indent="0" marL="0">
              <a:buNone/>
            </a:pPr>
            <a:r>
              <a:rPr lang="en-US" sz="700" dirty="0">
                <a:solidFill>
                  <a:srgbClr val="7B5CD6"/>
                </a:solidFill>
                <a:latin typeface="Segoe UI Semibold" pitchFamily="34" charset="0"/>
                <a:ea typeface="Segoe UI Semibold" pitchFamily="34" charset="-122"/>
                <a:cs typeface="Segoe UI Semibold" pitchFamily="34" charset="-120"/>
              </a:rPr>
              <a:t>  ·  Controlled practice</a:t>
            </a:r>
            <a:endParaRPr lang="en-US" sz="700" dirty="0"/>
          </a:p>
        </p:txBody>
      </p:sp>
      <p:pic>
        <p:nvPicPr>
          <p:cNvPr id="12" name="logo_3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Pronunciation · /ɜː/ as in shirt   ·   📖 SB p.10 · Pronunciation /ɜː/</a:t>
            </a:r>
            <a:endParaRPr lang="en-US" sz="800" dirty="0"/>
          </a:p>
        </p:txBody>
      </p:sp>
      <p:sp>
        <p:nvSpPr>
          <p:cNvPr id="14" name="cd_399"/>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0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0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402"/>
          <p:cNvSpPr/>
          <p:nvPr/>
        </p:nvSpPr>
        <p:spPr>
          <a:xfrm>
            <a:off x="886968" y="1892808"/>
            <a:ext cx="2039112" cy="548640"/>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/ɜː/ = shirt · skirt · work · her · Thursday · first   (mouth relaxed, lips NOT round)</a:t>
            </a:r>
            <a:endParaRPr lang="en-US" sz="1050" dirty="0"/>
          </a:p>
        </p:txBody>
      </p:sp>
      <p:sp>
        <p:nvSpPr>
          <p:cNvPr id="18" name="pf_403"/>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04" descr="/home/claude/lls-course/v2/cache/3a1_busy_street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405"/>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406"/>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shirt · skirt · short</a:t>
            </a:r>
            <a:endParaRPr lang="en-US" sz="1150" dirty="0"/>
          </a:p>
        </p:txBody>
      </p:sp>
      <p:sp>
        <p:nvSpPr>
          <p:cNvPr id="22" name="R1_chip407"/>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short /ɔː/</a:t>
            </a:r>
            <a:endParaRPr lang="en-US" sz="1000" dirty="0"/>
          </a:p>
        </p:txBody>
      </p:sp>
      <p:sp>
        <p:nvSpPr>
          <p:cNvPr id="23" name="bd_408"/>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409"/>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work · walk · word</a:t>
            </a:r>
            <a:endParaRPr lang="en-US" sz="1150" dirty="0"/>
          </a:p>
        </p:txBody>
      </p:sp>
      <p:sp>
        <p:nvSpPr>
          <p:cNvPr id="25" name="R2_chip410"/>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walk /ɔː/</a:t>
            </a:r>
            <a:endParaRPr lang="en-US" sz="1000" dirty="0"/>
          </a:p>
        </p:txBody>
      </p:sp>
      <p:sp>
        <p:nvSpPr>
          <p:cNvPr id="26" name="bd_411"/>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412"/>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her · hair · bird</a:t>
            </a:r>
            <a:endParaRPr lang="en-US" sz="1150" dirty="0"/>
          </a:p>
        </p:txBody>
      </p:sp>
      <p:sp>
        <p:nvSpPr>
          <p:cNvPr id="28" name="R3_chip413"/>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hair /eə/</a:t>
            </a:r>
            <a:endParaRPr lang="en-US" sz="1000" dirty="0"/>
          </a:p>
        </p:txBody>
      </p:sp>
      <p:sp>
        <p:nvSpPr>
          <p:cNvPr id="29" name="bd_414"/>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415"/>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first · fast · Thursday</a:t>
            </a:r>
            <a:endParaRPr lang="en-US" sz="1150" dirty="0"/>
          </a:p>
        </p:txBody>
      </p:sp>
      <p:sp>
        <p:nvSpPr>
          <p:cNvPr id="31" name="R4_chip416"/>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fast /ɑː/</a:t>
            </a:r>
            <a:endParaRPr lang="en-US" sz="1000" dirty="0"/>
          </a:p>
        </p:txBody>
      </p:sp>
      <p:sp>
        <p:nvSpPr>
          <p:cNvPr id="32" name="bd_417"/>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418"/>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T-shirt · third · sport</a:t>
            </a:r>
            <a:endParaRPr lang="en-US" sz="1150" dirty="0"/>
          </a:p>
        </p:txBody>
      </p:sp>
      <p:sp>
        <p:nvSpPr>
          <p:cNvPr id="34" name="R5_chip419"/>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sport /ɔː/</a:t>
            </a:r>
            <a:endParaRPr lang="en-US" sz="1000" dirty="0"/>
          </a:p>
        </p:txBody>
      </p:sp>
      <p:sp>
        <p:nvSpPr>
          <p:cNvPr id="35" name="bd_420"/>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421"/>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Say it! Her first shirt is dirty on Thursday.</a:t>
            </a:r>
            <a:endParaRPr lang="en-US" sz="1150" dirty="0"/>
          </a:p>
        </p:txBody>
      </p:sp>
      <p:sp>
        <p:nvSpPr>
          <p:cNvPr id="37" name="R6_chip422"/>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slowly… then fast ×3!</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2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42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Grandma's party: A or B?</a:t>
            </a:r>
            <a:endParaRPr lang="en-US" sz="2500" dirty="0"/>
          </a:p>
        </p:txBody>
      </p:sp>
      <p:pic>
        <p:nvPicPr>
          <p:cNvPr id="6" name="brP_426"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427"/>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6 differences. Say them in English!</a:t>
            </a:r>
            <a:endParaRPr lang="en-US" sz="1250" dirty="0"/>
          </a:p>
        </p:txBody>
      </p:sp>
      <p:sp>
        <p:nvSpPr>
          <p:cNvPr id="8" name="insIT_42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6 differenze. Dille in inglese!</a:t>
            </a:r>
            <a:endParaRPr lang="en-US" sz="950" dirty="0"/>
          </a:p>
        </p:txBody>
      </p:sp>
      <p:sp>
        <p:nvSpPr>
          <p:cNvPr id="9" name="cmd_42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cmd_430"/>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431"/>
          <p:cNvSpPr/>
          <p:nvPr/>
        </p:nvSpPr>
        <p:spPr>
          <a:xfrm>
            <a:off x="6510528" y="950976"/>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9 min   👥 pairs</a:t>
            </a:r>
            <a:endParaRPr lang="en-US" sz="950" dirty="0"/>
          </a:p>
        </p:txBody>
      </p:sp>
      <p:sp>
        <p:nvSpPr>
          <p:cNvPr id="12" name="tag_432"/>
          <p:cNvSpPr/>
          <p:nvPr/>
        </p:nvSpPr>
        <p:spPr>
          <a:xfrm>
            <a:off x="6510528" y="1188720"/>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43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3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Speaking game · spot the difference   ·   📖 SB p.11 · Communication (our version)</a:t>
            </a:r>
            <a:endParaRPr lang="en-US" sz="800" dirty="0"/>
          </a:p>
        </p:txBody>
      </p:sp>
      <p:sp>
        <p:nvSpPr>
          <p:cNvPr id="15" name="pf_435"/>
          <p:cNvSpPr/>
          <p:nvPr/>
        </p:nvSpPr>
        <p:spPr>
          <a:xfrm>
            <a:off x="365760" y="1417320"/>
            <a:ext cx="4251960" cy="1920240"/>
          </a:xfrm>
          <a:prstGeom prst="roundRect">
            <a:avLst>
              <a:gd name="adj" fmla="val 809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436" descr="/home/claude/lls-course/v2/cache/a2_party_A_png_1001x440_31.png">    </p:cNvPr>
          <p:cNvPicPr>
            <a:picLocks noChangeAspect="1"/>
          </p:cNvPicPr>
          <p:nvPr/>
        </p:nvPicPr>
        <p:blipFill>
          <a:blip r:embed="rId5"/>
          <a:stretch>
            <a:fillRect/>
          </a:stretch>
        </p:blipFill>
        <p:spPr>
          <a:xfrm>
            <a:off x="411480" y="1463040"/>
            <a:ext cx="4160520" cy="1828800"/>
          </a:xfrm>
          <a:prstGeom prst="rect">
            <a:avLst/>
          </a:prstGeom>
        </p:spPr>
      </p:pic>
      <p:sp>
        <p:nvSpPr>
          <p:cNvPr id="17" name="bd_437"/>
          <p:cNvSpPr/>
          <p:nvPr/>
        </p:nvSpPr>
        <p:spPr>
          <a:xfrm>
            <a:off x="265176" y="131673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18" name="pf_438"/>
          <p:cNvSpPr/>
          <p:nvPr/>
        </p:nvSpPr>
        <p:spPr>
          <a:xfrm>
            <a:off x="4754880" y="1417320"/>
            <a:ext cx="4251960" cy="1920240"/>
          </a:xfrm>
          <a:prstGeom prst="roundRect">
            <a:avLst>
              <a:gd name="adj" fmla="val 809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39" descr="/home/claude/lls-course/v2/cache/a2_party_B_png_1001x440_31.png">    </p:cNvPr>
          <p:cNvPicPr>
            <a:picLocks noChangeAspect="1"/>
          </p:cNvPicPr>
          <p:nvPr/>
        </p:nvPicPr>
        <p:blipFill>
          <a:blip r:embed="rId6"/>
          <a:stretch>
            <a:fillRect/>
          </a:stretch>
        </p:blipFill>
        <p:spPr>
          <a:xfrm>
            <a:off x="4800600" y="1463040"/>
            <a:ext cx="4160520" cy="1828800"/>
          </a:xfrm>
          <a:prstGeom prst="rect">
            <a:avLst/>
          </a:prstGeom>
        </p:spPr>
      </p:pic>
      <p:sp>
        <p:nvSpPr>
          <p:cNvPr id="20" name="bd_440"/>
          <p:cNvSpPr/>
          <p:nvPr/>
        </p:nvSpPr>
        <p:spPr>
          <a:xfrm>
            <a:off x="4654296" y="131673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1" name="bd_441"/>
          <p:cNvSpPr/>
          <p:nvPr/>
        </p:nvSpPr>
        <p:spPr>
          <a:xfrm>
            <a:off x="411480" y="3429000"/>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R1_chip442"/>
          <p:cNvSpPr/>
          <p:nvPr/>
        </p:nvSpPr>
        <p:spPr>
          <a:xfrm>
            <a:off x="777240" y="3410712"/>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man on the left: a blue suit (A) / a grey suit (B)</a:t>
            </a:r>
            <a:endParaRPr lang="en-US" sz="1050" dirty="0"/>
          </a:p>
        </p:txBody>
      </p:sp>
      <p:sp>
        <p:nvSpPr>
          <p:cNvPr id="23" name="bd_443"/>
          <p:cNvSpPr/>
          <p:nvPr/>
        </p:nvSpPr>
        <p:spPr>
          <a:xfrm>
            <a:off x="4800600" y="3429000"/>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R2_chip444"/>
          <p:cNvSpPr/>
          <p:nvPr/>
        </p:nvSpPr>
        <p:spPr>
          <a:xfrm>
            <a:off x="5166360" y="3410712"/>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woman: a glass of wine (A) / a cup of coffee (B)</a:t>
            </a:r>
            <a:endParaRPr lang="en-US" sz="1000" dirty="0"/>
          </a:p>
        </p:txBody>
      </p:sp>
      <p:sp>
        <p:nvSpPr>
          <p:cNvPr id="25" name="bd_445"/>
          <p:cNvSpPr/>
          <p:nvPr/>
        </p:nvSpPr>
        <p:spPr>
          <a:xfrm>
            <a:off x="411480" y="3803904"/>
            <a:ext cx="292608" cy="29260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R3_chip446"/>
          <p:cNvSpPr/>
          <p:nvPr/>
        </p:nvSpPr>
        <p:spPr>
          <a:xfrm>
            <a:off x="777240" y="3785616"/>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dog: under the table (A) / next to the girl (B)</a:t>
            </a:r>
            <a:endParaRPr lang="en-US" sz="1050" dirty="0"/>
          </a:p>
        </p:txBody>
      </p:sp>
      <p:sp>
        <p:nvSpPr>
          <p:cNvPr id="27" name="bd_447"/>
          <p:cNvSpPr/>
          <p:nvPr/>
        </p:nvSpPr>
        <p:spPr>
          <a:xfrm>
            <a:off x="4800600" y="3803904"/>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R4_chip448"/>
          <p:cNvSpPr/>
          <p:nvPr/>
        </p:nvSpPr>
        <p:spPr>
          <a:xfrm>
            <a:off x="5166360" y="3785616"/>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young man: a cap (A) / a top hat (B)</a:t>
            </a:r>
            <a:endParaRPr lang="en-US" sz="1050" dirty="0"/>
          </a:p>
        </p:txBody>
      </p:sp>
      <p:sp>
        <p:nvSpPr>
          <p:cNvPr id="29" name="bd_449"/>
          <p:cNvSpPr/>
          <p:nvPr/>
        </p:nvSpPr>
        <p:spPr>
          <a:xfrm>
            <a:off x="411480" y="4178808"/>
            <a:ext cx="292608" cy="29260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R5_chip450"/>
          <p:cNvSpPr/>
          <p:nvPr/>
        </p:nvSpPr>
        <p:spPr>
          <a:xfrm>
            <a:off x="777240" y="4160520"/>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girl: dancing (A) / looking at her phone (B)</a:t>
            </a:r>
            <a:endParaRPr lang="en-US" sz="1050" dirty="0"/>
          </a:p>
        </p:txBody>
      </p:sp>
      <p:sp>
        <p:nvSpPr>
          <p:cNvPr id="31" name="bd_451"/>
          <p:cNvSpPr/>
          <p:nvPr/>
        </p:nvSpPr>
        <p:spPr>
          <a:xfrm>
            <a:off x="4800600" y="4178808"/>
            <a:ext cx="292608" cy="29260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2" name="R6_chip452"/>
          <p:cNvSpPr/>
          <p:nvPr/>
        </p:nvSpPr>
        <p:spPr>
          <a:xfrm>
            <a:off x="5166360" y="4160520"/>
            <a:ext cx="3794760" cy="329184"/>
          </a:xfrm>
          <a:prstGeom prst="roundRect">
            <a:avLst>
              <a:gd name="adj" fmla="val 2777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cake: on the table (A) / on the floor (B)</a:t>
            </a:r>
            <a:endParaRPr lang="en-US" sz="1050" dirty="0"/>
          </a:p>
        </p:txBody>
      </p:sp>
      <p:sp>
        <p:nvSpPr>
          <p:cNvPr id="33" name="spx_453"/>
          <p:cNvSpPr/>
          <p:nvPr/>
        </p:nvSpPr>
        <p:spPr>
          <a:xfrm>
            <a:off x="411480" y="4553712"/>
            <a:ext cx="8549640" cy="292608"/>
          </a:xfrm>
          <a:prstGeom prst="rect">
            <a:avLst/>
          </a:prstGeom>
          <a:noFill/>
          <a:ln/>
        </p:spPr>
        <p:txBody>
          <a:bodyPr wrap="square" lIns="76200" tIns="0" rIns="76200" bIns="0" rtlCol="0" anchor="ctr">
            <a:normAutofit/>
          </a:bodyPr>
          <a:lstStyle/>
          <a:p>
            <a:pPr indent="0" marL="0">
              <a:buNone/>
            </a:pPr>
            <a:r>
              <a:rPr lang="en-US" sz="9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In picture A the man on the left is wearing a blue suit, but in picture B he's wearing a grey suit.</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55"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456"/>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Show and tell: your photo</a:t>
            </a:r>
            <a:endParaRPr lang="en-US" sz="2500" dirty="0"/>
          </a:p>
        </p:txBody>
      </p:sp>
      <p:pic>
        <p:nvPicPr>
          <p:cNvPr id="6" name="brP_457"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458"/>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Show a photo on your phone. Describe it!</a:t>
            </a:r>
            <a:endParaRPr lang="en-US" sz="1250" dirty="0"/>
          </a:p>
        </p:txBody>
      </p:sp>
      <p:sp>
        <p:nvSpPr>
          <p:cNvPr id="8" name="insIT_45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Mostra una foto sul telefono. Descrivila!</a:t>
            </a:r>
            <a:endParaRPr lang="en-US" sz="950" dirty="0"/>
          </a:p>
        </p:txBody>
      </p:sp>
      <p:sp>
        <p:nvSpPr>
          <p:cNvPr id="9" name="cmd_460"/>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461"/>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7 min   👥 pairs</a:t>
            </a:r>
            <a:endParaRPr lang="en-US" sz="950" dirty="0"/>
          </a:p>
        </p:txBody>
      </p:sp>
      <p:sp>
        <p:nvSpPr>
          <p:cNvPr id="11" name="tag_462"/>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4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Speaking · your photo</a:t>
            </a:r>
            <a:endParaRPr lang="en-US" sz="800" dirty="0"/>
          </a:p>
        </p:txBody>
      </p:sp>
      <p:sp>
        <p:nvSpPr>
          <p:cNvPr id="14" name="pf_465"/>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466" descr="/home/claude/lls-course/v2/cache/2a2_holiday_album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467"/>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468"/>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469"/>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470"/>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This is a photo of… last summer.</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On the left… / In the middle…</a:t>
            </a:r>
            <a:endParaRPr lang="en-US" sz="900" dirty="0"/>
          </a:p>
          <a:p>
            <a:pPr marL="152400" indent="-152400">
              <a:spcBef>
                <a:spcPts val="5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He's wearing… · They're laughing.</a:t>
            </a:r>
            <a:endParaRPr lang="en-US" sz="900" dirty="0"/>
          </a:p>
        </p:txBody>
      </p:sp>
      <p:sp>
        <p:nvSpPr>
          <p:cNvPr id="20" name="R1_qb471"/>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472"/>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Choose a photo with people. Where and when is it?</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This is my cousin's wedding in Palermo, last June.</a:t>
            </a:r>
            <a:endParaRPr lang="en-US" sz="1250" dirty="0"/>
          </a:p>
        </p:txBody>
      </p:sp>
      <p:sp>
        <p:nvSpPr>
          <p:cNvPr id="22" name="R2_qb473"/>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474"/>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Who's in it? Where are they?</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My mum is on the left, next to my aunt.</a:t>
            </a:r>
            <a:endParaRPr lang="en-US" sz="1250" dirty="0"/>
          </a:p>
        </p:txBody>
      </p:sp>
      <p:sp>
        <p:nvSpPr>
          <p:cNvPr id="24" name="R3_qb475"/>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476"/>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are they wearing?</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My dad is wearing a terrible tie!</a:t>
            </a:r>
            <a:endParaRPr lang="en-US" sz="1250" dirty="0"/>
          </a:p>
        </p:txBody>
      </p:sp>
      <p:sp>
        <p:nvSpPr>
          <p:cNvPr id="26" name="R4_qb477"/>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478"/>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are they doing?</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My brother is dancing and my grandma is laughing.</a:t>
            </a:r>
            <a:endParaRPr lang="en-US" sz="1250" dirty="0"/>
          </a:p>
        </p:txBody>
      </p:sp>
      <p:sp>
        <p:nvSpPr>
          <p:cNvPr id="28" name="R5_qb479"/>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480"/>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Partner: ask 2 questions!</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Who's the man behind you? Why is he laughing?</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82"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83"/>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8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48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4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meta_487"/>
          <p:cNvSpPr/>
          <p:nvPr/>
        </p:nvSpPr>
        <p:spPr>
          <a:xfrm>
            <a:off x="6510528" y="182880"/>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488"/>
          <p:cNvSpPr/>
          <p:nvPr/>
        </p:nvSpPr>
        <p:spPr>
          <a:xfrm>
            <a:off x="6510528" y="420624"/>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4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Exit · what can you remember?</a:t>
            </a:r>
            <a:endParaRPr lang="en-US" sz="800" dirty="0"/>
          </a:p>
        </p:txBody>
      </p:sp>
      <p:sp>
        <p:nvSpPr>
          <p:cNvPr id="13" name="bd_491"/>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492"/>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clothes words – no looking!</a:t>
            </a:r>
            <a:endParaRPr lang="en-US" sz="1400" dirty="0"/>
          </a:p>
        </p:txBody>
      </p:sp>
      <p:sp>
        <p:nvSpPr>
          <p:cNvPr id="15" name="bd_493"/>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494"/>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sentences about the class NOW: "Anna is wearing…"</a:t>
            </a:r>
            <a:endParaRPr lang="en-US" sz="1400" dirty="0"/>
          </a:p>
        </p:txBody>
      </p:sp>
      <p:sp>
        <p:nvSpPr>
          <p:cNvPr id="17" name="bd_495"/>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496"/>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difference: wear or carry?</a:t>
            </a:r>
            <a:endParaRPr lang="en-US" sz="1400" dirty="0"/>
          </a:p>
        </p:txBody>
      </p:sp>
      <p:sp>
        <p:nvSpPr>
          <p:cNvPr id="19" name="cd_497"/>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498"/>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499"/>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500"/>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1C (normal / easier) in the LLS app</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1C (teacher's choice)</a:t>
            </a:r>
            <a:endParaRPr lang="en-US" sz="1150" dirty="0"/>
          </a:p>
          <a:p>
            <a:pPr marL="152400" indent="-152400">
              <a:spcBef>
                <a:spcPts val="5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Describe a photo from your phone: 50–70 words</a:t>
            </a:r>
            <a:endParaRPr lang="en-US" sz="1150" dirty="0"/>
          </a:p>
        </p:txBody>
      </p:sp>
      <p:sp>
        <p:nvSpPr>
          <p:cNvPr id="23" name="st_501"/>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Practical English 1 · Hotel problems</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03"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504"/>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505"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506"/>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50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50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509"/>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510"/>
          <p:cNvSpPr/>
          <p:nvPr/>
        </p:nvSpPr>
        <p:spPr>
          <a:xfrm>
            <a:off x="6510528" y="804672"/>
            <a:ext cx="1901952" cy="219456"/>
          </a:xfrm>
          <a:prstGeom prst="roundRect">
            <a:avLst>
              <a:gd name="adj" fmla="val 58333"/>
            </a:avLst>
          </a:prstGeom>
          <a:solidFill>
            <a:srgbClr val="F3EEFF"/>
          </a:solidFill>
          <a:ln w="12700">
            <a:solidFill>
              <a:srgbClr val="D9CCF5"/>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5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Review · what did you do today?</a:t>
            </a:r>
            <a:endParaRPr lang="en-US" sz="800" dirty="0"/>
          </a:p>
        </p:txBody>
      </p:sp>
      <p:sp>
        <p:nvSpPr>
          <p:cNvPr id="14" name="cd_513"/>
          <p:cNvSpPr/>
          <p:nvPr/>
        </p:nvSpPr>
        <p:spPr>
          <a:xfrm>
            <a:off x="548640" y="1417320"/>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514"/>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515"/>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Described what people are wearing</a:t>
            </a:r>
            <a:endParaRPr lang="en-US" sz="1350" dirty="0"/>
          </a:p>
        </p:txBody>
      </p:sp>
      <p:sp>
        <p:nvSpPr>
          <p:cNvPr id="17" name="R1_tk516"/>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517"/>
          <p:cNvSpPr/>
          <p:nvPr/>
        </p:nvSpPr>
        <p:spPr>
          <a:xfrm>
            <a:off x="548640" y="2020824"/>
            <a:ext cx="6035040" cy="530352"/>
          </a:xfrm>
          <a:prstGeom prst="roundRect">
            <a:avLst>
              <a:gd name="adj" fmla="val 24138"/>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518"/>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519"/>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what people are doing in a photo</a:t>
            </a:r>
            <a:endParaRPr lang="en-US" sz="1350" dirty="0"/>
          </a:p>
        </p:txBody>
      </p:sp>
      <p:sp>
        <p:nvSpPr>
          <p:cNvPr id="21" name="R2_tk520"/>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521"/>
          <p:cNvSpPr/>
          <p:nvPr/>
        </p:nvSpPr>
        <p:spPr>
          <a:xfrm>
            <a:off x="548640" y="2624328"/>
            <a:ext cx="6035040" cy="530352"/>
          </a:xfrm>
          <a:prstGeom prst="roundRect">
            <a:avLst>
              <a:gd name="adj" fmla="val 24138"/>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522"/>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523"/>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where people are: next to, behind…</a:t>
            </a:r>
            <a:endParaRPr lang="en-US" sz="1350" dirty="0"/>
          </a:p>
        </p:txBody>
      </p:sp>
      <p:sp>
        <p:nvSpPr>
          <p:cNvPr id="25" name="R3_tk524"/>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525"/>
          <p:cNvSpPr/>
          <p:nvPr/>
        </p:nvSpPr>
        <p:spPr>
          <a:xfrm>
            <a:off x="548640" y="3227832"/>
            <a:ext cx="6035040" cy="530352"/>
          </a:xfrm>
          <a:prstGeom prst="roundRect">
            <a:avLst>
              <a:gd name="adj" fmla="val 24138"/>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526"/>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527"/>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9" name="R4_tk528"/>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529"/>
          <p:cNvSpPr/>
          <p:nvPr/>
        </p:nvSpPr>
        <p:spPr>
          <a:xfrm>
            <a:off x="548640" y="3831336"/>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te_530"/>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531"/>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Played spot the difference</a:t>
            </a:r>
            <a:endParaRPr lang="en-US" sz="1350" dirty="0"/>
          </a:p>
        </p:txBody>
      </p:sp>
      <p:sp>
        <p:nvSpPr>
          <p:cNvPr id="33" name="R5_tk532"/>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533"/>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35"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536"/>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Student's Book audio 1C</a:t>
            </a:r>
            <a:endParaRPr lang="en-US" sz="2500" dirty="0"/>
          </a:p>
        </p:txBody>
      </p:sp>
      <p:pic>
        <p:nvPicPr>
          <p:cNvPr id="6" name="brP_537"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38"/>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Click a speaker to play the book audio.</a:t>
            </a:r>
            <a:endParaRPr lang="en-US" sz="1250" dirty="0"/>
          </a:p>
        </p:txBody>
      </p:sp>
      <p:sp>
        <p:nvSpPr>
          <p:cNvPr id="8" name="insIT_53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Clicca un altoparlante per l'audio del libro.</a:t>
            </a:r>
            <a:endParaRPr lang="en-US" sz="950" dirty="0"/>
          </a:p>
        </p:txBody>
      </p:sp>
      <p:sp>
        <p:nvSpPr>
          <p:cNvPr id="9" name="cmd_540"/>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41"/>
          <p:cNvSpPr/>
          <p:nvPr/>
        </p:nvSpPr>
        <p:spPr>
          <a:xfrm>
            <a:off x="6510528" y="566928"/>
            <a:ext cx="1901952" cy="228600"/>
          </a:xfrm>
          <a:prstGeom prst="rect">
            <a:avLst/>
          </a:prstGeom>
          <a:noFill/>
          <a:ln/>
        </p:spPr>
        <p:txBody>
          <a:bodyPr wrap="square" lIns="0" tIns="0" rIns="0" bIns="0" rtlCol="0" anchor="ctr">
            <a:normAutofit/>
          </a:bodyPr>
          <a:lstStyle/>
          <a:p>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whole class</a:t>
            </a:r>
            <a:endParaRPr lang="en-US" sz="950" dirty="0"/>
          </a:p>
        </p:txBody>
      </p:sp>
      <p:pic>
        <p:nvPicPr>
          <p:cNvPr id="11" name="logo_54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4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1C · Book audio · 1C</a:t>
            </a:r>
            <a:endParaRPr lang="en-US" sz="800" dirty="0"/>
          </a:p>
        </p:txBody>
      </p:sp>
      <p:sp>
        <p:nvSpPr>
          <p:cNvPr id="13" name="st_544"/>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4" name="pf_545"/>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46" descr="/home/claude/lls-course/v2/cache/1b1_wedding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547"/>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548"/>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49"/>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550"/>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Track numbers = Student's Book 1C (pp.10–11)</a:t>
            </a:r>
            <a:endParaRPr lang="en-US" sz="750" dirty="0"/>
          </a:p>
          <a:p>
            <a:pPr marL="152400" indent="-152400">
              <a:spcBef>
                <a:spcPts val="5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Check the book exercise before you play</a:t>
            </a:r>
            <a:endParaRPr lang="en-US" sz="750" dirty="0"/>
          </a:p>
          <a:p>
            <a:pPr marL="152400" indent="-152400">
              <a:spcBef>
                <a:spcPts val="5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Click the speaker: play / pause</a:t>
            </a:r>
            <a:endParaRPr lang="en-US" sz="750" dirty="0"/>
          </a:p>
        </p:txBody>
      </p:sp>
      <p:sp>
        <p:nvSpPr>
          <p:cNvPr id="20" name="ab_551"/>
          <p:cNvSpPr/>
          <p:nvPr/>
        </p:nvSpPr>
        <p:spPr>
          <a:xfrm>
            <a:off x="3246120" y="1417320"/>
            <a:ext cx="4983480" cy="457200"/>
          </a:xfrm>
          <a:prstGeom prst="roundRect">
            <a:avLst>
              <a:gd name="adj" fmla="val 24000"/>
            </a:avLst>
          </a:prstGeom>
          <a:solidFill>
            <a:srgbClr val="FFFFFF"/>
          </a:solidFill>
          <a:ln w="19050">
            <a:solidFill>
              <a:srgbClr val="F7A6C4"/>
            </a:solidFill>
          </a:ln>
        </p:spPr>
        <p:txBody>
          <a:bodyPr wrap="square" lIns="127000" tIns="0" rIns="127000" bIns="0" rtlCol="0" anchor="ctr">
            <a:normAutofit/>
          </a:bodyPr>
          <a:lstStyle/>
          <a:p>
            <a:pPr indent="0" marL="0">
              <a:buNone/>
            </a:pPr>
            <a:r>
              <a:rPr lang="en-US" sz="1300" dirty="0">
                <a:solidFill>
                  <a:srgbClr val="E8508F"/>
                </a:solidFill>
                <a:latin typeface="Arial Rounded MT Bold" pitchFamily="34" charset="0"/>
                <a:ea typeface="Arial Rounded MT Bold" pitchFamily="34" charset="-122"/>
                <a:cs typeface="Arial Rounded MT Bold" pitchFamily="34" charset="-120"/>
              </a:rPr>
              <a:t>🎧 1.24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Pronunciation /ə/ and /ɜː/ – p.10 · 2a (listen, then repeat)</a:t>
            </a:r>
            <a:endParaRPr lang="en-US" sz="1300" dirty="0"/>
          </a:p>
        </p:txBody>
      </p:sp>
      <p:pic>
        <p:nvPicPr>
          <p:cNvPr id="21"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8321040" y="1453896"/>
            <a:ext cx="384048" cy="384048"/>
          </a:xfrm>
          <a:prstGeom prst="rect">
            <a:avLst/>
          </a:prstGeom>
        </p:spPr>
      </p:pic>
      <p:sp>
        <p:nvSpPr>
          <p:cNvPr id="22" name="ab_552"/>
          <p:cNvSpPr/>
          <p:nvPr/>
        </p:nvSpPr>
        <p:spPr>
          <a:xfrm>
            <a:off x="3246120" y="1947672"/>
            <a:ext cx="4983480" cy="457200"/>
          </a:xfrm>
          <a:prstGeom prst="roundRect">
            <a:avLst>
              <a:gd name="adj" fmla="val 24000"/>
            </a:avLst>
          </a:prstGeom>
          <a:solidFill>
            <a:srgbClr val="FFFFFF"/>
          </a:solidFill>
          <a:ln w="19050">
            <a:solidFill>
              <a:srgbClr val="A9D3F5"/>
            </a:solidFill>
          </a:ln>
        </p:spPr>
        <p:txBody>
          <a:bodyPr wrap="square" lIns="127000" tIns="0" rIns="127000" bIns="0" rtlCol="0" anchor="ctr">
            <a:normAutofit/>
          </a:bodyPr>
          <a:lstStyle/>
          <a:p>
            <a:pPr indent="0" marL="0">
              <a:buNone/>
            </a:pPr>
            <a:r>
              <a:rPr lang="en-US" sz="1300" dirty="0">
                <a:solidFill>
                  <a:srgbClr val="2F8DE4"/>
                </a:solidFill>
                <a:latin typeface="Arial Rounded MT Bold" pitchFamily="34" charset="0"/>
                <a:ea typeface="Arial Rounded MT Bold" pitchFamily="34" charset="-122"/>
                <a:cs typeface="Arial Rounded MT Bold" pitchFamily="34" charset="-120"/>
              </a:rPr>
              <a:t>🎧 1.25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Pronunciation – p.10 · 2c (listen and check the word groups)</a:t>
            </a:r>
            <a:endParaRPr lang="en-US" sz="1300" dirty="0"/>
          </a:p>
        </p:txBody>
      </p:sp>
      <p:pic>
        <p:nvPicPr>
          <p:cNvPr id="23" name="Media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321040" y="1984248"/>
            <a:ext cx="384048" cy="384048"/>
          </a:xfrm>
          <a:prstGeom prst="rect">
            <a:avLst/>
          </a:prstGeom>
        </p:spPr>
      </p:pic>
      <p:sp>
        <p:nvSpPr>
          <p:cNvPr id="24" name="ab_553"/>
          <p:cNvSpPr/>
          <p:nvPr/>
        </p:nvSpPr>
        <p:spPr>
          <a:xfrm>
            <a:off x="3246120" y="2478024"/>
            <a:ext cx="4983480" cy="457200"/>
          </a:xfrm>
          <a:prstGeom prst="roundRect">
            <a:avLst>
              <a:gd name="adj" fmla="val 24000"/>
            </a:avLst>
          </a:prstGeom>
          <a:solidFill>
            <a:srgbClr val="FFFFFF"/>
          </a:solidFill>
          <a:ln w="19050">
            <a:solidFill>
              <a:srgbClr val="A8E5BE"/>
            </a:solidFill>
          </a:ln>
        </p:spPr>
        <p:txBody>
          <a:bodyPr wrap="square" lIns="127000" tIns="0" rIns="127000" bIns="0" rtlCol="0" anchor="ctr">
            <a:normAutofit/>
          </a:bodyPr>
          <a:lstStyle/>
          <a:p>
            <a:pPr indent="0" marL="0">
              <a:buNone/>
            </a:pPr>
            <a:r>
              <a:rPr lang="en-US" sz="1300" dirty="0">
                <a:solidFill>
                  <a:srgbClr val="2EB872"/>
                </a:solidFill>
                <a:latin typeface="Arial Rounded MT Bold" pitchFamily="34" charset="0"/>
                <a:ea typeface="Arial Rounded MT Bold" pitchFamily="34" charset="-122"/>
                <a:cs typeface="Arial Rounded MT Bold" pitchFamily="34" charset="-120"/>
              </a:rPr>
              <a:t>🎧 1.26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Grammar Bank 1C – listen and repeat</a:t>
            </a:r>
            <a:endParaRPr lang="en-US" sz="1300" dirty="0"/>
          </a:p>
        </p:txBody>
      </p:sp>
      <p:pic>
        <p:nvPicPr>
          <p:cNvPr id="25" name="Media 2">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8321040" y="2514600"/>
            <a:ext cx="384048" cy="384048"/>
          </a:xfrm>
          <a:prstGeom prst="rect">
            <a:avLst/>
          </a:prstGeom>
        </p:spPr>
      </p:pic>
      <p:sp>
        <p:nvSpPr>
          <p:cNvPr id="26" name="ab_554"/>
          <p:cNvSpPr/>
          <p:nvPr/>
        </p:nvSpPr>
        <p:spPr>
          <a:xfrm>
            <a:off x="3246120" y="3008376"/>
            <a:ext cx="4983480" cy="457200"/>
          </a:xfrm>
          <a:prstGeom prst="roundRect">
            <a:avLst>
              <a:gd name="adj" fmla="val 24000"/>
            </a:avLst>
          </a:prstGeom>
          <a:solidFill>
            <a:srgbClr val="FFFFFF"/>
          </a:solidFill>
          <a:ln w="19050">
            <a:solidFill>
              <a:srgbClr val="FFE07A"/>
            </a:solidFill>
          </a:ln>
        </p:spPr>
        <p:txBody>
          <a:bodyPr wrap="square" lIns="127000" tIns="0" rIns="127000" bIns="0" rtlCol="0" anchor="ctr">
            <a:normAutofit/>
          </a:bodyPr>
          <a:lstStyle/>
          <a:p>
            <a:pPr indent="0" marL="0">
              <a:buNone/>
            </a:pPr>
            <a:r>
              <a:rPr lang="en-US" sz="1300" dirty="0">
                <a:solidFill>
                  <a:srgbClr val="E8508F"/>
                </a:solidFill>
                <a:latin typeface="Arial Rounded MT Bold" pitchFamily="34" charset="0"/>
                <a:ea typeface="Arial Rounded MT Bold" pitchFamily="34" charset="-122"/>
                <a:cs typeface="Arial Rounded MT Bold" pitchFamily="34" charset="-120"/>
              </a:rPr>
              <a:t>🎧 1.27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Grammar Bank 1C – listen and repeat</a:t>
            </a:r>
            <a:endParaRPr lang="en-US" sz="1300" dirty="0"/>
          </a:p>
        </p:txBody>
      </p:sp>
      <p:pic>
        <p:nvPicPr>
          <p:cNvPr id="27" name="Media 3">
            <a:hlinkClick r:id="" action="ppaction://media"/>
          </p:cNvPr>
          <p:cNvPicPr>
            <a:picLocks noChangeAspect="1"/>
          </p:cNvPicPr>
          <p:nvPr>
            <a:audioFile r:link="rId15"/>
            <p:extLst>
              <p:ext uri="{DAA4B4D4-6D71-4841-9C94-3DE7FCFB9230}">
                <p14:media xmlns:p14="http://schemas.microsoft.com/office/powerpoint/2010/main" r:embed="rId16"/>
              </p:ext>
            </p:extLst>
          </p:nvPr>
        </p:nvPicPr>
        <p:blipFill>
          <a:blip r:embed="rId17"/>
          <a:stretch>
            <a:fillRect/>
          </a:stretch>
        </p:blipFill>
        <p:spPr>
          <a:xfrm>
            <a:off x="8321040" y="3044952"/>
            <a:ext cx="384048" cy="384048"/>
          </a:xfrm>
          <a:prstGeom prst="rect">
            <a:avLst/>
          </a:prstGeom>
        </p:spPr>
      </p:pic>
      <p:sp>
        <p:nvSpPr>
          <p:cNvPr id="28" name="ab_555"/>
          <p:cNvSpPr/>
          <p:nvPr/>
        </p:nvSpPr>
        <p:spPr>
          <a:xfrm>
            <a:off x="3246120" y="3538728"/>
            <a:ext cx="4983480" cy="457200"/>
          </a:xfrm>
          <a:prstGeom prst="roundRect">
            <a:avLst>
              <a:gd name="adj" fmla="val 24000"/>
            </a:avLst>
          </a:prstGeom>
          <a:solidFill>
            <a:srgbClr val="FFFFFF"/>
          </a:solidFill>
          <a:ln w="19050">
            <a:solidFill>
              <a:srgbClr val="F7A6C4"/>
            </a:solidFill>
          </a:ln>
        </p:spPr>
        <p:txBody>
          <a:bodyPr wrap="square" lIns="127000" tIns="0" rIns="127000" bIns="0" rtlCol="0" anchor="ctr">
            <a:normAutofit/>
          </a:bodyPr>
          <a:lstStyle/>
          <a:p>
            <a:pPr indent="0" marL="0">
              <a:buNone/>
            </a:pPr>
            <a:r>
              <a:rPr lang="en-US" sz="1300" dirty="0">
                <a:solidFill>
                  <a:srgbClr val="E8508F"/>
                </a:solidFill>
                <a:latin typeface="Arial Rounded MT Bold" pitchFamily="34" charset="0"/>
                <a:ea typeface="Arial Rounded MT Bold" pitchFamily="34" charset="-122"/>
                <a:cs typeface="Arial Rounded MT Bold" pitchFamily="34" charset="-120"/>
              </a:rPr>
              <a:t>🎧 1.28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Listening: the Vermeer painting – p.11 (script SB p.120)</a:t>
            </a:r>
            <a:endParaRPr lang="en-US" sz="1300" dirty="0"/>
          </a:p>
        </p:txBody>
      </p:sp>
      <p:pic>
        <p:nvPicPr>
          <p:cNvPr id="29" name="Media 4">
            <a:hlinkClick r:id="" action="ppaction://media"/>
          </p:cNvPr>
          <p:cNvPicPr>
            <a:picLocks noChangeAspect="1"/>
          </p:cNvPicPr>
          <p:nvPr>
            <a:audioFile r:link="rId18"/>
            <p:extLst>
              <p:ext uri="{DAA4B4D4-6D71-4841-9C94-3DE7FCFB9230}">
                <p14:media xmlns:p14="http://schemas.microsoft.com/office/powerpoint/2010/main" r:embed="rId19"/>
              </p:ext>
            </p:extLst>
          </p:nvPr>
        </p:nvPicPr>
        <p:blipFill>
          <a:blip r:embed="rId20"/>
          <a:stretch>
            <a:fillRect/>
          </a:stretch>
        </p:blipFill>
        <p:spPr>
          <a:xfrm>
            <a:off x="8321040" y="3575304"/>
            <a:ext cx="384048" cy="384048"/>
          </a:xfrm>
          <a:prstGeom prst="rect">
            <a:avLst/>
          </a:prstGeom>
        </p:spPr>
      </p:pic>
      <p:sp>
        <p:nvSpPr>
          <p:cNvPr id="30" name="ab_556"/>
          <p:cNvSpPr/>
          <p:nvPr/>
        </p:nvSpPr>
        <p:spPr>
          <a:xfrm>
            <a:off x="3246120" y="4069080"/>
            <a:ext cx="4983480" cy="457200"/>
          </a:xfrm>
          <a:prstGeom prst="roundRect">
            <a:avLst>
              <a:gd name="adj" fmla="val 24000"/>
            </a:avLst>
          </a:prstGeom>
          <a:solidFill>
            <a:srgbClr val="FFFFFF"/>
          </a:solidFill>
          <a:ln w="19050">
            <a:solidFill>
              <a:srgbClr val="A9D3F5"/>
            </a:solidFill>
          </a:ln>
        </p:spPr>
        <p:txBody>
          <a:bodyPr wrap="square" lIns="127000" tIns="0" rIns="127000" bIns="0" rtlCol="0" anchor="ctr">
            <a:normAutofit/>
          </a:bodyPr>
          <a:lstStyle/>
          <a:p>
            <a:pPr indent="0" marL="0">
              <a:buNone/>
            </a:pPr>
            <a:r>
              <a:rPr lang="en-US" sz="1300" dirty="0">
                <a:solidFill>
                  <a:srgbClr val="2F8DE4"/>
                </a:solidFill>
                <a:latin typeface="Arial Rounded MT Bold" pitchFamily="34" charset="0"/>
                <a:ea typeface="Arial Rounded MT Bold" pitchFamily="34" charset="-122"/>
                <a:cs typeface="Arial Rounded MT Bold" pitchFamily="34" charset="-120"/>
              </a:rPr>
              <a:t>🎧 1.29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Prepositions of place – p.11 (listen and check)</a:t>
            </a:r>
            <a:endParaRPr lang="en-US" sz="1300" dirty="0"/>
          </a:p>
        </p:txBody>
      </p:sp>
      <p:pic>
        <p:nvPicPr>
          <p:cNvPr id="31" name="Media 5">
            <a:hlinkClick r:id="" action="ppaction://media"/>
          </p:cNvPr>
          <p:cNvPicPr>
            <a:picLocks noChangeAspect="1"/>
          </p:cNvPicPr>
          <p:nvPr>
            <a:audioFile r:link="rId21"/>
            <p:extLst>
              <p:ext uri="{DAA4B4D4-6D71-4841-9C94-3DE7FCFB9230}">
                <p14:media xmlns:p14="http://schemas.microsoft.com/office/powerpoint/2010/main" r:embed="rId22"/>
              </p:ext>
            </p:extLst>
          </p:nvPr>
        </p:nvPicPr>
        <p:blipFill>
          <a:blip r:embed="rId23"/>
          <a:stretch>
            <a:fillRect/>
          </a:stretch>
        </p:blipFill>
        <p:spPr>
          <a:xfrm>
            <a:off x="8321040" y="4105656"/>
            <a:ext cx="384048" cy="384048"/>
          </a:xfrm>
          <a:prstGeom prst="rect">
            <a:avLst/>
          </a:prstGeom>
        </p:spPr>
      </p:pic>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21"/>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21"/>
                                        </p:tgtEl>
                                      </p:cBhvr>
                                    </p:cmd>
                                  </p:childTnLst>
                                </p:cTn>
                              </p:par>
                            </p:childTnLst>
                          </p:cTn>
                        </p:par>
                      </p:childTnLst>
                    </p:cTn>
                  </p:par>
                </p:childTnLst>
              </p:cTn>
              <p:nextCondLst>
                <p:cond evt="onClick" delay="0">
                  <p:tgtEl>
                    <p:spTgt spid="21"/>
                  </p:tgtEl>
                </p:cond>
              </p:nextCondLst>
            </p:seq>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seq concurrent="1" nextAc="seek">
              <p:cTn id="13" restart="whenNotActive" fill="hold" evtFilter="cancelBubble" nodeType="interactiveSeq">
                <p:stCondLst>
                  <p:cond evt="onClick" delay="0">
                    <p:tgtEl>
                      <p:spTgt spid="25"/>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5"/>
                                        </p:tgtEl>
                                      </p:cBhvr>
                                    </p:cmd>
                                  </p:childTnLst>
                                </p:cTn>
                              </p:par>
                            </p:childTnLst>
                          </p:cTn>
                        </p:par>
                      </p:childTnLst>
                    </p:cTn>
                  </p:par>
                </p:childTnLst>
              </p:cTn>
              <p:nextCondLst>
                <p:cond evt="onClick" delay="0">
                  <p:tgtEl>
                    <p:spTgt spid="25"/>
                  </p:tgtEl>
                </p:cond>
              </p:nextCondLst>
            </p:seq>
            <p:seq concurrent="1" nextAc="seek">
              <p:cTn id="18" restart="whenNotActive" fill="hold" evtFilter="cancelBubble" nodeType="interactiveSeq">
                <p:stCondLst>
                  <p:cond evt="onClick" delay="0">
                    <p:tgtEl>
                      <p:spTgt spid="2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7"/>
                                        </p:tgtEl>
                                      </p:cBhvr>
                                    </p:cmd>
                                  </p:childTnLst>
                                </p:cTn>
                              </p:par>
                            </p:childTnLst>
                          </p:cTn>
                        </p:par>
                      </p:childTnLst>
                    </p:cTn>
                  </p:par>
                </p:childTnLst>
              </p:cTn>
              <p:nextCondLst>
                <p:cond evt="onClick" delay="0">
                  <p:tgtEl>
                    <p:spTgt spid="27"/>
                  </p:tgtEl>
                </p:cond>
              </p:nextCondLst>
            </p:seq>
            <p:seq concurrent="1" nextAc="seek">
              <p:cTn id="23" restart="whenNotActive" fill="hold" evtFilter="cancelBubble" nodeType="interactiveSeq">
                <p:stCondLst>
                  <p:cond evt="onClick" delay="0">
                    <p:tgtEl>
                      <p:spTgt spid="29"/>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29"/>
                                        </p:tgtEl>
                                      </p:cBhvr>
                                    </p:cmd>
                                  </p:childTnLst>
                                </p:cTn>
                              </p:par>
                            </p:childTnLst>
                          </p:cTn>
                        </p:par>
                      </p:childTnLst>
                    </p:cTn>
                  </p:par>
                </p:childTnLst>
              </p:cTn>
              <p:nextCondLst>
                <p:cond evt="onClick" delay="0">
                  <p:tgtEl>
                    <p:spTgt spid="29"/>
                  </p:tgtEl>
                </p:cond>
              </p:nextCondLst>
            </p:seq>
            <p:seq concurrent="1" nextAc="seek">
              <p:cTn id="28" restart="whenNotActive" fill="hold" evtFilter="cancelBubble" nodeType="interactiveSeq">
                <p:stCondLst>
                  <p:cond evt="onClick" delay="0">
                    <p:tgtEl>
                      <p:spTgt spid="31"/>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31"/>
                                        </p:tgtEl>
                                      </p:cBhvr>
                                    </p:cmd>
                                  </p:childTnLst>
                                </p:cTn>
                              </p:par>
                            </p:childTnLst>
                          </p:cTn>
                        </p:par>
                      </p:childTnLst>
                    </p:cTn>
                  </p:par>
                </p:childTnLst>
              </p:cTn>
              <p:nextCondLst>
                <p:cond evt="onClick" delay="0">
                  <p:tgtEl>
                    <p:spTgt spid="31"/>
                  </p:tgtEl>
                </p:cond>
              </p:nextCondLst>
            </p:seq>
            <p:audio>
              <p:cMediaNode vol="80000">
                <p:cTn id="33" fill="hold" display="0">
                  <p:stCondLst>
                    <p:cond delay="indefinite"/>
                  </p:stCondLst>
                  <p:endCondLst>
                    <p:cond evt="onStopAudio" delay="0">
                      <p:tgtEl>
                        <p:sldTgt/>
                      </p:tgtEl>
                    </p:cond>
                  </p:endCondLst>
                </p:cTn>
                <p:tgtEl>
                  <p:spTgt spid="21"/>
                </p:tgtEl>
              </p:cMediaNode>
            </p:audio>
            <p:audio>
              <p:cMediaNode vol="80000">
                <p:cTn id="34" fill="hold" display="0">
                  <p:stCondLst>
                    <p:cond delay="indefinite"/>
                  </p:stCondLst>
                  <p:endCondLst>
                    <p:cond evt="onStopAudio" delay="0">
                      <p:tgtEl>
                        <p:sldTgt/>
                      </p:tgtEl>
                    </p:cond>
                  </p:endCondLst>
                </p:cTn>
                <p:tgtEl>
                  <p:spTgt spid="23"/>
                </p:tgtEl>
              </p:cMediaNode>
            </p:audio>
            <p:audio>
              <p:cMediaNode vol="80000">
                <p:cTn id="35" fill="hold" display="0">
                  <p:stCondLst>
                    <p:cond delay="indefinite"/>
                  </p:stCondLst>
                  <p:endCondLst>
                    <p:cond evt="onStopAudio" delay="0">
                      <p:tgtEl>
                        <p:sldTgt/>
                      </p:tgtEl>
                    </p:cond>
                  </p:endCondLst>
                </p:cTn>
                <p:tgtEl>
                  <p:spTgt spid="25"/>
                </p:tgtEl>
              </p:cMediaNode>
            </p:audio>
            <p:audio>
              <p:cMediaNode vol="80000">
                <p:cTn id="36" fill="hold" display="0">
                  <p:stCondLst>
                    <p:cond delay="indefinite"/>
                  </p:stCondLst>
                  <p:endCondLst>
                    <p:cond evt="onStopAudio" delay="0">
                      <p:tgtEl>
                        <p:sldTgt/>
                      </p:tgtEl>
                    </p:cond>
                  </p:endCondLst>
                </p:cTn>
                <p:tgtEl>
                  <p:spTgt spid="27"/>
                </p:tgtEl>
              </p:cMediaNode>
            </p:audio>
            <p:audio>
              <p:cMediaNode vol="80000">
                <p:cTn id="37" fill="hold" display="0">
                  <p:stCondLst>
                    <p:cond delay="indefinite"/>
                  </p:stCondLst>
                  <p:endCondLst>
                    <p:cond evt="onStopAudio" delay="0">
                      <p:tgtEl>
                        <p:sldTgt/>
                      </p:tgtEl>
                    </p:cond>
                  </p:endCondLst>
                </p:cTn>
                <p:tgtEl>
                  <p:spTgt spid="29"/>
                </p:tgtEl>
              </p:cMediaNode>
            </p:audio>
            <p:audio>
              <p:cMediaNode vol="80000">
                <p:cTn id="38" fill="hold" display="0">
                  <p:stCondLst>
                    <p:cond delay="indefinite"/>
                  </p:stCondLst>
                  <p:endCondLst>
                    <p:cond evt="onStopAudio" delay="0">
                      <p:tgtEl>
                        <p:sldTgt/>
                      </p:tgtEl>
                    </p:cond>
                  </p:endCondLst>
                </p:cTn>
                <p:tgtEl>
                  <p:spTgt spid="31"/>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1C The Remake Project</dc:title>
  <dc:subject>PptxGenJS Presentation</dc:subject>
  <dc:creator>PptxGenJS</dc:creator>
  <cp:lastModifiedBy>PptxGenJS</cp:lastModifiedBy>
  <cp:revision>1</cp:revision>
  <dcterms:created xsi:type="dcterms:W3CDTF">2026-10-15T08:40:48Z</dcterms:created>
  <dcterms:modified xsi:type="dcterms:W3CDTF">2026-10-15T08:40:48Z</dcterms:modified>
</cp:coreProperties>
</file>