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then click once per word to show its Italian.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the prepositions are clear (last slide) and before the /ɜː/ work and the spot-the-difference game, so students hear present continuous + wear/carry + prepositions 15–20 times in one funny context. Click once per line. For each line: 1) say it, 2) ask the questions in grey round the class (yes/no → either/or → who/what), 3) let the CLASS change details: 'Is his hat yellow? No? What colour is it?' – accept their idea and use it in later lines (the dog wears THAT hat in line 6!). Students answer with one word or a short phrase – that's fine; repeat the full sentence yourself ('Yes – he IS wearING a hat'). Recycles: be + -ing (is wearing, is carrying, is sitting), wear vs carry, next to / under / 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audio" Target="../media/media-17-6.mp3"/><Relationship Id="rId7" Type="http://schemas.microsoft.com/office/2007/relationships/media" Target="../media/media-17-6.mp3"/><Relationship Id="rId8" Type="http://schemas.openxmlformats.org/officeDocument/2006/relationships/image" Target="../media/image-17-8.png"/><Relationship Id="rId9" Type="http://schemas.openxmlformats.org/officeDocument/2006/relationships/audio" Target="../media/media-17-9.mp3"/><Relationship Id="rId10" Type="http://schemas.microsoft.com/office/2007/relationships/media" Target="../media/media-17-9.mp3"/><Relationship Id="rId11" Type="http://schemas.openxmlformats.org/officeDocument/2006/relationships/image" Target="../media/image-17-11.png"/><Relationship Id="rId12" Type="http://schemas.openxmlformats.org/officeDocument/2006/relationships/audio" Target="../media/media-17-12.mp3"/><Relationship Id="rId13" Type="http://schemas.microsoft.com/office/2007/relationships/media" Target="../media/media-17-12.mp3"/><Relationship Id="rId14" Type="http://schemas.openxmlformats.org/officeDocument/2006/relationships/image" Target="../media/image-17-14.png"/><Relationship Id="rId15" Type="http://schemas.openxmlformats.org/officeDocument/2006/relationships/audio" Target="../media/media-17-15.mp3"/><Relationship Id="rId16" Type="http://schemas.microsoft.com/office/2007/relationships/media" Target="../media/media-17-15.mp3"/><Relationship Id="rId17" Type="http://schemas.openxmlformats.org/officeDocument/2006/relationships/image" Target="../media/image-17-17.png"/><Relationship Id="rId18" Type="http://schemas.openxmlformats.org/officeDocument/2006/relationships/audio" Target="../media/media-17-18.mp3"/><Relationship Id="rId19" Type="http://schemas.microsoft.com/office/2007/relationships/media" Target="../media/media-17-18.mp3"/><Relationship Id="rId20" Type="http://schemas.openxmlformats.org/officeDocument/2006/relationships/image" Target="../media/image-17-20.png"/><Relationship Id="rId21" Type="http://schemas.openxmlformats.org/officeDocument/2006/relationships/audio" Target="../media/media-17-21.mp3"/><Relationship Id="rId22" Type="http://schemas.microsoft.com/office/2007/relationships/media" Target="../media/media-17-21.mp3"/><Relationship Id="rId23" Type="http://schemas.openxmlformats.org/officeDocument/2006/relationships/image" Target="../media/image-17-23.png"/><Relationship Id="rId24" Type="http://schemas.openxmlformats.org/officeDocument/2006/relationships/slideLayout" Target="../slideLayouts/slideLayout1.xml"/><Relationship Id="rId2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describe what people are wearing</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say what people are doing in a photo</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say where people are: next to, behind…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play spot the difference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6 Oct: clothes · speaking in pairs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present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9" name="w_43"/>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30" name="w_44"/>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1" name="w_45"/>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4" name="w_48"/>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5" name="w_49"/>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6" name="w_50"/>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7" name="w_51"/>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8" name="w_52"/>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il capo. Non dire la parola!</a:t>
            </a:r>
            <a:endParaRPr lang="en-US" sz="950" dirty="0"/>
          </a:p>
        </p:txBody>
      </p:sp>
      <p:sp>
        <p:nvSpPr>
          <p:cNvPr id="9" name="cmd_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Warmer · clothes</a:t>
            </a:r>
            <a:endParaRPr lang="en-US" sz="800" dirty="0"/>
          </a:p>
        </p:txBody>
      </p:sp>
      <p:sp>
        <p:nvSpPr>
          <p:cNvPr id="14" name="cd_6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A explains the word. Don't say it!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A spiega la parola. Non dirla!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B guesses. Then swap.</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100" dirty="0"/>
          </a:p>
        </p:txBody>
      </p:sp>
      <p:sp>
        <p:nvSpPr>
          <p:cNvPr id="18" name="pf_6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7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7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2" name="R3_w7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3" name="R5_w7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4" name="R7_w7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5" name="rl_7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7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7" name="R4_w7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8" name="R6_w7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9" name="R8_w7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400" dirty="0"/>
          </a:p>
        </p:txBody>
      </p:sp>
      <p:pic>
        <p:nvPicPr>
          <p:cNvPr id="6" name="brP_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Rispondi alle domande 1–6.</a:t>
            </a:r>
            <a:endParaRPr lang="en-US" sz="950" dirty="0"/>
          </a:p>
        </p:txBody>
      </p:sp>
      <p:sp>
        <p:nvSpPr>
          <p:cNvPr id="9" name="cmd_8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8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Grammar in a photo · present continuous   ·   📖 SB p.10 · present continuous in a photo</a:t>
            </a:r>
            <a:endParaRPr lang="en-US" sz="800" dirty="0"/>
          </a:p>
        </p:txBody>
      </p:sp>
      <p:sp>
        <p:nvSpPr>
          <p:cNvPr id="15" name="pf_92"/>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93"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94"/>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95"/>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96"/>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97"/>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98"/>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99"/>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100"/>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10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1_chip102"/>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800" dirty="0"/>
          </a:p>
        </p:txBody>
      </p:sp>
      <p:sp>
        <p:nvSpPr>
          <p:cNvPr id="26" name="bd_103"/>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10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8" name="R2_chip105"/>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9" name="bd_106"/>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10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1" name="R3_chip108"/>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2" name="bd_109"/>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11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4" name="R4_chip111"/>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950" dirty="0"/>
          </a:p>
        </p:txBody>
      </p:sp>
      <p:sp>
        <p:nvSpPr>
          <p:cNvPr id="35" name="bd_112"/>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11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7" name="R5_chip114"/>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8" name="bd_115"/>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11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40" name="R6_chip117"/>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5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gli esempi. Come si forma?</a:t>
            </a:r>
            <a:endParaRPr lang="en-US" sz="950" dirty="0"/>
          </a:p>
        </p:txBody>
      </p:sp>
      <p:sp>
        <p:nvSpPr>
          <p:cNvPr id="9" name="cmd_1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12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12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1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Grammar · present continuous   ·   📖 Grammar Bank 1C p.125</a:t>
            </a:r>
            <a:endParaRPr lang="en-US" sz="800" dirty="0"/>
          </a:p>
        </p:txBody>
      </p:sp>
      <p:sp>
        <p:nvSpPr>
          <p:cNvPr id="14" name="cd_12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13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6" name="pf_13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2"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13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9" name="R1_rx13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20" name="R1_ri13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sta sorridendo · stanno applaudendo</a:t>
            </a:r>
            <a:endParaRPr lang="en-US" sz="750" dirty="0"/>
          </a:p>
        </p:txBody>
      </p:sp>
      <p:sp>
        <p:nvSpPr>
          <p:cNvPr id="21" name="cd_13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13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3" name="pf_13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39"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4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6" name="R2_rx14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7" name="R2_ri14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sta… · non stanno…</a:t>
            </a:r>
            <a:endParaRPr lang="en-US" sz="900" dirty="0"/>
          </a:p>
        </p:txBody>
      </p:sp>
      <p:sp>
        <p:nvSpPr>
          <p:cNvPr id="28" name="cd_14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4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0" name="pf_14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46"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4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3" name="R3_rx14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4" name="R3_ri14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Sta…? · Cosa stai facendo?</a:t>
            </a:r>
            <a:endParaRPr lang="en-US" sz="900" dirty="0"/>
          </a:p>
        </p:txBody>
      </p:sp>
      <p:sp>
        <p:nvSpPr>
          <p:cNvPr id="35" name="cd_15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5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7" name="pf_15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53"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5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40" name="R4_rx15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1" name="R4_ri15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sparisce · sit → sitting</a:t>
            </a:r>
            <a:endParaRPr lang="en-US" sz="900" dirty="0"/>
          </a:p>
        </p:txBody>
      </p:sp>
      <p:sp>
        <p:nvSpPr>
          <p:cNvPr id="42" name="R5_wc15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3" name="R5_w15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400"/>
                                        <p:tgtEl>
                                          <p:spTgt spid="42"/>
                                        </p:tgtEl>
                                      </p:cBhvr>
                                    </p:animEffect>
                                  </p:childTnLst>
                                </p:cTn>
                              </p:par>
                              <p:par>
                                <p:cTn id="40" presetID="10" presetClass="entr" presetSubtype="0"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Adesso o ogni giorno? Scrivi la forma giusta.</a:t>
            </a:r>
            <a:endParaRPr lang="en-US" sz="950" dirty="0"/>
          </a:p>
        </p:txBody>
      </p:sp>
      <p:sp>
        <p:nvSpPr>
          <p:cNvPr id="9" name="cmd_16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16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Practice · simple or continuous?   ·   📖 Grammar Bank 1C p.125 · b</a:t>
            </a:r>
            <a:endParaRPr lang="en-US" sz="800" dirty="0"/>
          </a:p>
        </p:txBody>
      </p:sp>
      <p:sp>
        <p:nvSpPr>
          <p:cNvPr id="13" name="cd_16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7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Look! It ___ (rain).  →  Look! It's raining.  (look! = now)</a:t>
            </a:r>
            <a:endParaRPr lang="en-US" sz="1050" dirty="0"/>
          </a:p>
        </p:txBody>
      </p:sp>
      <p:sp>
        <p:nvSpPr>
          <p:cNvPr id="17" name="pf_17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4"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8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8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8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8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9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9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9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'Portare' in italiano = due verbi inglesi!</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0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0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wear or carry?   ·   📖 VB p.151 · Things you wear</a:t>
            </a:r>
            <a:endParaRPr lang="en-US" sz="800" dirty="0"/>
          </a:p>
        </p:txBody>
      </p:sp>
      <p:sp>
        <p:nvSpPr>
          <p:cNvPr id="14" name="cd_204"/>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205"/>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6" name="pf_2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7"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8" name="ru_2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9" name="R1_rx2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20" name="R1_ri2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indossare · portare addosso</a:t>
            </a:r>
            <a:endParaRPr lang="en-US" sz="900" dirty="0"/>
          </a:p>
        </p:txBody>
      </p:sp>
      <p:sp>
        <p:nvSpPr>
          <p:cNvPr id="21" name="cd_2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2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3" name="pf_2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4"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5" name="ru_2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6" name="R2_rx2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7" name="R2_ri2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portare in mano</a:t>
            </a:r>
            <a:endParaRPr lang="en-US" sz="900" dirty="0"/>
          </a:p>
        </p:txBody>
      </p:sp>
      <p:sp>
        <p:nvSpPr>
          <p:cNvPr id="28" name="cd_218"/>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219"/>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30" name="pf_2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221"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2" name="ru_2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3" name="R3_rx2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4" name="R3_ri2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vestirsi</a:t>
            </a:r>
            <a:endParaRPr lang="en-US" sz="900" dirty="0"/>
          </a:p>
        </p:txBody>
      </p:sp>
      <p:sp>
        <p:nvSpPr>
          <p:cNvPr id="35" name="R4_wc2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6" name="R4_w2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31"/>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Wear, carry o get dressed? Usa la forma giusta.</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3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Practice · wear, carry, get dressed   ·   📖 VB p.151 · practice</a:t>
            </a:r>
            <a:endParaRPr lang="en-US" sz="800" dirty="0"/>
          </a:p>
        </p:txBody>
      </p:sp>
      <p:sp>
        <p:nvSpPr>
          <p:cNvPr id="13" name="cd_2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4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The mum ___ shorts.  →  The mum is wearing shorts.</a:t>
            </a:r>
            <a:endParaRPr lang="en-US" sz="1050" dirty="0"/>
          </a:p>
        </p:txBody>
      </p:sp>
      <p:sp>
        <p:nvSpPr>
          <p:cNvPr id="17" name="pf_24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2"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4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4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5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5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5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5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5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6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63"/>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4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Dove sono? Rispondi alle domande 1–6.</a:t>
            </a:r>
            <a:endParaRPr lang="en-US" sz="950" dirty="0"/>
          </a:p>
        </p:txBody>
      </p:sp>
      <p:sp>
        <p:nvSpPr>
          <p:cNvPr id="9" name="cmd_2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26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6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7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a:t>
            </a:r>
            <a:endParaRPr lang="en-US" sz="700" dirty="0"/>
          </a:p>
        </p:txBody>
      </p:sp>
      <p:pic>
        <p:nvPicPr>
          <p:cNvPr id="13"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prepositions of place   ·   📖 SB p.11 · prepositions of place</a:t>
            </a:r>
            <a:endParaRPr lang="en-US" sz="800" dirty="0"/>
          </a:p>
        </p:txBody>
      </p:sp>
      <p:sp>
        <p:nvSpPr>
          <p:cNvPr id="15" name="pf_273"/>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74"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275"/>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276"/>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277"/>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278"/>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279"/>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280"/>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28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8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5" name="R1_chip28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800" dirty="0"/>
          </a:p>
        </p:txBody>
      </p:sp>
      <p:sp>
        <p:nvSpPr>
          <p:cNvPr id="26" name="bd_284"/>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85"/>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8" name="R2_chip286"/>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9" name="bd_287"/>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88"/>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1" name="R3_chip289"/>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2" name="bd_290"/>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91"/>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4" name="R4_chip292"/>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5" name="bd_293"/>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94"/>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7" name="R5_chip295"/>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8" name="bd_296"/>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97"/>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40" name="R6_chip298"/>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Vocabulary · in Italian</a:t>
            </a:r>
            <a:endParaRPr lang="en-US" sz="800" dirty="0"/>
          </a:p>
        </p:txBody>
      </p:sp>
      <p:sp>
        <p:nvSpPr>
          <p:cNvPr id="14" name="cd_3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7" name="R1_it3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8" name="cd_3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1" name="R2_it3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2" name="cd_3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5" name="R3_it3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6" name="cd_3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000" dirty="0"/>
          </a:p>
        </p:txBody>
      </p:sp>
      <p:sp>
        <p:nvSpPr>
          <p:cNvPr id="29" name="R4_it3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30" name="cd_3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3" name="R5_it3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4" name="cd_3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7" name="R6_it3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8" name="cd_3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1" name="R7_it3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2" name="cd_3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5" name="R8_it3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6" name="cd_3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150" dirty="0"/>
          </a:p>
        </p:txBody>
      </p:sp>
      <p:sp>
        <p:nvSpPr>
          <p:cNvPr id="49" name="R9_it3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800" dirty="0"/>
          </a:p>
        </p:txBody>
      </p:sp>
      <p:sp>
        <p:nvSpPr>
          <p:cNvPr id="50" name="cd_3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3" name="R10_it3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4" name="cd_3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7" name="R11_it3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8" name="cd_3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1" name="R12_it3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2" name="R13_wc3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6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Nonno's photo disaster</a:t>
            </a:r>
            <a:endParaRPr lang="en-US" sz="2500" dirty="0"/>
          </a:p>
        </p:txBody>
      </p:sp>
      <p:pic>
        <p:nvPicPr>
          <p:cNvPr id="6" name="brP_36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6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3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6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6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 class story (TPRS)</a:t>
            </a:r>
            <a:endParaRPr lang="en-US" sz="800" dirty="0"/>
          </a:p>
        </p:txBody>
      </p:sp>
      <p:sp>
        <p:nvSpPr>
          <p:cNvPr id="15" name="cd_37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7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he's wearing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indossa / porta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he's carrying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porta (in mano)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she's sitting next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seduta accanto 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under the table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sotto il tavolo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 the table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sul tavolo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it's standing on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in piedi su</a:t>
            </a:r>
            <a:endParaRPr lang="en-US" sz="1000" dirty="0"/>
          </a:p>
        </p:txBody>
      </p:sp>
      <p:sp>
        <p:nvSpPr>
          <p:cNvPr id="19" name="R1_sb37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7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Nonno Pino.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big yellow hat.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wearing a hat? · Yellow or red? · Who is wearing a yellow hat?</a:t>
            </a:r>
            <a:endParaRPr lang="en-US" sz="1250" dirty="0"/>
          </a:p>
        </p:txBody>
      </p:sp>
      <p:sp>
        <p:nvSpPr>
          <p:cNvPr id="21" name="R2_sb37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7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Sunday lunch. Nonno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carrying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old camera.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carrying a camera or a cake? · What is Nonno carrying?</a:t>
            </a:r>
            <a:endParaRPr lang="en-US" sz="1250" dirty="0"/>
          </a:p>
        </p:txBody>
      </p:sp>
      <p:sp>
        <p:nvSpPr>
          <p:cNvPr id="23" name="R3_sb38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8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next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window.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eating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pasta.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Nonna next to the window? · Is she eating pasta or fish?</a:t>
            </a:r>
            <a:endParaRPr lang="en-US" sz="1250" dirty="0"/>
          </a:p>
        </p:txBody>
      </p:sp>
      <p:sp>
        <p:nvSpPr>
          <p:cNvPr id="25" name="R4_sb38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8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Nonno says, 'Smile!'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under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the dog under the table or on the table? · Where is the dog?</a:t>
            </a:r>
            <a:endParaRPr lang="en-US" sz="1250" dirty="0"/>
          </a:p>
        </p:txBody>
      </p:sp>
      <p:sp>
        <p:nvSpPr>
          <p:cNvPr id="27" name="R5_sb38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8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Click! But in the photo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standing on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the dog now? · What is it eating? (you decide!)</a:t>
            </a:r>
            <a:endParaRPr lang="en-US" sz="1250" dirty="0"/>
          </a:p>
        </p:txBody>
      </p:sp>
      <p:sp>
        <p:nvSpPr>
          <p:cNvPr id="29" name="R6_sb38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8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Nonno's yellow hat!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Who's wearing the hat now? · And you – what are you wearing today?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9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9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le parole. Quale è diversa?</a:t>
            </a:r>
            <a:endParaRPr lang="en-US" sz="950" dirty="0"/>
          </a:p>
        </p:txBody>
      </p:sp>
      <p:sp>
        <p:nvSpPr>
          <p:cNvPr id="9" name="cmd_394"/>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3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3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Pronunciation · /ɜː/ as in shirt   ·   📖 SB p.10 · Pronunciation /ɜː/</a:t>
            </a:r>
            <a:endParaRPr lang="en-US" sz="800" dirty="0"/>
          </a:p>
        </p:txBody>
      </p:sp>
      <p:sp>
        <p:nvSpPr>
          <p:cNvPr id="14" name="cd_39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/ɜː/ = shirt · skirt · work · her · Thursday · first   (mouth relaxed, lips NOT round)</a:t>
            </a:r>
            <a:endParaRPr lang="en-US" sz="1050" dirty="0"/>
          </a:p>
        </p:txBody>
      </p:sp>
      <p:sp>
        <p:nvSpPr>
          <p:cNvPr id="18" name="pf_40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4"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0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0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2" name="R1_chip40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3" name="bd_40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0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5" name="R2_chip41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6" name="bd_41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8" name="R3_chip41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9" name="bd_41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1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1" name="R4_chip41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2" name="bd_41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1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4" name="R5_chip41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5" name="bd_42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2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7" name="R6_chip42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4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6 differenze. Dille in inglese!</a:t>
            </a:r>
            <a:endParaRPr lang="en-US" sz="950" dirty="0"/>
          </a:p>
        </p:txBody>
      </p:sp>
      <p:sp>
        <p:nvSpPr>
          <p:cNvPr id="9" name="cmd_42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430"/>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sp>
        <p:nvSpPr>
          <p:cNvPr id="12" name="tag_43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4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game · spot the difference   ·   📖 SB p.11 · Communication (our version)</a:t>
            </a:r>
            <a:endParaRPr lang="en-US" sz="800" dirty="0"/>
          </a:p>
        </p:txBody>
      </p:sp>
      <p:sp>
        <p:nvSpPr>
          <p:cNvPr id="15" name="pf_435"/>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36"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7" name="bd_437"/>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438"/>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9"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20" name="bd_440"/>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bd_441"/>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chip442"/>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3" name="bd_443"/>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chip444"/>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00" dirty="0"/>
          </a:p>
        </p:txBody>
      </p:sp>
      <p:sp>
        <p:nvSpPr>
          <p:cNvPr id="25" name="bd_445"/>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chip446"/>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7" name="bd_447"/>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chip448"/>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9" name="bd_449"/>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chip450"/>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1" name="bd_451"/>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chip452"/>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3" name="spx_453"/>
          <p:cNvSpPr/>
          <p:nvPr/>
        </p:nvSpPr>
        <p:spPr>
          <a:xfrm>
            <a:off x="411480" y="4553712"/>
            <a:ext cx="8549640" cy="292608"/>
          </a:xfrm>
          <a:prstGeom prst="rect">
            <a:avLst/>
          </a:prstGeom>
          <a:noFill/>
          <a:ln/>
        </p:spPr>
        <p:txBody>
          <a:bodyPr wrap="square" lIns="76200" tIns="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5"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56"/>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5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5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Mostra una foto sul telefono. Descrivila!</a:t>
            </a:r>
            <a:endParaRPr lang="en-US" sz="950" dirty="0"/>
          </a:p>
        </p:txBody>
      </p:sp>
      <p:sp>
        <p:nvSpPr>
          <p:cNvPr id="9" name="cmd_46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sp>
        <p:nvSpPr>
          <p:cNvPr id="11" name="tag_46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Speaking · your photo</a:t>
            </a:r>
            <a:endParaRPr lang="en-US" sz="800" dirty="0"/>
          </a:p>
        </p:txBody>
      </p:sp>
      <p:sp>
        <p:nvSpPr>
          <p:cNvPr id="14" name="pf_46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6"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6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6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6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This is a photo of… last summer.</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On the left… / In the middle…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He's wearing… · They're laughing.</a:t>
            </a:r>
            <a:endParaRPr lang="en-US" sz="900" dirty="0"/>
          </a:p>
        </p:txBody>
      </p:sp>
      <p:sp>
        <p:nvSpPr>
          <p:cNvPr id="20" name="R1_qb47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This is my cousin's wedding in Palermo, last June.</a:t>
            </a:r>
            <a:endParaRPr lang="en-US" sz="1250" dirty="0"/>
          </a:p>
        </p:txBody>
      </p:sp>
      <p:sp>
        <p:nvSpPr>
          <p:cNvPr id="22" name="R2_qb47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mum is on the left, next to my aunt.</a:t>
            </a:r>
            <a:endParaRPr lang="en-US" sz="1250" dirty="0"/>
          </a:p>
        </p:txBody>
      </p:sp>
      <p:sp>
        <p:nvSpPr>
          <p:cNvPr id="24" name="R3_qb47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7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dad is wearing a terrible tie!</a:t>
            </a:r>
            <a:endParaRPr lang="en-US" sz="1250" dirty="0"/>
          </a:p>
        </p:txBody>
      </p:sp>
      <p:sp>
        <p:nvSpPr>
          <p:cNvPr id="26" name="R4_qb47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7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brother is dancing and my grandma is laughing.</a:t>
            </a:r>
            <a:endParaRPr lang="en-US" sz="1250" dirty="0"/>
          </a:p>
        </p:txBody>
      </p:sp>
      <p:sp>
        <p:nvSpPr>
          <p:cNvPr id="28" name="R5_qb47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8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8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8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487"/>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88"/>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Exit · what can you remember?</a:t>
            </a:r>
            <a:endParaRPr lang="en-US" sz="800" dirty="0"/>
          </a:p>
        </p:txBody>
      </p:sp>
      <p:sp>
        <p:nvSpPr>
          <p:cNvPr id="13" name="bd_49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9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5" name="bd_49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9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7" name="bd_49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9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9" name="cd_49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9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9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0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1C (normal / easier) in the LLS app</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1C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Describe a photo from your phone: 50–70 words</a:t>
            </a:r>
            <a:endParaRPr lang="en-US" sz="1150" dirty="0"/>
          </a:p>
        </p:txBody>
      </p:sp>
      <p:sp>
        <p:nvSpPr>
          <p:cNvPr id="23" name="st_50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0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0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5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5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5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Review · what did you do today?</a:t>
            </a:r>
            <a:endParaRPr lang="en-US" sz="800" dirty="0"/>
          </a:p>
        </p:txBody>
      </p:sp>
      <p:sp>
        <p:nvSpPr>
          <p:cNvPr id="14" name="cd_513"/>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51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51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are wearing</a:t>
            </a:r>
            <a:endParaRPr lang="en-US" sz="1350" dirty="0"/>
          </a:p>
        </p:txBody>
      </p:sp>
      <p:sp>
        <p:nvSpPr>
          <p:cNvPr id="17" name="R1_tk51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517"/>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51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51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people are doing in a photo</a:t>
            </a:r>
            <a:endParaRPr lang="en-US" sz="1350" dirty="0"/>
          </a:p>
        </p:txBody>
      </p:sp>
      <p:sp>
        <p:nvSpPr>
          <p:cNvPr id="21" name="R2_tk52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521"/>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52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52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people are: next to, behind…</a:t>
            </a:r>
            <a:endParaRPr lang="en-US" sz="1350" dirty="0"/>
          </a:p>
        </p:txBody>
      </p:sp>
      <p:sp>
        <p:nvSpPr>
          <p:cNvPr id="25" name="R3_tk52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525"/>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52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52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52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529"/>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530"/>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531"/>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spot the difference</a:t>
            </a:r>
            <a:endParaRPr lang="en-US" sz="1350" dirty="0"/>
          </a:p>
        </p:txBody>
      </p:sp>
      <p:sp>
        <p:nvSpPr>
          <p:cNvPr id="33" name="R5_tk532"/>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53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3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53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cmd_54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4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1C · Book audio · 1C</a:t>
            </a:r>
            <a:endParaRPr lang="en-US" sz="800" dirty="0"/>
          </a:p>
        </p:txBody>
      </p:sp>
      <p:sp>
        <p:nvSpPr>
          <p:cNvPr id="13" name="st_54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45"/>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6"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47"/>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48"/>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49"/>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50"/>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Track numbers = Student's Book 1C (pp.10–11)</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Check the book exercise before you play</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Click the speaker: play / pause</a:t>
            </a:r>
            <a:endParaRPr lang="en-US" sz="750" dirty="0"/>
          </a:p>
        </p:txBody>
      </p:sp>
      <p:sp>
        <p:nvSpPr>
          <p:cNvPr id="20" name="ab_551"/>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552"/>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553"/>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554"/>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555"/>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556"/>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2026-10-12T17:11:55Z</dcterms:created>
  <dcterms:modified xsi:type="dcterms:W3CDTF">2026-10-12T17:11:55Z</dcterms:modified>
</cp:coreProperties>
</file>