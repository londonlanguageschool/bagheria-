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then click once per word to show its Italian.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Book audio · 1C (0 min)
BOOK AUDIO (8 Oct). The owner sent tracks 1.24–1.29 on the day; exercises checked against the Teacher's Guide File 1 (TG pp.22–24). 1.25/1.26 can replace the teacher model on the /ɜː/ slide; 1.28 is the longest track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audio" Target="../media/media-15-6.mp3"/><Relationship Id="rId7" Type="http://schemas.microsoft.com/office/2007/relationships/media" Target="../media/media-15-6.mp3"/><Relationship Id="rId8" Type="http://schemas.openxmlformats.org/officeDocument/2006/relationships/image" Target="../media/image-15-8.png"/><Relationship Id="rId9" Type="http://schemas.openxmlformats.org/officeDocument/2006/relationships/audio" Target="../media/media-15-9.mp3"/><Relationship Id="rId10" Type="http://schemas.microsoft.com/office/2007/relationships/media" Target="../media/media-15-9.mp3"/><Relationship Id="rId11" Type="http://schemas.openxmlformats.org/officeDocument/2006/relationships/image" Target="../media/image-15-11.png"/><Relationship Id="rId12" Type="http://schemas.openxmlformats.org/officeDocument/2006/relationships/audio" Target="../media/media-15-12.mp3"/><Relationship Id="rId13" Type="http://schemas.microsoft.com/office/2007/relationships/media" Target="../media/media-15-12.mp3"/><Relationship Id="rId14" Type="http://schemas.openxmlformats.org/officeDocument/2006/relationships/image" Target="../media/image-15-14.png"/><Relationship Id="rId15" Type="http://schemas.openxmlformats.org/officeDocument/2006/relationships/audio" Target="../media/media-15-15.mp3"/><Relationship Id="rId16" Type="http://schemas.microsoft.com/office/2007/relationships/media" Target="../media/media-15-15.mp3"/><Relationship Id="rId17" Type="http://schemas.openxmlformats.org/officeDocument/2006/relationships/image" Target="../media/image-15-17.png"/><Relationship Id="rId18" Type="http://schemas.openxmlformats.org/officeDocument/2006/relationships/audio" Target="../media/media-15-18.mp3"/><Relationship Id="rId19" Type="http://schemas.microsoft.com/office/2007/relationships/media" Target="../media/media-15-18.mp3"/><Relationship Id="rId20" Type="http://schemas.openxmlformats.org/officeDocument/2006/relationships/image" Target="../media/image-15-20.png"/><Relationship Id="rId21" Type="http://schemas.openxmlformats.org/officeDocument/2006/relationships/audio" Target="../media/media-15-21.mp3"/><Relationship Id="rId22" Type="http://schemas.microsoft.com/office/2007/relationships/media" Target="../media/media-15-21.mp3"/><Relationship Id="rId23" Type="http://schemas.openxmlformats.org/officeDocument/2006/relationships/image" Target="../media/image-15-23.png"/><Relationship Id="rId24" Type="http://schemas.openxmlformats.org/officeDocument/2006/relationships/slideLayout" Target="../slideLayouts/slideLayout1.xml"/><Relationship Id="rId2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describe what people are wearing</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say what people are doing in a photo</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say where people are: next to, behind…</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play spot the difference</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a1_waste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6 Oct: clothes · speaking in pairs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1B: present simple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jeans ARE new. (not is)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These trousers are too long.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plural: jeans · trousers · shorts · socks · gloves</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wears a suit for work.</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usually wear a tie.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 you wear glasses?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always · usually · every day</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T-shirt</a:t>
            </a:r>
            <a:endParaRPr lang="en-US" sz="1050" dirty="0"/>
          </a:p>
        </p:txBody>
      </p:sp>
      <p:sp>
        <p:nvSpPr>
          <p:cNvPr id="28" name="w_42"/>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jeans</a:t>
            </a:r>
            <a:endParaRPr lang="en-US" sz="1050" dirty="0"/>
          </a:p>
        </p:txBody>
      </p:sp>
      <p:sp>
        <p:nvSpPr>
          <p:cNvPr id="29" name="w_43"/>
          <p:cNvSpPr/>
          <p:nvPr/>
        </p:nvSpPr>
        <p:spPr>
          <a:xfrm>
            <a:off x="4965192"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dress</a:t>
            </a:r>
            <a:endParaRPr lang="en-US" sz="1050" dirty="0"/>
          </a:p>
        </p:txBody>
      </p:sp>
      <p:sp>
        <p:nvSpPr>
          <p:cNvPr id="30" name="w_44"/>
          <p:cNvSpPr/>
          <p:nvPr/>
        </p:nvSpPr>
        <p:spPr>
          <a:xfrm>
            <a:off x="5747004"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coat</a:t>
            </a:r>
            <a:endParaRPr lang="en-US" sz="1050" dirty="0"/>
          </a:p>
        </p:txBody>
      </p:sp>
      <p:sp>
        <p:nvSpPr>
          <p:cNvPr id="31" name="w_45"/>
          <p:cNvSpPr/>
          <p:nvPr/>
        </p:nvSpPr>
        <p:spPr>
          <a:xfrm>
            <a:off x="6451092"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2" name="w_46"/>
          <p:cNvSpPr/>
          <p:nvPr/>
        </p:nvSpPr>
        <p:spPr>
          <a:xfrm>
            <a:off x="7232904"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gloves</a:t>
            </a:r>
            <a:endParaRPr lang="en-US" sz="1050" dirty="0"/>
          </a:p>
        </p:txBody>
      </p:sp>
      <p:sp>
        <p:nvSpPr>
          <p:cNvPr id="33" name="w_47"/>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cap</a:t>
            </a:r>
            <a:endParaRPr lang="en-US" sz="1050" dirty="0"/>
          </a:p>
        </p:txBody>
      </p:sp>
      <p:sp>
        <p:nvSpPr>
          <p:cNvPr id="34" name="w_48"/>
          <p:cNvSpPr/>
          <p:nvPr/>
        </p:nvSpPr>
        <p:spPr>
          <a:xfrm>
            <a:off x="324612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trainers</a:t>
            </a:r>
            <a:endParaRPr lang="en-US" sz="1050" dirty="0"/>
          </a:p>
        </p:txBody>
      </p:sp>
      <p:sp>
        <p:nvSpPr>
          <p:cNvPr id="35" name="w_49"/>
          <p:cNvSpPr/>
          <p:nvPr/>
        </p:nvSpPr>
        <p:spPr>
          <a:xfrm>
            <a:off x="4261104" y="454456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socks</a:t>
            </a:r>
            <a:endParaRPr lang="en-US" sz="1050" dirty="0"/>
          </a:p>
        </p:txBody>
      </p:sp>
      <p:sp>
        <p:nvSpPr>
          <p:cNvPr id="36" name="w_50"/>
          <p:cNvSpPr/>
          <p:nvPr/>
        </p:nvSpPr>
        <p:spPr>
          <a:xfrm>
            <a:off x="5042916" y="454456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7" name="w_51"/>
          <p:cNvSpPr/>
          <p:nvPr/>
        </p:nvSpPr>
        <p:spPr>
          <a:xfrm>
            <a:off x="5747004" y="454456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tie</a:t>
            </a:r>
            <a:endParaRPr lang="en-US" sz="1050" dirty="0"/>
          </a:p>
        </p:txBody>
      </p:sp>
      <p:sp>
        <p:nvSpPr>
          <p:cNvPr id="38" name="w_52"/>
          <p:cNvSpPr/>
          <p:nvPr/>
        </p:nvSpPr>
        <p:spPr>
          <a:xfrm>
            <a:off x="6373368" y="454456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sandals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4"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5"/>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5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5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8" name="insIT_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capo. Non dire la parola!</a:t>
            </a:r>
            <a:endParaRPr lang="en-US" sz="950" dirty="0"/>
          </a:p>
        </p:txBody>
      </p:sp>
      <p:sp>
        <p:nvSpPr>
          <p:cNvPr id="9" name="cmd_5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Warmer · clothes</a:t>
            </a:r>
            <a:endParaRPr lang="en-US" sz="800" dirty="0"/>
          </a:p>
        </p:txBody>
      </p:sp>
      <p:sp>
        <p:nvSpPr>
          <p:cNvPr id="14" name="cd_6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la parola. Non dirla!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8" name="pf_6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9" descr="/home/claude/lls-course/v2/cache/2b2_freez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70"/>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71"/>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2" name="R3_w72"/>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3" name="R5_w73"/>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4" name="R7_w74"/>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5" name="rl_75"/>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76"/>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7" name="R4_w77"/>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8" name="R6_w78"/>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9" name="R8_w79"/>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1"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82"/>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400" dirty="0"/>
          </a:p>
        </p:txBody>
      </p:sp>
      <p:pic>
        <p:nvPicPr>
          <p:cNvPr id="6" name="brP_8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8" name="insIT_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Rispondi alle domande 1–6.</a:t>
            </a:r>
            <a:endParaRPr lang="en-US" sz="950" dirty="0"/>
          </a:p>
        </p:txBody>
      </p:sp>
      <p:sp>
        <p:nvSpPr>
          <p:cNvPr id="9" name="cmd_8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8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8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8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in a photo · present continuous   ·   📖 SB p.10 · present continuous in a photo</a:t>
            </a:r>
            <a:endParaRPr lang="en-US" sz="800" dirty="0"/>
          </a:p>
        </p:txBody>
      </p:sp>
      <p:sp>
        <p:nvSpPr>
          <p:cNvPr id="15" name="pf_92"/>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93"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7" name="bd_94"/>
          <p:cNvSpPr/>
          <p:nvPr/>
        </p:nvSpPr>
        <p:spPr>
          <a:xfrm>
            <a:off x="3514954" y="19147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8" name="bd_95"/>
          <p:cNvSpPr/>
          <p:nvPr/>
        </p:nvSpPr>
        <p:spPr>
          <a:xfrm>
            <a:off x="3224174" y="320222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9" name="bd_96"/>
          <p:cNvSpPr/>
          <p:nvPr/>
        </p:nvSpPr>
        <p:spPr>
          <a:xfrm>
            <a:off x="607162" y="273405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0" name="bd_97"/>
          <p:cNvSpPr/>
          <p:nvPr/>
        </p:nvSpPr>
        <p:spPr>
          <a:xfrm>
            <a:off x="1188720" y="343631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1" name="bd_98"/>
          <p:cNvSpPr/>
          <p:nvPr/>
        </p:nvSpPr>
        <p:spPr>
          <a:xfrm>
            <a:off x="4581144"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2" name="bd_99"/>
          <p:cNvSpPr/>
          <p:nvPr/>
        </p:nvSpPr>
        <p:spPr>
          <a:xfrm>
            <a:off x="1479499" y="173918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3" name="bd_100"/>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101"/>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5" name="R1_chip102"/>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800" dirty="0"/>
          </a:p>
        </p:txBody>
      </p:sp>
      <p:sp>
        <p:nvSpPr>
          <p:cNvPr id="26" name="bd_103"/>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104"/>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8" name="R2_chip105"/>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9" name="bd_106"/>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107"/>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31" name="R3_chip108"/>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32" name="bd_109"/>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110"/>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4" name="R4_chip111"/>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950" dirty="0"/>
          </a:p>
        </p:txBody>
      </p:sp>
      <p:sp>
        <p:nvSpPr>
          <p:cNvPr id="35" name="bd_112"/>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113"/>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7" name="R5_chip114"/>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8" name="bd_115"/>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116"/>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40" name="R6_chip117"/>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5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2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6" name="brP_121"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2"/>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8" name="insIT_1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Come si forma?</a:t>
            </a:r>
            <a:endParaRPr lang="en-US" sz="950" dirty="0"/>
          </a:p>
        </p:txBody>
      </p:sp>
      <p:sp>
        <p:nvSpPr>
          <p:cNvPr id="9" name="cmd_1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12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12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1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 present continuous   ·   📖 Grammar Bank 1C p.125</a:t>
            </a:r>
            <a:endParaRPr lang="en-US" sz="800" dirty="0"/>
          </a:p>
        </p:txBody>
      </p:sp>
      <p:sp>
        <p:nvSpPr>
          <p:cNvPr id="14" name="cd_129"/>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5" name="rh_130"/>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6" name="pf_131"/>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32" descr="/home/claude/lls-course/v2/cache/1b1_birthday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8" name="ru_13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9" name="R1_rx13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20" name="R1_ri13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800" i="1" dirty="0">
                <a:solidFill>
                  <a:srgbClr val="5B6785"/>
                </a:solidFill>
                <a:latin typeface="Segoe UI" pitchFamily="34" charset="0"/>
                <a:ea typeface="Segoe UI" pitchFamily="34" charset="-122"/>
                <a:cs typeface="Segoe UI" pitchFamily="34" charset="-120"/>
              </a:rPr>
              <a:t>sta sorridendo · stanno applaudendo</a:t>
            </a:r>
            <a:endParaRPr lang="en-US" sz="800" dirty="0"/>
          </a:p>
        </p:txBody>
      </p:sp>
      <p:sp>
        <p:nvSpPr>
          <p:cNvPr id="21" name="cd_136"/>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2" name="rh_13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3" name="pf_138"/>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39" descr="/home/claude/lls-course/v2/cache/2b1_old_friends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5" name="ru_140"/>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6" name="R2_rx141"/>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7" name="R2_ri142"/>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sta… · non stanno…</a:t>
            </a:r>
            <a:endParaRPr lang="en-US" sz="900" dirty="0"/>
          </a:p>
        </p:txBody>
      </p:sp>
      <p:sp>
        <p:nvSpPr>
          <p:cNvPr id="28" name="cd_143"/>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9" name="rh_144"/>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0" name="pf_145"/>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146" descr="/home/claude/lls-course/v2/cache/1b1_dinner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2" name="ru_147"/>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3" name="R3_rx148"/>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4" name="R3_ri149"/>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 Cosa stai facendo?</a:t>
            </a:r>
            <a:endParaRPr lang="en-US" sz="900" dirty="0"/>
          </a:p>
        </p:txBody>
      </p:sp>
      <p:sp>
        <p:nvSpPr>
          <p:cNvPr id="35" name="cd_150"/>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6" name="rh_151"/>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7" name="pf_152"/>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153"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9" name="ru_154"/>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40" name="R4_rx155"/>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41" name="R4_ri156"/>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sparisce · sit → sitting</a:t>
            </a:r>
            <a:endParaRPr lang="en-US" sz="900" dirty="0"/>
          </a:p>
        </p:txBody>
      </p:sp>
      <p:sp>
        <p:nvSpPr>
          <p:cNvPr id="42" name="R5_wc157"/>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3" name="R5_w158"/>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2"/>
                                        </p:tgtEl>
                                        <p:attrNameLst>
                                          <p:attrName>style.visibility</p:attrName>
                                        </p:attrNameLst>
                                      </p:cBhvr>
                                      <p:to>
                                        <p:strVal val="visible"/>
                                      </p:to>
                                    </p:set>
                                    <p:animEffect transition="in" filter="fade">
                                      <p:cBhvr>
                                        <p:cTn id="39" dur="400"/>
                                        <p:tgtEl>
                                          <p:spTgt spid="42"/>
                                        </p:tgtEl>
                                      </p:cBhvr>
                                    </p:animEffect>
                                  </p:childTnLst>
                                </p:cTn>
                              </p:par>
                              <p:par>
                                <p:cTn id="40" presetID="10" presetClass="entr" presetSubtype="0" fill="hold" nodeType="with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6" name="brP_16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6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8" name="insIT_16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Adesso o ogni giorno? Scrivi la forma giusta.</a:t>
            </a:r>
            <a:endParaRPr lang="en-US" sz="950" dirty="0"/>
          </a:p>
        </p:txBody>
      </p:sp>
      <p:sp>
        <p:nvSpPr>
          <p:cNvPr id="9" name="cmd_16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16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1" name="logo_1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simple or continuous?   ·   📖 Grammar Bank 1C p.125 · b</a:t>
            </a:r>
            <a:endParaRPr lang="en-US" sz="800" dirty="0"/>
          </a:p>
        </p:txBody>
      </p:sp>
      <p:sp>
        <p:nvSpPr>
          <p:cNvPr id="13" name="cd_16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7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7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 It ___ (rain).  →  Look! It's raining.  (look! = now)</a:t>
            </a:r>
            <a:endParaRPr lang="en-US" sz="1050" dirty="0"/>
          </a:p>
        </p:txBody>
      </p:sp>
      <p:sp>
        <p:nvSpPr>
          <p:cNvPr id="17" name="pf_17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74" descr="/home/claude/lls-course/v2/cache/1b1_diar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7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7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1" name="R1_chip17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 ringing  (look! = now)</a:t>
            </a:r>
            <a:endParaRPr lang="en-US" sz="1000" dirty="0"/>
          </a:p>
        </p:txBody>
      </p:sp>
      <p:sp>
        <p:nvSpPr>
          <p:cNvPr id="22" name="bd_17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7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4" name="R2_chip18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(usually = habit)</a:t>
            </a:r>
            <a:endParaRPr lang="en-US" sz="1000" dirty="0"/>
          </a:p>
        </p:txBody>
      </p:sp>
      <p:sp>
        <p:nvSpPr>
          <p:cNvPr id="25" name="bd_18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8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7" name="R3_chip18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 laughing  (now)</a:t>
            </a:r>
            <a:endParaRPr lang="en-US" sz="1000" dirty="0"/>
          </a:p>
        </p:txBody>
      </p:sp>
      <p:sp>
        <p:nvSpPr>
          <p:cNvPr id="28" name="bd_18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8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30" name="R4_chip18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isn't wearing  (today)</a:t>
            </a:r>
            <a:endParaRPr lang="en-US" sz="1000" dirty="0"/>
          </a:p>
        </p:txBody>
      </p:sp>
      <p:sp>
        <p:nvSpPr>
          <p:cNvPr id="31" name="bd_18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8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3" name="R5_chip189"/>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(on Mondays = habit)</a:t>
            </a:r>
            <a:endParaRPr lang="en-US" sz="1000" dirty="0"/>
          </a:p>
        </p:txBody>
      </p:sp>
      <p:sp>
        <p:nvSpPr>
          <p:cNvPr id="34" name="bd_19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9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6" name="R6_chip192"/>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sleeping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6" name="brP_19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8" name="insIT_1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'Portare' in italiano = due verbi inglesi!</a:t>
            </a:r>
            <a:endParaRPr lang="en-US" sz="950" dirty="0"/>
          </a:p>
        </p:txBody>
      </p:sp>
      <p:sp>
        <p:nvSpPr>
          <p:cNvPr id="9" name="cmd_1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0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0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wear or carry?   ·   📖 VB p.151 · Things you wear</a:t>
            </a:r>
            <a:endParaRPr lang="en-US" sz="800" dirty="0"/>
          </a:p>
        </p:txBody>
      </p:sp>
      <p:sp>
        <p:nvSpPr>
          <p:cNvPr id="14" name="cd_204"/>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5" name="rh_205"/>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6" name="pf_206"/>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07" descr="/home/claude/lls-course/v2/cache/2b2_freezing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8" name="ru_208"/>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9" name="R1_rx209"/>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20" name="R1_ri210"/>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indossare · portare addosso</a:t>
            </a:r>
            <a:endParaRPr lang="en-US" sz="900" dirty="0"/>
          </a:p>
        </p:txBody>
      </p:sp>
      <p:sp>
        <p:nvSpPr>
          <p:cNvPr id="21" name="cd_211"/>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2" name="rh_212"/>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3" name="pf_213"/>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14" descr="/home/claude/lls-course/v2/cache/1b1_holiday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5" name="ru_215"/>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6" name="R2_rx216"/>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7" name="R2_ri217"/>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portare in mano</a:t>
            </a:r>
            <a:endParaRPr lang="en-US" sz="900" dirty="0"/>
          </a:p>
        </p:txBody>
      </p:sp>
      <p:sp>
        <p:nvSpPr>
          <p:cNvPr id="28" name="cd_218"/>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9" name="rh_219"/>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30" name="pf_220"/>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221" descr="/home/claude/lls-course/v2/cache/3b1_mirror_jpg_589x209_31.png">    </p:cNvPr>
          <p:cNvPicPr>
            <a:picLocks noChangeAspect="1"/>
          </p:cNvPicPr>
          <p:nvPr/>
        </p:nvPicPr>
        <p:blipFill>
          <a:blip r:embed="rId7"/>
          <a:stretch>
            <a:fillRect/>
          </a:stretch>
        </p:blipFill>
        <p:spPr>
          <a:xfrm>
            <a:off x="6266688" y="1984248"/>
            <a:ext cx="2447544" cy="868680"/>
          </a:xfrm>
          <a:prstGeom prst="rect">
            <a:avLst/>
          </a:prstGeom>
        </p:spPr>
      </p:pic>
      <p:sp>
        <p:nvSpPr>
          <p:cNvPr id="32" name="ru_222"/>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3" name="R3_rx223"/>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4" name="R3_ri224"/>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vestirsi</a:t>
            </a:r>
            <a:endParaRPr lang="en-US" sz="900" dirty="0"/>
          </a:p>
        </p:txBody>
      </p:sp>
      <p:sp>
        <p:nvSpPr>
          <p:cNvPr id="35" name="R4_wc225"/>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6" name="R4_w226"/>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400"/>
                                        <p:tgtEl>
                                          <p:spTgt spid="35"/>
                                        </p:tgtEl>
                                      </p:cBhvr>
                                    </p:animEffect>
                                  </p:childTnLst>
                                </p:cTn>
                              </p:par>
                              <p:par>
                                <p:cTn id="32" presetID="10" presetClass="entr" presetSubtype="0" fill="hold" nodeType="with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6" name="brP_230"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231"/>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8" name="insIT_2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Wear, carry o get dressed? Usa la forma giusta.</a:t>
            </a:r>
            <a:endParaRPr lang="en-US" sz="950" dirty="0"/>
          </a:p>
        </p:txBody>
      </p:sp>
      <p:sp>
        <p:nvSpPr>
          <p:cNvPr id="9" name="cmd_23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23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wear, carry, get dressed   ·   📖 VB p.151 · practice</a:t>
            </a:r>
            <a:endParaRPr lang="en-US" sz="800" dirty="0"/>
          </a:p>
        </p:txBody>
      </p:sp>
      <p:sp>
        <p:nvSpPr>
          <p:cNvPr id="13" name="cd_23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40"/>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mum ___ shorts.  →  The mum is wearing shorts.</a:t>
            </a:r>
            <a:endParaRPr lang="en-US" sz="1050" dirty="0"/>
          </a:p>
        </p:txBody>
      </p:sp>
      <p:sp>
        <p:nvSpPr>
          <p:cNvPr id="17" name="pf_24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42" descr="/home/claude/lls-course/v2/cache/1b1_holid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4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4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1" name="R1_chip24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wearing</a:t>
            </a:r>
            <a:endParaRPr lang="en-US" sz="1000" dirty="0"/>
          </a:p>
        </p:txBody>
      </p:sp>
      <p:sp>
        <p:nvSpPr>
          <p:cNvPr id="22" name="bd_24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4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4" name="R2_chip24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a:t>
            </a:r>
            <a:endParaRPr lang="en-US" sz="1000" dirty="0"/>
          </a:p>
        </p:txBody>
      </p:sp>
      <p:sp>
        <p:nvSpPr>
          <p:cNvPr id="25" name="bd_24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5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7" name="R3_chip25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00" dirty="0"/>
          </a:p>
        </p:txBody>
      </p:sp>
      <p:sp>
        <p:nvSpPr>
          <p:cNvPr id="28" name="bd_25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5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30" name="R4_chip25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 holding</a:t>
            </a:r>
            <a:endParaRPr lang="en-US" sz="1000" dirty="0"/>
          </a:p>
        </p:txBody>
      </p:sp>
      <p:sp>
        <p:nvSpPr>
          <p:cNvPr id="31" name="bd_255"/>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56"/>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3" name="R5_chip257"/>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wears</a:t>
            </a:r>
            <a:endParaRPr lang="en-US" sz="1000" dirty="0"/>
          </a:p>
        </p:txBody>
      </p:sp>
      <p:sp>
        <p:nvSpPr>
          <p:cNvPr id="34" name="bd_258"/>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259"/>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6" name="R6_chip260"/>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2"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263"/>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400" dirty="0"/>
          </a:p>
        </p:txBody>
      </p:sp>
      <p:pic>
        <p:nvPicPr>
          <p:cNvPr id="6" name="brP_264"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65"/>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8" name="insIT_2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Dove sono? Rispondi alle domande 1–6.</a:t>
            </a:r>
            <a:endParaRPr lang="en-US" sz="950" dirty="0"/>
          </a:p>
        </p:txBody>
      </p:sp>
      <p:sp>
        <p:nvSpPr>
          <p:cNvPr id="9" name="cmd_26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26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6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7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2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prepositions of place   ·   📖 SB p.11 · prepositions of place</a:t>
            </a:r>
            <a:endParaRPr lang="en-US" sz="800" dirty="0"/>
          </a:p>
        </p:txBody>
      </p:sp>
      <p:sp>
        <p:nvSpPr>
          <p:cNvPr id="15" name="pf_273"/>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74"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7" name="bd_275"/>
          <p:cNvSpPr/>
          <p:nvPr/>
        </p:nvSpPr>
        <p:spPr>
          <a:xfrm>
            <a:off x="4484218"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8" name="bd_276"/>
          <p:cNvSpPr/>
          <p:nvPr/>
        </p:nvSpPr>
        <p:spPr>
          <a:xfrm>
            <a:off x="1382573" y="331927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9" name="bd_277"/>
          <p:cNvSpPr/>
          <p:nvPr/>
        </p:nvSpPr>
        <p:spPr>
          <a:xfrm>
            <a:off x="2739542" y="302666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0" name="bd_278"/>
          <p:cNvSpPr/>
          <p:nvPr/>
        </p:nvSpPr>
        <p:spPr>
          <a:xfrm>
            <a:off x="2497226" y="209031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1" name="bd_279"/>
          <p:cNvSpPr/>
          <p:nvPr/>
        </p:nvSpPr>
        <p:spPr>
          <a:xfrm>
            <a:off x="3369564" y="34070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2" name="bd_280"/>
          <p:cNvSpPr/>
          <p:nvPr/>
        </p:nvSpPr>
        <p:spPr>
          <a:xfrm>
            <a:off x="946404" y="150510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3" name="bd_281"/>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282"/>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5" name="R1_chip283"/>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800" dirty="0"/>
          </a:p>
        </p:txBody>
      </p:sp>
      <p:sp>
        <p:nvSpPr>
          <p:cNvPr id="26" name="bd_284"/>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285"/>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8" name="R2_chip286"/>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9" name="bd_287"/>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288"/>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1" name="R3_chip289"/>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32" name="bd_290"/>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291"/>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4" name="R4_chip292"/>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5" name="bd_293"/>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294"/>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7" name="R5_chip295"/>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8" name="bd_296"/>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297"/>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40" name="R6_chip298"/>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0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30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0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0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0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0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in Italian</a:t>
            </a:r>
            <a:endParaRPr lang="en-US" sz="800" dirty="0"/>
          </a:p>
        </p:txBody>
      </p:sp>
      <p:sp>
        <p:nvSpPr>
          <p:cNvPr id="14" name="cd_31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1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1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7" name="R1_it31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8" name="cd_31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1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1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21" name="R2_it31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2" name="cd_31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1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2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5" name="R3_it32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6" name="cd_32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2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2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000" dirty="0"/>
          </a:p>
        </p:txBody>
      </p:sp>
      <p:sp>
        <p:nvSpPr>
          <p:cNvPr id="29" name="R4_it32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30" name="cd_32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2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2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3" name="R5_it32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4" name="cd_33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3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3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7" name="R6_it33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8" name="cd_33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3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3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41" name="R7_it33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2" name="cd_33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3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4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5" name="R8_it34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6" name="cd_34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4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4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150" dirty="0"/>
          </a:p>
        </p:txBody>
      </p:sp>
      <p:sp>
        <p:nvSpPr>
          <p:cNvPr id="49" name="R9_it34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800" dirty="0"/>
          </a:p>
        </p:txBody>
      </p:sp>
      <p:sp>
        <p:nvSpPr>
          <p:cNvPr id="50" name="cd_34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4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4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3" name="R10_it34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4" name="cd_35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5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5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7" name="R11_it35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8" name="cd_35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5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5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61" name="R12_it35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2" name="R13_wc35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5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6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6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6" name="brP_36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6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8" name="insIT_3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le parole. Quale è diversa?</a:t>
            </a:r>
            <a:endParaRPr lang="en-US" sz="950" dirty="0"/>
          </a:p>
        </p:txBody>
      </p:sp>
      <p:sp>
        <p:nvSpPr>
          <p:cNvPr id="9" name="cmd_36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36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6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3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Pronunciation · /ɜː/ as in shirt   ·   📖 SB p.10 · Pronunciation /ɜː/</a:t>
            </a:r>
            <a:endParaRPr lang="en-US" sz="800" dirty="0"/>
          </a:p>
        </p:txBody>
      </p:sp>
      <p:sp>
        <p:nvSpPr>
          <p:cNvPr id="14" name="cd_37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7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/ɜː/ = shirt · skirt · work · her · Thursday · first   (mouth relaxed, lips NOT round)</a:t>
            </a:r>
            <a:endParaRPr lang="en-US" sz="1050" dirty="0"/>
          </a:p>
        </p:txBody>
      </p:sp>
      <p:sp>
        <p:nvSpPr>
          <p:cNvPr id="18" name="pf_37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76" descr="/home/claude/lls-course/v2/cache/3a1_busy_stree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7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7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2" name="R1_chip37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short /ɔː/</a:t>
            </a:r>
            <a:endParaRPr lang="en-US" sz="1000" dirty="0"/>
          </a:p>
        </p:txBody>
      </p:sp>
      <p:sp>
        <p:nvSpPr>
          <p:cNvPr id="23" name="bd_38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8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5" name="R2_chip38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/ɔː/</a:t>
            </a:r>
            <a:endParaRPr lang="en-US" sz="1000" dirty="0"/>
          </a:p>
        </p:txBody>
      </p:sp>
      <p:sp>
        <p:nvSpPr>
          <p:cNvPr id="26" name="bd_38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8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8" name="R3_chip38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hair /eə/</a:t>
            </a:r>
            <a:endParaRPr lang="en-US" sz="1000" dirty="0"/>
          </a:p>
        </p:txBody>
      </p:sp>
      <p:sp>
        <p:nvSpPr>
          <p:cNvPr id="29" name="bd_38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8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31" name="R4_chip38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/ɑː/</a:t>
            </a:r>
            <a:endParaRPr lang="en-US" sz="1000" dirty="0"/>
          </a:p>
        </p:txBody>
      </p:sp>
      <p:sp>
        <p:nvSpPr>
          <p:cNvPr id="32" name="bd_389"/>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90"/>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4" name="R5_chip391"/>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sport /ɔː/</a:t>
            </a:r>
            <a:endParaRPr lang="en-US" sz="1000" dirty="0"/>
          </a:p>
        </p:txBody>
      </p:sp>
      <p:sp>
        <p:nvSpPr>
          <p:cNvPr id="35" name="bd_392"/>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93"/>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7" name="R6_chip394"/>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slowly… then fast ×3!</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96"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97"/>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6" name="brP_39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9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8" name="insIT_40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6 differenze. Dille in inglese!</a:t>
            </a:r>
            <a:endParaRPr lang="en-US" sz="950" dirty="0"/>
          </a:p>
        </p:txBody>
      </p:sp>
      <p:sp>
        <p:nvSpPr>
          <p:cNvPr id="9" name="cmd_4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40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0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pairs</a:t>
            </a:r>
            <a:endParaRPr lang="en-US" sz="950" dirty="0"/>
          </a:p>
        </p:txBody>
      </p:sp>
      <p:sp>
        <p:nvSpPr>
          <p:cNvPr id="12" name="tag_40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game · spot the difference   ·   📖 SB p.11 · Communication (our version)</a:t>
            </a:r>
            <a:endParaRPr lang="en-US" sz="800" dirty="0"/>
          </a:p>
        </p:txBody>
      </p:sp>
      <p:sp>
        <p:nvSpPr>
          <p:cNvPr id="15" name="pf_407"/>
          <p:cNvSpPr/>
          <p:nvPr/>
        </p:nvSpPr>
        <p:spPr>
          <a:xfrm>
            <a:off x="36576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08" descr="/home/claude/lls-course/v2/cache/a2_party_A_png_1001x440_31.png">    </p:cNvPr>
          <p:cNvPicPr>
            <a:picLocks noChangeAspect="1"/>
          </p:cNvPicPr>
          <p:nvPr/>
        </p:nvPicPr>
        <p:blipFill>
          <a:blip r:embed="rId5"/>
          <a:stretch>
            <a:fillRect/>
          </a:stretch>
        </p:blipFill>
        <p:spPr>
          <a:xfrm>
            <a:off x="411480" y="1463040"/>
            <a:ext cx="4160520" cy="1828800"/>
          </a:xfrm>
          <a:prstGeom prst="rect">
            <a:avLst/>
          </a:prstGeom>
        </p:spPr>
      </p:pic>
      <p:sp>
        <p:nvSpPr>
          <p:cNvPr id="17" name="bd_409"/>
          <p:cNvSpPr/>
          <p:nvPr/>
        </p:nvSpPr>
        <p:spPr>
          <a:xfrm>
            <a:off x="265176" y="131673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8" name="pf_410"/>
          <p:cNvSpPr/>
          <p:nvPr/>
        </p:nvSpPr>
        <p:spPr>
          <a:xfrm>
            <a:off x="475488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11" descr="/home/claude/lls-course/v2/cache/a2_party_B_png_1001x440_31.png">    </p:cNvPr>
          <p:cNvPicPr>
            <a:picLocks noChangeAspect="1"/>
          </p:cNvPicPr>
          <p:nvPr/>
        </p:nvPicPr>
        <p:blipFill>
          <a:blip r:embed="rId6"/>
          <a:stretch>
            <a:fillRect/>
          </a:stretch>
        </p:blipFill>
        <p:spPr>
          <a:xfrm>
            <a:off x="4800600" y="1463040"/>
            <a:ext cx="4160520" cy="1828800"/>
          </a:xfrm>
          <a:prstGeom prst="rect">
            <a:avLst/>
          </a:prstGeom>
        </p:spPr>
      </p:pic>
      <p:sp>
        <p:nvSpPr>
          <p:cNvPr id="20" name="bd_412"/>
          <p:cNvSpPr/>
          <p:nvPr/>
        </p:nvSpPr>
        <p:spPr>
          <a:xfrm>
            <a:off x="4654296" y="131673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1" name="bd_413"/>
          <p:cNvSpPr/>
          <p:nvPr/>
        </p:nvSpPr>
        <p:spPr>
          <a:xfrm>
            <a:off x="411480" y="3429000"/>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R1_chip414"/>
          <p:cNvSpPr/>
          <p:nvPr/>
        </p:nvSpPr>
        <p:spPr>
          <a:xfrm>
            <a:off x="777240" y="3410712"/>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3" name="bd_415"/>
          <p:cNvSpPr/>
          <p:nvPr/>
        </p:nvSpPr>
        <p:spPr>
          <a:xfrm>
            <a:off x="4800600" y="3429000"/>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R2_chip416"/>
          <p:cNvSpPr/>
          <p:nvPr/>
        </p:nvSpPr>
        <p:spPr>
          <a:xfrm>
            <a:off x="5166360" y="3410712"/>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00" dirty="0"/>
          </a:p>
        </p:txBody>
      </p:sp>
      <p:sp>
        <p:nvSpPr>
          <p:cNvPr id="25" name="bd_417"/>
          <p:cNvSpPr/>
          <p:nvPr/>
        </p:nvSpPr>
        <p:spPr>
          <a:xfrm>
            <a:off x="411480" y="3803904"/>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R3_chip418"/>
          <p:cNvSpPr/>
          <p:nvPr/>
        </p:nvSpPr>
        <p:spPr>
          <a:xfrm>
            <a:off x="777240" y="3785616"/>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7" name="bd_419"/>
          <p:cNvSpPr/>
          <p:nvPr/>
        </p:nvSpPr>
        <p:spPr>
          <a:xfrm>
            <a:off x="4800600" y="3803904"/>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R4_chip420"/>
          <p:cNvSpPr/>
          <p:nvPr/>
        </p:nvSpPr>
        <p:spPr>
          <a:xfrm>
            <a:off x="5166360" y="3785616"/>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9" name="bd_421"/>
          <p:cNvSpPr/>
          <p:nvPr/>
        </p:nvSpPr>
        <p:spPr>
          <a:xfrm>
            <a:off x="411480" y="41788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R5_chip422"/>
          <p:cNvSpPr/>
          <p:nvPr/>
        </p:nvSpPr>
        <p:spPr>
          <a:xfrm>
            <a:off x="777240" y="4160520"/>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31" name="bd_423"/>
          <p:cNvSpPr/>
          <p:nvPr/>
        </p:nvSpPr>
        <p:spPr>
          <a:xfrm>
            <a:off x="4800600" y="41788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R6_chip424"/>
          <p:cNvSpPr/>
          <p:nvPr/>
        </p:nvSpPr>
        <p:spPr>
          <a:xfrm>
            <a:off x="5166360" y="4160520"/>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3" name="spx_425"/>
          <p:cNvSpPr/>
          <p:nvPr/>
        </p:nvSpPr>
        <p:spPr>
          <a:xfrm>
            <a:off x="411480" y="4553712"/>
            <a:ext cx="8549640" cy="292608"/>
          </a:xfrm>
          <a:prstGeom prst="rect">
            <a:avLst/>
          </a:prstGeom>
          <a:noFill/>
          <a:ln/>
        </p:spPr>
        <p:txBody>
          <a:bodyPr wrap="square" lIns="76200" tIns="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7"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28"/>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6" name="brP_42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3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8" name="insIT_43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Mostra una foto sul telefono. Descrivila!</a:t>
            </a:r>
            <a:endParaRPr lang="en-US" sz="950" dirty="0"/>
          </a:p>
        </p:txBody>
      </p:sp>
      <p:sp>
        <p:nvSpPr>
          <p:cNvPr id="9" name="cmd_43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3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pairs</a:t>
            </a:r>
            <a:endParaRPr lang="en-US" sz="950" dirty="0"/>
          </a:p>
        </p:txBody>
      </p:sp>
      <p:sp>
        <p:nvSpPr>
          <p:cNvPr id="11" name="tag_43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 your photo</a:t>
            </a:r>
            <a:endParaRPr lang="en-US" sz="800" dirty="0"/>
          </a:p>
        </p:txBody>
      </p:sp>
      <p:sp>
        <p:nvSpPr>
          <p:cNvPr id="14" name="pf_43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38" descr="/home/claude/lls-course/v2/cache/2a2_holiday_album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3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4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4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4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This is a photo of… last summer.</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On the left… / In the middle…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He's wearing… · They're laughing.</a:t>
            </a:r>
            <a:endParaRPr lang="en-US" sz="1000" dirty="0"/>
          </a:p>
        </p:txBody>
      </p:sp>
      <p:sp>
        <p:nvSpPr>
          <p:cNvPr id="20" name="R1_qb44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4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is my cousin's wedding in Palermo, last June.</a:t>
            </a:r>
            <a:endParaRPr lang="en-US" sz="1250" dirty="0"/>
          </a:p>
        </p:txBody>
      </p:sp>
      <p:sp>
        <p:nvSpPr>
          <p:cNvPr id="22" name="R2_qb44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4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in it? Where are they?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is on the left, next to my aunt.</a:t>
            </a:r>
            <a:endParaRPr lang="en-US" sz="1250" dirty="0"/>
          </a:p>
        </p:txBody>
      </p:sp>
      <p:sp>
        <p:nvSpPr>
          <p:cNvPr id="24" name="R3_qb44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4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wearing?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wearing a terrible tie!</a:t>
            </a:r>
            <a:endParaRPr lang="en-US" sz="1250" dirty="0"/>
          </a:p>
        </p:txBody>
      </p:sp>
      <p:sp>
        <p:nvSpPr>
          <p:cNvPr id="26" name="R4_qb44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5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doing?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brother is dancing and my grandma is laughing.</a:t>
            </a:r>
            <a:endParaRPr lang="en-US" sz="1250" dirty="0"/>
          </a:p>
        </p:txBody>
      </p:sp>
      <p:sp>
        <p:nvSpPr>
          <p:cNvPr id="28" name="R5_qb45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5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ask 2 questions!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Who's the man behind you? Why is he laughing?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5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5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5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59"/>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60"/>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Exit · what can you remember?</a:t>
            </a:r>
            <a:endParaRPr lang="en-US" sz="800" dirty="0"/>
          </a:p>
        </p:txBody>
      </p:sp>
      <p:sp>
        <p:nvSpPr>
          <p:cNvPr id="13" name="bd_46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6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clothes words – no looking!</a:t>
            </a:r>
            <a:endParaRPr lang="en-US" sz="1400" dirty="0"/>
          </a:p>
        </p:txBody>
      </p:sp>
      <p:sp>
        <p:nvSpPr>
          <p:cNvPr id="15" name="bd_46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6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about the class NOW: "Anna is wearing…"</a:t>
            </a:r>
            <a:endParaRPr lang="en-US" sz="1400" dirty="0"/>
          </a:p>
        </p:txBody>
      </p:sp>
      <p:sp>
        <p:nvSpPr>
          <p:cNvPr id="17" name="bd_46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6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wear or carry?</a:t>
            </a:r>
            <a:endParaRPr lang="en-US" sz="1400" dirty="0"/>
          </a:p>
        </p:txBody>
      </p:sp>
      <p:sp>
        <p:nvSpPr>
          <p:cNvPr id="19" name="cd_46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7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7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72"/>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1C (normal / easier) in the LLS app</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1C (teacher's choice)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Describe a photo from your phone: 50–70 words</a:t>
            </a:r>
            <a:endParaRPr lang="en-US" sz="1150" dirty="0"/>
          </a:p>
        </p:txBody>
      </p:sp>
      <p:sp>
        <p:nvSpPr>
          <p:cNvPr id="23" name="st_47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7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1C</a:t>
            </a:r>
            <a:endParaRPr lang="en-US" sz="2500" dirty="0"/>
          </a:p>
        </p:txBody>
      </p:sp>
      <p:pic>
        <p:nvPicPr>
          <p:cNvPr id="6" name="brP_47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7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4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48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8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4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Book audio · 1C</a:t>
            </a:r>
            <a:endParaRPr lang="en-US" sz="800" dirty="0"/>
          </a:p>
        </p:txBody>
      </p:sp>
      <p:sp>
        <p:nvSpPr>
          <p:cNvPr id="13" name="st_48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485"/>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86"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487"/>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488"/>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89"/>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490"/>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Track numbers = Student's Book 1C (pp.10–11)</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Check the book exercise before you play</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Click the speaker: play / pause</a:t>
            </a:r>
            <a:endParaRPr lang="en-US" sz="800" dirty="0"/>
          </a:p>
        </p:txBody>
      </p:sp>
      <p:sp>
        <p:nvSpPr>
          <p:cNvPr id="20" name="ab_491"/>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/ə/ and /ɜː/ – p.10 · 2a (listen, then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492"/>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1.25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 p.10 · 2c (listen and check the word groups)</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493"/>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127000" tIns="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1.26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
        <p:nvSpPr>
          <p:cNvPr id="26" name="ab_494"/>
          <p:cNvSpPr/>
          <p:nvPr/>
        </p:nvSpPr>
        <p:spPr>
          <a:xfrm>
            <a:off x="3246120" y="3008376"/>
            <a:ext cx="4983480" cy="457200"/>
          </a:xfrm>
          <a:prstGeom prst="roundRect">
            <a:avLst>
              <a:gd name="adj" fmla="val 24000"/>
            </a:avLst>
          </a:prstGeom>
          <a:solidFill>
            <a:srgbClr val="FFFFFF"/>
          </a:solidFill>
          <a:ln w="19050">
            <a:solidFill>
              <a:srgbClr val="FFE07A"/>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1.27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321040" y="3044952"/>
            <a:ext cx="384048" cy="384048"/>
          </a:xfrm>
          <a:prstGeom prst="rect">
            <a:avLst/>
          </a:prstGeom>
        </p:spPr>
      </p:pic>
      <p:sp>
        <p:nvSpPr>
          <p:cNvPr id="28" name="ab_495"/>
          <p:cNvSpPr/>
          <p:nvPr/>
        </p:nvSpPr>
        <p:spPr>
          <a:xfrm>
            <a:off x="3246120" y="3538728"/>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Listening: the Vermeer painting – p.11 (script SB p.120)</a:t>
            </a:r>
            <a:endParaRPr lang="en-US" sz="1300" dirty="0"/>
          </a:p>
        </p:txBody>
      </p:sp>
      <p:pic>
        <p:nvPicPr>
          <p:cNvPr id="29" name="Media 4">
            <a:hlinkClick r:id="" action="ppaction://media"/>
          </p:cNvPr>
          <p:cNvPicPr>
            <a:picLocks noChangeAspect="1"/>
          </p:cNvPicPr>
          <p:nvPr>
            <a:audioFile r:link="rId18"/>
            <p:extLst>
              <p:ext uri="{DAA4B4D4-6D71-4841-9C94-3DE7FCFB9230}">
                <p14:media xmlns:p14="http://schemas.microsoft.com/office/powerpoint/2010/main" r:embed="rId19"/>
              </p:ext>
            </p:extLst>
          </p:nvPr>
        </p:nvPicPr>
        <p:blipFill>
          <a:blip r:embed="rId20"/>
          <a:stretch>
            <a:fillRect/>
          </a:stretch>
        </p:blipFill>
        <p:spPr>
          <a:xfrm>
            <a:off x="8321040" y="3575304"/>
            <a:ext cx="384048" cy="384048"/>
          </a:xfrm>
          <a:prstGeom prst="rect">
            <a:avLst/>
          </a:prstGeom>
        </p:spPr>
      </p:pic>
      <p:sp>
        <p:nvSpPr>
          <p:cNvPr id="30" name="ab_496"/>
          <p:cNvSpPr/>
          <p:nvPr/>
        </p:nvSpPr>
        <p:spPr>
          <a:xfrm>
            <a:off x="3246120" y="4069080"/>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1.29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Prepositions of place – p.11 (listen and check)</a:t>
            </a:r>
            <a:endParaRPr lang="en-US" sz="1300" dirty="0"/>
          </a:p>
        </p:txBody>
      </p:sp>
      <p:pic>
        <p:nvPicPr>
          <p:cNvPr id="31" name="Media 5">
            <a:hlinkClick r:id="" action="ppaction://media"/>
          </p:cNvPr>
          <p:cNvPicPr>
            <a:picLocks noChangeAspect="1"/>
          </p:cNvPicPr>
          <p:nvPr>
            <a:audioFile r:link="rId21"/>
            <p:extLst>
              <p:ext uri="{DAA4B4D4-6D71-4841-9C94-3DE7FCFB9230}">
                <p14:media xmlns:p14="http://schemas.microsoft.com/office/powerpoint/2010/main" r:embed="rId22"/>
              </p:ext>
            </p:extLst>
          </p:nvPr>
        </p:nvPicPr>
        <p:blipFill>
          <a:blip r:embed="rId23"/>
          <a:stretch>
            <a:fillRect/>
          </a:stretch>
        </p:blipFill>
        <p:spPr>
          <a:xfrm>
            <a:off x="8321040" y="410565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audio>
              <p:cMediaNode vol="80000">
                <p:cTn id="33" fill="hold" display="0">
                  <p:stCondLst>
                    <p:cond delay="indefinite"/>
                  </p:stCondLst>
                  <p:endCondLst>
                    <p:cond evt="onStopAudio" delay="0">
                      <p:tgtEl>
                        <p:sldTgt/>
                      </p:tgtEl>
                    </p:cond>
                  </p:endCondLst>
                </p:cTn>
                <p:tgtEl>
                  <p:spTgt spid="21"/>
                </p:tgtEl>
              </p:cMediaNode>
            </p:audio>
            <p:audio>
              <p:cMediaNode vol="80000">
                <p:cTn id="34" fill="hold" display="0">
                  <p:stCondLst>
                    <p:cond delay="indefinite"/>
                  </p:stCondLst>
                  <p:endCondLst>
                    <p:cond evt="onStopAudio" delay="0">
                      <p:tgtEl>
                        <p:sldTgt/>
                      </p:tgtEl>
                    </p:cond>
                  </p:endCondLst>
                </p:cTn>
                <p:tgtEl>
                  <p:spTgt spid="23"/>
                </p:tgtEl>
              </p:cMediaNode>
            </p:audio>
            <p:audio>
              <p:cMediaNode vol="80000">
                <p:cTn id="35" fill="hold" display="0">
                  <p:stCondLst>
                    <p:cond delay="indefinite"/>
                  </p:stCondLst>
                  <p:endCondLst>
                    <p:cond evt="onStopAudio" delay="0">
                      <p:tgtEl>
                        <p:sldTgt/>
                      </p:tgtEl>
                    </p:cond>
                  </p:endCondLst>
                </p:cTn>
                <p:tgtEl>
                  <p:spTgt spid="25"/>
                </p:tgtEl>
              </p:cMediaNode>
            </p:audio>
            <p:audio>
              <p:cMediaNode vol="80000">
                <p:cTn id="36" fill="hold" display="0">
                  <p:stCondLst>
                    <p:cond delay="indefinite"/>
                  </p:stCondLst>
                  <p:endCondLst>
                    <p:cond evt="onStopAudio" delay="0">
                      <p:tgtEl>
                        <p:sldTgt/>
                      </p:tgtEl>
                    </p:cond>
                  </p:endCondLst>
                </p:cTn>
                <p:tgtEl>
                  <p:spTgt spid="27"/>
                </p:tgtEl>
              </p:cMediaNode>
            </p:audio>
            <p:audio>
              <p:cMediaNode vol="80000">
                <p:cTn id="37" fill="hold" display="0">
                  <p:stCondLst>
                    <p:cond delay="indefinite"/>
                  </p:stCondLst>
                  <p:endCondLst>
                    <p:cond evt="onStopAudio" delay="0">
                      <p:tgtEl>
                        <p:sldTgt/>
                      </p:tgtEl>
                    </p:cond>
                  </p:endCondLst>
                </p:cTn>
                <p:tgtEl>
                  <p:spTgt spid="29"/>
                </p:tgtEl>
              </p:cMediaNode>
            </p:audio>
            <p:audio>
              <p:cMediaNode vol="80000">
                <p:cTn id="38" fill="hold" display="0">
                  <p:stCondLst>
                    <p:cond delay="indefinite"/>
                  </p:stCondLst>
                  <p:endCondLst>
                    <p:cond evt="onStopAudio" delay="0">
                      <p:tgtEl>
                        <p:sldTgt/>
                      </p:tgtEl>
                    </p:cond>
                  </p:endCondLst>
                </p:cTn>
                <p:tgtEl>
                  <p:spTgt spid="3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2026-10-12T09:16:00Z</dcterms:created>
  <dcterms:modified xsi:type="dcterms:W3CDTF">2026-10-12T09:16:00Z</dcterms:modified>
</cp:coreProperties>
</file>