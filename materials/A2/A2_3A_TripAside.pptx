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(3 min)
OPENING (3 min). SB 1a. Teach pick someone up / drop someone off. TG extra challenge: ask for more information (Where were you going? Who did you pick up?). TG lead-in idea: 2 minutes – five things people do at an airport (check in, board, fly, land, meet somebody…).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Vocabulary · airports (1) (3 min)
SIGNS 1–6 (3 min). SB 1b. Pairs match; click once per sign. Key (TG): 1 baggage reclaim 2 departures 3 arrivals 4 terminal 5 lifts 6 trolley. Drill: baggage /ˈbæɡɪdʒ/, customs /ˈkʌstəmz/, trolley /ˈtrɒli/. Watch out: customs ≠ costumes!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airports (2) (3 min)
SIGNS 7–12 (3 min). Key (TG): 7 bag drop 8 customs 9 check-in 10 passport control 11 gates 12 security check. Then 1c: students cover the words and test each other: point at a sign → say the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Listening · where are you? (3 min)
WHERE ARE YOU? (3 min). Audio 3.2 isn't in our files – READ the lines aloud (act them!). Item 1 is the book's example. Key (TG): 1 a lift 2 baggage reclaim 3 security check 4 gates 5 passport control 6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Pronunciation · the letter g (1) (3 min)
LETTER g (1) (3 min). 2a: baggage – gg = /ɡ/, ge = /dʒ/ (both in one word – the e.g.!). Key (TG): /ɡ/ gate, foggy, forget, guide · /dʒ/ large, village, engineer.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Pronunciation · the letter g (2) (3 min)
LETTER g (2) (3 min). Key (TG): /ɡ/ guest, begin, gift, guarantee, organize · /dʒ/ agent, region, emergency, general. 2c: g = /dʒ/ when it's followed by e or i (but get, give, begin, gift = /ɡ/ – learn them!).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Reading · No more boring stopovers (5 min)
READING (8 min). 3a: read once – 'Is it a good idea?' (show the photo of the founders). 3b: gap 1 is the example (D). TG tip: look at the words before and after each gap – mainly connectors (and, or, so, because). One click per gap. Key (TG): 1 D 2 H 3 E 4 F (5–8 next slide). Extra questions (TG): What is TripAside? Which airports offer trips? Is TripAside unique?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No more boring stopovers (4 min)
READING PART 2 (4 min). Key (TG): 5 C 6 G 7 B 8 A. Then: Is it a good idea? Would you book a tour? (READING (8 min) – 3a: read once – 'Is it a good idea?' (show the photo of the founders). 3b: gap 1 is the example (D). TG tip: look at the words before and after each gap – mainly connectors (and, or, so, because). One click per gap. Key (TG): 1 D 2 H 3 E 4 F 5 C 6 G 7 B 8 A. Extra questions (TG): What is TripAside? Which airports offer trips? Is TripAside unique?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Vocabulary · air travel (3 min)
AIR TRAVEL WORDS (3 min). SB 3c – the first 5 are from the book (TG definitions); the last 3 recycle the opening. Drill the stress.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Listening · Jake meets his guide (7 min)
LISTENING (7 min). Audio 3.4 isn't in our files – READ the conversation in two voices (or ask a strong student to read Anna). First: which city? Then the 10 sentences (exactly as the book). Key (TG): 1T 2F 3F 4T 5F 6T 7T 8F 9F 10T.
SCRIPT: A Hello, Mr Bevan. I'm Anna, your tour guide. J Hi. Please, call me Jake. A OK, Jake. Nice to meet you. How was the flight? Are you very tired? J No, I'm fine. A Great. Let's go to the car park, then. Is it your first time here? J Yeah. I was in Europe when I was a student, but somehow I never got here. A And your final destination is London, is that right? J Yes. I'm going to give a talk at a conference in Oxford. A So work, not pleasure? J Yes – well, maybe some pleasure, too. I have a friend – well, an ex-girlfriend, really, who I was with when I was a student. She's British – she lives in Oxford – and we're planning to meet up. A That's nice! OK, so now I'm going to tell you a bit about our tour today. We're going to drive to the centre – it takes about forty-five minutes – and then we're going to start at the Colosseum. J Great. I've always wanted to see it. A And then we're going to visit the Forum. After that, we're going to see the Pantheon – one of the oldest buildings in the city. J Wow. A So, then we are very near the Via del Corso, where all the best shops are. Would you like to maybe do some shopping? J Well, I'd like to see the shops, but I'm probably not going to buy anything. A Maybe a little present – a present for your friend in Oxford? J Well, maybe. A And then I'm sure you're going to be hungry, so I'm going to take you to a really nice restaurant for lunch. We can have pizza, or a good carbonara, a gelato – an ice cream, that is. Our typical dishes, but I promise you, very different from Italian food in America. J Sounds great. And then back to the airport, I guess? A That's right. We need to allow time for that. J Yes, I don't want to miss my flight. A Don't worry. We do this tour every day – and nobody has ever missed their flight. J Is it going to be very hot today? A No, not too hot. It's going to be nice: about twenty-two degrees. J Perfect. It's going to be a fantastic day. A Here we are. If you can just wait a minute while I pay for the parking. Oh, Mr Bevan – Jake – is this yours? J My passport! Thanks, Anna. Typical me. I always lose things when I'm travelling.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be going to (5 min)
GRAMMAR (5 min). 4a: 1 is the example. Read Jake and Anna's lines aloud if needed (no audio 3.5). One click per gap. Key (TG): 1 'm going to give 2 're going to drive 3 're going to visit 4 'm (probably) not going to buy 5 Is (it) going to be 6 's going to be. 4b: 1–3 Pl, 4–6 Pr. Note (TG): fast speech – going to sounds like 'gonna'.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Bank 3A · the rule (3 min)
RULE (3 min). Grammar Bank 3A – examples from the GB and TG. Click once per column. Then GB exercises p.131 (homework or now): a 1 Is…going to learn 2 aren't going to go, 're going to stay 3 're going to be 4 's going to get 5 'm going to cook 6 'm not going to listen 7 are…going to do, 'm going to study · b 1 's going to win 2 're going to be 3 're going to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Game · predictions (4 min)
FORTUNE TELLER (4 min). The first is the example. Accept any good prediction with going to; extra point for a funny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What are your plans? (4 min)
PLANS (4 min). SB 4d: use the Communication pages (A p.103, B p.109) or these questions. Sit A and B face to face. Get feedback: 'Marco is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plan a stopover tour (8 min)
SPEAKING (8 min). SB 5: travellers arrive at 9 a.m. and must be back at 3.30 p.m. – we use Palermo (Falcone Borsellino) so it's real for them. Monitor and correct going to. Each pair presents; class votes with a show of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EXIT (2 min). Pairs, books 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Speaking · stopovers (3 min)
EXTRA (3 min). SB 3f. If you've had a long stopover, tell them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Pre-intermediate · SB pp.22–23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3A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TripAside</a:t>
            </a:r>
            <a:endParaRPr lang="en-US" sz="30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Airports · be going to (plans and predictions)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✈️  learn 12 airport words and signs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🔤  say the letter g: girl or jazz?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about stopover tours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🔮  be going to: plans and predictions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🗺️  plan a tour from Palermo airport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August I went to Palermo airport to pick up my cousin from London.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a2_3a_jake_anna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 was the last time you went to an airport? Was it to travel somewhere or to pick up or drop off someone?</a:t>
            </a:r>
            <a:endParaRPr lang="en-US" sz="13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Airport signs (1)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 the signs 1–6 to the words. Say them!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 i cartelli 1–6 alle parole. Dille!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Vocabulary · airports (1)   ·   📖 SB p.22 · 1b, 1c (TG key 3.1)</a:t>
            </a:r>
            <a:endParaRPr lang="en-US" sz="800" dirty="0"/>
          </a:p>
        </p:txBody>
      </p:sp>
      <p:sp>
        <p:nvSpPr>
          <p:cNvPr id="12" name="cd_26"/>
          <p:cNvSpPr/>
          <p:nvPr/>
        </p:nvSpPr>
        <p:spPr>
          <a:xfrm>
            <a:off x="320040" y="1417320"/>
            <a:ext cx="2697480" cy="1371600"/>
          </a:xfrm>
          <a:prstGeom prst="roundRect">
            <a:avLst>
              <a:gd name="adj" fmla="val 9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9"/>
          <p:cNvSpPr/>
          <p:nvPr/>
        </p:nvSpPr>
        <p:spPr>
          <a:xfrm>
            <a:off x="886968" y="1911096"/>
            <a:ext cx="20391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arrivals · bag drop · baggage reclaim · check-in · customs · departures · gates · lifts · passport control · security check · terminal · trolley</a:t>
            </a:r>
            <a:endParaRPr lang="en-US" sz="900" dirty="0"/>
          </a:p>
        </p:txBody>
      </p:sp>
      <p:sp>
        <p:nvSpPr>
          <p:cNvPr id="16" name="pf_30"/>
          <p:cNvSpPr/>
          <p:nvPr/>
        </p:nvSpPr>
        <p:spPr>
          <a:xfrm rot="-90000">
            <a:off x="899806" y="2971800"/>
            <a:ext cx="1537948" cy="1691640"/>
          </a:xfrm>
          <a:prstGeom prst="roundRect">
            <a:avLst>
              <a:gd name="adj" fmla="val 101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1" descr="/home/claude/lls-course/v2/cache/a2_3a_signs_jpg_348x385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945526" y="3017520"/>
            <a:ext cx="1446508" cy="1600200"/>
          </a:xfrm>
          <a:prstGeom prst="rect">
            <a:avLst/>
          </a:prstGeom>
        </p:spPr>
      </p:pic>
      <p:sp>
        <p:nvSpPr>
          <p:cNvPr id="18" name="bd_3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1</a:t>
            </a:r>
            <a:endParaRPr lang="en-US" sz="1150" dirty="0"/>
          </a:p>
        </p:txBody>
      </p:sp>
      <p:sp>
        <p:nvSpPr>
          <p:cNvPr id="20" name="R1_chip3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baggage reclaim</a:t>
            </a:r>
            <a:endParaRPr lang="en-US" sz="1050" dirty="0"/>
          </a:p>
        </p:txBody>
      </p:sp>
      <p:sp>
        <p:nvSpPr>
          <p:cNvPr id="21" name="bd_3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3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2</a:t>
            </a:r>
            <a:endParaRPr lang="en-US" sz="1150" dirty="0"/>
          </a:p>
        </p:txBody>
      </p:sp>
      <p:sp>
        <p:nvSpPr>
          <p:cNvPr id="23" name="R2_chip3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departures</a:t>
            </a:r>
            <a:endParaRPr lang="en-US" sz="1050" dirty="0"/>
          </a:p>
        </p:txBody>
      </p:sp>
      <p:sp>
        <p:nvSpPr>
          <p:cNvPr id="24" name="bd_3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3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3</a:t>
            </a:r>
            <a:endParaRPr lang="en-US" sz="1150" dirty="0"/>
          </a:p>
        </p:txBody>
      </p:sp>
      <p:sp>
        <p:nvSpPr>
          <p:cNvPr id="26" name="R3_chip4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arrivals</a:t>
            </a:r>
            <a:endParaRPr lang="en-US" sz="1050" dirty="0"/>
          </a:p>
        </p:txBody>
      </p:sp>
      <p:sp>
        <p:nvSpPr>
          <p:cNvPr id="27" name="bd_4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4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4</a:t>
            </a:r>
            <a:endParaRPr lang="en-US" sz="1150" dirty="0"/>
          </a:p>
        </p:txBody>
      </p:sp>
      <p:sp>
        <p:nvSpPr>
          <p:cNvPr id="29" name="R4_chip4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terminal</a:t>
            </a:r>
            <a:endParaRPr lang="en-US" sz="1050" dirty="0"/>
          </a:p>
        </p:txBody>
      </p:sp>
      <p:sp>
        <p:nvSpPr>
          <p:cNvPr id="30" name="bd_4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4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5</a:t>
            </a:r>
            <a:endParaRPr lang="en-US" sz="1150" dirty="0"/>
          </a:p>
        </p:txBody>
      </p:sp>
      <p:sp>
        <p:nvSpPr>
          <p:cNvPr id="32" name="R5_chip4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lifts</a:t>
            </a:r>
            <a:endParaRPr lang="en-US" sz="1050" dirty="0"/>
          </a:p>
        </p:txBody>
      </p:sp>
      <p:sp>
        <p:nvSpPr>
          <p:cNvPr id="33" name="bd_47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48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6</a:t>
            </a:r>
            <a:endParaRPr lang="en-US" sz="1150" dirty="0"/>
          </a:p>
        </p:txBody>
      </p:sp>
      <p:sp>
        <p:nvSpPr>
          <p:cNvPr id="35" name="R6_chip49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trolley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2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Airport signs (2)</a:t>
            </a:r>
            <a:endParaRPr lang="en-US" sz="2500" dirty="0"/>
          </a:p>
        </p:txBody>
      </p:sp>
      <p:pic>
        <p:nvPicPr>
          <p:cNvPr id="6" name="brP_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 the signs 7–12. Then cover the words and say them!</a:t>
            </a:r>
            <a:endParaRPr lang="en-US" sz="1250" dirty="0"/>
          </a:p>
        </p:txBody>
      </p:sp>
      <p:sp>
        <p:nvSpPr>
          <p:cNvPr id="8" name="insIT_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 i cartelli 7–12. Poi copri le parole e dille!</a:t>
            </a:r>
            <a:endParaRPr lang="en-US" sz="950" dirty="0"/>
          </a:p>
        </p:txBody>
      </p:sp>
      <p:sp>
        <p:nvSpPr>
          <p:cNvPr id="9" name="note_5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Vocabulary · airports (2)   ·   📖 SB p.22 · 1b, 1c (TG key 3.1)</a:t>
            </a:r>
            <a:endParaRPr lang="en-US" sz="800" dirty="0"/>
          </a:p>
        </p:txBody>
      </p:sp>
      <p:sp>
        <p:nvSpPr>
          <p:cNvPr id="12" name="cd_59"/>
          <p:cNvSpPr/>
          <p:nvPr/>
        </p:nvSpPr>
        <p:spPr>
          <a:xfrm>
            <a:off x="320040" y="1417320"/>
            <a:ext cx="2697480" cy="1371600"/>
          </a:xfrm>
          <a:prstGeom prst="roundRect">
            <a:avLst>
              <a:gd name="adj" fmla="val 9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62"/>
          <p:cNvSpPr/>
          <p:nvPr/>
        </p:nvSpPr>
        <p:spPr>
          <a:xfrm>
            <a:off x="886968" y="1911096"/>
            <a:ext cx="20391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arrivals · bag drop · baggage reclaim · check-in · customs · departures · gates · lifts · passport control · security check · terminal · trolley</a:t>
            </a:r>
            <a:endParaRPr lang="en-US" sz="900" dirty="0"/>
          </a:p>
        </p:txBody>
      </p:sp>
      <p:sp>
        <p:nvSpPr>
          <p:cNvPr id="16" name="pf_63"/>
          <p:cNvSpPr/>
          <p:nvPr/>
        </p:nvSpPr>
        <p:spPr>
          <a:xfrm rot="-90000">
            <a:off x="899806" y="2971800"/>
            <a:ext cx="1537948" cy="1691640"/>
          </a:xfrm>
          <a:prstGeom prst="roundRect">
            <a:avLst>
              <a:gd name="adj" fmla="val 101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4" descr="/home/claude/lls-course/v2/cache/a2_3a_signs_jpg_348x385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945526" y="3017520"/>
            <a:ext cx="1446508" cy="1600200"/>
          </a:xfrm>
          <a:prstGeom prst="rect">
            <a:avLst/>
          </a:prstGeom>
        </p:spPr>
      </p:pic>
      <p:sp>
        <p:nvSpPr>
          <p:cNvPr id="18" name="bd_6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6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7</a:t>
            </a:r>
            <a:endParaRPr lang="en-US" sz="1150" dirty="0"/>
          </a:p>
        </p:txBody>
      </p:sp>
      <p:sp>
        <p:nvSpPr>
          <p:cNvPr id="20" name="R1_chip6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bag drop</a:t>
            </a:r>
            <a:endParaRPr lang="en-US" sz="1050" dirty="0"/>
          </a:p>
        </p:txBody>
      </p:sp>
      <p:sp>
        <p:nvSpPr>
          <p:cNvPr id="21" name="bd_6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6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8</a:t>
            </a:r>
            <a:endParaRPr lang="en-US" sz="1150" dirty="0"/>
          </a:p>
        </p:txBody>
      </p:sp>
      <p:sp>
        <p:nvSpPr>
          <p:cNvPr id="23" name="R2_chip7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customs</a:t>
            </a:r>
            <a:endParaRPr lang="en-US" sz="1050" dirty="0"/>
          </a:p>
        </p:txBody>
      </p:sp>
      <p:sp>
        <p:nvSpPr>
          <p:cNvPr id="24" name="bd_7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7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9</a:t>
            </a:r>
            <a:endParaRPr lang="en-US" sz="1150" dirty="0"/>
          </a:p>
        </p:txBody>
      </p:sp>
      <p:sp>
        <p:nvSpPr>
          <p:cNvPr id="26" name="R3_chip7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check-in</a:t>
            </a:r>
            <a:endParaRPr lang="en-US" sz="1050" dirty="0"/>
          </a:p>
        </p:txBody>
      </p:sp>
      <p:sp>
        <p:nvSpPr>
          <p:cNvPr id="27" name="bd_7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7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10</a:t>
            </a:r>
            <a:endParaRPr lang="en-US" sz="1150" dirty="0"/>
          </a:p>
        </p:txBody>
      </p:sp>
      <p:sp>
        <p:nvSpPr>
          <p:cNvPr id="29" name="R4_chip7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passport control</a:t>
            </a:r>
            <a:endParaRPr lang="en-US" sz="1050" dirty="0"/>
          </a:p>
        </p:txBody>
      </p:sp>
      <p:sp>
        <p:nvSpPr>
          <p:cNvPr id="30" name="bd_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7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11</a:t>
            </a:r>
            <a:endParaRPr lang="en-US" sz="1150" dirty="0"/>
          </a:p>
        </p:txBody>
      </p:sp>
      <p:sp>
        <p:nvSpPr>
          <p:cNvPr id="32" name="R5_chip7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gates</a:t>
            </a:r>
            <a:endParaRPr lang="en-US" sz="1050" dirty="0"/>
          </a:p>
        </p:txBody>
      </p:sp>
      <p:sp>
        <p:nvSpPr>
          <p:cNvPr id="33" name="bd_8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8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12</a:t>
            </a:r>
            <a:endParaRPr lang="en-US" sz="1150" dirty="0"/>
          </a:p>
        </p:txBody>
      </p:sp>
      <p:sp>
        <p:nvSpPr>
          <p:cNvPr id="35" name="R6_chip8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check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are you?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teacher. Where are you? Say the place!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l'insegnante. Dove sei? Di' il posto!</a:t>
            </a:r>
            <a:endParaRPr lang="en-US" sz="950" dirty="0"/>
          </a:p>
        </p:txBody>
      </p:sp>
      <p:sp>
        <p:nvSpPr>
          <p:cNvPr id="9" name="note_8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Communicative game</a:t>
            </a:r>
            <a:endParaRPr lang="en-US" sz="1150" dirty="0"/>
          </a:p>
        </p:txBody>
      </p:sp>
      <p:pic>
        <p:nvPicPr>
          <p:cNvPr id="10" name="logo_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Listening · where are you?   ·   📖 SB p.22 · 1d · audio 3.2 (script TG p.41)</a:t>
            </a:r>
            <a:endParaRPr lang="en-US" sz="800" dirty="0"/>
          </a:p>
        </p:txBody>
      </p:sp>
      <p:sp>
        <p:nvSpPr>
          <p:cNvPr id="12" name="cd_92"/>
          <p:cNvSpPr/>
          <p:nvPr/>
        </p:nvSpPr>
        <p:spPr>
          <a:xfrm>
            <a:off x="320040" y="1417320"/>
            <a:ext cx="2697480" cy="1917192"/>
          </a:xfrm>
          <a:prstGeom prst="roundRect">
            <a:avLst>
              <a:gd name="adj" fmla="val 66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95"/>
          <p:cNvSpPr/>
          <p:nvPr/>
        </p:nvSpPr>
        <p:spPr>
          <a:xfrm>
            <a:off x="886968" y="1911096"/>
            <a:ext cx="2039112" cy="1350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reads an announcement or a conversation.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team to say the place = 1 point.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airport words!</a:t>
            </a:r>
            <a:endParaRPr lang="en-US" sz="1150" dirty="0"/>
          </a:p>
        </p:txBody>
      </p:sp>
      <p:sp>
        <p:nvSpPr>
          <p:cNvPr id="16" name="st_96"/>
          <p:cNvSpPr/>
          <p:nvPr/>
        </p:nvSpPr>
        <p:spPr>
          <a:xfrm rot="-180000">
            <a:off x="502920" y="3517392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9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9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'Doors opening. Second floor. Departures. Check-in and bag drop.'</a:t>
            </a:r>
            <a:endParaRPr lang="en-US" sz="900" dirty="0"/>
          </a:p>
        </p:txBody>
      </p:sp>
      <p:sp>
        <p:nvSpPr>
          <p:cNvPr id="19" name="chip_9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lift</a:t>
            </a:r>
            <a:endParaRPr lang="en-US" sz="1200" dirty="0"/>
          </a:p>
        </p:txBody>
      </p:sp>
      <p:sp>
        <p:nvSpPr>
          <p:cNvPr id="20" name="bd_10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10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'Excuse me. My suitcase hasn't arrived…' 'Lost luggage is that window over there.'</a:t>
            </a:r>
            <a:endParaRPr lang="en-US" sz="900" dirty="0"/>
          </a:p>
        </p:txBody>
      </p:sp>
      <p:sp>
        <p:nvSpPr>
          <p:cNvPr id="22" name="R1_chip10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baggage reclaim</a:t>
            </a:r>
            <a:endParaRPr lang="en-US" sz="1200" dirty="0"/>
          </a:p>
        </p:txBody>
      </p:sp>
      <p:sp>
        <p:nvSpPr>
          <p:cNvPr id="23" name="bd_10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10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you take your boots off, please? … Put them on the belt.'</a:t>
            </a:r>
            <a:endParaRPr lang="en-US" sz="900" dirty="0"/>
          </a:p>
        </p:txBody>
      </p:sp>
      <p:sp>
        <p:nvSpPr>
          <p:cNvPr id="25" name="R2_chip10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security check</a:t>
            </a:r>
            <a:endParaRPr lang="en-US" sz="1200" dirty="0"/>
          </a:p>
        </p:txBody>
      </p:sp>
      <p:sp>
        <p:nvSpPr>
          <p:cNvPr id="26" name="bd_10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10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'Boarding for British Airways flight BA0564 to Milan will begin in a few minutes…'</a:t>
            </a:r>
            <a:endParaRPr lang="en-US" sz="900" dirty="0"/>
          </a:p>
        </p:txBody>
      </p:sp>
      <p:sp>
        <p:nvSpPr>
          <p:cNvPr id="28" name="R3_chip10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gates</a:t>
            </a:r>
            <a:endParaRPr lang="en-US" sz="1200" dirty="0"/>
          </a:p>
        </p:txBody>
      </p:sp>
      <p:sp>
        <p:nvSpPr>
          <p:cNvPr id="29" name="bd_10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11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here on vacation?' 'Er, yes.' 'How long are you staying?' 'Two weeks.'</a:t>
            </a:r>
            <a:endParaRPr lang="en-US" sz="900" dirty="0"/>
          </a:p>
        </p:txBody>
      </p:sp>
      <p:sp>
        <p:nvSpPr>
          <p:cNvPr id="31" name="R4_chip11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passport control</a:t>
            </a:r>
            <a:endParaRPr lang="en-US" sz="1200" dirty="0"/>
          </a:p>
        </p:txBody>
      </p:sp>
      <p:sp>
        <p:nvSpPr>
          <p:cNvPr id="32" name="bd_11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1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'Passport and boarding pass, please. How many bags are you checking in?'</a:t>
            </a:r>
            <a:endParaRPr lang="en-US" sz="900" dirty="0"/>
          </a:p>
        </p:txBody>
      </p:sp>
      <p:sp>
        <p:nvSpPr>
          <p:cNvPr id="34" name="R5_chip11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check-in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1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Girl or jazz? (1)</a:t>
            </a:r>
            <a:endParaRPr lang="en-US" sz="2500" dirty="0"/>
          </a:p>
        </p:txBody>
      </p:sp>
      <p:pic>
        <p:nvPicPr>
          <p:cNvPr id="6" name="brP_1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119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words. g = girl or jazz?</a:t>
            </a:r>
            <a:endParaRPr lang="en-US" sz="1250" dirty="0"/>
          </a:p>
        </p:txBody>
      </p:sp>
      <p:sp>
        <p:nvSpPr>
          <p:cNvPr id="8" name="insIT_1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le parole. g = girl o jazz?</a:t>
            </a:r>
            <a:endParaRPr lang="en-US" sz="950" dirty="0"/>
          </a:p>
        </p:txBody>
      </p:sp>
      <p:sp>
        <p:nvSpPr>
          <p:cNvPr id="9" name="note_12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Guided discovery</a:t>
            </a:r>
            <a:endParaRPr lang="en-US" sz="1150" dirty="0"/>
          </a:p>
        </p:txBody>
      </p:sp>
      <p:pic>
        <p:nvPicPr>
          <p:cNvPr id="10" name="logo_1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Pronunciation · the letter g (1)   ·   📖 SB p.22 · 2a, 2b (TG key 3.3)</a:t>
            </a:r>
            <a:endParaRPr lang="en-US" sz="800" dirty="0"/>
          </a:p>
        </p:txBody>
      </p:sp>
      <p:sp>
        <p:nvSpPr>
          <p:cNvPr id="12" name="cd_124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2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12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sounds</a:t>
            </a:r>
            <a:endParaRPr lang="en-US" sz="1300" dirty="0"/>
          </a:p>
        </p:txBody>
      </p:sp>
      <p:sp>
        <p:nvSpPr>
          <p:cNvPr id="15" name="lg_12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050" dirty="0"/>
          </a:p>
        </p:txBody>
      </p:sp>
      <p:sp>
        <p:nvSpPr>
          <p:cNvPr id="16" name="lg_12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050" dirty="0"/>
          </a:p>
        </p:txBody>
      </p:sp>
      <p:sp>
        <p:nvSpPr>
          <p:cNvPr id="17" name="sq_129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ba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200" dirty="0"/>
          </a:p>
        </p:txBody>
      </p:sp>
      <p:sp>
        <p:nvSpPr>
          <p:cNvPr id="18" name="R1_tag130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19" name="sq_131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ate</a:t>
            </a:r>
            <a:endParaRPr lang="en-US" sz="1200" dirty="0"/>
          </a:p>
        </p:txBody>
      </p:sp>
      <p:sp>
        <p:nvSpPr>
          <p:cNvPr id="20" name="R2_tag132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21" name="sq_133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</a:t>
            </a:r>
            <a:endParaRPr lang="en-US" sz="1200" dirty="0"/>
          </a:p>
        </p:txBody>
      </p:sp>
      <p:sp>
        <p:nvSpPr>
          <p:cNvPr id="22" name="R3_tag134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23" name="sq_135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et</a:t>
            </a:r>
            <a:endParaRPr lang="en-US" sz="1200" dirty="0"/>
          </a:p>
        </p:txBody>
      </p:sp>
      <p:sp>
        <p:nvSpPr>
          <p:cNvPr id="24" name="R4_tag136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25" name="sq_137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uide</a:t>
            </a:r>
            <a:endParaRPr lang="en-US" sz="1200" dirty="0"/>
          </a:p>
        </p:txBody>
      </p:sp>
      <p:sp>
        <p:nvSpPr>
          <p:cNvPr id="26" name="R5_tag138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27" name="sq_139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lar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200" dirty="0"/>
          </a:p>
        </p:txBody>
      </p:sp>
      <p:sp>
        <p:nvSpPr>
          <p:cNvPr id="28" name="R6_tag140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150" dirty="0"/>
          </a:p>
        </p:txBody>
      </p:sp>
      <p:sp>
        <p:nvSpPr>
          <p:cNvPr id="29" name="sq_141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villa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200" dirty="0"/>
          </a:p>
        </p:txBody>
      </p:sp>
      <p:sp>
        <p:nvSpPr>
          <p:cNvPr id="30" name="R7_tag142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150" dirty="0"/>
          </a:p>
        </p:txBody>
      </p:sp>
      <p:sp>
        <p:nvSpPr>
          <p:cNvPr id="31" name="sq_143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ineer</a:t>
            </a:r>
            <a:endParaRPr lang="en-US" sz="1200" dirty="0"/>
          </a:p>
        </p:txBody>
      </p:sp>
      <p:sp>
        <p:nvSpPr>
          <p:cNvPr id="32" name="R8_tag144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4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Girl or jazz? (2)</a:t>
            </a:r>
            <a:endParaRPr lang="en-US" sz="2500" dirty="0"/>
          </a:p>
        </p:txBody>
      </p:sp>
      <p:pic>
        <p:nvPicPr>
          <p:cNvPr id="6" name="brP_1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149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words. g = girl or jazz? When is g = /dʒ/?</a:t>
            </a:r>
            <a:endParaRPr lang="en-US" sz="1250" dirty="0"/>
          </a:p>
        </p:txBody>
      </p:sp>
      <p:sp>
        <p:nvSpPr>
          <p:cNvPr id="8" name="insIT_15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le parole. g = girl o jazz? Quando g = /dʒ/?</a:t>
            </a:r>
            <a:endParaRPr lang="en-US" sz="950" dirty="0"/>
          </a:p>
        </p:txBody>
      </p:sp>
      <p:sp>
        <p:nvSpPr>
          <p:cNvPr id="9" name="note_15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Guided discovery</a:t>
            </a:r>
            <a:endParaRPr lang="en-US" sz="1150" dirty="0"/>
          </a:p>
        </p:txBody>
      </p:sp>
      <p:pic>
        <p:nvPicPr>
          <p:cNvPr id="10" name="logo_1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Pronunciation · the letter g (2)   ·   📖 SB p.22 · 2b, 2c (TG key 3.3)</a:t>
            </a:r>
            <a:endParaRPr lang="en-US" sz="800" dirty="0"/>
          </a:p>
        </p:txBody>
      </p:sp>
      <p:sp>
        <p:nvSpPr>
          <p:cNvPr id="12" name="cd_154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5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15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sounds</a:t>
            </a:r>
            <a:endParaRPr lang="en-US" sz="1300" dirty="0"/>
          </a:p>
        </p:txBody>
      </p:sp>
      <p:sp>
        <p:nvSpPr>
          <p:cNvPr id="15" name="lg_15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050" dirty="0"/>
          </a:p>
        </p:txBody>
      </p:sp>
      <p:sp>
        <p:nvSpPr>
          <p:cNvPr id="16" name="lg_15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050" dirty="0"/>
          </a:p>
        </p:txBody>
      </p:sp>
      <p:sp>
        <p:nvSpPr>
          <p:cNvPr id="17" name="sq_159"/>
          <p:cNvSpPr/>
          <p:nvPr/>
        </p:nvSpPr>
        <p:spPr>
          <a:xfrm>
            <a:off x="3246120" y="141732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</a:t>
            </a:r>
            <a:endParaRPr lang="en-US" sz="1200" dirty="0"/>
          </a:p>
        </p:txBody>
      </p:sp>
      <p:sp>
        <p:nvSpPr>
          <p:cNvPr id="18" name="R1_tag160"/>
          <p:cNvSpPr/>
          <p:nvPr/>
        </p:nvSpPr>
        <p:spPr>
          <a:xfrm>
            <a:off x="7178040" y="141732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150" dirty="0"/>
          </a:p>
        </p:txBody>
      </p:sp>
      <p:sp>
        <p:nvSpPr>
          <p:cNvPr id="19" name="sq_161"/>
          <p:cNvSpPr/>
          <p:nvPr/>
        </p:nvSpPr>
        <p:spPr>
          <a:xfrm>
            <a:off x="3246120" y="178308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uest</a:t>
            </a:r>
            <a:endParaRPr lang="en-US" sz="1200" dirty="0"/>
          </a:p>
        </p:txBody>
      </p:sp>
      <p:sp>
        <p:nvSpPr>
          <p:cNvPr id="20" name="R2_tag162"/>
          <p:cNvSpPr/>
          <p:nvPr/>
        </p:nvSpPr>
        <p:spPr>
          <a:xfrm>
            <a:off x="7178040" y="178308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21" name="sq_163"/>
          <p:cNvSpPr/>
          <p:nvPr/>
        </p:nvSpPr>
        <p:spPr>
          <a:xfrm>
            <a:off x="3246120" y="214884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ion</a:t>
            </a:r>
            <a:endParaRPr lang="en-US" sz="1200" dirty="0"/>
          </a:p>
        </p:txBody>
      </p:sp>
      <p:sp>
        <p:nvSpPr>
          <p:cNvPr id="22" name="R3_tag164"/>
          <p:cNvSpPr/>
          <p:nvPr/>
        </p:nvSpPr>
        <p:spPr>
          <a:xfrm>
            <a:off x="7178040" y="214884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150" dirty="0"/>
          </a:p>
        </p:txBody>
      </p:sp>
      <p:sp>
        <p:nvSpPr>
          <p:cNvPr id="23" name="sq_165"/>
          <p:cNvSpPr/>
          <p:nvPr/>
        </p:nvSpPr>
        <p:spPr>
          <a:xfrm>
            <a:off x="3246120" y="251460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emer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ency</a:t>
            </a:r>
            <a:endParaRPr lang="en-US" sz="1200" dirty="0"/>
          </a:p>
        </p:txBody>
      </p:sp>
      <p:sp>
        <p:nvSpPr>
          <p:cNvPr id="24" name="R4_tag166"/>
          <p:cNvSpPr/>
          <p:nvPr/>
        </p:nvSpPr>
        <p:spPr>
          <a:xfrm>
            <a:off x="7178040" y="251460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150" dirty="0"/>
          </a:p>
        </p:txBody>
      </p:sp>
      <p:sp>
        <p:nvSpPr>
          <p:cNvPr id="25" name="sq_167"/>
          <p:cNvSpPr/>
          <p:nvPr/>
        </p:nvSpPr>
        <p:spPr>
          <a:xfrm>
            <a:off x="3246120" y="288036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200" dirty="0"/>
          </a:p>
        </p:txBody>
      </p:sp>
      <p:sp>
        <p:nvSpPr>
          <p:cNvPr id="26" name="R5_tag168"/>
          <p:cNvSpPr/>
          <p:nvPr/>
        </p:nvSpPr>
        <p:spPr>
          <a:xfrm>
            <a:off x="7178040" y="288036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27" name="sq_169"/>
          <p:cNvSpPr/>
          <p:nvPr/>
        </p:nvSpPr>
        <p:spPr>
          <a:xfrm>
            <a:off x="3246120" y="324612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ift</a:t>
            </a:r>
            <a:endParaRPr lang="en-US" sz="1200" dirty="0"/>
          </a:p>
        </p:txBody>
      </p:sp>
      <p:sp>
        <p:nvSpPr>
          <p:cNvPr id="28" name="R6_tag170"/>
          <p:cNvSpPr/>
          <p:nvPr/>
        </p:nvSpPr>
        <p:spPr>
          <a:xfrm>
            <a:off x="7178040" y="324612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29" name="sq_171"/>
          <p:cNvSpPr/>
          <p:nvPr/>
        </p:nvSpPr>
        <p:spPr>
          <a:xfrm>
            <a:off x="3246120" y="361188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eneral</a:t>
            </a:r>
            <a:endParaRPr lang="en-US" sz="1200" dirty="0"/>
          </a:p>
        </p:txBody>
      </p:sp>
      <p:sp>
        <p:nvSpPr>
          <p:cNvPr id="30" name="R7_tag172"/>
          <p:cNvSpPr/>
          <p:nvPr/>
        </p:nvSpPr>
        <p:spPr>
          <a:xfrm>
            <a:off x="7178040" y="361188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🎷 jazz /dʒ/</a:t>
            </a:r>
            <a:endParaRPr lang="en-US" sz="1150" dirty="0"/>
          </a:p>
        </p:txBody>
      </p:sp>
      <p:sp>
        <p:nvSpPr>
          <p:cNvPr id="31" name="sq_173"/>
          <p:cNvSpPr/>
          <p:nvPr/>
        </p:nvSpPr>
        <p:spPr>
          <a:xfrm>
            <a:off x="3246120" y="397764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uarantee</a:t>
            </a:r>
            <a:endParaRPr lang="en-US" sz="1200" dirty="0"/>
          </a:p>
        </p:txBody>
      </p:sp>
      <p:sp>
        <p:nvSpPr>
          <p:cNvPr id="32" name="R8_tag174"/>
          <p:cNvSpPr/>
          <p:nvPr/>
        </p:nvSpPr>
        <p:spPr>
          <a:xfrm>
            <a:off x="7178040" y="397764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  <p:sp>
        <p:nvSpPr>
          <p:cNvPr id="33" name="sq_175"/>
          <p:cNvSpPr/>
          <p:nvPr/>
        </p:nvSpPr>
        <p:spPr>
          <a:xfrm>
            <a:off x="3246120" y="4343400"/>
            <a:ext cx="3840480" cy="301752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anize</a:t>
            </a:r>
            <a:endParaRPr lang="en-US" sz="1200" dirty="0"/>
          </a:p>
        </p:txBody>
      </p:sp>
      <p:sp>
        <p:nvSpPr>
          <p:cNvPr id="34" name="R9_tag176"/>
          <p:cNvSpPr/>
          <p:nvPr/>
        </p:nvSpPr>
        <p:spPr>
          <a:xfrm>
            <a:off x="7178040" y="4343400"/>
            <a:ext cx="1691640" cy="301752"/>
          </a:xfrm>
          <a:prstGeom prst="roundRect">
            <a:avLst>
              <a:gd name="adj" fmla="val 75758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👧 girl /ɡ/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79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more boring stopovers (1)</a:t>
            </a:r>
            <a:endParaRPr lang="en-US" sz="2500" dirty="0"/>
          </a:p>
        </p:txBody>
      </p:sp>
      <p:pic>
        <p:nvPicPr>
          <p:cNvPr id="6" name="brP_1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8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Complete it with phrases A–H. Is it a good idea?</a:t>
            </a:r>
            <a:endParaRPr lang="en-US" sz="1100" dirty="0"/>
          </a:p>
        </p:txBody>
      </p:sp>
      <p:sp>
        <p:nvSpPr>
          <p:cNvPr id="8" name="insIT_1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l'articolo. Completalo con le frasi A–H. È una buona idea?</a:t>
            </a:r>
            <a:endParaRPr lang="en-US" sz="950" dirty="0"/>
          </a:p>
        </p:txBody>
      </p:sp>
      <p:sp>
        <p:nvSpPr>
          <p:cNvPr id="9" name="note_1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Text cohesion</a:t>
            </a:r>
            <a:endParaRPr lang="en-US" sz="1150" dirty="0"/>
          </a:p>
        </p:txBody>
      </p:sp>
      <p:pic>
        <p:nvPicPr>
          <p:cNvPr id="10" name="logo_1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Reading · No more boring stopovers   ·   📖 SB p.22 · 3a, 3b · part 1 (TG key)</a:t>
            </a:r>
            <a:endParaRPr lang="en-US" sz="800" dirty="0"/>
          </a:p>
        </p:txBody>
      </p:sp>
      <p:sp>
        <p:nvSpPr>
          <p:cNvPr id="12" name="cd_186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187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 things are more depressing than spending hours in an airport terminal waiting for a connecting flight.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you are, sitting in the departure lounge watching the clock, or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D looking around the duty-free shop for the eighth time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And the most frustrating thing is that outside the airport there is a foreign city which you'd really like to look around, full of great tourist attractions, restaurants, and shops. But you don't want to leave the airport, because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will miss your flight.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Frenchman Emmanuel Rozenblum and his sister were on a stopover at Warsaw's main airport three years ago. But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so they decided to go into town.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'We left the airport on our own,' says Mr Rozenblum, 'but we didn't know which bus to take,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.'</a:t>
            </a:r>
            <a:endParaRPr lang="en-US" sz="1100" dirty="0"/>
          </a:p>
        </p:txBody>
      </p:sp>
      <p:sp>
        <p:nvSpPr>
          <p:cNvPr id="14" name="R1_rdA18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 things are more depressing than spending hours in an airport terminal waiting for a connecting flight.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you are, sitting in the departure lounge watching the clock, or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D looking around the duty-free shop for the eighth time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And the most frustrating thing is that outside the airport there is a foreign city which you'd really like to look around, full of great tourist attractions, restaurants, and shops. But you don't want to leave the airport, because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H you're terrified that you won't get back in time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will miss your flight.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Frenchman Emmanuel Rozenblum and his sister were on a stopover at Warsaw's main airport three years ago. But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so they decided to go into town.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'We left the airport on our own,' says Mr Rozenblum, 'but we didn't know which bus to take,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.'</a:t>
            </a:r>
            <a:endParaRPr lang="en-US" sz="1100" dirty="0"/>
          </a:p>
        </p:txBody>
      </p:sp>
      <p:sp>
        <p:nvSpPr>
          <p:cNvPr id="15" name="R2_rdA18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 things are more depressing than spending hours in an airport terminal waiting for a connecting flight.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you are, sitting in the departure lounge watching the clock, or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D looking around the duty-free shop for the eighth time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And the most frustrating thing is that outside the airport there is a foreign city which you'd really like to look around, full of great tourist attractions, restaurants, and shops. But you don't want to leave the airport, because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H you're terrified that you won't get back in time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will miss your flight.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Frenchman Emmanuel Rozenblum and his sister were on a stopover at Warsaw's main airport three years ago. But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E they really didn't want to spend eight hours waiting for their connecting flight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so they decided to go into town.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'We left the airport on our own,' says Mr Rozenblum, 'but we didn't know which bus to take,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.'</a:t>
            </a:r>
            <a:endParaRPr lang="en-US" sz="1100" dirty="0"/>
          </a:p>
        </p:txBody>
      </p:sp>
      <p:sp>
        <p:nvSpPr>
          <p:cNvPr id="16" name="R3_rdA190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 things are more depressing than spending hours in an airport terminal waiting for a connecting flight.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you are, sitting in the departure lounge watching the clock, or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D looking around the duty-free shop for the eighth time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And the most frustrating thing is that outside the airport there is a foreign city which you'd really like to look around, full of great tourist attractions, restaurants, and shops. But you don't want to leave the airport, because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H you're terrified that you won't get back in time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will miss your flight.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Frenchman Emmanuel Rozenblum and his sister were on a stopover at Warsaw's main airport three years ago. But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E they really didn't want to spend eight hours waiting for their connecting flight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so they decided to go into town.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'We left the airport on our own,' says Mr Rozenblum, 'but we didn't know which bus to take,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F we were really stressed about getting back in time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.'</a:t>
            </a:r>
            <a:endParaRPr lang="en-US" sz="1100" dirty="0"/>
          </a:p>
        </p:txBody>
      </p:sp>
      <p:sp>
        <p:nvSpPr>
          <p:cNvPr id="17" name="rbh_191"/>
          <p:cNvSpPr/>
          <p:nvPr/>
        </p:nvSpPr>
        <p:spPr>
          <a:xfrm>
            <a:off x="6263640" y="141732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Phrases A–H</a:t>
            </a:r>
            <a:endParaRPr lang="en-US" sz="1300" dirty="0"/>
          </a:p>
        </p:txBody>
      </p:sp>
      <p:sp>
        <p:nvSpPr>
          <p:cNvPr id="18" name="bd_192"/>
          <p:cNvSpPr/>
          <p:nvPr/>
        </p:nvSpPr>
        <p:spPr>
          <a:xfrm>
            <a:off x="6263640" y="183051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b_193"/>
          <p:cNvSpPr/>
          <p:nvPr/>
        </p:nvSpPr>
        <p:spPr>
          <a:xfrm>
            <a:off x="6647688" y="1828800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just go to sleep at the airport</a:t>
            </a:r>
            <a:endParaRPr lang="en-US" sz="900" dirty="0"/>
          </a:p>
        </p:txBody>
      </p:sp>
      <p:sp>
        <p:nvSpPr>
          <p:cNvPr id="20" name="bd_194"/>
          <p:cNvSpPr/>
          <p:nvPr/>
        </p:nvSpPr>
        <p:spPr>
          <a:xfrm>
            <a:off x="6263640" y="219970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00" dirty="0"/>
          </a:p>
        </p:txBody>
      </p:sp>
      <p:sp>
        <p:nvSpPr>
          <p:cNvPr id="21" name="rb_195"/>
          <p:cNvSpPr/>
          <p:nvPr/>
        </p:nvSpPr>
        <p:spPr>
          <a:xfrm>
            <a:off x="6647688" y="2197989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an immediate success</a:t>
            </a:r>
            <a:endParaRPr lang="en-US" sz="900" dirty="0"/>
          </a:p>
        </p:txBody>
      </p:sp>
      <p:sp>
        <p:nvSpPr>
          <p:cNvPr id="22" name="bd_196"/>
          <p:cNvSpPr/>
          <p:nvPr/>
        </p:nvSpPr>
        <p:spPr>
          <a:xfrm>
            <a:off x="6263640" y="2568893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00" dirty="0"/>
          </a:p>
        </p:txBody>
      </p:sp>
      <p:sp>
        <p:nvSpPr>
          <p:cNvPr id="23" name="rb_197"/>
          <p:cNvSpPr/>
          <p:nvPr/>
        </p:nvSpPr>
        <p:spPr>
          <a:xfrm>
            <a:off x="6647688" y="2567178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experience gave Emmanuel the idea for a new business</a:t>
            </a:r>
            <a:endParaRPr lang="en-US" sz="900" dirty="0"/>
          </a:p>
        </p:txBody>
      </p:sp>
      <p:sp>
        <p:nvSpPr>
          <p:cNvPr id="24" name="bd_198"/>
          <p:cNvSpPr/>
          <p:nvPr/>
        </p:nvSpPr>
        <p:spPr>
          <a:xfrm>
            <a:off x="6263640" y="293808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</a:t>
            </a:r>
            <a:endParaRPr lang="en-US" sz="1000" dirty="0"/>
          </a:p>
        </p:txBody>
      </p:sp>
      <p:sp>
        <p:nvSpPr>
          <p:cNvPr id="25" name="rb_199"/>
          <p:cNvSpPr/>
          <p:nvPr/>
        </p:nvSpPr>
        <p:spPr>
          <a:xfrm>
            <a:off x="6647688" y="2936367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looking around the duty-free shop for the eighth time</a:t>
            </a:r>
            <a:endParaRPr lang="en-US" sz="900" dirty="0"/>
          </a:p>
        </p:txBody>
      </p:sp>
      <p:sp>
        <p:nvSpPr>
          <p:cNvPr id="26" name="bd_200"/>
          <p:cNvSpPr/>
          <p:nvPr/>
        </p:nvSpPr>
        <p:spPr>
          <a:xfrm>
            <a:off x="6263640" y="3307271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</a:t>
            </a:r>
            <a:endParaRPr lang="en-US" sz="1000" dirty="0"/>
          </a:p>
        </p:txBody>
      </p:sp>
      <p:sp>
        <p:nvSpPr>
          <p:cNvPr id="27" name="rb_201"/>
          <p:cNvSpPr/>
          <p:nvPr/>
        </p:nvSpPr>
        <p:spPr>
          <a:xfrm>
            <a:off x="6647688" y="3305556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really didn't want to spend eight hours waiting for their connecting flight</a:t>
            </a:r>
            <a:endParaRPr lang="en-US" sz="700" dirty="0"/>
          </a:p>
        </p:txBody>
      </p:sp>
      <p:sp>
        <p:nvSpPr>
          <p:cNvPr id="28" name="bd_202"/>
          <p:cNvSpPr/>
          <p:nvPr/>
        </p:nvSpPr>
        <p:spPr>
          <a:xfrm>
            <a:off x="6263640" y="3676460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</a:t>
            </a:r>
            <a:endParaRPr lang="en-US" sz="1000" dirty="0"/>
          </a:p>
        </p:txBody>
      </p:sp>
      <p:sp>
        <p:nvSpPr>
          <p:cNvPr id="29" name="rb_203"/>
          <p:cNvSpPr/>
          <p:nvPr/>
        </p:nvSpPr>
        <p:spPr>
          <a:xfrm>
            <a:off x="6647688" y="3674745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were really stressed about getting back in time</a:t>
            </a:r>
            <a:endParaRPr lang="en-US" sz="900" dirty="0"/>
          </a:p>
        </p:txBody>
      </p:sp>
      <p:sp>
        <p:nvSpPr>
          <p:cNvPr id="30" name="bd_204"/>
          <p:cNvSpPr/>
          <p:nvPr/>
        </p:nvSpPr>
        <p:spPr>
          <a:xfrm>
            <a:off x="6263640" y="4045648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</a:t>
            </a:r>
            <a:endParaRPr lang="en-US" sz="1000" dirty="0"/>
          </a:p>
        </p:txBody>
      </p:sp>
      <p:sp>
        <p:nvSpPr>
          <p:cNvPr id="31" name="rb_205"/>
          <p:cNvSpPr/>
          <p:nvPr/>
        </p:nvSpPr>
        <p:spPr>
          <a:xfrm>
            <a:off x="6647688" y="4043934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guarantees to get them back to the airport in time for their connecting flight</a:t>
            </a:r>
            <a:endParaRPr lang="en-US" sz="700" dirty="0"/>
          </a:p>
        </p:txBody>
      </p:sp>
      <p:sp>
        <p:nvSpPr>
          <p:cNvPr id="32" name="bd_206"/>
          <p:cNvSpPr/>
          <p:nvPr/>
        </p:nvSpPr>
        <p:spPr>
          <a:xfrm>
            <a:off x="6263640" y="4414838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</a:t>
            </a:r>
            <a:endParaRPr lang="en-US" sz="1000" dirty="0"/>
          </a:p>
        </p:txBody>
      </p:sp>
      <p:sp>
        <p:nvSpPr>
          <p:cNvPr id="33" name="rb_207"/>
          <p:cNvSpPr/>
          <p:nvPr/>
        </p:nvSpPr>
        <p:spPr>
          <a:xfrm>
            <a:off x="6647688" y="4413123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you're terrified that you won't get back in time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210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more boring stopovers (2)</a:t>
            </a:r>
            <a:endParaRPr lang="en-US" sz="2500" dirty="0"/>
          </a:p>
        </p:txBody>
      </p:sp>
      <p:pic>
        <p:nvPicPr>
          <p:cNvPr id="6" name="brP_2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1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part 2. Complete it with phrases A–H.</a:t>
            </a:r>
            <a:endParaRPr lang="en-US" sz="1250" dirty="0"/>
          </a:p>
        </p:txBody>
      </p:sp>
      <p:sp>
        <p:nvSpPr>
          <p:cNvPr id="8" name="insIT_21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parte 2. Completala con le frasi A–H.</a:t>
            </a:r>
            <a:endParaRPr lang="en-US" sz="950" dirty="0"/>
          </a:p>
        </p:txBody>
      </p:sp>
      <p:sp>
        <p:nvSpPr>
          <p:cNvPr id="9" name="note_21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Text cohesion</a:t>
            </a:r>
            <a:endParaRPr lang="en-US" sz="1150" dirty="0"/>
          </a:p>
        </p:txBody>
      </p:sp>
      <p:pic>
        <p:nvPicPr>
          <p:cNvPr id="10" name="logo_21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1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Reading · No more boring stopovers   ·   📖 SB p.22 · 3b · part 2 (TG key)</a:t>
            </a:r>
            <a:endParaRPr lang="en-US" sz="800" dirty="0"/>
          </a:p>
        </p:txBody>
      </p:sp>
      <p:sp>
        <p:nvSpPr>
          <p:cNvPr id="12" name="cd_217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21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more boring stopovers – go on a guided tour! (2)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caught their flight,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Millions of air travellers make stopovers every year, so Emmanuel thought he could organize short guided trips into the nearest city or countryside.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idea is that a guide picks up the travellers at the airport, takes them quickly around the sights and to a restaurant, and then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March 2015, he and business partner Anna Veyrenc started their 'stopover tours' business, called TripAside, in Paris.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today it has expanded to Frankfurt, London, Brussels, Rome, and Madrid. Now other small companies are offering similar tours worldwide, from Beijing to Moscow. So, next time you have a long stopover between flights,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book a tour!</a:t>
            </a:r>
            <a:endParaRPr lang="en-US" sz="1100" dirty="0"/>
          </a:p>
        </p:txBody>
      </p:sp>
      <p:sp>
        <p:nvSpPr>
          <p:cNvPr id="14" name="R1_rdA21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more boring stopovers – go on a guided tour! (2)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caught their flight,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C the experience gave Emmanuel the idea for a new business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Millions of air travellers make stopovers every year, so Emmanuel thought he could organize short guided trips into the nearest city or countryside.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idea is that a guide picks up the travellers at the airport, takes them quickly around the sights and to a restaurant, and then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March 2015, he and business partner Anna Veyrenc started their 'stopover tours' business, called TripAside, in Paris.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today it has expanded to Frankfurt, London, Brussels, Rome, and Madrid. Now other small companies are offering similar tours worldwide, from Beijing to Moscow. So, next time you have a long stopover between flights,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book a tour!</a:t>
            </a:r>
            <a:endParaRPr lang="en-US" sz="1100" dirty="0"/>
          </a:p>
        </p:txBody>
      </p:sp>
      <p:sp>
        <p:nvSpPr>
          <p:cNvPr id="15" name="R2_rdA220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more boring stopovers – go on a guided tour! (2)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caught their flight,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C the experience gave Emmanuel the idea for a new business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Millions of air travellers make stopovers every year, so Emmanuel thought he could organize short guided trips into the nearest city or countryside.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idea is that a guide picks up the travellers at the airport, takes them quickly around the sights and to a restaurant, and then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G guarantees to get them back to the airport in time for their connecting flight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March 2015, he and business partner Anna Veyrenc started their 'stopover tours' business, called TripAside, in Paris.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today it has expanded to Frankfurt, London, Brussels, Rome, and Madrid. Now other small companies are offering similar tours worldwide, from Beijing to Moscow. So, next time you have a long stopover between flights,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book a tour!</a:t>
            </a:r>
            <a:endParaRPr lang="en-US" sz="1100" dirty="0"/>
          </a:p>
        </p:txBody>
      </p:sp>
      <p:sp>
        <p:nvSpPr>
          <p:cNvPr id="16" name="R3_rdA221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more boring stopovers – go on a guided tour! (2)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caught their flight,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C the experience gave Emmanuel the idea for a new business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Millions of air travellers make stopovers every year, so Emmanuel thought he could organize short guided trips into the nearest city or countryside.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idea is that a guide picks up the travellers at the airport, takes them quickly around the sights and to a restaurant, and then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G guarantees to get them back to the airport in time for their connecting flight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March 2015, he and business partner Anna Veyrenc started their 'stopover tours' business, called TripAside, in Paris.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(7) B It was an immediate success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today it has expanded to Frankfurt, London, Brussels, Rome, and Madrid. Now other small companies are offering similar tours worldwide, from Beijing to Moscow. So, next time you have a long stopover between flights,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book a tour!</a:t>
            </a:r>
            <a:endParaRPr lang="en-US" sz="1100" dirty="0"/>
          </a:p>
        </p:txBody>
      </p:sp>
      <p:sp>
        <p:nvSpPr>
          <p:cNvPr id="17" name="R4_rdA222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more boring stopovers – go on a guided tour! (2)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caught their flight, and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C the experience gave Emmanuel the idea for a new business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Millions of air travellers make stopovers every year, so Emmanuel thought he could organize short guided trips into the nearest city or countryside.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idea is that a guide picks up the travellers at the airport, takes them quickly around the sights and to a restaurant, and then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G guarantees to get them back to the airport in time for their connecting flight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March 2015, he and business partner Anna Veyrenc started their 'stopover tours' business, called TripAside, in Paris.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(7) B It was an immediate success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today it has expanded to Frankfurt, London, Brussels, Rome, and Madrid. Now other small companies are offering similar tours worldwide, from Beijing to Moscow. So, next time you have a long stopover between flights,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(8) A don't just go to sleep at the airport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book a tour!</a:t>
            </a:r>
            <a:endParaRPr lang="en-US" sz="1100" dirty="0"/>
          </a:p>
        </p:txBody>
      </p:sp>
      <p:sp>
        <p:nvSpPr>
          <p:cNvPr id="18" name="rbh_223"/>
          <p:cNvSpPr/>
          <p:nvPr/>
        </p:nvSpPr>
        <p:spPr>
          <a:xfrm>
            <a:off x="6263640" y="141732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Phrases A–H</a:t>
            </a:r>
            <a:endParaRPr lang="en-US" sz="1300" dirty="0"/>
          </a:p>
        </p:txBody>
      </p:sp>
      <p:sp>
        <p:nvSpPr>
          <p:cNvPr id="19" name="bd_224"/>
          <p:cNvSpPr/>
          <p:nvPr/>
        </p:nvSpPr>
        <p:spPr>
          <a:xfrm>
            <a:off x="6263640" y="183051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00" dirty="0"/>
          </a:p>
        </p:txBody>
      </p:sp>
      <p:sp>
        <p:nvSpPr>
          <p:cNvPr id="20" name="rb_225"/>
          <p:cNvSpPr/>
          <p:nvPr/>
        </p:nvSpPr>
        <p:spPr>
          <a:xfrm>
            <a:off x="6647688" y="1828800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just go to sleep at the airport</a:t>
            </a:r>
            <a:endParaRPr lang="en-US" sz="900" dirty="0"/>
          </a:p>
        </p:txBody>
      </p:sp>
      <p:sp>
        <p:nvSpPr>
          <p:cNvPr id="21" name="bd_226"/>
          <p:cNvSpPr/>
          <p:nvPr/>
        </p:nvSpPr>
        <p:spPr>
          <a:xfrm>
            <a:off x="6263640" y="219970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00" dirty="0"/>
          </a:p>
        </p:txBody>
      </p:sp>
      <p:sp>
        <p:nvSpPr>
          <p:cNvPr id="22" name="rb_227"/>
          <p:cNvSpPr/>
          <p:nvPr/>
        </p:nvSpPr>
        <p:spPr>
          <a:xfrm>
            <a:off x="6647688" y="2197989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an immediate success</a:t>
            </a:r>
            <a:endParaRPr lang="en-US" sz="900" dirty="0"/>
          </a:p>
        </p:txBody>
      </p:sp>
      <p:sp>
        <p:nvSpPr>
          <p:cNvPr id="23" name="bd_228"/>
          <p:cNvSpPr/>
          <p:nvPr/>
        </p:nvSpPr>
        <p:spPr>
          <a:xfrm>
            <a:off x="6263640" y="2568893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b_229"/>
          <p:cNvSpPr/>
          <p:nvPr/>
        </p:nvSpPr>
        <p:spPr>
          <a:xfrm>
            <a:off x="6647688" y="2567178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experience gave Emmanuel the idea for a new business</a:t>
            </a:r>
            <a:endParaRPr lang="en-US" sz="900" dirty="0"/>
          </a:p>
        </p:txBody>
      </p:sp>
      <p:sp>
        <p:nvSpPr>
          <p:cNvPr id="25" name="bd_230"/>
          <p:cNvSpPr/>
          <p:nvPr/>
        </p:nvSpPr>
        <p:spPr>
          <a:xfrm>
            <a:off x="6263640" y="293808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</a:t>
            </a:r>
            <a:endParaRPr lang="en-US" sz="1000" dirty="0"/>
          </a:p>
        </p:txBody>
      </p:sp>
      <p:sp>
        <p:nvSpPr>
          <p:cNvPr id="26" name="rb_231"/>
          <p:cNvSpPr/>
          <p:nvPr/>
        </p:nvSpPr>
        <p:spPr>
          <a:xfrm>
            <a:off x="6647688" y="2936367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looking around the duty-free shop for the eighth time</a:t>
            </a:r>
            <a:endParaRPr lang="en-US" sz="900" dirty="0"/>
          </a:p>
        </p:txBody>
      </p:sp>
      <p:sp>
        <p:nvSpPr>
          <p:cNvPr id="27" name="bd_232"/>
          <p:cNvSpPr/>
          <p:nvPr/>
        </p:nvSpPr>
        <p:spPr>
          <a:xfrm>
            <a:off x="6263640" y="3307271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</a:t>
            </a:r>
            <a:endParaRPr lang="en-US" sz="1000" dirty="0"/>
          </a:p>
        </p:txBody>
      </p:sp>
      <p:sp>
        <p:nvSpPr>
          <p:cNvPr id="28" name="rb_233"/>
          <p:cNvSpPr/>
          <p:nvPr/>
        </p:nvSpPr>
        <p:spPr>
          <a:xfrm>
            <a:off x="6647688" y="3305556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really didn't want to spend eight hours waiting for their connecting flight</a:t>
            </a:r>
            <a:endParaRPr lang="en-US" sz="700" dirty="0"/>
          </a:p>
        </p:txBody>
      </p:sp>
      <p:sp>
        <p:nvSpPr>
          <p:cNvPr id="29" name="bd_234"/>
          <p:cNvSpPr/>
          <p:nvPr/>
        </p:nvSpPr>
        <p:spPr>
          <a:xfrm>
            <a:off x="6263640" y="3676460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</a:t>
            </a:r>
            <a:endParaRPr lang="en-US" sz="1000" dirty="0"/>
          </a:p>
        </p:txBody>
      </p:sp>
      <p:sp>
        <p:nvSpPr>
          <p:cNvPr id="30" name="rb_235"/>
          <p:cNvSpPr/>
          <p:nvPr/>
        </p:nvSpPr>
        <p:spPr>
          <a:xfrm>
            <a:off x="6647688" y="3674745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were really stressed about getting back in time</a:t>
            </a:r>
            <a:endParaRPr lang="en-US" sz="900" dirty="0"/>
          </a:p>
        </p:txBody>
      </p:sp>
      <p:sp>
        <p:nvSpPr>
          <p:cNvPr id="31" name="bd_236"/>
          <p:cNvSpPr/>
          <p:nvPr/>
        </p:nvSpPr>
        <p:spPr>
          <a:xfrm>
            <a:off x="6263640" y="4045648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</a:t>
            </a:r>
            <a:endParaRPr lang="en-US" sz="1000" dirty="0"/>
          </a:p>
        </p:txBody>
      </p:sp>
      <p:sp>
        <p:nvSpPr>
          <p:cNvPr id="32" name="rb_237"/>
          <p:cNvSpPr/>
          <p:nvPr/>
        </p:nvSpPr>
        <p:spPr>
          <a:xfrm>
            <a:off x="6647688" y="4043934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guarantees to get them back to the airport in time for their connecting flight</a:t>
            </a:r>
            <a:endParaRPr lang="en-US" sz="700" dirty="0"/>
          </a:p>
        </p:txBody>
      </p:sp>
      <p:sp>
        <p:nvSpPr>
          <p:cNvPr id="33" name="bd_238"/>
          <p:cNvSpPr/>
          <p:nvPr/>
        </p:nvSpPr>
        <p:spPr>
          <a:xfrm>
            <a:off x="6263640" y="4414838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</a:t>
            </a:r>
            <a:endParaRPr lang="en-US" sz="1000" dirty="0"/>
          </a:p>
        </p:txBody>
      </p:sp>
      <p:sp>
        <p:nvSpPr>
          <p:cNvPr id="34" name="rb_239"/>
          <p:cNvSpPr/>
          <p:nvPr/>
        </p:nvSpPr>
        <p:spPr>
          <a:xfrm>
            <a:off x="6647688" y="4413123"/>
            <a:ext cx="2240280" cy="314325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you're terrified that you won't get back in time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4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Air travel words</a:t>
            </a:r>
            <a:endParaRPr lang="en-US" sz="2500" dirty="0"/>
          </a:p>
        </p:txBody>
      </p:sp>
      <p:pic>
        <p:nvPicPr>
          <p:cNvPr id="6" name="brP_2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4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 (harder) – or say it in Italian (easier). Click.</a:t>
            </a:r>
            <a:endParaRPr lang="en-US" sz="1100" dirty="0"/>
          </a:p>
        </p:txBody>
      </p:sp>
      <p:sp>
        <p:nvSpPr>
          <p:cNvPr id="8" name="insIT_2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Spiegalo in inglese (più difficile) – o dillo in italiano (più facile). Clicca.</a:t>
            </a:r>
            <a:endParaRPr lang="en-US" sz="950" dirty="0"/>
          </a:p>
        </p:txBody>
      </p:sp>
      <p:sp>
        <p:nvSpPr>
          <p:cNvPr id="9" name="note_24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24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Vocabulary · air travel   ·   📖 SB p.22 · 3c (TG meanings)</a:t>
            </a:r>
            <a:endParaRPr lang="en-US" sz="800" dirty="0"/>
          </a:p>
        </p:txBody>
      </p:sp>
      <p:sp>
        <p:nvSpPr>
          <p:cNvPr id="12" name="cd_249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25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⏸️</a:t>
            </a:r>
            <a:endParaRPr lang="en-US" sz="2000" dirty="0"/>
          </a:p>
        </p:txBody>
      </p:sp>
      <p:sp>
        <p:nvSpPr>
          <p:cNvPr id="14" name="en_25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stopover</a:t>
            </a:r>
            <a:endParaRPr lang="en-US" sz="1200" dirty="0"/>
          </a:p>
        </p:txBody>
      </p:sp>
      <p:sp>
        <p:nvSpPr>
          <p:cNvPr id="15" name="R1_def252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short stay between two parts of a journey</a:t>
            </a:r>
            <a:endParaRPr lang="en-US" sz="850" dirty="0"/>
          </a:p>
        </p:txBody>
      </p:sp>
      <p:sp>
        <p:nvSpPr>
          <p:cNvPr id="16" name="R2_it253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scalo</a:t>
            </a:r>
            <a:endParaRPr lang="en-US" sz="900" dirty="0"/>
          </a:p>
        </p:txBody>
      </p:sp>
      <p:sp>
        <p:nvSpPr>
          <p:cNvPr id="17" name="cd_254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255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🔁</a:t>
            </a:r>
            <a:endParaRPr lang="en-US" sz="2000" dirty="0"/>
          </a:p>
        </p:txBody>
      </p:sp>
      <p:sp>
        <p:nvSpPr>
          <p:cNvPr id="19" name="en_256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connecting flight</a:t>
            </a:r>
            <a:endParaRPr lang="en-US" sz="1200" dirty="0"/>
          </a:p>
        </p:txBody>
      </p:sp>
      <p:sp>
        <p:nvSpPr>
          <p:cNvPr id="20" name="R3_def257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second flight after you change planes</a:t>
            </a:r>
            <a:endParaRPr lang="en-US" sz="850" dirty="0"/>
          </a:p>
        </p:txBody>
      </p:sp>
      <p:sp>
        <p:nvSpPr>
          <p:cNvPr id="21" name="R4_it258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volo in coincidenza</a:t>
            </a:r>
            <a:endParaRPr lang="en-US" sz="900" dirty="0"/>
          </a:p>
        </p:txBody>
      </p:sp>
      <p:sp>
        <p:nvSpPr>
          <p:cNvPr id="22" name="cd_259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260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🪑</a:t>
            </a:r>
            <a:endParaRPr lang="en-US" sz="2000" dirty="0"/>
          </a:p>
        </p:txBody>
      </p:sp>
      <p:sp>
        <p:nvSpPr>
          <p:cNvPr id="24" name="en_261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departure lounge</a:t>
            </a:r>
            <a:endParaRPr lang="en-US" sz="1200" dirty="0"/>
          </a:p>
        </p:txBody>
      </p:sp>
      <p:sp>
        <p:nvSpPr>
          <p:cNvPr id="25" name="R5_def262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 wait for your flight</a:t>
            </a:r>
            <a:endParaRPr lang="en-US" sz="850" dirty="0"/>
          </a:p>
        </p:txBody>
      </p:sp>
      <p:sp>
        <p:nvSpPr>
          <p:cNvPr id="26" name="R6_it263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 d'attesa / partenze</a:t>
            </a:r>
            <a:endParaRPr lang="en-US" sz="850" dirty="0"/>
          </a:p>
        </p:txBody>
      </p:sp>
      <p:sp>
        <p:nvSpPr>
          <p:cNvPr id="27" name="cd_264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e_265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🛍️</a:t>
            </a:r>
            <a:endParaRPr lang="en-US" sz="2000" dirty="0"/>
          </a:p>
        </p:txBody>
      </p:sp>
      <p:sp>
        <p:nvSpPr>
          <p:cNvPr id="29" name="en_266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duty-free shop</a:t>
            </a:r>
            <a:endParaRPr lang="en-US" sz="1200" dirty="0"/>
          </a:p>
        </p:txBody>
      </p:sp>
      <p:sp>
        <p:nvSpPr>
          <p:cNvPr id="30" name="R7_def267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shop with no tax on perfume, alcohol…</a:t>
            </a:r>
            <a:endParaRPr lang="en-US" sz="850" dirty="0"/>
          </a:p>
        </p:txBody>
      </p:sp>
      <p:sp>
        <p:nvSpPr>
          <p:cNvPr id="31" name="R8_it268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negozio duty-free</a:t>
            </a:r>
            <a:endParaRPr lang="en-US" sz="900" dirty="0"/>
          </a:p>
        </p:txBody>
      </p:sp>
      <p:sp>
        <p:nvSpPr>
          <p:cNvPr id="32" name="cd_269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270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🧳</a:t>
            </a:r>
            <a:endParaRPr lang="en-US" sz="2000" dirty="0"/>
          </a:p>
        </p:txBody>
      </p:sp>
      <p:sp>
        <p:nvSpPr>
          <p:cNvPr id="34" name="en_271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air traveller</a:t>
            </a:r>
            <a:endParaRPr lang="en-US" sz="1200" dirty="0"/>
          </a:p>
        </p:txBody>
      </p:sp>
      <p:sp>
        <p:nvSpPr>
          <p:cNvPr id="35" name="R9_def272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passenger on a plane</a:t>
            </a:r>
            <a:endParaRPr lang="en-US" sz="850" dirty="0"/>
          </a:p>
        </p:txBody>
      </p:sp>
      <p:sp>
        <p:nvSpPr>
          <p:cNvPr id="36" name="R10_it273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passeggero (aereo)</a:t>
            </a:r>
            <a:endParaRPr lang="en-US" sz="900" dirty="0"/>
          </a:p>
        </p:txBody>
      </p:sp>
      <p:sp>
        <p:nvSpPr>
          <p:cNvPr id="37" name="cd_274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275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🚗</a:t>
            </a:r>
            <a:endParaRPr lang="en-US" sz="2000" dirty="0"/>
          </a:p>
        </p:txBody>
      </p:sp>
      <p:sp>
        <p:nvSpPr>
          <p:cNvPr id="39" name="en_276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pick somebody up</a:t>
            </a:r>
            <a:endParaRPr lang="en-US" sz="1100" dirty="0"/>
          </a:p>
        </p:txBody>
      </p:sp>
      <p:sp>
        <p:nvSpPr>
          <p:cNvPr id="40" name="R11_def277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and get someone in your car</a:t>
            </a:r>
            <a:endParaRPr lang="en-US" sz="850" dirty="0"/>
          </a:p>
        </p:txBody>
      </p:sp>
      <p:sp>
        <p:nvSpPr>
          <p:cNvPr id="41" name="R12_it278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a prendere</a:t>
            </a:r>
            <a:endParaRPr lang="en-US" sz="900" dirty="0"/>
          </a:p>
        </p:txBody>
      </p:sp>
      <p:sp>
        <p:nvSpPr>
          <p:cNvPr id="42" name="cd_279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280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👋</a:t>
            </a:r>
            <a:endParaRPr lang="en-US" sz="2000" dirty="0"/>
          </a:p>
        </p:txBody>
      </p:sp>
      <p:sp>
        <p:nvSpPr>
          <p:cNvPr id="44" name="en_281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drop somebody off</a:t>
            </a:r>
            <a:endParaRPr lang="en-US" sz="1050" dirty="0"/>
          </a:p>
        </p:txBody>
      </p:sp>
      <p:sp>
        <p:nvSpPr>
          <p:cNvPr id="45" name="R13_def282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someone somewhere in your car and leave them</a:t>
            </a:r>
            <a:endParaRPr lang="en-US" sz="700" dirty="0"/>
          </a:p>
        </p:txBody>
      </p:sp>
      <p:sp>
        <p:nvSpPr>
          <p:cNvPr id="46" name="R14_it283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accompagnare / lasciare</a:t>
            </a:r>
            <a:endParaRPr lang="en-US" sz="800" dirty="0"/>
          </a:p>
        </p:txBody>
      </p:sp>
      <p:sp>
        <p:nvSpPr>
          <p:cNvPr id="47" name="cd_284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8" name="e_285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😱</a:t>
            </a:r>
            <a:endParaRPr lang="en-US" sz="2000" dirty="0"/>
          </a:p>
        </p:txBody>
      </p:sp>
      <p:sp>
        <p:nvSpPr>
          <p:cNvPr id="49" name="en_286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terrified</a:t>
            </a:r>
            <a:endParaRPr lang="en-US" sz="1200" dirty="0"/>
          </a:p>
        </p:txBody>
      </p:sp>
      <p:sp>
        <p:nvSpPr>
          <p:cNvPr id="50" name="R15_def287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very, very afraid</a:t>
            </a:r>
            <a:endParaRPr lang="en-US" sz="850" dirty="0"/>
          </a:p>
        </p:txBody>
      </p:sp>
      <p:sp>
        <p:nvSpPr>
          <p:cNvPr id="51" name="R16_it288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terrorizzato</a:t>
            </a:r>
            <a:endParaRPr lang="en-US" sz="900" dirty="0"/>
          </a:p>
        </p:txBody>
      </p:sp>
      <p:sp>
        <p:nvSpPr>
          <p:cNvPr id="52" name="R17_wc289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R17_w290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stopover /ˈstɒpəʊvə/ (AmE layover)  ·  departure lounge /dɪˈpɑːtʃə laʊndʒ/  ·  duty-free /ˌdjuːti ˈfriː/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93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Jake and Anna</a:t>
            </a:r>
            <a:endParaRPr lang="en-US" sz="2500" dirty="0"/>
          </a:p>
        </p:txBody>
      </p:sp>
      <p:pic>
        <p:nvPicPr>
          <p:cNvPr id="6" name="brP_2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295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Listen: which city is Jake in? Then true or false?</a:t>
            </a:r>
            <a:endParaRPr lang="en-US" sz="1250" dirty="0"/>
          </a:p>
        </p:txBody>
      </p:sp>
      <p:sp>
        <p:nvSpPr>
          <p:cNvPr id="8" name="insIT_2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Ascolta: in quale città è Jake? Poi vero o falso?</a:t>
            </a:r>
            <a:endParaRPr lang="en-US" sz="950" dirty="0"/>
          </a:p>
        </p:txBody>
      </p:sp>
      <p:sp>
        <p:nvSpPr>
          <p:cNvPr id="9" name="note_29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Controlled practice</a:t>
            </a:r>
            <a:endParaRPr lang="en-US" sz="1150" dirty="0"/>
          </a:p>
        </p:txBody>
      </p:sp>
      <p:pic>
        <p:nvPicPr>
          <p:cNvPr id="10" name="logo_2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Listening · Jake meets his guide   ·   📖 SB p.23 · 3d, 3e · audio 3.4 (script SB p.121 / TG p.42)</a:t>
            </a:r>
            <a:endParaRPr lang="en-US" sz="800" dirty="0"/>
          </a:p>
        </p:txBody>
      </p:sp>
      <p:sp>
        <p:nvSpPr>
          <p:cNvPr id="12" name="bd_300"/>
          <p:cNvSpPr/>
          <p:nvPr/>
        </p:nvSpPr>
        <p:spPr>
          <a:xfrm>
            <a:off x="320040" y="1339779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301"/>
          <p:cNvSpPr/>
          <p:nvPr/>
        </p:nvSpPr>
        <p:spPr>
          <a:xfrm>
            <a:off x="704088" y="1417320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Which city is he in?</a:t>
            </a:r>
            <a:endParaRPr lang="en-US" sz="850" dirty="0"/>
          </a:p>
        </p:txBody>
      </p:sp>
      <p:sp>
        <p:nvSpPr>
          <p:cNvPr id="14" name="R1_chip302"/>
          <p:cNvSpPr/>
          <p:nvPr/>
        </p:nvSpPr>
        <p:spPr>
          <a:xfrm>
            <a:off x="704088" y="1618854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Rome (the Colosseum, the Forum, carbonara!)</a:t>
            </a:r>
            <a:endParaRPr lang="en-US" sz="1100" dirty="0"/>
          </a:p>
        </p:txBody>
      </p:sp>
      <p:sp>
        <p:nvSpPr>
          <p:cNvPr id="15" name="bd_303"/>
          <p:cNvSpPr/>
          <p:nvPr/>
        </p:nvSpPr>
        <p:spPr>
          <a:xfrm>
            <a:off x="320040" y="1900611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304"/>
          <p:cNvSpPr/>
          <p:nvPr/>
        </p:nvSpPr>
        <p:spPr>
          <a:xfrm>
            <a:off x="704088" y="1978152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Jake isn't very tired.</a:t>
            </a:r>
            <a:endParaRPr lang="en-US" sz="850" dirty="0"/>
          </a:p>
        </p:txBody>
      </p:sp>
      <p:sp>
        <p:nvSpPr>
          <p:cNvPr id="17" name="R2_chip305"/>
          <p:cNvSpPr/>
          <p:nvPr/>
        </p:nvSpPr>
        <p:spPr>
          <a:xfrm>
            <a:off x="704088" y="2179686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150" dirty="0"/>
          </a:p>
        </p:txBody>
      </p:sp>
      <p:sp>
        <p:nvSpPr>
          <p:cNvPr id="18" name="bd_306"/>
          <p:cNvSpPr/>
          <p:nvPr/>
        </p:nvSpPr>
        <p:spPr>
          <a:xfrm>
            <a:off x="320040" y="2461443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307"/>
          <p:cNvSpPr/>
          <p:nvPr/>
        </p:nvSpPr>
        <p:spPr>
          <a:xfrm>
            <a:off x="704088" y="2538984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hasn't been to Europe before.</a:t>
            </a:r>
            <a:endParaRPr lang="en-US" sz="850" dirty="0"/>
          </a:p>
        </p:txBody>
      </p:sp>
      <p:sp>
        <p:nvSpPr>
          <p:cNvPr id="20" name="R3_chip308"/>
          <p:cNvSpPr/>
          <p:nvPr/>
        </p:nvSpPr>
        <p:spPr>
          <a:xfrm>
            <a:off x="704088" y="2740518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he was in Europe as a student</a:t>
            </a:r>
            <a:endParaRPr lang="en-US" sz="1150" dirty="0"/>
          </a:p>
        </p:txBody>
      </p:sp>
      <p:sp>
        <p:nvSpPr>
          <p:cNvPr id="21" name="bd_309"/>
          <p:cNvSpPr/>
          <p:nvPr/>
        </p:nvSpPr>
        <p:spPr>
          <a:xfrm>
            <a:off x="320040" y="3022275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310"/>
          <p:cNvSpPr/>
          <p:nvPr/>
        </p:nvSpPr>
        <p:spPr>
          <a:xfrm>
            <a:off x="704088" y="3099816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next flight is to Lisbon.</a:t>
            </a:r>
            <a:endParaRPr lang="en-US" sz="850" dirty="0"/>
          </a:p>
        </p:txBody>
      </p:sp>
      <p:sp>
        <p:nvSpPr>
          <p:cNvPr id="23" name="R4_chip311"/>
          <p:cNvSpPr/>
          <p:nvPr/>
        </p:nvSpPr>
        <p:spPr>
          <a:xfrm>
            <a:off x="704088" y="3301350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to London</a:t>
            </a:r>
            <a:endParaRPr lang="en-US" sz="1150" dirty="0"/>
          </a:p>
        </p:txBody>
      </p:sp>
      <p:sp>
        <p:nvSpPr>
          <p:cNvPr id="24" name="bd_312"/>
          <p:cNvSpPr/>
          <p:nvPr/>
        </p:nvSpPr>
        <p:spPr>
          <a:xfrm>
            <a:off x="320040" y="3583107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313"/>
          <p:cNvSpPr/>
          <p:nvPr/>
        </p:nvSpPr>
        <p:spPr>
          <a:xfrm>
            <a:off x="704088" y="3660648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travelling to a conference.</a:t>
            </a:r>
            <a:endParaRPr lang="en-US" sz="850" dirty="0"/>
          </a:p>
        </p:txBody>
      </p:sp>
      <p:sp>
        <p:nvSpPr>
          <p:cNvPr id="26" name="R5_chip314"/>
          <p:cNvSpPr/>
          <p:nvPr/>
        </p:nvSpPr>
        <p:spPr>
          <a:xfrm>
            <a:off x="704088" y="3862182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bd_315"/>
          <p:cNvSpPr/>
          <p:nvPr/>
        </p:nvSpPr>
        <p:spPr>
          <a:xfrm>
            <a:off x="320040" y="4143939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316"/>
          <p:cNvSpPr/>
          <p:nvPr/>
        </p:nvSpPr>
        <p:spPr>
          <a:xfrm>
            <a:off x="704088" y="4221480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doesn't know anybody there.</a:t>
            </a:r>
            <a:endParaRPr lang="en-US" sz="850" dirty="0"/>
          </a:p>
        </p:txBody>
      </p:sp>
      <p:sp>
        <p:nvSpPr>
          <p:cNvPr id="29" name="R6_chip317"/>
          <p:cNvSpPr/>
          <p:nvPr/>
        </p:nvSpPr>
        <p:spPr>
          <a:xfrm>
            <a:off x="704088" y="4423014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an ex-girlfriend in Oxford</a:t>
            </a:r>
            <a:endParaRPr lang="en-US" sz="1150" dirty="0"/>
          </a:p>
        </p:txBody>
      </p:sp>
      <p:sp>
        <p:nvSpPr>
          <p:cNvPr id="30" name="bd_318"/>
          <p:cNvSpPr/>
          <p:nvPr/>
        </p:nvSpPr>
        <p:spPr>
          <a:xfrm>
            <a:off x="4709160" y="133977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319"/>
          <p:cNvSpPr/>
          <p:nvPr/>
        </p:nvSpPr>
        <p:spPr>
          <a:xfrm>
            <a:off x="5093208" y="1417320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tour includes visits to historic sites.</a:t>
            </a:r>
            <a:endParaRPr lang="en-US" sz="850" dirty="0"/>
          </a:p>
        </p:txBody>
      </p:sp>
      <p:sp>
        <p:nvSpPr>
          <p:cNvPr id="32" name="R7_chip320"/>
          <p:cNvSpPr/>
          <p:nvPr/>
        </p:nvSpPr>
        <p:spPr>
          <a:xfrm>
            <a:off x="5093208" y="1618854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150" dirty="0"/>
          </a:p>
        </p:txBody>
      </p:sp>
      <p:sp>
        <p:nvSpPr>
          <p:cNvPr id="33" name="bd_321"/>
          <p:cNvSpPr/>
          <p:nvPr/>
        </p:nvSpPr>
        <p:spPr>
          <a:xfrm>
            <a:off x="4709160" y="1900611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q_322"/>
          <p:cNvSpPr/>
          <p:nvPr/>
        </p:nvSpPr>
        <p:spPr>
          <a:xfrm>
            <a:off x="5093208" y="1978152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isn't planning to buy anything for himself.</a:t>
            </a:r>
            <a:endParaRPr lang="en-US" sz="850" dirty="0"/>
          </a:p>
        </p:txBody>
      </p:sp>
      <p:sp>
        <p:nvSpPr>
          <p:cNvPr id="35" name="R8_chip323"/>
          <p:cNvSpPr/>
          <p:nvPr/>
        </p:nvSpPr>
        <p:spPr>
          <a:xfrm>
            <a:off x="5093208" y="2179686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150" dirty="0"/>
          </a:p>
        </p:txBody>
      </p:sp>
      <p:sp>
        <p:nvSpPr>
          <p:cNvPr id="36" name="bd_324"/>
          <p:cNvSpPr/>
          <p:nvPr/>
        </p:nvSpPr>
        <p:spPr>
          <a:xfrm>
            <a:off x="4709160" y="24614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1000" dirty="0"/>
          </a:p>
        </p:txBody>
      </p:sp>
      <p:sp>
        <p:nvSpPr>
          <p:cNvPr id="37" name="q_325"/>
          <p:cNvSpPr/>
          <p:nvPr/>
        </p:nvSpPr>
        <p:spPr>
          <a:xfrm>
            <a:off x="5093208" y="2538984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don't have time to stop for lunch.</a:t>
            </a:r>
            <a:endParaRPr lang="en-US" sz="850" dirty="0"/>
          </a:p>
        </p:txBody>
      </p:sp>
      <p:sp>
        <p:nvSpPr>
          <p:cNvPr id="38" name="R9_chip326"/>
          <p:cNvSpPr/>
          <p:nvPr/>
        </p:nvSpPr>
        <p:spPr>
          <a:xfrm>
            <a:off x="5093208" y="2740518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lunch at a nice restaurant</a:t>
            </a:r>
            <a:endParaRPr lang="en-US" sz="1150" dirty="0"/>
          </a:p>
        </p:txBody>
      </p:sp>
      <p:sp>
        <p:nvSpPr>
          <p:cNvPr id="39" name="bd_327"/>
          <p:cNvSpPr/>
          <p:nvPr/>
        </p:nvSpPr>
        <p:spPr>
          <a:xfrm>
            <a:off x="4709160" y="3022275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800" dirty="0"/>
          </a:p>
        </p:txBody>
      </p:sp>
      <p:sp>
        <p:nvSpPr>
          <p:cNvPr id="40" name="q_328"/>
          <p:cNvSpPr/>
          <p:nvPr/>
        </p:nvSpPr>
        <p:spPr>
          <a:xfrm>
            <a:off x="5093208" y="3099816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weather forecast isn't very good.</a:t>
            </a:r>
            <a:endParaRPr lang="en-US" sz="850" dirty="0"/>
          </a:p>
        </p:txBody>
      </p:sp>
      <p:sp>
        <p:nvSpPr>
          <p:cNvPr id="41" name="R10_chip329"/>
          <p:cNvSpPr/>
          <p:nvPr/>
        </p:nvSpPr>
        <p:spPr>
          <a:xfrm>
            <a:off x="5093208" y="3301350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nice, about 22 degrees</a:t>
            </a:r>
            <a:endParaRPr lang="en-US" sz="1150" dirty="0"/>
          </a:p>
        </p:txBody>
      </p:sp>
      <p:sp>
        <p:nvSpPr>
          <p:cNvPr id="42" name="bd_330"/>
          <p:cNvSpPr/>
          <p:nvPr/>
        </p:nvSpPr>
        <p:spPr>
          <a:xfrm>
            <a:off x="4709160" y="3583107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800" dirty="0"/>
          </a:p>
        </p:txBody>
      </p:sp>
      <p:sp>
        <p:nvSpPr>
          <p:cNvPr id="43" name="q_331"/>
          <p:cNvSpPr/>
          <p:nvPr/>
        </p:nvSpPr>
        <p:spPr>
          <a:xfrm>
            <a:off x="5093208" y="3660648"/>
            <a:ext cx="3776472" cy="155814"/>
          </a:xfrm>
          <a:prstGeom prst="roundRect">
            <a:avLst>
              <a:gd name="adj" fmla="val 58685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looking forward to the tour.</a:t>
            </a:r>
            <a:endParaRPr lang="en-US" sz="850" dirty="0"/>
          </a:p>
        </p:txBody>
      </p:sp>
      <p:sp>
        <p:nvSpPr>
          <p:cNvPr id="44" name="R11_chip332"/>
          <p:cNvSpPr/>
          <p:nvPr/>
        </p:nvSpPr>
        <p:spPr>
          <a:xfrm>
            <a:off x="5093208" y="3862182"/>
            <a:ext cx="3776472" cy="231282"/>
          </a:xfrm>
          <a:prstGeom prst="roundRect">
            <a:avLst>
              <a:gd name="adj" fmla="val 39536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35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Jake and Anna's plans</a:t>
            </a:r>
            <a:endParaRPr lang="en-US" sz="2500" dirty="0"/>
          </a:p>
        </p:txBody>
      </p:sp>
      <p:pic>
        <p:nvPicPr>
          <p:cNvPr id="6" name="brP_3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3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with be going to + verb. Plan (Pl) or prediction (Pr)?</a:t>
            </a:r>
            <a:endParaRPr lang="en-US" sz="1100" dirty="0"/>
          </a:p>
        </p:txBody>
      </p:sp>
      <p:sp>
        <p:nvSpPr>
          <p:cNvPr id="8" name="insIT_3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be going to + verbo. Piano (Pl) o previsione (Pr)?</a:t>
            </a:r>
            <a:endParaRPr lang="en-US" sz="950" dirty="0"/>
          </a:p>
        </p:txBody>
      </p:sp>
      <p:sp>
        <p:nvSpPr>
          <p:cNvPr id="9" name="note_33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50" dirty="0"/>
          </a:p>
        </p:txBody>
      </p:sp>
      <p:pic>
        <p:nvPicPr>
          <p:cNvPr id="10" name="logo_34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4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Grammar · be going to   ·   📖 SB p.23 · 4a, 4b · audio 3.5 (TG key)</a:t>
            </a:r>
            <a:endParaRPr lang="en-US" sz="800" dirty="0"/>
          </a:p>
        </p:txBody>
      </p:sp>
      <p:sp>
        <p:nvSpPr>
          <p:cNvPr id="12" name="cd_342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343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Anna's conversation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'm going to give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talk at a conference.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centre.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And then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Forum.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anything.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very hot?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fantastic day.  (Pr)</a:t>
            </a:r>
            <a:endParaRPr lang="en-US" sz="1200" dirty="0"/>
          </a:p>
        </p:txBody>
      </p:sp>
      <p:sp>
        <p:nvSpPr>
          <p:cNvPr id="14" name="R1_rdA344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Anna's conversation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'm going to give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talk at a conference.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're going to drive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centre.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And then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Forum.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anything.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very hot?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fantastic day.  (Pr)</a:t>
            </a:r>
            <a:endParaRPr lang="en-US" sz="1200" dirty="0"/>
          </a:p>
        </p:txBody>
      </p:sp>
      <p:sp>
        <p:nvSpPr>
          <p:cNvPr id="15" name="R2_rdA345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Anna's conversation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'm going to give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talk at a conference.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're going to drive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centre.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And then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're going to visit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Forum.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anything.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very hot?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fantastic day.  (Pr)</a:t>
            </a:r>
            <a:endParaRPr lang="en-US" sz="1200" dirty="0"/>
          </a:p>
        </p:txBody>
      </p:sp>
      <p:sp>
        <p:nvSpPr>
          <p:cNvPr id="16" name="R3_rdA346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Anna's conversation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'm going to give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talk at a conference.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're going to drive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centre.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And then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're going to visit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Forum.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'm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anything.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very hot?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fantastic day.  (Pr)</a:t>
            </a:r>
            <a:endParaRPr lang="en-US" sz="1200" dirty="0"/>
          </a:p>
        </p:txBody>
      </p:sp>
      <p:sp>
        <p:nvSpPr>
          <p:cNvPr id="17" name="R4_rdA347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Anna's conversation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'm going to give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talk at a conference.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're going to drive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centre.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And then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're going to visit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Forum.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'm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not going to buy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anything.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very hot?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fantastic day.  (Pr)</a:t>
            </a:r>
            <a:endParaRPr lang="en-US" sz="1200" dirty="0"/>
          </a:p>
        </p:txBody>
      </p:sp>
      <p:sp>
        <p:nvSpPr>
          <p:cNvPr id="18" name="R5_rdA34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Anna's conversation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'm going to give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talk at a conference.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're going to drive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centre.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And then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're going to visit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Forum.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'm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not going to buy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anything.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Is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very hot?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fantastic day.  (Pr)</a:t>
            </a:r>
            <a:endParaRPr lang="en-US" sz="1200" dirty="0"/>
          </a:p>
        </p:txBody>
      </p:sp>
      <p:sp>
        <p:nvSpPr>
          <p:cNvPr id="19" name="R6_rdA34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Anna's conversation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'm going to give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talk at a conference.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're going to drive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centre.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And then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're going to visit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Forum.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'm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not going to buy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anything.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Is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(7) going to be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very hot?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fantastic day.  (Pr)</a:t>
            </a:r>
            <a:endParaRPr lang="en-US" sz="1200" dirty="0"/>
          </a:p>
        </p:txBody>
      </p:sp>
      <p:sp>
        <p:nvSpPr>
          <p:cNvPr id="20" name="R7_rdA350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Anna's conversation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'm going to give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talk at a conference.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're going to drive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centre.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And then we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're going to visit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Forum.  (Pl)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'm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not going to buy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anything.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Is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(7) going to be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very hot?  (Pr)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(8) 's going to be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fantastic day.  (Pr)</a:t>
            </a:r>
            <a:endParaRPr lang="en-US" sz="1200" dirty="0"/>
          </a:p>
        </p:txBody>
      </p:sp>
      <p:sp>
        <p:nvSpPr>
          <p:cNvPr id="21" name="cd_351"/>
          <p:cNvSpPr/>
          <p:nvPr/>
        </p:nvSpPr>
        <p:spPr>
          <a:xfrm>
            <a:off x="6263640" y="1417320"/>
            <a:ext cx="2606040" cy="2063496"/>
          </a:xfrm>
          <a:prstGeom prst="roundRect">
            <a:avLst>
              <a:gd name="adj" fmla="val 620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352"/>
          <p:cNvSpPr/>
          <p:nvPr/>
        </p:nvSpPr>
        <p:spPr>
          <a:xfrm>
            <a:off x="63550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🔮</a:t>
            </a:r>
            <a:endParaRPr lang="en-US" sz="2200" dirty="0"/>
          </a:p>
        </p:txBody>
      </p:sp>
      <p:sp>
        <p:nvSpPr>
          <p:cNvPr id="23" name="ih_353"/>
          <p:cNvSpPr/>
          <p:nvPr/>
        </p:nvSpPr>
        <p:spPr>
          <a:xfrm>
            <a:off x="68305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 or prediction?</a:t>
            </a:r>
            <a:endParaRPr lang="en-US" sz="1300" dirty="0"/>
          </a:p>
        </p:txBody>
      </p:sp>
      <p:sp>
        <p:nvSpPr>
          <p:cNvPr id="24" name="il_354"/>
          <p:cNvSpPr/>
          <p:nvPr/>
        </p:nvSpPr>
        <p:spPr>
          <a:xfrm>
            <a:off x="6830568" y="1911096"/>
            <a:ext cx="1947672" cy="1496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 = something you decided to do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Prediction = what you think will happen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(am / is / are) + going to + verb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357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going to</a:t>
            </a:r>
            <a:endParaRPr lang="en-US" sz="2500" dirty="0"/>
          </a:p>
        </p:txBody>
      </p:sp>
      <p:pic>
        <p:nvPicPr>
          <p:cNvPr id="6" name="brP_3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59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Then click!</a:t>
            </a:r>
            <a:endParaRPr lang="en-US" sz="1250" dirty="0"/>
          </a:p>
        </p:txBody>
      </p:sp>
      <p:sp>
        <p:nvSpPr>
          <p:cNvPr id="8" name="insIT_36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gli esempi. Poi clicca!</a:t>
            </a:r>
            <a:endParaRPr lang="en-US" sz="950" dirty="0"/>
          </a:p>
        </p:txBody>
      </p:sp>
      <p:sp>
        <p:nvSpPr>
          <p:cNvPr id="9" name="note_36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36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6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Grammar Bank 3A · the rule   ·   📖 Grammar Bank 3A p.130</a:t>
            </a:r>
            <a:endParaRPr lang="en-US" sz="800" dirty="0"/>
          </a:p>
        </p:txBody>
      </p:sp>
      <p:sp>
        <p:nvSpPr>
          <p:cNvPr id="12" name="cd_364"/>
          <p:cNvSpPr/>
          <p:nvPr/>
        </p:nvSpPr>
        <p:spPr>
          <a:xfrm>
            <a:off x="320040" y="1417320"/>
            <a:ext cx="42062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365"/>
          <p:cNvSpPr/>
          <p:nvPr/>
        </p:nvSpPr>
        <p:spPr>
          <a:xfrm>
            <a:off x="429768" y="1508760"/>
            <a:ext cx="39867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plans</a:t>
            </a:r>
            <a:endParaRPr lang="en-US" sz="1250" dirty="0"/>
          </a:p>
        </p:txBody>
      </p:sp>
      <p:sp>
        <p:nvSpPr>
          <p:cNvPr id="14" name="R1_rx366"/>
          <p:cNvSpPr/>
          <p:nvPr/>
        </p:nvSpPr>
        <p:spPr>
          <a:xfrm>
            <a:off x="457200" y="201168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stay for six months.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learn Spanish?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aren't going to go out tonight.</a:t>
            </a:r>
            <a:endParaRPr lang="en-US" sz="1400" dirty="0"/>
          </a:p>
        </p:txBody>
      </p:sp>
      <p:sp>
        <p:nvSpPr>
          <p:cNvPr id="15" name="R1_ri367"/>
          <p:cNvSpPr/>
          <p:nvPr/>
        </p:nvSpPr>
        <p:spPr>
          <a:xfrm>
            <a:off x="411480" y="40233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piani, decisioni già prese</a:t>
            </a:r>
            <a:endParaRPr lang="en-US" sz="1100" dirty="0"/>
          </a:p>
        </p:txBody>
      </p:sp>
      <p:sp>
        <p:nvSpPr>
          <p:cNvPr id="16" name="cd_368"/>
          <p:cNvSpPr/>
          <p:nvPr/>
        </p:nvSpPr>
        <p:spPr>
          <a:xfrm>
            <a:off x="4663440" y="1417320"/>
            <a:ext cx="42062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369"/>
          <p:cNvSpPr/>
          <p:nvPr/>
        </p:nvSpPr>
        <p:spPr>
          <a:xfrm>
            <a:off x="4773168" y="1508760"/>
            <a:ext cx="39867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predictions</a:t>
            </a:r>
            <a:endParaRPr lang="en-US" sz="1250" dirty="0"/>
          </a:p>
        </p:txBody>
      </p:sp>
      <p:sp>
        <p:nvSpPr>
          <p:cNvPr id="18" name="R2_rx370"/>
          <p:cNvSpPr/>
          <p:nvPr/>
        </p:nvSpPr>
        <p:spPr>
          <a:xfrm>
            <a:off x="4800600" y="201168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going to be a big surprise for him.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sky! It's going to rain.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You're going to break that glass!</a:t>
            </a:r>
            <a:endParaRPr lang="en-US" sz="1400" dirty="0"/>
          </a:p>
        </p:txBody>
      </p:sp>
      <p:sp>
        <p:nvSpPr>
          <p:cNvPr id="19" name="R2_ri371"/>
          <p:cNvSpPr/>
          <p:nvPr/>
        </p:nvSpPr>
        <p:spPr>
          <a:xfrm>
            <a:off x="4754880" y="40233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previsioni: lo vedo / lo penso</a:t>
            </a:r>
            <a:endParaRPr lang="en-US" sz="1100" dirty="0"/>
          </a:p>
        </p:txBody>
      </p:sp>
      <p:sp>
        <p:nvSpPr>
          <p:cNvPr id="20" name="R3_wc372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3_w373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going to stay → ✓ I'm going to stay   ·   ✗ It's going to rains → ✓ It's going to rain   ·   'gonna' = fast speech, don't write it!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7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76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going to happen?</a:t>
            </a:r>
            <a:endParaRPr lang="en-US" sz="2400" dirty="0"/>
          </a:p>
        </p:txBody>
      </p:sp>
      <p:pic>
        <p:nvPicPr>
          <p:cNvPr id="6" name="brP_37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7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Fortune teller! Look at the situation. Make a prediction.</a:t>
            </a:r>
            <a:endParaRPr lang="en-US" sz="1250" dirty="0"/>
          </a:p>
        </p:txBody>
      </p:sp>
      <p:sp>
        <p:nvSpPr>
          <p:cNvPr id="8" name="insIT_37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Indovino! Guarda la situazione. Fai una previsione.</a:t>
            </a:r>
            <a:endParaRPr lang="en-US" sz="950" dirty="0"/>
          </a:p>
        </p:txBody>
      </p:sp>
      <p:sp>
        <p:nvSpPr>
          <p:cNvPr id="9" name="note_38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150" dirty="0"/>
          </a:p>
        </p:txBody>
      </p:sp>
      <p:pic>
        <p:nvPicPr>
          <p:cNvPr id="10" name="logo_3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Game · predictions   ·   📖 Grammar Bank 3A b (predictions) – practice</a:t>
            </a:r>
            <a:endParaRPr lang="en-US" sz="800" dirty="0"/>
          </a:p>
        </p:txBody>
      </p:sp>
      <p:sp>
        <p:nvSpPr>
          <p:cNvPr id="12" name="cd_383"/>
          <p:cNvSpPr/>
          <p:nvPr/>
        </p:nvSpPr>
        <p:spPr>
          <a:xfrm>
            <a:off x="320040" y="1417320"/>
            <a:ext cx="2697480" cy="2112264"/>
          </a:xfrm>
          <a:prstGeom prst="roundRect">
            <a:avLst>
              <a:gd name="adj" fmla="val 606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8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38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386"/>
          <p:cNvSpPr/>
          <p:nvPr/>
        </p:nvSpPr>
        <p:spPr>
          <a:xfrm>
            <a:off x="886968" y="1911096"/>
            <a:ext cx="203911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reads the situation.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team makes a prediction with going to.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grammar + good idea = 1 point!</a:t>
            </a:r>
            <a:endParaRPr lang="en-US" sz="1200" dirty="0"/>
          </a:p>
        </p:txBody>
      </p:sp>
      <p:sp>
        <p:nvSpPr>
          <p:cNvPr id="16" name="st_387"/>
          <p:cNvSpPr/>
          <p:nvPr/>
        </p:nvSpPr>
        <p:spPr>
          <a:xfrm rot="-180000">
            <a:off x="502920" y="3712464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388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389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 big black clouds in the sky.</a:t>
            </a:r>
            <a:endParaRPr lang="en-US" sz="1050" dirty="0"/>
          </a:p>
        </p:txBody>
      </p:sp>
      <p:sp>
        <p:nvSpPr>
          <p:cNvPr id="19" name="chip_390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going to rain.</a:t>
            </a:r>
            <a:endParaRPr lang="en-US" sz="1200" dirty="0"/>
          </a:p>
        </p:txBody>
      </p:sp>
      <p:sp>
        <p:nvSpPr>
          <p:cNvPr id="20" name="bd_391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92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driving very fast and talking on his phone.</a:t>
            </a:r>
            <a:endParaRPr lang="en-US" sz="1050" dirty="0"/>
          </a:p>
        </p:txBody>
      </p:sp>
      <p:sp>
        <p:nvSpPr>
          <p:cNvPr id="22" name="R1_chip393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He's going to have an accident.</a:t>
            </a:r>
            <a:endParaRPr lang="en-US" sz="1200" dirty="0"/>
          </a:p>
        </p:txBody>
      </p:sp>
      <p:sp>
        <p:nvSpPr>
          <p:cNvPr id="23" name="bd_394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95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8.55. Her flight leaves at 9.00. She's still at security.</a:t>
            </a:r>
            <a:endParaRPr lang="en-US" sz="1050" dirty="0"/>
          </a:p>
        </p:txBody>
      </p:sp>
      <p:sp>
        <p:nvSpPr>
          <p:cNvPr id="25" name="R2_chip396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going to miss her flight.</a:t>
            </a:r>
            <a:endParaRPr lang="en-US" sz="1200" dirty="0"/>
          </a:p>
        </p:txBody>
      </p:sp>
      <p:sp>
        <p:nvSpPr>
          <p:cNvPr id="26" name="bd_397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98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team is winning 3–0. There are two minutes left.</a:t>
            </a:r>
            <a:endParaRPr lang="en-US" sz="1050" dirty="0"/>
          </a:p>
        </p:txBody>
      </p:sp>
      <p:sp>
        <p:nvSpPr>
          <p:cNvPr id="28" name="R3_chip399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We're going to win!</a:t>
            </a:r>
            <a:endParaRPr lang="en-US" sz="1200" dirty="0"/>
          </a:p>
        </p:txBody>
      </p:sp>
      <p:sp>
        <p:nvSpPr>
          <p:cNvPr id="29" name="bd_400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401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carrying ten plates and the floor is wet.</a:t>
            </a:r>
            <a:endParaRPr lang="en-US" sz="1050" dirty="0"/>
          </a:p>
        </p:txBody>
      </p:sp>
      <p:sp>
        <p:nvSpPr>
          <p:cNvPr id="31" name="R4_chip402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He's going to drop them.</a:t>
            </a:r>
            <a:endParaRPr lang="en-US" sz="1200" dirty="0"/>
          </a:p>
        </p:txBody>
      </p:sp>
      <p:sp>
        <p:nvSpPr>
          <p:cNvPr id="32" name="bd_403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404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studying every day for her exam.</a:t>
            </a:r>
            <a:endParaRPr lang="en-US" sz="1050" dirty="0"/>
          </a:p>
        </p:txBody>
      </p:sp>
      <p:sp>
        <p:nvSpPr>
          <p:cNvPr id="34" name="R5_chip405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going to pass.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0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08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are your plans?</a:t>
            </a:r>
            <a:endParaRPr lang="en-US" sz="2500" dirty="0"/>
          </a:p>
        </p:txBody>
      </p:sp>
      <p:pic>
        <p:nvPicPr>
          <p:cNvPr id="6" name="brP_40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1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 about their plans. Ask one more question each time!</a:t>
            </a:r>
            <a:endParaRPr lang="en-US" sz="1100" dirty="0"/>
          </a:p>
        </p:txBody>
      </p:sp>
      <p:sp>
        <p:nvSpPr>
          <p:cNvPr id="8" name="insIT_41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 i suoi piani. Fai una domanda in più ogni volta!</a:t>
            </a:r>
            <a:endParaRPr lang="en-US" sz="950" dirty="0"/>
          </a:p>
        </p:txBody>
      </p:sp>
      <p:sp>
        <p:nvSpPr>
          <p:cNvPr id="9" name="note_41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41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Speaking · What are your plans?   ·   📖 SB p.23 · 4d · Communication What are your plans? (A p.103, B p.109)</a:t>
            </a:r>
            <a:endParaRPr lang="en-US" sz="800" dirty="0"/>
          </a:p>
        </p:txBody>
      </p:sp>
      <p:sp>
        <p:nvSpPr>
          <p:cNvPr id="12" name="cd_415"/>
          <p:cNvSpPr/>
          <p:nvPr/>
        </p:nvSpPr>
        <p:spPr>
          <a:xfrm>
            <a:off x="320040" y="1417320"/>
            <a:ext cx="2788920" cy="1952752"/>
          </a:xfrm>
          <a:prstGeom prst="roundRect">
            <a:avLst>
              <a:gd name="adj" fmla="val 655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1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417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418"/>
          <p:cNvSpPr/>
          <p:nvPr/>
        </p:nvSpPr>
        <p:spPr>
          <a:xfrm>
            <a:off x="886968" y="1911096"/>
            <a:ext cx="2130552" cy="1385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going to…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probably going to…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Where are you going to…?</a:t>
            </a:r>
            <a:endParaRPr lang="en-US" sz="1150" dirty="0"/>
          </a:p>
        </p:txBody>
      </p:sp>
      <p:sp>
        <p:nvSpPr>
          <p:cNvPr id="16" name="R1_qb41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R1_sq420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going to do after the lesson tonight?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have dinner and watch a series.</a:t>
            </a:r>
            <a:endParaRPr lang="en-US" sz="1200" dirty="0"/>
          </a:p>
        </p:txBody>
      </p:sp>
      <p:sp>
        <p:nvSpPr>
          <p:cNvPr id="18" name="R2_qb421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R2_sq422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go out this weekend?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I'm going to meet friends in Palermo.</a:t>
            </a:r>
            <a:endParaRPr lang="en-US" sz="1200" dirty="0"/>
          </a:p>
        </p:txBody>
      </p:sp>
      <p:sp>
        <p:nvSpPr>
          <p:cNvPr id="20" name="R3_qb423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R3_sq424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are you going to go on your next holiday?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visit my sister in Milan.</a:t>
            </a:r>
            <a:endParaRPr lang="en-US" sz="1200" dirty="0"/>
          </a:p>
        </p:txBody>
      </p:sp>
      <p:sp>
        <p:nvSpPr>
          <p:cNvPr id="22" name="R4_qb425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R4_sq426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learn something new this year?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learn to cook sushi!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2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TripAside: Palermo!</a:t>
            </a:r>
            <a:endParaRPr lang="en-US" sz="2500" dirty="0"/>
          </a:p>
        </p:txBody>
      </p:sp>
      <p:pic>
        <p:nvPicPr>
          <p:cNvPr id="6" name="brP_4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3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work for TripAside! Plan a tour from Palermo airport. 9 a.m. – 3.30 p.m.</a:t>
            </a:r>
            <a:endParaRPr lang="en-US" sz="1100" dirty="0"/>
          </a:p>
        </p:txBody>
      </p:sp>
      <p:sp>
        <p:nvSpPr>
          <p:cNvPr id="8" name="insIT_4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Lavorate per TripAside! Pianificate un tour dall'aeroporto di Palermo. 9:00–15:30.</a:t>
            </a:r>
            <a:endParaRPr lang="en-US" sz="900" dirty="0"/>
          </a:p>
        </p:txBody>
      </p:sp>
      <p:sp>
        <p:nvSpPr>
          <p:cNvPr id="9" name="note_43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150" dirty="0"/>
          </a:p>
        </p:txBody>
      </p:sp>
      <p:pic>
        <p:nvPicPr>
          <p:cNvPr id="10" name="logo_4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Speaking · plan a stopover tour   ·   📖 SB p.23 · 5a, 5b</a:t>
            </a:r>
            <a:endParaRPr lang="en-US" sz="800" dirty="0"/>
          </a:p>
        </p:txBody>
      </p:sp>
      <p:sp>
        <p:nvSpPr>
          <p:cNvPr id="12" name="pf_436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437" descr="/home/claude/lls-course/v2/cache/a2_3a_founders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4" name="cd_438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39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440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441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First, we're going to…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we're going to visit…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going to have lunch at…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going to leave at… to get back in time.</a:t>
            </a:r>
            <a:endParaRPr lang="en-US" sz="1050" dirty="0"/>
          </a:p>
        </p:txBody>
      </p:sp>
      <p:sp>
        <p:nvSpPr>
          <p:cNvPr id="18" name="R1_qb44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44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are you going to get to the town or city centre?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We're going to take the train to Palermo Centrale.</a:t>
            </a:r>
            <a:endParaRPr lang="en-US" sz="1100" dirty="0"/>
          </a:p>
        </p:txBody>
      </p:sp>
      <p:sp>
        <p:nvSpPr>
          <p:cNvPr id="20" name="R2_qb44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44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going to see, and in what order?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First the cathedral, then the Quattro Canti…</a:t>
            </a:r>
            <a:endParaRPr lang="en-US" sz="1100" dirty="0"/>
          </a:p>
        </p:txBody>
      </p:sp>
      <p:sp>
        <p:nvSpPr>
          <p:cNvPr id="22" name="R3_qb44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44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and when are you going to have lunch?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At 1 o'clock – street food at Ballarò market!</a:t>
            </a:r>
            <a:endParaRPr lang="en-US" sz="1100" dirty="0"/>
          </a:p>
        </p:txBody>
      </p:sp>
      <p:sp>
        <p:nvSpPr>
          <p:cNvPr id="24" name="R4_qb44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44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are you going to leave to get back to the airport?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At 2.15 – the train takes about an hour.</a:t>
            </a:r>
            <a:endParaRPr lang="en-US" sz="1100" dirty="0"/>
          </a:p>
        </p:txBody>
      </p:sp>
      <p:sp>
        <p:nvSpPr>
          <p:cNvPr id="26" name="R5_qb450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451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Present your tour. Class vote: which is the best?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Vote: hands up!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5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45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Tell your partner…</a:t>
            </a:r>
            <a:endParaRPr lang="en-US" sz="1250" dirty="0"/>
          </a:p>
        </p:txBody>
      </p:sp>
      <p:sp>
        <p:nvSpPr>
          <p:cNvPr id="8" name="insIT_4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Di' al compagno…</a:t>
            </a:r>
            <a:endParaRPr lang="en-US" sz="950" dirty="0"/>
          </a:p>
        </p:txBody>
      </p:sp>
      <p:sp>
        <p:nvSpPr>
          <p:cNvPr id="9" name="note_458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Exit · what can you remember?</a:t>
            </a:r>
            <a:endParaRPr lang="en-US" sz="800" dirty="0"/>
          </a:p>
        </p:txBody>
      </p:sp>
      <p:sp>
        <p:nvSpPr>
          <p:cNvPr id="12" name="bd_46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6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places in an airport.</a:t>
            </a:r>
            <a:endParaRPr lang="en-US" sz="1400" dirty="0"/>
          </a:p>
        </p:txBody>
      </p:sp>
      <p:sp>
        <p:nvSpPr>
          <p:cNvPr id="14" name="bd_46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6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words with g = /dʒ/.</a:t>
            </a:r>
            <a:endParaRPr lang="en-US" sz="1400" dirty="0"/>
          </a:p>
        </p:txBody>
      </p:sp>
      <p:sp>
        <p:nvSpPr>
          <p:cNvPr id="16" name="bd_46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6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plan for this weekend and 1 prediction about tomorrow's weather.</a:t>
            </a:r>
            <a:endParaRPr lang="en-US" sz="1400" dirty="0"/>
          </a:p>
        </p:txBody>
      </p:sp>
      <p:sp>
        <p:nvSpPr>
          <p:cNvPr id="18" name="cd_467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6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6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70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3A pp.18–19: exercises 1–3</a:t>
            </a:r>
            <a:endParaRPr lang="en-US" sz="1150" dirty="0"/>
          </a:p>
        </p:txBody>
      </p:sp>
      <p:sp>
        <p:nvSpPr>
          <p:cNvPr id="22" name="st_471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3B Put it in your calendar! (SB p.24)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7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7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7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7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7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7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4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Review · what did you do today?</a:t>
            </a:r>
            <a:endParaRPr lang="en-US" sz="800" dirty="0"/>
          </a:p>
        </p:txBody>
      </p:sp>
      <p:sp>
        <p:nvSpPr>
          <p:cNvPr id="12" name="cd_48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48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✈️</a:t>
            </a:r>
            <a:endParaRPr lang="en-US" sz="1800" dirty="0"/>
          </a:p>
        </p:txBody>
      </p:sp>
      <p:sp>
        <p:nvSpPr>
          <p:cNvPr id="14" name="tt_48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12 airport words and signs</a:t>
            </a:r>
            <a:endParaRPr lang="en-US" sz="1350" dirty="0"/>
          </a:p>
        </p:txBody>
      </p:sp>
      <p:sp>
        <p:nvSpPr>
          <p:cNvPr id="15" name="R1_tk48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48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48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🔤</a:t>
            </a:r>
            <a:endParaRPr lang="en-US" sz="1800" dirty="0"/>
          </a:p>
        </p:txBody>
      </p:sp>
      <p:sp>
        <p:nvSpPr>
          <p:cNvPr id="18" name="tt_48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the letter g: girl or jazz?</a:t>
            </a:r>
            <a:endParaRPr lang="en-US" sz="1350" dirty="0"/>
          </a:p>
        </p:txBody>
      </p:sp>
      <p:sp>
        <p:nvSpPr>
          <p:cNvPr id="19" name="R2_tk48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48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49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2" name="tt_49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stopover tours</a:t>
            </a:r>
            <a:endParaRPr lang="en-US" sz="1350" dirty="0"/>
          </a:p>
        </p:txBody>
      </p:sp>
      <p:sp>
        <p:nvSpPr>
          <p:cNvPr id="23" name="R3_tk49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493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494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🔮</a:t>
            </a:r>
            <a:endParaRPr lang="en-US" sz="1800" dirty="0"/>
          </a:p>
        </p:txBody>
      </p:sp>
      <p:sp>
        <p:nvSpPr>
          <p:cNvPr id="26" name="tt_495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be going to: plans and predictions</a:t>
            </a:r>
            <a:endParaRPr lang="en-US" sz="1350" dirty="0"/>
          </a:p>
        </p:txBody>
      </p:sp>
      <p:sp>
        <p:nvSpPr>
          <p:cNvPr id="27" name="R4_tk496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497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498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30" name="tt_499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a tour from Palermo airport</a:t>
            </a:r>
            <a:endParaRPr lang="en-US" sz="1350" dirty="0"/>
          </a:p>
        </p:txBody>
      </p:sp>
      <p:sp>
        <p:nvSpPr>
          <p:cNvPr id="31" name="R5_tk500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50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02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0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04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05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0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0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Long stopovers</a:t>
            </a:r>
            <a:endParaRPr lang="en-US" sz="2500" dirty="0"/>
          </a:p>
        </p:txBody>
      </p:sp>
      <p:pic>
        <p:nvPicPr>
          <p:cNvPr id="6" name="brP_50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1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had a long stopover? Tell your partner.</a:t>
            </a:r>
            <a:endParaRPr lang="en-US" sz="1250" dirty="0"/>
          </a:p>
        </p:txBody>
      </p:sp>
      <p:sp>
        <p:nvSpPr>
          <p:cNvPr id="8" name="insIT_51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 mai fatto un lungo scalo? Raccontalo al compagno.</a:t>
            </a:r>
            <a:endParaRPr lang="en-US" sz="950" dirty="0"/>
          </a:p>
        </p:txBody>
      </p:sp>
      <p:sp>
        <p:nvSpPr>
          <p:cNvPr id="9" name="note_51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51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1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Speaking · stopovers   ·   📖 SB p.23 · 3f</a:t>
            </a:r>
            <a:endParaRPr lang="en-US" sz="800" dirty="0"/>
          </a:p>
        </p:txBody>
      </p:sp>
      <p:sp>
        <p:nvSpPr>
          <p:cNvPr id="12" name="ext_515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16"/>
          <p:cNvSpPr/>
          <p:nvPr/>
        </p:nvSpPr>
        <p:spPr>
          <a:xfrm>
            <a:off x="320040" y="1417320"/>
            <a:ext cx="2788920" cy="1952752"/>
          </a:xfrm>
          <a:prstGeom prst="roundRect">
            <a:avLst>
              <a:gd name="adj" fmla="val 655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5" name="ih_518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6" name="il_519"/>
          <p:cNvSpPr/>
          <p:nvPr/>
        </p:nvSpPr>
        <p:spPr>
          <a:xfrm>
            <a:off x="886968" y="1911096"/>
            <a:ext cx="2130552" cy="1385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had a 6-hour stopover in…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was so bored!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went to… / I slept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never – but…</a:t>
            </a:r>
            <a:endParaRPr lang="en-US" sz="1150" dirty="0"/>
          </a:p>
        </p:txBody>
      </p:sp>
      <p:sp>
        <p:nvSpPr>
          <p:cNvPr id="17" name="R1_qb52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R1_sq52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had a long stopover at an airport?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eight hours in Frankfurt!</a:t>
            </a:r>
            <a:endParaRPr lang="en-US" sz="1200" dirty="0"/>
          </a:p>
        </p:txBody>
      </p:sp>
      <p:sp>
        <p:nvSpPr>
          <p:cNvPr id="19" name="R2_qb52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R2_sq52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were you? What did you do?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walked around the duty-free shops and slept on a bench.</a:t>
            </a:r>
            <a:endParaRPr lang="en-US" sz="1200" dirty="0"/>
          </a:p>
        </p:txBody>
      </p:sp>
      <p:sp>
        <p:nvSpPr>
          <p:cNvPr id="21" name="R3_qb52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R3_sq52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book a TripAside tour? Why? / Why not?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but I'd be terrified of missing my flight!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3A TripAside</dc:title>
  <dc:subject>PptxGenJS Presentation</dc:subject>
  <dc:creator>PptxGenJS</dc:creator>
  <cp:lastModifiedBy>PptxGenJS</cp:lastModifiedBy>
  <cp:revision>1</cp:revision>
  <dcterms:created xsi:type="dcterms:W3CDTF">2026-10-22T09:54:42Z</dcterms:created>
  <dcterms:modified xsi:type="dcterms:W3CDTF">2026-10-22T09:54:42Z</dcterms:modified>
</cp:coreProperties>
</file>